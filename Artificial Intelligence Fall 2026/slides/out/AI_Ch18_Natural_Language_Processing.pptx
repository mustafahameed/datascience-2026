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svg" ContentType="image/svg+xml"/>
  <Override PartName="/ppt/media/image12.svg" ContentType="image/svg+xml"/>
  <Override PartName="/ppt/media/image14.svg" ContentType="image/svg+xml"/>
  <Override PartName="/ppt/media/image16.svg" ContentType="image/svg+xml"/>
  <Override PartName="/ppt/media/image18.svg" ContentType="image/svg+xml"/>
  <Override PartName="/ppt/media/image19.svg" ContentType="image/svg+xml"/>
  <Override PartName="/ppt/media/image21.svg" ContentType="image/svg+xml"/>
  <Override PartName="/ppt/media/image23.svg" ContentType="image/svg+xml"/>
  <Override PartName="/ppt/media/image24.svg" ContentType="image/svg+xml"/>
  <Override PartName="/ppt/media/image26.svg" ContentType="image/svg+xml"/>
  <Override PartName="/ppt/media/image27.svg" ContentType="image/svg+xml"/>
  <Override PartName="/ppt/media/image29.svg" ContentType="image/svg+xml"/>
  <Override PartName="/ppt/media/image31.svg" ContentType="image/svg+xml"/>
  <Override PartName="/ppt/media/image32.svg" ContentType="image/svg+xml"/>
  <Override PartName="/ppt/media/image34.svg" ContentType="image/svg+xml"/>
  <Override PartName="/ppt/media/image36.svg" ContentType="image/svg+xml"/>
  <Override PartName="/ppt/media/image37.svg" ContentType="image/svg+xml"/>
  <Override PartName="/ppt/media/image38.svg" ContentType="image/svg+xml"/>
  <Override PartName="/ppt/media/image39.svg" ContentType="image/svg+xml"/>
  <Override PartName="/ppt/media/image4.svg" ContentType="image/svg+xml"/>
  <Override PartName="/ppt/media/image40.svg" ContentType="image/svg+xml"/>
  <Override PartName="/ppt/media/image41.svg" ContentType="image/svg+xml"/>
  <Override PartName="/ppt/media/image42.svg" ContentType="image/svg+xml"/>
  <Override PartName="/ppt/media/image43.svg" ContentType="image/svg+xml"/>
  <Override PartName="/ppt/media/image44.svg" ContentType="image/svg+xml"/>
  <Override PartName="/ppt/media/image45.svg" ContentType="image/svg+xml"/>
  <Override PartName="/ppt/media/image46.svg" ContentType="image/svg+xml"/>
  <Override PartName="/ppt/media/image47.svg" ContentType="image/svg+xml"/>
  <Override PartName="/ppt/media/image48.svg" ContentType="image/svg+xml"/>
  <Override PartName="/ppt/media/image49.svg" ContentType="image/svg+xml"/>
  <Override PartName="/ppt/media/image50.svg" ContentType="image/svg+xml"/>
  <Override PartName="/ppt/media/image51.svg" ContentType="image/svg+xml"/>
  <Override PartName="/ppt/media/image52.svg" ContentType="image/svg+xml"/>
  <Override PartName="/ppt/media/image54.svg" ContentType="image/svg+xml"/>
  <Override PartName="/ppt/media/image56.svg" ContentType="image/svg+xml"/>
  <Override PartName="/ppt/media/image57.svg" ContentType="image/svg+xml"/>
  <Override PartName="/ppt/media/image58.svg" ContentType="image/svg+xml"/>
  <Override PartName="/ppt/media/image59.svg" ContentType="image/svg+xml"/>
  <Override PartName="/ppt/media/image6.svg" ContentType="image/svg+xml"/>
  <Override PartName="/ppt/media/image60.svg" ContentType="image/svg+xml"/>
  <Override PartName="/ppt/media/image62.svg" ContentType="image/svg+xml"/>
  <Override PartName="/ppt/media/image63.svg" ContentType="image/svg+xml"/>
  <Override PartName="/ppt/media/image65.svg" ContentType="image/svg+xml"/>
  <Override PartName="/ppt/media/image66.svg" ContentType="image/svg+xml"/>
  <Override PartName="/ppt/media/image67.svg" ContentType="image/svg+xml"/>
  <Override PartName="/ppt/media/image68.svg" ContentType="image/svg+xml"/>
  <Override PartName="/ppt/media/image69.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9E96206-6505-4672-8EDA-9B9D7075A562}">
          <p14:sldIdLst>
            <p14:sldId id="256"/>
            <p14:sldId id="257"/>
            <p14:sldId id="258"/>
            <p14:sldId id="259"/>
            <p14:sldId id="260"/>
          </p14:sldIdLst>
        </p14:section>
        <p14:section name="18.1 Ticket Subject Lines" id="{EB89BAAF-B72F-479E-8C2E-CA9C242A4536}">
          <p14:sldIdLst>
            <p14:sldId id="261"/>
          </p14:sldIdLst>
        </p14:section>
        <p14:section name="18.2 The Symbolic Pipeline" id="{838AA668-5518-49A5-9668-64C223FE6F27}">
          <p14:sldIdLst>
            <p14:sldId id="262"/>
          </p14:sldIdLst>
        </p14:section>
        <p14:section name="18.3 Context-Free Grammars" id="{A68F79AA-9DB4-41F0-83DE-822AC8C73DCF}">
          <p14:sldIdLst>
            <p14:sldId id="263"/>
            <p14:sldId id="264"/>
            <p14:sldId id="265"/>
          </p14:sldIdLst>
        </p14:section>
        <p14:section name="18.4 Parsing with CYK" id="{626AB5C3-78CE-4DC5-83FD-4C85877FE77F}">
          <p14:sldIdLst>
            <p14:sldId id="266"/>
          </p14:sldIdLst>
        </p14:section>
        <p14:section name="18.5 Ambiguity Is the Point" id="{36CEEA13-65A1-4A4B-B0DA-EF20A3E5494A}">
          <p14:sldIdLst>
            <p14:sldId id="267"/>
            <p14:sldId id="268"/>
            <p14:sldId id="269"/>
          </p14:sldIdLst>
        </p14:section>
        <p14:section name="18.6 Pattern Substitution: Eliza" id="{F65D52CE-F55B-47B5-8400-763F239B1102}">
          <p14:sldIdLst>
            <p14:sldId id="270"/>
            <p14:sldId id="271"/>
            <p14:sldId id="272"/>
          </p14:sldIdLst>
        </p14:section>
        <p14:section name="18.7 N-Grams and Their Limit" id="{456DD0BC-DB81-4F8C-807F-C7284154B0F4}">
          <p14:sldIdLst>
            <p14:sldId id="273"/>
            <p14:sldId id="274"/>
            <p14:sldId id="275"/>
          </p14:sldIdLst>
        </p14:section>
        <p14:section name="Pitfalls" id="{781025D0-859B-4FF7-B940-595F32D56B75}">
          <p14:sldIdLst>
            <p14:sldId id="276"/>
          </p14:sldIdLst>
        </p14:section>
        <p14:section name="Lab" id="{A41E0C23-1FE4-4B2F-AC3A-BC2C38FCF752}">
          <p14:sldIdLst>
            <p14:sldId id="277"/>
            <p14:sldId id="278"/>
            <p14:sldId id="279"/>
            <p14:sldId id="280"/>
            <p14:sldId id="281"/>
            <p14:sldId id="282"/>
            <p14:sldId id="283"/>
            <p14:sldId id="284"/>
            <p14:sldId id="285"/>
            <p14:sldId id="286"/>
            <p14:sldId id="287"/>
            <p14:sldId id="288"/>
            <p14:sldId id="289"/>
            <p14:sldId id="290"/>
            <p14:sldId id="291"/>
            <p14:sldId id="292"/>
            <p14:sldId id="293"/>
          </p14:sldIdLst>
        </p14:section>
        <p14:section name="Checkpoint" id="{8C38BDD6-4561-4F20-B8A1-C1FA7A129DB0}">
          <p14:sldIdLst>
            <p14:sldId id="294"/>
            <p14:sldId id="295"/>
            <p14:sldId id="296"/>
            <p14:sldId id="297"/>
            <p14:sldId id="298"/>
            <p14:sldId id="299"/>
          </p14:sldIdLst>
        </p14:section>
        <p14:section name="Wrap-up" id="{18E78A46-0FF3-4AF9-A920-36DA6E668CB6}">
          <p14:sldIdLst>
            <p14:sldId id="300"/>
            <p14:sldId id="301"/>
            <p14:sldId id="302"/>
            <p14:sldId id="303"/>
            <p14:sldId id="304"/>
            <p14:sldId id="305"/>
            <p14:sldId id="306"/>
            <p14:sldId id="307"/>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18: Natural Language Processing. Part 6 — Learning, Language and Responsible AI. Week 15: Natural language processing; classic AI systems. Handout pages 187–196.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the chapter. Before you start: Chapter 3 (dictionaries, recursion) and Chapter 12 — pattern matching with variables is unification in another guise, and recognising that saves learning it twice. Chapter 14 for the n-gram section.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out: they are the chapter's contract with the room. Each click adds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define these now; they arrive one at a time. This slide is for the students' notes. Terms: tokenisation; morphology; stemming; part of speech; context-free grammar; terminal and non-terminal; Chomsky normal form; parse tree; chart parsing; CYK; structural ambiguity; attachment; pattern substitution; Eliza; n-gram; Markov assumption; sparsity.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route through the chapter. Each row is a link: click it to jump to that section in the slide show.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in your own words first; the slide is the handout's wording.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18.1 (handout p. 188): The symbolic pipeline. Stages 1 to 3 are bookkeeping; stage 4 is where the knowledge lives.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grammar for ticket subjects is seven rules: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in your own words first; the slide is the handout's wording.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rule has either two non-terminals or one terminal on its right, which is Chomsky normal form — the shape the CYK algorithm needs.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of the five are ambiguous, and the ambiguity is not a quirk of the grammar. Consider: restart the server after the timeout Does after the timeout attach to the verb phrase — restart it, and do so after the timeout occurs — or to the noun phrase, meaning the server that handles timeouts? The two readings give different instructions, and the grammar correctly reports that the sentence supports both.</a:t>
            </a:r>
          </a:p>
          <a:p/>
          <a:p>
            <a:r>
              <a:t>Figure 18.2 (handout p. 189): Prepositional-phrase attachment ambiguity. The words and their order are identical; only the structure differs, and the structure is the meaning.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Ambiguity multiplies. Each additional prepositional phrase roughly doubles the number of parses — the counts follow the Catalan numbers — so a sentence with six of them has hundreds of readings. Resolving them requires knowledge the grammar does not contain, which is where statistical and, later, neural methods enter. In 1966 Joseph Weizenbaum wrote a program of a few hundred lines that conducted conversations in the manner of a Rogerian psychotherapist. It had no grammar, no parser, no representation of the conversation and no model of anything. It matched patterns and rearranged pronouns.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mechanism is exactly Chapter 12’s unification, restricted to strings: a pattern containing a variable is matched against an input, the variable binds to whatever it covered, and the binding is substituted into a template. Weizenbaum added one more trick — swap my for your and I for you in the captured text — and that is the whole program.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alternative to grammar is counting. An n-gram model estimates the probability of a word from the n−1 words before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Markov assumption: everything before the window is irrelevant. Estimating the right-hand side is just counting, which is why n-gram models were the backbone of speech recognition and machine translation for decades and why they still make excellent autocompletions for a constrained domain such as ticket subjects. Two limitations, and only one of them is fixable. Sparsity is fixable. Most possible trigrams never appear, even in a large corpus, so unseen ones get probability zero and the model assigns zero to any sentence containing one. Smoothing — reserving probability mass for the unseen — handles it, and Machine Learning Chapter 10 covers the standard methods. The fixed window is not. In the server that the engineer who wrote the runbook maintained was restarted, the subject of was restarted is the server, nine words back. No n-gram with a practical n can connect them, and increasing n makes sparsity exponentially worse. The dependency is a structural fact about the sentence, and capturing it is exactly what a grammar does and what counting cannot. That tension — grammars capture structure but are brittle, counting is robust but structurally blind — defined the field for thirty years. Chapter 20 describes what resolved it.</a:t>
            </a:r>
          </a:p>
          <a:p/>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each pitfall, ask who has seen it happen. One real story beats five bullets.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CYK parser with back-pointers, the ambiguity count, an Eliza responder, and a bigram model with its limitation demonstrated.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Set-up.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The grammar, in Chomsky normal form.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The grammar, in Chomsky normal form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The grammar, in Chomsky normal form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5: The grammar, in Chomsky normal form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6: The grammar, in Chomsky normal form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7: Eliza: pattern substitution, and nothing else.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8: Eliza: pattern substitution, and nothing else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9: A bigram model.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10: A bigram model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11: A bigram model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12: A bigram model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13: A bigram model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14: A bigram model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15: A bigram model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Reading 1 attaches after the timeout to the verb phrase: restart the server, and do it after the timeout occurs. Reading 2 attaches it to the noun phrase: restart the server that handles timeouts. They are different instructions. A routing system should not choose — it should recognise that the subject line supports both and ask the reporter, which is a capability the grammar provides for free and which a system returning one confident parse throws away.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That fluency is not evidence of understanding. Eliza had no representation of the conversation, no model of the person and no goal, and it still produced responses people found so apt that they disclosed things to it they would not tell a colleague — including people who had read its source. So your impression of a transcript tells you about your own response, not about the system, and the instrument to use instead is Chapter 1’s checklist: is there a goal, a search, an inspectable representation, adaptation, an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Sparsity is the problem that most possible n-grams never appear in any finite corpus, so unseen ones receive probability zero. It is an estimation problem, and smoothing solves it by reserving probability mass for the unseen. The fixed window is a representational limit: in the server that the engineer who wrote the runbook maintained was restarted, the subject of was restarted is nine words back. No n-gram with a practical n can span that, and raising n makes sparsity exponentially worse — so the two limitations pull against each other and no corpus size resolves the second.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to say each takeaway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to say each takeaway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these for independent study. Model answers are not printed in the handout.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NEXT: Chapter 19 — Classic AI Systems and How to Analyse Them. READ: Handout Chapter 18, pages 187–196. THIS WEEK'S LAB: Parsing ticket subjects; four systems in one file.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457200" rtl="0" eaLnBrk="1" latinLnBrk="0" hangingPunct="1">
        <a:spcBef>
          <a:spcPct val="0"/>
        </a:spcBef>
        <a:buNone/>
        <a:defRPr sz="3000" kern="1200" b="0">
          <a:solidFill>
            <a:srgbClr val="1A5276"/>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4.sv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image" Target="../media/image6.sv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10.svg"/><Relationship Id="rId4" Type="http://schemas.openxmlformats.org/officeDocument/2006/relationships/notesSlide" Target="../notesSlides/notesSlide5.xml"/><Relationship Id="rId5" Type="http://schemas.openxmlformats.org/officeDocument/2006/relationships/slide" Target="slide6.xml"/><Relationship Id="rId6" Type="http://schemas.openxmlformats.org/officeDocument/2006/relationships/slide" Target="slide7.xml"/><Relationship Id="rId7" Type="http://schemas.openxmlformats.org/officeDocument/2006/relationships/slide" Target="slide8.xml"/><Relationship Id="rId8" Type="http://schemas.openxmlformats.org/officeDocument/2006/relationships/slide" Target="slide11.xml"/><Relationship Id="rId9" Type="http://schemas.openxmlformats.org/officeDocument/2006/relationships/slide" Target="slide12.xml"/><Relationship Id="rId10" Type="http://schemas.openxmlformats.org/officeDocument/2006/relationships/slide" Target="slide15.xml"/><Relationship Id="rId11" Type="http://schemas.openxmlformats.org/officeDocument/2006/relationships/slide" Target="slide19.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12.sv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14.sv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image" Target="../media/image16.sv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image" Target="../media/image18.sv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19.sv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0.png"/><Relationship Id="rId3" Type="http://schemas.openxmlformats.org/officeDocument/2006/relationships/image" Target="../media/image21.sv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2.png"/><Relationship Id="rId3" Type="http://schemas.openxmlformats.org/officeDocument/2006/relationships/image" Target="../media/image23.sv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0.png"/><Relationship Id="rId3" Type="http://schemas.openxmlformats.org/officeDocument/2006/relationships/image" Target="../media/image24.sv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5.png"/><Relationship Id="rId3" Type="http://schemas.openxmlformats.org/officeDocument/2006/relationships/image" Target="../media/image26.sv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27.svg"/><Relationship Id="rId4" Type="http://schemas.openxmlformats.org/officeDocument/2006/relationships/image" Target="../media/image28.png"/><Relationship Id="rId5" Type="http://schemas.openxmlformats.org/officeDocument/2006/relationships/image" Target="../media/image29.sv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0.png"/><Relationship Id="rId3" Type="http://schemas.openxmlformats.org/officeDocument/2006/relationships/image" Target="../media/image31.sv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0.png"/><Relationship Id="rId3" Type="http://schemas.openxmlformats.org/officeDocument/2006/relationships/image" Target="../media/image32.sv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3.png"/><Relationship Id="rId3" Type="http://schemas.openxmlformats.org/officeDocument/2006/relationships/image" Target="../media/image34.sv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36.sv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37.sv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38.sv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39.sv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40.sv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41.sv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42.sv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43.sv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44.sv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45.sv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46.sv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47.sv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48.sv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49.sv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50.sv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51.sv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52.sv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3.png"/><Relationship Id="rId3" Type="http://schemas.openxmlformats.org/officeDocument/2006/relationships/image" Target="../media/image54.sv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5.png"/><Relationship Id="rId3" Type="http://schemas.openxmlformats.org/officeDocument/2006/relationships/image" Target="../media/image56.sv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3.png"/><Relationship Id="rId3" Type="http://schemas.openxmlformats.org/officeDocument/2006/relationships/image" Target="../media/image57.sv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5.png"/><Relationship Id="rId3" Type="http://schemas.openxmlformats.org/officeDocument/2006/relationships/image" Target="../media/image58.sv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3.png"/><Relationship Id="rId3" Type="http://schemas.openxmlformats.org/officeDocument/2006/relationships/image" Target="../media/image59.sv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5.png"/><Relationship Id="rId3" Type="http://schemas.openxmlformats.org/officeDocument/2006/relationships/image" Target="../media/image60.sv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1.png"/><Relationship Id="rId3" Type="http://schemas.openxmlformats.org/officeDocument/2006/relationships/image" Target="../media/image62.sv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1.png"/><Relationship Id="rId3" Type="http://schemas.openxmlformats.org/officeDocument/2006/relationships/image" Target="../media/image63.sv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4.png"/><Relationship Id="rId3" Type="http://schemas.openxmlformats.org/officeDocument/2006/relationships/image" Target="../media/image65.sv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4.png"/><Relationship Id="rId3" Type="http://schemas.openxmlformats.org/officeDocument/2006/relationships/image" Target="../media/image66.sv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4.png"/><Relationship Id="rId3" Type="http://schemas.openxmlformats.org/officeDocument/2006/relationships/image" Target="../media/image67.sv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4.png"/><Relationship Id="rId3" Type="http://schemas.openxmlformats.org/officeDocument/2006/relationships/image" Target="../media/image68.sv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4.png"/><Relationship Id="rId3" Type="http://schemas.openxmlformats.org/officeDocument/2006/relationships/image" Target="../media/image69.sv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705B06"/>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7E6B1F"/>
                </a:solidFill>
                <a:latin typeface="Segoe UI Black"/>
              </a:rPr>
              <a:t>18</a:t>
            </a:r>
          </a:p>
        </p:txBody>
      </p:sp>
      <p:sp>
        <p:nvSpPr>
          <p:cNvPr id="2" name="!!title"/>
          <p:cNvSpPr>
            <a:spLocks noGrp="1"/>
          </p:cNvSpPr>
          <p:nvPr>
            <p:ph type="title"/>
          </p:nvPr>
        </p:nvSpPr>
        <p:spPr>
          <a:xfrm>
            <a:off x="658368" y="2304288"/>
            <a:ext cx="8503920" cy="1920240"/>
          </a:xfrm>
        </p:spPr>
        <p:txBody>
          <a:bodyPr wrap="square" lIns="0" rIns="0" tIns="0" bIns="0" anchor="t">
            <a:noAutofit/>
          </a:bodyPr>
          <a:lstStyle/>
          <a:p>
            <a:pPr algn="l">
              <a:lnSpc>
                <a:spcPct val="96000"/>
              </a:lnSpc>
            </a:pPr>
            <a:r>
              <a:rPr sz="4600" b="0">
                <a:solidFill>
                  <a:srgbClr val="FFFFFF"/>
                </a:solidFill>
                <a:latin typeface="Segoe UI Semibold"/>
              </a:rPr>
              <a:t>Natural Language Processing</a:t>
            </a:r>
          </a:p>
        </p:txBody>
      </p:sp>
      <p:sp>
        <p:nvSpPr>
          <p:cNvPr id="4" name="!!tbar">
            <a:extLst>
              <a:ext uri="{C183D7F6-B498-43B3-948B-1728B52AA6E4}">
                <adec:decorative xmlns:adec="http://schemas.microsoft.com/office/drawing/2017/decorative" val="1"/>
              </a:ext>
            </a:extLst>
          </p:cNvPr>
          <p:cNvSpPr/>
          <p:nvPr/>
        </p:nvSpPr>
        <p:spPr>
          <a:xfrm>
            <a:off x="658368" y="129844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part"/>
          <p:cNvSpPr txBox="1"/>
          <p:nvPr/>
        </p:nvSpPr>
        <p:spPr>
          <a:xfrm>
            <a:off x="658368" y="1517904"/>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D7D1B9"/>
                </a:solidFill>
                <a:latin typeface="Segoe UI"/>
              </a:rPr>
              <a:t>PART VI  ·  LEARNING, LANGUAGE AND RESPONSIBLE AI</a:t>
            </a:r>
          </a:p>
        </p:txBody>
      </p:sp>
      <p:sp>
        <p:nvSpPr>
          <p:cNvPr id="6" name="!!tch"/>
          <p:cNvSpPr txBox="1"/>
          <p:nvPr/>
        </p:nvSpPr>
        <p:spPr>
          <a:xfrm>
            <a:off x="658368" y="1865376"/>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D7D1B9"/>
                </a:solidFill>
                <a:latin typeface="Segoe UI"/>
              </a:rPr>
              <a:t>CHAPTER 18  ·  WEEK 15</a:t>
            </a:r>
          </a:p>
        </p:txBody>
      </p:sp>
      <p:sp>
        <p:nvSpPr>
          <p:cNvPr id="7" name="!!tsub"/>
          <p:cNvSpPr txBox="1"/>
          <p:nvPr/>
        </p:nvSpPr>
        <p:spPr>
          <a:xfrm>
            <a:off x="658368" y="4315968"/>
            <a:ext cx="8503920"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E2DECD"/>
                </a:solidFill>
                <a:latin typeface="Segoe UI"/>
              </a:rPr>
              <a:t>Artificial Intelligence — Search, Knowledge and Reasoning</a:t>
            </a:r>
          </a:p>
        </p:txBody>
      </p:sp>
      <p:sp>
        <p:nvSpPr>
          <p:cNvPr id="8" name="!!band">
            <a:extLst>
              <a:ext uri="{C183D7F6-B498-43B3-948B-1728B52AA6E4}">
                <adec:decorative xmlns:adec="http://schemas.microsoft.com/office/drawing/2017/decorative" val="1"/>
              </a:ext>
            </a:extLst>
          </p:cNvPr>
          <p:cNvSpPr/>
          <p:nvPr/>
        </p:nvSpPr>
        <p:spPr>
          <a:xfrm>
            <a:off x="0" y="5285232"/>
            <a:ext cx="12191695" cy="1572767"/>
          </a:xfrm>
          <a:prstGeom prst="rect">
            <a:avLst/>
          </a:prstGeom>
          <a:solidFill>
            <a:srgbClr val="51420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ab"/>
          <p:cNvSpPr txBox="1"/>
          <p:nvPr/>
        </p:nvSpPr>
        <p:spPr>
          <a:xfrm>
            <a:off x="658368" y="5541264"/>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50" b="1" i="0" spc="160">
                <a:solidFill>
                  <a:srgbClr val="BDB7A0"/>
                </a:solidFill>
                <a:latin typeface="Segoe UI"/>
              </a:rPr>
              <a:t>LECTURER</a:t>
            </a:r>
          </a:p>
        </p:txBody>
      </p:sp>
      <p:sp>
        <p:nvSpPr>
          <p:cNvPr id="10" name="!!author"/>
          <p:cNvSpPr txBox="1"/>
          <p:nvPr/>
        </p:nvSpPr>
        <p:spPr>
          <a:xfrm>
            <a:off x="658368" y="5779008"/>
            <a:ext cx="5486400" cy="365760"/>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FFFFFF"/>
                </a:solidFill>
                <a:latin typeface="Segoe UI Semibold"/>
              </a:rPr>
              <a:t>Dr. Mustafa Hameed</a:t>
            </a:r>
          </a:p>
        </p:txBody>
      </p:sp>
      <p:sp>
        <p:nvSpPr>
          <p:cNvPr id="11" name="!!dept"/>
          <p:cNvSpPr txBox="1"/>
          <p:nvPr/>
        </p:nvSpPr>
        <p:spPr>
          <a:xfrm>
            <a:off x="658368" y="6181344"/>
            <a:ext cx="5852160" cy="274320"/>
          </a:xfrm>
          <a:prstGeom prst="rect">
            <a:avLst/>
          </a:prstGeom>
          <a:noFill/>
        </p:spPr>
        <p:txBody>
          <a:bodyPr wrap="square" anchor="t" lIns="0" rIns="0" tIns="0" bIns="0">
            <a:noAutofit/>
          </a:bodyPr>
          <a:lstStyle/>
          <a:p>
            <a:pPr algn="l">
              <a:lnSpc>
                <a:spcPct val="100000"/>
              </a:lnSpc>
              <a:spcBef>
                <a:spcPts val="0"/>
              </a:spcBef>
              <a:spcAft>
                <a:spcPts val="0"/>
              </a:spcAft>
            </a:pPr>
            <a:r>
              <a:rPr sz="1200" b="0" i="0">
                <a:solidFill>
                  <a:srgbClr val="CECAB9"/>
                </a:solidFill>
                <a:latin typeface="Segoe UI"/>
              </a:rPr>
              <a:t>Department of Information Technology  ·  BSIT · Fall 2026</a:t>
            </a:r>
          </a:p>
        </p:txBody>
      </p:sp>
      <p:sp>
        <p:nvSpPr>
          <p:cNvPr id="12" name="!!uni"/>
          <p:cNvSpPr txBox="1"/>
          <p:nvPr/>
        </p:nvSpPr>
        <p:spPr>
          <a:xfrm>
            <a:off x="5205818" y="568756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150" b="1" i="0" spc="60">
                <a:solidFill>
                  <a:srgbClr val="FFFFFF"/>
                </a:solidFill>
                <a:latin typeface="Segoe UI"/>
              </a:rPr>
              <a:t>THE ISLAMIA UNIVERSITY OF BAHAWALPUR</a:t>
            </a:r>
          </a:p>
        </p:txBody>
      </p:sp>
      <p:sp>
        <p:nvSpPr>
          <p:cNvPr id="13" name="!!uni2"/>
          <p:cNvSpPr txBox="1"/>
          <p:nvPr/>
        </p:nvSpPr>
        <p:spPr>
          <a:xfrm>
            <a:off x="5205818" y="596188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050" b="0" i="0">
                <a:solidFill>
                  <a:srgbClr val="BDB7A0"/>
                </a:solidFill>
                <a:latin typeface="Segoe UI"/>
              </a:rPr>
              <a:t>Bahawalpur, Pakistan</a:t>
            </a:r>
          </a:p>
        </p:txBody>
      </p:sp>
      <p:pic>
        <p:nvPicPr>
          <p:cNvPr id="14" name="!!logo-iub-logo-white" descr="The Islamia University of Bahawalpur"/>
          <p:cNvPicPr>
            <a:picLocks noChangeAspect="1"/>
          </p:cNvPicPr>
          <p:nvPr/>
        </p:nvPicPr>
        <p:blipFill>
          <a:blip r:embed="rId2"/>
          <a:stretch>
            <a:fillRect/>
          </a:stretch>
        </p:blipFill>
        <p:spPr>
          <a:xfrm>
            <a:off x="9503498" y="5486400"/>
            <a:ext cx="904084" cy="896112"/>
          </a:xfrm>
          <a:prstGeom prst="rect">
            <a:avLst/>
          </a:prstGeom>
        </p:spPr>
      </p:pic>
      <p:pic>
        <p:nvPicPr>
          <p:cNvPr id="15" name="!!logo-dit-logo" descr="Department of Information Technology"/>
          <p:cNvPicPr>
            <a:picLocks noChangeAspect="1"/>
          </p:cNvPicPr>
          <p:nvPr/>
        </p:nvPicPr>
        <p:blipFill>
          <a:blip r:embed="rId3"/>
          <a:stretch>
            <a:fillRect/>
          </a:stretch>
        </p:blipFill>
        <p:spPr>
          <a:xfrm>
            <a:off x="10663614" y="5486400"/>
            <a:ext cx="869712" cy="896112"/>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Where this chapter sits</a:t>
            </a:r>
          </a:p>
        </p:txBody>
      </p:sp>
      <p:pic>
        <p:nvPicPr>
          <p:cNvPr id="3" name="!!kicker-icon" descr="map-signs-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THE COURSE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18  ·  Natural Language Processing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187     </a:t>
            </a:r>
            <a:fld id="{74EB4F76-D0DB-449A-9702-8F6741CB6B9D}" type="slidenum">
              <a:rPr lang="en-GB" sz="1000">
                <a:solidFill>
                  <a:srgbClr val="8795A1"/>
                </a:solidFill>
                <a:latin typeface="Segoe UI"/>
              </a:rPr>
              <a:t>2</a:t>
            </a:fld>
          </a:p>
        </p:txBody>
      </p:sp>
      <p:sp>
        <p:nvSpPr>
          <p:cNvPr id="7" name="!!rp1"/>
          <p:cNvSpPr txBox="1"/>
          <p:nvPr/>
        </p:nvSpPr>
        <p:spPr>
          <a:xfrm>
            <a:off x="777239"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a:t>
            </a:r>
          </a:p>
        </p:txBody>
      </p:sp>
      <p:sp>
        <p:nvSpPr>
          <p:cNvPr id="8" name="!!rpl1">
            <a:extLst>
              <a:ext uri="{C183D7F6-B498-43B3-948B-1728B52AA6E4}">
                <adec:decorative xmlns:adec="http://schemas.microsoft.com/office/drawing/2017/decorative" val="1"/>
              </a:ext>
            </a:extLst>
          </p:cNvPr>
          <p:cNvSpPr/>
          <p:nvPr/>
        </p:nvSpPr>
        <p:spPr>
          <a:xfrm>
            <a:off x="777239"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rp2"/>
          <p:cNvSpPr txBox="1"/>
          <p:nvPr/>
        </p:nvSpPr>
        <p:spPr>
          <a:xfrm>
            <a:off x="2280139"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II</a:t>
            </a:r>
          </a:p>
        </p:txBody>
      </p:sp>
      <p:sp>
        <p:nvSpPr>
          <p:cNvPr id="10" name="!!rpl2">
            <a:extLst>
              <a:ext uri="{C183D7F6-B498-43B3-948B-1728B52AA6E4}">
                <adec:decorative xmlns:adec="http://schemas.microsoft.com/office/drawing/2017/decorative" val="1"/>
              </a:ext>
            </a:extLst>
          </p:cNvPr>
          <p:cNvSpPr/>
          <p:nvPr/>
        </p:nvSpPr>
        <p:spPr>
          <a:xfrm>
            <a:off x="2280139"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p3"/>
          <p:cNvSpPr txBox="1"/>
          <p:nvPr/>
        </p:nvSpPr>
        <p:spPr>
          <a:xfrm>
            <a:off x="3783039"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III</a:t>
            </a:r>
          </a:p>
        </p:txBody>
      </p:sp>
      <p:sp>
        <p:nvSpPr>
          <p:cNvPr id="12" name="!!rpl3">
            <a:extLst>
              <a:ext uri="{C183D7F6-B498-43B3-948B-1728B52AA6E4}">
                <adec:decorative xmlns:adec="http://schemas.microsoft.com/office/drawing/2017/decorative" val="1"/>
              </a:ext>
            </a:extLst>
          </p:cNvPr>
          <p:cNvSpPr/>
          <p:nvPr/>
        </p:nvSpPr>
        <p:spPr>
          <a:xfrm>
            <a:off x="3783039"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rp4"/>
          <p:cNvSpPr txBox="1"/>
          <p:nvPr/>
        </p:nvSpPr>
        <p:spPr>
          <a:xfrm>
            <a:off x="5285938" y="1755648"/>
            <a:ext cx="1583242"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IV</a:t>
            </a:r>
          </a:p>
        </p:txBody>
      </p:sp>
      <p:sp>
        <p:nvSpPr>
          <p:cNvPr id="14" name="!!rpl4">
            <a:extLst>
              <a:ext uri="{C183D7F6-B498-43B3-948B-1728B52AA6E4}">
                <adec:decorative xmlns:adec="http://schemas.microsoft.com/office/drawing/2017/decorative" val="1"/>
              </a:ext>
            </a:extLst>
          </p:cNvPr>
          <p:cNvSpPr/>
          <p:nvPr/>
        </p:nvSpPr>
        <p:spPr>
          <a:xfrm>
            <a:off x="5285938" y="2029967"/>
            <a:ext cx="1583242"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rp5"/>
          <p:cNvSpPr txBox="1"/>
          <p:nvPr/>
        </p:nvSpPr>
        <p:spPr>
          <a:xfrm>
            <a:off x="7198364"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a:t>
            </a:r>
          </a:p>
        </p:txBody>
      </p:sp>
      <p:sp>
        <p:nvSpPr>
          <p:cNvPr id="16" name="!!rpl5">
            <a:extLst>
              <a:ext uri="{C183D7F6-B498-43B3-948B-1728B52AA6E4}">
                <adec:decorative xmlns:adec="http://schemas.microsoft.com/office/drawing/2017/decorative" val="1"/>
              </a:ext>
            </a:extLst>
          </p:cNvPr>
          <p:cNvSpPr/>
          <p:nvPr/>
        </p:nvSpPr>
        <p:spPr>
          <a:xfrm>
            <a:off x="7198364"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p6"/>
          <p:cNvSpPr txBox="1"/>
          <p:nvPr/>
        </p:nvSpPr>
        <p:spPr>
          <a:xfrm>
            <a:off x="8701264" y="1755648"/>
            <a:ext cx="2713191"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705B06"/>
                </a:solidFill>
                <a:latin typeface="Segoe UI"/>
              </a:rPr>
              <a:t>PART VI</a:t>
            </a:r>
          </a:p>
        </p:txBody>
      </p:sp>
      <p:sp>
        <p:nvSpPr>
          <p:cNvPr id="18" name="!!rpl6">
            <a:extLst>
              <a:ext uri="{C183D7F6-B498-43B3-948B-1728B52AA6E4}">
                <adec:decorative xmlns:adec="http://schemas.microsoft.com/office/drawing/2017/decorative" val="1"/>
              </a:ext>
            </a:extLst>
          </p:cNvPr>
          <p:cNvSpPr/>
          <p:nvPr/>
        </p:nvSpPr>
        <p:spPr>
          <a:xfrm>
            <a:off x="8701264" y="2029967"/>
            <a:ext cx="2713191" cy="45720"/>
          </a:xfrm>
          <a:prstGeom prst="rect">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dot1">
            <a:extLst>
              <a:ext uri="{C183D7F6-B498-43B3-948B-1728B52AA6E4}">
                <adec:decorative xmlns:adec="http://schemas.microsoft.com/office/drawing/2017/decorative" val="1"/>
              </a:ext>
            </a:extLst>
          </p:cNvPr>
          <p:cNvSpPr/>
          <p:nvPr/>
        </p:nvSpPr>
        <p:spPr>
          <a:xfrm>
            <a:off x="817411"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dotn1"/>
          <p:cNvSpPr txBox="1"/>
          <p:nvPr/>
        </p:nvSpPr>
        <p:spPr>
          <a:xfrm>
            <a:off x="72597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a:t>
            </a:r>
          </a:p>
        </p:txBody>
      </p:sp>
      <p:sp>
        <p:nvSpPr>
          <p:cNvPr id="21" name="!!dot2">
            <a:extLst>
              <a:ext uri="{C183D7F6-B498-43B3-948B-1728B52AA6E4}">
                <adec:decorative xmlns:adec="http://schemas.microsoft.com/office/drawing/2017/decorative" val="1"/>
              </a:ext>
            </a:extLst>
          </p:cNvPr>
          <p:cNvSpPr/>
          <p:nvPr/>
        </p:nvSpPr>
        <p:spPr>
          <a:xfrm>
            <a:off x="1226937"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dotn2"/>
          <p:cNvSpPr txBox="1"/>
          <p:nvPr/>
        </p:nvSpPr>
        <p:spPr>
          <a:xfrm>
            <a:off x="11354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2</a:t>
            </a:r>
          </a:p>
        </p:txBody>
      </p:sp>
      <p:sp>
        <p:nvSpPr>
          <p:cNvPr id="23" name="!!dot3">
            <a:extLst>
              <a:ext uri="{C183D7F6-B498-43B3-948B-1728B52AA6E4}">
                <adec:decorative xmlns:adec="http://schemas.microsoft.com/office/drawing/2017/decorative" val="1"/>
              </a:ext>
            </a:extLst>
          </p:cNvPr>
          <p:cNvSpPr/>
          <p:nvPr/>
        </p:nvSpPr>
        <p:spPr>
          <a:xfrm>
            <a:off x="1636464"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dotn3"/>
          <p:cNvSpPr txBox="1"/>
          <p:nvPr/>
        </p:nvSpPr>
        <p:spPr>
          <a:xfrm>
            <a:off x="154502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3</a:t>
            </a:r>
          </a:p>
        </p:txBody>
      </p:sp>
      <p:sp>
        <p:nvSpPr>
          <p:cNvPr id="25" name="!!dot4">
            <a:extLst>
              <a:ext uri="{C183D7F6-B498-43B3-948B-1728B52AA6E4}">
                <adec:decorative xmlns:adec="http://schemas.microsoft.com/office/drawing/2017/decorative" val="1"/>
              </a:ext>
            </a:extLst>
          </p:cNvPr>
          <p:cNvSpPr/>
          <p:nvPr/>
        </p:nvSpPr>
        <p:spPr>
          <a:xfrm>
            <a:off x="2320310"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dotn4"/>
          <p:cNvSpPr txBox="1"/>
          <p:nvPr/>
        </p:nvSpPr>
        <p:spPr>
          <a:xfrm>
            <a:off x="222887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4</a:t>
            </a:r>
          </a:p>
        </p:txBody>
      </p:sp>
      <p:sp>
        <p:nvSpPr>
          <p:cNvPr id="27" name="!!dot5">
            <a:extLst>
              <a:ext uri="{C183D7F6-B498-43B3-948B-1728B52AA6E4}">
                <adec:decorative xmlns:adec="http://schemas.microsoft.com/office/drawing/2017/decorative" val="1"/>
              </a:ext>
            </a:extLst>
          </p:cNvPr>
          <p:cNvSpPr/>
          <p:nvPr/>
        </p:nvSpPr>
        <p:spPr>
          <a:xfrm>
            <a:off x="2729837"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dotn5"/>
          <p:cNvSpPr txBox="1"/>
          <p:nvPr/>
        </p:nvSpPr>
        <p:spPr>
          <a:xfrm>
            <a:off x="26383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5</a:t>
            </a:r>
          </a:p>
        </p:txBody>
      </p:sp>
      <p:sp>
        <p:nvSpPr>
          <p:cNvPr id="29" name="!!dot6">
            <a:extLst>
              <a:ext uri="{C183D7F6-B498-43B3-948B-1728B52AA6E4}">
                <adec:decorative xmlns:adec="http://schemas.microsoft.com/office/drawing/2017/decorative" val="1"/>
              </a:ext>
            </a:extLst>
          </p:cNvPr>
          <p:cNvSpPr/>
          <p:nvPr/>
        </p:nvSpPr>
        <p:spPr>
          <a:xfrm>
            <a:off x="3139363"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dotn6"/>
          <p:cNvSpPr txBox="1"/>
          <p:nvPr/>
        </p:nvSpPr>
        <p:spPr>
          <a:xfrm>
            <a:off x="30479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6</a:t>
            </a:r>
          </a:p>
        </p:txBody>
      </p:sp>
      <p:sp>
        <p:nvSpPr>
          <p:cNvPr id="31" name="!!dot7">
            <a:extLst>
              <a:ext uri="{C183D7F6-B498-43B3-948B-1728B52AA6E4}">
                <adec:decorative xmlns:adec="http://schemas.microsoft.com/office/drawing/2017/decorative" val="1"/>
              </a:ext>
            </a:extLst>
          </p:cNvPr>
          <p:cNvSpPr/>
          <p:nvPr/>
        </p:nvSpPr>
        <p:spPr>
          <a:xfrm>
            <a:off x="3823210"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dotn7"/>
          <p:cNvSpPr txBox="1"/>
          <p:nvPr/>
        </p:nvSpPr>
        <p:spPr>
          <a:xfrm>
            <a:off x="373177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7</a:t>
            </a:r>
          </a:p>
        </p:txBody>
      </p:sp>
      <p:sp>
        <p:nvSpPr>
          <p:cNvPr id="33" name="!!dot8">
            <a:extLst>
              <a:ext uri="{C183D7F6-B498-43B3-948B-1728B52AA6E4}">
                <adec:decorative xmlns:adec="http://schemas.microsoft.com/office/drawing/2017/decorative" val="1"/>
              </a:ext>
            </a:extLst>
          </p:cNvPr>
          <p:cNvSpPr/>
          <p:nvPr/>
        </p:nvSpPr>
        <p:spPr>
          <a:xfrm>
            <a:off x="4232736"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dotn8"/>
          <p:cNvSpPr txBox="1"/>
          <p:nvPr/>
        </p:nvSpPr>
        <p:spPr>
          <a:xfrm>
            <a:off x="4141296"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8</a:t>
            </a:r>
          </a:p>
        </p:txBody>
      </p:sp>
      <p:sp>
        <p:nvSpPr>
          <p:cNvPr id="35" name="!!dot9">
            <a:extLst>
              <a:ext uri="{C183D7F6-B498-43B3-948B-1728B52AA6E4}">
                <adec:decorative xmlns:adec="http://schemas.microsoft.com/office/drawing/2017/decorative" val="1"/>
              </a:ext>
            </a:extLst>
          </p:cNvPr>
          <p:cNvSpPr/>
          <p:nvPr/>
        </p:nvSpPr>
        <p:spPr>
          <a:xfrm>
            <a:off x="4642263"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dotn9"/>
          <p:cNvSpPr txBox="1"/>
          <p:nvPr/>
        </p:nvSpPr>
        <p:spPr>
          <a:xfrm>
            <a:off x="45508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9</a:t>
            </a:r>
          </a:p>
        </p:txBody>
      </p:sp>
      <p:sp>
        <p:nvSpPr>
          <p:cNvPr id="37" name="!!dot10">
            <a:extLst>
              <a:ext uri="{C183D7F6-B498-43B3-948B-1728B52AA6E4}">
                <adec:decorative xmlns:adec="http://schemas.microsoft.com/office/drawing/2017/decorative" val="1"/>
              </a:ext>
            </a:extLst>
          </p:cNvPr>
          <p:cNvSpPr/>
          <p:nvPr/>
        </p:nvSpPr>
        <p:spPr>
          <a:xfrm>
            <a:off x="5326109" y="2258568"/>
            <a:ext cx="274320" cy="274320"/>
          </a:xfrm>
          <a:prstGeom prst="ellipse">
            <a:avLst/>
          </a:prstGeom>
          <a:solidFill>
            <a:srgbClr val="9F60B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dotn10"/>
          <p:cNvSpPr txBox="1"/>
          <p:nvPr/>
        </p:nvSpPr>
        <p:spPr>
          <a:xfrm>
            <a:off x="5234669"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10</a:t>
            </a:r>
          </a:p>
        </p:txBody>
      </p:sp>
      <p:sp>
        <p:nvSpPr>
          <p:cNvPr id="39" name="!!dot11">
            <a:extLst>
              <a:ext uri="{C183D7F6-B498-43B3-948B-1728B52AA6E4}">
                <adec:decorative xmlns:adec="http://schemas.microsoft.com/office/drawing/2017/decorative" val="1"/>
              </a:ext>
            </a:extLst>
          </p:cNvPr>
          <p:cNvSpPr/>
          <p:nvPr/>
        </p:nvSpPr>
        <p:spPr>
          <a:xfrm>
            <a:off x="5735636" y="2258568"/>
            <a:ext cx="274320" cy="274320"/>
          </a:xfrm>
          <a:prstGeom prst="ellipse">
            <a:avLst/>
          </a:prstGeom>
          <a:solidFill>
            <a:srgbClr val="9F60B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dotn11"/>
          <p:cNvSpPr txBox="1"/>
          <p:nvPr/>
        </p:nvSpPr>
        <p:spPr>
          <a:xfrm>
            <a:off x="5644196"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11</a:t>
            </a:r>
          </a:p>
        </p:txBody>
      </p:sp>
      <p:sp>
        <p:nvSpPr>
          <p:cNvPr id="41" name="!!dot12">
            <a:extLst>
              <a:ext uri="{C183D7F6-B498-43B3-948B-1728B52AA6E4}">
                <adec:decorative xmlns:adec="http://schemas.microsoft.com/office/drawing/2017/decorative" val="1"/>
              </a:ext>
            </a:extLst>
          </p:cNvPr>
          <p:cNvSpPr/>
          <p:nvPr/>
        </p:nvSpPr>
        <p:spPr>
          <a:xfrm>
            <a:off x="6145162" y="2258568"/>
            <a:ext cx="274320" cy="274320"/>
          </a:xfrm>
          <a:prstGeom prst="ellipse">
            <a:avLst/>
          </a:prstGeom>
          <a:solidFill>
            <a:srgbClr val="9F60B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dotn12"/>
          <p:cNvSpPr txBox="1"/>
          <p:nvPr/>
        </p:nvSpPr>
        <p:spPr>
          <a:xfrm>
            <a:off x="6053722"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12</a:t>
            </a:r>
          </a:p>
        </p:txBody>
      </p:sp>
      <p:sp>
        <p:nvSpPr>
          <p:cNvPr id="43" name="!!dot13">
            <a:extLst>
              <a:ext uri="{C183D7F6-B498-43B3-948B-1728B52AA6E4}">
                <adec:decorative xmlns:adec="http://schemas.microsoft.com/office/drawing/2017/decorative" val="1"/>
              </a:ext>
            </a:extLst>
          </p:cNvPr>
          <p:cNvSpPr/>
          <p:nvPr/>
        </p:nvSpPr>
        <p:spPr>
          <a:xfrm>
            <a:off x="6554689" y="2258568"/>
            <a:ext cx="274320" cy="274320"/>
          </a:xfrm>
          <a:prstGeom prst="ellipse">
            <a:avLst/>
          </a:prstGeom>
          <a:solidFill>
            <a:srgbClr val="9F60B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dotn13"/>
          <p:cNvSpPr txBox="1"/>
          <p:nvPr/>
        </p:nvSpPr>
        <p:spPr>
          <a:xfrm>
            <a:off x="6463249"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13</a:t>
            </a:r>
          </a:p>
        </p:txBody>
      </p:sp>
      <p:sp>
        <p:nvSpPr>
          <p:cNvPr id="45" name="!!dot14">
            <a:extLst>
              <a:ext uri="{C183D7F6-B498-43B3-948B-1728B52AA6E4}">
                <adec:decorative xmlns:adec="http://schemas.microsoft.com/office/drawing/2017/decorative" val="1"/>
              </a:ext>
            </a:extLst>
          </p:cNvPr>
          <p:cNvSpPr/>
          <p:nvPr/>
        </p:nvSpPr>
        <p:spPr>
          <a:xfrm>
            <a:off x="7238535" y="2258568"/>
            <a:ext cx="274320" cy="274320"/>
          </a:xfrm>
          <a:prstGeom prst="ellipse">
            <a:avLst/>
          </a:prstGeom>
          <a:solidFill>
            <a:srgbClr val="358E7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dotn14"/>
          <p:cNvSpPr txBox="1"/>
          <p:nvPr/>
        </p:nvSpPr>
        <p:spPr>
          <a:xfrm>
            <a:off x="7147095"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14</a:t>
            </a:r>
          </a:p>
        </p:txBody>
      </p:sp>
      <p:sp>
        <p:nvSpPr>
          <p:cNvPr id="47" name="!!dot15">
            <a:extLst>
              <a:ext uri="{C183D7F6-B498-43B3-948B-1728B52AA6E4}">
                <adec:decorative xmlns:adec="http://schemas.microsoft.com/office/drawing/2017/decorative" val="1"/>
              </a:ext>
            </a:extLst>
          </p:cNvPr>
          <p:cNvSpPr/>
          <p:nvPr/>
        </p:nvSpPr>
        <p:spPr>
          <a:xfrm>
            <a:off x="7648062" y="2258568"/>
            <a:ext cx="274320" cy="274320"/>
          </a:xfrm>
          <a:prstGeom prst="ellipse">
            <a:avLst/>
          </a:prstGeom>
          <a:solidFill>
            <a:srgbClr val="358E7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dotn15"/>
          <p:cNvSpPr txBox="1"/>
          <p:nvPr/>
        </p:nvSpPr>
        <p:spPr>
          <a:xfrm>
            <a:off x="7556622"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15</a:t>
            </a:r>
          </a:p>
        </p:txBody>
      </p:sp>
      <p:sp>
        <p:nvSpPr>
          <p:cNvPr id="49" name="!!dot16">
            <a:extLst>
              <a:ext uri="{C183D7F6-B498-43B3-948B-1728B52AA6E4}">
                <adec:decorative xmlns:adec="http://schemas.microsoft.com/office/drawing/2017/decorative" val="1"/>
              </a:ext>
            </a:extLst>
          </p:cNvPr>
          <p:cNvSpPr/>
          <p:nvPr/>
        </p:nvSpPr>
        <p:spPr>
          <a:xfrm>
            <a:off x="8057588" y="2258568"/>
            <a:ext cx="274320" cy="274320"/>
          </a:xfrm>
          <a:prstGeom prst="ellipse">
            <a:avLst/>
          </a:prstGeom>
          <a:solidFill>
            <a:srgbClr val="358E7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dotn16"/>
          <p:cNvSpPr txBox="1"/>
          <p:nvPr/>
        </p:nvSpPr>
        <p:spPr>
          <a:xfrm>
            <a:off x="796614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16</a:t>
            </a:r>
          </a:p>
        </p:txBody>
      </p:sp>
      <p:sp>
        <p:nvSpPr>
          <p:cNvPr id="51" name="!!dot17">
            <a:extLst>
              <a:ext uri="{C183D7F6-B498-43B3-948B-1728B52AA6E4}">
                <adec:decorative xmlns:adec="http://schemas.microsoft.com/office/drawing/2017/decorative" val="1"/>
              </a:ext>
            </a:extLst>
          </p:cNvPr>
          <p:cNvSpPr/>
          <p:nvPr/>
        </p:nvSpPr>
        <p:spPr>
          <a:xfrm>
            <a:off x="8741435" y="2258568"/>
            <a:ext cx="274320" cy="274320"/>
          </a:xfrm>
          <a:prstGeom prst="ellipse">
            <a:avLst/>
          </a:prstGeom>
          <a:solidFill>
            <a:srgbClr val="C2A5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dotn17"/>
          <p:cNvSpPr txBox="1"/>
          <p:nvPr/>
        </p:nvSpPr>
        <p:spPr>
          <a:xfrm>
            <a:off x="8649995"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17</a:t>
            </a:r>
          </a:p>
        </p:txBody>
      </p:sp>
      <p:sp>
        <p:nvSpPr>
          <p:cNvPr id="53" name="!!dot18">
            <a:extLst>
              <a:ext uri="{C183D7F6-B498-43B3-948B-1728B52AA6E4}">
                <adec:decorative xmlns:adec="http://schemas.microsoft.com/office/drawing/2017/decorative" val="1"/>
              </a:ext>
            </a:extLst>
          </p:cNvPr>
          <p:cNvSpPr/>
          <p:nvPr/>
        </p:nvSpPr>
        <p:spPr>
          <a:xfrm>
            <a:off x="9160105" y="2112264"/>
            <a:ext cx="566928" cy="566928"/>
          </a:xfrm>
          <a:prstGeom prst="ellipse">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dotn18"/>
          <p:cNvSpPr txBox="1"/>
          <p:nvPr/>
        </p:nvSpPr>
        <p:spPr>
          <a:xfrm>
            <a:off x="9160105" y="2240280"/>
            <a:ext cx="566928"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18</a:t>
            </a:r>
          </a:p>
        </p:txBody>
      </p:sp>
      <p:sp>
        <p:nvSpPr>
          <p:cNvPr id="55" name="!!dot19">
            <a:extLst>
              <a:ext uri="{C183D7F6-B498-43B3-948B-1728B52AA6E4}">
                <adec:decorative xmlns:adec="http://schemas.microsoft.com/office/drawing/2017/decorative" val="1"/>
              </a:ext>
            </a:extLst>
          </p:cNvPr>
          <p:cNvSpPr/>
          <p:nvPr/>
        </p:nvSpPr>
        <p:spPr>
          <a:xfrm>
            <a:off x="9871384"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dotn19"/>
          <p:cNvSpPr txBox="1"/>
          <p:nvPr/>
        </p:nvSpPr>
        <p:spPr>
          <a:xfrm>
            <a:off x="977994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19</a:t>
            </a:r>
          </a:p>
        </p:txBody>
      </p:sp>
      <p:sp>
        <p:nvSpPr>
          <p:cNvPr id="57" name="!!dot20">
            <a:extLst>
              <a:ext uri="{C183D7F6-B498-43B3-948B-1728B52AA6E4}">
                <adec:decorative xmlns:adec="http://schemas.microsoft.com/office/drawing/2017/decorative" val="1"/>
              </a:ext>
            </a:extLst>
          </p:cNvPr>
          <p:cNvSpPr/>
          <p:nvPr/>
        </p:nvSpPr>
        <p:spPr>
          <a:xfrm>
            <a:off x="10280910"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dotn20"/>
          <p:cNvSpPr txBox="1"/>
          <p:nvPr/>
        </p:nvSpPr>
        <p:spPr>
          <a:xfrm>
            <a:off x="1018947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20</a:t>
            </a:r>
          </a:p>
        </p:txBody>
      </p:sp>
      <p:sp>
        <p:nvSpPr>
          <p:cNvPr id="59" name="!!dot21">
            <a:extLst>
              <a:ext uri="{C183D7F6-B498-43B3-948B-1728B52AA6E4}">
                <adec:decorative xmlns:adec="http://schemas.microsoft.com/office/drawing/2017/decorative" val="1"/>
              </a:ext>
            </a:extLst>
          </p:cNvPr>
          <p:cNvSpPr/>
          <p:nvPr/>
        </p:nvSpPr>
        <p:spPr>
          <a:xfrm>
            <a:off x="10690437"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dotn21"/>
          <p:cNvSpPr txBox="1"/>
          <p:nvPr/>
        </p:nvSpPr>
        <p:spPr>
          <a:xfrm>
            <a:off x="105989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21</a:t>
            </a:r>
          </a:p>
        </p:txBody>
      </p:sp>
      <p:sp>
        <p:nvSpPr>
          <p:cNvPr id="61" name="!!dot22">
            <a:extLst>
              <a:ext uri="{C183D7F6-B498-43B3-948B-1728B52AA6E4}">
                <adec:decorative xmlns:adec="http://schemas.microsoft.com/office/drawing/2017/decorative" val="1"/>
              </a:ext>
            </a:extLst>
          </p:cNvPr>
          <p:cNvSpPr/>
          <p:nvPr/>
        </p:nvSpPr>
        <p:spPr>
          <a:xfrm>
            <a:off x="11099963"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2" name="!!dotn22"/>
          <p:cNvSpPr txBox="1"/>
          <p:nvPr/>
        </p:nvSpPr>
        <p:spPr>
          <a:xfrm>
            <a:off x="110085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22</a:t>
            </a:r>
          </a:p>
        </p:txBody>
      </p:sp>
      <p:sp>
        <p:nvSpPr>
          <p:cNvPr id="63" name="!!dotlabel"/>
          <p:cNvSpPr txBox="1"/>
          <p:nvPr/>
        </p:nvSpPr>
        <p:spPr>
          <a:xfrm>
            <a:off x="5681167" y="2798064"/>
            <a:ext cx="5852160"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705B06"/>
                </a:solidFill>
                <a:latin typeface="Segoe UI"/>
              </a:rPr>
              <a:t>Natural Language Processing</a:t>
            </a:r>
          </a:p>
        </p:txBody>
      </p:sp>
      <p:sp>
        <p:nvSpPr>
          <p:cNvPr id="64" name="!!dep-BUILD"/>
          <p:cNvSpPr txBox="1"/>
          <p:nvPr/>
        </p:nvSpPr>
        <p:spPr>
          <a:xfrm>
            <a:off x="658368"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BUILDS ON</a:t>
            </a:r>
          </a:p>
        </p:txBody>
      </p:sp>
      <p:sp>
        <p:nvSpPr>
          <p:cNvPr id="65" name="!!chipBU3">
            <a:extLst>
              <a:ext uri="{C183D7F6-B498-43B3-948B-1728B52AA6E4}">
                <adec:decorative xmlns:adec="http://schemas.microsoft.com/office/drawing/2017/decorative" val="1"/>
              </a:ext>
            </a:extLst>
          </p:cNvPr>
          <p:cNvSpPr/>
          <p:nvPr/>
        </p:nvSpPr>
        <p:spPr>
          <a:xfrm>
            <a:off x="658368" y="3785616"/>
            <a:ext cx="5208879" cy="420624"/>
          </a:xfrm>
          <a:prstGeom prst="roundRect">
            <a:avLst>
              <a:gd name="adj" fmla="val 17391"/>
            </a:avLst>
          </a:prstGeom>
          <a:solidFill>
            <a:srgbClr val="E8EEF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6" name="!!chipbBU3">
            <a:extLst>
              <a:ext uri="{C183D7F6-B498-43B3-948B-1728B52AA6E4}">
                <adec:decorative xmlns:adec="http://schemas.microsoft.com/office/drawing/2017/decorative" val="1"/>
              </a:ext>
            </a:extLst>
          </p:cNvPr>
          <p:cNvSpPr/>
          <p:nvPr/>
        </p:nvSpPr>
        <p:spPr>
          <a:xfrm>
            <a:off x="658368" y="3785616"/>
            <a:ext cx="64008" cy="42062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7" name="!!chiptBU3"/>
          <p:cNvSpPr txBox="1"/>
          <p:nvPr/>
        </p:nvSpPr>
        <p:spPr>
          <a:xfrm>
            <a:off x="859536"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A5276"/>
                </a:solidFill>
                <a:latin typeface="Segoe UI"/>
              </a:rPr>
              <a:t>Ch 3  </a:t>
            </a:r>
            <a:r>
              <a:rPr sz="1400" b="0" i="0">
                <a:solidFill>
                  <a:srgbClr val="1C252B"/>
                </a:solidFill>
                <a:latin typeface="Segoe UI"/>
              </a:rPr>
              <a:t>Representations and Search in Python</a:t>
            </a:r>
          </a:p>
        </p:txBody>
      </p:sp>
      <p:sp>
        <p:nvSpPr>
          <p:cNvPr id="68" name="!!chipBU12">
            <a:extLst>
              <a:ext uri="{C183D7F6-B498-43B3-948B-1728B52AA6E4}">
                <adec:decorative xmlns:adec="http://schemas.microsoft.com/office/drawing/2017/decorative" val="1"/>
              </a:ext>
            </a:extLst>
          </p:cNvPr>
          <p:cNvSpPr/>
          <p:nvPr/>
        </p:nvSpPr>
        <p:spPr>
          <a:xfrm>
            <a:off x="658368" y="4297680"/>
            <a:ext cx="5208879" cy="420624"/>
          </a:xfrm>
          <a:prstGeom prst="roundRect">
            <a:avLst>
              <a:gd name="adj" fmla="val 17391"/>
            </a:avLst>
          </a:prstGeom>
          <a:solidFill>
            <a:srgbClr val="F2EB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9" name="!!chipbBU12">
            <a:extLst>
              <a:ext uri="{C183D7F6-B498-43B3-948B-1728B52AA6E4}">
                <adec:decorative xmlns:adec="http://schemas.microsoft.com/office/drawing/2017/decorative" val="1"/>
              </a:ext>
            </a:extLst>
          </p:cNvPr>
          <p:cNvSpPr/>
          <p:nvPr/>
        </p:nvSpPr>
        <p:spPr>
          <a:xfrm>
            <a:off x="658368" y="4297680"/>
            <a:ext cx="64008" cy="420624"/>
          </a:xfrm>
          <a:prstGeom prst="rect">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0" name="!!chiptBU12"/>
          <p:cNvSpPr txBox="1"/>
          <p:nvPr/>
        </p:nvSpPr>
        <p:spPr>
          <a:xfrm>
            <a:off x="859536" y="4389120"/>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7A3A95"/>
                </a:solidFill>
                <a:latin typeface="Segoe UI"/>
              </a:rPr>
              <a:t>Ch 12  </a:t>
            </a:r>
            <a:r>
              <a:rPr sz="1400" b="0" i="0">
                <a:solidFill>
                  <a:srgbClr val="1C252B"/>
                </a:solidFill>
                <a:latin typeface="Segoe UI"/>
              </a:rPr>
              <a:t>First-Order Logic and Resolution</a:t>
            </a:r>
          </a:p>
        </p:txBody>
      </p:sp>
      <p:sp>
        <p:nvSpPr>
          <p:cNvPr id="71" name="!!chipBU14">
            <a:extLst>
              <a:ext uri="{C183D7F6-B498-43B3-948B-1728B52AA6E4}">
                <adec:decorative xmlns:adec="http://schemas.microsoft.com/office/drawing/2017/decorative" val="1"/>
              </a:ext>
            </a:extLst>
          </p:cNvPr>
          <p:cNvSpPr/>
          <p:nvPr/>
        </p:nvSpPr>
        <p:spPr>
          <a:xfrm>
            <a:off x="658368" y="4809744"/>
            <a:ext cx="5208879" cy="420624"/>
          </a:xfrm>
          <a:prstGeom prst="roundRect">
            <a:avLst>
              <a:gd name="adj" fmla="val 17391"/>
            </a:avLst>
          </a:prstGeom>
          <a:solidFill>
            <a:srgbClr val="E7F2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2" name="!!chipbBU14">
            <a:extLst>
              <a:ext uri="{C183D7F6-B498-43B3-948B-1728B52AA6E4}">
                <adec:decorative xmlns:adec="http://schemas.microsoft.com/office/drawing/2017/decorative" val="1"/>
              </a:ext>
            </a:extLst>
          </p:cNvPr>
          <p:cNvSpPr/>
          <p:nvPr/>
        </p:nvSpPr>
        <p:spPr>
          <a:xfrm>
            <a:off x="658368" y="4809744"/>
            <a:ext cx="64008" cy="420624"/>
          </a:xfrm>
          <a:prstGeom prst="rect">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3" name="!!chiptBU14"/>
          <p:cNvSpPr txBox="1"/>
          <p:nvPr/>
        </p:nvSpPr>
        <p:spPr>
          <a:xfrm>
            <a:off x="859536" y="4901184"/>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07964"/>
                </a:solidFill>
                <a:latin typeface="Segoe UI"/>
              </a:rPr>
              <a:t>Ch 14  </a:t>
            </a:r>
            <a:r>
              <a:rPr sz="1400" b="0" i="0">
                <a:solidFill>
                  <a:srgbClr val="1C252B"/>
                </a:solidFill>
                <a:latin typeface="Segoe UI"/>
              </a:rPr>
              <a:t>Uncertainty and Decision Making</a:t>
            </a:r>
          </a:p>
        </p:txBody>
      </p:sp>
      <p:sp>
        <p:nvSpPr>
          <p:cNvPr id="74" name="!!dep-USED "/>
          <p:cNvSpPr txBox="1"/>
          <p:nvPr/>
        </p:nvSpPr>
        <p:spPr>
          <a:xfrm>
            <a:off x="6324447"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USED LATER IN</a:t>
            </a:r>
          </a:p>
        </p:txBody>
      </p:sp>
      <p:sp>
        <p:nvSpPr>
          <p:cNvPr id="75" name="!!chipUS19">
            <a:extLst>
              <a:ext uri="{C183D7F6-B498-43B3-948B-1728B52AA6E4}">
                <adec:decorative xmlns:adec="http://schemas.microsoft.com/office/drawing/2017/decorative" val="1"/>
              </a:ext>
            </a:extLst>
          </p:cNvPr>
          <p:cNvSpPr/>
          <p:nvPr/>
        </p:nvSpPr>
        <p:spPr>
          <a:xfrm>
            <a:off x="6324447" y="3785616"/>
            <a:ext cx="5208879" cy="420624"/>
          </a:xfrm>
          <a:prstGeom prst="roundRect">
            <a:avLst>
              <a:gd name="adj" fmla="val 17391"/>
            </a:avLst>
          </a:prstGeom>
          <a:solidFill>
            <a:srgbClr val="F1EF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6" name="!!chipbUS19">
            <a:extLst>
              <a:ext uri="{C183D7F6-B498-43B3-948B-1728B52AA6E4}">
                <adec:decorative xmlns:adec="http://schemas.microsoft.com/office/drawing/2017/decorative" val="1"/>
              </a:ext>
            </a:extLst>
          </p:cNvPr>
          <p:cNvSpPr/>
          <p:nvPr/>
        </p:nvSpPr>
        <p:spPr>
          <a:xfrm>
            <a:off x="6324447" y="3785616"/>
            <a:ext cx="64008" cy="420624"/>
          </a:xfrm>
          <a:prstGeom prst="rect">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7" name="!!chiptUS19"/>
          <p:cNvSpPr txBox="1"/>
          <p:nvPr/>
        </p:nvSpPr>
        <p:spPr>
          <a:xfrm>
            <a:off x="6525615"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705B06"/>
                </a:solidFill>
                <a:latin typeface="Segoe UI"/>
              </a:rPr>
              <a:t>Ch 19  </a:t>
            </a:r>
            <a:r>
              <a:rPr sz="1400" b="0" i="0">
                <a:solidFill>
                  <a:srgbClr val="1C252B"/>
                </a:solidFill>
                <a:latin typeface="Segoe UI"/>
              </a:rPr>
              <a:t>Classic AI Systems and How to Analyse Them</a:t>
            </a:r>
          </a:p>
        </p:txBody>
      </p:sp>
      <p:sp>
        <p:nvSpPr>
          <p:cNvPr id="78" name="!!chipUS20">
            <a:extLst>
              <a:ext uri="{C183D7F6-B498-43B3-948B-1728B52AA6E4}">
                <adec:decorative xmlns:adec="http://schemas.microsoft.com/office/drawing/2017/decorative" val="1"/>
              </a:ext>
            </a:extLst>
          </p:cNvPr>
          <p:cNvSpPr/>
          <p:nvPr/>
        </p:nvSpPr>
        <p:spPr>
          <a:xfrm>
            <a:off x="6324447" y="4297680"/>
            <a:ext cx="5208879" cy="420624"/>
          </a:xfrm>
          <a:prstGeom prst="roundRect">
            <a:avLst>
              <a:gd name="adj" fmla="val 17391"/>
            </a:avLst>
          </a:prstGeom>
          <a:solidFill>
            <a:srgbClr val="F1EF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9" name="!!chipbUS20">
            <a:extLst>
              <a:ext uri="{C183D7F6-B498-43B3-948B-1728B52AA6E4}">
                <adec:decorative xmlns:adec="http://schemas.microsoft.com/office/drawing/2017/decorative" val="1"/>
              </a:ext>
            </a:extLst>
          </p:cNvPr>
          <p:cNvSpPr/>
          <p:nvPr/>
        </p:nvSpPr>
        <p:spPr>
          <a:xfrm>
            <a:off x="6324447" y="4297680"/>
            <a:ext cx="64008" cy="420624"/>
          </a:xfrm>
          <a:prstGeom prst="rect">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0" name="!!chiptUS20"/>
          <p:cNvSpPr txBox="1"/>
          <p:nvPr/>
        </p:nvSpPr>
        <p:spPr>
          <a:xfrm>
            <a:off x="6525615" y="4389120"/>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705B06"/>
                </a:solidFill>
                <a:latin typeface="Segoe UI"/>
              </a:rPr>
              <a:t>Ch 20  </a:t>
            </a:r>
            <a:r>
              <a:rPr sz="1400" b="0" i="0">
                <a:solidFill>
                  <a:srgbClr val="1C252B"/>
                </a:solidFill>
                <a:latin typeface="Segoe UI"/>
              </a:rPr>
              <a:t>Recent Trends and Applications</a:t>
            </a:r>
          </a:p>
        </p:txBody>
      </p:sp>
      <p:sp>
        <p:nvSpPr>
          <p:cNvPr id="8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2" name="!!pfill">
            <a:extLst>
              <a:ext uri="{C183D7F6-B498-43B3-948B-1728B52AA6E4}">
                <adec:decorative xmlns:adec="http://schemas.microsoft.com/office/drawing/2017/decorative" val="1"/>
              </a:ext>
            </a:extLst>
          </p:cNvPr>
          <p:cNvSpPr/>
          <p:nvPr/>
        </p:nvSpPr>
        <p:spPr>
          <a:xfrm>
            <a:off x="0" y="0"/>
            <a:ext cx="468911"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you will be able to do</a:t>
            </a:r>
          </a:p>
        </p:txBody>
      </p:sp>
      <p:pic>
        <p:nvPicPr>
          <p:cNvPr id="3" name="!!kicker-icon" descr="bullsey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LEARNING OUTCOMES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18  ·  Natural Language Processing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187     </a:t>
            </a:r>
            <a:fld id="{AD0E2579-AAE3-4659-8B33-D9A0B9EA896C}" type="slidenum">
              <a:rPr lang="en-GB" sz="1000">
                <a:solidFill>
                  <a:srgbClr val="8795A1"/>
                </a:solidFill>
                <a:latin typeface="Segoe UI"/>
              </a:rPr>
              <a:t>3</a:t>
            </a:fld>
          </a:p>
        </p:txBody>
      </p:sp>
      <p:sp>
        <p:nvSpPr>
          <p:cNvPr id="7" name="!!olead"/>
          <p:cNvSpPr txBox="1"/>
          <p:nvPr/>
        </p:nvSpPr>
        <p:spPr>
          <a:xfrm>
            <a:off x="658368" y="1737360"/>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5F6F7B"/>
                </a:solidFill>
                <a:latin typeface="Segoe UI"/>
              </a:rPr>
              <a:t>By the end of this chapter you will be able to:</a:t>
            </a:r>
          </a:p>
        </p:txBody>
      </p:sp>
      <p:sp>
        <p:nvSpPr>
          <p:cNvPr id="8" name="!!ob0">
            <a:extLst>
              <a:ext uri="{C183D7F6-B498-43B3-948B-1728B52AA6E4}">
                <adec:decorative xmlns:adec="http://schemas.microsoft.com/office/drawing/2017/decorative" val="1"/>
              </a:ext>
            </a:extLst>
          </p:cNvPr>
          <p:cNvSpPr/>
          <p:nvPr/>
        </p:nvSpPr>
        <p:spPr>
          <a:xfrm>
            <a:off x="658368" y="2221991"/>
            <a:ext cx="420624" cy="420624"/>
          </a:xfrm>
          <a:prstGeom prst="ellipse">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obn0"/>
          <p:cNvSpPr txBox="1"/>
          <p:nvPr/>
        </p:nvSpPr>
        <p:spPr>
          <a:xfrm>
            <a:off x="658368" y="2281428"/>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10" name="!!ot0"/>
          <p:cNvSpPr txBox="1"/>
          <p:nvPr/>
        </p:nvSpPr>
        <p:spPr>
          <a:xfrm>
            <a:off x="1316736" y="2212848"/>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05B06"/>
                </a:solidFill>
                <a:latin typeface="Segoe UI"/>
              </a:rPr>
              <a:t>Describe</a:t>
            </a:r>
            <a:r>
              <a:rPr sz="2100" b="0" i="0">
                <a:solidFill>
                  <a:srgbClr val="1C252B"/>
                </a:solidFill>
                <a:latin typeface="Segoe UI"/>
              </a:rPr>
              <a:t> the symbolic language pipeline from characters to meaning, and </a:t>
            </a:r>
            <a:r>
              <a:rPr sz="2100" b="1" i="0">
                <a:solidFill>
                  <a:srgbClr val="1C252B"/>
                </a:solidFill>
                <a:latin typeface="Segoe UI"/>
              </a:rPr>
              <a:t>say</a:t>
            </a:r>
            <a:r>
              <a:rPr sz="2100" b="0" i="0">
                <a:solidFill>
                  <a:srgbClr val="1C252B"/>
                </a:solidFill>
                <a:latin typeface="Segoe UI"/>
              </a:rPr>
              <a:t> what each stage contributes.</a:t>
            </a:r>
          </a:p>
        </p:txBody>
      </p:sp>
      <p:sp>
        <p:nvSpPr>
          <p:cNvPr id="11" name="!!ob1">
            <a:extLst>
              <a:ext uri="{C183D7F6-B498-43B3-948B-1728B52AA6E4}">
                <adec:decorative xmlns:adec="http://schemas.microsoft.com/office/drawing/2017/decorative" val="1"/>
              </a:ext>
            </a:extLst>
          </p:cNvPr>
          <p:cNvSpPr/>
          <p:nvPr/>
        </p:nvSpPr>
        <p:spPr>
          <a:xfrm>
            <a:off x="658368" y="3070555"/>
            <a:ext cx="420624" cy="420624"/>
          </a:xfrm>
          <a:prstGeom prst="ellipse">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obn1"/>
          <p:cNvSpPr txBox="1"/>
          <p:nvPr/>
        </p:nvSpPr>
        <p:spPr>
          <a:xfrm>
            <a:off x="658368" y="3129991"/>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3" name="!!ot1"/>
          <p:cNvSpPr txBox="1"/>
          <p:nvPr/>
        </p:nvSpPr>
        <p:spPr>
          <a:xfrm>
            <a:off x="1316736" y="3061411"/>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05B06"/>
                </a:solidFill>
                <a:latin typeface="Segoe UI"/>
              </a:rPr>
              <a:t>Write</a:t>
            </a:r>
            <a:r>
              <a:rPr sz="2100" b="0" i="0">
                <a:solidFill>
                  <a:srgbClr val="1C252B"/>
                </a:solidFill>
                <a:latin typeface="Segoe UI"/>
              </a:rPr>
              <a:t> a context-free grammar for a small sub-language and </a:t>
            </a:r>
            <a:r>
              <a:rPr sz="2100" b="1" i="0">
                <a:solidFill>
                  <a:srgbClr val="1C252B"/>
                </a:solidFill>
                <a:latin typeface="Segoe UI"/>
              </a:rPr>
              <a:t>parse</a:t>
            </a:r>
            <a:r>
              <a:rPr sz="2100" b="0" i="0">
                <a:solidFill>
                  <a:srgbClr val="1C252B"/>
                </a:solidFill>
                <a:latin typeface="Segoe UI"/>
              </a:rPr>
              <a:t> sentences with the CYK algorithm.</a:t>
            </a:r>
          </a:p>
        </p:txBody>
      </p:sp>
      <p:sp>
        <p:nvSpPr>
          <p:cNvPr id="14" name="!!ob2">
            <a:extLst>
              <a:ext uri="{C183D7F6-B498-43B3-948B-1728B52AA6E4}">
                <adec:decorative xmlns:adec="http://schemas.microsoft.com/office/drawing/2017/decorative" val="1"/>
              </a:ext>
            </a:extLst>
          </p:cNvPr>
          <p:cNvSpPr/>
          <p:nvPr/>
        </p:nvSpPr>
        <p:spPr>
          <a:xfrm>
            <a:off x="658368" y="3919118"/>
            <a:ext cx="420624" cy="420624"/>
          </a:xfrm>
          <a:prstGeom prst="ellipse">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obn2"/>
          <p:cNvSpPr txBox="1"/>
          <p:nvPr/>
        </p:nvSpPr>
        <p:spPr>
          <a:xfrm>
            <a:off x="658368" y="3978554"/>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6" name="!!ot2"/>
          <p:cNvSpPr txBox="1"/>
          <p:nvPr/>
        </p:nvSpPr>
        <p:spPr>
          <a:xfrm>
            <a:off x="1316736" y="3909974"/>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05B06"/>
                </a:solidFill>
                <a:latin typeface="Segoe UI"/>
              </a:rPr>
              <a:t>Identify</a:t>
            </a:r>
            <a:r>
              <a:rPr sz="2100" b="0" i="0">
                <a:solidFill>
                  <a:srgbClr val="1C252B"/>
                </a:solidFill>
                <a:latin typeface="Segoe UI"/>
              </a:rPr>
              <a:t> structural ambiguity, </a:t>
            </a:r>
            <a:r>
              <a:rPr sz="2100" b="1" i="0">
                <a:solidFill>
                  <a:srgbClr val="1C252B"/>
                </a:solidFill>
                <a:latin typeface="Segoe UI"/>
              </a:rPr>
              <a:t>count</a:t>
            </a:r>
            <a:r>
              <a:rPr sz="2100" b="0" i="0">
                <a:solidFill>
                  <a:srgbClr val="1C252B"/>
                </a:solidFill>
                <a:latin typeface="Segoe UI"/>
              </a:rPr>
              <a:t> the parses, and </a:t>
            </a:r>
            <a:r>
              <a:rPr sz="2100" b="1" i="0">
                <a:solidFill>
                  <a:srgbClr val="1C252B"/>
                </a:solidFill>
                <a:latin typeface="Segoe UI"/>
              </a:rPr>
              <a:t>explain</a:t>
            </a:r>
            <a:r>
              <a:rPr sz="2100" b="0" i="0">
                <a:solidFill>
                  <a:srgbClr val="1C252B"/>
                </a:solidFill>
                <a:latin typeface="Segoe UI"/>
              </a:rPr>
              <a:t> why the ambiguity is operationally consequential.</a:t>
            </a:r>
          </a:p>
        </p:txBody>
      </p:sp>
      <p:sp>
        <p:nvSpPr>
          <p:cNvPr id="17" name="!!ob3">
            <a:extLst>
              <a:ext uri="{C183D7F6-B498-43B3-948B-1728B52AA6E4}">
                <adec:decorative xmlns:adec="http://schemas.microsoft.com/office/drawing/2017/decorative" val="1"/>
              </a:ext>
            </a:extLst>
          </p:cNvPr>
          <p:cNvSpPr/>
          <p:nvPr/>
        </p:nvSpPr>
        <p:spPr>
          <a:xfrm>
            <a:off x="658368" y="4767681"/>
            <a:ext cx="420624" cy="420624"/>
          </a:xfrm>
          <a:prstGeom prst="ellipse">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obn3"/>
          <p:cNvSpPr txBox="1"/>
          <p:nvPr/>
        </p:nvSpPr>
        <p:spPr>
          <a:xfrm>
            <a:off x="658368" y="4827117"/>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9" name="!!ot3"/>
          <p:cNvSpPr txBox="1"/>
          <p:nvPr/>
        </p:nvSpPr>
        <p:spPr>
          <a:xfrm>
            <a:off x="1316736" y="4758537"/>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05B06"/>
                </a:solidFill>
                <a:latin typeface="Segoe UI"/>
              </a:rPr>
              <a:t>Implement</a:t>
            </a:r>
            <a:r>
              <a:rPr sz="2100" b="0" i="0">
                <a:solidFill>
                  <a:srgbClr val="1C252B"/>
                </a:solidFill>
                <a:latin typeface="Segoe UI"/>
              </a:rPr>
              <a:t> pattern substitution in the style of Eliza, and </a:t>
            </a:r>
            <a:r>
              <a:rPr sz="2100" b="1" i="0">
                <a:solidFill>
                  <a:srgbClr val="1C252B"/>
                </a:solidFill>
                <a:latin typeface="Segoe UI"/>
              </a:rPr>
              <a:t>say</a:t>
            </a:r>
            <a:r>
              <a:rPr sz="2100" b="0" i="0">
                <a:solidFill>
                  <a:srgbClr val="1C252B"/>
                </a:solidFill>
                <a:latin typeface="Segoe UI"/>
              </a:rPr>
              <a:t> precisely what it demonstrates and what it does not.</a:t>
            </a:r>
          </a:p>
        </p:txBody>
      </p:sp>
      <p:sp>
        <p:nvSpPr>
          <p:cNvPr id="20" name="!!ob4">
            <a:extLst>
              <a:ext uri="{C183D7F6-B498-43B3-948B-1728B52AA6E4}">
                <adec:decorative xmlns:adec="http://schemas.microsoft.com/office/drawing/2017/decorative" val="1"/>
              </a:ext>
            </a:extLst>
          </p:cNvPr>
          <p:cNvSpPr/>
          <p:nvPr/>
        </p:nvSpPr>
        <p:spPr>
          <a:xfrm>
            <a:off x="658368" y="5616244"/>
            <a:ext cx="420624" cy="420624"/>
          </a:xfrm>
          <a:prstGeom prst="ellipse">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obn4"/>
          <p:cNvSpPr txBox="1"/>
          <p:nvPr/>
        </p:nvSpPr>
        <p:spPr>
          <a:xfrm>
            <a:off x="658368" y="5675680"/>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2" name="!!ot4"/>
          <p:cNvSpPr txBox="1"/>
          <p:nvPr/>
        </p:nvSpPr>
        <p:spPr>
          <a:xfrm>
            <a:off x="1316736" y="5657392"/>
            <a:ext cx="10216591" cy="4206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05B06"/>
                </a:solidFill>
                <a:latin typeface="Segoe UI"/>
              </a:rPr>
              <a:t>Build</a:t>
            </a:r>
            <a:r>
              <a:rPr sz="2100" b="0" i="0">
                <a:solidFill>
                  <a:srgbClr val="1C252B"/>
                </a:solidFill>
                <a:latin typeface="Segoe UI"/>
              </a:rPr>
              <a:t> an n-gram model and </a:t>
            </a:r>
            <a:r>
              <a:rPr sz="2100" b="1" i="0">
                <a:solidFill>
                  <a:srgbClr val="1C252B"/>
                </a:solidFill>
                <a:latin typeface="Segoe UI"/>
              </a:rPr>
              <a:t>state</a:t>
            </a:r>
            <a:r>
              <a:rPr sz="2100" b="0" i="0">
                <a:solidFill>
                  <a:srgbClr val="1C252B"/>
                </a:solidFill>
                <a:latin typeface="Segoe UI"/>
              </a:rPr>
              <a:t> the limitation that no amount of data removes.</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703367"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zoom(in)">
                                      <p:cBhvr>
                                        <p:cTn id="8" dur="300"/>
                                        <p:tgtEl>
                                          <p:spTgt spid="8"/>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300"/>
                                        <p:tgtEl>
                                          <p:spTgt spid="9"/>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wipe(right)">
                                      <p:cBhvr>
                                        <p:cTn id="14" dur="420"/>
                                        <p:tgtEl>
                                          <p:spTgt spid="10"/>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zoom(in)">
                                      <p:cBhvr>
                                        <p:cTn id="19" dur="3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300"/>
                                        <p:tgtEl>
                                          <p:spTgt spid="12"/>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wipe(right)">
                                      <p:cBhvr>
                                        <p:cTn id="25" dur="420"/>
                                        <p:tgtEl>
                                          <p:spTgt spid="13"/>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zoom(in)">
                                      <p:cBhvr>
                                        <p:cTn id="30" dur="3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300"/>
                                        <p:tgtEl>
                                          <p:spTgt spid="15"/>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wipe(right)">
                                      <p:cBhvr>
                                        <p:cTn id="36" dur="42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zoom(in)">
                                      <p:cBhvr>
                                        <p:cTn id="41" dur="3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300"/>
                                        <p:tgtEl>
                                          <p:spTgt spid="18"/>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wipe(right)">
                                      <p:cBhvr>
                                        <p:cTn id="47" dur="420"/>
                                        <p:tgtEl>
                                          <p:spTgt spid="19"/>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20"/>
                                        </p:tgtEl>
                                        <p:attrNameLst>
                                          <p:attrName>style.visibility</p:attrName>
                                        </p:attrNameLst>
                                      </p:cBhvr>
                                      <p:to>
                                        <p:strVal val="visible"/>
                                      </p:to>
                                    </p:set>
                                    <p:animEffect transition="in" filter="zoom(in)">
                                      <p:cBhvr>
                                        <p:cTn id="52" dur="300"/>
                                        <p:tgtEl>
                                          <p:spTgt spid="2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1"/>
                                        </p:tgtEl>
                                        <p:attrNameLst>
                                          <p:attrName>style.visibility</p:attrName>
                                        </p:attrNameLst>
                                      </p:cBhvr>
                                      <p:to>
                                        <p:strVal val="visible"/>
                                      </p:to>
                                    </p:set>
                                    <p:animEffect transition="in" filter="fade">
                                      <p:cBhvr>
                                        <p:cTn id="55" dur="300"/>
                                        <p:tgtEl>
                                          <p:spTgt spid="21"/>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wipe(right)">
                                      <p:cBhvr>
                                        <p:cTn id="58" dur="42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Vocabulary for this chapter</a:t>
            </a:r>
          </a:p>
        </p:txBody>
      </p:sp>
      <p:pic>
        <p:nvPicPr>
          <p:cNvPr id="3" name="!!kicker-icon" descr="tags-8E44AD.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7256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8E44AD"/>
                </a:solidFill>
                <a:latin typeface="Segoe UI"/>
              </a:rPr>
              <a:t>KEY TERMS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18  ·  Natural Language Processing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187     </a:t>
            </a:r>
            <a:fld id="{778FF6F9-243B-4DA0-8C7C-4932EC745080}" type="slidenum">
              <a:rPr lang="en-GB" sz="1000">
                <a:solidFill>
                  <a:srgbClr val="8795A1"/>
                </a:solidFill>
                <a:latin typeface="Segoe UI"/>
              </a:rPr>
              <a:t>4</a:t>
            </a:fld>
          </a:p>
        </p:txBody>
      </p:sp>
      <p:sp>
        <p:nvSpPr>
          <p:cNvPr id="7" name="!!term-tokenisation">
            <a:extLst>
              <a:ext uri="{C183D7F6-B498-43B3-948B-1728B52AA6E4}">
                <adec:decorative xmlns:adec="http://schemas.microsoft.com/office/drawing/2017/decorative" val="1"/>
              </a:ext>
            </a:extLst>
          </p:cNvPr>
          <p:cNvSpPr/>
          <p:nvPr/>
        </p:nvSpPr>
        <p:spPr>
          <a:xfrm>
            <a:off x="658368" y="1847088"/>
            <a:ext cx="1491792"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ermd-tokenisation">
            <a:extLst>
              <a:ext uri="{C183D7F6-B498-43B3-948B-1728B52AA6E4}">
                <adec:decorative xmlns:adec="http://schemas.microsoft.com/office/drawing/2017/decorative" val="1"/>
              </a:ext>
            </a:extLst>
          </p:cNvPr>
          <p:cNvSpPr/>
          <p:nvPr/>
        </p:nvSpPr>
        <p:spPr>
          <a:xfrm>
            <a:off x="786384"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termt-tokenisation"/>
          <p:cNvSpPr txBox="1"/>
          <p:nvPr/>
        </p:nvSpPr>
        <p:spPr>
          <a:xfrm>
            <a:off x="950976" y="1970532"/>
            <a:ext cx="1308912"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tokenisation</a:t>
            </a:r>
          </a:p>
        </p:txBody>
      </p:sp>
      <p:sp>
        <p:nvSpPr>
          <p:cNvPr id="10" name="!!term-morphology">
            <a:extLst>
              <a:ext uri="{C183D7F6-B498-43B3-948B-1728B52AA6E4}">
                <adec:decorative xmlns:adec="http://schemas.microsoft.com/office/drawing/2017/decorative" val="1"/>
              </a:ext>
            </a:extLst>
          </p:cNvPr>
          <p:cNvSpPr/>
          <p:nvPr/>
        </p:nvSpPr>
        <p:spPr>
          <a:xfrm>
            <a:off x="2296464" y="1847088"/>
            <a:ext cx="149518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rmd-morphology">
            <a:extLst>
              <a:ext uri="{C183D7F6-B498-43B3-948B-1728B52AA6E4}">
                <adec:decorative xmlns:adec="http://schemas.microsoft.com/office/drawing/2017/decorative" val="1"/>
              </a:ext>
            </a:extLst>
          </p:cNvPr>
          <p:cNvSpPr/>
          <p:nvPr/>
        </p:nvSpPr>
        <p:spPr>
          <a:xfrm>
            <a:off x="2424480"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rmt-morphology"/>
          <p:cNvSpPr txBox="1"/>
          <p:nvPr/>
        </p:nvSpPr>
        <p:spPr>
          <a:xfrm>
            <a:off x="2589072" y="1970532"/>
            <a:ext cx="1312301"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morphology</a:t>
            </a:r>
          </a:p>
        </p:txBody>
      </p:sp>
      <p:sp>
        <p:nvSpPr>
          <p:cNvPr id="13" name="!!term-stemming">
            <a:extLst>
              <a:ext uri="{C183D7F6-B498-43B3-948B-1728B52AA6E4}">
                <adec:decorative xmlns:adec="http://schemas.microsoft.com/office/drawing/2017/decorative" val="1"/>
              </a:ext>
            </a:extLst>
          </p:cNvPr>
          <p:cNvSpPr/>
          <p:nvPr/>
        </p:nvSpPr>
        <p:spPr>
          <a:xfrm>
            <a:off x="3937950" y="1847088"/>
            <a:ext cx="1294823"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rmd-stemming">
            <a:extLst>
              <a:ext uri="{C183D7F6-B498-43B3-948B-1728B52AA6E4}">
                <adec:decorative xmlns:adec="http://schemas.microsoft.com/office/drawing/2017/decorative" val="1"/>
              </a:ext>
            </a:extLst>
          </p:cNvPr>
          <p:cNvSpPr/>
          <p:nvPr/>
        </p:nvSpPr>
        <p:spPr>
          <a:xfrm>
            <a:off x="4065966"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rmt-stemming"/>
          <p:cNvSpPr txBox="1"/>
          <p:nvPr/>
        </p:nvSpPr>
        <p:spPr>
          <a:xfrm>
            <a:off x="4230558" y="1970532"/>
            <a:ext cx="1111943"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stemming</a:t>
            </a:r>
          </a:p>
        </p:txBody>
      </p:sp>
      <p:sp>
        <p:nvSpPr>
          <p:cNvPr id="16" name="!!term-part of speech">
            <a:extLst>
              <a:ext uri="{C183D7F6-B498-43B3-948B-1728B52AA6E4}">
                <adec:decorative xmlns:adec="http://schemas.microsoft.com/office/drawing/2017/decorative" val="1"/>
              </a:ext>
            </a:extLst>
          </p:cNvPr>
          <p:cNvSpPr/>
          <p:nvPr/>
        </p:nvSpPr>
        <p:spPr>
          <a:xfrm>
            <a:off x="5379077" y="1847088"/>
            <a:ext cx="1666362"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rmd-part of speech">
            <a:extLst>
              <a:ext uri="{C183D7F6-B498-43B3-948B-1728B52AA6E4}">
                <adec:decorative xmlns:adec="http://schemas.microsoft.com/office/drawing/2017/decorative" val="1"/>
              </a:ext>
            </a:extLst>
          </p:cNvPr>
          <p:cNvSpPr/>
          <p:nvPr/>
        </p:nvSpPr>
        <p:spPr>
          <a:xfrm>
            <a:off x="5507093"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rmt-part of speech"/>
          <p:cNvSpPr txBox="1"/>
          <p:nvPr/>
        </p:nvSpPr>
        <p:spPr>
          <a:xfrm>
            <a:off x="5671685" y="1970532"/>
            <a:ext cx="1483482"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part of speech</a:t>
            </a:r>
          </a:p>
        </p:txBody>
      </p:sp>
      <p:sp>
        <p:nvSpPr>
          <p:cNvPr id="19" name="!!term-context-free g">
            <a:extLst>
              <a:ext uri="{C183D7F6-B498-43B3-948B-1728B52AA6E4}">
                <adec:decorative xmlns:adec="http://schemas.microsoft.com/office/drawing/2017/decorative" val="1"/>
              </a:ext>
            </a:extLst>
          </p:cNvPr>
          <p:cNvSpPr/>
          <p:nvPr/>
        </p:nvSpPr>
        <p:spPr>
          <a:xfrm>
            <a:off x="7191743" y="1847088"/>
            <a:ext cx="2319602"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rmd-context-free g">
            <a:extLst>
              <a:ext uri="{C183D7F6-B498-43B3-948B-1728B52AA6E4}">
                <adec:decorative xmlns:adec="http://schemas.microsoft.com/office/drawing/2017/decorative" val="1"/>
              </a:ext>
            </a:extLst>
          </p:cNvPr>
          <p:cNvSpPr/>
          <p:nvPr/>
        </p:nvSpPr>
        <p:spPr>
          <a:xfrm>
            <a:off x="7319759"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rmt-context-free g"/>
          <p:cNvSpPr txBox="1"/>
          <p:nvPr/>
        </p:nvSpPr>
        <p:spPr>
          <a:xfrm>
            <a:off x="7484351" y="1970532"/>
            <a:ext cx="2136722"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context-free grammar</a:t>
            </a:r>
          </a:p>
        </p:txBody>
      </p:sp>
      <p:sp>
        <p:nvSpPr>
          <p:cNvPr id="22" name="!!term-terminal and n">
            <a:extLst>
              <a:ext uri="{C183D7F6-B498-43B3-948B-1728B52AA6E4}">
                <adec:decorative xmlns:adec="http://schemas.microsoft.com/office/drawing/2017/decorative" val="1"/>
              </a:ext>
            </a:extLst>
          </p:cNvPr>
          <p:cNvSpPr/>
          <p:nvPr/>
        </p:nvSpPr>
        <p:spPr>
          <a:xfrm>
            <a:off x="658368" y="2468880"/>
            <a:ext cx="2690904"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rmd-terminal and n">
            <a:extLst>
              <a:ext uri="{C183D7F6-B498-43B3-948B-1728B52AA6E4}">
                <adec:decorative xmlns:adec="http://schemas.microsoft.com/office/drawing/2017/decorative" val="1"/>
              </a:ext>
            </a:extLst>
          </p:cNvPr>
          <p:cNvSpPr/>
          <p:nvPr/>
        </p:nvSpPr>
        <p:spPr>
          <a:xfrm>
            <a:off x="786384"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termt-terminal and n"/>
          <p:cNvSpPr txBox="1"/>
          <p:nvPr/>
        </p:nvSpPr>
        <p:spPr>
          <a:xfrm>
            <a:off x="950976" y="2592324"/>
            <a:ext cx="2508024"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terminal and non-terminal</a:t>
            </a:r>
          </a:p>
        </p:txBody>
      </p:sp>
      <p:sp>
        <p:nvSpPr>
          <p:cNvPr id="25" name="!!term-Chomsky normal">
            <a:extLst>
              <a:ext uri="{C183D7F6-B498-43B3-948B-1728B52AA6E4}">
                <adec:decorative xmlns:adec="http://schemas.microsoft.com/office/drawing/2017/decorative" val="1"/>
              </a:ext>
            </a:extLst>
          </p:cNvPr>
          <p:cNvSpPr/>
          <p:nvPr/>
        </p:nvSpPr>
        <p:spPr>
          <a:xfrm>
            <a:off x="3495576" y="2468880"/>
            <a:ext cx="234410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rmd-Chomsky normal">
            <a:extLst>
              <a:ext uri="{C183D7F6-B498-43B3-948B-1728B52AA6E4}">
                <adec:decorative xmlns:adec="http://schemas.microsoft.com/office/drawing/2017/decorative" val="1"/>
              </a:ext>
            </a:extLst>
          </p:cNvPr>
          <p:cNvSpPr/>
          <p:nvPr/>
        </p:nvSpPr>
        <p:spPr>
          <a:xfrm>
            <a:off x="3623592"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rmt-Chomsky normal"/>
          <p:cNvSpPr txBox="1"/>
          <p:nvPr/>
        </p:nvSpPr>
        <p:spPr>
          <a:xfrm>
            <a:off x="3788184" y="2592324"/>
            <a:ext cx="2161229"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Chomsky normal form</a:t>
            </a:r>
          </a:p>
        </p:txBody>
      </p:sp>
      <p:sp>
        <p:nvSpPr>
          <p:cNvPr id="28" name="!!term-parse tree">
            <a:extLst>
              <a:ext uri="{C183D7F6-B498-43B3-948B-1728B52AA6E4}">
                <adec:decorative xmlns:adec="http://schemas.microsoft.com/office/drawing/2017/decorative" val="1"/>
              </a:ext>
            </a:extLst>
          </p:cNvPr>
          <p:cNvSpPr/>
          <p:nvPr/>
        </p:nvSpPr>
        <p:spPr>
          <a:xfrm>
            <a:off x="5985989" y="2468880"/>
            <a:ext cx="1293624"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rmd-parse tree">
            <a:extLst>
              <a:ext uri="{C183D7F6-B498-43B3-948B-1728B52AA6E4}">
                <adec:decorative xmlns:adec="http://schemas.microsoft.com/office/drawing/2017/decorative" val="1"/>
              </a:ext>
            </a:extLst>
          </p:cNvPr>
          <p:cNvSpPr/>
          <p:nvPr/>
        </p:nvSpPr>
        <p:spPr>
          <a:xfrm>
            <a:off x="6114005"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rmt-parse tree"/>
          <p:cNvSpPr txBox="1"/>
          <p:nvPr/>
        </p:nvSpPr>
        <p:spPr>
          <a:xfrm>
            <a:off x="6278597" y="2592324"/>
            <a:ext cx="1110744"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parse tree</a:t>
            </a:r>
          </a:p>
        </p:txBody>
      </p:sp>
      <p:sp>
        <p:nvSpPr>
          <p:cNvPr id="31" name="!!term-chart parsing">
            <a:extLst>
              <a:ext uri="{C183D7F6-B498-43B3-948B-1728B52AA6E4}">
                <adec:decorative xmlns:adec="http://schemas.microsoft.com/office/drawing/2017/decorative" val="1"/>
              </a:ext>
            </a:extLst>
          </p:cNvPr>
          <p:cNvSpPr/>
          <p:nvPr/>
        </p:nvSpPr>
        <p:spPr>
          <a:xfrm>
            <a:off x="7425917" y="2468880"/>
            <a:ext cx="1558984"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rmd-chart parsing">
            <a:extLst>
              <a:ext uri="{C183D7F6-B498-43B3-948B-1728B52AA6E4}">
                <adec:decorative xmlns:adec="http://schemas.microsoft.com/office/drawing/2017/decorative" val="1"/>
              </a:ext>
            </a:extLst>
          </p:cNvPr>
          <p:cNvSpPr/>
          <p:nvPr/>
        </p:nvSpPr>
        <p:spPr>
          <a:xfrm>
            <a:off x="7553933"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rmt-chart parsing"/>
          <p:cNvSpPr txBox="1"/>
          <p:nvPr/>
        </p:nvSpPr>
        <p:spPr>
          <a:xfrm>
            <a:off x="7718525" y="2592324"/>
            <a:ext cx="1376104"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chart parsing</a:t>
            </a:r>
          </a:p>
        </p:txBody>
      </p:sp>
      <p:sp>
        <p:nvSpPr>
          <p:cNvPr id="34" name="!!term-CYK">
            <a:extLst>
              <a:ext uri="{C183D7F6-B498-43B3-948B-1728B52AA6E4}">
                <adec:decorative xmlns:adec="http://schemas.microsoft.com/office/drawing/2017/decorative" val="1"/>
              </a:ext>
            </a:extLst>
          </p:cNvPr>
          <p:cNvSpPr/>
          <p:nvPr/>
        </p:nvSpPr>
        <p:spPr>
          <a:xfrm>
            <a:off x="9131206" y="2468880"/>
            <a:ext cx="779343"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rmd-CYK">
            <a:extLst>
              <a:ext uri="{C183D7F6-B498-43B3-948B-1728B52AA6E4}">
                <adec:decorative xmlns:adec="http://schemas.microsoft.com/office/drawing/2017/decorative" val="1"/>
              </a:ext>
            </a:extLst>
          </p:cNvPr>
          <p:cNvSpPr/>
          <p:nvPr/>
        </p:nvSpPr>
        <p:spPr>
          <a:xfrm>
            <a:off x="9259222"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rmt-CYK"/>
          <p:cNvSpPr txBox="1"/>
          <p:nvPr/>
        </p:nvSpPr>
        <p:spPr>
          <a:xfrm>
            <a:off x="9423814" y="2592324"/>
            <a:ext cx="596463"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CYK</a:t>
            </a:r>
          </a:p>
        </p:txBody>
      </p:sp>
      <p:sp>
        <p:nvSpPr>
          <p:cNvPr id="37" name="!!term-structural amb">
            <a:extLst>
              <a:ext uri="{C183D7F6-B498-43B3-948B-1728B52AA6E4}">
                <adec:decorative xmlns:adec="http://schemas.microsoft.com/office/drawing/2017/decorative" val="1"/>
              </a:ext>
            </a:extLst>
          </p:cNvPr>
          <p:cNvSpPr/>
          <p:nvPr/>
        </p:nvSpPr>
        <p:spPr>
          <a:xfrm>
            <a:off x="658368" y="3090672"/>
            <a:ext cx="215602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rmd-structural amb">
            <a:extLst>
              <a:ext uri="{C183D7F6-B498-43B3-948B-1728B52AA6E4}">
                <adec:decorative xmlns:adec="http://schemas.microsoft.com/office/drawing/2017/decorative" val="1"/>
              </a:ext>
            </a:extLst>
          </p:cNvPr>
          <p:cNvSpPr/>
          <p:nvPr/>
        </p:nvSpPr>
        <p:spPr>
          <a:xfrm>
            <a:off x="786384"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rmt-structural amb"/>
          <p:cNvSpPr txBox="1"/>
          <p:nvPr/>
        </p:nvSpPr>
        <p:spPr>
          <a:xfrm>
            <a:off x="950976" y="3214116"/>
            <a:ext cx="1973149"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structural ambiguity</a:t>
            </a:r>
          </a:p>
        </p:txBody>
      </p:sp>
      <p:sp>
        <p:nvSpPr>
          <p:cNvPr id="40" name="!!term-attachment">
            <a:extLst>
              <a:ext uri="{C183D7F6-B498-43B3-948B-1728B52AA6E4}">
                <adec:decorative xmlns:adec="http://schemas.microsoft.com/office/drawing/2017/decorative" val="1"/>
              </a:ext>
            </a:extLst>
          </p:cNvPr>
          <p:cNvSpPr/>
          <p:nvPr/>
        </p:nvSpPr>
        <p:spPr>
          <a:xfrm>
            <a:off x="2960701" y="3090672"/>
            <a:ext cx="1412988"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rmd-attachment">
            <a:extLst>
              <a:ext uri="{C183D7F6-B498-43B3-948B-1728B52AA6E4}">
                <adec:decorative xmlns:adec="http://schemas.microsoft.com/office/drawing/2017/decorative" val="1"/>
              </a:ext>
            </a:extLst>
          </p:cNvPr>
          <p:cNvSpPr/>
          <p:nvPr/>
        </p:nvSpPr>
        <p:spPr>
          <a:xfrm>
            <a:off x="3088717"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rmt-attachment"/>
          <p:cNvSpPr txBox="1"/>
          <p:nvPr/>
        </p:nvSpPr>
        <p:spPr>
          <a:xfrm>
            <a:off x="3253309" y="3214116"/>
            <a:ext cx="1230108"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attachment</a:t>
            </a:r>
          </a:p>
        </p:txBody>
      </p:sp>
      <p:sp>
        <p:nvSpPr>
          <p:cNvPr id="43" name="!!term-pattern substi">
            <a:extLst>
              <a:ext uri="{C183D7F6-B498-43B3-948B-1728B52AA6E4}">
                <adec:decorative xmlns:adec="http://schemas.microsoft.com/office/drawing/2017/decorative" val="1"/>
              </a:ext>
            </a:extLst>
          </p:cNvPr>
          <p:cNvSpPr/>
          <p:nvPr/>
        </p:nvSpPr>
        <p:spPr>
          <a:xfrm>
            <a:off x="4519993" y="3090672"/>
            <a:ext cx="213069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rmd-pattern substi">
            <a:extLst>
              <a:ext uri="{C183D7F6-B498-43B3-948B-1728B52AA6E4}">
                <adec:decorative xmlns:adec="http://schemas.microsoft.com/office/drawing/2017/decorative" val="1"/>
              </a:ext>
            </a:extLst>
          </p:cNvPr>
          <p:cNvSpPr/>
          <p:nvPr/>
        </p:nvSpPr>
        <p:spPr>
          <a:xfrm>
            <a:off x="4648009"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rmt-pattern substi"/>
          <p:cNvSpPr txBox="1"/>
          <p:nvPr/>
        </p:nvSpPr>
        <p:spPr>
          <a:xfrm>
            <a:off x="4812601" y="3214116"/>
            <a:ext cx="1947819"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pattern substitution</a:t>
            </a:r>
          </a:p>
        </p:txBody>
      </p:sp>
      <p:sp>
        <p:nvSpPr>
          <p:cNvPr id="46" name="!!term-Eliza">
            <a:extLst>
              <a:ext uri="{C183D7F6-B498-43B3-948B-1728B52AA6E4}">
                <adec:decorative xmlns:adec="http://schemas.microsoft.com/office/drawing/2017/decorative" val="1"/>
              </a:ext>
            </a:extLst>
          </p:cNvPr>
          <p:cNvSpPr/>
          <p:nvPr/>
        </p:nvSpPr>
        <p:spPr>
          <a:xfrm>
            <a:off x="6796996" y="3090672"/>
            <a:ext cx="81801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rmd-Eliza">
            <a:extLst>
              <a:ext uri="{C183D7F6-B498-43B3-948B-1728B52AA6E4}">
                <adec:decorative xmlns:adec="http://schemas.microsoft.com/office/drawing/2017/decorative" val="1"/>
              </a:ext>
            </a:extLst>
          </p:cNvPr>
          <p:cNvSpPr/>
          <p:nvPr/>
        </p:nvSpPr>
        <p:spPr>
          <a:xfrm>
            <a:off x="6925012"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rmt-Eliza"/>
          <p:cNvSpPr txBox="1"/>
          <p:nvPr/>
        </p:nvSpPr>
        <p:spPr>
          <a:xfrm>
            <a:off x="7089604" y="3214116"/>
            <a:ext cx="635130"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Eliza</a:t>
            </a:r>
          </a:p>
        </p:txBody>
      </p:sp>
      <p:sp>
        <p:nvSpPr>
          <p:cNvPr id="49" name="!!term-n-gram">
            <a:extLst>
              <a:ext uri="{C183D7F6-B498-43B3-948B-1728B52AA6E4}">
                <adec:decorative xmlns:adec="http://schemas.microsoft.com/office/drawing/2017/decorative" val="1"/>
              </a:ext>
            </a:extLst>
          </p:cNvPr>
          <p:cNvSpPr/>
          <p:nvPr/>
        </p:nvSpPr>
        <p:spPr>
          <a:xfrm>
            <a:off x="7761311" y="3090672"/>
            <a:ext cx="1074888"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termd-n-gram">
            <a:extLst>
              <a:ext uri="{C183D7F6-B498-43B3-948B-1728B52AA6E4}">
                <adec:decorative xmlns:adec="http://schemas.microsoft.com/office/drawing/2017/decorative" val="1"/>
              </a:ext>
            </a:extLst>
          </p:cNvPr>
          <p:cNvSpPr/>
          <p:nvPr/>
        </p:nvSpPr>
        <p:spPr>
          <a:xfrm>
            <a:off x="7889327"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rmt-n-gram"/>
          <p:cNvSpPr txBox="1"/>
          <p:nvPr/>
        </p:nvSpPr>
        <p:spPr>
          <a:xfrm>
            <a:off x="8053919" y="3214116"/>
            <a:ext cx="892008"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n-gram</a:t>
            </a:r>
          </a:p>
        </p:txBody>
      </p:sp>
      <p:sp>
        <p:nvSpPr>
          <p:cNvPr id="52" name="!!term-Markov assumpt">
            <a:extLst>
              <a:ext uri="{C183D7F6-B498-43B3-948B-1728B52AA6E4}">
                <adec:decorative xmlns:adec="http://schemas.microsoft.com/office/drawing/2017/decorative" val="1"/>
              </a:ext>
            </a:extLst>
          </p:cNvPr>
          <p:cNvSpPr/>
          <p:nvPr/>
        </p:nvSpPr>
        <p:spPr>
          <a:xfrm>
            <a:off x="8982504" y="3090672"/>
            <a:ext cx="212857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rmd-Markov assumpt">
            <a:extLst>
              <a:ext uri="{C183D7F6-B498-43B3-948B-1728B52AA6E4}">
                <adec:decorative xmlns:adec="http://schemas.microsoft.com/office/drawing/2017/decorative" val="1"/>
              </a:ext>
            </a:extLst>
          </p:cNvPr>
          <p:cNvSpPr/>
          <p:nvPr/>
        </p:nvSpPr>
        <p:spPr>
          <a:xfrm>
            <a:off x="9110520"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termt-Markov assumpt"/>
          <p:cNvSpPr txBox="1"/>
          <p:nvPr/>
        </p:nvSpPr>
        <p:spPr>
          <a:xfrm>
            <a:off x="9275112" y="3214116"/>
            <a:ext cx="1945691"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Markov assumption</a:t>
            </a:r>
          </a:p>
        </p:txBody>
      </p:sp>
      <p:sp>
        <p:nvSpPr>
          <p:cNvPr id="55" name="!!term-sparsity">
            <a:extLst>
              <a:ext uri="{C183D7F6-B498-43B3-948B-1728B52AA6E4}">
                <adec:decorative xmlns:adec="http://schemas.microsoft.com/office/drawing/2017/decorative" val="1"/>
              </a:ext>
            </a:extLst>
          </p:cNvPr>
          <p:cNvSpPr/>
          <p:nvPr/>
        </p:nvSpPr>
        <p:spPr>
          <a:xfrm>
            <a:off x="658368" y="3712464"/>
            <a:ext cx="109138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rmd-sparsity">
            <a:extLst>
              <a:ext uri="{C183D7F6-B498-43B3-948B-1728B52AA6E4}">
                <adec:decorative xmlns:adec="http://schemas.microsoft.com/office/drawing/2017/decorative" val="1"/>
              </a:ext>
            </a:extLst>
          </p:cNvPr>
          <p:cNvSpPr/>
          <p:nvPr/>
        </p:nvSpPr>
        <p:spPr>
          <a:xfrm>
            <a:off x="786384" y="3904488"/>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7" name="!!termt-sparsity"/>
          <p:cNvSpPr txBox="1"/>
          <p:nvPr/>
        </p:nvSpPr>
        <p:spPr>
          <a:xfrm>
            <a:off x="950976" y="3835908"/>
            <a:ext cx="908506"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sparsity</a:t>
            </a:r>
          </a:p>
        </p:txBody>
      </p:sp>
      <p:sp>
        <p:nvSpPr>
          <p:cNvPr id="58" name="!!termnote"/>
          <p:cNvSpPr txBox="1"/>
          <p:nvPr/>
        </p:nvSpPr>
        <p:spPr>
          <a:xfrm>
            <a:off x="658368" y="4535424"/>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350" b="0" i="1">
                <a:solidFill>
                  <a:srgbClr val="5F6F7B"/>
                </a:solidFill>
                <a:latin typeface="Segoe UI"/>
              </a:rPr>
              <a:t>Each term is defined where it first matters — not here.</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937822"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In this chapter</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THIS CHAPTER</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18  ·  Natural Language Processing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pp. 187–196     </a:t>
            </a:r>
            <a:fld id="{0B5A7C07-F7FD-48E3-BB0B-DF899A19D018}" type="slidenum">
              <a:rPr lang="en-GB" sz="1000">
                <a:solidFill>
                  <a:srgbClr val="8795A1"/>
                </a:solidFill>
                <a:latin typeface="Segoe UI"/>
              </a:rPr>
              <a:t>5</a:t>
            </a:fld>
          </a:p>
        </p:txBody>
      </p:sp>
      <p:sp>
        <p:nvSpPr>
          <p:cNvPr id="7" name="!!ag0" descr="Go to section 18.1 Ticket Subject Lines">
            <a:hlinkClick action="ppaction://hlinksldjump" r:id="rId5"/>
          </p:cNvPr>
          <p:cNvSpPr/>
          <p:nvPr/>
        </p:nvSpPr>
        <p:spPr>
          <a:xfrm>
            <a:off x="658368" y="177393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agb0">
            <a:extLst>
              <a:ext uri="{C183D7F6-B498-43B3-948B-1728B52AA6E4}">
                <adec:decorative xmlns:adec="http://schemas.microsoft.com/office/drawing/2017/decorative" val="1"/>
              </a:ext>
            </a:extLst>
          </p:cNvPr>
          <p:cNvSpPr/>
          <p:nvPr/>
        </p:nvSpPr>
        <p:spPr>
          <a:xfrm>
            <a:off x="658368" y="1773936"/>
            <a:ext cx="64008" cy="56692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agn0"/>
          <p:cNvSpPr txBox="1"/>
          <p:nvPr/>
        </p:nvSpPr>
        <p:spPr>
          <a:xfrm>
            <a:off x="932688" y="192024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705B06"/>
                </a:solidFill>
                <a:latin typeface="Segoe UI Semibold"/>
              </a:rPr>
              <a:t>18.1</a:t>
            </a:r>
          </a:p>
        </p:txBody>
      </p:sp>
      <p:sp>
        <p:nvSpPr>
          <p:cNvPr id="10" name="!!agt0"/>
          <p:cNvSpPr txBox="1"/>
          <p:nvPr/>
        </p:nvSpPr>
        <p:spPr>
          <a:xfrm>
            <a:off x="1847088" y="192024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Ticket Subject Lines</a:t>
            </a:r>
          </a:p>
        </p:txBody>
      </p:sp>
      <p:sp>
        <p:nvSpPr>
          <p:cNvPr id="11" name="!!agp0"/>
          <p:cNvSpPr txBox="1"/>
          <p:nvPr/>
        </p:nvSpPr>
        <p:spPr>
          <a:xfrm>
            <a:off x="9795967" y="194767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187  ›</a:t>
            </a:r>
          </a:p>
        </p:txBody>
      </p:sp>
      <p:sp>
        <p:nvSpPr>
          <p:cNvPr id="12" name="!!ag1" descr="Go to section 18.2 The Symbolic Pipeline">
            <a:hlinkClick action="ppaction://hlinksldjump" r:id="rId6"/>
          </p:cNvPr>
          <p:cNvSpPr/>
          <p:nvPr/>
        </p:nvSpPr>
        <p:spPr>
          <a:xfrm>
            <a:off x="658368" y="2414015"/>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agb1">
            <a:extLst>
              <a:ext uri="{C183D7F6-B498-43B3-948B-1728B52AA6E4}">
                <adec:decorative xmlns:adec="http://schemas.microsoft.com/office/drawing/2017/decorative" val="1"/>
              </a:ext>
            </a:extLst>
          </p:cNvPr>
          <p:cNvSpPr/>
          <p:nvPr/>
        </p:nvSpPr>
        <p:spPr>
          <a:xfrm>
            <a:off x="658368" y="2414015"/>
            <a:ext cx="64008" cy="56692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agn1"/>
          <p:cNvSpPr txBox="1"/>
          <p:nvPr/>
        </p:nvSpPr>
        <p:spPr>
          <a:xfrm>
            <a:off x="932688" y="256032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705B06"/>
                </a:solidFill>
                <a:latin typeface="Segoe UI Semibold"/>
              </a:rPr>
              <a:t>18.2</a:t>
            </a:r>
          </a:p>
        </p:txBody>
      </p:sp>
      <p:sp>
        <p:nvSpPr>
          <p:cNvPr id="15" name="!!agt1"/>
          <p:cNvSpPr txBox="1"/>
          <p:nvPr/>
        </p:nvSpPr>
        <p:spPr>
          <a:xfrm>
            <a:off x="1847088" y="256032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The Symbolic Pipeline</a:t>
            </a:r>
          </a:p>
        </p:txBody>
      </p:sp>
      <p:sp>
        <p:nvSpPr>
          <p:cNvPr id="16" name="!!agp1"/>
          <p:cNvSpPr txBox="1"/>
          <p:nvPr/>
        </p:nvSpPr>
        <p:spPr>
          <a:xfrm>
            <a:off x="9795967" y="2587751"/>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188  ›</a:t>
            </a:r>
          </a:p>
        </p:txBody>
      </p:sp>
      <p:sp>
        <p:nvSpPr>
          <p:cNvPr id="17" name="!!ag2" descr="Go to section 18.3 Context-Free Grammars">
            <a:hlinkClick action="ppaction://hlinksldjump" r:id="rId7"/>
          </p:cNvPr>
          <p:cNvSpPr/>
          <p:nvPr/>
        </p:nvSpPr>
        <p:spPr>
          <a:xfrm>
            <a:off x="658368" y="305409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agb2">
            <a:extLst>
              <a:ext uri="{C183D7F6-B498-43B3-948B-1728B52AA6E4}">
                <adec:decorative xmlns:adec="http://schemas.microsoft.com/office/drawing/2017/decorative" val="1"/>
              </a:ext>
            </a:extLst>
          </p:cNvPr>
          <p:cNvSpPr/>
          <p:nvPr/>
        </p:nvSpPr>
        <p:spPr>
          <a:xfrm>
            <a:off x="658368" y="3054096"/>
            <a:ext cx="64008" cy="56692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agn2"/>
          <p:cNvSpPr txBox="1"/>
          <p:nvPr/>
        </p:nvSpPr>
        <p:spPr>
          <a:xfrm>
            <a:off x="932688" y="320040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705B06"/>
                </a:solidFill>
                <a:latin typeface="Segoe UI Semibold"/>
              </a:rPr>
              <a:t>18.3</a:t>
            </a:r>
          </a:p>
        </p:txBody>
      </p:sp>
      <p:sp>
        <p:nvSpPr>
          <p:cNvPr id="20" name="!!agt2"/>
          <p:cNvSpPr txBox="1"/>
          <p:nvPr/>
        </p:nvSpPr>
        <p:spPr>
          <a:xfrm>
            <a:off x="1847088" y="320040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Context-Free Grammars</a:t>
            </a:r>
          </a:p>
        </p:txBody>
      </p:sp>
      <p:sp>
        <p:nvSpPr>
          <p:cNvPr id="21" name="!!agp2"/>
          <p:cNvSpPr txBox="1"/>
          <p:nvPr/>
        </p:nvSpPr>
        <p:spPr>
          <a:xfrm>
            <a:off x="9795967" y="322783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188  ›</a:t>
            </a:r>
          </a:p>
        </p:txBody>
      </p:sp>
      <p:sp>
        <p:nvSpPr>
          <p:cNvPr id="22" name="!!ag3" descr="Go to section 18.4 Parsing with CYK">
            <a:hlinkClick action="ppaction://hlinksldjump" r:id="rId8"/>
          </p:cNvPr>
          <p:cNvSpPr/>
          <p:nvPr/>
        </p:nvSpPr>
        <p:spPr>
          <a:xfrm>
            <a:off x="658368" y="369417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agb3">
            <a:extLst>
              <a:ext uri="{C183D7F6-B498-43B3-948B-1728B52AA6E4}">
                <adec:decorative xmlns:adec="http://schemas.microsoft.com/office/drawing/2017/decorative" val="1"/>
              </a:ext>
            </a:extLst>
          </p:cNvPr>
          <p:cNvSpPr/>
          <p:nvPr/>
        </p:nvSpPr>
        <p:spPr>
          <a:xfrm>
            <a:off x="658368" y="3694176"/>
            <a:ext cx="64008" cy="56692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agn3"/>
          <p:cNvSpPr txBox="1"/>
          <p:nvPr/>
        </p:nvSpPr>
        <p:spPr>
          <a:xfrm>
            <a:off x="932688" y="384048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705B06"/>
                </a:solidFill>
                <a:latin typeface="Segoe UI Semibold"/>
              </a:rPr>
              <a:t>18.4</a:t>
            </a:r>
          </a:p>
        </p:txBody>
      </p:sp>
      <p:sp>
        <p:nvSpPr>
          <p:cNvPr id="25" name="!!agt3"/>
          <p:cNvSpPr txBox="1"/>
          <p:nvPr/>
        </p:nvSpPr>
        <p:spPr>
          <a:xfrm>
            <a:off x="1847088" y="384048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Parsing with CYK</a:t>
            </a:r>
          </a:p>
        </p:txBody>
      </p:sp>
      <p:sp>
        <p:nvSpPr>
          <p:cNvPr id="26" name="!!agp3"/>
          <p:cNvSpPr txBox="1"/>
          <p:nvPr/>
        </p:nvSpPr>
        <p:spPr>
          <a:xfrm>
            <a:off x="9795967" y="386791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188  ›</a:t>
            </a:r>
          </a:p>
        </p:txBody>
      </p:sp>
      <p:sp>
        <p:nvSpPr>
          <p:cNvPr id="27" name="!!ag4" descr="Go to section 18.5 Ambiguity Is the Point">
            <a:hlinkClick action="ppaction://hlinksldjump" r:id="rId9"/>
          </p:cNvPr>
          <p:cNvSpPr/>
          <p:nvPr/>
        </p:nvSpPr>
        <p:spPr>
          <a:xfrm>
            <a:off x="658368" y="433425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agb4">
            <a:extLst>
              <a:ext uri="{C183D7F6-B498-43B3-948B-1728B52AA6E4}">
                <adec:decorative xmlns:adec="http://schemas.microsoft.com/office/drawing/2017/decorative" val="1"/>
              </a:ext>
            </a:extLst>
          </p:cNvPr>
          <p:cNvSpPr/>
          <p:nvPr/>
        </p:nvSpPr>
        <p:spPr>
          <a:xfrm>
            <a:off x="658368" y="4334256"/>
            <a:ext cx="64008" cy="56692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agn4"/>
          <p:cNvSpPr txBox="1"/>
          <p:nvPr/>
        </p:nvSpPr>
        <p:spPr>
          <a:xfrm>
            <a:off x="932688" y="448056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705B06"/>
                </a:solidFill>
                <a:latin typeface="Segoe UI Semibold"/>
              </a:rPr>
              <a:t>18.5</a:t>
            </a:r>
          </a:p>
        </p:txBody>
      </p:sp>
      <p:sp>
        <p:nvSpPr>
          <p:cNvPr id="30" name="!!agt4"/>
          <p:cNvSpPr txBox="1"/>
          <p:nvPr/>
        </p:nvSpPr>
        <p:spPr>
          <a:xfrm>
            <a:off x="1847088" y="448056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Ambiguity Is the Point</a:t>
            </a:r>
          </a:p>
        </p:txBody>
      </p:sp>
      <p:sp>
        <p:nvSpPr>
          <p:cNvPr id="31" name="!!agp4"/>
          <p:cNvSpPr txBox="1"/>
          <p:nvPr/>
        </p:nvSpPr>
        <p:spPr>
          <a:xfrm>
            <a:off x="9795967" y="450799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189  ›</a:t>
            </a:r>
          </a:p>
        </p:txBody>
      </p:sp>
      <p:sp>
        <p:nvSpPr>
          <p:cNvPr id="32" name="!!ag5" descr="Go to section 18.6 Pattern Substitution: Eliza">
            <a:hlinkClick action="ppaction://hlinksldjump" r:id="rId10"/>
          </p:cNvPr>
          <p:cNvSpPr/>
          <p:nvPr/>
        </p:nvSpPr>
        <p:spPr>
          <a:xfrm>
            <a:off x="658368" y="497433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agb5">
            <a:extLst>
              <a:ext uri="{C183D7F6-B498-43B3-948B-1728B52AA6E4}">
                <adec:decorative xmlns:adec="http://schemas.microsoft.com/office/drawing/2017/decorative" val="1"/>
              </a:ext>
            </a:extLst>
          </p:cNvPr>
          <p:cNvSpPr/>
          <p:nvPr/>
        </p:nvSpPr>
        <p:spPr>
          <a:xfrm>
            <a:off x="658368" y="4974336"/>
            <a:ext cx="64008" cy="56692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agn5"/>
          <p:cNvSpPr txBox="1"/>
          <p:nvPr/>
        </p:nvSpPr>
        <p:spPr>
          <a:xfrm>
            <a:off x="932688" y="512064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705B06"/>
                </a:solidFill>
                <a:latin typeface="Segoe UI Semibold"/>
              </a:rPr>
              <a:t>18.6</a:t>
            </a:r>
          </a:p>
        </p:txBody>
      </p:sp>
      <p:sp>
        <p:nvSpPr>
          <p:cNvPr id="35" name="!!agt5"/>
          <p:cNvSpPr txBox="1"/>
          <p:nvPr/>
        </p:nvSpPr>
        <p:spPr>
          <a:xfrm>
            <a:off x="1847088" y="512064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Pattern Substitution: Eliza</a:t>
            </a:r>
          </a:p>
        </p:txBody>
      </p:sp>
      <p:sp>
        <p:nvSpPr>
          <p:cNvPr id="36" name="!!agp5"/>
          <p:cNvSpPr txBox="1"/>
          <p:nvPr/>
        </p:nvSpPr>
        <p:spPr>
          <a:xfrm>
            <a:off x="9795967" y="514807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189  ›</a:t>
            </a:r>
          </a:p>
        </p:txBody>
      </p:sp>
      <p:sp>
        <p:nvSpPr>
          <p:cNvPr id="37" name="!!ag6" descr="Go to section 18.7 N-Grams and Their Limit">
            <a:hlinkClick action="ppaction://hlinksldjump" r:id="rId11"/>
          </p:cNvPr>
          <p:cNvSpPr/>
          <p:nvPr/>
        </p:nvSpPr>
        <p:spPr>
          <a:xfrm>
            <a:off x="658368" y="561441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agb6">
            <a:extLst>
              <a:ext uri="{C183D7F6-B498-43B3-948B-1728B52AA6E4}">
                <adec:decorative xmlns:adec="http://schemas.microsoft.com/office/drawing/2017/decorative" val="1"/>
              </a:ext>
            </a:extLst>
          </p:cNvPr>
          <p:cNvSpPr/>
          <p:nvPr/>
        </p:nvSpPr>
        <p:spPr>
          <a:xfrm>
            <a:off x="658368" y="5614416"/>
            <a:ext cx="64008" cy="56692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agn6"/>
          <p:cNvSpPr txBox="1"/>
          <p:nvPr/>
        </p:nvSpPr>
        <p:spPr>
          <a:xfrm>
            <a:off x="932688" y="576072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705B06"/>
                </a:solidFill>
                <a:latin typeface="Segoe UI Semibold"/>
              </a:rPr>
              <a:t>18.7</a:t>
            </a:r>
          </a:p>
        </p:txBody>
      </p:sp>
      <p:sp>
        <p:nvSpPr>
          <p:cNvPr id="40" name="!!agt6"/>
          <p:cNvSpPr txBox="1"/>
          <p:nvPr/>
        </p:nvSpPr>
        <p:spPr>
          <a:xfrm>
            <a:off x="1847088" y="576072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N-Grams and Their Limit</a:t>
            </a:r>
          </a:p>
        </p:txBody>
      </p:sp>
      <p:sp>
        <p:nvSpPr>
          <p:cNvPr id="41" name="!!agp6"/>
          <p:cNvSpPr txBox="1"/>
          <p:nvPr/>
        </p:nvSpPr>
        <p:spPr>
          <a:xfrm>
            <a:off x="9795967" y="578815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190  ›</a:t>
            </a:r>
          </a:p>
        </p:txBody>
      </p:sp>
      <p:sp>
        <p:nvSpPr>
          <p:cNvPr id="4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pfill">
            <a:extLst>
              <a:ext uri="{C183D7F6-B498-43B3-948B-1728B52AA6E4}">
                <adec:decorative xmlns:adec="http://schemas.microsoft.com/office/drawing/2017/decorative" val="1"/>
              </a:ext>
            </a:extLst>
          </p:cNvPr>
          <p:cNvSpPr/>
          <p:nvPr/>
        </p:nvSpPr>
        <p:spPr>
          <a:xfrm>
            <a:off x="0" y="0"/>
            <a:ext cx="1172278"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Ticket Subject Lines</a:t>
            </a:r>
          </a:p>
        </p:txBody>
      </p:sp>
      <p:pic>
        <p:nvPicPr>
          <p:cNvPr id="3" name="!!kicker-icon" descr="quote-left-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KEY IDEA</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18  ·  Natural Language Processing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§18.1  ·  Handout p. 187     </a:t>
            </a:r>
            <a:fld id="{A543CD9C-6D32-4609-AA6E-FBCEE13AB4F8}" type="slidenum">
              <a:rPr lang="en-GB" sz="1000">
                <a:solidFill>
                  <a:srgbClr val="8795A1"/>
                </a:solidFill>
                <a:latin typeface="Segoe UI"/>
              </a:rPr>
              <a:t>6</a:t>
            </a:fld>
          </a:p>
        </p:txBody>
      </p:sp>
      <p:sp>
        <p:nvSpPr>
          <p:cNvPr id="7" name="!!stbar">
            <a:extLst>
              <a:ext uri="{C183D7F6-B498-43B3-948B-1728B52AA6E4}">
                <adec:decorative xmlns:adec="http://schemas.microsoft.com/office/drawing/2017/decorative" val="1"/>
              </a:ext>
            </a:extLst>
          </p:cNvPr>
          <p:cNvSpPr/>
          <p:nvPr/>
        </p:nvSpPr>
        <p:spPr>
          <a:xfrm>
            <a:off x="658368" y="1810512"/>
            <a:ext cx="73152" cy="4300880"/>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body-0"/>
          <p:cNvSpPr txBox="1"/>
          <p:nvPr/>
        </p:nvSpPr>
        <p:spPr>
          <a:xfrm>
            <a:off x="1042415" y="1792224"/>
            <a:ext cx="10417759" cy="616305"/>
          </a:xfrm>
          <a:prstGeom prst="rect">
            <a:avLst/>
          </a:prstGeom>
          <a:noFill/>
        </p:spPr>
        <p:txBody>
          <a:bodyPr wrap="square" anchor="t" lIns="0" rIns="0" tIns="0" bIns="0">
            <a:noAutofit/>
          </a:bodyPr>
          <a:lstStyle/>
          <a:p>
            <a:pPr algn="l">
              <a:lnSpc>
                <a:spcPct val="104000"/>
              </a:lnSpc>
              <a:spcBef>
                <a:spcPts val="0"/>
              </a:spcBef>
              <a:spcAft>
                <a:spcPts val="0"/>
              </a:spcAft>
            </a:pPr>
            <a:r>
              <a:rPr sz="1800" b="0" i="0">
                <a:solidFill>
                  <a:srgbClr val="1C252B"/>
                </a:solidFill>
                <a:latin typeface="Segoe UI"/>
              </a:rPr>
              <a:t>The service desk receives several hundred tickets a day, each with a one-line subject written by a person in a hurry:</a:t>
            </a:r>
          </a:p>
        </p:txBody>
      </p:sp>
      <p:sp>
        <p:nvSpPr>
          <p:cNvPr id="9" name="body-1"/>
          <p:cNvSpPr txBox="1"/>
          <p:nvPr/>
        </p:nvSpPr>
        <p:spPr>
          <a:xfrm>
            <a:off x="1042415" y="2488539"/>
            <a:ext cx="10417759" cy="331012"/>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F4E79"/>
                </a:solidFill>
                <a:latin typeface="Consolas"/>
              </a:rPr>
              <a:t>restart the server after the timeout</a:t>
            </a:r>
          </a:p>
        </p:txBody>
      </p:sp>
      <p:sp>
        <p:nvSpPr>
          <p:cNvPr id="10" name="body-2"/>
          <p:cNvSpPr txBox="1"/>
          <p:nvPr/>
        </p:nvSpPr>
        <p:spPr>
          <a:xfrm>
            <a:off x="1042415" y="2899562"/>
            <a:ext cx="10417759" cy="331012"/>
          </a:xfrm>
          <a:prstGeom prst="rect">
            <a:avLst/>
          </a:prstGeom>
          <a:noFill/>
        </p:spPr>
        <p:txBody>
          <a:bodyPr wrap="square" anchor="t" lIns="0" rIns="0" tIns="0" bIns="0">
            <a:noAutofit/>
          </a:bodyPr>
          <a:lstStyle/>
          <a:p>
            <a:pPr algn="l">
              <a:lnSpc>
                <a:spcPct val="104000"/>
              </a:lnSpc>
              <a:spcBef>
                <a:spcPts val="0"/>
              </a:spcBef>
              <a:spcAft>
                <a:spcPts val="0"/>
              </a:spcAft>
            </a:pPr>
            <a:r>
              <a:rPr sz="1800" b="0" i="0">
                <a:solidFill>
                  <a:srgbClr val="1C252B"/>
                </a:solidFill>
                <a:latin typeface="Segoe UI"/>
              </a:rPr>
              <a:t>check the payments gateway</a:t>
            </a:r>
          </a:p>
        </p:txBody>
      </p:sp>
      <p:sp>
        <p:nvSpPr>
          <p:cNvPr id="11" name="body-3"/>
          <p:cNvSpPr txBox="1"/>
          <p:nvPr/>
        </p:nvSpPr>
        <p:spPr>
          <a:xfrm>
            <a:off x="1042415" y="3310585"/>
            <a:ext cx="10417759" cy="331012"/>
          </a:xfrm>
          <a:prstGeom prst="rect">
            <a:avLst/>
          </a:prstGeom>
          <a:noFill/>
        </p:spPr>
        <p:txBody>
          <a:bodyPr wrap="square" anchor="t" lIns="0" rIns="0" tIns="0" bIns="0">
            <a:noAutofit/>
          </a:bodyPr>
          <a:lstStyle/>
          <a:p>
            <a:pPr algn="l">
              <a:lnSpc>
                <a:spcPct val="104000"/>
              </a:lnSpc>
              <a:spcBef>
                <a:spcPts val="0"/>
              </a:spcBef>
              <a:spcAft>
                <a:spcPts val="0"/>
              </a:spcAft>
            </a:pPr>
            <a:r>
              <a:rPr sz="1800" b="0" i="0">
                <a:solidFill>
                  <a:srgbClr val="1C252B"/>
                </a:solidFill>
                <a:latin typeface="Segoe UI"/>
              </a:rPr>
              <a:t>fix the login error on the gateway</a:t>
            </a:r>
          </a:p>
        </p:txBody>
      </p:sp>
      <p:sp>
        <p:nvSpPr>
          <p:cNvPr id="12" name="body-4"/>
          <p:cNvSpPr txBox="1"/>
          <p:nvPr/>
        </p:nvSpPr>
        <p:spPr>
          <a:xfrm>
            <a:off x="1042415" y="3721608"/>
            <a:ext cx="10417759" cy="901598"/>
          </a:xfrm>
          <a:prstGeom prst="rect">
            <a:avLst/>
          </a:prstGeom>
          <a:noFill/>
        </p:spPr>
        <p:txBody>
          <a:bodyPr wrap="square" anchor="t" lIns="0" rIns="0" tIns="0" bIns="0">
            <a:noAutofit/>
          </a:bodyPr>
          <a:lstStyle/>
          <a:p>
            <a:pPr algn="l">
              <a:lnSpc>
                <a:spcPct val="104000"/>
              </a:lnSpc>
              <a:spcBef>
                <a:spcPts val="0"/>
              </a:spcBef>
              <a:spcAft>
                <a:spcPts val="0"/>
              </a:spcAft>
            </a:pPr>
            <a:r>
              <a:rPr sz="1800" b="0" i="0">
                <a:solidFill>
                  <a:srgbClr val="1C252B"/>
                </a:solidFill>
                <a:latin typeface="Segoe UI"/>
              </a:rPr>
              <a:t>The routing system needs to know what is being asked for and what it is being asked about. That is a language problem, and this chapter takes the </a:t>
            </a:r>
            <a:r>
              <a:rPr sz="1800" b="0" i="1">
                <a:solidFill>
                  <a:srgbClr val="1C252B"/>
                </a:solidFill>
                <a:latin typeface="Segoe UI"/>
              </a:rPr>
              <a:t>symbolic</a:t>
            </a:r>
            <a:r>
              <a:rPr sz="1800" b="0" i="0">
                <a:solidFill>
                  <a:srgbClr val="1C252B"/>
                </a:solidFill>
                <a:latin typeface="Segoe UI"/>
              </a:rPr>
              <a:t> approach to it: grammars, parsing and pattern matching, with no learned component anywhere.</a:t>
            </a:r>
          </a:p>
        </p:txBody>
      </p:sp>
      <p:sp>
        <p:nvSpPr>
          <p:cNvPr id="13" name="body-5"/>
          <p:cNvSpPr txBox="1"/>
          <p:nvPr/>
        </p:nvSpPr>
        <p:spPr>
          <a:xfrm>
            <a:off x="1042415" y="4703216"/>
            <a:ext cx="10417759" cy="1472184"/>
          </a:xfrm>
          <a:prstGeom prst="rect">
            <a:avLst/>
          </a:prstGeom>
          <a:noFill/>
        </p:spPr>
        <p:txBody>
          <a:bodyPr wrap="square" anchor="t" lIns="0" rIns="0" tIns="0" bIns="0">
            <a:noAutofit/>
          </a:bodyPr>
          <a:lstStyle/>
          <a:p>
            <a:pPr algn="l">
              <a:lnSpc>
                <a:spcPct val="104000"/>
              </a:lnSpc>
              <a:spcBef>
                <a:spcPts val="0"/>
              </a:spcBef>
              <a:spcAft>
                <a:spcPts val="0"/>
              </a:spcAft>
            </a:pPr>
            <a:r>
              <a:rPr sz="1800" b="0" i="0">
                <a:solidFill>
                  <a:srgbClr val="1C252B"/>
                </a:solidFill>
                <a:latin typeface="Segoe UI"/>
              </a:rPr>
              <a:t>That approach is not how a modern system would do it, and the reasons to study it are specific. Grammars are the clearest case of a representation whose structure </a:t>
            </a:r>
            <a:r>
              <a:rPr sz="1800" b="0" i="1">
                <a:solidFill>
                  <a:srgbClr val="1C252B"/>
                </a:solidFill>
                <a:latin typeface="Segoe UI"/>
              </a:rPr>
              <a:t>is</a:t>
            </a:r>
            <a:r>
              <a:rPr sz="1800" b="0" i="0">
                <a:solidFill>
                  <a:srgbClr val="1C252B"/>
                </a:solidFill>
                <a:latin typeface="Segoe UI"/>
              </a:rPr>
              <a:t> the knowledge. Ambiguity is easiest to see when a parser hands you two trees rather than one confident answer. And Eliza, in Section 18.6, is the most instructive failure in the history of the field — it is impossible to understand what modern language systems are and are not doing without it.</a:t>
            </a:r>
          </a:p>
        </p:txBody>
      </p:sp>
      <p:sp>
        <p:nvSpPr>
          <p:cNvPr id="2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pfill">
            <a:extLst>
              <a:ext uri="{C183D7F6-B498-43B3-948B-1728B52AA6E4}">
                <adec:decorative xmlns:adec="http://schemas.microsoft.com/office/drawing/2017/decorative" val="1"/>
              </a:ext>
            </a:extLst>
          </p:cNvPr>
          <p:cNvSpPr/>
          <p:nvPr/>
        </p:nvSpPr>
        <p:spPr>
          <a:xfrm>
            <a:off x="0" y="0"/>
            <a:ext cx="1406734"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fade">
                                      <p:cBhvr>
                                        <p:cTn id="8" dur="450"/>
                                        <p:tgtEl>
                                          <p:spTgt spid="9"/>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450"/>
                                        <p:tgtEl>
                                          <p:spTgt spid="10"/>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450"/>
                                        <p:tgtEl>
                                          <p:spTgt spid="1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450"/>
                                        <p:tgtEl>
                                          <p:spTgt spid="12"/>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45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symbolic pipeline</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705B06"/>
                </a:solidFill>
                <a:latin typeface="Segoe UI"/>
              </a:rPr>
              <a:t>FIGURE 18.1</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18  ·  Natural Language Processing</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§18.2  ·  Handout p. 188     </a:t>
            </a:r>
            <a:fld id="{25E25127-3BCA-496B-9F12-97565F1FCCAC}" type="slidenum">
              <a:rPr lang="en-GB" sz="1000">
                <a:solidFill>
                  <a:srgbClr val="8795A1"/>
                </a:solidFill>
                <a:latin typeface="Segoe UI"/>
              </a:rPr>
              <a:t>7</a:t>
            </a:fld>
          </a:p>
        </p:txBody>
      </p:sp>
      <p:pic>
        <p:nvPicPr>
          <p:cNvPr id="6" name="!!figure" descr="Figure 18.1. The symbolic pipeline. Stages 1 to 3 are bookkeeping; stage 4 is where the knowledge lives."/>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854883"/>
            <a:ext cx="10874959" cy="3338387"/>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930188"/>
            <a:ext cx="54864" cy="306019"/>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911900"/>
            <a:ext cx="10600639" cy="48889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Stages 1 to 3 are bookkeeping; stage 4 is where the knowledge lives.</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641189"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Context-Free Grammars</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D4CEB4"/>
                </a:solidFill>
                <a:latin typeface="Segoe UI"/>
              </a:rPr>
              <a:t>SECTION 3 OF 7</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18.3</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18.1   Ticket Subject Lines</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18.2   The Symbolic Pipeline</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705B06"/>
                </a:solidFill>
                <a:latin typeface="Segoe UI"/>
              </a:rPr>
              <a:t>18.3   Context-Free Grammars</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18.4   Parsing with CYK</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18.5   Ambiguity Is the Point</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18.6   Pattern Substitution: Eliza</a:t>
            </a:r>
          </a:p>
        </p:txBody>
      </p:sp>
      <p:sp>
        <p:nvSpPr>
          <p:cNvPr id="12" name="!!dl6"/>
          <p:cNvSpPr txBox="1"/>
          <p:nvPr/>
        </p:nvSpPr>
        <p:spPr>
          <a:xfrm>
            <a:off x="4846320" y="580643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18.7   N-Grams and Their Limit</a:t>
            </a:r>
          </a:p>
        </p:txBody>
      </p:sp>
      <p:sp>
        <p:nvSpPr>
          <p:cNvPr id="13"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18</a:t>
            </a:r>
          </a:p>
        </p:txBody>
      </p:sp>
      <p:sp>
        <p:nvSpPr>
          <p:cNvPr id="14"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§18.3     </a:t>
            </a:r>
            <a:fld id="{FDFF43D1-29B5-418F-94D5-92197BC6E3C6}" type="slidenum">
              <a:rPr lang="en-GB" sz="1000">
                <a:solidFill>
                  <a:srgbClr val="8795A1"/>
                </a:solidFill>
                <a:latin typeface="Segoe UI"/>
              </a:rPr>
              <a:t>8</a:t>
            </a:fld>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1875645"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Context-free grammar</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18  ·  Natural Language Processing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§18.3  ·  Handout p. 188     </a:t>
            </a:r>
            <a:fld id="{BBA1521A-B2D2-4D2D-8FBC-5345ED63514A}" type="slidenum">
              <a:rPr lang="en-GB" sz="1000">
                <a:solidFill>
                  <a:srgbClr val="8795A1"/>
                </a:solidFill>
                <a:latin typeface="Segoe UI"/>
              </a:rPr>
              <a:t>9</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334232"/>
          </a:xfrm>
          <a:prstGeom prst="roundRect">
            <a:avLst>
              <a:gd name="adj" fmla="val 2742"/>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334232"/>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139342"/>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A </a:t>
            </a:r>
            <a:r>
              <a:rPr sz="2300" b="1" i="0">
                <a:solidFill>
                  <a:srgbClr val="1A5276"/>
                </a:solidFill>
                <a:latin typeface="Segoe UI"/>
              </a:rPr>
              <a:t>context-free grammar</a:t>
            </a:r>
            <a:r>
              <a:rPr sz="2300" b="0" i="0">
                <a:solidFill>
                  <a:srgbClr val="1C252B"/>
                </a:solidFill>
                <a:latin typeface="Segoe UI"/>
              </a:rPr>
              <a:t> is a set of rules </a:t>
            </a:r>
            <a:r>
              <a:rPr sz="2300" b="0" i="1">
                <a:solidFill>
                  <a:srgbClr val="1C252B"/>
                </a:solidFill>
                <a:latin typeface="Cambria"/>
              </a:rPr>
              <a:t>A</a:t>
            </a:r>
            <a:r>
              <a:rPr sz="2300" b="0" i="0">
                <a:solidFill>
                  <a:srgbClr val="1C252B"/>
                </a:solidFill>
                <a:latin typeface="Cambria"/>
              </a:rPr>
              <a:t> → β</a:t>
            </a:r>
            <a:r>
              <a:rPr sz="2300" b="0" i="0">
                <a:solidFill>
                  <a:srgbClr val="1C252B"/>
                </a:solidFill>
                <a:latin typeface="Segoe UI"/>
              </a:rPr>
              <a:t>, where </a:t>
            </a:r>
            <a:r>
              <a:rPr sz="2300" b="0" i="1">
                <a:solidFill>
                  <a:srgbClr val="1C252B"/>
                </a:solidFill>
                <a:latin typeface="Cambria"/>
              </a:rPr>
              <a:t>A</a:t>
            </a:r>
            <a:r>
              <a:rPr sz="2300" b="0" i="0">
                <a:solidFill>
                  <a:srgbClr val="1C252B"/>
                </a:solidFill>
                <a:latin typeface="Segoe UI"/>
              </a:rPr>
              <a:t> is a </a:t>
            </a:r>
            <a:r>
              <a:rPr sz="2300" b="1" i="0">
                <a:solidFill>
                  <a:srgbClr val="1A5276"/>
                </a:solidFill>
                <a:latin typeface="Segoe UI"/>
              </a:rPr>
              <a:t>non-terminal</a:t>
            </a:r>
            <a:r>
              <a:rPr sz="2300" b="0" i="0">
                <a:solidFill>
                  <a:srgbClr val="1C252B"/>
                </a:solidFill>
                <a:latin typeface="Segoe UI"/>
              </a:rPr>
              <a:t> (a category such as </a:t>
            </a:r>
            <a:r>
              <a:rPr sz="2150" b="0" i="0">
                <a:solidFill>
                  <a:srgbClr val="1F4E79"/>
                </a:solidFill>
                <a:latin typeface="Consolas"/>
              </a:rPr>
              <a:t>NP</a:t>
            </a:r>
            <a:r>
              <a:rPr sz="2300" b="0" i="0">
                <a:solidFill>
                  <a:srgbClr val="1C252B"/>
                </a:solidFill>
                <a:latin typeface="Segoe UI"/>
              </a:rPr>
              <a:t>) and </a:t>
            </a:r>
            <a:r>
              <a:rPr sz="2300" b="0" i="0">
                <a:solidFill>
                  <a:srgbClr val="1C252B"/>
                </a:solidFill>
                <a:latin typeface="Cambria"/>
              </a:rPr>
              <a:t>β</a:t>
            </a:r>
            <a:r>
              <a:rPr sz="2300" b="0" i="0">
                <a:solidFill>
                  <a:srgbClr val="1C252B"/>
                </a:solidFill>
                <a:latin typeface="Segoe UI"/>
              </a:rPr>
              <a:t> a sequence of non-terminals and </a:t>
            </a:r>
            <a:r>
              <a:rPr sz="2300" b="1" i="0">
                <a:solidFill>
                  <a:srgbClr val="1A5276"/>
                </a:solidFill>
                <a:latin typeface="Segoe UI"/>
              </a:rPr>
              <a:t>terminals</a:t>
            </a:r>
            <a:r>
              <a:rPr sz="2300" b="0" i="0">
                <a:solidFill>
                  <a:srgbClr val="1C252B"/>
                </a:solidFill>
                <a:latin typeface="Segoe UI"/>
              </a:rPr>
              <a:t> (words). A string is </a:t>
            </a:r>
            <a:r>
              <a:rPr sz="2300" b="1" i="0">
                <a:solidFill>
                  <a:srgbClr val="1A5276"/>
                </a:solidFill>
                <a:latin typeface="Segoe UI"/>
              </a:rPr>
              <a:t>in the language</a:t>
            </a:r>
            <a:r>
              <a:rPr sz="2300" b="0" i="0">
                <a:solidFill>
                  <a:srgbClr val="1C252B"/>
                </a:solidFill>
                <a:latin typeface="Segoe UI"/>
              </a:rPr>
              <a:t> if the start symbol can be rewritten to it.</a:t>
            </a:r>
          </a:p>
        </p:txBody>
      </p:sp>
      <p:sp>
        <p:nvSpPr>
          <p:cNvPr id="10" name="body-1"/>
          <p:cNvSpPr txBox="1"/>
          <p:nvPr/>
        </p:nvSpPr>
        <p:spPr>
          <a:xfrm>
            <a:off x="1060704" y="3302533"/>
            <a:ext cx="10161727" cy="1503883"/>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“Context-free” means a rule may be applied wherever its left side appears, regardless of surroundings — which is what makes efficient parsing possible and what makes the formalism too weak for some natural-language phenomena.</a:t>
            </a:r>
          </a:p>
        </p:txBody>
      </p:sp>
      <p:sp>
        <p:nvSpPr>
          <p:cNvPr id="1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fill">
            <a:extLst>
              <a:ext uri="{C183D7F6-B498-43B3-948B-1728B52AA6E4}">
                <adec:decorative xmlns:adec="http://schemas.microsoft.com/office/drawing/2017/decorative" val="1"/>
              </a:ext>
            </a:extLst>
          </p:cNvPr>
          <p:cNvSpPr/>
          <p:nvPr/>
        </p:nvSpPr>
        <p:spPr>
          <a:xfrm>
            <a:off x="0" y="0"/>
            <a:ext cx="2110101"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Context-Free Grammars</a:t>
            </a:r>
          </a:p>
        </p:txBody>
      </p:sp>
      <p:pic>
        <p:nvPicPr>
          <p:cNvPr id="3" name="!!kicker-icon" descr="tabl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AT A GLANCE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18  ·  Natural Language Processing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§18.3  ·  Handout p. 188     </a:t>
            </a:r>
            <a:fld id="{7952129B-35FB-4C37-BF59-FD33F8E01BC7}" type="slidenum">
              <a:rPr lang="en-GB" sz="1000">
                <a:solidFill>
                  <a:srgbClr val="8795A1"/>
                </a:solidFill>
                <a:latin typeface="Segoe UI"/>
              </a:rPr>
              <a:t>10</a:t>
            </a:fld>
          </a:p>
        </p:txBody>
      </p:sp>
      <p:graphicFrame>
        <p:nvGraphicFramePr>
          <p:cNvPr id="7" name="!!table"/>
          <p:cNvGraphicFramePr>
            <a:graphicFrameLocks noGrp="1"/>
          </p:cNvGraphicFramePr>
          <p:nvPr/>
        </p:nvGraphicFramePr>
        <p:xfrm>
          <a:off x="658368" y="1737360"/>
          <a:ext cx="6075095" cy="3648456"/>
        </p:xfrm>
        <a:graphic>
          <a:graphicData uri="http://schemas.openxmlformats.org/drawingml/2006/table">
            <a:tbl>
              <a:tblPr firstRow="0" bandRow="0" firstCol="0" lastRow="0" lastCol="0" bandCol="0">
                <a:tableStyleId>{2D5ABB26-0587-4C30-8999-92F81FD0307C}</a:tableStyleId>
              </a:tblPr>
              <a:tblGrid>
                <a:gridCol w="1935812"/>
                <a:gridCol w="4139283"/>
              </a:tblGrid>
              <a:tr h="405384">
                <a:tc>
                  <a:txBody>
                    <a:bodyPr wrap="square"/>
                    <a:lstStyle/>
                    <a:p>
                      <a:pPr algn="l"/>
                      <a:r>
                        <a:rPr sz="1700" b="1" i="0">
                          <a:solidFill>
                            <a:srgbClr val="1A5276"/>
                          </a:solidFill>
                          <a:latin typeface="Segoe UI"/>
                        </a:rPr>
                        <a:t>Rule</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700" b="1" i="0">
                          <a:solidFill>
                            <a:srgbClr val="1A5276"/>
                          </a:solidFill>
                          <a:latin typeface="Segoe UI"/>
                        </a:rPr>
                        <a:t>Reading</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r>
              <a:tr h="405384">
                <a:tc>
                  <a:txBody>
                    <a:bodyPr wrap="square"/>
                    <a:lstStyle/>
                    <a:p>
                      <a:pPr algn="l"/>
                      <a:r>
                        <a:rPr sz="1700" b="0" i="1">
                          <a:solidFill>
                            <a:srgbClr val="1C252B"/>
                          </a:solidFill>
                          <a:latin typeface="Cambria"/>
                        </a:rPr>
                        <a:t>S</a:t>
                      </a:r>
                      <a:r>
                        <a:rPr sz="1700" b="0" i="0">
                          <a:solidFill>
                            <a:srgbClr val="1C252B"/>
                          </a:solidFill>
                          <a:latin typeface="Cambria"/>
                        </a:rPr>
                        <a:t> → </a:t>
                      </a:r>
                      <a:r>
                        <a:rPr sz="1700" b="0" i="1">
                          <a:solidFill>
                            <a:srgbClr val="1C252B"/>
                          </a:solidFill>
                          <a:latin typeface="Cambria"/>
                        </a:rPr>
                        <a:t>VP</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an imperative: “restart the server”</a:t>
                      </a:r>
                      <a:endParaRPr sz="1700"/>
                    </a:p>
                  </a:txBody>
                  <a:tcPr marL="109728" marR="109728" marT="64008" marB="45720" anchor="t">
                    <a:lnL w="0" cmpd="sng">
                      <a:noFill/>
                    </a:lnL>
                    <a:lnR w="0" cmpd="sng">
                      <a:noFill/>
                    </a:lnR>
                    <a:lnT w="9525" cmpd="sng">
                      <a:noFill/>
                    </a:lnT>
                    <a:lnB w="9525" cmpd="sng">
                      <a:noFill/>
                    </a:lnB>
                    <a:solidFill>
                      <a:srgbClr val="FFFFFF"/>
                    </a:solidFill>
                  </a:tcPr>
                </a:tc>
              </a:tr>
              <a:tr h="405384">
                <a:tc>
                  <a:txBody>
                    <a:bodyPr wrap="square"/>
                    <a:lstStyle/>
                    <a:p>
                      <a:pPr algn="l"/>
                      <a:r>
                        <a:rPr sz="1700" b="0" i="1">
                          <a:solidFill>
                            <a:srgbClr val="1C252B"/>
                          </a:solidFill>
                          <a:latin typeface="Cambria"/>
                        </a:rPr>
                        <a:t>S</a:t>
                      </a:r>
                      <a:r>
                        <a:rPr sz="1700" b="0" i="0">
                          <a:solidFill>
                            <a:srgbClr val="1C252B"/>
                          </a:solidFill>
                          <a:latin typeface="Cambria"/>
                        </a:rPr>
                        <a:t> → </a:t>
                      </a:r>
                      <a:r>
                        <a:rPr sz="1700" b="0" i="1">
                          <a:solidFill>
                            <a:srgbClr val="1C252B"/>
                          </a:solidFill>
                          <a:latin typeface="Cambria"/>
                        </a:rPr>
                        <a:t>NP</a:t>
                      </a:r>
                      <a:r>
                        <a:rPr sz="1700" b="0" i="0">
                          <a:solidFill>
                            <a:srgbClr val="1C252B"/>
                          </a:solidFill>
                          <a:latin typeface="Cambria"/>
                        </a:rPr>
                        <a:t> </a:t>
                      </a:r>
                      <a:r>
                        <a:rPr sz="1700" b="0" i="1">
                          <a:solidFill>
                            <a:srgbClr val="1C252B"/>
                          </a:solidFill>
                          <a:latin typeface="Cambria"/>
                        </a:rPr>
                        <a:t>VP</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a statement: “the server crashed”</a:t>
                      </a:r>
                      <a:endParaRPr sz="1700"/>
                    </a:p>
                  </a:txBody>
                  <a:tcPr marL="109728" marR="109728" marT="64008" marB="45720" anchor="t">
                    <a:lnL w="0" cmpd="sng">
                      <a:noFill/>
                    </a:lnL>
                    <a:lnR w="0" cmpd="sng">
                      <a:noFill/>
                    </a:lnR>
                    <a:lnT w="9525" cmpd="sng">
                      <a:noFill/>
                    </a:lnT>
                    <a:lnB w="9525" cmpd="sng">
                      <a:noFill/>
                    </a:lnB>
                    <a:solidFill>
                      <a:srgbClr val="F2F8FC"/>
                    </a:solidFill>
                  </a:tcPr>
                </a:tc>
              </a:tr>
              <a:tr h="405384">
                <a:tc>
                  <a:txBody>
                    <a:bodyPr wrap="square"/>
                    <a:lstStyle/>
                    <a:p>
                      <a:pPr algn="l"/>
                      <a:r>
                        <a:rPr sz="1700" b="0" i="1">
                          <a:solidFill>
                            <a:srgbClr val="1C252B"/>
                          </a:solidFill>
                          <a:latin typeface="Cambria"/>
                        </a:rPr>
                        <a:t>VP</a:t>
                      </a:r>
                      <a:r>
                        <a:rPr sz="1700" b="0" i="0">
                          <a:solidFill>
                            <a:srgbClr val="1C252B"/>
                          </a:solidFill>
                          <a:latin typeface="Cambria"/>
                        </a:rPr>
                        <a:t> → </a:t>
                      </a:r>
                      <a:r>
                        <a:rPr sz="1700" b="0" i="1">
                          <a:solidFill>
                            <a:srgbClr val="1C252B"/>
                          </a:solidFill>
                          <a:latin typeface="Cambria"/>
                        </a:rPr>
                        <a:t>V</a:t>
                      </a:r>
                      <a:r>
                        <a:rPr sz="1700" b="0" i="0">
                          <a:solidFill>
                            <a:srgbClr val="1C252B"/>
                          </a:solidFill>
                          <a:latin typeface="Cambria"/>
                        </a:rPr>
                        <a:t> </a:t>
                      </a:r>
                      <a:r>
                        <a:rPr sz="1700" b="0" i="1">
                          <a:solidFill>
                            <a:srgbClr val="1C252B"/>
                          </a:solidFill>
                          <a:latin typeface="Cambria"/>
                        </a:rPr>
                        <a:t>NP</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a verb and its object</a:t>
                      </a:r>
                      <a:endParaRPr sz="1700"/>
                    </a:p>
                  </a:txBody>
                  <a:tcPr marL="109728" marR="109728" marT="64008" marB="45720" anchor="t">
                    <a:lnL w="0" cmpd="sng">
                      <a:noFill/>
                    </a:lnL>
                    <a:lnR w="0" cmpd="sng">
                      <a:noFill/>
                    </a:lnR>
                    <a:lnT w="9525" cmpd="sng">
                      <a:noFill/>
                    </a:lnT>
                    <a:lnB w="9525" cmpd="sng">
                      <a:noFill/>
                    </a:lnB>
                    <a:solidFill>
                      <a:srgbClr val="FFFFFF"/>
                    </a:solidFill>
                  </a:tcPr>
                </a:tc>
              </a:tr>
              <a:tr h="405384">
                <a:tc>
                  <a:txBody>
                    <a:bodyPr wrap="square"/>
                    <a:lstStyle/>
                    <a:p>
                      <a:pPr algn="l"/>
                      <a:r>
                        <a:rPr sz="1700" b="0" i="1">
                          <a:solidFill>
                            <a:srgbClr val="1C252B"/>
                          </a:solidFill>
                          <a:latin typeface="Cambria"/>
                        </a:rPr>
                        <a:t>VP</a:t>
                      </a:r>
                      <a:r>
                        <a:rPr sz="1700" b="0" i="0">
                          <a:solidFill>
                            <a:srgbClr val="1C252B"/>
                          </a:solidFill>
                          <a:latin typeface="Cambria"/>
                        </a:rPr>
                        <a:t> → </a:t>
                      </a:r>
                      <a:r>
                        <a:rPr sz="1700" b="0" i="1">
                          <a:solidFill>
                            <a:srgbClr val="1C252B"/>
                          </a:solidFill>
                          <a:latin typeface="Cambria"/>
                        </a:rPr>
                        <a:t>VP</a:t>
                      </a:r>
                      <a:r>
                        <a:rPr sz="1700" b="0" i="0">
                          <a:solidFill>
                            <a:srgbClr val="1C252B"/>
                          </a:solidFill>
                          <a:latin typeface="Cambria"/>
                        </a:rPr>
                        <a:t> </a:t>
                      </a:r>
                      <a:r>
                        <a:rPr sz="1700" b="0" i="1">
                          <a:solidFill>
                            <a:srgbClr val="1C252B"/>
                          </a:solidFill>
                          <a:latin typeface="Cambria"/>
                        </a:rPr>
                        <a:t>PP</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a verb phrase modified by a phrase</a:t>
                      </a:r>
                      <a:endParaRPr sz="1700"/>
                    </a:p>
                  </a:txBody>
                  <a:tcPr marL="109728" marR="109728" marT="64008" marB="45720" anchor="t">
                    <a:lnL w="0" cmpd="sng">
                      <a:noFill/>
                    </a:lnL>
                    <a:lnR w="0" cmpd="sng">
                      <a:noFill/>
                    </a:lnR>
                    <a:lnT w="9525" cmpd="sng">
                      <a:noFill/>
                    </a:lnT>
                    <a:lnB w="9525" cmpd="sng">
                      <a:noFill/>
                    </a:lnB>
                    <a:solidFill>
                      <a:srgbClr val="F2F8FC"/>
                    </a:solidFill>
                  </a:tcPr>
                </a:tc>
              </a:tr>
              <a:tr h="405384">
                <a:tc>
                  <a:txBody>
                    <a:bodyPr wrap="square"/>
                    <a:lstStyle/>
                    <a:p>
                      <a:pPr algn="l"/>
                      <a:r>
                        <a:rPr sz="1700" b="0" i="1">
                          <a:solidFill>
                            <a:srgbClr val="1C252B"/>
                          </a:solidFill>
                          <a:latin typeface="Cambria"/>
                        </a:rPr>
                        <a:t>NP</a:t>
                      </a:r>
                      <a:r>
                        <a:rPr sz="1700" b="0" i="0">
                          <a:solidFill>
                            <a:srgbClr val="1C252B"/>
                          </a:solidFill>
                          <a:latin typeface="Cambria"/>
                        </a:rPr>
                        <a:t> → </a:t>
                      </a:r>
                      <a:r>
                        <a:rPr sz="1700" b="0" i="1">
                          <a:solidFill>
                            <a:srgbClr val="1C252B"/>
                          </a:solidFill>
                          <a:latin typeface="Cambria"/>
                        </a:rPr>
                        <a:t>Det</a:t>
                      </a:r>
                      <a:r>
                        <a:rPr sz="1700" b="0" i="0">
                          <a:solidFill>
                            <a:srgbClr val="1C252B"/>
                          </a:solidFill>
                          <a:latin typeface="Cambria"/>
                        </a:rPr>
                        <a:t> </a:t>
                      </a:r>
                      <a:r>
                        <a:rPr sz="1700" b="0" i="1">
                          <a:solidFill>
                            <a:srgbClr val="1C252B"/>
                          </a:solidFill>
                          <a:latin typeface="Cambria"/>
                        </a:rPr>
                        <a:t>N</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a determiner and a noun</a:t>
                      </a:r>
                      <a:endParaRPr sz="1700"/>
                    </a:p>
                  </a:txBody>
                  <a:tcPr marL="109728" marR="109728" marT="64008" marB="45720" anchor="t">
                    <a:lnL w="0" cmpd="sng">
                      <a:noFill/>
                    </a:lnL>
                    <a:lnR w="0" cmpd="sng">
                      <a:noFill/>
                    </a:lnR>
                    <a:lnT w="9525" cmpd="sng">
                      <a:noFill/>
                    </a:lnT>
                    <a:lnB w="9525" cmpd="sng">
                      <a:noFill/>
                    </a:lnB>
                    <a:solidFill>
                      <a:srgbClr val="FFFFFF"/>
                    </a:solidFill>
                  </a:tcPr>
                </a:tc>
              </a:tr>
              <a:tr h="405384">
                <a:tc>
                  <a:txBody>
                    <a:bodyPr wrap="square"/>
                    <a:lstStyle/>
                    <a:p>
                      <a:pPr algn="l"/>
                      <a:r>
                        <a:rPr sz="1700" b="0" i="1">
                          <a:solidFill>
                            <a:srgbClr val="1C252B"/>
                          </a:solidFill>
                          <a:latin typeface="Cambria"/>
                        </a:rPr>
                        <a:t>NP</a:t>
                      </a:r>
                      <a:r>
                        <a:rPr sz="1700" b="0" i="0">
                          <a:solidFill>
                            <a:srgbClr val="1C252B"/>
                          </a:solidFill>
                          <a:latin typeface="Cambria"/>
                        </a:rPr>
                        <a:t> → </a:t>
                      </a:r>
                      <a:r>
                        <a:rPr sz="1700" b="0" i="1">
                          <a:solidFill>
                            <a:srgbClr val="1C252B"/>
                          </a:solidFill>
                          <a:latin typeface="Cambria"/>
                        </a:rPr>
                        <a:t>NP</a:t>
                      </a:r>
                      <a:r>
                        <a:rPr sz="1700" b="0" i="0">
                          <a:solidFill>
                            <a:srgbClr val="1C252B"/>
                          </a:solidFill>
                          <a:latin typeface="Cambria"/>
                        </a:rPr>
                        <a:t> </a:t>
                      </a:r>
                      <a:r>
                        <a:rPr sz="1700" b="0" i="1">
                          <a:solidFill>
                            <a:srgbClr val="1C252B"/>
                          </a:solidFill>
                          <a:latin typeface="Cambria"/>
                        </a:rPr>
                        <a:t>PP</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a noun phrase modified by a phrase</a:t>
                      </a:r>
                      <a:endParaRPr sz="1700"/>
                    </a:p>
                  </a:txBody>
                  <a:tcPr marL="109728" marR="109728" marT="64008" marB="45720" anchor="t">
                    <a:lnL w="0" cmpd="sng">
                      <a:noFill/>
                    </a:lnL>
                    <a:lnR w="0" cmpd="sng">
                      <a:noFill/>
                    </a:lnR>
                    <a:lnT w="9525" cmpd="sng">
                      <a:noFill/>
                    </a:lnT>
                    <a:lnB w="9525" cmpd="sng">
                      <a:noFill/>
                    </a:lnB>
                    <a:solidFill>
                      <a:srgbClr val="F2F8FC"/>
                    </a:solidFill>
                  </a:tcPr>
                </a:tc>
              </a:tr>
              <a:tr h="405384">
                <a:tc>
                  <a:txBody>
                    <a:bodyPr wrap="square"/>
                    <a:lstStyle/>
                    <a:p>
                      <a:pPr algn="l"/>
                      <a:r>
                        <a:rPr sz="1700" b="0" i="1">
                          <a:solidFill>
                            <a:srgbClr val="1C252B"/>
                          </a:solidFill>
                          <a:latin typeface="Cambria"/>
                        </a:rPr>
                        <a:t>PP</a:t>
                      </a:r>
                      <a:r>
                        <a:rPr sz="1700" b="0" i="0">
                          <a:solidFill>
                            <a:srgbClr val="1C252B"/>
                          </a:solidFill>
                          <a:latin typeface="Cambria"/>
                        </a:rPr>
                        <a:t> → </a:t>
                      </a:r>
                      <a:r>
                        <a:rPr sz="1700" b="0" i="1">
                          <a:solidFill>
                            <a:srgbClr val="1C252B"/>
                          </a:solidFill>
                          <a:latin typeface="Cambria"/>
                        </a:rPr>
                        <a:t>P</a:t>
                      </a:r>
                      <a:r>
                        <a:rPr sz="1700" b="0" i="0">
                          <a:solidFill>
                            <a:srgbClr val="1C252B"/>
                          </a:solidFill>
                          <a:latin typeface="Cambria"/>
                        </a:rPr>
                        <a:t> </a:t>
                      </a:r>
                      <a:r>
                        <a:rPr sz="1700" b="0" i="1">
                          <a:solidFill>
                            <a:srgbClr val="1C252B"/>
                          </a:solidFill>
                          <a:latin typeface="Cambria"/>
                        </a:rPr>
                        <a:t>NP</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a preposition and its object</a:t>
                      </a:r>
                      <a:endParaRPr sz="1700"/>
                    </a:p>
                  </a:txBody>
                  <a:tcPr marL="109728" marR="109728" marT="64008" marB="45720" anchor="t">
                    <a:lnL w="0" cmpd="sng">
                      <a:noFill/>
                    </a:lnL>
                    <a:lnR w="0" cmpd="sng">
                      <a:noFill/>
                    </a:lnR>
                    <a:lnT w="9525" cmpd="sng">
                      <a:noFill/>
                    </a:lnT>
                    <a:lnB w="9525" cmpd="sng">
                      <a:noFill/>
                    </a:lnB>
                    <a:solidFill>
                      <a:srgbClr val="FFFFFF"/>
                    </a:solidFill>
                  </a:tcPr>
                </a:tc>
              </a:tr>
              <a:tr h="405384">
                <a:tc>
                  <a:txBody>
                    <a:bodyPr wrap="square"/>
                    <a:lstStyle/>
                    <a:p>
                      <a:pPr algn="l"/>
                      <a:r>
                        <a:rPr sz="1700" b="0" i="1">
                          <a:solidFill>
                            <a:srgbClr val="1C252B"/>
                          </a:solidFill>
                          <a:latin typeface="Cambria"/>
                        </a:rPr>
                        <a:t>N</a:t>
                      </a:r>
                      <a:r>
                        <a:rPr sz="1700" b="0" i="0">
                          <a:solidFill>
                            <a:srgbClr val="1C252B"/>
                          </a:solidFill>
                          <a:latin typeface="Cambria"/>
                        </a:rPr>
                        <a:t> → </a:t>
                      </a:r>
                      <a:r>
                        <a:rPr sz="1700" b="0" i="1">
                          <a:solidFill>
                            <a:srgbClr val="1C252B"/>
                          </a:solidFill>
                          <a:latin typeface="Cambria"/>
                        </a:rPr>
                        <a:t>N</a:t>
                      </a:r>
                      <a:r>
                        <a:rPr sz="1700" b="0" i="0">
                          <a:solidFill>
                            <a:srgbClr val="1C252B"/>
                          </a:solidFill>
                          <a:latin typeface="Cambria"/>
                        </a:rPr>
                        <a:t> </a:t>
                      </a:r>
                      <a:r>
                        <a:rPr sz="1700" b="0" i="1">
                          <a:solidFill>
                            <a:srgbClr val="1C252B"/>
                          </a:solidFill>
                          <a:latin typeface="Cambria"/>
                        </a:rPr>
                        <a:t>N</a:t>
                      </a:r>
                      <a:endParaRPr sz="17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r>
                        <a:rPr sz="1700" b="0" i="0">
                          <a:solidFill>
                            <a:srgbClr val="1C252B"/>
                          </a:solidFill>
                          <a:latin typeface="Segoe UI"/>
                        </a:rPr>
                        <a:t>a noun compound: “payments gateway”</a:t>
                      </a:r>
                      <a:endParaRPr sz="17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r>
            </a:tbl>
          </a:graphicData>
        </a:graphic>
      </p:graphicFrame>
      <p:sp>
        <p:nvSpPr>
          <p:cNvPr id="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pfill">
            <a:extLst>
              <a:ext uri="{C183D7F6-B498-43B3-948B-1728B52AA6E4}">
                <adec:decorative xmlns:adec="http://schemas.microsoft.com/office/drawing/2017/decorative" val="1"/>
              </a:ext>
            </a:extLst>
          </p:cNvPr>
          <p:cNvSpPr/>
          <p:nvPr/>
        </p:nvSpPr>
        <p:spPr>
          <a:xfrm>
            <a:off x="0" y="0"/>
            <a:ext cx="2344556"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Parsing with CYK</a:t>
            </a:r>
          </a:p>
        </p:txBody>
      </p:sp>
      <p:pic>
        <p:nvPicPr>
          <p:cNvPr id="3" name="!!kicker-icon" descr="quote-left-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KEY IDEA</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18  ·  Natural Language Processing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§18.4  ·  Handout p. 188     </a:t>
            </a:r>
            <a:fld id="{AC57564D-F005-4235-802C-36A38B00ECBF}" type="slidenum">
              <a:rPr lang="en-GB" sz="1000">
                <a:solidFill>
                  <a:srgbClr val="8795A1"/>
                </a:solidFill>
                <a:latin typeface="Segoe UI"/>
              </a:rPr>
              <a:t>11</a:t>
            </a:fld>
          </a:p>
        </p:txBody>
      </p:sp>
      <p:sp>
        <p:nvSpPr>
          <p:cNvPr id="7" name="!!stbar">
            <a:extLst>
              <a:ext uri="{C183D7F6-B498-43B3-948B-1728B52AA6E4}">
                <adec:decorative xmlns:adec="http://schemas.microsoft.com/office/drawing/2017/decorative" val="1"/>
              </a:ext>
            </a:extLst>
          </p:cNvPr>
          <p:cNvSpPr/>
          <p:nvPr/>
        </p:nvSpPr>
        <p:spPr>
          <a:xfrm>
            <a:off x="658368" y="1810512"/>
            <a:ext cx="73152" cy="4265929"/>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body-0"/>
          <p:cNvSpPr txBox="1"/>
          <p:nvPr/>
        </p:nvSpPr>
        <p:spPr>
          <a:xfrm>
            <a:off x="1042415" y="1792224"/>
            <a:ext cx="10417759" cy="2518257"/>
          </a:xfrm>
          <a:prstGeom prst="rect">
            <a:avLst/>
          </a:prstGeom>
          <a:noFill/>
        </p:spPr>
        <p:txBody>
          <a:bodyPr wrap="square" anchor="t" lIns="0" rIns="0" tIns="0" bIns="0">
            <a:noAutofit/>
          </a:bodyPr>
          <a:lstStyle/>
          <a:p>
            <a:pPr algn="l">
              <a:lnSpc>
                <a:spcPct val="104000"/>
              </a:lnSpc>
              <a:spcBef>
                <a:spcPts val="0"/>
              </a:spcBef>
              <a:spcAft>
                <a:spcPts val="0"/>
              </a:spcAft>
            </a:pPr>
            <a:r>
              <a:rPr sz="2600" b="1" i="0">
                <a:solidFill>
                  <a:srgbClr val="1A5276"/>
                </a:solidFill>
                <a:latin typeface="Segoe UI"/>
              </a:rPr>
              <a:t>CYK</a:t>
            </a:r>
            <a:r>
              <a:rPr sz="2600" b="0" i="0">
                <a:solidFill>
                  <a:srgbClr val="1C252B"/>
                </a:solidFill>
                <a:latin typeface="Segoe UI"/>
              </a:rPr>
              <a:t> is dynamic programming over spans. Fill a triangular chart: cell </a:t>
            </a:r>
            <a:r>
              <a:rPr sz="2600" b="0" i="0">
                <a:solidFill>
                  <a:srgbClr val="1C252B"/>
                </a:solidFill>
                <a:latin typeface="Cambria"/>
              </a:rPr>
              <a:t>(</a:t>
            </a:r>
            <a:r>
              <a:rPr sz="2600" b="0" i="1">
                <a:solidFill>
                  <a:srgbClr val="1C252B"/>
                </a:solidFill>
                <a:latin typeface="Cambria"/>
              </a:rPr>
              <a:t>i</a:t>
            </a:r>
            <a:r>
              <a:rPr sz="2600" b="0" i="0">
                <a:solidFill>
                  <a:srgbClr val="1C252B"/>
                </a:solidFill>
                <a:latin typeface="Cambria"/>
              </a:rPr>
              <a:t>,</a:t>
            </a:r>
            <a:r>
              <a:rPr sz="2600" b="0" i="1">
                <a:solidFill>
                  <a:srgbClr val="1C252B"/>
                </a:solidFill>
                <a:latin typeface="Cambria"/>
              </a:rPr>
              <a:t>j</a:t>
            </a:r>
            <a:r>
              <a:rPr sz="2600" b="0" i="0">
                <a:solidFill>
                  <a:srgbClr val="1C252B"/>
                </a:solidFill>
                <a:latin typeface="Cambria"/>
              </a:rPr>
              <a:t>)</a:t>
            </a:r>
            <a:r>
              <a:rPr sz="2600" b="0" i="0">
                <a:solidFill>
                  <a:srgbClr val="1C252B"/>
                </a:solidFill>
                <a:latin typeface="Segoe UI"/>
              </a:rPr>
              <a:t> holds every category that could cover words </a:t>
            </a:r>
            <a:r>
              <a:rPr sz="2600" b="0" i="1">
                <a:solidFill>
                  <a:srgbClr val="1C252B"/>
                </a:solidFill>
                <a:latin typeface="Cambria"/>
              </a:rPr>
              <a:t>i</a:t>
            </a:r>
            <a:r>
              <a:rPr sz="2600" b="0" i="0">
                <a:solidFill>
                  <a:srgbClr val="1C252B"/>
                </a:solidFill>
                <a:latin typeface="Segoe UI"/>
              </a:rPr>
              <a:t> to </a:t>
            </a:r>
            <a:r>
              <a:rPr sz="2600" b="0" i="1">
                <a:solidFill>
                  <a:srgbClr val="1C252B"/>
                </a:solidFill>
                <a:latin typeface="Cambria"/>
              </a:rPr>
              <a:t>j</a:t>
            </a:r>
            <a:r>
              <a:rPr sz="2600" b="0" i="0">
                <a:solidFill>
                  <a:srgbClr val="1C252B"/>
                </a:solidFill>
                <a:latin typeface="Segoe UI"/>
              </a:rPr>
              <a:t>. Single words come from the lexicon; longer spans are built by trying every split point </a:t>
            </a:r>
            <a:r>
              <a:rPr sz="2600" b="0" i="1">
                <a:solidFill>
                  <a:srgbClr val="1C252B"/>
                </a:solidFill>
                <a:latin typeface="Cambria"/>
              </a:rPr>
              <a:t>k</a:t>
            </a:r>
            <a:r>
              <a:rPr sz="2600" b="0" i="0">
                <a:solidFill>
                  <a:srgbClr val="1C252B"/>
                </a:solidFill>
                <a:latin typeface="Segoe UI"/>
              </a:rPr>
              <a:t> and every rule </a:t>
            </a:r>
            <a:r>
              <a:rPr sz="2600" b="0" i="1">
                <a:solidFill>
                  <a:srgbClr val="1C252B"/>
                </a:solidFill>
                <a:latin typeface="Cambria"/>
              </a:rPr>
              <a:t>A</a:t>
            </a:r>
            <a:r>
              <a:rPr sz="2600" b="0" i="0">
                <a:solidFill>
                  <a:srgbClr val="1C252B"/>
                </a:solidFill>
                <a:latin typeface="Cambria"/>
              </a:rPr>
              <a:t> → </a:t>
            </a:r>
            <a:r>
              <a:rPr sz="2600" b="0" i="1">
                <a:solidFill>
                  <a:srgbClr val="1C252B"/>
                </a:solidFill>
                <a:latin typeface="Cambria"/>
              </a:rPr>
              <a:t>B</a:t>
            </a:r>
            <a:r>
              <a:rPr sz="2600" b="0" i="0">
                <a:solidFill>
                  <a:srgbClr val="1C252B"/>
                </a:solidFill>
                <a:latin typeface="Cambria"/>
              </a:rPr>
              <a:t> </a:t>
            </a:r>
            <a:r>
              <a:rPr sz="2600" b="0" i="1">
                <a:solidFill>
                  <a:srgbClr val="1C252B"/>
                </a:solidFill>
                <a:latin typeface="Cambria"/>
              </a:rPr>
              <a:t>C</a:t>
            </a:r>
            <a:r>
              <a:rPr sz="2600" b="0" i="0">
                <a:solidFill>
                  <a:srgbClr val="1C252B"/>
                </a:solidFill>
                <a:latin typeface="Segoe UI"/>
              </a:rPr>
              <a:t>, entering </a:t>
            </a:r>
            <a:r>
              <a:rPr sz="2600" b="0" i="1">
                <a:solidFill>
                  <a:srgbClr val="1C252B"/>
                </a:solidFill>
                <a:latin typeface="Cambria"/>
              </a:rPr>
              <a:t>A</a:t>
            </a:r>
            <a:r>
              <a:rPr sz="2600" b="0" i="0">
                <a:solidFill>
                  <a:srgbClr val="1C252B"/>
                </a:solidFill>
                <a:latin typeface="Segoe UI"/>
              </a:rPr>
              <a:t> whenever </a:t>
            </a:r>
            <a:r>
              <a:rPr sz="2600" b="0" i="1">
                <a:solidFill>
                  <a:srgbClr val="1C252B"/>
                </a:solidFill>
                <a:latin typeface="Cambria"/>
              </a:rPr>
              <a:t>B</a:t>
            </a:r>
            <a:r>
              <a:rPr sz="2600" b="0" i="0">
                <a:solidFill>
                  <a:srgbClr val="1C252B"/>
                </a:solidFill>
                <a:latin typeface="Segoe UI"/>
              </a:rPr>
              <a:t> covers </a:t>
            </a:r>
            <a:r>
              <a:rPr sz="2600" b="0" i="0">
                <a:solidFill>
                  <a:srgbClr val="1C252B"/>
                </a:solidFill>
                <a:latin typeface="Cambria"/>
              </a:rPr>
              <a:t>(</a:t>
            </a:r>
            <a:r>
              <a:rPr sz="2600" b="0" i="1">
                <a:solidFill>
                  <a:srgbClr val="1C252B"/>
                </a:solidFill>
                <a:latin typeface="Cambria"/>
              </a:rPr>
              <a:t>i</a:t>
            </a:r>
            <a:r>
              <a:rPr sz="2600" b="0" i="0">
                <a:solidFill>
                  <a:srgbClr val="1C252B"/>
                </a:solidFill>
                <a:latin typeface="Cambria"/>
              </a:rPr>
              <a:t>,</a:t>
            </a:r>
            <a:r>
              <a:rPr sz="2600" b="0" i="1">
                <a:solidFill>
                  <a:srgbClr val="1C252B"/>
                </a:solidFill>
                <a:latin typeface="Cambria"/>
              </a:rPr>
              <a:t>k</a:t>
            </a:r>
            <a:r>
              <a:rPr sz="2600" b="0" i="0">
                <a:solidFill>
                  <a:srgbClr val="1C252B"/>
                </a:solidFill>
                <a:latin typeface="Cambria"/>
              </a:rPr>
              <a:t>)</a:t>
            </a:r>
            <a:r>
              <a:rPr sz="2600" b="0" i="0">
                <a:solidFill>
                  <a:srgbClr val="1C252B"/>
                </a:solidFill>
                <a:latin typeface="Segoe UI"/>
              </a:rPr>
              <a:t> and </a:t>
            </a:r>
            <a:r>
              <a:rPr sz="2600" b="0" i="1">
                <a:solidFill>
                  <a:srgbClr val="1C252B"/>
                </a:solidFill>
                <a:latin typeface="Cambria"/>
              </a:rPr>
              <a:t>C</a:t>
            </a:r>
            <a:r>
              <a:rPr sz="2600" b="0" i="0">
                <a:solidFill>
                  <a:srgbClr val="1C252B"/>
                </a:solidFill>
                <a:latin typeface="Segoe UI"/>
              </a:rPr>
              <a:t> covers </a:t>
            </a:r>
            <a:r>
              <a:rPr sz="2600" b="0" i="0">
                <a:solidFill>
                  <a:srgbClr val="1C252B"/>
                </a:solidFill>
                <a:latin typeface="Cambria"/>
              </a:rPr>
              <a:t>(</a:t>
            </a:r>
            <a:r>
              <a:rPr sz="2600" b="0" i="1">
                <a:solidFill>
                  <a:srgbClr val="1C252B"/>
                </a:solidFill>
                <a:latin typeface="Cambria"/>
              </a:rPr>
              <a:t>k</a:t>
            </a:r>
            <a:r>
              <a:rPr sz="2600" b="0" i="0">
                <a:solidFill>
                  <a:srgbClr val="1C252B"/>
                </a:solidFill>
                <a:latin typeface="Cambria"/>
              </a:rPr>
              <a:t>,</a:t>
            </a:r>
            <a:r>
              <a:rPr sz="2600" b="0" i="1">
                <a:solidFill>
                  <a:srgbClr val="1C252B"/>
                </a:solidFill>
                <a:latin typeface="Cambria"/>
              </a:rPr>
              <a:t>j</a:t>
            </a:r>
            <a:r>
              <a:rPr sz="2600" b="0" i="0">
                <a:solidFill>
                  <a:srgbClr val="1C252B"/>
                </a:solidFill>
                <a:latin typeface="Cambria"/>
              </a:rPr>
              <a:t>)</a:t>
            </a:r>
            <a:r>
              <a:rPr sz="2600" b="0" i="0">
                <a:solidFill>
                  <a:srgbClr val="1C252B"/>
                </a:solidFill>
                <a:latin typeface="Segoe UI"/>
              </a:rPr>
              <a:t>. The sentence parses if the start symbol reaches the top cell.</a:t>
            </a:r>
          </a:p>
        </p:txBody>
      </p:sp>
      <p:sp>
        <p:nvSpPr>
          <p:cNvPr id="9" name="body-1"/>
          <p:cNvSpPr txBox="1"/>
          <p:nvPr/>
        </p:nvSpPr>
        <p:spPr>
          <a:xfrm>
            <a:off x="1042415" y="4446371"/>
            <a:ext cx="10417759" cy="1694078"/>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Its cost is </a:t>
            </a:r>
            <a:r>
              <a:rPr sz="2600" b="0" i="1">
                <a:solidFill>
                  <a:srgbClr val="1C252B"/>
                </a:solidFill>
                <a:latin typeface="Cambria"/>
              </a:rPr>
              <a:t>O</a:t>
            </a:r>
            <a:r>
              <a:rPr sz="2600" b="0" i="0">
                <a:solidFill>
                  <a:srgbClr val="1C252B"/>
                </a:solidFill>
                <a:latin typeface="Cambria"/>
              </a:rPr>
              <a:t>(</a:t>
            </a:r>
            <a:r>
              <a:rPr sz="2600" b="0" i="1">
                <a:solidFill>
                  <a:srgbClr val="1C252B"/>
                </a:solidFill>
                <a:latin typeface="Cambria"/>
              </a:rPr>
              <a:t>n</a:t>
            </a:r>
            <a:r>
              <a:rPr sz="1700" b="0" i="0" baseline="30000">
                <a:solidFill>
                  <a:srgbClr val="1C252B"/>
                </a:solidFill>
                <a:latin typeface="Cambria"/>
              </a:rPr>
              <a:t>3</a:t>
            </a:r>
            <a:r>
              <a:rPr sz="2600" b="0" i="0">
                <a:solidFill>
                  <a:srgbClr val="1C252B"/>
                </a:solidFill>
                <a:latin typeface="Cambria"/>
              </a:rPr>
              <a:t>|</a:t>
            </a:r>
            <a:r>
              <a:rPr sz="2600" b="0" i="1">
                <a:solidFill>
                  <a:srgbClr val="1C252B"/>
                </a:solidFill>
                <a:latin typeface="Cambria"/>
              </a:rPr>
              <a:t>G</a:t>
            </a:r>
            <a:r>
              <a:rPr sz="2600" b="0" i="0">
                <a:solidFill>
                  <a:srgbClr val="1C252B"/>
                </a:solidFill>
                <a:latin typeface="Cambria"/>
              </a:rPr>
              <a:t>|)</a:t>
            </a:r>
            <a:r>
              <a:rPr sz="2600" b="0" i="0">
                <a:solidFill>
                  <a:srgbClr val="1C252B"/>
                </a:solidFill>
                <a:latin typeface="Segoe UI"/>
              </a:rPr>
              <a:t> — cubic in the sentence length — which for a subject line of seven words means a chart of </a:t>
            </a:r>
            <a:r>
              <a:rPr sz="2600" b="0" i="0">
                <a:solidFill>
                  <a:srgbClr val="1C252B"/>
                </a:solidFill>
                <a:latin typeface="Cambria"/>
              </a:rPr>
              <a:t>28</a:t>
            </a:r>
            <a:r>
              <a:rPr sz="2600" b="0" i="0">
                <a:solidFill>
                  <a:srgbClr val="1C252B"/>
                </a:solidFill>
                <a:latin typeface="Segoe UI"/>
              </a:rPr>
              <a:t> cells, of which </a:t>
            </a:r>
            <a:r>
              <a:rPr sz="2600" b="0" i="0">
                <a:solidFill>
                  <a:srgbClr val="1C252B"/>
                </a:solidFill>
                <a:latin typeface="Cambria"/>
              </a:rPr>
              <a:t>18</a:t>
            </a:r>
            <a:r>
              <a:rPr sz="2600" b="0" i="0">
                <a:solidFill>
                  <a:srgbClr val="1C252B"/>
                </a:solidFill>
                <a:latin typeface="Segoe UI"/>
              </a:rPr>
              <a:t> are non-empty. The important property is that it finds </a:t>
            </a:r>
            <a:r>
              <a:rPr sz="2600" b="0" i="1">
                <a:solidFill>
                  <a:srgbClr val="1C252B"/>
                </a:solidFill>
                <a:latin typeface="Segoe UI"/>
              </a:rPr>
              <a:t>all</a:t>
            </a:r>
            <a:r>
              <a:rPr sz="2600" b="0" i="0">
                <a:solidFill>
                  <a:srgbClr val="1C252B"/>
                </a:solidFill>
                <a:latin typeface="Segoe UI"/>
              </a:rPr>
              <a:t> parses, and it finds them without backtracking.</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2579012"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fade">
                                      <p:cBhvr>
                                        <p:cTn id="8"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Ambiguity Is the Point</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D4CEB4"/>
                </a:solidFill>
                <a:latin typeface="Segoe UI"/>
              </a:rPr>
              <a:t>SECTION 5 OF 7</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18.5</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18.1   Ticket Subject Lines</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18.2   The Symbolic Pipeline</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18.3   Context-Free Grammars</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18.4   Parsing with CYK</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705B06"/>
                </a:solidFill>
                <a:latin typeface="Segoe UI"/>
              </a:rPr>
              <a:t>18.5   Ambiguity Is the Point</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18.6   Pattern Substitution: Eliza</a:t>
            </a:r>
          </a:p>
        </p:txBody>
      </p:sp>
      <p:sp>
        <p:nvSpPr>
          <p:cNvPr id="12" name="!!dl6"/>
          <p:cNvSpPr txBox="1"/>
          <p:nvPr/>
        </p:nvSpPr>
        <p:spPr>
          <a:xfrm>
            <a:off x="4846320" y="580643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18.7   N-Grams and Their Limit</a:t>
            </a:r>
          </a:p>
        </p:txBody>
      </p:sp>
      <p:sp>
        <p:nvSpPr>
          <p:cNvPr id="13"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18</a:t>
            </a:r>
          </a:p>
        </p:txBody>
      </p:sp>
      <p:sp>
        <p:nvSpPr>
          <p:cNvPr id="14"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§18.5     </a:t>
            </a:r>
            <a:fld id="{95D1A705-2577-4C22-9113-9C9918FCDFA2}" type="slidenum">
              <a:rPr lang="en-GB" sz="1000">
                <a:solidFill>
                  <a:srgbClr val="8795A1"/>
                </a:solidFill>
                <a:latin typeface="Segoe UI"/>
              </a:rPr>
              <a:t>12</a:t>
            </a:fld>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2813468"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Five subject lines, parsed</a:t>
            </a:r>
          </a:p>
        </p:txBody>
      </p:sp>
      <p:pic>
        <p:nvPicPr>
          <p:cNvPr id="3" name="!!kicker-icon" descr="code-27AE6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7256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7AE60"/>
                </a:solidFill>
                <a:latin typeface="Segoe UI"/>
              </a:rPr>
              <a:t>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18  ·  Natural Language Processing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§18.5  ·  Handout p. 189     </a:t>
            </a:r>
            <a:fld id="{B70E6C16-AA78-4D6E-AC24-76D29F3290C8}" type="slidenum">
              <a:rPr lang="en-GB" sz="1000">
                <a:solidFill>
                  <a:srgbClr val="8795A1"/>
                </a:solidFill>
                <a:latin typeface="Segoe UI"/>
              </a:rPr>
              <a:t>13</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779519"/>
          </a:xfrm>
          <a:prstGeom prst="roundRect">
            <a:avLst>
              <a:gd name="adj" fmla="val 2419"/>
            </a:avLst>
          </a:prstGeom>
          <a:solidFill>
            <a:srgbClr val="EAF7EF"/>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779519"/>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graphicFrame>
        <p:nvGraphicFramePr>
          <p:cNvPr id="9" name="body-0"/>
          <p:cNvGraphicFramePr>
            <a:graphicFrameLocks noGrp="1"/>
          </p:cNvGraphicFramePr>
          <p:nvPr/>
        </p:nvGraphicFramePr>
        <p:xfrm>
          <a:off x="1060704" y="2048255"/>
          <a:ext cx="9380368" cy="3157721"/>
        </p:xfrm>
        <a:graphic>
          <a:graphicData uri="http://schemas.openxmlformats.org/drawingml/2006/table">
            <a:tbl>
              <a:tblPr firstRow="0" bandRow="0" firstCol="0" lastRow="0" lastCol="0" bandCol="0">
                <a:tableStyleId>{2D5ABB26-0587-4C30-8999-92F81FD0307C}</a:tableStyleId>
              </a:tblPr>
              <a:tblGrid>
                <a:gridCol w="6149583"/>
                <a:gridCol w="1292314"/>
                <a:gridCol w="1938471"/>
              </a:tblGrid>
              <a:tr h="451103">
                <a:tc>
                  <a:txBody>
                    <a:bodyPr wrap="square"/>
                    <a:lstStyle/>
                    <a:p>
                      <a:pPr algn="l"/>
                      <a:r>
                        <a:rPr sz="2000" b="1" i="0">
                          <a:solidFill>
                            <a:srgbClr val="1A5276"/>
                          </a:solidFill>
                          <a:latin typeface="Segoe UI"/>
                        </a:rPr>
                        <a:t>Subject</a:t>
                      </a:r>
                      <a:endParaRPr sz="20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2000" b="1" i="0">
                          <a:solidFill>
                            <a:srgbClr val="1A5276"/>
                          </a:solidFill>
                          <a:latin typeface="Segoe UI"/>
                        </a:rPr>
                        <a:t>Parses?</a:t>
                      </a:r>
                      <a:endParaRPr sz="20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2000" b="1" i="0">
                          <a:solidFill>
                            <a:srgbClr val="1A5276"/>
                          </a:solidFill>
                          <a:latin typeface="Segoe UI"/>
                        </a:rPr>
                        <a:t>How many</a:t>
                      </a:r>
                      <a:endParaRPr sz="20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r>
              <a:tr h="451103">
                <a:tc>
                  <a:txBody>
                    <a:bodyPr wrap="square"/>
                    <a:lstStyle/>
                    <a:p>
                      <a:pPr algn="l"/>
                      <a:r>
                        <a:rPr sz="1900" b="0" i="0">
                          <a:solidFill>
                            <a:srgbClr val="1F4E79"/>
                          </a:solidFill>
                          <a:latin typeface="Consolas"/>
                        </a:rPr>
                        <a:t>restart the server</a:t>
                      </a:r>
                      <a:endParaRPr sz="20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2000" b="0" i="0">
                          <a:solidFill>
                            <a:srgbClr val="1C252B"/>
                          </a:solidFill>
                          <a:latin typeface="Segoe UI"/>
                        </a:rPr>
                        <a:t>yes</a:t>
                      </a:r>
                      <a:endParaRPr sz="20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2000" b="0" i="0">
                          <a:solidFill>
                            <a:srgbClr val="1C252B"/>
                          </a:solidFill>
                          <a:latin typeface="Segoe UI"/>
                        </a:rPr>
                        <a:t>1</a:t>
                      </a:r>
                      <a:endParaRPr sz="2000"/>
                    </a:p>
                  </a:txBody>
                  <a:tcPr marL="109728" marR="109728" marT="64008" marB="45720" anchor="t">
                    <a:lnL w="0" cmpd="sng">
                      <a:noFill/>
                    </a:lnL>
                    <a:lnR w="0" cmpd="sng">
                      <a:noFill/>
                    </a:lnR>
                    <a:lnT w="9525" cmpd="sng">
                      <a:noFill/>
                    </a:lnT>
                    <a:lnB w="9525" cmpd="sng">
                      <a:noFill/>
                    </a:lnB>
                    <a:solidFill>
                      <a:srgbClr val="FFFFFF"/>
                    </a:solidFill>
                  </a:tcPr>
                </a:tc>
              </a:tr>
              <a:tr h="451103">
                <a:tc>
                  <a:txBody>
                    <a:bodyPr wrap="square"/>
                    <a:lstStyle/>
                    <a:p>
                      <a:pPr algn="l"/>
                      <a:r>
                        <a:rPr sz="1900" b="0" i="0">
                          <a:solidFill>
                            <a:srgbClr val="1F4E79"/>
                          </a:solidFill>
                          <a:latin typeface="Consolas"/>
                        </a:rPr>
                        <a:t>check the payments gateway</a:t>
                      </a:r>
                      <a:endParaRPr sz="20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2000" b="0" i="0">
                          <a:solidFill>
                            <a:srgbClr val="1C252B"/>
                          </a:solidFill>
                          <a:latin typeface="Segoe UI"/>
                        </a:rPr>
                        <a:t>yes</a:t>
                      </a:r>
                      <a:endParaRPr sz="20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2000" b="0" i="0">
                          <a:solidFill>
                            <a:srgbClr val="1C252B"/>
                          </a:solidFill>
                          <a:latin typeface="Segoe UI"/>
                        </a:rPr>
                        <a:t>1</a:t>
                      </a:r>
                      <a:endParaRPr sz="2000"/>
                    </a:p>
                  </a:txBody>
                  <a:tcPr marL="109728" marR="109728" marT="64008" marB="45720" anchor="t">
                    <a:lnL w="0" cmpd="sng">
                      <a:noFill/>
                    </a:lnL>
                    <a:lnR w="0" cmpd="sng">
                      <a:noFill/>
                    </a:lnR>
                    <a:lnT w="9525" cmpd="sng">
                      <a:noFill/>
                    </a:lnT>
                    <a:lnB w="9525" cmpd="sng">
                      <a:noFill/>
                    </a:lnB>
                    <a:solidFill>
                      <a:srgbClr val="F2F8FC"/>
                    </a:solidFill>
                  </a:tcPr>
                </a:tc>
              </a:tr>
              <a:tr h="451103">
                <a:tc>
                  <a:txBody>
                    <a:bodyPr wrap="square"/>
                    <a:lstStyle/>
                    <a:p>
                      <a:pPr algn="l"/>
                      <a:r>
                        <a:rPr sz="1900" b="0" i="0">
                          <a:solidFill>
                            <a:srgbClr val="1F4E79"/>
                          </a:solidFill>
                          <a:latin typeface="Consolas"/>
                        </a:rPr>
                        <a:t>restart the server after the timeout</a:t>
                      </a:r>
                      <a:endParaRPr sz="20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2000" b="0" i="0">
                          <a:solidFill>
                            <a:srgbClr val="1C252B"/>
                          </a:solidFill>
                          <a:latin typeface="Segoe UI"/>
                        </a:rPr>
                        <a:t>yes</a:t>
                      </a:r>
                      <a:endParaRPr sz="20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2000" b="1" i="0">
                          <a:solidFill>
                            <a:srgbClr val="1C252B"/>
                          </a:solidFill>
                          <a:latin typeface="Segoe UI"/>
                        </a:rPr>
                        <a:t>2</a:t>
                      </a:r>
                      <a:endParaRPr sz="2000"/>
                    </a:p>
                  </a:txBody>
                  <a:tcPr marL="109728" marR="109728" marT="64008" marB="45720" anchor="t">
                    <a:lnL w="0" cmpd="sng">
                      <a:noFill/>
                    </a:lnL>
                    <a:lnR w="0" cmpd="sng">
                      <a:noFill/>
                    </a:lnR>
                    <a:lnT w="9525" cmpd="sng">
                      <a:noFill/>
                    </a:lnT>
                    <a:lnB w="9525" cmpd="sng">
                      <a:noFill/>
                    </a:lnB>
                    <a:solidFill>
                      <a:srgbClr val="FFFFFF"/>
                    </a:solidFill>
                  </a:tcPr>
                </a:tc>
              </a:tr>
              <a:tr h="451103">
                <a:tc>
                  <a:txBody>
                    <a:bodyPr wrap="square"/>
                    <a:lstStyle/>
                    <a:p>
                      <a:pPr algn="l"/>
                      <a:r>
                        <a:rPr sz="1900" b="0" i="0">
                          <a:solidFill>
                            <a:srgbClr val="1F4E79"/>
                          </a:solidFill>
                          <a:latin typeface="Consolas"/>
                        </a:rPr>
                        <a:t>fix the login error on the gateway</a:t>
                      </a:r>
                      <a:endParaRPr sz="20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2000" b="0" i="0">
                          <a:solidFill>
                            <a:srgbClr val="1C252B"/>
                          </a:solidFill>
                          <a:latin typeface="Segoe UI"/>
                        </a:rPr>
                        <a:t>yes</a:t>
                      </a:r>
                      <a:endParaRPr sz="20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2000" b="1" i="0">
                          <a:solidFill>
                            <a:srgbClr val="1C252B"/>
                          </a:solidFill>
                          <a:latin typeface="Segoe UI"/>
                        </a:rPr>
                        <a:t>2</a:t>
                      </a:r>
                      <a:endParaRPr sz="2000"/>
                    </a:p>
                  </a:txBody>
                  <a:tcPr marL="109728" marR="109728" marT="64008" marB="45720" anchor="t">
                    <a:lnL w="0" cmpd="sng">
                      <a:noFill/>
                    </a:lnL>
                    <a:lnR w="0" cmpd="sng">
                      <a:noFill/>
                    </a:lnR>
                    <a:lnT w="9525" cmpd="sng">
                      <a:noFill/>
                    </a:lnT>
                    <a:lnB w="9525" cmpd="sng">
                      <a:noFill/>
                    </a:lnB>
                    <a:solidFill>
                      <a:srgbClr val="F2F8FC"/>
                    </a:solidFill>
                  </a:tcPr>
                </a:tc>
              </a:tr>
              <a:tr h="451103">
                <a:tc>
                  <a:txBody>
                    <a:bodyPr wrap="square"/>
                    <a:lstStyle/>
                    <a:p>
                      <a:pPr algn="l"/>
                      <a:r>
                        <a:rPr sz="1900" b="0" i="0">
                          <a:solidFill>
                            <a:srgbClr val="1F4E79"/>
                          </a:solidFill>
                          <a:latin typeface="Consolas"/>
                        </a:rPr>
                        <a:t>restart the gateway after the payments error</a:t>
                      </a:r>
                      <a:endParaRPr sz="20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2000" b="0" i="0">
                          <a:solidFill>
                            <a:srgbClr val="1C252B"/>
                          </a:solidFill>
                          <a:latin typeface="Segoe UI"/>
                        </a:rPr>
                        <a:t>yes</a:t>
                      </a:r>
                      <a:endParaRPr sz="20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2000" b="1" i="0">
                          <a:solidFill>
                            <a:srgbClr val="1C252B"/>
                          </a:solidFill>
                          <a:latin typeface="Segoe UI"/>
                        </a:rPr>
                        <a:t>2</a:t>
                      </a:r>
                      <a:endParaRPr sz="2000"/>
                    </a:p>
                  </a:txBody>
                  <a:tcPr marL="109728" marR="109728" marT="64008" marB="45720" anchor="t">
                    <a:lnL w="0" cmpd="sng">
                      <a:noFill/>
                    </a:lnL>
                    <a:lnR w="0" cmpd="sng">
                      <a:noFill/>
                    </a:lnR>
                    <a:lnT w="9525" cmpd="sng">
                      <a:noFill/>
                    </a:lnT>
                    <a:lnB w="9525" cmpd="sng">
                      <a:noFill/>
                    </a:lnB>
                    <a:solidFill>
                      <a:srgbClr val="FFFFFF"/>
                    </a:solidFill>
                  </a:tcPr>
                </a:tc>
              </a:tr>
              <a:tr h="451103">
                <a:tc>
                  <a:txBody>
                    <a:bodyPr wrap="square"/>
                    <a:lstStyle/>
                    <a:p>
                      <a:pPr algn="l"/>
                      <a:r>
                        <a:rPr sz="1900" b="0" i="0">
                          <a:solidFill>
                            <a:srgbClr val="1F4E79"/>
                          </a:solidFill>
                          <a:latin typeface="Consolas"/>
                        </a:rPr>
                        <a:t>the the server restart</a:t>
                      </a:r>
                      <a:endParaRPr sz="20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r>
                        <a:rPr sz="2000" b="0" i="0">
                          <a:solidFill>
                            <a:srgbClr val="1C252B"/>
                          </a:solidFill>
                          <a:latin typeface="Segoe UI"/>
                        </a:rPr>
                        <a:t>no</a:t>
                      </a:r>
                      <a:endParaRPr sz="20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r>
                        <a:rPr sz="2000" b="0" i="0">
                          <a:solidFill>
                            <a:srgbClr val="1C252B"/>
                          </a:solidFill>
                          <a:latin typeface="Segoe UI"/>
                        </a:rPr>
                        <a:t>0</a:t>
                      </a:r>
                      <a:endParaRPr sz="20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r>
            </a:tbl>
          </a:graphicData>
        </a:graphic>
      </p:graphicFrame>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3047923"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Prepositional-phrase attachment ambiguity</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705B06"/>
                </a:solidFill>
                <a:latin typeface="Segoe UI"/>
              </a:rPr>
              <a:t>FIGURE 18.2</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18  ·  Natural Language Processing</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§18.5  ·  Handout p. 189     </a:t>
            </a:r>
            <a:fld id="{57467B7D-2C7D-4C9D-BEBF-52C3ADFD4F4A}" type="slidenum">
              <a:rPr lang="en-GB" sz="1000">
                <a:solidFill>
                  <a:srgbClr val="8795A1"/>
                </a:solidFill>
                <a:latin typeface="Segoe UI"/>
              </a:rPr>
              <a:t>14</a:t>
            </a:fld>
          </a:p>
        </p:txBody>
      </p:sp>
      <p:pic>
        <p:nvPicPr>
          <p:cNvPr id="6" name="!!figure" descr="Figure 18.2. Prepositional-phrase attachment ambiguity. The words and their order are identical; only the structure differs, and the structure is the meaning."/>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33719" y="1737360"/>
            <a:ext cx="9724256" cy="4009948"/>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930188"/>
            <a:ext cx="54864" cy="306019"/>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911900"/>
            <a:ext cx="10600639" cy="48889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The words and their order are identical; only the structure differs, and the structure is the meaning.</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3282379"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Pattern Substitution: Eliza</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D4CEB4"/>
                </a:solidFill>
                <a:latin typeface="Segoe UI"/>
              </a:rPr>
              <a:t>SECTION 6 OF 7</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18.6</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18.1   Ticket Subject Lines</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18.2   The Symbolic Pipeline</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18.3   Context-Free Grammars</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18.4   Parsing with CYK</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18.5   Ambiguity Is the Point</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705B06"/>
                </a:solidFill>
                <a:latin typeface="Segoe UI"/>
              </a:rPr>
              <a:t>18.6   Pattern Substitution: Eliza</a:t>
            </a:r>
          </a:p>
        </p:txBody>
      </p:sp>
      <p:sp>
        <p:nvSpPr>
          <p:cNvPr id="12" name="!!dl6"/>
          <p:cNvSpPr txBox="1"/>
          <p:nvPr/>
        </p:nvSpPr>
        <p:spPr>
          <a:xfrm>
            <a:off x="4846320" y="580643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18.7   N-Grams and Their Limit</a:t>
            </a:r>
          </a:p>
        </p:txBody>
      </p:sp>
      <p:sp>
        <p:nvSpPr>
          <p:cNvPr id="13"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18</a:t>
            </a:r>
          </a:p>
        </p:txBody>
      </p:sp>
      <p:sp>
        <p:nvSpPr>
          <p:cNvPr id="14"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§18.6     </a:t>
            </a:r>
            <a:fld id="{F06413DB-8F46-4A63-A60C-FFD2D4F675AA}" type="slidenum">
              <a:rPr lang="en-GB" sz="1000">
                <a:solidFill>
                  <a:srgbClr val="8795A1"/>
                </a:solidFill>
                <a:latin typeface="Segoe UI"/>
              </a:rPr>
              <a:t>15</a:t>
            </a:fld>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3516835"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A service-desk Eliza</a:t>
            </a:r>
          </a:p>
        </p:txBody>
      </p:sp>
      <p:pic>
        <p:nvPicPr>
          <p:cNvPr id="3" name="!!kicker-icon" descr="code-27AE6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7256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7AE60"/>
                </a:solidFill>
                <a:latin typeface="Segoe UI"/>
              </a:rPr>
              <a:t>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18  ·  Natural Language Processing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§18.6  ·  Handout p. 189     </a:t>
            </a:r>
            <a:fld id="{EE487B80-2F3D-4ECF-86BB-12AA4279C16B}" type="slidenum">
              <a:rPr lang="en-GB" sz="1000">
                <a:solidFill>
                  <a:srgbClr val="8795A1"/>
                </a:solidFill>
                <a:latin typeface="Segoe UI"/>
              </a:rPr>
              <a:t>16</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401311"/>
          </a:xfrm>
          <a:prstGeom prst="roundRect">
            <a:avLst>
              <a:gd name="adj" fmla="val 2077"/>
            </a:avLst>
          </a:prstGeom>
          <a:solidFill>
            <a:srgbClr val="EAF7EF"/>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401311"/>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graphicFrame>
        <p:nvGraphicFramePr>
          <p:cNvPr id="9" name="body-0"/>
          <p:cNvGraphicFramePr>
            <a:graphicFrameLocks noGrp="1"/>
          </p:cNvGraphicFramePr>
          <p:nvPr/>
        </p:nvGraphicFramePr>
        <p:xfrm>
          <a:off x="1060704" y="2048255"/>
          <a:ext cx="10161727" cy="3779519"/>
        </p:xfrm>
        <a:graphic>
          <a:graphicData uri="http://schemas.openxmlformats.org/drawingml/2006/table">
            <a:tbl>
              <a:tblPr firstRow="0" bandRow="0" firstCol="0" lastRow="0" lastCol="0" bandCol="0">
                <a:tableStyleId>{2D5ABB26-0587-4C30-8999-92F81FD0307C}</a:tableStyleId>
              </a:tblPr>
              <a:tblGrid>
                <a:gridCol w="4531581"/>
                <a:gridCol w="5630146"/>
              </a:tblGrid>
              <a:tr h="451103">
                <a:tc>
                  <a:txBody>
                    <a:bodyPr wrap="square"/>
                    <a:lstStyle/>
                    <a:p>
                      <a:pPr algn="l"/>
                      <a:r>
                        <a:rPr sz="2000" b="1" i="0">
                          <a:solidFill>
                            <a:srgbClr val="1A5276"/>
                          </a:solidFill>
                          <a:latin typeface="Segoe UI"/>
                        </a:rPr>
                        <a:t>User says</a:t>
                      </a:r>
                      <a:endParaRPr sz="20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2000" b="1" i="0">
                          <a:solidFill>
                            <a:srgbClr val="1A5276"/>
                          </a:solidFill>
                          <a:latin typeface="Segoe UI"/>
                        </a:rPr>
                        <a:t>Rule that matched, and the reply</a:t>
                      </a:r>
                      <a:endParaRPr sz="20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r>
              <a:tr h="1060704">
                <a:tc>
                  <a:txBody>
                    <a:bodyPr wrap="square"/>
                    <a:lstStyle/>
                    <a:p>
                      <a:pPr algn="l"/>
                      <a:r>
                        <a:rPr sz="1900" b="0" i="0">
                          <a:solidFill>
                            <a:srgbClr val="1F4E79"/>
                          </a:solidFill>
                          <a:latin typeface="Consolas"/>
                        </a:rPr>
                        <a:t>I am worried about the release</a:t>
                      </a:r>
                      <a:endParaRPr sz="20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900" b="0" i="0">
                          <a:solidFill>
                            <a:srgbClr val="1F4E79"/>
                          </a:solidFill>
                          <a:latin typeface="Consolas"/>
                        </a:rPr>
                        <a:t>I am *</a:t>
                      </a:r>
                      <a:r>
                        <a:rPr sz="2000" b="0" i="0">
                          <a:solidFill>
                            <a:srgbClr val="1C252B"/>
                          </a:solidFill>
                          <a:latin typeface="Segoe UI"/>
                        </a:rPr>
                        <a:t> </a:t>
                      </a:r>
                      <a:r>
                        <a:rPr sz="2000" b="0" i="0">
                          <a:solidFill>
                            <a:srgbClr val="1C252B"/>
                          </a:solidFill>
                          <a:latin typeface="Cambria"/>
                        </a:rPr>
                        <a:t>→</a:t>
                      </a:r>
                      <a:r>
                        <a:rPr sz="2000" b="0" i="0">
                          <a:solidFill>
                            <a:srgbClr val="1C252B"/>
                          </a:solidFill>
                          <a:latin typeface="Segoe UI"/>
                        </a:rPr>
                        <a:t> </a:t>
                      </a:r>
                      <a:r>
                        <a:rPr sz="1900" b="0" i="0">
                          <a:solidFill>
                            <a:srgbClr val="1F4E79"/>
                          </a:solidFill>
                          <a:latin typeface="Consolas"/>
                        </a:rPr>
                        <a:t>How long have you been *?</a:t>
                      </a:r>
                      <a:r>
                        <a:rPr sz="2000" b="0" i="0">
                          <a:solidFill>
                            <a:srgbClr val="1C252B"/>
                          </a:solidFill>
                          <a:latin typeface="Segoe UI"/>
                        </a:rPr>
                        <a:t> “How long have you been worried about the release?”</a:t>
                      </a:r>
                      <a:endParaRPr sz="2000"/>
                    </a:p>
                  </a:txBody>
                  <a:tcPr marL="109728" marR="109728" marT="64008" marB="45720" anchor="t">
                    <a:lnL w="0" cmpd="sng">
                      <a:noFill/>
                    </a:lnL>
                    <a:lnR w="0" cmpd="sng">
                      <a:noFill/>
                    </a:lnR>
                    <a:lnT w="9525" cmpd="sng">
                      <a:noFill/>
                    </a:lnT>
                    <a:lnB w="9525" cmpd="sng">
                      <a:noFill/>
                    </a:lnB>
                    <a:solidFill>
                      <a:srgbClr val="FFFFFF"/>
                    </a:solidFill>
                  </a:tcPr>
                </a:tc>
              </a:tr>
              <a:tr h="755904">
                <a:tc>
                  <a:txBody>
                    <a:bodyPr wrap="square"/>
                    <a:lstStyle/>
                    <a:p>
                      <a:pPr algn="l"/>
                      <a:r>
                        <a:rPr sz="1900" b="0" i="0">
                          <a:solidFill>
                            <a:srgbClr val="1F4E79"/>
                          </a:solidFill>
                          <a:latin typeface="Consolas"/>
                        </a:rPr>
                        <a:t>my deploy keeps failing</a:t>
                      </a:r>
                      <a:endParaRPr sz="20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900" b="0" i="0">
                          <a:solidFill>
                            <a:srgbClr val="1F4E79"/>
                          </a:solidFill>
                          <a:latin typeface="Consolas"/>
                        </a:rPr>
                        <a:t>my * keeps *</a:t>
                      </a:r>
                      <a:r>
                        <a:rPr sz="2000" b="0" i="0">
                          <a:solidFill>
                            <a:srgbClr val="1C252B"/>
                          </a:solidFill>
                          <a:latin typeface="Segoe UI"/>
                        </a:rPr>
                        <a:t> </a:t>
                      </a:r>
                      <a:r>
                        <a:rPr sz="2000" b="0" i="0">
                          <a:solidFill>
                            <a:srgbClr val="1C252B"/>
                          </a:solidFill>
                          <a:latin typeface="Cambria"/>
                        </a:rPr>
                        <a:t>→</a:t>
                      </a:r>
                      <a:r>
                        <a:rPr sz="2000" b="0" i="0">
                          <a:solidFill>
                            <a:srgbClr val="1C252B"/>
                          </a:solidFill>
                          <a:latin typeface="Segoe UI"/>
                        </a:rPr>
                        <a:t> </a:t>
                      </a:r>
                      <a:r>
                        <a:rPr sz="1900" b="0" i="0">
                          <a:solidFill>
                            <a:srgbClr val="1F4E79"/>
                          </a:solidFill>
                          <a:latin typeface="Consolas"/>
                        </a:rPr>
                        <a:t>Tell me more about your *.</a:t>
                      </a:r>
                      <a:r>
                        <a:rPr sz="2000" b="0" i="0">
                          <a:solidFill>
                            <a:srgbClr val="1C252B"/>
                          </a:solidFill>
                          <a:latin typeface="Segoe UI"/>
                        </a:rPr>
                        <a:t> “Tell me more about your deploy.”</a:t>
                      </a:r>
                      <a:endParaRPr sz="2000"/>
                    </a:p>
                  </a:txBody>
                  <a:tcPr marL="109728" marR="109728" marT="64008" marB="45720" anchor="t">
                    <a:lnL w="0" cmpd="sng">
                      <a:noFill/>
                    </a:lnL>
                    <a:lnR w="0" cmpd="sng">
                      <a:noFill/>
                    </a:lnR>
                    <a:lnT w="9525" cmpd="sng">
                      <a:noFill/>
                    </a:lnT>
                    <a:lnB w="9525" cmpd="sng">
                      <a:noFill/>
                    </a:lnB>
                    <a:solidFill>
                      <a:srgbClr val="F2F8FC"/>
                    </a:solidFill>
                  </a:tcPr>
                </a:tc>
              </a:tr>
              <a:tr h="755904">
                <a:tc>
                  <a:txBody>
                    <a:bodyPr wrap="square"/>
                    <a:lstStyle/>
                    <a:p>
                      <a:pPr algn="l"/>
                      <a:r>
                        <a:rPr sz="1900" b="0" i="0">
                          <a:solidFill>
                            <a:srgbClr val="1F4E79"/>
                          </a:solidFill>
                          <a:latin typeface="Consolas"/>
                        </a:rPr>
                        <a:t>because the config is wrong</a:t>
                      </a:r>
                      <a:endParaRPr sz="20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900" b="0" i="0">
                          <a:solidFill>
                            <a:srgbClr val="1F4E79"/>
                          </a:solidFill>
                          <a:latin typeface="Consolas"/>
                        </a:rPr>
                        <a:t>because *</a:t>
                      </a:r>
                      <a:r>
                        <a:rPr sz="2000" b="0" i="0">
                          <a:solidFill>
                            <a:srgbClr val="1C252B"/>
                          </a:solidFill>
                          <a:latin typeface="Segoe UI"/>
                        </a:rPr>
                        <a:t> </a:t>
                      </a:r>
                      <a:r>
                        <a:rPr sz="2000" b="0" i="0">
                          <a:solidFill>
                            <a:srgbClr val="1C252B"/>
                          </a:solidFill>
                          <a:latin typeface="Cambria"/>
                        </a:rPr>
                        <a:t>→</a:t>
                      </a:r>
                      <a:r>
                        <a:rPr sz="2000" b="0" i="0">
                          <a:solidFill>
                            <a:srgbClr val="1C252B"/>
                          </a:solidFill>
                          <a:latin typeface="Segoe UI"/>
                        </a:rPr>
                        <a:t> </a:t>
                      </a:r>
                      <a:r>
                        <a:rPr sz="1900" b="0" i="0">
                          <a:solidFill>
                            <a:srgbClr val="1F4E79"/>
                          </a:solidFill>
                          <a:latin typeface="Consolas"/>
                        </a:rPr>
                        <a:t>Is that the real reason?</a:t>
                      </a:r>
                      <a:r>
                        <a:rPr sz="2000" b="0" i="0">
                          <a:solidFill>
                            <a:srgbClr val="1C252B"/>
                          </a:solidFill>
                          <a:latin typeface="Segoe UI"/>
                        </a:rPr>
                        <a:t> “Is that the real reason?”</a:t>
                      </a:r>
                      <a:endParaRPr sz="2000"/>
                    </a:p>
                  </a:txBody>
                  <a:tcPr marL="109728" marR="109728" marT="64008" marB="45720" anchor="t">
                    <a:lnL w="0" cmpd="sng">
                      <a:noFill/>
                    </a:lnL>
                    <a:lnR w="0" cmpd="sng">
                      <a:noFill/>
                    </a:lnR>
                    <a:lnT w="9525" cmpd="sng">
                      <a:noFill/>
                    </a:lnT>
                    <a:lnB w="9525" cmpd="sng">
                      <a:noFill/>
                    </a:lnB>
                    <a:solidFill>
                      <a:srgbClr val="FFFFFF"/>
                    </a:solidFill>
                  </a:tcPr>
                </a:tc>
              </a:tr>
              <a:tr h="755904">
                <a:tc>
                  <a:txBody>
                    <a:bodyPr wrap="square"/>
                    <a:lstStyle/>
                    <a:p>
                      <a:pPr algn="l"/>
                      <a:r>
                        <a:rPr sz="1900" b="0" i="0">
                          <a:solidFill>
                            <a:srgbClr val="1F4E79"/>
                          </a:solidFill>
                          <a:latin typeface="Consolas"/>
                        </a:rPr>
                        <a:t>no idea what is happening</a:t>
                      </a:r>
                      <a:endParaRPr sz="20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r>
                        <a:rPr sz="2000" b="0" i="0">
                          <a:solidFill>
                            <a:srgbClr val="1C252B"/>
                          </a:solidFill>
                          <a:latin typeface="Segoe UI"/>
                        </a:rPr>
                        <a:t>(no pattern) </a:t>
                      </a:r>
                      <a:r>
                        <a:rPr sz="2000" b="0" i="0">
                          <a:solidFill>
                            <a:srgbClr val="1C252B"/>
                          </a:solidFill>
                          <a:latin typeface="Cambria"/>
                        </a:rPr>
                        <a:t>→</a:t>
                      </a:r>
                      <a:r>
                        <a:rPr sz="2000" b="0" i="0">
                          <a:solidFill>
                            <a:srgbClr val="1C252B"/>
                          </a:solidFill>
                          <a:latin typeface="Segoe UI"/>
                        </a:rPr>
                        <a:t> fallback “Can you tell me more about that?”</a:t>
                      </a:r>
                      <a:endParaRPr sz="20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r>
            </a:tbl>
          </a:graphicData>
        </a:graphic>
      </p:graphicFrame>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3751290"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Eliza effect</a:t>
            </a:r>
          </a:p>
        </p:txBody>
      </p:sp>
      <p:pic>
        <p:nvPicPr>
          <p:cNvPr id="3" name="!!kicker-icon" descr="exclamation-triang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45688"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WATCH OUT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18  ·  Natural Language Processing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§18.6  ·  Handout p. 189     </a:t>
            </a:r>
            <a:fld id="{83BD8A63-13CF-41E4-B690-820AAA241B4B}" type="slidenum">
              <a:rPr lang="en-GB" sz="1000">
                <a:solidFill>
                  <a:srgbClr val="8795A1"/>
                </a:solidFill>
                <a:latin typeface="Segoe UI"/>
              </a:rPr>
              <a:t>17</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500930"/>
          </a:xfrm>
          <a:prstGeom prst="roundRect">
            <a:avLst>
              <a:gd name="adj" fmla="val 2031"/>
            </a:avLst>
          </a:prstGeom>
          <a:solidFill>
            <a:srgbClr val="FDED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500930"/>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250289"/>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Weizenbaum’s own account is that people who knew exactly how the program worked — his secretary among them — nonetheless asked to be left alone with it, and disclosed things they would not have told a colleague. He found this so disturbing that he spent much of the rest of his career arguing against the uses being proposed for such systems.</a:t>
            </a:r>
          </a:p>
        </p:txBody>
      </p:sp>
      <p:sp>
        <p:nvSpPr>
          <p:cNvPr id="10" name="body-1"/>
          <p:cNvSpPr txBox="1"/>
          <p:nvPr/>
        </p:nvSpPr>
        <p:spPr>
          <a:xfrm>
            <a:off x="1060704" y="3385540"/>
            <a:ext cx="10161727" cy="949147"/>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The lesson named after the episode — the </a:t>
            </a:r>
            <a:r>
              <a:rPr sz="1900" b="1" i="0">
                <a:solidFill>
                  <a:srgbClr val="1A5276"/>
                </a:solidFill>
                <a:latin typeface="Segoe UI"/>
              </a:rPr>
              <a:t>Eliza effect</a:t>
            </a:r>
            <a:r>
              <a:rPr sz="1900" b="0" i="0">
                <a:solidFill>
                  <a:srgbClr val="1C252B"/>
                </a:solidFill>
                <a:latin typeface="Segoe UI"/>
              </a:rPr>
              <a:t> — is that </a:t>
            </a:r>
            <a:r>
              <a:rPr sz="1900" b="0" i="1">
                <a:solidFill>
                  <a:srgbClr val="1C252B"/>
                </a:solidFill>
                <a:latin typeface="Segoe UI"/>
              </a:rPr>
              <a:t>people attribute understanding to any system that produces fluent, contextually apt responses</a:t>
            </a:r>
            <a:r>
              <a:rPr sz="1900" b="0" i="0">
                <a:solidFill>
                  <a:srgbClr val="1C252B"/>
                </a:solidFill>
                <a:latin typeface="Segoe UI"/>
              </a:rPr>
              <a:t>, and that the attribution is nearly impossible to suppress even with full knowledge of the mechanism.</a:t>
            </a:r>
          </a:p>
        </p:txBody>
      </p:sp>
      <p:sp>
        <p:nvSpPr>
          <p:cNvPr id="11" name="body-2"/>
          <p:cNvSpPr txBox="1"/>
          <p:nvPr/>
        </p:nvSpPr>
        <p:spPr>
          <a:xfrm>
            <a:off x="1060704" y="4421682"/>
            <a:ext cx="10161727" cy="155143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That is worth holding onto when you meet Chapter 20. The question is not whether a system’s output feels like understanding; Eliza’s did, in two hundred lines, in 1966. The question is what the system </a:t>
            </a:r>
            <a:r>
              <a:rPr sz="1900" b="0" i="1">
                <a:solidFill>
                  <a:srgbClr val="1C252B"/>
                </a:solidFill>
                <a:latin typeface="Segoe UI"/>
              </a:rPr>
              <a:t>represents</a:t>
            </a:r>
            <a:r>
              <a:rPr sz="1900" b="0" i="0">
                <a:solidFill>
                  <a:srgbClr val="1C252B"/>
                </a:solidFill>
                <a:latin typeface="Segoe UI"/>
              </a:rPr>
              <a:t> and what it can be held to — which is what Chapter 1’s five-point checklist asks, and why the checklist is the right instrument rather than your impression of the transcript.</a:t>
            </a:r>
          </a:p>
        </p:txBody>
      </p:sp>
      <p:sp>
        <p:nvSpPr>
          <p:cNvPr id="1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pfill">
            <a:extLst>
              <a:ext uri="{C183D7F6-B498-43B3-948B-1728B52AA6E4}">
                <adec:decorative xmlns:adec="http://schemas.microsoft.com/office/drawing/2017/decorative" val="1"/>
              </a:ext>
            </a:extLst>
          </p:cNvPr>
          <p:cNvSpPr/>
          <p:nvPr/>
        </p:nvSpPr>
        <p:spPr>
          <a:xfrm>
            <a:off x="0" y="0"/>
            <a:ext cx="3985746"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N-Grams and Their Limit</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BRIEF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18  ·  Natural Language Processing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§18.7  ·  Handout p. 190     </a:t>
            </a:r>
            <a:fld id="{0FBE3D45-C207-4D76-82DD-4DA12BBC9D93}" type="slidenum">
              <a:rPr lang="en-GB" sz="1000">
                <a:solidFill>
                  <a:srgbClr val="8795A1"/>
                </a:solidFill>
                <a:latin typeface="Segoe UI"/>
              </a:rPr>
              <a:t>18</a:t>
            </a:fld>
          </a:p>
        </p:txBody>
      </p:sp>
      <p:sp>
        <p:nvSpPr>
          <p:cNvPr id="7" name="!!card">
            <a:extLst>
              <a:ext uri="{C183D7F6-B498-43B3-948B-1728B52AA6E4}">
                <adec:decorative xmlns:adec="http://schemas.microsoft.com/office/drawing/2017/decorative" val="1"/>
              </a:ext>
            </a:extLst>
          </p:cNvPr>
          <p:cNvSpPr/>
          <p:nvPr/>
        </p:nvSpPr>
        <p:spPr>
          <a:xfrm>
            <a:off x="658368" y="1737360"/>
            <a:ext cx="10874959" cy="1904354"/>
          </a:xfrm>
          <a:prstGeom prst="roundRect">
            <a:avLst>
              <a:gd name="adj" fmla="val 4801"/>
            </a:avLst>
          </a:prstGeom>
          <a:solidFill>
            <a:srgbClr val="F2F6F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190435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774801"/>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The alternative to grammar is counting. An </a:t>
            </a:r>
            <a:r>
              <a:rPr sz="2300" b="1" i="0">
                <a:solidFill>
                  <a:srgbClr val="1A5276"/>
                </a:solidFill>
                <a:latin typeface="Segoe UI"/>
              </a:rPr>
              <a:t>n-gram</a:t>
            </a:r>
            <a:r>
              <a:rPr sz="2300" b="0" i="0">
                <a:solidFill>
                  <a:srgbClr val="1C252B"/>
                </a:solidFill>
                <a:latin typeface="Segoe UI"/>
              </a:rPr>
              <a:t> model estimates the probability of a word from the </a:t>
            </a:r>
            <a:r>
              <a:rPr sz="2300" b="0" i="1">
                <a:solidFill>
                  <a:srgbClr val="1C252B"/>
                </a:solidFill>
                <a:latin typeface="Cambria"/>
              </a:rPr>
              <a:t>n</a:t>
            </a:r>
            <a:r>
              <a:rPr sz="2300" b="0" i="0">
                <a:solidFill>
                  <a:srgbClr val="1C252B"/>
                </a:solidFill>
                <a:latin typeface="Cambria"/>
              </a:rPr>
              <a:t>−1</a:t>
            </a:r>
            <a:r>
              <a:rPr sz="2300" b="0" i="0">
                <a:solidFill>
                  <a:srgbClr val="1C252B"/>
                </a:solidFill>
                <a:latin typeface="Segoe UI"/>
              </a:rPr>
              <a:t> words before it:</a:t>
            </a:r>
          </a:p>
        </p:txBody>
      </p:sp>
      <p:pic>
        <p:nvPicPr>
          <p:cNvPr id="10" name="body-1" descr="P(w_{i} \mid w_{1} \ldots w_{i-1}) \;\approx\; P(w_{i} \mid w_{i-n+1} \ldots w_{i-1})"/>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0704" y="2937992"/>
            <a:ext cx="10161727" cy="392826"/>
          </a:xfrm>
          <a:prstGeom prst="rect">
            <a:avLst/>
          </a:prstGeom>
        </p:spPr>
      </p:pic>
      <p:sp>
        <p:nvSpPr>
          <p:cNvPr id="1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fill">
            <a:extLst>
              <a:ext uri="{C183D7F6-B498-43B3-948B-1728B52AA6E4}">
                <adec:decorative xmlns:adec="http://schemas.microsoft.com/office/drawing/2017/decorative" val="1"/>
              </a:ext>
            </a:extLst>
          </p:cNvPr>
          <p:cNvSpPr/>
          <p:nvPr/>
        </p:nvSpPr>
        <p:spPr>
          <a:xfrm>
            <a:off x="0" y="0"/>
            <a:ext cx="4220202"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Filling the CYK chart, by hand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18  ·  Natural Language Processing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§18.7  ·  Handout p. 190     </a:t>
            </a:r>
            <a:fld id="{157EEFD8-32D8-4E2A-B5E7-853E070A8ED6}" type="slidenum">
              <a:rPr lang="en-GB" sz="1000">
                <a:solidFill>
                  <a:srgbClr val="8795A1"/>
                </a:solidFill>
                <a:latin typeface="Segoe UI"/>
              </a:rPr>
              <a:t>19</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344289"/>
          </a:xfrm>
          <a:prstGeom prst="roundRect">
            <a:avLst>
              <a:gd name="adj" fmla="val 2104"/>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344289"/>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Parse </a:t>
            </a:r>
            <a:r>
              <a:rPr sz="1800" b="0" i="0">
                <a:solidFill>
                  <a:srgbClr val="1F4E79"/>
                </a:solidFill>
                <a:latin typeface="Consolas"/>
              </a:rPr>
              <a:t>restart the server</a:t>
            </a:r>
            <a:r>
              <a:rPr sz="1900" b="0" i="0">
                <a:solidFill>
                  <a:srgbClr val="1C252B"/>
                </a:solidFill>
                <a:latin typeface="Segoe UI"/>
              </a:rPr>
              <a:t> with the grammar above. Three words, so the chart is a triangle of six cells.</a:t>
            </a:r>
          </a:p>
        </p:txBody>
      </p:sp>
      <p:sp>
        <p:nvSpPr>
          <p:cNvPr id="10" name="body-1"/>
          <p:cNvSpPr txBox="1"/>
          <p:nvPr/>
        </p:nvSpPr>
        <p:spPr>
          <a:xfrm>
            <a:off x="1042416" y="2746679"/>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Row 1 — single words, from the lexicon.</a:t>
            </a:r>
          </a:p>
        </p:txBody>
      </p:sp>
      <p:sp>
        <p:nvSpPr>
          <p:cNvPr id="11" name="body-2"/>
          <p:cNvSpPr txBox="1"/>
          <p:nvPr/>
        </p:nvSpPr>
        <p:spPr>
          <a:xfrm>
            <a:off x="1042416" y="3180537"/>
            <a:ext cx="10234879" cy="1118057"/>
          </a:xfrm>
          <a:prstGeom prst="rect">
            <a:avLst/>
          </a:prstGeom>
          <a:noFill/>
        </p:spPr>
        <p:txBody>
          <a:bodyPr wrap="square" anchor="t" lIns="0" rIns="0" tIns="0" bIns="0">
            <a:noAutofit/>
          </a:bodyPr>
          <a:lstStyle/>
          <a:p>
            <a:pPr algn="l" marL="212450" indent="-212450">
              <a:lnSpc>
                <a:spcPct val="104000"/>
              </a:lnSpc>
              <a:spcBef>
                <a:spcPts val="0"/>
              </a:spcBef>
              <a:spcAft>
                <a:spcPts val="665"/>
              </a:spcAft>
            </a:pPr>
            <a:r>
              <a:rPr sz="1900" b="1">
                <a:solidFill>
                  <a:srgbClr val="7D6608"/>
                </a:solidFill>
                <a:latin typeface="Segoe UI"/>
              </a:rPr>
              <a:t>•	</a:t>
            </a:r>
            <a:r>
              <a:rPr sz="1900" b="0" i="0">
                <a:solidFill>
                  <a:srgbClr val="1C252B"/>
                </a:solidFill>
                <a:latin typeface="Cambria"/>
              </a:rPr>
              <a:t>(0,1)</a:t>
            </a:r>
            <a:r>
              <a:rPr sz="1900" b="0" i="0">
                <a:solidFill>
                  <a:srgbClr val="1C252B"/>
                </a:solidFill>
                <a:latin typeface="Segoe UI"/>
              </a:rPr>
              <a:t> </a:t>
            </a:r>
            <a:r>
              <a:rPr sz="1800" b="0" i="0">
                <a:solidFill>
                  <a:srgbClr val="1F4E79"/>
                </a:solidFill>
                <a:latin typeface="Consolas"/>
              </a:rPr>
              <a:t>restart</a:t>
            </a:r>
            <a:r>
              <a:rPr sz="1900" b="0" i="0">
                <a:solidFill>
                  <a:srgbClr val="1C252B"/>
                </a:solidFill>
                <a:latin typeface="Segoe UI"/>
              </a:rPr>
              <a:t>: </a:t>
            </a:r>
            <a:r>
              <a:rPr sz="1900" b="0" i="0">
                <a:solidFill>
                  <a:srgbClr val="1C252B"/>
                </a:solidFill>
                <a:latin typeface="Cambria"/>
              </a:rPr>
              <a:t>{</a:t>
            </a:r>
            <a:r>
              <a:rPr sz="1900" b="0" i="1">
                <a:solidFill>
                  <a:srgbClr val="1C252B"/>
                </a:solidFill>
                <a:latin typeface="Cambria"/>
              </a:rPr>
              <a:t>V</a:t>
            </a:r>
            <a:r>
              <a:rPr sz="1900" b="0" i="0">
                <a:solidFill>
                  <a:srgbClr val="1C252B"/>
                </a:solidFill>
                <a:latin typeface="Cambria"/>
              </a:rPr>
              <a:t>}</a:t>
            </a:r>
            <a:r>
              <a:rPr sz="1900" b="0" i="0">
                <a:solidFill>
                  <a:srgbClr val="1C252B"/>
                </a:solidFill>
                <a:latin typeface="Segoe UI"/>
              </a:rPr>
              <a:t>.</a:t>
            </a:r>
          </a:p>
          <a:p>
            <a:pPr algn="l" marL="212450" indent="-212450">
              <a:lnSpc>
                <a:spcPct val="104000"/>
              </a:lnSpc>
              <a:spcBef>
                <a:spcPts val="0"/>
              </a:spcBef>
              <a:spcAft>
                <a:spcPts val="665"/>
              </a:spcAft>
            </a:pPr>
            <a:r>
              <a:rPr sz="1900" b="1">
                <a:solidFill>
                  <a:srgbClr val="7D6608"/>
                </a:solidFill>
                <a:latin typeface="Segoe UI"/>
              </a:rPr>
              <a:t>•	</a:t>
            </a:r>
            <a:r>
              <a:rPr sz="1900" b="0" i="0">
                <a:solidFill>
                  <a:srgbClr val="1C252B"/>
                </a:solidFill>
                <a:latin typeface="Cambria"/>
              </a:rPr>
              <a:t>(1,2)</a:t>
            </a:r>
            <a:r>
              <a:rPr sz="1900" b="0" i="0">
                <a:solidFill>
                  <a:srgbClr val="1C252B"/>
                </a:solidFill>
                <a:latin typeface="Segoe UI"/>
              </a:rPr>
              <a:t> </a:t>
            </a:r>
            <a:r>
              <a:rPr sz="1800" b="0" i="0">
                <a:solidFill>
                  <a:srgbClr val="1F4E79"/>
                </a:solidFill>
                <a:latin typeface="Consolas"/>
              </a:rPr>
              <a:t>the</a:t>
            </a:r>
            <a:r>
              <a:rPr sz="1900" b="0" i="0">
                <a:solidFill>
                  <a:srgbClr val="1C252B"/>
                </a:solidFill>
                <a:latin typeface="Segoe UI"/>
              </a:rPr>
              <a:t>: </a:t>
            </a:r>
            <a:r>
              <a:rPr sz="1900" b="0" i="0">
                <a:solidFill>
                  <a:srgbClr val="1C252B"/>
                </a:solidFill>
                <a:latin typeface="Cambria"/>
              </a:rPr>
              <a:t>{</a:t>
            </a:r>
            <a:r>
              <a:rPr sz="1900" b="0" i="1">
                <a:solidFill>
                  <a:srgbClr val="1C252B"/>
                </a:solidFill>
                <a:latin typeface="Cambria"/>
              </a:rPr>
              <a:t>Det</a:t>
            </a:r>
            <a:r>
              <a:rPr sz="1900" b="0" i="0">
                <a:solidFill>
                  <a:srgbClr val="1C252B"/>
                </a:solidFill>
                <a:latin typeface="Cambria"/>
              </a:rPr>
              <a:t>}</a:t>
            </a:r>
            <a:r>
              <a:rPr sz="1900" b="0" i="0">
                <a:solidFill>
                  <a:srgbClr val="1C252B"/>
                </a:solidFill>
                <a:latin typeface="Segoe UI"/>
              </a:rPr>
              <a:t>.</a:t>
            </a:r>
          </a:p>
          <a:p>
            <a:pPr algn="l" marL="212450" indent="-212450">
              <a:lnSpc>
                <a:spcPct val="104000"/>
              </a:lnSpc>
              <a:spcBef>
                <a:spcPts val="0"/>
              </a:spcBef>
              <a:spcAft>
                <a:spcPts val="0"/>
              </a:spcAft>
            </a:pPr>
            <a:r>
              <a:rPr sz="1900" b="1">
                <a:solidFill>
                  <a:srgbClr val="7D6608"/>
                </a:solidFill>
                <a:latin typeface="Segoe UI"/>
              </a:rPr>
              <a:t>•	</a:t>
            </a:r>
            <a:r>
              <a:rPr sz="1900" b="0" i="0">
                <a:solidFill>
                  <a:srgbClr val="1C252B"/>
                </a:solidFill>
                <a:latin typeface="Cambria"/>
              </a:rPr>
              <a:t>(2,3)</a:t>
            </a:r>
            <a:r>
              <a:rPr sz="1900" b="0" i="0">
                <a:solidFill>
                  <a:srgbClr val="1C252B"/>
                </a:solidFill>
                <a:latin typeface="Segoe UI"/>
              </a:rPr>
              <a:t> </a:t>
            </a:r>
            <a:r>
              <a:rPr sz="1800" b="0" i="0">
                <a:solidFill>
                  <a:srgbClr val="1F4E79"/>
                </a:solidFill>
                <a:latin typeface="Consolas"/>
              </a:rPr>
              <a:t>server</a:t>
            </a:r>
            <a:r>
              <a:rPr sz="1900" b="0" i="0">
                <a:solidFill>
                  <a:srgbClr val="1C252B"/>
                </a:solidFill>
                <a:latin typeface="Segoe UI"/>
              </a:rPr>
              <a:t>: </a:t>
            </a:r>
            <a:r>
              <a:rPr sz="1900" b="0" i="0">
                <a:solidFill>
                  <a:srgbClr val="1C252B"/>
                </a:solidFill>
                <a:latin typeface="Cambria"/>
              </a:rPr>
              <a:t>{</a:t>
            </a:r>
            <a:r>
              <a:rPr sz="1900" b="0" i="1">
                <a:solidFill>
                  <a:srgbClr val="1C252B"/>
                </a:solidFill>
                <a:latin typeface="Cambria"/>
              </a:rPr>
              <a:t>N</a:t>
            </a:r>
            <a:r>
              <a:rPr sz="1900" b="0" i="0">
                <a:solidFill>
                  <a:srgbClr val="1C252B"/>
                </a:solidFill>
                <a:latin typeface="Cambria"/>
              </a:rPr>
              <a:t>}</a:t>
            </a:r>
            <a:r>
              <a:rPr sz="1900" b="0" i="0">
                <a:solidFill>
                  <a:srgbClr val="1C252B"/>
                </a:solidFill>
                <a:latin typeface="Segoe UI"/>
              </a:rPr>
              <a:t>.</a:t>
            </a:r>
          </a:p>
        </p:txBody>
      </p:sp>
      <p:sp>
        <p:nvSpPr>
          <p:cNvPr id="12" name="body-3"/>
          <p:cNvSpPr txBox="1"/>
          <p:nvPr/>
        </p:nvSpPr>
        <p:spPr>
          <a:xfrm>
            <a:off x="1042416" y="4385589"/>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Row 2 — spans of two.</a:t>
            </a:r>
          </a:p>
        </p:txBody>
      </p:sp>
      <p:sp>
        <p:nvSpPr>
          <p:cNvPr id="13" name="body-3bar">
            <a:extLst>
              <a:ext uri="{C183D7F6-B498-43B3-948B-1728B52AA6E4}">
                <adec:decorative xmlns:adec="http://schemas.microsoft.com/office/drawing/2017/decorative" val="1"/>
              </a:ext>
            </a:extLst>
          </p:cNvPr>
          <p:cNvSpPr/>
          <p:nvPr/>
        </p:nvSpPr>
        <p:spPr>
          <a:xfrm>
            <a:off x="841248" y="4403877"/>
            <a:ext cx="54864" cy="28285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body-4"/>
          <p:cNvSpPr txBox="1"/>
          <p:nvPr/>
        </p:nvSpPr>
        <p:spPr>
          <a:xfrm>
            <a:off x="1042416" y="4819446"/>
            <a:ext cx="10234879" cy="1033602"/>
          </a:xfrm>
          <a:prstGeom prst="rect">
            <a:avLst/>
          </a:prstGeom>
          <a:noFill/>
        </p:spPr>
        <p:txBody>
          <a:bodyPr wrap="square" anchor="t" lIns="0" rIns="0" tIns="0" bIns="0">
            <a:noAutofit/>
          </a:bodyPr>
          <a:lstStyle/>
          <a:p>
            <a:pPr algn="l" marL="212450" indent="-212450">
              <a:lnSpc>
                <a:spcPct val="104000"/>
              </a:lnSpc>
              <a:spcBef>
                <a:spcPts val="0"/>
              </a:spcBef>
              <a:spcAft>
                <a:spcPts val="665"/>
              </a:spcAft>
            </a:pPr>
            <a:r>
              <a:rPr sz="1900" b="1">
                <a:solidFill>
                  <a:srgbClr val="7D6608"/>
                </a:solidFill>
                <a:latin typeface="Segoe UI"/>
              </a:rPr>
              <a:t>•	</a:t>
            </a:r>
            <a:r>
              <a:rPr sz="1900" b="0" i="0">
                <a:solidFill>
                  <a:srgbClr val="1C252B"/>
                </a:solidFill>
                <a:latin typeface="Cambria"/>
              </a:rPr>
              <a:t>(0,2)</a:t>
            </a:r>
            <a:r>
              <a:rPr sz="1900" b="0" i="0">
                <a:solidFill>
                  <a:srgbClr val="1C252B"/>
                </a:solidFill>
                <a:latin typeface="Segoe UI"/>
              </a:rPr>
              <a:t> covering </a:t>
            </a:r>
            <a:r>
              <a:rPr sz="1800" b="0" i="0">
                <a:solidFill>
                  <a:srgbClr val="1F4E79"/>
                </a:solidFill>
                <a:latin typeface="Consolas"/>
              </a:rPr>
              <a:t>restart the</a:t>
            </a:r>
            <a:r>
              <a:rPr sz="1900" b="0" i="0">
                <a:solidFill>
                  <a:srgbClr val="1C252B"/>
                </a:solidFill>
                <a:latin typeface="Segoe UI"/>
              </a:rPr>
              <a:t>: the only split is </a:t>
            </a:r>
            <a:r>
              <a:rPr sz="1900" b="0" i="1">
                <a:solidFill>
                  <a:srgbClr val="1C252B"/>
                </a:solidFill>
                <a:latin typeface="Cambria"/>
              </a:rPr>
              <a:t>k</a:t>
            </a:r>
            <a:r>
              <a:rPr sz="1900" b="0" i="0">
                <a:solidFill>
                  <a:srgbClr val="1C252B"/>
                </a:solidFill>
                <a:latin typeface="Cambria"/>
              </a:rPr>
              <a:t>=1</a:t>
            </a:r>
            <a:r>
              <a:rPr sz="1900" b="0" i="0">
                <a:solidFill>
                  <a:srgbClr val="1C252B"/>
                </a:solidFill>
                <a:latin typeface="Segoe UI"/>
              </a:rPr>
              <a:t>, giving </a:t>
            </a:r>
            <a:r>
              <a:rPr sz="1900" b="0" i="1">
                <a:solidFill>
                  <a:srgbClr val="1C252B"/>
                </a:solidFill>
                <a:latin typeface="Cambria"/>
              </a:rPr>
              <a:t>V</a:t>
            </a:r>
            <a:r>
              <a:rPr sz="1900" b="0" i="0">
                <a:solidFill>
                  <a:srgbClr val="1C252B"/>
                </a:solidFill>
                <a:latin typeface="Segoe UI"/>
              </a:rPr>
              <a:t> then </a:t>
            </a:r>
            <a:r>
              <a:rPr sz="1900" b="0" i="1">
                <a:solidFill>
                  <a:srgbClr val="1C252B"/>
                </a:solidFill>
                <a:latin typeface="Cambria"/>
              </a:rPr>
              <a:t>Det</a:t>
            </a:r>
            <a:r>
              <a:rPr sz="1900" b="0" i="0">
                <a:solidFill>
                  <a:srgbClr val="1C252B"/>
                </a:solidFill>
                <a:latin typeface="Segoe UI"/>
              </a:rPr>
              <a:t>. No rule has right side </a:t>
            </a:r>
            <a:r>
              <a:rPr sz="1900" b="0" i="1">
                <a:solidFill>
                  <a:srgbClr val="1C252B"/>
                </a:solidFill>
                <a:latin typeface="Cambria"/>
              </a:rPr>
              <a:t>V</a:t>
            </a:r>
            <a:r>
              <a:rPr sz="1900" b="0" i="0">
                <a:solidFill>
                  <a:srgbClr val="1C252B"/>
                </a:solidFill>
                <a:latin typeface="Cambria"/>
              </a:rPr>
              <a:t> </a:t>
            </a:r>
            <a:r>
              <a:rPr sz="1900" b="0" i="1">
                <a:solidFill>
                  <a:srgbClr val="1C252B"/>
                </a:solidFill>
                <a:latin typeface="Cambria"/>
              </a:rPr>
              <a:t>Det</a:t>
            </a:r>
            <a:r>
              <a:rPr sz="1900" b="0" i="0">
                <a:solidFill>
                  <a:srgbClr val="1C252B"/>
                </a:solidFill>
                <a:latin typeface="Segoe UI"/>
              </a:rPr>
              <a:t>, so the cell is </a:t>
            </a:r>
            <a:r>
              <a:rPr sz="1900" b="1" i="0">
                <a:solidFill>
                  <a:srgbClr val="1C252B"/>
                </a:solidFill>
                <a:latin typeface="Segoe UI"/>
              </a:rPr>
              <a:t>empty</a:t>
            </a:r>
            <a:r>
              <a:rPr sz="1900" b="0" i="0">
                <a:solidFill>
                  <a:srgbClr val="1C252B"/>
                </a:solidFill>
                <a:latin typeface="Segoe UI"/>
              </a:rPr>
              <a:t>.</a:t>
            </a:r>
          </a:p>
          <a:p>
            <a:pPr algn="l" marL="212450" indent="-212450">
              <a:lnSpc>
                <a:spcPct val="104000"/>
              </a:lnSpc>
              <a:spcBef>
                <a:spcPts val="0"/>
              </a:spcBef>
              <a:spcAft>
                <a:spcPts val="0"/>
              </a:spcAft>
            </a:pPr>
            <a:r>
              <a:rPr sz="1900" b="1">
                <a:solidFill>
                  <a:srgbClr val="7D6608"/>
                </a:solidFill>
                <a:latin typeface="Segoe UI"/>
              </a:rPr>
              <a:t>•	</a:t>
            </a:r>
            <a:r>
              <a:rPr sz="1900" b="0" i="0">
                <a:solidFill>
                  <a:srgbClr val="1C252B"/>
                </a:solidFill>
                <a:latin typeface="Cambria"/>
              </a:rPr>
              <a:t>(1,3)</a:t>
            </a:r>
            <a:r>
              <a:rPr sz="1900" b="0" i="0">
                <a:solidFill>
                  <a:srgbClr val="1C252B"/>
                </a:solidFill>
                <a:latin typeface="Segoe UI"/>
              </a:rPr>
              <a:t> covering </a:t>
            </a:r>
            <a:r>
              <a:rPr sz="1800" b="0" i="0">
                <a:solidFill>
                  <a:srgbClr val="1F4E79"/>
                </a:solidFill>
                <a:latin typeface="Consolas"/>
              </a:rPr>
              <a:t>the server</a:t>
            </a:r>
            <a:r>
              <a:rPr sz="1900" b="0" i="0">
                <a:solidFill>
                  <a:srgbClr val="1C252B"/>
                </a:solidFill>
                <a:latin typeface="Segoe UI"/>
              </a:rPr>
              <a:t>: split at </a:t>
            </a:r>
            <a:r>
              <a:rPr sz="1900" b="0" i="1">
                <a:solidFill>
                  <a:srgbClr val="1C252B"/>
                </a:solidFill>
                <a:latin typeface="Cambria"/>
              </a:rPr>
              <a:t>k</a:t>
            </a:r>
            <a:r>
              <a:rPr sz="1900" b="0" i="0">
                <a:solidFill>
                  <a:srgbClr val="1C252B"/>
                </a:solidFill>
                <a:latin typeface="Cambria"/>
              </a:rPr>
              <a:t>=2</a:t>
            </a:r>
            <a:r>
              <a:rPr sz="1900" b="0" i="0">
                <a:solidFill>
                  <a:srgbClr val="1C252B"/>
                </a:solidFill>
                <a:latin typeface="Segoe UI"/>
              </a:rPr>
              <a:t> gives </a:t>
            </a:r>
            <a:r>
              <a:rPr sz="1900" b="0" i="1">
                <a:solidFill>
                  <a:srgbClr val="1C252B"/>
                </a:solidFill>
                <a:latin typeface="Cambria"/>
              </a:rPr>
              <a:t>Det</a:t>
            </a:r>
            <a:r>
              <a:rPr sz="1900" b="0" i="0">
                <a:solidFill>
                  <a:srgbClr val="1C252B"/>
                </a:solidFill>
                <a:latin typeface="Segoe UI"/>
              </a:rPr>
              <a:t> then </a:t>
            </a:r>
            <a:r>
              <a:rPr sz="1900" b="0" i="1">
                <a:solidFill>
                  <a:srgbClr val="1C252B"/>
                </a:solidFill>
                <a:latin typeface="Cambria"/>
              </a:rPr>
              <a:t>N</a:t>
            </a:r>
            <a:r>
              <a:rPr sz="1900" b="0" i="0">
                <a:solidFill>
                  <a:srgbClr val="1C252B"/>
                </a:solidFill>
                <a:latin typeface="Segoe UI"/>
              </a:rPr>
              <a:t>, and </a:t>
            </a:r>
            <a:r>
              <a:rPr sz="1900" b="0" i="1">
                <a:solidFill>
                  <a:srgbClr val="1C252B"/>
                </a:solidFill>
                <a:latin typeface="Cambria"/>
              </a:rPr>
              <a:t>NP</a:t>
            </a:r>
            <a:r>
              <a:rPr sz="1900" b="0" i="0">
                <a:solidFill>
                  <a:srgbClr val="1C252B"/>
                </a:solidFill>
                <a:latin typeface="Cambria"/>
              </a:rPr>
              <a:t> → </a:t>
            </a:r>
            <a:r>
              <a:rPr sz="1900" b="0" i="1">
                <a:solidFill>
                  <a:srgbClr val="1C252B"/>
                </a:solidFill>
                <a:latin typeface="Cambria"/>
              </a:rPr>
              <a:t>Det</a:t>
            </a:r>
            <a:r>
              <a:rPr sz="1900" b="0" i="0">
                <a:solidFill>
                  <a:srgbClr val="1C252B"/>
                </a:solidFill>
                <a:latin typeface="Cambria"/>
              </a:rPr>
              <a:t> </a:t>
            </a:r>
            <a:r>
              <a:rPr sz="1900" b="0" i="1">
                <a:solidFill>
                  <a:srgbClr val="1C252B"/>
                </a:solidFill>
                <a:latin typeface="Cambria"/>
              </a:rPr>
              <a:t>N</a:t>
            </a:r>
            <a:r>
              <a:rPr sz="1900" b="0" i="0">
                <a:solidFill>
                  <a:srgbClr val="1C252B"/>
                </a:solidFill>
                <a:latin typeface="Segoe UI"/>
              </a:rPr>
              <a:t> applies. Cell: </a:t>
            </a:r>
            <a:r>
              <a:rPr sz="1900" b="0" i="0">
                <a:solidFill>
                  <a:srgbClr val="1C252B"/>
                </a:solidFill>
                <a:latin typeface="Cambria"/>
              </a:rPr>
              <a:t>{</a:t>
            </a:r>
            <a:r>
              <a:rPr sz="1900" b="0" i="1">
                <a:solidFill>
                  <a:srgbClr val="1C252B"/>
                </a:solidFill>
                <a:latin typeface="Cambria"/>
              </a:rPr>
              <a:t>NP</a:t>
            </a:r>
            <a:r>
              <a:rPr sz="1900" b="0" i="0">
                <a:solidFill>
                  <a:srgbClr val="1C252B"/>
                </a:solidFill>
                <a:latin typeface="Cambria"/>
              </a:rPr>
              <a:t>}</a:t>
            </a:r>
            <a:r>
              <a:rPr sz="1900" b="0" i="0">
                <a:solidFill>
                  <a:srgbClr val="1C252B"/>
                </a:solidFill>
                <a:latin typeface="Segoe UI"/>
              </a:rPr>
              <a:t>.</a:t>
            </a:r>
          </a:p>
        </p:txBody>
      </p:sp>
      <p:sp>
        <p:nvSpPr>
          <p:cNvPr id="4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pfill">
            <a:extLst>
              <a:ext uri="{C183D7F6-B498-43B3-948B-1728B52AA6E4}">
                <adec:decorative xmlns:adec="http://schemas.microsoft.com/office/drawing/2017/decorative" val="1"/>
              </a:ext>
            </a:extLst>
          </p:cNvPr>
          <p:cNvSpPr/>
          <p:nvPr/>
        </p:nvSpPr>
        <p:spPr>
          <a:xfrm>
            <a:off x="0" y="0"/>
            <a:ext cx="4454657"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1">
                                            <p:txEl>
                                              <p:pRg st="0" end="0"/>
                                            </p:txEl>
                                          </p:spTgt>
                                        </p:tgtEl>
                                        <p:attrNameLst>
                                          <p:attrName>style.visibility</p:attrName>
                                        </p:attrNameLst>
                                      </p:cBhvr>
                                      <p:to>
                                        <p:strVal val="visible"/>
                                      </p:to>
                                    </p:set>
                                    <p:animEffect transition="in" filter="fade">
                                      <p:cBhvr>
                                        <p:cTn id="13" dur="350"/>
                                        <p:tgtEl>
                                          <p:spTgt spid="11">
                                            <p:txEl>
                                              <p:pRg st="0" end="0"/>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1">
                                            <p:txEl>
                                              <p:pRg st="1" end="1"/>
                                            </p:txEl>
                                          </p:spTgt>
                                        </p:tgtEl>
                                        <p:attrNameLst>
                                          <p:attrName>style.visibility</p:attrName>
                                        </p:attrNameLst>
                                      </p:cBhvr>
                                      <p:to>
                                        <p:strVal val="visible"/>
                                      </p:to>
                                    </p:set>
                                    <p:animEffect transition="in" filter="fade">
                                      <p:cBhvr>
                                        <p:cTn id="18" dur="350"/>
                                        <p:tgtEl>
                                          <p:spTgt spid="11">
                                            <p:txEl>
                                              <p:pRg st="1" end="1"/>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1">
                                            <p:txEl>
                                              <p:pRg st="2" end="2"/>
                                            </p:txEl>
                                          </p:spTgt>
                                        </p:tgtEl>
                                        <p:attrNameLst>
                                          <p:attrName>style.visibility</p:attrName>
                                        </p:attrNameLst>
                                      </p:cBhvr>
                                      <p:to>
                                        <p:strVal val="visible"/>
                                      </p:to>
                                    </p:set>
                                    <p:animEffect transition="in" filter="fade">
                                      <p:cBhvr>
                                        <p:cTn id="23" dur="350"/>
                                        <p:tgtEl>
                                          <p:spTgt spid="11">
                                            <p:txEl>
                                              <p:pRg st="2" end="2"/>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wipe(right)">
                                      <p:cBhvr>
                                        <p:cTn id="28" dur="420"/>
                                        <p:tgtEl>
                                          <p:spTgt spid="13"/>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20"/>
                                        <p:tgtEl>
                                          <p:spTgt spid="12"/>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14">
                                            <p:txEl>
                                              <p:pRg st="0" end="0"/>
                                            </p:txEl>
                                          </p:spTgt>
                                        </p:tgtEl>
                                        <p:attrNameLst>
                                          <p:attrName>style.visibility</p:attrName>
                                        </p:attrNameLst>
                                      </p:cBhvr>
                                      <p:to>
                                        <p:strVal val="visible"/>
                                      </p:to>
                                    </p:set>
                                    <p:animEffect transition="in" filter="fade">
                                      <p:cBhvr>
                                        <p:cTn id="36" dur="350"/>
                                        <p:tgtEl>
                                          <p:spTgt spid="14">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4">
                                            <p:txEl>
                                              <p:pRg st="1" end="1"/>
                                            </p:txEl>
                                          </p:spTgt>
                                        </p:tgtEl>
                                        <p:attrNameLst>
                                          <p:attrName>style.visibility</p:attrName>
                                        </p:attrNameLst>
                                      </p:cBhvr>
                                      <p:to>
                                        <p:strVal val="visible"/>
                                      </p:to>
                                    </p:set>
                                    <p:animEffect transition="in" filter="fade">
                                      <p:cBhvr>
                                        <p:cTn id="41" dur="350"/>
                                        <p:tgtEl>
                                          <p:spTgt spid="14">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build="p"/>
      <p:bldP spid="14" grpId="0" build="p"/>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Filling the CYK chart, by hand (continued)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18  ·  Natural Language Processing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§18.7  ·  Handout p. 190     </a:t>
            </a:r>
            <a:fld id="{42E9D781-2D76-4515-9BEC-E7266AA3B78A}" type="slidenum">
              <a:rPr lang="en-GB" sz="1000">
                <a:solidFill>
                  <a:srgbClr val="8795A1"/>
                </a:solidFill>
                <a:latin typeface="Segoe UI"/>
              </a:rPr>
              <a:t>20</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042664"/>
          </a:xfrm>
          <a:prstGeom prst="roundRect">
            <a:avLst>
              <a:gd name="adj" fmla="val 2261"/>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0426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Row 3 — the whole sentence, </a:t>
            </a:r>
            <a:r>
              <a:rPr sz="1900" b="1" i="0">
                <a:solidFill>
                  <a:srgbClr val="1C252B"/>
                </a:solidFill>
                <a:latin typeface="Cambria"/>
              </a:rPr>
              <a:t>(0,3)</a:t>
            </a:r>
            <a:r>
              <a:rPr sz="1900" b="1" i="0">
                <a:solidFill>
                  <a:srgbClr val="1C252B"/>
                </a:solidFill>
                <a:latin typeface="Segoe UI"/>
              </a:rPr>
              <a:t>.</a:t>
            </a:r>
            <a:r>
              <a:rPr sz="1900" b="0" i="0">
                <a:solidFill>
                  <a:srgbClr val="1C252B"/>
                </a:solidFill>
                <a:latin typeface="Segoe UI"/>
              </a:rPr>
              <a:t> Two split points:</a:t>
            </a:r>
          </a:p>
        </p:txBody>
      </p:sp>
      <p:sp>
        <p:nvSpPr>
          <p:cNvPr id="10" name="body-0bar">
            <a:extLst>
              <a:ext uri="{C183D7F6-B498-43B3-948B-1728B52AA6E4}">
                <adec:decorative xmlns:adec="http://schemas.microsoft.com/office/drawing/2017/decorative" val="1"/>
              </a:ext>
            </a:extLst>
          </p:cNvPr>
          <p:cNvSpPr/>
          <p:nvPr/>
        </p:nvSpPr>
        <p:spPr>
          <a:xfrm>
            <a:off x="841248" y="2029967"/>
            <a:ext cx="54864" cy="28285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body-1"/>
          <p:cNvSpPr txBox="1"/>
          <p:nvPr/>
        </p:nvSpPr>
        <p:spPr>
          <a:xfrm>
            <a:off x="1042416" y="2445537"/>
            <a:ext cx="10234879" cy="732459"/>
          </a:xfrm>
          <a:prstGeom prst="rect">
            <a:avLst/>
          </a:prstGeom>
          <a:noFill/>
        </p:spPr>
        <p:txBody>
          <a:bodyPr wrap="square" anchor="t" lIns="0" rIns="0" tIns="0" bIns="0">
            <a:noAutofit/>
          </a:bodyPr>
          <a:lstStyle/>
          <a:p>
            <a:pPr algn="l" marL="212450" indent="-212450">
              <a:lnSpc>
                <a:spcPct val="104000"/>
              </a:lnSpc>
              <a:spcBef>
                <a:spcPts val="0"/>
              </a:spcBef>
              <a:spcAft>
                <a:spcPts val="665"/>
              </a:spcAft>
            </a:pPr>
            <a:r>
              <a:rPr sz="1900" b="1">
                <a:solidFill>
                  <a:srgbClr val="7D6608"/>
                </a:solidFill>
                <a:latin typeface="Segoe UI"/>
              </a:rPr>
              <a:t>•	</a:t>
            </a:r>
            <a:r>
              <a:rPr sz="1900" b="0" i="1">
                <a:solidFill>
                  <a:srgbClr val="1C252B"/>
                </a:solidFill>
                <a:latin typeface="Cambria"/>
              </a:rPr>
              <a:t>k</a:t>
            </a:r>
            <a:r>
              <a:rPr sz="1900" b="0" i="0">
                <a:solidFill>
                  <a:srgbClr val="1C252B"/>
                </a:solidFill>
                <a:latin typeface="Cambria"/>
              </a:rPr>
              <a:t>=1</a:t>
            </a:r>
            <a:r>
              <a:rPr sz="1900" b="0" i="0">
                <a:solidFill>
                  <a:srgbClr val="1C252B"/>
                </a:solidFill>
                <a:latin typeface="Segoe UI"/>
              </a:rPr>
              <a:t>: cell </a:t>
            </a:r>
            <a:r>
              <a:rPr sz="1900" b="0" i="0">
                <a:solidFill>
                  <a:srgbClr val="1C252B"/>
                </a:solidFill>
                <a:latin typeface="Cambria"/>
              </a:rPr>
              <a:t>(0,1) = {</a:t>
            </a:r>
            <a:r>
              <a:rPr sz="1900" b="0" i="1">
                <a:solidFill>
                  <a:srgbClr val="1C252B"/>
                </a:solidFill>
                <a:latin typeface="Cambria"/>
              </a:rPr>
              <a:t>V</a:t>
            </a:r>
            <a:r>
              <a:rPr sz="1900" b="0" i="0">
                <a:solidFill>
                  <a:srgbClr val="1C252B"/>
                </a:solidFill>
                <a:latin typeface="Cambria"/>
              </a:rPr>
              <a:t>}</a:t>
            </a:r>
            <a:r>
              <a:rPr sz="1900" b="0" i="0">
                <a:solidFill>
                  <a:srgbClr val="1C252B"/>
                </a:solidFill>
                <a:latin typeface="Segoe UI"/>
              </a:rPr>
              <a:t> and cell </a:t>
            </a:r>
            <a:r>
              <a:rPr sz="1900" b="0" i="0">
                <a:solidFill>
                  <a:srgbClr val="1C252B"/>
                </a:solidFill>
                <a:latin typeface="Cambria"/>
              </a:rPr>
              <a:t>(1,3) = {</a:t>
            </a:r>
            <a:r>
              <a:rPr sz="1900" b="0" i="1">
                <a:solidFill>
                  <a:srgbClr val="1C252B"/>
                </a:solidFill>
                <a:latin typeface="Cambria"/>
              </a:rPr>
              <a:t>NP</a:t>
            </a:r>
            <a:r>
              <a:rPr sz="1900" b="0" i="0">
                <a:solidFill>
                  <a:srgbClr val="1C252B"/>
                </a:solidFill>
                <a:latin typeface="Cambria"/>
              </a:rPr>
              <a:t>}</a:t>
            </a:r>
            <a:r>
              <a:rPr sz="1900" b="0" i="0">
                <a:solidFill>
                  <a:srgbClr val="1C252B"/>
                </a:solidFill>
                <a:latin typeface="Segoe UI"/>
              </a:rPr>
              <a:t>. The rule </a:t>
            </a:r>
            <a:r>
              <a:rPr sz="1900" b="0" i="1">
                <a:solidFill>
                  <a:srgbClr val="1C252B"/>
                </a:solidFill>
                <a:latin typeface="Cambria"/>
              </a:rPr>
              <a:t>VP</a:t>
            </a:r>
            <a:r>
              <a:rPr sz="1900" b="0" i="0">
                <a:solidFill>
                  <a:srgbClr val="1C252B"/>
                </a:solidFill>
                <a:latin typeface="Cambria"/>
              </a:rPr>
              <a:t> → </a:t>
            </a:r>
            <a:r>
              <a:rPr sz="1900" b="0" i="1">
                <a:solidFill>
                  <a:srgbClr val="1C252B"/>
                </a:solidFill>
                <a:latin typeface="Cambria"/>
              </a:rPr>
              <a:t>V</a:t>
            </a:r>
            <a:r>
              <a:rPr sz="1900" b="0" i="0">
                <a:solidFill>
                  <a:srgbClr val="1C252B"/>
                </a:solidFill>
                <a:latin typeface="Cambria"/>
              </a:rPr>
              <a:t> </a:t>
            </a:r>
            <a:r>
              <a:rPr sz="1900" b="0" i="1">
                <a:solidFill>
                  <a:srgbClr val="1C252B"/>
                </a:solidFill>
                <a:latin typeface="Cambria"/>
              </a:rPr>
              <a:t>NP</a:t>
            </a:r>
            <a:r>
              <a:rPr sz="1900" b="0" i="0">
                <a:solidFill>
                  <a:srgbClr val="1C252B"/>
                </a:solidFill>
                <a:latin typeface="Segoe UI"/>
              </a:rPr>
              <a:t> applies, so </a:t>
            </a:r>
            <a:r>
              <a:rPr sz="1900" b="0" i="1">
                <a:solidFill>
                  <a:srgbClr val="1C252B"/>
                </a:solidFill>
                <a:latin typeface="Cambria"/>
              </a:rPr>
              <a:t>VP</a:t>
            </a:r>
            <a:r>
              <a:rPr sz="1900" b="0" i="0">
                <a:solidFill>
                  <a:srgbClr val="1C252B"/>
                </a:solidFill>
                <a:latin typeface="Segoe UI"/>
              </a:rPr>
              <a:t> is entered.</a:t>
            </a:r>
          </a:p>
          <a:p>
            <a:pPr algn="l" marL="212450" indent="-212450">
              <a:lnSpc>
                <a:spcPct val="104000"/>
              </a:lnSpc>
              <a:spcBef>
                <a:spcPts val="0"/>
              </a:spcBef>
              <a:spcAft>
                <a:spcPts val="0"/>
              </a:spcAft>
            </a:pPr>
            <a:r>
              <a:rPr sz="1900" b="1">
                <a:solidFill>
                  <a:srgbClr val="7D6608"/>
                </a:solidFill>
                <a:latin typeface="Segoe UI"/>
              </a:rPr>
              <a:t>•	</a:t>
            </a:r>
            <a:r>
              <a:rPr sz="1900" b="0" i="1">
                <a:solidFill>
                  <a:srgbClr val="1C252B"/>
                </a:solidFill>
                <a:latin typeface="Cambria"/>
              </a:rPr>
              <a:t>k</a:t>
            </a:r>
            <a:r>
              <a:rPr sz="1900" b="0" i="0">
                <a:solidFill>
                  <a:srgbClr val="1C252B"/>
                </a:solidFill>
                <a:latin typeface="Cambria"/>
              </a:rPr>
              <a:t>=2</a:t>
            </a:r>
            <a:r>
              <a:rPr sz="1900" b="0" i="0">
                <a:solidFill>
                  <a:srgbClr val="1C252B"/>
                </a:solidFill>
                <a:latin typeface="Segoe UI"/>
              </a:rPr>
              <a:t>: cell </a:t>
            </a:r>
            <a:r>
              <a:rPr sz="1900" b="0" i="0">
                <a:solidFill>
                  <a:srgbClr val="1C252B"/>
                </a:solidFill>
                <a:latin typeface="Cambria"/>
              </a:rPr>
              <a:t>(0,2)</a:t>
            </a:r>
            <a:r>
              <a:rPr sz="1900" b="0" i="0">
                <a:solidFill>
                  <a:srgbClr val="1C252B"/>
                </a:solidFill>
                <a:latin typeface="Segoe UI"/>
              </a:rPr>
              <a:t> is empty, so nothing.</a:t>
            </a:r>
          </a:p>
        </p:txBody>
      </p:sp>
      <p:sp>
        <p:nvSpPr>
          <p:cNvPr id="12" name="body-2"/>
          <p:cNvSpPr txBox="1"/>
          <p:nvPr/>
        </p:nvSpPr>
        <p:spPr>
          <a:xfrm>
            <a:off x="1042416" y="3264992"/>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Then the unit rule </a:t>
            </a:r>
            <a:r>
              <a:rPr sz="1900" b="0" i="1">
                <a:solidFill>
                  <a:srgbClr val="1C252B"/>
                </a:solidFill>
                <a:latin typeface="Cambria"/>
              </a:rPr>
              <a:t>S</a:t>
            </a:r>
            <a:r>
              <a:rPr sz="1900" b="0" i="0">
                <a:solidFill>
                  <a:srgbClr val="1C252B"/>
                </a:solidFill>
                <a:latin typeface="Cambria"/>
              </a:rPr>
              <a:t> → </a:t>
            </a:r>
            <a:r>
              <a:rPr sz="1900" b="0" i="1">
                <a:solidFill>
                  <a:srgbClr val="1C252B"/>
                </a:solidFill>
                <a:latin typeface="Cambria"/>
              </a:rPr>
              <a:t>VP</a:t>
            </a:r>
            <a:r>
              <a:rPr sz="1900" b="0" i="0">
                <a:solidFill>
                  <a:srgbClr val="1C252B"/>
                </a:solidFill>
                <a:latin typeface="Segoe UI"/>
              </a:rPr>
              <a:t> adds </a:t>
            </a:r>
            <a:r>
              <a:rPr sz="1900" b="0" i="1">
                <a:solidFill>
                  <a:srgbClr val="1C252B"/>
                </a:solidFill>
                <a:latin typeface="Cambria"/>
              </a:rPr>
              <a:t>S</a:t>
            </a:r>
            <a:r>
              <a:rPr sz="1900" b="0" i="0">
                <a:solidFill>
                  <a:srgbClr val="1C252B"/>
                </a:solidFill>
                <a:latin typeface="Segoe UI"/>
              </a:rPr>
              <a:t>. Cell </a:t>
            </a:r>
            <a:r>
              <a:rPr sz="1900" b="0" i="0">
                <a:solidFill>
                  <a:srgbClr val="1C252B"/>
                </a:solidFill>
                <a:latin typeface="Cambria"/>
              </a:rPr>
              <a:t>(0,3) = {</a:t>
            </a:r>
            <a:r>
              <a:rPr sz="1900" b="0" i="1">
                <a:solidFill>
                  <a:srgbClr val="1C252B"/>
                </a:solidFill>
                <a:latin typeface="Cambria"/>
              </a:rPr>
              <a:t>VP</a:t>
            </a:r>
            <a:r>
              <a:rPr sz="1900" b="0" i="0">
                <a:solidFill>
                  <a:srgbClr val="1C252B"/>
                </a:solidFill>
                <a:latin typeface="Cambria"/>
              </a:rPr>
              <a:t>, </a:t>
            </a:r>
            <a:r>
              <a:rPr sz="1900" b="0" i="1">
                <a:solidFill>
                  <a:srgbClr val="1C252B"/>
                </a:solidFill>
                <a:latin typeface="Cambria"/>
              </a:rPr>
              <a:t>S</a:t>
            </a:r>
            <a:r>
              <a:rPr sz="1900" b="0" i="0">
                <a:solidFill>
                  <a:srgbClr val="1C252B"/>
                </a:solidFill>
                <a:latin typeface="Cambria"/>
              </a:rPr>
              <a:t>}</a:t>
            </a:r>
            <a:r>
              <a:rPr sz="1900" b="0" i="0">
                <a:solidFill>
                  <a:srgbClr val="1C252B"/>
                </a:solidFill>
                <a:latin typeface="Segoe UI"/>
              </a:rPr>
              <a:t>, the start symbol is present, and the sentence parses — by exactly one derivation.</a:t>
            </a:r>
          </a:p>
        </p:txBody>
      </p:sp>
      <p:sp>
        <p:nvSpPr>
          <p:cNvPr id="13" name="body-3"/>
          <p:cNvSpPr txBox="1"/>
          <p:nvPr/>
        </p:nvSpPr>
        <p:spPr>
          <a:xfrm>
            <a:off x="1042416" y="3999992"/>
            <a:ext cx="10234879" cy="155143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Now the ambiguous case.</a:t>
            </a:r>
            <a:r>
              <a:rPr sz="1900" b="0" i="0">
                <a:solidFill>
                  <a:srgbClr val="1C252B"/>
                </a:solidFill>
                <a:latin typeface="Segoe UI"/>
              </a:rPr>
              <a:t> Add </a:t>
            </a:r>
            <a:r>
              <a:rPr sz="1800" b="0" i="0">
                <a:solidFill>
                  <a:srgbClr val="1F4E79"/>
                </a:solidFill>
                <a:latin typeface="Consolas"/>
              </a:rPr>
              <a:t>after the timeout</a:t>
            </a:r>
            <a:r>
              <a:rPr sz="1900" b="0" i="0">
                <a:solidFill>
                  <a:srgbClr val="1C252B"/>
                </a:solidFill>
                <a:latin typeface="Segoe UI"/>
              </a:rPr>
              <a:t>. At the top cell there are now </a:t>
            </a:r>
            <a:r>
              <a:rPr sz="1900" b="0" i="1">
                <a:solidFill>
                  <a:srgbClr val="1C252B"/>
                </a:solidFill>
                <a:latin typeface="Segoe UI"/>
              </a:rPr>
              <a:t>two</a:t>
            </a:r>
            <a:r>
              <a:rPr sz="1900" b="0" i="0">
                <a:solidFill>
                  <a:srgbClr val="1C252B"/>
                </a:solidFill>
                <a:latin typeface="Segoe UI"/>
              </a:rPr>
              <a:t> ways to reach </a:t>
            </a:r>
            <a:r>
              <a:rPr sz="1900" b="0" i="1">
                <a:solidFill>
                  <a:srgbClr val="1C252B"/>
                </a:solidFill>
                <a:latin typeface="Cambria"/>
              </a:rPr>
              <a:t>S</a:t>
            </a:r>
            <a:r>
              <a:rPr sz="1900" b="0" i="0">
                <a:solidFill>
                  <a:srgbClr val="1C252B"/>
                </a:solidFill>
                <a:latin typeface="Segoe UI"/>
              </a:rPr>
              <a:t>: one via </a:t>
            </a:r>
            <a:r>
              <a:rPr sz="1900" b="0" i="1">
                <a:solidFill>
                  <a:srgbClr val="1C252B"/>
                </a:solidFill>
                <a:latin typeface="Cambria"/>
              </a:rPr>
              <a:t>VP</a:t>
            </a:r>
            <a:r>
              <a:rPr sz="1900" b="0" i="0">
                <a:solidFill>
                  <a:srgbClr val="1C252B"/>
                </a:solidFill>
                <a:latin typeface="Cambria"/>
              </a:rPr>
              <a:t> → </a:t>
            </a:r>
            <a:r>
              <a:rPr sz="1900" b="0" i="1">
                <a:solidFill>
                  <a:srgbClr val="1C252B"/>
                </a:solidFill>
                <a:latin typeface="Cambria"/>
              </a:rPr>
              <a:t>VP</a:t>
            </a:r>
            <a:r>
              <a:rPr sz="1900" b="0" i="0">
                <a:solidFill>
                  <a:srgbClr val="1C252B"/>
                </a:solidFill>
                <a:latin typeface="Cambria"/>
              </a:rPr>
              <a:t> </a:t>
            </a:r>
            <a:r>
              <a:rPr sz="1900" b="0" i="1">
                <a:solidFill>
                  <a:srgbClr val="1C252B"/>
                </a:solidFill>
                <a:latin typeface="Cambria"/>
              </a:rPr>
              <a:t>PP</a:t>
            </a:r>
            <a:r>
              <a:rPr sz="1900" b="0" i="0">
                <a:solidFill>
                  <a:srgbClr val="1C252B"/>
                </a:solidFill>
                <a:latin typeface="Segoe UI"/>
              </a:rPr>
              <a:t> (split after </a:t>
            </a:r>
            <a:r>
              <a:rPr sz="1800" b="0" i="0">
                <a:solidFill>
                  <a:srgbClr val="1F4E79"/>
                </a:solidFill>
                <a:latin typeface="Consolas"/>
              </a:rPr>
              <a:t>server</a:t>
            </a:r>
            <a:r>
              <a:rPr sz="1900" b="0" i="0">
                <a:solidFill>
                  <a:srgbClr val="1C252B"/>
                </a:solidFill>
                <a:latin typeface="Segoe UI"/>
              </a:rPr>
              <a:t>), and one via </a:t>
            </a:r>
            <a:r>
              <a:rPr sz="1900" b="0" i="1">
                <a:solidFill>
                  <a:srgbClr val="1C252B"/>
                </a:solidFill>
                <a:latin typeface="Cambria"/>
              </a:rPr>
              <a:t>VP</a:t>
            </a:r>
            <a:r>
              <a:rPr sz="1900" b="0" i="0">
                <a:solidFill>
                  <a:srgbClr val="1C252B"/>
                </a:solidFill>
                <a:latin typeface="Cambria"/>
              </a:rPr>
              <a:t> → </a:t>
            </a:r>
            <a:r>
              <a:rPr sz="1900" b="0" i="1">
                <a:solidFill>
                  <a:srgbClr val="1C252B"/>
                </a:solidFill>
                <a:latin typeface="Cambria"/>
              </a:rPr>
              <a:t>V</a:t>
            </a:r>
            <a:r>
              <a:rPr sz="1900" b="0" i="0">
                <a:solidFill>
                  <a:srgbClr val="1C252B"/>
                </a:solidFill>
                <a:latin typeface="Cambria"/>
              </a:rPr>
              <a:t> </a:t>
            </a:r>
            <a:r>
              <a:rPr sz="1900" b="0" i="1">
                <a:solidFill>
                  <a:srgbClr val="1C252B"/>
                </a:solidFill>
                <a:latin typeface="Cambria"/>
              </a:rPr>
              <a:t>NP</a:t>
            </a:r>
            <a:r>
              <a:rPr sz="1900" b="0" i="0">
                <a:solidFill>
                  <a:srgbClr val="1C252B"/>
                </a:solidFill>
                <a:latin typeface="Segoe UI"/>
              </a:rPr>
              <a:t> where the </a:t>
            </a:r>
            <a:r>
              <a:rPr sz="1900" b="0" i="1">
                <a:solidFill>
                  <a:srgbClr val="1C252B"/>
                </a:solidFill>
                <a:latin typeface="Cambria"/>
              </a:rPr>
              <a:t>NP</a:t>
            </a:r>
            <a:r>
              <a:rPr sz="1900" b="0" i="0">
                <a:solidFill>
                  <a:srgbClr val="1C252B"/>
                </a:solidFill>
                <a:latin typeface="Segoe UI"/>
              </a:rPr>
              <a:t> was itself built by </a:t>
            </a:r>
            <a:r>
              <a:rPr sz="1900" b="0" i="1">
                <a:solidFill>
                  <a:srgbClr val="1C252B"/>
                </a:solidFill>
                <a:latin typeface="Cambria"/>
              </a:rPr>
              <a:t>NP</a:t>
            </a:r>
            <a:r>
              <a:rPr sz="1900" b="0" i="0">
                <a:solidFill>
                  <a:srgbClr val="1C252B"/>
                </a:solidFill>
                <a:latin typeface="Cambria"/>
              </a:rPr>
              <a:t> → </a:t>
            </a:r>
            <a:r>
              <a:rPr sz="1900" b="0" i="1">
                <a:solidFill>
                  <a:srgbClr val="1C252B"/>
                </a:solidFill>
                <a:latin typeface="Cambria"/>
              </a:rPr>
              <a:t>NP</a:t>
            </a:r>
            <a:r>
              <a:rPr sz="1900" b="0" i="0">
                <a:solidFill>
                  <a:srgbClr val="1C252B"/>
                </a:solidFill>
                <a:latin typeface="Cambria"/>
              </a:rPr>
              <a:t> </a:t>
            </a:r>
            <a:r>
              <a:rPr sz="1900" b="0" i="1">
                <a:solidFill>
                  <a:srgbClr val="1C252B"/>
                </a:solidFill>
                <a:latin typeface="Cambria"/>
              </a:rPr>
              <a:t>PP</a:t>
            </a:r>
            <a:r>
              <a:rPr sz="1900" b="0" i="0">
                <a:solidFill>
                  <a:srgbClr val="1C252B"/>
                </a:solidFill>
                <a:latin typeface="Segoe UI"/>
              </a:rPr>
              <a:t> (split after </a:t>
            </a:r>
            <a:r>
              <a:rPr sz="1800" b="0" i="0">
                <a:solidFill>
                  <a:srgbClr val="1F4E79"/>
                </a:solidFill>
                <a:latin typeface="Consolas"/>
              </a:rPr>
              <a:t>restart</a:t>
            </a:r>
            <a:r>
              <a:rPr sz="1900" b="0" i="0">
                <a:solidFill>
                  <a:srgbClr val="1C252B"/>
                </a:solidFill>
                <a:latin typeface="Segoe UI"/>
              </a:rPr>
              <a:t>). Both entries record </a:t>
            </a:r>
            <a:r>
              <a:rPr sz="1900" b="0" i="1">
                <a:solidFill>
                  <a:srgbClr val="1C252B"/>
                </a:solidFill>
                <a:latin typeface="Cambria"/>
              </a:rPr>
              <a:t>S</a:t>
            </a:r>
            <a:r>
              <a:rPr sz="1900" b="0" i="0">
                <a:solidFill>
                  <a:srgbClr val="1C252B"/>
                </a:solidFill>
                <a:latin typeface="Segoe UI"/>
              </a:rPr>
              <a:t> in the same cell, which is why counting parses means counting </a:t>
            </a:r>
            <a:r>
              <a:rPr sz="1900" b="0" i="1">
                <a:solidFill>
                  <a:srgbClr val="1C252B"/>
                </a:solidFill>
                <a:latin typeface="Segoe UI"/>
              </a:rPr>
              <a:t>derivations</a:t>
            </a:r>
            <a:r>
              <a:rPr sz="1900" b="0" i="0">
                <a:solidFill>
                  <a:srgbClr val="1C252B"/>
                </a:solidFill>
                <a:latin typeface="Segoe UI"/>
              </a:rPr>
              <a:t> rather than checking membership — and why the lab keeps back-pointers.</a:t>
            </a:r>
          </a:p>
        </p:txBody>
      </p:sp>
      <p:sp>
        <p:nvSpPr>
          <p:cNvPr id="14" name="body-3bar">
            <a:extLst>
              <a:ext uri="{C183D7F6-B498-43B3-948B-1728B52AA6E4}">
                <adec:decorative xmlns:adec="http://schemas.microsoft.com/office/drawing/2017/decorative" val="1"/>
              </a:ext>
            </a:extLst>
          </p:cNvPr>
          <p:cNvSpPr/>
          <p:nvPr/>
        </p:nvSpPr>
        <p:spPr>
          <a:xfrm>
            <a:off x="841248" y="4018279"/>
            <a:ext cx="54864" cy="148742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pfill">
            <a:extLst>
              <a:ext uri="{C183D7F6-B498-43B3-948B-1728B52AA6E4}">
                <adec:decorative xmlns:adec="http://schemas.microsoft.com/office/drawing/2017/decorative" val="1"/>
              </a:ext>
            </a:extLst>
          </p:cNvPr>
          <p:cNvSpPr/>
          <p:nvPr/>
        </p:nvSpPr>
        <p:spPr>
          <a:xfrm>
            <a:off x="0" y="0"/>
            <a:ext cx="4689113"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420"/>
                                        <p:tgtEl>
                                          <p:spTgt spid="9"/>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11">
                                            <p:txEl>
                                              <p:pRg st="0" end="0"/>
                                            </p:txEl>
                                          </p:spTgt>
                                        </p:tgtEl>
                                        <p:attrNameLst>
                                          <p:attrName>style.visibility</p:attrName>
                                        </p:attrNameLst>
                                      </p:cBhvr>
                                      <p:to>
                                        <p:strVal val="visible"/>
                                      </p:to>
                                    </p:set>
                                    <p:animEffect transition="in" filter="fade">
                                      <p:cBhvr>
                                        <p:cTn id="16" dur="350"/>
                                        <p:tgtEl>
                                          <p:spTgt spid="11">
                                            <p:txEl>
                                              <p:pRg st="0" end="0"/>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1">
                                            <p:txEl>
                                              <p:pRg st="1" end="1"/>
                                            </p:txEl>
                                          </p:spTgt>
                                        </p:tgtEl>
                                        <p:attrNameLst>
                                          <p:attrName>style.visibility</p:attrName>
                                        </p:attrNameLst>
                                      </p:cBhvr>
                                      <p:to>
                                        <p:strVal val="visible"/>
                                      </p:to>
                                    </p:set>
                                    <p:animEffect transition="in" filter="fade">
                                      <p:cBhvr>
                                        <p:cTn id="21" dur="350"/>
                                        <p:tgtEl>
                                          <p:spTgt spid="11">
                                            <p:txEl>
                                              <p:pRg st="1" end="1"/>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wipe(right)">
                                      <p:cBhvr>
                                        <p:cTn id="26" dur="420"/>
                                        <p:tgtEl>
                                          <p:spTgt spid="12"/>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wipe(right)">
                                      <p:cBhvr>
                                        <p:cTn id="31" dur="420"/>
                                        <p:tgtEl>
                                          <p:spTgt spid="14"/>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42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build="p"/>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Common pitfalls</a:t>
            </a:r>
          </a:p>
        </p:txBody>
      </p:sp>
      <p:pic>
        <p:nvPicPr>
          <p:cNvPr id="3" name="!!kicker-icon" descr="exclamation-circ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2672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COMMON PITFALLS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18  ·  Natural Language Processing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§18.7  ·  Handout p. 190     </a:t>
            </a:r>
            <a:fld id="{9C02594C-1E88-4910-A6BE-4CD9AD6FDBF9}" type="slidenum">
              <a:rPr lang="en-GB" sz="1000">
                <a:solidFill>
                  <a:srgbClr val="8795A1"/>
                </a:solidFill>
                <a:latin typeface="Segoe UI"/>
              </a:rPr>
              <a:t>21</a:t>
            </a:fld>
          </a:p>
        </p:txBody>
      </p:sp>
      <p:sp>
        <p:nvSpPr>
          <p:cNvPr id="7" name="!!pb0">
            <a:extLst>
              <a:ext uri="{C183D7F6-B498-43B3-948B-1728B52AA6E4}">
                <adec:decorative xmlns:adec="http://schemas.microsoft.com/office/drawing/2017/decorative" val="1"/>
              </a:ext>
            </a:extLst>
          </p:cNvPr>
          <p:cNvSpPr/>
          <p:nvPr/>
        </p:nvSpPr>
        <p:spPr>
          <a:xfrm>
            <a:off x="658368" y="1755648"/>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px0"/>
          <p:cNvSpPr txBox="1"/>
          <p:nvPr/>
        </p:nvSpPr>
        <p:spPr>
          <a:xfrm>
            <a:off x="658368" y="1778507"/>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9" name="!!pt0"/>
          <p:cNvSpPr txBox="1"/>
          <p:nvPr/>
        </p:nvSpPr>
        <p:spPr>
          <a:xfrm>
            <a:off x="1261872" y="1737360"/>
            <a:ext cx="10271455"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Treating a single parse as the answer.</a:t>
            </a:r>
            <a:r>
              <a:rPr sz="1700" b="0" i="0">
                <a:solidFill>
                  <a:srgbClr val="1C252B"/>
                </a:solidFill>
                <a:latin typeface="Segoe UI"/>
              </a:rPr>
              <a:t> Three of the five subject lines here have two readings. A parser that returns the first is confidently wrong and silent about it.</a:t>
            </a:r>
          </a:p>
        </p:txBody>
      </p:sp>
      <p:sp>
        <p:nvSpPr>
          <p:cNvPr id="10" name="!!pb1">
            <a:extLst>
              <a:ext uri="{C183D7F6-B498-43B3-948B-1728B52AA6E4}">
                <adec:decorative xmlns:adec="http://schemas.microsoft.com/office/drawing/2017/decorative" val="1"/>
              </a:ext>
            </a:extLst>
          </p:cNvPr>
          <p:cNvSpPr/>
          <p:nvPr/>
        </p:nvSpPr>
        <p:spPr>
          <a:xfrm>
            <a:off x="658368" y="2495702"/>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x1"/>
          <p:cNvSpPr txBox="1"/>
          <p:nvPr/>
        </p:nvSpPr>
        <p:spPr>
          <a:xfrm>
            <a:off x="658368" y="2518562"/>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2" name="!!pt1"/>
          <p:cNvSpPr txBox="1"/>
          <p:nvPr/>
        </p:nvSpPr>
        <p:spPr>
          <a:xfrm>
            <a:off x="1261872" y="2477414"/>
            <a:ext cx="10271455"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Forgetting Chomsky normal form.</a:t>
            </a:r>
            <a:r>
              <a:rPr sz="1700" b="0" i="0">
                <a:solidFill>
                  <a:srgbClr val="1C252B"/>
                </a:solidFill>
                <a:latin typeface="Segoe UI"/>
              </a:rPr>
              <a:t> CYK needs rules of the form </a:t>
            </a:r>
            <a:r>
              <a:rPr sz="1700" b="0" i="1">
                <a:solidFill>
                  <a:srgbClr val="1C252B"/>
                </a:solidFill>
                <a:latin typeface="Cambria"/>
              </a:rPr>
              <a:t>A</a:t>
            </a:r>
            <a:r>
              <a:rPr sz="1700" b="0" i="0">
                <a:solidFill>
                  <a:srgbClr val="1C252B"/>
                </a:solidFill>
                <a:latin typeface="Cambria"/>
              </a:rPr>
              <a:t> → </a:t>
            </a:r>
            <a:r>
              <a:rPr sz="1700" b="0" i="1">
                <a:solidFill>
                  <a:srgbClr val="1C252B"/>
                </a:solidFill>
                <a:latin typeface="Cambria"/>
              </a:rPr>
              <a:t>B</a:t>
            </a:r>
            <a:r>
              <a:rPr sz="1700" b="0" i="0">
                <a:solidFill>
                  <a:srgbClr val="1C252B"/>
                </a:solidFill>
                <a:latin typeface="Cambria"/>
              </a:rPr>
              <a:t> </a:t>
            </a:r>
            <a:r>
              <a:rPr sz="1700" b="0" i="1">
                <a:solidFill>
                  <a:srgbClr val="1C252B"/>
                </a:solidFill>
                <a:latin typeface="Cambria"/>
              </a:rPr>
              <a:t>C</a:t>
            </a:r>
            <a:r>
              <a:rPr sz="1700" b="0" i="0">
                <a:solidFill>
                  <a:srgbClr val="1C252B"/>
                </a:solidFill>
                <a:latin typeface="Segoe UI"/>
              </a:rPr>
              <a:t> or </a:t>
            </a:r>
            <a:r>
              <a:rPr sz="1700" b="0" i="1">
                <a:solidFill>
                  <a:srgbClr val="1C252B"/>
                </a:solidFill>
                <a:latin typeface="Cambria"/>
              </a:rPr>
              <a:t>A</a:t>
            </a:r>
            <a:r>
              <a:rPr sz="1700" b="0" i="0">
                <a:solidFill>
                  <a:srgbClr val="1C252B"/>
                </a:solidFill>
                <a:latin typeface="Cambria"/>
              </a:rPr>
              <a:t> → </a:t>
            </a:r>
            <a:r>
              <a:rPr sz="1700" b="0" i="1">
                <a:solidFill>
                  <a:srgbClr val="1C252B"/>
                </a:solidFill>
                <a:latin typeface="Cambria"/>
              </a:rPr>
              <a:t>w</a:t>
            </a:r>
            <a:r>
              <a:rPr sz="1700" b="0" i="0">
                <a:solidFill>
                  <a:srgbClr val="1C252B"/>
                </a:solidFill>
                <a:latin typeface="Segoe UI"/>
              </a:rPr>
              <a:t>. A grammar written naturally must be converted first.</a:t>
            </a:r>
          </a:p>
        </p:txBody>
      </p:sp>
      <p:sp>
        <p:nvSpPr>
          <p:cNvPr id="13" name="!!pb2">
            <a:extLst>
              <a:ext uri="{C183D7F6-B498-43B3-948B-1728B52AA6E4}">
                <adec:decorative xmlns:adec="http://schemas.microsoft.com/office/drawing/2017/decorative" val="1"/>
              </a:ext>
            </a:extLst>
          </p:cNvPr>
          <p:cNvSpPr/>
          <p:nvPr/>
        </p:nvSpPr>
        <p:spPr>
          <a:xfrm>
            <a:off x="658368" y="3235756"/>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x2"/>
          <p:cNvSpPr txBox="1"/>
          <p:nvPr/>
        </p:nvSpPr>
        <p:spPr>
          <a:xfrm>
            <a:off x="658368" y="3258616"/>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5" name="!!pt2"/>
          <p:cNvSpPr txBox="1"/>
          <p:nvPr/>
        </p:nvSpPr>
        <p:spPr>
          <a:xfrm>
            <a:off x="1261872" y="3217468"/>
            <a:ext cx="10271455" cy="808329"/>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Assuming a bigger grammar is a better one.</a:t>
            </a:r>
            <a:r>
              <a:rPr sz="1700" b="0" i="0">
                <a:solidFill>
                  <a:srgbClr val="1C252B"/>
                </a:solidFill>
                <a:latin typeface="Segoe UI"/>
              </a:rPr>
              <a:t> Every added rule multiplies the ambiguity. Real broad-coverage grammars return thousands of parses per sentence, which is why ranking them became the whole problem.</a:t>
            </a:r>
          </a:p>
        </p:txBody>
      </p:sp>
      <p:sp>
        <p:nvSpPr>
          <p:cNvPr id="16" name="!!pb3">
            <a:extLst>
              <a:ext uri="{C183D7F6-B498-43B3-948B-1728B52AA6E4}">
                <adec:decorative xmlns:adec="http://schemas.microsoft.com/office/drawing/2017/decorative" val="1"/>
              </a:ext>
            </a:extLst>
          </p:cNvPr>
          <p:cNvSpPr/>
          <p:nvPr/>
        </p:nvSpPr>
        <p:spPr>
          <a:xfrm>
            <a:off x="658368" y="4245254"/>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x3"/>
          <p:cNvSpPr txBox="1"/>
          <p:nvPr/>
        </p:nvSpPr>
        <p:spPr>
          <a:xfrm>
            <a:off x="658368" y="4268114"/>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8" name="!!pt3"/>
          <p:cNvSpPr txBox="1"/>
          <p:nvPr/>
        </p:nvSpPr>
        <p:spPr>
          <a:xfrm>
            <a:off x="1261872" y="4226966"/>
            <a:ext cx="10271455"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Mistaking Eliza’s fluency for understanding.</a:t>
            </a:r>
            <a:r>
              <a:rPr sz="1700" b="0" i="0">
                <a:solidFill>
                  <a:srgbClr val="1C252B"/>
                </a:solidFill>
                <a:latin typeface="Segoe UI"/>
              </a:rPr>
              <a:t> It has no representation of anything. If the impression of understanding is your evidence, you have no evidence.</a:t>
            </a:r>
          </a:p>
        </p:txBody>
      </p:sp>
      <p:sp>
        <p:nvSpPr>
          <p:cNvPr id="19" name="!!pb4">
            <a:extLst>
              <a:ext uri="{C183D7F6-B498-43B3-948B-1728B52AA6E4}">
                <adec:decorative xmlns:adec="http://schemas.microsoft.com/office/drawing/2017/decorative" val="1"/>
              </a:ext>
            </a:extLst>
          </p:cNvPr>
          <p:cNvSpPr/>
          <p:nvPr/>
        </p:nvSpPr>
        <p:spPr>
          <a:xfrm>
            <a:off x="658368" y="4985308"/>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x4"/>
          <p:cNvSpPr txBox="1"/>
          <p:nvPr/>
        </p:nvSpPr>
        <p:spPr>
          <a:xfrm>
            <a:off x="658368" y="5008168"/>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21" name="!!pt4"/>
          <p:cNvSpPr txBox="1"/>
          <p:nvPr/>
        </p:nvSpPr>
        <p:spPr>
          <a:xfrm>
            <a:off x="1261872" y="4967020"/>
            <a:ext cx="10271455"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Believing more data fixes the n-gram window.</a:t>
            </a:r>
            <a:r>
              <a:rPr sz="1700" b="0" i="0">
                <a:solidFill>
                  <a:srgbClr val="1C252B"/>
                </a:solidFill>
                <a:latin typeface="Segoe UI"/>
              </a:rPr>
              <a:t> Sparsity is fixable by smoothing; a fixed window cannot represent a nine-word dependency at any corpus size.</a:t>
            </a:r>
          </a:p>
        </p:txBody>
      </p:sp>
      <p:sp>
        <p:nvSpPr>
          <p:cNvPr id="22" name="!!pb5">
            <a:extLst>
              <a:ext uri="{C183D7F6-B498-43B3-948B-1728B52AA6E4}">
                <adec:decorative xmlns:adec="http://schemas.microsoft.com/office/drawing/2017/decorative" val="1"/>
              </a:ext>
            </a:extLst>
          </p:cNvPr>
          <p:cNvSpPr/>
          <p:nvPr/>
        </p:nvSpPr>
        <p:spPr>
          <a:xfrm>
            <a:off x="658368" y="5725363"/>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px5"/>
          <p:cNvSpPr txBox="1"/>
          <p:nvPr/>
        </p:nvSpPr>
        <p:spPr>
          <a:xfrm>
            <a:off x="658368" y="5748223"/>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24" name="!!pt5"/>
          <p:cNvSpPr txBox="1"/>
          <p:nvPr/>
        </p:nvSpPr>
        <p:spPr>
          <a:xfrm>
            <a:off x="1261872" y="5707075"/>
            <a:ext cx="10271455"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Parsing when you could match.</a:t>
            </a:r>
            <a:r>
              <a:rPr sz="1700" b="0" i="0">
                <a:solidFill>
                  <a:srgbClr val="1C252B"/>
                </a:solidFill>
                <a:latin typeface="Segoe UI"/>
              </a:rPr>
              <a:t> If the domain is genuinely a few dozen command shapes, patterns are shorter, faster and easier to maintain. Reach for a grammar when structure matters.</a:t>
            </a:r>
          </a:p>
        </p:txBody>
      </p:sp>
      <p:sp>
        <p:nvSpPr>
          <p:cNvPr id="7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1" name="!!pfill">
            <a:extLst>
              <a:ext uri="{C183D7F6-B498-43B3-948B-1728B52AA6E4}">
                <adec:decorative xmlns:adec="http://schemas.microsoft.com/office/drawing/2017/decorative" val="1"/>
              </a:ext>
            </a:extLst>
          </p:cNvPr>
          <p:cNvSpPr/>
          <p:nvPr/>
        </p:nvSpPr>
        <p:spPr>
          <a:xfrm>
            <a:off x="0" y="0"/>
            <a:ext cx="4923569"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par>
                    <p:cTn id="59" fill="hold">
                      <p:stCondLst>
                        <p:cond delay="indefinite"/>
                      </p:stCondLst>
                      <p:childTnLst>
                        <p:par>
                          <p:cTn id="60" fill="hold">
                            <p:stCondLst>
                              <p:cond delay="0"/>
                            </p:stCondLst>
                            <p:childTnLst>
                              <p:par>
                                <p:cTn id="61" presetID="23" presetClass="entr" presetSubtype="16" fill="hold" grpId="0" nodeType="click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zoom(in)">
                                      <p:cBhvr>
                                        <p:cTn id="63" dur="260"/>
                                        <p:tgtEl>
                                          <p:spTgt spid="2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260"/>
                                        <p:tgtEl>
                                          <p:spTgt spid="23"/>
                                        </p:tgtEl>
                                      </p:cBhvr>
                                    </p:animEffect>
                                  </p:childTnLst>
                                </p:cTn>
                              </p:par>
                              <p:par>
                                <p:cTn id="67" presetID="22" presetClass="entr" presetSubtype="8" fill="hold" grpId="0"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wipe(right)">
                                      <p:cBhvr>
                                        <p:cTn id="69"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Try it yourself: Parsing Ticket Subjects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18  ·  Natural Language Processing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§18.7  ·  Handout p. 190     </a:t>
            </a:r>
            <a:fld id="{B87A3630-4E9C-4F25-8E8E-CECB5375ACD4}" type="slidenum">
              <a:rPr lang="en-GB" sz="1000">
                <a:solidFill>
                  <a:srgbClr val="8795A1"/>
                </a:solidFill>
                <a:latin typeface="Segoe UI"/>
              </a:rPr>
              <a:t>22</a:t>
            </a:fld>
          </a:p>
        </p:txBody>
      </p:sp>
      <p:sp>
        <p:nvSpPr>
          <p:cNvPr id="7" name="body-0"/>
          <p:cNvSpPr txBox="1"/>
          <p:nvPr/>
        </p:nvSpPr>
        <p:spPr>
          <a:xfrm>
            <a:off x="658368" y="1737360"/>
            <a:ext cx="10874959" cy="679704"/>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A CYK parser with back-pointers, the ambiguity count, an Eliza responder, and a bigram model with its limitation demonstrated.</a:t>
            </a:r>
          </a:p>
        </p:txBody>
      </p:sp>
      <p:sp>
        <p:nvSpPr>
          <p:cNvPr id="8" name="!!labsteps-h"/>
          <p:cNvSpPr txBox="1"/>
          <p:nvPr/>
        </p:nvSpPr>
        <p:spPr>
          <a:xfrm>
            <a:off x="658368" y="2682240"/>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0E6655"/>
                </a:solidFill>
                <a:latin typeface="Segoe UI"/>
              </a:rPr>
              <a:t>WHAT YOU WILL DO</a:t>
            </a:r>
          </a:p>
        </p:txBody>
      </p:sp>
      <p:sp>
        <p:nvSpPr>
          <p:cNvPr id="9" name="!!labsteps"/>
          <p:cNvSpPr txBox="1"/>
          <p:nvPr/>
        </p:nvSpPr>
        <p:spPr>
          <a:xfrm>
            <a:off x="658368" y="3066288"/>
            <a:ext cx="10874959" cy="1104900"/>
          </a:xfrm>
          <a:prstGeom prst="rect">
            <a:avLst/>
          </a:prstGeom>
          <a:noFill/>
        </p:spPr>
        <p:txBody>
          <a:bodyPr wrap="square" anchor="t" lIns="0" rIns="0" tIns="0" bIns="0">
            <a:noAutofit/>
          </a:bodyPr>
          <a:lstStyle/>
          <a:p>
            <a:pPr algn="l" marL="459473" indent="-459473">
              <a:lnSpc>
                <a:spcPct val="100000"/>
              </a:lnSpc>
              <a:spcBef>
                <a:spcPts val="0"/>
              </a:spcBef>
              <a:spcAft>
                <a:spcPts val="570"/>
              </a:spcAft>
            </a:pPr>
            <a:r>
              <a:rPr sz="1900" b="1">
                <a:solidFill>
                  <a:srgbClr val="117A65"/>
                </a:solidFill>
                <a:latin typeface="Segoe UI"/>
              </a:rPr>
              <a:t>1.	</a:t>
            </a:r>
            <a:r>
              <a:rPr sz="1900" b="0" i="0">
                <a:solidFill>
                  <a:srgbClr val="1C252B"/>
                </a:solidFill>
                <a:latin typeface="Segoe UI"/>
              </a:rPr>
              <a:t>The grammar, in Chomsky normal form</a:t>
            </a:r>
          </a:p>
          <a:p>
            <a:pPr algn="l" marL="459473" indent="-459473">
              <a:lnSpc>
                <a:spcPct val="100000"/>
              </a:lnSpc>
              <a:spcBef>
                <a:spcPts val="0"/>
              </a:spcBef>
              <a:spcAft>
                <a:spcPts val="570"/>
              </a:spcAft>
            </a:pPr>
            <a:r>
              <a:rPr sz="1900" b="1">
                <a:solidFill>
                  <a:srgbClr val="117A65"/>
                </a:solidFill>
                <a:latin typeface="Segoe UI"/>
              </a:rPr>
              <a:t>2.	</a:t>
            </a:r>
            <a:r>
              <a:rPr sz="1900" b="0" i="0">
                <a:solidFill>
                  <a:srgbClr val="1C252B"/>
                </a:solidFill>
                <a:latin typeface="Segoe UI"/>
              </a:rPr>
              <a:t>Eliza: pattern substitution, and nothing else</a:t>
            </a:r>
          </a:p>
          <a:p>
            <a:pPr algn="l" marL="459473" indent="-459473">
              <a:lnSpc>
                <a:spcPct val="100000"/>
              </a:lnSpc>
              <a:spcBef>
                <a:spcPts val="0"/>
              </a:spcBef>
              <a:spcAft>
                <a:spcPts val="0"/>
              </a:spcAft>
            </a:pPr>
            <a:r>
              <a:rPr sz="1900" b="1">
                <a:solidFill>
                  <a:srgbClr val="117A65"/>
                </a:solidFill>
                <a:latin typeface="Segoe UI"/>
              </a:rPr>
              <a:t>3.	</a:t>
            </a:r>
            <a:r>
              <a:rPr sz="1900" b="0" i="0">
                <a:solidFill>
                  <a:srgbClr val="1C252B"/>
                </a:solidFill>
                <a:latin typeface="Segoe UI"/>
              </a:rPr>
              <a:t>A bigram model</a:t>
            </a:r>
          </a:p>
        </p:txBody>
      </p:sp>
      <p:sp>
        <p:nvSpPr>
          <p:cNvPr id="19" name="!!lfTHIS">
            <a:extLst>
              <a:ext uri="{C183D7F6-B498-43B3-948B-1728B52AA6E4}">
                <adec:decorative xmlns:adec="http://schemas.microsoft.com/office/drawing/2017/decorative" val="1"/>
              </a:ext>
            </a:extLst>
          </p:cNvPr>
          <p:cNvSpPr/>
          <p:nvPr/>
        </p:nvSpPr>
        <p:spPr>
          <a:xfrm>
            <a:off x="658368"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lfbTHIS">
            <a:extLst>
              <a:ext uri="{C183D7F6-B498-43B3-948B-1728B52AA6E4}">
                <adec:decorative xmlns:adec="http://schemas.microsoft.com/office/drawing/2017/decorative" val="1"/>
              </a:ext>
            </a:extLst>
          </p:cNvPr>
          <p:cNvSpPr/>
          <p:nvPr/>
        </p:nvSpPr>
        <p:spPr>
          <a:xfrm>
            <a:off x="658368"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lflTHIS"/>
          <p:cNvSpPr txBox="1"/>
          <p:nvPr/>
        </p:nvSpPr>
        <p:spPr>
          <a:xfrm>
            <a:off x="932688"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THIS WEEK'S LAB</a:t>
            </a:r>
          </a:p>
        </p:txBody>
      </p:sp>
      <p:sp>
        <p:nvSpPr>
          <p:cNvPr id="22" name="!!lfvTHIS"/>
          <p:cNvSpPr txBox="1"/>
          <p:nvPr/>
        </p:nvSpPr>
        <p:spPr>
          <a:xfrm>
            <a:off x="932688"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1C252B"/>
                </a:solidFill>
                <a:latin typeface="Segoe UI"/>
              </a:rPr>
              <a:t>Week 15: Parsing ticket subjects; four systems in one file</a:t>
            </a:r>
          </a:p>
        </p:txBody>
      </p:sp>
      <p:sp>
        <p:nvSpPr>
          <p:cNvPr id="23" name="!!lfWHAT">
            <a:extLst>
              <a:ext uri="{C183D7F6-B498-43B3-948B-1728B52AA6E4}">
                <adec:decorative xmlns:adec="http://schemas.microsoft.com/office/drawing/2017/decorative" val="1"/>
              </a:ext>
            </a:extLst>
          </p:cNvPr>
          <p:cNvSpPr/>
          <p:nvPr/>
        </p:nvSpPr>
        <p:spPr>
          <a:xfrm>
            <a:off x="4374794"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lfbWHAT">
            <a:extLst>
              <a:ext uri="{C183D7F6-B498-43B3-948B-1728B52AA6E4}">
                <adec:decorative xmlns:adec="http://schemas.microsoft.com/office/drawing/2017/decorative" val="1"/>
              </a:ext>
            </a:extLst>
          </p:cNvPr>
          <p:cNvSpPr/>
          <p:nvPr/>
        </p:nvSpPr>
        <p:spPr>
          <a:xfrm>
            <a:off x="4374794"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lflWHAT"/>
          <p:cNvSpPr txBox="1"/>
          <p:nvPr/>
        </p:nvSpPr>
        <p:spPr>
          <a:xfrm>
            <a:off x="4649114"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WHAT YOU WILL RUN</a:t>
            </a:r>
          </a:p>
        </p:txBody>
      </p:sp>
      <p:sp>
        <p:nvSpPr>
          <p:cNvPr id="26" name="!!lfvWHAT"/>
          <p:cNvSpPr txBox="1"/>
          <p:nvPr/>
        </p:nvSpPr>
        <p:spPr>
          <a:xfrm>
            <a:off x="4649114"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1 listing, 229 lines of Python</a:t>
            </a:r>
          </a:p>
        </p:txBody>
      </p:sp>
      <p:sp>
        <p:nvSpPr>
          <p:cNvPr id="27" name="!!lfRUNN">
            <a:extLst>
              <a:ext uri="{C183D7F6-B498-43B3-948B-1728B52AA6E4}">
                <adec:decorative xmlns:adec="http://schemas.microsoft.com/office/drawing/2017/decorative" val="1"/>
              </a:ext>
            </a:extLst>
          </p:cNvPr>
          <p:cNvSpPr/>
          <p:nvPr/>
        </p:nvSpPr>
        <p:spPr>
          <a:xfrm>
            <a:off x="8091220"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lfbRUNN">
            <a:extLst>
              <a:ext uri="{C183D7F6-B498-43B3-948B-1728B52AA6E4}">
                <adec:decorative xmlns:adec="http://schemas.microsoft.com/office/drawing/2017/decorative" val="1"/>
              </a:ext>
            </a:extLst>
          </p:cNvPr>
          <p:cNvSpPr/>
          <p:nvPr/>
        </p:nvSpPr>
        <p:spPr>
          <a:xfrm>
            <a:off x="8091220"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lflRUNN"/>
          <p:cNvSpPr txBox="1"/>
          <p:nvPr/>
        </p:nvSpPr>
        <p:spPr>
          <a:xfrm>
            <a:off x="8365540"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RUNNABLE COPY</a:t>
            </a:r>
          </a:p>
        </p:txBody>
      </p:sp>
      <p:sp>
        <p:nvSpPr>
          <p:cNvPr id="30" name="!!lfvRUNN"/>
          <p:cNvSpPr txBox="1"/>
          <p:nvPr/>
        </p:nvSpPr>
        <p:spPr>
          <a:xfrm>
            <a:off x="8365540"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Consolas"/>
              </a:rPr>
              <a:t>code/ch18_parsing_ticket.py</a:t>
            </a:r>
          </a:p>
        </p:txBody>
      </p:sp>
      <p:sp>
        <p:nvSpPr>
          <p:cNvPr id="3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pfill">
            <a:extLst>
              <a:ext uri="{C183D7F6-B498-43B3-948B-1728B52AA6E4}">
                <adec:decorative xmlns:adec="http://schemas.microsoft.com/office/drawing/2017/decorative" val="1"/>
              </a:ext>
            </a:extLst>
          </p:cNvPr>
          <p:cNvSpPr/>
          <p:nvPr/>
        </p:nvSpPr>
        <p:spPr>
          <a:xfrm>
            <a:off x="0" y="0"/>
            <a:ext cx="5158024"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9">
                                            <p:txEl>
                                              <p:pRg st="0" end="0"/>
                                            </p:txEl>
                                          </p:spTgt>
                                        </p:tgtEl>
                                        <p:attrNameLst>
                                          <p:attrName>style.visibility</p:attrName>
                                        </p:attrNameLst>
                                      </p:cBhvr>
                                      <p:to>
                                        <p:strVal val="visible"/>
                                      </p:to>
                                    </p:set>
                                    <p:animEffect transition="in" filter="fade">
                                      <p:cBhvr>
                                        <p:cTn id="8" dur="300"/>
                                        <p:tgtEl>
                                          <p:spTgt spid="9">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9">
                                            <p:txEl>
                                              <p:pRg st="1" end="1"/>
                                            </p:txEl>
                                          </p:spTgt>
                                        </p:tgtEl>
                                        <p:attrNameLst>
                                          <p:attrName>style.visibility</p:attrName>
                                        </p:attrNameLst>
                                      </p:cBhvr>
                                      <p:to>
                                        <p:strVal val="visible"/>
                                      </p:to>
                                    </p:set>
                                    <p:animEffect transition="in" filter="fade">
                                      <p:cBhvr>
                                        <p:cTn id="13" dur="300"/>
                                        <p:tgtEl>
                                          <p:spTgt spid="9">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9">
                                            <p:txEl>
                                              <p:pRg st="2" end="2"/>
                                            </p:txEl>
                                          </p:spTgt>
                                        </p:tgtEl>
                                        <p:attrNameLst>
                                          <p:attrName>style.visibility</p:attrName>
                                        </p:attrNameLst>
                                      </p:cBhvr>
                                      <p:to>
                                        <p:strVal val="visible"/>
                                      </p:to>
                                    </p:set>
                                    <p:animEffect transition="in" filter="fade">
                                      <p:cBhvr>
                                        <p:cTn id="18" dur="300"/>
                                        <p:tgtEl>
                                          <p:spTgt spid="9">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Parsing Ticket Subjects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 OF 15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18  ·  Natural Language Processing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§18.7  ·  Handout p. 190     </a:t>
            </a:r>
            <a:fld id="{70436188-34DF-4614-B425-54ADA188C0EC}" type="slidenum">
              <a:rPr lang="en-GB" sz="1000">
                <a:solidFill>
                  <a:srgbClr val="8795A1"/>
                </a:solidFill>
                <a:latin typeface="Segoe UI"/>
              </a:rPr>
              <a:t>23</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Set-up</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346703"/>
          </a:xfrm>
          <a:prstGeom prst="roundRect">
            <a:avLst>
              <a:gd name="adj" fmla="val 273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code/ch18_parsing_ticket.py</a:t>
            </a:r>
          </a:p>
        </p:txBody>
      </p:sp>
      <p:sp>
        <p:nvSpPr>
          <p:cNvPr id="14" name="!!code-text" descr="&quot;&quot;&quot;Chapter 18 lab -- symbolic language processing on ticket subjects. A CYK chart parser, a pattern-substitution responder in the style of Eliza, and a bigram model. Nothing here learns; the knowledge is in the grammar and the patterns. &quot;&quot;&quot; import re from collections import defaultdict"/>
          <p:cNvSpPr txBox="1"/>
          <p:nvPr/>
        </p:nvSpPr>
        <p:spPr>
          <a:xfrm>
            <a:off x="1362456" y="2523744"/>
            <a:ext cx="9987991" cy="2852927"/>
          </a:xfrm>
          <a:prstGeom prst="rect">
            <a:avLst/>
          </a:prstGeom>
          <a:noFill/>
        </p:spPr>
        <p:txBody>
          <a:bodyPr wrap="none" anchor="t" lIns="0" rIns="0" tIns="0" bIns="0">
            <a:noAutofit/>
          </a:bodyPr>
          <a:lstStyle/>
          <a:p>
            <a:pPr>
              <a:lnSpc>
                <a:spcPct val="100000"/>
              </a:lnSpc>
              <a:spcAft>
                <a:spcPts val="0"/>
              </a:spcAft>
            </a:pPr>
            <a:r>
              <a:rPr sz="2000" i="0">
                <a:solidFill>
                  <a:srgbClr val="7DCEA0"/>
                </a:solidFill>
                <a:latin typeface="Consolas"/>
              </a:rPr>
              <a:t>"""Chapter 18 lab -- symbolic language processing on ticket subjects.</a:t>
            </a:r>
          </a:p>
          <a:p>
            <a:pPr>
              <a:lnSpc>
                <a:spcPct val="100000"/>
              </a:lnSpc>
              <a:spcAft>
                <a:spcPts val="0"/>
              </a:spcAft>
            </a:pPr>
            <a:r>
              <a:rPr sz="2000">
                <a:latin typeface="Consolas"/>
              </a:rPr>
              <a:t> </a:t>
            </a:r>
          </a:p>
          <a:p>
            <a:pPr>
              <a:lnSpc>
                <a:spcPct val="100000"/>
              </a:lnSpc>
              <a:spcAft>
                <a:spcPts val="0"/>
              </a:spcAft>
            </a:pPr>
            <a:r>
              <a:rPr sz="2000" i="0">
                <a:solidFill>
                  <a:srgbClr val="7DCEA0"/>
                </a:solidFill>
                <a:latin typeface="Consolas"/>
              </a:rPr>
              <a:t>A CYK chart parser, a pattern-substitution responder in the style of</a:t>
            </a:r>
          </a:p>
          <a:p>
            <a:pPr>
              <a:lnSpc>
                <a:spcPct val="100000"/>
              </a:lnSpc>
              <a:spcAft>
                <a:spcPts val="0"/>
              </a:spcAft>
            </a:pPr>
            <a:r>
              <a:rPr sz="2000" i="0">
                <a:solidFill>
                  <a:srgbClr val="7DCEA0"/>
                </a:solidFill>
                <a:latin typeface="Consolas"/>
              </a:rPr>
              <a:t>Eliza, and a bigram model. Nothing here learns; the knowledge is in</a:t>
            </a:r>
          </a:p>
          <a:p>
            <a:pPr>
              <a:lnSpc>
                <a:spcPct val="100000"/>
              </a:lnSpc>
              <a:spcAft>
                <a:spcPts val="0"/>
              </a:spcAft>
            </a:pPr>
            <a:r>
              <a:rPr sz="2000" i="0">
                <a:solidFill>
                  <a:srgbClr val="7DCEA0"/>
                </a:solidFill>
                <a:latin typeface="Consolas"/>
              </a:rPr>
              <a:t>the grammar and the patterns.</a:t>
            </a:r>
          </a:p>
          <a:p>
            <a:pPr>
              <a:lnSpc>
                <a:spcPct val="100000"/>
              </a:lnSpc>
              <a:spcAft>
                <a:spcPts val="0"/>
              </a:spcAft>
            </a:pPr>
            <a:r>
              <a:rPr sz="2000" i="0">
                <a:solidFill>
                  <a:srgbClr val="7DCEA0"/>
                </a:solidFill>
                <a:latin typeface="Consolas"/>
              </a:rPr>
              <a:t>"""</a:t>
            </a:r>
          </a:p>
          <a:p>
            <a:pPr>
              <a:lnSpc>
                <a:spcPct val="100000"/>
              </a:lnSpc>
              <a:spcAft>
                <a:spcPts val="0"/>
              </a:spcAft>
            </a:pPr>
            <a:r>
              <a:rPr sz="2000">
                <a:latin typeface="Consolas"/>
              </a:rPr>
              <a:t> </a:t>
            </a:r>
          </a:p>
          <a:p>
            <a:pPr>
              <a:lnSpc>
                <a:spcPct val="100000"/>
              </a:lnSpc>
              <a:spcAft>
                <a:spcPts val="0"/>
              </a:spcAft>
            </a:pPr>
            <a:r>
              <a:rPr sz="2000" i="0">
                <a:solidFill>
                  <a:srgbClr val="5DADE2"/>
                </a:solidFill>
                <a:latin typeface="Consolas"/>
              </a:rPr>
              <a:t>import</a:t>
            </a:r>
            <a:r>
              <a:rPr sz="2000" i="0">
                <a:solidFill>
                  <a:srgbClr val="E8EDF2"/>
                </a:solidFill>
                <a:latin typeface="Consolas"/>
              </a:rPr>
              <a:t> </a:t>
            </a:r>
            <a:r>
              <a:rPr sz="2000" i="0">
                <a:solidFill>
                  <a:srgbClr val="76D7C4"/>
                </a:solidFill>
                <a:latin typeface="Consolas"/>
              </a:rPr>
              <a:t>re</a:t>
            </a:r>
          </a:p>
          <a:p>
            <a:pPr>
              <a:lnSpc>
                <a:spcPct val="100000"/>
              </a:lnSpc>
              <a:spcAft>
                <a:spcPts val="0"/>
              </a:spcAft>
            </a:pPr>
            <a:r>
              <a:rPr sz="2000" i="0">
                <a:solidFill>
                  <a:srgbClr val="5DADE2"/>
                </a:solidFill>
                <a:latin typeface="Consolas"/>
              </a:rPr>
              <a:t>from</a:t>
            </a:r>
            <a:r>
              <a:rPr sz="2000" i="0">
                <a:solidFill>
                  <a:srgbClr val="E8EDF2"/>
                </a:solidFill>
                <a:latin typeface="Consolas"/>
              </a:rPr>
              <a:t> </a:t>
            </a:r>
            <a:r>
              <a:rPr sz="2000" i="0">
                <a:solidFill>
                  <a:srgbClr val="76D7C4"/>
                </a:solidFill>
                <a:latin typeface="Consolas"/>
              </a:rPr>
              <a:t>collections</a:t>
            </a:r>
            <a:r>
              <a:rPr sz="2000" i="0">
                <a:solidFill>
                  <a:srgbClr val="E8EDF2"/>
                </a:solidFill>
                <a:latin typeface="Consolas"/>
              </a:rPr>
              <a:t> </a:t>
            </a:r>
            <a:r>
              <a:rPr sz="2000" i="0">
                <a:solidFill>
                  <a:srgbClr val="5DADE2"/>
                </a:solidFill>
                <a:latin typeface="Consolas"/>
              </a:rPr>
              <a:t>import</a:t>
            </a:r>
            <a:r>
              <a:rPr sz="2000" i="0">
                <a:solidFill>
                  <a:srgbClr val="E8EDF2"/>
                </a:solidFill>
                <a:latin typeface="Consolas"/>
              </a:rPr>
              <a:t> </a:t>
            </a:r>
            <a:r>
              <a:rPr sz="2000" i="0">
                <a:solidFill>
                  <a:srgbClr val="E8EDF2"/>
                </a:solidFill>
                <a:latin typeface="Consolas"/>
              </a:rPr>
              <a:t>defaultdict</a:t>
            </a:r>
          </a:p>
        </p:txBody>
      </p:sp>
      <p:sp>
        <p:nvSpPr>
          <p:cNvPr id="15" name="!!code-num"/>
          <p:cNvSpPr txBox="1"/>
          <p:nvPr/>
        </p:nvSpPr>
        <p:spPr>
          <a:xfrm>
            <a:off x="768096" y="2523744"/>
            <a:ext cx="393192" cy="2852927"/>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2</a:t>
            </a:r>
          </a:p>
          <a:p>
            <a:pPr algn="r">
              <a:lnSpc>
                <a:spcPct val="100000"/>
              </a:lnSpc>
            </a:pPr>
            <a:r>
              <a:rPr sz="2000">
                <a:solidFill>
                  <a:srgbClr val="4F5D6A"/>
                </a:solidFill>
                <a:latin typeface="Consolas"/>
              </a:rPr>
              <a:t>3</a:t>
            </a:r>
          </a:p>
          <a:p>
            <a:pPr algn="r">
              <a:lnSpc>
                <a:spcPct val="100000"/>
              </a:lnSpc>
            </a:pPr>
            <a:r>
              <a:rPr sz="2000">
                <a:solidFill>
                  <a:srgbClr val="4F5D6A"/>
                </a:solidFill>
                <a:latin typeface="Consolas"/>
              </a:rPr>
              <a:t>4</a:t>
            </a:r>
          </a:p>
          <a:p>
            <a:pPr algn="r">
              <a:lnSpc>
                <a:spcPct val="100000"/>
              </a:lnSpc>
            </a:pPr>
            <a:r>
              <a:rPr sz="2000">
                <a:solidFill>
                  <a:srgbClr val="4F5D6A"/>
                </a:solidFill>
                <a:latin typeface="Consolas"/>
              </a:rPr>
              <a:t>5</a:t>
            </a:r>
          </a:p>
          <a:p>
            <a:pPr algn="r">
              <a:lnSpc>
                <a:spcPct val="100000"/>
              </a:lnSpc>
            </a:pPr>
            <a:r>
              <a:rPr sz="2000">
                <a:solidFill>
                  <a:srgbClr val="4F5D6A"/>
                </a:solidFill>
                <a:latin typeface="Consolas"/>
              </a:rPr>
              <a:t>6</a:t>
            </a:r>
          </a:p>
          <a:p>
            <a:pPr algn="r">
              <a:lnSpc>
                <a:spcPct val="100000"/>
              </a:lnSpc>
            </a:pPr>
            <a:r>
              <a:rPr sz="2000">
                <a:solidFill>
                  <a:srgbClr val="4F5D6A"/>
                </a:solidFill>
                <a:latin typeface="Consolas"/>
              </a:rPr>
              <a:t>7</a:t>
            </a:r>
          </a:p>
          <a:p>
            <a:pPr algn="r">
              <a:lnSpc>
                <a:spcPct val="100000"/>
              </a:lnSpc>
            </a:pPr>
            <a:r>
              <a:rPr sz="2000">
                <a:solidFill>
                  <a:srgbClr val="4F5D6A"/>
                </a:solidFill>
                <a:latin typeface="Consolas"/>
              </a:rPr>
              <a:t>8</a:t>
            </a:r>
          </a:p>
          <a:p>
            <a:pPr algn="r">
              <a:lnSpc>
                <a:spcPct val="100000"/>
              </a:lnSpc>
            </a:pPr>
            <a:r>
              <a:rPr sz="2000">
                <a:solidFill>
                  <a:srgbClr val="4F5D6A"/>
                </a:solidFill>
                <a:latin typeface="Consolas"/>
              </a:rPr>
              <a:t>9</a:t>
            </a:r>
          </a:p>
          <a:p>
            <a:pPr algn="r">
              <a:lnSpc>
                <a:spcPct val="100000"/>
              </a:lnSpc>
            </a:pPr>
            <a:r>
              <a:rPr sz="2000">
                <a:solidFill>
                  <a:srgbClr val="4F5D6A"/>
                </a:solidFill>
                <a:latin typeface="Consolas"/>
              </a:rPr>
              <a:t>10</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5392480"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p:transition spd="med">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Parsing Ticket Subjects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2 OF 15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18  ·  Natural Language Processing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§18.7  ·  Handout p. 190     </a:t>
            </a:r>
            <a:fld id="{68E03E24-AF3A-497E-9F79-1F4F637DA558}" type="slidenum">
              <a:rPr lang="en-GB" sz="1000">
                <a:solidFill>
                  <a:srgbClr val="8795A1"/>
                </a:solidFill>
                <a:latin typeface="Segoe UI"/>
              </a:rPr>
              <a:t>24</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The grammar, in Chomsky normal form</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169663"/>
          </a:xfrm>
          <a:prstGeom prst="roundRect">
            <a:avLst>
              <a:gd name="adj" fmla="val 219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code/ch18_parsing_ticket.py</a:t>
            </a:r>
          </a:p>
        </p:txBody>
      </p:sp>
      <p:sp>
        <p:nvSpPr>
          <p:cNvPr id="14" name="!!code-text" descr="# --- the grammar, in Chomsky normal form --------------------------- RULES = [ (&quot;S&quot;, (&quot;VP&quot;,)), # imperative: &quot;restart the server&quot; (&quot;S&quot;, (&quot;NP&quot;, &quot;VP&quot;)), # statement: &quot;the server crashed&quot; (&quot;VP&quot;, (&quot;V&quot;, &quot;NP&quot;)), (&quot;VP&quot;, (&quot;VP&quot;, &quot;PP&quot;)), # PP attaches to the verb phrase (&quot;NP&quot;, (&quot;Det&quot;, &quot;N&quot;)), (&quot;NP&quot;, (&quot;NP&quot;, &quot;PP&quot;)), # ... or to the noun phrase (&quot;PP&quot;, (&quot;P&quot;, &quot;NP&quot;)), (&quot;N&quot;, (&quot;N&quot;, &quot;N&quot;)), # noun compound: &quot;payments gateway&quot; ] LEXICON = { &quot;restart&quot;: [&quot;V&quot;], &quot;check&quot;: [&quot;V&quot;], &quot;fix&quot;: [&quot;V&quot;], &quot;server&quot;: [&quot;N&quot;], &quot;payments&quot;: [&quot;N&quot;], &quot;login&quot;: [&quot;N&quot;], &quot;error&quot;: [&quot;N&quot;], &quot;timeout&quot;: [&quot;N&quot;], &quot;gateway&quot;: [&quot;N&quot;], &quot;the&quot;: [&quot;Det&quot;], &quot;a&quot;: [&quot;Det&quot;], &quot;on&quot;: [&quot;P&quot;], &quot;after&quot;: [&quot;P&quot;], &quot;in&quot;: [&quot;P&quot;], }"/>
          <p:cNvSpPr txBox="1"/>
          <p:nvPr/>
        </p:nvSpPr>
        <p:spPr>
          <a:xfrm>
            <a:off x="1362456" y="2523744"/>
            <a:ext cx="9987991" cy="3675887"/>
          </a:xfrm>
          <a:prstGeom prst="rect">
            <a:avLst/>
          </a:prstGeom>
          <a:noFill/>
        </p:spPr>
        <p:txBody>
          <a:bodyPr wrap="none" anchor="t" lIns="0" rIns="0" tIns="0" bIns="0">
            <a:noAutofit/>
          </a:bodyPr>
          <a:lstStyle/>
          <a:p>
            <a:pPr>
              <a:lnSpc>
                <a:spcPct val="100000"/>
              </a:lnSpc>
              <a:spcAft>
                <a:spcPts val="0"/>
              </a:spcAft>
            </a:pPr>
            <a:r>
              <a:rPr sz="1300" i="1">
                <a:solidFill>
                  <a:srgbClr val="8795A1"/>
                </a:solidFill>
                <a:latin typeface="Consolas"/>
              </a:rPr>
              <a:t># --- the grammar, in Chomsky normal form ---------------------------</a:t>
            </a:r>
          </a:p>
          <a:p>
            <a:pPr>
              <a:lnSpc>
                <a:spcPct val="100000"/>
              </a:lnSpc>
              <a:spcAft>
                <a:spcPts val="0"/>
              </a:spcAft>
            </a:pPr>
            <a:r>
              <a:rPr sz="1300" i="0">
                <a:solidFill>
                  <a:srgbClr val="E8EDF2"/>
                </a:solidFill>
                <a:latin typeface="Consolas"/>
              </a:rPr>
              <a:t>RULES</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S</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VP</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1">
                <a:solidFill>
                  <a:srgbClr val="8795A1"/>
                </a:solidFill>
                <a:latin typeface="Consolas"/>
              </a:rPr>
              <a:t># imperative: "restart the server"</a:t>
            </a:r>
          </a:p>
          <a:p>
            <a:pPr>
              <a:lnSpc>
                <a:spcPct val="100000"/>
              </a:lnSpc>
              <a:spcAft>
                <a:spcPts val="0"/>
              </a:spcAft>
            </a:pP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S</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NP</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VP</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1">
                <a:solidFill>
                  <a:srgbClr val="8795A1"/>
                </a:solidFill>
                <a:latin typeface="Consolas"/>
              </a:rPr>
              <a:t># statement:  "the server crashed"</a:t>
            </a:r>
          </a:p>
          <a:p>
            <a:pPr>
              <a:lnSpc>
                <a:spcPct val="100000"/>
              </a:lnSpc>
              <a:spcAft>
                <a:spcPts val="0"/>
              </a:spcAft>
            </a:pP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VP</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V</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NP</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VP</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VP</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PP</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1">
                <a:solidFill>
                  <a:srgbClr val="8795A1"/>
                </a:solidFill>
                <a:latin typeface="Consolas"/>
              </a:rPr>
              <a:t># PP attaches to the verb phrase</a:t>
            </a:r>
          </a:p>
          <a:p>
            <a:pPr>
              <a:lnSpc>
                <a:spcPct val="100000"/>
              </a:lnSpc>
              <a:spcAft>
                <a:spcPts val="0"/>
              </a:spcAft>
            </a:pP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NP</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Det</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N</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NP</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NP</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PP</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1">
                <a:solidFill>
                  <a:srgbClr val="8795A1"/>
                </a:solidFill>
                <a:latin typeface="Consolas"/>
              </a:rPr>
              <a:t># ... or to the noun phrase</a:t>
            </a:r>
          </a:p>
          <a:p>
            <a:pPr>
              <a:lnSpc>
                <a:spcPct val="100000"/>
              </a:lnSpc>
              <a:spcAft>
                <a:spcPts val="0"/>
              </a:spcAft>
            </a:pP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PP</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P</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NP</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N</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N</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N</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1">
                <a:solidFill>
                  <a:srgbClr val="8795A1"/>
                </a:solidFill>
                <a:latin typeface="Consolas"/>
              </a:rPr>
              <a:t># noun compound: "payments gateway"</a:t>
            </a:r>
          </a:p>
          <a:p>
            <a:pPr>
              <a:lnSpc>
                <a:spcPct val="100000"/>
              </a:lnSpc>
              <a:spcAft>
                <a:spcPts val="0"/>
              </a:spcAft>
            </a:pPr>
            <a:r>
              <a:rPr sz="1300" i="0">
                <a:solidFill>
                  <a:srgbClr val="AEB6BF"/>
                </a:solidFill>
                <a:latin typeface="Consolas"/>
              </a:rPr>
              <a:t>]</a:t>
            </a:r>
          </a:p>
          <a:p>
            <a:pPr>
              <a:lnSpc>
                <a:spcPct val="100000"/>
              </a:lnSpc>
              <a:spcAft>
                <a:spcPts val="0"/>
              </a:spcAft>
            </a:pPr>
            <a:r>
              <a:rPr sz="1300" i="0">
                <a:solidFill>
                  <a:srgbClr val="E8EDF2"/>
                </a:solidFill>
                <a:latin typeface="Consolas"/>
              </a:rPr>
              <a:t>LEXICON</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restart</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V</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check</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V</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fix</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V</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server</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N</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payments</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N</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login</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N</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error</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N</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timeout</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N</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gateway</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N</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the</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Det</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a</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Det</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on</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P</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after</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P</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in</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P</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AEB6BF"/>
                </a:solidFill>
                <a:latin typeface="Consolas"/>
              </a:rPr>
              <a:t>}</a:t>
            </a:r>
          </a:p>
        </p:txBody>
      </p:sp>
      <p:sp>
        <p:nvSpPr>
          <p:cNvPr id="15" name="!!code-num"/>
          <p:cNvSpPr txBox="1"/>
          <p:nvPr/>
        </p:nvSpPr>
        <p:spPr>
          <a:xfrm>
            <a:off x="768096" y="2523744"/>
            <a:ext cx="393192" cy="3675887"/>
          </a:xfrm>
          <a:prstGeom prst="rect">
            <a:avLst/>
          </a:prstGeom>
          <a:noFill/>
        </p:spPr>
        <p:txBody>
          <a:bodyPr wrap="none" anchor="t" lIns="0" rIns="0" tIns="0" bIns="0">
            <a:noAutofit/>
          </a:bodyPr>
          <a:lstStyle/>
          <a:p>
            <a:pPr algn="r">
              <a:lnSpc>
                <a:spcPct val="100000"/>
              </a:lnSpc>
            </a:pPr>
            <a:r>
              <a:rPr sz="1300">
                <a:solidFill>
                  <a:srgbClr val="4F5D6A"/>
                </a:solidFill>
                <a:latin typeface="Consolas"/>
              </a:rPr>
              <a:t>12</a:t>
            </a:r>
          </a:p>
          <a:p>
            <a:pPr algn="r">
              <a:lnSpc>
                <a:spcPct val="100000"/>
              </a:lnSpc>
            </a:pPr>
            <a:r>
              <a:rPr sz="1300">
                <a:solidFill>
                  <a:srgbClr val="4F5D6A"/>
                </a:solidFill>
                <a:latin typeface="Consolas"/>
              </a:rPr>
              <a:t>13</a:t>
            </a:r>
          </a:p>
          <a:p>
            <a:pPr algn="r">
              <a:lnSpc>
                <a:spcPct val="100000"/>
              </a:lnSpc>
            </a:pPr>
            <a:r>
              <a:rPr sz="1300">
                <a:solidFill>
                  <a:srgbClr val="4F5D6A"/>
                </a:solidFill>
                <a:latin typeface="Consolas"/>
              </a:rPr>
              <a:t>14</a:t>
            </a:r>
          </a:p>
          <a:p>
            <a:pPr algn="r">
              <a:lnSpc>
                <a:spcPct val="100000"/>
              </a:lnSpc>
            </a:pPr>
            <a:r>
              <a:rPr sz="1300">
                <a:solidFill>
                  <a:srgbClr val="4F5D6A"/>
                </a:solidFill>
                <a:latin typeface="Consolas"/>
              </a:rPr>
              <a:t>15</a:t>
            </a:r>
          </a:p>
          <a:p>
            <a:pPr algn="r">
              <a:lnSpc>
                <a:spcPct val="100000"/>
              </a:lnSpc>
            </a:pPr>
            <a:r>
              <a:rPr sz="1300">
                <a:solidFill>
                  <a:srgbClr val="4F5D6A"/>
                </a:solidFill>
                <a:latin typeface="Consolas"/>
              </a:rPr>
              <a:t>16</a:t>
            </a:r>
          </a:p>
          <a:p>
            <a:pPr algn="r">
              <a:lnSpc>
                <a:spcPct val="100000"/>
              </a:lnSpc>
            </a:pPr>
            <a:r>
              <a:rPr sz="1300">
                <a:solidFill>
                  <a:srgbClr val="4F5D6A"/>
                </a:solidFill>
                <a:latin typeface="Consolas"/>
              </a:rPr>
              <a:t>17</a:t>
            </a:r>
          </a:p>
          <a:p>
            <a:pPr algn="r">
              <a:lnSpc>
                <a:spcPct val="100000"/>
              </a:lnSpc>
            </a:pPr>
            <a:r>
              <a:rPr sz="1300">
                <a:solidFill>
                  <a:srgbClr val="4F5D6A"/>
                </a:solidFill>
                <a:latin typeface="Consolas"/>
              </a:rPr>
              <a:t>18</a:t>
            </a:r>
          </a:p>
          <a:p>
            <a:pPr algn="r">
              <a:lnSpc>
                <a:spcPct val="100000"/>
              </a:lnSpc>
            </a:pPr>
            <a:r>
              <a:rPr sz="1300">
                <a:solidFill>
                  <a:srgbClr val="4F5D6A"/>
                </a:solidFill>
                <a:latin typeface="Consolas"/>
              </a:rPr>
              <a:t>19</a:t>
            </a:r>
          </a:p>
          <a:p>
            <a:pPr algn="r">
              <a:lnSpc>
                <a:spcPct val="100000"/>
              </a:lnSpc>
            </a:pPr>
            <a:r>
              <a:rPr sz="1300">
                <a:solidFill>
                  <a:srgbClr val="4F5D6A"/>
                </a:solidFill>
                <a:latin typeface="Consolas"/>
              </a:rPr>
              <a:t>20</a:t>
            </a:r>
          </a:p>
          <a:p>
            <a:pPr algn="r">
              <a:lnSpc>
                <a:spcPct val="100000"/>
              </a:lnSpc>
            </a:pPr>
            <a:r>
              <a:rPr sz="1300">
                <a:solidFill>
                  <a:srgbClr val="4F5D6A"/>
                </a:solidFill>
                <a:latin typeface="Consolas"/>
              </a:rPr>
              <a:t>21</a:t>
            </a:r>
          </a:p>
          <a:p>
            <a:pPr algn="r">
              <a:lnSpc>
                <a:spcPct val="100000"/>
              </a:lnSpc>
            </a:pPr>
            <a:r>
              <a:rPr sz="1300">
                <a:solidFill>
                  <a:srgbClr val="4F5D6A"/>
                </a:solidFill>
                <a:latin typeface="Consolas"/>
              </a:rPr>
              <a:t>22</a:t>
            </a:r>
          </a:p>
          <a:p>
            <a:pPr algn="r">
              <a:lnSpc>
                <a:spcPct val="100000"/>
              </a:lnSpc>
            </a:pPr>
            <a:r>
              <a:rPr sz="1300">
                <a:solidFill>
                  <a:srgbClr val="4F5D6A"/>
                </a:solidFill>
                <a:latin typeface="Consolas"/>
              </a:rPr>
              <a:t>23</a:t>
            </a:r>
          </a:p>
          <a:p>
            <a:pPr algn="r">
              <a:lnSpc>
                <a:spcPct val="100000"/>
              </a:lnSpc>
            </a:pPr>
            <a:r>
              <a:rPr sz="1300">
                <a:solidFill>
                  <a:srgbClr val="4F5D6A"/>
                </a:solidFill>
                <a:latin typeface="Consolas"/>
              </a:rPr>
              <a:t>24</a:t>
            </a:r>
          </a:p>
          <a:p>
            <a:pPr algn="r">
              <a:lnSpc>
                <a:spcPct val="100000"/>
              </a:lnSpc>
            </a:pPr>
            <a:r>
              <a:rPr sz="1300">
                <a:solidFill>
                  <a:srgbClr val="4F5D6A"/>
                </a:solidFill>
                <a:latin typeface="Consolas"/>
              </a:rPr>
              <a:t>25</a:t>
            </a:r>
          </a:p>
          <a:p>
            <a:pPr algn="r">
              <a:lnSpc>
                <a:spcPct val="100000"/>
              </a:lnSpc>
            </a:pPr>
            <a:r>
              <a:rPr sz="1300">
                <a:solidFill>
                  <a:srgbClr val="4F5D6A"/>
                </a:solidFill>
                <a:latin typeface="Consolas"/>
              </a:rPr>
              <a:t>26</a:t>
            </a:r>
          </a:p>
          <a:p>
            <a:pPr algn="r">
              <a:lnSpc>
                <a:spcPct val="100000"/>
              </a:lnSpc>
            </a:pPr>
            <a:r>
              <a:rPr sz="1300">
                <a:solidFill>
                  <a:srgbClr val="4F5D6A"/>
                </a:solidFill>
                <a:latin typeface="Consolas"/>
              </a:rPr>
              <a:t>27</a:t>
            </a:r>
          </a:p>
          <a:p>
            <a:pPr algn="r">
              <a:lnSpc>
                <a:spcPct val="100000"/>
              </a:lnSpc>
            </a:pPr>
            <a:r>
              <a:rPr sz="1300">
                <a:solidFill>
                  <a:srgbClr val="4F5D6A"/>
                </a:solidFill>
                <a:latin typeface="Consolas"/>
              </a:rPr>
              <a:t>28</a:t>
            </a:r>
          </a:p>
          <a:p>
            <a:pPr algn="r">
              <a:lnSpc>
                <a:spcPct val="100000"/>
              </a:lnSpc>
            </a:pPr>
            <a:r>
              <a:rPr sz="1300">
                <a:solidFill>
                  <a:srgbClr val="4F5D6A"/>
                </a:solidFill>
                <a:latin typeface="Consolas"/>
              </a:rPr>
              <a:t>29</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5626936"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Parsing Ticket Subjects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3 OF 15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18  ·  Natural Language Processing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§18.7  ·  Handout p. 190     </a:t>
            </a:r>
            <a:fld id="{2AA45FF4-F965-42F2-84F1-26F33B09B630}" type="slidenum">
              <a:rPr lang="en-GB" sz="1000">
                <a:solidFill>
                  <a:srgbClr val="8795A1"/>
                </a:solidFill>
                <a:latin typeface="Segoe UI"/>
              </a:rPr>
              <a:t>25</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The grammar, in Chomsky normal form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17264"/>
          </a:xfrm>
          <a:prstGeom prst="roundRect">
            <a:avLst>
              <a:gd name="adj" fmla="val 227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code/ch18_parsing_ticket.py</a:t>
            </a:r>
          </a:p>
        </p:txBody>
      </p:sp>
      <p:sp>
        <p:nvSpPr>
          <p:cNvPr id="14" name="!!code-text" descr="def cyk(words): &quot;&quot;&quot;Fill the triangular chart. Returns (chart, back-pointers).&quot;&quot;&quot; n = len(words) chart = defaultdict(set) back = defaultdict(list) def close(cell): &quot;&quot;&quot;Apply unit rules such as S -&gt; VP until nothing changes.&quot;&quot;&quot; changed = True while changed: changed = False for (lhs, rhs) in RULES: if len(rhs) == 1 and rhs[0] in chart[cell] \ and lhs not in chart[cell]: chart[cell].add(lhs) changed = True"/>
          <p:cNvSpPr txBox="1"/>
          <p:nvPr/>
        </p:nvSpPr>
        <p:spPr>
          <a:xfrm>
            <a:off x="1362456" y="2523744"/>
            <a:ext cx="9987991" cy="3523487"/>
          </a:xfrm>
          <a:prstGeom prst="rect">
            <a:avLst/>
          </a:prstGeom>
          <a:noFill/>
        </p:spPr>
        <p:txBody>
          <a:bodyPr wrap="none" anchor="t" lIns="0" rIns="0" tIns="0" bIns="0">
            <a:noAutofit/>
          </a:bodyPr>
          <a:lstStyle/>
          <a:p>
            <a:pPr>
              <a:lnSpc>
                <a:spcPct val="100000"/>
              </a:lnSpc>
              <a:spcAft>
                <a:spcPts val="0"/>
              </a:spcAft>
            </a:pPr>
            <a:r>
              <a:rPr sz="1400" i="0">
                <a:solidFill>
                  <a:srgbClr val="5DADE2"/>
                </a:solidFill>
                <a:latin typeface="Consolas"/>
              </a:rPr>
              <a:t>def</a:t>
            </a:r>
            <a:r>
              <a:rPr sz="1400" i="0">
                <a:solidFill>
                  <a:srgbClr val="E8EDF2"/>
                </a:solidFill>
                <a:latin typeface="Consolas"/>
              </a:rPr>
              <a:t> </a:t>
            </a:r>
            <a:r>
              <a:rPr sz="1400" i="0">
                <a:solidFill>
                  <a:srgbClr val="C39BD3"/>
                </a:solidFill>
                <a:latin typeface="Consolas"/>
              </a:rPr>
              <a:t>cyk</a:t>
            </a:r>
            <a:r>
              <a:rPr sz="1400" i="0">
                <a:solidFill>
                  <a:srgbClr val="AEB6BF"/>
                </a:solidFill>
                <a:latin typeface="Consolas"/>
              </a:rPr>
              <a:t>(</a:t>
            </a:r>
            <a:r>
              <a:rPr sz="1400" i="0">
                <a:solidFill>
                  <a:srgbClr val="E8EDF2"/>
                </a:solidFill>
                <a:latin typeface="Consolas"/>
              </a:rPr>
              <a:t>words</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7DCEA0"/>
                </a:solidFill>
                <a:latin typeface="Consolas"/>
              </a:rPr>
              <a:t>"""Fill the triangular chart. Returns (chart, back-pointers)."""</a:t>
            </a:r>
          </a:p>
          <a:p>
            <a:pPr>
              <a:lnSpc>
                <a:spcPct val="100000"/>
              </a:lnSpc>
              <a:spcAft>
                <a:spcPts val="0"/>
              </a:spcAft>
            </a:pPr>
            <a:r>
              <a:rPr sz="1400" i="0">
                <a:solidFill>
                  <a:srgbClr val="E8EDF2"/>
                </a:solidFill>
                <a:latin typeface="Consolas"/>
              </a:rPr>
              <a:t>    </a:t>
            </a:r>
            <a:r>
              <a:rPr sz="1400" i="0">
                <a:solidFill>
                  <a:srgbClr val="E8EDF2"/>
                </a:solidFill>
                <a:latin typeface="Consolas"/>
              </a:rPr>
              <a:t>n</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C39BD3"/>
                </a:solidFill>
                <a:latin typeface="Consolas"/>
              </a:rPr>
              <a:t>len</a:t>
            </a:r>
            <a:r>
              <a:rPr sz="1400" i="0">
                <a:solidFill>
                  <a:srgbClr val="AEB6BF"/>
                </a:solidFill>
                <a:latin typeface="Consolas"/>
              </a:rPr>
              <a:t>(</a:t>
            </a:r>
            <a:r>
              <a:rPr sz="1400" i="0">
                <a:solidFill>
                  <a:srgbClr val="E8EDF2"/>
                </a:solidFill>
                <a:latin typeface="Consolas"/>
              </a:rPr>
              <a:t>words</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chart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defaultdict</a:t>
            </a:r>
            <a:r>
              <a:rPr sz="1400" i="0">
                <a:solidFill>
                  <a:srgbClr val="AEB6BF"/>
                </a:solidFill>
                <a:latin typeface="Consolas"/>
              </a:rPr>
              <a:t>(</a:t>
            </a:r>
            <a:r>
              <a:rPr sz="1400" i="0">
                <a:solidFill>
                  <a:srgbClr val="C39BD3"/>
                </a:solidFill>
                <a:latin typeface="Consolas"/>
              </a:rPr>
              <a:t>set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back</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defaultdict</a:t>
            </a:r>
            <a:r>
              <a:rPr sz="1400" i="0">
                <a:solidFill>
                  <a:srgbClr val="AEB6BF"/>
                </a:solidFill>
                <a:latin typeface="Consolas"/>
              </a:rPr>
              <a:t>(</a:t>
            </a:r>
            <a:r>
              <a:rPr sz="1400" i="0">
                <a:solidFill>
                  <a:srgbClr val="C39BD3"/>
                </a:solidFill>
                <a:latin typeface="Consolas"/>
              </a:rPr>
              <a:t>list</a:t>
            </a:r>
            <a:r>
              <a:rPr sz="1400" i="0">
                <a:solidFill>
                  <a:srgbClr val="AEB6BF"/>
                </a:solidFill>
                <a:latin typeface="Consolas"/>
              </a:rPr>
              <a:t>)</a:t>
            </a:r>
          </a:p>
          <a:p>
            <a:pPr>
              <a:lnSpc>
                <a:spcPct val="100000"/>
              </a:lnSpc>
              <a:spcAft>
                <a:spcPts val="0"/>
              </a:spcAft>
            </a:pPr>
            <a:r>
              <a:rPr sz="1400">
                <a:latin typeface="Consolas"/>
              </a:rPr>
              <a:t> </a:t>
            </a:r>
          </a:p>
          <a:p>
            <a:pPr>
              <a:lnSpc>
                <a:spcPct val="100000"/>
              </a:lnSpc>
              <a:spcAft>
                <a:spcPts val="0"/>
              </a:spcAft>
            </a:pPr>
            <a:r>
              <a:rPr sz="1400" i="0">
                <a:solidFill>
                  <a:srgbClr val="E8EDF2"/>
                </a:solidFill>
                <a:latin typeface="Consolas"/>
              </a:rPr>
              <a:t>    </a:t>
            </a:r>
            <a:r>
              <a:rPr sz="1400" i="0">
                <a:solidFill>
                  <a:srgbClr val="5DADE2"/>
                </a:solidFill>
                <a:latin typeface="Consolas"/>
              </a:rPr>
              <a:t>def</a:t>
            </a:r>
            <a:r>
              <a:rPr sz="1400" i="0">
                <a:solidFill>
                  <a:srgbClr val="E8EDF2"/>
                </a:solidFill>
                <a:latin typeface="Consolas"/>
              </a:rPr>
              <a:t> </a:t>
            </a:r>
            <a:r>
              <a:rPr sz="1400" i="0">
                <a:solidFill>
                  <a:srgbClr val="C39BD3"/>
                </a:solidFill>
                <a:latin typeface="Consolas"/>
              </a:rPr>
              <a:t>close</a:t>
            </a:r>
            <a:r>
              <a:rPr sz="1400" i="0">
                <a:solidFill>
                  <a:srgbClr val="AEB6BF"/>
                </a:solidFill>
                <a:latin typeface="Consolas"/>
              </a:rPr>
              <a:t>(</a:t>
            </a:r>
            <a:r>
              <a:rPr sz="1400" i="0">
                <a:solidFill>
                  <a:srgbClr val="E8EDF2"/>
                </a:solidFill>
                <a:latin typeface="Consolas"/>
              </a:rPr>
              <a:t>cell</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7DCEA0"/>
                </a:solidFill>
                <a:latin typeface="Consolas"/>
              </a:rPr>
              <a:t>"""Apply unit rules such as S -&gt; VP until nothing changes."""</a:t>
            </a:r>
          </a:p>
          <a:p>
            <a:pPr>
              <a:lnSpc>
                <a:spcPct val="100000"/>
              </a:lnSpc>
              <a:spcAft>
                <a:spcPts val="0"/>
              </a:spcAft>
            </a:pPr>
            <a:r>
              <a:rPr sz="1400" i="0">
                <a:solidFill>
                  <a:srgbClr val="E8EDF2"/>
                </a:solidFill>
                <a:latin typeface="Consolas"/>
              </a:rPr>
              <a:t>        </a:t>
            </a:r>
            <a:r>
              <a:rPr sz="1400" i="0">
                <a:solidFill>
                  <a:srgbClr val="E8EDF2"/>
                </a:solidFill>
                <a:latin typeface="Consolas"/>
              </a:rPr>
              <a:t>changed</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5DADE2"/>
                </a:solidFill>
                <a:latin typeface="Consolas"/>
              </a:rPr>
              <a:t>True</a:t>
            </a:r>
          </a:p>
          <a:p>
            <a:pPr>
              <a:lnSpc>
                <a:spcPct val="100000"/>
              </a:lnSpc>
              <a:spcAft>
                <a:spcPts val="0"/>
              </a:spcAft>
            </a:pPr>
            <a:r>
              <a:rPr sz="1400" i="0">
                <a:solidFill>
                  <a:srgbClr val="E8EDF2"/>
                </a:solidFill>
                <a:latin typeface="Consolas"/>
              </a:rPr>
              <a:t>        </a:t>
            </a:r>
            <a:r>
              <a:rPr sz="1400" i="0">
                <a:solidFill>
                  <a:srgbClr val="5DADE2"/>
                </a:solidFill>
                <a:latin typeface="Consolas"/>
              </a:rPr>
              <a:t>while</a:t>
            </a:r>
            <a:r>
              <a:rPr sz="1400" i="0">
                <a:solidFill>
                  <a:srgbClr val="E8EDF2"/>
                </a:solidFill>
                <a:latin typeface="Consolas"/>
              </a:rPr>
              <a:t> </a:t>
            </a:r>
            <a:r>
              <a:rPr sz="1400" i="0">
                <a:solidFill>
                  <a:srgbClr val="E8EDF2"/>
                </a:solidFill>
                <a:latin typeface="Consolas"/>
              </a:rPr>
              <a:t>changed</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changed</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5DADE2"/>
                </a:solidFill>
                <a:latin typeface="Consolas"/>
              </a:rPr>
              <a:t>False</a:t>
            </a:r>
          </a:p>
          <a:p>
            <a:pPr>
              <a:lnSpc>
                <a:spcPct val="100000"/>
              </a:lnSpc>
              <a:spcAft>
                <a:spcPts val="0"/>
              </a:spcAft>
            </a:pPr>
            <a:r>
              <a:rPr sz="1400" i="0">
                <a:solidFill>
                  <a:srgbClr val="E8EDF2"/>
                </a:solidFill>
                <a:latin typeface="Consolas"/>
              </a:rPr>
              <a:t>            </a:t>
            </a:r>
            <a:r>
              <a:rPr sz="1400" i="0">
                <a:solidFill>
                  <a:srgbClr val="5DADE2"/>
                </a:solidFill>
                <a:latin typeface="Consolas"/>
              </a:rPr>
              <a:t>for</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lhs</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rhs</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in</a:t>
            </a:r>
            <a:r>
              <a:rPr sz="1400" i="0">
                <a:solidFill>
                  <a:srgbClr val="E8EDF2"/>
                </a:solidFill>
                <a:latin typeface="Consolas"/>
              </a:rPr>
              <a:t> </a:t>
            </a:r>
            <a:r>
              <a:rPr sz="1400" i="0">
                <a:solidFill>
                  <a:srgbClr val="E8EDF2"/>
                </a:solidFill>
                <a:latin typeface="Consolas"/>
              </a:rPr>
              <a:t>RULES</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if</a:t>
            </a:r>
            <a:r>
              <a:rPr sz="1400" i="0">
                <a:solidFill>
                  <a:srgbClr val="E8EDF2"/>
                </a:solidFill>
                <a:latin typeface="Consolas"/>
              </a:rPr>
              <a:t> </a:t>
            </a:r>
            <a:r>
              <a:rPr sz="1400" i="0">
                <a:solidFill>
                  <a:srgbClr val="C39BD3"/>
                </a:solidFill>
                <a:latin typeface="Consolas"/>
              </a:rPr>
              <a:t>len</a:t>
            </a:r>
            <a:r>
              <a:rPr sz="1400" i="0">
                <a:solidFill>
                  <a:srgbClr val="AEB6BF"/>
                </a:solidFill>
                <a:latin typeface="Consolas"/>
              </a:rPr>
              <a:t>(</a:t>
            </a:r>
            <a:r>
              <a:rPr sz="1400" i="0">
                <a:solidFill>
                  <a:srgbClr val="E8EDF2"/>
                </a:solidFill>
                <a:latin typeface="Consolas"/>
              </a:rPr>
              <a:t>rhs</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1</a:t>
            </a:r>
            <a:r>
              <a:rPr sz="1400" i="0">
                <a:solidFill>
                  <a:srgbClr val="E8EDF2"/>
                </a:solidFill>
                <a:latin typeface="Consolas"/>
              </a:rPr>
              <a:t> </a:t>
            </a:r>
            <a:r>
              <a:rPr sz="1400" i="0">
                <a:solidFill>
                  <a:srgbClr val="AEB6BF"/>
                </a:solidFill>
                <a:latin typeface="Consolas"/>
              </a:rPr>
              <a:t>and</a:t>
            </a:r>
            <a:r>
              <a:rPr sz="1400" i="0">
                <a:solidFill>
                  <a:srgbClr val="E8EDF2"/>
                </a:solidFill>
                <a:latin typeface="Consolas"/>
              </a:rPr>
              <a:t> </a:t>
            </a:r>
            <a:r>
              <a:rPr sz="1400" i="0">
                <a:solidFill>
                  <a:srgbClr val="E8EDF2"/>
                </a:solidFill>
                <a:latin typeface="Consolas"/>
              </a:rPr>
              <a:t>rhs</a:t>
            </a:r>
            <a:r>
              <a:rPr sz="1400" i="0">
                <a:solidFill>
                  <a:srgbClr val="AEB6BF"/>
                </a:solidFill>
                <a:latin typeface="Consolas"/>
              </a:rPr>
              <a:t>[</a:t>
            </a:r>
            <a:r>
              <a:rPr sz="1400" i="0">
                <a:solidFill>
                  <a:srgbClr val="F7DC6F"/>
                </a:solidFill>
                <a:latin typeface="Consolas"/>
              </a:rPr>
              <a:t>0</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in</a:t>
            </a:r>
            <a:r>
              <a:rPr sz="1400" i="0">
                <a:solidFill>
                  <a:srgbClr val="E8EDF2"/>
                </a:solidFill>
                <a:latin typeface="Consolas"/>
              </a:rPr>
              <a:t> </a:t>
            </a:r>
            <a:r>
              <a:rPr sz="1400" i="0">
                <a:solidFill>
                  <a:srgbClr val="E8EDF2"/>
                </a:solidFill>
                <a:latin typeface="Consolas"/>
              </a:rPr>
              <a:t>chart</a:t>
            </a:r>
            <a:r>
              <a:rPr sz="1400" i="0">
                <a:solidFill>
                  <a:srgbClr val="AEB6BF"/>
                </a:solidFill>
                <a:latin typeface="Consolas"/>
              </a:rPr>
              <a:t>[</a:t>
            </a:r>
            <a:r>
              <a:rPr sz="1400" i="0">
                <a:solidFill>
                  <a:srgbClr val="E8EDF2"/>
                </a:solidFill>
                <a:latin typeface="Consolas"/>
              </a:rPr>
              <a:t>cell</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a:t>
            </a:r>
          </a:p>
          <a:p>
            <a:pPr>
              <a:lnSpc>
                <a:spcPct val="100000"/>
              </a:lnSpc>
              <a:spcAft>
                <a:spcPts val="0"/>
              </a:spcAft>
            </a:pPr>
            <a:r>
              <a:rPr sz="1400" i="0">
                <a:solidFill>
                  <a:srgbClr val="E8EDF2"/>
                </a:solidFill>
                <a:latin typeface="Consolas"/>
              </a:rPr>
              <a:t>                        </a:t>
            </a:r>
            <a:r>
              <a:rPr sz="1400" i="0">
                <a:solidFill>
                  <a:srgbClr val="AEB6BF"/>
                </a:solidFill>
                <a:latin typeface="Consolas"/>
              </a:rPr>
              <a:t>and</a:t>
            </a:r>
            <a:r>
              <a:rPr sz="1400" i="0">
                <a:solidFill>
                  <a:srgbClr val="E8EDF2"/>
                </a:solidFill>
                <a:latin typeface="Consolas"/>
              </a:rPr>
              <a:t> </a:t>
            </a:r>
            <a:r>
              <a:rPr sz="1400" i="0">
                <a:solidFill>
                  <a:srgbClr val="E8EDF2"/>
                </a:solidFill>
                <a:latin typeface="Consolas"/>
              </a:rPr>
              <a:t>lhs</a:t>
            </a:r>
            <a:r>
              <a:rPr sz="1400" i="0">
                <a:solidFill>
                  <a:srgbClr val="E8EDF2"/>
                </a:solidFill>
                <a:latin typeface="Consolas"/>
              </a:rPr>
              <a:t> </a:t>
            </a:r>
            <a:r>
              <a:rPr sz="1400" i="0">
                <a:solidFill>
                  <a:srgbClr val="AEB6BF"/>
                </a:solidFill>
                <a:latin typeface="Consolas"/>
              </a:rPr>
              <a:t>not</a:t>
            </a:r>
            <a:r>
              <a:rPr sz="1400" i="0">
                <a:solidFill>
                  <a:srgbClr val="E8EDF2"/>
                </a:solidFill>
                <a:latin typeface="Consolas"/>
              </a:rPr>
              <a:t> </a:t>
            </a:r>
            <a:r>
              <a:rPr sz="1400" i="0">
                <a:solidFill>
                  <a:srgbClr val="AEB6BF"/>
                </a:solidFill>
                <a:latin typeface="Consolas"/>
              </a:rPr>
              <a:t>in</a:t>
            </a:r>
            <a:r>
              <a:rPr sz="1400" i="0">
                <a:solidFill>
                  <a:srgbClr val="E8EDF2"/>
                </a:solidFill>
                <a:latin typeface="Consolas"/>
              </a:rPr>
              <a:t> </a:t>
            </a:r>
            <a:r>
              <a:rPr sz="1400" i="0">
                <a:solidFill>
                  <a:srgbClr val="E8EDF2"/>
                </a:solidFill>
                <a:latin typeface="Consolas"/>
              </a:rPr>
              <a:t>chart</a:t>
            </a:r>
            <a:r>
              <a:rPr sz="1400" i="0">
                <a:solidFill>
                  <a:srgbClr val="AEB6BF"/>
                </a:solidFill>
                <a:latin typeface="Consolas"/>
              </a:rPr>
              <a:t>[</a:t>
            </a:r>
            <a:r>
              <a:rPr sz="1400" i="0">
                <a:solidFill>
                  <a:srgbClr val="E8EDF2"/>
                </a:solidFill>
                <a:latin typeface="Consolas"/>
              </a:rPr>
              <a:t>cell</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chart</a:t>
            </a:r>
            <a:r>
              <a:rPr sz="1400" i="0">
                <a:solidFill>
                  <a:srgbClr val="AEB6BF"/>
                </a:solidFill>
                <a:latin typeface="Consolas"/>
              </a:rPr>
              <a:t>[</a:t>
            </a:r>
            <a:r>
              <a:rPr sz="1400" i="0">
                <a:solidFill>
                  <a:srgbClr val="E8EDF2"/>
                </a:solidFill>
                <a:latin typeface="Consolas"/>
              </a:rPr>
              <a:t>cell</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add</a:t>
            </a:r>
            <a:r>
              <a:rPr sz="1400" i="0">
                <a:solidFill>
                  <a:srgbClr val="AEB6BF"/>
                </a:solidFill>
                <a:latin typeface="Consolas"/>
              </a:rPr>
              <a:t>(</a:t>
            </a:r>
            <a:r>
              <a:rPr sz="1400" i="0">
                <a:solidFill>
                  <a:srgbClr val="E8EDF2"/>
                </a:solidFill>
                <a:latin typeface="Consolas"/>
              </a:rPr>
              <a:t>lhs</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changed</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5DADE2"/>
                </a:solidFill>
                <a:latin typeface="Consolas"/>
              </a:rPr>
              <a:t>True</a:t>
            </a:r>
          </a:p>
        </p:txBody>
      </p:sp>
      <p:sp>
        <p:nvSpPr>
          <p:cNvPr id="15" name="!!code-num"/>
          <p:cNvSpPr txBox="1"/>
          <p:nvPr/>
        </p:nvSpPr>
        <p:spPr>
          <a:xfrm>
            <a:off x="768096" y="2523744"/>
            <a:ext cx="393192" cy="3523487"/>
          </a:xfrm>
          <a:prstGeom prst="rect">
            <a:avLst/>
          </a:prstGeom>
          <a:noFill/>
        </p:spPr>
        <p:txBody>
          <a:bodyPr wrap="none" anchor="t" lIns="0" rIns="0" tIns="0" bIns="0">
            <a:noAutofit/>
          </a:bodyPr>
          <a:lstStyle/>
          <a:p>
            <a:pPr algn="r">
              <a:lnSpc>
                <a:spcPct val="100000"/>
              </a:lnSpc>
            </a:pPr>
            <a:r>
              <a:rPr sz="1400">
                <a:solidFill>
                  <a:srgbClr val="4F5D6A"/>
                </a:solidFill>
                <a:latin typeface="Consolas"/>
              </a:rPr>
              <a:t>32</a:t>
            </a:r>
          </a:p>
          <a:p>
            <a:pPr algn="r">
              <a:lnSpc>
                <a:spcPct val="100000"/>
              </a:lnSpc>
            </a:pPr>
            <a:r>
              <a:rPr sz="1400">
                <a:solidFill>
                  <a:srgbClr val="4F5D6A"/>
                </a:solidFill>
                <a:latin typeface="Consolas"/>
              </a:rPr>
              <a:t>33</a:t>
            </a:r>
          </a:p>
          <a:p>
            <a:pPr algn="r">
              <a:lnSpc>
                <a:spcPct val="100000"/>
              </a:lnSpc>
            </a:pPr>
            <a:r>
              <a:rPr sz="1400">
                <a:solidFill>
                  <a:srgbClr val="4F5D6A"/>
                </a:solidFill>
                <a:latin typeface="Consolas"/>
              </a:rPr>
              <a:t>34</a:t>
            </a:r>
          </a:p>
          <a:p>
            <a:pPr algn="r">
              <a:lnSpc>
                <a:spcPct val="100000"/>
              </a:lnSpc>
            </a:pPr>
            <a:r>
              <a:rPr sz="1400">
                <a:solidFill>
                  <a:srgbClr val="4F5D6A"/>
                </a:solidFill>
                <a:latin typeface="Consolas"/>
              </a:rPr>
              <a:t>35</a:t>
            </a:r>
          </a:p>
          <a:p>
            <a:pPr algn="r">
              <a:lnSpc>
                <a:spcPct val="100000"/>
              </a:lnSpc>
            </a:pPr>
            <a:r>
              <a:rPr sz="1400">
                <a:solidFill>
                  <a:srgbClr val="4F5D6A"/>
                </a:solidFill>
                <a:latin typeface="Consolas"/>
              </a:rPr>
              <a:t>36</a:t>
            </a:r>
          </a:p>
          <a:p>
            <a:pPr algn="r">
              <a:lnSpc>
                <a:spcPct val="100000"/>
              </a:lnSpc>
            </a:pPr>
            <a:r>
              <a:rPr sz="1400">
                <a:solidFill>
                  <a:srgbClr val="4F5D6A"/>
                </a:solidFill>
                <a:latin typeface="Consolas"/>
              </a:rPr>
              <a:t>37</a:t>
            </a:r>
          </a:p>
          <a:p>
            <a:pPr algn="r">
              <a:lnSpc>
                <a:spcPct val="100000"/>
              </a:lnSpc>
            </a:pPr>
            <a:r>
              <a:rPr sz="1400">
                <a:solidFill>
                  <a:srgbClr val="4F5D6A"/>
                </a:solidFill>
                <a:latin typeface="Consolas"/>
              </a:rPr>
              <a:t>38</a:t>
            </a:r>
          </a:p>
          <a:p>
            <a:pPr algn="r">
              <a:lnSpc>
                <a:spcPct val="100000"/>
              </a:lnSpc>
            </a:pPr>
            <a:r>
              <a:rPr sz="1400">
                <a:solidFill>
                  <a:srgbClr val="4F5D6A"/>
                </a:solidFill>
                <a:latin typeface="Consolas"/>
              </a:rPr>
              <a:t>39</a:t>
            </a:r>
          </a:p>
          <a:p>
            <a:pPr algn="r">
              <a:lnSpc>
                <a:spcPct val="100000"/>
              </a:lnSpc>
            </a:pPr>
            <a:r>
              <a:rPr sz="1400">
                <a:solidFill>
                  <a:srgbClr val="4F5D6A"/>
                </a:solidFill>
                <a:latin typeface="Consolas"/>
              </a:rPr>
              <a:t>40</a:t>
            </a:r>
          </a:p>
          <a:p>
            <a:pPr algn="r">
              <a:lnSpc>
                <a:spcPct val="100000"/>
              </a:lnSpc>
            </a:pPr>
            <a:r>
              <a:rPr sz="1400">
                <a:solidFill>
                  <a:srgbClr val="4F5D6A"/>
                </a:solidFill>
                <a:latin typeface="Consolas"/>
              </a:rPr>
              <a:t>41</a:t>
            </a:r>
          </a:p>
          <a:p>
            <a:pPr algn="r">
              <a:lnSpc>
                <a:spcPct val="100000"/>
              </a:lnSpc>
            </a:pPr>
            <a:r>
              <a:rPr sz="1400">
                <a:solidFill>
                  <a:srgbClr val="4F5D6A"/>
                </a:solidFill>
                <a:latin typeface="Consolas"/>
              </a:rPr>
              <a:t>42</a:t>
            </a:r>
          </a:p>
          <a:p>
            <a:pPr algn="r">
              <a:lnSpc>
                <a:spcPct val="100000"/>
              </a:lnSpc>
            </a:pPr>
            <a:r>
              <a:rPr sz="1400">
                <a:solidFill>
                  <a:srgbClr val="4F5D6A"/>
                </a:solidFill>
                <a:latin typeface="Consolas"/>
              </a:rPr>
              <a:t>43</a:t>
            </a:r>
          </a:p>
          <a:p>
            <a:pPr algn="r">
              <a:lnSpc>
                <a:spcPct val="100000"/>
              </a:lnSpc>
            </a:pPr>
            <a:r>
              <a:rPr sz="1400">
                <a:solidFill>
                  <a:srgbClr val="4F5D6A"/>
                </a:solidFill>
                <a:latin typeface="Consolas"/>
              </a:rPr>
              <a:t>44</a:t>
            </a:r>
          </a:p>
          <a:p>
            <a:pPr algn="r">
              <a:lnSpc>
                <a:spcPct val="100000"/>
              </a:lnSpc>
            </a:pPr>
            <a:r>
              <a:rPr sz="1400">
                <a:solidFill>
                  <a:srgbClr val="4F5D6A"/>
                </a:solidFill>
                <a:latin typeface="Consolas"/>
              </a:rPr>
              <a:t>45</a:t>
            </a:r>
          </a:p>
          <a:p>
            <a:pPr algn="r">
              <a:lnSpc>
                <a:spcPct val="100000"/>
              </a:lnSpc>
            </a:pPr>
            <a:r>
              <a:rPr sz="1400">
                <a:solidFill>
                  <a:srgbClr val="4F5D6A"/>
                </a:solidFill>
                <a:latin typeface="Consolas"/>
              </a:rPr>
              <a:t>46</a:t>
            </a:r>
          </a:p>
          <a:p>
            <a:pPr algn="r">
              <a:lnSpc>
                <a:spcPct val="100000"/>
              </a:lnSpc>
            </a:pPr>
            <a:r>
              <a:rPr sz="1400">
                <a:solidFill>
                  <a:srgbClr val="4F5D6A"/>
                </a:solidFill>
                <a:latin typeface="Consolas"/>
              </a:rPr>
              <a:t>47</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5861391"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Parsing Ticket Subjects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4 OF 15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18  ·  Natural Language Processing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§18.7  ·  Handout p. 190     </a:t>
            </a:r>
            <a:fld id="{47B87142-FABC-4509-93D1-F7B6606B7CB7}" type="slidenum">
              <a:rPr lang="en-GB" sz="1000">
                <a:solidFill>
                  <a:srgbClr val="8795A1"/>
                </a:solidFill>
                <a:latin typeface="Segoe UI"/>
              </a:rPr>
              <a:t>26</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The grammar, in Chomsky normal form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169663"/>
          </a:xfrm>
          <a:prstGeom prst="roundRect">
            <a:avLst>
              <a:gd name="adj" fmla="val 219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code/ch18_parsing_ticket.py</a:t>
            </a:r>
          </a:p>
        </p:txBody>
      </p:sp>
      <p:sp>
        <p:nvSpPr>
          <p:cNvPr id="14" name="!!code-text" descr="for i, w in enumerate(words): for tag in LEXICON.get(w, []): chart[(i, i + 1)].add(tag) close((i, i + 1)) for span in range(2, n + 1): for i in range(0, n - span + 1): j = i + span for k in range(i + 1, j): for (lhs, rhs) in RULES: if len(rhs) != 2: continue b, c = rhs if b in chart[(i, k)] and c in chart[(k, j)]: chart[(i, j)].add(lhs) back[(i, j, lhs)].append((k, b, c)) close((i, j)) return chart, back"/>
          <p:cNvSpPr txBox="1"/>
          <p:nvPr/>
        </p:nvSpPr>
        <p:spPr>
          <a:xfrm>
            <a:off x="1362456" y="2523744"/>
            <a:ext cx="9987991" cy="3675887"/>
          </a:xfrm>
          <a:prstGeom prst="rect">
            <a:avLst/>
          </a:prstGeom>
          <a:noFill/>
        </p:spPr>
        <p:txBody>
          <a:bodyPr wrap="none" anchor="t" lIns="0" rIns="0" tIns="0" bIns="0">
            <a:noAutofit/>
          </a:bodyPr>
          <a:lstStyle/>
          <a:p>
            <a:pPr>
              <a:lnSpc>
                <a:spcPct val="100000"/>
              </a:lnSpc>
              <a:spcAft>
                <a:spcPts val="0"/>
              </a:spcAft>
            </a:pPr>
            <a:r>
              <a:rPr sz="1300" i="0">
                <a:solidFill>
                  <a:srgbClr val="E8EDF2"/>
                </a:solidFill>
                <a:latin typeface="Consolas"/>
              </a:rPr>
              <a:t>    </a:t>
            </a:r>
            <a:r>
              <a:rPr sz="1300" i="0">
                <a:solidFill>
                  <a:srgbClr val="5DADE2"/>
                </a:solidFill>
                <a:latin typeface="Consolas"/>
              </a:rPr>
              <a:t>for</a:t>
            </a:r>
            <a:r>
              <a:rPr sz="1300" i="0">
                <a:solidFill>
                  <a:srgbClr val="E8EDF2"/>
                </a:solidFill>
                <a:latin typeface="Consolas"/>
              </a:rPr>
              <a:t> </a:t>
            </a:r>
            <a:r>
              <a:rPr sz="1300" i="0">
                <a:solidFill>
                  <a:srgbClr val="E8EDF2"/>
                </a:solidFill>
                <a:latin typeface="Consolas"/>
              </a:rPr>
              <a:t>i</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w</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C39BD3"/>
                </a:solidFill>
                <a:latin typeface="Consolas"/>
              </a:rPr>
              <a:t>enumerate</a:t>
            </a:r>
            <a:r>
              <a:rPr sz="1300" i="0">
                <a:solidFill>
                  <a:srgbClr val="AEB6BF"/>
                </a:solidFill>
                <a:latin typeface="Consolas"/>
              </a:rPr>
              <a:t>(</a:t>
            </a:r>
            <a:r>
              <a:rPr sz="1300" i="0">
                <a:solidFill>
                  <a:srgbClr val="E8EDF2"/>
                </a:solidFill>
                <a:latin typeface="Consolas"/>
              </a:rPr>
              <a:t>words</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for</a:t>
            </a:r>
            <a:r>
              <a:rPr sz="1300" i="0">
                <a:solidFill>
                  <a:srgbClr val="E8EDF2"/>
                </a:solidFill>
                <a:latin typeface="Consolas"/>
              </a:rPr>
              <a:t> </a:t>
            </a:r>
            <a:r>
              <a:rPr sz="1300" i="0">
                <a:solidFill>
                  <a:srgbClr val="E8EDF2"/>
                </a:solidFill>
                <a:latin typeface="Consolas"/>
              </a:rPr>
              <a:t>tag</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E8EDF2"/>
                </a:solidFill>
                <a:latin typeface="Consolas"/>
              </a:rPr>
              <a:t>LEXICON</a:t>
            </a:r>
            <a:r>
              <a:rPr sz="1300" i="0">
                <a:solidFill>
                  <a:srgbClr val="AEB6BF"/>
                </a:solidFill>
                <a:latin typeface="Consolas"/>
              </a:rPr>
              <a:t>.</a:t>
            </a:r>
            <a:r>
              <a:rPr sz="1300" i="0">
                <a:solidFill>
                  <a:srgbClr val="E8EDF2"/>
                </a:solidFill>
                <a:latin typeface="Consolas"/>
              </a:rPr>
              <a:t>get</a:t>
            </a:r>
            <a:r>
              <a:rPr sz="1300" i="0">
                <a:solidFill>
                  <a:srgbClr val="AEB6BF"/>
                </a:solidFill>
                <a:latin typeface="Consolas"/>
              </a:rPr>
              <a:t>(</a:t>
            </a:r>
            <a:r>
              <a:rPr sz="1300" i="0">
                <a:solidFill>
                  <a:srgbClr val="E8EDF2"/>
                </a:solidFill>
                <a:latin typeface="Consolas"/>
              </a:rPr>
              <a:t>w</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chart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i</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i</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1</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add</a:t>
            </a:r>
            <a:r>
              <a:rPr sz="1300" i="0">
                <a:solidFill>
                  <a:srgbClr val="AEB6BF"/>
                </a:solidFill>
                <a:latin typeface="Consolas"/>
              </a:rPr>
              <a:t>(</a:t>
            </a:r>
            <a:r>
              <a:rPr sz="1300" i="0">
                <a:solidFill>
                  <a:srgbClr val="E8EDF2"/>
                </a:solidFill>
                <a:latin typeface="Consolas"/>
              </a:rPr>
              <a:t>tag</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close</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i</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i</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1</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a:latin typeface="Consolas"/>
              </a:rPr>
              <a:t> </a:t>
            </a:r>
          </a:p>
          <a:p>
            <a:pPr>
              <a:lnSpc>
                <a:spcPct val="100000"/>
              </a:lnSpc>
              <a:spcAft>
                <a:spcPts val="0"/>
              </a:spcAft>
            </a:pPr>
            <a:r>
              <a:rPr sz="1300" i="0">
                <a:solidFill>
                  <a:srgbClr val="E8EDF2"/>
                </a:solidFill>
                <a:latin typeface="Consolas"/>
              </a:rPr>
              <a:t>    </a:t>
            </a:r>
            <a:r>
              <a:rPr sz="1300" i="0">
                <a:solidFill>
                  <a:srgbClr val="5DADE2"/>
                </a:solidFill>
                <a:latin typeface="Consolas"/>
              </a:rPr>
              <a:t>for</a:t>
            </a:r>
            <a:r>
              <a:rPr sz="1300" i="0">
                <a:solidFill>
                  <a:srgbClr val="E8EDF2"/>
                </a:solidFill>
                <a:latin typeface="Consolas"/>
              </a:rPr>
              <a:t> </a:t>
            </a:r>
            <a:r>
              <a:rPr sz="1300" i="0">
                <a:solidFill>
                  <a:srgbClr val="E8EDF2"/>
                </a:solidFill>
                <a:latin typeface="Consolas"/>
              </a:rPr>
              <a:t>span</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C39BD3"/>
                </a:solidFill>
                <a:latin typeface="Consolas"/>
              </a:rPr>
              <a:t>range</a:t>
            </a:r>
            <a:r>
              <a:rPr sz="1300" i="0">
                <a:solidFill>
                  <a:srgbClr val="AEB6BF"/>
                </a:solidFill>
                <a:latin typeface="Consolas"/>
              </a:rPr>
              <a:t>(</a:t>
            </a:r>
            <a:r>
              <a:rPr sz="1300" i="0">
                <a:solidFill>
                  <a:srgbClr val="F7DC6F"/>
                </a:solidFill>
                <a:latin typeface="Consolas"/>
              </a:rPr>
              <a:t>2</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n</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1</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for</a:t>
            </a:r>
            <a:r>
              <a:rPr sz="1300" i="0">
                <a:solidFill>
                  <a:srgbClr val="E8EDF2"/>
                </a:solidFill>
                <a:latin typeface="Consolas"/>
              </a:rPr>
              <a:t> </a:t>
            </a:r>
            <a:r>
              <a:rPr sz="1300" i="0">
                <a:solidFill>
                  <a:srgbClr val="E8EDF2"/>
                </a:solidFill>
                <a:latin typeface="Consolas"/>
              </a:rPr>
              <a:t>i</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C39BD3"/>
                </a:solidFill>
                <a:latin typeface="Consolas"/>
              </a:rPr>
              <a:t>range</a:t>
            </a:r>
            <a:r>
              <a:rPr sz="1300" i="0">
                <a:solidFill>
                  <a:srgbClr val="AEB6BF"/>
                </a:solidFill>
                <a:latin typeface="Consolas"/>
              </a:rPr>
              <a:t>(</a:t>
            </a:r>
            <a:r>
              <a:rPr sz="1300" i="0">
                <a:solidFill>
                  <a:srgbClr val="F7DC6F"/>
                </a:solidFill>
                <a:latin typeface="Consolas"/>
              </a:rPr>
              <a:t>0</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n</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span</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1</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j</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i</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span</a:t>
            </a:r>
          </a:p>
          <a:p>
            <a:pPr>
              <a:lnSpc>
                <a:spcPct val="100000"/>
              </a:lnSpc>
              <a:spcAft>
                <a:spcPts val="0"/>
              </a:spcAft>
            </a:pPr>
            <a:r>
              <a:rPr sz="1300" i="0">
                <a:solidFill>
                  <a:srgbClr val="E8EDF2"/>
                </a:solidFill>
                <a:latin typeface="Consolas"/>
              </a:rPr>
              <a:t>            </a:t>
            </a:r>
            <a:r>
              <a:rPr sz="1300" i="0">
                <a:solidFill>
                  <a:srgbClr val="5DADE2"/>
                </a:solidFill>
                <a:latin typeface="Consolas"/>
              </a:rPr>
              <a:t>for</a:t>
            </a:r>
            <a:r>
              <a:rPr sz="1300" i="0">
                <a:solidFill>
                  <a:srgbClr val="E8EDF2"/>
                </a:solidFill>
                <a:latin typeface="Consolas"/>
              </a:rPr>
              <a:t> </a:t>
            </a:r>
            <a:r>
              <a:rPr sz="1300" i="0">
                <a:solidFill>
                  <a:srgbClr val="E8EDF2"/>
                </a:solidFill>
                <a:latin typeface="Consolas"/>
              </a:rPr>
              <a:t>k</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C39BD3"/>
                </a:solidFill>
                <a:latin typeface="Consolas"/>
              </a:rPr>
              <a:t>range</a:t>
            </a:r>
            <a:r>
              <a:rPr sz="1300" i="0">
                <a:solidFill>
                  <a:srgbClr val="AEB6BF"/>
                </a:solidFill>
                <a:latin typeface="Consolas"/>
              </a:rPr>
              <a:t>(</a:t>
            </a:r>
            <a:r>
              <a:rPr sz="1300" i="0">
                <a:solidFill>
                  <a:srgbClr val="E8EDF2"/>
                </a:solidFill>
                <a:latin typeface="Consolas"/>
              </a:rPr>
              <a:t>i</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1</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j</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for</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lhs</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rhs</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E8EDF2"/>
                </a:solidFill>
                <a:latin typeface="Consolas"/>
              </a:rPr>
              <a:t>RULES</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if</a:t>
            </a:r>
            <a:r>
              <a:rPr sz="1300" i="0">
                <a:solidFill>
                  <a:srgbClr val="E8EDF2"/>
                </a:solidFill>
                <a:latin typeface="Consolas"/>
              </a:rPr>
              <a:t> </a:t>
            </a:r>
            <a:r>
              <a:rPr sz="1300" i="0">
                <a:solidFill>
                  <a:srgbClr val="C39BD3"/>
                </a:solidFill>
                <a:latin typeface="Consolas"/>
              </a:rPr>
              <a:t>len</a:t>
            </a:r>
            <a:r>
              <a:rPr sz="1300" i="0">
                <a:solidFill>
                  <a:srgbClr val="AEB6BF"/>
                </a:solidFill>
                <a:latin typeface="Consolas"/>
              </a:rPr>
              <a:t>(</a:t>
            </a:r>
            <a:r>
              <a:rPr sz="1300" i="0">
                <a:solidFill>
                  <a:srgbClr val="E8EDF2"/>
                </a:solidFill>
                <a:latin typeface="Consolas"/>
              </a:rPr>
              <a:t>rhs</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2</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continue</a:t>
            </a:r>
          </a:p>
          <a:p>
            <a:pPr>
              <a:lnSpc>
                <a:spcPct val="100000"/>
              </a:lnSpc>
              <a:spcAft>
                <a:spcPts val="0"/>
              </a:spcAft>
            </a:pPr>
            <a:r>
              <a:rPr sz="1300" i="0">
                <a:solidFill>
                  <a:srgbClr val="E8EDF2"/>
                </a:solidFill>
                <a:latin typeface="Consolas"/>
              </a:rPr>
              <a:t>                    </a:t>
            </a:r>
            <a:r>
              <a:rPr sz="1300" i="0">
                <a:solidFill>
                  <a:srgbClr val="E8EDF2"/>
                </a:solidFill>
                <a:latin typeface="Consolas"/>
              </a:rPr>
              <a:t>b</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c</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rhs</a:t>
            </a:r>
          </a:p>
          <a:p>
            <a:pPr>
              <a:lnSpc>
                <a:spcPct val="100000"/>
              </a:lnSpc>
              <a:spcAft>
                <a:spcPts val="0"/>
              </a:spcAft>
            </a:pPr>
            <a:r>
              <a:rPr sz="1300" i="0">
                <a:solidFill>
                  <a:srgbClr val="E8EDF2"/>
                </a:solidFill>
                <a:latin typeface="Consolas"/>
              </a:rPr>
              <a:t>                    </a:t>
            </a:r>
            <a:r>
              <a:rPr sz="1300" i="0">
                <a:solidFill>
                  <a:srgbClr val="5DADE2"/>
                </a:solidFill>
                <a:latin typeface="Consolas"/>
              </a:rPr>
              <a:t>if</a:t>
            </a:r>
            <a:r>
              <a:rPr sz="1300" i="0">
                <a:solidFill>
                  <a:srgbClr val="E8EDF2"/>
                </a:solidFill>
                <a:latin typeface="Consolas"/>
              </a:rPr>
              <a:t> </a:t>
            </a:r>
            <a:r>
              <a:rPr sz="1300" i="0">
                <a:solidFill>
                  <a:srgbClr val="E8EDF2"/>
                </a:solidFill>
                <a:latin typeface="Consolas"/>
              </a:rPr>
              <a:t>b</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E8EDF2"/>
                </a:solidFill>
                <a:latin typeface="Consolas"/>
              </a:rPr>
              <a:t>chart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i</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k</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and</a:t>
            </a:r>
            <a:r>
              <a:rPr sz="1300" i="0">
                <a:solidFill>
                  <a:srgbClr val="E8EDF2"/>
                </a:solidFill>
                <a:latin typeface="Consolas"/>
              </a:rPr>
              <a:t> </a:t>
            </a:r>
            <a:r>
              <a:rPr sz="1300" i="0">
                <a:solidFill>
                  <a:srgbClr val="E8EDF2"/>
                </a:solidFill>
                <a:latin typeface="Consolas"/>
              </a:rPr>
              <a:t>c</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E8EDF2"/>
                </a:solidFill>
                <a:latin typeface="Consolas"/>
              </a:rPr>
              <a:t>chart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k</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j</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chart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i</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j</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add</a:t>
            </a:r>
            <a:r>
              <a:rPr sz="1300" i="0">
                <a:solidFill>
                  <a:srgbClr val="AEB6BF"/>
                </a:solidFill>
                <a:latin typeface="Consolas"/>
              </a:rPr>
              <a:t>(</a:t>
            </a:r>
            <a:r>
              <a:rPr sz="1300" i="0">
                <a:solidFill>
                  <a:srgbClr val="E8EDF2"/>
                </a:solidFill>
                <a:latin typeface="Consolas"/>
              </a:rPr>
              <a:t>lhs</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back</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i</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j</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lhs</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append</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k</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b</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c</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close</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i</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j</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return</a:t>
            </a:r>
            <a:r>
              <a:rPr sz="1300" i="0">
                <a:solidFill>
                  <a:srgbClr val="E8EDF2"/>
                </a:solidFill>
                <a:latin typeface="Consolas"/>
              </a:rPr>
              <a:t> </a:t>
            </a:r>
            <a:r>
              <a:rPr sz="1300" i="0">
                <a:solidFill>
                  <a:srgbClr val="E8EDF2"/>
                </a:solidFill>
                <a:latin typeface="Consolas"/>
              </a:rPr>
              <a:t>chart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back</a:t>
            </a:r>
          </a:p>
        </p:txBody>
      </p:sp>
      <p:sp>
        <p:nvSpPr>
          <p:cNvPr id="15" name="!!code-num"/>
          <p:cNvSpPr txBox="1"/>
          <p:nvPr/>
        </p:nvSpPr>
        <p:spPr>
          <a:xfrm>
            <a:off x="768096" y="2523744"/>
            <a:ext cx="393192" cy="3675887"/>
          </a:xfrm>
          <a:prstGeom prst="rect">
            <a:avLst/>
          </a:prstGeom>
          <a:noFill/>
        </p:spPr>
        <p:txBody>
          <a:bodyPr wrap="none" anchor="t" lIns="0" rIns="0" tIns="0" bIns="0">
            <a:noAutofit/>
          </a:bodyPr>
          <a:lstStyle/>
          <a:p>
            <a:pPr algn="r">
              <a:lnSpc>
                <a:spcPct val="100000"/>
              </a:lnSpc>
            </a:pPr>
            <a:r>
              <a:rPr sz="1300">
                <a:solidFill>
                  <a:srgbClr val="4F5D6A"/>
                </a:solidFill>
                <a:latin typeface="Consolas"/>
              </a:rPr>
              <a:t>49</a:t>
            </a:r>
          </a:p>
          <a:p>
            <a:pPr algn="r">
              <a:lnSpc>
                <a:spcPct val="100000"/>
              </a:lnSpc>
            </a:pPr>
            <a:r>
              <a:rPr sz="1300">
                <a:solidFill>
                  <a:srgbClr val="4F5D6A"/>
                </a:solidFill>
                <a:latin typeface="Consolas"/>
              </a:rPr>
              <a:t>50</a:t>
            </a:r>
          </a:p>
          <a:p>
            <a:pPr algn="r">
              <a:lnSpc>
                <a:spcPct val="100000"/>
              </a:lnSpc>
            </a:pPr>
            <a:r>
              <a:rPr sz="1300">
                <a:solidFill>
                  <a:srgbClr val="4F5D6A"/>
                </a:solidFill>
                <a:latin typeface="Consolas"/>
              </a:rPr>
              <a:t>51</a:t>
            </a:r>
          </a:p>
          <a:p>
            <a:pPr algn="r">
              <a:lnSpc>
                <a:spcPct val="100000"/>
              </a:lnSpc>
            </a:pPr>
            <a:r>
              <a:rPr sz="1300">
                <a:solidFill>
                  <a:srgbClr val="4F5D6A"/>
                </a:solidFill>
                <a:latin typeface="Consolas"/>
              </a:rPr>
              <a:t>52</a:t>
            </a:r>
          </a:p>
          <a:p>
            <a:pPr algn="r">
              <a:lnSpc>
                <a:spcPct val="100000"/>
              </a:lnSpc>
            </a:pPr>
            <a:r>
              <a:rPr sz="1300">
                <a:solidFill>
                  <a:srgbClr val="4F5D6A"/>
                </a:solidFill>
                <a:latin typeface="Consolas"/>
              </a:rPr>
              <a:t>53</a:t>
            </a:r>
          </a:p>
          <a:p>
            <a:pPr algn="r">
              <a:lnSpc>
                <a:spcPct val="100000"/>
              </a:lnSpc>
            </a:pPr>
            <a:r>
              <a:rPr sz="1300">
                <a:solidFill>
                  <a:srgbClr val="4F5D6A"/>
                </a:solidFill>
                <a:latin typeface="Consolas"/>
              </a:rPr>
              <a:t>54</a:t>
            </a:r>
          </a:p>
          <a:p>
            <a:pPr algn="r">
              <a:lnSpc>
                <a:spcPct val="100000"/>
              </a:lnSpc>
            </a:pPr>
            <a:r>
              <a:rPr sz="1300">
                <a:solidFill>
                  <a:srgbClr val="4F5D6A"/>
                </a:solidFill>
                <a:latin typeface="Consolas"/>
              </a:rPr>
              <a:t>55</a:t>
            </a:r>
          </a:p>
          <a:p>
            <a:pPr algn="r">
              <a:lnSpc>
                <a:spcPct val="100000"/>
              </a:lnSpc>
            </a:pPr>
            <a:r>
              <a:rPr sz="1300">
                <a:solidFill>
                  <a:srgbClr val="4F5D6A"/>
                </a:solidFill>
                <a:latin typeface="Consolas"/>
              </a:rPr>
              <a:t>56</a:t>
            </a:r>
          </a:p>
          <a:p>
            <a:pPr algn="r">
              <a:lnSpc>
                <a:spcPct val="100000"/>
              </a:lnSpc>
            </a:pPr>
            <a:r>
              <a:rPr sz="1300">
                <a:solidFill>
                  <a:srgbClr val="4F5D6A"/>
                </a:solidFill>
                <a:latin typeface="Consolas"/>
              </a:rPr>
              <a:t>57</a:t>
            </a:r>
          </a:p>
          <a:p>
            <a:pPr algn="r">
              <a:lnSpc>
                <a:spcPct val="100000"/>
              </a:lnSpc>
            </a:pPr>
            <a:r>
              <a:rPr sz="1300">
                <a:solidFill>
                  <a:srgbClr val="4F5D6A"/>
                </a:solidFill>
                <a:latin typeface="Consolas"/>
              </a:rPr>
              <a:t>58</a:t>
            </a:r>
          </a:p>
          <a:p>
            <a:pPr algn="r">
              <a:lnSpc>
                <a:spcPct val="100000"/>
              </a:lnSpc>
            </a:pPr>
            <a:r>
              <a:rPr sz="1300">
                <a:solidFill>
                  <a:srgbClr val="4F5D6A"/>
                </a:solidFill>
                <a:latin typeface="Consolas"/>
              </a:rPr>
              <a:t>59</a:t>
            </a:r>
          </a:p>
          <a:p>
            <a:pPr algn="r">
              <a:lnSpc>
                <a:spcPct val="100000"/>
              </a:lnSpc>
            </a:pPr>
            <a:r>
              <a:rPr sz="1300">
                <a:solidFill>
                  <a:srgbClr val="4F5D6A"/>
                </a:solidFill>
                <a:latin typeface="Consolas"/>
              </a:rPr>
              <a:t>60</a:t>
            </a:r>
          </a:p>
          <a:p>
            <a:pPr algn="r">
              <a:lnSpc>
                <a:spcPct val="100000"/>
              </a:lnSpc>
            </a:pPr>
            <a:r>
              <a:rPr sz="1300">
                <a:solidFill>
                  <a:srgbClr val="4F5D6A"/>
                </a:solidFill>
                <a:latin typeface="Consolas"/>
              </a:rPr>
              <a:t>61</a:t>
            </a:r>
          </a:p>
          <a:p>
            <a:pPr algn="r">
              <a:lnSpc>
                <a:spcPct val="100000"/>
              </a:lnSpc>
            </a:pPr>
            <a:r>
              <a:rPr sz="1300">
                <a:solidFill>
                  <a:srgbClr val="4F5D6A"/>
                </a:solidFill>
                <a:latin typeface="Consolas"/>
              </a:rPr>
              <a:t>62</a:t>
            </a:r>
          </a:p>
          <a:p>
            <a:pPr algn="r">
              <a:lnSpc>
                <a:spcPct val="100000"/>
              </a:lnSpc>
            </a:pPr>
            <a:r>
              <a:rPr sz="1300">
                <a:solidFill>
                  <a:srgbClr val="4F5D6A"/>
                </a:solidFill>
                <a:latin typeface="Consolas"/>
              </a:rPr>
              <a:t>63</a:t>
            </a:r>
          </a:p>
          <a:p>
            <a:pPr algn="r">
              <a:lnSpc>
                <a:spcPct val="100000"/>
              </a:lnSpc>
            </a:pPr>
            <a:r>
              <a:rPr sz="1300">
                <a:solidFill>
                  <a:srgbClr val="4F5D6A"/>
                </a:solidFill>
                <a:latin typeface="Consolas"/>
              </a:rPr>
              <a:t>64</a:t>
            </a:r>
          </a:p>
          <a:p>
            <a:pPr algn="r">
              <a:lnSpc>
                <a:spcPct val="100000"/>
              </a:lnSpc>
            </a:pPr>
            <a:r>
              <a:rPr sz="1300">
                <a:solidFill>
                  <a:srgbClr val="4F5D6A"/>
                </a:solidFill>
                <a:latin typeface="Consolas"/>
              </a:rPr>
              <a:t>65</a:t>
            </a:r>
          </a:p>
          <a:p>
            <a:pPr algn="r">
              <a:lnSpc>
                <a:spcPct val="100000"/>
              </a:lnSpc>
            </a:pPr>
            <a:r>
              <a:rPr sz="1300">
                <a:solidFill>
                  <a:srgbClr val="4F5D6A"/>
                </a:solidFill>
                <a:latin typeface="Consolas"/>
              </a:rPr>
              <a:t>66</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6095847"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Parsing Ticket Subjects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5 OF 15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18  ·  Natural Language Processing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§18.7  ·  Handout p. 190     </a:t>
            </a:r>
            <a:fld id="{C2BE5A2D-C10B-4DC6-BACD-C6053FDC5889}" type="slidenum">
              <a:rPr lang="en-GB" sz="1000">
                <a:solidFill>
                  <a:srgbClr val="8795A1"/>
                </a:solidFill>
                <a:latin typeface="Segoe UI"/>
              </a:rPr>
              <a:t>27</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The grammar, in Chomsky normal form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956303"/>
          </a:xfrm>
          <a:prstGeom prst="roundRect">
            <a:avLst>
              <a:gd name="adj" fmla="val 2311"/>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code/ch18_parsing_ticket.py</a:t>
            </a:r>
          </a:p>
        </p:txBody>
      </p:sp>
      <p:sp>
        <p:nvSpPr>
          <p:cNvPr id="14" name="!!code-text" descr="def count_parses(chart, back, i, j, sym, memo=None): &quot;&quot;&quot;Count DERIVATIONS, not membership: an ambiguous sentence reaches the same cell by two different routes.&quot;&quot;&quot; if memo is None: memo = {} key = (i, j, sym) if key in memo: return memo[key] total = 0 for (k, b, c) in back[key]: total += (count_parses(chart, back, i, k, b, memo) * count_parses(chart, back, k, j, c, memo)) for (lhs, rhs) in RULES: # unit rules if lhs == sym and len(rhs) == 1 and rhs[0] != sym \ and rhs[0] in chart[(i, j)]: total += count_parses(chart, back, i, j, rhs[0], memo) if total == 0 and j == i + 1 and sym in chart[(i, j)]: total = 1 memo[key] = total return total"/>
          <p:cNvSpPr txBox="1"/>
          <p:nvPr/>
        </p:nvSpPr>
        <p:spPr>
          <a:xfrm>
            <a:off x="1362456" y="2523744"/>
            <a:ext cx="9987991" cy="3462527"/>
          </a:xfrm>
          <a:prstGeom prst="rect">
            <a:avLst/>
          </a:prstGeom>
          <a:noFill/>
        </p:spPr>
        <p:txBody>
          <a:bodyPr wrap="none" anchor="t" lIns="0" rIns="0" tIns="0" bIns="0">
            <a:noAutofit/>
          </a:bodyPr>
          <a:lstStyle/>
          <a:p>
            <a:pPr>
              <a:lnSpc>
                <a:spcPct val="100000"/>
              </a:lnSpc>
              <a:spcAft>
                <a:spcPts val="0"/>
              </a:spcAft>
            </a:pPr>
            <a:r>
              <a:rPr sz="1100" i="0">
                <a:solidFill>
                  <a:srgbClr val="5DADE2"/>
                </a:solidFill>
                <a:latin typeface="Consolas"/>
              </a:rPr>
              <a:t>def</a:t>
            </a:r>
            <a:r>
              <a:rPr sz="1100" i="0">
                <a:solidFill>
                  <a:srgbClr val="E8EDF2"/>
                </a:solidFill>
                <a:latin typeface="Consolas"/>
              </a:rPr>
              <a:t> </a:t>
            </a:r>
            <a:r>
              <a:rPr sz="1100" i="0">
                <a:solidFill>
                  <a:srgbClr val="C39BD3"/>
                </a:solidFill>
                <a:latin typeface="Consolas"/>
              </a:rPr>
              <a:t>count_parses</a:t>
            </a:r>
            <a:r>
              <a:rPr sz="1100" i="0">
                <a:solidFill>
                  <a:srgbClr val="AEB6BF"/>
                </a:solidFill>
                <a:latin typeface="Consolas"/>
              </a:rPr>
              <a:t>(</a:t>
            </a:r>
            <a:r>
              <a:rPr sz="1100" i="0">
                <a:solidFill>
                  <a:srgbClr val="E8EDF2"/>
                </a:solidFill>
                <a:latin typeface="Consolas"/>
              </a:rPr>
              <a:t>chart</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back</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i</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j</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sym</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memo</a:t>
            </a:r>
            <a:r>
              <a:rPr sz="1100" i="0">
                <a:solidFill>
                  <a:srgbClr val="AEB6BF"/>
                </a:solidFill>
                <a:latin typeface="Consolas"/>
              </a:rPr>
              <a:t>=</a:t>
            </a:r>
            <a:r>
              <a:rPr sz="1100" i="0">
                <a:solidFill>
                  <a:srgbClr val="5DADE2"/>
                </a:solidFill>
                <a:latin typeface="Consolas"/>
              </a:rPr>
              <a:t>None</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7DCEA0"/>
                </a:solidFill>
                <a:latin typeface="Consolas"/>
              </a:rPr>
              <a:t>"""Count DERIVATIONS, not membership: an ambiguous sentence</a:t>
            </a:r>
          </a:p>
          <a:p>
            <a:pPr>
              <a:lnSpc>
                <a:spcPct val="100000"/>
              </a:lnSpc>
              <a:spcAft>
                <a:spcPts val="0"/>
              </a:spcAft>
            </a:pPr>
            <a:r>
              <a:rPr sz="1100" i="0">
                <a:solidFill>
                  <a:srgbClr val="7DCEA0"/>
                </a:solidFill>
                <a:latin typeface="Consolas"/>
              </a:rPr>
              <a:t>    reaches the same cell by two different routes."""</a:t>
            </a:r>
          </a:p>
          <a:p>
            <a:pPr>
              <a:lnSpc>
                <a:spcPct val="100000"/>
              </a:lnSpc>
              <a:spcAft>
                <a:spcPts val="0"/>
              </a:spcAft>
            </a:pPr>
            <a:r>
              <a:rPr sz="1100" i="0">
                <a:solidFill>
                  <a:srgbClr val="E8EDF2"/>
                </a:solidFill>
                <a:latin typeface="Consolas"/>
              </a:rPr>
              <a:t>    </a:t>
            </a:r>
            <a:r>
              <a:rPr sz="1100" i="0">
                <a:solidFill>
                  <a:srgbClr val="5DADE2"/>
                </a:solidFill>
                <a:latin typeface="Consolas"/>
              </a:rPr>
              <a:t>if</a:t>
            </a:r>
            <a:r>
              <a:rPr sz="1100" i="0">
                <a:solidFill>
                  <a:srgbClr val="E8EDF2"/>
                </a:solidFill>
                <a:latin typeface="Consolas"/>
              </a:rPr>
              <a:t> </a:t>
            </a:r>
            <a:r>
              <a:rPr sz="1100" i="0">
                <a:solidFill>
                  <a:srgbClr val="E8EDF2"/>
                </a:solidFill>
                <a:latin typeface="Consolas"/>
              </a:rPr>
              <a:t>memo</a:t>
            </a:r>
            <a:r>
              <a:rPr sz="1100" i="0">
                <a:solidFill>
                  <a:srgbClr val="E8EDF2"/>
                </a:solidFill>
                <a:latin typeface="Consolas"/>
              </a:rPr>
              <a:t> </a:t>
            </a:r>
            <a:r>
              <a:rPr sz="1100" i="0">
                <a:solidFill>
                  <a:srgbClr val="AEB6BF"/>
                </a:solidFill>
                <a:latin typeface="Consolas"/>
              </a:rPr>
              <a:t>is</a:t>
            </a:r>
            <a:r>
              <a:rPr sz="1100" i="0">
                <a:solidFill>
                  <a:srgbClr val="E8EDF2"/>
                </a:solidFill>
                <a:latin typeface="Consolas"/>
              </a:rPr>
              <a:t> </a:t>
            </a:r>
            <a:r>
              <a:rPr sz="1100" i="0">
                <a:solidFill>
                  <a:srgbClr val="5DADE2"/>
                </a:solidFill>
                <a:latin typeface="Consolas"/>
              </a:rPr>
              <a:t>None</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E8EDF2"/>
                </a:solidFill>
                <a:latin typeface="Consolas"/>
              </a:rPr>
              <a:t>memo</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E8EDF2"/>
                </a:solidFill>
                <a:latin typeface="Consolas"/>
              </a:rPr>
              <a:t>key</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i</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j</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sym</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5DADE2"/>
                </a:solidFill>
                <a:latin typeface="Consolas"/>
              </a:rPr>
              <a:t>if</a:t>
            </a:r>
            <a:r>
              <a:rPr sz="1100" i="0">
                <a:solidFill>
                  <a:srgbClr val="E8EDF2"/>
                </a:solidFill>
                <a:latin typeface="Consolas"/>
              </a:rPr>
              <a:t> </a:t>
            </a:r>
            <a:r>
              <a:rPr sz="1100" i="0">
                <a:solidFill>
                  <a:srgbClr val="E8EDF2"/>
                </a:solidFill>
                <a:latin typeface="Consolas"/>
              </a:rPr>
              <a:t>key</a:t>
            </a:r>
            <a:r>
              <a:rPr sz="1100" i="0">
                <a:solidFill>
                  <a:srgbClr val="E8EDF2"/>
                </a:solidFill>
                <a:latin typeface="Consolas"/>
              </a:rPr>
              <a:t> </a:t>
            </a:r>
            <a:r>
              <a:rPr sz="1100" i="0">
                <a:solidFill>
                  <a:srgbClr val="AEB6BF"/>
                </a:solidFill>
                <a:latin typeface="Consolas"/>
              </a:rPr>
              <a:t>in</a:t>
            </a:r>
            <a:r>
              <a:rPr sz="1100" i="0">
                <a:solidFill>
                  <a:srgbClr val="E8EDF2"/>
                </a:solidFill>
                <a:latin typeface="Consolas"/>
              </a:rPr>
              <a:t> </a:t>
            </a:r>
            <a:r>
              <a:rPr sz="1100" i="0">
                <a:solidFill>
                  <a:srgbClr val="E8EDF2"/>
                </a:solidFill>
                <a:latin typeface="Consolas"/>
              </a:rPr>
              <a:t>memo</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5DADE2"/>
                </a:solidFill>
                <a:latin typeface="Consolas"/>
              </a:rPr>
              <a:t>return</a:t>
            </a:r>
            <a:r>
              <a:rPr sz="1100" i="0">
                <a:solidFill>
                  <a:srgbClr val="E8EDF2"/>
                </a:solidFill>
                <a:latin typeface="Consolas"/>
              </a:rPr>
              <a:t> </a:t>
            </a:r>
            <a:r>
              <a:rPr sz="1100" i="0">
                <a:solidFill>
                  <a:srgbClr val="E8EDF2"/>
                </a:solidFill>
                <a:latin typeface="Consolas"/>
              </a:rPr>
              <a:t>memo</a:t>
            </a:r>
            <a:r>
              <a:rPr sz="1100" i="0">
                <a:solidFill>
                  <a:srgbClr val="AEB6BF"/>
                </a:solidFill>
                <a:latin typeface="Consolas"/>
              </a:rPr>
              <a:t>[</a:t>
            </a:r>
            <a:r>
              <a:rPr sz="1100" i="0">
                <a:solidFill>
                  <a:srgbClr val="E8EDF2"/>
                </a:solidFill>
                <a:latin typeface="Consolas"/>
              </a:rPr>
              <a:t>key</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E8EDF2"/>
                </a:solidFill>
                <a:latin typeface="Consolas"/>
              </a:rPr>
              <a:t>total</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F7DC6F"/>
                </a:solidFill>
                <a:latin typeface="Consolas"/>
              </a:rPr>
              <a:t>0</a:t>
            </a:r>
          </a:p>
          <a:p>
            <a:pPr>
              <a:lnSpc>
                <a:spcPct val="100000"/>
              </a:lnSpc>
              <a:spcAft>
                <a:spcPts val="0"/>
              </a:spcAft>
            </a:pPr>
            <a:r>
              <a:rPr sz="1100" i="0">
                <a:solidFill>
                  <a:srgbClr val="E8EDF2"/>
                </a:solidFill>
                <a:latin typeface="Consolas"/>
              </a:rPr>
              <a:t>    </a:t>
            </a:r>
            <a:r>
              <a:rPr sz="1100" i="0">
                <a:solidFill>
                  <a:srgbClr val="5DADE2"/>
                </a:solidFill>
                <a:latin typeface="Consolas"/>
              </a:rPr>
              <a:t>for</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k</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b</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c</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in</a:t>
            </a:r>
            <a:r>
              <a:rPr sz="1100" i="0">
                <a:solidFill>
                  <a:srgbClr val="E8EDF2"/>
                </a:solidFill>
                <a:latin typeface="Consolas"/>
              </a:rPr>
              <a:t> </a:t>
            </a:r>
            <a:r>
              <a:rPr sz="1100" i="0">
                <a:solidFill>
                  <a:srgbClr val="E8EDF2"/>
                </a:solidFill>
                <a:latin typeface="Consolas"/>
              </a:rPr>
              <a:t>back</a:t>
            </a:r>
            <a:r>
              <a:rPr sz="1100" i="0">
                <a:solidFill>
                  <a:srgbClr val="AEB6BF"/>
                </a:solidFill>
                <a:latin typeface="Consolas"/>
              </a:rPr>
              <a:t>[</a:t>
            </a:r>
            <a:r>
              <a:rPr sz="1100" i="0">
                <a:solidFill>
                  <a:srgbClr val="E8EDF2"/>
                </a:solidFill>
                <a:latin typeface="Consolas"/>
              </a:rPr>
              <a:t>key</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E8EDF2"/>
                </a:solidFill>
                <a:latin typeface="Consolas"/>
              </a:rPr>
              <a:t>total</a:t>
            </a:r>
            <a:r>
              <a:rPr sz="1100" i="0">
                <a:solidFill>
                  <a:srgbClr val="E8EDF2"/>
                </a:solidFill>
                <a:latin typeface="Consolas"/>
              </a:rPr>
              <a:t> </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count_parses</a:t>
            </a:r>
            <a:r>
              <a:rPr sz="1100" i="0">
                <a:solidFill>
                  <a:srgbClr val="AEB6BF"/>
                </a:solidFill>
                <a:latin typeface="Consolas"/>
              </a:rPr>
              <a:t>(</a:t>
            </a:r>
            <a:r>
              <a:rPr sz="1100" i="0">
                <a:solidFill>
                  <a:srgbClr val="E8EDF2"/>
                </a:solidFill>
                <a:latin typeface="Consolas"/>
              </a:rPr>
              <a:t>chart</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back</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i</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k</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b</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memo</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count_parses</a:t>
            </a:r>
            <a:r>
              <a:rPr sz="1100" i="0">
                <a:solidFill>
                  <a:srgbClr val="AEB6BF"/>
                </a:solidFill>
                <a:latin typeface="Consolas"/>
              </a:rPr>
              <a:t>(</a:t>
            </a:r>
            <a:r>
              <a:rPr sz="1100" i="0">
                <a:solidFill>
                  <a:srgbClr val="E8EDF2"/>
                </a:solidFill>
                <a:latin typeface="Consolas"/>
              </a:rPr>
              <a:t>chart</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back</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k</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j</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c</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memo</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5DADE2"/>
                </a:solidFill>
                <a:latin typeface="Consolas"/>
              </a:rPr>
              <a:t>for</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lhs</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rhs</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in</a:t>
            </a:r>
            <a:r>
              <a:rPr sz="1100" i="0">
                <a:solidFill>
                  <a:srgbClr val="E8EDF2"/>
                </a:solidFill>
                <a:latin typeface="Consolas"/>
              </a:rPr>
              <a:t> </a:t>
            </a:r>
            <a:r>
              <a:rPr sz="1100" i="0">
                <a:solidFill>
                  <a:srgbClr val="E8EDF2"/>
                </a:solidFill>
                <a:latin typeface="Consolas"/>
              </a:rPr>
              <a:t>RULES</a:t>
            </a:r>
            <a:r>
              <a:rPr sz="1100" i="0">
                <a:solidFill>
                  <a:srgbClr val="AEB6BF"/>
                </a:solidFill>
                <a:latin typeface="Consolas"/>
              </a:rPr>
              <a:t>:</a:t>
            </a:r>
            <a:r>
              <a:rPr sz="1100" i="0">
                <a:solidFill>
                  <a:srgbClr val="E8EDF2"/>
                </a:solidFill>
                <a:latin typeface="Consolas"/>
              </a:rPr>
              <a:t>                     </a:t>
            </a:r>
            <a:r>
              <a:rPr sz="1100" i="1">
                <a:solidFill>
                  <a:srgbClr val="8795A1"/>
                </a:solidFill>
                <a:latin typeface="Consolas"/>
              </a:rPr>
              <a:t># unit rules</a:t>
            </a:r>
          </a:p>
          <a:p>
            <a:pPr>
              <a:lnSpc>
                <a:spcPct val="100000"/>
              </a:lnSpc>
              <a:spcAft>
                <a:spcPts val="0"/>
              </a:spcAft>
            </a:pPr>
            <a:r>
              <a:rPr sz="1100" i="0">
                <a:solidFill>
                  <a:srgbClr val="E8EDF2"/>
                </a:solidFill>
                <a:latin typeface="Consolas"/>
              </a:rPr>
              <a:t>        </a:t>
            </a:r>
            <a:r>
              <a:rPr sz="1100" i="0">
                <a:solidFill>
                  <a:srgbClr val="5DADE2"/>
                </a:solidFill>
                <a:latin typeface="Consolas"/>
              </a:rPr>
              <a:t>if</a:t>
            </a:r>
            <a:r>
              <a:rPr sz="1100" i="0">
                <a:solidFill>
                  <a:srgbClr val="E8EDF2"/>
                </a:solidFill>
                <a:latin typeface="Consolas"/>
              </a:rPr>
              <a:t> </a:t>
            </a:r>
            <a:r>
              <a:rPr sz="1100" i="0">
                <a:solidFill>
                  <a:srgbClr val="E8EDF2"/>
                </a:solidFill>
                <a:latin typeface="Consolas"/>
              </a:rPr>
              <a:t>lhs</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sym</a:t>
            </a:r>
            <a:r>
              <a:rPr sz="1100" i="0">
                <a:solidFill>
                  <a:srgbClr val="E8EDF2"/>
                </a:solidFill>
                <a:latin typeface="Consolas"/>
              </a:rPr>
              <a:t> </a:t>
            </a:r>
            <a:r>
              <a:rPr sz="1100" i="0">
                <a:solidFill>
                  <a:srgbClr val="AEB6BF"/>
                </a:solidFill>
                <a:latin typeface="Consolas"/>
              </a:rPr>
              <a:t>and</a:t>
            </a:r>
            <a:r>
              <a:rPr sz="1100" i="0">
                <a:solidFill>
                  <a:srgbClr val="E8EDF2"/>
                </a:solidFill>
                <a:latin typeface="Consolas"/>
              </a:rPr>
              <a:t> </a:t>
            </a:r>
            <a:r>
              <a:rPr sz="1100" i="0">
                <a:solidFill>
                  <a:srgbClr val="C39BD3"/>
                </a:solidFill>
                <a:latin typeface="Consolas"/>
              </a:rPr>
              <a:t>len</a:t>
            </a:r>
            <a:r>
              <a:rPr sz="1100" i="0">
                <a:solidFill>
                  <a:srgbClr val="AEB6BF"/>
                </a:solidFill>
                <a:latin typeface="Consolas"/>
              </a:rPr>
              <a:t>(</a:t>
            </a:r>
            <a:r>
              <a:rPr sz="1100" i="0">
                <a:solidFill>
                  <a:srgbClr val="E8EDF2"/>
                </a:solidFill>
                <a:latin typeface="Consolas"/>
              </a:rPr>
              <a:t>rhs</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F7DC6F"/>
                </a:solidFill>
                <a:latin typeface="Consolas"/>
              </a:rPr>
              <a:t>1</a:t>
            </a:r>
            <a:r>
              <a:rPr sz="1100" i="0">
                <a:solidFill>
                  <a:srgbClr val="E8EDF2"/>
                </a:solidFill>
                <a:latin typeface="Consolas"/>
              </a:rPr>
              <a:t> </a:t>
            </a:r>
            <a:r>
              <a:rPr sz="1100" i="0">
                <a:solidFill>
                  <a:srgbClr val="AEB6BF"/>
                </a:solidFill>
                <a:latin typeface="Consolas"/>
              </a:rPr>
              <a:t>and</a:t>
            </a:r>
            <a:r>
              <a:rPr sz="1100" i="0">
                <a:solidFill>
                  <a:srgbClr val="E8EDF2"/>
                </a:solidFill>
                <a:latin typeface="Consolas"/>
              </a:rPr>
              <a:t> </a:t>
            </a:r>
            <a:r>
              <a:rPr sz="1100" i="0">
                <a:solidFill>
                  <a:srgbClr val="E8EDF2"/>
                </a:solidFill>
                <a:latin typeface="Consolas"/>
              </a:rPr>
              <a:t>rhs</a:t>
            </a:r>
            <a:r>
              <a:rPr sz="1100" i="0">
                <a:solidFill>
                  <a:srgbClr val="AEB6BF"/>
                </a:solidFill>
                <a:latin typeface="Consolas"/>
              </a:rPr>
              <a:t>[</a:t>
            </a:r>
            <a:r>
              <a:rPr sz="1100" i="0">
                <a:solidFill>
                  <a:srgbClr val="F7DC6F"/>
                </a:solidFill>
                <a:latin typeface="Consolas"/>
              </a:rPr>
              <a:t>0</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sym</a:t>
            </a:r>
            <a:r>
              <a:rPr sz="1100" i="0">
                <a:solidFill>
                  <a:srgbClr val="E8EDF2"/>
                </a:solidFill>
                <a:latin typeface="Consolas"/>
              </a:rPr>
              <a:t> </a:t>
            </a:r>
            <a:r>
              <a:rPr sz="1100" i="0">
                <a:solidFill>
                  <a:srgbClr val="E8EDF2"/>
                </a:solidFill>
                <a:latin typeface="Consolas"/>
              </a:rPr>
              <a:t>\</a:t>
            </a:r>
          </a:p>
          <a:p>
            <a:pPr>
              <a:lnSpc>
                <a:spcPct val="100000"/>
              </a:lnSpc>
              <a:spcAft>
                <a:spcPts val="0"/>
              </a:spcAft>
            </a:pPr>
            <a:r>
              <a:rPr sz="1100" i="0">
                <a:solidFill>
                  <a:srgbClr val="E8EDF2"/>
                </a:solidFill>
                <a:latin typeface="Consolas"/>
              </a:rPr>
              <a:t>                </a:t>
            </a:r>
            <a:r>
              <a:rPr sz="1100" i="0">
                <a:solidFill>
                  <a:srgbClr val="AEB6BF"/>
                </a:solidFill>
                <a:latin typeface="Consolas"/>
              </a:rPr>
              <a:t>and</a:t>
            </a:r>
            <a:r>
              <a:rPr sz="1100" i="0">
                <a:solidFill>
                  <a:srgbClr val="E8EDF2"/>
                </a:solidFill>
                <a:latin typeface="Consolas"/>
              </a:rPr>
              <a:t> </a:t>
            </a:r>
            <a:r>
              <a:rPr sz="1100" i="0">
                <a:solidFill>
                  <a:srgbClr val="E8EDF2"/>
                </a:solidFill>
                <a:latin typeface="Consolas"/>
              </a:rPr>
              <a:t>rhs</a:t>
            </a:r>
            <a:r>
              <a:rPr sz="1100" i="0">
                <a:solidFill>
                  <a:srgbClr val="AEB6BF"/>
                </a:solidFill>
                <a:latin typeface="Consolas"/>
              </a:rPr>
              <a:t>[</a:t>
            </a:r>
            <a:r>
              <a:rPr sz="1100" i="0">
                <a:solidFill>
                  <a:srgbClr val="F7DC6F"/>
                </a:solidFill>
                <a:latin typeface="Consolas"/>
              </a:rPr>
              <a:t>0</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in</a:t>
            </a:r>
            <a:r>
              <a:rPr sz="1100" i="0">
                <a:solidFill>
                  <a:srgbClr val="E8EDF2"/>
                </a:solidFill>
                <a:latin typeface="Consolas"/>
              </a:rPr>
              <a:t> </a:t>
            </a:r>
            <a:r>
              <a:rPr sz="1100" i="0">
                <a:solidFill>
                  <a:srgbClr val="E8EDF2"/>
                </a:solidFill>
                <a:latin typeface="Consolas"/>
              </a:rPr>
              <a:t>chart</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i</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j</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E8EDF2"/>
                </a:solidFill>
                <a:latin typeface="Consolas"/>
              </a:rPr>
              <a:t>total</a:t>
            </a:r>
            <a:r>
              <a:rPr sz="1100" i="0">
                <a:solidFill>
                  <a:srgbClr val="E8EDF2"/>
                </a:solidFill>
                <a:latin typeface="Consolas"/>
              </a:rPr>
              <a:t> </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count_parses</a:t>
            </a:r>
            <a:r>
              <a:rPr sz="1100" i="0">
                <a:solidFill>
                  <a:srgbClr val="AEB6BF"/>
                </a:solidFill>
                <a:latin typeface="Consolas"/>
              </a:rPr>
              <a:t>(</a:t>
            </a:r>
            <a:r>
              <a:rPr sz="1100" i="0">
                <a:solidFill>
                  <a:srgbClr val="E8EDF2"/>
                </a:solidFill>
                <a:latin typeface="Consolas"/>
              </a:rPr>
              <a:t>chart</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back</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i</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j</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rhs</a:t>
            </a:r>
            <a:r>
              <a:rPr sz="1100" i="0">
                <a:solidFill>
                  <a:srgbClr val="AEB6BF"/>
                </a:solidFill>
                <a:latin typeface="Consolas"/>
              </a:rPr>
              <a:t>[</a:t>
            </a:r>
            <a:r>
              <a:rPr sz="1100" i="0">
                <a:solidFill>
                  <a:srgbClr val="F7DC6F"/>
                </a:solidFill>
                <a:latin typeface="Consolas"/>
              </a:rPr>
              <a:t>0</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memo</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5DADE2"/>
                </a:solidFill>
                <a:latin typeface="Consolas"/>
              </a:rPr>
              <a:t>if</a:t>
            </a:r>
            <a:r>
              <a:rPr sz="1100" i="0">
                <a:solidFill>
                  <a:srgbClr val="E8EDF2"/>
                </a:solidFill>
                <a:latin typeface="Consolas"/>
              </a:rPr>
              <a:t> </a:t>
            </a:r>
            <a:r>
              <a:rPr sz="1100" i="0">
                <a:solidFill>
                  <a:srgbClr val="E8EDF2"/>
                </a:solidFill>
                <a:latin typeface="Consolas"/>
              </a:rPr>
              <a:t>total</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F7DC6F"/>
                </a:solidFill>
                <a:latin typeface="Consolas"/>
              </a:rPr>
              <a:t>0</a:t>
            </a:r>
            <a:r>
              <a:rPr sz="1100" i="0">
                <a:solidFill>
                  <a:srgbClr val="E8EDF2"/>
                </a:solidFill>
                <a:latin typeface="Consolas"/>
              </a:rPr>
              <a:t> </a:t>
            </a:r>
            <a:r>
              <a:rPr sz="1100" i="0">
                <a:solidFill>
                  <a:srgbClr val="AEB6BF"/>
                </a:solidFill>
                <a:latin typeface="Consolas"/>
              </a:rPr>
              <a:t>and</a:t>
            </a:r>
            <a:r>
              <a:rPr sz="1100" i="0">
                <a:solidFill>
                  <a:srgbClr val="E8EDF2"/>
                </a:solidFill>
                <a:latin typeface="Consolas"/>
              </a:rPr>
              <a:t> </a:t>
            </a:r>
            <a:r>
              <a:rPr sz="1100" i="0">
                <a:solidFill>
                  <a:srgbClr val="E8EDF2"/>
                </a:solidFill>
                <a:latin typeface="Consolas"/>
              </a:rPr>
              <a:t>j</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i</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F7DC6F"/>
                </a:solidFill>
                <a:latin typeface="Consolas"/>
              </a:rPr>
              <a:t>1</a:t>
            </a:r>
            <a:r>
              <a:rPr sz="1100" i="0">
                <a:solidFill>
                  <a:srgbClr val="E8EDF2"/>
                </a:solidFill>
                <a:latin typeface="Consolas"/>
              </a:rPr>
              <a:t> </a:t>
            </a:r>
            <a:r>
              <a:rPr sz="1100" i="0">
                <a:solidFill>
                  <a:srgbClr val="AEB6BF"/>
                </a:solidFill>
                <a:latin typeface="Consolas"/>
              </a:rPr>
              <a:t>and</a:t>
            </a:r>
            <a:r>
              <a:rPr sz="1100" i="0">
                <a:solidFill>
                  <a:srgbClr val="E8EDF2"/>
                </a:solidFill>
                <a:latin typeface="Consolas"/>
              </a:rPr>
              <a:t> </a:t>
            </a:r>
            <a:r>
              <a:rPr sz="1100" i="0">
                <a:solidFill>
                  <a:srgbClr val="E8EDF2"/>
                </a:solidFill>
                <a:latin typeface="Consolas"/>
              </a:rPr>
              <a:t>sym</a:t>
            </a:r>
            <a:r>
              <a:rPr sz="1100" i="0">
                <a:solidFill>
                  <a:srgbClr val="E8EDF2"/>
                </a:solidFill>
                <a:latin typeface="Consolas"/>
              </a:rPr>
              <a:t> </a:t>
            </a:r>
            <a:r>
              <a:rPr sz="1100" i="0">
                <a:solidFill>
                  <a:srgbClr val="AEB6BF"/>
                </a:solidFill>
                <a:latin typeface="Consolas"/>
              </a:rPr>
              <a:t>in</a:t>
            </a:r>
            <a:r>
              <a:rPr sz="1100" i="0">
                <a:solidFill>
                  <a:srgbClr val="E8EDF2"/>
                </a:solidFill>
                <a:latin typeface="Consolas"/>
              </a:rPr>
              <a:t> </a:t>
            </a:r>
            <a:r>
              <a:rPr sz="1100" i="0">
                <a:solidFill>
                  <a:srgbClr val="E8EDF2"/>
                </a:solidFill>
                <a:latin typeface="Consolas"/>
              </a:rPr>
              <a:t>chart</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i</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j</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E8EDF2"/>
                </a:solidFill>
                <a:latin typeface="Consolas"/>
              </a:rPr>
              <a:t>total</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F7DC6F"/>
                </a:solidFill>
                <a:latin typeface="Consolas"/>
              </a:rPr>
              <a:t>1</a:t>
            </a:r>
          </a:p>
          <a:p>
            <a:pPr>
              <a:lnSpc>
                <a:spcPct val="100000"/>
              </a:lnSpc>
              <a:spcAft>
                <a:spcPts val="0"/>
              </a:spcAft>
            </a:pPr>
            <a:r>
              <a:rPr sz="1100" i="0">
                <a:solidFill>
                  <a:srgbClr val="E8EDF2"/>
                </a:solidFill>
                <a:latin typeface="Consolas"/>
              </a:rPr>
              <a:t>    </a:t>
            </a:r>
            <a:r>
              <a:rPr sz="1100" i="0">
                <a:solidFill>
                  <a:srgbClr val="E8EDF2"/>
                </a:solidFill>
                <a:latin typeface="Consolas"/>
              </a:rPr>
              <a:t>memo</a:t>
            </a:r>
            <a:r>
              <a:rPr sz="1100" i="0">
                <a:solidFill>
                  <a:srgbClr val="AEB6BF"/>
                </a:solidFill>
                <a:latin typeface="Consolas"/>
              </a:rPr>
              <a:t>[</a:t>
            </a:r>
            <a:r>
              <a:rPr sz="1100" i="0">
                <a:solidFill>
                  <a:srgbClr val="E8EDF2"/>
                </a:solidFill>
                <a:latin typeface="Consolas"/>
              </a:rPr>
              <a:t>key</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total</a:t>
            </a:r>
          </a:p>
          <a:p>
            <a:pPr>
              <a:lnSpc>
                <a:spcPct val="100000"/>
              </a:lnSpc>
              <a:spcAft>
                <a:spcPts val="0"/>
              </a:spcAft>
            </a:pPr>
            <a:r>
              <a:rPr sz="1100" i="0">
                <a:solidFill>
                  <a:srgbClr val="E8EDF2"/>
                </a:solidFill>
                <a:latin typeface="Consolas"/>
              </a:rPr>
              <a:t>    </a:t>
            </a:r>
            <a:r>
              <a:rPr sz="1100" i="0">
                <a:solidFill>
                  <a:srgbClr val="5DADE2"/>
                </a:solidFill>
                <a:latin typeface="Consolas"/>
              </a:rPr>
              <a:t>return</a:t>
            </a:r>
            <a:r>
              <a:rPr sz="1100" i="0">
                <a:solidFill>
                  <a:srgbClr val="E8EDF2"/>
                </a:solidFill>
                <a:latin typeface="Consolas"/>
              </a:rPr>
              <a:t> </a:t>
            </a:r>
            <a:r>
              <a:rPr sz="1100" i="0">
                <a:solidFill>
                  <a:srgbClr val="E8EDF2"/>
                </a:solidFill>
                <a:latin typeface="Consolas"/>
              </a:rPr>
              <a:t>total</a:t>
            </a:r>
          </a:p>
        </p:txBody>
      </p:sp>
      <p:sp>
        <p:nvSpPr>
          <p:cNvPr id="15" name="!!code-num"/>
          <p:cNvSpPr txBox="1"/>
          <p:nvPr/>
        </p:nvSpPr>
        <p:spPr>
          <a:xfrm>
            <a:off x="768096" y="2523744"/>
            <a:ext cx="393192" cy="3462527"/>
          </a:xfrm>
          <a:prstGeom prst="rect">
            <a:avLst/>
          </a:prstGeom>
          <a:noFill/>
        </p:spPr>
        <p:txBody>
          <a:bodyPr wrap="none" anchor="t" lIns="0" rIns="0" tIns="0" bIns="0">
            <a:noAutofit/>
          </a:bodyPr>
          <a:lstStyle/>
          <a:p>
            <a:pPr algn="r">
              <a:lnSpc>
                <a:spcPct val="100000"/>
              </a:lnSpc>
            </a:pPr>
            <a:r>
              <a:rPr sz="1100">
                <a:solidFill>
                  <a:srgbClr val="4F5D6A"/>
                </a:solidFill>
                <a:latin typeface="Consolas"/>
              </a:rPr>
              <a:t>69</a:t>
            </a:r>
          </a:p>
          <a:p>
            <a:pPr algn="r">
              <a:lnSpc>
                <a:spcPct val="100000"/>
              </a:lnSpc>
            </a:pPr>
            <a:r>
              <a:rPr sz="1100">
                <a:solidFill>
                  <a:srgbClr val="4F5D6A"/>
                </a:solidFill>
                <a:latin typeface="Consolas"/>
              </a:rPr>
              <a:t>70</a:t>
            </a:r>
          </a:p>
          <a:p>
            <a:pPr algn="r">
              <a:lnSpc>
                <a:spcPct val="100000"/>
              </a:lnSpc>
            </a:pPr>
            <a:r>
              <a:rPr sz="1100">
                <a:solidFill>
                  <a:srgbClr val="4F5D6A"/>
                </a:solidFill>
                <a:latin typeface="Consolas"/>
              </a:rPr>
              <a:t>71</a:t>
            </a:r>
          </a:p>
          <a:p>
            <a:pPr algn="r">
              <a:lnSpc>
                <a:spcPct val="100000"/>
              </a:lnSpc>
            </a:pPr>
            <a:r>
              <a:rPr sz="1100">
                <a:solidFill>
                  <a:srgbClr val="4F5D6A"/>
                </a:solidFill>
                <a:latin typeface="Consolas"/>
              </a:rPr>
              <a:t>72</a:t>
            </a:r>
          </a:p>
          <a:p>
            <a:pPr algn="r">
              <a:lnSpc>
                <a:spcPct val="100000"/>
              </a:lnSpc>
            </a:pPr>
            <a:r>
              <a:rPr sz="1100">
                <a:solidFill>
                  <a:srgbClr val="4F5D6A"/>
                </a:solidFill>
                <a:latin typeface="Consolas"/>
              </a:rPr>
              <a:t>73</a:t>
            </a:r>
          </a:p>
          <a:p>
            <a:pPr algn="r">
              <a:lnSpc>
                <a:spcPct val="100000"/>
              </a:lnSpc>
            </a:pPr>
            <a:r>
              <a:rPr sz="1100">
                <a:solidFill>
                  <a:srgbClr val="4F5D6A"/>
                </a:solidFill>
                <a:latin typeface="Consolas"/>
              </a:rPr>
              <a:t>74</a:t>
            </a:r>
          </a:p>
          <a:p>
            <a:pPr algn="r">
              <a:lnSpc>
                <a:spcPct val="100000"/>
              </a:lnSpc>
            </a:pPr>
            <a:r>
              <a:rPr sz="1100">
                <a:solidFill>
                  <a:srgbClr val="4F5D6A"/>
                </a:solidFill>
                <a:latin typeface="Consolas"/>
              </a:rPr>
              <a:t>75</a:t>
            </a:r>
          </a:p>
          <a:p>
            <a:pPr algn="r">
              <a:lnSpc>
                <a:spcPct val="100000"/>
              </a:lnSpc>
            </a:pPr>
            <a:r>
              <a:rPr sz="1100">
                <a:solidFill>
                  <a:srgbClr val="4F5D6A"/>
                </a:solidFill>
                <a:latin typeface="Consolas"/>
              </a:rPr>
              <a:t>76</a:t>
            </a:r>
          </a:p>
          <a:p>
            <a:pPr algn="r">
              <a:lnSpc>
                <a:spcPct val="100000"/>
              </a:lnSpc>
            </a:pPr>
            <a:r>
              <a:rPr sz="1100">
                <a:solidFill>
                  <a:srgbClr val="4F5D6A"/>
                </a:solidFill>
                <a:latin typeface="Consolas"/>
              </a:rPr>
              <a:t>77</a:t>
            </a:r>
          </a:p>
          <a:p>
            <a:pPr algn="r">
              <a:lnSpc>
                <a:spcPct val="100000"/>
              </a:lnSpc>
            </a:pPr>
            <a:r>
              <a:rPr sz="1100">
                <a:solidFill>
                  <a:srgbClr val="4F5D6A"/>
                </a:solidFill>
                <a:latin typeface="Consolas"/>
              </a:rPr>
              <a:t>78</a:t>
            </a:r>
          </a:p>
          <a:p>
            <a:pPr algn="r">
              <a:lnSpc>
                <a:spcPct val="100000"/>
              </a:lnSpc>
            </a:pPr>
            <a:r>
              <a:rPr sz="1100">
                <a:solidFill>
                  <a:srgbClr val="4F5D6A"/>
                </a:solidFill>
                <a:latin typeface="Consolas"/>
              </a:rPr>
              <a:t>79</a:t>
            </a:r>
          </a:p>
          <a:p>
            <a:pPr algn="r">
              <a:lnSpc>
                <a:spcPct val="100000"/>
              </a:lnSpc>
            </a:pPr>
            <a:r>
              <a:rPr sz="1100">
                <a:solidFill>
                  <a:srgbClr val="4F5D6A"/>
                </a:solidFill>
                <a:latin typeface="Consolas"/>
              </a:rPr>
              <a:t>80</a:t>
            </a:r>
          </a:p>
          <a:p>
            <a:pPr algn="r">
              <a:lnSpc>
                <a:spcPct val="100000"/>
              </a:lnSpc>
            </a:pPr>
            <a:r>
              <a:rPr sz="1100">
                <a:solidFill>
                  <a:srgbClr val="4F5D6A"/>
                </a:solidFill>
                <a:latin typeface="Consolas"/>
              </a:rPr>
              <a:t>81</a:t>
            </a:r>
          </a:p>
          <a:p>
            <a:pPr algn="r">
              <a:lnSpc>
                <a:spcPct val="100000"/>
              </a:lnSpc>
            </a:pPr>
            <a:r>
              <a:rPr sz="1100">
                <a:solidFill>
                  <a:srgbClr val="4F5D6A"/>
                </a:solidFill>
                <a:latin typeface="Consolas"/>
              </a:rPr>
              <a:t>82</a:t>
            </a:r>
          </a:p>
          <a:p>
            <a:pPr algn="r">
              <a:lnSpc>
                <a:spcPct val="100000"/>
              </a:lnSpc>
            </a:pPr>
            <a:r>
              <a:rPr sz="1100">
                <a:solidFill>
                  <a:srgbClr val="4F5D6A"/>
                </a:solidFill>
                <a:latin typeface="Consolas"/>
              </a:rPr>
              <a:t>83</a:t>
            </a:r>
          </a:p>
          <a:p>
            <a:pPr algn="r">
              <a:lnSpc>
                <a:spcPct val="100000"/>
              </a:lnSpc>
            </a:pPr>
            <a:r>
              <a:rPr sz="1100">
                <a:solidFill>
                  <a:srgbClr val="4F5D6A"/>
                </a:solidFill>
                <a:latin typeface="Consolas"/>
              </a:rPr>
              <a:t>84</a:t>
            </a:r>
          </a:p>
          <a:p>
            <a:pPr algn="r">
              <a:lnSpc>
                <a:spcPct val="100000"/>
              </a:lnSpc>
            </a:pPr>
            <a:r>
              <a:rPr sz="1100">
                <a:solidFill>
                  <a:srgbClr val="4F5D6A"/>
                </a:solidFill>
                <a:latin typeface="Consolas"/>
              </a:rPr>
              <a:t>85</a:t>
            </a:r>
          </a:p>
          <a:p>
            <a:pPr algn="r">
              <a:lnSpc>
                <a:spcPct val="100000"/>
              </a:lnSpc>
            </a:pPr>
            <a:r>
              <a:rPr sz="1100">
                <a:solidFill>
                  <a:srgbClr val="4F5D6A"/>
                </a:solidFill>
                <a:latin typeface="Consolas"/>
              </a:rPr>
              <a:t>86</a:t>
            </a:r>
          </a:p>
          <a:p>
            <a:pPr algn="r">
              <a:lnSpc>
                <a:spcPct val="100000"/>
              </a:lnSpc>
            </a:pPr>
            <a:r>
              <a:rPr sz="1100">
                <a:solidFill>
                  <a:srgbClr val="4F5D6A"/>
                </a:solidFill>
                <a:latin typeface="Consolas"/>
              </a:rPr>
              <a:t>87</a:t>
            </a:r>
          </a:p>
          <a:p>
            <a:pPr algn="r">
              <a:lnSpc>
                <a:spcPct val="100000"/>
              </a:lnSpc>
            </a:pPr>
            <a:r>
              <a:rPr sz="1100">
                <a:solidFill>
                  <a:srgbClr val="4F5D6A"/>
                </a:solidFill>
                <a:latin typeface="Consolas"/>
              </a:rPr>
              <a:t>88</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6330303"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Parsing Ticket Subjects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6 OF 15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18  ·  Natural Language Processing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§18.7  ·  Handout p. 190     </a:t>
            </a:r>
            <a:fld id="{4C8E0C73-51DC-4797-8CFB-3E40CD080617}" type="slidenum">
              <a:rPr lang="en-GB" sz="1000">
                <a:solidFill>
                  <a:srgbClr val="8795A1"/>
                </a:solidFill>
                <a:latin typeface="Segoe UI"/>
              </a:rPr>
              <a:t>28</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The grammar, in Chomsky normal form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2432304"/>
          </a:xfrm>
          <a:prstGeom prst="roundRect">
            <a:avLst>
              <a:gd name="adj" fmla="val 3759"/>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code/ch18_parsing_ticket.py</a:t>
            </a:r>
          </a:p>
        </p:txBody>
      </p:sp>
      <p:sp>
        <p:nvSpPr>
          <p:cNvPr id="14" name="!!code-text" descr="def parse(subject): words = subject.split() chart, back = cyk(words) ok = &quot;S&quot; in chart[(0, len(words))] n = count_parses(chart, back, 0, len(words), &quot;S&quot;) if ok else 0 return ok, n, chart"/>
          <p:cNvSpPr txBox="1"/>
          <p:nvPr/>
        </p:nvSpPr>
        <p:spPr>
          <a:xfrm>
            <a:off x="1362456" y="2523744"/>
            <a:ext cx="9987991" cy="1938528"/>
          </a:xfrm>
          <a:prstGeom prst="rect">
            <a:avLst/>
          </a:prstGeom>
          <a:noFill/>
        </p:spPr>
        <p:txBody>
          <a:bodyPr wrap="none" anchor="t" lIns="0" rIns="0" tIns="0" bIns="0">
            <a:noAutofit/>
          </a:bodyPr>
          <a:lstStyle/>
          <a:p>
            <a:pPr>
              <a:lnSpc>
                <a:spcPct val="100000"/>
              </a:lnSpc>
              <a:spcAft>
                <a:spcPts val="0"/>
              </a:spcAft>
            </a:pPr>
            <a:r>
              <a:rPr sz="2000" i="0">
                <a:solidFill>
                  <a:srgbClr val="5DADE2"/>
                </a:solidFill>
                <a:latin typeface="Consolas"/>
              </a:rPr>
              <a:t>def</a:t>
            </a:r>
            <a:r>
              <a:rPr sz="2000" i="0">
                <a:solidFill>
                  <a:srgbClr val="E8EDF2"/>
                </a:solidFill>
                <a:latin typeface="Consolas"/>
              </a:rPr>
              <a:t> </a:t>
            </a:r>
            <a:r>
              <a:rPr sz="2000" i="0">
                <a:solidFill>
                  <a:srgbClr val="C39BD3"/>
                </a:solidFill>
                <a:latin typeface="Consolas"/>
              </a:rPr>
              <a:t>parse</a:t>
            </a:r>
            <a:r>
              <a:rPr sz="2000" i="0">
                <a:solidFill>
                  <a:srgbClr val="AEB6BF"/>
                </a:solidFill>
                <a:latin typeface="Consolas"/>
              </a:rPr>
              <a:t>(</a:t>
            </a:r>
            <a:r>
              <a:rPr sz="2000" i="0">
                <a:solidFill>
                  <a:srgbClr val="E8EDF2"/>
                </a:solidFill>
                <a:latin typeface="Consolas"/>
              </a:rPr>
              <a:t>subject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words</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subject</a:t>
            </a:r>
            <a:r>
              <a:rPr sz="2000" i="0">
                <a:solidFill>
                  <a:srgbClr val="AEB6BF"/>
                </a:solidFill>
                <a:latin typeface="Consolas"/>
              </a:rPr>
              <a:t>.</a:t>
            </a:r>
            <a:r>
              <a:rPr sz="2000" i="0">
                <a:solidFill>
                  <a:srgbClr val="E8EDF2"/>
                </a:solidFill>
                <a:latin typeface="Consolas"/>
              </a:rPr>
              <a:t>split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chart</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back</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cyk</a:t>
            </a:r>
            <a:r>
              <a:rPr sz="2000" i="0">
                <a:solidFill>
                  <a:srgbClr val="AEB6BF"/>
                </a:solidFill>
                <a:latin typeface="Consolas"/>
              </a:rPr>
              <a:t>(</a:t>
            </a:r>
            <a:r>
              <a:rPr sz="2000" i="0">
                <a:solidFill>
                  <a:srgbClr val="E8EDF2"/>
                </a:solidFill>
                <a:latin typeface="Consolas"/>
              </a:rPr>
              <a:t>words</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ok</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S</a:t>
            </a:r>
            <a:r>
              <a:rPr sz="2000" i="0">
                <a:solidFill>
                  <a:srgbClr val="7DCEA0"/>
                </a:solidFill>
                <a:latin typeface="Consolas"/>
              </a:rPr>
              <a:t>"</a:t>
            </a:r>
            <a:r>
              <a:rPr sz="2000" i="0">
                <a:solidFill>
                  <a:srgbClr val="E8EDF2"/>
                </a:solidFill>
                <a:latin typeface="Consolas"/>
              </a:rPr>
              <a:t> </a:t>
            </a:r>
            <a:r>
              <a:rPr sz="2000" i="0">
                <a:solidFill>
                  <a:srgbClr val="AEB6BF"/>
                </a:solidFill>
                <a:latin typeface="Consolas"/>
              </a:rPr>
              <a:t>in</a:t>
            </a:r>
            <a:r>
              <a:rPr sz="2000" i="0">
                <a:solidFill>
                  <a:srgbClr val="E8EDF2"/>
                </a:solidFill>
                <a:latin typeface="Consolas"/>
              </a:rPr>
              <a:t> </a:t>
            </a:r>
            <a:r>
              <a:rPr sz="2000" i="0">
                <a:solidFill>
                  <a:srgbClr val="E8EDF2"/>
                </a:solidFill>
                <a:latin typeface="Consolas"/>
              </a:rPr>
              <a:t>chart</a:t>
            </a:r>
            <a:r>
              <a:rPr sz="2000" i="0">
                <a:solidFill>
                  <a:srgbClr val="AEB6BF"/>
                </a:solidFill>
                <a:latin typeface="Consolas"/>
              </a:rPr>
              <a:t>[</a:t>
            </a:r>
            <a:r>
              <a:rPr sz="2000" i="0">
                <a:solidFill>
                  <a:srgbClr val="AEB6BF"/>
                </a:solidFill>
                <a:latin typeface="Consolas"/>
              </a:rPr>
              <a:t>(</a:t>
            </a:r>
            <a:r>
              <a:rPr sz="2000" i="0">
                <a:solidFill>
                  <a:srgbClr val="F7DC6F"/>
                </a:solidFill>
                <a:latin typeface="Consolas"/>
              </a:rPr>
              <a:t>0</a:t>
            </a:r>
            <a:r>
              <a:rPr sz="2000" i="0">
                <a:solidFill>
                  <a:srgbClr val="AEB6BF"/>
                </a:solidFill>
                <a:latin typeface="Consolas"/>
              </a:rPr>
              <a:t>,</a:t>
            </a:r>
            <a:r>
              <a:rPr sz="2000" i="0">
                <a:solidFill>
                  <a:srgbClr val="E8EDF2"/>
                </a:solidFill>
                <a:latin typeface="Consolas"/>
              </a:rPr>
              <a:t> </a:t>
            </a:r>
            <a:r>
              <a:rPr sz="2000" i="0">
                <a:solidFill>
                  <a:srgbClr val="C39BD3"/>
                </a:solidFill>
                <a:latin typeface="Consolas"/>
              </a:rPr>
              <a:t>len</a:t>
            </a:r>
            <a:r>
              <a:rPr sz="2000" i="0">
                <a:solidFill>
                  <a:srgbClr val="AEB6BF"/>
                </a:solidFill>
                <a:latin typeface="Consolas"/>
              </a:rPr>
              <a:t>(</a:t>
            </a:r>
            <a:r>
              <a:rPr sz="2000" i="0">
                <a:solidFill>
                  <a:srgbClr val="E8EDF2"/>
                </a:solidFill>
                <a:latin typeface="Consolas"/>
              </a:rPr>
              <a:t>words</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n</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count_parses</a:t>
            </a:r>
            <a:r>
              <a:rPr sz="2000" i="0">
                <a:solidFill>
                  <a:srgbClr val="AEB6BF"/>
                </a:solidFill>
                <a:latin typeface="Consolas"/>
              </a:rPr>
              <a:t>(</a:t>
            </a:r>
            <a:r>
              <a:rPr sz="2000" i="0">
                <a:solidFill>
                  <a:srgbClr val="E8EDF2"/>
                </a:solidFill>
                <a:latin typeface="Consolas"/>
              </a:rPr>
              <a:t>chart</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back</a:t>
            </a:r>
            <a:r>
              <a:rPr sz="2000" i="0">
                <a:solidFill>
                  <a:srgbClr val="AEB6BF"/>
                </a:solidFill>
                <a:latin typeface="Consolas"/>
              </a:rPr>
              <a:t>,</a:t>
            </a:r>
            <a:r>
              <a:rPr sz="2000" i="0">
                <a:solidFill>
                  <a:srgbClr val="E8EDF2"/>
                </a:solidFill>
                <a:latin typeface="Consolas"/>
              </a:rPr>
              <a:t> </a:t>
            </a:r>
            <a:r>
              <a:rPr sz="2000" i="0">
                <a:solidFill>
                  <a:srgbClr val="F7DC6F"/>
                </a:solidFill>
                <a:latin typeface="Consolas"/>
              </a:rPr>
              <a:t>0</a:t>
            </a:r>
            <a:r>
              <a:rPr sz="2000" i="0">
                <a:solidFill>
                  <a:srgbClr val="AEB6BF"/>
                </a:solidFill>
                <a:latin typeface="Consolas"/>
              </a:rPr>
              <a:t>,</a:t>
            </a:r>
            <a:r>
              <a:rPr sz="2000" i="0">
                <a:solidFill>
                  <a:srgbClr val="E8EDF2"/>
                </a:solidFill>
                <a:latin typeface="Consolas"/>
              </a:rPr>
              <a:t> </a:t>
            </a:r>
            <a:r>
              <a:rPr sz="2000" i="0">
                <a:solidFill>
                  <a:srgbClr val="C39BD3"/>
                </a:solidFill>
                <a:latin typeface="Consolas"/>
              </a:rPr>
              <a:t>len</a:t>
            </a:r>
            <a:r>
              <a:rPr sz="2000" i="0">
                <a:solidFill>
                  <a:srgbClr val="AEB6BF"/>
                </a:solidFill>
                <a:latin typeface="Consolas"/>
              </a:rPr>
              <a:t>(</a:t>
            </a:r>
            <a:r>
              <a:rPr sz="2000" i="0">
                <a:solidFill>
                  <a:srgbClr val="E8EDF2"/>
                </a:solidFill>
                <a:latin typeface="Consolas"/>
              </a:rPr>
              <a:t>words</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S</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5DADE2"/>
                </a:solidFill>
                <a:latin typeface="Consolas"/>
              </a:rPr>
              <a:t>if</a:t>
            </a:r>
            <a:r>
              <a:rPr sz="2000" i="0">
                <a:solidFill>
                  <a:srgbClr val="E8EDF2"/>
                </a:solidFill>
                <a:latin typeface="Consolas"/>
              </a:rPr>
              <a:t> </a:t>
            </a:r>
            <a:r>
              <a:rPr sz="2000" i="0">
                <a:solidFill>
                  <a:srgbClr val="E8EDF2"/>
                </a:solidFill>
                <a:latin typeface="Consolas"/>
              </a:rPr>
              <a:t>ok</a:t>
            </a:r>
            <a:r>
              <a:rPr sz="2000" i="0">
                <a:solidFill>
                  <a:srgbClr val="E8EDF2"/>
                </a:solidFill>
                <a:latin typeface="Consolas"/>
              </a:rPr>
              <a:t> </a:t>
            </a:r>
            <a:r>
              <a:rPr sz="2000" i="0">
                <a:solidFill>
                  <a:srgbClr val="5DADE2"/>
                </a:solidFill>
                <a:latin typeface="Consolas"/>
              </a:rPr>
              <a:t>else</a:t>
            </a:r>
            <a:r>
              <a:rPr sz="2000" i="0">
                <a:solidFill>
                  <a:srgbClr val="E8EDF2"/>
                </a:solidFill>
                <a:latin typeface="Consolas"/>
              </a:rPr>
              <a:t> </a:t>
            </a:r>
            <a:r>
              <a:rPr sz="2000" i="0">
                <a:solidFill>
                  <a:srgbClr val="F7DC6F"/>
                </a:solidFill>
                <a:latin typeface="Consolas"/>
              </a:rPr>
              <a:t>0</a:t>
            </a:r>
          </a:p>
          <a:p>
            <a:pPr>
              <a:lnSpc>
                <a:spcPct val="100000"/>
              </a:lnSpc>
              <a:spcAft>
                <a:spcPts val="0"/>
              </a:spcAft>
            </a:pPr>
            <a:r>
              <a:rPr sz="2000" i="0">
                <a:solidFill>
                  <a:srgbClr val="E8EDF2"/>
                </a:solidFill>
                <a:latin typeface="Consolas"/>
              </a:rPr>
              <a:t>    </a:t>
            </a:r>
            <a:r>
              <a:rPr sz="2000" i="0">
                <a:solidFill>
                  <a:srgbClr val="5DADE2"/>
                </a:solidFill>
                <a:latin typeface="Consolas"/>
              </a:rPr>
              <a:t>return</a:t>
            </a:r>
            <a:r>
              <a:rPr sz="2000" i="0">
                <a:solidFill>
                  <a:srgbClr val="E8EDF2"/>
                </a:solidFill>
                <a:latin typeface="Consolas"/>
              </a:rPr>
              <a:t> </a:t>
            </a:r>
            <a:r>
              <a:rPr sz="2000" i="0">
                <a:solidFill>
                  <a:srgbClr val="E8EDF2"/>
                </a:solidFill>
                <a:latin typeface="Consolas"/>
              </a:rPr>
              <a:t>ok</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n</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chart</a:t>
            </a:r>
          </a:p>
        </p:txBody>
      </p:sp>
      <p:sp>
        <p:nvSpPr>
          <p:cNvPr id="15" name="!!code-num"/>
          <p:cNvSpPr txBox="1"/>
          <p:nvPr/>
        </p:nvSpPr>
        <p:spPr>
          <a:xfrm>
            <a:off x="768096" y="2523744"/>
            <a:ext cx="393192" cy="1938528"/>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91</a:t>
            </a:r>
          </a:p>
          <a:p>
            <a:pPr algn="r">
              <a:lnSpc>
                <a:spcPct val="100000"/>
              </a:lnSpc>
            </a:pPr>
            <a:r>
              <a:rPr sz="2000">
                <a:solidFill>
                  <a:srgbClr val="4F5D6A"/>
                </a:solidFill>
                <a:latin typeface="Consolas"/>
              </a:rPr>
              <a:t>92</a:t>
            </a:r>
          </a:p>
          <a:p>
            <a:pPr algn="r">
              <a:lnSpc>
                <a:spcPct val="100000"/>
              </a:lnSpc>
            </a:pPr>
            <a:r>
              <a:rPr sz="2000">
                <a:solidFill>
                  <a:srgbClr val="4F5D6A"/>
                </a:solidFill>
                <a:latin typeface="Consolas"/>
              </a:rPr>
              <a:t>93</a:t>
            </a:r>
          </a:p>
          <a:p>
            <a:pPr algn="r">
              <a:lnSpc>
                <a:spcPct val="100000"/>
              </a:lnSpc>
            </a:pPr>
            <a:r>
              <a:rPr sz="2000">
                <a:solidFill>
                  <a:srgbClr val="4F5D6A"/>
                </a:solidFill>
                <a:latin typeface="Consolas"/>
              </a:rPr>
              <a:t>94</a:t>
            </a:r>
          </a:p>
          <a:p>
            <a:pPr algn="r">
              <a:lnSpc>
                <a:spcPct val="100000"/>
              </a:lnSpc>
            </a:pPr>
            <a:r>
              <a:rPr sz="2000">
                <a:solidFill>
                  <a:srgbClr val="4F5D6A"/>
                </a:solidFill>
                <a:latin typeface="Consolas"/>
              </a:rPr>
              <a:t>95</a:t>
            </a:r>
          </a:p>
          <a:p>
            <a:pPr algn="r">
              <a:lnSpc>
                <a:spcPct val="100000"/>
              </a:lnSpc>
            </a:pPr>
            <a:r>
              <a:rPr sz="2000">
                <a:solidFill>
                  <a:srgbClr val="4F5D6A"/>
                </a:solidFill>
                <a:latin typeface="Consolas"/>
              </a:rPr>
              <a:t>96</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6564758"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Parsing Ticket Subjects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7 OF 15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18  ·  Natural Language Processing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§18.7  ·  Handout p. 190     </a:t>
            </a:r>
            <a:fld id="{70E2CB4E-C2D5-43B9-A2F7-239AD69D5506}" type="slidenum">
              <a:rPr lang="en-GB" sz="1000">
                <a:solidFill>
                  <a:srgbClr val="8795A1"/>
                </a:solidFill>
                <a:latin typeface="Segoe UI"/>
              </a:rPr>
              <a:t>29</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Eliza: pattern substitution, and nothing else</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78223"/>
          </a:xfrm>
          <a:prstGeom prst="roundRect">
            <a:avLst>
              <a:gd name="adj" fmla="val 224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code/ch18_parsing_ticket.py</a:t>
            </a:r>
          </a:p>
        </p:txBody>
      </p:sp>
      <p:sp>
        <p:nvSpPr>
          <p:cNvPr id="14" name="!!code-text" descr="# --- Eliza: pattern substitution, and nothing else ------------------ REFLECT = {&quot;my&quot;: &quot;your&quot;, &quot;i&quot;: &quot;you&quot;, &quot;me&quot;: &quot;you&quot;, &quot;am&quot;: &quot;are&quot;, &quot;mine&quot;: &quot;yours&quot;, &quot;myself&quot;: &quot;yourself&quot;} PATTERNS = [ (r&quot;^i am (.*)$&quot;, &quot;How long have you been {0}?&quot;), (r&quot;^my (\w+) keeps (.*)$&quot;, &quot;Tell me more about your {0}.&quot;), (r&quot;^because (.*)$&quot;, &quot;Is that the real reason?&quot;), (r&quot;^i (?:can't|cannot) (.*)$&quot;, &quot;What stops you from {0}?&quot;), (r&quot;^(.*) is broken$&quot;, &quot;What makes you say {0} is broken?&quot;), ] FALLBACK = &quot;Can you tell me more about that?&quot;"/>
          <p:cNvSpPr txBox="1"/>
          <p:nvPr/>
        </p:nvSpPr>
        <p:spPr>
          <a:xfrm>
            <a:off x="1362456" y="2523744"/>
            <a:ext cx="9987991" cy="3584447"/>
          </a:xfrm>
          <a:prstGeom prst="rect">
            <a:avLst/>
          </a:prstGeom>
          <a:noFill/>
        </p:spPr>
        <p:txBody>
          <a:bodyPr wrap="none" anchor="t" lIns="0" rIns="0" tIns="0" bIns="0">
            <a:noAutofit/>
          </a:bodyPr>
          <a:lstStyle/>
          <a:p>
            <a:pPr>
              <a:lnSpc>
                <a:spcPct val="100000"/>
              </a:lnSpc>
              <a:spcAft>
                <a:spcPts val="0"/>
              </a:spcAft>
            </a:pPr>
            <a:r>
              <a:rPr sz="1900" i="1">
                <a:solidFill>
                  <a:srgbClr val="8795A1"/>
                </a:solidFill>
                <a:latin typeface="Consolas"/>
              </a:rPr>
              <a:t># --- Eliza: pattern substitution, and nothing else ------------------</a:t>
            </a:r>
          </a:p>
          <a:p>
            <a:pPr>
              <a:lnSpc>
                <a:spcPct val="100000"/>
              </a:lnSpc>
              <a:spcAft>
                <a:spcPts val="0"/>
              </a:spcAft>
            </a:pPr>
            <a:r>
              <a:rPr sz="1900" i="0">
                <a:solidFill>
                  <a:srgbClr val="E8EDF2"/>
                </a:solidFill>
                <a:latin typeface="Consolas"/>
              </a:rPr>
              <a:t>REFLECT</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my</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your</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i</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you</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me</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you</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am</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are</a:t>
            </a:r>
            <a:r>
              <a:rPr sz="1900" i="0">
                <a:solidFill>
                  <a:srgbClr val="7DCEA0"/>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mine</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yours</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myself</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yourself</a:t>
            </a:r>
            <a:r>
              <a:rPr sz="1900" i="0">
                <a:solidFill>
                  <a:srgbClr val="7DCEA0"/>
                </a:solidFill>
                <a:latin typeface="Consolas"/>
              </a:rPr>
              <a:t>"</a:t>
            </a:r>
            <a:r>
              <a:rPr sz="1900" i="0">
                <a:solidFill>
                  <a:srgbClr val="AEB6BF"/>
                </a:solidFill>
                <a:latin typeface="Consolas"/>
              </a:rPr>
              <a:t>}</a:t>
            </a:r>
          </a:p>
          <a:p>
            <a:pPr>
              <a:lnSpc>
                <a:spcPct val="100000"/>
              </a:lnSpc>
              <a:spcAft>
                <a:spcPts val="0"/>
              </a:spcAft>
            </a:pPr>
            <a:r>
              <a:rPr sz="1900">
                <a:latin typeface="Consolas"/>
              </a:rPr>
              <a:t> </a:t>
            </a:r>
          </a:p>
          <a:p>
            <a:pPr>
              <a:lnSpc>
                <a:spcPct val="100000"/>
              </a:lnSpc>
              <a:spcAft>
                <a:spcPts val="0"/>
              </a:spcAft>
            </a:pPr>
            <a:r>
              <a:rPr sz="1900" i="0">
                <a:solidFill>
                  <a:srgbClr val="E8EDF2"/>
                </a:solidFill>
                <a:latin typeface="Consolas"/>
              </a:rPr>
              <a:t>PATTERNS</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AEB6BF"/>
                </a:solidFill>
                <a:latin typeface="Consolas"/>
              </a:rPr>
              <a:t>(</a:t>
            </a:r>
            <a:r>
              <a:rPr sz="1900" i="0">
                <a:solidFill>
                  <a:srgbClr val="7DCEA0"/>
                </a:solidFill>
                <a:latin typeface="Consolas"/>
              </a:rPr>
              <a:t>r</a:t>
            </a:r>
            <a:r>
              <a:rPr sz="1900" i="0">
                <a:solidFill>
                  <a:srgbClr val="7DCEA0"/>
                </a:solidFill>
                <a:latin typeface="Consolas"/>
              </a:rPr>
              <a:t>"</a:t>
            </a:r>
            <a:r>
              <a:rPr sz="1900" i="0">
                <a:solidFill>
                  <a:srgbClr val="7DCEA0"/>
                </a:solidFill>
                <a:latin typeface="Consolas"/>
              </a:rPr>
              <a:t>^i am (.*)$</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How long have you been </a:t>
            </a:r>
            <a:r>
              <a:rPr sz="1900" i="0">
                <a:solidFill>
                  <a:srgbClr val="7DCEA0"/>
                </a:solidFill>
                <a:latin typeface="Consolas"/>
              </a:rPr>
              <a:t>{0}</a:t>
            </a:r>
            <a:r>
              <a:rPr sz="1900" i="0">
                <a:solidFill>
                  <a:srgbClr val="7DCEA0"/>
                </a:solidFill>
                <a:latin typeface="Consolas"/>
              </a:rPr>
              <a:t>?</a:t>
            </a:r>
            <a:r>
              <a:rPr sz="1900" i="0">
                <a:solidFill>
                  <a:srgbClr val="7DCEA0"/>
                </a:solidFill>
                <a:latin typeface="Consolas"/>
              </a:rPr>
              <a:t>"</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AEB6BF"/>
                </a:solidFill>
                <a:latin typeface="Consolas"/>
              </a:rPr>
              <a:t>(</a:t>
            </a:r>
            <a:r>
              <a:rPr sz="1900" i="0">
                <a:solidFill>
                  <a:srgbClr val="7DCEA0"/>
                </a:solidFill>
                <a:latin typeface="Consolas"/>
              </a:rPr>
              <a:t>r</a:t>
            </a:r>
            <a:r>
              <a:rPr sz="1900" i="0">
                <a:solidFill>
                  <a:srgbClr val="7DCEA0"/>
                </a:solidFill>
                <a:latin typeface="Consolas"/>
              </a:rPr>
              <a:t>"</a:t>
            </a:r>
            <a:r>
              <a:rPr sz="1900" i="0">
                <a:solidFill>
                  <a:srgbClr val="7DCEA0"/>
                </a:solidFill>
                <a:latin typeface="Consolas"/>
              </a:rPr>
              <a:t>^my (</a:t>
            </a:r>
            <a:r>
              <a:rPr sz="1900" i="0">
                <a:solidFill>
                  <a:srgbClr val="7DCEA0"/>
                </a:solidFill>
                <a:latin typeface="Consolas"/>
              </a:rPr>
              <a:t>\</a:t>
            </a:r>
            <a:r>
              <a:rPr sz="1900" i="0">
                <a:solidFill>
                  <a:srgbClr val="7DCEA0"/>
                </a:solidFill>
                <a:latin typeface="Consolas"/>
              </a:rPr>
              <a:t>w+) keeps (.*)$</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Tell me more about your </a:t>
            </a:r>
            <a:r>
              <a:rPr sz="1900" i="0">
                <a:solidFill>
                  <a:srgbClr val="7DCEA0"/>
                </a:solidFill>
                <a:latin typeface="Consolas"/>
              </a:rPr>
              <a:t>{0}</a:t>
            </a:r>
            <a:r>
              <a:rPr sz="1900" i="0">
                <a:solidFill>
                  <a:srgbClr val="7DCEA0"/>
                </a:solidFill>
                <a:latin typeface="Consolas"/>
              </a:rPr>
              <a:t>.</a:t>
            </a:r>
            <a:r>
              <a:rPr sz="1900" i="0">
                <a:solidFill>
                  <a:srgbClr val="7DCEA0"/>
                </a:solidFill>
                <a:latin typeface="Consolas"/>
              </a:rPr>
              <a:t>"</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AEB6BF"/>
                </a:solidFill>
                <a:latin typeface="Consolas"/>
              </a:rPr>
              <a:t>(</a:t>
            </a:r>
            <a:r>
              <a:rPr sz="1900" i="0">
                <a:solidFill>
                  <a:srgbClr val="7DCEA0"/>
                </a:solidFill>
                <a:latin typeface="Consolas"/>
              </a:rPr>
              <a:t>r</a:t>
            </a:r>
            <a:r>
              <a:rPr sz="1900" i="0">
                <a:solidFill>
                  <a:srgbClr val="7DCEA0"/>
                </a:solidFill>
                <a:latin typeface="Consolas"/>
              </a:rPr>
              <a:t>"</a:t>
            </a:r>
            <a:r>
              <a:rPr sz="1900" i="0">
                <a:solidFill>
                  <a:srgbClr val="7DCEA0"/>
                </a:solidFill>
                <a:latin typeface="Consolas"/>
              </a:rPr>
              <a:t>^because (.*)$</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Is that the real reason?</a:t>
            </a:r>
            <a:r>
              <a:rPr sz="1900" i="0">
                <a:solidFill>
                  <a:srgbClr val="7DCEA0"/>
                </a:solidFill>
                <a:latin typeface="Consolas"/>
              </a:rPr>
              <a:t>"</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AEB6BF"/>
                </a:solidFill>
                <a:latin typeface="Consolas"/>
              </a:rPr>
              <a:t>(</a:t>
            </a:r>
            <a:r>
              <a:rPr sz="1900" i="0">
                <a:solidFill>
                  <a:srgbClr val="7DCEA0"/>
                </a:solidFill>
                <a:latin typeface="Consolas"/>
              </a:rPr>
              <a:t>r</a:t>
            </a:r>
            <a:r>
              <a:rPr sz="1900" i="0">
                <a:solidFill>
                  <a:srgbClr val="7DCEA0"/>
                </a:solidFill>
                <a:latin typeface="Consolas"/>
              </a:rPr>
              <a:t>"</a:t>
            </a:r>
            <a:r>
              <a:rPr sz="1900" i="0">
                <a:solidFill>
                  <a:srgbClr val="7DCEA0"/>
                </a:solidFill>
                <a:latin typeface="Consolas"/>
              </a:rPr>
              <a:t>^i (?:can</a:t>
            </a:r>
            <a:r>
              <a:rPr sz="1900" i="0">
                <a:solidFill>
                  <a:srgbClr val="7DCEA0"/>
                </a:solidFill>
                <a:latin typeface="Consolas"/>
              </a:rPr>
              <a:t>'</a:t>
            </a:r>
            <a:r>
              <a:rPr sz="1900" i="0">
                <a:solidFill>
                  <a:srgbClr val="7DCEA0"/>
                </a:solidFill>
                <a:latin typeface="Consolas"/>
              </a:rPr>
              <a:t>t|cannot) (.*)$</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What stops you from </a:t>
            </a:r>
            <a:r>
              <a:rPr sz="1900" i="0">
                <a:solidFill>
                  <a:srgbClr val="7DCEA0"/>
                </a:solidFill>
                <a:latin typeface="Consolas"/>
              </a:rPr>
              <a:t>{0}</a:t>
            </a:r>
            <a:r>
              <a:rPr sz="1900" i="0">
                <a:solidFill>
                  <a:srgbClr val="7DCEA0"/>
                </a:solidFill>
                <a:latin typeface="Consolas"/>
              </a:rPr>
              <a:t>?</a:t>
            </a:r>
            <a:r>
              <a:rPr sz="1900" i="0">
                <a:solidFill>
                  <a:srgbClr val="7DCEA0"/>
                </a:solidFill>
                <a:latin typeface="Consolas"/>
              </a:rPr>
              <a:t>"</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AEB6BF"/>
                </a:solidFill>
                <a:latin typeface="Consolas"/>
              </a:rPr>
              <a:t>(</a:t>
            </a:r>
            <a:r>
              <a:rPr sz="1900" i="0">
                <a:solidFill>
                  <a:srgbClr val="7DCEA0"/>
                </a:solidFill>
                <a:latin typeface="Consolas"/>
              </a:rPr>
              <a:t>r</a:t>
            </a:r>
            <a:r>
              <a:rPr sz="1900" i="0">
                <a:solidFill>
                  <a:srgbClr val="7DCEA0"/>
                </a:solidFill>
                <a:latin typeface="Consolas"/>
              </a:rPr>
              <a:t>"</a:t>
            </a:r>
            <a:r>
              <a:rPr sz="1900" i="0">
                <a:solidFill>
                  <a:srgbClr val="7DCEA0"/>
                </a:solidFill>
                <a:latin typeface="Consolas"/>
              </a:rPr>
              <a:t>^(.*) is broken$</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What makes you say </a:t>
            </a:r>
            <a:r>
              <a:rPr sz="1900" i="0">
                <a:solidFill>
                  <a:srgbClr val="7DCEA0"/>
                </a:solidFill>
                <a:latin typeface="Consolas"/>
              </a:rPr>
              <a:t>{0}</a:t>
            </a:r>
            <a:r>
              <a:rPr sz="1900" i="0">
                <a:solidFill>
                  <a:srgbClr val="7DCEA0"/>
                </a:solidFill>
                <a:latin typeface="Consolas"/>
              </a:rPr>
              <a:t> is broken?</a:t>
            </a:r>
            <a:r>
              <a:rPr sz="1900" i="0">
                <a:solidFill>
                  <a:srgbClr val="7DCEA0"/>
                </a:solidFill>
                <a:latin typeface="Consolas"/>
              </a:rPr>
              <a:t>"</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AEB6BF"/>
                </a:solidFill>
                <a:latin typeface="Consolas"/>
              </a:rPr>
              <a:t>]</a:t>
            </a:r>
          </a:p>
          <a:p>
            <a:pPr>
              <a:lnSpc>
                <a:spcPct val="100000"/>
              </a:lnSpc>
              <a:spcAft>
                <a:spcPts val="0"/>
              </a:spcAft>
            </a:pPr>
            <a:r>
              <a:rPr sz="1900" i="0">
                <a:solidFill>
                  <a:srgbClr val="E8EDF2"/>
                </a:solidFill>
                <a:latin typeface="Consolas"/>
              </a:rPr>
              <a:t>FALLBACK</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Can you tell me more about that?</a:t>
            </a:r>
            <a:r>
              <a:rPr sz="1900" i="0">
                <a:solidFill>
                  <a:srgbClr val="7DCEA0"/>
                </a:solidFill>
                <a:latin typeface="Consolas"/>
              </a:rPr>
              <a:t>"</a:t>
            </a:r>
          </a:p>
        </p:txBody>
      </p:sp>
      <p:sp>
        <p:nvSpPr>
          <p:cNvPr id="15" name="!!code-num"/>
          <p:cNvSpPr txBox="1"/>
          <p:nvPr/>
        </p:nvSpPr>
        <p:spPr>
          <a:xfrm>
            <a:off x="768096" y="2523744"/>
            <a:ext cx="393192" cy="3584447"/>
          </a:xfrm>
          <a:prstGeom prst="rect">
            <a:avLst/>
          </a:prstGeom>
          <a:noFill/>
        </p:spPr>
        <p:txBody>
          <a:bodyPr wrap="none" anchor="t" lIns="0" rIns="0" tIns="0" bIns="0">
            <a:noAutofit/>
          </a:bodyPr>
          <a:lstStyle/>
          <a:p>
            <a:pPr algn="r">
              <a:lnSpc>
                <a:spcPct val="100000"/>
              </a:lnSpc>
            </a:pPr>
            <a:r>
              <a:rPr sz="1900">
                <a:solidFill>
                  <a:srgbClr val="4F5D6A"/>
                </a:solidFill>
                <a:latin typeface="Consolas"/>
              </a:rPr>
              <a:t>99</a:t>
            </a:r>
          </a:p>
          <a:p>
            <a:pPr algn="r">
              <a:lnSpc>
                <a:spcPct val="100000"/>
              </a:lnSpc>
            </a:pPr>
            <a:r>
              <a:rPr sz="1900">
                <a:solidFill>
                  <a:srgbClr val="4F5D6A"/>
                </a:solidFill>
                <a:latin typeface="Consolas"/>
              </a:rPr>
              <a:t>100</a:t>
            </a:r>
          </a:p>
          <a:p>
            <a:pPr algn="r">
              <a:lnSpc>
                <a:spcPct val="100000"/>
              </a:lnSpc>
            </a:pPr>
            <a:r>
              <a:rPr sz="1900">
                <a:solidFill>
                  <a:srgbClr val="4F5D6A"/>
                </a:solidFill>
                <a:latin typeface="Consolas"/>
              </a:rPr>
              <a:t>101</a:t>
            </a:r>
          </a:p>
          <a:p>
            <a:pPr algn="r">
              <a:lnSpc>
                <a:spcPct val="100000"/>
              </a:lnSpc>
            </a:pPr>
            <a:r>
              <a:rPr sz="1900">
                <a:solidFill>
                  <a:srgbClr val="4F5D6A"/>
                </a:solidFill>
                <a:latin typeface="Consolas"/>
              </a:rPr>
              <a:t>102</a:t>
            </a:r>
          </a:p>
          <a:p>
            <a:pPr algn="r">
              <a:lnSpc>
                <a:spcPct val="100000"/>
              </a:lnSpc>
            </a:pPr>
            <a:r>
              <a:rPr sz="1900">
                <a:solidFill>
                  <a:srgbClr val="4F5D6A"/>
                </a:solidFill>
                <a:latin typeface="Consolas"/>
              </a:rPr>
              <a:t>103</a:t>
            </a:r>
          </a:p>
          <a:p>
            <a:pPr algn="r">
              <a:lnSpc>
                <a:spcPct val="100000"/>
              </a:lnSpc>
            </a:pPr>
            <a:r>
              <a:rPr sz="1900">
                <a:solidFill>
                  <a:srgbClr val="4F5D6A"/>
                </a:solidFill>
                <a:latin typeface="Consolas"/>
              </a:rPr>
              <a:t>104</a:t>
            </a:r>
          </a:p>
          <a:p>
            <a:pPr algn="r">
              <a:lnSpc>
                <a:spcPct val="100000"/>
              </a:lnSpc>
            </a:pPr>
            <a:r>
              <a:rPr sz="1900">
                <a:solidFill>
                  <a:srgbClr val="4F5D6A"/>
                </a:solidFill>
                <a:latin typeface="Consolas"/>
              </a:rPr>
              <a:t>105</a:t>
            </a:r>
          </a:p>
          <a:p>
            <a:pPr algn="r">
              <a:lnSpc>
                <a:spcPct val="100000"/>
              </a:lnSpc>
            </a:pPr>
            <a:r>
              <a:rPr sz="1900">
                <a:solidFill>
                  <a:srgbClr val="4F5D6A"/>
                </a:solidFill>
                <a:latin typeface="Consolas"/>
              </a:rPr>
              <a:t>106</a:t>
            </a:r>
          </a:p>
          <a:p>
            <a:pPr algn="r">
              <a:lnSpc>
                <a:spcPct val="100000"/>
              </a:lnSpc>
            </a:pPr>
            <a:r>
              <a:rPr sz="1900">
                <a:solidFill>
                  <a:srgbClr val="4F5D6A"/>
                </a:solidFill>
                <a:latin typeface="Consolas"/>
              </a:rPr>
              <a:t>107</a:t>
            </a:r>
          </a:p>
          <a:p>
            <a:pPr algn="r">
              <a:lnSpc>
                <a:spcPct val="100000"/>
              </a:lnSpc>
            </a:pPr>
            <a:r>
              <a:rPr sz="1900">
                <a:solidFill>
                  <a:srgbClr val="4F5D6A"/>
                </a:solidFill>
                <a:latin typeface="Consolas"/>
              </a:rPr>
              <a:t>108</a:t>
            </a:r>
          </a:p>
          <a:p>
            <a:pPr algn="r">
              <a:lnSpc>
                <a:spcPct val="100000"/>
              </a:lnSpc>
            </a:pPr>
            <a:r>
              <a:rPr sz="1900">
                <a:solidFill>
                  <a:srgbClr val="4F5D6A"/>
                </a:solidFill>
                <a:latin typeface="Consolas"/>
              </a:rPr>
              <a:t>109</a:t>
            </a:r>
          </a:p>
          <a:p>
            <a:pPr algn="r">
              <a:lnSpc>
                <a:spcPct val="100000"/>
              </a:lnSpc>
            </a:pPr>
            <a:r>
              <a:rPr sz="1900">
                <a:solidFill>
                  <a:srgbClr val="4F5D6A"/>
                </a:solidFill>
                <a:latin typeface="Consolas"/>
              </a:rPr>
              <a:t>110</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6799214"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Parsing Ticket Subjects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8 OF 15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18  ·  Natural Language Processing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§18.7  ·  Handout p. 190     </a:t>
            </a:r>
            <a:fld id="{027B7892-D385-412D-9CB0-9C6C3A59C271}" type="slidenum">
              <a:rPr lang="en-GB" sz="1000">
                <a:solidFill>
                  <a:srgbClr val="8795A1"/>
                </a:solidFill>
                <a:latin typeface="Segoe UI"/>
              </a:rPr>
              <a:t>30</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Eliza: pattern substitution, and nothing else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956303"/>
          </a:xfrm>
          <a:prstGeom prst="roundRect">
            <a:avLst>
              <a:gd name="adj" fmla="val 2311"/>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code/ch18_parsing_ticket.py</a:t>
            </a:r>
          </a:p>
        </p:txBody>
      </p:sp>
      <p:sp>
        <p:nvSpPr>
          <p:cNvPr id="14" name="!!code-text" descr="def reflect(text): return &quot; &quot;.join(REFLECT.get(w, w) for w in text.split()) def eliza(line): low = line.lower().strip().rstrip(&quot;.!?&quot;) for (pat, template) in PATTERNS: m = re.match(pat, low) if m: return template.format(*[reflect(g) for g in m.groups()]) return FALLBACK"/>
          <p:cNvSpPr txBox="1"/>
          <p:nvPr/>
        </p:nvSpPr>
        <p:spPr>
          <a:xfrm>
            <a:off x="1362456" y="2523744"/>
            <a:ext cx="9987991" cy="3462527"/>
          </a:xfrm>
          <a:prstGeom prst="rect">
            <a:avLst/>
          </a:prstGeom>
          <a:noFill/>
        </p:spPr>
        <p:txBody>
          <a:bodyPr wrap="none" anchor="t" lIns="0" rIns="0" tIns="0" bIns="0">
            <a:noAutofit/>
          </a:bodyPr>
          <a:lstStyle/>
          <a:p>
            <a:pPr>
              <a:lnSpc>
                <a:spcPct val="100000"/>
              </a:lnSpc>
              <a:spcAft>
                <a:spcPts val="0"/>
              </a:spcAft>
            </a:pPr>
            <a:r>
              <a:rPr sz="2000" i="0">
                <a:solidFill>
                  <a:srgbClr val="5DADE2"/>
                </a:solidFill>
                <a:latin typeface="Consolas"/>
              </a:rPr>
              <a:t>def</a:t>
            </a:r>
            <a:r>
              <a:rPr sz="2000" i="0">
                <a:solidFill>
                  <a:srgbClr val="E8EDF2"/>
                </a:solidFill>
                <a:latin typeface="Consolas"/>
              </a:rPr>
              <a:t> </a:t>
            </a:r>
            <a:r>
              <a:rPr sz="2000" i="0">
                <a:solidFill>
                  <a:srgbClr val="C39BD3"/>
                </a:solidFill>
                <a:latin typeface="Consolas"/>
              </a:rPr>
              <a:t>reflect</a:t>
            </a:r>
            <a:r>
              <a:rPr sz="2000" i="0">
                <a:solidFill>
                  <a:srgbClr val="AEB6BF"/>
                </a:solidFill>
                <a:latin typeface="Consolas"/>
              </a:rPr>
              <a:t>(</a:t>
            </a:r>
            <a:r>
              <a:rPr sz="2000" i="0">
                <a:solidFill>
                  <a:srgbClr val="E8EDF2"/>
                </a:solidFill>
                <a:latin typeface="Consolas"/>
              </a:rPr>
              <a:t>text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return</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 </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join</a:t>
            </a:r>
            <a:r>
              <a:rPr sz="2000" i="0">
                <a:solidFill>
                  <a:srgbClr val="AEB6BF"/>
                </a:solidFill>
                <a:latin typeface="Consolas"/>
              </a:rPr>
              <a:t>(</a:t>
            </a:r>
            <a:r>
              <a:rPr sz="2000" i="0">
                <a:solidFill>
                  <a:srgbClr val="E8EDF2"/>
                </a:solidFill>
                <a:latin typeface="Consolas"/>
              </a:rPr>
              <a:t>REFLECT</a:t>
            </a:r>
            <a:r>
              <a:rPr sz="2000" i="0">
                <a:solidFill>
                  <a:srgbClr val="AEB6BF"/>
                </a:solidFill>
                <a:latin typeface="Consolas"/>
              </a:rPr>
              <a:t>.</a:t>
            </a:r>
            <a:r>
              <a:rPr sz="2000" i="0">
                <a:solidFill>
                  <a:srgbClr val="E8EDF2"/>
                </a:solidFill>
                <a:latin typeface="Consolas"/>
              </a:rPr>
              <a:t>get</a:t>
            </a:r>
            <a:r>
              <a:rPr sz="2000" i="0">
                <a:solidFill>
                  <a:srgbClr val="AEB6BF"/>
                </a:solidFill>
                <a:latin typeface="Consolas"/>
              </a:rPr>
              <a:t>(</a:t>
            </a:r>
            <a:r>
              <a:rPr sz="2000" i="0">
                <a:solidFill>
                  <a:srgbClr val="E8EDF2"/>
                </a:solidFill>
                <a:latin typeface="Consolas"/>
              </a:rPr>
              <a:t>w</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w</a:t>
            </a:r>
            <a:r>
              <a:rPr sz="2000" i="0">
                <a:solidFill>
                  <a:srgbClr val="AEB6BF"/>
                </a:solidFill>
                <a:latin typeface="Consolas"/>
              </a:rPr>
              <a:t>)</a:t>
            </a:r>
            <a:r>
              <a:rPr sz="2000" i="0">
                <a:solidFill>
                  <a:srgbClr val="E8EDF2"/>
                </a:solidFill>
                <a:latin typeface="Consolas"/>
              </a:rPr>
              <a:t> </a:t>
            </a:r>
            <a:r>
              <a:rPr sz="2000" i="0">
                <a:solidFill>
                  <a:srgbClr val="5DADE2"/>
                </a:solidFill>
                <a:latin typeface="Consolas"/>
              </a:rPr>
              <a:t>for</a:t>
            </a:r>
            <a:r>
              <a:rPr sz="2000" i="0">
                <a:solidFill>
                  <a:srgbClr val="E8EDF2"/>
                </a:solidFill>
                <a:latin typeface="Consolas"/>
              </a:rPr>
              <a:t> </a:t>
            </a:r>
            <a:r>
              <a:rPr sz="2000" i="0">
                <a:solidFill>
                  <a:srgbClr val="E8EDF2"/>
                </a:solidFill>
                <a:latin typeface="Consolas"/>
              </a:rPr>
              <a:t>w</a:t>
            </a:r>
            <a:r>
              <a:rPr sz="2000" i="0">
                <a:solidFill>
                  <a:srgbClr val="E8EDF2"/>
                </a:solidFill>
                <a:latin typeface="Consolas"/>
              </a:rPr>
              <a:t> </a:t>
            </a:r>
            <a:r>
              <a:rPr sz="2000" i="0">
                <a:solidFill>
                  <a:srgbClr val="AEB6BF"/>
                </a:solidFill>
                <a:latin typeface="Consolas"/>
              </a:rPr>
              <a:t>in</a:t>
            </a:r>
            <a:r>
              <a:rPr sz="2000" i="0">
                <a:solidFill>
                  <a:srgbClr val="E8EDF2"/>
                </a:solidFill>
                <a:latin typeface="Consolas"/>
              </a:rPr>
              <a:t> </a:t>
            </a:r>
            <a:r>
              <a:rPr sz="2000" i="0">
                <a:solidFill>
                  <a:srgbClr val="E8EDF2"/>
                </a:solidFill>
                <a:latin typeface="Consolas"/>
              </a:rPr>
              <a:t>text</a:t>
            </a:r>
            <a:r>
              <a:rPr sz="2000" i="0">
                <a:solidFill>
                  <a:srgbClr val="AEB6BF"/>
                </a:solidFill>
                <a:latin typeface="Consolas"/>
              </a:rPr>
              <a:t>.</a:t>
            </a:r>
            <a:r>
              <a:rPr sz="2000" i="0">
                <a:solidFill>
                  <a:srgbClr val="E8EDF2"/>
                </a:solidFill>
                <a:latin typeface="Consolas"/>
              </a:rPr>
              <a:t>split</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a:latin typeface="Consolas"/>
              </a:rPr>
              <a:t> </a:t>
            </a:r>
          </a:p>
          <a:p>
            <a:pPr>
              <a:lnSpc>
                <a:spcPct val="100000"/>
              </a:lnSpc>
              <a:spcAft>
                <a:spcPts val="0"/>
              </a:spcAft>
            </a:pPr>
            <a:r>
              <a:rPr sz="2000">
                <a:latin typeface="Consolas"/>
              </a:rPr>
              <a:t> </a:t>
            </a:r>
          </a:p>
          <a:p>
            <a:pPr>
              <a:lnSpc>
                <a:spcPct val="100000"/>
              </a:lnSpc>
              <a:spcAft>
                <a:spcPts val="0"/>
              </a:spcAft>
            </a:pPr>
            <a:r>
              <a:rPr sz="2000" i="0">
                <a:solidFill>
                  <a:srgbClr val="5DADE2"/>
                </a:solidFill>
                <a:latin typeface="Consolas"/>
              </a:rPr>
              <a:t>def</a:t>
            </a:r>
            <a:r>
              <a:rPr sz="2000" i="0">
                <a:solidFill>
                  <a:srgbClr val="E8EDF2"/>
                </a:solidFill>
                <a:latin typeface="Consolas"/>
              </a:rPr>
              <a:t> </a:t>
            </a:r>
            <a:r>
              <a:rPr sz="2000" i="0">
                <a:solidFill>
                  <a:srgbClr val="C39BD3"/>
                </a:solidFill>
                <a:latin typeface="Consolas"/>
              </a:rPr>
              <a:t>eliza</a:t>
            </a:r>
            <a:r>
              <a:rPr sz="2000" i="0">
                <a:solidFill>
                  <a:srgbClr val="AEB6BF"/>
                </a:solidFill>
                <a:latin typeface="Consolas"/>
              </a:rPr>
              <a:t>(</a:t>
            </a:r>
            <a:r>
              <a:rPr sz="2000" i="0">
                <a:solidFill>
                  <a:srgbClr val="E8EDF2"/>
                </a:solidFill>
                <a:latin typeface="Consolas"/>
              </a:rPr>
              <a:t>line</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low</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line</a:t>
            </a:r>
            <a:r>
              <a:rPr sz="2000" i="0">
                <a:solidFill>
                  <a:srgbClr val="AEB6BF"/>
                </a:solidFill>
                <a:latin typeface="Consolas"/>
              </a:rPr>
              <a:t>.</a:t>
            </a:r>
            <a:r>
              <a:rPr sz="2000" i="0">
                <a:solidFill>
                  <a:srgbClr val="E8EDF2"/>
                </a:solidFill>
                <a:latin typeface="Consolas"/>
              </a:rPr>
              <a:t>lower</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strip</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rstrip</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a:t>
            </a:r>
            <a:r>
              <a:rPr sz="2000" i="0">
                <a:solidFill>
                  <a:srgbClr val="7DCEA0"/>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for</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pat</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template</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in</a:t>
            </a:r>
            <a:r>
              <a:rPr sz="2000" i="0">
                <a:solidFill>
                  <a:srgbClr val="E8EDF2"/>
                </a:solidFill>
                <a:latin typeface="Consolas"/>
              </a:rPr>
              <a:t> </a:t>
            </a:r>
            <a:r>
              <a:rPr sz="2000" i="0">
                <a:solidFill>
                  <a:srgbClr val="E8EDF2"/>
                </a:solidFill>
                <a:latin typeface="Consolas"/>
              </a:rPr>
              <a:t>PATTERNS</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m</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re</a:t>
            </a:r>
            <a:r>
              <a:rPr sz="2000" i="0">
                <a:solidFill>
                  <a:srgbClr val="AEB6BF"/>
                </a:solidFill>
                <a:latin typeface="Consolas"/>
              </a:rPr>
              <a:t>.</a:t>
            </a:r>
            <a:r>
              <a:rPr sz="2000" i="0">
                <a:solidFill>
                  <a:srgbClr val="E8EDF2"/>
                </a:solidFill>
                <a:latin typeface="Consolas"/>
              </a:rPr>
              <a:t>match</a:t>
            </a:r>
            <a:r>
              <a:rPr sz="2000" i="0">
                <a:solidFill>
                  <a:srgbClr val="AEB6BF"/>
                </a:solidFill>
                <a:latin typeface="Consolas"/>
              </a:rPr>
              <a:t>(</a:t>
            </a:r>
            <a:r>
              <a:rPr sz="2000" i="0">
                <a:solidFill>
                  <a:srgbClr val="E8EDF2"/>
                </a:solidFill>
                <a:latin typeface="Consolas"/>
              </a:rPr>
              <a:t>pat</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low</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if</a:t>
            </a:r>
            <a:r>
              <a:rPr sz="2000" i="0">
                <a:solidFill>
                  <a:srgbClr val="E8EDF2"/>
                </a:solidFill>
                <a:latin typeface="Consolas"/>
              </a:rPr>
              <a:t> </a:t>
            </a:r>
            <a:r>
              <a:rPr sz="2000" i="0">
                <a:solidFill>
                  <a:srgbClr val="E8EDF2"/>
                </a:solidFill>
                <a:latin typeface="Consolas"/>
              </a:rPr>
              <a:t>m</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return</a:t>
            </a:r>
            <a:r>
              <a:rPr sz="2000" i="0">
                <a:solidFill>
                  <a:srgbClr val="E8EDF2"/>
                </a:solidFill>
                <a:latin typeface="Consolas"/>
              </a:rPr>
              <a:t> </a:t>
            </a:r>
            <a:r>
              <a:rPr sz="2000" i="0">
                <a:solidFill>
                  <a:srgbClr val="E8EDF2"/>
                </a:solidFill>
                <a:latin typeface="Consolas"/>
              </a:rPr>
              <a:t>template</a:t>
            </a:r>
            <a:r>
              <a:rPr sz="2000" i="0">
                <a:solidFill>
                  <a:srgbClr val="AEB6BF"/>
                </a:solidFill>
                <a:latin typeface="Consolas"/>
              </a:rPr>
              <a:t>.</a:t>
            </a:r>
            <a:r>
              <a:rPr sz="2000" i="0">
                <a:solidFill>
                  <a:srgbClr val="E8EDF2"/>
                </a:solidFill>
                <a:latin typeface="Consolas"/>
              </a:rPr>
              <a:t>format</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reflect</a:t>
            </a:r>
            <a:r>
              <a:rPr sz="2000" i="0">
                <a:solidFill>
                  <a:srgbClr val="AEB6BF"/>
                </a:solidFill>
                <a:latin typeface="Consolas"/>
              </a:rPr>
              <a:t>(</a:t>
            </a:r>
            <a:r>
              <a:rPr sz="2000" i="0">
                <a:solidFill>
                  <a:srgbClr val="E8EDF2"/>
                </a:solidFill>
                <a:latin typeface="Consolas"/>
              </a:rPr>
              <a:t>g</a:t>
            </a:r>
            <a:r>
              <a:rPr sz="2000" i="0">
                <a:solidFill>
                  <a:srgbClr val="AEB6BF"/>
                </a:solidFill>
                <a:latin typeface="Consolas"/>
              </a:rPr>
              <a:t>)</a:t>
            </a:r>
            <a:r>
              <a:rPr sz="2000" i="0">
                <a:solidFill>
                  <a:srgbClr val="E8EDF2"/>
                </a:solidFill>
                <a:latin typeface="Consolas"/>
              </a:rPr>
              <a:t> </a:t>
            </a:r>
            <a:r>
              <a:rPr sz="2000" i="0">
                <a:solidFill>
                  <a:srgbClr val="5DADE2"/>
                </a:solidFill>
                <a:latin typeface="Consolas"/>
              </a:rPr>
              <a:t>for</a:t>
            </a:r>
            <a:r>
              <a:rPr sz="2000" i="0">
                <a:solidFill>
                  <a:srgbClr val="E8EDF2"/>
                </a:solidFill>
                <a:latin typeface="Consolas"/>
              </a:rPr>
              <a:t> </a:t>
            </a:r>
            <a:r>
              <a:rPr sz="2000" i="0">
                <a:solidFill>
                  <a:srgbClr val="E8EDF2"/>
                </a:solidFill>
                <a:latin typeface="Consolas"/>
              </a:rPr>
              <a:t>g</a:t>
            </a:r>
            <a:r>
              <a:rPr sz="2000" i="0">
                <a:solidFill>
                  <a:srgbClr val="E8EDF2"/>
                </a:solidFill>
                <a:latin typeface="Consolas"/>
              </a:rPr>
              <a:t> </a:t>
            </a:r>
            <a:r>
              <a:rPr sz="2000" i="0">
                <a:solidFill>
                  <a:srgbClr val="AEB6BF"/>
                </a:solidFill>
                <a:latin typeface="Consolas"/>
              </a:rPr>
              <a:t>in</a:t>
            </a:r>
            <a:r>
              <a:rPr sz="2000" i="0">
                <a:solidFill>
                  <a:srgbClr val="E8EDF2"/>
                </a:solidFill>
                <a:latin typeface="Consolas"/>
              </a:rPr>
              <a:t> </a:t>
            </a:r>
            <a:r>
              <a:rPr sz="2000" i="0">
                <a:solidFill>
                  <a:srgbClr val="E8EDF2"/>
                </a:solidFill>
                <a:latin typeface="Consolas"/>
              </a:rPr>
              <a:t>m</a:t>
            </a:r>
            <a:r>
              <a:rPr sz="2000" i="0">
                <a:solidFill>
                  <a:srgbClr val="AEB6BF"/>
                </a:solidFill>
                <a:latin typeface="Consolas"/>
              </a:rPr>
              <a:t>.</a:t>
            </a:r>
            <a:r>
              <a:rPr sz="2000" i="0">
                <a:solidFill>
                  <a:srgbClr val="E8EDF2"/>
                </a:solidFill>
                <a:latin typeface="Consolas"/>
              </a:rPr>
              <a:t>groups</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return</a:t>
            </a:r>
            <a:r>
              <a:rPr sz="2000" i="0">
                <a:solidFill>
                  <a:srgbClr val="E8EDF2"/>
                </a:solidFill>
                <a:latin typeface="Consolas"/>
              </a:rPr>
              <a:t> </a:t>
            </a:r>
            <a:r>
              <a:rPr sz="2000" i="0">
                <a:solidFill>
                  <a:srgbClr val="E8EDF2"/>
                </a:solidFill>
                <a:latin typeface="Consolas"/>
              </a:rPr>
              <a:t>FALLBACK</a:t>
            </a:r>
          </a:p>
        </p:txBody>
      </p:sp>
      <p:sp>
        <p:nvSpPr>
          <p:cNvPr id="15" name="!!code-num"/>
          <p:cNvSpPr txBox="1"/>
          <p:nvPr/>
        </p:nvSpPr>
        <p:spPr>
          <a:xfrm>
            <a:off x="768096" y="2523744"/>
            <a:ext cx="393192" cy="3462527"/>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113</a:t>
            </a:r>
          </a:p>
          <a:p>
            <a:pPr algn="r">
              <a:lnSpc>
                <a:spcPct val="100000"/>
              </a:lnSpc>
            </a:pPr>
            <a:r>
              <a:rPr sz="2000">
                <a:solidFill>
                  <a:srgbClr val="4F5D6A"/>
                </a:solidFill>
                <a:latin typeface="Consolas"/>
              </a:rPr>
              <a:t>114</a:t>
            </a:r>
          </a:p>
          <a:p>
            <a:pPr algn="r">
              <a:lnSpc>
                <a:spcPct val="100000"/>
              </a:lnSpc>
            </a:pPr>
            <a:r>
              <a:rPr sz="2000">
                <a:solidFill>
                  <a:srgbClr val="4F5D6A"/>
                </a:solidFill>
                <a:latin typeface="Consolas"/>
              </a:rPr>
              <a:t>115</a:t>
            </a:r>
          </a:p>
          <a:p>
            <a:pPr algn="r">
              <a:lnSpc>
                <a:spcPct val="100000"/>
              </a:lnSpc>
            </a:pPr>
            <a:r>
              <a:rPr sz="2000">
                <a:solidFill>
                  <a:srgbClr val="4F5D6A"/>
                </a:solidFill>
                <a:latin typeface="Consolas"/>
              </a:rPr>
              <a:t>116</a:t>
            </a:r>
          </a:p>
          <a:p>
            <a:pPr algn="r">
              <a:lnSpc>
                <a:spcPct val="100000"/>
              </a:lnSpc>
            </a:pPr>
            <a:r>
              <a:rPr sz="2000">
                <a:solidFill>
                  <a:srgbClr val="4F5D6A"/>
                </a:solidFill>
                <a:latin typeface="Consolas"/>
              </a:rPr>
              <a:t>117</a:t>
            </a:r>
          </a:p>
          <a:p>
            <a:pPr algn="r">
              <a:lnSpc>
                <a:spcPct val="100000"/>
              </a:lnSpc>
            </a:pPr>
            <a:r>
              <a:rPr sz="2000">
                <a:solidFill>
                  <a:srgbClr val="4F5D6A"/>
                </a:solidFill>
                <a:latin typeface="Consolas"/>
              </a:rPr>
              <a:t>118</a:t>
            </a:r>
          </a:p>
          <a:p>
            <a:pPr algn="r">
              <a:lnSpc>
                <a:spcPct val="100000"/>
              </a:lnSpc>
            </a:pPr>
            <a:r>
              <a:rPr sz="2000">
                <a:solidFill>
                  <a:srgbClr val="4F5D6A"/>
                </a:solidFill>
                <a:latin typeface="Consolas"/>
              </a:rPr>
              <a:t>119</a:t>
            </a:r>
          </a:p>
          <a:p>
            <a:pPr algn="r">
              <a:lnSpc>
                <a:spcPct val="100000"/>
              </a:lnSpc>
            </a:pPr>
            <a:r>
              <a:rPr sz="2000">
                <a:solidFill>
                  <a:srgbClr val="4F5D6A"/>
                </a:solidFill>
                <a:latin typeface="Consolas"/>
              </a:rPr>
              <a:t>120</a:t>
            </a:r>
          </a:p>
          <a:p>
            <a:pPr algn="r">
              <a:lnSpc>
                <a:spcPct val="100000"/>
              </a:lnSpc>
            </a:pPr>
            <a:r>
              <a:rPr sz="2000">
                <a:solidFill>
                  <a:srgbClr val="4F5D6A"/>
                </a:solidFill>
                <a:latin typeface="Consolas"/>
              </a:rPr>
              <a:t>121</a:t>
            </a:r>
          </a:p>
          <a:p>
            <a:pPr algn="r">
              <a:lnSpc>
                <a:spcPct val="100000"/>
              </a:lnSpc>
            </a:pPr>
            <a:r>
              <a:rPr sz="2000">
                <a:solidFill>
                  <a:srgbClr val="4F5D6A"/>
                </a:solidFill>
                <a:latin typeface="Consolas"/>
              </a:rPr>
              <a:t>122</a:t>
            </a:r>
          </a:p>
          <a:p>
            <a:pPr algn="r">
              <a:lnSpc>
                <a:spcPct val="100000"/>
              </a:lnSpc>
            </a:pPr>
            <a:r>
              <a:rPr sz="2000">
                <a:solidFill>
                  <a:srgbClr val="4F5D6A"/>
                </a:solidFill>
                <a:latin typeface="Consolas"/>
              </a:rPr>
              <a:t>123</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033670"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Parsing Ticket Subjects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9 OF 15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18  ·  Natural Language Processing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§18.7  ·  Handout p. 190     </a:t>
            </a:r>
            <a:fld id="{659A006D-3509-450E-9F8C-77EB8BB11EB1}" type="slidenum">
              <a:rPr lang="en-GB" sz="1000">
                <a:solidFill>
                  <a:srgbClr val="8795A1"/>
                </a:solidFill>
                <a:latin typeface="Segoe UI"/>
              </a:rPr>
              <a:t>31</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A bigram model</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17264"/>
          </a:xfrm>
          <a:prstGeom prst="roundRect">
            <a:avLst>
              <a:gd name="adj" fmla="val 227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code/ch18_parsing_ticket.py</a:t>
            </a:r>
          </a:p>
        </p:txBody>
      </p:sp>
      <p:sp>
        <p:nvSpPr>
          <p:cNvPr id="14" name="!!code-text" descr="# --- a bigram model ------------------------------------------------- CORPUS = [ &quot;restart the server&quot;, &quot;restart the gateway&quot;, &quot;restart the service&quot;, &quot;check the payments gateway&quot;, &quot;check the login error&quot;, &quot;check the server&quot;, &quot;fix the login error&quot;, &quot;fix the timeout error&quot;, &quot;restart the payments gateway&quot;, &quot;check the timeout&quot;, ] def bigrams(corpus): counts = defaultdict(lambda: defaultdict(int)) for line in corpus: toks = [&quot;&lt;s&gt;&quot;] + line.split() for a, b in zip(toks, toks[1:]): counts[a][b] += 1 return counts"/>
          <p:cNvSpPr txBox="1"/>
          <p:nvPr/>
        </p:nvSpPr>
        <p:spPr>
          <a:xfrm>
            <a:off x="1362456" y="2523744"/>
            <a:ext cx="9987991" cy="3523487"/>
          </a:xfrm>
          <a:prstGeom prst="rect">
            <a:avLst/>
          </a:prstGeom>
          <a:noFill/>
        </p:spPr>
        <p:txBody>
          <a:bodyPr wrap="none" anchor="t" lIns="0" rIns="0" tIns="0" bIns="0">
            <a:noAutofit/>
          </a:bodyPr>
          <a:lstStyle/>
          <a:p>
            <a:pPr>
              <a:lnSpc>
                <a:spcPct val="100000"/>
              </a:lnSpc>
              <a:spcAft>
                <a:spcPts val="0"/>
              </a:spcAft>
            </a:pPr>
            <a:r>
              <a:rPr sz="1400" i="1">
                <a:solidFill>
                  <a:srgbClr val="8795A1"/>
                </a:solidFill>
                <a:latin typeface="Consolas"/>
              </a:rPr>
              <a:t># --- a bigram model -------------------------------------------------</a:t>
            </a:r>
          </a:p>
          <a:p>
            <a:pPr>
              <a:lnSpc>
                <a:spcPct val="100000"/>
              </a:lnSpc>
              <a:spcAft>
                <a:spcPts val="0"/>
              </a:spcAft>
            </a:pPr>
            <a:r>
              <a:rPr sz="1400" i="0">
                <a:solidFill>
                  <a:srgbClr val="E8EDF2"/>
                </a:solidFill>
                <a:latin typeface="Consolas"/>
              </a:rPr>
              <a:t>CORPUS</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restart the server</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restart the gateway</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restart the service</a:t>
            </a:r>
            <a:r>
              <a:rPr sz="1400" i="0">
                <a:solidFill>
                  <a:srgbClr val="7DCEA0"/>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check the payments gateway</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check the login error</a:t>
            </a:r>
            <a:r>
              <a:rPr sz="1400" i="0">
                <a:solidFill>
                  <a:srgbClr val="7DCEA0"/>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check the server</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fix the login error</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fix the timeout error</a:t>
            </a:r>
            <a:r>
              <a:rPr sz="1400" i="0">
                <a:solidFill>
                  <a:srgbClr val="7DCEA0"/>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restart the payments gateway</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check the timeout</a:t>
            </a:r>
            <a:r>
              <a:rPr sz="1400" i="0">
                <a:solidFill>
                  <a:srgbClr val="7DCEA0"/>
                </a:solidFill>
                <a:latin typeface="Consolas"/>
              </a:rPr>
              <a:t>"</a:t>
            </a:r>
            <a:r>
              <a:rPr sz="1400" i="0">
                <a:solidFill>
                  <a:srgbClr val="AEB6BF"/>
                </a:solidFill>
                <a:latin typeface="Consolas"/>
              </a:rPr>
              <a:t>,</a:t>
            </a:r>
          </a:p>
          <a:p>
            <a:pPr>
              <a:lnSpc>
                <a:spcPct val="100000"/>
              </a:lnSpc>
              <a:spcAft>
                <a:spcPts val="0"/>
              </a:spcAft>
            </a:pPr>
            <a:r>
              <a:rPr sz="1400" i="0">
                <a:solidFill>
                  <a:srgbClr val="AEB6BF"/>
                </a:solidFill>
                <a:latin typeface="Consolas"/>
              </a:rPr>
              <a:t>]</a:t>
            </a:r>
          </a:p>
          <a:p>
            <a:pPr>
              <a:lnSpc>
                <a:spcPct val="100000"/>
              </a:lnSpc>
              <a:spcAft>
                <a:spcPts val="0"/>
              </a:spcAft>
            </a:pPr>
            <a:r>
              <a:rPr sz="1400">
                <a:latin typeface="Consolas"/>
              </a:rPr>
              <a:t> </a:t>
            </a:r>
          </a:p>
          <a:p>
            <a:pPr>
              <a:lnSpc>
                <a:spcPct val="100000"/>
              </a:lnSpc>
              <a:spcAft>
                <a:spcPts val="0"/>
              </a:spcAft>
            </a:pPr>
            <a:r>
              <a:rPr sz="1400">
                <a:latin typeface="Consolas"/>
              </a:rPr>
              <a:t> </a:t>
            </a:r>
          </a:p>
          <a:p>
            <a:pPr>
              <a:lnSpc>
                <a:spcPct val="100000"/>
              </a:lnSpc>
              <a:spcAft>
                <a:spcPts val="0"/>
              </a:spcAft>
            </a:pPr>
            <a:r>
              <a:rPr sz="1400" i="0">
                <a:solidFill>
                  <a:srgbClr val="5DADE2"/>
                </a:solidFill>
                <a:latin typeface="Consolas"/>
              </a:rPr>
              <a:t>def</a:t>
            </a:r>
            <a:r>
              <a:rPr sz="1400" i="0">
                <a:solidFill>
                  <a:srgbClr val="E8EDF2"/>
                </a:solidFill>
                <a:latin typeface="Consolas"/>
              </a:rPr>
              <a:t> </a:t>
            </a:r>
            <a:r>
              <a:rPr sz="1400" i="0">
                <a:solidFill>
                  <a:srgbClr val="C39BD3"/>
                </a:solidFill>
                <a:latin typeface="Consolas"/>
              </a:rPr>
              <a:t>bigrams</a:t>
            </a:r>
            <a:r>
              <a:rPr sz="1400" i="0">
                <a:solidFill>
                  <a:srgbClr val="AEB6BF"/>
                </a:solidFill>
                <a:latin typeface="Consolas"/>
              </a:rPr>
              <a:t>(</a:t>
            </a:r>
            <a:r>
              <a:rPr sz="1400" i="0">
                <a:solidFill>
                  <a:srgbClr val="E8EDF2"/>
                </a:solidFill>
                <a:latin typeface="Consolas"/>
              </a:rPr>
              <a:t>corpus</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counts</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defaultdict</a:t>
            </a:r>
            <a:r>
              <a:rPr sz="1400" i="0">
                <a:solidFill>
                  <a:srgbClr val="AEB6BF"/>
                </a:solidFill>
                <a:latin typeface="Consolas"/>
              </a:rPr>
              <a:t>(</a:t>
            </a:r>
            <a:r>
              <a:rPr sz="1400" i="0">
                <a:solidFill>
                  <a:srgbClr val="5DADE2"/>
                </a:solidFill>
                <a:latin typeface="Consolas"/>
              </a:rPr>
              <a:t>lambda</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defaultdict</a:t>
            </a:r>
            <a:r>
              <a:rPr sz="1400" i="0">
                <a:solidFill>
                  <a:srgbClr val="AEB6BF"/>
                </a:solidFill>
                <a:latin typeface="Consolas"/>
              </a:rPr>
              <a:t>(</a:t>
            </a:r>
            <a:r>
              <a:rPr sz="1400" i="0">
                <a:solidFill>
                  <a:srgbClr val="C39BD3"/>
                </a:solidFill>
                <a:latin typeface="Consolas"/>
              </a:rPr>
              <a:t>int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for</a:t>
            </a:r>
            <a:r>
              <a:rPr sz="1400" i="0">
                <a:solidFill>
                  <a:srgbClr val="E8EDF2"/>
                </a:solidFill>
                <a:latin typeface="Consolas"/>
              </a:rPr>
              <a:t> </a:t>
            </a:r>
            <a:r>
              <a:rPr sz="1400" i="0">
                <a:solidFill>
                  <a:srgbClr val="E8EDF2"/>
                </a:solidFill>
                <a:latin typeface="Consolas"/>
              </a:rPr>
              <a:t>line</a:t>
            </a:r>
            <a:r>
              <a:rPr sz="1400" i="0">
                <a:solidFill>
                  <a:srgbClr val="E8EDF2"/>
                </a:solidFill>
                <a:latin typeface="Consolas"/>
              </a:rPr>
              <a:t> </a:t>
            </a:r>
            <a:r>
              <a:rPr sz="1400" i="0">
                <a:solidFill>
                  <a:srgbClr val="AEB6BF"/>
                </a:solidFill>
                <a:latin typeface="Consolas"/>
              </a:rPr>
              <a:t>in</a:t>
            </a:r>
            <a:r>
              <a:rPr sz="1400" i="0">
                <a:solidFill>
                  <a:srgbClr val="E8EDF2"/>
                </a:solidFill>
                <a:latin typeface="Consolas"/>
              </a:rPr>
              <a:t> </a:t>
            </a:r>
            <a:r>
              <a:rPr sz="1400" i="0">
                <a:solidFill>
                  <a:srgbClr val="E8EDF2"/>
                </a:solidFill>
                <a:latin typeface="Consolas"/>
              </a:rPr>
              <a:t>corpus</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toks</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&lt;s&gt;</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line</a:t>
            </a:r>
            <a:r>
              <a:rPr sz="1400" i="0">
                <a:solidFill>
                  <a:srgbClr val="AEB6BF"/>
                </a:solidFill>
                <a:latin typeface="Consolas"/>
              </a:rPr>
              <a:t>.</a:t>
            </a:r>
            <a:r>
              <a:rPr sz="1400" i="0">
                <a:solidFill>
                  <a:srgbClr val="E8EDF2"/>
                </a:solidFill>
                <a:latin typeface="Consolas"/>
              </a:rPr>
              <a:t>split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for</a:t>
            </a:r>
            <a:r>
              <a:rPr sz="1400" i="0">
                <a:solidFill>
                  <a:srgbClr val="E8EDF2"/>
                </a:solidFill>
                <a:latin typeface="Consolas"/>
              </a:rPr>
              <a:t> </a:t>
            </a:r>
            <a:r>
              <a:rPr sz="1400" i="0">
                <a:solidFill>
                  <a:srgbClr val="E8EDF2"/>
                </a:solidFill>
                <a:latin typeface="Consolas"/>
              </a:rPr>
              <a:t>a</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b</a:t>
            </a:r>
            <a:r>
              <a:rPr sz="1400" i="0">
                <a:solidFill>
                  <a:srgbClr val="E8EDF2"/>
                </a:solidFill>
                <a:latin typeface="Consolas"/>
              </a:rPr>
              <a:t> </a:t>
            </a:r>
            <a:r>
              <a:rPr sz="1400" i="0">
                <a:solidFill>
                  <a:srgbClr val="AEB6BF"/>
                </a:solidFill>
                <a:latin typeface="Consolas"/>
              </a:rPr>
              <a:t>in</a:t>
            </a:r>
            <a:r>
              <a:rPr sz="1400" i="0">
                <a:solidFill>
                  <a:srgbClr val="E8EDF2"/>
                </a:solidFill>
                <a:latin typeface="Consolas"/>
              </a:rPr>
              <a:t> </a:t>
            </a:r>
            <a:r>
              <a:rPr sz="1400" i="0">
                <a:solidFill>
                  <a:srgbClr val="C39BD3"/>
                </a:solidFill>
                <a:latin typeface="Consolas"/>
              </a:rPr>
              <a:t>zip</a:t>
            </a:r>
            <a:r>
              <a:rPr sz="1400" i="0">
                <a:solidFill>
                  <a:srgbClr val="AEB6BF"/>
                </a:solidFill>
                <a:latin typeface="Consolas"/>
              </a:rPr>
              <a:t>(</a:t>
            </a:r>
            <a:r>
              <a:rPr sz="1400" i="0">
                <a:solidFill>
                  <a:srgbClr val="E8EDF2"/>
                </a:solidFill>
                <a:latin typeface="Consolas"/>
              </a:rPr>
              <a:t>toks</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toks</a:t>
            </a:r>
            <a:r>
              <a:rPr sz="1400" i="0">
                <a:solidFill>
                  <a:srgbClr val="AEB6BF"/>
                </a:solidFill>
                <a:latin typeface="Consolas"/>
              </a:rPr>
              <a:t>[</a:t>
            </a:r>
            <a:r>
              <a:rPr sz="1400" i="0">
                <a:solidFill>
                  <a:srgbClr val="F7DC6F"/>
                </a:solidFill>
                <a:latin typeface="Consolas"/>
              </a:rPr>
              <a:t>1</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counts</a:t>
            </a:r>
            <a:r>
              <a:rPr sz="1400" i="0">
                <a:solidFill>
                  <a:srgbClr val="AEB6BF"/>
                </a:solidFill>
                <a:latin typeface="Consolas"/>
              </a:rPr>
              <a:t>[</a:t>
            </a:r>
            <a:r>
              <a:rPr sz="1400" i="0">
                <a:solidFill>
                  <a:srgbClr val="E8EDF2"/>
                </a:solidFill>
                <a:latin typeface="Consolas"/>
              </a:rPr>
              <a:t>a</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b</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1</a:t>
            </a:r>
          </a:p>
          <a:p>
            <a:pPr>
              <a:lnSpc>
                <a:spcPct val="100000"/>
              </a:lnSpc>
              <a:spcAft>
                <a:spcPts val="0"/>
              </a:spcAft>
            </a:pPr>
            <a:r>
              <a:rPr sz="1400" i="0">
                <a:solidFill>
                  <a:srgbClr val="E8EDF2"/>
                </a:solidFill>
                <a:latin typeface="Consolas"/>
              </a:rPr>
              <a:t>    </a:t>
            </a:r>
            <a:r>
              <a:rPr sz="1400" i="0">
                <a:solidFill>
                  <a:srgbClr val="5DADE2"/>
                </a:solidFill>
                <a:latin typeface="Consolas"/>
              </a:rPr>
              <a:t>return</a:t>
            </a:r>
            <a:r>
              <a:rPr sz="1400" i="0">
                <a:solidFill>
                  <a:srgbClr val="E8EDF2"/>
                </a:solidFill>
                <a:latin typeface="Consolas"/>
              </a:rPr>
              <a:t> </a:t>
            </a:r>
            <a:r>
              <a:rPr sz="1400" i="0">
                <a:solidFill>
                  <a:srgbClr val="E8EDF2"/>
                </a:solidFill>
                <a:latin typeface="Consolas"/>
              </a:rPr>
              <a:t>counts</a:t>
            </a:r>
          </a:p>
        </p:txBody>
      </p:sp>
      <p:sp>
        <p:nvSpPr>
          <p:cNvPr id="15" name="!!code-num"/>
          <p:cNvSpPr txBox="1"/>
          <p:nvPr/>
        </p:nvSpPr>
        <p:spPr>
          <a:xfrm>
            <a:off x="768096" y="2523744"/>
            <a:ext cx="393192" cy="3523487"/>
          </a:xfrm>
          <a:prstGeom prst="rect">
            <a:avLst/>
          </a:prstGeom>
          <a:noFill/>
        </p:spPr>
        <p:txBody>
          <a:bodyPr wrap="none" anchor="t" lIns="0" rIns="0" tIns="0" bIns="0">
            <a:noAutofit/>
          </a:bodyPr>
          <a:lstStyle/>
          <a:p>
            <a:pPr algn="r">
              <a:lnSpc>
                <a:spcPct val="100000"/>
              </a:lnSpc>
            </a:pPr>
            <a:r>
              <a:rPr sz="1400">
                <a:solidFill>
                  <a:srgbClr val="4F5D6A"/>
                </a:solidFill>
                <a:latin typeface="Consolas"/>
              </a:rPr>
              <a:t>126</a:t>
            </a:r>
          </a:p>
          <a:p>
            <a:pPr algn="r">
              <a:lnSpc>
                <a:spcPct val="100000"/>
              </a:lnSpc>
            </a:pPr>
            <a:r>
              <a:rPr sz="1400">
                <a:solidFill>
                  <a:srgbClr val="4F5D6A"/>
                </a:solidFill>
                <a:latin typeface="Consolas"/>
              </a:rPr>
              <a:t>127</a:t>
            </a:r>
          </a:p>
          <a:p>
            <a:pPr algn="r">
              <a:lnSpc>
                <a:spcPct val="100000"/>
              </a:lnSpc>
            </a:pPr>
            <a:r>
              <a:rPr sz="1400">
                <a:solidFill>
                  <a:srgbClr val="4F5D6A"/>
                </a:solidFill>
                <a:latin typeface="Consolas"/>
              </a:rPr>
              <a:t>128</a:t>
            </a:r>
          </a:p>
          <a:p>
            <a:pPr algn="r">
              <a:lnSpc>
                <a:spcPct val="100000"/>
              </a:lnSpc>
            </a:pPr>
            <a:r>
              <a:rPr sz="1400">
                <a:solidFill>
                  <a:srgbClr val="4F5D6A"/>
                </a:solidFill>
                <a:latin typeface="Consolas"/>
              </a:rPr>
              <a:t>129</a:t>
            </a:r>
          </a:p>
          <a:p>
            <a:pPr algn="r">
              <a:lnSpc>
                <a:spcPct val="100000"/>
              </a:lnSpc>
            </a:pPr>
            <a:r>
              <a:rPr sz="1400">
                <a:solidFill>
                  <a:srgbClr val="4F5D6A"/>
                </a:solidFill>
                <a:latin typeface="Consolas"/>
              </a:rPr>
              <a:t>130</a:t>
            </a:r>
          </a:p>
          <a:p>
            <a:pPr algn="r">
              <a:lnSpc>
                <a:spcPct val="100000"/>
              </a:lnSpc>
            </a:pPr>
            <a:r>
              <a:rPr sz="1400">
                <a:solidFill>
                  <a:srgbClr val="4F5D6A"/>
                </a:solidFill>
                <a:latin typeface="Consolas"/>
              </a:rPr>
              <a:t>131</a:t>
            </a:r>
          </a:p>
          <a:p>
            <a:pPr algn="r">
              <a:lnSpc>
                <a:spcPct val="100000"/>
              </a:lnSpc>
            </a:pPr>
            <a:r>
              <a:rPr sz="1400">
                <a:solidFill>
                  <a:srgbClr val="4F5D6A"/>
                </a:solidFill>
                <a:latin typeface="Consolas"/>
              </a:rPr>
              <a:t>132</a:t>
            </a:r>
          </a:p>
          <a:p>
            <a:pPr algn="r">
              <a:lnSpc>
                <a:spcPct val="100000"/>
              </a:lnSpc>
            </a:pPr>
            <a:r>
              <a:rPr sz="1400">
                <a:solidFill>
                  <a:srgbClr val="4F5D6A"/>
                </a:solidFill>
                <a:latin typeface="Consolas"/>
              </a:rPr>
              <a:t>133</a:t>
            </a:r>
          </a:p>
          <a:p>
            <a:pPr algn="r">
              <a:lnSpc>
                <a:spcPct val="100000"/>
              </a:lnSpc>
            </a:pPr>
            <a:r>
              <a:rPr sz="1400">
                <a:solidFill>
                  <a:srgbClr val="4F5D6A"/>
                </a:solidFill>
                <a:latin typeface="Consolas"/>
              </a:rPr>
              <a:t>134</a:t>
            </a:r>
          </a:p>
          <a:p>
            <a:pPr algn="r">
              <a:lnSpc>
                <a:spcPct val="100000"/>
              </a:lnSpc>
            </a:pPr>
            <a:r>
              <a:rPr sz="1400">
                <a:solidFill>
                  <a:srgbClr val="4F5D6A"/>
                </a:solidFill>
                <a:latin typeface="Consolas"/>
              </a:rPr>
              <a:t>135</a:t>
            </a:r>
          </a:p>
          <a:p>
            <a:pPr algn="r">
              <a:lnSpc>
                <a:spcPct val="100000"/>
              </a:lnSpc>
            </a:pPr>
            <a:r>
              <a:rPr sz="1400">
                <a:solidFill>
                  <a:srgbClr val="4F5D6A"/>
                </a:solidFill>
                <a:latin typeface="Consolas"/>
              </a:rPr>
              <a:t>136</a:t>
            </a:r>
          </a:p>
          <a:p>
            <a:pPr algn="r">
              <a:lnSpc>
                <a:spcPct val="100000"/>
              </a:lnSpc>
            </a:pPr>
            <a:r>
              <a:rPr sz="1400">
                <a:solidFill>
                  <a:srgbClr val="4F5D6A"/>
                </a:solidFill>
                <a:latin typeface="Consolas"/>
              </a:rPr>
              <a:t>137</a:t>
            </a:r>
          </a:p>
          <a:p>
            <a:pPr algn="r">
              <a:lnSpc>
                <a:spcPct val="100000"/>
              </a:lnSpc>
            </a:pPr>
            <a:r>
              <a:rPr sz="1400">
                <a:solidFill>
                  <a:srgbClr val="4F5D6A"/>
                </a:solidFill>
                <a:latin typeface="Consolas"/>
              </a:rPr>
              <a:t>138</a:t>
            </a:r>
          </a:p>
          <a:p>
            <a:pPr algn="r">
              <a:lnSpc>
                <a:spcPct val="100000"/>
              </a:lnSpc>
            </a:pPr>
            <a:r>
              <a:rPr sz="1400">
                <a:solidFill>
                  <a:srgbClr val="4F5D6A"/>
                </a:solidFill>
                <a:latin typeface="Consolas"/>
              </a:rPr>
              <a:t>139</a:t>
            </a:r>
          </a:p>
          <a:p>
            <a:pPr algn="r">
              <a:lnSpc>
                <a:spcPct val="100000"/>
              </a:lnSpc>
            </a:pPr>
            <a:r>
              <a:rPr sz="1400">
                <a:solidFill>
                  <a:srgbClr val="4F5D6A"/>
                </a:solidFill>
                <a:latin typeface="Consolas"/>
              </a:rPr>
              <a:t>140</a:t>
            </a:r>
          </a:p>
          <a:p>
            <a:pPr algn="r">
              <a:lnSpc>
                <a:spcPct val="100000"/>
              </a:lnSpc>
            </a:pPr>
            <a:r>
              <a:rPr sz="1400">
                <a:solidFill>
                  <a:srgbClr val="4F5D6A"/>
                </a:solidFill>
                <a:latin typeface="Consolas"/>
              </a:rPr>
              <a:t>141</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268125"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Parsing Ticket Subjects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10 OF 15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18  ·  Natural Language Processing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§18.7  ·  Handout p. 190     </a:t>
            </a:r>
            <a:fld id="{B2B47100-C560-4DB7-BCE1-4CCE292EF8C0}" type="slidenum">
              <a:rPr lang="en-GB" sz="1000">
                <a:solidFill>
                  <a:srgbClr val="8795A1"/>
                </a:solidFill>
                <a:latin typeface="Segoe UI"/>
              </a:rPr>
              <a:t>32</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A bigram model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17264"/>
          </a:xfrm>
          <a:prstGeom prst="roundRect">
            <a:avLst>
              <a:gd name="adj" fmla="val 227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code/ch18_parsing_ticket.py</a:t>
            </a:r>
          </a:p>
        </p:txBody>
      </p:sp>
      <p:sp>
        <p:nvSpPr>
          <p:cNvPr id="14" name="!!code-text" descr="def suggest(counts, word, k=3): nxt = counts.get(word, {}) total = sum(nxt.values()) ranked = sorted(nxt.items(), key=lambda kv: -kv[1])[:k] return [(w, c / total) for w, c in ranked] SUBJECTS = [ &quot;restart the server&quot;, &quot;check the payments gateway&quot;, &quot;restart the server after the timeout&quot;, &quot;fix the login error on the gateway&quot;, &quot;restart the gateway after the payments error&quot;, ]"/>
          <p:cNvSpPr txBox="1"/>
          <p:nvPr/>
        </p:nvSpPr>
        <p:spPr>
          <a:xfrm>
            <a:off x="1362456" y="2523744"/>
            <a:ext cx="9987991" cy="3523487"/>
          </a:xfrm>
          <a:prstGeom prst="rect">
            <a:avLst/>
          </a:prstGeom>
          <a:noFill/>
        </p:spPr>
        <p:txBody>
          <a:bodyPr wrap="none" anchor="t" lIns="0" rIns="0" tIns="0" bIns="0">
            <a:noAutofit/>
          </a:bodyPr>
          <a:lstStyle/>
          <a:p>
            <a:pPr>
              <a:lnSpc>
                <a:spcPct val="100000"/>
              </a:lnSpc>
              <a:spcAft>
                <a:spcPts val="0"/>
              </a:spcAft>
            </a:pPr>
            <a:r>
              <a:rPr sz="1600" i="0">
                <a:solidFill>
                  <a:srgbClr val="5DADE2"/>
                </a:solidFill>
                <a:latin typeface="Consolas"/>
              </a:rPr>
              <a:t>def</a:t>
            </a:r>
            <a:r>
              <a:rPr sz="1600" i="0">
                <a:solidFill>
                  <a:srgbClr val="E8EDF2"/>
                </a:solidFill>
                <a:latin typeface="Consolas"/>
              </a:rPr>
              <a:t> </a:t>
            </a:r>
            <a:r>
              <a:rPr sz="1600" i="0">
                <a:solidFill>
                  <a:srgbClr val="C39BD3"/>
                </a:solidFill>
                <a:latin typeface="Consolas"/>
              </a:rPr>
              <a:t>suggest</a:t>
            </a:r>
            <a:r>
              <a:rPr sz="1600" i="0">
                <a:solidFill>
                  <a:srgbClr val="AEB6BF"/>
                </a:solidFill>
                <a:latin typeface="Consolas"/>
              </a:rPr>
              <a:t>(</a:t>
            </a:r>
            <a:r>
              <a:rPr sz="1600" i="0">
                <a:solidFill>
                  <a:srgbClr val="E8EDF2"/>
                </a:solidFill>
                <a:latin typeface="Consolas"/>
              </a:rPr>
              <a:t>counts</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word</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k</a:t>
            </a:r>
            <a:r>
              <a:rPr sz="1600" i="0">
                <a:solidFill>
                  <a:srgbClr val="AEB6BF"/>
                </a:solidFill>
                <a:latin typeface="Consolas"/>
              </a:rPr>
              <a:t>=</a:t>
            </a:r>
            <a:r>
              <a:rPr sz="1600" i="0">
                <a:solidFill>
                  <a:srgbClr val="F7DC6F"/>
                </a:solidFill>
                <a:latin typeface="Consolas"/>
              </a:rPr>
              <a:t>3</a:t>
            </a:r>
            <a:r>
              <a:rPr sz="1600" i="0">
                <a:solidFill>
                  <a:srgbClr val="AEB6BF"/>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E8EDF2"/>
                </a:solidFill>
                <a:latin typeface="Consolas"/>
              </a:rPr>
              <a:t>nxt</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counts</a:t>
            </a:r>
            <a:r>
              <a:rPr sz="1600" i="0">
                <a:solidFill>
                  <a:srgbClr val="AEB6BF"/>
                </a:solidFill>
                <a:latin typeface="Consolas"/>
              </a:rPr>
              <a:t>.</a:t>
            </a:r>
            <a:r>
              <a:rPr sz="1600" i="0">
                <a:solidFill>
                  <a:srgbClr val="E8EDF2"/>
                </a:solidFill>
                <a:latin typeface="Consolas"/>
              </a:rPr>
              <a:t>get</a:t>
            </a:r>
            <a:r>
              <a:rPr sz="1600" i="0">
                <a:solidFill>
                  <a:srgbClr val="AEB6BF"/>
                </a:solidFill>
                <a:latin typeface="Consolas"/>
              </a:rPr>
              <a:t>(</a:t>
            </a:r>
            <a:r>
              <a:rPr sz="1600" i="0">
                <a:solidFill>
                  <a:srgbClr val="E8EDF2"/>
                </a:solidFill>
                <a:latin typeface="Consolas"/>
              </a:rPr>
              <a:t>word</a:t>
            </a:r>
            <a:r>
              <a:rPr sz="1600" i="0">
                <a:solidFill>
                  <a:srgbClr val="AEB6BF"/>
                </a:solidFill>
                <a:latin typeface="Consolas"/>
              </a:rPr>
              <a:t>,</a:t>
            </a:r>
            <a:r>
              <a:rPr sz="1600" i="0">
                <a:solidFill>
                  <a:srgbClr val="E8EDF2"/>
                </a:solidFill>
                <a:latin typeface="Consolas"/>
              </a:rPr>
              <a:t> </a:t>
            </a:r>
            <a:r>
              <a:rPr sz="1600" i="0">
                <a:solidFill>
                  <a:srgbClr val="AEB6BF"/>
                </a:solidFill>
                <a:latin typeface="Consolas"/>
              </a:rPr>
              <a:t>{</a:t>
            </a:r>
            <a:r>
              <a:rPr sz="1600" i="0">
                <a:solidFill>
                  <a:srgbClr val="AEB6BF"/>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E8EDF2"/>
                </a:solidFill>
                <a:latin typeface="Consolas"/>
              </a:rPr>
              <a:t>total</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C39BD3"/>
                </a:solidFill>
                <a:latin typeface="Consolas"/>
              </a:rPr>
              <a:t>sum</a:t>
            </a:r>
            <a:r>
              <a:rPr sz="1600" i="0">
                <a:solidFill>
                  <a:srgbClr val="AEB6BF"/>
                </a:solidFill>
                <a:latin typeface="Consolas"/>
              </a:rPr>
              <a:t>(</a:t>
            </a:r>
            <a:r>
              <a:rPr sz="1600" i="0">
                <a:solidFill>
                  <a:srgbClr val="E8EDF2"/>
                </a:solidFill>
                <a:latin typeface="Consolas"/>
              </a:rPr>
              <a:t>nxt</a:t>
            </a:r>
            <a:r>
              <a:rPr sz="1600" i="0">
                <a:solidFill>
                  <a:srgbClr val="AEB6BF"/>
                </a:solidFill>
                <a:latin typeface="Consolas"/>
              </a:rPr>
              <a:t>.</a:t>
            </a:r>
            <a:r>
              <a:rPr sz="1600" i="0">
                <a:solidFill>
                  <a:srgbClr val="E8EDF2"/>
                </a:solidFill>
                <a:latin typeface="Consolas"/>
              </a:rPr>
              <a:t>values</a:t>
            </a:r>
            <a:r>
              <a:rPr sz="1600" i="0">
                <a:solidFill>
                  <a:srgbClr val="AEB6BF"/>
                </a:solidFill>
                <a:latin typeface="Consolas"/>
              </a:rPr>
              <a:t>(</a:t>
            </a:r>
            <a:r>
              <a:rPr sz="1600" i="0">
                <a:solidFill>
                  <a:srgbClr val="AEB6BF"/>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E8EDF2"/>
                </a:solidFill>
                <a:latin typeface="Consolas"/>
              </a:rPr>
              <a:t>ranked</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C39BD3"/>
                </a:solidFill>
                <a:latin typeface="Consolas"/>
              </a:rPr>
              <a:t>sorted</a:t>
            </a:r>
            <a:r>
              <a:rPr sz="1600" i="0">
                <a:solidFill>
                  <a:srgbClr val="AEB6BF"/>
                </a:solidFill>
                <a:latin typeface="Consolas"/>
              </a:rPr>
              <a:t>(</a:t>
            </a:r>
            <a:r>
              <a:rPr sz="1600" i="0">
                <a:solidFill>
                  <a:srgbClr val="E8EDF2"/>
                </a:solidFill>
                <a:latin typeface="Consolas"/>
              </a:rPr>
              <a:t>nxt</a:t>
            </a:r>
            <a:r>
              <a:rPr sz="1600" i="0">
                <a:solidFill>
                  <a:srgbClr val="AEB6BF"/>
                </a:solidFill>
                <a:latin typeface="Consolas"/>
              </a:rPr>
              <a:t>.</a:t>
            </a:r>
            <a:r>
              <a:rPr sz="1600" i="0">
                <a:solidFill>
                  <a:srgbClr val="E8EDF2"/>
                </a:solidFill>
                <a:latin typeface="Consolas"/>
              </a:rPr>
              <a:t>items</a:t>
            </a:r>
            <a:r>
              <a:rPr sz="1600" i="0">
                <a:solidFill>
                  <a:srgbClr val="AEB6BF"/>
                </a:solidFill>
                <a:latin typeface="Consolas"/>
              </a:rPr>
              <a:t>(</a:t>
            </a:r>
            <a:r>
              <a:rPr sz="1600" i="0">
                <a:solidFill>
                  <a:srgbClr val="AEB6BF"/>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key</a:t>
            </a:r>
            <a:r>
              <a:rPr sz="1600" i="0">
                <a:solidFill>
                  <a:srgbClr val="AEB6BF"/>
                </a:solidFill>
                <a:latin typeface="Consolas"/>
              </a:rPr>
              <a:t>=</a:t>
            </a:r>
            <a:r>
              <a:rPr sz="1600" i="0">
                <a:solidFill>
                  <a:srgbClr val="5DADE2"/>
                </a:solidFill>
                <a:latin typeface="Consolas"/>
              </a:rPr>
              <a:t>lambda</a:t>
            </a:r>
            <a:r>
              <a:rPr sz="1600" i="0">
                <a:solidFill>
                  <a:srgbClr val="E8EDF2"/>
                </a:solidFill>
                <a:latin typeface="Consolas"/>
              </a:rPr>
              <a:t> </a:t>
            </a:r>
            <a:r>
              <a:rPr sz="1600" i="0">
                <a:solidFill>
                  <a:srgbClr val="E8EDF2"/>
                </a:solidFill>
                <a:latin typeface="Consolas"/>
              </a:rPr>
              <a:t>kv</a:t>
            </a:r>
            <a:r>
              <a:rPr sz="1600" i="0">
                <a:solidFill>
                  <a:srgbClr val="AEB6BF"/>
                </a:solidFill>
                <a:latin typeface="Consolas"/>
              </a:rPr>
              <a:t>:</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kv</a:t>
            </a:r>
            <a:r>
              <a:rPr sz="1600" i="0">
                <a:solidFill>
                  <a:srgbClr val="AEB6BF"/>
                </a:solidFill>
                <a:latin typeface="Consolas"/>
              </a:rPr>
              <a:t>[</a:t>
            </a:r>
            <a:r>
              <a:rPr sz="1600" i="0">
                <a:solidFill>
                  <a:srgbClr val="F7DC6F"/>
                </a:solidFill>
                <a:latin typeface="Consolas"/>
              </a:rPr>
              <a:t>1</a:t>
            </a:r>
            <a:r>
              <a:rPr sz="1600" i="0">
                <a:solidFill>
                  <a:srgbClr val="AEB6BF"/>
                </a:solidFill>
                <a:latin typeface="Consolas"/>
              </a:rPr>
              <a:t>]</a:t>
            </a:r>
            <a:r>
              <a:rPr sz="1600" i="0">
                <a:solidFill>
                  <a:srgbClr val="AEB6BF"/>
                </a:solidFill>
                <a:latin typeface="Consolas"/>
              </a:rPr>
              <a:t>)</a:t>
            </a:r>
            <a:r>
              <a:rPr sz="1600" i="0">
                <a:solidFill>
                  <a:srgbClr val="AEB6BF"/>
                </a:solidFill>
                <a:latin typeface="Consolas"/>
              </a:rPr>
              <a:t>[</a:t>
            </a:r>
            <a:r>
              <a:rPr sz="1600" i="0">
                <a:solidFill>
                  <a:srgbClr val="AEB6BF"/>
                </a:solidFill>
                <a:latin typeface="Consolas"/>
              </a:rPr>
              <a:t>:</a:t>
            </a:r>
            <a:r>
              <a:rPr sz="1600" i="0">
                <a:solidFill>
                  <a:srgbClr val="E8EDF2"/>
                </a:solidFill>
                <a:latin typeface="Consolas"/>
              </a:rPr>
              <a:t>k</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5DADE2"/>
                </a:solidFill>
                <a:latin typeface="Consolas"/>
              </a:rPr>
              <a:t>return</a:t>
            </a:r>
            <a:r>
              <a:rPr sz="1600" i="0">
                <a:solidFill>
                  <a:srgbClr val="E8EDF2"/>
                </a:solidFill>
                <a:latin typeface="Consolas"/>
              </a:rPr>
              <a:t> </a:t>
            </a:r>
            <a:r>
              <a:rPr sz="1600" i="0">
                <a:solidFill>
                  <a:srgbClr val="AEB6BF"/>
                </a:solidFill>
                <a:latin typeface="Consolas"/>
              </a:rPr>
              <a:t>[</a:t>
            </a:r>
            <a:r>
              <a:rPr sz="1600" i="0">
                <a:solidFill>
                  <a:srgbClr val="AEB6BF"/>
                </a:solidFill>
                <a:latin typeface="Consolas"/>
              </a:rPr>
              <a:t>(</a:t>
            </a:r>
            <a:r>
              <a:rPr sz="1600" i="0">
                <a:solidFill>
                  <a:srgbClr val="E8EDF2"/>
                </a:solidFill>
                <a:latin typeface="Consolas"/>
              </a:rPr>
              <a:t>w</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c</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total</a:t>
            </a:r>
            <a:r>
              <a:rPr sz="1600" i="0">
                <a:solidFill>
                  <a:srgbClr val="AEB6BF"/>
                </a:solidFill>
                <a:latin typeface="Consolas"/>
              </a:rPr>
              <a:t>)</a:t>
            </a:r>
            <a:r>
              <a:rPr sz="1600" i="0">
                <a:solidFill>
                  <a:srgbClr val="E8EDF2"/>
                </a:solidFill>
                <a:latin typeface="Consolas"/>
              </a:rPr>
              <a:t> </a:t>
            </a:r>
            <a:r>
              <a:rPr sz="1600" i="0">
                <a:solidFill>
                  <a:srgbClr val="5DADE2"/>
                </a:solidFill>
                <a:latin typeface="Consolas"/>
              </a:rPr>
              <a:t>for</a:t>
            </a:r>
            <a:r>
              <a:rPr sz="1600" i="0">
                <a:solidFill>
                  <a:srgbClr val="E8EDF2"/>
                </a:solidFill>
                <a:latin typeface="Consolas"/>
              </a:rPr>
              <a:t> </a:t>
            </a:r>
            <a:r>
              <a:rPr sz="1600" i="0">
                <a:solidFill>
                  <a:srgbClr val="E8EDF2"/>
                </a:solidFill>
                <a:latin typeface="Consolas"/>
              </a:rPr>
              <a:t>w</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c</a:t>
            </a:r>
            <a:r>
              <a:rPr sz="1600" i="0">
                <a:solidFill>
                  <a:srgbClr val="E8EDF2"/>
                </a:solidFill>
                <a:latin typeface="Consolas"/>
              </a:rPr>
              <a:t> </a:t>
            </a:r>
            <a:r>
              <a:rPr sz="1600" i="0">
                <a:solidFill>
                  <a:srgbClr val="AEB6BF"/>
                </a:solidFill>
                <a:latin typeface="Consolas"/>
              </a:rPr>
              <a:t>in</a:t>
            </a:r>
            <a:r>
              <a:rPr sz="1600" i="0">
                <a:solidFill>
                  <a:srgbClr val="E8EDF2"/>
                </a:solidFill>
                <a:latin typeface="Consolas"/>
              </a:rPr>
              <a:t> </a:t>
            </a:r>
            <a:r>
              <a:rPr sz="1600" i="0">
                <a:solidFill>
                  <a:srgbClr val="E8EDF2"/>
                </a:solidFill>
                <a:latin typeface="Consolas"/>
              </a:rPr>
              <a:t>ranked</a:t>
            </a:r>
            <a:r>
              <a:rPr sz="1600" i="0">
                <a:solidFill>
                  <a:srgbClr val="AEB6BF"/>
                </a:solidFill>
                <a:latin typeface="Consolas"/>
              </a:rPr>
              <a:t>]</a:t>
            </a:r>
          </a:p>
          <a:p>
            <a:pPr>
              <a:lnSpc>
                <a:spcPct val="100000"/>
              </a:lnSpc>
              <a:spcAft>
                <a:spcPts val="0"/>
              </a:spcAft>
            </a:pPr>
            <a:r>
              <a:rPr sz="1600">
                <a:latin typeface="Consolas"/>
              </a:rPr>
              <a:t> </a:t>
            </a:r>
          </a:p>
          <a:p>
            <a:pPr>
              <a:lnSpc>
                <a:spcPct val="100000"/>
              </a:lnSpc>
              <a:spcAft>
                <a:spcPts val="0"/>
              </a:spcAft>
            </a:pPr>
            <a:r>
              <a:rPr sz="1600">
                <a:latin typeface="Consolas"/>
              </a:rPr>
              <a:t> </a:t>
            </a:r>
          </a:p>
          <a:p>
            <a:pPr>
              <a:lnSpc>
                <a:spcPct val="100000"/>
              </a:lnSpc>
              <a:spcAft>
                <a:spcPts val="0"/>
              </a:spcAft>
            </a:pPr>
            <a:r>
              <a:rPr sz="1600" i="0">
                <a:solidFill>
                  <a:srgbClr val="E8EDF2"/>
                </a:solidFill>
                <a:latin typeface="Consolas"/>
              </a:rPr>
              <a:t>SUBJECTS</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restart the server</a:t>
            </a:r>
            <a:r>
              <a:rPr sz="1600" i="0">
                <a:solidFill>
                  <a:srgbClr val="7DCEA0"/>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check the payments gateway</a:t>
            </a:r>
            <a:r>
              <a:rPr sz="1600" i="0">
                <a:solidFill>
                  <a:srgbClr val="7DCEA0"/>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restart the server after the timeout</a:t>
            </a:r>
            <a:r>
              <a:rPr sz="1600" i="0">
                <a:solidFill>
                  <a:srgbClr val="7DCEA0"/>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fix the login error on the gateway</a:t>
            </a:r>
            <a:r>
              <a:rPr sz="1600" i="0">
                <a:solidFill>
                  <a:srgbClr val="7DCEA0"/>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restart the gateway after the payments error</a:t>
            </a:r>
            <a:r>
              <a:rPr sz="1600" i="0">
                <a:solidFill>
                  <a:srgbClr val="7DCEA0"/>
                </a:solidFill>
                <a:latin typeface="Consolas"/>
              </a:rPr>
              <a:t>"</a:t>
            </a:r>
            <a:r>
              <a:rPr sz="1600" i="0">
                <a:solidFill>
                  <a:srgbClr val="AEB6BF"/>
                </a:solidFill>
                <a:latin typeface="Consolas"/>
              </a:rPr>
              <a:t>,</a:t>
            </a:r>
          </a:p>
          <a:p>
            <a:pPr>
              <a:lnSpc>
                <a:spcPct val="100000"/>
              </a:lnSpc>
              <a:spcAft>
                <a:spcPts val="0"/>
              </a:spcAft>
            </a:pPr>
            <a:r>
              <a:rPr sz="1600" i="0">
                <a:solidFill>
                  <a:srgbClr val="AEB6BF"/>
                </a:solidFill>
                <a:latin typeface="Consolas"/>
              </a:rPr>
              <a:t>]</a:t>
            </a:r>
          </a:p>
        </p:txBody>
      </p:sp>
      <p:sp>
        <p:nvSpPr>
          <p:cNvPr id="15" name="!!code-num"/>
          <p:cNvSpPr txBox="1"/>
          <p:nvPr/>
        </p:nvSpPr>
        <p:spPr>
          <a:xfrm>
            <a:off x="768096" y="2523744"/>
            <a:ext cx="393192" cy="3523487"/>
          </a:xfrm>
          <a:prstGeom prst="rect">
            <a:avLst/>
          </a:prstGeom>
          <a:noFill/>
        </p:spPr>
        <p:txBody>
          <a:bodyPr wrap="none" anchor="t" lIns="0" rIns="0" tIns="0" bIns="0">
            <a:noAutofit/>
          </a:bodyPr>
          <a:lstStyle/>
          <a:p>
            <a:pPr algn="r">
              <a:lnSpc>
                <a:spcPct val="100000"/>
              </a:lnSpc>
            </a:pPr>
            <a:r>
              <a:rPr sz="1600">
                <a:solidFill>
                  <a:srgbClr val="4F5D6A"/>
                </a:solidFill>
                <a:latin typeface="Consolas"/>
              </a:rPr>
              <a:t>144</a:t>
            </a:r>
          </a:p>
          <a:p>
            <a:pPr algn="r">
              <a:lnSpc>
                <a:spcPct val="100000"/>
              </a:lnSpc>
            </a:pPr>
            <a:r>
              <a:rPr sz="1600">
                <a:solidFill>
                  <a:srgbClr val="4F5D6A"/>
                </a:solidFill>
                <a:latin typeface="Consolas"/>
              </a:rPr>
              <a:t>145</a:t>
            </a:r>
          </a:p>
          <a:p>
            <a:pPr algn="r">
              <a:lnSpc>
                <a:spcPct val="100000"/>
              </a:lnSpc>
            </a:pPr>
            <a:r>
              <a:rPr sz="1600">
                <a:solidFill>
                  <a:srgbClr val="4F5D6A"/>
                </a:solidFill>
                <a:latin typeface="Consolas"/>
              </a:rPr>
              <a:t>146</a:t>
            </a:r>
          </a:p>
          <a:p>
            <a:pPr algn="r">
              <a:lnSpc>
                <a:spcPct val="100000"/>
              </a:lnSpc>
            </a:pPr>
            <a:r>
              <a:rPr sz="1600">
                <a:solidFill>
                  <a:srgbClr val="4F5D6A"/>
                </a:solidFill>
                <a:latin typeface="Consolas"/>
              </a:rPr>
              <a:t>147</a:t>
            </a:r>
          </a:p>
          <a:p>
            <a:pPr algn="r">
              <a:lnSpc>
                <a:spcPct val="100000"/>
              </a:lnSpc>
            </a:pPr>
            <a:r>
              <a:rPr sz="1600">
                <a:solidFill>
                  <a:srgbClr val="4F5D6A"/>
                </a:solidFill>
                <a:latin typeface="Consolas"/>
              </a:rPr>
              <a:t>148</a:t>
            </a:r>
          </a:p>
          <a:p>
            <a:pPr algn="r">
              <a:lnSpc>
                <a:spcPct val="100000"/>
              </a:lnSpc>
            </a:pPr>
            <a:r>
              <a:rPr sz="1600">
                <a:solidFill>
                  <a:srgbClr val="4F5D6A"/>
                </a:solidFill>
                <a:latin typeface="Consolas"/>
              </a:rPr>
              <a:t>149</a:t>
            </a:r>
          </a:p>
          <a:p>
            <a:pPr algn="r">
              <a:lnSpc>
                <a:spcPct val="100000"/>
              </a:lnSpc>
            </a:pPr>
            <a:r>
              <a:rPr sz="1600">
                <a:solidFill>
                  <a:srgbClr val="4F5D6A"/>
                </a:solidFill>
                <a:latin typeface="Consolas"/>
              </a:rPr>
              <a:t>150</a:t>
            </a:r>
          </a:p>
          <a:p>
            <a:pPr algn="r">
              <a:lnSpc>
                <a:spcPct val="100000"/>
              </a:lnSpc>
            </a:pPr>
            <a:r>
              <a:rPr sz="1600">
                <a:solidFill>
                  <a:srgbClr val="4F5D6A"/>
                </a:solidFill>
                <a:latin typeface="Consolas"/>
              </a:rPr>
              <a:t>151</a:t>
            </a:r>
          </a:p>
          <a:p>
            <a:pPr algn="r">
              <a:lnSpc>
                <a:spcPct val="100000"/>
              </a:lnSpc>
            </a:pPr>
            <a:r>
              <a:rPr sz="1600">
                <a:solidFill>
                  <a:srgbClr val="4F5D6A"/>
                </a:solidFill>
                <a:latin typeface="Consolas"/>
              </a:rPr>
              <a:t>152</a:t>
            </a:r>
          </a:p>
          <a:p>
            <a:pPr algn="r">
              <a:lnSpc>
                <a:spcPct val="100000"/>
              </a:lnSpc>
            </a:pPr>
            <a:r>
              <a:rPr sz="1600">
                <a:solidFill>
                  <a:srgbClr val="4F5D6A"/>
                </a:solidFill>
                <a:latin typeface="Consolas"/>
              </a:rPr>
              <a:t>153</a:t>
            </a:r>
          </a:p>
          <a:p>
            <a:pPr algn="r">
              <a:lnSpc>
                <a:spcPct val="100000"/>
              </a:lnSpc>
            </a:pPr>
            <a:r>
              <a:rPr sz="1600">
                <a:solidFill>
                  <a:srgbClr val="4F5D6A"/>
                </a:solidFill>
                <a:latin typeface="Consolas"/>
              </a:rPr>
              <a:t>154</a:t>
            </a:r>
          </a:p>
          <a:p>
            <a:pPr algn="r">
              <a:lnSpc>
                <a:spcPct val="100000"/>
              </a:lnSpc>
            </a:pPr>
            <a:r>
              <a:rPr sz="1600">
                <a:solidFill>
                  <a:srgbClr val="4F5D6A"/>
                </a:solidFill>
                <a:latin typeface="Consolas"/>
              </a:rPr>
              <a:t>155</a:t>
            </a:r>
          </a:p>
          <a:p>
            <a:pPr algn="r">
              <a:lnSpc>
                <a:spcPct val="100000"/>
              </a:lnSpc>
            </a:pPr>
            <a:r>
              <a:rPr sz="1600">
                <a:solidFill>
                  <a:srgbClr val="4F5D6A"/>
                </a:solidFill>
                <a:latin typeface="Consolas"/>
              </a:rPr>
              <a:t>156</a:t>
            </a:r>
          </a:p>
          <a:p>
            <a:pPr algn="r">
              <a:lnSpc>
                <a:spcPct val="100000"/>
              </a:lnSpc>
            </a:pPr>
            <a:r>
              <a:rPr sz="1600">
                <a:solidFill>
                  <a:srgbClr val="4F5D6A"/>
                </a:solidFill>
                <a:latin typeface="Consolas"/>
              </a:rPr>
              <a:t>157</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502581"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Parsing Ticket Subjects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11 OF 15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18  ·  Natural Language Processing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§18.7  ·  Handout p. 190     </a:t>
            </a:r>
            <a:fld id="{D0BBE626-0C79-4494-AAC2-259C78689A22}" type="slidenum">
              <a:rPr lang="en-GB" sz="1000">
                <a:solidFill>
                  <a:srgbClr val="8795A1"/>
                </a:solidFill>
                <a:latin typeface="Segoe UI"/>
              </a:rPr>
              <a:t>33</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A bigram model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17264"/>
          </a:xfrm>
          <a:prstGeom prst="roundRect">
            <a:avLst>
              <a:gd name="adj" fmla="val 227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code/ch18_parsing_ticket.py</a:t>
            </a:r>
          </a:p>
        </p:txBody>
      </p:sp>
      <p:sp>
        <p:nvSpPr>
          <p:cNvPr id="14" name="!!code-text" descr="if __name__ == &quot;__main__&quot;: print(&quot;=== parsing ticket subjects ===&quot;) print(&quot;subject parses count&quot;) print(&quot;-&quot; * 62) counts = {} for s in SUBJECTS: ok, n, _ = parse(s) counts[s] = n print(&quot;%-46s %7s %6d&quot; % (s, ok, n)) # three of the five are structurally ambiguous ambiguous = [s for s in SUBJECTS if counts[s] &gt; 1] assert len(ambiguous) == 3 and all(counts[s] == 2 for s in ambiguous) print() print(&quot;%d of %d subjects have more than one parse.&quot; % (len(ambiguous), len(SUBJECTS))) print(&quot;Each extra prepositional phrase roughly doubles the count.&quot;)"/>
          <p:cNvSpPr txBox="1"/>
          <p:nvPr/>
        </p:nvSpPr>
        <p:spPr>
          <a:xfrm>
            <a:off x="1362456" y="2523744"/>
            <a:ext cx="9987991" cy="3523487"/>
          </a:xfrm>
          <a:prstGeom prst="rect">
            <a:avLst/>
          </a:prstGeom>
          <a:noFill/>
        </p:spPr>
        <p:txBody>
          <a:bodyPr wrap="none" anchor="t" lIns="0" rIns="0" tIns="0" bIns="0">
            <a:noAutofit/>
          </a:bodyPr>
          <a:lstStyle/>
          <a:p>
            <a:pPr>
              <a:lnSpc>
                <a:spcPct val="100000"/>
              </a:lnSpc>
              <a:spcAft>
                <a:spcPts val="0"/>
              </a:spcAft>
            </a:pPr>
            <a:r>
              <a:rPr sz="1400" i="0">
                <a:solidFill>
                  <a:srgbClr val="5DADE2"/>
                </a:solidFill>
                <a:latin typeface="Consolas"/>
              </a:rPr>
              <a:t>if</a:t>
            </a:r>
            <a:r>
              <a:rPr sz="1400" i="0">
                <a:solidFill>
                  <a:srgbClr val="E8EDF2"/>
                </a:solidFill>
                <a:latin typeface="Consolas"/>
              </a:rPr>
              <a:t> </a:t>
            </a:r>
            <a:r>
              <a:rPr sz="1400" i="0">
                <a:solidFill>
                  <a:srgbClr val="E8EDF2"/>
                </a:solidFill>
                <a:latin typeface="Consolas"/>
              </a:rPr>
              <a:t>__name__</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__main__</a:t>
            </a:r>
            <a:r>
              <a:rPr sz="1400" i="0">
                <a:solidFill>
                  <a:srgbClr val="7DCEA0"/>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 parsing ticket subjects ===</a:t>
            </a:r>
            <a:r>
              <a:rPr sz="1400" i="0">
                <a:solidFill>
                  <a:srgbClr val="7DCEA0"/>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subject                                         parses  count</a:t>
            </a:r>
            <a:r>
              <a:rPr sz="1400" i="0">
                <a:solidFill>
                  <a:srgbClr val="7DCEA0"/>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a:t>
            </a:r>
            <a:r>
              <a:rPr sz="1400" i="0">
                <a:solidFill>
                  <a:srgbClr val="7DCEA0"/>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62</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counts</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for</a:t>
            </a:r>
            <a:r>
              <a:rPr sz="1400" i="0">
                <a:solidFill>
                  <a:srgbClr val="E8EDF2"/>
                </a:solidFill>
                <a:latin typeface="Consolas"/>
              </a:rPr>
              <a:t> </a:t>
            </a:r>
            <a:r>
              <a:rPr sz="1400" i="0">
                <a:solidFill>
                  <a:srgbClr val="E8EDF2"/>
                </a:solidFill>
                <a:latin typeface="Consolas"/>
              </a:rPr>
              <a:t>s</a:t>
            </a:r>
            <a:r>
              <a:rPr sz="1400" i="0">
                <a:solidFill>
                  <a:srgbClr val="E8EDF2"/>
                </a:solidFill>
                <a:latin typeface="Consolas"/>
              </a:rPr>
              <a:t> </a:t>
            </a:r>
            <a:r>
              <a:rPr sz="1400" i="0">
                <a:solidFill>
                  <a:srgbClr val="AEB6BF"/>
                </a:solidFill>
                <a:latin typeface="Consolas"/>
              </a:rPr>
              <a:t>in</a:t>
            </a:r>
            <a:r>
              <a:rPr sz="1400" i="0">
                <a:solidFill>
                  <a:srgbClr val="E8EDF2"/>
                </a:solidFill>
                <a:latin typeface="Consolas"/>
              </a:rPr>
              <a:t> </a:t>
            </a:r>
            <a:r>
              <a:rPr sz="1400" i="0">
                <a:solidFill>
                  <a:srgbClr val="E8EDF2"/>
                </a:solidFill>
                <a:latin typeface="Consolas"/>
              </a:rPr>
              <a:t>SUBJECTS</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ok</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n</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_</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parse</a:t>
            </a:r>
            <a:r>
              <a:rPr sz="1400" i="0">
                <a:solidFill>
                  <a:srgbClr val="AEB6BF"/>
                </a:solidFill>
                <a:latin typeface="Consolas"/>
              </a:rPr>
              <a:t>(</a:t>
            </a:r>
            <a:r>
              <a:rPr sz="1400" i="0">
                <a:solidFill>
                  <a:srgbClr val="E8EDF2"/>
                </a:solidFill>
                <a:latin typeface="Consolas"/>
              </a:rPr>
              <a:t>s</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counts</a:t>
            </a:r>
            <a:r>
              <a:rPr sz="1400" i="0">
                <a:solidFill>
                  <a:srgbClr val="AEB6BF"/>
                </a:solidFill>
                <a:latin typeface="Consolas"/>
              </a:rPr>
              <a:t>[</a:t>
            </a:r>
            <a:r>
              <a:rPr sz="1400" i="0">
                <a:solidFill>
                  <a:srgbClr val="E8EDF2"/>
                </a:solidFill>
                <a:latin typeface="Consolas"/>
              </a:rPr>
              <a:t>s</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n</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%-46s</a:t>
            </a:r>
            <a:r>
              <a:rPr sz="1400" i="0">
                <a:solidFill>
                  <a:srgbClr val="7DCEA0"/>
                </a:solidFill>
                <a:latin typeface="Consolas"/>
              </a:rPr>
              <a:t> </a:t>
            </a:r>
            <a:r>
              <a:rPr sz="1400" i="0">
                <a:solidFill>
                  <a:srgbClr val="7DCEA0"/>
                </a:solidFill>
                <a:latin typeface="Consolas"/>
              </a:rPr>
              <a:t>%7s</a:t>
            </a:r>
            <a:r>
              <a:rPr sz="1400" i="0">
                <a:solidFill>
                  <a:srgbClr val="7DCEA0"/>
                </a:solidFill>
                <a:latin typeface="Consolas"/>
              </a:rPr>
              <a:t> </a:t>
            </a:r>
            <a:r>
              <a:rPr sz="1400" i="0">
                <a:solidFill>
                  <a:srgbClr val="7DCEA0"/>
                </a:solidFill>
                <a:latin typeface="Consolas"/>
              </a:rPr>
              <a:t>%6d</a:t>
            </a:r>
            <a:r>
              <a:rPr sz="1400" i="0">
                <a:solidFill>
                  <a:srgbClr val="7DCEA0"/>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s</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ok</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n</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1">
                <a:solidFill>
                  <a:srgbClr val="8795A1"/>
                </a:solidFill>
                <a:latin typeface="Consolas"/>
              </a:rPr>
              <a:t># three of the five are structurally ambiguous</a:t>
            </a:r>
          </a:p>
          <a:p>
            <a:pPr>
              <a:lnSpc>
                <a:spcPct val="100000"/>
              </a:lnSpc>
              <a:spcAft>
                <a:spcPts val="0"/>
              </a:spcAft>
            </a:pPr>
            <a:r>
              <a:rPr sz="1400" i="0">
                <a:solidFill>
                  <a:srgbClr val="E8EDF2"/>
                </a:solidFill>
                <a:latin typeface="Consolas"/>
              </a:rPr>
              <a:t>    </a:t>
            </a:r>
            <a:r>
              <a:rPr sz="1400" i="0">
                <a:solidFill>
                  <a:srgbClr val="E8EDF2"/>
                </a:solidFill>
                <a:latin typeface="Consolas"/>
              </a:rPr>
              <a:t>ambiguous</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s</a:t>
            </a:r>
            <a:r>
              <a:rPr sz="1400" i="0">
                <a:solidFill>
                  <a:srgbClr val="E8EDF2"/>
                </a:solidFill>
                <a:latin typeface="Consolas"/>
              </a:rPr>
              <a:t> </a:t>
            </a:r>
            <a:r>
              <a:rPr sz="1400" i="0">
                <a:solidFill>
                  <a:srgbClr val="5DADE2"/>
                </a:solidFill>
                <a:latin typeface="Consolas"/>
              </a:rPr>
              <a:t>for</a:t>
            </a:r>
            <a:r>
              <a:rPr sz="1400" i="0">
                <a:solidFill>
                  <a:srgbClr val="E8EDF2"/>
                </a:solidFill>
                <a:latin typeface="Consolas"/>
              </a:rPr>
              <a:t> </a:t>
            </a:r>
            <a:r>
              <a:rPr sz="1400" i="0">
                <a:solidFill>
                  <a:srgbClr val="E8EDF2"/>
                </a:solidFill>
                <a:latin typeface="Consolas"/>
              </a:rPr>
              <a:t>s</a:t>
            </a:r>
            <a:r>
              <a:rPr sz="1400" i="0">
                <a:solidFill>
                  <a:srgbClr val="E8EDF2"/>
                </a:solidFill>
                <a:latin typeface="Consolas"/>
              </a:rPr>
              <a:t> </a:t>
            </a:r>
            <a:r>
              <a:rPr sz="1400" i="0">
                <a:solidFill>
                  <a:srgbClr val="AEB6BF"/>
                </a:solidFill>
                <a:latin typeface="Consolas"/>
              </a:rPr>
              <a:t>in</a:t>
            </a:r>
            <a:r>
              <a:rPr sz="1400" i="0">
                <a:solidFill>
                  <a:srgbClr val="E8EDF2"/>
                </a:solidFill>
                <a:latin typeface="Consolas"/>
              </a:rPr>
              <a:t> </a:t>
            </a:r>
            <a:r>
              <a:rPr sz="1400" i="0">
                <a:solidFill>
                  <a:srgbClr val="E8EDF2"/>
                </a:solidFill>
                <a:latin typeface="Consolas"/>
              </a:rPr>
              <a:t>SUBJECTS</a:t>
            </a:r>
            <a:r>
              <a:rPr sz="1400" i="0">
                <a:solidFill>
                  <a:srgbClr val="E8EDF2"/>
                </a:solidFill>
                <a:latin typeface="Consolas"/>
              </a:rPr>
              <a:t> </a:t>
            </a:r>
            <a:r>
              <a:rPr sz="1400" i="0">
                <a:solidFill>
                  <a:srgbClr val="5DADE2"/>
                </a:solidFill>
                <a:latin typeface="Consolas"/>
              </a:rPr>
              <a:t>if</a:t>
            </a:r>
            <a:r>
              <a:rPr sz="1400" i="0">
                <a:solidFill>
                  <a:srgbClr val="E8EDF2"/>
                </a:solidFill>
                <a:latin typeface="Consolas"/>
              </a:rPr>
              <a:t> </a:t>
            </a:r>
            <a:r>
              <a:rPr sz="1400" i="0">
                <a:solidFill>
                  <a:srgbClr val="E8EDF2"/>
                </a:solidFill>
                <a:latin typeface="Consolas"/>
              </a:rPr>
              <a:t>counts</a:t>
            </a:r>
            <a:r>
              <a:rPr sz="1400" i="0">
                <a:solidFill>
                  <a:srgbClr val="AEB6BF"/>
                </a:solidFill>
                <a:latin typeface="Consolas"/>
              </a:rPr>
              <a:t>[</a:t>
            </a:r>
            <a:r>
              <a:rPr sz="1400" i="0">
                <a:solidFill>
                  <a:srgbClr val="E8EDF2"/>
                </a:solidFill>
                <a:latin typeface="Consolas"/>
              </a:rPr>
              <a:t>s</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&gt;</a:t>
            </a:r>
            <a:r>
              <a:rPr sz="1400" i="0">
                <a:solidFill>
                  <a:srgbClr val="E8EDF2"/>
                </a:solidFill>
                <a:latin typeface="Consolas"/>
              </a:rPr>
              <a:t> </a:t>
            </a:r>
            <a:r>
              <a:rPr sz="1400" i="0">
                <a:solidFill>
                  <a:srgbClr val="F7DC6F"/>
                </a:solidFill>
                <a:latin typeface="Consolas"/>
              </a:rPr>
              <a:t>1</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assert</a:t>
            </a:r>
            <a:r>
              <a:rPr sz="1400" i="0">
                <a:solidFill>
                  <a:srgbClr val="E8EDF2"/>
                </a:solidFill>
                <a:latin typeface="Consolas"/>
              </a:rPr>
              <a:t> </a:t>
            </a:r>
            <a:r>
              <a:rPr sz="1400" i="0">
                <a:solidFill>
                  <a:srgbClr val="C39BD3"/>
                </a:solidFill>
                <a:latin typeface="Consolas"/>
              </a:rPr>
              <a:t>len</a:t>
            </a:r>
            <a:r>
              <a:rPr sz="1400" i="0">
                <a:solidFill>
                  <a:srgbClr val="AEB6BF"/>
                </a:solidFill>
                <a:latin typeface="Consolas"/>
              </a:rPr>
              <a:t>(</a:t>
            </a:r>
            <a:r>
              <a:rPr sz="1400" i="0">
                <a:solidFill>
                  <a:srgbClr val="E8EDF2"/>
                </a:solidFill>
                <a:latin typeface="Consolas"/>
              </a:rPr>
              <a:t>ambiguous</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3</a:t>
            </a:r>
            <a:r>
              <a:rPr sz="1400" i="0">
                <a:solidFill>
                  <a:srgbClr val="E8EDF2"/>
                </a:solidFill>
                <a:latin typeface="Consolas"/>
              </a:rPr>
              <a:t> </a:t>
            </a:r>
            <a:r>
              <a:rPr sz="1400" i="0">
                <a:solidFill>
                  <a:srgbClr val="AEB6BF"/>
                </a:solidFill>
                <a:latin typeface="Consolas"/>
              </a:rPr>
              <a:t>and</a:t>
            </a:r>
            <a:r>
              <a:rPr sz="1400" i="0">
                <a:solidFill>
                  <a:srgbClr val="E8EDF2"/>
                </a:solidFill>
                <a:latin typeface="Consolas"/>
              </a:rPr>
              <a:t> </a:t>
            </a:r>
            <a:r>
              <a:rPr sz="1400" i="0">
                <a:solidFill>
                  <a:srgbClr val="C39BD3"/>
                </a:solidFill>
                <a:latin typeface="Consolas"/>
              </a:rPr>
              <a:t>all</a:t>
            </a:r>
            <a:r>
              <a:rPr sz="1400" i="0">
                <a:solidFill>
                  <a:srgbClr val="AEB6BF"/>
                </a:solidFill>
                <a:latin typeface="Consolas"/>
              </a:rPr>
              <a:t>(</a:t>
            </a:r>
            <a:r>
              <a:rPr sz="1400" i="0">
                <a:solidFill>
                  <a:srgbClr val="E8EDF2"/>
                </a:solidFill>
                <a:latin typeface="Consolas"/>
              </a:rPr>
              <a:t>counts</a:t>
            </a:r>
            <a:r>
              <a:rPr sz="1400" i="0">
                <a:solidFill>
                  <a:srgbClr val="AEB6BF"/>
                </a:solidFill>
                <a:latin typeface="Consolas"/>
              </a:rPr>
              <a:t>[</a:t>
            </a:r>
            <a:r>
              <a:rPr sz="1400" i="0">
                <a:solidFill>
                  <a:srgbClr val="E8EDF2"/>
                </a:solidFill>
                <a:latin typeface="Consolas"/>
              </a:rPr>
              <a:t>s</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2</a:t>
            </a:r>
            <a:r>
              <a:rPr sz="1400" i="0">
                <a:solidFill>
                  <a:srgbClr val="E8EDF2"/>
                </a:solidFill>
                <a:latin typeface="Consolas"/>
              </a:rPr>
              <a:t> </a:t>
            </a:r>
            <a:r>
              <a:rPr sz="1400" i="0">
                <a:solidFill>
                  <a:srgbClr val="5DADE2"/>
                </a:solidFill>
                <a:latin typeface="Consolas"/>
              </a:rPr>
              <a:t>for</a:t>
            </a:r>
            <a:r>
              <a:rPr sz="1400" i="0">
                <a:solidFill>
                  <a:srgbClr val="E8EDF2"/>
                </a:solidFill>
                <a:latin typeface="Consolas"/>
              </a:rPr>
              <a:t> </a:t>
            </a:r>
            <a:r>
              <a:rPr sz="1400" i="0">
                <a:solidFill>
                  <a:srgbClr val="E8EDF2"/>
                </a:solidFill>
                <a:latin typeface="Consolas"/>
              </a:rPr>
              <a:t>s</a:t>
            </a:r>
            <a:r>
              <a:rPr sz="1400" i="0">
                <a:solidFill>
                  <a:srgbClr val="E8EDF2"/>
                </a:solidFill>
                <a:latin typeface="Consolas"/>
              </a:rPr>
              <a:t> </a:t>
            </a:r>
            <a:r>
              <a:rPr sz="1400" i="0">
                <a:solidFill>
                  <a:srgbClr val="AEB6BF"/>
                </a:solidFill>
                <a:latin typeface="Consolas"/>
              </a:rPr>
              <a:t>in</a:t>
            </a:r>
            <a:r>
              <a:rPr sz="1400" i="0">
                <a:solidFill>
                  <a:srgbClr val="E8EDF2"/>
                </a:solidFill>
                <a:latin typeface="Consolas"/>
              </a:rPr>
              <a:t> </a:t>
            </a:r>
            <a:r>
              <a:rPr sz="1400" i="0">
                <a:solidFill>
                  <a:srgbClr val="E8EDF2"/>
                </a:solidFill>
                <a:latin typeface="Consolas"/>
              </a:rPr>
              <a:t>ambiguous</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%d</a:t>
            </a:r>
            <a:r>
              <a:rPr sz="1400" i="0">
                <a:solidFill>
                  <a:srgbClr val="7DCEA0"/>
                </a:solidFill>
                <a:latin typeface="Consolas"/>
              </a:rPr>
              <a:t> of </a:t>
            </a:r>
            <a:r>
              <a:rPr sz="1400" i="0">
                <a:solidFill>
                  <a:srgbClr val="7DCEA0"/>
                </a:solidFill>
                <a:latin typeface="Consolas"/>
              </a:rPr>
              <a:t>%d</a:t>
            </a:r>
            <a:r>
              <a:rPr sz="1400" i="0">
                <a:solidFill>
                  <a:srgbClr val="7DCEA0"/>
                </a:solidFill>
                <a:latin typeface="Consolas"/>
              </a:rPr>
              <a:t> subjects have more than one parse.</a:t>
            </a:r>
            <a:r>
              <a:rPr sz="1400" i="0">
                <a:solidFill>
                  <a:srgbClr val="7DCEA0"/>
                </a:solidFill>
                <a:latin typeface="Consolas"/>
              </a:rPr>
              <a:t>"</a:t>
            </a:r>
          </a:p>
          <a:p>
            <a:pPr>
              <a:lnSpc>
                <a:spcPct val="100000"/>
              </a:lnSpc>
              <a:spcAft>
                <a:spcPts val="0"/>
              </a:spcAft>
            </a:pP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C39BD3"/>
                </a:solidFill>
                <a:latin typeface="Consolas"/>
              </a:rPr>
              <a:t>len</a:t>
            </a:r>
            <a:r>
              <a:rPr sz="1400" i="0">
                <a:solidFill>
                  <a:srgbClr val="AEB6BF"/>
                </a:solidFill>
                <a:latin typeface="Consolas"/>
              </a:rPr>
              <a:t>(</a:t>
            </a:r>
            <a:r>
              <a:rPr sz="1400" i="0">
                <a:solidFill>
                  <a:srgbClr val="E8EDF2"/>
                </a:solidFill>
                <a:latin typeface="Consolas"/>
              </a:rPr>
              <a:t>ambiguous</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C39BD3"/>
                </a:solidFill>
                <a:latin typeface="Consolas"/>
              </a:rPr>
              <a:t>len</a:t>
            </a:r>
            <a:r>
              <a:rPr sz="1400" i="0">
                <a:solidFill>
                  <a:srgbClr val="AEB6BF"/>
                </a:solidFill>
                <a:latin typeface="Consolas"/>
              </a:rPr>
              <a:t>(</a:t>
            </a:r>
            <a:r>
              <a:rPr sz="1400" i="0">
                <a:solidFill>
                  <a:srgbClr val="E8EDF2"/>
                </a:solidFill>
                <a:latin typeface="Consolas"/>
              </a:rPr>
              <a:t>SUBJECTS</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Each extra prepositional phrase roughly doubles the count.</a:t>
            </a:r>
            <a:r>
              <a:rPr sz="1400" i="0">
                <a:solidFill>
                  <a:srgbClr val="7DCEA0"/>
                </a:solidFill>
                <a:latin typeface="Consolas"/>
              </a:rPr>
              <a:t>"</a:t>
            </a:r>
            <a:r>
              <a:rPr sz="1400" i="0">
                <a:solidFill>
                  <a:srgbClr val="AEB6BF"/>
                </a:solidFill>
                <a:latin typeface="Consolas"/>
              </a:rPr>
              <a:t>)</a:t>
            </a:r>
          </a:p>
        </p:txBody>
      </p:sp>
      <p:sp>
        <p:nvSpPr>
          <p:cNvPr id="15" name="!!code-num"/>
          <p:cNvSpPr txBox="1"/>
          <p:nvPr/>
        </p:nvSpPr>
        <p:spPr>
          <a:xfrm>
            <a:off x="768096" y="2523744"/>
            <a:ext cx="393192" cy="3523487"/>
          </a:xfrm>
          <a:prstGeom prst="rect">
            <a:avLst/>
          </a:prstGeom>
          <a:noFill/>
        </p:spPr>
        <p:txBody>
          <a:bodyPr wrap="none" anchor="t" lIns="0" rIns="0" tIns="0" bIns="0">
            <a:noAutofit/>
          </a:bodyPr>
          <a:lstStyle/>
          <a:p>
            <a:pPr algn="r">
              <a:lnSpc>
                <a:spcPct val="100000"/>
              </a:lnSpc>
            </a:pPr>
            <a:r>
              <a:rPr sz="1400">
                <a:solidFill>
                  <a:srgbClr val="4F5D6A"/>
                </a:solidFill>
                <a:latin typeface="Consolas"/>
              </a:rPr>
              <a:t>159</a:t>
            </a:r>
          </a:p>
          <a:p>
            <a:pPr algn="r">
              <a:lnSpc>
                <a:spcPct val="100000"/>
              </a:lnSpc>
            </a:pPr>
            <a:r>
              <a:rPr sz="1400">
                <a:solidFill>
                  <a:srgbClr val="4F5D6A"/>
                </a:solidFill>
                <a:latin typeface="Consolas"/>
              </a:rPr>
              <a:t>160</a:t>
            </a:r>
          </a:p>
          <a:p>
            <a:pPr algn="r">
              <a:lnSpc>
                <a:spcPct val="100000"/>
              </a:lnSpc>
            </a:pPr>
            <a:r>
              <a:rPr sz="1400">
                <a:solidFill>
                  <a:srgbClr val="4F5D6A"/>
                </a:solidFill>
                <a:latin typeface="Consolas"/>
              </a:rPr>
              <a:t>161</a:t>
            </a:r>
          </a:p>
          <a:p>
            <a:pPr algn="r">
              <a:lnSpc>
                <a:spcPct val="100000"/>
              </a:lnSpc>
            </a:pPr>
            <a:r>
              <a:rPr sz="1400">
                <a:solidFill>
                  <a:srgbClr val="4F5D6A"/>
                </a:solidFill>
                <a:latin typeface="Consolas"/>
              </a:rPr>
              <a:t>162</a:t>
            </a:r>
          </a:p>
          <a:p>
            <a:pPr algn="r">
              <a:lnSpc>
                <a:spcPct val="100000"/>
              </a:lnSpc>
            </a:pPr>
            <a:r>
              <a:rPr sz="1400">
                <a:solidFill>
                  <a:srgbClr val="4F5D6A"/>
                </a:solidFill>
                <a:latin typeface="Consolas"/>
              </a:rPr>
              <a:t>163</a:t>
            </a:r>
          </a:p>
          <a:p>
            <a:pPr algn="r">
              <a:lnSpc>
                <a:spcPct val="100000"/>
              </a:lnSpc>
            </a:pPr>
            <a:r>
              <a:rPr sz="1400">
                <a:solidFill>
                  <a:srgbClr val="4F5D6A"/>
                </a:solidFill>
                <a:latin typeface="Consolas"/>
              </a:rPr>
              <a:t>164</a:t>
            </a:r>
          </a:p>
          <a:p>
            <a:pPr algn="r">
              <a:lnSpc>
                <a:spcPct val="100000"/>
              </a:lnSpc>
            </a:pPr>
            <a:r>
              <a:rPr sz="1400">
                <a:solidFill>
                  <a:srgbClr val="4F5D6A"/>
                </a:solidFill>
                <a:latin typeface="Consolas"/>
              </a:rPr>
              <a:t>165</a:t>
            </a:r>
          </a:p>
          <a:p>
            <a:pPr algn="r">
              <a:lnSpc>
                <a:spcPct val="100000"/>
              </a:lnSpc>
            </a:pPr>
            <a:r>
              <a:rPr sz="1400">
                <a:solidFill>
                  <a:srgbClr val="4F5D6A"/>
                </a:solidFill>
                <a:latin typeface="Consolas"/>
              </a:rPr>
              <a:t>166</a:t>
            </a:r>
          </a:p>
          <a:p>
            <a:pPr algn="r">
              <a:lnSpc>
                <a:spcPct val="100000"/>
              </a:lnSpc>
            </a:pPr>
            <a:r>
              <a:rPr sz="1400">
                <a:solidFill>
                  <a:srgbClr val="4F5D6A"/>
                </a:solidFill>
                <a:latin typeface="Consolas"/>
              </a:rPr>
              <a:t>167</a:t>
            </a:r>
          </a:p>
          <a:p>
            <a:pPr algn="r">
              <a:lnSpc>
                <a:spcPct val="100000"/>
              </a:lnSpc>
            </a:pPr>
            <a:r>
              <a:rPr sz="1400">
                <a:solidFill>
                  <a:srgbClr val="4F5D6A"/>
                </a:solidFill>
                <a:latin typeface="Consolas"/>
              </a:rPr>
              <a:t>168</a:t>
            </a:r>
          </a:p>
          <a:p>
            <a:pPr algn="r">
              <a:lnSpc>
                <a:spcPct val="100000"/>
              </a:lnSpc>
            </a:pPr>
            <a:r>
              <a:rPr sz="1400">
                <a:solidFill>
                  <a:srgbClr val="4F5D6A"/>
                </a:solidFill>
                <a:latin typeface="Consolas"/>
              </a:rPr>
              <a:t>169</a:t>
            </a:r>
          </a:p>
          <a:p>
            <a:pPr algn="r">
              <a:lnSpc>
                <a:spcPct val="100000"/>
              </a:lnSpc>
            </a:pPr>
            <a:r>
              <a:rPr sz="1400">
                <a:solidFill>
                  <a:srgbClr val="4F5D6A"/>
                </a:solidFill>
                <a:latin typeface="Consolas"/>
              </a:rPr>
              <a:t>170</a:t>
            </a:r>
          </a:p>
          <a:p>
            <a:pPr algn="r">
              <a:lnSpc>
                <a:spcPct val="100000"/>
              </a:lnSpc>
            </a:pPr>
            <a:r>
              <a:rPr sz="1400">
                <a:solidFill>
                  <a:srgbClr val="4F5D6A"/>
                </a:solidFill>
                <a:latin typeface="Consolas"/>
              </a:rPr>
              <a:t>171</a:t>
            </a:r>
          </a:p>
          <a:p>
            <a:pPr algn="r">
              <a:lnSpc>
                <a:spcPct val="100000"/>
              </a:lnSpc>
            </a:pPr>
            <a:r>
              <a:rPr sz="1400">
                <a:solidFill>
                  <a:srgbClr val="4F5D6A"/>
                </a:solidFill>
                <a:latin typeface="Consolas"/>
              </a:rPr>
              <a:t>172</a:t>
            </a:r>
          </a:p>
          <a:p>
            <a:pPr algn="r">
              <a:lnSpc>
                <a:spcPct val="100000"/>
              </a:lnSpc>
            </a:pPr>
            <a:r>
              <a:rPr sz="1400">
                <a:solidFill>
                  <a:srgbClr val="4F5D6A"/>
                </a:solidFill>
                <a:latin typeface="Consolas"/>
              </a:rPr>
              <a:t>173</a:t>
            </a:r>
          </a:p>
          <a:p>
            <a:pPr algn="r">
              <a:lnSpc>
                <a:spcPct val="100000"/>
              </a:lnSpc>
            </a:pPr>
            <a:r>
              <a:rPr sz="1400">
                <a:solidFill>
                  <a:srgbClr val="4F5D6A"/>
                </a:solidFill>
                <a:latin typeface="Consolas"/>
              </a:rPr>
              <a:t>174</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737037"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Parsing Ticket Subjects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12 OF 15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18  ·  Natural Language Processing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§18.7  ·  Handout p. 190     </a:t>
            </a:r>
            <a:fld id="{A40C3B27-8BAC-4EC0-9189-55B8FE0A1F49}" type="slidenum">
              <a:rPr lang="en-GB" sz="1000">
                <a:solidFill>
                  <a:srgbClr val="8795A1"/>
                </a:solidFill>
                <a:latin typeface="Segoe UI"/>
              </a:rPr>
              <a:t>34</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A bigram model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169663"/>
          </a:xfrm>
          <a:prstGeom prst="roundRect">
            <a:avLst>
              <a:gd name="adj" fmla="val 219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code/ch18_parsing_ticket.py</a:t>
            </a:r>
          </a:p>
        </p:txBody>
      </p:sp>
      <p:sp>
        <p:nvSpPr>
          <p:cNvPr id="14" name="!!code-text" descr="print() print(&quot;=== and one that is not in the language ===&quot;) for bad in (&quot;the the server restart&quot;, &quot;server the&quot;, &quot;restart restart the&quot;): ok, n, _ = parse(bad) print(&quot; %-32s parses: %s&quot; % (bad, ok)) assert not ok print(&quot; Returning nothing is a useful answer: the system knows&quot;) print(&quot; that it does not know.&quot;) print() print(&quot;=== the chart ===&quot;) words = SUBJECTS[4].split() chart, _ = cyk(words) cells = sum(1 for k in chart if chart[k]) total = len(words) * (len(words) + 1) // 2 print(&quot; %d words -&gt; %d cells, %d of them non-empty&quot; % (len(words), total, cells))"/>
          <p:cNvSpPr txBox="1"/>
          <p:nvPr/>
        </p:nvSpPr>
        <p:spPr>
          <a:xfrm>
            <a:off x="1362456" y="2523744"/>
            <a:ext cx="9987991" cy="3675887"/>
          </a:xfrm>
          <a:prstGeom prst="rect">
            <a:avLst/>
          </a:prstGeom>
          <a:noFill/>
        </p:spPr>
        <p:txBody>
          <a:bodyPr wrap="none" anchor="t" lIns="0" rIns="0" tIns="0" bIns="0">
            <a:noAutofit/>
          </a:bodyPr>
          <a:lstStyle/>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 and one that is not in the language ===</a:t>
            </a:r>
            <a:r>
              <a:rPr sz="1300" i="0">
                <a:solidFill>
                  <a:srgbClr val="7DCEA0"/>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for</a:t>
            </a:r>
            <a:r>
              <a:rPr sz="1300" i="0">
                <a:solidFill>
                  <a:srgbClr val="E8EDF2"/>
                </a:solidFill>
                <a:latin typeface="Consolas"/>
              </a:rPr>
              <a:t> </a:t>
            </a:r>
            <a:r>
              <a:rPr sz="1300" i="0">
                <a:solidFill>
                  <a:srgbClr val="E8EDF2"/>
                </a:solidFill>
                <a:latin typeface="Consolas"/>
              </a:rPr>
              <a:t>bad</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the the server restart</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server the</a:t>
            </a:r>
            <a:r>
              <a:rPr sz="1300" i="0">
                <a:solidFill>
                  <a:srgbClr val="7DCEA0"/>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restart restart the</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ok</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n</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_</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parse</a:t>
            </a:r>
            <a:r>
              <a:rPr sz="1300" i="0">
                <a:solidFill>
                  <a:srgbClr val="AEB6BF"/>
                </a:solidFill>
                <a:latin typeface="Consolas"/>
              </a:rPr>
              <a:t>(</a:t>
            </a:r>
            <a:r>
              <a:rPr sz="1300" i="0">
                <a:solidFill>
                  <a:srgbClr val="E8EDF2"/>
                </a:solidFill>
                <a:latin typeface="Consolas"/>
              </a:rPr>
              <a:t>bad</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   </a:t>
            </a:r>
            <a:r>
              <a:rPr sz="1300" i="0">
                <a:solidFill>
                  <a:srgbClr val="7DCEA0"/>
                </a:solidFill>
                <a:latin typeface="Consolas"/>
              </a:rPr>
              <a:t>%-32s</a:t>
            </a:r>
            <a:r>
              <a:rPr sz="1300" i="0">
                <a:solidFill>
                  <a:srgbClr val="7DCEA0"/>
                </a:solidFill>
                <a:latin typeface="Consolas"/>
              </a:rPr>
              <a:t> parses: </a:t>
            </a:r>
            <a:r>
              <a:rPr sz="1300" i="0">
                <a:solidFill>
                  <a:srgbClr val="7DCEA0"/>
                </a:solidFill>
                <a:latin typeface="Consolas"/>
              </a:rPr>
              <a:t>%s</a:t>
            </a:r>
            <a:r>
              <a:rPr sz="1300" i="0">
                <a:solidFill>
                  <a:srgbClr val="7DCEA0"/>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bad</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ok</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assert</a:t>
            </a:r>
            <a:r>
              <a:rPr sz="1300" i="0">
                <a:solidFill>
                  <a:srgbClr val="E8EDF2"/>
                </a:solidFill>
                <a:latin typeface="Consolas"/>
              </a:rPr>
              <a:t> </a:t>
            </a:r>
            <a:r>
              <a:rPr sz="1300" i="0">
                <a:solidFill>
                  <a:srgbClr val="AEB6BF"/>
                </a:solidFill>
                <a:latin typeface="Consolas"/>
              </a:rPr>
              <a:t>not</a:t>
            </a:r>
            <a:r>
              <a:rPr sz="1300" i="0">
                <a:solidFill>
                  <a:srgbClr val="E8EDF2"/>
                </a:solidFill>
                <a:latin typeface="Consolas"/>
              </a:rPr>
              <a:t> </a:t>
            </a:r>
            <a:r>
              <a:rPr sz="1300" i="0">
                <a:solidFill>
                  <a:srgbClr val="E8EDF2"/>
                </a:solidFill>
                <a:latin typeface="Consolas"/>
              </a:rPr>
              <a:t>ok</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   Returning nothing is a useful answer: the system knows</a:t>
            </a:r>
            <a:r>
              <a:rPr sz="1300" i="0">
                <a:solidFill>
                  <a:srgbClr val="7DCEA0"/>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   that it does not know.</a:t>
            </a:r>
            <a:r>
              <a:rPr sz="1300" i="0">
                <a:solidFill>
                  <a:srgbClr val="7DCEA0"/>
                </a:solidFill>
                <a:latin typeface="Consolas"/>
              </a:rPr>
              <a:t>"</a:t>
            </a:r>
            <a:r>
              <a:rPr sz="1300" i="0">
                <a:solidFill>
                  <a:srgbClr val="AEB6BF"/>
                </a:solidFill>
                <a:latin typeface="Consolas"/>
              </a:rPr>
              <a:t>)</a:t>
            </a:r>
          </a:p>
          <a:p>
            <a:pPr>
              <a:lnSpc>
                <a:spcPct val="100000"/>
              </a:lnSpc>
              <a:spcAft>
                <a:spcPts val="0"/>
              </a:spcAft>
            </a:pPr>
            <a:r>
              <a:rPr sz="1300">
                <a:latin typeface="Consolas"/>
              </a:rPr>
              <a:t> </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 the chart ===</a:t>
            </a:r>
            <a:r>
              <a:rPr sz="1300" i="0">
                <a:solidFill>
                  <a:srgbClr val="7DCEA0"/>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words</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SUBJECTS</a:t>
            </a:r>
            <a:r>
              <a:rPr sz="1300" i="0">
                <a:solidFill>
                  <a:srgbClr val="AEB6BF"/>
                </a:solidFill>
                <a:latin typeface="Consolas"/>
              </a:rPr>
              <a:t>[</a:t>
            </a:r>
            <a:r>
              <a:rPr sz="1300" i="0">
                <a:solidFill>
                  <a:srgbClr val="F7DC6F"/>
                </a:solidFill>
                <a:latin typeface="Consolas"/>
              </a:rPr>
              <a:t>4</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split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chart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_</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cyk</a:t>
            </a:r>
            <a:r>
              <a:rPr sz="1300" i="0">
                <a:solidFill>
                  <a:srgbClr val="AEB6BF"/>
                </a:solidFill>
                <a:latin typeface="Consolas"/>
              </a:rPr>
              <a:t>(</a:t>
            </a:r>
            <a:r>
              <a:rPr sz="1300" i="0">
                <a:solidFill>
                  <a:srgbClr val="E8EDF2"/>
                </a:solidFill>
                <a:latin typeface="Consolas"/>
              </a:rPr>
              <a:t>words</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cells</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C39BD3"/>
                </a:solidFill>
                <a:latin typeface="Consolas"/>
              </a:rPr>
              <a:t>sum</a:t>
            </a:r>
            <a:r>
              <a:rPr sz="1300" i="0">
                <a:solidFill>
                  <a:srgbClr val="AEB6BF"/>
                </a:solidFill>
                <a:latin typeface="Consolas"/>
              </a:rPr>
              <a:t>(</a:t>
            </a:r>
            <a:r>
              <a:rPr sz="1300" i="0">
                <a:solidFill>
                  <a:srgbClr val="F7DC6F"/>
                </a:solidFill>
                <a:latin typeface="Consolas"/>
              </a:rPr>
              <a:t>1</a:t>
            </a:r>
            <a:r>
              <a:rPr sz="1300" i="0">
                <a:solidFill>
                  <a:srgbClr val="E8EDF2"/>
                </a:solidFill>
                <a:latin typeface="Consolas"/>
              </a:rPr>
              <a:t> </a:t>
            </a:r>
            <a:r>
              <a:rPr sz="1300" i="0">
                <a:solidFill>
                  <a:srgbClr val="5DADE2"/>
                </a:solidFill>
                <a:latin typeface="Consolas"/>
              </a:rPr>
              <a:t>for</a:t>
            </a:r>
            <a:r>
              <a:rPr sz="1300" i="0">
                <a:solidFill>
                  <a:srgbClr val="E8EDF2"/>
                </a:solidFill>
                <a:latin typeface="Consolas"/>
              </a:rPr>
              <a:t> </a:t>
            </a:r>
            <a:r>
              <a:rPr sz="1300" i="0">
                <a:solidFill>
                  <a:srgbClr val="E8EDF2"/>
                </a:solidFill>
                <a:latin typeface="Consolas"/>
              </a:rPr>
              <a:t>k</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E8EDF2"/>
                </a:solidFill>
                <a:latin typeface="Consolas"/>
              </a:rPr>
              <a:t>chart</a:t>
            </a:r>
            <a:r>
              <a:rPr sz="1300" i="0">
                <a:solidFill>
                  <a:srgbClr val="E8EDF2"/>
                </a:solidFill>
                <a:latin typeface="Consolas"/>
              </a:rPr>
              <a:t> </a:t>
            </a:r>
            <a:r>
              <a:rPr sz="1300" i="0">
                <a:solidFill>
                  <a:srgbClr val="5DADE2"/>
                </a:solidFill>
                <a:latin typeface="Consolas"/>
              </a:rPr>
              <a:t>if</a:t>
            </a:r>
            <a:r>
              <a:rPr sz="1300" i="0">
                <a:solidFill>
                  <a:srgbClr val="E8EDF2"/>
                </a:solidFill>
                <a:latin typeface="Consolas"/>
              </a:rPr>
              <a:t> </a:t>
            </a:r>
            <a:r>
              <a:rPr sz="1300" i="0">
                <a:solidFill>
                  <a:srgbClr val="E8EDF2"/>
                </a:solidFill>
                <a:latin typeface="Consolas"/>
              </a:rPr>
              <a:t>chart</a:t>
            </a:r>
            <a:r>
              <a:rPr sz="1300" i="0">
                <a:solidFill>
                  <a:srgbClr val="AEB6BF"/>
                </a:solidFill>
                <a:latin typeface="Consolas"/>
              </a:rPr>
              <a:t>[</a:t>
            </a:r>
            <a:r>
              <a:rPr sz="1300" i="0">
                <a:solidFill>
                  <a:srgbClr val="E8EDF2"/>
                </a:solidFill>
                <a:latin typeface="Consolas"/>
              </a:rPr>
              <a:t>k</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total</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C39BD3"/>
                </a:solidFill>
                <a:latin typeface="Consolas"/>
              </a:rPr>
              <a:t>len</a:t>
            </a:r>
            <a:r>
              <a:rPr sz="1300" i="0">
                <a:solidFill>
                  <a:srgbClr val="AEB6BF"/>
                </a:solidFill>
                <a:latin typeface="Consolas"/>
              </a:rPr>
              <a:t>(</a:t>
            </a:r>
            <a:r>
              <a:rPr sz="1300" i="0">
                <a:solidFill>
                  <a:srgbClr val="E8EDF2"/>
                </a:solidFill>
                <a:latin typeface="Consolas"/>
              </a:rPr>
              <a:t>words</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C39BD3"/>
                </a:solidFill>
                <a:latin typeface="Consolas"/>
              </a:rPr>
              <a:t>len</a:t>
            </a:r>
            <a:r>
              <a:rPr sz="1300" i="0">
                <a:solidFill>
                  <a:srgbClr val="AEB6BF"/>
                </a:solidFill>
                <a:latin typeface="Consolas"/>
              </a:rPr>
              <a:t>(</a:t>
            </a:r>
            <a:r>
              <a:rPr sz="1300" i="0">
                <a:solidFill>
                  <a:srgbClr val="E8EDF2"/>
                </a:solidFill>
                <a:latin typeface="Consolas"/>
              </a:rPr>
              <a:t>words</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1</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2</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   </a:t>
            </a:r>
            <a:r>
              <a:rPr sz="1300" i="0">
                <a:solidFill>
                  <a:srgbClr val="7DCEA0"/>
                </a:solidFill>
                <a:latin typeface="Consolas"/>
              </a:rPr>
              <a:t>%d</a:t>
            </a:r>
            <a:r>
              <a:rPr sz="1300" i="0">
                <a:solidFill>
                  <a:srgbClr val="7DCEA0"/>
                </a:solidFill>
                <a:latin typeface="Consolas"/>
              </a:rPr>
              <a:t> words -&gt; </a:t>
            </a:r>
            <a:r>
              <a:rPr sz="1300" i="0">
                <a:solidFill>
                  <a:srgbClr val="7DCEA0"/>
                </a:solidFill>
                <a:latin typeface="Consolas"/>
              </a:rPr>
              <a:t>%d</a:t>
            </a:r>
            <a:r>
              <a:rPr sz="1300" i="0">
                <a:solidFill>
                  <a:srgbClr val="7DCEA0"/>
                </a:solidFill>
                <a:latin typeface="Consolas"/>
              </a:rPr>
              <a:t> cells, </a:t>
            </a:r>
            <a:r>
              <a:rPr sz="1300" i="0">
                <a:solidFill>
                  <a:srgbClr val="7DCEA0"/>
                </a:solidFill>
                <a:latin typeface="Consolas"/>
              </a:rPr>
              <a:t>%d</a:t>
            </a:r>
            <a:r>
              <a:rPr sz="1300" i="0">
                <a:solidFill>
                  <a:srgbClr val="7DCEA0"/>
                </a:solidFill>
                <a:latin typeface="Consolas"/>
              </a:rPr>
              <a:t> of them non-empty</a:t>
            </a:r>
            <a:r>
              <a:rPr sz="1300" i="0">
                <a:solidFill>
                  <a:srgbClr val="7DCEA0"/>
                </a:solidFill>
                <a:latin typeface="Consolas"/>
              </a:rPr>
              <a:t>"</a:t>
            </a:r>
          </a:p>
          <a:p>
            <a:pPr>
              <a:lnSpc>
                <a:spcPct val="100000"/>
              </a:lnSpc>
              <a:spcAft>
                <a:spcPts val="0"/>
              </a:spcAft>
            </a:pP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C39BD3"/>
                </a:solidFill>
                <a:latin typeface="Consolas"/>
              </a:rPr>
              <a:t>len</a:t>
            </a:r>
            <a:r>
              <a:rPr sz="1300" i="0">
                <a:solidFill>
                  <a:srgbClr val="AEB6BF"/>
                </a:solidFill>
                <a:latin typeface="Consolas"/>
              </a:rPr>
              <a:t>(</a:t>
            </a:r>
            <a:r>
              <a:rPr sz="1300" i="0">
                <a:solidFill>
                  <a:srgbClr val="E8EDF2"/>
                </a:solidFill>
                <a:latin typeface="Consolas"/>
              </a:rPr>
              <a:t>words</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total</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cells</a:t>
            </a:r>
            <a:r>
              <a:rPr sz="1300" i="0">
                <a:solidFill>
                  <a:srgbClr val="AEB6BF"/>
                </a:solidFill>
                <a:latin typeface="Consolas"/>
              </a:rPr>
              <a:t>)</a:t>
            </a:r>
            <a:r>
              <a:rPr sz="1300" i="0">
                <a:solidFill>
                  <a:srgbClr val="AEB6BF"/>
                </a:solidFill>
                <a:latin typeface="Consolas"/>
              </a:rPr>
              <a:t>)</a:t>
            </a:r>
          </a:p>
        </p:txBody>
      </p:sp>
      <p:sp>
        <p:nvSpPr>
          <p:cNvPr id="15" name="!!code-num"/>
          <p:cNvSpPr txBox="1"/>
          <p:nvPr/>
        </p:nvSpPr>
        <p:spPr>
          <a:xfrm>
            <a:off x="768096" y="2523744"/>
            <a:ext cx="393192" cy="3675887"/>
          </a:xfrm>
          <a:prstGeom prst="rect">
            <a:avLst/>
          </a:prstGeom>
          <a:noFill/>
        </p:spPr>
        <p:txBody>
          <a:bodyPr wrap="none" anchor="t" lIns="0" rIns="0" tIns="0" bIns="0">
            <a:noAutofit/>
          </a:bodyPr>
          <a:lstStyle/>
          <a:p>
            <a:pPr algn="r">
              <a:lnSpc>
                <a:spcPct val="100000"/>
              </a:lnSpc>
            </a:pPr>
            <a:r>
              <a:rPr sz="1300">
                <a:solidFill>
                  <a:srgbClr val="4F5D6A"/>
                </a:solidFill>
                <a:latin typeface="Consolas"/>
              </a:rPr>
              <a:t>176</a:t>
            </a:r>
          </a:p>
          <a:p>
            <a:pPr algn="r">
              <a:lnSpc>
                <a:spcPct val="100000"/>
              </a:lnSpc>
            </a:pPr>
            <a:r>
              <a:rPr sz="1300">
                <a:solidFill>
                  <a:srgbClr val="4F5D6A"/>
                </a:solidFill>
                <a:latin typeface="Consolas"/>
              </a:rPr>
              <a:t>177</a:t>
            </a:r>
          </a:p>
          <a:p>
            <a:pPr algn="r">
              <a:lnSpc>
                <a:spcPct val="100000"/>
              </a:lnSpc>
            </a:pPr>
            <a:r>
              <a:rPr sz="1300">
                <a:solidFill>
                  <a:srgbClr val="4F5D6A"/>
                </a:solidFill>
                <a:latin typeface="Consolas"/>
              </a:rPr>
              <a:t>178</a:t>
            </a:r>
          </a:p>
          <a:p>
            <a:pPr algn="r">
              <a:lnSpc>
                <a:spcPct val="100000"/>
              </a:lnSpc>
            </a:pPr>
            <a:r>
              <a:rPr sz="1300">
                <a:solidFill>
                  <a:srgbClr val="4F5D6A"/>
                </a:solidFill>
                <a:latin typeface="Consolas"/>
              </a:rPr>
              <a:t>179</a:t>
            </a:r>
          </a:p>
          <a:p>
            <a:pPr algn="r">
              <a:lnSpc>
                <a:spcPct val="100000"/>
              </a:lnSpc>
            </a:pPr>
            <a:r>
              <a:rPr sz="1300">
                <a:solidFill>
                  <a:srgbClr val="4F5D6A"/>
                </a:solidFill>
                <a:latin typeface="Consolas"/>
              </a:rPr>
              <a:t>180</a:t>
            </a:r>
          </a:p>
          <a:p>
            <a:pPr algn="r">
              <a:lnSpc>
                <a:spcPct val="100000"/>
              </a:lnSpc>
            </a:pPr>
            <a:r>
              <a:rPr sz="1300">
                <a:solidFill>
                  <a:srgbClr val="4F5D6A"/>
                </a:solidFill>
                <a:latin typeface="Consolas"/>
              </a:rPr>
              <a:t>181</a:t>
            </a:r>
          </a:p>
          <a:p>
            <a:pPr algn="r">
              <a:lnSpc>
                <a:spcPct val="100000"/>
              </a:lnSpc>
            </a:pPr>
            <a:r>
              <a:rPr sz="1300">
                <a:solidFill>
                  <a:srgbClr val="4F5D6A"/>
                </a:solidFill>
                <a:latin typeface="Consolas"/>
              </a:rPr>
              <a:t>182</a:t>
            </a:r>
          </a:p>
          <a:p>
            <a:pPr algn="r">
              <a:lnSpc>
                <a:spcPct val="100000"/>
              </a:lnSpc>
            </a:pPr>
            <a:r>
              <a:rPr sz="1300">
                <a:solidFill>
                  <a:srgbClr val="4F5D6A"/>
                </a:solidFill>
                <a:latin typeface="Consolas"/>
              </a:rPr>
              <a:t>183</a:t>
            </a:r>
          </a:p>
          <a:p>
            <a:pPr algn="r">
              <a:lnSpc>
                <a:spcPct val="100000"/>
              </a:lnSpc>
            </a:pPr>
            <a:r>
              <a:rPr sz="1300">
                <a:solidFill>
                  <a:srgbClr val="4F5D6A"/>
                </a:solidFill>
                <a:latin typeface="Consolas"/>
              </a:rPr>
              <a:t>184</a:t>
            </a:r>
          </a:p>
          <a:p>
            <a:pPr algn="r">
              <a:lnSpc>
                <a:spcPct val="100000"/>
              </a:lnSpc>
            </a:pPr>
            <a:r>
              <a:rPr sz="1300">
                <a:solidFill>
                  <a:srgbClr val="4F5D6A"/>
                </a:solidFill>
                <a:latin typeface="Consolas"/>
              </a:rPr>
              <a:t>185</a:t>
            </a:r>
          </a:p>
          <a:p>
            <a:pPr algn="r">
              <a:lnSpc>
                <a:spcPct val="100000"/>
              </a:lnSpc>
            </a:pPr>
            <a:r>
              <a:rPr sz="1300">
                <a:solidFill>
                  <a:srgbClr val="4F5D6A"/>
                </a:solidFill>
                <a:latin typeface="Consolas"/>
              </a:rPr>
              <a:t>186</a:t>
            </a:r>
          </a:p>
          <a:p>
            <a:pPr algn="r">
              <a:lnSpc>
                <a:spcPct val="100000"/>
              </a:lnSpc>
            </a:pPr>
            <a:r>
              <a:rPr sz="1300">
                <a:solidFill>
                  <a:srgbClr val="4F5D6A"/>
                </a:solidFill>
                <a:latin typeface="Consolas"/>
              </a:rPr>
              <a:t>187</a:t>
            </a:r>
          </a:p>
          <a:p>
            <a:pPr algn="r">
              <a:lnSpc>
                <a:spcPct val="100000"/>
              </a:lnSpc>
            </a:pPr>
            <a:r>
              <a:rPr sz="1300">
                <a:solidFill>
                  <a:srgbClr val="4F5D6A"/>
                </a:solidFill>
                <a:latin typeface="Consolas"/>
              </a:rPr>
              <a:t>188</a:t>
            </a:r>
          </a:p>
          <a:p>
            <a:pPr algn="r">
              <a:lnSpc>
                <a:spcPct val="100000"/>
              </a:lnSpc>
            </a:pPr>
            <a:r>
              <a:rPr sz="1300">
                <a:solidFill>
                  <a:srgbClr val="4F5D6A"/>
                </a:solidFill>
                <a:latin typeface="Consolas"/>
              </a:rPr>
              <a:t>189</a:t>
            </a:r>
          </a:p>
          <a:p>
            <a:pPr algn="r">
              <a:lnSpc>
                <a:spcPct val="100000"/>
              </a:lnSpc>
            </a:pPr>
            <a:r>
              <a:rPr sz="1300">
                <a:solidFill>
                  <a:srgbClr val="4F5D6A"/>
                </a:solidFill>
                <a:latin typeface="Consolas"/>
              </a:rPr>
              <a:t>190</a:t>
            </a:r>
          </a:p>
          <a:p>
            <a:pPr algn="r">
              <a:lnSpc>
                <a:spcPct val="100000"/>
              </a:lnSpc>
            </a:pPr>
            <a:r>
              <a:rPr sz="1300">
                <a:solidFill>
                  <a:srgbClr val="4F5D6A"/>
                </a:solidFill>
                <a:latin typeface="Consolas"/>
              </a:rPr>
              <a:t>191</a:t>
            </a:r>
          </a:p>
          <a:p>
            <a:pPr algn="r">
              <a:lnSpc>
                <a:spcPct val="100000"/>
              </a:lnSpc>
            </a:pPr>
            <a:r>
              <a:rPr sz="1300">
                <a:solidFill>
                  <a:srgbClr val="4F5D6A"/>
                </a:solidFill>
                <a:latin typeface="Consolas"/>
              </a:rPr>
              <a:t>192</a:t>
            </a:r>
          </a:p>
          <a:p>
            <a:pPr algn="r">
              <a:lnSpc>
                <a:spcPct val="100000"/>
              </a:lnSpc>
            </a:pPr>
            <a:r>
              <a:rPr sz="1300">
                <a:solidFill>
                  <a:srgbClr val="4F5D6A"/>
                </a:solidFill>
                <a:latin typeface="Consolas"/>
              </a:rPr>
              <a:t>193</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971493"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Parsing Ticket Subjects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13 OF 15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18  ·  Natural Language Processing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§18.7  ·  Handout p. 190     </a:t>
            </a:r>
            <a:fld id="{2D59E495-45B1-4163-8222-43888FFC3DDE}" type="slidenum">
              <a:rPr lang="en-GB" sz="1000">
                <a:solidFill>
                  <a:srgbClr val="8795A1"/>
                </a:solidFill>
                <a:latin typeface="Segoe UI"/>
              </a:rPr>
              <a:t>35</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A bigram model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17264"/>
          </a:xfrm>
          <a:prstGeom prst="roundRect">
            <a:avLst>
              <a:gd name="adj" fmla="val 227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code/ch18_parsing_ticket.py</a:t>
            </a:r>
          </a:p>
        </p:txBody>
      </p:sp>
      <p:sp>
        <p:nvSpPr>
          <p:cNvPr id="14" name="!!code-text" descr="print() print(&quot;=== Eliza ===&quot;) for line in (&quot;I am worried about the release&quot;, &quot;my deploy keeps failing&quot;, &quot;because the config is wrong&quot;, &quot;I can't reproduce it&quot;, &quot;the gateway is broken&quot;, &quot;no idea what is happening&quot;): print(&quot; &gt; %-34s %s&quot; % (line, eliza(line))) print() print(&quot; Pattern matching and pronoun swapping. No grammar, no&quot;) print(&quot; representation of the conversation, no model of&quot;) print(&quot; anything -- and it reads as though it is listening.&quot;) assert eliza(&quot;something unmatched entirely&quot;) == FALLBACK"/>
          <p:cNvSpPr txBox="1"/>
          <p:nvPr/>
        </p:nvSpPr>
        <p:spPr>
          <a:xfrm>
            <a:off x="1362456" y="2523744"/>
            <a:ext cx="9987991" cy="3523487"/>
          </a:xfrm>
          <a:prstGeom prst="rect">
            <a:avLst/>
          </a:prstGeom>
          <a:noFill/>
        </p:spPr>
        <p:txBody>
          <a:bodyPr wrap="none" anchor="t" lIns="0" rIns="0" tIns="0" bIns="0">
            <a:noAutofit/>
          </a:bodyPr>
          <a:lstStyle/>
          <a:p>
            <a:pPr>
              <a:lnSpc>
                <a:spcPct val="100000"/>
              </a:lnSpc>
              <a:spcAft>
                <a:spcPts val="0"/>
              </a:spcAft>
            </a:pPr>
            <a:r>
              <a:rPr sz="1600" i="0">
                <a:solidFill>
                  <a:srgbClr val="E8EDF2"/>
                </a:solidFill>
                <a:latin typeface="Consolas"/>
              </a:rPr>
              <a:t>    </a:t>
            </a:r>
            <a:r>
              <a:rPr sz="1600" i="0">
                <a:solidFill>
                  <a:srgbClr val="C39BD3"/>
                </a:solidFill>
                <a:latin typeface="Consolas"/>
              </a:rPr>
              <a:t>print</a:t>
            </a:r>
            <a:r>
              <a:rPr sz="1600" i="0">
                <a:solidFill>
                  <a:srgbClr val="AEB6BF"/>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C39BD3"/>
                </a:solidFill>
                <a:latin typeface="Consolas"/>
              </a:rPr>
              <a:t>print</a:t>
            </a:r>
            <a:r>
              <a:rPr sz="1600" i="0">
                <a:solidFill>
                  <a:srgbClr val="AEB6BF"/>
                </a:solidFill>
                <a:latin typeface="Consolas"/>
              </a:rPr>
              <a:t>(</a:t>
            </a:r>
            <a:r>
              <a:rPr sz="1600" i="0">
                <a:solidFill>
                  <a:srgbClr val="7DCEA0"/>
                </a:solidFill>
                <a:latin typeface="Consolas"/>
              </a:rPr>
              <a:t>"</a:t>
            </a:r>
            <a:r>
              <a:rPr sz="1600" i="0">
                <a:solidFill>
                  <a:srgbClr val="7DCEA0"/>
                </a:solidFill>
                <a:latin typeface="Consolas"/>
              </a:rPr>
              <a:t>=== Eliza ===</a:t>
            </a:r>
            <a:r>
              <a:rPr sz="1600" i="0">
                <a:solidFill>
                  <a:srgbClr val="7DCEA0"/>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5DADE2"/>
                </a:solidFill>
                <a:latin typeface="Consolas"/>
              </a:rPr>
              <a:t>for</a:t>
            </a:r>
            <a:r>
              <a:rPr sz="1600" i="0">
                <a:solidFill>
                  <a:srgbClr val="E8EDF2"/>
                </a:solidFill>
                <a:latin typeface="Consolas"/>
              </a:rPr>
              <a:t> </a:t>
            </a:r>
            <a:r>
              <a:rPr sz="1600" i="0">
                <a:solidFill>
                  <a:srgbClr val="E8EDF2"/>
                </a:solidFill>
                <a:latin typeface="Consolas"/>
              </a:rPr>
              <a:t>line</a:t>
            </a:r>
            <a:r>
              <a:rPr sz="1600" i="0">
                <a:solidFill>
                  <a:srgbClr val="E8EDF2"/>
                </a:solidFill>
                <a:latin typeface="Consolas"/>
              </a:rPr>
              <a:t> </a:t>
            </a:r>
            <a:r>
              <a:rPr sz="1600" i="0">
                <a:solidFill>
                  <a:srgbClr val="AEB6BF"/>
                </a:solidFill>
                <a:latin typeface="Consolas"/>
              </a:rPr>
              <a:t>in</a:t>
            </a:r>
            <a:r>
              <a:rPr sz="1600" i="0">
                <a:solidFill>
                  <a:srgbClr val="E8EDF2"/>
                </a:solidFill>
                <a:latin typeface="Consolas"/>
              </a:rPr>
              <a:t> </a:t>
            </a:r>
            <a:r>
              <a:rPr sz="1600" i="0">
                <a:solidFill>
                  <a:srgbClr val="AEB6BF"/>
                </a:solidFill>
                <a:latin typeface="Consolas"/>
              </a:rPr>
              <a:t>(</a:t>
            </a:r>
            <a:r>
              <a:rPr sz="1600" i="0">
                <a:solidFill>
                  <a:srgbClr val="7DCEA0"/>
                </a:solidFill>
                <a:latin typeface="Consolas"/>
              </a:rPr>
              <a:t>"</a:t>
            </a:r>
            <a:r>
              <a:rPr sz="1600" i="0">
                <a:solidFill>
                  <a:srgbClr val="7DCEA0"/>
                </a:solidFill>
                <a:latin typeface="Consolas"/>
              </a:rPr>
              <a:t>I am worried about the release</a:t>
            </a:r>
            <a:r>
              <a:rPr sz="1600" i="0">
                <a:solidFill>
                  <a:srgbClr val="7DCEA0"/>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my deploy keeps failing</a:t>
            </a:r>
            <a:r>
              <a:rPr sz="1600" i="0">
                <a:solidFill>
                  <a:srgbClr val="7DCEA0"/>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because the config is wrong</a:t>
            </a:r>
            <a:r>
              <a:rPr sz="1600" i="0">
                <a:solidFill>
                  <a:srgbClr val="7DCEA0"/>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I can</a:t>
            </a:r>
            <a:r>
              <a:rPr sz="1600" i="0">
                <a:solidFill>
                  <a:srgbClr val="7DCEA0"/>
                </a:solidFill>
                <a:latin typeface="Consolas"/>
              </a:rPr>
              <a:t>'</a:t>
            </a:r>
            <a:r>
              <a:rPr sz="1600" i="0">
                <a:solidFill>
                  <a:srgbClr val="7DCEA0"/>
                </a:solidFill>
                <a:latin typeface="Consolas"/>
              </a:rPr>
              <a:t>t reproduce it</a:t>
            </a:r>
            <a:r>
              <a:rPr sz="1600" i="0">
                <a:solidFill>
                  <a:srgbClr val="7DCEA0"/>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the gateway is broken</a:t>
            </a:r>
            <a:r>
              <a:rPr sz="1600" i="0">
                <a:solidFill>
                  <a:srgbClr val="7DCEA0"/>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no idea what is happening</a:t>
            </a:r>
            <a:r>
              <a:rPr sz="1600" i="0">
                <a:solidFill>
                  <a:srgbClr val="7DCEA0"/>
                </a:solidFill>
                <a:latin typeface="Consolas"/>
              </a:rPr>
              <a:t>"</a:t>
            </a:r>
            <a:r>
              <a:rPr sz="1600" i="0">
                <a:solidFill>
                  <a:srgbClr val="AEB6BF"/>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C39BD3"/>
                </a:solidFill>
                <a:latin typeface="Consolas"/>
              </a:rPr>
              <a:t>print</a:t>
            </a:r>
            <a:r>
              <a:rPr sz="1600" i="0">
                <a:solidFill>
                  <a:srgbClr val="AEB6BF"/>
                </a:solidFill>
                <a:latin typeface="Consolas"/>
              </a:rPr>
              <a:t>(</a:t>
            </a:r>
            <a:r>
              <a:rPr sz="1600" i="0">
                <a:solidFill>
                  <a:srgbClr val="7DCEA0"/>
                </a:solidFill>
                <a:latin typeface="Consolas"/>
              </a:rPr>
              <a:t>"</a:t>
            </a:r>
            <a:r>
              <a:rPr sz="1600" i="0">
                <a:solidFill>
                  <a:srgbClr val="7DCEA0"/>
                </a:solidFill>
                <a:latin typeface="Consolas"/>
              </a:rPr>
              <a:t>   &gt; </a:t>
            </a:r>
            <a:r>
              <a:rPr sz="1600" i="0">
                <a:solidFill>
                  <a:srgbClr val="7DCEA0"/>
                </a:solidFill>
                <a:latin typeface="Consolas"/>
              </a:rPr>
              <a:t>%-34s</a:t>
            </a:r>
            <a:r>
              <a:rPr sz="1600" i="0">
                <a:solidFill>
                  <a:srgbClr val="7DCEA0"/>
                </a:solidFill>
                <a:latin typeface="Consolas"/>
              </a:rPr>
              <a:t> </a:t>
            </a:r>
            <a:r>
              <a:rPr sz="1600" i="0">
                <a:solidFill>
                  <a:srgbClr val="7DCEA0"/>
                </a:solidFill>
                <a:latin typeface="Consolas"/>
              </a:rPr>
              <a:t>%s</a:t>
            </a:r>
            <a:r>
              <a:rPr sz="1600" i="0">
                <a:solidFill>
                  <a:srgbClr val="7DCEA0"/>
                </a:solidFill>
                <a:latin typeface="Consolas"/>
              </a:rPr>
              <a:t>"</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line</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eliza</a:t>
            </a:r>
            <a:r>
              <a:rPr sz="1600" i="0">
                <a:solidFill>
                  <a:srgbClr val="AEB6BF"/>
                </a:solidFill>
                <a:latin typeface="Consolas"/>
              </a:rPr>
              <a:t>(</a:t>
            </a:r>
            <a:r>
              <a:rPr sz="1600" i="0">
                <a:solidFill>
                  <a:srgbClr val="E8EDF2"/>
                </a:solidFill>
                <a:latin typeface="Consolas"/>
              </a:rPr>
              <a:t>line</a:t>
            </a:r>
            <a:r>
              <a:rPr sz="1600" i="0">
                <a:solidFill>
                  <a:srgbClr val="AEB6BF"/>
                </a:solidFill>
                <a:latin typeface="Consolas"/>
              </a:rPr>
              <a:t>)</a:t>
            </a:r>
            <a:r>
              <a:rPr sz="1600" i="0">
                <a:solidFill>
                  <a:srgbClr val="AEB6BF"/>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C39BD3"/>
                </a:solidFill>
                <a:latin typeface="Consolas"/>
              </a:rPr>
              <a:t>print</a:t>
            </a:r>
            <a:r>
              <a:rPr sz="1600" i="0">
                <a:solidFill>
                  <a:srgbClr val="AEB6BF"/>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C39BD3"/>
                </a:solidFill>
                <a:latin typeface="Consolas"/>
              </a:rPr>
              <a:t>print</a:t>
            </a:r>
            <a:r>
              <a:rPr sz="1600" i="0">
                <a:solidFill>
                  <a:srgbClr val="AEB6BF"/>
                </a:solidFill>
                <a:latin typeface="Consolas"/>
              </a:rPr>
              <a:t>(</a:t>
            </a:r>
            <a:r>
              <a:rPr sz="1600" i="0">
                <a:solidFill>
                  <a:srgbClr val="7DCEA0"/>
                </a:solidFill>
                <a:latin typeface="Consolas"/>
              </a:rPr>
              <a:t>"</a:t>
            </a:r>
            <a:r>
              <a:rPr sz="1600" i="0">
                <a:solidFill>
                  <a:srgbClr val="7DCEA0"/>
                </a:solidFill>
                <a:latin typeface="Consolas"/>
              </a:rPr>
              <a:t>   Pattern matching and pronoun swapping. No grammar, no</a:t>
            </a:r>
            <a:r>
              <a:rPr sz="1600" i="0">
                <a:solidFill>
                  <a:srgbClr val="7DCEA0"/>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C39BD3"/>
                </a:solidFill>
                <a:latin typeface="Consolas"/>
              </a:rPr>
              <a:t>print</a:t>
            </a:r>
            <a:r>
              <a:rPr sz="1600" i="0">
                <a:solidFill>
                  <a:srgbClr val="AEB6BF"/>
                </a:solidFill>
                <a:latin typeface="Consolas"/>
              </a:rPr>
              <a:t>(</a:t>
            </a:r>
            <a:r>
              <a:rPr sz="1600" i="0">
                <a:solidFill>
                  <a:srgbClr val="7DCEA0"/>
                </a:solidFill>
                <a:latin typeface="Consolas"/>
              </a:rPr>
              <a:t>"</a:t>
            </a:r>
            <a:r>
              <a:rPr sz="1600" i="0">
                <a:solidFill>
                  <a:srgbClr val="7DCEA0"/>
                </a:solidFill>
                <a:latin typeface="Consolas"/>
              </a:rPr>
              <a:t>   representation of the conversation, no model of</a:t>
            </a:r>
            <a:r>
              <a:rPr sz="1600" i="0">
                <a:solidFill>
                  <a:srgbClr val="7DCEA0"/>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C39BD3"/>
                </a:solidFill>
                <a:latin typeface="Consolas"/>
              </a:rPr>
              <a:t>print</a:t>
            </a:r>
            <a:r>
              <a:rPr sz="1600" i="0">
                <a:solidFill>
                  <a:srgbClr val="AEB6BF"/>
                </a:solidFill>
                <a:latin typeface="Consolas"/>
              </a:rPr>
              <a:t>(</a:t>
            </a:r>
            <a:r>
              <a:rPr sz="1600" i="0">
                <a:solidFill>
                  <a:srgbClr val="7DCEA0"/>
                </a:solidFill>
                <a:latin typeface="Consolas"/>
              </a:rPr>
              <a:t>"</a:t>
            </a:r>
            <a:r>
              <a:rPr sz="1600" i="0">
                <a:solidFill>
                  <a:srgbClr val="7DCEA0"/>
                </a:solidFill>
                <a:latin typeface="Consolas"/>
              </a:rPr>
              <a:t>   anything -- and it reads as though it is listening.</a:t>
            </a:r>
            <a:r>
              <a:rPr sz="1600" i="0">
                <a:solidFill>
                  <a:srgbClr val="7DCEA0"/>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5DADE2"/>
                </a:solidFill>
                <a:latin typeface="Consolas"/>
              </a:rPr>
              <a:t>assert</a:t>
            </a:r>
            <a:r>
              <a:rPr sz="1600" i="0">
                <a:solidFill>
                  <a:srgbClr val="E8EDF2"/>
                </a:solidFill>
                <a:latin typeface="Consolas"/>
              </a:rPr>
              <a:t> </a:t>
            </a:r>
            <a:r>
              <a:rPr sz="1600" i="0">
                <a:solidFill>
                  <a:srgbClr val="E8EDF2"/>
                </a:solidFill>
                <a:latin typeface="Consolas"/>
              </a:rPr>
              <a:t>eliza</a:t>
            </a:r>
            <a:r>
              <a:rPr sz="1600" i="0">
                <a:solidFill>
                  <a:srgbClr val="AEB6BF"/>
                </a:solidFill>
                <a:latin typeface="Consolas"/>
              </a:rPr>
              <a:t>(</a:t>
            </a:r>
            <a:r>
              <a:rPr sz="1600" i="0">
                <a:solidFill>
                  <a:srgbClr val="7DCEA0"/>
                </a:solidFill>
                <a:latin typeface="Consolas"/>
              </a:rPr>
              <a:t>"</a:t>
            </a:r>
            <a:r>
              <a:rPr sz="1600" i="0">
                <a:solidFill>
                  <a:srgbClr val="7DCEA0"/>
                </a:solidFill>
                <a:latin typeface="Consolas"/>
              </a:rPr>
              <a:t>something unmatched entirely</a:t>
            </a:r>
            <a:r>
              <a:rPr sz="1600" i="0">
                <a:solidFill>
                  <a:srgbClr val="7DCEA0"/>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FALLBACK</a:t>
            </a:r>
          </a:p>
        </p:txBody>
      </p:sp>
      <p:sp>
        <p:nvSpPr>
          <p:cNvPr id="15" name="!!code-num"/>
          <p:cNvSpPr txBox="1"/>
          <p:nvPr/>
        </p:nvSpPr>
        <p:spPr>
          <a:xfrm>
            <a:off x="768096" y="2523744"/>
            <a:ext cx="393192" cy="3523487"/>
          </a:xfrm>
          <a:prstGeom prst="rect">
            <a:avLst/>
          </a:prstGeom>
          <a:noFill/>
        </p:spPr>
        <p:txBody>
          <a:bodyPr wrap="none" anchor="t" lIns="0" rIns="0" tIns="0" bIns="0">
            <a:noAutofit/>
          </a:bodyPr>
          <a:lstStyle/>
          <a:p>
            <a:pPr algn="r">
              <a:lnSpc>
                <a:spcPct val="100000"/>
              </a:lnSpc>
            </a:pPr>
            <a:r>
              <a:rPr sz="1600">
                <a:solidFill>
                  <a:srgbClr val="4F5D6A"/>
                </a:solidFill>
                <a:latin typeface="Consolas"/>
              </a:rPr>
              <a:t>195</a:t>
            </a:r>
          </a:p>
          <a:p>
            <a:pPr algn="r">
              <a:lnSpc>
                <a:spcPct val="100000"/>
              </a:lnSpc>
            </a:pPr>
            <a:r>
              <a:rPr sz="1600">
                <a:solidFill>
                  <a:srgbClr val="4F5D6A"/>
                </a:solidFill>
                <a:latin typeface="Consolas"/>
              </a:rPr>
              <a:t>196</a:t>
            </a:r>
          </a:p>
          <a:p>
            <a:pPr algn="r">
              <a:lnSpc>
                <a:spcPct val="100000"/>
              </a:lnSpc>
            </a:pPr>
            <a:r>
              <a:rPr sz="1600">
                <a:solidFill>
                  <a:srgbClr val="4F5D6A"/>
                </a:solidFill>
                <a:latin typeface="Consolas"/>
              </a:rPr>
              <a:t>197</a:t>
            </a:r>
          </a:p>
          <a:p>
            <a:pPr algn="r">
              <a:lnSpc>
                <a:spcPct val="100000"/>
              </a:lnSpc>
            </a:pPr>
            <a:r>
              <a:rPr sz="1600">
                <a:solidFill>
                  <a:srgbClr val="4F5D6A"/>
                </a:solidFill>
                <a:latin typeface="Consolas"/>
              </a:rPr>
              <a:t>198</a:t>
            </a:r>
          </a:p>
          <a:p>
            <a:pPr algn="r">
              <a:lnSpc>
                <a:spcPct val="100000"/>
              </a:lnSpc>
            </a:pPr>
            <a:r>
              <a:rPr sz="1600">
                <a:solidFill>
                  <a:srgbClr val="4F5D6A"/>
                </a:solidFill>
                <a:latin typeface="Consolas"/>
              </a:rPr>
              <a:t>199</a:t>
            </a:r>
          </a:p>
          <a:p>
            <a:pPr algn="r">
              <a:lnSpc>
                <a:spcPct val="100000"/>
              </a:lnSpc>
            </a:pPr>
            <a:r>
              <a:rPr sz="1600">
                <a:solidFill>
                  <a:srgbClr val="4F5D6A"/>
                </a:solidFill>
                <a:latin typeface="Consolas"/>
              </a:rPr>
              <a:t>200</a:t>
            </a:r>
          </a:p>
          <a:p>
            <a:pPr algn="r">
              <a:lnSpc>
                <a:spcPct val="100000"/>
              </a:lnSpc>
            </a:pPr>
            <a:r>
              <a:rPr sz="1600">
                <a:solidFill>
                  <a:srgbClr val="4F5D6A"/>
                </a:solidFill>
                <a:latin typeface="Consolas"/>
              </a:rPr>
              <a:t>201</a:t>
            </a:r>
          </a:p>
          <a:p>
            <a:pPr algn="r">
              <a:lnSpc>
                <a:spcPct val="100000"/>
              </a:lnSpc>
            </a:pPr>
            <a:r>
              <a:rPr sz="1600">
                <a:solidFill>
                  <a:srgbClr val="4F5D6A"/>
                </a:solidFill>
                <a:latin typeface="Consolas"/>
              </a:rPr>
              <a:t>202</a:t>
            </a:r>
          </a:p>
          <a:p>
            <a:pPr algn="r">
              <a:lnSpc>
                <a:spcPct val="100000"/>
              </a:lnSpc>
            </a:pPr>
            <a:r>
              <a:rPr sz="1600">
                <a:solidFill>
                  <a:srgbClr val="4F5D6A"/>
                </a:solidFill>
                <a:latin typeface="Consolas"/>
              </a:rPr>
              <a:t>203</a:t>
            </a:r>
          </a:p>
          <a:p>
            <a:pPr algn="r">
              <a:lnSpc>
                <a:spcPct val="100000"/>
              </a:lnSpc>
            </a:pPr>
            <a:r>
              <a:rPr sz="1600">
                <a:solidFill>
                  <a:srgbClr val="4F5D6A"/>
                </a:solidFill>
                <a:latin typeface="Consolas"/>
              </a:rPr>
              <a:t>204</a:t>
            </a:r>
          </a:p>
          <a:p>
            <a:pPr algn="r">
              <a:lnSpc>
                <a:spcPct val="100000"/>
              </a:lnSpc>
            </a:pPr>
            <a:r>
              <a:rPr sz="1600">
                <a:solidFill>
                  <a:srgbClr val="4F5D6A"/>
                </a:solidFill>
                <a:latin typeface="Consolas"/>
              </a:rPr>
              <a:t>205</a:t>
            </a:r>
          </a:p>
          <a:p>
            <a:pPr algn="r">
              <a:lnSpc>
                <a:spcPct val="100000"/>
              </a:lnSpc>
            </a:pPr>
            <a:r>
              <a:rPr sz="1600">
                <a:solidFill>
                  <a:srgbClr val="4F5D6A"/>
                </a:solidFill>
                <a:latin typeface="Consolas"/>
              </a:rPr>
              <a:t>206</a:t>
            </a:r>
          </a:p>
          <a:p>
            <a:pPr algn="r">
              <a:lnSpc>
                <a:spcPct val="100000"/>
              </a:lnSpc>
            </a:pPr>
            <a:r>
              <a:rPr sz="1600">
                <a:solidFill>
                  <a:srgbClr val="4F5D6A"/>
                </a:solidFill>
                <a:latin typeface="Consolas"/>
              </a:rPr>
              <a:t>207</a:t>
            </a:r>
          </a:p>
          <a:p>
            <a:pPr algn="r">
              <a:lnSpc>
                <a:spcPct val="100000"/>
              </a:lnSpc>
            </a:pPr>
            <a:r>
              <a:rPr sz="1600">
                <a:solidFill>
                  <a:srgbClr val="4F5D6A"/>
                </a:solidFill>
                <a:latin typeface="Consolas"/>
              </a:rPr>
              <a:t>208</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205948"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Parsing Ticket Subjects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14 OF 15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18  ·  Natural Language Processing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§18.7  ·  Handout p. 190     </a:t>
            </a:r>
            <a:fld id="{691561F8-6FFF-40FB-A8BC-00BDEE6AECB9}" type="slidenum">
              <a:rPr lang="en-GB" sz="1000">
                <a:solidFill>
                  <a:srgbClr val="8795A1"/>
                </a:solidFill>
                <a:latin typeface="Segoe UI"/>
              </a:rPr>
              <a:t>36</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A bigram model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2340863"/>
          </a:xfrm>
          <a:prstGeom prst="roundRect">
            <a:avLst>
              <a:gd name="adj" fmla="val 390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code/ch18_parsing_ticket.py</a:t>
            </a:r>
          </a:p>
        </p:txBody>
      </p:sp>
      <p:sp>
        <p:nvSpPr>
          <p:cNvPr id="14" name="!!code-text" descr="print() print(&quot;=== a bigram model ===&quot;) bg = bigrams(CORPUS) for w in (&quot;&lt;s&gt;&quot;, &quot;restart&quot;, &quot;the&quot;, &quot;login&quot;): print(&quot; after %-10s -&gt; %s&quot; % (w, &quot;, &quot;.join(&quot;%s %.2f&quot; % t for t in suggest(bg, w))))"/>
          <p:cNvSpPr txBox="1"/>
          <p:nvPr/>
        </p:nvSpPr>
        <p:spPr>
          <a:xfrm>
            <a:off x="1362456" y="2523744"/>
            <a:ext cx="9987991" cy="1847087"/>
          </a:xfrm>
          <a:prstGeom prst="rect">
            <a:avLst/>
          </a:prstGeom>
          <a:noFill/>
        </p:spPr>
        <p:txBody>
          <a:bodyPr wrap="none" anchor="t" lIns="0" rIns="0" tIns="0" bIns="0">
            <a:noAutofit/>
          </a:bodyPr>
          <a:lstStyle/>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 a bigram model ===</a:t>
            </a:r>
            <a:r>
              <a:rPr sz="1900" i="0">
                <a:solidFill>
                  <a:srgbClr val="7DCEA0"/>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E8EDF2"/>
                </a:solidFill>
                <a:latin typeface="Consolas"/>
              </a:rPr>
              <a:t>bg</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bigrams</a:t>
            </a:r>
            <a:r>
              <a:rPr sz="1900" i="0">
                <a:solidFill>
                  <a:srgbClr val="AEB6BF"/>
                </a:solidFill>
                <a:latin typeface="Consolas"/>
              </a:rPr>
              <a:t>(</a:t>
            </a:r>
            <a:r>
              <a:rPr sz="1900" i="0">
                <a:solidFill>
                  <a:srgbClr val="E8EDF2"/>
                </a:solidFill>
                <a:latin typeface="Consolas"/>
              </a:rPr>
              <a:t>CORPUS</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5DADE2"/>
                </a:solidFill>
                <a:latin typeface="Consolas"/>
              </a:rPr>
              <a:t>for</a:t>
            </a:r>
            <a:r>
              <a:rPr sz="1900" i="0">
                <a:solidFill>
                  <a:srgbClr val="E8EDF2"/>
                </a:solidFill>
                <a:latin typeface="Consolas"/>
              </a:rPr>
              <a:t> </a:t>
            </a:r>
            <a:r>
              <a:rPr sz="1900" i="0">
                <a:solidFill>
                  <a:srgbClr val="E8EDF2"/>
                </a:solidFill>
                <a:latin typeface="Consolas"/>
              </a:rPr>
              <a:t>w</a:t>
            </a:r>
            <a:r>
              <a:rPr sz="1900" i="0">
                <a:solidFill>
                  <a:srgbClr val="E8EDF2"/>
                </a:solidFill>
                <a:latin typeface="Consolas"/>
              </a:rPr>
              <a:t> </a:t>
            </a:r>
            <a:r>
              <a:rPr sz="1900" i="0">
                <a:solidFill>
                  <a:srgbClr val="AEB6BF"/>
                </a:solidFill>
                <a:latin typeface="Consolas"/>
              </a:rPr>
              <a:t>in</a:t>
            </a:r>
            <a:r>
              <a:rPr sz="1900" i="0">
                <a:solidFill>
                  <a:srgbClr val="E8EDF2"/>
                </a:solidFill>
                <a:latin typeface="Consolas"/>
              </a:rPr>
              <a:t> </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&lt;s&gt;</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restart</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the</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login</a:t>
            </a:r>
            <a:r>
              <a:rPr sz="1900" i="0">
                <a:solidFill>
                  <a:srgbClr val="7DCEA0"/>
                </a:solidFill>
                <a:latin typeface="Consolas"/>
              </a:rPr>
              <a:t>"</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   after </a:t>
            </a:r>
            <a:r>
              <a:rPr sz="1900" i="0">
                <a:solidFill>
                  <a:srgbClr val="7DCEA0"/>
                </a:solidFill>
                <a:latin typeface="Consolas"/>
              </a:rPr>
              <a:t>%-10s</a:t>
            </a:r>
            <a:r>
              <a:rPr sz="1900" i="0">
                <a:solidFill>
                  <a:srgbClr val="7DCEA0"/>
                </a:solidFill>
                <a:latin typeface="Consolas"/>
              </a:rPr>
              <a:t> -&gt; </a:t>
            </a:r>
            <a:r>
              <a:rPr sz="1900" i="0">
                <a:solidFill>
                  <a:srgbClr val="7DCEA0"/>
                </a:solidFill>
                <a:latin typeface="Consolas"/>
              </a:rPr>
              <a:t>%s</a:t>
            </a:r>
            <a:r>
              <a:rPr sz="1900" i="0">
                <a:solidFill>
                  <a:srgbClr val="7DCEA0"/>
                </a:solidFill>
                <a:latin typeface="Consolas"/>
              </a:rPr>
              <a:t>"</a:t>
            </a:r>
          </a:p>
          <a:p>
            <a:pPr>
              <a:lnSpc>
                <a:spcPct val="100000"/>
              </a:lnSpc>
              <a:spcAft>
                <a:spcPts val="0"/>
              </a:spcAft>
            </a:pP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w</a:t>
            </a:r>
            <a:r>
              <a:rPr sz="1900" i="0">
                <a:solidFill>
                  <a:srgbClr val="AEB6BF"/>
                </a:solidFill>
                <a:latin typeface="Consolas"/>
              </a:rPr>
              <a:t>,</a:t>
            </a: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 </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join</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%s</a:t>
            </a:r>
            <a:r>
              <a:rPr sz="1900" i="0">
                <a:solidFill>
                  <a:srgbClr val="7DCEA0"/>
                </a:solidFill>
                <a:latin typeface="Consolas"/>
              </a:rPr>
              <a:t> </a:t>
            </a:r>
            <a:r>
              <a:rPr sz="1900" i="0">
                <a:solidFill>
                  <a:srgbClr val="7DCEA0"/>
                </a:solidFill>
                <a:latin typeface="Consolas"/>
              </a:rPr>
              <a:t>%.2f</a:t>
            </a:r>
            <a:r>
              <a:rPr sz="1900" i="0">
                <a:solidFill>
                  <a:srgbClr val="7DCEA0"/>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t</a:t>
            </a:r>
            <a:r>
              <a:rPr sz="1900" i="0">
                <a:solidFill>
                  <a:srgbClr val="E8EDF2"/>
                </a:solidFill>
                <a:latin typeface="Consolas"/>
              </a:rPr>
              <a:t> </a:t>
            </a:r>
            <a:r>
              <a:rPr sz="1900" i="0">
                <a:solidFill>
                  <a:srgbClr val="5DADE2"/>
                </a:solidFill>
                <a:latin typeface="Consolas"/>
              </a:rPr>
              <a:t>for</a:t>
            </a:r>
            <a:r>
              <a:rPr sz="1900" i="0">
                <a:solidFill>
                  <a:srgbClr val="E8EDF2"/>
                </a:solidFill>
                <a:latin typeface="Consolas"/>
              </a:rPr>
              <a:t> </a:t>
            </a:r>
            <a:r>
              <a:rPr sz="1900" i="0">
                <a:solidFill>
                  <a:srgbClr val="E8EDF2"/>
                </a:solidFill>
                <a:latin typeface="Consolas"/>
              </a:rPr>
              <a:t>t</a:t>
            </a:r>
            <a:r>
              <a:rPr sz="1900" i="0">
                <a:solidFill>
                  <a:srgbClr val="E8EDF2"/>
                </a:solidFill>
                <a:latin typeface="Consolas"/>
              </a:rPr>
              <a:t> </a:t>
            </a:r>
            <a:r>
              <a:rPr sz="1900" i="0">
                <a:solidFill>
                  <a:srgbClr val="AEB6BF"/>
                </a:solidFill>
                <a:latin typeface="Consolas"/>
              </a:rPr>
              <a:t>in</a:t>
            </a:r>
            <a:r>
              <a:rPr sz="1900" i="0">
                <a:solidFill>
                  <a:srgbClr val="E8EDF2"/>
                </a:solidFill>
                <a:latin typeface="Consolas"/>
              </a:rPr>
              <a:t> </a:t>
            </a:r>
            <a:r>
              <a:rPr sz="1900" i="0">
                <a:solidFill>
                  <a:srgbClr val="E8EDF2"/>
                </a:solidFill>
                <a:latin typeface="Consolas"/>
              </a:rPr>
              <a:t>suggest</a:t>
            </a:r>
            <a:r>
              <a:rPr sz="1900" i="0">
                <a:solidFill>
                  <a:srgbClr val="AEB6BF"/>
                </a:solidFill>
                <a:latin typeface="Consolas"/>
              </a:rPr>
              <a:t>(</a:t>
            </a:r>
            <a:r>
              <a:rPr sz="1900" i="0">
                <a:solidFill>
                  <a:srgbClr val="E8EDF2"/>
                </a:solidFill>
                <a:latin typeface="Consolas"/>
              </a:rPr>
              <a:t>bg</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w</a:t>
            </a:r>
            <a:r>
              <a:rPr sz="1900" i="0">
                <a:solidFill>
                  <a:srgbClr val="AEB6BF"/>
                </a:solidFill>
                <a:latin typeface="Consolas"/>
              </a:rPr>
              <a:t>)</a:t>
            </a:r>
            <a:r>
              <a:rPr sz="1900" i="0">
                <a:solidFill>
                  <a:srgbClr val="AEB6BF"/>
                </a:solidFill>
                <a:latin typeface="Consolas"/>
              </a:rPr>
              <a:t>)</a:t>
            </a:r>
            <a:r>
              <a:rPr sz="1900" i="0">
                <a:solidFill>
                  <a:srgbClr val="AEB6BF"/>
                </a:solidFill>
                <a:latin typeface="Consolas"/>
              </a:rPr>
              <a:t>)</a:t>
            </a:r>
            <a:r>
              <a:rPr sz="1900" i="0">
                <a:solidFill>
                  <a:srgbClr val="AEB6BF"/>
                </a:solidFill>
                <a:latin typeface="Consolas"/>
              </a:rPr>
              <a:t>)</a:t>
            </a:r>
          </a:p>
        </p:txBody>
      </p:sp>
      <p:sp>
        <p:nvSpPr>
          <p:cNvPr id="15" name="!!code-num"/>
          <p:cNvSpPr txBox="1"/>
          <p:nvPr/>
        </p:nvSpPr>
        <p:spPr>
          <a:xfrm>
            <a:off x="768096" y="2523744"/>
            <a:ext cx="393192" cy="1847087"/>
          </a:xfrm>
          <a:prstGeom prst="rect">
            <a:avLst/>
          </a:prstGeom>
          <a:noFill/>
        </p:spPr>
        <p:txBody>
          <a:bodyPr wrap="none" anchor="t" lIns="0" rIns="0" tIns="0" bIns="0">
            <a:noAutofit/>
          </a:bodyPr>
          <a:lstStyle/>
          <a:p>
            <a:pPr algn="r">
              <a:lnSpc>
                <a:spcPct val="100000"/>
              </a:lnSpc>
            </a:pPr>
            <a:r>
              <a:rPr sz="1900">
                <a:solidFill>
                  <a:srgbClr val="4F5D6A"/>
                </a:solidFill>
                <a:latin typeface="Consolas"/>
              </a:rPr>
              <a:t>210</a:t>
            </a:r>
          </a:p>
          <a:p>
            <a:pPr algn="r">
              <a:lnSpc>
                <a:spcPct val="100000"/>
              </a:lnSpc>
            </a:pPr>
            <a:r>
              <a:rPr sz="1900">
                <a:solidFill>
                  <a:srgbClr val="4F5D6A"/>
                </a:solidFill>
                <a:latin typeface="Consolas"/>
              </a:rPr>
              <a:t>211</a:t>
            </a:r>
          </a:p>
          <a:p>
            <a:pPr algn="r">
              <a:lnSpc>
                <a:spcPct val="100000"/>
              </a:lnSpc>
            </a:pPr>
            <a:r>
              <a:rPr sz="1900">
                <a:solidFill>
                  <a:srgbClr val="4F5D6A"/>
                </a:solidFill>
                <a:latin typeface="Consolas"/>
              </a:rPr>
              <a:t>212</a:t>
            </a:r>
          </a:p>
          <a:p>
            <a:pPr algn="r">
              <a:lnSpc>
                <a:spcPct val="100000"/>
              </a:lnSpc>
            </a:pPr>
            <a:r>
              <a:rPr sz="1900">
                <a:solidFill>
                  <a:srgbClr val="4F5D6A"/>
                </a:solidFill>
                <a:latin typeface="Consolas"/>
              </a:rPr>
              <a:t>213</a:t>
            </a:r>
          </a:p>
          <a:p>
            <a:pPr algn="r">
              <a:lnSpc>
                <a:spcPct val="100000"/>
              </a:lnSpc>
            </a:pPr>
            <a:r>
              <a:rPr sz="1900">
                <a:solidFill>
                  <a:srgbClr val="4F5D6A"/>
                </a:solidFill>
                <a:latin typeface="Consolas"/>
              </a:rPr>
              <a:t>214</a:t>
            </a:r>
          </a:p>
          <a:p>
            <a:pPr algn="r">
              <a:lnSpc>
                <a:spcPct val="100000"/>
              </a:lnSpc>
            </a:pPr>
            <a:r>
              <a:rPr sz="1900">
                <a:solidFill>
                  <a:srgbClr val="4F5D6A"/>
                </a:solidFill>
                <a:latin typeface="Consolas"/>
              </a:rPr>
              <a:t>215</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440404"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Parsing Ticket Subjects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15 OF 15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18  ·  Natural Language Processing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§18.7  ·  Handout p. 190     </a:t>
            </a:r>
            <a:fld id="{BD151C54-5FD5-4F95-9320-2486547F2749}" type="slidenum">
              <a:rPr lang="en-GB" sz="1000">
                <a:solidFill>
                  <a:srgbClr val="8795A1"/>
                </a:solidFill>
                <a:latin typeface="Segoe UI"/>
              </a:rPr>
              <a:t>37</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A bigram model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17264"/>
          </a:xfrm>
          <a:prstGeom prst="roundRect">
            <a:avLst>
              <a:gd name="adj" fmla="val 227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code/ch18_parsing_ticket.py</a:t>
            </a:r>
          </a:p>
        </p:txBody>
      </p:sp>
      <p:sp>
        <p:nvSpPr>
          <p:cNvPr id="14" name="!!code-text" descr="print() print(&quot;=== the limitation no corpus size removes ===&quot;) hard = (&quot;the server that the engineer who wrote the runbook &quot; &quot;maintained was restarted&quot;) toks = hard.split() print(&quot; '%s'&quot; % hard) print(&quot; 'was restarted' is at position %d; its subject 'server'&quot; % toks.index(&quot;was&quot;)) print(&quot; is at position %d -- %d words back.&quot; % (toks.index(&quot;server&quot;), toks.index(&quot;was&quot;) - toks.index(&quot;server&quot;))) print(&quot; No n-gram with a practical n connects them, and raising&quot;) print(&quot; n makes sparsity exponentially worse. A grammar has no&quot;) print(&quot; difficulty with it, because the dependency is structural.&quot;) assert toks.index(&quot;was&quot;) - toks.index(&quot;server&quot;) &gt;= 8"/>
          <p:cNvSpPr txBox="1"/>
          <p:nvPr/>
        </p:nvSpPr>
        <p:spPr>
          <a:xfrm>
            <a:off x="1362456" y="2523744"/>
            <a:ext cx="9987991" cy="3523487"/>
          </a:xfrm>
          <a:prstGeom prst="rect">
            <a:avLst/>
          </a:prstGeom>
          <a:noFill/>
        </p:spPr>
        <p:txBody>
          <a:bodyPr wrap="none" anchor="t" lIns="0" rIns="0" tIns="0" bIns="0">
            <a:noAutofit/>
          </a:bodyPr>
          <a:lstStyle/>
          <a:p>
            <a:pPr>
              <a:lnSpc>
                <a:spcPct val="100000"/>
              </a:lnSpc>
              <a:spcAft>
                <a:spcPts val="0"/>
              </a:spcAft>
            </a:pPr>
            <a:r>
              <a:rPr sz="1600" i="0">
                <a:solidFill>
                  <a:srgbClr val="E8EDF2"/>
                </a:solidFill>
                <a:latin typeface="Consolas"/>
              </a:rPr>
              <a:t>    </a:t>
            </a:r>
            <a:r>
              <a:rPr sz="1600" i="0">
                <a:solidFill>
                  <a:srgbClr val="C39BD3"/>
                </a:solidFill>
                <a:latin typeface="Consolas"/>
              </a:rPr>
              <a:t>print</a:t>
            </a:r>
            <a:r>
              <a:rPr sz="1600" i="0">
                <a:solidFill>
                  <a:srgbClr val="AEB6BF"/>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C39BD3"/>
                </a:solidFill>
                <a:latin typeface="Consolas"/>
              </a:rPr>
              <a:t>print</a:t>
            </a:r>
            <a:r>
              <a:rPr sz="1600" i="0">
                <a:solidFill>
                  <a:srgbClr val="AEB6BF"/>
                </a:solidFill>
                <a:latin typeface="Consolas"/>
              </a:rPr>
              <a:t>(</a:t>
            </a:r>
            <a:r>
              <a:rPr sz="1600" i="0">
                <a:solidFill>
                  <a:srgbClr val="7DCEA0"/>
                </a:solidFill>
                <a:latin typeface="Consolas"/>
              </a:rPr>
              <a:t>"</a:t>
            </a:r>
            <a:r>
              <a:rPr sz="1600" i="0">
                <a:solidFill>
                  <a:srgbClr val="7DCEA0"/>
                </a:solidFill>
                <a:latin typeface="Consolas"/>
              </a:rPr>
              <a:t>=== the limitation no corpus size removes ===</a:t>
            </a:r>
            <a:r>
              <a:rPr sz="1600" i="0">
                <a:solidFill>
                  <a:srgbClr val="7DCEA0"/>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E8EDF2"/>
                </a:solidFill>
                <a:latin typeface="Consolas"/>
              </a:rPr>
              <a:t>hard</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AEB6BF"/>
                </a:solidFill>
                <a:latin typeface="Consolas"/>
              </a:rPr>
              <a:t>(</a:t>
            </a:r>
            <a:r>
              <a:rPr sz="1600" i="0">
                <a:solidFill>
                  <a:srgbClr val="7DCEA0"/>
                </a:solidFill>
                <a:latin typeface="Consolas"/>
              </a:rPr>
              <a:t>"</a:t>
            </a:r>
            <a:r>
              <a:rPr sz="1600" i="0">
                <a:solidFill>
                  <a:srgbClr val="7DCEA0"/>
                </a:solidFill>
                <a:latin typeface="Consolas"/>
              </a:rPr>
              <a:t>the server that the engineer who wrote the runbook </a:t>
            </a:r>
            <a:r>
              <a:rPr sz="1600" i="0">
                <a:solidFill>
                  <a:srgbClr val="7DCEA0"/>
                </a:solidFill>
                <a:latin typeface="Consolas"/>
              </a:rPr>
              <a:t>"</a:t>
            </a:r>
          </a:p>
          <a:p>
            <a:pPr>
              <a:lnSpc>
                <a:spcPct val="100000"/>
              </a:lnSpc>
              <a:spcAft>
                <a:spcPts val="0"/>
              </a:spcAft>
            </a:pP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maintained was restarted</a:t>
            </a:r>
            <a:r>
              <a:rPr sz="1600" i="0">
                <a:solidFill>
                  <a:srgbClr val="7DCEA0"/>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E8EDF2"/>
                </a:solidFill>
                <a:latin typeface="Consolas"/>
              </a:rPr>
              <a:t>toks</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hard</a:t>
            </a:r>
            <a:r>
              <a:rPr sz="1600" i="0">
                <a:solidFill>
                  <a:srgbClr val="AEB6BF"/>
                </a:solidFill>
                <a:latin typeface="Consolas"/>
              </a:rPr>
              <a:t>.</a:t>
            </a:r>
            <a:r>
              <a:rPr sz="1600" i="0">
                <a:solidFill>
                  <a:srgbClr val="E8EDF2"/>
                </a:solidFill>
                <a:latin typeface="Consolas"/>
              </a:rPr>
              <a:t>split</a:t>
            </a:r>
            <a:r>
              <a:rPr sz="1600" i="0">
                <a:solidFill>
                  <a:srgbClr val="AEB6BF"/>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C39BD3"/>
                </a:solidFill>
                <a:latin typeface="Consolas"/>
              </a:rPr>
              <a:t>print</a:t>
            </a:r>
            <a:r>
              <a:rPr sz="1600" i="0">
                <a:solidFill>
                  <a:srgbClr val="AEB6BF"/>
                </a:solidFill>
                <a:latin typeface="Consolas"/>
              </a:rPr>
              <a:t>(</a:t>
            </a:r>
            <a:r>
              <a:rPr sz="1600" i="0">
                <a:solidFill>
                  <a:srgbClr val="7DCEA0"/>
                </a:solidFill>
                <a:latin typeface="Consolas"/>
              </a:rPr>
              <a:t>"</a:t>
            </a:r>
            <a:r>
              <a:rPr sz="1600" i="0">
                <a:solidFill>
                  <a:srgbClr val="7DCEA0"/>
                </a:solidFill>
                <a:latin typeface="Consolas"/>
              </a:rPr>
              <a:t>   </a:t>
            </a:r>
            <a:r>
              <a:rPr sz="1600" i="0">
                <a:solidFill>
                  <a:srgbClr val="7DCEA0"/>
                </a:solidFill>
                <a:latin typeface="Consolas"/>
              </a:rPr>
              <a:t>'</a:t>
            </a:r>
            <a:r>
              <a:rPr sz="1600" i="0">
                <a:solidFill>
                  <a:srgbClr val="7DCEA0"/>
                </a:solidFill>
                <a:latin typeface="Consolas"/>
              </a:rPr>
              <a:t>%s</a:t>
            </a:r>
            <a:r>
              <a:rPr sz="1600" i="0">
                <a:solidFill>
                  <a:srgbClr val="7DCEA0"/>
                </a:solidFill>
                <a:latin typeface="Consolas"/>
              </a:rPr>
              <a:t>'</a:t>
            </a:r>
            <a:r>
              <a:rPr sz="1600" i="0">
                <a:solidFill>
                  <a:srgbClr val="7DCEA0"/>
                </a:solidFill>
                <a:latin typeface="Consolas"/>
              </a:rPr>
              <a:t>"</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hard</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C39BD3"/>
                </a:solidFill>
                <a:latin typeface="Consolas"/>
              </a:rPr>
              <a:t>print</a:t>
            </a:r>
            <a:r>
              <a:rPr sz="1600" i="0">
                <a:solidFill>
                  <a:srgbClr val="AEB6BF"/>
                </a:solidFill>
                <a:latin typeface="Consolas"/>
              </a:rPr>
              <a:t>(</a:t>
            </a:r>
            <a:r>
              <a:rPr sz="1600" i="0">
                <a:solidFill>
                  <a:srgbClr val="7DCEA0"/>
                </a:solidFill>
                <a:latin typeface="Consolas"/>
              </a:rPr>
              <a:t>"</a:t>
            </a:r>
            <a:r>
              <a:rPr sz="1600" i="0">
                <a:solidFill>
                  <a:srgbClr val="7DCEA0"/>
                </a:solidFill>
                <a:latin typeface="Consolas"/>
              </a:rPr>
              <a:t>   </a:t>
            </a:r>
            <a:r>
              <a:rPr sz="1600" i="0">
                <a:solidFill>
                  <a:srgbClr val="7DCEA0"/>
                </a:solidFill>
                <a:latin typeface="Consolas"/>
              </a:rPr>
              <a:t>'</a:t>
            </a:r>
            <a:r>
              <a:rPr sz="1600" i="0">
                <a:solidFill>
                  <a:srgbClr val="7DCEA0"/>
                </a:solidFill>
                <a:latin typeface="Consolas"/>
              </a:rPr>
              <a:t>was restarted</a:t>
            </a:r>
            <a:r>
              <a:rPr sz="1600" i="0">
                <a:solidFill>
                  <a:srgbClr val="7DCEA0"/>
                </a:solidFill>
                <a:latin typeface="Consolas"/>
              </a:rPr>
              <a:t>'</a:t>
            </a:r>
            <a:r>
              <a:rPr sz="1600" i="0">
                <a:solidFill>
                  <a:srgbClr val="7DCEA0"/>
                </a:solidFill>
                <a:latin typeface="Consolas"/>
              </a:rPr>
              <a:t> is at position </a:t>
            </a:r>
            <a:r>
              <a:rPr sz="1600" i="0">
                <a:solidFill>
                  <a:srgbClr val="7DCEA0"/>
                </a:solidFill>
                <a:latin typeface="Consolas"/>
              </a:rPr>
              <a:t>%d</a:t>
            </a:r>
            <a:r>
              <a:rPr sz="1600" i="0">
                <a:solidFill>
                  <a:srgbClr val="7DCEA0"/>
                </a:solidFill>
                <a:latin typeface="Consolas"/>
              </a:rPr>
              <a:t>; its subject </a:t>
            </a:r>
            <a:r>
              <a:rPr sz="1600" i="0">
                <a:solidFill>
                  <a:srgbClr val="7DCEA0"/>
                </a:solidFill>
                <a:latin typeface="Consolas"/>
              </a:rPr>
              <a:t>'</a:t>
            </a:r>
            <a:r>
              <a:rPr sz="1600" i="0">
                <a:solidFill>
                  <a:srgbClr val="7DCEA0"/>
                </a:solidFill>
                <a:latin typeface="Consolas"/>
              </a:rPr>
              <a:t>server</a:t>
            </a:r>
            <a:r>
              <a:rPr sz="1600" i="0">
                <a:solidFill>
                  <a:srgbClr val="7DCEA0"/>
                </a:solidFill>
                <a:latin typeface="Consolas"/>
              </a:rPr>
              <a:t>'</a:t>
            </a:r>
            <a:r>
              <a:rPr sz="1600" i="0">
                <a:solidFill>
                  <a:srgbClr val="7DCEA0"/>
                </a:solidFill>
                <a:latin typeface="Consolas"/>
              </a:rPr>
              <a:t>"</a:t>
            </a:r>
          </a:p>
          <a:p>
            <a:pPr>
              <a:lnSpc>
                <a:spcPct val="100000"/>
              </a:lnSpc>
              <a:spcAft>
                <a:spcPts val="0"/>
              </a:spcAft>
            </a:pP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toks</a:t>
            </a:r>
            <a:r>
              <a:rPr sz="1600" i="0">
                <a:solidFill>
                  <a:srgbClr val="AEB6BF"/>
                </a:solidFill>
                <a:latin typeface="Consolas"/>
              </a:rPr>
              <a:t>.</a:t>
            </a:r>
            <a:r>
              <a:rPr sz="1600" i="0">
                <a:solidFill>
                  <a:srgbClr val="E8EDF2"/>
                </a:solidFill>
                <a:latin typeface="Consolas"/>
              </a:rPr>
              <a:t>index</a:t>
            </a:r>
            <a:r>
              <a:rPr sz="1600" i="0">
                <a:solidFill>
                  <a:srgbClr val="AEB6BF"/>
                </a:solidFill>
                <a:latin typeface="Consolas"/>
              </a:rPr>
              <a:t>(</a:t>
            </a:r>
            <a:r>
              <a:rPr sz="1600" i="0">
                <a:solidFill>
                  <a:srgbClr val="7DCEA0"/>
                </a:solidFill>
                <a:latin typeface="Consolas"/>
              </a:rPr>
              <a:t>"</a:t>
            </a:r>
            <a:r>
              <a:rPr sz="1600" i="0">
                <a:solidFill>
                  <a:srgbClr val="7DCEA0"/>
                </a:solidFill>
                <a:latin typeface="Consolas"/>
              </a:rPr>
              <a:t>was</a:t>
            </a:r>
            <a:r>
              <a:rPr sz="1600" i="0">
                <a:solidFill>
                  <a:srgbClr val="7DCEA0"/>
                </a:solidFill>
                <a:latin typeface="Consolas"/>
              </a:rPr>
              <a:t>"</a:t>
            </a:r>
            <a:r>
              <a:rPr sz="1600" i="0">
                <a:solidFill>
                  <a:srgbClr val="AEB6BF"/>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C39BD3"/>
                </a:solidFill>
                <a:latin typeface="Consolas"/>
              </a:rPr>
              <a:t>print</a:t>
            </a:r>
            <a:r>
              <a:rPr sz="1600" i="0">
                <a:solidFill>
                  <a:srgbClr val="AEB6BF"/>
                </a:solidFill>
                <a:latin typeface="Consolas"/>
              </a:rPr>
              <a:t>(</a:t>
            </a:r>
            <a:r>
              <a:rPr sz="1600" i="0">
                <a:solidFill>
                  <a:srgbClr val="7DCEA0"/>
                </a:solidFill>
                <a:latin typeface="Consolas"/>
              </a:rPr>
              <a:t>"</a:t>
            </a:r>
            <a:r>
              <a:rPr sz="1600" i="0">
                <a:solidFill>
                  <a:srgbClr val="7DCEA0"/>
                </a:solidFill>
                <a:latin typeface="Consolas"/>
              </a:rPr>
              <a:t>   is at position </a:t>
            </a:r>
            <a:r>
              <a:rPr sz="1600" i="0">
                <a:solidFill>
                  <a:srgbClr val="7DCEA0"/>
                </a:solidFill>
                <a:latin typeface="Consolas"/>
              </a:rPr>
              <a:t>%d</a:t>
            </a:r>
            <a:r>
              <a:rPr sz="1600" i="0">
                <a:solidFill>
                  <a:srgbClr val="7DCEA0"/>
                </a:solidFill>
                <a:latin typeface="Consolas"/>
              </a:rPr>
              <a:t> -- </a:t>
            </a:r>
            <a:r>
              <a:rPr sz="1600" i="0">
                <a:solidFill>
                  <a:srgbClr val="7DCEA0"/>
                </a:solidFill>
                <a:latin typeface="Consolas"/>
              </a:rPr>
              <a:t>%d</a:t>
            </a:r>
            <a:r>
              <a:rPr sz="1600" i="0">
                <a:solidFill>
                  <a:srgbClr val="7DCEA0"/>
                </a:solidFill>
                <a:latin typeface="Consolas"/>
              </a:rPr>
              <a:t> words back.</a:t>
            </a:r>
            <a:r>
              <a:rPr sz="1600" i="0">
                <a:solidFill>
                  <a:srgbClr val="7DCEA0"/>
                </a:solidFill>
                <a:latin typeface="Consolas"/>
              </a:rPr>
              <a:t>"</a:t>
            </a:r>
          </a:p>
          <a:p>
            <a:pPr>
              <a:lnSpc>
                <a:spcPct val="100000"/>
              </a:lnSpc>
              <a:spcAft>
                <a:spcPts val="0"/>
              </a:spcAft>
            </a:pP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toks</a:t>
            </a:r>
            <a:r>
              <a:rPr sz="1600" i="0">
                <a:solidFill>
                  <a:srgbClr val="AEB6BF"/>
                </a:solidFill>
                <a:latin typeface="Consolas"/>
              </a:rPr>
              <a:t>.</a:t>
            </a:r>
            <a:r>
              <a:rPr sz="1600" i="0">
                <a:solidFill>
                  <a:srgbClr val="E8EDF2"/>
                </a:solidFill>
                <a:latin typeface="Consolas"/>
              </a:rPr>
              <a:t>index</a:t>
            </a:r>
            <a:r>
              <a:rPr sz="1600" i="0">
                <a:solidFill>
                  <a:srgbClr val="AEB6BF"/>
                </a:solidFill>
                <a:latin typeface="Consolas"/>
              </a:rPr>
              <a:t>(</a:t>
            </a:r>
            <a:r>
              <a:rPr sz="1600" i="0">
                <a:solidFill>
                  <a:srgbClr val="7DCEA0"/>
                </a:solidFill>
                <a:latin typeface="Consolas"/>
              </a:rPr>
              <a:t>"</a:t>
            </a:r>
            <a:r>
              <a:rPr sz="1600" i="0">
                <a:solidFill>
                  <a:srgbClr val="7DCEA0"/>
                </a:solidFill>
                <a:latin typeface="Consolas"/>
              </a:rPr>
              <a:t>server</a:t>
            </a:r>
            <a:r>
              <a:rPr sz="1600" i="0">
                <a:solidFill>
                  <a:srgbClr val="7DCEA0"/>
                </a:solidFill>
                <a:latin typeface="Consolas"/>
              </a:rPr>
              <a:t>"</a:t>
            </a:r>
            <a:r>
              <a:rPr sz="1600" i="0">
                <a:solidFill>
                  <a:srgbClr val="AEB6BF"/>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toks</a:t>
            </a:r>
            <a:r>
              <a:rPr sz="1600" i="0">
                <a:solidFill>
                  <a:srgbClr val="AEB6BF"/>
                </a:solidFill>
                <a:latin typeface="Consolas"/>
              </a:rPr>
              <a:t>.</a:t>
            </a:r>
            <a:r>
              <a:rPr sz="1600" i="0">
                <a:solidFill>
                  <a:srgbClr val="E8EDF2"/>
                </a:solidFill>
                <a:latin typeface="Consolas"/>
              </a:rPr>
              <a:t>index</a:t>
            </a:r>
            <a:r>
              <a:rPr sz="1600" i="0">
                <a:solidFill>
                  <a:srgbClr val="AEB6BF"/>
                </a:solidFill>
                <a:latin typeface="Consolas"/>
              </a:rPr>
              <a:t>(</a:t>
            </a:r>
            <a:r>
              <a:rPr sz="1600" i="0">
                <a:solidFill>
                  <a:srgbClr val="7DCEA0"/>
                </a:solidFill>
                <a:latin typeface="Consolas"/>
              </a:rPr>
              <a:t>"</a:t>
            </a:r>
            <a:r>
              <a:rPr sz="1600" i="0">
                <a:solidFill>
                  <a:srgbClr val="7DCEA0"/>
                </a:solidFill>
                <a:latin typeface="Consolas"/>
              </a:rPr>
              <a:t>was</a:t>
            </a:r>
            <a:r>
              <a:rPr sz="1600" i="0">
                <a:solidFill>
                  <a:srgbClr val="7DCEA0"/>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toks</a:t>
            </a:r>
            <a:r>
              <a:rPr sz="1600" i="0">
                <a:solidFill>
                  <a:srgbClr val="AEB6BF"/>
                </a:solidFill>
                <a:latin typeface="Consolas"/>
              </a:rPr>
              <a:t>.</a:t>
            </a:r>
            <a:r>
              <a:rPr sz="1600" i="0">
                <a:solidFill>
                  <a:srgbClr val="E8EDF2"/>
                </a:solidFill>
                <a:latin typeface="Consolas"/>
              </a:rPr>
              <a:t>index</a:t>
            </a:r>
            <a:r>
              <a:rPr sz="1600" i="0">
                <a:solidFill>
                  <a:srgbClr val="AEB6BF"/>
                </a:solidFill>
                <a:latin typeface="Consolas"/>
              </a:rPr>
              <a:t>(</a:t>
            </a:r>
            <a:r>
              <a:rPr sz="1600" i="0">
                <a:solidFill>
                  <a:srgbClr val="7DCEA0"/>
                </a:solidFill>
                <a:latin typeface="Consolas"/>
              </a:rPr>
              <a:t>"</a:t>
            </a:r>
            <a:r>
              <a:rPr sz="1600" i="0">
                <a:solidFill>
                  <a:srgbClr val="7DCEA0"/>
                </a:solidFill>
                <a:latin typeface="Consolas"/>
              </a:rPr>
              <a:t>server</a:t>
            </a:r>
            <a:r>
              <a:rPr sz="1600" i="0">
                <a:solidFill>
                  <a:srgbClr val="7DCEA0"/>
                </a:solidFill>
                <a:latin typeface="Consolas"/>
              </a:rPr>
              <a:t>"</a:t>
            </a:r>
            <a:r>
              <a:rPr sz="1600" i="0">
                <a:solidFill>
                  <a:srgbClr val="AEB6BF"/>
                </a:solidFill>
                <a:latin typeface="Consolas"/>
              </a:rPr>
              <a:t>)</a:t>
            </a:r>
            <a:r>
              <a:rPr sz="1600" i="0">
                <a:solidFill>
                  <a:srgbClr val="AEB6BF"/>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C39BD3"/>
                </a:solidFill>
                <a:latin typeface="Consolas"/>
              </a:rPr>
              <a:t>print</a:t>
            </a:r>
            <a:r>
              <a:rPr sz="1600" i="0">
                <a:solidFill>
                  <a:srgbClr val="AEB6BF"/>
                </a:solidFill>
                <a:latin typeface="Consolas"/>
              </a:rPr>
              <a:t>(</a:t>
            </a:r>
            <a:r>
              <a:rPr sz="1600" i="0">
                <a:solidFill>
                  <a:srgbClr val="7DCEA0"/>
                </a:solidFill>
                <a:latin typeface="Consolas"/>
              </a:rPr>
              <a:t>"</a:t>
            </a:r>
            <a:r>
              <a:rPr sz="1600" i="0">
                <a:solidFill>
                  <a:srgbClr val="7DCEA0"/>
                </a:solidFill>
                <a:latin typeface="Consolas"/>
              </a:rPr>
              <a:t>   No n-gram with a practical n connects them, and raising</a:t>
            </a:r>
            <a:r>
              <a:rPr sz="1600" i="0">
                <a:solidFill>
                  <a:srgbClr val="7DCEA0"/>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C39BD3"/>
                </a:solidFill>
                <a:latin typeface="Consolas"/>
              </a:rPr>
              <a:t>print</a:t>
            </a:r>
            <a:r>
              <a:rPr sz="1600" i="0">
                <a:solidFill>
                  <a:srgbClr val="AEB6BF"/>
                </a:solidFill>
                <a:latin typeface="Consolas"/>
              </a:rPr>
              <a:t>(</a:t>
            </a:r>
            <a:r>
              <a:rPr sz="1600" i="0">
                <a:solidFill>
                  <a:srgbClr val="7DCEA0"/>
                </a:solidFill>
                <a:latin typeface="Consolas"/>
              </a:rPr>
              <a:t>"</a:t>
            </a:r>
            <a:r>
              <a:rPr sz="1600" i="0">
                <a:solidFill>
                  <a:srgbClr val="7DCEA0"/>
                </a:solidFill>
                <a:latin typeface="Consolas"/>
              </a:rPr>
              <a:t>   n makes sparsity exponentially worse. A grammar has no</a:t>
            </a:r>
            <a:r>
              <a:rPr sz="1600" i="0">
                <a:solidFill>
                  <a:srgbClr val="7DCEA0"/>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C39BD3"/>
                </a:solidFill>
                <a:latin typeface="Consolas"/>
              </a:rPr>
              <a:t>print</a:t>
            </a:r>
            <a:r>
              <a:rPr sz="1600" i="0">
                <a:solidFill>
                  <a:srgbClr val="AEB6BF"/>
                </a:solidFill>
                <a:latin typeface="Consolas"/>
              </a:rPr>
              <a:t>(</a:t>
            </a:r>
            <a:r>
              <a:rPr sz="1600" i="0">
                <a:solidFill>
                  <a:srgbClr val="7DCEA0"/>
                </a:solidFill>
                <a:latin typeface="Consolas"/>
              </a:rPr>
              <a:t>"</a:t>
            </a:r>
            <a:r>
              <a:rPr sz="1600" i="0">
                <a:solidFill>
                  <a:srgbClr val="7DCEA0"/>
                </a:solidFill>
                <a:latin typeface="Consolas"/>
              </a:rPr>
              <a:t>   difficulty with it, because the dependency is structural.</a:t>
            </a:r>
            <a:r>
              <a:rPr sz="1600" i="0">
                <a:solidFill>
                  <a:srgbClr val="7DCEA0"/>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5DADE2"/>
                </a:solidFill>
                <a:latin typeface="Consolas"/>
              </a:rPr>
              <a:t>assert</a:t>
            </a:r>
            <a:r>
              <a:rPr sz="1600" i="0">
                <a:solidFill>
                  <a:srgbClr val="E8EDF2"/>
                </a:solidFill>
                <a:latin typeface="Consolas"/>
              </a:rPr>
              <a:t> </a:t>
            </a:r>
            <a:r>
              <a:rPr sz="1600" i="0">
                <a:solidFill>
                  <a:srgbClr val="E8EDF2"/>
                </a:solidFill>
                <a:latin typeface="Consolas"/>
              </a:rPr>
              <a:t>toks</a:t>
            </a:r>
            <a:r>
              <a:rPr sz="1600" i="0">
                <a:solidFill>
                  <a:srgbClr val="AEB6BF"/>
                </a:solidFill>
                <a:latin typeface="Consolas"/>
              </a:rPr>
              <a:t>.</a:t>
            </a:r>
            <a:r>
              <a:rPr sz="1600" i="0">
                <a:solidFill>
                  <a:srgbClr val="E8EDF2"/>
                </a:solidFill>
                <a:latin typeface="Consolas"/>
              </a:rPr>
              <a:t>index</a:t>
            </a:r>
            <a:r>
              <a:rPr sz="1600" i="0">
                <a:solidFill>
                  <a:srgbClr val="AEB6BF"/>
                </a:solidFill>
                <a:latin typeface="Consolas"/>
              </a:rPr>
              <a:t>(</a:t>
            </a:r>
            <a:r>
              <a:rPr sz="1600" i="0">
                <a:solidFill>
                  <a:srgbClr val="7DCEA0"/>
                </a:solidFill>
                <a:latin typeface="Consolas"/>
              </a:rPr>
              <a:t>"</a:t>
            </a:r>
            <a:r>
              <a:rPr sz="1600" i="0">
                <a:solidFill>
                  <a:srgbClr val="7DCEA0"/>
                </a:solidFill>
                <a:latin typeface="Consolas"/>
              </a:rPr>
              <a:t>was</a:t>
            </a:r>
            <a:r>
              <a:rPr sz="1600" i="0">
                <a:solidFill>
                  <a:srgbClr val="7DCEA0"/>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toks</a:t>
            </a:r>
            <a:r>
              <a:rPr sz="1600" i="0">
                <a:solidFill>
                  <a:srgbClr val="AEB6BF"/>
                </a:solidFill>
                <a:latin typeface="Consolas"/>
              </a:rPr>
              <a:t>.</a:t>
            </a:r>
            <a:r>
              <a:rPr sz="1600" i="0">
                <a:solidFill>
                  <a:srgbClr val="E8EDF2"/>
                </a:solidFill>
                <a:latin typeface="Consolas"/>
              </a:rPr>
              <a:t>index</a:t>
            </a:r>
            <a:r>
              <a:rPr sz="1600" i="0">
                <a:solidFill>
                  <a:srgbClr val="AEB6BF"/>
                </a:solidFill>
                <a:latin typeface="Consolas"/>
              </a:rPr>
              <a:t>(</a:t>
            </a:r>
            <a:r>
              <a:rPr sz="1600" i="0">
                <a:solidFill>
                  <a:srgbClr val="7DCEA0"/>
                </a:solidFill>
                <a:latin typeface="Consolas"/>
              </a:rPr>
              <a:t>"</a:t>
            </a:r>
            <a:r>
              <a:rPr sz="1600" i="0">
                <a:solidFill>
                  <a:srgbClr val="7DCEA0"/>
                </a:solidFill>
                <a:latin typeface="Consolas"/>
              </a:rPr>
              <a:t>server</a:t>
            </a:r>
            <a:r>
              <a:rPr sz="1600" i="0">
                <a:solidFill>
                  <a:srgbClr val="7DCEA0"/>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AEB6BF"/>
                </a:solidFill>
                <a:latin typeface="Consolas"/>
              </a:rPr>
              <a:t>&gt;</a:t>
            </a:r>
            <a:r>
              <a:rPr sz="1600" i="0">
                <a:solidFill>
                  <a:srgbClr val="AEB6BF"/>
                </a:solidFill>
                <a:latin typeface="Consolas"/>
              </a:rPr>
              <a:t>=</a:t>
            </a:r>
            <a:r>
              <a:rPr sz="1600" i="0">
                <a:solidFill>
                  <a:srgbClr val="E8EDF2"/>
                </a:solidFill>
                <a:latin typeface="Consolas"/>
              </a:rPr>
              <a:t> </a:t>
            </a:r>
            <a:r>
              <a:rPr sz="1600" i="0">
                <a:solidFill>
                  <a:srgbClr val="F7DC6F"/>
                </a:solidFill>
                <a:latin typeface="Consolas"/>
              </a:rPr>
              <a:t>8</a:t>
            </a:r>
          </a:p>
        </p:txBody>
      </p:sp>
      <p:sp>
        <p:nvSpPr>
          <p:cNvPr id="15" name="!!code-num"/>
          <p:cNvSpPr txBox="1"/>
          <p:nvPr/>
        </p:nvSpPr>
        <p:spPr>
          <a:xfrm>
            <a:off x="768096" y="2523744"/>
            <a:ext cx="393192" cy="3523487"/>
          </a:xfrm>
          <a:prstGeom prst="rect">
            <a:avLst/>
          </a:prstGeom>
          <a:noFill/>
        </p:spPr>
        <p:txBody>
          <a:bodyPr wrap="none" anchor="t" lIns="0" rIns="0" tIns="0" bIns="0">
            <a:noAutofit/>
          </a:bodyPr>
          <a:lstStyle/>
          <a:p>
            <a:pPr algn="r">
              <a:lnSpc>
                <a:spcPct val="100000"/>
              </a:lnSpc>
            </a:pPr>
            <a:r>
              <a:rPr sz="1600">
                <a:solidFill>
                  <a:srgbClr val="4F5D6A"/>
                </a:solidFill>
                <a:latin typeface="Consolas"/>
              </a:rPr>
              <a:t>217</a:t>
            </a:r>
          </a:p>
          <a:p>
            <a:pPr algn="r">
              <a:lnSpc>
                <a:spcPct val="100000"/>
              </a:lnSpc>
            </a:pPr>
            <a:r>
              <a:rPr sz="1600">
                <a:solidFill>
                  <a:srgbClr val="4F5D6A"/>
                </a:solidFill>
                <a:latin typeface="Consolas"/>
              </a:rPr>
              <a:t>218</a:t>
            </a:r>
          </a:p>
          <a:p>
            <a:pPr algn="r">
              <a:lnSpc>
                <a:spcPct val="100000"/>
              </a:lnSpc>
            </a:pPr>
            <a:r>
              <a:rPr sz="1600">
                <a:solidFill>
                  <a:srgbClr val="4F5D6A"/>
                </a:solidFill>
                <a:latin typeface="Consolas"/>
              </a:rPr>
              <a:t>219</a:t>
            </a:r>
          </a:p>
          <a:p>
            <a:pPr algn="r">
              <a:lnSpc>
                <a:spcPct val="100000"/>
              </a:lnSpc>
            </a:pPr>
            <a:r>
              <a:rPr sz="1600">
                <a:solidFill>
                  <a:srgbClr val="4F5D6A"/>
                </a:solidFill>
                <a:latin typeface="Consolas"/>
              </a:rPr>
              <a:t>220</a:t>
            </a:r>
          </a:p>
          <a:p>
            <a:pPr algn="r">
              <a:lnSpc>
                <a:spcPct val="100000"/>
              </a:lnSpc>
            </a:pPr>
            <a:r>
              <a:rPr sz="1600">
                <a:solidFill>
                  <a:srgbClr val="4F5D6A"/>
                </a:solidFill>
                <a:latin typeface="Consolas"/>
              </a:rPr>
              <a:t>221</a:t>
            </a:r>
          </a:p>
          <a:p>
            <a:pPr algn="r">
              <a:lnSpc>
                <a:spcPct val="100000"/>
              </a:lnSpc>
            </a:pPr>
            <a:r>
              <a:rPr sz="1600">
                <a:solidFill>
                  <a:srgbClr val="4F5D6A"/>
                </a:solidFill>
                <a:latin typeface="Consolas"/>
              </a:rPr>
              <a:t>222</a:t>
            </a:r>
          </a:p>
          <a:p>
            <a:pPr algn="r">
              <a:lnSpc>
                <a:spcPct val="100000"/>
              </a:lnSpc>
            </a:pPr>
            <a:r>
              <a:rPr sz="1600">
                <a:solidFill>
                  <a:srgbClr val="4F5D6A"/>
                </a:solidFill>
                <a:latin typeface="Consolas"/>
              </a:rPr>
              <a:t>223</a:t>
            </a:r>
          </a:p>
          <a:p>
            <a:pPr algn="r">
              <a:lnSpc>
                <a:spcPct val="100000"/>
              </a:lnSpc>
            </a:pPr>
            <a:r>
              <a:rPr sz="1600">
                <a:solidFill>
                  <a:srgbClr val="4F5D6A"/>
                </a:solidFill>
                <a:latin typeface="Consolas"/>
              </a:rPr>
              <a:t>224</a:t>
            </a:r>
          </a:p>
          <a:p>
            <a:pPr algn="r">
              <a:lnSpc>
                <a:spcPct val="100000"/>
              </a:lnSpc>
            </a:pPr>
            <a:r>
              <a:rPr sz="1600">
                <a:solidFill>
                  <a:srgbClr val="4F5D6A"/>
                </a:solidFill>
                <a:latin typeface="Consolas"/>
              </a:rPr>
              <a:t>225</a:t>
            </a:r>
          </a:p>
          <a:p>
            <a:pPr algn="r">
              <a:lnSpc>
                <a:spcPct val="100000"/>
              </a:lnSpc>
            </a:pPr>
            <a:r>
              <a:rPr sz="1600">
                <a:solidFill>
                  <a:srgbClr val="4F5D6A"/>
                </a:solidFill>
                <a:latin typeface="Consolas"/>
              </a:rPr>
              <a:t>226</a:t>
            </a:r>
          </a:p>
          <a:p>
            <a:pPr algn="r">
              <a:lnSpc>
                <a:spcPct val="100000"/>
              </a:lnSpc>
            </a:pPr>
            <a:r>
              <a:rPr sz="1600">
                <a:solidFill>
                  <a:srgbClr val="4F5D6A"/>
                </a:solidFill>
                <a:latin typeface="Consolas"/>
              </a:rPr>
              <a:t>227</a:t>
            </a:r>
          </a:p>
          <a:p>
            <a:pPr algn="r">
              <a:lnSpc>
                <a:spcPct val="100000"/>
              </a:lnSpc>
            </a:pPr>
            <a:r>
              <a:rPr sz="1600">
                <a:solidFill>
                  <a:srgbClr val="4F5D6A"/>
                </a:solidFill>
                <a:latin typeface="Consolas"/>
              </a:rPr>
              <a:t>228</a:t>
            </a:r>
          </a:p>
          <a:p>
            <a:pPr algn="r">
              <a:lnSpc>
                <a:spcPct val="100000"/>
              </a:lnSpc>
            </a:pPr>
            <a:r>
              <a:rPr sz="1600">
                <a:solidFill>
                  <a:srgbClr val="4F5D6A"/>
                </a:solidFill>
                <a:latin typeface="Consolas"/>
              </a:rPr>
              <a:t>229</a:t>
            </a:r>
          </a:p>
          <a:p>
            <a:pPr algn="r">
              <a:lnSpc>
                <a:spcPct val="100000"/>
              </a:lnSpc>
            </a:pPr>
            <a:r>
              <a:rPr sz="1600">
                <a:solidFill>
                  <a:srgbClr val="4F5D6A"/>
                </a:solidFill>
                <a:latin typeface="Consolas"/>
              </a:rPr>
              <a:t>230</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674860"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the lab shows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18  ·  Natural Language Processing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§18.7  ·  Handout p. 190     </a:t>
            </a:r>
            <a:fld id="{7E41D3A6-6689-4B61-A5C0-A1F59ECBDC46}" type="slidenum">
              <a:rPr lang="en-GB" sz="1000">
                <a:solidFill>
                  <a:srgbClr val="8795A1"/>
                </a:solidFill>
                <a:latin typeface="Segoe UI"/>
              </a:rPr>
              <a:t>38</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079955"/>
          </a:xfrm>
          <a:prstGeom prst="roundRect">
            <a:avLst>
              <a:gd name="adj" fmla="val 4396"/>
            </a:avLst>
          </a:prstGeom>
          <a:solidFill>
            <a:srgbClr val="EEF6F4"/>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079955"/>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503883"/>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Then add one more prepositional phrase — </a:t>
            </a:r>
            <a:r>
              <a:rPr sz="2150" b="0" i="0">
                <a:solidFill>
                  <a:srgbClr val="1F4E79"/>
                </a:solidFill>
                <a:latin typeface="Consolas"/>
              </a:rPr>
              <a:t>restart the server after the timeout on the gateway</a:t>
            </a:r>
            <a:r>
              <a:rPr sz="2300" b="0" i="0">
                <a:solidFill>
                  <a:srgbClr val="1C252B"/>
                </a:solidFill>
                <a:latin typeface="Segoe UI"/>
              </a:rPr>
              <a:t> — and count the parses. The answer is five, not four: the growth follows the Catalan numbers, and this is the moment broad-coverage parsing stops being a matter of writing more rules.</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8909315"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200" b="0" i="0">
                <a:solidFill>
                  <a:srgbClr val="FFFFFF"/>
                </a:solidFill>
                <a:latin typeface="Consolas"/>
              </a:rPr>
              <a:t>restart the server after the timeout</a:t>
            </a:r>
            <a:r>
              <a:rPr sz="3400" b="0" i="0">
                <a:solidFill>
                  <a:srgbClr val="FFFFFF"/>
                </a:solidFill>
                <a:latin typeface="Segoe UI Semibold"/>
              </a:rPr>
              <a:t> has exactly two parses. Give both readings in English, and say what a routing system should do with a subject line that has more than one.</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1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18  ·  Natural Language Processing</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196  ·  answers in Appendix D     </a:t>
            </a:r>
            <a:fld id="{152D8B78-31B0-407C-B897-6F83CE80B7D9}" type="slidenum">
              <a:rPr lang="en-GB" sz="1000">
                <a:solidFill>
                  <a:srgbClr val="D5DEE5"/>
                </a:solidFill>
                <a:latin typeface="Segoe UI"/>
              </a:rPr>
              <a:t>39</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1099108"/>
          </a:xfrm>
        </p:spPr>
        <p:txBody>
          <a:bodyPr wrap="square" lIns="0" rIns="0" tIns="0" bIns="0" anchor="t">
            <a:noAutofit/>
          </a:bodyPr>
          <a:lstStyle/>
          <a:p>
            <a:pPr algn="l">
              <a:lnSpc>
                <a:spcPct val="96000"/>
              </a:lnSpc>
            </a:pPr>
            <a:r>
              <a:rPr sz="2250" b="0" i="0">
                <a:solidFill>
                  <a:srgbClr val="1A5276"/>
                </a:solidFill>
                <a:latin typeface="Consolas"/>
              </a:rPr>
              <a:t>restart the server after the timeout</a:t>
            </a:r>
            <a:r>
              <a:rPr sz="2400" b="0" i="0">
                <a:solidFill>
                  <a:srgbClr val="1A5276"/>
                </a:solidFill>
                <a:latin typeface="Segoe UI Semibold"/>
              </a:rPr>
              <a:t> has exactly two parses. Give both readings in English, and say what a routing system should do with a subject line that has more than one.</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1 OF 3  ·  ANSWER</a:t>
            </a:r>
          </a:p>
        </p:txBody>
      </p:sp>
      <p:sp>
        <p:nvSpPr>
          <p:cNvPr id="5" name="!!abar">
            <a:extLst>
              <a:ext uri="{C183D7F6-B498-43B3-948B-1728B52AA6E4}">
                <adec:decorative xmlns:adec="http://schemas.microsoft.com/office/drawing/2017/decorative" val="1"/>
              </a:ext>
            </a:extLst>
          </p:cNvPr>
          <p:cNvSpPr/>
          <p:nvPr/>
        </p:nvSpPr>
        <p:spPr>
          <a:xfrm>
            <a:off x="658368" y="2114092"/>
            <a:ext cx="64008" cy="2092147"/>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2114092"/>
            <a:ext cx="10509199" cy="2137867"/>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Reading 1 attaches </a:t>
            </a:r>
            <a:r>
              <a:rPr sz="2050" b="0" i="0">
                <a:solidFill>
                  <a:srgbClr val="1F4E79"/>
                </a:solidFill>
                <a:latin typeface="Consolas"/>
              </a:rPr>
              <a:t>after the timeout</a:t>
            </a:r>
            <a:r>
              <a:rPr sz="2200" b="0" i="0">
                <a:solidFill>
                  <a:srgbClr val="1C252B"/>
                </a:solidFill>
                <a:latin typeface="Segoe UI"/>
              </a:rPr>
              <a:t> to the verb phrase: </a:t>
            </a:r>
            <a:r>
              <a:rPr sz="2200" b="0" i="1">
                <a:solidFill>
                  <a:srgbClr val="1C252B"/>
                </a:solidFill>
                <a:latin typeface="Segoe UI"/>
              </a:rPr>
              <a:t>restart the server, and do it after the timeout occurs</a:t>
            </a:r>
            <a:r>
              <a:rPr sz="2200" b="0" i="0">
                <a:solidFill>
                  <a:srgbClr val="1C252B"/>
                </a:solidFill>
                <a:latin typeface="Segoe UI"/>
              </a:rPr>
              <a:t>. Reading 2 attaches it to the noun phrase: </a:t>
            </a:r>
            <a:r>
              <a:rPr sz="2200" b="0" i="1">
                <a:solidFill>
                  <a:srgbClr val="1C252B"/>
                </a:solidFill>
                <a:latin typeface="Segoe UI"/>
              </a:rPr>
              <a:t>restart the server that handles timeouts</a:t>
            </a:r>
            <a:r>
              <a:rPr sz="2200" b="0" i="0">
                <a:solidFill>
                  <a:srgbClr val="1C252B"/>
                </a:solidFill>
                <a:latin typeface="Segoe UI"/>
              </a:rPr>
              <a:t>. They are different instructions. A routing system should not choose — it should recognise that the subject line supports both and ask the reporter, which is a capability the grammar provides for free and which a system returning one confident parse throws away.</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18  ·  Natural Language Processing</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196  ·  answers in Appendix D     </a:t>
            </a:r>
            <a:fld id="{861AD8EF-D9FA-47B9-A9D2-D146533181CE}" type="slidenum">
              <a:rPr lang="en-GB" sz="1000">
                <a:solidFill>
                  <a:srgbClr val="8795A1"/>
                </a:solidFill>
                <a:latin typeface="Segoe UI"/>
              </a:rPr>
              <a:t>40</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9378227"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Eliza has no grammar, no parser and no representation of the conversation, and people disclosed things to it they would not tell a colleague. State what this shows about fluency as evidence of understanding.</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2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18  ·  Natural Language Processing</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196  ·  answers in Appendix D     </a:t>
            </a:r>
            <a:fld id="{7825B31F-C910-41CF-9EF9-C87C2DE60218}" type="slidenum">
              <a:rPr lang="en-GB" sz="1000">
                <a:solidFill>
                  <a:srgbClr val="D5DEE5"/>
                </a:solidFill>
                <a:latin typeface="Segoe UI"/>
              </a:rPr>
              <a:t>41</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1099108"/>
          </a:xfrm>
        </p:spPr>
        <p:txBody>
          <a:bodyPr wrap="square" lIns="0" rIns="0" tIns="0" bIns="0" anchor="t">
            <a:noAutofit/>
          </a:bodyPr>
          <a:lstStyle/>
          <a:p>
            <a:pPr algn="l">
              <a:lnSpc>
                <a:spcPct val="96000"/>
              </a:lnSpc>
            </a:pPr>
            <a:r>
              <a:rPr sz="2400" b="0" i="0">
                <a:solidFill>
                  <a:srgbClr val="1A5276"/>
                </a:solidFill>
                <a:latin typeface="Segoe UI Semibold"/>
              </a:rPr>
              <a:t>Eliza has no grammar, no parser and no representation of the conversation, and people disclosed things to it they would not tell a colleague. State what this shows about fluency as evidence of understanding.</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2 OF 3  ·  ANSWER</a:t>
            </a:r>
          </a:p>
        </p:txBody>
      </p:sp>
      <p:sp>
        <p:nvSpPr>
          <p:cNvPr id="5" name="!!abar">
            <a:extLst>
              <a:ext uri="{C183D7F6-B498-43B3-948B-1728B52AA6E4}">
                <adec:decorative xmlns:adec="http://schemas.microsoft.com/office/drawing/2017/decorative" val="1"/>
              </a:ext>
            </a:extLst>
          </p:cNvPr>
          <p:cNvSpPr/>
          <p:nvPr/>
        </p:nvSpPr>
        <p:spPr>
          <a:xfrm>
            <a:off x="658368" y="2114092"/>
            <a:ext cx="64008" cy="24408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2114092"/>
            <a:ext cx="10509199" cy="2486558"/>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That fluency is not evidence of understanding. Eliza had no representation of the conversation, no model of the person and no goal, and it still produced responses people found so apt that they disclosed things to it they would not tell a colleague — including people who had read its source. So your impression of a transcript tells you about your own response, not about the system, and the instrument to use instead is Chapter 1’s checklist: is there a goal, a search, an inspectable representation, adaptation, an explanation?</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18  ·  Natural Language Processing</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196  ·  answers in Appendix D     </a:t>
            </a:r>
            <a:fld id="{237EDAAC-8956-46A3-BEB2-941F5E9077A1}" type="slidenum">
              <a:rPr lang="en-GB" sz="1000">
                <a:solidFill>
                  <a:srgbClr val="8795A1"/>
                </a:solidFill>
                <a:latin typeface="Segoe UI"/>
              </a:rPr>
              <a:t>42</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9847138"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Smoothing fixes n-gram sparsity but nothing fixes the fixed window. Explain the difference, with the nine-word dependency from this chapter.</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3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18  ·  Natural Language Processing</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196  ·  answers in Appendix D     </a:t>
            </a:r>
            <a:fld id="{F0223732-6698-41A9-930C-F36E8E016E14}" type="slidenum">
              <a:rPr lang="en-GB" sz="1000">
                <a:solidFill>
                  <a:srgbClr val="D5DEE5"/>
                </a:solidFill>
                <a:latin typeface="Segoe UI"/>
              </a:rPr>
              <a:t>43</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747979"/>
          </a:xfrm>
        </p:spPr>
        <p:txBody>
          <a:bodyPr wrap="square" lIns="0" rIns="0" tIns="0" bIns="0" anchor="t">
            <a:noAutofit/>
          </a:bodyPr>
          <a:lstStyle/>
          <a:p>
            <a:pPr algn="l">
              <a:lnSpc>
                <a:spcPct val="96000"/>
              </a:lnSpc>
            </a:pPr>
            <a:r>
              <a:rPr sz="2400" b="0" i="0">
                <a:solidFill>
                  <a:srgbClr val="1A5276"/>
                </a:solidFill>
                <a:latin typeface="Segoe UI Semibold"/>
              </a:rPr>
              <a:t>Smoothing fixes n-gram sparsity but nothing fixes the fixed window. Explain the difference, with the nine-word dependency from this chapter.</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3 OF 3  ·  ANSWER</a:t>
            </a:r>
          </a:p>
        </p:txBody>
      </p:sp>
      <p:sp>
        <p:nvSpPr>
          <p:cNvPr id="5" name="!!abar">
            <a:extLst>
              <a:ext uri="{C183D7F6-B498-43B3-948B-1728B52AA6E4}">
                <adec:decorative xmlns:adec="http://schemas.microsoft.com/office/drawing/2017/decorative" val="1"/>
              </a:ext>
            </a:extLst>
          </p:cNvPr>
          <p:cNvSpPr/>
          <p:nvPr/>
        </p:nvSpPr>
        <p:spPr>
          <a:xfrm>
            <a:off x="658368" y="1762963"/>
            <a:ext cx="64008" cy="2789529"/>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762963"/>
            <a:ext cx="10509199" cy="2835249"/>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Sparsity is the problem that most possible n-grams never appear in any finite corpus, so unseen ones receive probability zero. It is an estimation problem, and smoothing solves it by reserving probability mass for the unseen. The fixed window is a </a:t>
            </a:r>
            <a:r>
              <a:rPr sz="2200" b="0" i="1">
                <a:solidFill>
                  <a:srgbClr val="1C252B"/>
                </a:solidFill>
                <a:latin typeface="Segoe UI"/>
              </a:rPr>
              <a:t>representational</a:t>
            </a:r>
            <a:r>
              <a:rPr sz="2200" b="0" i="0">
                <a:solidFill>
                  <a:srgbClr val="1C252B"/>
                </a:solidFill>
                <a:latin typeface="Segoe UI"/>
              </a:rPr>
              <a:t> limit: in </a:t>
            </a:r>
            <a:r>
              <a:rPr sz="2200" b="0" i="1">
                <a:solidFill>
                  <a:srgbClr val="1C252B"/>
                </a:solidFill>
                <a:latin typeface="Segoe UI"/>
              </a:rPr>
              <a:t>the server that the engineer who wrote the runbook maintained was restarted</a:t>
            </a:r>
            <a:r>
              <a:rPr sz="2200" b="0" i="0">
                <a:solidFill>
                  <a:srgbClr val="1C252B"/>
                </a:solidFill>
                <a:latin typeface="Segoe UI"/>
              </a:rPr>
              <a:t>, the subject of </a:t>
            </a:r>
            <a:r>
              <a:rPr sz="2200" b="0" i="1">
                <a:solidFill>
                  <a:srgbClr val="1C252B"/>
                </a:solidFill>
                <a:latin typeface="Segoe UI"/>
              </a:rPr>
              <a:t>was restarted</a:t>
            </a:r>
            <a:r>
              <a:rPr sz="2200" b="0" i="0">
                <a:solidFill>
                  <a:srgbClr val="1C252B"/>
                </a:solidFill>
                <a:latin typeface="Segoe UI"/>
              </a:rPr>
              <a:t> is nine words back. No </a:t>
            </a:r>
            <a:r>
              <a:rPr sz="2200" b="0" i="1">
                <a:solidFill>
                  <a:srgbClr val="1C252B"/>
                </a:solidFill>
                <a:latin typeface="Cambria"/>
              </a:rPr>
              <a:t>n</a:t>
            </a:r>
            <a:r>
              <a:rPr sz="2200" b="0" i="0">
                <a:solidFill>
                  <a:srgbClr val="1C252B"/>
                </a:solidFill>
                <a:latin typeface="Segoe UI"/>
              </a:rPr>
              <a:t>-gram with a practical </a:t>
            </a:r>
            <a:r>
              <a:rPr sz="2200" b="0" i="1">
                <a:solidFill>
                  <a:srgbClr val="1C252B"/>
                </a:solidFill>
                <a:latin typeface="Cambria"/>
              </a:rPr>
              <a:t>n</a:t>
            </a:r>
            <a:r>
              <a:rPr sz="2200" b="0" i="0">
                <a:solidFill>
                  <a:srgbClr val="1C252B"/>
                </a:solidFill>
                <a:latin typeface="Segoe UI"/>
              </a:rPr>
              <a:t> can span that, and raising </a:t>
            </a:r>
            <a:r>
              <a:rPr sz="2200" b="0" i="1">
                <a:solidFill>
                  <a:srgbClr val="1C252B"/>
                </a:solidFill>
                <a:latin typeface="Cambria"/>
              </a:rPr>
              <a:t>n</a:t>
            </a:r>
            <a:r>
              <a:rPr sz="2200" b="0" i="0">
                <a:solidFill>
                  <a:srgbClr val="1C252B"/>
                </a:solidFill>
                <a:latin typeface="Segoe UI"/>
              </a:rPr>
              <a:t> makes sparsity exponentially worse — so the two limitations pull against each other and no corpus size resolves the second.</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18  ·  Natural Language Processing</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196  ·  answers in Appendix D     </a:t>
            </a:r>
            <a:fld id="{8C7986D9-CCC7-4590-9995-38F5DF1E5890}" type="slidenum">
              <a:rPr lang="en-GB" sz="1000">
                <a:solidFill>
                  <a:srgbClr val="8795A1"/>
                </a:solidFill>
                <a:latin typeface="Segoe UI"/>
              </a:rPr>
              <a:t>44</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0316049"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to take away</a:t>
            </a:r>
          </a:p>
        </p:txBody>
      </p:sp>
      <p:pic>
        <p:nvPicPr>
          <p:cNvPr id="3" name="!!kicker-icon" descr="clipboard-check-15425E.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6683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5425E"/>
                </a:solidFill>
                <a:latin typeface="Segoe UI"/>
              </a:rPr>
              <a:t>CHAPTER SUMMARY</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18  ·  Natural Language Processing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196     </a:t>
            </a:r>
            <a:fld id="{B55CAABD-3DC8-463A-AD04-D44B3AC1149D}" type="slidenum">
              <a:rPr lang="en-GB" sz="1000">
                <a:solidFill>
                  <a:srgbClr val="8795A1"/>
                </a:solidFill>
                <a:latin typeface="Segoe UI"/>
              </a:rPr>
              <a:t>45</a:t>
            </a:fld>
          </a:p>
        </p:txBody>
      </p:sp>
      <p:sp>
        <p:nvSpPr>
          <p:cNvPr id="7" name="!!sb0">
            <a:extLst>
              <a:ext uri="{C183D7F6-B498-43B3-948B-1728B52AA6E4}">
                <adec:decorative xmlns:adec="http://schemas.microsoft.com/office/drawing/2017/decorative" val="1"/>
              </a:ext>
            </a:extLst>
          </p:cNvPr>
          <p:cNvSpPr/>
          <p:nvPr/>
        </p:nvSpPr>
        <p:spPr>
          <a:xfrm>
            <a:off x="658368" y="1746504"/>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sbn0"/>
          <p:cNvSpPr txBox="1"/>
          <p:nvPr/>
        </p:nvSpPr>
        <p:spPr>
          <a:xfrm>
            <a:off x="658368" y="1801368"/>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9" name="!!st0"/>
          <p:cNvSpPr txBox="1"/>
          <p:nvPr/>
        </p:nvSpPr>
        <p:spPr>
          <a:xfrm>
            <a:off x="1298448" y="1737360"/>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The symbolic pipeline runs tokenise, morphology, tag, parse, interpret. Stages 1–3 are bookkeeping; the </a:t>
            </a:r>
            <a:r>
              <a:rPr sz="1700" b="0" i="1">
                <a:solidFill>
                  <a:srgbClr val="1C252B"/>
                </a:solidFill>
                <a:latin typeface="Segoe UI"/>
              </a:rPr>
              <a:t>parse</a:t>
            </a:r>
            <a:r>
              <a:rPr sz="1700" b="0" i="0">
                <a:solidFill>
                  <a:srgbClr val="1C252B"/>
                </a:solidFill>
                <a:latin typeface="Segoe UI"/>
              </a:rPr>
              <a:t> is where the knowledge lives.</a:t>
            </a:r>
          </a:p>
        </p:txBody>
      </p:sp>
      <p:sp>
        <p:nvSpPr>
          <p:cNvPr id="10" name="!!sb1">
            <a:extLst>
              <a:ext uri="{C183D7F6-B498-43B3-948B-1728B52AA6E4}">
                <adec:decorative xmlns:adec="http://schemas.microsoft.com/office/drawing/2017/decorative" val="1"/>
              </a:ext>
            </a:extLst>
          </p:cNvPr>
          <p:cNvSpPr/>
          <p:nvPr/>
        </p:nvSpPr>
        <p:spPr>
          <a:xfrm>
            <a:off x="658368" y="2468270"/>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sbn1"/>
          <p:cNvSpPr txBox="1"/>
          <p:nvPr/>
        </p:nvSpPr>
        <p:spPr>
          <a:xfrm>
            <a:off x="658368" y="2523134"/>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2" name="!!st1"/>
          <p:cNvSpPr txBox="1"/>
          <p:nvPr/>
        </p:nvSpPr>
        <p:spPr>
          <a:xfrm>
            <a:off x="1298448" y="2459126"/>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A </a:t>
            </a:r>
            <a:r>
              <a:rPr sz="1700" b="1" i="0">
                <a:solidFill>
                  <a:srgbClr val="1A5276"/>
                </a:solidFill>
                <a:latin typeface="Segoe UI"/>
              </a:rPr>
              <a:t>context-free grammar</a:t>
            </a:r>
            <a:r>
              <a:rPr sz="1700" b="0" i="0">
                <a:solidFill>
                  <a:srgbClr val="1C252B"/>
                </a:solidFill>
                <a:latin typeface="Segoe UI"/>
              </a:rPr>
              <a:t> is rules </a:t>
            </a:r>
            <a:r>
              <a:rPr sz="1700" b="0" i="1">
                <a:solidFill>
                  <a:srgbClr val="1C252B"/>
                </a:solidFill>
                <a:latin typeface="Cambria"/>
              </a:rPr>
              <a:t>A</a:t>
            </a:r>
            <a:r>
              <a:rPr sz="1700" b="0" i="0">
                <a:solidFill>
                  <a:srgbClr val="1C252B"/>
                </a:solidFill>
                <a:latin typeface="Cambria"/>
              </a:rPr>
              <a:t> → β</a:t>
            </a:r>
            <a:r>
              <a:rPr sz="1700" b="0" i="0">
                <a:solidFill>
                  <a:srgbClr val="1C252B"/>
                </a:solidFill>
                <a:latin typeface="Segoe UI"/>
              </a:rPr>
              <a:t>. In </a:t>
            </a:r>
            <a:r>
              <a:rPr sz="1700" b="1" i="0">
                <a:solidFill>
                  <a:srgbClr val="1A5276"/>
                </a:solidFill>
                <a:latin typeface="Segoe UI"/>
              </a:rPr>
              <a:t>Chomsky normal form</a:t>
            </a:r>
            <a:r>
              <a:rPr sz="1700" b="0" i="0">
                <a:solidFill>
                  <a:srgbClr val="1C252B"/>
                </a:solidFill>
                <a:latin typeface="Segoe UI"/>
              </a:rPr>
              <a:t> every rule is </a:t>
            </a:r>
            <a:r>
              <a:rPr sz="1700" b="0" i="1">
                <a:solidFill>
                  <a:srgbClr val="1C252B"/>
                </a:solidFill>
                <a:latin typeface="Cambria"/>
              </a:rPr>
              <a:t>A</a:t>
            </a:r>
            <a:r>
              <a:rPr sz="1700" b="0" i="0">
                <a:solidFill>
                  <a:srgbClr val="1C252B"/>
                </a:solidFill>
                <a:latin typeface="Cambria"/>
              </a:rPr>
              <a:t> → </a:t>
            </a:r>
            <a:r>
              <a:rPr sz="1700" b="0" i="1">
                <a:solidFill>
                  <a:srgbClr val="1C252B"/>
                </a:solidFill>
                <a:latin typeface="Cambria"/>
              </a:rPr>
              <a:t>B</a:t>
            </a:r>
            <a:r>
              <a:rPr sz="1700" b="0" i="0">
                <a:solidFill>
                  <a:srgbClr val="1C252B"/>
                </a:solidFill>
                <a:latin typeface="Cambria"/>
              </a:rPr>
              <a:t> </a:t>
            </a:r>
            <a:r>
              <a:rPr sz="1700" b="0" i="1">
                <a:solidFill>
                  <a:srgbClr val="1C252B"/>
                </a:solidFill>
                <a:latin typeface="Cambria"/>
              </a:rPr>
              <a:t>C</a:t>
            </a:r>
            <a:r>
              <a:rPr sz="1700" b="0" i="0">
                <a:solidFill>
                  <a:srgbClr val="1C252B"/>
                </a:solidFill>
                <a:latin typeface="Segoe UI"/>
              </a:rPr>
              <a:t> or </a:t>
            </a:r>
            <a:r>
              <a:rPr sz="1700" b="0" i="1">
                <a:solidFill>
                  <a:srgbClr val="1C252B"/>
                </a:solidFill>
                <a:latin typeface="Cambria"/>
              </a:rPr>
              <a:t>A</a:t>
            </a:r>
            <a:r>
              <a:rPr sz="1700" b="0" i="0">
                <a:solidFill>
                  <a:srgbClr val="1C252B"/>
                </a:solidFill>
                <a:latin typeface="Cambria"/>
              </a:rPr>
              <a:t> → </a:t>
            </a:r>
            <a:r>
              <a:rPr sz="1700" b="0" i="1">
                <a:solidFill>
                  <a:srgbClr val="1C252B"/>
                </a:solidFill>
                <a:latin typeface="Cambria"/>
              </a:rPr>
              <a:t>w</a:t>
            </a:r>
            <a:r>
              <a:rPr sz="1700" b="0" i="0">
                <a:solidFill>
                  <a:srgbClr val="1C252B"/>
                </a:solidFill>
                <a:latin typeface="Segoe UI"/>
              </a:rPr>
              <a:t>, which is what </a:t>
            </a:r>
            <a:r>
              <a:rPr sz="1700" b="1" i="0">
                <a:solidFill>
                  <a:srgbClr val="1A5276"/>
                </a:solidFill>
                <a:latin typeface="Segoe UI"/>
              </a:rPr>
              <a:t>CYK</a:t>
            </a:r>
            <a:r>
              <a:rPr sz="1700" b="0" i="0">
                <a:solidFill>
                  <a:srgbClr val="1C252B"/>
                </a:solidFill>
                <a:latin typeface="Segoe UI"/>
              </a:rPr>
              <a:t> needs.</a:t>
            </a:r>
          </a:p>
        </p:txBody>
      </p:sp>
      <p:sp>
        <p:nvSpPr>
          <p:cNvPr id="13" name="!!sb2">
            <a:extLst>
              <a:ext uri="{C183D7F6-B498-43B3-948B-1728B52AA6E4}">
                <adec:decorative xmlns:adec="http://schemas.microsoft.com/office/drawing/2017/decorative" val="1"/>
              </a:ext>
            </a:extLst>
          </p:cNvPr>
          <p:cNvSpPr/>
          <p:nvPr/>
        </p:nvSpPr>
        <p:spPr>
          <a:xfrm>
            <a:off x="658368" y="3190036"/>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sbn2"/>
          <p:cNvSpPr txBox="1"/>
          <p:nvPr/>
        </p:nvSpPr>
        <p:spPr>
          <a:xfrm>
            <a:off x="658368" y="3244900"/>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5" name="!!st2"/>
          <p:cNvSpPr txBox="1"/>
          <p:nvPr/>
        </p:nvSpPr>
        <p:spPr>
          <a:xfrm>
            <a:off x="1298448" y="3180892"/>
            <a:ext cx="10234879" cy="40233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CYK is dynamic programming over spans, costs </a:t>
            </a:r>
            <a:r>
              <a:rPr sz="1700" b="0" i="1">
                <a:solidFill>
                  <a:srgbClr val="1C252B"/>
                </a:solidFill>
                <a:latin typeface="Cambria"/>
              </a:rPr>
              <a:t>O</a:t>
            </a:r>
            <a:r>
              <a:rPr sz="1700" b="0" i="0">
                <a:solidFill>
                  <a:srgbClr val="1C252B"/>
                </a:solidFill>
                <a:latin typeface="Cambria"/>
              </a:rPr>
              <a:t>(</a:t>
            </a:r>
            <a:r>
              <a:rPr sz="1700" b="0" i="1">
                <a:solidFill>
                  <a:srgbClr val="1C252B"/>
                </a:solidFill>
                <a:latin typeface="Cambria"/>
              </a:rPr>
              <a:t>n</a:t>
            </a:r>
            <a:r>
              <a:rPr sz="1100" b="0" i="0" baseline="30000">
                <a:solidFill>
                  <a:srgbClr val="1C252B"/>
                </a:solidFill>
                <a:latin typeface="Cambria"/>
              </a:rPr>
              <a:t>3</a:t>
            </a:r>
            <a:r>
              <a:rPr sz="1700" b="0" i="0">
                <a:solidFill>
                  <a:srgbClr val="1C252B"/>
                </a:solidFill>
                <a:latin typeface="Cambria"/>
              </a:rPr>
              <a:t>|</a:t>
            </a:r>
            <a:r>
              <a:rPr sz="1700" b="0" i="1">
                <a:solidFill>
                  <a:srgbClr val="1C252B"/>
                </a:solidFill>
                <a:latin typeface="Cambria"/>
              </a:rPr>
              <a:t>G</a:t>
            </a:r>
            <a:r>
              <a:rPr sz="1700" b="0" i="0">
                <a:solidFill>
                  <a:srgbClr val="1C252B"/>
                </a:solidFill>
                <a:latin typeface="Cambria"/>
              </a:rPr>
              <a:t>|)</a:t>
            </a:r>
            <a:r>
              <a:rPr sz="1700" b="0" i="0">
                <a:solidFill>
                  <a:srgbClr val="1C252B"/>
                </a:solidFill>
                <a:latin typeface="Segoe UI"/>
              </a:rPr>
              <a:t>, and finds </a:t>
            </a:r>
            <a:r>
              <a:rPr sz="1700" b="0" i="1">
                <a:solidFill>
                  <a:srgbClr val="1C252B"/>
                </a:solidFill>
                <a:latin typeface="Segoe UI"/>
              </a:rPr>
              <a:t>every</a:t>
            </a:r>
            <a:r>
              <a:rPr sz="1700" b="0" i="0">
                <a:solidFill>
                  <a:srgbClr val="1C252B"/>
                </a:solidFill>
                <a:latin typeface="Segoe UI"/>
              </a:rPr>
              <a:t> parse without backtracking.</a:t>
            </a:r>
          </a:p>
        </p:txBody>
      </p:sp>
      <p:sp>
        <p:nvSpPr>
          <p:cNvPr id="16" name="!!sb3">
            <a:extLst>
              <a:ext uri="{C183D7F6-B498-43B3-948B-1728B52AA6E4}">
                <adec:decorative xmlns:adec="http://schemas.microsoft.com/office/drawing/2017/decorative" val="1"/>
              </a:ext>
            </a:extLst>
          </p:cNvPr>
          <p:cNvSpPr/>
          <p:nvPr/>
        </p:nvSpPr>
        <p:spPr>
          <a:xfrm>
            <a:off x="658368" y="3775252"/>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sbn3"/>
          <p:cNvSpPr txBox="1"/>
          <p:nvPr/>
        </p:nvSpPr>
        <p:spPr>
          <a:xfrm>
            <a:off x="658368" y="3830116"/>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8" name="!!st3"/>
          <p:cNvSpPr txBox="1"/>
          <p:nvPr/>
        </p:nvSpPr>
        <p:spPr>
          <a:xfrm>
            <a:off x="1298448" y="3766108"/>
            <a:ext cx="10234879" cy="808329"/>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1A5276"/>
                </a:solidFill>
                <a:latin typeface="Segoe UI"/>
              </a:rPr>
              <a:t>Ambiguity</a:t>
            </a:r>
            <a:r>
              <a:rPr sz="1700" b="0" i="0">
                <a:solidFill>
                  <a:srgbClr val="1C252B"/>
                </a:solidFill>
                <a:latin typeface="Segoe UI"/>
              </a:rPr>
              <a:t> is the normal case, not a defect: three of five subject lines here have two readings, and each extra prepositional phrase roughly doubles the count. Returning two trees is the honest answer and tells the system when to ask a person.</a:t>
            </a:r>
          </a:p>
        </p:txBody>
      </p:sp>
      <p:sp>
        <p:nvSpPr>
          <p:cNvPr id="19" name="!!sb4">
            <a:extLst>
              <a:ext uri="{C183D7F6-B498-43B3-948B-1728B52AA6E4}">
                <adec:decorative xmlns:adec="http://schemas.microsoft.com/office/drawing/2017/decorative" val="1"/>
              </a:ext>
            </a:extLst>
          </p:cNvPr>
          <p:cNvSpPr/>
          <p:nvPr/>
        </p:nvSpPr>
        <p:spPr>
          <a:xfrm>
            <a:off x="658368" y="4766462"/>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sbn4"/>
          <p:cNvSpPr txBox="1"/>
          <p:nvPr/>
        </p:nvSpPr>
        <p:spPr>
          <a:xfrm>
            <a:off x="658368" y="4821326"/>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1" name="!!st4"/>
          <p:cNvSpPr txBox="1"/>
          <p:nvPr/>
        </p:nvSpPr>
        <p:spPr>
          <a:xfrm>
            <a:off x="1298448" y="4757318"/>
            <a:ext cx="10234879" cy="1077772"/>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1A5276"/>
                </a:solidFill>
                <a:latin typeface="Segoe UI"/>
              </a:rPr>
              <a:t>Eliza</a:t>
            </a:r>
            <a:r>
              <a:rPr sz="1700" b="0" i="0">
                <a:solidFill>
                  <a:srgbClr val="1C252B"/>
                </a:solidFill>
                <a:latin typeface="Segoe UI"/>
              </a:rPr>
              <a:t> matched patterns and swapped pronouns in a few hundred lines, and people attributed understanding to it. The </a:t>
            </a:r>
            <a:r>
              <a:rPr sz="1700" b="1" i="0">
                <a:solidFill>
                  <a:srgbClr val="1A5276"/>
                </a:solidFill>
                <a:latin typeface="Segoe UI"/>
              </a:rPr>
              <a:t>Eliza effect</a:t>
            </a:r>
            <a:r>
              <a:rPr sz="1700" b="0" i="0">
                <a:solidFill>
                  <a:srgbClr val="1C252B"/>
                </a:solidFill>
                <a:latin typeface="Segoe UI"/>
              </a:rPr>
              <a:t> is that fluency compels that attribution regardless of what is underneath — which is why Chapter 1’s checklist, and not your impression of a transcript, is the instrument to use.</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10550505"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to take away (continued)</a:t>
            </a:r>
          </a:p>
        </p:txBody>
      </p:sp>
      <p:pic>
        <p:nvPicPr>
          <p:cNvPr id="3" name="!!kicker-icon" descr="clipboard-check-15425E.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6683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5425E"/>
                </a:solidFill>
                <a:latin typeface="Segoe UI"/>
              </a:rPr>
              <a:t>CHAPTER SUMMARY</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18  ·  Natural Language Processing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196     </a:t>
            </a:r>
            <a:fld id="{7CC543D8-66E3-4059-8C2C-7D3562E073F7}" type="slidenum">
              <a:rPr lang="en-GB" sz="1000">
                <a:solidFill>
                  <a:srgbClr val="8795A1"/>
                </a:solidFill>
                <a:latin typeface="Segoe UI"/>
              </a:rPr>
              <a:t>46</a:t>
            </a:fld>
          </a:p>
        </p:txBody>
      </p:sp>
      <p:sp>
        <p:nvSpPr>
          <p:cNvPr id="7" name="!!sb5">
            <a:extLst>
              <a:ext uri="{C183D7F6-B498-43B3-948B-1728B52AA6E4}">
                <adec:decorative xmlns:adec="http://schemas.microsoft.com/office/drawing/2017/decorative" val="1"/>
              </a:ext>
            </a:extLst>
          </p:cNvPr>
          <p:cNvSpPr/>
          <p:nvPr/>
        </p:nvSpPr>
        <p:spPr>
          <a:xfrm>
            <a:off x="658368" y="1746504"/>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sbn5"/>
          <p:cNvSpPr txBox="1"/>
          <p:nvPr/>
        </p:nvSpPr>
        <p:spPr>
          <a:xfrm>
            <a:off x="658368" y="1801368"/>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6</a:t>
            </a:r>
          </a:p>
        </p:txBody>
      </p:sp>
      <p:sp>
        <p:nvSpPr>
          <p:cNvPr id="9" name="!!st5"/>
          <p:cNvSpPr txBox="1"/>
          <p:nvPr/>
        </p:nvSpPr>
        <p:spPr>
          <a:xfrm>
            <a:off x="1298448" y="1737360"/>
            <a:ext cx="10234879" cy="40233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Pattern substitution is Chapter 12’s unification restricted to strings.</a:t>
            </a:r>
          </a:p>
        </p:txBody>
      </p:sp>
      <p:sp>
        <p:nvSpPr>
          <p:cNvPr id="10" name="!!sb6">
            <a:extLst>
              <a:ext uri="{C183D7F6-B498-43B3-948B-1728B52AA6E4}">
                <adec:decorative xmlns:adec="http://schemas.microsoft.com/office/drawing/2017/decorative" val="1"/>
              </a:ext>
            </a:extLst>
          </p:cNvPr>
          <p:cNvSpPr/>
          <p:nvPr/>
        </p:nvSpPr>
        <p:spPr>
          <a:xfrm>
            <a:off x="658368" y="2331720"/>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sbn6"/>
          <p:cNvSpPr txBox="1"/>
          <p:nvPr/>
        </p:nvSpPr>
        <p:spPr>
          <a:xfrm>
            <a:off x="658368" y="2386584"/>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7</a:t>
            </a:r>
          </a:p>
        </p:txBody>
      </p:sp>
      <p:sp>
        <p:nvSpPr>
          <p:cNvPr id="12" name="!!st6"/>
          <p:cNvSpPr txBox="1"/>
          <p:nvPr/>
        </p:nvSpPr>
        <p:spPr>
          <a:xfrm>
            <a:off x="1298448" y="2322576"/>
            <a:ext cx="10234879" cy="80832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An </a:t>
            </a:r>
            <a:r>
              <a:rPr sz="1700" b="1" i="0">
                <a:solidFill>
                  <a:srgbClr val="1A5276"/>
                </a:solidFill>
                <a:latin typeface="Segoe UI"/>
              </a:rPr>
              <a:t>n-gram</a:t>
            </a:r>
            <a:r>
              <a:rPr sz="1700" b="0" i="0">
                <a:solidFill>
                  <a:srgbClr val="1C252B"/>
                </a:solidFill>
                <a:latin typeface="Segoe UI"/>
              </a:rPr>
              <a:t> model applies the </a:t>
            </a:r>
            <a:r>
              <a:rPr sz="1700" b="1" i="0">
                <a:solidFill>
                  <a:srgbClr val="1A5276"/>
                </a:solidFill>
                <a:latin typeface="Segoe UI"/>
              </a:rPr>
              <a:t>Markov assumption</a:t>
            </a:r>
            <a:r>
              <a:rPr sz="1700" b="0" i="0">
                <a:solidFill>
                  <a:srgbClr val="1C252B"/>
                </a:solidFill>
                <a:latin typeface="Segoe UI"/>
              </a:rPr>
              <a:t> and is pure counting. </a:t>
            </a:r>
            <a:r>
              <a:rPr sz="1700" b="1" i="0">
                <a:solidFill>
                  <a:srgbClr val="1A5276"/>
                </a:solidFill>
                <a:latin typeface="Segoe UI"/>
              </a:rPr>
              <a:t>Sparsity</a:t>
            </a:r>
            <a:r>
              <a:rPr sz="1700" b="0" i="0">
                <a:solidFill>
                  <a:srgbClr val="1C252B"/>
                </a:solidFill>
                <a:latin typeface="Segoe UI"/>
              </a:rPr>
              <a:t> is fixable by smoothing; the </a:t>
            </a:r>
            <a:r>
              <a:rPr sz="1700" b="0" i="1">
                <a:solidFill>
                  <a:srgbClr val="1C252B"/>
                </a:solidFill>
                <a:latin typeface="Segoe UI"/>
              </a:rPr>
              <a:t>fixed window</a:t>
            </a:r>
            <a:r>
              <a:rPr sz="1700" b="0" i="0">
                <a:solidFill>
                  <a:srgbClr val="1C252B"/>
                </a:solidFill>
                <a:latin typeface="Segoe UI"/>
              </a:rPr>
              <a:t> is not, and a nine-word dependency defeats it at any corpus size. Grammars capture structure and are brittle; counting is robust and structurally blind.</a:t>
            </a:r>
          </a:p>
        </p:txBody>
      </p:sp>
      <p:sp>
        <p:nvSpPr>
          <p:cNvPr id="2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pfill">
            <a:extLst>
              <a:ext uri="{C183D7F6-B498-43B3-948B-1728B52AA6E4}">
                <adec:decorative xmlns:adec="http://schemas.microsoft.com/office/drawing/2017/decorative" val="1"/>
              </a:ext>
            </a:extLst>
          </p:cNvPr>
          <p:cNvSpPr/>
          <p:nvPr/>
        </p:nvSpPr>
        <p:spPr>
          <a:xfrm>
            <a:off x="0" y="0"/>
            <a:ext cx="10784961"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1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18  ·  Natural Language Processing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196     </a:t>
            </a:r>
            <a:fld id="{FDEF90E0-7E72-45D4-849A-A7E62F374331}" type="slidenum">
              <a:rPr lang="en-GB" sz="1000">
                <a:solidFill>
                  <a:srgbClr val="8795A1"/>
                </a:solidFill>
                <a:latin typeface="Segoe UI"/>
              </a:rPr>
              <a:t>47</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CYK requires the grammar to be in:</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Backus–Naur form</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Chomsky normal form</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Greibach normal form</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any context-free form</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019416"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2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18  ·  Natural Language Processing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196     </a:t>
            </a:r>
            <a:fld id="{64AB2A6C-D9DF-42D7-A839-3E291CCF902E}" type="slidenum">
              <a:rPr lang="en-GB" sz="1000">
                <a:solidFill>
                  <a:srgbClr val="8795A1"/>
                </a:solidFill>
                <a:latin typeface="Segoe UI"/>
              </a:rPr>
              <a:t>48</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The time complexity of CYK in the sentence length is:</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1">
                <a:solidFill>
                  <a:srgbClr val="1C252B"/>
                </a:solidFill>
                <a:latin typeface="Cambria"/>
              </a:rPr>
              <a:t>O</a:t>
            </a:r>
            <a:r>
              <a:rPr sz="2000" b="0" i="0">
                <a:solidFill>
                  <a:srgbClr val="1C252B"/>
                </a:solidFill>
                <a:latin typeface="Cambria"/>
              </a:rPr>
              <a:t>(</a:t>
            </a:r>
            <a:r>
              <a:rPr sz="2000" b="0" i="1">
                <a:solidFill>
                  <a:srgbClr val="1C252B"/>
                </a:solidFill>
                <a:latin typeface="Cambria"/>
              </a:rPr>
              <a:t>n</a:t>
            </a:r>
            <a:r>
              <a:rPr sz="2000" b="0" i="0">
                <a:solidFill>
                  <a:srgbClr val="1C252B"/>
                </a:solidFill>
                <a:latin typeface="Cambria"/>
              </a:rPr>
              <a:t>)</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1">
                <a:solidFill>
                  <a:srgbClr val="1C252B"/>
                </a:solidFill>
                <a:latin typeface="Cambria"/>
              </a:rPr>
              <a:t>O</a:t>
            </a:r>
            <a:r>
              <a:rPr sz="2000" b="0" i="0">
                <a:solidFill>
                  <a:srgbClr val="1C252B"/>
                </a:solidFill>
                <a:latin typeface="Cambria"/>
              </a:rPr>
              <a:t>(</a:t>
            </a:r>
            <a:r>
              <a:rPr sz="2000" b="0" i="1">
                <a:solidFill>
                  <a:srgbClr val="1C252B"/>
                </a:solidFill>
                <a:latin typeface="Cambria"/>
              </a:rPr>
              <a:t>n</a:t>
            </a:r>
            <a:r>
              <a:rPr sz="1300" b="0" i="0" baseline="30000">
                <a:solidFill>
                  <a:srgbClr val="1C252B"/>
                </a:solidFill>
                <a:latin typeface="Cambria"/>
              </a:rPr>
              <a:t>2</a:t>
            </a:r>
            <a:r>
              <a:rPr sz="2000" b="0" i="0">
                <a:solidFill>
                  <a:srgbClr val="1C252B"/>
                </a:solidFill>
                <a:latin typeface="Cambria"/>
              </a:rPr>
              <a:t>)</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1">
                <a:solidFill>
                  <a:srgbClr val="1C252B"/>
                </a:solidFill>
                <a:latin typeface="Cambria"/>
              </a:rPr>
              <a:t>O</a:t>
            </a:r>
            <a:r>
              <a:rPr sz="2000" b="0" i="0">
                <a:solidFill>
                  <a:srgbClr val="1C252B"/>
                </a:solidFill>
                <a:latin typeface="Cambria"/>
              </a:rPr>
              <a:t>(</a:t>
            </a:r>
            <a:r>
              <a:rPr sz="2000" b="0" i="1">
                <a:solidFill>
                  <a:srgbClr val="1C252B"/>
                </a:solidFill>
                <a:latin typeface="Cambria"/>
              </a:rPr>
              <a:t>n</a:t>
            </a:r>
            <a:r>
              <a:rPr sz="1300" b="0" i="0" baseline="30000">
                <a:solidFill>
                  <a:srgbClr val="1C252B"/>
                </a:solidFill>
                <a:latin typeface="Cambria"/>
              </a:rPr>
              <a:t>3</a:t>
            </a:r>
            <a:r>
              <a:rPr sz="2000" b="0" i="0">
                <a:solidFill>
                  <a:srgbClr val="1C252B"/>
                </a:solidFill>
                <a:latin typeface="Cambria"/>
              </a:rPr>
              <a:t>)</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1">
                <a:solidFill>
                  <a:srgbClr val="1C252B"/>
                </a:solidFill>
                <a:latin typeface="Cambria"/>
              </a:rPr>
              <a:t>O</a:t>
            </a:r>
            <a:r>
              <a:rPr sz="2000" b="0" i="0">
                <a:solidFill>
                  <a:srgbClr val="1C252B"/>
                </a:solidFill>
                <a:latin typeface="Cambria"/>
              </a:rPr>
              <a:t>(2</a:t>
            </a:r>
            <a:r>
              <a:rPr sz="1300" b="0" i="1" baseline="30000">
                <a:solidFill>
                  <a:srgbClr val="1C252B"/>
                </a:solidFill>
                <a:latin typeface="Cambria"/>
              </a:rPr>
              <a:t>n</a:t>
            </a:r>
            <a:r>
              <a:rPr sz="2000" b="0" i="0">
                <a:solidFill>
                  <a:srgbClr val="1C252B"/>
                </a:solidFill>
                <a:latin typeface="Cambria"/>
              </a:rPr>
              <a:t>)</a:t>
            </a:r>
            <a:r>
              <a:rPr sz="2000" b="0" i="0">
                <a:solidFill>
                  <a:srgbClr val="1C252B"/>
                </a:solidFill>
                <a:latin typeface="Segoe UI"/>
              </a:rPr>
              <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253872"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3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18  ·  Natural Language Processing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196     </a:t>
            </a:r>
            <a:fld id="{96D491E9-DC5A-4100-B05B-95016CA3EABF}" type="slidenum">
              <a:rPr lang="en-GB" sz="1000">
                <a:solidFill>
                  <a:srgbClr val="8795A1"/>
                </a:solidFill>
                <a:latin typeface="Segoe UI"/>
              </a:rPr>
              <a:t>49</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Eliza’s mechanism is closest to:</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chart parsing</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unification restricted to strings</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an n-gram model</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forward chaining</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488328"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4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18  ·  Natural Language Processing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196     </a:t>
            </a:r>
            <a:fld id="{10061D56-96CA-40B0-9F3F-D933C2A60FC0}" type="slidenum">
              <a:rPr lang="en-GB" sz="1000">
                <a:solidFill>
                  <a:srgbClr val="8795A1"/>
                </a:solidFill>
                <a:latin typeface="Segoe UI"/>
              </a:rPr>
              <a:t>50</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Smoothing an n-gram model addresses:</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fixed window</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sparsity</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structural ambiguity</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Markov assumption</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722783"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For your notebook</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QUESTIONS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18  ·  Natural Language Processing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196     </a:t>
            </a:r>
            <a:fld id="{E8EC4EFB-79E1-4BE2-8FF3-2A07070A86E0}" type="slidenum">
              <a:rPr lang="en-GB" sz="1000">
                <a:solidFill>
                  <a:srgbClr val="8795A1"/>
                </a:solidFill>
                <a:latin typeface="Segoe UI"/>
              </a:rPr>
              <a:t>51</a:t>
            </a:fld>
          </a:p>
        </p:txBody>
      </p:sp>
      <p:sp>
        <p:nvSpPr>
          <p:cNvPr id="7" name="!!rt0">
            <a:extLst>
              <a:ext uri="{C183D7F6-B498-43B3-948B-1728B52AA6E4}">
                <adec:decorative xmlns:adec="http://schemas.microsoft.com/office/drawing/2017/decorative" val="1"/>
              </a:ext>
            </a:extLst>
          </p:cNvPr>
          <p:cNvSpPr/>
          <p:nvPr/>
        </p:nvSpPr>
        <p:spPr>
          <a:xfrm>
            <a:off x="658368" y="1755648"/>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rtt0"/>
          <p:cNvSpPr txBox="1"/>
          <p:nvPr/>
        </p:nvSpPr>
        <p:spPr>
          <a:xfrm>
            <a:off x="658368" y="1796795"/>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9" name="!!rq0"/>
          <p:cNvSpPr txBox="1"/>
          <p:nvPr/>
        </p:nvSpPr>
        <p:spPr>
          <a:xfrm>
            <a:off x="1892807" y="1737360"/>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Give the two readings of </a:t>
            </a:r>
            <a:r>
              <a:rPr sz="1800" b="0" i="0">
                <a:solidFill>
                  <a:srgbClr val="1F4E79"/>
                </a:solidFill>
                <a:latin typeface="Consolas"/>
              </a:rPr>
              <a:t>fix the login error on the         gateway</a:t>
            </a:r>
            <a:r>
              <a:rPr sz="1900" b="0" i="0">
                <a:solidFill>
                  <a:srgbClr val="1C252B"/>
                </a:solidFill>
                <a:latin typeface="Segoe UI"/>
              </a:rPr>
              <a:t> and say which one a routing system would need to disambiguate before acting.</a:t>
            </a:r>
          </a:p>
        </p:txBody>
      </p:sp>
      <p:sp>
        <p:nvSpPr>
          <p:cNvPr id="10" name="!!rt1">
            <a:extLst>
              <a:ext uri="{C183D7F6-B498-43B3-948B-1728B52AA6E4}">
                <adec:decorative xmlns:adec="http://schemas.microsoft.com/office/drawing/2017/decorative" val="1"/>
              </a:ext>
            </a:extLst>
          </p:cNvPr>
          <p:cNvSpPr/>
          <p:nvPr/>
        </p:nvSpPr>
        <p:spPr>
          <a:xfrm>
            <a:off x="658368" y="2577388"/>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tt1"/>
          <p:cNvSpPr txBox="1"/>
          <p:nvPr/>
        </p:nvSpPr>
        <p:spPr>
          <a:xfrm>
            <a:off x="658368" y="2618536"/>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2" name="!!rq1"/>
          <p:cNvSpPr txBox="1"/>
          <p:nvPr/>
        </p:nvSpPr>
        <p:spPr>
          <a:xfrm>
            <a:off x="1892807" y="2559100"/>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Explain why returning no parse is a more useful failure than returning a guess, with a service-desk example.</a:t>
            </a:r>
          </a:p>
        </p:txBody>
      </p:sp>
      <p:sp>
        <p:nvSpPr>
          <p:cNvPr id="13" name="!!rt2">
            <a:extLst>
              <a:ext uri="{C183D7F6-B498-43B3-948B-1728B52AA6E4}">
                <adec:decorative xmlns:adec="http://schemas.microsoft.com/office/drawing/2017/decorative" val="1"/>
              </a:ext>
            </a:extLst>
          </p:cNvPr>
          <p:cNvSpPr/>
          <p:nvPr/>
        </p:nvSpPr>
        <p:spPr>
          <a:xfrm>
            <a:off x="658368" y="3399129"/>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rtt2"/>
          <p:cNvSpPr txBox="1"/>
          <p:nvPr/>
        </p:nvSpPr>
        <p:spPr>
          <a:xfrm>
            <a:off x="658368" y="3440277"/>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5" name="!!rq2"/>
          <p:cNvSpPr txBox="1"/>
          <p:nvPr/>
        </p:nvSpPr>
        <p:spPr>
          <a:xfrm>
            <a:off x="1892807" y="3380841"/>
            <a:ext cx="9549079" cy="30114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State the Eliza effect and say why it is relevant to evaluating a modern language system.</a:t>
            </a:r>
          </a:p>
        </p:txBody>
      </p:sp>
      <p:sp>
        <p:nvSpPr>
          <p:cNvPr id="16" name="!!rt3">
            <a:extLst>
              <a:ext uri="{C183D7F6-B498-43B3-948B-1728B52AA6E4}">
                <adec:decorative xmlns:adec="http://schemas.microsoft.com/office/drawing/2017/decorative" val="1"/>
              </a:ext>
            </a:extLst>
          </p:cNvPr>
          <p:cNvSpPr/>
          <p:nvPr/>
        </p:nvSpPr>
        <p:spPr>
          <a:xfrm>
            <a:off x="658368" y="3919727"/>
            <a:ext cx="1051560" cy="310896"/>
          </a:xfrm>
          <a:prstGeom prst="roundRect">
            <a:avLst>
              <a:gd name="adj" fmla="val 50000"/>
            </a:avLst>
          </a:prstGeom>
          <a:solidFill>
            <a:srgbClr val="E2EF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tt3"/>
          <p:cNvSpPr txBox="1"/>
          <p:nvPr/>
        </p:nvSpPr>
        <p:spPr>
          <a:xfrm>
            <a:off x="658368" y="3960876"/>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07964"/>
                </a:solidFill>
                <a:latin typeface="Segoe UI"/>
              </a:rPr>
              <a:t>APPLIED</a:t>
            </a:r>
          </a:p>
        </p:txBody>
      </p:sp>
      <p:sp>
        <p:nvSpPr>
          <p:cNvPr id="18" name="!!rq3"/>
          <p:cNvSpPr txBox="1"/>
          <p:nvPr/>
        </p:nvSpPr>
        <p:spPr>
          <a:xfrm>
            <a:off x="1892807" y="3901440"/>
            <a:ext cx="9549079" cy="903427"/>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Add the rule </a:t>
            </a:r>
            <a:r>
              <a:rPr sz="1900" b="0" i="1">
                <a:solidFill>
                  <a:srgbClr val="1C252B"/>
                </a:solidFill>
                <a:latin typeface="Cambria"/>
              </a:rPr>
              <a:t>VP</a:t>
            </a:r>
            <a:r>
              <a:rPr sz="1900" b="0" i="0">
                <a:solidFill>
                  <a:srgbClr val="1C252B"/>
                </a:solidFill>
                <a:latin typeface="Cambria"/>
              </a:rPr>
              <a:t> → </a:t>
            </a:r>
            <a:r>
              <a:rPr sz="1900" b="0" i="1">
                <a:solidFill>
                  <a:srgbClr val="1C252B"/>
                </a:solidFill>
                <a:latin typeface="Cambria"/>
              </a:rPr>
              <a:t>V</a:t>
            </a:r>
            <a:r>
              <a:rPr sz="1900" b="0" i="0">
                <a:solidFill>
                  <a:srgbClr val="1C252B"/>
                </a:solidFill>
                <a:latin typeface="Segoe UI"/>
              </a:rPr>
              <a:t> (an intransitive verb, as in </a:t>
            </a:r>
            <a:r>
              <a:rPr sz="1800" b="0" i="0">
                <a:solidFill>
                  <a:srgbClr val="1F4E79"/>
                </a:solidFill>
                <a:latin typeface="Consolas"/>
              </a:rPr>
              <a:t>restart</a:t>
            </a:r>
            <a:r>
              <a:rPr sz="1900" b="0" i="0">
                <a:solidFill>
                  <a:srgbClr val="1C252B"/>
                </a:solidFill>
                <a:latin typeface="Segoe UI"/>
              </a:rPr>
              <a:t>) to the grammar, and re-count the parses of </a:t>
            </a:r>
            <a:r>
              <a:rPr sz="1800" b="0" i="0">
                <a:solidFill>
                  <a:srgbClr val="1F4E79"/>
                </a:solidFill>
                <a:latin typeface="Consolas"/>
              </a:rPr>
              <a:t>restart the server after the timeout</a:t>
            </a:r>
            <a:r>
              <a:rPr sz="1900" b="0" i="0">
                <a:solidFill>
                  <a:srgbClr val="1C252B"/>
                </a:solidFill>
                <a:latin typeface="Segoe UI"/>
              </a:rPr>
              <a:t>. Explain the change, and say what it illustrates about adding rules to a grammar.</a:t>
            </a:r>
          </a:p>
        </p:txBody>
      </p:sp>
      <p:sp>
        <p:nvSpPr>
          <p:cNvPr id="1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fill">
            <a:extLst>
              <a:ext uri="{C183D7F6-B498-43B3-948B-1728B52AA6E4}">
                <adec:decorative xmlns:adec="http://schemas.microsoft.com/office/drawing/2017/decorative" val="1"/>
              </a:ext>
            </a:extLst>
          </p:cNvPr>
          <p:cNvSpPr/>
          <p:nvPr/>
        </p:nvSpPr>
        <p:spPr>
          <a:xfrm>
            <a:off x="0" y="0"/>
            <a:ext cx="11957239"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705B06"/>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7B681A"/>
                </a:solidFill>
                <a:latin typeface="Segoe UI Black"/>
              </a:rPr>
              <a:t>18</a:t>
            </a:r>
          </a:p>
        </p:txBody>
      </p:sp>
      <p:sp>
        <p:nvSpPr>
          <p:cNvPr id="2" name="!!title"/>
          <p:cNvSpPr>
            <a:spLocks noGrp="1"/>
          </p:cNvSpPr>
          <p:nvPr>
            <p:ph type="title"/>
          </p:nvPr>
        </p:nvSpPr>
        <p:spPr>
          <a:xfrm>
            <a:off x="658368" y="1243584"/>
            <a:ext cx="8229600" cy="822960"/>
          </a:xfrm>
        </p:spPr>
        <p:txBody>
          <a:bodyPr wrap="square" lIns="0" rIns="0" tIns="0" bIns="0" anchor="t">
            <a:noAutofit/>
          </a:bodyPr>
          <a:lstStyle/>
          <a:p>
            <a:pPr algn="l">
              <a:lnSpc>
                <a:spcPct val="96000"/>
              </a:lnSpc>
            </a:pPr>
            <a:r>
              <a:rPr sz="4000" b="0">
                <a:solidFill>
                  <a:srgbClr val="FFFFFF"/>
                </a:solidFill>
                <a:latin typeface="Segoe UI Semibold"/>
              </a:rPr>
              <a:t>End of Chapter 18</a:t>
            </a:r>
          </a:p>
        </p:txBody>
      </p:sp>
      <p:sp>
        <p:nvSpPr>
          <p:cNvPr id="4" name="!!tbar">
            <a:extLst>
              <a:ext uri="{C183D7F6-B498-43B3-948B-1728B52AA6E4}">
                <adec:decorative xmlns:adec="http://schemas.microsoft.com/office/drawing/2017/decorative" val="1"/>
              </a:ext>
            </a:extLst>
          </p:cNvPr>
          <p:cNvSpPr/>
          <p:nvPr/>
        </p:nvSpPr>
        <p:spPr>
          <a:xfrm>
            <a:off x="658368" y="102412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cl0">
            <a:extLst>
              <a:ext uri="{C183D7F6-B498-43B3-948B-1728B52AA6E4}">
                <adec:decorative xmlns:adec="http://schemas.microsoft.com/office/drawing/2017/decorative" val="1"/>
              </a:ext>
            </a:extLst>
          </p:cNvPr>
          <p:cNvSpPr/>
          <p:nvPr/>
        </p:nvSpPr>
        <p:spPr>
          <a:xfrm>
            <a:off x="658368" y="2286000"/>
            <a:ext cx="5300319" cy="1097280"/>
          </a:xfrm>
          <a:prstGeom prst="roundRect">
            <a:avLst>
              <a:gd name="adj" fmla="val 8333"/>
            </a:avLst>
          </a:prstGeom>
          <a:solidFill>
            <a:srgbClr val="574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cll0"/>
          <p:cNvSpPr txBox="1"/>
          <p:nvPr/>
        </p:nvSpPr>
        <p:spPr>
          <a:xfrm>
            <a:off x="932688"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C9C1A0"/>
                </a:solidFill>
                <a:latin typeface="Segoe UI"/>
              </a:rPr>
              <a:t>NEXT</a:t>
            </a:r>
          </a:p>
        </p:txBody>
      </p:sp>
      <p:sp>
        <p:nvSpPr>
          <p:cNvPr id="7" name="!!clv0"/>
          <p:cNvSpPr txBox="1"/>
          <p:nvPr/>
        </p:nvSpPr>
        <p:spPr>
          <a:xfrm>
            <a:off x="932688"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1900" b="0" i="0">
                <a:solidFill>
                  <a:srgbClr val="FFFFFF"/>
                </a:solidFill>
                <a:latin typeface="Segoe UI Semibold"/>
              </a:rPr>
              <a:t>Chapter 19 — Classic AI Systems and How to Analyse Them</a:t>
            </a:r>
          </a:p>
        </p:txBody>
      </p:sp>
      <p:sp>
        <p:nvSpPr>
          <p:cNvPr id="8" name="!!cl1">
            <a:extLst>
              <a:ext uri="{C183D7F6-B498-43B3-948B-1728B52AA6E4}">
                <adec:decorative xmlns:adec="http://schemas.microsoft.com/office/drawing/2017/decorative" val="1"/>
              </a:ext>
            </a:extLst>
          </p:cNvPr>
          <p:cNvSpPr/>
          <p:nvPr/>
        </p:nvSpPr>
        <p:spPr>
          <a:xfrm>
            <a:off x="6233007" y="2286000"/>
            <a:ext cx="5300319" cy="1097280"/>
          </a:xfrm>
          <a:prstGeom prst="roundRect">
            <a:avLst>
              <a:gd name="adj" fmla="val 8333"/>
            </a:avLst>
          </a:prstGeom>
          <a:solidFill>
            <a:srgbClr val="574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ll1"/>
          <p:cNvSpPr txBox="1"/>
          <p:nvPr/>
        </p:nvSpPr>
        <p:spPr>
          <a:xfrm>
            <a:off x="6507327"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C9C1A0"/>
                </a:solidFill>
                <a:latin typeface="Segoe UI"/>
              </a:rPr>
              <a:t>READ</a:t>
            </a:r>
          </a:p>
        </p:txBody>
      </p:sp>
      <p:sp>
        <p:nvSpPr>
          <p:cNvPr id="10" name="!!clv1"/>
          <p:cNvSpPr txBox="1"/>
          <p:nvPr/>
        </p:nvSpPr>
        <p:spPr>
          <a:xfrm>
            <a:off x="6507327"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Handout Chapter 18, pages 187–196</a:t>
            </a:r>
          </a:p>
        </p:txBody>
      </p:sp>
      <p:sp>
        <p:nvSpPr>
          <p:cNvPr id="11" name="!!cl2">
            <a:extLst>
              <a:ext uri="{C183D7F6-B498-43B3-948B-1728B52AA6E4}">
                <adec:decorative xmlns:adec="http://schemas.microsoft.com/office/drawing/2017/decorative" val="1"/>
              </a:ext>
            </a:extLst>
          </p:cNvPr>
          <p:cNvSpPr/>
          <p:nvPr/>
        </p:nvSpPr>
        <p:spPr>
          <a:xfrm>
            <a:off x="658368" y="3584448"/>
            <a:ext cx="5300319" cy="1097280"/>
          </a:xfrm>
          <a:prstGeom prst="roundRect">
            <a:avLst>
              <a:gd name="adj" fmla="val 8333"/>
            </a:avLst>
          </a:prstGeom>
          <a:solidFill>
            <a:srgbClr val="574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ll2"/>
          <p:cNvSpPr txBox="1"/>
          <p:nvPr/>
        </p:nvSpPr>
        <p:spPr>
          <a:xfrm>
            <a:off x="932688" y="3767328"/>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C9C1A0"/>
                </a:solidFill>
                <a:latin typeface="Segoe UI"/>
              </a:rPr>
              <a:t>THIS WEEK'S LAB</a:t>
            </a:r>
          </a:p>
        </p:txBody>
      </p:sp>
      <p:sp>
        <p:nvSpPr>
          <p:cNvPr id="13" name="!!clv2"/>
          <p:cNvSpPr txBox="1"/>
          <p:nvPr/>
        </p:nvSpPr>
        <p:spPr>
          <a:xfrm>
            <a:off x="932688" y="4059935"/>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1900" b="0" i="0">
                <a:solidFill>
                  <a:srgbClr val="FFFFFF"/>
                </a:solidFill>
                <a:latin typeface="Segoe UI Semibold"/>
              </a:rPr>
              <a:t>Parsing ticket subjects; four systems in one file</a:t>
            </a:r>
          </a:p>
        </p:txBody>
      </p:sp>
      <p:sp>
        <p:nvSpPr>
          <p:cNvPr id="1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18  ·  Natural Language Processing</a:t>
            </a:r>
          </a:p>
        </p:txBody>
      </p:sp>
      <p:sp>
        <p:nvSpPr>
          <p:cNvPr id="15" name="!!footR"/>
          <p:cNvSpPr txBox="1"/>
          <p:nvPr/>
        </p:nvSpPr>
        <p:spPr>
          <a:xfrm>
            <a:off x="6639595" y="6437376"/>
            <a:ext cx="4893731" cy="237744"/>
          </a:xfrm>
          <a:prstGeom prst="rect">
            <a:avLst/>
          </a:prstGeom>
          <a:noFill/>
        </p:spPr>
        <p:txBody>
          <a:bodyPr wrap="square" anchor="t" lIns="0" rIns="0" tIns="0" bIns="0">
            <a:noAutofit/>
          </a:bodyPr>
          <a:lstStyle/>
          <a:p>
            <a:pPr algn="r"/>
            <a:fld id="{90BD506E-B7FD-496E-8226-A2B2C78F0D9C}" type="slidenum">
              <a:rPr lang="en-GB" sz="1000">
                <a:solidFill>
                  <a:srgbClr val="D5DEE5"/>
                </a:solidFill>
                <a:latin typeface="Segoe UI"/>
              </a:rPr>
              <a:t>52</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theme/theme1.xml><?xml version="1.0" encoding="utf-8"?>
<a:theme xmlns:a="http://schemas.openxmlformats.org/drawingml/2006/main" name="Artificial Intelligence Fall 2026">
  <a:themeElements>
    <a:clrScheme name="Artificial Intelligence Fall 2026">
      <a:dk1>
        <a:srgbClr val="1C252B"/>
      </a:dk1>
      <a:lt1>
        <a:srgbClr val="FFFFFF"/>
      </a:lt1>
      <a:dk2>
        <a:srgbClr val="1A5276"/>
      </a:dk2>
      <a:lt2>
        <a:srgbClr val="EBF5FB"/>
      </a:lt2>
      <a:accent1>
        <a:srgbClr val="1A5276"/>
      </a:accent1>
      <a:accent2>
        <a:srgbClr val="2E86C1"/>
      </a:accent2>
      <a:accent3>
        <a:srgbClr val="E74C3C"/>
      </a:accent3>
      <a:accent4>
        <a:srgbClr val="27AE60"/>
      </a:accent4>
      <a:accent5>
        <a:srgbClr val="8E44AD"/>
      </a:accent5>
      <a:accent6>
        <a:srgbClr val="B7950B"/>
      </a:accent6>
      <a:hlink>
        <a:srgbClr val="2E86C1"/>
      </a:hlink>
      <a:folHlink>
        <a:srgbClr val="8E44AD"/>
      </a:folHlink>
    </a:clrScheme>
    <a:fontScheme name="Artificial Intelligence Fall 2026">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18: Natural Language Processing</dc:title>
  <dc:subject>Artificial Intelligence — Search, Knowledge and Reasoning · BSIT · Fall 2026</dc:subject>
  <dc:creator>Dr. Mustafa Hameed</dc:creator>
  <cp:keywords>artificial intelligence; lecture slides; BSIT; HEC; Fall 2026</cp:keywords>
  <dc:description>generated using python-pptx</dc:description>
  <cp:lastModifiedBy>Steve Canny</cp:lastModifiedBy>
  <cp:revision>1</cp:revision>
  <dcterms:created xsi:type="dcterms:W3CDTF">2013-01-27T09:14:16Z</dcterms:created>
  <dcterms:modified xsi:type="dcterms:W3CDTF">2013-01-27T09:15:58Z</dcterms:modified>
  <cp:category>Lecture slides</cp:category>
</cp:coreProperties>
</file>