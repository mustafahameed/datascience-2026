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2.svg" ContentType="image/svg+xml"/>
  <Override PartName="/ppt/media/image14.svg" ContentType="image/svg+xml"/>
  <Override PartName="/ppt/media/image16.svg" ContentType="image/svg+xml"/>
  <Override PartName="/ppt/media/image18.svg" ContentType="image/svg+xml"/>
  <Override PartName="/ppt/media/image20.svg" ContentType="image/svg+xml"/>
  <Override PartName="/ppt/media/image22.svg" ContentType="image/svg+xml"/>
  <Override PartName="/ppt/media/image23.svg" ContentType="image/svg+xml"/>
  <Override PartName="/ppt/media/image24.svg" ContentType="image/svg+xml"/>
  <Override PartName="/ppt/media/image26.svg" ContentType="image/svg+xml"/>
  <Override PartName="/ppt/media/image28.svg" ContentType="image/svg+xml"/>
  <Override PartName="/ppt/media/image29.svg" ContentType="image/svg+xml"/>
  <Override PartName="/ppt/media/image31.svg" ContentType="image/svg+xml"/>
  <Override PartName="/ppt/media/image33.svg" ContentType="image/svg+xml"/>
  <Override PartName="/ppt/media/image34.svg" ContentType="image/svg+xml"/>
  <Override PartName="/ppt/media/image35.svg" ContentType="image/svg+xml"/>
  <Override PartName="/ppt/media/image36.svg" ContentType="image/svg+xml"/>
  <Override PartName="/ppt/media/image37.svg" ContentType="image/svg+xml"/>
  <Override PartName="/ppt/media/image38.svg" ContentType="image/svg+xml"/>
  <Override PartName="/ppt/media/image39.svg" ContentType="image/svg+xml"/>
  <Override PartName="/ppt/media/image4.svg" ContentType="image/svg+xml"/>
  <Override PartName="/ppt/media/image40.svg" ContentType="image/svg+xml"/>
  <Override PartName="/ppt/media/image41.svg" ContentType="image/svg+xml"/>
  <Override PartName="/ppt/media/image42.svg" ContentType="image/svg+xml"/>
  <Override PartName="/ppt/media/image43.svg" ContentType="image/svg+xml"/>
  <Override PartName="/ppt/media/image44.svg" ContentType="image/svg+xml"/>
  <Override PartName="/ppt/media/image45.svg" ContentType="image/svg+xml"/>
  <Override PartName="/ppt/media/image46.svg" ContentType="image/svg+xml"/>
  <Override PartName="/ppt/media/image47.svg" ContentType="image/svg+xml"/>
  <Override PartName="/ppt/media/image48.svg" ContentType="image/svg+xml"/>
  <Override PartName="/ppt/media/image49.svg" ContentType="image/svg+xml"/>
  <Override PartName="/ppt/media/image51.svg" ContentType="image/svg+xml"/>
  <Override PartName="/ppt/media/image53.svg" ContentType="image/svg+xml"/>
  <Override PartName="/ppt/media/image54.svg" ContentType="image/svg+xml"/>
  <Override PartName="/ppt/media/image55.svg" ContentType="image/svg+xml"/>
  <Override PartName="/ppt/media/image56.svg" ContentType="image/svg+xml"/>
  <Override PartName="/ppt/media/image57.svg" ContentType="image/svg+xml"/>
  <Override PartName="/ppt/media/image59.svg" ContentType="image/svg+xml"/>
  <Override PartName="/ppt/media/image6.svg" ContentType="image/svg+xml"/>
  <Override PartName="/ppt/media/image60.svg" ContentType="image/svg+xml"/>
  <Override PartName="/ppt/media/image62.svg" ContentType="image/svg+xml"/>
  <Override PartName="/ppt/media/image63.svg" ContentType="image/svg+xml"/>
  <Override PartName="/ppt/media/image64.svg" ContentType="image/svg+xml"/>
  <Override PartName="/ppt/media/image65.svg" ContentType="image/svg+xml"/>
  <Override PartName="/ppt/media/image6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8D0D502-7695-4848-832A-78C4119CEE8E}">
          <p14:sldIdLst>
            <p14:sldId id="256"/>
            <p14:sldId id="257"/>
            <p14:sldId id="258"/>
            <p14:sldId id="259"/>
            <p14:sldId id="260"/>
          </p14:sldIdLst>
        </p14:section>
        <p14:section name="7.1 A Sprint Plan as a Constraint Problem" id="{9F6278B9-02CE-4E95-B2AF-C9DCE1DB5136}">
          <p14:sldIdLst>
            <p14:sldId id="261"/>
            <p14:sldId id="262"/>
            <p14:sldId id="263"/>
            <p14:sldId id="264"/>
          </p14:sldIdLst>
        </p14:section>
        <p14:section name="7.2 Backtracking Search" id="{978F9079-770E-4157-8DAA-0A4B7F79D6B3}">
          <p14:sldIdLst>
            <p14:sldId id="265"/>
          </p14:sldIdLst>
        </p14:section>
        <p14:section name="7.3 Which Variable Next, and Which Value" id="{A3F77620-102E-4305-BA96-0BDDC862F89A}">
          <p14:sldIdLst>
            <p14:sldId id="266"/>
          </p14:sldIdLst>
        </p14:section>
        <p14:section name="7.4 Propagation: Forward Checking" id="{7B4C27BD-A5B4-409E-A781-84EB8422E8A3}">
          <p14:sldIdLst>
            <p14:sldId id="267"/>
          </p14:sldIdLst>
        </p14:section>
        <p14:section name="7.5 Propagation: Arc Consistency" id="{1A043917-5EF3-4B9E-9E8D-E7E2D7D4FA05}">
          <p14:sldIdLst>
            <p14:sldId id="268"/>
            <p14:sldId id="269"/>
            <p14:sldId id="270"/>
          </p14:sldIdLst>
        </p14:section>
        <p14:section name="7.6 The Measurement" id="{1784CC3A-27A2-4F39-B82B-739F55AC83B0}">
          <p14:sldIdLst>
            <p14:sldId id="271"/>
          </p14:sldIdLst>
        </p14:section>
        <p14:section name="7.7 When There Is No Solution" id="{CB574483-9231-45AB-A4D4-BFCEFDAD95F6}">
          <p14:sldIdLst>
            <p14:sldId id="272"/>
            <p14:sldId id="273"/>
          </p14:sldIdLst>
        </p14:section>
        <p14:section name="Pitfalls" id="{ED8F7B41-C7DA-4CDA-B1C5-164A7F99B56B}">
          <p14:sldIdLst>
            <p14:sldId id="274"/>
          </p14:sldIdLst>
        </p14:section>
        <p14:section name="Lab" id="{51815701-746A-4901-B8B8-3E5DB013CAED}">
          <p14:sldIdLst>
            <p14:sldId id="275"/>
            <p14:sldId id="276"/>
            <p14:sldId id="277"/>
            <p14:sldId id="278"/>
            <p14:sldId id="279"/>
            <p14:sldId id="280"/>
            <p14:sldId id="281"/>
            <p14:sldId id="282"/>
            <p14:sldId id="283"/>
            <p14:sldId id="284"/>
            <p14:sldId id="285"/>
            <p14:sldId id="286"/>
            <p14:sldId id="287"/>
            <p14:sldId id="288"/>
            <p14:sldId id="289"/>
            <p14:sldId id="290"/>
            <p14:sldId id="291"/>
          </p14:sldIdLst>
        </p14:section>
        <p14:section name="Checkpoint" id="{9DC587A5-F1FB-483A-8D04-3A0C232EC27E}">
          <p14:sldIdLst>
            <p14:sldId id="292"/>
            <p14:sldId id="293"/>
            <p14:sldId id="294"/>
            <p14:sldId id="295"/>
            <p14:sldId id="296"/>
            <p14:sldId id="297"/>
          </p14:sldIdLst>
        </p14:section>
        <p14:section name="Wrap-up" id="{8CAFB062-4AAB-4682-B6A2-0FFB4931D865}">
          <p14:sldIdLst>
            <p14:sldId id="298"/>
            <p14:sldId id="299"/>
            <p14:sldId id="300"/>
            <p14:sldId id="301"/>
            <p14:sldId id="302"/>
            <p14:sldId id="303"/>
            <p14:sldId id="304"/>
            <p14:sldId id="305"/>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7: Constraint Satisfaction. Part 3 — Constraints, Games and Plans. Week 6: Constraint satisfaction. Handout pages 68–78.</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chapter. Before you start: Chapter 3 (states as values) and Chapter 4 (backtracking is depth-first search with a commitment at each level). Chapter 5 is not needed: this chapter gets its leverage from the structure of the problem rather than from a heuristic estimate of distance.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out: they are the chapter's contract with the room. Each click adds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they arrive one at a time. This slide is for the students' notes. Terms: constraint satisfaction problem; variable; domain; constraint; constraint graph; assignment; partial assignment; consistency; backtracking; minimum remaining values; degree heuristic; least constraining value; forward checking; arc consistency; AC-3; over-constrained.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route through the chapter. Each row is a link: click it to jump to that section in the slide show.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Twelve stories must be placed into four sprints. Each sprint has a capacity of twelve story points. Some stories cannot start until others have finished. Some pairs belong to the same developer and are too large to sit in one sprint together. Find a placement that breaks nothing. Chapter 4 could search this: a state is a partial placement, an action adds one story. But that formulation throws away the thing that makes the problem tractable. A general search algorithm sees an opaque state and an opaque goal test. A constraint satisfaction problem exposes the structure — which variable each constraint touches — and the algorithms in this chapter exploit exactly that.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7.1 (handout p. 69): The constraint graph. Twelve variables, twelve binary constraints, and one n-ary capacity constraint that no edge can represent.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in your own words first; the slide is the handout's wording.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Backtracking leaves two choices open, and they are where the remaining leverage is. Minimum remaining values (MRV). Assign next the variable with the fewest legal values left. The slogan is fail first: if some variable is going to run out of options, discovering it now costs one dead end, and discovering it ten levels later costs a subtree. Degree heuristic. When several variables tie on MRV, pick the one involved in the most constraints on unassigned variables. It is a tie-breaker, not a strategy in its own right. Least constraining value. Having chosen a variable, try first the value that rules out fewest options for its neighbours. Note that this pulls the opposite way from MRV — fail first on variables, succeed first on values — and both are right, because you must try every variable but only need one value to work.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Forward checking is the smallest useful propagation. When a variable is assigned, remove from every neighbour’s domain the values now inconsistent with it. If any domain becomes empty, the assignment has already failed — backtrack at once rather than discovering it later. Two things happen at the same time. The obvious one is that dead ends are found sooner. The important one is that domains now have different sizes, so MRV finally has something to compare.</a:t>
            </a:r>
          </a:p>
          <a:p/>
          <a:p>
            <a:r>
              <a:t>Figure 7.2 (handout p. 70): Forward checking after one assignment. The pruning is the visible effect; giving the ordering heuristic something to measure is the valuable one.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Forward checking only looks one step from the variable just assigned. Arc consistency propagates further.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as a preprocessing step on the sprint problem, before any search, AC-3 narrows every one of the twelve domains: stories at the head of a precedence chain lose the last sprint, stories at the tail lose the first. That is real information obtained without a single assignment.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five configurations solve the same instance and find a solution. What differs is how much work it costs.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conclusions, and the second is the one students get wrong in examinations. Structure beats search. Before any heuristic, formulating the problem as a CSP turned 16.8 million assignments into 123 nodes. An ordering heuristic can make things worse. The degree tie-breaker tripled the node count. Heuristics are informed guesses about a specific problem, not improvements in general, and the only way to know is to measure on your instance. Propagation is what pays. Forward checking cut the work ninefold — and about half of that was the pruning and half was making MRV functional. An over-constrained problem is the common case in practice: the backlog does not fit. Backtracking then explores the whole space and reports failure, which is true and useless. A delivery manager needs to know which constraint to relax. Two cheap and honest answers. Record the constraint that emptied a domain most often during propagation — that is usually the binding one. Or re-run with each constraint removed in turn and report which removals make the problem solvable. For this instance, raising the capacity from 12 to 13 turns 14 solutions into hundreds, which tells you at once that capacity, not precedence, is what binds.</a:t>
            </a:r>
          </a:p>
          <a:p/>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pitfall, ask who has seen it happen. One real story beats five bullets.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instance of Figure 7.1, solved five ways, counting every constraint check. Reproduces Table 7.1.</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Because nothing in plain backtracking ever shrinks a domain. Every unassigned variable still has all four sprints available, so they all tie on the minimum-remaining-values count and the heuristic falls back on the first variable in the list — which is exactly what plain backtracking was already doing. The change that makes MRV worth having is propagation: forward checking removes values from neighbours after each assignment, and from that moment the domains have different sizes and MRV has something to compare. Measured: 3,784 checks with MRV alone, 415 with MRV and forward checking together.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Both are true because AC-3 works only on binary constraints. The precedence and same-developer constraints are binary, and AC-3 prunes them thoroughly — every one of the twelve domains loses at least one sprint. But the constraint that actually binds this problem is capacity: 45 points into 48, an n-ary constraint over all twelve variables at once, which no arc can express and AC-3 never examines. So the preprocessing removes values that the search was not going to waste much time on anyway, at a cost of 224 extra consistency checks and a saving of zero nodes.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Either: instrument the propagation to record which constraint emptied a domain most often, and report that one; or re-run the solver with each constraint (or constraint class) relaxed in turn and report which relaxations make the problem solvable. Here you would expect capacity to bind, and the lab confirms it — raising the cap from 12 to 13 takes the solution count from 14 into the hundreds, while the precedence constraints have plenty of slack.</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these for independent study. Model answers are not printed in the handout.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NEXT: Chapter 8 — Adversarial Search and Game Playing. READ: Handout Chapter 7, pages 68–78. THIS WEEK'S LAB: Sprint scheduling as a CSP. ASSESSMENT: Assignment 1 due; Quiz 2 (Ch 4–6).</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3000" kern="1200" b="0">
          <a:solidFill>
            <a:srgbClr val="1A5276"/>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sv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notesSlide" Target="../notesSlides/notesSlide5.xml"/><Relationship Id="rId5" Type="http://schemas.openxmlformats.org/officeDocument/2006/relationships/slide" Target="slide6.xml"/><Relationship Id="rId6" Type="http://schemas.openxmlformats.org/officeDocument/2006/relationships/slide" Target="slide10.xml"/><Relationship Id="rId7" Type="http://schemas.openxmlformats.org/officeDocument/2006/relationships/slide" Target="slide11.xml"/><Relationship Id="rId8" Type="http://schemas.openxmlformats.org/officeDocument/2006/relationships/slide" Target="slide12.xml"/><Relationship Id="rId9" Type="http://schemas.openxmlformats.org/officeDocument/2006/relationships/slide" Target="slide13.xml"/><Relationship Id="rId10" Type="http://schemas.openxmlformats.org/officeDocument/2006/relationships/slide" Target="slide16.xml"/><Relationship Id="rId11" Type="http://schemas.openxmlformats.org/officeDocument/2006/relationships/slide" Target="slide1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14.sv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18.sv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image" Target="../media/image20.sv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1.png"/><Relationship Id="rId3" Type="http://schemas.openxmlformats.org/officeDocument/2006/relationships/image" Target="../media/image22.sv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23.sv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image" Target="../media/image24.sv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image" Target="../media/image26.sv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7.png"/><Relationship Id="rId3" Type="http://schemas.openxmlformats.org/officeDocument/2006/relationships/image" Target="../media/image28.sv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7.png"/><Relationship Id="rId3" Type="http://schemas.openxmlformats.org/officeDocument/2006/relationships/image" Target="../media/image29.sv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0.png"/><Relationship Id="rId3" Type="http://schemas.openxmlformats.org/officeDocument/2006/relationships/image" Target="../media/image31.sv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2.png"/><Relationship Id="rId3" Type="http://schemas.openxmlformats.org/officeDocument/2006/relationships/image" Target="../media/image33.sv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2.png"/><Relationship Id="rId3" Type="http://schemas.openxmlformats.org/officeDocument/2006/relationships/image" Target="../media/image34.sv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2.png"/><Relationship Id="rId3" Type="http://schemas.openxmlformats.org/officeDocument/2006/relationships/image" Target="../media/image35.sv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2.png"/><Relationship Id="rId3" Type="http://schemas.openxmlformats.org/officeDocument/2006/relationships/image" Target="../media/image36.sv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2.png"/><Relationship Id="rId3" Type="http://schemas.openxmlformats.org/officeDocument/2006/relationships/image" Target="../media/image37.sv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2.png"/><Relationship Id="rId3" Type="http://schemas.openxmlformats.org/officeDocument/2006/relationships/image" Target="../media/image38.sv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2.png"/><Relationship Id="rId3" Type="http://schemas.openxmlformats.org/officeDocument/2006/relationships/image" Target="../media/image39.sv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2.png"/><Relationship Id="rId3" Type="http://schemas.openxmlformats.org/officeDocument/2006/relationships/image" Target="../media/image40.sv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2.png"/><Relationship Id="rId3" Type="http://schemas.openxmlformats.org/officeDocument/2006/relationships/image" Target="../media/image41.sv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2.png"/><Relationship Id="rId3" Type="http://schemas.openxmlformats.org/officeDocument/2006/relationships/image" Target="../media/image42.sv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2.png"/><Relationship Id="rId3" Type="http://schemas.openxmlformats.org/officeDocument/2006/relationships/image" Target="../media/image43.sv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2.png"/><Relationship Id="rId3" Type="http://schemas.openxmlformats.org/officeDocument/2006/relationships/image" Target="../media/image44.sv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2.png"/><Relationship Id="rId3" Type="http://schemas.openxmlformats.org/officeDocument/2006/relationships/image" Target="../media/image45.sv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2.png"/><Relationship Id="rId3" Type="http://schemas.openxmlformats.org/officeDocument/2006/relationships/image" Target="../media/image46.sv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2.png"/><Relationship Id="rId3" Type="http://schemas.openxmlformats.org/officeDocument/2006/relationships/image" Target="../media/image47.sv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2.png"/><Relationship Id="rId3" Type="http://schemas.openxmlformats.org/officeDocument/2006/relationships/image" Target="../media/image48.sv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2.png"/><Relationship Id="rId3" Type="http://schemas.openxmlformats.org/officeDocument/2006/relationships/image" Target="../media/image49.sv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0.png"/><Relationship Id="rId3" Type="http://schemas.openxmlformats.org/officeDocument/2006/relationships/image" Target="../media/image51.sv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2.png"/><Relationship Id="rId3" Type="http://schemas.openxmlformats.org/officeDocument/2006/relationships/image" Target="../media/image53.sv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0.png"/><Relationship Id="rId3" Type="http://schemas.openxmlformats.org/officeDocument/2006/relationships/image" Target="../media/image54.sv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2.png"/><Relationship Id="rId3" Type="http://schemas.openxmlformats.org/officeDocument/2006/relationships/image" Target="../media/image55.sv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0.png"/><Relationship Id="rId3" Type="http://schemas.openxmlformats.org/officeDocument/2006/relationships/image" Target="../media/image56.sv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2.png"/><Relationship Id="rId3" Type="http://schemas.openxmlformats.org/officeDocument/2006/relationships/image" Target="../media/image57.sv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8.png"/><Relationship Id="rId3" Type="http://schemas.openxmlformats.org/officeDocument/2006/relationships/image" Target="../media/image59.sv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8.png"/><Relationship Id="rId3" Type="http://schemas.openxmlformats.org/officeDocument/2006/relationships/image" Target="../media/image60.sv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1.png"/><Relationship Id="rId3" Type="http://schemas.openxmlformats.org/officeDocument/2006/relationships/image" Target="../media/image62.sv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1.png"/><Relationship Id="rId3" Type="http://schemas.openxmlformats.org/officeDocument/2006/relationships/image" Target="../media/image63.sv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1.png"/><Relationship Id="rId3" Type="http://schemas.openxmlformats.org/officeDocument/2006/relationships/image" Target="../media/image64.sv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1.png"/><Relationship Id="rId3" Type="http://schemas.openxmlformats.org/officeDocument/2006/relationships/image" Target="../media/image65.sv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1.png"/><Relationship Id="rId3" Type="http://schemas.openxmlformats.org/officeDocument/2006/relationships/image" Target="../media/image66.sv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7A43"/>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328756"/>
                </a:solidFill>
                <a:latin typeface="Segoe UI Black"/>
              </a:rPr>
              <a:t>07</a:t>
            </a:r>
          </a:p>
        </p:txBody>
      </p:sp>
      <p:sp>
        <p:nvSpPr>
          <p:cNvPr id="2" name="!!title"/>
          <p:cNvSpPr>
            <a:spLocks noGrp="1"/>
          </p:cNvSpPr>
          <p:nvPr>
            <p:ph type="title"/>
          </p:nvPr>
        </p:nvSpPr>
        <p:spPr>
          <a:xfrm>
            <a:off x="658368" y="2304288"/>
            <a:ext cx="8503920" cy="1920240"/>
          </a:xfrm>
        </p:spPr>
        <p:txBody>
          <a:bodyPr wrap="square" lIns="0" rIns="0" tIns="0" bIns="0" anchor="t">
            <a:noAutofit/>
          </a:bodyPr>
          <a:lstStyle/>
          <a:p>
            <a:pPr algn="l">
              <a:lnSpc>
                <a:spcPct val="96000"/>
              </a:lnSpc>
            </a:pPr>
            <a:r>
              <a:rPr sz="4600" b="0">
                <a:solidFill>
                  <a:srgbClr val="FFFFFF"/>
                </a:solidFill>
                <a:latin typeface="Segoe UI Semibold"/>
              </a:rPr>
              <a:t>Constraint Satisfaction</a:t>
            </a:r>
          </a:p>
        </p:txBody>
      </p:sp>
      <p:sp>
        <p:nvSpPr>
          <p:cNvPr id="4" name="!!tbar">
            <a:extLst>
              <a:ext uri="{C183D7F6-B498-43B3-948B-1728B52AA6E4}">
                <adec:decorative xmlns:adec="http://schemas.microsoft.com/office/drawing/2017/decorative" val="1"/>
              </a:ext>
            </a:extLst>
          </p:cNvPr>
          <p:cNvSpPr/>
          <p:nvPr/>
        </p:nvSpPr>
        <p:spPr>
          <a:xfrm>
            <a:off x="658368" y="129844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part"/>
          <p:cNvSpPr txBox="1"/>
          <p:nvPr/>
        </p:nvSpPr>
        <p:spPr>
          <a:xfrm>
            <a:off x="658368" y="1517904"/>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BFDACA"/>
                </a:solidFill>
                <a:latin typeface="Segoe UI"/>
              </a:rPr>
              <a:t>PART III  ·  CONSTRAINTS, GAMES AND PLANS</a:t>
            </a:r>
          </a:p>
        </p:txBody>
      </p:sp>
      <p:sp>
        <p:nvSpPr>
          <p:cNvPr id="6" name="!!tch"/>
          <p:cNvSpPr txBox="1"/>
          <p:nvPr/>
        </p:nvSpPr>
        <p:spPr>
          <a:xfrm>
            <a:off x="658368" y="1865376"/>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BFDACA"/>
                </a:solidFill>
                <a:latin typeface="Segoe UI"/>
              </a:rPr>
              <a:t>CHAPTER 7  ·  WEEK 6</a:t>
            </a:r>
          </a:p>
        </p:txBody>
      </p:sp>
      <p:sp>
        <p:nvSpPr>
          <p:cNvPr id="7" name="!!tsub"/>
          <p:cNvSpPr txBox="1"/>
          <p:nvPr/>
        </p:nvSpPr>
        <p:spPr>
          <a:xfrm>
            <a:off x="658368" y="4315968"/>
            <a:ext cx="850392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D1E4D9"/>
                </a:solidFill>
                <a:latin typeface="Segoe UI"/>
              </a:rPr>
              <a:t>Artificial Intelligence — Search, Knowledge and Reasoning</a:t>
            </a:r>
          </a:p>
        </p:txBody>
      </p:sp>
      <p:sp>
        <p:nvSpPr>
          <p:cNvPr id="8" name="!!band">
            <a:extLst>
              <a:ext uri="{C183D7F6-B498-43B3-948B-1728B52AA6E4}">
                <adec:decorative xmlns:adec="http://schemas.microsoft.com/office/drawing/2017/decorative" val="1"/>
              </a:ext>
            </a:extLst>
          </p:cNvPr>
          <p:cNvSpPr/>
          <p:nvPr/>
        </p:nvSpPr>
        <p:spPr>
          <a:xfrm>
            <a:off x="0" y="5285232"/>
            <a:ext cx="12191695" cy="1572767"/>
          </a:xfrm>
          <a:prstGeom prst="rect">
            <a:avLst/>
          </a:prstGeom>
          <a:solidFill>
            <a:srgbClr val="1358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ab"/>
          <p:cNvSpPr txBox="1"/>
          <p:nvPr/>
        </p:nvSpPr>
        <p:spPr>
          <a:xfrm>
            <a:off x="658368" y="5541264"/>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50" b="1" i="0" spc="160">
                <a:solidFill>
                  <a:srgbClr val="A5C0B0"/>
                </a:solidFill>
                <a:latin typeface="Segoe UI"/>
              </a:rPr>
              <a:t>LECTURER</a:t>
            </a:r>
          </a:p>
        </p:txBody>
      </p:sp>
      <p:sp>
        <p:nvSpPr>
          <p:cNvPr id="10" name="!!author"/>
          <p:cNvSpPr txBox="1"/>
          <p:nvPr/>
        </p:nvSpPr>
        <p:spPr>
          <a:xfrm>
            <a:off x="658368" y="5779008"/>
            <a:ext cx="5486400" cy="365760"/>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FFFFFF"/>
                </a:solidFill>
                <a:latin typeface="Segoe UI Semibold"/>
              </a:rPr>
              <a:t>Dr. Mustafa Hameed</a:t>
            </a:r>
          </a:p>
        </p:txBody>
      </p:sp>
      <p:sp>
        <p:nvSpPr>
          <p:cNvPr id="11" name="!!dept"/>
          <p:cNvSpPr txBox="1"/>
          <p:nvPr/>
        </p:nvSpPr>
        <p:spPr>
          <a:xfrm>
            <a:off x="658368" y="6181344"/>
            <a:ext cx="5852160" cy="274320"/>
          </a:xfrm>
          <a:prstGeom prst="rect">
            <a:avLst/>
          </a:prstGeom>
          <a:noFill/>
        </p:spPr>
        <p:txBody>
          <a:bodyPr wrap="square" anchor="t" lIns="0" rIns="0" tIns="0" bIns="0">
            <a:noAutofit/>
          </a:bodyPr>
          <a:lstStyle/>
          <a:p>
            <a:pPr algn="l">
              <a:lnSpc>
                <a:spcPct val="100000"/>
              </a:lnSpc>
              <a:spcBef>
                <a:spcPts val="0"/>
              </a:spcBef>
              <a:spcAft>
                <a:spcPts val="0"/>
              </a:spcAft>
            </a:pPr>
            <a:r>
              <a:rPr sz="1200" b="0" i="0">
                <a:solidFill>
                  <a:srgbClr val="BDD0C5"/>
                </a:solidFill>
                <a:latin typeface="Segoe UI"/>
              </a:rPr>
              <a:t>Department of Information Technology  ·  BSIT · Fall 2026</a:t>
            </a:r>
          </a:p>
        </p:txBody>
      </p:sp>
      <p:sp>
        <p:nvSpPr>
          <p:cNvPr id="12" name="!!uni"/>
          <p:cNvSpPr txBox="1"/>
          <p:nvPr/>
        </p:nvSpPr>
        <p:spPr>
          <a:xfrm>
            <a:off x="5205818" y="568756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150" b="1" i="0" spc="60">
                <a:solidFill>
                  <a:srgbClr val="FFFFFF"/>
                </a:solidFill>
                <a:latin typeface="Segoe UI"/>
              </a:rPr>
              <a:t>THE ISLAMIA UNIVERSITY OF BAHAWALPUR</a:t>
            </a:r>
          </a:p>
        </p:txBody>
      </p:sp>
      <p:sp>
        <p:nvSpPr>
          <p:cNvPr id="13" name="!!uni2"/>
          <p:cNvSpPr txBox="1"/>
          <p:nvPr/>
        </p:nvSpPr>
        <p:spPr>
          <a:xfrm>
            <a:off x="5205818" y="596188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050" b="0" i="0">
                <a:solidFill>
                  <a:srgbClr val="A5C0B0"/>
                </a:solidFill>
                <a:latin typeface="Segoe UI"/>
              </a:rPr>
              <a:t>Bahawalpur, Pakistan</a:t>
            </a:r>
          </a:p>
        </p:txBody>
      </p:sp>
      <p:pic>
        <p:nvPicPr>
          <p:cNvPr id="14" name="!!logo-iub-logo-white" descr="The Islamia University of Bahawalpur"/>
          <p:cNvPicPr>
            <a:picLocks noChangeAspect="1"/>
          </p:cNvPicPr>
          <p:nvPr/>
        </p:nvPicPr>
        <p:blipFill>
          <a:blip r:embed="rId2"/>
          <a:stretch>
            <a:fillRect/>
          </a:stretch>
        </p:blipFill>
        <p:spPr>
          <a:xfrm>
            <a:off x="9503498" y="5486400"/>
            <a:ext cx="904084" cy="896112"/>
          </a:xfrm>
          <a:prstGeom prst="rect">
            <a:avLst/>
          </a:prstGeom>
        </p:spPr>
      </p:pic>
      <p:pic>
        <p:nvPicPr>
          <p:cNvPr id="15" name="!!logo-dit-logo" descr="Department of Information Technology"/>
          <p:cNvPicPr>
            <a:picLocks noChangeAspect="1"/>
          </p:cNvPicPr>
          <p:nvPr/>
        </p:nvPicPr>
        <p:blipFill>
          <a:blip r:embed="rId3"/>
          <a:stretch>
            <a:fillRect/>
          </a:stretch>
        </p:blipFill>
        <p:spPr>
          <a:xfrm>
            <a:off x="10663614" y="5486400"/>
            <a:ext cx="869712" cy="89611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Where this chapter sits</a:t>
            </a:r>
          </a:p>
        </p:txBody>
      </p:sp>
      <p:pic>
        <p:nvPicPr>
          <p:cNvPr id="3" name="!!kicker-icon" descr="map-signs-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THE COURSE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7  ·  Constraint Satisfaction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68     </a:t>
            </a:r>
            <a:fld id="{0926A9A2-C0A8-44AB-BA82-5B98A702BE7F}" type="slidenum">
              <a:rPr lang="en-GB" sz="1000">
                <a:solidFill>
                  <a:srgbClr val="8795A1"/>
                </a:solidFill>
                <a:latin typeface="Segoe UI"/>
              </a:rPr>
              <a:t>2</a:t>
            </a:fld>
          </a:p>
        </p:txBody>
      </p:sp>
      <p:sp>
        <p:nvSpPr>
          <p:cNvPr id="7" name="!!rp1"/>
          <p:cNvSpPr txBox="1"/>
          <p:nvPr/>
        </p:nvSpPr>
        <p:spPr>
          <a:xfrm>
            <a:off x="777239"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a:t>
            </a:r>
          </a:p>
        </p:txBody>
      </p:sp>
      <p:sp>
        <p:nvSpPr>
          <p:cNvPr id="8" name="!!rpl1">
            <a:extLst>
              <a:ext uri="{C183D7F6-B498-43B3-948B-1728B52AA6E4}">
                <adec:decorative xmlns:adec="http://schemas.microsoft.com/office/drawing/2017/decorative" val="1"/>
              </a:ext>
            </a:extLst>
          </p:cNvPr>
          <p:cNvSpPr/>
          <p:nvPr/>
        </p:nvSpPr>
        <p:spPr>
          <a:xfrm>
            <a:off x="777239"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rp2"/>
          <p:cNvSpPr txBox="1"/>
          <p:nvPr/>
        </p:nvSpPr>
        <p:spPr>
          <a:xfrm>
            <a:off x="2280139"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a:t>
            </a:r>
          </a:p>
        </p:txBody>
      </p:sp>
      <p:sp>
        <p:nvSpPr>
          <p:cNvPr id="10" name="!!rpl2">
            <a:extLst>
              <a:ext uri="{C183D7F6-B498-43B3-948B-1728B52AA6E4}">
                <adec:decorative xmlns:adec="http://schemas.microsoft.com/office/drawing/2017/decorative" val="1"/>
              </a:ext>
            </a:extLst>
          </p:cNvPr>
          <p:cNvSpPr/>
          <p:nvPr/>
        </p:nvSpPr>
        <p:spPr>
          <a:xfrm>
            <a:off x="2280139"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p3"/>
          <p:cNvSpPr txBox="1"/>
          <p:nvPr/>
        </p:nvSpPr>
        <p:spPr>
          <a:xfrm>
            <a:off x="3938487" y="1755648"/>
            <a:ext cx="1329163"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B7A43"/>
                </a:solidFill>
                <a:latin typeface="Segoe UI"/>
              </a:rPr>
              <a:t>PART III</a:t>
            </a:r>
          </a:p>
        </p:txBody>
      </p:sp>
      <p:sp>
        <p:nvSpPr>
          <p:cNvPr id="12" name="!!rpl3">
            <a:extLst>
              <a:ext uri="{C183D7F6-B498-43B3-948B-1728B52AA6E4}">
                <adec:decorative xmlns:adec="http://schemas.microsoft.com/office/drawing/2017/decorative" val="1"/>
              </a:ext>
            </a:extLst>
          </p:cNvPr>
          <p:cNvSpPr/>
          <p:nvPr/>
        </p:nvSpPr>
        <p:spPr>
          <a:xfrm>
            <a:off x="3938487" y="2029967"/>
            <a:ext cx="1329163" cy="45720"/>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p4"/>
          <p:cNvSpPr txBox="1"/>
          <p:nvPr/>
        </p:nvSpPr>
        <p:spPr>
          <a:xfrm>
            <a:off x="5596834" y="1755648"/>
            <a:ext cx="1583242"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IV</a:t>
            </a:r>
          </a:p>
        </p:txBody>
      </p:sp>
      <p:sp>
        <p:nvSpPr>
          <p:cNvPr id="14" name="!!rpl4">
            <a:extLst>
              <a:ext uri="{C183D7F6-B498-43B3-948B-1728B52AA6E4}">
                <adec:decorative xmlns:adec="http://schemas.microsoft.com/office/drawing/2017/decorative" val="1"/>
              </a:ext>
            </a:extLst>
          </p:cNvPr>
          <p:cNvSpPr/>
          <p:nvPr/>
        </p:nvSpPr>
        <p:spPr>
          <a:xfrm>
            <a:off x="5596834" y="2029967"/>
            <a:ext cx="1583242"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rp5"/>
          <p:cNvSpPr txBox="1"/>
          <p:nvPr/>
        </p:nvSpPr>
        <p:spPr>
          <a:xfrm>
            <a:off x="7509260"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a:t>
            </a:r>
          </a:p>
        </p:txBody>
      </p:sp>
      <p:sp>
        <p:nvSpPr>
          <p:cNvPr id="16" name="!!rpl5">
            <a:extLst>
              <a:ext uri="{C183D7F6-B498-43B3-948B-1728B52AA6E4}">
                <adec:decorative xmlns:adec="http://schemas.microsoft.com/office/drawing/2017/decorative" val="1"/>
              </a:ext>
            </a:extLst>
          </p:cNvPr>
          <p:cNvSpPr/>
          <p:nvPr/>
        </p:nvSpPr>
        <p:spPr>
          <a:xfrm>
            <a:off x="7509260"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p6"/>
          <p:cNvSpPr txBox="1"/>
          <p:nvPr/>
        </p:nvSpPr>
        <p:spPr>
          <a:xfrm>
            <a:off x="9012160" y="1755648"/>
            <a:ext cx="240229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VI</a:t>
            </a:r>
          </a:p>
        </p:txBody>
      </p:sp>
      <p:sp>
        <p:nvSpPr>
          <p:cNvPr id="18" name="!!rpl6">
            <a:extLst>
              <a:ext uri="{C183D7F6-B498-43B3-948B-1728B52AA6E4}">
                <adec:decorative xmlns:adec="http://schemas.microsoft.com/office/drawing/2017/decorative" val="1"/>
              </a:ext>
            </a:extLst>
          </p:cNvPr>
          <p:cNvSpPr/>
          <p:nvPr/>
        </p:nvSpPr>
        <p:spPr>
          <a:xfrm>
            <a:off x="9012160" y="2029967"/>
            <a:ext cx="240229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dot1">
            <a:extLst>
              <a:ext uri="{C183D7F6-B498-43B3-948B-1728B52AA6E4}">
                <adec:decorative xmlns:adec="http://schemas.microsoft.com/office/drawing/2017/decorative" val="1"/>
              </a:ext>
            </a:extLst>
          </p:cNvPr>
          <p:cNvSpPr/>
          <p:nvPr/>
        </p:nvSpPr>
        <p:spPr>
          <a:xfrm>
            <a:off x="817411"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dotn1"/>
          <p:cNvSpPr txBox="1"/>
          <p:nvPr/>
        </p:nvSpPr>
        <p:spPr>
          <a:xfrm>
            <a:off x="72597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a:t>
            </a:r>
          </a:p>
        </p:txBody>
      </p:sp>
      <p:sp>
        <p:nvSpPr>
          <p:cNvPr id="21" name="!!dot2">
            <a:extLst>
              <a:ext uri="{C183D7F6-B498-43B3-948B-1728B52AA6E4}">
                <adec:decorative xmlns:adec="http://schemas.microsoft.com/office/drawing/2017/decorative" val="1"/>
              </a:ext>
            </a:extLst>
          </p:cNvPr>
          <p:cNvSpPr/>
          <p:nvPr/>
        </p:nvSpPr>
        <p:spPr>
          <a:xfrm>
            <a:off x="1226937"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dotn2"/>
          <p:cNvSpPr txBox="1"/>
          <p:nvPr/>
        </p:nvSpPr>
        <p:spPr>
          <a:xfrm>
            <a:off x="11354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2</a:t>
            </a:r>
          </a:p>
        </p:txBody>
      </p:sp>
      <p:sp>
        <p:nvSpPr>
          <p:cNvPr id="23" name="!!dot3">
            <a:extLst>
              <a:ext uri="{C183D7F6-B498-43B3-948B-1728B52AA6E4}">
                <adec:decorative xmlns:adec="http://schemas.microsoft.com/office/drawing/2017/decorative" val="1"/>
              </a:ext>
            </a:extLst>
          </p:cNvPr>
          <p:cNvSpPr/>
          <p:nvPr/>
        </p:nvSpPr>
        <p:spPr>
          <a:xfrm>
            <a:off x="1636464"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dotn3"/>
          <p:cNvSpPr txBox="1"/>
          <p:nvPr/>
        </p:nvSpPr>
        <p:spPr>
          <a:xfrm>
            <a:off x="15450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3</a:t>
            </a:r>
          </a:p>
        </p:txBody>
      </p:sp>
      <p:sp>
        <p:nvSpPr>
          <p:cNvPr id="25" name="!!dot4">
            <a:extLst>
              <a:ext uri="{C183D7F6-B498-43B3-948B-1728B52AA6E4}">
                <adec:decorative xmlns:adec="http://schemas.microsoft.com/office/drawing/2017/decorative" val="1"/>
              </a:ext>
            </a:extLst>
          </p:cNvPr>
          <p:cNvSpPr/>
          <p:nvPr/>
        </p:nvSpPr>
        <p:spPr>
          <a:xfrm>
            <a:off x="2320310"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dotn4"/>
          <p:cNvSpPr txBox="1"/>
          <p:nvPr/>
        </p:nvSpPr>
        <p:spPr>
          <a:xfrm>
            <a:off x="222887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4</a:t>
            </a:r>
          </a:p>
        </p:txBody>
      </p:sp>
      <p:sp>
        <p:nvSpPr>
          <p:cNvPr id="27" name="!!dot5">
            <a:extLst>
              <a:ext uri="{C183D7F6-B498-43B3-948B-1728B52AA6E4}">
                <adec:decorative xmlns:adec="http://schemas.microsoft.com/office/drawing/2017/decorative" val="1"/>
              </a:ext>
            </a:extLst>
          </p:cNvPr>
          <p:cNvSpPr/>
          <p:nvPr/>
        </p:nvSpPr>
        <p:spPr>
          <a:xfrm>
            <a:off x="2729837"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dotn5"/>
          <p:cNvSpPr txBox="1"/>
          <p:nvPr/>
        </p:nvSpPr>
        <p:spPr>
          <a:xfrm>
            <a:off x="26383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5</a:t>
            </a:r>
          </a:p>
        </p:txBody>
      </p:sp>
      <p:sp>
        <p:nvSpPr>
          <p:cNvPr id="29" name="!!dot6">
            <a:extLst>
              <a:ext uri="{C183D7F6-B498-43B3-948B-1728B52AA6E4}">
                <adec:decorative xmlns:adec="http://schemas.microsoft.com/office/drawing/2017/decorative" val="1"/>
              </a:ext>
            </a:extLst>
          </p:cNvPr>
          <p:cNvSpPr/>
          <p:nvPr/>
        </p:nvSpPr>
        <p:spPr>
          <a:xfrm>
            <a:off x="3139363"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dotn6"/>
          <p:cNvSpPr txBox="1"/>
          <p:nvPr/>
        </p:nvSpPr>
        <p:spPr>
          <a:xfrm>
            <a:off x="30479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6</a:t>
            </a:r>
          </a:p>
        </p:txBody>
      </p:sp>
      <p:sp>
        <p:nvSpPr>
          <p:cNvPr id="31" name="!!dot7">
            <a:extLst>
              <a:ext uri="{C183D7F6-B498-43B3-948B-1728B52AA6E4}">
                <adec:decorative xmlns:adec="http://schemas.microsoft.com/office/drawing/2017/decorative" val="1"/>
              </a:ext>
            </a:extLst>
          </p:cNvPr>
          <p:cNvSpPr/>
          <p:nvPr/>
        </p:nvSpPr>
        <p:spPr>
          <a:xfrm>
            <a:off x="3832354" y="2112264"/>
            <a:ext cx="566928" cy="566928"/>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dotn7"/>
          <p:cNvSpPr txBox="1"/>
          <p:nvPr/>
        </p:nvSpPr>
        <p:spPr>
          <a:xfrm>
            <a:off x="3832354" y="2240280"/>
            <a:ext cx="566928"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7</a:t>
            </a:r>
          </a:p>
        </p:txBody>
      </p:sp>
      <p:sp>
        <p:nvSpPr>
          <p:cNvPr id="33" name="!!dot8">
            <a:extLst>
              <a:ext uri="{C183D7F6-B498-43B3-948B-1728B52AA6E4}">
                <adec:decorative xmlns:adec="http://schemas.microsoft.com/office/drawing/2017/decorative" val="1"/>
              </a:ext>
            </a:extLst>
          </p:cNvPr>
          <p:cNvSpPr/>
          <p:nvPr/>
        </p:nvSpPr>
        <p:spPr>
          <a:xfrm>
            <a:off x="4543632"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dotn8"/>
          <p:cNvSpPr txBox="1"/>
          <p:nvPr/>
        </p:nvSpPr>
        <p:spPr>
          <a:xfrm>
            <a:off x="445219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8</a:t>
            </a:r>
          </a:p>
        </p:txBody>
      </p:sp>
      <p:sp>
        <p:nvSpPr>
          <p:cNvPr id="35" name="!!dot9">
            <a:extLst>
              <a:ext uri="{C183D7F6-B498-43B3-948B-1728B52AA6E4}">
                <adec:decorative xmlns:adec="http://schemas.microsoft.com/office/drawing/2017/decorative" val="1"/>
              </a:ext>
            </a:extLst>
          </p:cNvPr>
          <p:cNvSpPr/>
          <p:nvPr/>
        </p:nvSpPr>
        <p:spPr>
          <a:xfrm>
            <a:off x="4953159"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dotn9"/>
          <p:cNvSpPr txBox="1"/>
          <p:nvPr/>
        </p:nvSpPr>
        <p:spPr>
          <a:xfrm>
            <a:off x="486171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9</a:t>
            </a:r>
          </a:p>
        </p:txBody>
      </p:sp>
      <p:sp>
        <p:nvSpPr>
          <p:cNvPr id="37" name="!!dot10">
            <a:extLst>
              <a:ext uri="{C183D7F6-B498-43B3-948B-1728B52AA6E4}">
                <adec:decorative xmlns:adec="http://schemas.microsoft.com/office/drawing/2017/decorative" val="1"/>
              </a:ext>
            </a:extLst>
          </p:cNvPr>
          <p:cNvSpPr/>
          <p:nvPr/>
        </p:nvSpPr>
        <p:spPr>
          <a:xfrm>
            <a:off x="5637005"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dotn10"/>
          <p:cNvSpPr txBox="1"/>
          <p:nvPr/>
        </p:nvSpPr>
        <p:spPr>
          <a:xfrm>
            <a:off x="554556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10</a:t>
            </a:r>
          </a:p>
        </p:txBody>
      </p:sp>
      <p:sp>
        <p:nvSpPr>
          <p:cNvPr id="39" name="!!dot11">
            <a:extLst>
              <a:ext uri="{C183D7F6-B498-43B3-948B-1728B52AA6E4}">
                <adec:decorative xmlns:adec="http://schemas.microsoft.com/office/drawing/2017/decorative" val="1"/>
              </a:ext>
            </a:extLst>
          </p:cNvPr>
          <p:cNvSpPr/>
          <p:nvPr/>
        </p:nvSpPr>
        <p:spPr>
          <a:xfrm>
            <a:off x="6046532"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dotn11"/>
          <p:cNvSpPr txBox="1"/>
          <p:nvPr/>
        </p:nvSpPr>
        <p:spPr>
          <a:xfrm>
            <a:off x="595509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11</a:t>
            </a:r>
          </a:p>
        </p:txBody>
      </p:sp>
      <p:sp>
        <p:nvSpPr>
          <p:cNvPr id="41" name="!!dot12">
            <a:extLst>
              <a:ext uri="{C183D7F6-B498-43B3-948B-1728B52AA6E4}">
                <adec:decorative xmlns:adec="http://schemas.microsoft.com/office/drawing/2017/decorative" val="1"/>
              </a:ext>
            </a:extLst>
          </p:cNvPr>
          <p:cNvSpPr/>
          <p:nvPr/>
        </p:nvSpPr>
        <p:spPr>
          <a:xfrm>
            <a:off x="6456058"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dotn12"/>
          <p:cNvSpPr txBox="1"/>
          <p:nvPr/>
        </p:nvSpPr>
        <p:spPr>
          <a:xfrm>
            <a:off x="636461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12</a:t>
            </a:r>
          </a:p>
        </p:txBody>
      </p:sp>
      <p:sp>
        <p:nvSpPr>
          <p:cNvPr id="43" name="!!dot13">
            <a:extLst>
              <a:ext uri="{C183D7F6-B498-43B3-948B-1728B52AA6E4}">
                <adec:decorative xmlns:adec="http://schemas.microsoft.com/office/drawing/2017/decorative" val="1"/>
              </a:ext>
            </a:extLst>
          </p:cNvPr>
          <p:cNvSpPr/>
          <p:nvPr/>
        </p:nvSpPr>
        <p:spPr>
          <a:xfrm>
            <a:off x="6865585"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dotn13"/>
          <p:cNvSpPr txBox="1"/>
          <p:nvPr/>
        </p:nvSpPr>
        <p:spPr>
          <a:xfrm>
            <a:off x="677414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13</a:t>
            </a:r>
          </a:p>
        </p:txBody>
      </p:sp>
      <p:sp>
        <p:nvSpPr>
          <p:cNvPr id="45" name="!!dot14">
            <a:extLst>
              <a:ext uri="{C183D7F6-B498-43B3-948B-1728B52AA6E4}">
                <adec:decorative xmlns:adec="http://schemas.microsoft.com/office/drawing/2017/decorative" val="1"/>
              </a:ext>
            </a:extLst>
          </p:cNvPr>
          <p:cNvSpPr/>
          <p:nvPr/>
        </p:nvSpPr>
        <p:spPr>
          <a:xfrm>
            <a:off x="7549431"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dotn14"/>
          <p:cNvSpPr txBox="1"/>
          <p:nvPr/>
        </p:nvSpPr>
        <p:spPr>
          <a:xfrm>
            <a:off x="745799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14</a:t>
            </a:r>
          </a:p>
        </p:txBody>
      </p:sp>
      <p:sp>
        <p:nvSpPr>
          <p:cNvPr id="47" name="!!dot15">
            <a:extLst>
              <a:ext uri="{C183D7F6-B498-43B3-948B-1728B52AA6E4}">
                <adec:decorative xmlns:adec="http://schemas.microsoft.com/office/drawing/2017/decorative" val="1"/>
              </a:ext>
            </a:extLst>
          </p:cNvPr>
          <p:cNvSpPr/>
          <p:nvPr/>
        </p:nvSpPr>
        <p:spPr>
          <a:xfrm>
            <a:off x="7958958"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dotn15"/>
          <p:cNvSpPr txBox="1"/>
          <p:nvPr/>
        </p:nvSpPr>
        <p:spPr>
          <a:xfrm>
            <a:off x="786751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15</a:t>
            </a:r>
          </a:p>
        </p:txBody>
      </p:sp>
      <p:sp>
        <p:nvSpPr>
          <p:cNvPr id="49" name="!!dot16">
            <a:extLst>
              <a:ext uri="{C183D7F6-B498-43B3-948B-1728B52AA6E4}">
                <adec:decorative xmlns:adec="http://schemas.microsoft.com/office/drawing/2017/decorative" val="1"/>
              </a:ext>
            </a:extLst>
          </p:cNvPr>
          <p:cNvSpPr/>
          <p:nvPr/>
        </p:nvSpPr>
        <p:spPr>
          <a:xfrm>
            <a:off x="8368484"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dotn16"/>
          <p:cNvSpPr txBox="1"/>
          <p:nvPr/>
        </p:nvSpPr>
        <p:spPr>
          <a:xfrm>
            <a:off x="827704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16</a:t>
            </a:r>
          </a:p>
        </p:txBody>
      </p:sp>
      <p:sp>
        <p:nvSpPr>
          <p:cNvPr id="51" name="!!dot17">
            <a:extLst>
              <a:ext uri="{C183D7F6-B498-43B3-948B-1728B52AA6E4}">
                <adec:decorative xmlns:adec="http://schemas.microsoft.com/office/drawing/2017/decorative" val="1"/>
              </a:ext>
            </a:extLst>
          </p:cNvPr>
          <p:cNvSpPr/>
          <p:nvPr/>
        </p:nvSpPr>
        <p:spPr>
          <a:xfrm>
            <a:off x="9052331"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dotn17"/>
          <p:cNvSpPr txBox="1"/>
          <p:nvPr/>
        </p:nvSpPr>
        <p:spPr>
          <a:xfrm>
            <a:off x="896089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17</a:t>
            </a:r>
          </a:p>
        </p:txBody>
      </p:sp>
      <p:sp>
        <p:nvSpPr>
          <p:cNvPr id="53" name="!!dot18">
            <a:extLst>
              <a:ext uri="{C183D7F6-B498-43B3-948B-1728B52AA6E4}">
                <adec:decorative xmlns:adec="http://schemas.microsoft.com/office/drawing/2017/decorative" val="1"/>
              </a:ext>
            </a:extLst>
          </p:cNvPr>
          <p:cNvSpPr/>
          <p:nvPr/>
        </p:nvSpPr>
        <p:spPr>
          <a:xfrm>
            <a:off x="9461857"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dotn18"/>
          <p:cNvSpPr txBox="1"/>
          <p:nvPr/>
        </p:nvSpPr>
        <p:spPr>
          <a:xfrm>
            <a:off x="937041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18</a:t>
            </a:r>
          </a:p>
        </p:txBody>
      </p:sp>
      <p:sp>
        <p:nvSpPr>
          <p:cNvPr id="55" name="!!dot19">
            <a:extLst>
              <a:ext uri="{C183D7F6-B498-43B3-948B-1728B52AA6E4}">
                <adec:decorative xmlns:adec="http://schemas.microsoft.com/office/drawing/2017/decorative" val="1"/>
              </a:ext>
            </a:extLst>
          </p:cNvPr>
          <p:cNvSpPr/>
          <p:nvPr/>
        </p:nvSpPr>
        <p:spPr>
          <a:xfrm>
            <a:off x="9871384"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dotn19"/>
          <p:cNvSpPr txBox="1"/>
          <p:nvPr/>
        </p:nvSpPr>
        <p:spPr>
          <a:xfrm>
            <a:off x="977994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19</a:t>
            </a:r>
          </a:p>
        </p:txBody>
      </p:sp>
      <p:sp>
        <p:nvSpPr>
          <p:cNvPr id="57" name="!!dot20">
            <a:extLst>
              <a:ext uri="{C183D7F6-B498-43B3-948B-1728B52AA6E4}">
                <adec:decorative xmlns:adec="http://schemas.microsoft.com/office/drawing/2017/decorative" val="1"/>
              </a:ext>
            </a:extLst>
          </p:cNvPr>
          <p:cNvSpPr/>
          <p:nvPr/>
        </p:nvSpPr>
        <p:spPr>
          <a:xfrm>
            <a:off x="10280910"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dotn20"/>
          <p:cNvSpPr txBox="1"/>
          <p:nvPr/>
        </p:nvSpPr>
        <p:spPr>
          <a:xfrm>
            <a:off x="1018947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20</a:t>
            </a:r>
          </a:p>
        </p:txBody>
      </p:sp>
      <p:sp>
        <p:nvSpPr>
          <p:cNvPr id="59" name="!!dot21">
            <a:extLst>
              <a:ext uri="{C183D7F6-B498-43B3-948B-1728B52AA6E4}">
                <adec:decorative xmlns:adec="http://schemas.microsoft.com/office/drawing/2017/decorative" val="1"/>
              </a:ext>
            </a:extLst>
          </p:cNvPr>
          <p:cNvSpPr/>
          <p:nvPr/>
        </p:nvSpPr>
        <p:spPr>
          <a:xfrm>
            <a:off x="10690437"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dotn21"/>
          <p:cNvSpPr txBox="1"/>
          <p:nvPr/>
        </p:nvSpPr>
        <p:spPr>
          <a:xfrm>
            <a:off x="105989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21</a:t>
            </a:r>
          </a:p>
        </p:txBody>
      </p:sp>
      <p:sp>
        <p:nvSpPr>
          <p:cNvPr id="61" name="!!dot22">
            <a:extLst>
              <a:ext uri="{C183D7F6-B498-43B3-948B-1728B52AA6E4}">
                <adec:decorative xmlns:adec="http://schemas.microsoft.com/office/drawing/2017/decorative" val="1"/>
              </a:ext>
            </a:extLst>
          </p:cNvPr>
          <p:cNvSpPr/>
          <p:nvPr/>
        </p:nvSpPr>
        <p:spPr>
          <a:xfrm>
            <a:off x="11099963"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dotn22"/>
          <p:cNvSpPr txBox="1"/>
          <p:nvPr/>
        </p:nvSpPr>
        <p:spPr>
          <a:xfrm>
            <a:off x="110085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22</a:t>
            </a:r>
          </a:p>
        </p:txBody>
      </p:sp>
      <p:sp>
        <p:nvSpPr>
          <p:cNvPr id="63" name="!!dotlabel"/>
          <p:cNvSpPr txBox="1"/>
          <p:nvPr/>
        </p:nvSpPr>
        <p:spPr>
          <a:xfrm>
            <a:off x="1189738" y="2798064"/>
            <a:ext cx="5852160"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1B7A43"/>
                </a:solidFill>
                <a:latin typeface="Segoe UI"/>
              </a:rPr>
              <a:t>Constraint Satisfaction</a:t>
            </a:r>
          </a:p>
        </p:txBody>
      </p:sp>
      <p:sp>
        <p:nvSpPr>
          <p:cNvPr id="64" name="!!dep-BUILD"/>
          <p:cNvSpPr txBox="1"/>
          <p:nvPr/>
        </p:nvSpPr>
        <p:spPr>
          <a:xfrm>
            <a:off x="658368"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BUILDS ON</a:t>
            </a:r>
          </a:p>
        </p:txBody>
      </p:sp>
      <p:sp>
        <p:nvSpPr>
          <p:cNvPr id="65" name="!!chipBU3">
            <a:extLst>
              <a:ext uri="{C183D7F6-B498-43B3-948B-1728B52AA6E4}">
                <adec:decorative xmlns:adec="http://schemas.microsoft.com/office/drawing/2017/decorative" val="1"/>
              </a:ext>
            </a:extLst>
          </p:cNvPr>
          <p:cNvSpPr/>
          <p:nvPr/>
        </p:nvSpPr>
        <p:spPr>
          <a:xfrm>
            <a:off x="658368" y="3785616"/>
            <a:ext cx="5208879" cy="420624"/>
          </a:xfrm>
          <a:prstGeom prst="roundRect">
            <a:avLst>
              <a:gd name="adj" fmla="val 17391"/>
            </a:avLst>
          </a:prstGeom>
          <a:solidFill>
            <a:srgbClr val="E8EEF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6" name="!!chipbBU3">
            <a:extLst>
              <a:ext uri="{C183D7F6-B498-43B3-948B-1728B52AA6E4}">
                <adec:decorative xmlns:adec="http://schemas.microsoft.com/office/drawing/2017/decorative" val="1"/>
              </a:ext>
            </a:extLst>
          </p:cNvPr>
          <p:cNvSpPr/>
          <p:nvPr/>
        </p:nvSpPr>
        <p:spPr>
          <a:xfrm>
            <a:off x="658368" y="3785616"/>
            <a:ext cx="64008" cy="42062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7" name="!!chiptBU3"/>
          <p:cNvSpPr txBox="1"/>
          <p:nvPr/>
        </p:nvSpPr>
        <p:spPr>
          <a:xfrm>
            <a:off x="859536"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A5276"/>
                </a:solidFill>
                <a:latin typeface="Segoe UI"/>
              </a:rPr>
              <a:t>Ch 3  </a:t>
            </a:r>
            <a:r>
              <a:rPr sz="1400" b="0" i="0">
                <a:solidFill>
                  <a:srgbClr val="1C252B"/>
                </a:solidFill>
                <a:latin typeface="Segoe UI"/>
              </a:rPr>
              <a:t>Representations and Search in Python</a:t>
            </a:r>
          </a:p>
        </p:txBody>
      </p:sp>
      <p:sp>
        <p:nvSpPr>
          <p:cNvPr id="68" name="!!chipBU4">
            <a:extLst>
              <a:ext uri="{C183D7F6-B498-43B3-948B-1728B52AA6E4}">
                <adec:decorative xmlns:adec="http://schemas.microsoft.com/office/drawing/2017/decorative" val="1"/>
              </a:ext>
            </a:extLst>
          </p:cNvPr>
          <p:cNvSpPr/>
          <p:nvPr/>
        </p:nvSpPr>
        <p:spPr>
          <a:xfrm>
            <a:off x="658368" y="4297680"/>
            <a:ext cx="5208879" cy="420624"/>
          </a:xfrm>
          <a:prstGeom prst="roundRect">
            <a:avLst>
              <a:gd name="adj" fmla="val 17391"/>
            </a:avLst>
          </a:prstGeom>
          <a:solidFill>
            <a:srgbClr val="E9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9" name="!!chipbBU4">
            <a:extLst>
              <a:ext uri="{C183D7F6-B498-43B3-948B-1728B52AA6E4}">
                <adec:decorative xmlns:adec="http://schemas.microsoft.com/office/drawing/2017/decorative" val="1"/>
              </a:ext>
            </a:extLst>
          </p:cNvPr>
          <p:cNvSpPr/>
          <p:nvPr/>
        </p:nvSpPr>
        <p:spPr>
          <a:xfrm>
            <a:off x="658368" y="4297680"/>
            <a:ext cx="64008" cy="420624"/>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chiptBU4"/>
          <p:cNvSpPr txBox="1"/>
          <p:nvPr/>
        </p:nvSpPr>
        <p:spPr>
          <a:xfrm>
            <a:off x="859536"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236794"/>
                </a:solidFill>
                <a:latin typeface="Segoe UI"/>
              </a:rPr>
              <a:t>Ch 4  </a:t>
            </a:r>
            <a:r>
              <a:rPr sz="1400" b="0" i="0">
                <a:solidFill>
                  <a:srgbClr val="1C252B"/>
                </a:solidFill>
                <a:latin typeface="Segoe UI"/>
              </a:rPr>
              <a:t>Problem Formulation and Uninformed Search</a:t>
            </a:r>
          </a:p>
        </p:txBody>
      </p:sp>
      <p:sp>
        <p:nvSpPr>
          <p:cNvPr id="71" name="!!chipBU5">
            <a:extLst>
              <a:ext uri="{C183D7F6-B498-43B3-948B-1728B52AA6E4}">
                <adec:decorative xmlns:adec="http://schemas.microsoft.com/office/drawing/2017/decorative" val="1"/>
              </a:ext>
            </a:extLst>
          </p:cNvPr>
          <p:cNvSpPr/>
          <p:nvPr/>
        </p:nvSpPr>
        <p:spPr>
          <a:xfrm>
            <a:off x="658368" y="4809744"/>
            <a:ext cx="5208879" cy="420624"/>
          </a:xfrm>
          <a:prstGeom prst="roundRect">
            <a:avLst>
              <a:gd name="adj" fmla="val 17391"/>
            </a:avLst>
          </a:prstGeom>
          <a:solidFill>
            <a:srgbClr val="E9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2" name="!!chipbBU5">
            <a:extLst>
              <a:ext uri="{C183D7F6-B498-43B3-948B-1728B52AA6E4}">
                <adec:decorative xmlns:adec="http://schemas.microsoft.com/office/drawing/2017/decorative" val="1"/>
              </a:ext>
            </a:extLst>
          </p:cNvPr>
          <p:cNvSpPr/>
          <p:nvPr/>
        </p:nvSpPr>
        <p:spPr>
          <a:xfrm>
            <a:off x="658368" y="4809744"/>
            <a:ext cx="64008" cy="420624"/>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3" name="!!chiptBU5"/>
          <p:cNvSpPr txBox="1"/>
          <p:nvPr/>
        </p:nvSpPr>
        <p:spPr>
          <a:xfrm>
            <a:off x="859536" y="4901184"/>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236794"/>
                </a:solidFill>
                <a:latin typeface="Segoe UI"/>
              </a:rPr>
              <a:t>Ch 5  </a:t>
            </a:r>
            <a:r>
              <a:rPr sz="1400" b="0" i="0">
                <a:solidFill>
                  <a:srgbClr val="1C252B"/>
                </a:solidFill>
                <a:latin typeface="Segoe UI"/>
              </a:rPr>
              <a:t>Informed Search and Heuristics</a:t>
            </a:r>
          </a:p>
        </p:txBody>
      </p:sp>
      <p:sp>
        <p:nvSpPr>
          <p:cNvPr id="74" name="!!dep-USED "/>
          <p:cNvSpPr txBox="1"/>
          <p:nvPr/>
        </p:nvSpPr>
        <p:spPr>
          <a:xfrm>
            <a:off x="6324447"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USED LATER IN</a:t>
            </a:r>
          </a:p>
        </p:txBody>
      </p:sp>
      <p:sp>
        <p:nvSpPr>
          <p:cNvPr id="75" name="!!chipUS8">
            <a:extLst>
              <a:ext uri="{C183D7F6-B498-43B3-948B-1728B52AA6E4}">
                <adec:decorative xmlns:adec="http://schemas.microsoft.com/office/drawing/2017/decorative" val="1"/>
              </a:ext>
            </a:extLst>
          </p:cNvPr>
          <p:cNvSpPr/>
          <p:nvPr/>
        </p:nvSpPr>
        <p:spPr>
          <a:xfrm>
            <a:off x="6324447" y="3785616"/>
            <a:ext cx="5208879" cy="420624"/>
          </a:xfrm>
          <a:prstGeom prst="roundRect">
            <a:avLst>
              <a:gd name="adj" fmla="val 17391"/>
            </a:avLst>
          </a:prstGeom>
          <a:solidFill>
            <a:srgbClr val="E8F2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chipbUS8">
            <a:extLst>
              <a:ext uri="{C183D7F6-B498-43B3-948B-1728B52AA6E4}">
                <adec:decorative xmlns:adec="http://schemas.microsoft.com/office/drawing/2017/decorative" val="1"/>
              </a:ext>
            </a:extLst>
          </p:cNvPr>
          <p:cNvSpPr/>
          <p:nvPr/>
        </p:nvSpPr>
        <p:spPr>
          <a:xfrm>
            <a:off x="6324447" y="3785616"/>
            <a:ext cx="64008" cy="420624"/>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7" name="!!chiptUS8"/>
          <p:cNvSpPr txBox="1"/>
          <p:nvPr/>
        </p:nvSpPr>
        <p:spPr>
          <a:xfrm>
            <a:off x="6525615"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B7A43"/>
                </a:solidFill>
                <a:latin typeface="Segoe UI"/>
              </a:rPr>
              <a:t>Ch 8  </a:t>
            </a:r>
            <a:r>
              <a:rPr sz="1400" b="0" i="0">
                <a:solidFill>
                  <a:srgbClr val="1C252B"/>
                </a:solidFill>
                <a:latin typeface="Segoe UI"/>
              </a:rPr>
              <a:t>Adversarial Search and Game Playing</a:t>
            </a:r>
          </a:p>
        </p:txBody>
      </p:sp>
      <p:sp>
        <p:nvSpPr>
          <p:cNvPr id="78" name="!!chipUS9">
            <a:extLst>
              <a:ext uri="{C183D7F6-B498-43B3-948B-1728B52AA6E4}">
                <adec:decorative xmlns:adec="http://schemas.microsoft.com/office/drawing/2017/decorative" val="1"/>
              </a:ext>
            </a:extLst>
          </p:cNvPr>
          <p:cNvSpPr/>
          <p:nvPr/>
        </p:nvSpPr>
        <p:spPr>
          <a:xfrm>
            <a:off x="6324447" y="4297680"/>
            <a:ext cx="5208879" cy="420624"/>
          </a:xfrm>
          <a:prstGeom prst="roundRect">
            <a:avLst>
              <a:gd name="adj" fmla="val 17391"/>
            </a:avLst>
          </a:prstGeom>
          <a:solidFill>
            <a:srgbClr val="E8F2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9" name="!!chipbUS9">
            <a:extLst>
              <a:ext uri="{C183D7F6-B498-43B3-948B-1728B52AA6E4}">
                <adec:decorative xmlns:adec="http://schemas.microsoft.com/office/drawing/2017/decorative" val="1"/>
              </a:ext>
            </a:extLst>
          </p:cNvPr>
          <p:cNvSpPr/>
          <p:nvPr/>
        </p:nvSpPr>
        <p:spPr>
          <a:xfrm>
            <a:off x="6324447" y="4297680"/>
            <a:ext cx="64008" cy="420624"/>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0" name="!!chiptUS9"/>
          <p:cNvSpPr txBox="1"/>
          <p:nvPr/>
        </p:nvSpPr>
        <p:spPr>
          <a:xfrm>
            <a:off x="6525615"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B7A43"/>
                </a:solidFill>
                <a:latin typeface="Segoe UI"/>
              </a:rPr>
              <a:t>Ch 9  </a:t>
            </a:r>
            <a:r>
              <a:rPr sz="1400" b="0" i="0">
                <a:solidFill>
                  <a:srgbClr val="1C252B"/>
                </a:solidFill>
                <a:latin typeface="Segoe UI"/>
              </a:rPr>
              <a:t>Planning</a:t>
            </a:r>
          </a:p>
        </p:txBody>
      </p:sp>
      <p:sp>
        <p:nvSpPr>
          <p:cNvPr id="8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2" name="!!pfill">
            <a:extLst>
              <a:ext uri="{C183D7F6-B498-43B3-948B-1728B52AA6E4}">
                <adec:decorative xmlns:adec="http://schemas.microsoft.com/office/drawing/2017/decorative" val="1"/>
              </a:ext>
            </a:extLst>
          </p:cNvPr>
          <p:cNvSpPr/>
          <p:nvPr/>
        </p:nvSpPr>
        <p:spPr>
          <a:xfrm>
            <a:off x="0" y="0"/>
            <a:ext cx="487667"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you will be able to do</a:t>
            </a:r>
          </a:p>
        </p:txBody>
      </p:sp>
      <p:pic>
        <p:nvPicPr>
          <p:cNvPr id="3" name="!!kicker-icon" descr="bullsey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LEARNING OUTCOMES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7  ·  Constraint Satisfaction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68     </a:t>
            </a:r>
            <a:fld id="{E514212D-23CD-427B-8648-AF81CF442B9C}" type="slidenum">
              <a:rPr lang="en-GB" sz="1000">
                <a:solidFill>
                  <a:srgbClr val="8795A1"/>
                </a:solidFill>
                <a:latin typeface="Segoe UI"/>
              </a:rPr>
              <a:t>3</a:t>
            </a:fld>
          </a:p>
        </p:txBody>
      </p:sp>
      <p:sp>
        <p:nvSpPr>
          <p:cNvPr id="7" name="!!olead"/>
          <p:cNvSpPr txBox="1"/>
          <p:nvPr/>
        </p:nvSpPr>
        <p:spPr>
          <a:xfrm>
            <a:off x="658368" y="1737360"/>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5F6F7B"/>
                </a:solidFill>
                <a:latin typeface="Segoe UI"/>
              </a:rPr>
              <a:t>By the end of this chapter you will be able to:</a:t>
            </a:r>
          </a:p>
        </p:txBody>
      </p:sp>
      <p:sp>
        <p:nvSpPr>
          <p:cNvPr id="8" name="!!ob0">
            <a:extLst>
              <a:ext uri="{C183D7F6-B498-43B3-948B-1728B52AA6E4}">
                <adec:decorative xmlns:adec="http://schemas.microsoft.com/office/drawing/2017/decorative" val="1"/>
              </a:ext>
            </a:extLst>
          </p:cNvPr>
          <p:cNvSpPr/>
          <p:nvPr/>
        </p:nvSpPr>
        <p:spPr>
          <a:xfrm>
            <a:off x="658368" y="2221991"/>
            <a:ext cx="420624" cy="420624"/>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obn0"/>
          <p:cNvSpPr txBox="1"/>
          <p:nvPr/>
        </p:nvSpPr>
        <p:spPr>
          <a:xfrm>
            <a:off x="658368" y="228142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10" name="!!ot0"/>
          <p:cNvSpPr txBox="1"/>
          <p:nvPr/>
        </p:nvSpPr>
        <p:spPr>
          <a:xfrm>
            <a:off x="1316736" y="2212848"/>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B7A43"/>
                </a:solidFill>
                <a:latin typeface="Segoe UI"/>
              </a:rPr>
              <a:t>Formulate</a:t>
            </a:r>
            <a:r>
              <a:rPr sz="2100" b="0" i="0">
                <a:solidFill>
                  <a:srgbClr val="1C252B"/>
                </a:solidFill>
                <a:latin typeface="Segoe UI"/>
              </a:rPr>
              <a:t> a problem as variables, domains and constraints, and </a:t>
            </a:r>
            <a:r>
              <a:rPr sz="2100" b="1" i="0">
                <a:solidFill>
                  <a:srgbClr val="1C252B"/>
                </a:solidFill>
                <a:latin typeface="Segoe UI"/>
              </a:rPr>
              <a:t>say</a:t>
            </a:r>
            <a:r>
              <a:rPr sz="2100" b="0" i="0">
                <a:solidFill>
                  <a:srgbClr val="1C252B"/>
                </a:solidFill>
                <a:latin typeface="Segoe UI"/>
              </a:rPr>
              <a:t> when that formulation is better than a search over states.</a:t>
            </a:r>
          </a:p>
        </p:txBody>
      </p:sp>
      <p:sp>
        <p:nvSpPr>
          <p:cNvPr id="11" name="!!ob1">
            <a:extLst>
              <a:ext uri="{C183D7F6-B498-43B3-948B-1728B52AA6E4}">
                <adec:decorative xmlns:adec="http://schemas.microsoft.com/office/drawing/2017/decorative" val="1"/>
              </a:ext>
            </a:extLst>
          </p:cNvPr>
          <p:cNvSpPr/>
          <p:nvPr/>
        </p:nvSpPr>
        <p:spPr>
          <a:xfrm>
            <a:off x="658368" y="3070555"/>
            <a:ext cx="420624" cy="420624"/>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obn1"/>
          <p:cNvSpPr txBox="1"/>
          <p:nvPr/>
        </p:nvSpPr>
        <p:spPr>
          <a:xfrm>
            <a:off x="658368" y="3129991"/>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3" name="!!ot1"/>
          <p:cNvSpPr txBox="1"/>
          <p:nvPr/>
        </p:nvSpPr>
        <p:spPr>
          <a:xfrm>
            <a:off x="1316736" y="3061411"/>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B7A43"/>
                </a:solidFill>
                <a:latin typeface="Segoe UI"/>
              </a:rPr>
              <a:t>Apply</a:t>
            </a:r>
            <a:r>
              <a:rPr sz="2100" b="0" i="0">
                <a:solidFill>
                  <a:srgbClr val="1C252B"/>
                </a:solidFill>
                <a:latin typeface="Segoe UI"/>
              </a:rPr>
              <a:t> backtracking search with the minimum-remaining-values and degree heuristics, and </a:t>
            </a:r>
            <a:r>
              <a:rPr sz="2100" b="1" i="0">
                <a:solidFill>
                  <a:srgbClr val="1C252B"/>
                </a:solidFill>
                <a:latin typeface="Segoe UI"/>
              </a:rPr>
              <a:t>explain</a:t>
            </a:r>
            <a:r>
              <a:rPr sz="2100" b="0" i="0">
                <a:solidFill>
                  <a:srgbClr val="1C252B"/>
                </a:solidFill>
                <a:latin typeface="Segoe UI"/>
              </a:rPr>
              <a:t> what each one orders.</a:t>
            </a:r>
          </a:p>
        </p:txBody>
      </p:sp>
      <p:sp>
        <p:nvSpPr>
          <p:cNvPr id="14" name="!!ob2">
            <a:extLst>
              <a:ext uri="{C183D7F6-B498-43B3-948B-1728B52AA6E4}">
                <adec:decorative xmlns:adec="http://schemas.microsoft.com/office/drawing/2017/decorative" val="1"/>
              </a:ext>
            </a:extLst>
          </p:cNvPr>
          <p:cNvSpPr/>
          <p:nvPr/>
        </p:nvSpPr>
        <p:spPr>
          <a:xfrm>
            <a:off x="658368" y="3919118"/>
            <a:ext cx="420624" cy="420624"/>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obn2"/>
          <p:cNvSpPr txBox="1"/>
          <p:nvPr/>
        </p:nvSpPr>
        <p:spPr>
          <a:xfrm>
            <a:off x="658368" y="3978554"/>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6" name="!!ot2"/>
          <p:cNvSpPr txBox="1"/>
          <p:nvPr/>
        </p:nvSpPr>
        <p:spPr>
          <a:xfrm>
            <a:off x="1316736" y="3909974"/>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B7A43"/>
                </a:solidFill>
                <a:latin typeface="Segoe UI"/>
              </a:rPr>
              <a:t>Propagate</a:t>
            </a:r>
            <a:r>
              <a:rPr sz="2100" b="0" i="0">
                <a:solidFill>
                  <a:srgbClr val="1C252B"/>
                </a:solidFill>
                <a:latin typeface="Segoe UI"/>
              </a:rPr>
              <a:t> constraints by forward checking and by arc consistency (AC-3), and </a:t>
            </a:r>
            <a:r>
              <a:rPr sz="2100" b="1" i="0">
                <a:solidFill>
                  <a:srgbClr val="1C252B"/>
                </a:solidFill>
                <a:latin typeface="Segoe UI"/>
              </a:rPr>
              <a:t>measure</a:t>
            </a:r>
            <a:r>
              <a:rPr sz="2100" b="0" i="0">
                <a:solidFill>
                  <a:srgbClr val="1C252B"/>
                </a:solidFill>
                <a:latin typeface="Segoe UI"/>
              </a:rPr>
              <a:t> what each removes.</a:t>
            </a:r>
          </a:p>
        </p:txBody>
      </p:sp>
      <p:sp>
        <p:nvSpPr>
          <p:cNvPr id="17" name="!!ob3">
            <a:extLst>
              <a:ext uri="{C183D7F6-B498-43B3-948B-1728B52AA6E4}">
                <adec:decorative xmlns:adec="http://schemas.microsoft.com/office/drawing/2017/decorative" val="1"/>
              </a:ext>
            </a:extLst>
          </p:cNvPr>
          <p:cNvSpPr/>
          <p:nvPr/>
        </p:nvSpPr>
        <p:spPr>
          <a:xfrm>
            <a:off x="658368" y="4767681"/>
            <a:ext cx="420624" cy="420624"/>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obn3"/>
          <p:cNvSpPr txBox="1"/>
          <p:nvPr/>
        </p:nvSpPr>
        <p:spPr>
          <a:xfrm>
            <a:off x="658368" y="4827117"/>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9" name="!!ot3"/>
          <p:cNvSpPr txBox="1"/>
          <p:nvPr/>
        </p:nvSpPr>
        <p:spPr>
          <a:xfrm>
            <a:off x="1316736" y="4758537"/>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B7A43"/>
                </a:solidFill>
                <a:latin typeface="Segoe UI"/>
              </a:rPr>
              <a:t>Explain</a:t>
            </a:r>
            <a:r>
              <a:rPr sz="2100" b="0" i="0">
                <a:solidFill>
                  <a:srgbClr val="1C252B"/>
                </a:solidFill>
                <a:latin typeface="Segoe UI"/>
              </a:rPr>
              <a:t> why ordering heuristics and propagation are a package, and why either alone can be worthless.</a:t>
            </a:r>
          </a:p>
        </p:txBody>
      </p:sp>
      <p:sp>
        <p:nvSpPr>
          <p:cNvPr id="20" name="!!ob4">
            <a:extLst>
              <a:ext uri="{C183D7F6-B498-43B3-948B-1728B52AA6E4}">
                <adec:decorative xmlns:adec="http://schemas.microsoft.com/office/drawing/2017/decorative" val="1"/>
              </a:ext>
            </a:extLst>
          </p:cNvPr>
          <p:cNvSpPr/>
          <p:nvPr/>
        </p:nvSpPr>
        <p:spPr>
          <a:xfrm>
            <a:off x="658368" y="5616244"/>
            <a:ext cx="420624" cy="420624"/>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obn4"/>
          <p:cNvSpPr txBox="1"/>
          <p:nvPr/>
        </p:nvSpPr>
        <p:spPr>
          <a:xfrm>
            <a:off x="658368" y="5675680"/>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2" name="!!ot4"/>
          <p:cNvSpPr txBox="1"/>
          <p:nvPr/>
        </p:nvSpPr>
        <p:spPr>
          <a:xfrm>
            <a:off x="1316736" y="5607100"/>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B7A43"/>
                </a:solidFill>
                <a:latin typeface="Segoe UI"/>
              </a:rPr>
              <a:t>Recognise</a:t>
            </a:r>
            <a:r>
              <a:rPr sz="2100" b="0" i="0">
                <a:solidFill>
                  <a:srgbClr val="1C252B"/>
                </a:solidFill>
                <a:latin typeface="Segoe UI"/>
              </a:rPr>
              <a:t> when a constraint problem is over-constrained, and </a:t>
            </a:r>
            <a:r>
              <a:rPr sz="2100" b="1" i="0">
                <a:solidFill>
                  <a:srgbClr val="1C252B"/>
                </a:solidFill>
                <a:latin typeface="Segoe UI"/>
              </a:rPr>
              <a:t>report</a:t>
            </a:r>
            <a:r>
              <a:rPr sz="2100" b="0" i="0">
                <a:solidFill>
                  <a:srgbClr val="1C252B"/>
                </a:solidFill>
                <a:latin typeface="Segoe UI"/>
              </a:rPr>
              <a:t> which constraint is responsible.</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73150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zoom(in)">
                                      <p:cBhvr>
                                        <p:cTn id="8" dur="300"/>
                                        <p:tgtEl>
                                          <p:spTgt spid="8"/>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right)">
                                      <p:cBhvr>
                                        <p:cTn id="14" dur="420"/>
                                        <p:tgtEl>
                                          <p:spTgt spid="10"/>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zoom(in)">
                                      <p:cBhvr>
                                        <p:cTn id="19" dur="3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300"/>
                                        <p:tgtEl>
                                          <p:spTgt spid="12"/>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wipe(right)">
                                      <p:cBhvr>
                                        <p:cTn id="25" dur="420"/>
                                        <p:tgtEl>
                                          <p:spTgt spid="13"/>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zoom(in)">
                                      <p:cBhvr>
                                        <p:cTn id="30" dur="3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300"/>
                                        <p:tgtEl>
                                          <p:spTgt spid="15"/>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wipe(right)">
                                      <p:cBhvr>
                                        <p:cTn id="36" dur="42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zoom(in)">
                                      <p:cBhvr>
                                        <p:cTn id="41" dur="3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300"/>
                                        <p:tgtEl>
                                          <p:spTgt spid="18"/>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wipe(right)">
                                      <p:cBhvr>
                                        <p:cTn id="47" dur="420"/>
                                        <p:tgtEl>
                                          <p:spTgt spid="19"/>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zoom(in)">
                                      <p:cBhvr>
                                        <p:cTn id="52" dur="300"/>
                                        <p:tgtEl>
                                          <p:spTgt spid="2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300"/>
                                        <p:tgtEl>
                                          <p:spTgt spid="21"/>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42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Vocabulary for this chapter</a:t>
            </a:r>
          </a:p>
        </p:txBody>
      </p:sp>
      <p:pic>
        <p:nvPicPr>
          <p:cNvPr id="3" name="!!kicker-icon" descr="tags-8E44AD.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8E44AD"/>
                </a:solidFill>
                <a:latin typeface="Segoe UI"/>
              </a:rPr>
              <a:t>KEY TERMS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7  ·  Constraint Satisfaction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68     </a:t>
            </a:r>
            <a:fld id="{07E3D87A-97AB-40B8-A3A2-D96230A42122}" type="slidenum">
              <a:rPr lang="en-GB" sz="1000">
                <a:solidFill>
                  <a:srgbClr val="8795A1"/>
                </a:solidFill>
                <a:latin typeface="Segoe UI"/>
              </a:rPr>
              <a:t>4</a:t>
            </a:fld>
          </a:p>
        </p:txBody>
      </p:sp>
      <p:sp>
        <p:nvSpPr>
          <p:cNvPr id="7" name="!!term-constraint sat">
            <a:extLst>
              <a:ext uri="{C183D7F6-B498-43B3-948B-1728B52AA6E4}">
                <adec:decorative xmlns:adec="http://schemas.microsoft.com/office/drawing/2017/decorative" val="1"/>
              </a:ext>
            </a:extLst>
          </p:cNvPr>
          <p:cNvSpPr/>
          <p:nvPr/>
        </p:nvSpPr>
        <p:spPr>
          <a:xfrm>
            <a:off x="658368" y="1847088"/>
            <a:ext cx="326180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ermd-constraint sat">
            <a:extLst>
              <a:ext uri="{C183D7F6-B498-43B3-948B-1728B52AA6E4}">
                <adec:decorative xmlns:adec="http://schemas.microsoft.com/office/drawing/2017/decorative" val="1"/>
              </a:ext>
            </a:extLst>
          </p:cNvPr>
          <p:cNvSpPr/>
          <p:nvPr/>
        </p:nvSpPr>
        <p:spPr>
          <a:xfrm>
            <a:off x="78638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termt-constraint sat"/>
          <p:cNvSpPr txBox="1"/>
          <p:nvPr/>
        </p:nvSpPr>
        <p:spPr>
          <a:xfrm>
            <a:off x="950976" y="1962911"/>
            <a:ext cx="3078925"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constraint satisfaction problem</a:t>
            </a:r>
          </a:p>
        </p:txBody>
      </p:sp>
      <p:sp>
        <p:nvSpPr>
          <p:cNvPr id="10" name="!!term-variable">
            <a:extLst>
              <a:ext uri="{C183D7F6-B498-43B3-948B-1728B52AA6E4}">
                <adec:decorative xmlns:adec="http://schemas.microsoft.com/office/drawing/2017/decorative" val="1"/>
              </a:ext>
            </a:extLst>
          </p:cNvPr>
          <p:cNvSpPr/>
          <p:nvPr/>
        </p:nvSpPr>
        <p:spPr>
          <a:xfrm>
            <a:off x="4066477" y="1847088"/>
            <a:ext cx="115184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rmd-variable">
            <a:extLst>
              <a:ext uri="{C183D7F6-B498-43B3-948B-1728B52AA6E4}">
                <adec:decorative xmlns:adec="http://schemas.microsoft.com/office/drawing/2017/decorative" val="1"/>
              </a:ext>
            </a:extLst>
          </p:cNvPr>
          <p:cNvSpPr/>
          <p:nvPr/>
        </p:nvSpPr>
        <p:spPr>
          <a:xfrm>
            <a:off x="4194493"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rmt-variable"/>
          <p:cNvSpPr txBox="1"/>
          <p:nvPr/>
        </p:nvSpPr>
        <p:spPr>
          <a:xfrm>
            <a:off x="4359085" y="1962911"/>
            <a:ext cx="968961"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variable</a:t>
            </a:r>
          </a:p>
        </p:txBody>
      </p:sp>
      <p:sp>
        <p:nvSpPr>
          <p:cNvPr id="13" name="!!term-domain">
            <a:extLst>
              <a:ext uri="{C183D7F6-B498-43B3-948B-1728B52AA6E4}">
                <adec:decorative xmlns:adec="http://schemas.microsoft.com/office/drawing/2017/decorative" val="1"/>
              </a:ext>
            </a:extLst>
          </p:cNvPr>
          <p:cNvSpPr/>
          <p:nvPr/>
        </p:nvSpPr>
        <p:spPr>
          <a:xfrm>
            <a:off x="5364623" y="1847088"/>
            <a:ext cx="113386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rmd-domain">
            <a:extLst>
              <a:ext uri="{C183D7F6-B498-43B3-948B-1728B52AA6E4}">
                <adec:decorative xmlns:adec="http://schemas.microsoft.com/office/drawing/2017/decorative" val="1"/>
              </a:ext>
            </a:extLst>
          </p:cNvPr>
          <p:cNvSpPr/>
          <p:nvPr/>
        </p:nvSpPr>
        <p:spPr>
          <a:xfrm>
            <a:off x="5492639"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rmt-domain"/>
          <p:cNvSpPr txBox="1"/>
          <p:nvPr/>
        </p:nvSpPr>
        <p:spPr>
          <a:xfrm>
            <a:off x="5657231" y="1962911"/>
            <a:ext cx="950988"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domain</a:t>
            </a:r>
          </a:p>
        </p:txBody>
      </p:sp>
      <p:sp>
        <p:nvSpPr>
          <p:cNvPr id="16" name="!!term-constraint">
            <a:extLst>
              <a:ext uri="{C183D7F6-B498-43B3-948B-1728B52AA6E4}">
                <adec:decorative xmlns:adec="http://schemas.microsoft.com/office/drawing/2017/decorative" val="1"/>
              </a:ext>
            </a:extLst>
          </p:cNvPr>
          <p:cNvSpPr/>
          <p:nvPr/>
        </p:nvSpPr>
        <p:spPr>
          <a:xfrm>
            <a:off x="6644795" y="1847088"/>
            <a:ext cx="134693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rmd-constraint">
            <a:extLst>
              <a:ext uri="{C183D7F6-B498-43B3-948B-1728B52AA6E4}">
                <adec:decorative xmlns:adec="http://schemas.microsoft.com/office/drawing/2017/decorative" val="1"/>
              </a:ext>
            </a:extLst>
          </p:cNvPr>
          <p:cNvSpPr/>
          <p:nvPr/>
        </p:nvSpPr>
        <p:spPr>
          <a:xfrm>
            <a:off x="6772811"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rmt-constraint"/>
          <p:cNvSpPr txBox="1"/>
          <p:nvPr/>
        </p:nvSpPr>
        <p:spPr>
          <a:xfrm>
            <a:off x="6937403" y="1962911"/>
            <a:ext cx="1164055"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constraint</a:t>
            </a:r>
          </a:p>
        </p:txBody>
      </p:sp>
      <p:sp>
        <p:nvSpPr>
          <p:cNvPr id="19" name="!!term-constraint gra">
            <a:extLst>
              <a:ext uri="{C183D7F6-B498-43B3-948B-1728B52AA6E4}">
                <adec:decorative xmlns:adec="http://schemas.microsoft.com/office/drawing/2017/decorative" val="1"/>
              </a:ext>
            </a:extLst>
          </p:cNvPr>
          <p:cNvSpPr/>
          <p:nvPr/>
        </p:nvSpPr>
        <p:spPr>
          <a:xfrm>
            <a:off x="8138035" y="1847088"/>
            <a:ext cx="1942612"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rmd-constraint gra">
            <a:extLst>
              <a:ext uri="{C183D7F6-B498-43B3-948B-1728B52AA6E4}">
                <adec:decorative xmlns:adec="http://schemas.microsoft.com/office/drawing/2017/decorative" val="1"/>
              </a:ext>
            </a:extLst>
          </p:cNvPr>
          <p:cNvSpPr/>
          <p:nvPr/>
        </p:nvSpPr>
        <p:spPr>
          <a:xfrm>
            <a:off x="8266051"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rmt-constraint gra"/>
          <p:cNvSpPr txBox="1"/>
          <p:nvPr/>
        </p:nvSpPr>
        <p:spPr>
          <a:xfrm>
            <a:off x="8430643" y="1962911"/>
            <a:ext cx="1759732"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constraint graph</a:t>
            </a:r>
          </a:p>
        </p:txBody>
      </p:sp>
      <p:sp>
        <p:nvSpPr>
          <p:cNvPr id="22" name="!!term-assignment">
            <a:extLst>
              <a:ext uri="{C183D7F6-B498-43B3-948B-1728B52AA6E4}">
                <adec:decorative xmlns:adec="http://schemas.microsoft.com/office/drawing/2017/decorative" val="1"/>
              </a:ext>
            </a:extLst>
          </p:cNvPr>
          <p:cNvSpPr/>
          <p:nvPr/>
        </p:nvSpPr>
        <p:spPr>
          <a:xfrm>
            <a:off x="658368" y="2468880"/>
            <a:ext cx="148414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rmd-assignment">
            <a:extLst>
              <a:ext uri="{C183D7F6-B498-43B3-948B-1728B52AA6E4}">
                <adec:decorative xmlns:adec="http://schemas.microsoft.com/office/drawing/2017/decorative" val="1"/>
              </a:ext>
            </a:extLst>
          </p:cNvPr>
          <p:cNvSpPr/>
          <p:nvPr/>
        </p:nvSpPr>
        <p:spPr>
          <a:xfrm>
            <a:off x="78638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rmt-assignment"/>
          <p:cNvSpPr txBox="1"/>
          <p:nvPr/>
        </p:nvSpPr>
        <p:spPr>
          <a:xfrm>
            <a:off x="950976" y="2584704"/>
            <a:ext cx="1301264"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assignment</a:t>
            </a:r>
          </a:p>
        </p:txBody>
      </p:sp>
      <p:sp>
        <p:nvSpPr>
          <p:cNvPr id="25" name="!!term-partial assign">
            <a:extLst>
              <a:ext uri="{C183D7F6-B498-43B3-948B-1728B52AA6E4}">
                <adec:decorative xmlns:adec="http://schemas.microsoft.com/office/drawing/2017/decorative" val="1"/>
              </a:ext>
            </a:extLst>
          </p:cNvPr>
          <p:cNvSpPr/>
          <p:nvPr/>
        </p:nvSpPr>
        <p:spPr>
          <a:xfrm>
            <a:off x="2288816" y="2468880"/>
            <a:ext cx="211655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rmd-partial assign">
            <a:extLst>
              <a:ext uri="{C183D7F6-B498-43B3-948B-1728B52AA6E4}">
                <adec:decorative xmlns:adec="http://schemas.microsoft.com/office/drawing/2017/decorative" val="1"/>
              </a:ext>
            </a:extLst>
          </p:cNvPr>
          <p:cNvSpPr/>
          <p:nvPr/>
        </p:nvSpPr>
        <p:spPr>
          <a:xfrm>
            <a:off x="2416832"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rmt-partial assign"/>
          <p:cNvSpPr txBox="1"/>
          <p:nvPr/>
        </p:nvSpPr>
        <p:spPr>
          <a:xfrm>
            <a:off x="2581424" y="2584704"/>
            <a:ext cx="1933678"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partial assignment</a:t>
            </a:r>
          </a:p>
        </p:txBody>
      </p:sp>
      <p:sp>
        <p:nvSpPr>
          <p:cNvPr id="28" name="!!term-consistency">
            <a:extLst>
              <a:ext uri="{C183D7F6-B498-43B3-948B-1728B52AA6E4}">
                <adec:decorative xmlns:adec="http://schemas.microsoft.com/office/drawing/2017/decorative" val="1"/>
              </a:ext>
            </a:extLst>
          </p:cNvPr>
          <p:cNvSpPr/>
          <p:nvPr/>
        </p:nvSpPr>
        <p:spPr>
          <a:xfrm>
            <a:off x="4551678" y="2468880"/>
            <a:ext cx="1491372"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rmd-consistency">
            <a:extLst>
              <a:ext uri="{C183D7F6-B498-43B3-948B-1728B52AA6E4}">
                <adec:decorative xmlns:adec="http://schemas.microsoft.com/office/drawing/2017/decorative" val="1"/>
              </a:ext>
            </a:extLst>
          </p:cNvPr>
          <p:cNvSpPr/>
          <p:nvPr/>
        </p:nvSpPr>
        <p:spPr>
          <a:xfrm>
            <a:off x="467969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rmt-consistency"/>
          <p:cNvSpPr txBox="1"/>
          <p:nvPr/>
        </p:nvSpPr>
        <p:spPr>
          <a:xfrm>
            <a:off x="4844286" y="2584704"/>
            <a:ext cx="1308492"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consistency</a:t>
            </a:r>
          </a:p>
        </p:txBody>
      </p:sp>
      <p:sp>
        <p:nvSpPr>
          <p:cNvPr id="31" name="!!term-backtracking">
            <a:extLst>
              <a:ext uri="{C183D7F6-B498-43B3-948B-1728B52AA6E4}">
                <adec:decorative xmlns:adec="http://schemas.microsoft.com/office/drawing/2017/decorative" val="1"/>
              </a:ext>
            </a:extLst>
          </p:cNvPr>
          <p:cNvSpPr/>
          <p:nvPr/>
        </p:nvSpPr>
        <p:spPr>
          <a:xfrm>
            <a:off x="6189355" y="2468880"/>
            <a:ext cx="160118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rmd-backtracking">
            <a:extLst>
              <a:ext uri="{C183D7F6-B498-43B3-948B-1728B52AA6E4}">
                <adec:decorative xmlns:adec="http://schemas.microsoft.com/office/drawing/2017/decorative" val="1"/>
              </a:ext>
            </a:extLst>
          </p:cNvPr>
          <p:cNvSpPr/>
          <p:nvPr/>
        </p:nvSpPr>
        <p:spPr>
          <a:xfrm>
            <a:off x="6317371"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rmt-backtracking"/>
          <p:cNvSpPr txBox="1"/>
          <p:nvPr/>
        </p:nvSpPr>
        <p:spPr>
          <a:xfrm>
            <a:off x="6481963" y="2584704"/>
            <a:ext cx="1418300"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backtracking</a:t>
            </a:r>
          </a:p>
        </p:txBody>
      </p:sp>
      <p:sp>
        <p:nvSpPr>
          <p:cNvPr id="34" name="!!term-minimum remain">
            <a:extLst>
              <a:ext uri="{C183D7F6-B498-43B3-948B-1728B52AA6E4}">
                <adec:decorative xmlns:adec="http://schemas.microsoft.com/office/drawing/2017/decorative" val="1"/>
              </a:ext>
            </a:extLst>
          </p:cNvPr>
          <p:cNvSpPr/>
          <p:nvPr/>
        </p:nvSpPr>
        <p:spPr>
          <a:xfrm>
            <a:off x="7936840" y="2468880"/>
            <a:ext cx="291271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rmd-minimum remain">
            <a:extLst>
              <a:ext uri="{C183D7F6-B498-43B3-948B-1728B52AA6E4}">
                <adec:decorative xmlns:adec="http://schemas.microsoft.com/office/drawing/2017/decorative" val="1"/>
              </a:ext>
            </a:extLst>
          </p:cNvPr>
          <p:cNvSpPr/>
          <p:nvPr/>
        </p:nvSpPr>
        <p:spPr>
          <a:xfrm>
            <a:off x="8064856"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rmt-minimum remain"/>
          <p:cNvSpPr txBox="1"/>
          <p:nvPr/>
        </p:nvSpPr>
        <p:spPr>
          <a:xfrm>
            <a:off x="8229448" y="2584704"/>
            <a:ext cx="2729834"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minimum remaining values</a:t>
            </a:r>
          </a:p>
        </p:txBody>
      </p:sp>
      <p:sp>
        <p:nvSpPr>
          <p:cNvPr id="37" name="!!term-degree heurist">
            <a:extLst>
              <a:ext uri="{C183D7F6-B498-43B3-948B-1728B52AA6E4}">
                <adec:decorative xmlns:adec="http://schemas.microsoft.com/office/drawing/2017/decorative" val="1"/>
              </a:ext>
            </a:extLst>
          </p:cNvPr>
          <p:cNvSpPr/>
          <p:nvPr/>
        </p:nvSpPr>
        <p:spPr>
          <a:xfrm>
            <a:off x="658368" y="3090672"/>
            <a:ext cx="190650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rmd-degree heurist">
            <a:extLst>
              <a:ext uri="{C183D7F6-B498-43B3-948B-1728B52AA6E4}">
                <adec:decorative xmlns:adec="http://schemas.microsoft.com/office/drawing/2017/decorative" val="1"/>
              </a:ext>
            </a:extLst>
          </p:cNvPr>
          <p:cNvSpPr/>
          <p:nvPr/>
        </p:nvSpPr>
        <p:spPr>
          <a:xfrm>
            <a:off x="786384"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rmt-degree heurist"/>
          <p:cNvSpPr txBox="1"/>
          <p:nvPr/>
        </p:nvSpPr>
        <p:spPr>
          <a:xfrm>
            <a:off x="950976" y="3206496"/>
            <a:ext cx="1723626"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degree heuristic</a:t>
            </a:r>
          </a:p>
        </p:txBody>
      </p:sp>
      <p:sp>
        <p:nvSpPr>
          <p:cNvPr id="40" name="!!term-least constrai">
            <a:extLst>
              <a:ext uri="{C183D7F6-B498-43B3-948B-1728B52AA6E4}">
                <adec:decorative xmlns:adec="http://schemas.microsoft.com/office/drawing/2017/decorative" val="1"/>
              </a:ext>
            </a:extLst>
          </p:cNvPr>
          <p:cNvSpPr/>
          <p:nvPr/>
        </p:nvSpPr>
        <p:spPr>
          <a:xfrm>
            <a:off x="2711178" y="3090672"/>
            <a:ext cx="258258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rmd-least constrai">
            <a:extLst>
              <a:ext uri="{C183D7F6-B498-43B3-948B-1728B52AA6E4}">
                <adec:decorative xmlns:adec="http://schemas.microsoft.com/office/drawing/2017/decorative" val="1"/>
              </a:ext>
            </a:extLst>
          </p:cNvPr>
          <p:cNvSpPr/>
          <p:nvPr/>
        </p:nvSpPr>
        <p:spPr>
          <a:xfrm>
            <a:off x="2839194"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rmt-least constrai"/>
          <p:cNvSpPr txBox="1"/>
          <p:nvPr/>
        </p:nvSpPr>
        <p:spPr>
          <a:xfrm>
            <a:off x="3003786" y="3206496"/>
            <a:ext cx="2399705"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least constraining value</a:t>
            </a:r>
          </a:p>
        </p:txBody>
      </p:sp>
      <p:sp>
        <p:nvSpPr>
          <p:cNvPr id="43" name="!!term-forward checki">
            <a:extLst>
              <a:ext uri="{C183D7F6-B498-43B3-948B-1728B52AA6E4}">
                <adec:decorative xmlns:adec="http://schemas.microsoft.com/office/drawing/2017/decorative" val="1"/>
              </a:ext>
            </a:extLst>
          </p:cNvPr>
          <p:cNvSpPr/>
          <p:nvPr/>
        </p:nvSpPr>
        <p:spPr>
          <a:xfrm>
            <a:off x="5440067" y="3090672"/>
            <a:ext cx="201358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rmd-forward checki">
            <a:extLst>
              <a:ext uri="{C183D7F6-B498-43B3-948B-1728B52AA6E4}">
                <adec:decorative xmlns:adec="http://schemas.microsoft.com/office/drawing/2017/decorative" val="1"/>
              </a:ext>
            </a:extLst>
          </p:cNvPr>
          <p:cNvSpPr/>
          <p:nvPr/>
        </p:nvSpPr>
        <p:spPr>
          <a:xfrm>
            <a:off x="5568083"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rmt-forward checki"/>
          <p:cNvSpPr txBox="1"/>
          <p:nvPr/>
        </p:nvSpPr>
        <p:spPr>
          <a:xfrm>
            <a:off x="5732675" y="3206496"/>
            <a:ext cx="1830704"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forward checking</a:t>
            </a:r>
          </a:p>
        </p:txBody>
      </p:sp>
      <p:sp>
        <p:nvSpPr>
          <p:cNvPr id="46" name="!!term-arc consistenc">
            <a:extLst>
              <a:ext uri="{C183D7F6-B498-43B3-948B-1728B52AA6E4}">
                <adec:decorative xmlns:adec="http://schemas.microsoft.com/office/drawing/2017/decorative" val="1"/>
              </a:ext>
            </a:extLst>
          </p:cNvPr>
          <p:cNvSpPr/>
          <p:nvPr/>
        </p:nvSpPr>
        <p:spPr>
          <a:xfrm>
            <a:off x="7599955" y="3090672"/>
            <a:ext cx="1821502"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rmd-arc consistenc">
            <a:extLst>
              <a:ext uri="{C183D7F6-B498-43B3-948B-1728B52AA6E4}">
                <adec:decorative xmlns:adec="http://schemas.microsoft.com/office/drawing/2017/decorative" val="1"/>
              </a:ext>
            </a:extLst>
          </p:cNvPr>
          <p:cNvSpPr/>
          <p:nvPr/>
        </p:nvSpPr>
        <p:spPr>
          <a:xfrm>
            <a:off x="7727971"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rmt-arc consistenc"/>
          <p:cNvSpPr txBox="1"/>
          <p:nvPr/>
        </p:nvSpPr>
        <p:spPr>
          <a:xfrm>
            <a:off x="7892563" y="3206496"/>
            <a:ext cx="1638622"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arc consistency</a:t>
            </a:r>
          </a:p>
        </p:txBody>
      </p:sp>
      <p:sp>
        <p:nvSpPr>
          <p:cNvPr id="49" name="!!term-AC-3">
            <a:extLst>
              <a:ext uri="{C183D7F6-B498-43B3-948B-1728B52AA6E4}">
                <adec:decorative xmlns:adec="http://schemas.microsoft.com/office/drawing/2017/decorative" val="1"/>
              </a:ext>
            </a:extLst>
          </p:cNvPr>
          <p:cNvSpPr/>
          <p:nvPr/>
        </p:nvSpPr>
        <p:spPr>
          <a:xfrm>
            <a:off x="9567761" y="3090672"/>
            <a:ext cx="895472"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rmd-AC-3">
            <a:extLst>
              <a:ext uri="{C183D7F6-B498-43B3-948B-1728B52AA6E4}">
                <adec:decorative xmlns:adec="http://schemas.microsoft.com/office/drawing/2017/decorative" val="1"/>
              </a:ext>
            </a:extLst>
          </p:cNvPr>
          <p:cNvSpPr/>
          <p:nvPr/>
        </p:nvSpPr>
        <p:spPr>
          <a:xfrm>
            <a:off x="9695777"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rmt-AC-3"/>
          <p:cNvSpPr txBox="1"/>
          <p:nvPr/>
        </p:nvSpPr>
        <p:spPr>
          <a:xfrm>
            <a:off x="9860369" y="3206496"/>
            <a:ext cx="712592"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AC-3</a:t>
            </a:r>
          </a:p>
        </p:txBody>
      </p:sp>
      <p:sp>
        <p:nvSpPr>
          <p:cNvPr id="52" name="!!term-over-constrain">
            <a:extLst>
              <a:ext uri="{C183D7F6-B498-43B3-948B-1728B52AA6E4}">
                <adec:decorative xmlns:adec="http://schemas.microsoft.com/office/drawing/2017/decorative" val="1"/>
              </a:ext>
            </a:extLst>
          </p:cNvPr>
          <p:cNvSpPr/>
          <p:nvPr/>
        </p:nvSpPr>
        <p:spPr>
          <a:xfrm>
            <a:off x="658368" y="3712464"/>
            <a:ext cx="199109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rmd-over-constrain">
            <a:extLst>
              <a:ext uri="{C183D7F6-B498-43B3-948B-1728B52AA6E4}">
                <adec:decorative xmlns:adec="http://schemas.microsoft.com/office/drawing/2017/decorative" val="1"/>
              </a:ext>
            </a:extLst>
          </p:cNvPr>
          <p:cNvSpPr/>
          <p:nvPr/>
        </p:nvSpPr>
        <p:spPr>
          <a:xfrm>
            <a:off x="786384" y="3904488"/>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rmt-over-constrain"/>
          <p:cNvSpPr txBox="1"/>
          <p:nvPr/>
        </p:nvSpPr>
        <p:spPr>
          <a:xfrm>
            <a:off x="950976" y="3828288"/>
            <a:ext cx="1808215"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over-constrained</a:t>
            </a:r>
          </a:p>
        </p:txBody>
      </p:sp>
      <p:sp>
        <p:nvSpPr>
          <p:cNvPr id="55" name="!!termnote"/>
          <p:cNvSpPr txBox="1"/>
          <p:nvPr/>
        </p:nvSpPr>
        <p:spPr>
          <a:xfrm>
            <a:off x="658368" y="4535424"/>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350" b="0" i="1">
                <a:solidFill>
                  <a:srgbClr val="5F6F7B"/>
                </a:solidFill>
                <a:latin typeface="Segoe UI"/>
              </a:rPr>
              <a:t>Each term is defined where it first matters — not here.</a:t>
            </a:r>
          </a:p>
        </p:txBody>
      </p:sp>
      <p:sp>
        <p:nvSpPr>
          <p:cNvPr id="5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pfill">
            <a:extLst>
              <a:ext uri="{C183D7F6-B498-43B3-948B-1728B52AA6E4}">
                <adec:decorative xmlns:adec="http://schemas.microsoft.com/office/drawing/2017/decorative" val="1"/>
              </a:ext>
            </a:extLst>
          </p:cNvPr>
          <p:cNvSpPr/>
          <p:nvPr/>
        </p:nvSpPr>
        <p:spPr>
          <a:xfrm>
            <a:off x="0" y="0"/>
            <a:ext cx="975335"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 this chapter</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THIS CHAPTER</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7  ·  Constraint Satisfaction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pp. 68–78     </a:t>
            </a:r>
            <a:fld id="{EE94E5AD-EA2A-4E82-AD11-058C0F0DBC8B}" type="slidenum">
              <a:rPr lang="en-GB" sz="1000">
                <a:solidFill>
                  <a:srgbClr val="8795A1"/>
                </a:solidFill>
                <a:latin typeface="Segoe UI"/>
              </a:rPr>
              <a:t>5</a:t>
            </a:fld>
          </a:p>
        </p:txBody>
      </p:sp>
      <p:sp>
        <p:nvSpPr>
          <p:cNvPr id="7" name="!!ag0" descr="Go to section 7.1 A Sprint Plan as a Constraint Problem">
            <a:hlinkClick action="ppaction://hlinksldjump" r:id="rId5"/>
          </p:cNvPr>
          <p:cNvSpPr/>
          <p:nvPr/>
        </p:nvSpPr>
        <p:spPr>
          <a:xfrm>
            <a:off x="658368" y="17739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agb0">
            <a:extLst>
              <a:ext uri="{C183D7F6-B498-43B3-948B-1728B52AA6E4}">
                <adec:decorative xmlns:adec="http://schemas.microsoft.com/office/drawing/2017/decorative" val="1"/>
              </a:ext>
            </a:extLst>
          </p:cNvPr>
          <p:cNvSpPr/>
          <p:nvPr/>
        </p:nvSpPr>
        <p:spPr>
          <a:xfrm>
            <a:off x="658368" y="1773936"/>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agn0"/>
          <p:cNvSpPr txBox="1"/>
          <p:nvPr/>
        </p:nvSpPr>
        <p:spPr>
          <a:xfrm>
            <a:off x="932688" y="19202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7.1</a:t>
            </a:r>
          </a:p>
        </p:txBody>
      </p:sp>
      <p:sp>
        <p:nvSpPr>
          <p:cNvPr id="10" name="!!agt0"/>
          <p:cNvSpPr txBox="1"/>
          <p:nvPr/>
        </p:nvSpPr>
        <p:spPr>
          <a:xfrm>
            <a:off x="1847088" y="19202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A Sprint Plan as a Constraint Problem</a:t>
            </a:r>
          </a:p>
        </p:txBody>
      </p:sp>
      <p:sp>
        <p:nvSpPr>
          <p:cNvPr id="11" name="!!agp0"/>
          <p:cNvSpPr txBox="1"/>
          <p:nvPr/>
        </p:nvSpPr>
        <p:spPr>
          <a:xfrm>
            <a:off x="9795967" y="19476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68  ›</a:t>
            </a:r>
          </a:p>
        </p:txBody>
      </p:sp>
      <p:sp>
        <p:nvSpPr>
          <p:cNvPr id="12" name="!!ag1" descr="Go to section 7.2 Backtracking Search">
            <a:hlinkClick action="ppaction://hlinksldjump" r:id="rId6"/>
          </p:cNvPr>
          <p:cNvSpPr/>
          <p:nvPr/>
        </p:nvSpPr>
        <p:spPr>
          <a:xfrm>
            <a:off x="658368" y="2414015"/>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agb1">
            <a:extLst>
              <a:ext uri="{C183D7F6-B498-43B3-948B-1728B52AA6E4}">
                <adec:decorative xmlns:adec="http://schemas.microsoft.com/office/drawing/2017/decorative" val="1"/>
              </a:ext>
            </a:extLst>
          </p:cNvPr>
          <p:cNvSpPr/>
          <p:nvPr/>
        </p:nvSpPr>
        <p:spPr>
          <a:xfrm>
            <a:off x="658368" y="2414015"/>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agn1"/>
          <p:cNvSpPr txBox="1"/>
          <p:nvPr/>
        </p:nvSpPr>
        <p:spPr>
          <a:xfrm>
            <a:off x="932688" y="256032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7.2</a:t>
            </a:r>
          </a:p>
        </p:txBody>
      </p:sp>
      <p:sp>
        <p:nvSpPr>
          <p:cNvPr id="15" name="!!agt1"/>
          <p:cNvSpPr txBox="1"/>
          <p:nvPr/>
        </p:nvSpPr>
        <p:spPr>
          <a:xfrm>
            <a:off x="1847088" y="256032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Backtracking Search</a:t>
            </a:r>
          </a:p>
        </p:txBody>
      </p:sp>
      <p:sp>
        <p:nvSpPr>
          <p:cNvPr id="16" name="!!agp1"/>
          <p:cNvSpPr txBox="1"/>
          <p:nvPr/>
        </p:nvSpPr>
        <p:spPr>
          <a:xfrm>
            <a:off x="9795967" y="2587751"/>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69  ›</a:t>
            </a:r>
          </a:p>
        </p:txBody>
      </p:sp>
      <p:sp>
        <p:nvSpPr>
          <p:cNvPr id="17" name="!!ag2" descr="Go to section 7.3 Which Variable Next, and Which Value">
            <a:hlinkClick action="ppaction://hlinksldjump" r:id="rId7"/>
          </p:cNvPr>
          <p:cNvSpPr/>
          <p:nvPr/>
        </p:nvSpPr>
        <p:spPr>
          <a:xfrm>
            <a:off x="658368" y="305409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agb2">
            <a:extLst>
              <a:ext uri="{C183D7F6-B498-43B3-948B-1728B52AA6E4}">
                <adec:decorative xmlns:adec="http://schemas.microsoft.com/office/drawing/2017/decorative" val="1"/>
              </a:ext>
            </a:extLst>
          </p:cNvPr>
          <p:cNvSpPr/>
          <p:nvPr/>
        </p:nvSpPr>
        <p:spPr>
          <a:xfrm>
            <a:off x="658368" y="3054096"/>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agn2"/>
          <p:cNvSpPr txBox="1"/>
          <p:nvPr/>
        </p:nvSpPr>
        <p:spPr>
          <a:xfrm>
            <a:off x="932688" y="320040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7.3</a:t>
            </a:r>
          </a:p>
        </p:txBody>
      </p:sp>
      <p:sp>
        <p:nvSpPr>
          <p:cNvPr id="20" name="!!agt2"/>
          <p:cNvSpPr txBox="1"/>
          <p:nvPr/>
        </p:nvSpPr>
        <p:spPr>
          <a:xfrm>
            <a:off x="1847088" y="320040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Which Variable Next, and Which Value</a:t>
            </a:r>
          </a:p>
        </p:txBody>
      </p:sp>
      <p:sp>
        <p:nvSpPr>
          <p:cNvPr id="21" name="!!agp2"/>
          <p:cNvSpPr txBox="1"/>
          <p:nvPr/>
        </p:nvSpPr>
        <p:spPr>
          <a:xfrm>
            <a:off x="9795967" y="322783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70  ›</a:t>
            </a:r>
          </a:p>
        </p:txBody>
      </p:sp>
      <p:sp>
        <p:nvSpPr>
          <p:cNvPr id="22" name="!!ag3" descr="Go to section 7.4 Propagation: Forward Checking">
            <a:hlinkClick action="ppaction://hlinksldjump" r:id="rId8"/>
          </p:cNvPr>
          <p:cNvSpPr/>
          <p:nvPr/>
        </p:nvSpPr>
        <p:spPr>
          <a:xfrm>
            <a:off x="658368" y="369417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agb3">
            <a:extLst>
              <a:ext uri="{C183D7F6-B498-43B3-948B-1728B52AA6E4}">
                <adec:decorative xmlns:adec="http://schemas.microsoft.com/office/drawing/2017/decorative" val="1"/>
              </a:ext>
            </a:extLst>
          </p:cNvPr>
          <p:cNvSpPr/>
          <p:nvPr/>
        </p:nvSpPr>
        <p:spPr>
          <a:xfrm>
            <a:off x="658368" y="3694176"/>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agn3"/>
          <p:cNvSpPr txBox="1"/>
          <p:nvPr/>
        </p:nvSpPr>
        <p:spPr>
          <a:xfrm>
            <a:off x="932688" y="384048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7.4</a:t>
            </a:r>
          </a:p>
        </p:txBody>
      </p:sp>
      <p:sp>
        <p:nvSpPr>
          <p:cNvPr id="25" name="!!agt3"/>
          <p:cNvSpPr txBox="1"/>
          <p:nvPr/>
        </p:nvSpPr>
        <p:spPr>
          <a:xfrm>
            <a:off x="1847088" y="384048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Propagation: Forward Checking</a:t>
            </a:r>
          </a:p>
        </p:txBody>
      </p:sp>
      <p:sp>
        <p:nvSpPr>
          <p:cNvPr id="26" name="!!agp3"/>
          <p:cNvSpPr txBox="1"/>
          <p:nvPr/>
        </p:nvSpPr>
        <p:spPr>
          <a:xfrm>
            <a:off x="9795967" y="386791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70  ›</a:t>
            </a:r>
          </a:p>
        </p:txBody>
      </p:sp>
      <p:sp>
        <p:nvSpPr>
          <p:cNvPr id="27" name="!!ag4" descr="Go to section 7.5 Propagation: Arc Consistency">
            <a:hlinkClick action="ppaction://hlinksldjump" r:id="rId9"/>
          </p:cNvPr>
          <p:cNvSpPr/>
          <p:nvPr/>
        </p:nvSpPr>
        <p:spPr>
          <a:xfrm>
            <a:off x="658368" y="433425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agb4">
            <a:extLst>
              <a:ext uri="{C183D7F6-B498-43B3-948B-1728B52AA6E4}">
                <adec:decorative xmlns:adec="http://schemas.microsoft.com/office/drawing/2017/decorative" val="1"/>
              </a:ext>
            </a:extLst>
          </p:cNvPr>
          <p:cNvSpPr/>
          <p:nvPr/>
        </p:nvSpPr>
        <p:spPr>
          <a:xfrm>
            <a:off x="658368" y="4334256"/>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agn4"/>
          <p:cNvSpPr txBox="1"/>
          <p:nvPr/>
        </p:nvSpPr>
        <p:spPr>
          <a:xfrm>
            <a:off x="932688" y="448056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7.5</a:t>
            </a:r>
          </a:p>
        </p:txBody>
      </p:sp>
      <p:sp>
        <p:nvSpPr>
          <p:cNvPr id="30" name="!!agt4"/>
          <p:cNvSpPr txBox="1"/>
          <p:nvPr/>
        </p:nvSpPr>
        <p:spPr>
          <a:xfrm>
            <a:off x="1847088" y="448056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Propagation: Arc Consistency</a:t>
            </a:r>
          </a:p>
        </p:txBody>
      </p:sp>
      <p:sp>
        <p:nvSpPr>
          <p:cNvPr id="31" name="!!agp4"/>
          <p:cNvSpPr txBox="1"/>
          <p:nvPr/>
        </p:nvSpPr>
        <p:spPr>
          <a:xfrm>
            <a:off x="9795967" y="450799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71  ›</a:t>
            </a:r>
          </a:p>
        </p:txBody>
      </p:sp>
      <p:sp>
        <p:nvSpPr>
          <p:cNvPr id="32" name="!!ag5" descr="Go to section 7.6 The Measurement">
            <a:hlinkClick action="ppaction://hlinksldjump" r:id="rId10"/>
          </p:cNvPr>
          <p:cNvSpPr/>
          <p:nvPr/>
        </p:nvSpPr>
        <p:spPr>
          <a:xfrm>
            <a:off x="658368" y="49743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agb5">
            <a:extLst>
              <a:ext uri="{C183D7F6-B498-43B3-948B-1728B52AA6E4}">
                <adec:decorative xmlns:adec="http://schemas.microsoft.com/office/drawing/2017/decorative" val="1"/>
              </a:ext>
            </a:extLst>
          </p:cNvPr>
          <p:cNvSpPr/>
          <p:nvPr/>
        </p:nvSpPr>
        <p:spPr>
          <a:xfrm>
            <a:off x="658368" y="4974336"/>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agn5"/>
          <p:cNvSpPr txBox="1"/>
          <p:nvPr/>
        </p:nvSpPr>
        <p:spPr>
          <a:xfrm>
            <a:off x="932688" y="51206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7.6</a:t>
            </a:r>
          </a:p>
        </p:txBody>
      </p:sp>
      <p:sp>
        <p:nvSpPr>
          <p:cNvPr id="35" name="!!agt5"/>
          <p:cNvSpPr txBox="1"/>
          <p:nvPr/>
        </p:nvSpPr>
        <p:spPr>
          <a:xfrm>
            <a:off x="1847088" y="51206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The Measurement</a:t>
            </a:r>
          </a:p>
        </p:txBody>
      </p:sp>
      <p:sp>
        <p:nvSpPr>
          <p:cNvPr id="36" name="!!agp5"/>
          <p:cNvSpPr txBox="1"/>
          <p:nvPr/>
        </p:nvSpPr>
        <p:spPr>
          <a:xfrm>
            <a:off x="9795967" y="51480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71  ›</a:t>
            </a:r>
          </a:p>
        </p:txBody>
      </p:sp>
      <p:sp>
        <p:nvSpPr>
          <p:cNvPr id="37" name="!!ag6" descr="Go to section 7.7 When There Is No Solution">
            <a:hlinkClick action="ppaction://hlinksldjump" r:id="rId11"/>
          </p:cNvPr>
          <p:cNvSpPr/>
          <p:nvPr/>
        </p:nvSpPr>
        <p:spPr>
          <a:xfrm>
            <a:off x="658368" y="561441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agb6">
            <a:extLst>
              <a:ext uri="{C183D7F6-B498-43B3-948B-1728B52AA6E4}">
                <adec:decorative xmlns:adec="http://schemas.microsoft.com/office/drawing/2017/decorative" val="1"/>
              </a:ext>
            </a:extLst>
          </p:cNvPr>
          <p:cNvSpPr/>
          <p:nvPr/>
        </p:nvSpPr>
        <p:spPr>
          <a:xfrm>
            <a:off x="658368" y="5614416"/>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agn6"/>
          <p:cNvSpPr txBox="1"/>
          <p:nvPr/>
        </p:nvSpPr>
        <p:spPr>
          <a:xfrm>
            <a:off x="932688" y="576072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7.7</a:t>
            </a:r>
          </a:p>
        </p:txBody>
      </p:sp>
      <p:sp>
        <p:nvSpPr>
          <p:cNvPr id="40" name="!!agt6"/>
          <p:cNvSpPr txBox="1"/>
          <p:nvPr/>
        </p:nvSpPr>
        <p:spPr>
          <a:xfrm>
            <a:off x="1847088" y="576072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When There Is No Solution</a:t>
            </a:r>
          </a:p>
        </p:txBody>
      </p:sp>
      <p:sp>
        <p:nvSpPr>
          <p:cNvPr id="41" name="!!agp6"/>
          <p:cNvSpPr txBox="1"/>
          <p:nvPr/>
        </p:nvSpPr>
        <p:spPr>
          <a:xfrm>
            <a:off x="9795967" y="578815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72  ›</a:t>
            </a:r>
          </a:p>
        </p:txBody>
      </p:sp>
      <p:sp>
        <p:nvSpPr>
          <p:cNvPr id="4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pfill">
            <a:extLst>
              <a:ext uri="{C183D7F6-B498-43B3-948B-1728B52AA6E4}">
                <adec:decorative xmlns:adec="http://schemas.microsoft.com/office/drawing/2017/decorative" val="1"/>
              </a:ext>
            </a:extLst>
          </p:cNvPr>
          <p:cNvSpPr/>
          <p:nvPr/>
        </p:nvSpPr>
        <p:spPr>
          <a:xfrm>
            <a:off x="0" y="0"/>
            <a:ext cx="1219169"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A Sprint Plan as a Constraint Problem</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BD7C7"/>
                </a:solidFill>
                <a:latin typeface="Segoe UI"/>
              </a:rPr>
              <a:t>SECTION 1 OF 7</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7.1</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B7A43"/>
                </a:solidFill>
                <a:latin typeface="Segoe UI"/>
              </a:rPr>
              <a:t>7.1   A Sprint Plan as a Constraint Problem</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7.2   Backtracking Search</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7.3   Which Variable Next, and Which Value</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7.4   Propagation: Forward Checking</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7.5   Propagation: Arc Consistency</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7.6   The Measurement</a:t>
            </a:r>
          </a:p>
        </p:txBody>
      </p:sp>
      <p:sp>
        <p:nvSpPr>
          <p:cNvPr id="12" name="!!dl6"/>
          <p:cNvSpPr txBox="1"/>
          <p:nvPr/>
        </p:nvSpPr>
        <p:spPr>
          <a:xfrm>
            <a:off x="4846320" y="580643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7.7   When There Is No Solution</a:t>
            </a:r>
          </a:p>
        </p:txBody>
      </p:sp>
      <p:sp>
        <p:nvSpPr>
          <p:cNvPr id="13"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7</a:t>
            </a:r>
          </a:p>
        </p:txBody>
      </p:sp>
      <p:sp>
        <p:nvSpPr>
          <p:cNvPr id="14"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§7.1     </a:t>
            </a:r>
            <a:fld id="{6FAC8123-E686-4B8B-8AB9-F3C4925475FB}" type="slidenum">
              <a:rPr lang="en-GB" sz="1000">
                <a:solidFill>
                  <a:srgbClr val="8795A1"/>
                </a:solidFill>
                <a:latin typeface="Segoe UI"/>
              </a:rPr>
              <a:t>6</a:t>
            </a:fld>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1463003"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Constraint satisfaction problem</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7  ·  Constraint Satisfaction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§7.1  ·  Handout p. 68     </a:t>
            </a:r>
            <a:fld id="{DE8F9250-C34C-46AC-8577-7BDF8B5DDDB1}" type="slidenum">
              <a:rPr lang="en-GB" sz="1000">
                <a:solidFill>
                  <a:srgbClr val="8795A1"/>
                </a:solidFill>
                <a:latin typeface="Segoe UI"/>
              </a:rPr>
              <a:t>7</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388612"/>
          </a:xfrm>
          <a:prstGeom prst="roundRect">
            <a:avLst>
              <a:gd name="adj" fmla="val 2083"/>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388612"/>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362712"/>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A </a:t>
            </a:r>
            <a:r>
              <a:rPr sz="2000" b="1" i="0">
                <a:solidFill>
                  <a:srgbClr val="1A5276"/>
                </a:solidFill>
                <a:latin typeface="Segoe UI"/>
              </a:rPr>
              <a:t>CSP</a:t>
            </a:r>
            <a:r>
              <a:rPr sz="2000" b="0" i="0">
                <a:solidFill>
                  <a:srgbClr val="1C252B"/>
                </a:solidFill>
                <a:latin typeface="Segoe UI"/>
              </a:rPr>
              <a:t> is a triple:</a:t>
            </a:r>
          </a:p>
        </p:txBody>
      </p:sp>
      <p:sp>
        <p:nvSpPr>
          <p:cNvPr id="10" name="body-1"/>
          <p:cNvSpPr txBox="1"/>
          <p:nvPr/>
        </p:nvSpPr>
        <p:spPr>
          <a:xfrm>
            <a:off x="1060704" y="2504947"/>
            <a:ext cx="10161727" cy="1491488"/>
          </a:xfrm>
          <a:prstGeom prst="rect">
            <a:avLst/>
          </a:prstGeom>
          <a:noFill/>
        </p:spPr>
        <p:txBody>
          <a:bodyPr wrap="square" anchor="t" lIns="0" rIns="0" tIns="0" bIns="0">
            <a:noAutofit/>
          </a:bodyPr>
          <a:lstStyle/>
          <a:p>
            <a:pPr algn="l" marL="223631" indent="-223631">
              <a:lnSpc>
                <a:spcPct val="104000"/>
              </a:lnSpc>
              <a:spcBef>
                <a:spcPts val="0"/>
              </a:spcBef>
              <a:spcAft>
                <a:spcPts val="700"/>
              </a:spcAft>
            </a:pPr>
            <a:r>
              <a:rPr sz="2000" b="1">
                <a:solidFill>
                  <a:srgbClr val="8A4500"/>
                </a:solidFill>
                <a:latin typeface="Segoe UI"/>
              </a:rPr>
              <a:t>•	</a:t>
            </a:r>
            <a:r>
              <a:rPr sz="2000" b="0" i="0">
                <a:solidFill>
                  <a:srgbClr val="1C252B"/>
                </a:solidFill>
                <a:latin typeface="Segoe UI"/>
              </a:rPr>
              <a:t>a set of </a:t>
            </a:r>
            <a:r>
              <a:rPr sz="2000" b="1" i="0">
                <a:solidFill>
                  <a:srgbClr val="1A5276"/>
                </a:solidFill>
                <a:latin typeface="Segoe UI"/>
              </a:rPr>
              <a:t>variables</a:t>
            </a:r>
            <a:r>
              <a:rPr sz="2000" b="0" i="0">
                <a:solidFill>
                  <a:srgbClr val="1C252B"/>
                </a:solidFill>
                <a:latin typeface="Segoe UI"/>
              </a:rPr>
              <a:t> </a:t>
            </a:r>
            <a:r>
              <a:rPr sz="2000" b="0" i="1">
                <a:solidFill>
                  <a:srgbClr val="1C252B"/>
                </a:solidFill>
                <a:latin typeface="Cambria"/>
              </a:rPr>
              <a:t>X</a:t>
            </a:r>
            <a:r>
              <a:rPr sz="2000" b="0" i="0" baseline="-25000">
                <a:solidFill>
                  <a:srgbClr val="1C252B"/>
                </a:solidFill>
                <a:latin typeface="Cambria"/>
              </a:rPr>
              <a:t>1</a:t>
            </a:r>
            <a:r>
              <a:rPr sz="2000" b="0" i="0">
                <a:solidFill>
                  <a:srgbClr val="1C252B"/>
                </a:solidFill>
                <a:latin typeface="Cambria"/>
              </a:rPr>
              <a:t>, …, </a:t>
            </a:r>
            <a:r>
              <a:rPr sz="2000" b="0" i="1">
                <a:solidFill>
                  <a:srgbClr val="1C252B"/>
                </a:solidFill>
                <a:latin typeface="Cambria"/>
              </a:rPr>
              <a:t>X</a:t>
            </a:r>
            <a:r>
              <a:rPr sz="2000" b="0" i="1" baseline="-25000">
                <a:solidFill>
                  <a:srgbClr val="1C252B"/>
                </a:solidFill>
                <a:latin typeface="Cambria"/>
              </a:rPr>
              <a:t>n</a:t>
            </a:r>
            <a:r>
              <a:rPr sz="2000" b="0" i="0">
                <a:solidFill>
                  <a:srgbClr val="1C252B"/>
                </a:solidFill>
                <a:latin typeface="Segoe UI"/>
              </a:rPr>
              <a:t>;</a:t>
            </a:r>
          </a:p>
          <a:p>
            <a:pPr algn="l" marL="223631" indent="-223631">
              <a:lnSpc>
                <a:spcPct val="104000"/>
              </a:lnSpc>
              <a:spcBef>
                <a:spcPts val="0"/>
              </a:spcBef>
              <a:spcAft>
                <a:spcPts val="700"/>
              </a:spcAft>
            </a:pPr>
            <a:r>
              <a:rPr sz="2000" b="1">
                <a:solidFill>
                  <a:srgbClr val="8A4500"/>
                </a:solidFill>
                <a:latin typeface="Segoe UI"/>
              </a:rPr>
              <a:t>•	</a:t>
            </a:r>
            <a:r>
              <a:rPr sz="2000" b="0" i="0">
                <a:solidFill>
                  <a:srgbClr val="1C252B"/>
                </a:solidFill>
                <a:latin typeface="Segoe UI"/>
              </a:rPr>
              <a:t>a </a:t>
            </a:r>
            <a:r>
              <a:rPr sz="2000" b="1" i="0">
                <a:solidFill>
                  <a:srgbClr val="1A5276"/>
                </a:solidFill>
                <a:latin typeface="Segoe UI"/>
              </a:rPr>
              <a:t>domain</a:t>
            </a:r>
            <a:r>
              <a:rPr sz="2000" b="0" i="0">
                <a:solidFill>
                  <a:srgbClr val="1C252B"/>
                </a:solidFill>
                <a:latin typeface="Segoe UI"/>
              </a:rPr>
              <a:t> </a:t>
            </a:r>
            <a:r>
              <a:rPr sz="2000" b="0" i="1">
                <a:solidFill>
                  <a:srgbClr val="1C252B"/>
                </a:solidFill>
                <a:latin typeface="Cambria"/>
              </a:rPr>
              <a:t>D</a:t>
            </a:r>
            <a:r>
              <a:rPr sz="2000" b="0" i="1" baseline="-25000">
                <a:solidFill>
                  <a:srgbClr val="1C252B"/>
                </a:solidFill>
                <a:latin typeface="Cambria"/>
              </a:rPr>
              <a:t>i</a:t>
            </a:r>
            <a:r>
              <a:rPr sz="2000" b="0" i="0">
                <a:solidFill>
                  <a:srgbClr val="1C252B"/>
                </a:solidFill>
                <a:latin typeface="Segoe UI"/>
              </a:rPr>
              <a:t> of possible values for each variable;</a:t>
            </a:r>
          </a:p>
          <a:p>
            <a:pPr algn="l" marL="223631" indent="-223631">
              <a:lnSpc>
                <a:spcPct val="104000"/>
              </a:lnSpc>
              <a:spcBef>
                <a:spcPts val="0"/>
              </a:spcBef>
              <a:spcAft>
                <a:spcPts val="0"/>
              </a:spcAft>
            </a:pPr>
            <a:r>
              <a:rPr sz="2000" b="1">
                <a:solidFill>
                  <a:srgbClr val="8A4500"/>
                </a:solidFill>
                <a:latin typeface="Segoe UI"/>
              </a:rPr>
              <a:t>•	</a:t>
            </a:r>
            <a:r>
              <a:rPr sz="2000" b="0" i="0">
                <a:solidFill>
                  <a:srgbClr val="1C252B"/>
                </a:solidFill>
                <a:latin typeface="Segoe UI"/>
              </a:rPr>
              <a:t>a set of </a:t>
            </a:r>
            <a:r>
              <a:rPr sz="2000" b="1" i="0">
                <a:solidFill>
                  <a:srgbClr val="1A5276"/>
                </a:solidFill>
                <a:latin typeface="Segoe UI"/>
              </a:rPr>
              <a:t>constraints</a:t>
            </a:r>
            <a:r>
              <a:rPr sz="2000" b="0" i="0">
                <a:solidFill>
                  <a:srgbClr val="1C252B"/>
                </a:solidFill>
                <a:latin typeface="Segoe UI"/>
              </a:rPr>
              <a:t>, each restricting the values that some subset of the variables may take simultaneously.</a:t>
            </a:r>
          </a:p>
        </p:txBody>
      </p:sp>
      <p:sp>
        <p:nvSpPr>
          <p:cNvPr id="11" name="body-2"/>
          <p:cNvSpPr txBox="1"/>
          <p:nvPr/>
        </p:nvSpPr>
        <p:spPr>
          <a:xfrm>
            <a:off x="1060704" y="4090415"/>
            <a:ext cx="10161727" cy="679704"/>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A </a:t>
            </a:r>
            <a:r>
              <a:rPr sz="2000" b="1" i="0">
                <a:solidFill>
                  <a:srgbClr val="1A5276"/>
                </a:solidFill>
                <a:latin typeface="Segoe UI"/>
              </a:rPr>
              <a:t>solution</a:t>
            </a:r>
            <a:r>
              <a:rPr sz="2000" b="0" i="0">
                <a:solidFill>
                  <a:srgbClr val="1C252B"/>
                </a:solidFill>
                <a:latin typeface="Segoe UI"/>
              </a:rPr>
              <a:t> is a complete assignment that violates no constraint. A constraint over two variables is </a:t>
            </a:r>
            <a:r>
              <a:rPr sz="2000" b="1" i="0">
                <a:solidFill>
                  <a:srgbClr val="1A5276"/>
                </a:solidFill>
                <a:latin typeface="Segoe UI"/>
              </a:rPr>
              <a:t>binary</a:t>
            </a:r>
            <a:r>
              <a:rPr sz="2000" b="0" i="0">
                <a:solidFill>
                  <a:srgbClr val="1C252B"/>
                </a:solidFill>
                <a:latin typeface="Segoe UI"/>
              </a:rPr>
              <a:t>; over more than two, </a:t>
            </a:r>
            <a:r>
              <a:rPr sz="2000" b="0" i="1">
                <a:solidFill>
                  <a:srgbClr val="1C252B"/>
                </a:solidFill>
                <a:latin typeface="Cambria"/>
              </a:rPr>
              <a:t>n</a:t>
            </a:r>
            <a:r>
              <a:rPr sz="2000" b="0" i="0">
                <a:solidFill>
                  <a:srgbClr val="1C252B"/>
                </a:solidFill>
                <a:latin typeface="Segoe UI"/>
              </a:rPr>
              <a:t>-ary.</a:t>
            </a:r>
          </a:p>
        </p:txBody>
      </p:sp>
      <p:sp>
        <p:nvSpPr>
          <p:cNvPr id="12" name="body-3"/>
          <p:cNvSpPr txBox="1"/>
          <p:nvPr/>
        </p:nvSpPr>
        <p:spPr>
          <a:xfrm>
            <a:off x="1060704" y="4864099"/>
            <a:ext cx="10161727" cy="996696"/>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The crucial property is that the goal test is not opaque: it is a conjunction of constraints, each of which can be checked against a </a:t>
            </a:r>
            <a:r>
              <a:rPr sz="2000" b="0" i="1">
                <a:solidFill>
                  <a:srgbClr val="1C252B"/>
                </a:solidFill>
                <a:latin typeface="Segoe UI"/>
              </a:rPr>
              <a:t>partial</a:t>
            </a:r>
            <a:r>
              <a:rPr sz="2000" b="0" i="0">
                <a:solidFill>
                  <a:srgbClr val="1C252B"/>
                </a:solidFill>
                <a:latin typeface="Segoe UI"/>
              </a:rPr>
              <a:t> assignment. That is what allows a search to fail early instead of at the leaves.</a:t>
            </a:r>
          </a:p>
        </p:txBody>
      </p:sp>
      <p:sp>
        <p:nvSpPr>
          <p:cNvPr id="1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fill">
            <a:extLst>
              <a:ext uri="{C183D7F6-B498-43B3-948B-1728B52AA6E4}">
                <adec:decorative xmlns:adec="http://schemas.microsoft.com/office/drawing/2017/decorative" val="1"/>
              </a:ext>
            </a:extLst>
          </p:cNvPr>
          <p:cNvSpPr/>
          <p:nvPr/>
        </p:nvSpPr>
        <p:spPr>
          <a:xfrm>
            <a:off x="0" y="0"/>
            <a:ext cx="1706837"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10">
                                            <p:txEl>
                                              <p:pRg st="0" end="0"/>
                                            </p:txEl>
                                          </p:spTgt>
                                        </p:tgtEl>
                                        <p:attrNameLst>
                                          <p:attrName>style.visibility</p:attrName>
                                        </p:attrNameLst>
                                      </p:cBhvr>
                                      <p:to>
                                        <p:strVal val="visible"/>
                                      </p:to>
                                    </p:set>
                                    <p:animEffect transition="in" filter="fade">
                                      <p:cBhvr>
                                        <p:cTn id="8" dur="380"/>
                                        <p:tgtEl>
                                          <p:spTgt spid="10">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0">
                                            <p:txEl>
                                              <p:pRg st="1" end="1"/>
                                            </p:txEl>
                                          </p:spTgt>
                                        </p:tgtEl>
                                        <p:attrNameLst>
                                          <p:attrName>style.visibility</p:attrName>
                                        </p:attrNameLst>
                                      </p:cBhvr>
                                      <p:to>
                                        <p:strVal val="visible"/>
                                      </p:to>
                                    </p:set>
                                    <p:animEffect transition="in" filter="fade">
                                      <p:cBhvr>
                                        <p:cTn id="13" dur="380"/>
                                        <p:tgtEl>
                                          <p:spTgt spid="10">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0">
                                            <p:txEl>
                                              <p:pRg st="2" end="2"/>
                                            </p:txEl>
                                          </p:spTgt>
                                        </p:tgtEl>
                                        <p:attrNameLst>
                                          <p:attrName>style.visibility</p:attrName>
                                        </p:attrNameLst>
                                      </p:cBhvr>
                                      <p:to>
                                        <p:strVal val="visible"/>
                                      </p:to>
                                    </p:set>
                                    <p:animEffect transition="in" filter="fade">
                                      <p:cBhvr>
                                        <p:cTn id="18" dur="380"/>
                                        <p:tgtEl>
                                          <p:spTgt spid="10">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sprint problem, formulated</a:t>
            </a:r>
          </a:p>
        </p:txBody>
      </p:sp>
      <p:pic>
        <p:nvPicPr>
          <p:cNvPr id="3" name="!!kicker-icon" descr="code-27AE6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7AE60"/>
                </a:solidFill>
                <a:latin typeface="Segoe UI"/>
              </a:rPr>
              <a:t>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7  ·  Constraint Satisfaction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§7.1  ·  Handout p. 68     </a:t>
            </a:r>
            <a:fld id="{15BD5AD6-EB26-4539-86AC-6065B4E29258}" type="slidenum">
              <a:rPr lang="en-GB" sz="1000">
                <a:solidFill>
                  <a:srgbClr val="8795A1"/>
                </a:solidFill>
                <a:latin typeface="Segoe UI"/>
              </a:rPr>
              <a:t>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137431"/>
          </a:xfrm>
          <a:prstGeom prst="roundRect">
            <a:avLst>
              <a:gd name="adj" fmla="val 2210"/>
            </a:avLst>
          </a:prstGeom>
          <a:solidFill>
            <a:srgbClr val="EAF7EF"/>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137431"/>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2748991"/>
          </a:xfrm>
          <a:prstGeom prst="rect">
            <a:avLst/>
          </a:prstGeom>
          <a:noFill/>
        </p:spPr>
        <p:txBody>
          <a:bodyPr wrap="square" anchor="t" lIns="0" rIns="0" tIns="0" bIns="0">
            <a:noAutofit/>
          </a:bodyPr>
          <a:lstStyle/>
          <a:p>
            <a:pPr algn="l" marL="234813" indent="-234813">
              <a:lnSpc>
                <a:spcPct val="104000"/>
              </a:lnSpc>
              <a:spcBef>
                <a:spcPts val="0"/>
              </a:spcBef>
              <a:spcAft>
                <a:spcPts val="735"/>
              </a:spcAft>
            </a:pPr>
            <a:r>
              <a:rPr sz="2100" b="1">
                <a:solidFill>
                  <a:srgbClr val="1E8449"/>
                </a:solidFill>
                <a:latin typeface="Segoe UI"/>
              </a:rPr>
              <a:t>•	</a:t>
            </a:r>
            <a:r>
              <a:rPr sz="2100" b="0" i="1">
                <a:solidFill>
                  <a:srgbClr val="1C252B"/>
                </a:solidFill>
                <a:latin typeface="Segoe UI"/>
              </a:rPr>
              <a:t>Variables:</a:t>
            </a:r>
            <a:r>
              <a:rPr sz="2100" b="0" i="0">
                <a:solidFill>
                  <a:srgbClr val="1C252B"/>
                </a:solidFill>
                <a:latin typeface="Segoe UI"/>
              </a:rPr>
              <a:t> the twelve stories </a:t>
            </a:r>
            <a:r>
              <a:rPr sz="1950" b="0" i="0">
                <a:solidFill>
                  <a:srgbClr val="1F4E79"/>
                </a:solidFill>
                <a:latin typeface="Consolas"/>
              </a:rPr>
              <a:t>S1</a:t>
            </a:r>
            <a:r>
              <a:rPr sz="2100" b="0" i="0">
                <a:solidFill>
                  <a:srgbClr val="1C252B"/>
                </a:solidFill>
                <a:latin typeface="Segoe UI"/>
              </a:rPr>
              <a:t> … </a:t>
            </a:r>
            <a:r>
              <a:rPr sz="1950" b="0" i="0">
                <a:solidFill>
                  <a:srgbClr val="1F4E79"/>
                </a:solidFill>
                <a:latin typeface="Consolas"/>
              </a:rPr>
              <a:t>S12</a:t>
            </a:r>
            <a:r>
              <a:rPr sz="2100" b="0" i="0">
                <a:solidFill>
                  <a:srgbClr val="1C252B"/>
                </a:solidFill>
                <a:latin typeface="Segoe UI"/>
              </a:rPr>
              <a:t>.</a:t>
            </a:r>
          </a:p>
          <a:p>
            <a:pPr algn="l" marL="234813" indent="-234813">
              <a:lnSpc>
                <a:spcPct val="104000"/>
              </a:lnSpc>
              <a:spcBef>
                <a:spcPts val="0"/>
              </a:spcBef>
              <a:spcAft>
                <a:spcPts val="735"/>
              </a:spcAft>
            </a:pPr>
            <a:r>
              <a:rPr sz="2100" b="1">
                <a:solidFill>
                  <a:srgbClr val="1E8449"/>
                </a:solidFill>
                <a:latin typeface="Segoe UI"/>
              </a:rPr>
              <a:t>•	</a:t>
            </a:r>
            <a:r>
              <a:rPr sz="2100" b="0" i="1">
                <a:solidFill>
                  <a:srgbClr val="1C252B"/>
                </a:solidFill>
                <a:latin typeface="Segoe UI"/>
              </a:rPr>
              <a:t>Domains:</a:t>
            </a:r>
            <a:r>
              <a:rPr sz="2100" b="0" i="0">
                <a:solidFill>
                  <a:srgbClr val="1C252B"/>
                </a:solidFill>
                <a:latin typeface="Segoe UI"/>
              </a:rPr>
              <a:t> </a:t>
            </a:r>
            <a:r>
              <a:rPr sz="2100" b="0" i="0">
                <a:solidFill>
                  <a:srgbClr val="1C252B"/>
                </a:solidFill>
                <a:latin typeface="Cambria"/>
              </a:rPr>
              <a:t>{1,2,3,4}</a:t>
            </a:r>
            <a:r>
              <a:rPr sz="2100" b="0" i="0">
                <a:solidFill>
                  <a:srgbClr val="1C252B"/>
                </a:solidFill>
                <a:latin typeface="Segoe UI"/>
              </a:rPr>
              <a:t>, the sprint each is placed in.</a:t>
            </a:r>
          </a:p>
          <a:p>
            <a:pPr algn="l" marL="234813" indent="-234813">
              <a:lnSpc>
                <a:spcPct val="104000"/>
              </a:lnSpc>
              <a:spcBef>
                <a:spcPts val="0"/>
              </a:spcBef>
              <a:spcAft>
                <a:spcPts val="735"/>
              </a:spcAft>
            </a:pPr>
            <a:r>
              <a:rPr sz="2100" b="1">
                <a:solidFill>
                  <a:srgbClr val="1E8449"/>
                </a:solidFill>
                <a:latin typeface="Segoe UI"/>
              </a:rPr>
              <a:t>•	</a:t>
            </a:r>
            <a:r>
              <a:rPr sz="2100" b="0" i="1">
                <a:solidFill>
                  <a:srgbClr val="1C252B"/>
                </a:solidFill>
                <a:latin typeface="Segoe UI"/>
              </a:rPr>
              <a:t>Precedence</a:t>
            </a:r>
            <a:r>
              <a:rPr sz="2100" b="0" i="0">
                <a:solidFill>
                  <a:srgbClr val="1C252B"/>
                </a:solidFill>
                <a:latin typeface="Segoe UI"/>
              </a:rPr>
              <a:t> (binary): </a:t>
            </a:r>
            <a:r>
              <a:rPr sz="2100" b="0" i="1">
                <a:solidFill>
                  <a:srgbClr val="1C252B"/>
                </a:solidFill>
                <a:latin typeface="Cambria"/>
              </a:rPr>
              <a:t>S</a:t>
            </a:r>
            <a:r>
              <a:rPr sz="2100" b="0" i="0">
                <a:solidFill>
                  <a:srgbClr val="1C252B"/>
                </a:solidFill>
                <a:latin typeface="Cambria"/>
              </a:rPr>
              <a:t>1 &lt; </a:t>
            </a:r>
            <a:r>
              <a:rPr sz="2100" b="0" i="1">
                <a:solidFill>
                  <a:srgbClr val="1C252B"/>
                </a:solidFill>
                <a:latin typeface="Cambria"/>
              </a:rPr>
              <a:t>S</a:t>
            </a:r>
            <a:r>
              <a:rPr sz="2100" b="0" i="0">
                <a:solidFill>
                  <a:srgbClr val="1C252B"/>
                </a:solidFill>
                <a:latin typeface="Cambria"/>
              </a:rPr>
              <a:t>4</a:t>
            </a:r>
            <a:r>
              <a:rPr sz="2100" b="0" i="0">
                <a:solidFill>
                  <a:srgbClr val="1C252B"/>
                </a:solidFill>
                <a:latin typeface="Segoe UI"/>
              </a:rPr>
              <a:t>, </a:t>
            </a:r>
            <a:r>
              <a:rPr sz="2100" b="0" i="1">
                <a:solidFill>
                  <a:srgbClr val="1C252B"/>
                </a:solidFill>
                <a:latin typeface="Cambria"/>
              </a:rPr>
              <a:t>S</a:t>
            </a:r>
            <a:r>
              <a:rPr sz="2100" b="0" i="0">
                <a:solidFill>
                  <a:srgbClr val="1C252B"/>
                </a:solidFill>
                <a:latin typeface="Cambria"/>
              </a:rPr>
              <a:t>2 &lt; </a:t>
            </a:r>
            <a:r>
              <a:rPr sz="2100" b="0" i="1">
                <a:solidFill>
                  <a:srgbClr val="1C252B"/>
                </a:solidFill>
                <a:latin typeface="Cambria"/>
              </a:rPr>
              <a:t>S</a:t>
            </a:r>
            <a:r>
              <a:rPr sz="2100" b="0" i="0">
                <a:solidFill>
                  <a:srgbClr val="1C252B"/>
                </a:solidFill>
                <a:latin typeface="Cambria"/>
              </a:rPr>
              <a:t>5</a:t>
            </a:r>
            <a:r>
              <a:rPr sz="2100" b="0" i="0">
                <a:solidFill>
                  <a:srgbClr val="1C252B"/>
                </a:solidFill>
                <a:latin typeface="Segoe UI"/>
              </a:rPr>
              <a:t>, </a:t>
            </a:r>
            <a:r>
              <a:rPr sz="2100" b="0" i="1">
                <a:solidFill>
                  <a:srgbClr val="1C252B"/>
                </a:solidFill>
                <a:latin typeface="Cambria"/>
              </a:rPr>
              <a:t>S</a:t>
            </a:r>
            <a:r>
              <a:rPr sz="2100" b="0" i="0">
                <a:solidFill>
                  <a:srgbClr val="1C252B"/>
                </a:solidFill>
                <a:latin typeface="Cambria"/>
              </a:rPr>
              <a:t>3 &lt; </a:t>
            </a:r>
            <a:r>
              <a:rPr sz="2100" b="0" i="1">
                <a:solidFill>
                  <a:srgbClr val="1C252B"/>
                </a:solidFill>
                <a:latin typeface="Cambria"/>
              </a:rPr>
              <a:t>S</a:t>
            </a:r>
            <a:r>
              <a:rPr sz="2100" b="0" i="0">
                <a:solidFill>
                  <a:srgbClr val="1C252B"/>
                </a:solidFill>
                <a:latin typeface="Cambria"/>
              </a:rPr>
              <a:t>7</a:t>
            </a:r>
            <a:r>
              <a:rPr sz="2100" b="0" i="0">
                <a:solidFill>
                  <a:srgbClr val="1C252B"/>
                </a:solidFill>
                <a:latin typeface="Segoe UI"/>
              </a:rPr>
              <a:t>, </a:t>
            </a:r>
            <a:r>
              <a:rPr sz="2100" b="0" i="1">
                <a:solidFill>
                  <a:srgbClr val="1C252B"/>
                </a:solidFill>
                <a:latin typeface="Cambria"/>
              </a:rPr>
              <a:t>S</a:t>
            </a:r>
            <a:r>
              <a:rPr sz="2100" b="0" i="0">
                <a:solidFill>
                  <a:srgbClr val="1C252B"/>
                </a:solidFill>
                <a:latin typeface="Cambria"/>
              </a:rPr>
              <a:t>6 &lt; </a:t>
            </a:r>
            <a:r>
              <a:rPr sz="2100" b="0" i="1">
                <a:solidFill>
                  <a:srgbClr val="1C252B"/>
                </a:solidFill>
                <a:latin typeface="Cambria"/>
              </a:rPr>
              <a:t>S</a:t>
            </a:r>
            <a:r>
              <a:rPr sz="2100" b="0" i="0">
                <a:solidFill>
                  <a:srgbClr val="1C252B"/>
                </a:solidFill>
                <a:latin typeface="Cambria"/>
              </a:rPr>
              <a:t>8</a:t>
            </a:r>
            <a:r>
              <a:rPr sz="2100" b="0" i="0">
                <a:solidFill>
                  <a:srgbClr val="1C252B"/>
                </a:solidFill>
                <a:latin typeface="Segoe UI"/>
              </a:rPr>
              <a:t>, </a:t>
            </a:r>
            <a:r>
              <a:rPr sz="2100" b="0" i="1">
                <a:solidFill>
                  <a:srgbClr val="1C252B"/>
                </a:solidFill>
                <a:latin typeface="Cambria"/>
              </a:rPr>
              <a:t>S</a:t>
            </a:r>
            <a:r>
              <a:rPr sz="2100" b="0" i="0">
                <a:solidFill>
                  <a:srgbClr val="1C252B"/>
                </a:solidFill>
                <a:latin typeface="Cambria"/>
              </a:rPr>
              <a:t>9 &lt; </a:t>
            </a:r>
            <a:r>
              <a:rPr sz="2100" b="0" i="1">
                <a:solidFill>
                  <a:srgbClr val="1C252B"/>
                </a:solidFill>
                <a:latin typeface="Cambria"/>
              </a:rPr>
              <a:t>S</a:t>
            </a:r>
            <a:r>
              <a:rPr sz="2100" b="0" i="0">
                <a:solidFill>
                  <a:srgbClr val="1C252B"/>
                </a:solidFill>
                <a:latin typeface="Cambria"/>
              </a:rPr>
              <a:t>12</a:t>
            </a:r>
            <a:r>
              <a:rPr sz="2100" b="0" i="0">
                <a:solidFill>
                  <a:srgbClr val="1C252B"/>
                </a:solidFill>
                <a:latin typeface="Segoe UI"/>
              </a:rPr>
              <a:t>, </a:t>
            </a:r>
            <a:r>
              <a:rPr sz="2100" b="0" i="1">
                <a:solidFill>
                  <a:srgbClr val="1C252B"/>
                </a:solidFill>
                <a:latin typeface="Cambria"/>
              </a:rPr>
              <a:t>S</a:t>
            </a:r>
            <a:r>
              <a:rPr sz="2100" b="0" i="0">
                <a:solidFill>
                  <a:srgbClr val="1C252B"/>
                </a:solidFill>
                <a:latin typeface="Cambria"/>
              </a:rPr>
              <a:t>10 &lt; </a:t>
            </a:r>
            <a:r>
              <a:rPr sz="2100" b="0" i="1">
                <a:solidFill>
                  <a:srgbClr val="1C252B"/>
                </a:solidFill>
                <a:latin typeface="Cambria"/>
              </a:rPr>
              <a:t>S</a:t>
            </a:r>
            <a:r>
              <a:rPr sz="2100" b="0" i="0">
                <a:solidFill>
                  <a:srgbClr val="1C252B"/>
                </a:solidFill>
                <a:latin typeface="Cambria"/>
              </a:rPr>
              <a:t>11</a:t>
            </a:r>
            <a:r>
              <a:rPr sz="2100" b="0" i="0">
                <a:solidFill>
                  <a:srgbClr val="1C252B"/>
                </a:solidFill>
                <a:latin typeface="Segoe UI"/>
              </a:rPr>
              <a:t>, </a:t>
            </a:r>
            <a:r>
              <a:rPr sz="2100" b="0" i="1">
                <a:solidFill>
                  <a:srgbClr val="1C252B"/>
                </a:solidFill>
                <a:latin typeface="Cambria"/>
              </a:rPr>
              <a:t>S</a:t>
            </a:r>
            <a:r>
              <a:rPr sz="2100" b="0" i="0">
                <a:solidFill>
                  <a:srgbClr val="1C252B"/>
                </a:solidFill>
                <a:latin typeface="Cambria"/>
              </a:rPr>
              <a:t>4 &lt; </a:t>
            </a:r>
            <a:r>
              <a:rPr sz="2100" b="0" i="1">
                <a:solidFill>
                  <a:srgbClr val="1C252B"/>
                </a:solidFill>
                <a:latin typeface="Cambria"/>
              </a:rPr>
              <a:t>S</a:t>
            </a:r>
            <a:r>
              <a:rPr sz="2100" b="0" i="0">
                <a:solidFill>
                  <a:srgbClr val="1C252B"/>
                </a:solidFill>
                <a:latin typeface="Cambria"/>
              </a:rPr>
              <a:t>12</a:t>
            </a:r>
            <a:r>
              <a:rPr sz="2100" b="0" i="0">
                <a:solidFill>
                  <a:srgbClr val="1C252B"/>
                </a:solidFill>
                <a:latin typeface="Segoe UI"/>
              </a:rPr>
              <a:t>.</a:t>
            </a:r>
          </a:p>
          <a:p>
            <a:pPr algn="l" marL="234813" indent="-234813">
              <a:lnSpc>
                <a:spcPct val="104000"/>
              </a:lnSpc>
              <a:spcBef>
                <a:spcPts val="0"/>
              </a:spcBef>
              <a:spcAft>
                <a:spcPts val="735"/>
              </a:spcAft>
            </a:pPr>
            <a:r>
              <a:rPr sz="2100" b="1">
                <a:solidFill>
                  <a:srgbClr val="1E8449"/>
                </a:solidFill>
                <a:latin typeface="Segoe UI"/>
              </a:rPr>
              <a:t>•	</a:t>
            </a:r>
            <a:r>
              <a:rPr sz="2100" b="0" i="1">
                <a:solidFill>
                  <a:srgbClr val="1C252B"/>
                </a:solidFill>
                <a:latin typeface="Segoe UI"/>
              </a:rPr>
              <a:t>Same developer, too big together</a:t>
            </a:r>
            <a:r>
              <a:rPr sz="2100" b="0" i="0">
                <a:solidFill>
                  <a:srgbClr val="1C252B"/>
                </a:solidFill>
                <a:latin typeface="Segoe UI"/>
              </a:rPr>
              <a:t> (binary, “not equal”): </a:t>
            </a:r>
            <a:r>
              <a:rPr sz="2100" b="0" i="0">
                <a:solidFill>
                  <a:srgbClr val="1C252B"/>
                </a:solidFill>
                <a:latin typeface="Cambria"/>
              </a:rPr>
              <a:t>{</a:t>
            </a:r>
            <a:r>
              <a:rPr sz="2100" b="0" i="1">
                <a:solidFill>
                  <a:srgbClr val="1C252B"/>
                </a:solidFill>
                <a:latin typeface="Cambria"/>
              </a:rPr>
              <a:t>S</a:t>
            </a:r>
            <a:r>
              <a:rPr sz="2100" b="0" i="0">
                <a:solidFill>
                  <a:srgbClr val="1C252B"/>
                </a:solidFill>
                <a:latin typeface="Cambria"/>
              </a:rPr>
              <a:t>1,</a:t>
            </a:r>
            <a:r>
              <a:rPr sz="2100" b="0" i="1">
                <a:solidFill>
                  <a:srgbClr val="1C252B"/>
                </a:solidFill>
                <a:latin typeface="Cambria"/>
              </a:rPr>
              <a:t>S</a:t>
            </a:r>
            <a:r>
              <a:rPr sz="2100" b="0" i="0">
                <a:solidFill>
                  <a:srgbClr val="1C252B"/>
                </a:solidFill>
                <a:latin typeface="Cambria"/>
              </a:rPr>
              <a:t>7}</a:t>
            </a:r>
            <a:r>
              <a:rPr sz="2100" b="0" i="0">
                <a:solidFill>
                  <a:srgbClr val="1C252B"/>
                </a:solidFill>
                <a:latin typeface="Segoe UI"/>
              </a:rPr>
              <a:t>, </a:t>
            </a:r>
            <a:r>
              <a:rPr sz="2100" b="0" i="0">
                <a:solidFill>
                  <a:srgbClr val="1C252B"/>
                </a:solidFill>
                <a:latin typeface="Cambria"/>
              </a:rPr>
              <a:t>{</a:t>
            </a:r>
            <a:r>
              <a:rPr sz="2100" b="0" i="1">
                <a:solidFill>
                  <a:srgbClr val="1C252B"/>
                </a:solidFill>
                <a:latin typeface="Cambria"/>
              </a:rPr>
              <a:t>S</a:t>
            </a:r>
            <a:r>
              <a:rPr sz="2100" b="0" i="0">
                <a:solidFill>
                  <a:srgbClr val="1C252B"/>
                </a:solidFill>
                <a:latin typeface="Cambria"/>
              </a:rPr>
              <a:t>2,</a:t>
            </a:r>
            <a:r>
              <a:rPr sz="2100" b="0" i="1">
                <a:solidFill>
                  <a:srgbClr val="1C252B"/>
                </a:solidFill>
                <a:latin typeface="Cambria"/>
              </a:rPr>
              <a:t>S</a:t>
            </a:r>
            <a:r>
              <a:rPr sz="2100" b="0" i="0">
                <a:solidFill>
                  <a:srgbClr val="1C252B"/>
                </a:solidFill>
                <a:latin typeface="Cambria"/>
              </a:rPr>
              <a:t>8}</a:t>
            </a:r>
            <a:r>
              <a:rPr sz="2100" b="0" i="0">
                <a:solidFill>
                  <a:srgbClr val="1C252B"/>
                </a:solidFill>
                <a:latin typeface="Segoe UI"/>
              </a:rPr>
              <a:t>, </a:t>
            </a:r>
            <a:r>
              <a:rPr sz="2100" b="0" i="0">
                <a:solidFill>
                  <a:srgbClr val="1C252B"/>
                </a:solidFill>
                <a:latin typeface="Cambria"/>
              </a:rPr>
              <a:t>{</a:t>
            </a:r>
            <a:r>
              <a:rPr sz="2100" b="0" i="1">
                <a:solidFill>
                  <a:srgbClr val="1C252B"/>
                </a:solidFill>
                <a:latin typeface="Cambria"/>
              </a:rPr>
              <a:t>S</a:t>
            </a:r>
            <a:r>
              <a:rPr sz="2100" b="0" i="0">
                <a:solidFill>
                  <a:srgbClr val="1C252B"/>
                </a:solidFill>
                <a:latin typeface="Cambria"/>
              </a:rPr>
              <a:t>4,</a:t>
            </a:r>
            <a:r>
              <a:rPr sz="2100" b="0" i="1">
                <a:solidFill>
                  <a:srgbClr val="1C252B"/>
                </a:solidFill>
                <a:latin typeface="Cambria"/>
              </a:rPr>
              <a:t>S</a:t>
            </a:r>
            <a:r>
              <a:rPr sz="2100" b="0" i="0">
                <a:solidFill>
                  <a:srgbClr val="1C252B"/>
                </a:solidFill>
                <a:latin typeface="Cambria"/>
              </a:rPr>
              <a:t>6}</a:t>
            </a:r>
            <a:r>
              <a:rPr sz="2100" b="0" i="0">
                <a:solidFill>
                  <a:srgbClr val="1C252B"/>
                </a:solidFill>
                <a:latin typeface="Segoe UI"/>
              </a:rPr>
              <a:t>, </a:t>
            </a:r>
            <a:r>
              <a:rPr sz="2100" b="0" i="0">
                <a:solidFill>
                  <a:srgbClr val="1C252B"/>
                </a:solidFill>
                <a:latin typeface="Cambria"/>
              </a:rPr>
              <a:t>{</a:t>
            </a:r>
            <a:r>
              <a:rPr sz="2100" b="0" i="1">
                <a:solidFill>
                  <a:srgbClr val="1C252B"/>
                </a:solidFill>
                <a:latin typeface="Cambria"/>
              </a:rPr>
              <a:t>S</a:t>
            </a:r>
            <a:r>
              <a:rPr sz="2100" b="0" i="0">
                <a:solidFill>
                  <a:srgbClr val="1C252B"/>
                </a:solidFill>
                <a:latin typeface="Cambria"/>
              </a:rPr>
              <a:t>9,</a:t>
            </a:r>
            <a:r>
              <a:rPr sz="2100" b="0" i="1">
                <a:solidFill>
                  <a:srgbClr val="1C252B"/>
                </a:solidFill>
                <a:latin typeface="Cambria"/>
              </a:rPr>
              <a:t>S</a:t>
            </a:r>
            <a:r>
              <a:rPr sz="2100" b="0" i="0">
                <a:solidFill>
                  <a:srgbClr val="1C252B"/>
                </a:solidFill>
                <a:latin typeface="Cambria"/>
              </a:rPr>
              <a:t>10}</a:t>
            </a:r>
            <a:r>
              <a:rPr sz="2100" b="0" i="0">
                <a:solidFill>
                  <a:srgbClr val="1C252B"/>
                </a:solidFill>
                <a:latin typeface="Segoe UI"/>
              </a:rPr>
              <a:t>, </a:t>
            </a:r>
            <a:r>
              <a:rPr sz="2100" b="0" i="0">
                <a:solidFill>
                  <a:srgbClr val="1C252B"/>
                </a:solidFill>
                <a:latin typeface="Cambria"/>
              </a:rPr>
              <a:t>{</a:t>
            </a:r>
            <a:r>
              <a:rPr sz="2100" b="0" i="1">
                <a:solidFill>
                  <a:srgbClr val="1C252B"/>
                </a:solidFill>
                <a:latin typeface="Cambria"/>
              </a:rPr>
              <a:t>S</a:t>
            </a:r>
            <a:r>
              <a:rPr sz="2100" b="0" i="0">
                <a:solidFill>
                  <a:srgbClr val="1C252B"/>
                </a:solidFill>
                <a:latin typeface="Cambria"/>
              </a:rPr>
              <a:t>7,</a:t>
            </a:r>
            <a:r>
              <a:rPr sz="2100" b="0" i="1">
                <a:solidFill>
                  <a:srgbClr val="1C252B"/>
                </a:solidFill>
                <a:latin typeface="Cambria"/>
              </a:rPr>
              <a:t>S</a:t>
            </a:r>
            <a:r>
              <a:rPr sz="2100" b="0" i="0">
                <a:solidFill>
                  <a:srgbClr val="1C252B"/>
                </a:solidFill>
                <a:latin typeface="Cambria"/>
              </a:rPr>
              <a:t>12}</a:t>
            </a:r>
            <a:r>
              <a:rPr sz="2100" b="0" i="0">
                <a:solidFill>
                  <a:srgbClr val="1C252B"/>
                </a:solidFill>
                <a:latin typeface="Segoe UI"/>
              </a:rPr>
              <a:t>.</a:t>
            </a:r>
          </a:p>
          <a:p>
            <a:pPr algn="l" marL="234813" indent="-234813">
              <a:lnSpc>
                <a:spcPct val="104000"/>
              </a:lnSpc>
              <a:spcBef>
                <a:spcPts val="0"/>
              </a:spcBef>
              <a:spcAft>
                <a:spcPts val="0"/>
              </a:spcAft>
            </a:pPr>
            <a:r>
              <a:rPr sz="2100" b="1">
                <a:solidFill>
                  <a:srgbClr val="1E8449"/>
                </a:solidFill>
                <a:latin typeface="Segoe UI"/>
              </a:rPr>
              <a:t>•	</a:t>
            </a:r>
            <a:r>
              <a:rPr sz="2100" b="0" i="1">
                <a:solidFill>
                  <a:srgbClr val="1C252B"/>
                </a:solidFill>
                <a:latin typeface="Segoe UI"/>
              </a:rPr>
              <a:t>Capacity</a:t>
            </a:r>
            <a:r>
              <a:rPr sz="2100" b="0" i="0">
                <a:solidFill>
                  <a:srgbClr val="1C252B"/>
                </a:solidFill>
                <a:latin typeface="Segoe UI"/>
              </a:rPr>
              <a:t> (</a:t>
            </a:r>
            <a:r>
              <a:rPr sz="2100" b="0" i="1">
                <a:solidFill>
                  <a:srgbClr val="1C252B"/>
                </a:solidFill>
                <a:latin typeface="Cambria"/>
              </a:rPr>
              <a:t>n</a:t>
            </a:r>
            <a:r>
              <a:rPr sz="2100" b="0" i="0">
                <a:solidFill>
                  <a:srgbClr val="1C252B"/>
                </a:solidFill>
                <a:latin typeface="Segoe UI"/>
              </a:rPr>
              <a:t>-ary): the points in each sprint total at most </a:t>
            </a:r>
            <a:r>
              <a:rPr sz="2100" b="0" i="0">
                <a:solidFill>
                  <a:srgbClr val="1C252B"/>
                </a:solidFill>
                <a:latin typeface="Cambria"/>
              </a:rPr>
              <a:t>12</a:t>
            </a:r>
            <a:r>
              <a:rPr sz="2100" b="0" i="0">
                <a:solidFill>
                  <a:srgbClr val="1C252B"/>
                </a:solidFill>
                <a:latin typeface="Segoe UI"/>
              </a:rPr>
              <a:t>. The twelve stories total </a:t>
            </a:r>
            <a:r>
              <a:rPr sz="2100" b="0" i="0">
                <a:solidFill>
                  <a:srgbClr val="1C252B"/>
                </a:solidFill>
                <a:latin typeface="Cambria"/>
              </a:rPr>
              <a:t>45</a:t>
            </a:r>
            <a:r>
              <a:rPr sz="2100" b="0" i="0">
                <a:solidFill>
                  <a:srgbClr val="1C252B"/>
                </a:solidFill>
                <a:latin typeface="Segoe UI"/>
              </a:rPr>
              <a:t> points against a capacity of </a:t>
            </a:r>
            <a:r>
              <a:rPr sz="2100" b="0" i="0">
                <a:solidFill>
                  <a:srgbClr val="1C252B"/>
                </a:solidFill>
                <a:latin typeface="Cambria"/>
              </a:rPr>
              <a:t>48</a:t>
            </a:r>
            <a:r>
              <a:rPr sz="2100" b="0" i="0">
                <a:solidFill>
                  <a:srgbClr val="1C252B"/>
                </a:solidFill>
                <a:latin typeface="Segoe UI"/>
              </a:rPr>
              <a:t>, so there is almost no slack.</a:t>
            </a:r>
          </a:p>
        </p:txBody>
      </p:sp>
      <p:sp>
        <p:nvSpPr>
          <p:cNvPr id="10" name="body-1"/>
          <p:cNvSpPr txBox="1"/>
          <p:nvPr/>
        </p:nvSpPr>
        <p:spPr>
          <a:xfrm>
            <a:off x="1060704" y="4898212"/>
            <a:ext cx="10161727" cy="71140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There are </a:t>
            </a:r>
            <a:r>
              <a:rPr sz="2100" b="0" i="0">
                <a:solidFill>
                  <a:srgbClr val="1C252B"/>
                </a:solidFill>
                <a:latin typeface="Cambria"/>
              </a:rPr>
              <a:t>4</a:t>
            </a:r>
            <a:r>
              <a:rPr sz="2100" b="0" i="0" baseline="30000">
                <a:solidFill>
                  <a:srgbClr val="1C252B"/>
                </a:solidFill>
                <a:latin typeface="Cambria"/>
              </a:rPr>
              <a:t>12</a:t>
            </a:r>
            <a:r>
              <a:rPr sz="2100" b="0" i="0">
                <a:solidFill>
                  <a:srgbClr val="1C252B"/>
                </a:solidFill>
                <a:latin typeface="Cambria"/>
              </a:rPr>
              <a:t> = 16,777,216</a:t>
            </a:r>
            <a:r>
              <a:rPr sz="2100" b="0" i="0">
                <a:solidFill>
                  <a:srgbClr val="1C252B"/>
                </a:solidFill>
                <a:latin typeface="Segoe UI"/>
              </a:rPr>
              <a:t> assignments and exactly </a:t>
            </a:r>
            <a:r>
              <a:rPr sz="2100" b="0" i="0">
                <a:solidFill>
                  <a:srgbClr val="1C252B"/>
                </a:solidFill>
                <a:latin typeface="Cambria"/>
              </a:rPr>
              <a:t>14</a:t>
            </a:r>
            <a:r>
              <a:rPr sz="2100" b="0" i="0">
                <a:solidFill>
                  <a:srgbClr val="1C252B"/>
                </a:solidFill>
                <a:latin typeface="Segoe UI"/>
              </a:rPr>
              <a:t> solutions — about one in a million.</a:t>
            </a:r>
          </a:p>
        </p:txBody>
      </p:sp>
      <p:sp>
        <p:nvSpPr>
          <p:cNvPr id="2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pfill">
            <a:extLst>
              <a:ext uri="{C183D7F6-B498-43B3-948B-1728B52AA6E4}">
                <adec:decorative xmlns:adec="http://schemas.microsoft.com/office/drawing/2017/decorative" val="1"/>
              </a:ext>
            </a:extLst>
          </p:cNvPr>
          <p:cNvSpPr/>
          <p:nvPr/>
        </p:nvSpPr>
        <p:spPr>
          <a:xfrm>
            <a:off x="0" y="0"/>
            <a:ext cx="195067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xEl>
                                              <p:pRg st="0" end="0"/>
                                            </p:txEl>
                                          </p:spTgt>
                                        </p:tgtEl>
                                        <p:attrNameLst>
                                          <p:attrName>style.visibility</p:attrName>
                                        </p:attrNameLst>
                                      </p:cBhvr>
                                      <p:to>
                                        <p:strVal val="visible"/>
                                      </p:to>
                                    </p:set>
                                    <p:animEffect transition="in" filter="fade">
                                      <p:cBhvr>
                                        <p:cTn id="8" dur="380"/>
                                        <p:tgtEl>
                                          <p:spTgt spid="9">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9">
                                            <p:txEl>
                                              <p:pRg st="1" end="1"/>
                                            </p:txEl>
                                          </p:spTgt>
                                        </p:tgtEl>
                                        <p:attrNameLst>
                                          <p:attrName>style.visibility</p:attrName>
                                        </p:attrNameLst>
                                      </p:cBhvr>
                                      <p:to>
                                        <p:strVal val="visible"/>
                                      </p:to>
                                    </p:set>
                                    <p:animEffect transition="in" filter="fade">
                                      <p:cBhvr>
                                        <p:cTn id="13" dur="380"/>
                                        <p:tgtEl>
                                          <p:spTgt spid="9">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xEl>
                                              <p:pRg st="2" end="2"/>
                                            </p:txEl>
                                          </p:spTgt>
                                        </p:tgtEl>
                                        <p:attrNameLst>
                                          <p:attrName>style.visibility</p:attrName>
                                        </p:attrNameLst>
                                      </p:cBhvr>
                                      <p:to>
                                        <p:strVal val="visible"/>
                                      </p:to>
                                    </p:set>
                                    <p:animEffect transition="in" filter="fade">
                                      <p:cBhvr>
                                        <p:cTn id="18" dur="380"/>
                                        <p:tgtEl>
                                          <p:spTgt spid="9">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xEl>
                                              <p:pRg st="3" end="3"/>
                                            </p:txEl>
                                          </p:spTgt>
                                        </p:tgtEl>
                                        <p:attrNameLst>
                                          <p:attrName>style.visibility</p:attrName>
                                        </p:attrNameLst>
                                      </p:cBhvr>
                                      <p:to>
                                        <p:strVal val="visible"/>
                                      </p:to>
                                    </p:set>
                                    <p:animEffect transition="in" filter="fade">
                                      <p:cBhvr>
                                        <p:cTn id="23" dur="380"/>
                                        <p:tgtEl>
                                          <p:spTgt spid="9">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9">
                                            <p:txEl>
                                              <p:pRg st="4" end="4"/>
                                            </p:txEl>
                                          </p:spTgt>
                                        </p:tgtEl>
                                        <p:attrNameLst>
                                          <p:attrName>style.visibility</p:attrName>
                                        </p:attrNameLst>
                                      </p:cBhvr>
                                      <p:to>
                                        <p:strVal val="visible"/>
                                      </p:to>
                                    </p:set>
                                    <p:animEffect transition="in" filter="fade">
                                      <p:cBhvr>
                                        <p:cTn id="28" dur="380"/>
                                        <p:tgtEl>
                                          <p:spTgt spid="9">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constraint graph</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B7A43"/>
                </a:solidFill>
                <a:latin typeface="Segoe UI"/>
              </a:rPr>
              <a:t>FIGURE 7.1</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7  ·  Constraint Satisfaction</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§7.1  ·  Handout p. 68     </a:t>
            </a:r>
            <a:fld id="{5A4F48D3-0D0A-46D6-BCC9-14C1B34584B5}" type="slidenum">
              <a:rPr lang="en-GB" sz="1000">
                <a:solidFill>
                  <a:srgbClr val="8795A1"/>
                </a:solidFill>
                <a:latin typeface="Segoe UI"/>
              </a:rPr>
              <a:t>9</a:t>
            </a:fld>
          </a:p>
        </p:txBody>
      </p:sp>
      <p:pic>
        <p:nvPicPr>
          <p:cNvPr id="6" name="!!figure" descr="Figure 7.1. The constraint graph. Twelve variables, twelve binary constraints, and one n-ary capacity constraint that no edge can represent."/>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827856"/>
            <a:ext cx="10874959" cy="3492825"/>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930188"/>
            <a:ext cx="54864" cy="306019"/>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911900"/>
            <a:ext cx="10600639" cy="48889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Twelve variables, twelve binary constraints, and one n-ary capacity constraint that no edge can represent.</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2194505"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Backtracking Search</a:t>
            </a:r>
          </a:p>
        </p:txBody>
      </p:sp>
      <p:pic>
        <p:nvPicPr>
          <p:cNvPr id="3" name="!!kicker-icon" descr="quote-left-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KEY IDEA</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7  ·  Constraint Satisfaction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§7.2  ·  Handout p. 69     </a:t>
            </a:r>
            <a:fld id="{3FB5B91D-F5C7-4E19-8B61-877C4E0D21A9}" type="slidenum">
              <a:rPr lang="en-GB" sz="1000">
                <a:solidFill>
                  <a:srgbClr val="8795A1"/>
                </a:solidFill>
                <a:latin typeface="Segoe UI"/>
              </a:rPr>
              <a:t>10</a:t>
            </a:fld>
          </a:p>
        </p:txBody>
      </p:sp>
      <p:sp>
        <p:nvSpPr>
          <p:cNvPr id="7" name="!!stbar">
            <a:extLst>
              <a:ext uri="{C183D7F6-B498-43B3-948B-1728B52AA6E4}">
                <adec:decorative xmlns:adec="http://schemas.microsoft.com/office/drawing/2017/decorative" val="1"/>
              </a:ext>
            </a:extLst>
          </p:cNvPr>
          <p:cNvSpPr/>
          <p:nvPr/>
        </p:nvSpPr>
        <p:spPr>
          <a:xfrm>
            <a:off x="658368" y="1810512"/>
            <a:ext cx="73152" cy="3918051"/>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body-0"/>
          <p:cNvSpPr txBox="1"/>
          <p:nvPr/>
        </p:nvSpPr>
        <p:spPr>
          <a:xfrm>
            <a:off x="1042415" y="1792224"/>
            <a:ext cx="10417759" cy="1377086"/>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Assign one variable at a time; after each assignment check it against everything already assigned; if nothing is consistent, undo the last choice and try the next value. This is </a:t>
            </a:r>
            <a:r>
              <a:rPr sz="2100" b="1" i="0">
                <a:solidFill>
                  <a:srgbClr val="1A5276"/>
                </a:solidFill>
                <a:latin typeface="Segoe UI"/>
              </a:rPr>
              <a:t>backtracking search</a:t>
            </a:r>
            <a:r>
              <a:rPr sz="2100" b="0" i="0">
                <a:solidFill>
                  <a:srgbClr val="1C252B"/>
                </a:solidFill>
                <a:latin typeface="Segoe UI"/>
              </a:rPr>
              <a:t>, and it is depth-first search with the goal test applied incrementally.</a:t>
            </a:r>
          </a:p>
        </p:txBody>
      </p:sp>
      <p:sp>
        <p:nvSpPr>
          <p:cNvPr id="9" name="body-1"/>
          <p:cNvSpPr txBox="1"/>
          <p:nvPr/>
        </p:nvSpPr>
        <p:spPr>
          <a:xfrm>
            <a:off x="1042415" y="3270275"/>
            <a:ext cx="10417759" cy="1377086"/>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The incremental check is the whole gain. A general search must place all twelve stories before it can test anything; backtracking discovers that </a:t>
            </a:r>
            <a:r>
              <a:rPr sz="1950" b="0" i="0">
                <a:solidFill>
                  <a:srgbClr val="1F4E79"/>
                </a:solidFill>
                <a:latin typeface="Consolas"/>
              </a:rPr>
              <a:t>S4</a:t>
            </a:r>
            <a:r>
              <a:rPr sz="2100" b="0" i="0">
                <a:solidFill>
                  <a:srgbClr val="1C252B"/>
                </a:solidFill>
                <a:latin typeface="Segoe UI"/>
              </a:rPr>
              <a:t> cannot go in sprint 1 the moment </a:t>
            </a:r>
            <a:r>
              <a:rPr sz="1950" b="0" i="0">
                <a:solidFill>
                  <a:srgbClr val="1F4E79"/>
                </a:solidFill>
                <a:latin typeface="Consolas"/>
              </a:rPr>
              <a:t>S1</a:t>
            </a:r>
            <a:r>
              <a:rPr sz="2100" b="0" i="0">
                <a:solidFill>
                  <a:srgbClr val="1C252B"/>
                </a:solidFill>
                <a:latin typeface="Segoe UI"/>
              </a:rPr>
              <a:t> is placed there, and never builds any of the </a:t>
            </a:r>
            <a:r>
              <a:rPr sz="2100" b="0" i="0">
                <a:solidFill>
                  <a:srgbClr val="1C252B"/>
                </a:solidFill>
                <a:latin typeface="Cambria"/>
              </a:rPr>
              <a:t>4</a:t>
            </a:r>
            <a:r>
              <a:rPr sz="2100" b="0" i="0" baseline="30000">
                <a:solidFill>
                  <a:srgbClr val="1C252B"/>
                </a:solidFill>
                <a:latin typeface="Cambria"/>
              </a:rPr>
              <a:t>10</a:t>
            </a:r>
            <a:r>
              <a:rPr sz="2100" b="0" i="0">
                <a:solidFill>
                  <a:srgbClr val="1C252B"/>
                </a:solidFill>
                <a:latin typeface="Segoe UI"/>
              </a:rPr>
              <a:t> assignments below that choice.</a:t>
            </a:r>
          </a:p>
        </p:txBody>
      </p:sp>
      <p:sp>
        <p:nvSpPr>
          <p:cNvPr id="10" name="body-2"/>
          <p:cNvSpPr txBox="1"/>
          <p:nvPr/>
        </p:nvSpPr>
        <p:spPr>
          <a:xfrm>
            <a:off x="1042415" y="4748326"/>
            <a:ext cx="10417759" cy="1044244"/>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On the sprint problem, plain backtracking finds a solution after </a:t>
            </a:r>
            <a:r>
              <a:rPr sz="2100" b="0" i="0">
                <a:solidFill>
                  <a:srgbClr val="1C252B"/>
                </a:solidFill>
                <a:latin typeface="Cambria"/>
              </a:rPr>
              <a:t>123</a:t>
            </a:r>
            <a:r>
              <a:rPr sz="2100" b="0" i="0">
                <a:solidFill>
                  <a:srgbClr val="1C252B"/>
                </a:solidFill>
                <a:latin typeface="Segoe UI"/>
              </a:rPr>
              <a:t> nodes and </a:t>
            </a:r>
            <a:r>
              <a:rPr sz="2100" b="0" i="0">
                <a:solidFill>
                  <a:srgbClr val="1C252B"/>
                </a:solidFill>
                <a:latin typeface="Cambria"/>
              </a:rPr>
              <a:t>3,784</a:t>
            </a:r>
            <a:r>
              <a:rPr sz="2100" b="0" i="0">
                <a:solidFill>
                  <a:srgbClr val="1C252B"/>
                </a:solidFill>
                <a:latin typeface="Segoe UI"/>
              </a:rPr>
              <a:t> consistency checks — against </a:t>
            </a:r>
            <a:r>
              <a:rPr sz="2100" b="0" i="0">
                <a:solidFill>
                  <a:srgbClr val="1C252B"/>
                </a:solidFill>
                <a:latin typeface="Cambria"/>
              </a:rPr>
              <a:t>16,777,216</a:t>
            </a:r>
            <a:r>
              <a:rPr sz="2100" b="0" i="0">
                <a:solidFill>
                  <a:srgbClr val="1C252B"/>
                </a:solidFill>
                <a:latin typeface="Segoe UI"/>
              </a:rPr>
              <a:t> complete assignments. The structure was worth a factor of a hundred thousand before any heuristic was applied.</a:t>
            </a:r>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2438339"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450"/>
                                        <p:tgtEl>
                                          <p:spTgt spid="9"/>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MRV on its own does nothing at all</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7  ·  Constraint Satisfaction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§7.3  ·  Handout p. 70     </a:t>
            </a:r>
            <a:fld id="{51009C41-ECAF-4DCF-BE33-17429289C8A7}" type="slidenum">
              <a:rPr lang="en-GB" sz="1000">
                <a:solidFill>
                  <a:srgbClr val="8795A1"/>
                </a:solidFill>
                <a:latin typeface="Segoe UI"/>
              </a:rPr>
              <a:t>11</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388104"/>
          </a:xfrm>
          <a:prstGeom prst="roundRect">
            <a:avLst>
              <a:gd name="adj" fmla="val 2083"/>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388104"/>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996696"/>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Here is a result from the lab that is worth more than the heuristics themselves. Adding MRV to plain backtracking on this problem changes the cost by </a:t>
            </a:r>
            <a:r>
              <a:rPr sz="2000" b="0" i="1">
                <a:solidFill>
                  <a:srgbClr val="1C252B"/>
                </a:solidFill>
                <a:latin typeface="Segoe UI"/>
              </a:rPr>
              <a:t>nothing</a:t>
            </a:r>
            <a:r>
              <a:rPr sz="2000" b="0" i="0">
                <a:solidFill>
                  <a:srgbClr val="1C252B"/>
                </a:solidFill>
                <a:latin typeface="Segoe UI"/>
              </a:rPr>
              <a:t>: </a:t>
            </a:r>
            <a:r>
              <a:rPr sz="2000" b="0" i="0">
                <a:solidFill>
                  <a:srgbClr val="1C252B"/>
                </a:solidFill>
                <a:latin typeface="Cambria"/>
              </a:rPr>
              <a:t>3,784</a:t>
            </a:r>
            <a:r>
              <a:rPr sz="2000" b="0" i="0">
                <a:solidFill>
                  <a:srgbClr val="1C252B"/>
                </a:solidFill>
                <a:latin typeface="Segoe UI"/>
              </a:rPr>
              <a:t> consistency checks and </a:t>
            </a:r>
            <a:r>
              <a:rPr sz="2000" b="0" i="0">
                <a:solidFill>
                  <a:srgbClr val="1C252B"/>
                </a:solidFill>
                <a:latin typeface="Cambria"/>
              </a:rPr>
              <a:t>123</a:t>
            </a:r>
            <a:r>
              <a:rPr sz="2000" b="0" i="0">
                <a:solidFill>
                  <a:srgbClr val="1C252B"/>
                </a:solidFill>
                <a:latin typeface="Segoe UI"/>
              </a:rPr>
              <a:t> nodes, both with it and without.</a:t>
            </a:r>
          </a:p>
        </p:txBody>
      </p:sp>
      <p:sp>
        <p:nvSpPr>
          <p:cNvPr id="10" name="body-1"/>
          <p:cNvSpPr txBox="1"/>
          <p:nvPr/>
        </p:nvSpPr>
        <p:spPr>
          <a:xfrm>
            <a:off x="1060704" y="3138931"/>
            <a:ext cx="10161727" cy="1313688"/>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The reason is not that MRV is a bad idea. It is that MRV has no information to act on. Every domain starts at four values and </a:t>
            </a:r>
            <a:r>
              <a:rPr sz="2000" b="0" i="1">
                <a:solidFill>
                  <a:srgbClr val="1C252B"/>
                </a:solidFill>
                <a:latin typeface="Segoe UI"/>
              </a:rPr>
              <a:t>nothing ever shrinks them</a:t>
            </a:r>
            <a:r>
              <a:rPr sz="2000" b="0" i="0">
                <a:solidFill>
                  <a:srgbClr val="1C252B"/>
                </a:solidFill>
                <a:latin typeface="Segoe UI"/>
              </a:rPr>
              <a:t>, so every unassigned variable ties forever and MRV falls back on the first variable in the list — which is what plain backtracking already did.</a:t>
            </a:r>
          </a:p>
        </p:txBody>
      </p:sp>
      <p:sp>
        <p:nvSpPr>
          <p:cNvPr id="11" name="body-2"/>
          <p:cNvSpPr txBox="1"/>
          <p:nvPr/>
        </p:nvSpPr>
        <p:spPr>
          <a:xfrm>
            <a:off x="1060704" y="4546599"/>
            <a:ext cx="10161727" cy="1313688"/>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Domains shrink only when something propagates the consequences of an assignment. So MRV and propagation are a package: neither is worth much without the other, and together they are worth a factor of nine here. If you take one thing from this chapter, take that.</a:t>
            </a: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2682172"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Forward checking after one assignment</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B7A43"/>
                </a:solidFill>
                <a:latin typeface="Segoe UI"/>
              </a:rPr>
              <a:t>FIGURE 7.2</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7  ·  Constraint Satisfaction</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§7.4  ·  Handout p. 70     </a:t>
            </a:r>
            <a:fld id="{788106B8-767E-4878-81B6-A11ED1A9DA48}" type="slidenum">
              <a:rPr lang="en-GB" sz="1000">
                <a:solidFill>
                  <a:srgbClr val="8795A1"/>
                </a:solidFill>
                <a:latin typeface="Segoe UI"/>
              </a:rPr>
              <a:t>12</a:t>
            </a:fld>
          </a:p>
        </p:txBody>
      </p:sp>
      <p:pic>
        <p:nvPicPr>
          <p:cNvPr id="6" name="!!figure" descr="Figure 7.2. Forward checking after one assignment. The pruning is the visible effect; giving the ordering heuristic something to measure is the valuable one."/>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868165"/>
            <a:ext cx="10874959" cy="3262487"/>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930188"/>
            <a:ext cx="54864" cy="306019"/>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911900"/>
            <a:ext cx="10600639" cy="48889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The pruning is the visible effect; giving the ordering heuristic something to measure is the valuable one.</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2926006"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Propagation: Arc Consistency</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BD7C7"/>
                </a:solidFill>
                <a:latin typeface="Segoe UI"/>
              </a:rPr>
              <a:t>SECTION 5 OF 7</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7.5</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7.1   A Sprint Plan as a Constraint Problem</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7.2   Backtracking Search</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7.3   Which Variable Next, and Which Value</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7.4   Propagation: Forward Checking</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B7A43"/>
                </a:solidFill>
                <a:latin typeface="Segoe UI"/>
              </a:rPr>
              <a:t>7.5   Propagation: Arc Consistency</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7.6   The Measurement</a:t>
            </a:r>
          </a:p>
        </p:txBody>
      </p:sp>
      <p:sp>
        <p:nvSpPr>
          <p:cNvPr id="12" name="!!dl6"/>
          <p:cNvSpPr txBox="1"/>
          <p:nvPr/>
        </p:nvSpPr>
        <p:spPr>
          <a:xfrm>
            <a:off x="4846320" y="580643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7.7   When There Is No Solution</a:t>
            </a:r>
          </a:p>
        </p:txBody>
      </p:sp>
      <p:sp>
        <p:nvSpPr>
          <p:cNvPr id="13"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7</a:t>
            </a:r>
          </a:p>
        </p:txBody>
      </p:sp>
      <p:sp>
        <p:nvSpPr>
          <p:cNvPr id="14"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§7.5     </a:t>
            </a:r>
            <a:fld id="{2957507D-2AAF-4673-81FC-2353BB48E0E4}" type="slidenum">
              <a:rPr lang="en-GB" sz="1000">
                <a:solidFill>
                  <a:srgbClr val="8795A1"/>
                </a:solidFill>
                <a:latin typeface="Segoe UI"/>
              </a:rPr>
              <a:t>13</a:t>
            </a:fld>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3169840"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Arc consistency and AC-3</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7  ·  Constraint Satisfaction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§7.5  ·  Handout p. 71     </a:t>
            </a:r>
            <a:fld id="{BB843291-4EA0-479E-B8B8-036C19CD93D2}" type="slidenum">
              <a:rPr lang="en-GB" sz="1000">
                <a:solidFill>
                  <a:srgbClr val="8795A1"/>
                </a:solidFill>
                <a:latin typeface="Segoe UI"/>
              </a:rPr>
              <a:t>14</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334232"/>
          </a:xfrm>
          <a:prstGeom prst="roundRect">
            <a:avLst>
              <a:gd name="adj" fmla="val 2742"/>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334232"/>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An arc </a:t>
            </a:r>
            <a:r>
              <a:rPr sz="2300" b="0" i="1">
                <a:solidFill>
                  <a:srgbClr val="1C252B"/>
                </a:solidFill>
                <a:latin typeface="Cambria"/>
              </a:rPr>
              <a:t>X</a:t>
            </a:r>
            <a:r>
              <a:rPr sz="2300" b="0" i="1" baseline="-25000">
                <a:solidFill>
                  <a:srgbClr val="1C252B"/>
                </a:solidFill>
                <a:latin typeface="Cambria"/>
              </a:rPr>
              <a:t>i</a:t>
            </a:r>
            <a:r>
              <a:rPr sz="2300" b="0" i="0">
                <a:solidFill>
                  <a:srgbClr val="1C252B"/>
                </a:solidFill>
                <a:latin typeface="Cambria"/>
              </a:rPr>
              <a:t> → </a:t>
            </a:r>
            <a:r>
              <a:rPr sz="2300" b="0" i="1">
                <a:solidFill>
                  <a:srgbClr val="1C252B"/>
                </a:solidFill>
                <a:latin typeface="Cambria"/>
              </a:rPr>
              <a:t>X</a:t>
            </a:r>
            <a:r>
              <a:rPr sz="2300" b="0" i="1" baseline="-25000">
                <a:solidFill>
                  <a:srgbClr val="1C252B"/>
                </a:solidFill>
                <a:latin typeface="Cambria"/>
              </a:rPr>
              <a:t>j</a:t>
            </a:r>
            <a:r>
              <a:rPr sz="2300" b="0" i="0">
                <a:solidFill>
                  <a:srgbClr val="1C252B"/>
                </a:solidFill>
                <a:latin typeface="Segoe UI"/>
              </a:rPr>
              <a:t> is </a:t>
            </a:r>
            <a:r>
              <a:rPr sz="2300" b="1" i="0">
                <a:solidFill>
                  <a:srgbClr val="1A5276"/>
                </a:solidFill>
                <a:latin typeface="Segoe UI"/>
              </a:rPr>
              <a:t>consistent</a:t>
            </a:r>
            <a:r>
              <a:rPr sz="2300" b="0" i="0">
                <a:solidFill>
                  <a:srgbClr val="1C252B"/>
                </a:solidFill>
                <a:latin typeface="Segoe UI"/>
              </a:rPr>
              <a:t> if for </a:t>
            </a:r>
            <a:r>
              <a:rPr sz="2300" b="0" i="1">
                <a:solidFill>
                  <a:srgbClr val="1C252B"/>
                </a:solidFill>
                <a:latin typeface="Segoe UI"/>
              </a:rPr>
              <a:t>every</a:t>
            </a:r>
            <a:r>
              <a:rPr sz="2300" b="0" i="0">
                <a:solidFill>
                  <a:srgbClr val="1C252B"/>
                </a:solidFill>
                <a:latin typeface="Segoe UI"/>
              </a:rPr>
              <a:t> value in </a:t>
            </a:r>
            <a:r>
              <a:rPr sz="2300" b="0" i="1">
                <a:solidFill>
                  <a:srgbClr val="1C252B"/>
                </a:solidFill>
                <a:latin typeface="Cambria"/>
              </a:rPr>
              <a:t>D</a:t>
            </a:r>
            <a:r>
              <a:rPr sz="2300" b="0" i="1" baseline="-25000">
                <a:solidFill>
                  <a:srgbClr val="1C252B"/>
                </a:solidFill>
                <a:latin typeface="Cambria"/>
              </a:rPr>
              <a:t>i</a:t>
            </a:r>
            <a:r>
              <a:rPr sz="2300" b="0" i="0">
                <a:solidFill>
                  <a:srgbClr val="1C252B"/>
                </a:solidFill>
                <a:latin typeface="Segoe UI"/>
              </a:rPr>
              <a:t> there is </a:t>
            </a:r>
            <a:r>
              <a:rPr sz="2300" b="0" i="1">
                <a:solidFill>
                  <a:srgbClr val="1C252B"/>
                </a:solidFill>
                <a:latin typeface="Segoe UI"/>
              </a:rPr>
              <a:t>some</a:t>
            </a:r>
            <a:r>
              <a:rPr sz="2300" b="0" i="0">
                <a:solidFill>
                  <a:srgbClr val="1C252B"/>
                </a:solidFill>
                <a:latin typeface="Segoe UI"/>
              </a:rPr>
              <a:t> value in </a:t>
            </a:r>
            <a:r>
              <a:rPr sz="2300" b="0" i="1">
                <a:solidFill>
                  <a:srgbClr val="1C252B"/>
                </a:solidFill>
                <a:latin typeface="Cambria"/>
              </a:rPr>
              <a:t>D</a:t>
            </a:r>
            <a:r>
              <a:rPr sz="2300" b="0" i="1" baseline="-25000">
                <a:solidFill>
                  <a:srgbClr val="1C252B"/>
                </a:solidFill>
                <a:latin typeface="Cambria"/>
              </a:rPr>
              <a:t>j</a:t>
            </a:r>
            <a:r>
              <a:rPr sz="2300" b="0" i="0">
                <a:solidFill>
                  <a:srgbClr val="1C252B"/>
                </a:solidFill>
                <a:latin typeface="Segoe UI"/>
              </a:rPr>
              <a:t> satisfying the binary constraint between them. A value in </a:t>
            </a:r>
            <a:r>
              <a:rPr sz="2300" b="0" i="1">
                <a:solidFill>
                  <a:srgbClr val="1C252B"/>
                </a:solidFill>
                <a:latin typeface="Cambria"/>
              </a:rPr>
              <a:t>D</a:t>
            </a:r>
            <a:r>
              <a:rPr sz="2300" b="0" i="1" baseline="-25000">
                <a:solidFill>
                  <a:srgbClr val="1C252B"/>
                </a:solidFill>
                <a:latin typeface="Cambria"/>
              </a:rPr>
              <a:t>i</a:t>
            </a:r>
            <a:r>
              <a:rPr sz="2300" b="0" i="0">
                <a:solidFill>
                  <a:srgbClr val="1C252B"/>
                </a:solidFill>
                <a:latin typeface="Segoe UI"/>
              </a:rPr>
              <a:t> with no partner can never appear in a solution and is removed.</a:t>
            </a:r>
          </a:p>
        </p:txBody>
      </p:sp>
      <p:sp>
        <p:nvSpPr>
          <p:cNvPr id="10" name="body-1"/>
          <p:cNvSpPr txBox="1"/>
          <p:nvPr/>
        </p:nvSpPr>
        <p:spPr>
          <a:xfrm>
            <a:off x="1060704" y="3302533"/>
            <a:ext cx="10161727" cy="1503883"/>
          </a:xfrm>
          <a:prstGeom prst="rect">
            <a:avLst/>
          </a:prstGeom>
          <a:noFill/>
        </p:spPr>
        <p:txBody>
          <a:bodyPr wrap="square" anchor="t" lIns="0" rIns="0" tIns="0" bIns="0">
            <a:noAutofit/>
          </a:bodyPr>
          <a:lstStyle/>
          <a:p>
            <a:pPr algn="l">
              <a:lnSpc>
                <a:spcPct val="104000"/>
              </a:lnSpc>
              <a:spcBef>
                <a:spcPts val="0"/>
              </a:spcBef>
              <a:spcAft>
                <a:spcPts val="0"/>
              </a:spcAft>
            </a:pPr>
            <a:r>
              <a:rPr sz="2300" b="1" i="0">
                <a:solidFill>
                  <a:srgbClr val="1A5276"/>
                </a:solidFill>
                <a:latin typeface="Segoe UI"/>
              </a:rPr>
              <a:t>AC-3</a:t>
            </a:r>
            <a:r>
              <a:rPr sz="2300" b="0" i="0">
                <a:solidFill>
                  <a:srgbClr val="1C252B"/>
                </a:solidFill>
                <a:latin typeface="Segoe UI"/>
              </a:rPr>
              <a:t> enforces this everywhere: keep a queue of arcs; take one, prune </a:t>
            </a:r>
            <a:r>
              <a:rPr sz="2300" b="0" i="1">
                <a:solidFill>
                  <a:srgbClr val="1C252B"/>
                </a:solidFill>
                <a:latin typeface="Cambria"/>
              </a:rPr>
              <a:t>D</a:t>
            </a:r>
            <a:r>
              <a:rPr sz="2300" b="0" i="1" baseline="-25000">
                <a:solidFill>
                  <a:srgbClr val="1C252B"/>
                </a:solidFill>
                <a:latin typeface="Cambria"/>
              </a:rPr>
              <a:t>i</a:t>
            </a:r>
            <a:r>
              <a:rPr sz="2300" b="0" i="0">
                <a:solidFill>
                  <a:srgbClr val="1C252B"/>
                </a:solidFill>
                <a:latin typeface="Segoe UI"/>
              </a:rPr>
              <a:t> against </a:t>
            </a:r>
            <a:r>
              <a:rPr sz="2300" b="0" i="1">
                <a:solidFill>
                  <a:srgbClr val="1C252B"/>
                </a:solidFill>
                <a:latin typeface="Cambria"/>
              </a:rPr>
              <a:t>D</a:t>
            </a:r>
            <a:r>
              <a:rPr sz="2300" b="0" i="1" baseline="-25000">
                <a:solidFill>
                  <a:srgbClr val="1C252B"/>
                </a:solidFill>
                <a:latin typeface="Cambria"/>
              </a:rPr>
              <a:t>j</a:t>
            </a:r>
            <a:r>
              <a:rPr sz="2300" b="0" i="0">
                <a:solidFill>
                  <a:srgbClr val="1C252B"/>
                </a:solidFill>
                <a:latin typeface="Segoe UI"/>
              </a:rPr>
              <a:t>; if anything was removed, re-queue every arc </a:t>
            </a:r>
            <a:r>
              <a:rPr sz="2300" b="0" i="1">
                <a:solidFill>
                  <a:srgbClr val="1C252B"/>
                </a:solidFill>
                <a:latin typeface="Segoe UI"/>
              </a:rPr>
              <a:t>into</a:t>
            </a:r>
            <a:r>
              <a:rPr sz="2300" b="0" i="0">
                <a:solidFill>
                  <a:srgbClr val="1C252B"/>
                </a:solidFill>
                <a:latin typeface="Segoe UI"/>
              </a:rPr>
              <a:t> </a:t>
            </a:r>
            <a:r>
              <a:rPr sz="2300" b="0" i="1">
                <a:solidFill>
                  <a:srgbClr val="1C252B"/>
                </a:solidFill>
                <a:latin typeface="Cambria"/>
              </a:rPr>
              <a:t>X</a:t>
            </a:r>
            <a:r>
              <a:rPr sz="2300" b="0" i="1" baseline="-25000">
                <a:solidFill>
                  <a:srgbClr val="1C252B"/>
                </a:solidFill>
                <a:latin typeface="Cambria"/>
              </a:rPr>
              <a:t>i</a:t>
            </a:r>
            <a:r>
              <a:rPr sz="2300" b="0" i="0">
                <a:solidFill>
                  <a:srgbClr val="1C252B"/>
                </a:solidFill>
                <a:latin typeface="Segoe UI"/>
              </a:rPr>
              <a:t>, because those may now have lost partners. Stop when the queue empties, or fail if a domain empties.</a:t>
            </a:r>
          </a:p>
        </p:txBody>
      </p:sp>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3413674"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AC-3 cannot see, and it is the important constraint</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7  ·  Constraint Satisfaction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§7.5  ·  Handout p. 71     </a:t>
            </a:r>
            <a:fld id="{06AC0576-0559-42CD-839E-657F19D4419A}" type="slidenum">
              <a:rPr lang="en-GB" sz="1000">
                <a:solidFill>
                  <a:srgbClr val="8795A1"/>
                </a:solidFill>
                <a:latin typeface="Segoe UI"/>
              </a:rPr>
              <a:t>15</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500930"/>
          </a:xfrm>
          <a:prstGeom prst="roundRect">
            <a:avLst>
              <a:gd name="adj" fmla="val 2031"/>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500930"/>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949147"/>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Look again at Figure 7.1: the capacity constraint has no edge, because it is </a:t>
            </a:r>
            <a:r>
              <a:rPr sz="1900" b="0" i="1">
                <a:solidFill>
                  <a:srgbClr val="1C252B"/>
                </a:solidFill>
                <a:latin typeface="Cambria"/>
              </a:rPr>
              <a:t>n</a:t>
            </a:r>
            <a:r>
              <a:rPr sz="1900" b="0" i="0">
                <a:solidFill>
                  <a:srgbClr val="1C252B"/>
                </a:solidFill>
                <a:latin typeface="Segoe UI"/>
              </a:rPr>
              <a:t>-ary and a constraint graph draws binary constraints. AC-3 works on arcs, so it never considers capacity at all.</a:t>
            </a:r>
          </a:p>
        </p:txBody>
      </p:sp>
      <p:sp>
        <p:nvSpPr>
          <p:cNvPr id="10" name="body-1"/>
          <p:cNvSpPr txBox="1"/>
          <p:nvPr/>
        </p:nvSpPr>
        <p:spPr>
          <a:xfrm>
            <a:off x="1060704" y="3084398"/>
            <a:ext cx="10161727" cy="155143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This matters, because capacity is the constraint that actually makes this problem hard — </a:t>
            </a:r>
            <a:r>
              <a:rPr sz="1900" b="0" i="0">
                <a:solidFill>
                  <a:srgbClr val="1C252B"/>
                </a:solidFill>
                <a:latin typeface="Cambria"/>
              </a:rPr>
              <a:t>45</a:t>
            </a:r>
            <a:r>
              <a:rPr sz="1900" b="0" i="0">
                <a:solidFill>
                  <a:srgbClr val="1C252B"/>
                </a:solidFill>
                <a:latin typeface="Segoe UI"/>
              </a:rPr>
              <a:t> points into </a:t>
            </a:r>
            <a:r>
              <a:rPr sz="1900" b="0" i="0">
                <a:solidFill>
                  <a:srgbClr val="1C252B"/>
                </a:solidFill>
                <a:latin typeface="Cambria"/>
              </a:rPr>
              <a:t>48</a:t>
            </a:r>
            <a:r>
              <a:rPr sz="1900" b="0" i="0">
                <a:solidFill>
                  <a:srgbClr val="1C252B"/>
                </a:solidFill>
                <a:latin typeface="Segoe UI"/>
              </a:rPr>
              <a:t> of capacity. Arc consistency prunes the precedence and same-developer structure beautifully and leaves the binding constraint untouched. The measurement in Table 7.1 shows the consequence: AC-3 preprocessing costs </a:t>
            </a:r>
            <a:r>
              <a:rPr sz="1900" b="0" i="0">
                <a:solidFill>
                  <a:srgbClr val="1C252B"/>
                </a:solidFill>
                <a:latin typeface="Cambria"/>
              </a:rPr>
              <a:t>224</a:t>
            </a:r>
            <a:r>
              <a:rPr sz="1900" b="0" i="0">
                <a:solidFill>
                  <a:srgbClr val="1C252B"/>
                </a:solidFill>
                <a:latin typeface="Segoe UI"/>
              </a:rPr>
              <a:t> extra consistency checks and removes </a:t>
            </a:r>
            <a:r>
              <a:rPr sz="1900" b="0" i="1">
                <a:solidFill>
                  <a:srgbClr val="1C252B"/>
                </a:solidFill>
                <a:latin typeface="Segoe UI"/>
              </a:rPr>
              <a:t>no</a:t>
            </a:r>
            <a:r>
              <a:rPr sz="1900" b="0" i="0">
                <a:solidFill>
                  <a:srgbClr val="1C252B"/>
                </a:solidFill>
                <a:latin typeface="Segoe UI"/>
              </a:rPr>
              <a:t> search nodes at all.</a:t>
            </a:r>
          </a:p>
        </p:txBody>
      </p:sp>
      <p:sp>
        <p:nvSpPr>
          <p:cNvPr id="11" name="body-2"/>
          <p:cNvSpPr txBox="1"/>
          <p:nvPr/>
        </p:nvSpPr>
        <p:spPr>
          <a:xfrm>
            <a:off x="1060704" y="4722825"/>
            <a:ext cx="10161727" cy="1250289"/>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The general lesson is not that AC-3 is bad. It is that </a:t>
            </a:r>
            <a:r>
              <a:rPr sz="1900" b="0" i="1">
                <a:solidFill>
                  <a:srgbClr val="1C252B"/>
                </a:solidFill>
                <a:latin typeface="Segoe UI"/>
              </a:rPr>
              <a:t>propagation only propagates what you have expressed in a form it can read</a:t>
            </a:r>
            <a:r>
              <a:rPr sz="1900" b="0" i="0">
                <a:solidFill>
                  <a:srgbClr val="1C252B"/>
                </a:solidFill>
                <a:latin typeface="Segoe UI"/>
              </a:rPr>
              <a:t>. If the binding constraint is </a:t>
            </a:r>
            <a:r>
              <a:rPr sz="1900" b="0" i="1">
                <a:solidFill>
                  <a:srgbClr val="1C252B"/>
                </a:solidFill>
                <a:latin typeface="Cambria"/>
              </a:rPr>
              <a:t>n</a:t>
            </a:r>
            <a:r>
              <a:rPr sz="1900" b="0" i="0">
                <a:solidFill>
                  <a:srgbClr val="1C252B"/>
                </a:solidFill>
                <a:latin typeface="Segoe UI"/>
              </a:rPr>
              <a:t>-ary, you need a generalised consistency algorithm, or you must re-express the constraint — and knowing which situation you are in is the engineering judgement here.</a:t>
            </a: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3657508"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Measurement</a:t>
            </a:r>
          </a:p>
        </p:txBody>
      </p:sp>
      <p:pic>
        <p:nvPicPr>
          <p:cNvPr id="3" name="!!kicker-icon" descr="tabl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AT A GLANCE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7  ·  Constraint Satisfaction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§7.6  ·  Handout p. 71     </a:t>
            </a:r>
            <a:fld id="{7A19CE3D-9836-45AB-8714-2504D342A2E2}" type="slidenum">
              <a:rPr lang="en-GB" sz="1000">
                <a:solidFill>
                  <a:srgbClr val="8795A1"/>
                </a:solidFill>
                <a:latin typeface="Segoe UI"/>
              </a:rPr>
              <a:t>16</a:t>
            </a:fld>
          </a:p>
        </p:txBody>
      </p:sp>
      <p:graphicFrame>
        <p:nvGraphicFramePr>
          <p:cNvPr id="7" name="!!table"/>
          <p:cNvGraphicFramePr>
            <a:graphicFrameLocks noGrp="1"/>
          </p:cNvGraphicFramePr>
          <p:nvPr/>
        </p:nvGraphicFramePr>
        <p:xfrm>
          <a:off x="658368" y="1737360"/>
          <a:ext cx="10874957" cy="4194048"/>
        </p:xfrm>
        <a:graphic>
          <a:graphicData uri="http://schemas.openxmlformats.org/drawingml/2006/table">
            <a:tbl>
              <a:tblPr firstRow="0" bandRow="0" firstCol="0" lastRow="0" lastCol="0" bandCol="0">
                <a:tableStyleId>{2D5ABB26-0587-4C30-8999-92F81FD0307C}</a:tableStyleId>
              </a:tblPr>
              <a:tblGrid>
                <a:gridCol w="4438758"/>
                <a:gridCol w="1701524"/>
                <a:gridCol w="1479586"/>
                <a:gridCol w="3255089"/>
              </a:tblGrid>
              <a:tr h="344424">
                <a:tc>
                  <a:txBody>
                    <a:bodyPr wrap="square"/>
                    <a:lstStyle/>
                    <a:p>
                      <a:pPr algn="l"/>
                      <a:r>
                        <a:rPr sz="1300" b="1" i="0">
                          <a:solidFill>
                            <a:srgbClr val="1A5276"/>
                          </a:solidFill>
                          <a:latin typeface="Segoe UI"/>
                        </a:rPr>
                        <a:t>Configuration</a:t>
                      </a:r>
                      <a:endParaRPr sz="13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300" b="1" i="0">
                          <a:solidFill>
                            <a:srgbClr val="1A5276"/>
                          </a:solidFill>
                          <a:latin typeface="Segoe UI"/>
                        </a:rPr>
                        <a:t>Checks</a:t>
                      </a:r>
                      <a:endParaRPr sz="13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300" b="1" i="0">
                          <a:solidFill>
                            <a:srgbClr val="1A5276"/>
                          </a:solidFill>
                          <a:latin typeface="Segoe UI"/>
                        </a:rPr>
                        <a:t>Nodes</a:t>
                      </a:r>
                      <a:endParaRPr sz="13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300" b="1" i="0">
                          <a:solidFill>
                            <a:srgbClr val="1A5276"/>
                          </a:solidFill>
                          <a:latin typeface="Segoe UI"/>
                        </a:rPr>
                        <a:t>Comment</a:t>
                      </a:r>
                      <a:endParaRPr sz="13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542544">
                <a:tc>
                  <a:txBody>
                    <a:bodyPr wrap="square"/>
                    <a:lstStyle/>
                    <a:p>
                      <a:pPr algn="l"/>
                      <a:r>
                        <a:rPr sz="1300" b="0" i="0">
                          <a:solidFill>
                            <a:srgbClr val="1C252B"/>
                          </a:solidFill>
                          <a:latin typeface="Segoe UI"/>
                        </a:rPr>
                        <a:t>Plain backtracking</a:t>
                      </a:r>
                      <a:endParaRPr sz="13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300" b="0" i="0">
                          <a:solidFill>
                            <a:srgbClr val="1C252B"/>
                          </a:solidFill>
                          <a:latin typeface="Segoe UI"/>
                        </a:rPr>
                        <a:t>3,784</a:t>
                      </a:r>
                      <a:endParaRPr sz="13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300" b="0" i="0">
                          <a:solidFill>
                            <a:srgbClr val="1C252B"/>
                          </a:solidFill>
                          <a:latin typeface="Segoe UI"/>
                        </a:rPr>
                        <a:t>123</a:t>
                      </a:r>
                      <a:endParaRPr sz="13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300" b="0" i="0">
                          <a:solidFill>
                            <a:srgbClr val="1C252B"/>
                          </a:solidFill>
                          <a:latin typeface="Segoe UI"/>
                        </a:rPr>
                        <a:t>The baseline. Already </a:t>
                      </a:r>
                      <a:r>
                        <a:rPr sz="1300" b="0" i="0">
                          <a:solidFill>
                            <a:srgbClr val="1C252B"/>
                          </a:solidFill>
                          <a:latin typeface="Cambria"/>
                        </a:rPr>
                        <a:t>10</a:t>
                      </a:r>
                      <a:r>
                        <a:rPr sz="1300" b="0" i="0" baseline="30000">
                          <a:solidFill>
                            <a:srgbClr val="1C252B"/>
                          </a:solidFill>
                          <a:latin typeface="Cambria"/>
                        </a:rPr>
                        <a:t>5</a:t>
                      </a:r>
                      <a:r>
                        <a:rPr sz="1300" b="0" i="0">
                          <a:solidFill>
                            <a:srgbClr val="1C252B"/>
                          </a:solidFill>
                          <a:latin typeface="Segoe UI"/>
                        </a:rPr>
                        <a:t> better than enumeration</a:t>
                      </a:r>
                      <a:endParaRPr sz="1300"/>
                    </a:p>
                  </a:txBody>
                  <a:tcPr marL="109728" marR="109728" marT="64008" marB="45720" anchor="t">
                    <a:lnL w="0" cmpd="sng">
                      <a:noFill/>
                    </a:lnL>
                    <a:lnR w="0" cmpd="sng">
                      <a:noFill/>
                    </a:lnR>
                    <a:lnT w="9525" cmpd="sng">
                      <a:noFill/>
                    </a:lnT>
                    <a:lnB w="9525" cmpd="sng">
                      <a:noFill/>
                    </a:lnB>
                    <a:solidFill>
                      <a:srgbClr val="FFFFFF"/>
                    </a:solidFill>
                  </a:tcPr>
                </a:tc>
              </a:tr>
              <a:tr h="542544">
                <a:tc>
                  <a:txBody>
                    <a:bodyPr wrap="square"/>
                    <a:lstStyle/>
                    <a:p>
                      <a:pPr algn="l"/>
                      <a:r>
                        <a:rPr sz="1300" b="0" i="0">
                          <a:solidFill>
                            <a:srgbClr val="1C252B"/>
                          </a:solidFill>
                          <a:latin typeface="Segoe UI"/>
                        </a:rPr>
                        <a:t>+ MRV</a:t>
                      </a:r>
                      <a:endParaRPr sz="13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300" b="0" i="0">
                          <a:solidFill>
                            <a:srgbClr val="1C252B"/>
                          </a:solidFill>
                          <a:latin typeface="Segoe UI"/>
                        </a:rPr>
                        <a:t>3,784</a:t>
                      </a:r>
                      <a:endParaRPr sz="13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300" b="0" i="0">
                          <a:solidFill>
                            <a:srgbClr val="1C252B"/>
                          </a:solidFill>
                          <a:latin typeface="Segoe UI"/>
                        </a:rPr>
                        <a:t>123</a:t>
                      </a:r>
                      <a:endParaRPr sz="13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300" b="1" i="0">
                          <a:solidFill>
                            <a:srgbClr val="1C252B"/>
                          </a:solidFill>
                          <a:latin typeface="Segoe UI"/>
                        </a:rPr>
                        <a:t>No change.</a:t>
                      </a:r>
                      <a:r>
                        <a:rPr sz="1300" b="0" i="0">
                          <a:solidFill>
                            <a:srgbClr val="1C252B"/>
                          </a:solidFill>
                          <a:latin typeface="Segoe UI"/>
                        </a:rPr>
                        <a:t> Nothing shrinks the domains, so MRV never has a preference</a:t>
                      </a:r>
                      <a:endParaRPr sz="1300"/>
                    </a:p>
                  </a:txBody>
                  <a:tcPr marL="109728" marR="109728" marT="64008" marB="45720" anchor="t">
                    <a:lnL w="0" cmpd="sng">
                      <a:noFill/>
                    </a:lnL>
                    <a:lnR w="0" cmpd="sng">
                      <a:noFill/>
                    </a:lnR>
                    <a:lnT w="9525" cmpd="sng">
                      <a:noFill/>
                    </a:lnT>
                    <a:lnB w="9525" cmpd="sng">
                      <a:noFill/>
                    </a:lnB>
                    <a:solidFill>
                      <a:srgbClr val="F2F8FC"/>
                    </a:solidFill>
                  </a:tcPr>
                </a:tc>
              </a:tr>
              <a:tr h="740664">
                <a:tc>
                  <a:txBody>
                    <a:bodyPr wrap="square"/>
                    <a:lstStyle/>
                    <a:p>
                      <a:pPr algn="l"/>
                      <a:r>
                        <a:rPr sz="1300" b="0" i="0">
                          <a:solidFill>
                            <a:srgbClr val="1C252B"/>
                          </a:solidFill>
                          <a:latin typeface="Segoe UI"/>
                        </a:rPr>
                        <a:t>+ MRV + degree</a:t>
                      </a:r>
                      <a:endParaRPr sz="13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300" b="0" i="0">
                          <a:solidFill>
                            <a:srgbClr val="1C252B"/>
                          </a:solidFill>
                          <a:latin typeface="Segoe UI"/>
                        </a:rPr>
                        <a:t>4,333</a:t>
                      </a:r>
                      <a:endParaRPr sz="13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300" b="0" i="0">
                          <a:solidFill>
                            <a:srgbClr val="1C252B"/>
                          </a:solidFill>
                          <a:latin typeface="Segoe UI"/>
                        </a:rPr>
                        <a:t>436</a:t>
                      </a:r>
                      <a:endParaRPr sz="13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300" b="1" i="0">
                          <a:solidFill>
                            <a:srgbClr val="1C252B"/>
                          </a:solidFill>
                          <a:latin typeface="Segoe UI"/>
                        </a:rPr>
                        <a:t>Worse.</a:t>
                      </a:r>
                      <a:r>
                        <a:rPr sz="1300" b="0" i="0">
                          <a:solidFill>
                            <a:srgbClr val="1C252B"/>
                          </a:solidFill>
                          <a:latin typeface="Segoe UI"/>
                        </a:rPr>
                        <a:t> The tie-break imposes an ordering that happens to be unlucky here</a:t>
                      </a:r>
                      <a:endParaRPr sz="1300"/>
                    </a:p>
                  </a:txBody>
                  <a:tcPr marL="109728" marR="109728" marT="64008" marB="45720" anchor="t">
                    <a:lnL w="0" cmpd="sng">
                      <a:noFill/>
                    </a:lnL>
                    <a:lnR w="0" cmpd="sng">
                      <a:noFill/>
                    </a:lnR>
                    <a:lnT w="9525" cmpd="sng">
                      <a:noFill/>
                    </a:lnT>
                    <a:lnB w="9525" cmpd="sng">
                      <a:noFill/>
                    </a:lnB>
                    <a:solidFill>
                      <a:srgbClr val="FFFFFF"/>
                    </a:solidFill>
                  </a:tcPr>
                </a:tc>
              </a:tr>
              <a:tr h="740664">
                <a:tc>
                  <a:txBody>
                    <a:bodyPr wrap="square"/>
                    <a:lstStyle/>
                    <a:p>
                      <a:pPr algn="l"/>
                      <a:r>
                        <a:rPr sz="1300" b="0" i="0">
                          <a:solidFill>
                            <a:srgbClr val="1C252B"/>
                          </a:solidFill>
                          <a:latin typeface="Segoe UI"/>
                        </a:rPr>
                        <a:t>+ MRV + degree + forward checking</a:t>
                      </a:r>
                      <a:endParaRPr sz="13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300" b="1" i="0">
                          <a:solidFill>
                            <a:srgbClr val="1C252B"/>
                          </a:solidFill>
                          <a:latin typeface="Segoe UI"/>
                        </a:rPr>
                        <a:t>415</a:t>
                      </a:r>
                      <a:endParaRPr sz="13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300" b="1" i="0">
                          <a:solidFill>
                            <a:srgbClr val="1C252B"/>
                          </a:solidFill>
                          <a:latin typeface="Segoe UI"/>
                        </a:rPr>
                        <a:t>13</a:t>
                      </a:r>
                      <a:endParaRPr sz="13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300" b="1" i="0">
                          <a:solidFill>
                            <a:srgbClr val="1C252B"/>
                          </a:solidFill>
                          <a:latin typeface="Segoe UI"/>
                        </a:rPr>
                        <a:t>9</a:t>
                      </a:r>
                      <a:r>
                        <a:rPr sz="1300" b="1" i="0">
                          <a:solidFill>
                            <a:srgbClr val="1C252B"/>
                          </a:solidFill>
                          <a:latin typeface="Cambria"/>
                        </a:rPr>
                        <a:t>×</a:t>
                      </a:r>
                      <a:r>
                        <a:rPr sz="1300" b="1" i="0">
                          <a:solidFill>
                            <a:srgbClr val="1C252B"/>
                          </a:solidFill>
                          <a:latin typeface="Segoe UI"/>
                        </a:rPr>
                        <a:t> fewer checks.</a:t>
                      </a:r>
                      <a:r>
                        <a:rPr sz="1300" b="0" i="0">
                          <a:solidFill>
                            <a:srgbClr val="1C252B"/>
                          </a:solidFill>
                          <a:latin typeface="Segoe UI"/>
                        </a:rPr>
                        <a:t> Propagation gives MRV information, and the two compound</a:t>
                      </a:r>
                      <a:endParaRPr sz="1300"/>
                    </a:p>
                  </a:txBody>
                  <a:tcPr marL="109728" marR="109728" marT="64008" marB="45720" anchor="t">
                    <a:lnL w="0" cmpd="sng">
                      <a:noFill/>
                    </a:lnL>
                    <a:lnR w="0" cmpd="sng">
                      <a:noFill/>
                    </a:lnR>
                    <a:lnT w="9525" cmpd="sng">
                      <a:noFill/>
                    </a:lnT>
                    <a:lnB w="9525" cmpd="sng">
                      <a:noFill/>
                    </a:lnB>
                    <a:solidFill>
                      <a:srgbClr val="F2F8FC"/>
                    </a:solidFill>
                  </a:tcPr>
                </a:tc>
              </a:tr>
              <a:tr h="542544">
                <a:tc>
                  <a:txBody>
                    <a:bodyPr wrap="square"/>
                    <a:lstStyle/>
                    <a:p>
                      <a:pPr algn="l"/>
                      <a:r>
                        <a:rPr sz="1300" b="0" i="0">
                          <a:solidFill>
                            <a:srgbClr val="1C252B"/>
                          </a:solidFill>
                          <a:latin typeface="Segoe UI"/>
                        </a:rPr>
                        <a:t>+ … + AC-3 preprocessing</a:t>
                      </a:r>
                      <a:endParaRPr sz="13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300" b="0" i="0">
                          <a:solidFill>
                            <a:srgbClr val="1C252B"/>
                          </a:solidFill>
                          <a:latin typeface="Segoe UI"/>
                        </a:rPr>
                        <a:t>639</a:t>
                      </a:r>
                      <a:endParaRPr sz="13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300" b="0" i="0">
                          <a:solidFill>
                            <a:srgbClr val="1C252B"/>
                          </a:solidFill>
                          <a:latin typeface="Segoe UI"/>
                        </a:rPr>
                        <a:t>13</a:t>
                      </a:r>
                      <a:endParaRPr sz="13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300" b="0" i="0">
                          <a:solidFill>
                            <a:srgbClr val="1C252B"/>
                          </a:solidFill>
                          <a:latin typeface="Segoe UI"/>
                        </a:rPr>
                        <a:t>Same nodes, more checks: AC-3 cannot see the capacity constraint</a:t>
                      </a:r>
                      <a:endParaRPr sz="1300"/>
                    </a:p>
                  </a:txBody>
                  <a:tcPr marL="109728" marR="109728" marT="64008" marB="45720" anchor="t">
                    <a:lnL w="0" cmpd="sng">
                      <a:noFill/>
                    </a:lnL>
                    <a:lnR w="0" cmpd="sng">
                      <a:noFill/>
                    </a:lnR>
                    <a:lnT w="9525" cmpd="sng">
                      <a:noFill/>
                    </a:lnT>
                    <a:lnB w="9525" cmpd="sng">
                      <a:noFill/>
                    </a:lnB>
                    <a:solidFill>
                      <a:srgbClr val="FFFFFF"/>
                    </a:solidFill>
                  </a:tcPr>
                </a:tc>
              </a:tr>
              <a:tr h="740664">
                <a:tc>
                  <a:txBody>
                    <a:bodyPr wrap="square"/>
                    <a:lstStyle/>
                    <a:p>
                      <a:pPr algn="l"/>
                      <a:r>
                        <a:rPr sz="1300" b="0" i="0">
                          <a:solidFill>
                            <a:srgbClr val="1C252B"/>
                          </a:solidFill>
                          <a:latin typeface="Segoe UI"/>
                        </a:rPr>
                        <a:t>Twelve stories into four sprints, counting every constraint check. A solution exists (there are </a:t>
                      </a:r>
                      <a:r>
                        <a:rPr sz="1300" b="0" i="0">
                          <a:solidFill>
                            <a:srgbClr val="1C252B"/>
                          </a:solidFill>
                          <a:latin typeface="Cambria"/>
                        </a:rPr>
                        <a:t>14</a:t>
                      </a:r>
                      <a:r>
                        <a:rPr sz="1300" b="0" i="0">
                          <a:solidFill>
                            <a:srgbClr val="1C252B"/>
                          </a:solidFill>
                          <a:latin typeface="Segoe UI"/>
                        </a:rPr>
                        <a:t>) and every configuration finds one.</a:t>
                      </a:r>
                      <a:endParaRPr sz="13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endParaRPr sz="13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endParaRPr sz="13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endParaRPr sz="13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r>
            </a:tbl>
          </a:graphicData>
        </a:graphic>
      </p:graphicFrame>
      <p:sp>
        <p:nvSpPr>
          <p:cNvPr id="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pfill">
            <a:extLst>
              <a:ext uri="{C183D7F6-B498-43B3-948B-1728B52AA6E4}">
                <adec:decorative xmlns:adec="http://schemas.microsoft.com/office/drawing/2017/decorative" val="1"/>
              </a:ext>
            </a:extLst>
          </p:cNvPr>
          <p:cNvSpPr/>
          <p:nvPr/>
        </p:nvSpPr>
        <p:spPr>
          <a:xfrm>
            <a:off x="0" y="0"/>
            <a:ext cx="3901342"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Tracing forward checking through the first three assignments</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7  ·  Constraint Satisfaction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§7.7  ·  Handout p. 72     </a:t>
            </a:r>
            <a:fld id="{18768AB2-11F3-4657-9A57-6779F650DA0E}" type="slidenum">
              <a:rPr lang="en-GB" sz="1000">
                <a:solidFill>
                  <a:srgbClr val="8795A1"/>
                </a:solidFill>
                <a:latin typeface="Segoe UI"/>
              </a:rPr>
              <a:t>17</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40809"/>
          </a:xfrm>
          <a:prstGeom prst="roundRect">
            <a:avLst>
              <a:gd name="adj" fmla="val 2059"/>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4080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Start with every domain </a:t>
            </a:r>
            <a:r>
              <a:rPr sz="1900" b="0" i="0">
                <a:solidFill>
                  <a:srgbClr val="1C252B"/>
                </a:solidFill>
                <a:latin typeface="Cambria"/>
              </a:rPr>
              <a:t>{1,2,3,4}</a:t>
            </a:r>
            <a:r>
              <a:rPr sz="1900" b="0" i="0">
                <a:solidFill>
                  <a:srgbClr val="1C252B"/>
                </a:solidFill>
                <a:latin typeface="Segoe UI"/>
              </a:rPr>
              <a:t>. Take the variables in order.</a:t>
            </a:r>
          </a:p>
        </p:txBody>
      </p:sp>
      <p:sp>
        <p:nvSpPr>
          <p:cNvPr id="10" name="body-1"/>
          <p:cNvSpPr txBox="1"/>
          <p:nvPr/>
        </p:nvSpPr>
        <p:spPr>
          <a:xfrm>
            <a:off x="1042416" y="2445537"/>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Assign </a:t>
            </a:r>
            <a:r>
              <a:rPr sz="1800" b="1" i="0">
                <a:solidFill>
                  <a:srgbClr val="1F4E79"/>
                </a:solidFill>
                <a:latin typeface="Consolas"/>
              </a:rPr>
              <a:t>S1</a:t>
            </a:r>
            <a:r>
              <a:rPr sz="1900" b="1" i="0">
                <a:solidFill>
                  <a:srgbClr val="1C252B"/>
                </a:solidFill>
                <a:latin typeface="Segoe UI"/>
              </a:rPr>
              <a:t> </a:t>
            </a:r>
            <a:r>
              <a:rPr sz="1900" b="1" i="0">
                <a:solidFill>
                  <a:srgbClr val="1C252B"/>
                </a:solidFill>
                <a:latin typeface="Cambria"/>
              </a:rPr>
              <a:t>:=</a:t>
            </a:r>
            <a:r>
              <a:rPr sz="1900" b="1" i="0">
                <a:solidFill>
                  <a:srgbClr val="1C252B"/>
                </a:solidFill>
                <a:latin typeface="Segoe UI"/>
              </a:rPr>
              <a:t> 1.</a:t>
            </a:r>
            <a:r>
              <a:rPr sz="1900" b="0" i="0">
                <a:solidFill>
                  <a:srgbClr val="1C252B"/>
                </a:solidFill>
                <a:latin typeface="Segoe UI"/>
              </a:rPr>
              <a:t> Forward checking examines </a:t>
            </a:r>
            <a:r>
              <a:rPr sz="1800" b="0" i="0">
                <a:solidFill>
                  <a:srgbClr val="1F4E79"/>
                </a:solidFill>
                <a:latin typeface="Consolas"/>
              </a:rPr>
              <a:t>S1</a:t>
            </a:r>
            <a:r>
              <a:rPr sz="1900" b="0" i="0">
                <a:solidFill>
                  <a:srgbClr val="1C252B"/>
                </a:solidFill>
                <a:latin typeface="Segoe UI"/>
              </a:rPr>
              <a:t>’s neighbours in Figure 7.1:</a:t>
            </a:r>
          </a:p>
        </p:txBody>
      </p:sp>
      <p:sp>
        <p:nvSpPr>
          <p:cNvPr id="11" name="body-2"/>
          <p:cNvSpPr txBox="1"/>
          <p:nvPr/>
        </p:nvSpPr>
        <p:spPr>
          <a:xfrm>
            <a:off x="1042416" y="2879394"/>
            <a:ext cx="10234879" cy="732459"/>
          </a:xfrm>
          <a:prstGeom prst="rect">
            <a:avLst/>
          </a:prstGeom>
          <a:noFill/>
        </p:spPr>
        <p:txBody>
          <a:bodyPr wrap="square" anchor="t" lIns="0" rIns="0" tIns="0" bIns="0">
            <a:noAutofit/>
          </a:bodyPr>
          <a:lstStyle/>
          <a:p>
            <a:pPr algn="l" marL="212450" indent="-212450">
              <a:lnSpc>
                <a:spcPct val="104000"/>
              </a:lnSpc>
              <a:spcBef>
                <a:spcPts val="0"/>
              </a:spcBef>
              <a:spcAft>
                <a:spcPts val="665"/>
              </a:spcAft>
            </a:pPr>
            <a:r>
              <a:rPr sz="1900" b="1">
                <a:solidFill>
                  <a:srgbClr val="7D6608"/>
                </a:solidFill>
                <a:latin typeface="Segoe UI"/>
              </a:rPr>
              <a:t>•	</a:t>
            </a:r>
            <a:r>
              <a:rPr sz="1900" b="0" i="1">
                <a:solidFill>
                  <a:srgbClr val="1C252B"/>
                </a:solidFill>
                <a:latin typeface="Cambria"/>
              </a:rPr>
              <a:t>S</a:t>
            </a:r>
            <a:r>
              <a:rPr sz="1900" b="0" i="0">
                <a:solidFill>
                  <a:srgbClr val="1C252B"/>
                </a:solidFill>
                <a:latin typeface="Cambria"/>
              </a:rPr>
              <a:t>1 &lt; </a:t>
            </a:r>
            <a:r>
              <a:rPr sz="1900" b="0" i="1">
                <a:solidFill>
                  <a:srgbClr val="1C252B"/>
                </a:solidFill>
                <a:latin typeface="Cambria"/>
              </a:rPr>
              <a:t>S</a:t>
            </a:r>
            <a:r>
              <a:rPr sz="1900" b="0" i="0">
                <a:solidFill>
                  <a:srgbClr val="1C252B"/>
                </a:solidFill>
                <a:latin typeface="Cambria"/>
              </a:rPr>
              <a:t>4</a:t>
            </a:r>
            <a:r>
              <a:rPr sz="1900" b="0" i="0">
                <a:solidFill>
                  <a:srgbClr val="1C252B"/>
                </a:solidFill>
                <a:latin typeface="Segoe UI"/>
              </a:rPr>
              <a:t>: </a:t>
            </a:r>
            <a:r>
              <a:rPr sz="1800" b="0" i="0">
                <a:solidFill>
                  <a:srgbClr val="1F4E79"/>
                </a:solidFill>
                <a:latin typeface="Consolas"/>
              </a:rPr>
              <a:t>S4</a:t>
            </a:r>
            <a:r>
              <a:rPr sz="1900" b="0" i="0">
                <a:solidFill>
                  <a:srgbClr val="1C252B"/>
                </a:solidFill>
                <a:latin typeface="Segoe UI"/>
              </a:rPr>
              <a:t> must be later than </a:t>
            </a:r>
            <a:r>
              <a:rPr sz="1900" b="0" i="0">
                <a:solidFill>
                  <a:srgbClr val="1C252B"/>
                </a:solidFill>
                <a:latin typeface="Cambria"/>
              </a:rPr>
              <a:t>1</a:t>
            </a:r>
            <a:r>
              <a:rPr sz="1900" b="0" i="0">
                <a:solidFill>
                  <a:srgbClr val="1C252B"/>
                </a:solidFill>
                <a:latin typeface="Segoe UI"/>
              </a:rPr>
              <a:t>, so </a:t>
            </a:r>
            <a:r>
              <a:rPr sz="1900" b="0" i="1">
                <a:solidFill>
                  <a:srgbClr val="1C252B"/>
                </a:solidFill>
                <a:latin typeface="Cambria"/>
              </a:rPr>
              <a:t>D</a:t>
            </a:r>
            <a:r>
              <a:rPr sz="1900" b="0" i="1" baseline="-25000">
                <a:solidFill>
                  <a:srgbClr val="1C252B"/>
                </a:solidFill>
                <a:latin typeface="Cambria"/>
              </a:rPr>
              <a:t>S</a:t>
            </a:r>
            <a:r>
              <a:rPr sz="1900" b="0" i="0" baseline="-25000">
                <a:solidFill>
                  <a:srgbClr val="1C252B"/>
                </a:solidFill>
                <a:latin typeface="Cambria"/>
              </a:rPr>
              <a:t>4</a:t>
            </a:r>
            <a:r>
              <a:rPr sz="1900" b="0" i="0">
                <a:solidFill>
                  <a:srgbClr val="1C252B"/>
                </a:solidFill>
                <a:latin typeface="Cambria"/>
              </a:rPr>
              <a:t> = {2,3,4}</a:t>
            </a:r>
            <a:r>
              <a:rPr sz="1900" b="0" i="0">
                <a:solidFill>
                  <a:srgbClr val="1C252B"/>
                </a:solidFill>
                <a:latin typeface="Segoe UI"/>
              </a:rPr>
              <a:t>.</a:t>
            </a:r>
          </a:p>
          <a:p>
            <a:pPr algn="l" marL="212450" indent="-212450">
              <a:lnSpc>
                <a:spcPct val="104000"/>
              </a:lnSpc>
              <a:spcBef>
                <a:spcPts val="0"/>
              </a:spcBef>
              <a:spcAft>
                <a:spcPts val="0"/>
              </a:spcAft>
            </a:pPr>
            <a:r>
              <a:rPr sz="1900" b="1">
                <a:solidFill>
                  <a:srgbClr val="7D6608"/>
                </a:solidFill>
                <a:latin typeface="Segoe UI"/>
              </a:rPr>
              <a:t>•	</a:t>
            </a:r>
            <a:r>
              <a:rPr sz="1900" b="0" i="1">
                <a:solidFill>
                  <a:srgbClr val="1C252B"/>
                </a:solidFill>
                <a:latin typeface="Cambria"/>
              </a:rPr>
              <a:t>S</a:t>
            </a:r>
            <a:r>
              <a:rPr sz="1900" b="0" i="0">
                <a:solidFill>
                  <a:srgbClr val="1C252B"/>
                </a:solidFill>
                <a:latin typeface="Cambria"/>
              </a:rPr>
              <a:t>1 ≠ </a:t>
            </a:r>
            <a:r>
              <a:rPr sz="1900" b="0" i="1">
                <a:solidFill>
                  <a:srgbClr val="1C252B"/>
                </a:solidFill>
                <a:latin typeface="Cambria"/>
              </a:rPr>
              <a:t>S</a:t>
            </a:r>
            <a:r>
              <a:rPr sz="1900" b="0" i="0">
                <a:solidFill>
                  <a:srgbClr val="1C252B"/>
                </a:solidFill>
                <a:latin typeface="Cambria"/>
              </a:rPr>
              <a:t>7</a:t>
            </a:r>
            <a:r>
              <a:rPr sz="1900" b="0" i="0">
                <a:solidFill>
                  <a:srgbClr val="1C252B"/>
                </a:solidFill>
                <a:latin typeface="Segoe UI"/>
              </a:rPr>
              <a:t>: </a:t>
            </a:r>
            <a:r>
              <a:rPr sz="1900" b="0" i="1">
                <a:solidFill>
                  <a:srgbClr val="1C252B"/>
                </a:solidFill>
                <a:latin typeface="Cambria"/>
              </a:rPr>
              <a:t>D</a:t>
            </a:r>
            <a:r>
              <a:rPr sz="1900" b="0" i="1" baseline="-25000">
                <a:solidFill>
                  <a:srgbClr val="1C252B"/>
                </a:solidFill>
                <a:latin typeface="Cambria"/>
              </a:rPr>
              <a:t>S</a:t>
            </a:r>
            <a:r>
              <a:rPr sz="1900" b="0" i="0" baseline="-25000">
                <a:solidFill>
                  <a:srgbClr val="1C252B"/>
                </a:solidFill>
                <a:latin typeface="Cambria"/>
              </a:rPr>
              <a:t>7</a:t>
            </a:r>
            <a:r>
              <a:rPr sz="1900" b="0" i="0">
                <a:solidFill>
                  <a:srgbClr val="1C252B"/>
                </a:solidFill>
                <a:latin typeface="Cambria"/>
              </a:rPr>
              <a:t> = {2,3,4}</a:t>
            </a:r>
            <a:r>
              <a:rPr sz="1900" b="0" i="0">
                <a:solidFill>
                  <a:srgbClr val="1C252B"/>
                </a:solidFill>
                <a:latin typeface="Segoe UI"/>
              </a:rPr>
              <a:t>.</a:t>
            </a:r>
          </a:p>
        </p:txBody>
      </p:sp>
      <p:sp>
        <p:nvSpPr>
          <p:cNvPr id="12" name="body-3"/>
          <p:cNvSpPr txBox="1"/>
          <p:nvPr/>
        </p:nvSpPr>
        <p:spPr>
          <a:xfrm>
            <a:off x="1042416" y="3698849"/>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Capacity: sprint 1 now holds </a:t>
            </a:r>
            <a:r>
              <a:rPr sz="1900" b="0" i="0">
                <a:solidFill>
                  <a:srgbClr val="1C252B"/>
                </a:solidFill>
                <a:latin typeface="Cambria"/>
              </a:rPr>
              <a:t>3</a:t>
            </a:r>
            <a:r>
              <a:rPr sz="1900" b="0" i="0">
                <a:solidFill>
                  <a:srgbClr val="1C252B"/>
                </a:solidFill>
                <a:latin typeface="Segoe UI"/>
              </a:rPr>
              <a:t> points of </a:t>
            </a:r>
            <a:r>
              <a:rPr sz="1900" b="0" i="0">
                <a:solidFill>
                  <a:srgbClr val="1C252B"/>
                </a:solidFill>
                <a:latin typeface="Cambria"/>
              </a:rPr>
              <a:t>12</a:t>
            </a:r>
            <a:r>
              <a:rPr sz="1900" b="0" i="0">
                <a:solidFill>
                  <a:srgbClr val="1C252B"/>
                </a:solidFill>
                <a:latin typeface="Segoe UI"/>
              </a:rPr>
              <a:t>. Fine.</a:t>
            </a:r>
          </a:p>
        </p:txBody>
      </p:sp>
      <p:sp>
        <p:nvSpPr>
          <p:cNvPr id="13" name="body-4"/>
          <p:cNvSpPr txBox="1"/>
          <p:nvPr/>
        </p:nvSpPr>
        <p:spPr>
          <a:xfrm>
            <a:off x="1042416" y="4132707"/>
            <a:ext cx="1023487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MRV now chooses.</a:t>
            </a:r>
            <a:r>
              <a:rPr sz="1900" b="0" i="0">
                <a:solidFill>
                  <a:srgbClr val="1C252B"/>
                </a:solidFill>
                <a:latin typeface="Segoe UI"/>
              </a:rPr>
              <a:t> </a:t>
            </a:r>
            <a:r>
              <a:rPr sz="1800" b="0" i="0">
                <a:solidFill>
                  <a:srgbClr val="1F4E79"/>
                </a:solidFill>
                <a:latin typeface="Consolas"/>
              </a:rPr>
              <a:t>S4</a:t>
            </a:r>
            <a:r>
              <a:rPr sz="1900" b="0" i="0">
                <a:solidFill>
                  <a:srgbClr val="1C252B"/>
                </a:solidFill>
                <a:latin typeface="Segoe UI"/>
              </a:rPr>
              <a:t> and </a:t>
            </a:r>
            <a:r>
              <a:rPr sz="1800" b="0" i="0">
                <a:solidFill>
                  <a:srgbClr val="1F4E79"/>
                </a:solidFill>
                <a:latin typeface="Consolas"/>
              </a:rPr>
              <a:t>S7</a:t>
            </a:r>
            <a:r>
              <a:rPr sz="1900" b="0" i="0">
                <a:solidFill>
                  <a:srgbClr val="1C252B"/>
                </a:solidFill>
                <a:latin typeface="Segoe UI"/>
              </a:rPr>
              <a:t> have three values; everything else has four. It picks one of those two — and note that this is the first moment in the entire search at which MRV has expressed a preference. Say </a:t>
            </a:r>
            <a:r>
              <a:rPr sz="1800" b="0" i="0">
                <a:solidFill>
                  <a:srgbClr val="1F4E79"/>
                </a:solidFill>
                <a:latin typeface="Consolas"/>
              </a:rPr>
              <a:t>S4</a:t>
            </a:r>
            <a:r>
              <a:rPr sz="1900" b="0" i="0">
                <a:solidFill>
                  <a:srgbClr val="1C252B"/>
                </a:solidFill>
                <a:latin typeface="Segoe UI"/>
              </a:rPr>
              <a:t>.</a:t>
            </a:r>
          </a:p>
        </p:txBody>
      </p:sp>
      <p:sp>
        <p:nvSpPr>
          <p:cNvPr id="14" name="body-4bar">
            <a:extLst>
              <a:ext uri="{C183D7F6-B498-43B3-948B-1728B52AA6E4}">
                <adec:decorative xmlns:adec="http://schemas.microsoft.com/office/drawing/2017/decorative" val="1"/>
              </a:ext>
            </a:extLst>
          </p:cNvPr>
          <p:cNvSpPr/>
          <p:nvPr/>
        </p:nvSpPr>
        <p:spPr>
          <a:xfrm>
            <a:off x="841248" y="4150995"/>
            <a:ext cx="54864" cy="88513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body-5"/>
          <p:cNvSpPr txBox="1"/>
          <p:nvPr/>
        </p:nvSpPr>
        <p:spPr>
          <a:xfrm>
            <a:off x="1042416" y="5168849"/>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Assign </a:t>
            </a:r>
            <a:r>
              <a:rPr sz="1800" b="1" i="0">
                <a:solidFill>
                  <a:srgbClr val="1F4E79"/>
                </a:solidFill>
                <a:latin typeface="Consolas"/>
              </a:rPr>
              <a:t>S4</a:t>
            </a:r>
            <a:r>
              <a:rPr sz="1900" b="1" i="0">
                <a:solidFill>
                  <a:srgbClr val="1C252B"/>
                </a:solidFill>
                <a:latin typeface="Segoe UI"/>
              </a:rPr>
              <a:t> </a:t>
            </a:r>
            <a:r>
              <a:rPr sz="1900" b="1" i="0">
                <a:solidFill>
                  <a:srgbClr val="1C252B"/>
                </a:solidFill>
                <a:latin typeface="Cambria"/>
              </a:rPr>
              <a:t>:=</a:t>
            </a:r>
            <a:r>
              <a:rPr sz="1900" b="1" i="0">
                <a:solidFill>
                  <a:srgbClr val="1C252B"/>
                </a:solidFill>
                <a:latin typeface="Segoe UI"/>
              </a:rPr>
              <a:t> 2.</a:t>
            </a:r>
            <a:r>
              <a:rPr sz="1900" b="0" i="0">
                <a:solidFill>
                  <a:srgbClr val="1C252B"/>
                </a:solidFill>
                <a:latin typeface="Segoe UI"/>
              </a:rPr>
              <a:t> Propagate:</a:t>
            </a:r>
          </a:p>
        </p:txBody>
      </p:sp>
      <p:sp>
        <p:nvSpPr>
          <p:cNvPr id="16" name="body-5bar">
            <a:extLst>
              <a:ext uri="{C183D7F6-B498-43B3-948B-1728B52AA6E4}">
                <adec:decorative xmlns:adec="http://schemas.microsoft.com/office/drawing/2017/decorative" val="1"/>
              </a:ext>
            </a:extLst>
          </p:cNvPr>
          <p:cNvSpPr/>
          <p:nvPr/>
        </p:nvSpPr>
        <p:spPr>
          <a:xfrm>
            <a:off x="841248" y="5187137"/>
            <a:ext cx="54864" cy="28285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body-6"/>
          <p:cNvSpPr txBox="1"/>
          <p:nvPr/>
        </p:nvSpPr>
        <p:spPr>
          <a:xfrm>
            <a:off x="1042416" y="5602706"/>
            <a:ext cx="10234879" cy="346862"/>
          </a:xfrm>
          <a:prstGeom prst="rect">
            <a:avLst/>
          </a:prstGeom>
          <a:noFill/>
        </p:spPr>
        <p:txBody>
          <a:bodyPr wrap="square" anchor="t" lIns="0" rIns="0" tIns="0" bIns="0">
            <a:noAutofit/>
          </a:bodyPr>
          <a:lstStyle/>
          <a:p>
            <a:pPr algn="l" marL="212450" indent="-212450">
              <a:lnSpc>
                <a:spcPct val="104000"/>
              </a:lnSpc>
              <a:spcBef>
                <a:spcPts val="0"/>
              </a:spcBef>
              <a:spcAft>
                <a:spcPts val="0"/>
              </a:spcAft>
            </a:pPr>
            <a:r>
              <a:rPr sz="1900" b="1">
                <a:solidFill>
                  <a:srgbClr val="7D6608"/>
                </a:solidFill>
                <a:latin typeface="Segoe UI"/>
              </a:rPr>
              <a:t>•	</a:t>
            </a:r>
            <a:r>
              <a:rPr sz="1900" b="0" i="1">
                <a:solidFill>
                  <a:srgbClr val="1C252B"/>
                </a:solidFill>
                <a:latin typeface="Cambria"/>
              </a:rPr>
              <a:t>S</a:t>
            </a:r>
            <a:r>
              <a:rPr sz="1900" b="0" i="0">
                <a:solidFill>
                  <a:srgbClr val="1C252B"/>
                </a:solidFill>
                <a:latin typeface="Cambria"/>
              </a:rPr>
              <a:t>4 &lt; </a:t>
            </a:r>
            <a:r>
              <a:rPr sz="1900" b="0" i="1">
                <a:solidFill>
                  <a:srgbClr val="1C252B"/>
                </a:solidFill>
                <a:latin typeface="Cambria"/>
              </a:rPr>
              <a:t>S</a:t>
            </a:r>
            <a:r>
              <a:rPr sz="1900" b="0" i="0">
                <a:solidFill>
                  <a:srgbClr val="1C252B"/>
                </a:solidFill>
                <a:latin typeface="Cambria"/>
              </a:rPr>
              <a:t>12</a:t>
            </a:r>
            <a:r>
              <a:rPr sz="1900" b="0" i="0">
                <a:solidFill>
                  <a:srgbClr val="1C252B"/>
                </a:solidFill>
                <a:latin typeface="Segoe UI"/>
              </a:rPr>
              <a:t>: </a:t>
            </a:r>
            <a:r>
              <a:rPr sz="1900" b="0" i="1">
                <a:solidFill>
                  <a:srgbClr val="1C252B"/>
                </a:solidFill>
                <a:latin typeface="Cambria"/>
              </a:rPr>
              <a:t>D</a:t>
            </a:r>
            <a:r>
              <a:rPr sz="1900" b="0" i="1" baseline="-25000">
                <a:solidFill>
                  <a:srgbClr val="1C252B"/>
                </a:solidFill>
                <a:latin typeface="Cambria"/>
              </a:rPr>
              <a:t>S</a:t>
            </a:r>
            <a:r>
              <a:rPr sz="1900" b="0" i="0" baseline="-25000">
                <a:solidFill>
                  <a:srgbClr val="1C252B"/>
                </a:solidFill>
                <a:latin typeface="Cambria"/>
              </a:rPr>
              <a:t>12</a:t>
            </a:r>
            <a:r>
              <a:rPr sz="1900" b="0" i="0">
                <a:solidFill>
                  <a:srgbClr val="1C252B"/>
                </a:solidFill>
                <a:latin typeface="Cambria"/>
              </a:rPr>
              <a:t> = {3,4}</a:t>
            </a:r>
            <a:r>
              <a:rPr sz="1900" b="0" i="0">
                <a:solidFill>
                  <a:srgbClr val="1C252B"/>
                </a:solidFill>
                <a:latin typeface="Segoe UI"/>
              </a:rPr>
              <a:t>.</a:t>
            </a:r>
          </a:p>
        </p:txBody>
      </p:sp>
      <p:sp>
        <p:nvSpPr>
          <p:cNvPr id="4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pfill">
            <a:extLst>
              <a:ext uri="{C183D7F6-B498-43B3-948B-1728B52AA6E4}">
                <adec:decorative xmlns:adec="http://schemas.microsoft.com/office/drawing/2017/decorative" val="1"/>
              </a:ext>
            </a:extLst>
          </p:cNvPr>
          <p:cNvSpPr/>
          <p:nvPr/>
        </p:nvSpPr>
        <p:spPr>
          <a:xfrm>
            <a:off x="0" y="0"/>
            <a:ext cx="4145176"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1">
                                            <p:txEl>
                                              <p:pRg st="0" end="0"/>
                                            </p:txEl>
                                          </p:spTgt>
                                        </p:tgtEl>
                                        <p:attrNameLst>
                                          <p:attrName>style.visibility</p:attrName>
                                        </p:attrNameLst>
                                      </p:cBhvr>
                                      <p:to>
                                        <p:strVal val="visible"/>
                                      </p:to>
                                    </p:set>
                                    <p:animEffect transition="in" filter="fade">
                                      <p:cBhvr>
                                        <p:cTn id="13" dur="350"/>
                                        <p:tgtEl>
                                          <p:spTgt spid="11">
                                            <p:txEl>
                                              <p:pRg st="0" end="0"/>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1">
                                            <p:txEl>
                                              <p:pRg st="1" end="1"/>
                                            </p:txEl>
                                          </p:spTgt>
                                        </p:tgtEl>
                                        <p:attrNameLst>
                                          <p:attrName>style.visibility</p:attrName>
                                        </p:attrNameLst>
                                      </p:cBhvr>
                                      <p:to>
                                        <p:strVal val="visible"/>
                                      </p:to>
                                    </p:set>
                                    <p:animEffect transition="in" filter="fade">
                                      <p:cBhvr>
                                        <p:cTn id="18" dur="350"/>
                                        <p:tgtEl>
                                          <p:spTgt spid="11">
                                            <p:txEl>
                                              <p:pRg st="1" end="1"/>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wipe(right)">
                                      <p:cBhvr>
                                        <p:cTn id="23" dur="420"/>
                                        <p:tgtEl>
                                          <p:spTgt spid="12"/>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right)">
                                      <p:cBhvr>
                                        <p:cTn id="28" dur="420"/>
                                        <p:tgtEl>
                                          <p:spTgt spid="1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420"/>
                                        <p:tgtEl>
                                          <p:spTgt spid="13"/>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wipe(right)">
                                      <p:cBhvr>
                                        <p:cTn id="36" dur="420"/>
                                        <p:tgtEl>
                                          <p:spTgt spid="16"/>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420"/>
                                        <p:tgtEl>
                                          <p:spTgt spid="15"/>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wipe(right)">
                                      <p:cBhvr>
                                        <p:cTn id="44" dur="4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build="p"/>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Tracing forward checking through the first three assignments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7  ·  Constraint Satisfaction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§7.7  ·  Handout p. 72     </a:t>
            </a:r>
            <a:fld id="{0B9A543D-67B8-4F2B-9F68-8399A90237D0}" type="slidenum">
              <a:rPr lang="en-GB" sz="1000">
                <a:solidFill>
                  <a:srgbClr val="8795A1"/>
                </a:solidFill>
                <a:latin typeface="Segoe UI"/>
              </a:rPr>
              <a:t>18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488639"/>
          </a:xfrm>
          <a:prstGeom prst="roundRect">
            <a:avLst>
              <a:gd name="adj" fmla="val 2621"/>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48863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346862"/>
          </a:xfrm>
          <a:prstGeom prst="rect">
            <a:avLst/>
          </a:prstGeom>
          <a:noFill/>
        </p:spPr>
        <p:txBody>
          <a:bodyPr wrap="square" anchor="t" lIns="0" rIns="0" tIns="0" bIns="0">
            <a:noAutofit/>
          </a:bodyPr>
          <a:lstStyle/>
          <a:p>
            <a:pPr algn="l" marL="212450" indent="-212450">
              <a:lnSpc>
                <a:spcPct val="104000"/>
              </a:lnSpc>
              <a:spcBef>
                <a:spcPts val="0"/>
              </a:spcBef>
              <a:spcAft>
                <a:spcPts val="0"/>
              </a:spcAft>
            </a:pPr>
            <a:r>
              <a:rPr sz="1900" b="1">
                <a:solidFill>
                  <a:srgbClr val="7D6608"/>
                </a:solidFill>
                <a:latin typeface="Segoe UI"/>
              </a:rPr>
              <a:t>•	</a:t>
            </a:r>
            <a:r>
              <a:rPr sz="1900" b="0" i="1">
                <a:solidFill>
                  <a:srgbClr val="1C252B"/>
                </a:solidFill>
                <a:latin typeface="Cambria"/>
              </a:rPr>
              <a:t>S</a:t>
            </a:r>
            <a:r>
              <a:rPr sz="1900" b="0" i="0">
                <a:solidFill>
                  <a:srgbClr val="1C252B"/>
                </a:solidFill>
                <a:latin typeface="Cambria"/>
              </a:rPr>
              <a:t>4 ≠ </a:t>
            </a:r>
            <a:r>
              <a:rPr sz="1900" b="0" i="1">
                <a:solidFill>
                  <a:srgbClr val="1C252B"/>
                </a:solidFill>
                <a:latin typeface="Cambria"/>
              </a:rPr>
              <a:t>S</a:t>
            </a:r>
            <a:r>
              <a:rPr sz="1900" b="0" i="0">
                <a:solidFill>
                  <a:srgbClr val="1C252B"/>
                </a:solidFill>
                <a:latin typeface="Cambria"/>
              </a:rPr>
              <a:t>6</a:t>
            </a:r>
            <a:r>
              <a:rPr sz="1900" b="0" i="0">
                <a:solidFill>
                  <a:srgbClr val="1C252B"/>
                </a:solidFill>
                <a:latin typeface="Segoe UI"/>
              </a:rPr>
              <a:t>: </a:t>
            </a:r>
            <a:r>
              <a:rPr sz="1900" b="0" i="1">
                <a:solidFill>
                  <a:srgbClr val="1C252B"/>
                </a:solidFill>
                <a:latin typeface="Cambria"/>
              </a:rPr>
              <a:t>D</a:t>
            </a:r>
            <a:r>
              <a:rPr sz="1900" b="0" i="1" baseline="-25000">
                <a:solidFill>
                  <a:srgbClr val="1C252B"/>
                </a:solidFill>
                <a:latin typeface="Cambria"/>
              </a:rPr>
              <a:t>S</a:t>
            </a:r>
            <a:r>
              <a:rPr sz="1900" b="0" i="0" baseline="-25000">
                <a:solidFill>
                  <a:srgbClr val="1C252B"/>
                </a:solidFill>
                <a:latin typeface="Cambria"/>
              </a:rPr>
              <a:t>6</a:t>
            </a:r>
            <a:r>
              <a:rPr sz="1900" b="0" i="0">
                <a:solidFill>
                  <a:srgbClr val="1C252B"/>
                </a:solidFill>
                <a:latin typeface="Cambria"/>
              </a:rPr>
              <a:t> = {1,3,4}</a:t>
            </a:r>
            <a:r>
              <a:rPr sz="1900" b="0" i="0">
                <a:solidFill>
                  <a:srgbClr val="1C252B"/>
                </a:solidFill>
                <a:latin typeface="Segoe UI"/>
              </a:rPr>
              <a:t>.</a:t>
            </a:r>
          </a:p>
        </p:txBody>
      </p:sp>
      <p:sp>
        <p:nvSpPr>
          <p:cNvPr id="10" name="body-1"/>
          <p:cNvSpPr txBox="1"/>
          <p:nvPr/>
        </p:nvSpPr>
        <p:spPr>
          <a:xfrm>
            <a:off x="1042416" y="2445537"/>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Capacity: sprint 2 holds </a:t>
            </a:r>
            <a:r>
              <a:rPr sz="1900" b="0" i="0">
                <a:solidFill>
                  <a:srgbClr val="1C252B"/>
                </a:solidFill>
                <a:latin typeface="Cambria"/>
              </a:rPr>
              <a:t>8</a:t>
            </a:r>
            <a:r>
              <a:rPr sz="1900" b="0" i="0">
                <a:solidFill>
                  <a:srgbClr val="1C252B"/>
                </a:solidFill>
                <a:latin typeface="Segoe UI"/>
              </a:rPr>
              <a:t> of </a:t>
            </a:r>
            <a:r>
              <a:rPr sz="1900" b="0" i="0">
                <a:solidFill>
                  <a:srgbClr val="1C252B"/>
                </a:solidFill>
                <a:latin typeface="Cambria"/>
              </a:rPr>
              <a:t>12</a:t>
            </a:r>
            <a:r>
              <a:rPr sz="1900" b="0" i="0">
                <a:solidFill>
                  <a:srgbClr val="1C252B"/>
                </a:solidFill>
                <a:latin typeface="Segoe UI"/>
              </a:rPr>
              <a:t>; only </a:t>
            </a:r>
            <a:r>
              <a:rPr sz="1900" b="0" i="0">
                <a:solidFill>
                  <a:srgbClr val="1C252B"/>
                </a:solidFill>
                <a:latin typeface="Cambria"/>
              </a:rPr>
              <a:t>4</a:t>
            </a:r>
            <a:r>
              <a:rPr sz="1900" b="0" i="0">
                <a:solidFill>
                  <a:srgbClr val="1C252B"/>
                </a:solidFill>
                <a:latin typeface="Segoe UI"/>
              </a:rPr>
              <a:t> points remain there, which will matter shortly.</a:t>
            </a:r>
          </a:p>
        </p:txBody>
      </p:sp>
      <p:sp>
        <p:nvSpPr>
          <p:cNvPr id="11" name="body-2"/>
          <p:cNvSpPr txBox="1"/>
          <p:nvPr/>
        </p:nvSpPr>
        <p:spPr>
          <a:xfrm>
            <a:off x="1042416" y="2879394"/>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MRV chooses </a:t>
            </a:r>
            <a:r>
              <a:rPr sz="1800" b="1" i="0">
                <a:solidFill>
                  <a:srgbClr val="1F4E79"/>
                </a:solidFill>
                <a:latin typeface="Consolas"/>
              </a:rPr>
              <a:t>S12</a:t>
            </a:r>
            <a:r>
              <a:rPr sz="1900" b="0" i="0">
                <a:solidFill>
                  <a:srgbClr val="1C252B"/>
                </a:solidFill>
                <a:latin typeface="Segoe UI"/>
              </a:rPr>
              <a:t>, now down to two values — the most constrained variable in the problem, and it was reached in two steps rather than by luck.</a:t>
            </a:r>
          </a:p>
        </p:txBody>
      </p:sp>
      <p:sp>
        <p:nvSpPr>
          <p:cNvPr id="12" name="body-2bar">
            <a:extLst>
              <a:ext uri="{C183D7F6-B498-43B3-948B-1728B52AA6E4}">
                <adec:decorative xmlns:adec="http://schemas.microsoft.com/office/drawing/2017/decorative" val="1"/>
              </a:ext>
            </a:extLst>
          </p:cNvPr>
          <p:cNvSpPr/>
          <p:nvPr/>
        </p:nvSpPr>
        <p:spPr>
          <a:xfrm>
            <a:off x="841248" y="2897682"/>
            <a:ext cx="54864" cy="583996"/>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body-3"/>
          <p:cNvSpPr txBox="1"/>
          <p:nvPr/>
        </p:nvSpPr>
        <p:spPr>
          <a:xfrm>
            <a:off x="1042416" y="3614394"/>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Assign </a:t>
            </a:r>
            <a:r>
              <a:rPr sz="1800" b="1" i="0">
                <a:solidFill>
                  <a:srgbClr val="1F4E79"/>
                </a:solidFill>
                <a:latin typeface="Consolas"/>
              </a:rPr>
              <a:t>S12</a:t>
            </a:r>
            <a:r>
              <a:rPr sz="1900" b="1" i="0">
                <a:solidFill>
                  <a:srgbClr val="1C252B"/>
                </a:solidFill>
                <a:latin typeface="Segoe UI"/>
              </a:rPr>
              <a:t> </a:t>
            </a:r>
            <a:r>
              <a:rPr sz="1900" b="1" i="0">
                <a:solidFill>
                  <a:srgbClr val="1C252B"/>
                </a:solidFill>
                <a:latin typeface="Cambria"/>
              </a:rPr>
              <a:t>:=</a:t>
            </a:r>
            <a:r>
              <a:rPr sz="1900" b="1" i="0">
                <a:solidFill>
                  <a:srgbClr val="1C252B"/>
                </a:solidFill>
                <a:latin typeface="Segoe UI"/>
              </a:rPr>
              <a:t> 3.</a:t>
            </a:r>
            <a:r>
              <a:rPr sz="1900" b="0" i="0">
                <a:solidFill>
                  <a:srgbClr val="1C252B"/>
                </a:solidFill>
                <a:latin typeface="Segoe UI"/>
              </a:rPr>
              <a:t> Propagate: </a:t>
            </a:r>
            <a:r>
              <a:rPr sz="1900" b="0" i="1">
                <a:solidFill>
                  <a:srgbClr val="1C252B"/>
                </a:solidFill>
                <a:latin typeface="Cambria"/>
              </a:rPr>
              <a:t>S</a:t>
            </a:r>
            <a:r>
              <a:rPr sz="1900" b="0" i="0">
                <a:solidFill>
                  <a:srgbClr val="1C252B"/>
                </a:solidFill>
                <a:latin typeface="Cambria"/>
              </a:rPr>
              <a:t>9 &lt; </a:t>
            </a:r>
            <a:r>
              <a:rPr sz="1900" b="0" i="1">
                <a:solidFill>
                  <a:srgbClr val="1C252B"/>
                </a:solidFill>
                <a:latin typeface="Cambria"/>
              </a:rPr>
              <a:t>S</a:t>
            </a:r>
            <a:r>
              <a:rPr sz="1900" b="0" i="0">
                <a:solidFill>
                  <a:srgbClr val="1C252B"/>
                </a:solidFill>
                <a:latin typeface="Cambria"/>
              </a:rPr>
              <a:t>12</a:t>
            </a:r>
            <a:r>
              <a:rPr sz="1900" b="0" i="0">
                <a:solidFill>
                  <a:srgbClr val="1C252B"/>
                </a:solidFill>
                <a:latin typeface="Segoe UI"/>
              </a:rPr>
              <a:t> gives </a:t>
            </a:r>
            <a:r>
              <a:rPr sz="1900" b="0" i="1">
                <a:solidFill>
                  <a:srgbClr val="1C252B"/>
                </a:solidFill>
                <a:latin typeface="Cambria"/>
              </a:rPr>
              <a:t>D</a:t>
            </a:r>
            <a:r>
              <a:rPr sz="1900" b="0" i="1" baseline="-25000">
                <a:solidFill>
                  <a:srgbClr val="1C252B"/>
                </a:solidFill>
                <a:latin typeface="Cambria"/>
              </a:rPr>
              <a:t>S</a:t>
            </a:r>
            <a:r>
              <a:rPr sz="1900" b="0" i="0" baseline="-25000">
                <a:solidFill>
                  <a:srgbClr val="1C252B"/>
                </a:solidFill>
                <a:latin typeface="Cambria"/>
              </a:rPr>
              <a:t>9</a:t>
            </a:r>
            <a:r>
              <a:rPr sz="1900" b="0" i="0">
                <a:solidFill>
                  <a:srgbClr val="1C252B"/>
                </a:solidFill>
                <a:latin typeface="Cambria"/>
              </a:rPr>
              <a:t> = {1,2}</a:t>
            </a:r>
            <a:r>
              <a:rPr sz="1900" b="0" i="0">
                <a:solidFill>
                  <a:srgbClr val="1C252B"/>
                </a:solidFill>
                <a:latin typeface="Segoe UI"/>
              </a:rPr>
              <a:t>; </a:t>
            </a:r>
            <a:r>
              <a:rPr sz="1900" b="0" i="1">
                <a:solidFill>
                  <a:srgbClr val="1C252B"/>
                </a:solidFill>
                <a:latin typeface="Cambria"/>
              </a:rPr>
              <a:t>S</a:t>
            </a:r>
            <a:r>
              <a:rPr sz="1900" b="0" i="0">
                <a:solidFill>
                  <a:srgbClr val="1C252B"/>
                </a:solidFill>
                <a:latin typeface="Cambria"/>
              </a:rPr>
              <a:t>7 ≠ </a:t>
            </a:r>
            <a:r>
              <a:rPr sz="1900" b="0" i="1">
                <a:solidFill>
                  <a:srgbClr val="1C252B"/>
                </a:solidFill>
                <a:latin typeface="Cambria"/>
              </a:rPr>
              <a:t>S</a:t>
            </a:r>
            <a:r>
              <a:rPr sz="1900" b="0" i="0">
                <a:solidFill>
                  <a:srgbClr val="1C252B"/>
                </a:solidFill>
                <a:latin typeface="Cambria"/>
              </a:rPr>
              <a:t>12</a:t>
            </a:r>
            <a:r>
              <a:rPr sz="1900" b="0" i="0">
                <a:solidFill>
                  <a:srgbClr val="1C252B"/>
                </a:solidFill>
                <a:latin typeface="Segoe UI"/>
              </a:rPr>
              <a:t> gives </a:t>
            </a:r>
            <a:r>
              <a:rPr sz="1900" b="0" i="1">
                <a:solidFill>
                  <a:srgbClr val="1C252B"/>
                </a:solidFill>
                <a:latin typeface="Cambria"/>
              </a:rPr>
              <a:t>D</a:t>
            </a:r>
            <a:r>
              <a:rPr sz="1900" b="0" i="1" baseline="-25000">
                <a:solidFill>
                  <a:srgbClr val="1C252B"/>
                </a:solidFill>
                <a:latin typeface="Cambria"/>
              </a:rPr>
              <a:t>S</a:t>
            </a:r>
            <a:r>
              <a:rPr sz="1900" b="0" i="0" baseline="-25000">
                <a:solidFill>
                  <a:srgbClr val="1C252B"/>
                </a:solidFill>
                <a:latin typeface="Cambria"/>
              </a:rPr>
              <a:t>7</a:t>
            </a:r>
            <a:r>
              <a:rPr sz="1900" b="0" i="0">
                <a:solidFill>
                  <a:srgbClr val="1C252B"/>
                </a:solidFill>
                <a:latin typeface="Cambria"/>
              </a:rPr>
              <a:t> = {2,4}</a:t>
            </a:r>
            <a:r>
              <a:rPr sz="1900" b="0" i="0">
                <a:solidFill>
                  <a:srgbClr val="1C252B"/>
                </a:solidFill>
                <a:latin typeface="Segoe UI"/>
              </a:rPr>
              <a:t>.</a:t>
            </a:r>
          </a:p>
        </p:txBody>
      </p:sp>
      <p:sp>
        <p:nvSpPr>
          <p:cNvPr id="14" name="body-3bar">
            <a:extLst>
              <a:ext uri="{C183D7F6-B498-43B3-948B-1728B52AA6E4}">
                <adec:decorative xmlns:adec="http://schemas.microsoft.com/office/drawing/2017/decorative" val="1"/>
              </a:ext>
            </a:extLst>
          </p:cNvPr>
          <p:cNvSpPr/>
          <p:nvPr/>
        </p:nvSpPr>
        <p:spPr>
          <a:xfrm>
            <a:off x="841248" y="3632682"/>
            <a:ext cx="54864" cy="28285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body-4"/>
          <p:cNvSpPr txBox="1"/>
          <p:nvPr/>
        </p:nvSpPr>
        <p:spPr>
          <a:xfrm>
            <a:off x="1042416" y="4048252"/>
            <a:ext cx="1023487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What has been bought.</a:t>
            </a:r>
            <a:r>
              <a:rPr sz="1900" b="0" i="0">
                <a:solidFill>
                  <a:srgbClr val="1C252B"/>
                </a:solidFill>
                <a:latin typeface="Segoe UI"/>
              </a:rPr>
              <a:t> Three assignments, and four other variables have already lost values. Plain backtracking at this depth has pruned nothing and will discover the same facts one dead end at a time, hundreds of nodes later. The lab counts the difference: </a:t>
            </a:r>
            <a:r>
              <a:rPr sz="1900" b="0" i="0">
                <a:solidFill>
                  <a:srgbClr val="1C252B"/>
                </a:solidFill>
                <a:latin typeface="Cambria"/>
              </a:rPr>
              <a:t>13</a:t>
            </a:r>
            <a:r>
              <a:rPr sz="1900" b="0" i="0">
                <a:solidFill>
                  <a:srgbClr val="1C252B"/>
                </a:solidFill>
                <a:latin typeface="Segoe UI"/>
              </a:rPr>
              <a:t> nodes against </a:t>
            </a:r>
            <a:r>
              <a:rPr sz="1900" b="0" i="0">
                <a:solidFill>
                  <a:srgbClr val="1C252B"/>
                </a:solidFill>
                <a:latin typeface="Cambria"/>
              </a:rPr>
              <a:t>123</a:t>
            </a:r>
            <a:r>
              <a:rPr sz="1900" b="0" i="0">
                <a:solidFill>
                  <a:srgbClr val="1C252B"/>
                </a:solidFill>
                <a:latin typeface="Segoe UI"/>
              </a:rPr>
              <a:t>.</a:t>
            </a:r>
          </a:p>
        </p:txBody>
      </p:sp>
      <p:sp>
        <p:nvSpPr>
          <p:cNvPr id="16" name="body-4bar">
            <a:extLst>
              <a:ext uri="{C183D7F6-B498-43B3-948B-1728B52AA6E4}">
                <adec:decorative xmlns:adec="http://schemas.microsoft.com/office/drawing/2017/decorative" val="1"/>
              </a:ext>
            </a:extLst>
          </p:cNvPr>
          <p:cNvSpPr/>
          <p:nvPr/>
        </p:nvSpPr>
        <p:spPr>
          <a:xfrm>
            <a:off x="841248" y="4066539"/>
            <a:ext cx="54864" cy="88513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pfill">
            <a:extLst>
              <a:ext uri="{C183D7F6-B498-43B3-948B-1728B52AA6E4}">
                <adec:decorative xmlns:adec="http://schemas.microsoft.com/office/drawing/2017/decorative" val="1"/>
              </a:ext>
            </a:extLst>
          </p:cNvPr>
          <p:cNvSpPr/>
          <p:nvPr/>
        </p:nvSpPr>
        <p:spPr>
          <a:xfrm>
            <a:off x="0" y="0"/>
            <a:ext cx="4389010"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wipe(right)">
                                      <p:cBhvr>
                                        <p:cTn id="8" dur="420"/>
                                        <p:tgtEl>
                                          <p:spTgt spid="9"/>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wipe(right)">
                                      <p:cBhvr>
                                        <p:cTn id="13" dur="420"/>
                                        <p:tgtEl>
                                          <p:spTgt spid="10"/>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wipe(right)">
                                      <p:cBhvr>
                                        <p:cTn id="18" dur="420"/>
                                        <p:tgtEl>
                                          <p:spTgt spid="12"/>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420"/>
                                        <p:tgtEl>
                                          <p:spTgt spid="11"/>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4"/>
                                        </p:tgtEl>
                                        <p:attrNameLst>
                                          <p:attrName>style.visibility</p:attrName>
                                        </p:attrNameLst>
                                      </p:cBhvr>
                                      <p:to>
                                        <p:strVal val="visible"/>
                                      </p:to>
                                    </p:set>
                                    <p:animEffect transition="in" filter="wipe(right)">
                                      <p:cBhvr>
                                        <p:cTn id="26" dur="420"/>
                                        <p:tgtEl>
                                          <p:spTgt spid="14"/>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42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right)">
                                      <p:cBhvr>
                                        <p:cTn id="34" dur="420"/>
                                        <p:tgtEl>
                                          <p:spTgt spid="16"/>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5"/>
                                        </p:tgtEl>
                                        <p:attrNameLst>
                                          <p:attrName>style.visibility</p:attrName>
                                        </p:attrNameLst>
                                      </p:cBhvr>
                                      <p:to>
                                        <p:strVal val="visible"/>
                                      </p:to>
                                    </p:set>
                                    <p:animEffect transition="in" filter="fade">
                                      <p:cBhvr>
                                        <p:cTn id="37" dur="42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Common pitfalls</a:t>
            </a:r>
          </a:p>
        </p:txBody>
      </p:sp>
      <p:pic>
        <p:nvPicPr>
          <p:cNvPr id="3" name="!!kicker-icon" descr="exclamation-circ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2672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COMMON PITFALLS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7  ·  Constraint Satisfaction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§7.7  ·  Handout p. 72     </a:t>
            </a:r>
            <a:fld id="{C4A93A29-1869-4B6A-89A3-9E5A7D079B83}" type="slidenum">
              <a:rPr lang="en-GB" sz="1000">
                <a:solidFill>
                  <a:srgbClr val="8795A1"/>
                </a:solidFill>
                <a:latin typeface="Segoe UI"/>
              </a:rPr>
              <a:t>19</a:t>
            </a:fld>
          </a:p>
        </p:txBody>
      </p:sp>
      <p:sp>
        <p:nvSpPr>
          <p:cNvPr id="7" name="!!pb0">
            <a:extLst>
              <a:ext uri="{C183D7F6-B498-43B3-948B-1728B52AA6E4}">
                <adec:decorative xmlns:adec="http://schemas.microsoft.com/office/drawing/2017/decorative" val="1"/>
              </a:ext>
            </a:extLst>
          </p:cNvPr>
          <p:cNvSpPr/>
          <p:nvPr/>
        </p:nvSpPr>
        <p:spPr>
          <a:xfrm>
            <a:off x="658368" y="175564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px0"/>
          <p:cNvSpPr txBox="1"/>
          <p:nvPr/>
        </p:nvSpPr>
        <p:spPr>
          <a:xfrm>
            <a:off x="658368" y="177850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9" name="!!pt0"/>
          <p:cNvSpPr txBox="1"/>
          <p:nvPr/>
        </p:nvSpPr>
        <p:spPr>
          <a:xfrm>
            <a:off x="1261872" y="1737360"/>
            <a:ext cx="10271455"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Expecting MRV to help on its own.</a:t>
            </a:r>
            <a:r>
              <a:rPr sz="1700" b="0" i="0">
                <a:solidFill>
                  <a:srgbClr val="1C252B"/>
                </a:solidFill>
                <a:latin typeface="Segoe UI"/>
              </a:rPr>
              <a:t> Without propagation the domains never shrink, so MRV has nothing to order by. Measured here: exactly zero improvement.</a:t>
            </a:r>
          </a:p>
        </p:txBody>
      </p:sp>
      <p:sp>
        <p:nvSpPr>
          <p:cNvPr id="10" name="!!pb1">
            <a:extLst>
              <a:ext uri="{C183D7F6-B498-43B3-948B-1728B52AA6E4}">
                <adec:decorative xmlns:adec="http://schemas.microsoft.com/office/drawing/2017/decorative" val="1"/>
              </a:ext>
            </a:extLst>
          </p:cNvPr>
          <p:cNvSpPr/>
          <p:nvPr/>
        </p:nvSpPr>
        <p:spPr>
          <a:xfrm>
            <a:off x="658368" y="2495702"/>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x1"/>
          <p:cNvSpPr txBox="1"/>
          <p:nvPr/>
        </p:nvSpPr>
        <p:spPr>
          <a:xfrm>
            <a:off x="658368" y="2518562"/>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2" name="!!pt1"/>
          <p:cNvSpPr txBox="1"/>
          <p:nvPr/>
        </p:nvSpPr>
        <p:spPr>
          <a:xfrm>
            <a:off x="1261872" y="2477414"/>
            <a:ext cx="10271455" cy="365760"/>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Assuming a heuristic cannot hurt.</a:t>
            </a:r>
            <a:r>
              <a:rPr sz="1700" b="0" i="0">
                <a:solidFill>
                  <a:srgbClr val="1C252B"/>
                </a:solidFill>
                <a:latin typeface="Segoe UI"/>
              </a:rPr>
              <a:t> The degree tie-breaker tripled the node count on this instance.</a:t>
            </a:r>
          </a:p>
        </p:txBody>
      </p:sp>
      <p:sp>
        <p:nvSpPr>
          <p:cNvPr id="13" name="!!pb2">
            <a:extLst>
              <a:ext uri="{C183D7F6-B498-43B3-948B-1728B52AA6E4}">
                <adec:decorative xmlns:adec="http://schemas.microsoft.com/office/drawing/2017/decorative" val="1"/>
              </a:ext>
            </a:extLst>
          </p:cNvPr>
          <p:cNvSpPr/>
          <p:nvPr/>
        </p:nvSpPr>
        <p:spPr>
          <a:xfrm>
            <a:off x="658368" y="3062630"/>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x2"/>
          <p:cNvSpPr txBox="1"/>
          <p:nvPr/>
        </p:nvSpPr>
        <p:spPr>
          <a:xfrm>
            <a:off x="658368" y="3085490"/>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5" name="!!pt2"/>
          <p:cNvSpPr txBox="1"/>
          <p:nvPr/>
        </p:nvSpPr>
        <p:spPr>
          <a:xfrm>
            <a:off x="1261872" y="3044342"/>
            <a:ext cx="10271455"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Expecting AC-3 to enforce an </a:t>
            </a:r>
            <a:r>
              <a:rPr sz="1700" b="1" i="1">
                <a:solidFill>
                  <a:srgbClr val="1C252B"/>
                </a:solidFill>
                <a:latin typeface="Cambria"/>
              </a:rPr>
              <a:t>n</a:t>
            </a:r>
            <a:r>
              <a:rPr sz="1700" b="1" i="0">
                <a:solidFill>
                  <a:srgbClr val="1C252B"/>
                </a:solidFill>
                <a:latin typeface="Segoe UI"/>
              </a:rPr>
              <a:t>-ary constraint.</a:t>
            </a:r>
            <a:r>
              <a:rPr sz="1700" b="0" i="0">
                <a:solidFill>
                  <a:srgbClr val="1C252B"/>
                </a:solidFill>
                <a:latin typeface="Segoe UI"/>
              </a:rPr>
              <a:t> It works on arcs. Capacity is invisible to it, and capacity is what binds here.</a:t>
            </a:r>
          </a:p>
        </p:txBody>
      </p:sp>
      <p:sp>
        <p:nvSpPr>
          <p:cNvPr id="16" name="!!pb3">
            <a:extLst>
              <a:ext uri="{C183D7F6-B498-43B3-948B-1728B52AA6E4}">
                <adec:decorative xmlns:adec="http://schemas.microsoft.com/office/drawing/2017/decorative" val="1"/>
              </a:ext>
            </a:extLst>
          </p:cNvPr>
          <p:cNvSpPr/>
          <p:nvPr/>
        </p:nvSpPr>
        <p:spPr>
          <a:xfrm>
            <a:off x="658368" y="3802684"/>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x3"/>
          <p:cNvSpPr txBox="1"/>
          <p:nvPr/>
        </p:nvSpPr>
        <p:spPr>
          <a:xfrm>
            <a:off x="658368" y="3825544"/>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8" name="!!pt3"/>
          <p:cNvSpPr txBox="1"/>
          <p:nvPr/>
        </p:nvSpPr>
        <p:spPr>
          <a:xfrm>
            <a:off x="1261872" y="3784396"/>
            <a:ext cx="10271455" cy="808329"/>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Re-running AC-3 from scratch at every node.</a:t>
            </a:r>
            <a:r>
              <a:rPr sz="1700" b="0" i="0">
                <a:solidFill>
                  <a:srgbClr val="1C252B"/>
                </a:solidFill>
                <a:latin typeface="Segoe UI"/>
              </a:rPr>
              <a:t> Propagate incrementally from the variable just assigned; a full re-run usually costs more than it saves, as the last row of Table 7.1 shows even for a single preprocessing pass.</a:t>
            </a:r>
          </a:p>
        </p:txBody>
      </p:sp>
      <p:sp>
        <p:nvSpPr>
          <p:cNvPr id="19" name="!!pb4">
            <a:extLst>
              <a:ext uri="{C183D7F6-B498-43B3-948B-1728B52AA6E4}">
                <adec:decorative xmlns:adec="http://schemas.microsoft.com/office/drawing/2017/decorative" val="1"/>
              </a:ext>
            </a:extLst>
          </p:cNvPr>
          <p:cNvSpPr/>
          <p:nvPr/>
        </p:nvSpPr>
        <p:spPr>
          <a:xfrm>
            <a:off x="658368" y="4812182"/>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x4"/>
          <p:cNvSpPr txBox="1"/>
          <p:nvPr/>
        </p:nvSpPr>
        <p:spPr>
          <a:xfrm>
            <a:off x="658368" y="4835042"/>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1" name="!!pt4"/>
          <p:cNvSpPr txBox="1"/>
          <p:nvPr/>
        </p:nvSpPr>
        <p:spPr>
          <a:xfrm>
            <a:off x="1261872" y="4793894"/>
            <a:ext cx="10271455" cy="365760"/>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Reporting “no solution” and stopping.</a:t>
            </a:r>
            <a:r>
              <a:rPr sz="1700" b="0" i="0">
                <a:solidFill>
                  <a:srgbClr val="1C252B"/>
                </a:solidFill>
                <a:latin typeface="Segoe UI"/>
              </a:rPr>
              <a:t> True and useless. Report which constraint is binding.</a:t>
            </a:r>
          </a:p>
        </p:txBody>
      </p:sp>
      <p:sp>
        <p:nvSpPr>
          <p:cNvPr id="22" name="!!pb5">
            <a:extLst>
              <a:ext uri="{C183D7F6-B498-43B3-948B-1728B52AA6E4}">
                <adec:decorative xmlns:adec="http://schemas.microsoft.com/office/drawing/2017/decorative" val="1"/>
              </a:ext>
            </a:extLst>
          </p:cNvPr>
          <p:cNvSpPr/>
          <p:nvPr/>
        </p:nvSpPr>
        <p:spPr>
          <a:xfrm>
            <a:off x="658368" y="5379110"/>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px5"/>
          <p:cNvSpPr txBox="1"/>
          <p:nvPr/>
        </p:nvSpPr>
        <p:spPr>
          <a:xfrm>
            <a:off x="658368" y="5401970"/>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4" name="!!pt5"/>
          <p:cNvSpPr txBox="1"/>
          <p:nvPr/>
        </p:nvSpPr>
        <p:spPr>
          <a:xfrm>
            <a:off x="1261872" y="5360822"/>
            <a:ext cx="10271455"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Counting nodes and calling it performance.</a:t>
            </a:r>
            <a:r>
              <a:rPr sz="1700" b="0" i="0">
                <a:solidFill>
                  <a:srgbClr val="1C252B"/>
                </a:solidFill>
                <a:latin typeface="Segoe UI"/>
              </a:rPr>
              <a:t> A node with propagation costs more than a node without. Count consistency checks, or time, or both — the same mistake as Chapter 6’s evaluation budget.</a:t>
            </a:r>
          </a:p>
        </p:txBody>
      </p:sp>
      <p:sp>
        <p:nvSpPr>
          <p:cNvPr id="7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1" name="!!pfill">
            <a:extLst>
              <a:ext uri="{C183D7F6-B498-43B3-948B-1728B52AA6E4}">
                <adec:decorative xmlns:adec="http://schemas.microsoft.com/office/drawing/2017/decorative" val="1"/>
              </a:ext>
            </a:extLst>
          </p:cNvPr>
          <p:cNvSpPr/>
          <p:nvPr/>
        </p:nvSpPr>
        <p:spPr>
          <a:xfrm>
            <a:off x="0" y="0"/>
            <a:ext cx="4632844"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par>
                    <p:cTn id="59" fill="hold">
                      <p:stCondLst>
                        <p:cond delay="indefinite"/>
                      </p:stCondLst>
                      <p:childTnLst>
                        <p:par>
                          <p:cTn id="60" fill="hold">
                            <p:stCondLst>
                              <p:cond delay="0"/>
                            </p:stCondLst>
                            <p:childTnLst>
                              <p:par>
                                <p:cTn id="61" presetID="23" presetClass="entr" presetSubtype="16" fill="hold" grpId="0" nodeType="click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zoom(in)">
                                      <p:cBhvr>
                                        <p:cTn id="63" dur="26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260"/>
                                        <p:tgtEl>
                                          <p:spTgt spid="23"/>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wipe(right)">
                                      <p:cBhvr>
                                        <p:cTn id="69"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Try it yourself: Sprint Scheduling as a CSP</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7  ·  Constraint Satisfaction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§7.7  ·  Handout p. 72     </a:t>
            </a:r>
            <a:fld id="{B30FE745-5BA1-4A6D-86D2-41BE1C7948F1}" type="slidenum">
              <a:rPr lang="en-GB" sz="1000">
                <a:solidFill>
                  <a:srgbClr val="8795A1"/>
                </a:solidFill>
                <a:latin typeface="Segoe UI"/>
              </a:rPr>
              <a:t>20</a:t>
            </a:fld>
          </a:p>
        </p:txBody>
      </p:sp>
      <p:sp>
        <p:nvSpPr>
          <p:cNvPr id="7" name="body-0"/>
          <p:cNvSpPr txBox="1"/>
          <p:nvPr/>
        </p:nvSpPr>
        <p:spPr>
          <a:xfrm>
            <a:off x="658368" y="1737360"/>
            <a:ext cx="10874959" cy="679704"/>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The instance of Figure 7.1, solved five ways, counting every constraint check. Reproduces Table 7.1.</a:t>
            </a:r>
          </a:p>
        </p:txBody>
      </p:sp>
      <p:sp>
        <p:nvSpPr>
          <p:cNvPr id="8" name="!!lfTHIS">
            <a:extLst>
              <a:ext uri="{C183D7F6-B498-43B3-948B-1728B52AA6E4}">
                <adec:decorative xmlns:adec="http://schemas.microsoft.com/office/drawing/2017/decorative" val="1"/>
              </a:ext>
            </a:extLst>
          </p:cNvPr>
          <p:cNvSpPr/>
          <p:nvPr/>
        </p:nvSpPr>
        <p:spPr>
          <a:xfrm>
            <a:off x="658368" y="268224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fbTHIS">
            <a:extLst>
              <a:ext uri="{C183D7F6-B498-43B3-948B-1728B52AA6E4}">
                <adec:decorative xmlns:adec="http://schemas.microsoft.com/office/drawing/2017/decorative" val="1"/>
              </a:ext>
            </a:extLst>
          </p:cNvPr>
          <p:cNvSpPr/>
          <p:nvPr/>
        </p:nvSpPr>
        <p:spPr>
          <a:xfrm>
            <a:off x="658368" y="268224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lflTHIS"/>
          <p:cNvSpPr txBox="1"/>
          <p:nvPr/>
        </p:nvSpPr>
        <p:spPr>
          <a:xfrm>
            <a:off x="932688" y="284683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THIS WEEK'S LAB</a:t>
            </a:r>
          </a:p>
        </p:txBody>
      </p:sp>
      <p:sp>
        <p:nvSpPr>
          <p:cNvPr id="11" name="!!lfvTHIS"/>
          <p:cNvSpPr txBox="1"/>
          <p:nvPr/>
        </p:nvSpPr>
        <p:spPr>
          <a:xfrm>
            <a:off x="932688" y="313944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Week 6: Sprint scheduling as a CSP</a:t>
            </a:r>
          </a:p>
        </p:txBody>
      </p:sp>
      <p:sp>
        <p:nvSpPr>
          <p:cNvPr id="12" name="!!lfWHAT">
            <a:extLst>
              <a:ext uri="{C183D7F6-B498-43B3-948B-1728B52AA6E4}">
                <adec:decorative xmlns:adec="http://schemas.microsoft.com/office/drawing/2017/decorative" val="1"/>
              </a:ext>
            </a:extLst>
          </p:cNvPr>
          <p:cNvSpPr/>
          <p:nvPr/>
        </p:nvSpPr>
        <p:spPr>
          <a:xfrm>
            <a:off x="4374794" y="268224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lfbWHAT">
            <a:extLst>
              <a:ext uri="{C183D7F6-B498-43B3-948B-1728B52AA6E4}">
                <adec:decorative xmlns:adec="http://schemas.microsoft.com/office/drawing/2017/decorative" val="1"/>
              </a:ext>
            </a:extLst>
          </p:cNvPr>
          <p:cNvSpPr/>
          <p:nvPr/>
        </p:nvSpPr>
        <p:spPr>
          <a:xfrm>
            <a:off x="4374794" y="268224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flWHAT"/>
          <p:cNvSpPr txBox="1"/>
          <p:nvPr/>
        </p:nvSpPr>
        <p:spPr>
          <a:xfrm>
            <a:off x="4649114" y="284683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WHAT YOU WILL RUN</a:t>
            </a:r>
          </a:p>
        </p:txBody>
      </p:sp>
      <p:sp>
        <p:nvSpPr>
          <p:cNvPr id="15" name="!!lfvWHAT"/>
          <p:cNvSpPr txBox="1"/>
          <p:nvPr/>
        </p:nvSpPr>
        <p:spPr>
          <a:xfrm>
            <a:off x="4649114" y="313944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1 listing, 239 lines of Python</a:t>
            </a:r>
          </a:p>
        </p:txBody>
      </p:sp>
      <p:sp>
        <p:nvSpPr>
          <p:cNvPr id="16" name="!!lfRUNN">
            <a:extLst>
              <a:ext uri="{C183D7F6-B498-43B3-948B-1728B52AA6E4}">
                <adec:decorative xmlns:adec="http://schemas.microsoft.com/office/drawing/2017/decorative" val="1"/>
              </a:ext>
            </a:extLst>
          </p:cNvPr>
          <p:cNvSpPr/>
          <p:nvPr/>
        </p:nvSpPr>
        <p:spPr>
          <a:xfrm>
            <a:off x="8091220" y="268224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lfbRUNN">
            <a:extLst>
              <a:ext uri="{C183D7F6-B498-43B3-948B-1728B52AA6E4}">
                <adec:decorative xmlns:adec="http://schemas.microsoft.com/office/drawing/2017/decorative" val="1"/>
              </a:ext>
            </a:extLst>
          </p:cNvPr>
          <p:cNvSpPr/>
          <p:nvPr/>
        </p:nvSpPr>
        <p:spPr>
          <a:xfrm>
            <a:off x="8091220" y="268224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lflRUNN"/>
          <p:cNvSpPr txBox="1"/>
          <p:nvPr/>
        </p:nvSpPr>
        <p:spPr>
          <a:xfrm>
            <a:off x="8365540" y="284683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RUNNABLE COPY</a:t>
            </a:r>
          </a:p>
        </p:txBody>
      </p:sp>
      <p:sp>
        <p:nvSpPr>
          <p:cNvPr id="19" name="!!lfvRUNN"/>
          <p:cNvSpPr txBox="1"/>
          <p:nvPr/>
        </p:nvSpPr>
        <p:spPr>
          <a:xfrm>
            <a:off x="8365540" y="313944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Consolas"/>
              </a:rPr>
              <a:t>code/ch07_sprint_scheduling_as.py</a:t>
            </a:r>
          </a:p>
        </p:txBody>
      </p:sp>
      <p:sp>
        <p:nvSpPr>
          <p:cNvPr id="2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pfill">
            <a:extLst>
              <a:ext uri="{C183D7F6-B498-43B3-948B-1728B52AA6E4}">
                <adec:decorative xmlns:adec="http://schemas.microsoft.com/office/drawing/2017/decorative" val="1"/>
              </a:ext>
            </a:extLst>
          </p:cNvPr>
          <p:cNvSpPr/>
          <p:nvPr/>
        </p:nvSpPr>
        <p:spPr>
          <a:xfrm>
            <a:off x="0" y="0"/>
            <a:ext cx="4876678"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Sprint Scheduling as a CSP</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7  ·  Constraint Satisfaction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§7.7  ·  Handout p. 72     </a:t>
            </a:r>
            <a:fld id="{70200CAD-41CC-4AB5-A743-535ED6015203}" type="slidenum">
              <a:rPr lang="en-GB" sz="1000">
                <a:solidFill>
                  <a:srgbClr val="8795A1"/>
                </a:solidFill>
                <a:latin typeface="Segoe UI"/>
              </a:rPr>
              <a:t>21</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4565904"/>
          </a:xfrm>
          <a:prstGeom prst="roundRect">
            <a:avLst>
              <a:gd name="adj" fmla="val 200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code/ch07_sprint_scheduling_as.py</a:t>
            </a:r>
          </a:p>
        </p:txBody>
      </p:sp>
      <p:sp>
        <p:nvSpPr>
          <p:cNvPr id="13" name="!!code-text" descr="&quot;&quot;&quot;Chapter 7 lab -- sprint scheduling as a constraint problem. Twelve stories into four sprints under precedence, same-developer and capacity constraints. The headline result is the second row: adding MRV to plain backtracking changes nothing at all, because nothing has shrunk the domains for it to compare. &quot;&quot;&quot; import itertools # story -&gt; (points, owner) STORIES = { &quot;S1&quot;: (3, &quot;Ayesha&quot;), &quot;S2&quot;: (5, &quot;Bilal&quot;), &quot;S3&quot;: (2, &quot;Ayesha&quot;), &quot;S4&quot;: (8, &quot;Chen&quot;), &quot;S5&quot;: (3, &quot;Bilal&quot;), &quot;S6&quot;: (2, &quot;Chen&quot;), &quot;S7&quot;: (5, &quot;Ayesha&quot;), &quot;S8&quot;: (3, &quot;Bilal&quot;), &quot;S9&quot;: (5, &quot;Dina&quot;), &quot;S10&quot;: (3, &quot;Dina&quot;), &quot;S11&quot;: (2, &quot;Chen&quot;), &quot;S12&quot;: (4, &quot;Ayesha&quot;), } NAMES = list(STORIES) SLOTS = (1, 2, 3, 4) CAP = 12"/>
          <p:cNvSpPr txBox="1"/>
          <p:nvPr/>
        </p:nvSpPr>
        <p:spPr>
          <a:xfrm>
            <a:off x="1362456" y="2066543"/>
            <a:ext cx="9987991" cy="4072128"/>
          </a:xfrm>
          <a:prstGeom prst="rect">
            <a:avLst/>
          </a:prstGeom>
          <a:noFill/>
        </p:spPr>
        <p:txBody>
          <a:bodyPr wrap="none" anchor="t" lIns="0" rIns="0" tIns="0" bIns="0">
            <a:noAutofit/>
          </a:bodyPr>
          <a:lstStyle/>
          <a:p>
            <a:pPr>
              <a:lnSpc>
                <a:spcPct val="100000"/>
              </a:lnSpc>
              <a:spcAft>
                <a:spcPts val="0"/>
              </a:spcAft>
            </a:pPr>
            <a:r>
              <a:rPr sz="1300" i="0">
                <a:solidFill>
                  <a:srgbClr val="7DCEA0"/>
                </a:solidFill>
                <a:latin typeface="Consolas"/>
              </a:rPr>
              <a:t>"""Chapter 7 lab -- sprint scheduling as a constraint problem.</a:t>
            </a:r>
          </a:p>
          <a:p>
            <a:pPr>
              <a:lnSpc>
                <a:spcPct val="100000"/>
              </a:lnSpc>
              <a:spcAft>
                <a:spcPts val="0"/>
              </a:spcAft>
            </a:pPr>
            <a:r>
              <a:rPr sz="1300">
                <a:latin typeface="Consolas"/>
              </a:rPr>
              <a:t> </a:t>
            </a:r>
          </a:p>
          <a:p>
            <a:pPr>
              <a:lnSpc>
                <a:spcPct val="100000"/>
              </a:lnSpc>
              <a:spcAft>
                <a:spcPts val="0"/>
              </a:spcAft>
            </a:pPr>
            <a:r>
              <a:rPr sz="1300" i="0">
                <a:solidFill>
                  <a:srgbClr val="7DCEA0"/>
                </a:solidFill>
                <a:latin typeface="Consolas"/>
              </a:rPr>
              <a:t>Twelve stories into four sprints under precedence, same-developer and</a:t>
            </a:r>
          </a:p>
          <a:p>
            <a:pPr>
              <a:lnSpc>
                <a:spcPct val="100000"/>
              </a:lnSpc>
              <a:spcAft>
                <a:spcPts val="0"/>
              </a:spcAft>
            </a:pPr>
            <a:r>
              <a:rPr sz="1300" i="0">
                <a:solidFill>
                  <a:srgbClr val="7DCEA0"/>
                </a:solidFill>
                <a:latin typeface="Consolas"/>
              </a:rPr>
              <a:t>capacity constraints. The headline result is the second row: adding</a:t>
            </a:r>
          </a:p>
          <a:p>
            <a:pPr>
              <a:lnSpc>
                <a:spcPct val="100000"/>
              </a:lnSpc>
              <a:spcAft>
                <a:spcPts val="0"/>
              </a:spcAft>
            </a:pPr>
            <a:r>
              <a:rPr sz="1300" i="0">
                <a:solidFill>
                  <a:srgbClr val="7DCEA0"/>
                </a:solidFill>
                <a:latin typeface="Consolas"/>
              </a:rPr>
              <a:t>MRV to plain backtracking changes nothing at all, because nothing has</a:t>
            </a:r>
          </a:p>
          <a:p>
            <a:pPr>
              <a:lnSpc>
                <a:spcPct val="100000"/>
              </a:lnSpc>
              <a:spcAft>
                <a:spcPts val="0"/>
              </a:spcAft>
            </a:pPr>
            <a:r>
              <a:rPr sz="1300" i="0">
                <a:solidFill>
                  <a:srgbClr val="7DCEA0"/>
                </a:solidFill>
                <a:latin typeface="Consolas"/>
              </a:rPr>
              <a:t>shrunk the domains for it to compare.</a:t>
            </a:r>
          </a:p>
          <a:p>
            <a:pPr>
              <a:lnSpc>
                <a:spcPct val="100000"/>
              </a:lnSpc>
              <a:spcAft>
                <a:spcPts val="0"/>
              </a:spcAft>
            </a:pPr>
            <a:r>
              <a:rPr sz="1300" i="0">
                <a:solidFill>
                  <a:srgbClr val="7DCEA0"/>
                </a:solidFill>
                <a:latin typeface="Consolas"/>
              </a:rPr>
              <a:t>"""</a:t>
            </a:r>
          </a:p>
          <a:p>
            <a:pPr>
              <a:lnSpc>
                <a:spcPct val="100000"/>
              </a:lnSpc>
              <a:spcAft>
                <a:spcPts val="0"/>
              </a:spcAft>
            </a:pPr>
            <a:r>
              <a:rPr sz="1300">
                <a:latin typeface="Consolas"/>
              </a:rPr>
              <a:t> </a:t>
            </a:r>
          </a:p>
          <a:p>
            <a:pPr>
              <a:lnSpc>
                <a:spcPct val="100000"/>
              </a:lnSpc>
              <a:spcAft>
                <a:spcPts val="0"/>
              </a:spcAft>
            </a:pPr>
            <a:r>
              <a:rPr sz="1300" i="0">
                <a:solidFill>
                  <a:srgbClr val="5DADE2"/>
                </a:solidFill>
                <a:latin typeface="Consolas"/>
              </a:rPr>
              <a:t>import</a:t>
            </a:r>
            <a:r>
              <a:rPr sz="1300" i="0">
                <a:solidFill>
                  <a:srgbClr val="E8EDF2"/>
                </a:solidFill>
                <a:latin typeface="Consolas"/>
              </a:rPr>
              <a:t> </a:t>
            </a:r>
            <a:r>
              <a:rPr sz="1300" i="0">
                <a:solidFill>
                  <a:srgbClr val="76D7C4"/>
                </a:solidFill>
                <a:latin typeface="Consolas"/>
              </a:rPr>
              <a:t>itertools</a:t>
            </a:r>
          </a:p>
          <a:p>
            <a:pPr>
              <a:lnSpc>
                <a:spcPct val="100000"/>
              </a:lnSpc>
              <a:spcAft>
                <a:spcPts val="0"/>
              </a:spcAft>
            </a:pPr>
            <a:r>
              <a:rPr sz="1300">
                <a:latin typeface="Consolas"/>
              </a:rPr>
              <a:t> </a:t>
            </a:r>
          </a:p>
          <a:p>
            <a:pPr>
              <a:lnSpc>
                <a:spcPct val="100000"/>
              </a:lnSpc>
              <a:spcAft>
                <a:spcPts val="0"/>
              </a:spcAft>
            </a:pPr>
            <a:r>
              <a:rPr sz="1300" i="1">
                <a:solidFill>
                  <a:srgbClr val="8795A1"/>
                </a:solidFill>
                <a:latin typeface="Consolas"/>
              </a:rPr>
              <a:t># story -&gt; (points, owner)</a:t>
            </a:r>
          </a:p>
          <a:p>
            <a:pPr>
              <a:lnSpc>
                <a:spcPct val="100000"/>
              </a:lnSpc>
              <a:spcAft>
                <a:spcPts val="0"/>
              </a:spcAft>
            </a:pPr>
            <a:r>
              <a:rPr sz="1300" i="0">
                <a:solidFill>
                  <a:srgbClr val="E8EDF2"/>
                </a:solidFill>
                <a:latin typeface="Consolas"/>
              </a:rPr>
              <a:t>STORIES</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S1</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F7DC6F"/>
                </a:solidFill>
                <a:latin typeface="Consolas"/>
              </a:rPr>
              <a:t>3</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Ayesha</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S2</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F7DC6F"/>
                </a:solidFill>
                <a:latin typeface="Consolas"/>
              </a:rPr>
              <a:t>5</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Bilal</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S3</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F7DC6F"/>
                </a:solidFill>
                <a:latin typeface="Consolas"/>
              </a:rPr>
              <a:t>2</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Ayesha</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S4</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F7DC6F"/>
                </a:solidFill>
                <a:latin typeface="Consolas"/>
              </a:rPr>
              <a:t>8</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Chen</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S5</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F7DC6F"/>
                </a:solidFill>
                <a:latin typeface="Consolas"/>
              </a:rPr>
              <a:t>3</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Bilal</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S6</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F7DC6F"/>
                </a:solidFill>
                <a:latin typeface="Consolas"/>
              </a:rPr>
              <a:t>2</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Chen</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S7</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F7DC6F"/>
                </a:solidFill>
                <a:latin typeface="Consolas"/>
              </a:rPr>
              <a:t>5</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Ayesha</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S8</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F7DC6F"/>
                </a:solidFill>
                <a:latin typeface="Consolas"/>
              </a:rPr>
              <a:t>3</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Bilal</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S9</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F7DC6F"/>
                </a:solidFill>
                <a:latin typeface="Consolas"/>
              </a:rPr>
              <a:t>5</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Dina</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S10</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F7DC6F"/>
                </a:solidFill>
                <a:latin typeface="Consolas"/>
              </a:rPr>
              <a:t>3</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Dina</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S11</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F7DC6F"/>
                </a:solidFill>
                <a:latin typeface="Consolas"/>
              </a:rPr>
              <a:t>2</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Chen</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S12</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F7DC6F"/>
                </a:solidFill>
                <a:latin typeface="Consolas"/>
              </a:rPr>
              <a:t>4</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Ayesha</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AEB6BF"/>
                </a:solidFill>
                <a:latin typeface="Consolas"/>
              </a:rPr>
              <a:t>}</a:t>
            </a:r>
          </a:p>
          <a:p>
            <a:pPr>
              <a:lnSpc>
                <a:spcPct val="100000"/>
              </a:lnSpc>
              <a:spcAft>
                <a:spcPts val="0"/>
              </a:spcAft>
            </a:pPr>
            <a:r>
              <a:rPr sz="1300" i="0">
                <a:solidFill>
                  <a:srgbClr val="E8EDF2"/>
                </a:solidFill>
                <a:latin typeface="Consolas"/>
              </a:rPr>
              <a:t>NAMES</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list</a:t>
            </a:r>
            <a:r>
              <a:rPr sz="1300" i="0">
                <a:solidFill>
                  <a:srgbClr val="AEB6BF"/>
                </a:solidFill>
                <a:latin typeface="Consolas"/>
              </a:rPr>
              <a:t>(</a:t>
            </a:r>
            <a:r>
              <a:rPr sz="1300" i="0">
                <a:solidFill>
                  <a:srgbClr val="E8EDF2"/>
                </a:solidFill>
                <a:latin typeface="Consolas"/>
              </a:rPr>
              <a:t>STORIES</a:t>
            </a:r>
            <a:r>
              <a:rPr sz="1300" i="0">
                <a:solidFill>
                  <a:srgbClr val="AEB6BF"/>
                </a:solidFill>
                <a:latin typeface="Consolas"/>
              </a:rPr>
              <a:t>)</a:t>
            </a:r>
          </a:p>
          <a:p>
            <a:pPr>
              <a:lnSpc>
                <a:spcPct val="100000"/>
              </a:lnSpc>
              <a:spcAft>
                <a:spcPts val="0"/>
              </a:spcAft>
            </a:pPr>
            <a:r>
              <a:rPr sz="1300" i="0">
                <a:solidFill>
                  <a:srgbClr val="E8EDF2"/>
                </a:solidFill>
                <a:latin typeface="Consolas"/>
              </a:rPr>
              <a:t>SLOTS</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F7DC6F"/>
                </a:solidFill>
                <a:latin typeface="Consolas"/>
              </a:rPr>
              <a:t>1</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2</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3</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4</a:t>
            </a:r>
            <a:r>
              <a:rPr sz="1300" i="0">
                <a:solidFill>
                  <a:srgbClr val="AEB6BF"/>
                </a:solidFill>
                <a:latin typeface="Consolas"/>
              </a:rPr>
              <a:t>)</a:t>
            </a:r>
          </a:p>
          <a:p>
            <a:pPr>
              <a:lnSpc>
                <a:spcPct val="100000"/>
              </a:lnSpc>
              <a:spcAft>
                <a:spcPts val="0"/>
              </a:spcAft>
            </a:pPr>
            <a:r>
              <a:rPr sz="1300" i="0">
                <a:solidFill>
                  <a:srgbClr val="E8EDF2"/>
                </a:solidFill>
                <a:latin typeface="Consolas"/>
              </a:rPr>
              <a:t>CAP</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12</a:t>
            </a:r>
          </a:p>
        </p:txBody>
      </p:sp>
      <p:sp>
        <p:nvSpPr>
          <p:cNvPr id="14" name="!!code-num"/>
          <p:cNvSpPr txBox="1"/>
          <p:nvPr/>
        </p:nvSpPr>
        <p:spPr>
          <a:xfrm>
            <a:off x="768096" y="2066543"/>
            <a:ext cx="393192" cy="4072128"/>
          </a:xfrm>
          <a:prstGeom prst="rect">
            <a:avLst/>
          </a:prstGeom>
          <a:noFill/>
        </p:spPr>
        <p:txBody>
          <a:bodyPr wrap="none" anchor="t" lIns="0" rIns="0" tIns="0" bIns="0">
            <a:noAutofit/>
          </a:bodyPr>
          <a:lstStyle/>
          <a:p>
            <a:pPr algn="r">
              <a:lnSpc>
                <a:spcPct val="100000"/>
              </a:lnSpc>
            </a:pPr>
            <a:r>
              <a:rPr sz="1300">
                <a:solidFill>
                  <a:srgbClr val="4F5D6A"/>
                </a:solidFill>
                <a:latin typeface="Consolas"/>
              </a:rPr>
              <a:t>2</a:t>
            </a:r>
          </a:p>
          <a:p>
            <a:pPr algn="r">
              <a:lnSpc>
                <a:spcPct val="100000"/>
              </a:lnSpc>
            </a:pPr>
            <a:r>
              <a:rPr sz="1300">
                <a:solidFill>
                  <a:srgbClr val="4F5D6A"/>
                </a:solidFill>
                <a:latin typeface="Consolas"/>
              </a:rPr>
              <a:t>3</a:t>
            </a:r>
          </a:p>
          <a:p>
            <a:pPr algn="r">
              <a:lnSpc>
                <a:spcPct val="100000"/>
              </a:lnSpc>
            </a:pPr>
            <a:r>
              <a:rPr sz="1300">
                <a:solidFill>
                  <a:srgbClr val="4F5D6A"/>
                </a:solidFill>
                <a:latin typeface="Consolas"/>
              </a:rPr>
              <a:t>4</a:t>
            </a:r>
          </a:p>
          <a:p>
            <a:pPr algn="r">
              <a:lnSpc>
                <a:spcPct val="100000"/>
              </a:lnSpc>
            </a:pPr>
            <a:r>
              <a:rPr sz="1300">
                <a:solidFill>
                  <a:srgbClr val="4F5D6A"/>
                </a:solidFill>
                <a:latin typeface="Consolas"/>
              </a:rPr>
              <a:t>5</a:t>
            </a:r>
          </a:p>
          <a:p>
            <a:pPr algn="r">
              <a:lnSpc>
                <a:spcPct val="100000"/>
              </a:lnSpc>
            </a:pPr>
            <a:r>
              <a:rPr sz="1300">
                <a:solidFill>
                  <a:srgbClr val="4F5D6A"/>
                </a:solidFill>
                <a:latin typeface="Consolas"/>
              </a:rPr>
              <a:t>6</a:t>
            </a:r>
          </a:p>
          <a:p>
            <a:pPr algn="r">
              <a:lnSpc>
                <a:spcPct val="100000"/>
              </a:lnSpc>
            </a:pPr>
            <a:r>
              <a:rPr sz="1300">
                <a:solidFill>
                  <a:srgbClr val="4F5D6A"/>
                </a:solidFill>
                <a:latin typeface="Consolas"/>
              </a:rPr>
              <a:t>7</a:t>
            </a:r>
          </a:p>
          <a:p>
            <a:pPr algn="r">
              <a:lnSpc>
                <a:spcPct val="100000"/>
              </a:lnSpc>
            </a:pPr>
            <a:r>
              <a:rPr sz="1300">
                <a:solidFill>
                  <a:srgbClr val="4F5D6A"/>
                </a:solidFill>
                <a:latin typeface="Consolas"/>
              </a:rPr>
              <a:t>8</a:t>
            </a:r>
          </a:p>
          <a:p>
            <a:pPr algn="r">
              <a:lnSpc>
                <a:spcPct val="100000"/>
              </a:lnSpc>
            </a:pPr>
            <a:r>
              <a:rPr sz="1300">
                <a:solidFill>
                  <a:srgbClr val="4F5D6A"/>
                </a:solidFill>
                <a:latin typeface="Consolas"/>
              </a:rPr>
              <a:t>9</a:t>
            </a:r>
          </a:p>
          <a:p>
            <a:pPr algn="r">
              <a:lnSpc>
                <a:spcPct val="100000"/>
              </a:lnSpc>
            </a:pPr>
            <a:r>
              <a:rPr sz="1300">
                <a:solidFill>
                  <a:srgbClr val="4F5D6A"/>
                </a:solidFill>
                <a:latin typeface="Consolas"/>
              </a:rPr>
              <a:t>10</a:t>
            </a:r>
          </a:p>
          <a:p>
            <a:pPr algn="r">
              <a:lnSpc>
                <a:spcPct val="100000"/>
              </a:lnSpc>
            </a:pPr>
            <a:r>
              <a:rPr sz="1300">
                <a:solidFill>
                  <a:srgbClr val="4F5D6A"/>
                </a:solidFill>
                <a:latin typeface="Consolas"/>
              </a:rPr>
              <a:t>11</a:t>
            </a:r>
          </a:p>
          <a:p>
            <a:pPr algn="r">
              <a:lnSpc>
                <a:spcPct val="100000"/>
              </a:lnSpc>
            </a:pPr>
            <a:r>
              <a:rPr sz="1300">
                <a:solidFill>
                  <a:srgbClr val="4F5D6A"/>
                </a:solidFill>
                <a:latin typeface="Consolas"/>
              </a:rPr>
              <a:t>12</a:t>
            </a:r>
          </a:p>
          <a:p>
            <a:pPr algn="r">
              <a:lnSpc>
                <a:spcPct val="100000"/>
              </a:lnSpc>
            </a:pPr>
            <a:r>
              <a:rPr sz="1300">
                <a:solidFill>
                  <a:srgbClr val="4F5D6A"/>
                </a:solidFill>
                <a:latin typeface="Consolas"/>
              </a:rPr>
              <a:t>13</a:t>
            </a:r>
          </a:p>
          <a:p>
            <a:pPr algn="r">
              <a:lnSpc>
                <a:spcPct val="100000"/>
              </a:lnSpc>
            </a:pPr>
            <a:r>
              <a:rPr sz="1300">
                <a:solidFill>
                  <a:srgbClr val="4F5D6A"/>
                </a:solidFill>
                <a:latin typeface="Consolas"/>
              </a:rPr>
              <a:t>14</a:t>
            </a:r>
          </a:p>
          <a:p>
            <a:pPr algn="r">
              <a:lnSpc>
                <a:spcPct val="100000"/>
              </a:lnSpc>
            </a:pPr>
            <a:r>
              <a:rPr sz="1300">
                <a:solidFill>
                  <a:srgbClr val="4F5D6A"/>
                </a:solidFill>
                <a:latin typeface="Consolas"/>
              </a:rPr>
              <a:t>15</a:t>
            </a:r>
          </a:p>
          <a:p>
            <a:pPr algn="r">
              <a:lnSpc>
                <a:spcPct val="100000"/>
              </a:lnSpc>
            </a:pPr>
            <a:r>
              <a:rPr sz="1300">
                <a:solidFill>
                  <a:srgbClr val="4F5D6A"/>
                </a:solidFill>
                <a:latin typeface="Consolas"/>
              </a:rPr>
              <a:t>16</a:t>
            </a:r>
          </a:p>
          <a:p>
            <a:pPr algn="r">
              <a:lnSpc>
                <a:spcPct val="100000"/>
              </a:lnSpc>
            </a:pPr>
            <a:r>
              <a:rPr sz="1300">
                <a:solidFill>
                  <a:srgbClr val="4F5D6A"/>
                </a:solidFill>
                <a:latin typeface="Consolas"/>
              </a:rPr>
              <a:t>17</a:t>
            </a:r>
          </a:p>
          <a:p>
            <a:pPr algn="r">
              <a:lnSpc>
                <a:spcPct val="100000"/>
              </a:lnSpc>
            </a:pPr>
            <a:r>
              <a:rPr sz="1300">
                <a:solidFill>
                  <a:srgbClr val="4F5D6A"/>
                </a:solidFill>
                <a:latin typeface="Consolas"/>
              </a:rPr>
              <a:t>18</a:t>
            </a:r>
          </a:p>
          <a:p>
            <a:pPr algn="r">
              <a:lnSpc>
                <a:spcPct val="100000"/>
              </a:lnSpc>
            </a:pPr>
            <a:r>
              <a:rPr sz="1300">
                <a:solidFill>
                  <a:srgbClr val="4F5D6A"/>
                </a:solidFill>
                <a:latin typeface="Consolas"/>
              </a:rPr>
              <a:t>19</a:t>
            </a:r>
          </a:p>
          <a:p>
            <a:pPr algn="r">
              <a:lnSpc>
                <a:spcPct val="100000"/>
              </a:lnSpc>
            </a:pPr>
            <a:r>
              <a:rPr sz="1300">
                <a:solidFill>
                  <a:srgbClr val="4F5D6A"/>
                </a:solidFill>
                <a:latin typeface="Consolas"/>
              </a:rPr>
              <a:t>20</a:t>
            </a:r>
          </a:p>
          <a:p>
            <a:pPr algn="r">
              <a:lnSpc>
                <a:spcPct val="100000"/>
              </a:lnSpc>
            </a:pPr>
            <a:r>
              <a:rPr sz="1300">
                <a:solidFill>
                  <a:srgbClr val="4F5D6A"/>
                </a:solidFill>
                <a:latin typeface="Consolas"/>
              </a:rPr>
              <a:t>21</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512051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p:transition spd="med">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Sprint Scheduling as a CSP</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2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7  ·  Constraint Satisfaction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§7.7  ·  Handout p. 72     </a:t>
            </a:r>
            <a:fld id="{3328501D-763E-4C54-8DF9-29EA71EDB258}" type="slidenum">
              <a:rPr lang="en-GB" sz="1000">
                <a:solidFill>
                  <a:srgbClr val="8795A1"/>
                </a:solidFill>
                <a:latin typeface="Segoe UI"/>
              </a:rPr>
              <a:t>22</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4261104"/>
          </a:xfrm>
          <a:prstGeom prst="roundRect">
            <a:avLst>
              <a:gd name="adj" fmla="val 2145"/>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code/ch07_sprint_scheduling_as.py</a:t>
            </a:r>
          </a:p>
        </p:txBody>
      </p:sp>
      <p:sp>
        <p:nvSpPr>
          <p:cNvPr id="13" name="!!code-text" descr="# binary: a must finish in an earlier sprint than b BEFORE = [(&quot;S1&quot;, &quot;S4&quot;), (&quot;S2&quot;, &quot;S5&quot;), (&quot;S3&quot;, &quot;S7&quot;), (&quot;S6&quot;, &quot;S8&quot;), (&quot;S9&quot;, &quot;S12&quot;), (&quot;S10&quot;, &quot;S11&quot;), (&quot;S4&quot;, &quot;S12&quot;)] # binary: same developer, too much combined work for one sprint APART = [(&quot;S1&quot;, &quot;S7&quot;), (&quot;S2&quot;, &quot;S8&quot;), (&quot;S4&quot;, &quot;S6&quot;), (&quot;S9&quot;, &quot;S10&quot;), (&quot;S7&quot;, &quot;S12&quot;)] class Counter: def __init__(self): self.checks = 0 self.nodes = 0"/>
          <p:cNvSpPr txBox="1"/>
          <p:nvPr/>
        </p:nvSpPr>
        <p:spPr>
          <a:xfrm>
            <a:off x="1362456" y="2066543"/>
            <a:ext cx="9987991" cy="3767328"/>
          </a:xfrm>
          <a:prstGeom prst="rect">
            <a:avLst/>
          </a:prstGeom>
          <a:noFill/>
        </p:spPr>
        <p:txBody>
          <a:bodyPr wrap="none" anchor="t" lIns="0" rIns="0" tIns="0" bIns="0">
            <a:noAutofit/>
          </a:bodyPr>
          <a:lstStyle/>
          <a:p>
            <a:pPr>
              <a:lnSpc>
                <a:spcPct val="100000"/>
              </a:lnSpc>
              <a:spcAft>
                <a:spcPts val="0"/>
              </a:spcAft>
            </a:pPr>
            <a:r>
              <a:rPr sz="2000" i="1">
                <a:solidFill>
                  <a:srgbClr val="8795A1"/>
                </a:solidFill>
                <a:latin typeface="Consolas"/>
              </a:rPr>
              <a:t># binary: a must finish in an earlier sprint than b</a:t>
            </a:r>
          </a:p>
          <a:p>
            <a:pPr>
              <a:lnSpc>
                <a:spcPct val="100000"/>
              </a:lnSpc>
              <a:spcAft>
                <a:spcPts val="0"/>
              </a:spcAft>
            </a:pPr>
            <a:r>
              <a:rPr sz="2000" i="0">
                <a:solidFill>
                  <a:srgbClr val="E8EDF2"/>
                </a:solidFill>
                <a:latin typeface="Consolas"/>
              </a:rPr>
              <a:t>BEFORE</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S1</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S4</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S2</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S5</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S3</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S7</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S6</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S8</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S9</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S12</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S10</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S11</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S4</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S12</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1">
                <a:solidFill>
                  <a:srgbClr val="8795A1"/>
                </a:solidFill>
                <a:latin typeface="Consolas"/>
              </a:rPr>
              <a:t># binary: same developer, too much combined work for one sprint</a:t>
            </a:r>
          </a:p>
          <a:p>
            <a:pPr>
              <a:lnSpc>
                <a:spcPct val="100000"/>
              </a:lnSpc>
              <a:spcAft>
                <a:spcPts val="0"/>
              </a:spcAft>
            </a:pPr>
            <a:r>
              <a:rPr sz="2000" i="0">
                <a:solidFill>
                  <a:srgbClr val="E8EDF2"/>
                </a:solidFill>
                <a:latin typeface="Consolas"/>
              </a:rPr>
              <a:t>APART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S1</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S7</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S2</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S8</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S4</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S6</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S9</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S10</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S7</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S12</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a:latin typeface="Consolas"/>
              </a:rPr>
              <a:t> </a:t>
            </a:r>
          </a:p>
          <a:p>
            <a:pPr>
              <a:lnSpc>
                <a:spcPct val="100000"/>
              </a:lnSpc>
              <a:spcAft>
                <a:spcPts val="0"/>
              </a:spcAft>
            </a:pPr>
            <a:r>
              <a:rPr sz="2000">
                <a:latin typeface="Consolas"/>
              </a:rPr>
              <a:t> </a:t>
            </a:r>
          </a:p>
          <a:p>
            <a:pPr>
              <a:lnSpc>
                <a:spcPct val="100000"/>
              </a:lnSpc>
              <a:spcAft>
                <a:spcPts val="0"/>
              </a:spcAft>
            </a:pPr>
            <a:r>
              <a:rPr sz="2000" i="0">
                <a:solidFill>
                  <a:srgbClr val="5DADE2"/>
                </a:solidFill>
                <a:latin typeface="Consolas"/>
              </a:rPr>
              <a:t>class</a:t>
            </a:r>
            <a:r>
              <a:rPr sz="2000" i="0">
                <a:solidFill>
                  <a:srgbClr val="E8EDF2"/>
                </a:solidFill>
                <a:latin typeface="Consolas"/>
              </a:rPr>
              <a:t> </a:t>
            </a:r>
            <a:r>
              <a:rPr sz="2000" i="0">
                <a:solidFill>
                  <a:srgbClr val="76D7C4"/>
                </a:solidFill>
                <a:latin typeface="Consolas"/>
              </a:rPr>
              <a:t>Counter</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def</a:t>
            </a:r>
            <a:r>
              <a:rPr sz="2000" i="0">
                <a:solidFill>
                  <a:srgbClr val="E8EDF2"/>
                </a:solidFill>
                <a:latin typeface="Consolas"/>
              </a:rPr>
              <a:t> </a:t>
            </a:r>
            <a:r>
              <a:rPr sz="2000" i="0">
                <a:solidFill>
                  <a:srgbClr val="C39BD3"/>
                </a:solidFill>
                <a:latin typeface="Consolas"/>
              </a:rPr>
              <a:t>__init__</a:t>
            </a:r>
            <a:r>
              <a:rPr sz="2000" i="0">
                <a:solidFill>
                  <a:srgbClr val="AEB6BF"/>
                </a:solidFill>
                <a:latin typeface="Consolas"/>
              </a:rPr>
              <a:t>(</a:t>
            </a:r>
            <a:r>
              <a:rPr sz="2000" i="0">
                <a:solidFill>
                  <a:srgbClr val="C39BD3"/>
                </a:solidFill>
                <a:latin typeface="Consolas"/>
              </a:rPr>
              <a:t>self</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self</a:t>
            </a:r>
            <a:r>
              <a:rPr sz="2000" i="0">
                <a:solidFill>
                  <a:srgbClr val="AEB6BF"/>
                </a:solidFill>
                <a:latin typeface="Consolas"/>
              </a:rPr>
              <a:t>.</a:t>
            </a:r>
            <a:r>
              <a:rPr sz="2000" i="0">
                <a:solidFill>
                  <a:srgbClr val="E8EDF2"/>
                </a:solidFill>
                <a:latin typeface="Consolas"/>
              </a:rPr>
              <a:t>checks</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F7DC6F"/>
                </a:solidFill>
                <a:latin typeface="Consolas"/>
              </a:rPr>
              <a:t>0</a:t>
            </a:r>
          </a:p>
          <a:p>
            <a:pPr>
              <a:lnSpc>
                <a:spcPct val="100000"/>
              </a:lnSpc>
              <a:spcAft>
                <a:spcPts val="0"/>
              </a:spcAft>
            </a:pPr>
            <a:r>
              <a:rPr sz="2000" i="0">
                <a:solidFill>
                  <a:srgbClr val="E8EDF2"/>
                </a:solidFill>
                <a:latin typeface="Consolas"/>
              </a:rPr>
              <a:t>        </a:t>
            </a:r>
            <a:r>
              <a:rPr sz="2000" i="0">
                <a:solidFill>
                  <a:srgbClr val="C39BD3"/>
                </a:solidFill>
                <a:latin typeface="Consolas"/>
              </a:rPr>
              <a:t>self</a:t>
            </a:r>
            <a:r>
              <a:rPr sz="2000" i="0">
                <a:solidFill>
                  <a:srgbClr val="AEB6BF"/>
                </a:solidFill>
                <a:latin typeface="Consolas"/>
              </a:rPr>
              <a:t>.</a:t>
            </a:r>
            <a:r>
              <a:rPr sz="2000" i="0">
                <a:solidFill>
                  <a:srgbClr val="E8EDF2"/>
                </a:solidFill>
                <a:latin typeface="Consolas"/>
              </a:rPr>
              <a:t>nodes</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F7DC6F"/>
                </a:solidFill>
                <a:latin typeface="Consolas"/>
              </a:rPr>
              <a:t>0</a:t>
            </a:r>
          </a:p>
        </p:txBody>
      </p:sp>
      <p:sp>
        <p:nvSpPr>
          <p:cNvPr id="14" name="!!code-num"/>
          <p:cNvSpPr txBox="1"/>
          <p:nvPr/>
        </p:nvSpPr>
        <p:spPr>
          <a:xfrm>
            <a:off x="768096" y="2066543"/>
            <a:ext cx="393192" cy="37673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23</a:t>
            </a:r>
          </a:p>
          <a:p>
            <a:pPr algn="r">
              <a:lnSpc>
                <a:spcPct val="100000"/>
              </a:lnSpc>
            </a:pPr>
            <a:r>
              <a:rPr sz="2000">
                <a:solidFill>
                  <a:srgbClr val="4F5D6A"/>
                </a:solidFill>
                <a:latin typeface="Consolas"/>
              </a:rPr>
              <a:t>24</a:t>
            </a:r>
          </a:p>
          <a:p>
            <a:pPr algn="r">
              <a:lnSpc>
                <a:spcPct val="100000"/>
              </a:lnSpc>
            </a:pPr>
            <a:r>
              <a:rPr sz="2000">
                <a:solidFill>
                  <a:srgbClr val="4F5D6A"/>
                </a:solidFill>
                <a:latin typeface="Consolas"/>
              </a:rPr>
              <a:t>25</a:t>
            </a:r>
          </a:p>
          <a:p>
            <a:pPr algn="r">
              <a:lnSpc>
                <a:spcPct val="100000"/>
              </a:lnSpc>
            </a:pPr>
            <a:r>
              <a:rPr sz="2000">
                <a:solidFill>
                  <a:srgbClr val="4F5D6A"/>
                </a:solidFill>
                <a:latin typeface="Consolas"/>
              </a:rPr>
              <a:t>26</a:t>
            </a:r>
          </a:p>
          <a:p>
            <a:pPr algn="r">
              <a:lnSpc>
                <a:spcPct val="100000"/>
              </a:lnSpc>
            </a:pPr>
            <a:r>
              <a:rPr sz="2000">
                <a:solidFill>
                  <a:srgbClr val="4F5D6A"/>
                </a:solidFill>
                <a:latin typeface="Consolas"/>
              </a:rPr>
              <a:t>27</a:t>
            </a:r>
          </a:p>
          <a:p>
            <a:pPr algn="r">
              <a:lnSpc>
                <a:spcPct val="100000"/>
              </a:lnSpc>
            </a:pPr>
            <a:r>
              <a:rPr sz="2000">
                <a:solidFill>
                  <a:srgbClr val="4F5D6A"/>
                </a:solidFill>
                <a:latin typeface="Consolas"/>
              </a:rPr>
              <a:t>28</a:t>
            </a:r>
          </a:p>
          <a:p>
            <a:pPr algn="r">
              <a:lnSpc>
                <a:spcPct val="100000"/>
              </a:lnSpc>
            </a:pPr>
            <a:r>
              <a:rPr sz="2000">
                <a:solidFill>
                  <a:srgbClr val="4F5D6A"/>
                </a:solidFill>
                <a:latin typeface="Consolas"/>
              </a:rPr>
              <a:t>29</a:t>
            </a:r>
          </a:p>
          <a:p>
            <a:pPr algn="r">
              <a:lnSpc>
                <a:spcPct val="100000"/>
              </a:lnSpc>
            </a:pPr>
            <a:r>
              <a:rPr sz="2000">
                <a:solidFill>
                  <a:srgbClr val="4F5D6A"/>
                </a:solidFill>
                <a:latin typeface="Consolas"/>
              </a:rPr>
              <a:t>30</a:t>
            </a:r>
          </a:p>
          <a:p>
            <a:pPr algn="r">
              <a:lnSpc>
                <a:spcPct val="100000"/>
              </a:lnSpc>
            </a:pPr>
            <a:r>
              <a:rPr sz="2000">
                <a:solidFill>
                  <a:srgbClr val="4F5D6A"/>
                </a:solidFill>
                <a:latin typeface="Consolas"/>
              </a:rPr>
              <a:t>31</a:t>
            </a:r>
          </a:p>
          <a:p>
            <a:pPr algn="r">
              <a:lnSpc>
                <a:spcPct val="100000"/>
              </a:lnSpc>
            </a:pPr>
            <a:r>
              <a:rPr sz="2000">
                <a:solidFill>
                  <a:srgbClr val="4F5D6A"/>
                </a:solidFill>
                <a:latin typeface="Consolas"/>
              </a:rPr>
              <a:t>32</a:t>
            </a:r>
          </a:p>
          <a:p>
            <a:pPr algn="r">
              <a:lnSpc>
                <a:spcPct val="100000"/>
              </a:lnSpc>
            </a:pPr>
            <a:r>
              <a:rPr sz="2000">
                <a:solidFill>
                  <a:srgbClr val="4F5D6A"/>
                </a:solidFill>
                <a:latin typeface="Consolas"/>
              </a:rPr>
              <a:t>33</a:t>
            </a:r>
          </a:p>
          <a:p>
            <a:pPr algn="r">
              <a:lnSpc>
                <a:spcPct val="100000"/>
              </a:lnSpc>
            </a:pPr>
            <a:r>
              <a:rPr sz="2000">
                <a:solidFill>
                  <a:srgbClr val="4F5D6A"/>
                </a:solidFill>
                <a:latin typeface="Consolas"/>
              </a:rPr>
              <a:t>34</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5364345"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Sprint Scheduling as a CSP</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3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7  ·  Constraint Satisfaction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§7.7  ·  Handout p. 72     </a:t>
            </a:r>
            <a:fld id="{62773FFD-D5B7-49A2-BBC7-54779A701166}" type="slidenum">
              <a:rPr lang="en-GB" sz="1000">
                <a:solidFill>
                  <a:srgbClr val="8795A1"/>
                </a:solidFill>
                <a:latin typeface="Segoe UI"/>
              </a:rPr>
              <a:t>23</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4657344"/>
          </a:xfrm>
          <a:prstGeom prst="roundRect">
            <a:avLst>
              <a:gd name="adj" fmla="val 1963"/>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code/ch07_sprint_scheduling_as.py</a:t>
            </a:r>
          </a:p>
        </p:txBody>
      </p:sp>
      <p:sp>
        <p:nvSpPr>
          <p:cNvPr id="13" name="!!code-text" descr="def binary_ok(a, va, b, vb, c): &quot;&quot;&quot;Is the pair (a=va, b=vb) consistent? One consistency check.&quot;&quot;&quot; c.checks += 1 if (a, b) in BEFORE and not va &lt; vb: return False if (b, a) in BEFORE and not vb &lt; va: return False if ((a, b) in APART or (b, a) in APART) and va == vb: return False return True def capacity_ok(assign, c): &quot;&quot;&quot;The n-ary constraint. No arc can express this.&quot;&quot;&quot; c.checks += 1 load = dict.fromkeys(SLOTS, 0) for n, v in assign.items(): load[v] += STORIES[n][0] return all(load[s] &lt;= CAP for s in SLOTS)"/>
          <p:cNvSpPr txBox="1"/>
          <p:nvPr/>
        </p:nvSpPr>
        <p:spPr>
          <a:xfrm>
            <a:off x="1362456" y="2066543"/>
            <a:ext cx="9987991" cy="4163568"/>
          </a:xfrm>
          <a:prstGeom prst="rect">
            <a:avLst/>
          </a:prstGeom>
          <a:noFill/>
        </p:spPr>
        <p:txBody>
          <a:bodyPr wrap="none" anchor="t" lIns="0" rIns="0" tIns="0" bIns="0">
            <a:noAutofit/>
          </a:bodyPr>
          <a:lstStyle/>
          <a:p>
            <a:pPr>
              <a:lnSpc>
                <a:spcPct val="100000"/>
              </a:lnSpc>
              <a:spcAft>
                <a:spcPts val="0"/>
              </a:spcAft>
            </a:pPr>
            <a:r>
              <a:rPr sz="1400" i="0">
                <a:solidFill>
                  <a:srgbClr val="5DADE2"/>
                </a:solidFill>
                <a:latin typeface="Consolas"/>
              </a:rPr>
              <a:t>def</a:t>
            </a:r>
            <a:r>
              <a:rPr sz="1400" i="0">
                <a:solidFill>
                  <a:srgbClr val="E8EDF2"/>
                </a:solidFill>
                <a:latin typeface="Consolas"/>
              </a:rPr>
              <a:t> </a:t>
            </a:r>
            <a:r>
              <a:rPr sz="1400" i="0">
                <a:solidFill>
                  <a:srgbClr val="C39BD3"/>
                </a:solidFill>
                <a:latin typeface="Consolas"/>
              </a:rPr>
              <a:t>binary_ok</a:t>
            </a:r>
            <a:r>
              <a:rPr sz="1400" i="0">
                <a:solidFill>
                  <a:srgbClr val="AEB6BF"/>
                </a:solidFill>
                <a:latin typeface="Consolas"/>
              </a:rPr>
              <a:t>(</a:t>
            </a:r>
            <a:r>
              <a:rPr sz="1400" i="0">
                <a:solidFill>
                  <a:srgbClr val="E8EDF2"/>
                </a:solidFill>
                <a:latin typeface="Consolas"/>
              </a:rPr>
              <a:t>a</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va</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b</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vb</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c</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"""Is the pair (a=va, b=vb) consistent? One consistency check."""</a:t>
            </a:r>
          </a:p>
          <a:p>
            <a:pPr>
              <a:lnSpc>
                <a:spcPct val="100000"/>
              </a:lnSpc>
              <a:spcAft>
                <a:spcPts val="0"/>
              </a:spcAft>
            </a:pPr>
            <a:r>
              <a:rPr sz="1400" i="0">
                <a:solidFill>
                  <a:srgbClr val="E8EDF2"/>
                </a:solidFill>
                <a:latin typeface="Consolas"/>
              </a:rPr>
              <a:t>    </a:t>
            </a:r>
            <a:r>
              <a:rPr sz="1400" i="0">
                <a:solidFill>
                  <a:srgbClr val="E8EDF2"/>
                </a:solidFill>
                <a:latin typeface="Consolas"/>
              </a:rPr>
              <a:t>c</a:t>
            </a:r>
            <a:r>
              <a:rPr sz="1400" i="0">
                <a:solidFill>
                  <a:srgbClr val="AEB6BF"/>
                </a:solidFill>
                <a:latin typeface="Consolas"/>
              </a:rPr>
              <a:t>.</a:t>
            </a:r>
            <a:r>
              <a:rPr sz="1400" i="0">
                <a:solidFill>
                  <a:srgbClr val="E8EDF2"/>
                </a:solidFill>
                <a:latin typeface="Consolas"/>
              </a:rPr>
              <a:t>checks</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1</a:t>
            </a:r>
          </a:p>
          <a:p>
            <a:pPr>
              <a:lnSpc>
                <a:spcPct val="100000"/>
              </a:lnSpc>
              <a:spcAft>
                <a:spcPts val="0"/>
              </a:spcAft>
            </a:pPr>
            <a:r>
              <a:rPr sz="1400" i="0">
                <a:solidFill>
                  <a:srgbClr val="E8EDF2"/>
                </a:solidFill>
                <a:latin typeface="Consolas"/>
              </a:rPr>
              <a:t>    </a:t>
            </a:r>
            <a:r>
              <a:rPr sz="1400" i="0">
                <a:solidFill>
                  <a:srgbClr val="5DADE2"/>
                </a:solidFill>
                <a:latin typeface="Consolas"/>
              </a:rPr>
              <a:t>if</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a</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b</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E8EDF2"/>
                </a:solidFill>
                <a:latin typeface="Consolas"/>
              </a:rPr>
              <a:t>BEFORE</a:t>
            </a:r>
            <a:r>
              <a:rPr sz="1400" i="0">
                <a:solidFill>
                  <a:srgbClr val="E8EDF2"/>
                </a:solidFill>
                <a:latin typeface="Consolas"/>
              </a:rPr>
              <a:t> </a:t>
            </a:r>
            <a:r>
              <a:rPr sz="1400" i="0">
                <a:solidFill>
                  <a:srgbClr val="AEB6BF"/>
                </a:solidFill>
                <a:latin typeface="Consolas"/>
              </a:rPr>
              <a:t>and</a:t>
            </a:r>
            <a:r>
              <a:rPr sz="1400" i="0">
                <a:solidFill>
                  <a:srgbClr val="E8EDF2"/>
                </a:solidFill>
                <a:latin typeface="Consolas"/>
              </a:rPr>
              <a:t> </a:t>
            </a:r>
            <a:r>
              <a:rPr sz="1400" i="0">
                <a:solidFill>
                  <a:srgbClr val="AEB6BF"/>
                </a:solidFill>
                <a:latin typeface="Consolas"/>
              </a:rPr>
              <a:t>not</a:t>
            </a:r>
            <a:r>
              <a:rPr sz="1400" i="0">
                <a:solidFill>
                  <a:srgbClr val="E8EDF2"/>
                </a:solidFill>
                <a:latin typeface="Consolas"/>
              </a:rPr>
              <a:t> </a:t>
            </a:r>
            <a:r>
              <a:rPr sz="1400" i="0">
                <a:solidFill>
                  <a:srgbClr val="E8EDF2"/>
                </a:solidFill>
                <a:latin typeface="Consolas"/>
              </a:rPr>
              <a:t>va</a:t>
            </a:r>
            <a:r>
              <a:rPr sz="1400" i="0">
                <a:solidFill>
                  <a:srgbClr val="E8EDF2"/>
                </a:solidFill>
                <a:latin typeface="Consolas"/>
              </a:rPr>
              <a:t> </a:t>
            </a:r>
            <a:r>
              <a:rPr sz="1400" i="0">
                <a:solidFill>
                  <a:srgbClr val="AEB6BF"/>
                </a:solidFill>
                <a:latin typeface="Consolas"/>
              </a:rPr>
              <a:t>&lt;</a:t>
            </a:r>
            <a:r>
              <a:rPr sz="1400" i="0">
                <a:solidFill>
                  <a:srgbClr val="E8EDF2"/>
                </a:solidFill>
                <a:latin typeface="Consolas"/>
              </a:rPr>
              <a:t> </a:t>
            </a:r>
            <a:r>
              <a:rPr sz="1400" i="0">
                <a:solidFill>
                  <a:srgbClr val="E8EDF2"/>
                </a:solidFill>
                <a:latin typeface="Consolas"/>
              </a:rPr>
              <a:t>vb</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return</a:t>
            </a:r>
            <a:r>
              <a:rPr sz="1400" i="0">
                <a:solidFill>
                  <a:srgbClr val="E8EDF2"/>
                </a:solidFill>
                <a:latin typeface="Consolas"/>
              </a:rPr>
              <a:t> </a:t>
            </a:r>
            <a:r>
              <a:rPr sz="1400" i="0">
                <a:solidFill>
                  <a:srgbClr val="5DADE2"/>
                </a:solidFill>
                <a:latin typeface="Consolas"/>
              </a:rPr>
              <a:t>False</a:t>
            </a:r>
          </a:p>
          <a:p>
            <a:pPr>
              <a:lnSpc>
                <a:spcPct val="100000"/>
              </a:lnSpc>
              <a:spcAft>
                <a:spcPts val="0"/>
              </a:spcAft>
            </a:pPr>
            <a:r>
              <a:rPr sz="1400" i="0">
                <a:solidFill>
                  <a:srgbClr val="E8EDF2"/>
                </a:solidFill>
                <a:latin typeface="Consolas"/>
              </a:rPr>
              <a:t>    </a:t>
            </a:r>
            <a:r>
              <a:rPr sz="1400" i="0">
                <a:solidFill>
                  <a:srgbClr val="5DADE2"/>
                </a:solidFill>
                <a:latin typeface="Consolas"/>
              </a:rPr>
              <a:t>if</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b</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a</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E8EDF2"/>
                </a:solidFill>
                <a:latin typeface="Consolas"/>
              </a:rPr>
              <a:t>BEFORE</a:t>
            </a:r>
            <a:r>
              <a:rPr sz="1400" i="0">
                <a:solidFill>
                  <a:srgbClr val="E8EDF2"/>
                </a:solidFill>
                <a:latin typeface="Consolas"/>
              </a:rPr>
              <a:t> </a:t>
            </a:r>
            <a:r>
              <a:rPr sz="1400" i="0">
                <a:solidFill>
                  <a:srgbClr val="AEB6BF"/>
                </a:solidFill>
                <a:latin typeface="Consolas"/>
              </a:rPr>
              <a:t>and</a:t>
            </a:r>
            <a:r>
              <a:rPr sz="1400" i="0">
                <a:solidFill>
                  <a:srgbClr val="E8EDF2"/>
                </a:solidFill>
                <a:latin typeface="Consolas"/>
              </a:rPr>
              <a:t> </a:t>
            </a:r>
            <a:r>
              <a:rPr sz="1400" i="0">
                <a:solidFill>
                  <a:srgbClr val="AEB6BF"/>
                </a:solidFill>
                <a:latin typeface="Consolas"/>
              </a:rPr>
              <a:t>not</a:t>
            </a:r>
            <a:r>
              <a:rPr sz="1400" i="0">
                <a:solidFill>
                  <a:srgbClr val="E8EDF2"/>
                </a:solidFill>
                <a:latin typeface="Consolas"/>
              </a:rPr>
              <a:t> </a:t>
            </a:r>
            <a:r>
              <a:rPr sz="1400" i="0">
                <a:solidFill>
                  <a:srgbClr val="E8EDF2"/>
                </a:solidFill>
                <a:latin typeface="Consolas"/>
              </a:rPr>
              <a:t>vb</a:t>
            </a:r>
            <a:r>
              <a:rPr sz="1400" i="0">
                <a:solidFill>
                  <a:srgbClr val="E8EDF2"/>
                </a:solidFill>
                <a:latin typeface="Consolas"/>
              </a:rPr>
              <a:t> </a:t>
            </a:r>
            <a:r>
              <a:rPr sz="1400" i="0">
                <a:solidFill>
                  <a:srgbClr val="AEB6BF"/>
                </a:solidFill>
                <a:latin typeface="Consolas"/>
              </a:rPr>
              <a:t>&lt;</a:t>
            </a:r>
            <a:r>
              <a:rPr sz="1400" i="0">
                <a:solidFill>
                  <a:srgbClr val="E8EDF2"/>
                </a:solidFill>
                <a:latin typeface="Consolas"/>
              </a:rPr>
              <a:t> </a:t>
            </a:r>
            <a:r>
              <a:rPr sz="1400" i="0">
                <a:solidFill>
                  <a:srgbClr val="E8EDF2"/>
                </a:solidFill>
                <a:latin typeface="Consolas"/>
              </a:rPr>
              <a:t>va</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return</a:t>
            </a:r>
            <a:r>
              <a:rPr sz="1400" i="0">
                <a:solidFill>
                  <a:srgbClr val="E8EDF2"/>
                </a:solidFill>
                <a:latin typeface="Consolas"/>
              </a:rPr>
              <a:t> </a:t>
            </a:r>
            <a:r>
              <a:rPr sz="1400" i="0">
                <a:solidFill>
                  <a:srgbClr val="5DADE2"/>
                </a:solidFill>
                <a:latin typeface="Consolas"/>
              </a:rPr>
              <a:t>False</a:t>
            </a:r>
          </a:p>
          <a:p>
            <a:pPr>
              <a:lnSpc>
                <a:spcPct val="100000"/>
              </a:lnSpc>
              <a:spcAft>
                <a:spcPts val="0"/>
              </a:spcAft>
            </a:pPr>
            <a:r>
              <a:rPr sz="1400" i="0">
                <a:solidFill>
                  <a:srgbClr val="E8EDF2"/>
                </a:solidFill>
                <a:latin typeface="Consolas"/>
              </a:rPr>
              <a:t>    </a:t>
            </a:r>
            <a:r>
              <a:rPr sz="1400" i="0">
                <a:solidFill>
                  <a:srgbClr val="5DADE2"/>
                </a:solidFill>
                <a:latin typeface="Consolas"/>
              </a:rPr>
              <a:t>if</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a</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b</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E8EDF2"/>
                </a:solidFill>
                <a:latin typeface="Consolas"/>
              </a:rPr>
              <a:t>APART</a:t>
            </a:r>
            <a:r>
              <a:rPr sz="1400" i="0">
                <a:solidFill>
                  <a:srgbClr val="E8EDF2"/>
                </a:solidFill>
                <a:latin typeface="Consolas"/>
              </a:rPr>
              <a:t> </a:t>
            </a:r>
            <a:r>
              <a:rPr sz="1400" i="0">
                <a:solidFill>
                  <a:srgbClr val="AEB6BF"/>
                </a:solidFill>
                <a:latin typeface="Consolas"/>
              </a:rPr>
              <a:t>or</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b</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a</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E8EDF2"/>
                </a:solidFill>
                <a:latin typeface="Consolas"/>
              </a:rPr>
              <a:t>APART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and</a:t>
            </a:r>
            <a:r>
              <a:rPr sz="1400" i="0">
                <a:solidFill>
                  <a:srgbClr val="E8EDF2"/>
                </a:solidFill>
                <a:latin typeface="Consolas"/>
              </a:rPr>
              <a:t> </a:t>
            </a:r>
            <a:r>
              <a:rPr sz="1400" i="0">
                <a:solidFill>
                  <a:srgbClr val="E8EDF2"/>
                </a:solidFill>
                <a:latin typeface="Consolas"/>
              </a:rPr>
              <a:t>va</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vb</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return</a:t>
            </a:r>
            <a:r>
              <a:rPr sz="1400" i="0">
                <a:solidFill>
                  <a:srgbClr val="E8EDF2"/>
                </a:solidFill>
                <a:latin typeface="Consolas"/>
              </a:rPr>
              <a:t> </a:t>
            </a:r>
            <a:r>
              <a:rPr sz="1400" i="0">
                <a:solidFill>
                  <a:srgbClr val="5DADE2"/>
                </a:solidFill>
                <a:latin typeface="Consolas"/>
              </a:rPr>
              <a:t>False</a:t>
            </a:r>
          </a:p>
          <a:p>
            <a:pPr>
              <a:lnSpc>
                <a:spcPct val="100000"/>
              </a:lnSpc>
              <a:spcAft>
                <a:spcPts val="0"/>
              </a:spcAft>
            </a:pPr>
            <a:r>
              <a:rPr sz="1400" i="0">
                <a:solidFill>
                  <a:srgbClr val="E8EDF2"/>
                </a:solidFill>
                <a:latin typeface="Consolas"/>
              </a:rPr>
              <a:t>    </a:t>
            </a:r>
            <a:r>
              <a:rPr sz="1400" i="0">
                <a:solidFill>
                  <a:srgbClr val="5DADE2"/>
                </a:solidFill>
                <a:latin typeface="Consolas"/>
              </a:rPr>
              <a:t>return</a:t>
            </a:r>
            <a:r>
              <a:rPr sz="1400" i="0">
                <a:solidFill>
                  <a:srgbClr val="E8EDF2"/>
                </a:solidFill>
                <a:latin typeface="Consolas"/>
              </a:rPr>
              <a:t> </a:t>
            </a:r>
            <a:r>
              <a:rPr sz="1400" i="0">
                <a:solidFill>
                  <a:srgbClr val="5DADE2"/>
                </a:solidFill>
                <a:latin typeface="Consolas"/>
              </a:rPr>
              <a:t>True</a:t>
            </a:r>
          </a:p>
          <a:p>
            <a:pPr>
              <a:lnSpc>
                <a:spcPct val="100000"/>
              </a:lnSpc>
              <a:spcAft>
                <a:spcPts val="0"/>
              </a:spcAft>
            </a:pPr>
            <a:r>
              <a:rPr sz="1400">
                <a:latin typeface="Consolas"/>
              </a:rPr>
              <a:t> </a:t>
            </a:r>
          </a:p>
          <a:p>
            <a:pPr>
              <a:lnSpc>
                <a:spcPct val="100000"/>
              </a:lnSpc>
              <a:spcAft>
                <a:spcPts val="0"/>
              </a:spcAft>
            </a:pPr>
            <a:r>
              <a:rPr sz="1400">
                <a:latin typeface="Consolas"/>
              </a:rPr>
              <a:t> </a:t>
            </a:r>
          </a:p>
          <a:p>
            <a:pPr>
              <a:lnSpc>
                <a:spcPct val="100000"/>
              </a:lnSpc>
              <a:spcAft>
                <a:spcPts val="0"/>
              </a:spcAft>
            </a:pPr>
            <a:r>
              <a:rPr sz="1400" i="0">
                <a:solidFill>
                  <a:srgbClr val="5DADE2"/>
                </a:solidFill>
                <a:latin typeface="Consolas"/>
              </a:rPr>
              <a:t>def</a:t>
            </a:r>
            <a:r>
              <a:rPr sz="1400" i="0">
                <a:solidFill>
                  <a:srgbClr val="E8EDF2"/>
                </a:solidFill>
                <a:latin typeface="Consolas"/>
              </a:rPr>
              <a:t> </a:t>
            </a:r>
            <a:r>
              <a:rPr sz="1400" i="0">
                <a:solidFill>
                  <a:srgbClr val="C39BD3"/>
                </a:solidFill>
                <a:latin typeface="Consolas"/>
              </a:rPr>
              <a:t>capacity_ok</a:t>
            </a:r>
            <a:r>
              <a:rPr sz="1400" i="0">
                <a:solidFill>
                  <a:srgbClr val="AEB6BF"/>
                </a:solidFill>
                <a:latin typeface="Consolas"/>
              </a:rPr>
              <a:t>(</a:t>
            </a:r>
            <a:r>
              <a:rPr sz="1400" i="0">
                <a:solidFill>
                  <a:srgbClr val="E8EDF2"/>
                </a:solidFill>
                <a:latin typeface="Consolas"/>
              </a:rPr>
              <a:t>assign</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c</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"""The n-ary constraint. No arc can express this."""</a:t>
            </a:r>
          </a:p>
          <a:p>
            <a:pPr>
              <a:lnSpc>
                <a:spcPct val="100000"/>
              </a:lnSpc>
              <a:spcAft>
                <a:spcPts val="0"/>
              </a:spcAft>
            </a:pPr>
            <a:r>
              <a:rPr sz="1400" i="0">
                <a:solidFill>
                  <a:srgbClr val="E8EDF2"/>
                </a:solidFill>
                <a:latin typeface="Consolas"/>
              </a:rPr>
              <a:t>    </a:t>
            </a:r>
            <a:r>
              <a:rPr sz="1400" i="0">
                <a:solidFill>
                  <a:srgbClr val="E8EDF2"/>
                </a:solidFill>
                <a:latin typeface="Consolas"/>
              </a:rPr>
              <a:t>c</a:t>
            </a:r>
            <a:r>
              <a:rPr sz="1400" i="0">
                <a:solidFill>
                  <a:srgbClr val="AEB6BF"/>
                </a:solidFill>
                <a:latin typeface="Consolas"/>
              </a:rPr>
              <a:t>.</a:t>
            </a:r>
            <a:r>
              <a:rPr sz="1400" i="0">
                <a:solidFill>
                  <a:srgbClr val="E8EDF2"/>
                </a:solidFill>
                <a:latin typeface="Consolas"/>
              </a:rPr>
              <a:t>checks</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1</a:t>
            </a:r>
          </a:p>
          <a:p>
            <a:pPr>
              <a:lnSpc>
                <a:spcPct val="100000"/>
              </a:lnSpc>
              <a:spcAft>
                <a:spcPts val="0"/>
              </a:spcAft>
            </a:pPr>
            <a:r>
              <a:rPr sz="1400" i="0">
                <a:solidFill>
                  <a:srgbClr val="E8EDF2"/>
                </a:solidFill>
                <a:latin typeface="Consolas"/>
              </a:rPr>
              <a:t>    </a:t>
            </a:r>
            <a:r>
              <a:rPr sz="1400" i="0">
                <a:solidFill>
                  <a:srgbClr val="E8EDF2"/>
                </a:solidFill>
                <a:latin typeface="Consolas"/>
              </a:rPr>
              <a:t>load</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C39BD3"/>
                </a:solidFill>
                <a:latin typeface="Consolas"/>
              </a:rPr>
              <a:t>dict</a:t>
            </a:r>
            <a:r>
              <a:rPr sz="1400" i="0">
                <a:solidFill>
                  <a:srgbClr val="AEB6BF"/>
                </a:solidFill>
                <a:latin typeface="Consolas"/>
              </a:rPr>
              <a:t>.</a:t>
            </a:r>
            <a:r>
              <a:rPr sz="1400" i="0">
                <a:solidFill>
                  <a:srgbClr val="E8EDF2"/>
                </a:solidFill>
                <a:latin typeface="Consolas"/>
              </a:rPr>
              <a:t>fromkeys</a:t>
            </a:r>
            <a:r>
              <a:rPr sz="1400" i="0">
                <a:solidFill>
                  <a:srgbClr val="AEB6BF"/>
                </a:solidFill>
                <a:latin typeface="Consolas"/>
              </a:rPr>
              <a:t>(</a:t>
            </a:r>
            <a:r>
              <a:rPr sz="1400" i="0">
                <a:solidFill>
                  <a:srgbClr val="E8EDF2"/>
                </a:solidFill>
                <a:latin typeface="Consolas"/>
              </a:rPr>
              <a:t>SLOTS</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0</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for</a:t>
            </a:r>
            <a:r>
              <a:rPr sz="1400" i="0">
                <a:solidFill>
                  <a:srgbClr val="E8EDF2"/>
                </a:solidFill>
                <a:latin typeface="Consolas"/>
              </a:rPr>
              <a:t> </a:t>
            </a:r>
            <a:r>
              <a:rPr sz="1400" i="0">
                <a:solidFill>
                  <a:srgbClr val="E8EDF2"/>
                </a:solidFill>
                <a:latin typeface="Consolas"/>
              </a:rPr>
              <a:t>n</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v</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E8EDF2"/>
                </a:solidFill>
                <a:latin typeface="Consolas"/>
              </a:rPr>
              <a:t>assign</a:t>
            </a:r>
            <a:r>
              <a:rPr sz="1400" i="0">
                <a:solidFill>
                  <a:srgbClr val="AEB6BF"/>
                </a:solidFill>
                <a:latin typeface="Consolas"/>
              </a:rPr>
              <a:t>.</a:t>
            </a:r>
            <a:r>
              <a:rPr sz="1400" i="0">
                <a:solidFill>
                  <a:srgbClr val="E8EDF2"/>
                </a:solidFill>
                <a:latin typeface="Consolas"/>
              </a:rPr>
              <a:t>items</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load</a:t>
            </a:r>
            <a:r>
              <a:rPr sz="1400" i="0">
                <a:solidFill>
                  <a:srgbClr val="AEB6BF"/>
                </a:solidFill>
                <a:latin typeface="Consolas"/>
              </a:rPr>
              <a:t>[</a:t>
            </a:r>
            <a:r>
              <a:rPr sz="1400" i="0">
                <a:solidFill>
                  <a:srgbClr val="E8EDF2"/>
                </a:solidFill>
                <a:latin typeface="Consolas"/>
              </a:rPr>
              <a:t>v</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STORIES</a:t>
            </a:r>
            <a:r>
              <a:rPr sz="1400" i="0">
                <a:solidFill>
                  <a:srgbClr val="AEB6BF"/>
                </a:solidFill>
                <a:latin typeface="Consolas"/>
              </a:rPr>
              <a:t>[</a:t>
            </a:r>
            <a:r>
              <a:rPr sz="1400" i="0">
                <a:solidFill>
                  <a:srgbClr val="E8EDF2"/>
                </a:solidFill>
                <a:latin typeface="Consolas"/>
              </a:rPr>
              <a:t>n</a:t>
            </a:r>
            <a:r>
              <a:rPr sz="1400" i="0">
                <a:solidFill>
                  <a:srgbClr val="AEB6BF"/>
                </a:solidFill>
                <a:latin typeface="Consolas"/>
              </a:rPr>
              <a:t>]</a:t>
            </a:r>
            <a:r>
              <a:rPr sz="1400" i="0">
                <a:solidFill>
                  <a:srgbClr val="AEB6BF"/>
                </a:solidFill>
                <a:latin typeface="Consolas"/>
              </a:rPr>
              <a:t>[</a:t>
            </a:r>
            <a:r>
              <a:rPr sz="1400" i="0">
                <a:solidFill>
                  <a:srgbClr val="F7DC6F"/>
                </a:solidFill>
                <a:latin typeface="Consolas"/>
              </a:rPr>
              <a:t>0</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return</a:t>
            </a:r>
            <a:r>
              <a:rPr sz="1400" i="0">
                <a:solidFill>
                  <a:srgbClr val="E8EDF2"/>
                </a:solidFill>
                <a:latin typeface="Consolas"/>
              </a:rPr>
              <a:t> </a:t>
            </a:r>
            <a:r>
              <a:rPr sz="1400" i="0">
                <a:solidFill>
                  <a:srgbClr val="C39BD3"/>
                </a:solidFill>
                <a:latin typeface="Consolas"/>
              </a:rPr>
              <a:t>all</a:t>
            </a:r>
            <a:r>
              <a:rPr sz="1400" i="0">
                <a:solidFill>
                  <a:srgbClr val="AEB6BF"/>
                </a:solidFill>
                <a:latin typeface="Consolas"/>
              </a:rPr>
              <a:t>(</a:t>
            </a:r>
            <a:r>
              <a:rPr sz="1400" i="0">
                <a:solidFill>
                  <a:srgbClr val="E8EDF2"/>
                </a:solidFill>
                <a:latin typeface="Consolas"/>
              </a:rPr>
              <a:t>load</a:t>
            </a:r>
            <a:r>
              <a:rPr sz="1400" i="0">
                <a:solidFill>
                  <a:srgbClr val="AEB6BF"/>
                </a:solidFill>
                <a:latin typeface="Consolas"/>
              </a:rPr>
              <a:t>[</a:t>
            </a:r>
            <a:r>
              <a:rPr sz="1400" i="0">
                <a:solidFill>
                  <a:srgbClr val="E8EDF2"/>
                </a:solidFill>
                <a:latin typeface="Consolas"/>
              </a:rPr>
              <a:t>s</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&lt;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CAP</a:t>
            </a:r>
            <a:r>
              <a:rPr sz="1400" i="0">
                <a:solidFill>
                  <a:srgbClr val="E8EDF2"/>
                </a:solidFill>
                <a:latin typeface="Consolas"/>
              </a:rPr>
              <a:t> </a:t>
            </a:r>
            <a:r>
              <a:rPr sz="1400" i="0">
                <a:solidFill>
                  <a:srgbClr val="5DADE2"/>
                </a:solidFill>
                <a:latin typeface="Consolas"/>
              </a:rPr>
              <a:t>for</a:t>
            </a:r>
            <a:r>
              <a:rPr sz="1400" i="0">
                <a:solidFill>
                  <a:srgbClr val="E8EDF2"/>
                </a:solidFill>
                <a:latin typeface="Consolas"/>
              </a:rPr>
              <a:t> </a:t>
            </a:r>
            <a:r>
              <a:rPr sz="1400" i="0">
                <a:solidFill>
                  <a:srgbClr val="E8EDF2"/>
                </a:solidFill>
                <a:latin typeface="Consolas"/>
              </a:rPr>
              <a:t>s</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E8EDF2"/>
                </a:solidFill>
                <a:latin typeface="Consolas"/>
              </a:rPr>
              <a:t>SLOTS</a:t>
            </a:r>
            <a:r>
              <a:rPr sz="1400" i="0">
                <a:solidFill>
                  <a:srgbClr val="AEB6BF"/>
                </a:solidFill>
                <a:latin typeface="Consolas"/>
              </a:rPr>
              <a:t>)</a:t>
            </a:r>
          </a:p>
        </p:txBody>
      </p:sp>
      <p:sp>
        <p:nvSpPr>
          <p:cNvPr id="14" name="!!code-num"/>
          <p:cNvSpPr txBox="1"/>
          <p:nvPr/>
        </p:nvSpPr>
        <p:spPr>
          <a:xfrm>
            <a:off x="768096" y="2066543"/>
            <a:ext cx="393192" cy="4163568"/>
          </a:xfrm>
          <a:prstGeom prst="rect">
            <a:avLst/>
          </a:prstGeom>
          <a:noFill/>
        </p:spPr>
        <p:txBody>
          <a:bodyPr wrap="none" anchor="t" lIns="0" rIns="0" tIns="0" bIns="0">
            <a:noAutofit/>
          </a:bodyPr>
          <a:lstStyle/>
          <a:p>
            <a:pPr algn="r">
              <a:lnSpc>
                <a:spcPct val="100000"/>
              </a:lnSpc>
            </a:pPr>
            <a:r>
              <a:rPr sz="1400">
                <a:solidFill>
                  <a:srgbClr val="4F5D6A"/>
                </a:solidFill>
                <a:latin typeface="Consolas"/>
              </a:rPr>
              <a:t>37</a:t>
            </a:r>
          </a:p>
          <a:p>
            <a:pPr algn="r">
              <a:lnSpc>
                <a:spcPct val="100000"/>
              </a:lnSpc>
            </a:pPr>
            <a:r>
              <a:rPr sz="1400">
                <a:solidFill>
                  <a:srgbClr val="4F5D6A"/>
                </a:solidFill>
                <a:latin typeface="Consolas"/>
              </a:rPr>
              <a:t>38</a:t>
            </a:r>
          </a:p>
          <a:p>
            <a:pPr algn="r">
              <a:lnSpc>
                <a:spcPct val="100000"/>
              </a:lnSpc>
            </a:pPr>
            <a:r>
              <a:rPr sz="1400">
                <a:solidFill>
                  <a:srgbClr val="4F5D6A"/>
                </a:solidFill>
                <a:latin typeface="Consolas"/>
              </a:rPr>
              <a:t>39</a:t>
            </a:r>
          </a:p>
          <a:p>
            <a:pPr algn="r">
              <a:lnSpc>
                <a:spcPct val="100000"/>
              </a:lnSpc>
            </a:pPr>
            <a:r>
              <a:rPr sz="1400">
                <a:solidFill>
                  <a:srgbClr val="4F5D6A"/>
                </a:solidFill>
                <a:latin typeface="Consolas"/>
              </a:rPr>
              <a:t>40</a:t>
            </a:r>
          </a:p>
          <a:p>
            <a:pPr algn="r">
              <a:lnSpc>
                <a:spcPct val="100000"/>
              </a:lnSpc>
            </a:pPr>
            <a:r>
              <a:rPr sz="1400">
                <a:solidFill>
                  <a:srgbClr val="4F5D6A"/>
                </a:solidFill>
                <a:latin typeface="Consolas"/>
              </a:rPr>
              <a:t>41</a:t>
            </a:r>
          </a:p>
          <a:p>
            <a:pPr algn="r">
              <a:lnSpc>
                <a:spcPct val="100000"/>
              </a:lnSpc>
            </a:pPr>
            <a:r>
              <a:rPr sz="1400">
                <a:solidFill>
                  <a:srgbClr val="4F5D6A"/>
                </a:solidFill>
                <a:latin typeface="Consolas"/>
              </a:rPr>
              <a:t>42</a:t>
            </a:r>
          </a:p>
          <a:p>
            <a:pPr algn="r">
              <a:lnSpc>
                <a:spcPct val="100000"/>
              </a:lnSpc>
            </a:pPr>
            <a:r>
              <a:rPr sz="1400">
                <a:solidFill>
                  <a:srgbClr val="4F5D6A"/>
                </a:solidFill>
                <a:latin typeface="Consolas"/>
              </a:rPr>
              <a:t>43</a:t>
            </a:r>
          </a:p>
          <a:p>
            <a:pPr algn="r">
              <a:lnSpc>
                <a:spcPct val="100000"/>
              </a:lnSpc>
            </a:pPr>
            <a:r>
              <a:rPr sz="1400">
                <a:solidFill>
                  <a:srgbClr val="4F5D6A"/>
                </a:solidFill>
                <a:latin typeface="Consolas"/>
              </a:rPr>
              <a:t>44</a:t>
            </a:r>
          </a:p>
          <a:p>
            <a:pPr algn="r">
              <a:lnSpc>
                <a:spcPct val="100000"/>
              </a:lnSpc>
            </a:pPr>
            <a:r>
              <a:rPr sz="1400">
                <a:solidFill>
                  <a:srgbClr val="4F5D6A"/>
                </a:solidFill>
                <a:latin typeface="Consolas"/>
              </a:rPr>
              <a:t>45</a:t>
            </a:r>
          </a:p>
          <a:p>
            <a:pPr algn="r">
              <a:lnSpc>
                <a:spcPct val="100000"/>
              </a:lnSpc>
            </a:pPr>
            <a:r>
              <a:rPr sz="1400">
                <a:solidFill>
                  <a:srgbClr val="4F5D6A"/>
                </a:solidFill>
                <a:latin typeface="Consolas"/>
              </a:rPr>
              <a:t>46</a:t>
            </a:r>
          </a:p>
          <a:p>
            <a:pPr algn="r">
              <a:lnSpc>
                <a:spcPct val="100000"/>
              </a:lnSpc>
            </a:pPr>
            <a:r>
              <a:rPr sz="1400">
                <a:solidFill>
                  <a:srgbClr val="4F5D6A"/>
                </a:solidFill>
                <a:latin typeface="Consolas"/>
              </a:rPr>
              <a:t>47</a:t>
            </a:r>
          </a:p>
          <a:p>
            <a:pPr algn="r">
              <a:lnSpc>
                <a:spcPct val="100000"/>
              </a:lnSpc>
            </a:pPr>
            <a:r>
              <a:rPr sz="1400">
                <a:solidFill>
                  <a:srgbClr val="4F5D6A"/>
                </a:solidFill>
                <a:latin typeface="Consolas"/>
              </a:rPr>
              <a:t>48</a:t>
            </a:r>
          </a:p>
          <a:p>
            <a:pPr algn="r">
              <a:lnSpc>
                <a:spcPct val="100000"/>
              </a:lnSpc>
            </a:pPr>
            <a:r>
              <a:rPr sz="1400">
                <a:solidFill>
                  <a:srgbClr val="4F5D6A"/>
                </a:solidFill>
                <a:latin typeface="Consolas"/>
              </a:rPr>
              <a:t>49</a:t>
            </a:r>
          </a:p>
          <a:p>
            <a:pPr algn="r">
              <a:lnSpc>
                <a:spcPct val="100000"/>
              </a:lnSpc>
            </a:pPr>
            <a:r>
              <a:rPr sz="1400">
                <a:solidFill>
                  <a:srgbClr val="4F5D6A"/>
                </a:solidFill>
                <a:latin typeface="Consolas"/>
              </a:rPr>
              <a:t>50</a:t>
            </a:r>
          </a:p>
          <a:p>
            <a:pPr algn="r">
              <a:lnSpc>
                <a:spcPct val="100000"/>
              </a:lnSpc>
            </a:pPr>
            <a:r>
              <a:rPr sz="1400">
                <a:solidFill>
                  <a:srgbClr val="4F5D6A"/>
                </a:solidFill>
                <a:latin typeface="Consolas"/>
              </a:rPr>
              <a:t>51</a:t>
            </a:r>
          </a:p>
          <a:p>
            <a:pPr algn="r">
              <a:lnSpc>
                <a:spcPct val="100000"/>
              </a:lnSpc>
            </a:pPr>
            <a:r>
              <a:rPr sz="1400">
                <a:solidFill>
                  <a:srgbClr val="4F5D6A"/>
                </a:solidFill>
                <a:latin typeface="Consolas"/>
              </a:rPr>
              <a:t>52</a:t>
            </a:r>
          </a:p>
          <a:p>
            <a:pPr algn="r">
              <a:lnSpc>
                <a:spcPct val="100000"/>
              </a:lnSpc>
            </a:pPr>
            <a:r>
              <a:rPr sz="1400">
                <a:solidFill>
                  <a:srgbClr val="4F5D6A"/>
                </a:solidFill>
                <a:latin typeface="Consolas"/>
              </a:rPr>
              <a:t>53</a:t>
            </a:r>
          </a:p>
          <a:p>
            <a:pPr algn="r">
              <a:lnSpc>
                <a:spcPct val="100000"/>
              </a:lnSpc>
            </a:pPr>
            <a:r>
              <a:rPr sz="1400">
                <a:solidFill>
                  <a:srgbClr val="4F5D6A"/>
                </a:solidFill>
                <a:latin typeface="Consolas"/>
              </a:rPr>
              <a:t>54</a:t>
            </a:r>
          </a:p>
          <a:p>
            <a:pPr algn="r">
              <a:lnSpc>
                <a:spcPct val="100000"/>
              </a:lnSpc>
            </a:pPr>
            <a:r>
              <a:rPr sz="1400">
                <a:solidFill>
                  <a:srgbClr val="4F5D6A"/>
                </a:solidFill>
                <a:latin typeface="Consolas"/>
              </a:rPr>
              <a:t>55</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5608179"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Sprint Scheduling as a CSP</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4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7  ·  Constraint Satisfaction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§7.7  ·  Handout p. 72     </a:t>
            </a:r>
            <a:fld id="{F42EA381-DFD5-4FF6-8E48-9ACA3E62BD7B}" type="slidenum">
              <a:rPr lang="en-GB" sz="1000">
                <a:solidFill>
                  <a:srgbClr val="8795A1"/>
                </a:solidFill>
                <a:latin typeface="Segoe UI"/>
              </a:rPr>
              <a:t>24</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2737104"/>
          </a:xfrm>
          <a:prstGeom prst="roundRect">
            <a:avLst>
              <a:gd name="adj" fmla="val 3340"/>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code/ch07_sprint_scheduling_as.py</a:t>
            </a:r>
          </a:p>
        </p:txBody>
      </p:sp>
      <p:sp>
        <p:nvSpPr>
          <p:cNvPr id="13" name="!!code-text" descr="def consistent(assign, var, val, c): for other, oval in assign.items(): if not binary_ok(var, val, other, oval, c): return False trial = dict(assign) trial[var] = val return capacity_ok(trial, c)"/>
          <p:cNvSpPr txBox="1"/>
          <p:nvPr/>
        </p:nvSpPr>
        <p:spPr>
          <a:xfrm>
            <a:off x="1362456" y="2066543"/>
            <a:ext cx="9987991" cy="2243328"/>
          </a:xfrm>
          <a:prstGeom prst="rect">
            <a:avLst/>
          </a:prstGeom>
          <a:noFill/>
        </p:spPr>
        <p:txBody>
          <a:bodyPr wrap="none" anchor="t" lIns="0" rIns="0" tIns="0" bIns="0">
            <a:noAutofit/>
          </a:bodyPr>
          <a:lstStyle/>
          <a:p>
            <a:pPr>
              <a:lnSpc>
                <a:spcPct val="100000"/>
              </a:lnSpc>
              <a:spcAft>
                <a:spcPts val="0"/>
              </a:spcAft>
            </a:pPr>
            <a:r>
              <a:rPr sz="2000" i="0">
                <a:solidFill>
                  <a:srgbClr val="5DADE2"/>
                </a:solidFill>
                <a:latin typeface="Consolas"/>
              </a:rPr>
              <a:t>def</a:t>
            </a:r>
            <a:r>
              <a:rPr sz="2000" i="0">
                <a:solidFill>
                  <a:srgbClr val="E8EDF2"/>
                </a:solidFill>
                <a:latin typeface="Consolas"/>
              </a:rPr>
              <a:t> </a:t>
            </a:r>
            <a:r>
              <a:rPr sz="2000" i="0">
                <a:solidFill>
                  <a:srgbClr val="C39BD3"/>
                </a:solidFill>
                <a:latin typeface="Consolas"/>
              </a:rPr>
              <a:t>consistent</a:t>
            </a:r>
            <a:r>
              <a:rPr sz="2000" i="0">
                <a:solidFill>
                  <a:srgbClr val="AEB6BF"/>
                </a:solidFill>
                <a:latin typeface="Consolas"/>
              </a:rPr>
              <a:t>(</a:t>
            </a:r>
            <a:r>
              <a:rPr sz="2000" i="0">
                <a:solidFill>
                  <a:srgbClr val="E8EDF2"/>
                </a:solidFill>
                <a:latin typeface="Consolas"/>
              </a:rPr>
              <a:t>assign</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var</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val</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c</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for</a:t>
            </a:r>
            <a:r>
              <a:rPr sz="2000" i="0">
                <a:solidFill>
                  <a:srgbClr val="E8EDF2"/>
                </a:solidFill>
                <a:latin typeface="Consolas"/>
              </a:rPr>
              <a:t> </a:t>
            </a:r>
            <a:r>
              <a:rPr sz="2000" i="0">
                <a:solidFill>
                  <a:srgbClr val="E8EDF2"/>
                </a:solidFill>
                <a:latin typeface="Consolas"/>
              </a:rPr>
              <a:t>other</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oval</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E8EDF2"/>
                </a:solidFill>
                <a:latin typeface="Consolas"/>
              </a:rPr>
              <a:t>assign</a:t>
            </a:r>
            <a:r>
              <a:rPr sz="2000" i="0">
                <a:solidFill>
                  <a:srgbClr val="AEB6BF"/>
                </a:solidFill>
                <a:latin typeface="Consolas"/>
              </a:rPr>
              <a:t>.</a:t>
            </a:r>
            <a:r>
              <a:rPr sz="2000" i="0">
                <a:solidFill>
                  <a:srgbClr val="E8EDF2"/>
                </a:solidFill>
                <a:latin typeface="Consolas"/>
              </a:rPr>
              <a:t>items</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if</a:t>
            </a:r>
            <a:r>
              <a:rPr sz="2000" i="0">
                <a:solidFill>
                  <a:srgbClr val="E8EDF2"/>
                </a:solidFill>
                <a:latin typeface="Consolas"/>
              </a:rPr>
              <a:t> </a:t>
            </a:r>
            <a:r>
              <a:rPr sz="2000" i="0">
                <a:solidFill>
                  <a:srgbClr val="AEB6BF"/>
                </a:solidFill>
                <a:latin typeface="Consolas"/>
              </a:rPr>
              <a:t>not</a:t>
            </a:r>
            <a:r>
              <a:rPr sz="2000" i="0">
                <a:solidFill>
                  <a:srgbClr val="E8EDF2"/>
                </a:solidFill>
                <a:latin typeface="Consolas"/>
              </a:rPr>
              <a:t> </a:t>
            </a:r>
            <a:r>
              <a:rPr sz="2000" i="0">
                <a:solidFill>
                  <a:srgbClr val="E8EDF2"/>
                </a:solidFill>
                <a:latin typeface="Consolas"/>
              </a:rPr>
              <a:t>binary_ok</a:t>
            </a:r>
            <a:r>
              <a:rPr sz="2000" i="0">
                <a:solidFill>
                  <a:srgbClr val="AEB6BF"/>
                </a:solidFill>
                <a:latin typeface="Consolas"/>
              </a:rPr>
              <a:t>(</a:t>
            </a:r>
            <a:r>
              <a:rPr sz="2000" i="0">
                <a:solidFill>
                  <a:srgbClr val="E8EDF2"/>
                </a:solidFill>
                <a:latin typeface="Consolas"/>
              </a:rPr>
              <a:t>var</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val</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other</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oval</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c</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return</a:t>
            </a:r>
            <a:r>
              <a:rPr sz="2000" i="0">
                <a:solidFill>
                  <a:srgbClr val="E8EDF2"/>
                </a:solidFill>
                <a:latin typeface="Consolas"/>
              </a:rPr>
              <a:t> </a:t>
            </a:r>
            <a:r>
              <a:rPr sz="2000" i="0">
                <a:solidFill>
                  <a:srgbClr val="5DADE2"/>
                </a:solidFill>
                <a:latin typeface="Consolas"/>
              </a:rPr>
              <a:t>False</a:t>
            </a:r>
          </a:p>
          <a:p>
            <a:pPr>
              <a:lnSpc>
                <a:spcPct val="100000"/>
              </a:lnSpc>
              <a:spcAft>
                <a:spcPts val="0"/>
              </a:spcAft>
            </a:pPr>
            <a:r>
              <a:rPr sz="2000" i="0">
                <a:solidFill>
                  <a:srgbClr val="E8EDF2"/>
                </a:solidFill>
                <a:latin typeface="Consolas"/>
              </a:rPr>
              <a:t>    </a:t>
            </a:r>
            <a:r>
              <a:rPr sz="2000" i="0">
                <a:solidFill>
                  <a:srgbClr val="E8EDF2"/>
                </a:solidFill>
                <a:latin typeface="Consolas"/>
              </a:rPr>
              <a:t>trial</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C39BD3"/>
                </a:solidFill>
                <a:latin typeface="Consolas"/>
              </a:rPr>
              <a:t>dict</a:t>
            </a:r>
            <a:r>
              <a:rPr sz="2000" i="0">
                <a:solidFill>
                  <a:srgbClr val="AEB6BF"/>
                </a:solidFill>
                <a:latin typeface="Consolas"/>
              </a:rPr>
              <a:t>(</a:t>
            </a:r>
            <a:r>
              <a:rPr sz="2000" i="0">
                <a:solidFill>
                  <a:srgbClr val="E8EDF2"/>
                </a:solidFill>
                <a:latin typeface="Consolas"/>
              </a:rPr>
              <a:t>assign</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trial</a:t>
            </a:r>
            <a:r>
              <a:rPr sz="2000" i="0">
                <a:solidFill>
                  <a:srgbClr val="AEB6BF"/>
                </a:solidFill>
                <a:latin typeface="Consolas"/>
              </a:rPr>
              <a:t>[</a:t>
            </a:r>
            <a:r>
              <a:rPr sz="2000" i="0">
                <a:solidFill>
                  <a:srgbClr val="E8EDF2"/>
                </a:solidFill>
                <a:latin typeface="Consolas"/>
              </a:rPr>
              <a:t>var</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val</a:t>
            </a:r>
          </a:p>
          <a:p>
            <a:pPr>
              <a:lnSpc>
                <a:spcPct val="100000"/>
              </a:lnSpc>
              <a:spcAft>
                <a:spcPts val="0"/>
              </a:spcAft>
            </a:pPr>
            <a:r>
              <a:rPr sz="2000" i="0">
                <a:solidFill>
                  <a:srgbClr val="E8EDF2"/>
                </a:solidFill>
                <a:latin typeface="Consolas"/>
              </a:rPr>
              <a:t>    </a:t>
            </a:r>
            <a:r>
              <a:rPr sz="2000" i="0">
                <a:solidFill>
                  <a:srgbClr val="5DADE2"/>
                </a:solidFill>
                <a:latin typeface="Consolas"/>
              </a:rPr>
              <a:t>return</a:t>
            </a:r>
            <a:r>
              <a:rPr sz="2000" i="0">
                <a:solidFill>
                  <a:srgbClr val="E8EDF2"/>
                </a:solidFill>
                <a:latin typeface="Consolas"/>
              </a:rPr>
              <a:t> </a:t>
            </a:r>
            <a:r>
              <a:rPr sz="2000" i="0">
                <a:solidFill>
                  <a:srgbClr val="E8EDF2"/>
                </a:solidFill>
                <a:latin typeface="Consolas"/>
              </a:rPr>
              <a:t>capacity_ok</a:t>
            </a:r>
            <a:r>
              <a:rPr sz="2000" i="0">
                <a:solidFill>
                  <a:srgbClr val="AEB6BF"/>
                </a:solidFill>
                <a:latin typeface="Consolas"/>
              </a:rPr>
              <a:t>(</a:t>
            </a:r>
            <a:r>
              <a:rPr sz="2000" i="0">
                <a:solidFill>
                  <a:srgbClr val="E8EDF2"/>
                </a:solidFill>
                <a:latin typeface="Consolas"/>
              </a:rPr>
              <a:t>trial</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c</a:t>
            </a:r>
            <a:r>
              <a:rPr sz="2000" i="0">
                <a:solidFill>
                  <a:srgbClr val="AEB6BF"/>
                </a:solidFill>
                <a:latin typeface="Consolas"/>
              </a:rPr>
              <a:t>)</a:t>
            </a:r>
          </a:p>
        </p:txBody>
      </p:sp>
      <p:sp>
        <p:nvSpPr>
          <p:cNvPr id="14" name="!!code-num"/>
          <p:cNvSpPr txBox="1"/>
          <p:nvPr/>
        </p:nvSpPr>
        <p:spPr>
          <a:xfrm>
            <a:off x="768096" y="2066543"/>
            <a:ext cx="393192" cy="22433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58</a:t>
            </a:r>
          </a:p>
          <a:p>
            <a:pPr algn="r">
              <a:lnSpc>
                <a:spcPct val="100000"/>
              </a:lnSpc>
            </a:pPr>
            <a:r>
              <a:rPr sz="2000">
                <a:solidFill>
                  <a:srgbClr val="4F5D6A"/>
                </a:solidFill>
                <a:latin typeface="Consolas"/>
              </a:rPr>
              <a:t>59</a:t>
            </a:r>
          </a:p>
          <a:p>
            <a:pPr algn="r">
              <a:lnSpc>
                <a:spcPct val="100000"/>
              </a:lnSpc>
            </a:pPr>
            <a:r>
              <a:rPr sz="2000">
                <a:solidFill>
                  <a:srgbClr val="4F5D6A"/>
                </a:solidFill>
                <a:latin typeface="Consolas"/>
              </a:rPr>
              <a:t>60</a:t>
            </a:r>
          </a:p>
          <a:p>
            <a:pPr algn="r">
              <a:lnSpc>
                <a:spcPct val="100000"/>
              </a:lnSpc>
            </a:pPr>
            <a:r>
              <a:rPr sz="2000">
                <a:solidFill>
                  <a:srgbClr val="4F5D6A"/>
                </a:solidFill>
                <a:latin typeface="Consolas"/>
              </a:rPr>
              <a:t>61</a:t>
            </a:r>
          </a:p>
          <a:p>
            <a:pPr algn="r">
              <a:lnSpc>
                <a:spcPct val="100000"/>
              </a:lnSpc>
            </a:pPr>
            <a:r>
              <a:rPr sz="2000">
                <a:solidFill>
                  <a:srgbClr val="4F5D6A"/>
                </a:solidFill>
                <a:latin typeface="Consolas"/>
              </a:rPr>
              <a:t>62</a:t>
            </a:r>
          </a:p>
          <a:p>
            <a:pPr algn="r">
              <a:lnSpc>
                <a:spcPct val="100000"/>
              </a:lnSpc>
            </a:pPr>
            <a:r>
              <a:rPr sz="2000">
                <a:solidFill>
                  <a:srgbClr val="4F5D6A"/>
                </a:solidFill>
                <a:latin typeface="Consolas"/>
              </a:rPr>
              <a:t>63</a:t>
            </a:r>
          </a:p>
          <a:p>
            <a:pPr algn="r">
              <a:lnSpc>
                <a:spcPct val="100000"/>
              </a:lnSpc>
            </a:pPr>
            <a:r>
              <a:rPr sz="2000">
                <a:solidFill>
                  <a:srgbClr val="4F5D6A"/>
                </a:solidFill>
                <a:latin typeface="Consolas"/>
              </a:rPr>
              <a:t>64</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5852013"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Sprint Scheduling as a CSP</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5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7  ·  Constraint Satisfaction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§7.7  ·  Handout p. 72     </a:t>
            </a:r>
            <a:fld id="{D0EEF3C8-3840-4720-AE88-498980E3551E}" type="slidenum">
              <a:rPr lang="en-GB" sz="1000">
                <a:solidFill>
                  <a:srgbClr val="8795A1"/>
                </a:solidFill>
                <a:latin typeface="Segoe UI"/>
              </a:rPr>
              <a:t>25</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4489704"/>
          </a:xfrm>
          <a:prstGeom prst="roundRect">
            <a:avLst>
              <a:gd name="adj" fmla="val 203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code/ch07_sprint_scheduling_as.py</a:t>
            </a:r>
          </a:p>
        </p:txBody>
      </p:sp>
      <p:sp>
        <p:nvSpPr>
          <p:cNvPr id="13" name="!!code-text" descr="def select_var(assign, domains, mrv, degree): un = [v for v in NAMES if v not in assign] if not mrv: return un[0] fewest = min(len(domains[v]) for v in un) tied = [v for v in un if len(domains[v]) == fewest] if len(tied) == 1 or not degree: return tied[0] def deg(v): return sum(1 for (a, b) in BEFORE + APART if (a == v and b not in assign) or (b == v and a not in assign)) return max(tied, key=deg)"/>
          <p:cNvSpPr txBox="1"/>
          <p:nvPr/>
        </p:nvSpPr>
        <p:spPr>
          <a:xfrm>
            <a:off x="1362456" y="2066543"/>
            <a:ext cx="9987991" cy="3995928"/>
          </a:xfrm>
          <a:prstGeom prst="rect">
            <a:avLst/>
          </a:prstGeom>
          <a:noFill/>
        </p:spPr>
        <p:txBody>
          <a:bodyPr wrap="none" anchor="t" lIns="0" rIns="0" tIns="0" bIns="0">
            <a:noAutofit/>
          </a:bodyPr>
          <a:lstStyle/>
          <a:p>
            <a:pPr>
              <a:lnSpc>
                <a:spcPct val="100000"/>
              </a:lnSpc>
              <a:spcAft>
                <a:spcPts val="0"/>
              </a:spcAft>
            </a:pPr>
            <a:r>
              <a:rPr sz="1700" i="0">
                <a:solidFill>
                  <a:srgbClr val="5DADE2"/>
                </a:solidFill>
                <a:latin typeface="Consolas"/>
              </a:rPr>
              <a:t>def</a:t>
            </a:r>
            <a:r>
              <a:rPr sz="1700" i="0">
                <a:solidFill>
                  <a:srgbClr val="E8EDF2"/>
                </a:solidFill>
                <a:latin typeface="Consolas"/>
              </a:rPr>
              <a:t> </a:t>
            </a:r>
            <a:r>
              <a:rPr sz="1700" i="0">
                <a:solidFill>
                  <a:srgbClr val="C39BD3"/>
                </a:solidFill>
                <a:latin typeface="Consolas"/>
              </a:rPr>
              <a:t>select_var</a:t>
            </a:r>
            <a:r>
              <a:rPr sz="1700" i="0">
                <a:solidFill>
                  <a:srgbClr val="AEB6BF"/>
                </a:solidFill>
                <a:latin typeface="Consolas"/>
              </a:rPr>
              <a:t>(</a:t>
            </a:r>
            <a:r>
              <a:rPr sz="1700" i="0">
                <a:solidFill>
                  <a:srgbClr val="E8EDF2"/>
                </a:solidFill>
                <a:latin typeface="Consolas"/>
              </a:rPr>
              <a:t>assign</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domains</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mrv</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degree</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E8EDF2"/>
                </a:solidFill>
                <a:latin typeface="Consolas"/>
              </a:rPr>
              <a:t>un</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v</a:t>
            </a:r>
            <a:r>
              <a:rPr sz="1700" i="0">
                <a:solidFill>
                  <a:srgbClr val="E8EDF2"/>
                </a:solidFill>
                <a:latin typeface="Consolas"/>
              </a:rPr>
              <a:t> </a:t>
            </a:r>
            <a:r>
              <a:rPr sz="1700" i="0">
                <a:solidFill>
                  <a:srgbClr val="5DADE2"/>
                </a:solidFill>
                <a:latin typeface="Consolas"/>
              </a:rPr>
              <a:t>for</a:t>
            </a:r>
            <a:r>
              <a:rPr sz="1700" i="0">
                <a:solidFill>
                  <a:srgbClr val="E8EDF2"/>
                </a:solidFill>
                <a:latin typeface="Consolas"/>
              </a:rPr>
              <a:t> </a:t>
            </a:r>
            <a:r>
              <a:rPr sz="1700" i="0">
                <a:solidFill>
                  <a:srgbClr val="E8EDF2"/>
                </a:solidFill>
                <a:latin typeface="Consolas"/>
              </a:rPr>
              <a:t>v</a:t>
            </a:r>
            <a:r>
              <a:rPr sz="1700" i="0">
                <a:solidFill>
                  <a:srgbClr val="E8EDF2"/>
                </a:solidFill>
                <a:latin typeface="Consolas"/>
              </a:rPr>
              <a:t> </a:t>
            </a:r>
            <a:r>
              <a:rPr sz="1700" i="0">
                <a:solidFill>
                  <a:srgbClr val="AEB6BF"/>
                </a:solidFill>
                <a:latin typeface="Consolas"/>
              </a:rPr>
              <a:t>in</a:t>
            </a:r>
            <a:r>
              <a:rPr sz="1700" i="0">
                <a:solidFill>
                  <a:srgbClr val="E8EDF2"/>
                </a:solidFill>
                <a:latin typeface="Consolas"/>
              </a:rPr>
              <a:t> </a:t>
            </a:r>
            <a:r>
              <a:rPr sz="1700" i="0">
                <a:solidFill>
                  <a:srgbClr val="E8EDF2"/>
                </a:solidFill>
                <a:latin typeface="Consolas"/>
              </a:rPr>
              <a:t>NAMES</a:t>
            </a:r>
            <a:r>
              <a:rPr sz="1700" i="0">
                <a:solidFill>
                  <a:srgbClr val="E8EDF2"/>
                </a:solidFill>
                <a:latin typeface="Consolas"/>
              </a:rPr>
              <a:t> </a:t>
            </a:r>
            <a:r>
              <a:rPr sz="1700" i="0">
                <a:solidFill>
                  <a:srgbClr val="5DADE2"/>
                </a:solidFill>
                <a:latin typeface="Consolas"/>
              </a:rPr>
              <a:t>if</a:t>
            </a:r>
            <a:r>
              <a:rPr sz="1700" i="0">
                <a:solidFill>
                  <a:srgbClr val="E8EDF2"/>
                </a:solidFill>
                <a:latin typeface="Consolas"/>
              </a:rPr>
              <a:t> </a:t>
            </a:r>
            <a:r>
              <a:rPr sz="1700" i="0">
                <a:solidFill>
                  <a:srgbClr val="E8EDF2"/>
                </a:solidFill>
                <a:latin typeface="Consolas"/>
              </a:rPr>
              <a:t>v</a:t>
            </a:r>
            <a:r>
              <a:rPr sz="1700" i="0">
                <a:solidFill>
                  <a:srgbClr val="E8EDF2"/>
                </a:solidFill>
                <a:latin typeface="Consolas"/>
              </a:rPr>
              <a:t> </a:t>
            </a:r>
            <a:r>
              <a:rPr sz="1700" i="0">
                <a:solidFill>
                  <a:srgbClr val="AEB6BF"/>
                </a:solidFill>
                <a:latin typeface="Consolas"/>
              </a:rPr>
              <a:t>not</a:t>
            </a:r>
            <a:r>
              <a:rPr sz="1700" i="0">
                <a:solidFill>
                  <a:srgbClr val="E8EDF2"/>
                </a:solidFill>
                <a:latin typeface="Consolas"/>
              </a:rPr>
              <a:t> </a:t>
            </a:r>
            <a:r>
              <a:rPr sz="1700" i="0">
                <a:solidFill>
                  <a:srgbClr val="AEB6BF"/>
                </a:solidFill>
                <a:latin typeface="Consolas"/>
              </a:rPr>
              <a:t>in</a:t>
            </a:r>
            <a:r>
              <a:rPr sz="1700" i="0">
                <a:solidFill>
                  <a:srgbClr val="E8EDF2"/>
                </a:solidFill>
                <a:latin typeface="Consolas"/>
              </a:rPr>
              <a:t> </a:t>
            </a:r>
            <a:r>
              <a:rPr sz="1700" i="0">
                <a:solidFill>
                  <a:srgbClr val="E8EDF2"/>
                </a:solidFill>
                <a:latin typeface="Consolas"/>
              </a:rPr>
              <a:t>assign</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5DADE2"/>
                </a:solidFill>
                <a:latin typeface="Consolas"/>
              </a:rPr>
              <a:t>if</a:t>
            </a:r>
            <a:r>
              <a:rPr sz="1700" i="0">
                <a:solidFill>
                  <a:srgbClr val="E8EDF2"/>
                </a:solidFill>
                <a:latin typeface="Consolas"/>
              </a:rPr>
              <a:t> </a:t>
            </a:r>
            <a:r>
              <a:rPr sz="1700" i="0">
                <a:solidFill>
                  <a:srgbClr val="AEB6BF"/>
                </a:solidFill>
                <a:latin typeface="Consolas"/>
              </a:rPr>
              <a:t>not</a:t>
            </a:r>
            <a:r>
              <a:rPr sz="1700" i="0">
                <a:solidFill>
                  <a:srgbClr val="E8EDF2"/>
                </a:solidFill>
                <a:latin typeface="Consolas"/>
              </a:rPr>
              <a:t> </a:t>
            </a:r>
            <a:r>
              <a:rPr sz="1700" i="0">
                <a:solidFill>
                  <a:srgbClr val="E8EDF2"/>
                </a:solidFill>
                <a:latin typeface="Consolas"/>
              </a:rPr>
              <a:t>mrv</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5DADE2"/>
                </a:solidFill>
                <a:latin typeface="Consolas"/>
              </a:rPr>
              <a:t>return</a:t>
            </a:r>
            <a:r>
              <a:rPr sz="1700" i="0">
                <a:solidFill>
                  <a:srgbClr val="E8EDF2"/>
                </a:solidFill>
                <a:latin typeface="Consolas"/>
              </a:rPr>
              <a:t> </a:t>
            </a:r>
            <a:r>
              <a:rPr sz="1700" i="0">
                <a:solidFill>
                  <a:srgbClr val="E8EDF2"/>
                </a:solidFill>
                <a:latin typeface="Consolas"/>
              </a:rPr>
              <a:t>un</a:t>
            </a:r>
            <a:r>
              <a:rPr sz="1700" i="0">
                <a:solidFill>
                  <a:srgbClr val="AEB6BF"/>
                </a:solidFill>
                <a:latin typeface="Consolas"/>
              </a:rPr>
              <a:t>[</a:t>
            </a:r>
            <a:r>
              <a:rPr sz="1700" i="0">
                <a:solidFill>
                  <a:srgbClr val="F7DC6F"/>
                </a:solidFill>
                <a:latin typeface="Consolas"/>
              </a:rPr>
              <a:t>0</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E8EDF2"/>
                </a:solidFill>
                <a:latin typeface="Consolas"/>
              </a:rPr>
              <a:t>fewest</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C39BD3"/>
                </a:solidFill>
                <a:latin typeface="Consolas"/>
              </a:rPr>
              <a:t>min</a:t>
            </a:r>
            <a:r>
              <a:rPr sz="1700" i="0">
                <a:solidFill>
                  <a:srgbClr val="AEB6BF"/>
                </a:solidFill>
                <a:latin typeface="Consolas"/>
              </a:rPr>
              <a:t>(</a:t>
            </a:r>
            <a:r>
              <a:rPr sz="1700" i="0">
                <a:solidFill>
                  <a:srgbClr val="C39BD3"/>
                </a:solidFill>
                <a:latin typeface="Consolas"/>
              </a:rPr>
              <a:t>len</a:t>
            </a:r>
            <a:r>
              <a:rPr sz="1700" i="0">
                <a:solidFill>
                  <a:srgbClr val="AEB6BF"/>
                </a:solidFill>
                <a:latin typeface="Consolas"/>
              </a:rPr>
              <a:t>(</a:t>
            </a:r>
            <a:r>
              <a:rPr sz="1700" i="0">
                <a:solidFill>
                  <a:srgbClr val="E8EDF2"/>
                </a:solidFill>
                <a:latin typeface="Consolas"/>
              </a:rPr>
              <a:t>domains</a:t>
            </a:r>
            <a:r>
              <a:rPr sz="1700" i="0">
                <a:solidFill>
                  <a:srgbClr val="AEB6BF"/>
                </a:solidFill>
                <a:latin typeface="Consolas"/>
              </a:rPr>
              <a:t>[</a:t>
            </a:r>
            <a:r>
              <a:rPr sz="1700" i="0">
                <a:solidFill>
                  <a:srgbClr val="E8EDF2"/>
                </a:solidFill>
                <a:latin typeface="Consolas"/>
              </a:rPr>
              <a:t>v</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5DADE2"/>
                </a:solidFill>
                <a:latin typeface="Consolas"/>
              </a:rPr>
              <a:t>for</a:t>
            </a:r>
            <a:r>
              <a:rPr sz="1700" i="0">
                <a:solidFill>
                  <a:srgbClr val="E8EDF2"/>
                </a:solidFill>
                <a:latin typeface="Consolas"/>
              </a:rPr>
              <a:t> </a:t>
            </a:r>
            <a:r>
              <a:rPr sz="1700" i="0">
                <a:solidFill>
                  <a:srgbClr val="E8EDF2"/>
                </a:solidFill>
                <a:latin typeface="Consolas"/>
              </a:rPr>
              <a:t>v</a:t>
            </a:r>
            <a:r>
              <a:rPr sz="1700" i="0">
                <a:solidFill>
                  <a:srgbClr val="E8EDF2"/>
                </a:solidFill>
                <a:latin typeface="Consolas"/>
              </a:rPr>
              <a:t> </a:t>
            </a:r>
            <a:r>
              <a:rPr sz="1700" i="0">
                <a:solidFill>
                  <a:srgbClr val="AEB6BF"/>
                </a:solidFill>
                <a:latin typeface="Consolas"/>
              </a:rPr>
              <a:t>in</a:t>
            </a:r>
            <a:r>
              <a:rPr sz="1700" i="0">
                <a:solidFill>
                  <a:srgbClr val="E8EDF2"/>
                </a:solidFill>
                <a:latin typeface="Consolas"/>
              </a:rPr>
              <a:t> </a:t>
            </a:r>
            <a:r>
              <a:rPr sz="1700" i="0">
                <a:solidFill>
                  <a:srgbClr val="E8EDF2"/>
                </a:solidFill>
                <a:latin typeface="Consolas"/>
              </a:rPr>
              <a:t>un</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E8EDF2"/>
                </a:solidFill>
                <a:latin typeface="Consolas"/>
              </a:rPr>
              <a:t>tied</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v</a:t>
            </a:r>
            <a:r>
              <a:rPr sz="1700" i="0">
                <a:solidFill>
                  <a:srgbClr val="E8EDF2"/>
                </a:solidFill>
                <a:latin typeface="Consolas"/>
              </a:rPr>
              <a:t> </a:t>
            </a:r>
            <a:r>
              <a:rPr sz="1700" i="0">
                <a:solidFill>
                  <a:srgbClr val="5DADE2"/>
                </a:solidFill>
                <a:latin typeface="Consolas"/>
              </a:rPr>
              <a:t>for</a:t>
            </a:r>
            <a:r>
              <a:rPr sz="1700" i="0">
                <a:solidFill>
                  <a:srgbClr val="E8EDF2"/>
                </a:solidFill>
                <a:latin typeface="Consolas"/>
              </a:rPr>
              <a:t> </a:t>
            </a:r>
            <a:r>
              <a:rPr sz="1700" i="0">
                <a:solidFill>
                  <a:srgbClr val="E8EDF2"/>
                </a:solidFill>
                <a:latin typeface="Consolas"/>
              </a:rPr>
              <a:t>v</a:t>
            </a:r>
            <a:r>
              <a:rPr sz="1700" i="0">
                <a:solidFill>
                  <a:srgbClr val="E8EDF2"/>
                </a:solidFill>
                <a:latin typeface="Consolas"/>
              </a:rPr>
              <a:t> </a:t>
            </a:r>
            <a:r>
              <a:rPr sz="1700" i="0">
                <a:solidFill>
                  <a:srgbClr val="AEB6BF"/>
                </a:solidFill>
                <a:latin typeface="Consolas"/>
              </a:rPr>
              <a:t>in</a:t>
            </a:r>
            <a:r>
              <a:rPr sz="1700" i="0">
                <a:solidFill>
                  <a:srgbClr val="E8EDF2"/>
                </a:solidFill>
                <a:latin typeface="Consolas"/>
              </a:rPr>
              <a:t> </a:t>
            </a:r>
            <a:r>
              <a:rPr sz="1700" i="0">
                <a:solidFill>
                  <a:srgbClr val="E8EDF2"/>
                </a:solidFill>
                <a:latin typeface="Consolas"/>
              </a:rPr>
              <a:t>un</a:t>
            </a:r>
            <a:r>
              <a:rPr sz="1700" i="0">
                <a:solidFill>
                  <a:srgbClr val="E8EDF2"/>
                </a:solidFill>
                <a:latin typeface="Consolas"/>
              </a:rPr>
              <a:t> </a:t>
            </a:r>
            <a:r>
              <a:rPr sz="1700" i="0">
                <a:solidFill>
                  <a:srgbClr val="5DADE2"/>
                </a:solidFill>
                <a:latin typeface="Consolas"/>
              </a:rPr>
              <a:t>if</a:t>
            </a:r>
            <a:r>
              <a:rPr sz="1700" i="0">
                <a:solidFill>
                  <a:srgbClr val="E8EDF2"/>
                </a:solidFill>
                <a:latin typeface="Consolas"/>
              </a:rPr>
              <a:t> </a:t>
            </a:r>
            <a:r>
              <a:rPr sz="1700" i="0">
                <a:solidFill>
                  <a:srgbClr val="C39BD3"/>
                </a:solidFill>
                <a:latin typeface="Consolas"/>
              </a:rPr>
              <a:t>len</a:t>
            </a:r>
            <a:r>
              <a:rPr sz="1700" i="0">
                <a:solidFill>
                  <a:srgbClr val="AEB6BF"/>
                </a:solidFill>
                <a:latin typeface="Consolas"/>
              </a:rPr>
              <a:t>(</a:t>
            </a:r>
            <a:r>
              <a:rPr sz="1700" i="0">
                <a:solidFill>
                  <a:srgbClr val="E8EDF2"/>
                </a:solidFill>
                <a:latin typeface="Consolas"/>
              </a:rPr>
              <a:t>domains</a:t>
            </a:r>
            <a:r>
              <a:rPr sz="1700" i="0">
                <a:solidFill>
                  <a:srgbClr val="AEB6BF"/>
                </a:solidFill>
                <a:latin typeface="Consolas"/>
              </a:rPr>
              <a:t>[</a:t>
            </a:r>
            <a:r>
              <a:rPr sz="1700" i="0">
                <a:solidFill>
                  <a:srgbClr val="E8EDF2"/>
                </a:solidFill>
                <a:latin typeface="Consolas"/>
              </a:rPr>
              <a:t>v</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fewest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5DADE2"/>
                </a:solidFill>
                <a:latin typeface="Consolas"/>
              </a:rPr>
              <a:t>if</a:t>
            </a:r>
            <a:r>
              <a:rPr sz="1700" i="0">
                <a:solidFill>
                  <a:srgbClr val="E8EDF2"/>
                </a:solidFill>
                <a:latin typeface="Consolas"/>
              </a:rPr>
              <a:t> </a:t>
            </a:r>
            <a:r>
              <a:rPr sz="1700" i="0">
                <a:solidFill>
                  <a:srgbClr val="C39BD3"/>
                </a:solidFill>
                <a:latin typeface="Consolas"/>
              </a:rPr>
              <a:t>len</a:t>
            </a:r>
            <a:r>
              <a:rPr sz="1700" i="0">
                <a:solidFill>
                  <a:srgbClr val="AEB6BF"/>
                </a:solidFill>
                <a:latin typeface="Consolas"/>
              </a:rPr>
              <a:t>(</a:t>
            </a:r>
            <a:r>
              <a:rPr sz="1700" i="0">
                <a:solidFill>
                  <a:srgbClr val="E8EDF2"/>
                </a:solidFill>
                <a:latin typeface="Consolas"/>
              </a:rPr>
              <a:t>tied</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F7DC6F"/>
                </a:solidFill>
                <a:latin typeface="Consolas"/>
              </a:rPr>
              <a:t>1</a:t>
            </a:r>
            <a:r>
              <a:rPr sz="1700" i="0">
                <a:solidFill>
                  <a:srgbClr val="E8EDF2"/>
                </a:solidFill>
                <a:latin typeface="Consolas"/>
              </a:rPr>
              <a:t> </a:t>
            </a:r>
            <a:r>
              <a:rPr sz="1700" i="0">
                <a:solidFill>
                  <a:srgbClr val="AEB6BF"/>
                </a:solidFill>
                <a:latin typeface="Consolas"/>
              </a:rPr>
              <a:t>or</a:t>
            </a:r>
            <a:r>
              <a:rPr sz="1700" i="0">
                <a:solidFill>
                  <a:srgbClr val="E8EDF2"/>
                </a:solidFill>
                <a:latin typeface="Consolas"/>
              </a:rPr>
              <a:t> </a:t>
            </a:r>
            <a:r>
              <a:rPr sz="1700" i="0">
                <a:solidFill>
                  <a:srgbClr val="AEB6BF"/>
                </a:solidFill>
                <a:latin typeface="Consolas"/>
              </a:rPr>
              <a:t>not</a:t>
            </a:r>
            <a:r>
              <a:rPr sz="1700" i="0">
                <a:solidFill>
                  <a:srgbClr val="E8EDF2"/>
                </a:solidFill>
                <a:latin typeface="Consolas"/>
              </a:rPr>
              <a:t> </a:t>
            </a:r>
            <a:r>
              <a:rPr sz="1700" i="0">
                <a:solidFill>
                  <a:srgbClr val="E8EDF2"/>
                </a:solidFill>
                <a:latin typeface="Consolas"/>
              </a:rPr>
              <a:t>degree</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5DADE2"/>
                </a:solidFill>
                <a:latin typeface="Consolas"/>
              </a:rPr>
              <a:t>return</a:t>
            </a:r>
            <a:r>
              <a:rPr sz="1700" i="0">
                <a:solidFill>
                  <a:srgbClr val="E8EDF2"/>
                </a:solidFill>
                <a:latin typeface="Consolas"/>
              </a:rPr>
              <a:t> </a:t>
            </a:r>
            <a:r>
              <a:rPr sz="1700" i="0">
                <a:solidFill>
                  <a:srgbClr val="E8EDF2"/>
                </a:solidFill>
                <a:latin typeface="Consolas"/>
              </a:rPr>
              <a:t>tied</a:t>
            </a:r>
            <a:r>
              <a:rPr sz="1700" i="0">
                <a:solidFill>
                  <a:srgbClr val="AEB6BF"/>
                </a:solidFill>
                <a:latin typeface="Consolas"/>
              </a:rPr>
              <a:t>[</a:t>
            </a:r>
            <a:r>
              <a:rPr sz="1700" i="0">
                <a:solidFill>
                  <a:srgbClr val="F7DC6F"/>
                </a:solidFill>
                <a:latin typeface="Consolas"/>
              </a:rPr>
              <a:t>0</a:t>
            </a:r>
            <a:r>
              <a:rPr sz="1700" i="0">
                <a:solidFill>
                  <a:srgbClr val="AEB6BF"/>
                </a:solidFill>
                <a:latin typeface="Consolas"/>
              </a:rPr>
              <a:t>]</a:t>
            </a:r>
          </a:p>
          <a:p>
            <a:pPr>
              <a:lnSpc>
                <a:spcPct val="100000"/>
              </a:lnSpc>
              <a:spcAft>
                <a:spcPts val="0"/>
              </a:spcAft>
            </a:pPr>
            <a:r>
              <a:rPr sz="1700">
                <a:latin typeface="Consolas"/>
              </a:rPr>
              <a:t> </a:t>
            </a:r>
          </a:p>
          <a:p>
            <a:pPr>
              <a:lnSpc>
                <a:spcPct val="100000"/>
              </a:lnSpc>
              <a:spcAft>
                <a:spcPts val="0"/>
              </a:spcAft>
            </a:pPr>
            <a:r>
              <a:rPr sz="1700" i="0">
                <a:solidFill>
                  <a:srgbClr val="E8EDF2"/>
                </a:solidFill>
                <a:latin typeface="Consolas"/>
              </a:rPr>
              <a:t>    </a:t>
            </a:r>
            <a:r>
              <a:rPr sz="1700" i="0">
                <a:solidFill>
                  <a:srgbClr val="5DADE2"/>
                </a:solidFill>
                <a:latin typeface="Consolas"/>
              </a:rPr>
              <a:t>def</a:t>
            </a:r>
            <a:r>
              <a:rPr sz="1700" i="0">
                <a:solidFill>
                  <a:srgbClr val="E8EDF2"/>
                </a:solidFill>
                <a:latin typeface="Consolas"/>
              </a:rPr>
              <a:t> </a:t>
            </a:r>
            <a:r>
              <a:rPr sz="1700" i="0">
                <a:solidFill>
                  <a:srgbClr val="C39BD3"/>
                </a:solidFill>
                <a:latin typeface="Consolas"/>
              </a:rPr>
              <a:t>deg</a:t>
            </a:r>
            <a:r>
              <a:rPr sz="1700" i="0">
                <a:solidFill>
                  <a:srgbClr val="AEB6BF"/>
                </a:solidFill>
                <a:latin typeface="Consolas"/>
              </a:rPr>
              <a:t>(</a:t>
            </a:r>
            <a:r>
              <a:rPr sz="1700" i="0">
                <a:solidFill>
                  <a:srgbClr val="E8EDF2"/>
                </a:solidFill>
                <a:latin typeface="Consolas"/>
              </a:rPr>
              <a:t>v</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5DADE2"/>
                </a:solidFill>
                <a:latin typeface="Consolas"/>
              </a:rPr>
              <a:t>return</a:t>
            </a:r>
            <a:r>
              <a:rPr sz="1700" i="0">
                <a:solidFill>
                  <a:srgbClr val="E8EDF2"/>
                </a:solidFill>
                <a:latin typeface="Consolas"/>
              </a:rPr>
              <a:t> </a:t>
            </a:r>
            <a:r>
              <a:rPr sz="1700" i="0">
                <a:solidFill>
                  <a:srgbClr val="C39BD3"/>
                </a:solidFill>
                <a:latin typeface="Consolas"/>
              </a:rPr>
              <a:t>sum</a:t>
            </a:r>
            <a:r>
              <a:rPr sz="1700" i="0">
                <a:solidFill>
                  <a:srgbClr val="AEB6BF"/>
                </a:solidFill>
                <a:latin typeface="Consolas"/>
              </a:rPr>
              <a:t>(</a:t>
            </a:r>
            <a:r>
              <a:rPr sz="1700" i="0">
                <a:solidFill>
                  <a:srgbClr val="F7DC6F"/>
                </a:solidFill>
                <a:latin typeface="Consolas"/>
              </a:rPr>
              <a:t>1</a:t>
            </a:r>
            <a:r>
              <a:rPr sz="1700" i="0">
                <a:solidFill>
                  <a:srgbClr val="E8EDF2"/>
                </a:solidFill>
                <a:latin typeface="Consolas"/>
              </a:rPr>
              <a:t> </a:t>
            </a:r>
            <a:r>
              <a:rPr sz="1700" i="0">
                <a:solidFill>
                  <a:srgbClr val="5DADE2"/>
                </a:solidFill>
                <a:latin typeface="Consolas"/>
              </a:rPr>
              <a:t>for</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a</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b</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in</a:t>
            </a:r>
            <a:r>
              <a:rPr sz="1700" i="0">
                <a:solidFill>
                  <a:srgbClr val="E8EDF2"/>
                </a:solidFill>
                <a:latin typeface="Consolas"/>
              </a:rPr>
              <a:t> </a:t>
            </a:r>
            <a:r>
              <a:rPr sz="1700" i="0">
                <a:solidFill>
                  <a:srgbClr val="E8EDF2"/>
                </a:solidFill>
                <a:latin typeface="Consolas"/>
              </a:rPr>
              <a:t>BEFORE</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APART</a:t>
            </a:r>
          </a:p>
          <a:p>
            <a:pPr>
              <a:lnSpc>
                <a:spcPct val="100000"/>
              </a:lnSpc>
              <a:spcAft>
                <a:spcPts val="0"/>
              </a:spcAft>
            </a:pPr>
            <a:r>
              <a:rPr sz="1700" i="0">
                <a:solidFill>
                  <a:srgbClr val="E8EDF2"/>
                </a:solidFill>
                <a:latin typeface="Consolas"/>
              </a:rPr>
              <a:t>                   </a:t>
            </a:r>
            <a:r>
              <a:rPr sz="1700" i="0">
                <a:solidFill>
                  <a:srgbClr val="5DADE2"/>
                </a:solidFill>
                <a:latin typeface="Consolas"/>
              </a:rPr>
              <a:t>if</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a</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v</a:t>
            </a:r>
            <a:r>
              <a:rPr sz="1700" i="0">
                <a:solidFill>
                  <a:srgbClr val="E8EDF2"/>
                </a:solidFill>
                <a:latin typeface="Consolas"/>
              </a:rPr>
              <a:t> </a:t>
            </a:r>
            <a:r>
              <a:rPr sz="1700" i="0">
                <a:solidFill>
                  <a:srgbClr val="AEB6BF"/>
                </a:solidFill>
                <a:latin typeface="Consolas"/>
              </a:rPr>
              <a:t>and</a:t>
            </a:r>
            <a:r>
              <a:rPr sz="1700" i="0">
                <a:solidFill>
                  <a:srgbClr val="E8EDF2"/>
                </a:solidFill>
                <a:latin typeface="Consolas"/>
              </a:rPr>
              <a:t> </a:t>
            </a:r>
            <a:r>
              <a:rPr sz="1700" i="0">
                <a:solidFill>
                  <a:srgbClr val="E8EDF2"/>
                </a:solidFill>
                <a:latin typeface="Consolas"/>
              </a:rPr>
              <a:t>b</a:t>
            </a:r>
            <a:r>
              <a:rPr sz="1700" i="0">
                <a:solidFill>
                  <a:srgbClr val="E8EDF2"/>
                </a:solidFill>
                <a:latin typeface="Consolas"/>
              </a:rPr>
              <a:t> </a:t>
            </a:r>
            <a:r>
              <a:rPr sz="1700" i="0">
                <a:solidFill>
                  <a:srgbClr val="AEB6BF"/>
                </a:solidFill>
                <a:latin typeface="Consolas"/>
              </a:rPr>
              <a:t>not</a:t>
            </a:r>
            <a:r>
              <a:rPr sz="1700" i="0">
                <a:solidFill>
                  <a:srgbClr val="E8EDF2"/>
                </a:solidFill>
                <a:latin typeface="Consolas"/>
              </a:rPr>
              <a:t> </a:t>
            </a:r>
            <a:r>
              <a:rPr sz="1700" i="0">
                <a:solidFill>
                  <a:srgbClr val="AEB6BF"/>
                </a:solidFill>
                <a:latin typeface="Consolas"/>
              </a:rPr>
              <a:t>in</a:t>
            </a:r>
            <a:r>
              <a:rPr sz="1700" i="0">
                <a:solidFill>
                  <a:srgbClr val="E8EDF2"/>
                </a:solidFill>
                <a:latin typeface="Consolas"/>
              </a:rPr>
              <a:t> </a:t>
            </a:r>
            <a:r>
              <a:rPr sz="1700" i="0">
                <a:solidFill>
                  <a:srgbClr val="E8EDF2"/>
                </a:solidFill>
                <a:latin typeface="Consolas"/>
              </a:rPr>
              <a:t>assign</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AEB6BF"/>
                </a:solidFill>
                <a:latin typeface="Consolas"/>
              </a:rPr>
              <a:t>or</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b</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v</a:t>
            </a:r>
            <a:r>
              <a:rPr sz="1700" i="0">
                <a:solidFill>
                  <a:srgbClr val="E8EDF2"/>
                </a:solidFill>
                <a:latin typeface="Consolas"/>
              </a:rPr>
              <a:t> </a:t>
            </a:r>
            <a:r>
              <a:rPr sz="1700" i="0">
                <a:solidFill>
                  <a:srgbClr val="AEB6BF"/>
                </a:solidFill>
                <a:latin typeface="Consolas"/>
              </a:rPr>
              <a:t>and</a:t>
            </a:r>
            <a:r>
              <a:rPr sz="1700" i="0">
                <a:solidFill>
                  <a:srgbClr val="E8EDF2"/>
                </a:solidFill>
                <a:latin typeface="Consolas"/>
              </a:rPr>
              <a:t> </a:t>
            </a:r>
            <a:r>
              <a:rPr sz="1700" i="0">
                <a:solidFill>
                  <a:srgbClr val="E8EDF2"/>
                </a:solidFill>
                <a:latin typeface="Consolas"/>
              </a:rPr>
              <a:t>a</a:t>
            </a:r>
            <a:r>
              <a:rPr sz="1700" i="0">
                <a:solidFill>
                  <a:srgbClr val="E8EDF2"/>
                </a:solidFill>
                <a:latin typeface="Consolas"/>
              </a:rPr>
              <a:t> </a:t>
            </a:r>
            <a:r>
              <a:rPr sz="1700" i="0">
                <a:solidFill>
                  <a:srgbClr val="AEB6BF"/>
                </a:solidFill>
                <a:latin typeface="Consolas"/>
              </a:rPr>
              <a:t>not</a:t>
            </a:r>
            <a:r>
              <a:rPr sz="1700" i="0">
                <a:solidFill>
                  <a:srgbClr val="E8EDF2"/>
                </a:solidFill>
                <a:latin typeface="Consolas"/>
              </a:rPr>
              <a:t> </a:t>
            </a:r>
            <a:r>
              <a:rPr sz="1700" i="0">
                <a:solidFill>
                  <a:srgbClr val="AEB6BF"/>
                </a:solidFill>
                <a:latin typeface="Consolas"/>
              </a:rPr>
              <a:t>in</a:t>
            </a:r>
            <a:r>
              <a:rPr sz="1700" i="0">
                <a:solidFill>
                  <a:srgbClr val="E8EDF2"/>
                </a:solidFill>
                <a:latin typeface="Consolas"/>
              </a:rPr>
              <a:t> </a:t>
            </a:r>
            <a:r>
              <a:rPr sz="1700" i="0">
                <a:solidFill>
                  <a:srgbClr val="E8EDF2"/>
                </a:solidFill>
                <a:latin typeface="Consolas"/>
              </a:rPr>
              <a:t>assign</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a:latin typeface="Consolas"/>
              </a:rPr>
              <a:t> </a:t>
            </a:r>
          </a:p>
          <a:p>
            <a:pPr>
              <a:lnSpc>
                <a:spcPct val="100000"/>
              </a:lnSpc>
              <a:spcAft>
                <a:spcPts val="0"/>
              </a:spcAft>
            </a:pPr>
            <a:r>
              <a:rPr sz="1700" i="0">
                <a:solidFill>
                  <a:srgbClr val="E8EDF2"/>
                </a:solidFill>
                <a:latin typeface="Consolas"/>
              </a:rPr>
              <a:t>    </a:t>
            </a:r>
            <a:r>
              <a:rPr sz="1700" i="0">
                <a:solidFill>
                  <a:srgbClr val="5DADE2"/>
                </a:solidFill>
                <a:latin typeface="Consolas"/>
              </a:rPr>
              <a:t>return</a:t>
            </a:r>
            <a:r>
              <a:rPr sz="1700" i="0">
                <a:solidFill>
                  <a:srgbClr val="E8EDF2"/>
                </a:solidFill>
                <a:latin typeface="Consolas"/>
              </a:rPr>
              <a:t> </a:t>
            </a:r>
            <a:r>
              <a:rPr sz="1700" i="0">
                <a:solidFill>
                  <a:srgbClr val="C39BD3"/>
                </a:solidFill>
                <a:latin typeface="Consolas"/>
              </a:rPr>
              <a:t>max</a:t>
            </a:r>
            <a:r>
              <a:rPr sz="1700" i="0">
                <a:solidFill>
                  <a:srgbClr val="AEB6BF"/>
                </a:solidFill>
                <a:latin typeface="Consolas"/>
              </a:rPr>
              <a:t>(</a:t>
            </a:r>
            <a:r>
              <a:rPr sz="1700" i="0">
                <a:solidFill>
                  <a:srgbClr val="E8EDF2"/>
                </a:solidFill>
                <a:latin typeface="Consolas"/>
              </a:rPr>
              <a:t>tied</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key</a:t>
            </a:r>
            <a:r>
              <a:rPr sz="1700" i="0">
                <a:solidFill>
                  <a:srgbClr val="AEB6BF"/>
                </a:solidFill>
                <a:latin typeface="Consolas"/>
              </a:rPr>
              <a:t>=</a:t>
            </a:r>
            <a:r>
              <a:rPr sz="1700" i="0">
                <a:solidFill>
                  <a:srgbClr val="E8EDF2"/>
                </a:solidFill>
                <a:latin typeface="Consolas"/>
              </a:rPr>
              <a:t>deg</a:t>
            </a:r>
            <a:r>
              <a:rPr sz="1700" i="0">
                <a:solidFill>
                  <a:srgbClr val="AEB6BF"/>
                </a:solidFill>
                <a:latin typeface="Consolas"/>
              </a:rPr>
              <a:t>)</a:t>
            </a:r>
          </a:p>
        </p:txBody>
      </p:sp>
      <p:sp>
        <p:nvSpPr>
          <p:cNvPr id="14" name="!!code-num"/>
          <p:cNvSpPr txBox="1"/>
          <p:nvPr/>
        </p:nvSpPr>
        <p:spPr>
          <a:xfrm>
            <a:off x="768096" y="2066543"/>
            <a:ext cx="393192" cy="3995928"/>
          </a:xfrm>
          <a:prstGeom prst="rect">
            <a:avLst/>
          </a:prstGeom>
          <a:noFill/>
        </p:spPr>
        <p:txBody>
          <a:bodyPr wrap="none" anchor="t" lIns="0" rIns="0" tIns="0" bIns="0">
            <a:noAutofit/>
          </a:bodyPr>
          <a:lstStyle/>
          <a:p>
            <a:pPr algn="r">
              <a:lnSpc>
                <a:spcPct val="100000"/>
              </a:lnSpc>
            </a:pPr>
            <a:r>
              <a:rPr sz="1700">
                <a:solidFill>
                  <a:srgbClr val="4F5D6A"/>
                </a:solidFill>
                <a:latin typeface="Consolas"/>
              </a:rPr>
              <a:t>67</a:t>
            </a:r>
          </a:p>
          <a:p>
            <a:pPr algn="r">
              <a:lnSpc>
                <a:spcPct val="100000"/>
              </a:lnSpc>
            </a:pPr>
            <a:r>
              <a:rPr sz="1700">
                <a:solidFill>
                  <a:srgbClr val="4F5D6A"/>
                </a:solidFill>
                <a:latin typeface="Consolas"/>
              </a:rPr>
              <a:t>68</a:t>
            </a:r>
          </a:p>
          <a:p>
            <a:pPr algn="r">
              <a:lnSpc>
                <a:spcPct val="100000"/>
              </a:lnSpc>
            </a:pPr>
            <a:r>
              <a:rPr sz="1700">
                <a:solidFill>
                  <a:srgbClr val="4F5D6A"/>
                </a:solidFill>
                <a:latin typeface="Consolas"/>
              </a:rPr>
              <a:t>69</a:t>
            </a:r>
          </a:p>
          <a:p>
            <a:pPr algn="r">
              <a:lnSpc>
                <a:spcPct val="100000"/>
              </a:lnSpc>
            </a:pPr>
            <a:r>
              <a:rPr sz="1700">
                <a:solidFill>
                  <a:srgbClr val="4F5D6A"/>
                </a:solidFill>
                <a:latin typeface="Consolas"/>
              </a:rPr>
              <a:t>70</a:t>
            </a:r>
          </a:p>
          <a:p>
            <a:pPr algn="r">
              <a:lnSpc>
                <a:spcPct val="100000"/>
              </a:lnSpc>
            </a:pPr>
            <a:r>
              <a:rPr sz="1700">
                <a:solidFill>
                  <a:srgbClr val="4F5D6A"/>
                </a:solidFill>
                <a:latin typeface="Consolas"/>
              </a:rPr>
              <a:t>71</a:t>
            </a:r>
          </a:p>
          <a:p>
            <a:pPr algn="r">
              <a:lnSpc>
                <a:spcPct val="100000"/>
              </a:lnSpc>
            </a:pPr>
            <a:r>
              <a:rPr sz="1700">
                <a:solidFill>
                  <a:srgbClr val="4F5D6A"/>
                </a:solidFill>
                <a:latin typeface="Consolas"/>
              </a:rPr>
              <a:t>72</a:t>
            </a:r>
          </a:p>
          <a:p>
            <a:pPr algn="r">
              <a:lnSpc>
                <a:spcPct val="100000"/>
              </a:lnSpc>
            </a:pPr>
            <a:r>
              <a:rPr sz="1700">
                <a:solidFill>
                  <a:srgbClr val="4F5D6A"/>
                </a:solidFill>
                <a:latin typeface="Consolas"/>
              </a:rPr>
              <a:t>73</a:t>
            </a:r>
          </a:p>
          <a:p>
            <a:pPr algn="r">
              <a:lnSpc>
                <a:spcPct val="100000"/>
              </a:lnSpc>
            </a:pPr>
            <a:r>
              <a:rPr sz="1700">
                <a:solidFill>
                  <a:srgbClr val="4F5D6A"/>
                </a:solidFill>
                <a:latin typeface="Consolas"/>
              </a:rPr>
              <a:t>74</a:t>
            </a:r>
          </a:p>
          <a:p>
            <a:pPr algn="r">
              <a:lnSpc>
                <a:spcPct val="100000"/>
              </a:lnSpc>
            </a:pPr>
            <a:r>
              <a:rPr sz="1700">
                <a:solidFill>
                  <a:srgbClr val="4F5D6A"/>
                </a:solidFill>
                <a:latin typeface="Consolas"/>
              </a:rPr>
              <a:t>75</a:t>
            </a:r>
          </a:p>
          <a:p>
            <a:pPr algn="r">
              <a:lnSpc>
                <a:spcPct val="100000"/>
              </a:lnSpc>
            </a:pPr>
            <a:r>
              <a:rPr sz="1700">
                <a:solidFill>
                  <a:srgbClr val="4F5D6A"/>
                </a:solidFill>
                <a:latin typeface="Consolas"/>
              </a:rPr>
              <a:t>76</a:t>
            </a:r>
          </a:p>
          <a:p>
            <a:pPr algn="r">
              <a:lnSpc>
                <a:spcPct val="100000"/>
              </a:lnSpc>
            </a:pPr>
            <a:r>
              <a:rPr sz="1700">
                <a:solidFill>
                  <a:srgbClr val="4F5D6A"/>
                </a:solidFill>
                <a:latin typeface="Consolas"/>
              </a:rPr>
              <a:t>77</a:t>
            </a:r>
          </a:p>
          <a:p>
            <a:pPr algn="r">
              <a:lnSpc>
                <a:spcPct val="100000"/>
              </a:lnSpc>
            </a:pPr>
            <a:r>
              <a:rPr sz="1700">
                <a:solidFill>
                  <a:srgbClr val="4F5D6A"/>
                </a:solidFill>
                <a:latin typeface="Consolas"/>
              </a:rPr>
              <a:t>78</a:t>
            </a:r>
          </a:p>
          <a:p>
            <a:pPr algn="r">
              <a:lnSpc>
                <a:spcPct val="100000"/>
              </a:lnSpc>
            </a:pPr>
            <a:r>
              <a:rPr sz="1700">
                <a:solidFill>
                  <a:srgbClr val="4F5D6A"/>
                </a:solidFill>
                <a:latin typeface="Consolas"/>
              </a:rPr>
              <a:t>79</a:t>
            </a:r>
          </a:p>
          <a:p>
            <a:pPr algn="r">
              <a:lnSpc>
                <a:spcPct val="100000"/>
              </a:lnSpc>
            </a:pPr>
            <a:r>
              <a:rPr sz="1700">
                <a:solidFill>
                  <a:srgbClr val="4F5D6A"/>
                </a:solidFill>
                <a:latin typeface="Consolas"/>
              </a:rPr>
              <a:t>80</a:t>
            </a:r>
          </a:p>
          <a:p>
            <a:pPr algn="r">
              <a:lnSpc>
                <a:spcPct val="100000"/>
              </a:lnSpc>
            </a:pPr>
            <a:r>
              <a:rPr sz="1700">
                <a:solidFill>
                  <a:srgbClr val="4F5D6A"/>
                </a:solidFill>
                <a:latin typeface="Consolas"/>
              </a:rPr>
              <a:t>81</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6095847"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Sprint Scheduling as a CSP</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6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7  ·  Constraint Satisfaction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§7.7  ·  Handout p. 72     </a:t>
            </a:r>
            <a:fld id="{7228A76B-F40D-472F-8918-E786FD6AF4D6}" type="slidenum">
              <a:rPr lang="en-GB" sz="1000">
                <a:solidFill>
                  <a:srgbClr val="8795A1"/>
                </a:solidFill>
                <a:latin typeface="Segoe UI"/>
              </a:rPr>
              <a:t>26</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3895344"/>
          </a:xfrm>
          <a:prstGeom prst="roundRect">
            <a:avLst>
              <a:gd name="adj" fmla="val 234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code/ch07_sprint_scheduling_as.py</a:t>
            </a:r>
          </a:p>
        </p:txBody>
      </p:sp>
      <p:sp>
        <p:nvSpPr>
          <p:cNvPr id="13" name="!!code-text" descr="def forward_check(var, val, domains, c): &quot;&quot;&quot;Prune the neighbours. None means a domain emptied.&quot;&quot;&quot; nd = {k: list(v) for k, v in domains.items()} nd[var] = [val] for other in NAMES: if other == var: continue keep = [x for x in nd[other] if binary_ok(var, val, other, x, c)] if not keep: return None nd[other] = keep return nd"/>
          <p:cNvSpPr txBox="1"/>
          <p:nvPr/>
        </p:nvSpPr>
        <p:spPr>
          <a:xfrm>
            <a:off x="1362456" y="2066543"/>
            <a:ext cx="9987991" cy="3401568"/>
          </a:xfrm>
          <a:prstGeom prst="rect">
            <a:avLst/>
          </a:prstGeom>
          <a:noFill/>
        </p:spPr>
        <p:txBody>
          <a:bodyPr wrap="none" anchor="t" lIns="0" rIns="0" tIns="0" bIns="0">
            <a:noAutofit/>
          </a:bodyPr>
          <a:lstStyle/>
          <a:p>
            <a:pPr>
              <a:lnSpc>
                <a:spcPct val="100000"/>
              </a:lnSpc>
              <a:spcAft>
                <a:spcPts val="0"/>
              </a:spcAft>
            </a:pPr>
            <a:r>
              <a:rPr sz="1800" i="0">
                <a:solidFill>
                  <a:srgbClr val="5DADE2"/>
                </a:solidFill>
                <a:latin typeface="Consolas"/>
              </a:rPr>
              <a:t>def</a:t>
            </a:r>
            <a:r>
              <a:rPr sz="1800" i="0">
                <a:solidFill>
                  <a:srgbClr val="E8EDF2"/>
                </a:solidFill>
                <a:latin typeface="Consolas"/>
              </a:rPr>
              <a:t> </a:t>
            </a:r>
            <a:r>
              <a:rPr sz="1800" i="0">
                <a:solidFill>
                  <a:srgbClr val="C39BD3"/>
                </a:solidFill>
                <a:latin typeface="Consolas"/>
              </a:rPr>
              <a:t>forward_check</a:t>
            </a:r>
            <a:r>
              <a:rPr sz="1800" i="0">
                <a:solidFill>
                  <a:srgbClr val="AEB6BF"/>
                </a:solidFill>
                <a:latin typeface="Consolas"/>
              </a:rPr>
              <a:t>(</a:t>
            </a:r>
            <a:r>
              <a:rPr sz="1800" i="0">
                <a:solidFill>
                  <a:srgbClr val="E8EDF2"/>
                </a:solidFill>
                <a:latin typeface="Consolas"/>
              </a:rPr>
              <a:t>var</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val</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domains</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c</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7DCEA0"/>
                </a:solidFill>
                <a:latin typeface="Consolas"/>
              </a:rPr>
              <a:t>"""Prune the neighbours. None means a domain emptied."""</a:t>
            </a:r>
          </a:p>
          <a:p>
            <a:pPr>
              <a:lnSpc>
                <a:spcPct val="100000"/>
              </a:lnSpc>
              <a:spcAft>
                <a:spcPts val="0"/>
              </a:spcAft>
            </a:pPr>
            <a:r>
              <a:rPr sz="1800" i="0">
                <a:solidFill>
                  <a:srgbClr val="E8EDF2"/>
                </a:solidFill>
                <a:latin typeface="Consolas"/>
              </a:rPr>
              <a:t>    </a:t>
            </a:r>
            <a:r>
              <a:rPr sz="1800" i="0">
                <a:solidFill>
                  <a:srgbClr val="E8EDF2"/>
                </a:solidFill>
                <a:latin typeface="Consolas"/>
              </a:rPr>
              <a:t>nd</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k</a:t>
            </a:r>
            <a:r>
              <a:rPr sz="1800" i="0">
                <a:solidFill>
                  <a:srgbClr val="AEB6BF"/>
                </a:solidFill>
                <a:latin typeface="Consolas"/>
              </a:rPr>
              <a:t>:</a:t>
            </a:r>
            <a:r>
              <a:rPr sz="1800" i="0">
                <a:solidFill>
                  <a:srgbClr val="E8EDF2"/>
                </a:solidFill>
                <a:latin typeface="Consolas"/>
              </a:rPr>
              <a:t> </a:t>
            </a:r>
            <a:r>
              <a:rPr sz="1800" i="0">
                <a:solidFill>
                  <a:srgbClr val="C39BD3"/>
                </a:solidFill>
                <a:latin typeface="Consolas"/>
              </a:rPr>
              <a:t>list</a:t>
            </a:r>
            <a:r>
              <a:rPr sz="1800" i="0">
                <a:solidFill>
                  <a:srgbClr val="AEB6BF"/>
                </a:solidFill>
                <a:latin typeface="Consolas"/>
              </a:rPr>
              <a:t>(</a:t>
            </a:r>
            <a:r>
              <a:rPr sz="1800" i="0">
                <a:solidFill>
                  <a:srgbClr val="E8EDF2"/>
                </a:solidFill>
                <a:latin typeface="Consolas"/>
              </a:rPr>
              <a:t>v</a:t>
            </a:r>
            <a:r>
              <a:rPr sz="1800" i="0">
                <a:solidFill>
                  <a:srgbClr val="AEB6BF"/>
                </a:solidFill>
                <a:latin typeface="Consolas"/>
              </a:rPr>
              <a:t>)</a:t>
            </a:r>
            <a:r>
              <a:rPr sz="1800" i="0">
                <a:solidFill>
                  <a:srgbClr val="E8EDF2"/>
                </a:solidFill>
                <a:latin typeface="Consolas"/>
              </a:rPr>
              <a:t> </a:t>
            </a:r>
            <a:r>
              <a:rPr sz="1800" i="0">
                <a:solidFill>
                  <a:srgbClr val="5DADE2"/>
                </a:solidFill>
                <a:latin typeface="Consolas"/>
              </a:rPr>
              <a:t>for</a:t>
            </a:r>
            <a:r>
              <a:rPr sz="1800" i="0">
                <a:solidFill>
                  <a:srgbClr val="E8EDF2"/>
                </a:solidFill>
                <a:latin typeface="Consolas"/>
              </a:rPr>
              <a:t> </a:t>
            </a:r>
            <a:r>
              <a:rPr sz="1800" i="0">
                <a:solidFill>
                  <a:srgbClr val="E8EDF2"/>
                </a:solidFill>
                <a:latin typeface="Consolas"/>
              </a:rPr>
              <a:t>k</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v</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E8EDF2"/>
                </a:solidFill>
                <a:latin typeface="Consolas"/>
              </a:rPr>
              <a:t>domains</a:t>
            </a:r>
            <a:r>
              <a:rPr sz="1800" i="0">
                <a:solidFill>
                  <a:srgbClr val="AEB6BF"/>
                </a:solidFill>
                <a:latin typeface="Consolas"/>
              </a:rPr>
              <a:t>.</a:t>
            </a:r>
            <a:r>
              <a:rPr sz="1800" i="0">
                <a:solidFill>
                  <a:srgbClr val="E8EDF2"/>
                </a:solidFill>
                <a:latin typeface="Consolas"/>
              </a:rPr>
              <a:t>items</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nd</a:t>
            </a:r>
            <a:r>
              <a:rPr sz="1800" i="0">
                <a:solidFill>
                  <a:srgbClr val="AEB6BF"/>
                </a:solidFill>
                <a:latin typeface="Consolas"/>
              </a:rPr>
              <a:t>[</a:t>
            </a:r>
            <a:r>
              <a:rPr sz="1800" i="0">
                <a:solidFill>
                  <a:srgbClr val="E8EDF2"/>
                </a:solidFill>
                <a:latin typeface="Consolas"/>
              </a:rPr>
              <a:t>var</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val</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for</a:t>
            </a:r>
            <a:r>
              <a:rPr sz="1800" i="0">
                <a:solidFill>
                  <a:srgbClr val="E8EDF2"/>
                </a:solidFill>
                <a:latin typeface="Consolas"/>
              </a:rPr>
              <a:t> </a:t>
            </a:r>
            <a:r>
              <a:rPr sz="1800" i="0">
                <a:solidFill>
                  <a:srgbClr val="E8EDF2"/>
                </a:solidFill>
                <a:latin typeface="Consolas"/>
              </a:rPr>
              <a:t>other</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E8EDF2"/>
                </a:solidFill>
                <a:latin typeface="Consolas"/>
              </a:rPr>
              <a:t>NAMES</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if</a:t>
            </a:r>
            <a:r>
              <a:rPr sz="1800" i="0">
                <a:solidFill>
                  <a:srgbClr val="E8EDF2"/>
                </a:solidFill>
                <a:latin typeface="Consolas"/>
              </a:rPr>
              <a:t> </a:t>
            </a:r>
            <a:r>
              <a:rPr sz="1800" i="0">
                <a:solidFill>
                  <a:srgbClr val="E8EDF2"/>
                </a:solidFill>
                <a:latin typeface="Consolas"/>
              </a:rPr>
              <a:t>other</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var</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continue</a:t>
            </a:r>
          </a:p>
          <a:p>
            <a:pPr>
              <a:lnSpc>
                <a:spcPct val="100000"/>
              </a:lnSpc>
              <a:spcAft>
                <a:spcPts val="0"/>
              </a:spcAft>
            </a:pPr>
            <a:r>
              <a:rPr sz="1800" i="0">
                <a:solidFill>
                  <a:srgbClr val="E8EDF2"/>
                </a:solidFill>
                <a:latin typeface="Consolas"/>
              </a:rPr>
              <a:t>        </a:t>
            </a:r>
            <a:r>
              <a:rPr sz="1800" i="0">
                <a:solidFill>
                  <a:srgbClr val="E8EDF2"/>
                </a:solidFill>
                <a:latin typeface="Consolas"/>
              </a:rPr>
              <a:t>keep</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x</a:t>
            </a:r>
            <a:r>
              <a:rPr sz="1800" i="0">
                <a:solidFill>
                  <a:srgbClr val="E8EDF2"/>
                </a:solidFill>
                <a:latin typeface="Consolas"/>
              </a:rPr>
              <a:t> </a:t>
            </a:r>
            <a:r>
              <a:rPr sz="1800" i="0">
                <a:solidFill>
                  <a:srgbClr val="5DADE2"/>
                </a:solidFill>
                <a:latin typeface="Consolas"/>
              </a:rPr>
              <a:t>for</a:t>
            </a:r>
            <a:r>
              <a:rPr sz="1800" i="0">
                <a:solidFill>
                  <a:srgbClr val="E8EDF2"/>
                </a:solidFill>
                <a:latin typeface="Consolas"/>
              </a:rPr>
              <a:t> </a:t>
            </a:r>
            <a:r>
              <a:rPr sz="1800" i="0">
                <a:solidFill>
                  <a:srgbClr val="E8EDF2"/>
                </a:solidFill>
                <a:latin typeface="Consolas"/>
              </a:rPr>
              <a:t>x</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E8EDF2"/>
                </a:solidFill>
                <a:latin typeface="Consolas"/>
              </a:rPr>
              <a:t>nd</a:t>
            </a:r>
            <a:r>
              <a:rPr sz="1800" i="0">
                <a:solidFill>
                  <a:srgbClr val="AEB6BF"/>
                </a:solidFill>
                <a:latin typeface="Consolas"/>
              </a:rPr>
              <a:t>[</a:t>
            </a:r>
            <a:r>
              <a:rPr sz="1800" i="0">
                <a:solidFill>
                  <a:srgbClr val="E8EDF2"/>
                </a:solidFill>
                <a:latin typeface="Consolas"/>
              </a:rPr>
              <a:t>other</a:t>
            </a:r>
            <a:r>
              <a:rPr sz="1800" i="0">
                <a:solidFill>
                  <a:srgbClr val="AEB6BF"/>
                </a:solidFill>
                <a:latin typeface="Consolas"/>
              </a:rPr>
              <a:t>]</a:t>
            </a:r>
            <a:r>
              <a:rPr sz="1800" i="0">
                <a:solidFill>
                  <a:srgbClr val="E8EDF2"/>
                </a:solidFill>
                <a:latin typeface="Consolas"/>
              </a:rPr>
              <a:t> </a:t>
            </a:r>
            <a:r>
              <a:rPr sz="1800" i="0">
                <a:solidFill>
                  <a:srgbClr val="5DADE2"/>
                </a:solidFill>
                <a:latin typeface="Consolas"/>
              </a:rPr>
              <a:t>if</a:t>
            </a:r>
            <a:r>
              <a:rPr sz="1800" i="0">
                <a:solidFill>
                  <a:srgbClr val="E8EDF2"/>
                </a:solidFill>
                <a:latin typeface="Consolas"/>
              </a:rPr>
              <a:t> </a:t>
            </a:r>
            <a:r>
              <a:rPr sz="1800" i="0">
                <a:solidFill>
                  <a:srgbClr val="E8EDF2"/>
                </a:solidFill>
                <a:latin typeface="Consolas"/>
              </a:rPr>
              <a:t>binary_ok</a:t>
            </a:r>
            <a:r>
              <a:rPr sz="1800" i="0">
                <a:solidFill>
                  <a:srgbClr val="AEB6BF"/>
                </a:solidFill>
                <a:latin typeface="Consolas"/>
              </a:rPr>
              <a:t>(</a:t>
            </a:r>
            <a:r>
              <a:rPr sz="1800" i="0">
                <a:solidFill>
                  <a:srgbClr val="E8EDF2"/>
                </a:solidFill>
                <a:latin typeface="Consolas"/>
              </a:rPr>
              <a:t>var</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val</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other</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x</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c</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if</a:t>
            </a:r>
            <a:r>
              <a:rPr sz="1800" i="0">
                <a:solidFill>
                  <a:srgbClr val="E8EDF2"/>
                </a:solidFill>
                <a:latin typeface="Consolas"/>
              </a:rPr>
              <a:t> </a:t>
            </a:r>
            <a:r>
              <a:rPr sz="1800" i="0">
                <a:solidFill>
                  <a:srgbClr val="AEB6BF"/>
                </a:solidFill>
                <a:latin typeface="Consolas"/>
              </a:rPr>
              <a:t>not</a:t>
            </a:r>
            <a:r>
              <a:rPr sz="1800" i="0">
                <a:solidFill>
                  <a:srgbClr val="E8EDF2"/>
                </a:solidFill>
                <a:latin typeface="Consolas"/>
              </a:rPr>
              <a:t> </a:t>
            </a:r>
            <a:r>
              <a:rPr sz="1800" i="0">
                <a:solidFill>
                  <a:srgbClr val="E8EDF2"/>
                </a:solidFill>
                <a:latin typeface="Consolas"/>
              </a:rPr>
              <a:t>keep</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return</a:t>
            </a:r>
            <a:r>
              <a:rPr sz="1800" i="0">
                <a:solidFill>
                  <a:srgbClr val="E8EDF2"/>
                </a:solidFill>
                <a:latin typeface="Consolas"/>
              </a:rPr>
              <a:t> </a:t>
            </a:r>
            <a:r>
              <a:rPr sz="1800" i="0">
                <a:solidFill>
                  <a:srgbClr val="5DADE2"/>
                </a:solidFill>
                <a:latin typeface="Consolas"/>
              </a:rPr>
              <a:t>None</a:t>
            </a:r>
          </a:p>
          <a:p>
            <a:pPr>
              <a:lnSpc>
                <a:spcPct val="100000"/>
              </a:lnSpc>
              <a:spcAft>
                <a:spcPts val="0"/>
              </a:spcAft>
            </a:pPr>
            <a:r>
              <a:rPr sz="1800" i="0">
                <a:solidFill>
                  <a:srgbClr val="E8EDF2"/>
                </a:solidFill>
                <a:latin typeface="Consolas"/>
              </a:rPr>
              <a:t>        </a:t>
            </a:r>
            <a:r>
              <a:rPr sz="1800" i="0">
                <a:solidFill>
                  <a:srgbClr val="E8EDF2"/>
                </a:solidFill>
                <a:latin typeface="Consolas"/>
              </a:rPr>
              <a:t>nd</a:t>
            </a:r>
            <a:r>
              <a:rPr sz="1800" i="0">
                <a:solidFill>
                  <a:srgbClr val="AEB6BF"/>
                </a:solidFill>
                <a:latin typeface="Consolas"/>
              </a:rPr>
              <a:t>[</a:t>
            </a:r>
            <a:r>
              <a:rPr sz="1800" i="0">
                <a:solidFill>
                  <a:srgbClr val="E8EDF2"/>
                </a:solidFill>
                <a:latin typeface="Consolas"/>
              </a:rPr>
              <a:t>other</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keep</a:t>
            </a:r>
          </a:p>
          <a:p>
            <a:pPr>
              <a:lnSpc>
                <a:spcPct val="100000"/>
              </a:lnSpc>
              <a:spcAft>
                <a:spcPts val="0"/>
              </a:spcAft>
            </a:pPr>
            <a:r>
              <a:rPr sz="1800" i="0">
                <a:solidFill>
                  <a:srgbClr val="E8EDF2"/>
                </a:solidFill>
                <a:latin typeface="Consolas"/>
              </a:rPr>
              <a:t>    </a:t>
            </a:r>
            <a:r>
              <a:rPr sz="1800" i="0">
                <a:solidFill>
                  <a:srgbClr val="5DADE2"/>
                </a:solidFill>
                <a:latin typeface="Consolas"/>
              </a:rPr>
              <a:t>return</a:t>
            </a:r>
            <a:r>
              <a:rPr sz="1800" i="0">
                <a:solidFill>
                  <a:srgbClr val="E8EDF2"/>
                </a:solidFill>
                <a:latin typeface="Consolas"/>
              </a:rPr>
              <a:t> </a:t>
            </a:r>
            <a:r>
              <a:rPr sz="1800" i="0">
                <a:solidFill>
                  <a:srgbClr val="E8EDF2"/>
                </a:solidFill>
                <a:latin typeface="Consolas"/>
              </a:rPr>
              <a:t>nd</a:t>
            </a:r>
          </a:p>
        </p:txBody>
      </p:sp>
      <p:sp>
        <p:nvSpPr>
          <p:cNvPr id="14" name="!!code-num"/>
          <p:cNvSpPr txBox="1"/>
          <p:nvPr/>
        </p:nvSpPr>
        <p:spPr>
          <a:xfrm>
            <a:off x="768096" y="2066543"/>
            <a:ext cx="393192" cy="3401568"/>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84</a:t>
            </a:r>
          </a:p>
          <a:p>
            <a:pPr algn="r">
              <a:lnSpc>
                <a:spcPct val="100000"/>
              </a:lnSpc>
            </a:pPr>
            <a:r>
              <a:rPr sz="1800">
                <a:solidFill>
                  <a:srgbClr val="4F5D6A"/>
                </a:solidFill>
                <a:latin typeface="Consolas"/>
              </a:rPr>
              <a:t>85</a:t>
            </a:r>
          </a:p>
          <a:p>
            <a:pPr algn="r">
              <a:lnSpc>
                <a:spcPct val="100000"/>
              </a:lnSpc>
            </a:pPr>
            <a:r>
              <a:rPr sz="1800">
                <a:solidFill>
                  <a:srgbClr val="4F5D6A"/>
                </a:solidFill>
                <a:latin typeface="Consolas"/>
              </a:rPr>
              <a:t>86</a:t>
            </a:r>
          </a:p>
          <a:p>
            <a:pPr algn="r">
              <a:lnSpc>
                <a:spcPct val="100000"/>
              </a:lnSpc>
            </a:pPr>
            <a:r>
              <a:rPr sz="1800">
                <a:solidFill>
                  <a:srgbClr val="4F5D6A"/>
                </a:solidFill>
                <a:latin typeface="Consolas"/>
              </a:rPr>
              <a:t>87</a:t>
            </a:r>
          </a:p>
          <a:p>
            <a:pPr algn="r">
              <a:lnSpc>
                <a:spcPct val="100000"/>
              </a:lnSpc>
            </a:pPr>
            <a:r>
              <a:rPr sz="1800">
                <a:solidFill>
                  <a:srgbClr val="4F5D6A"/>
                </a:solidFill>
                <a:latin typeface="Consolas"/>
              </a:rPr>
              <a:t>88</a:t>
            </a:r>
          </a:p>
          <a:p>
            <a:pPr algn="r">
              <a:lnSpc>
                <a:spcPct val="100000"/>
              </a:lnSpc>
            </a:pPr>
            <a:r>
              <a:rPr sz="1800">
                <a:solidFill>
                  <a:srgbClr val="4F5D6A"/>
                </a:solidFill>
                <a:latin typeface="Consolas"/>
              </a:rPr>
              <a:t>89</a:t>
            </a:r>
          </a:p>
          <a:p>
            <a:pPr algn="r">
              <a:lnSpc>
                <a:spcPct val="100000"/>
              </a:lnSpc>
            </a:pPr>
            <a:r>
              <a:rPr sz="1800">
                <a:solidFill>
                  <a:srgbClr val="4F5D6A"/>
                </a:solidFill>
                <a:latin typeface="Consolas"/>
              </a:rPr>
              <a:t>90</a:t>
            </a:r>
          </a:p>
          <a:p>
            <a:pPr algn="r">
              <a:lnSpc>
                <a:spcPct val="100000"/>
              </a:lnSpc>
            </a:pPr>
            <a:r>
              <a:rPr sz="1800">
                <a:solidFill>
                  <a:srgbClr val="4F5D6A"/>
                </a:solidFill>
                <a:latin typeface="Consolas"/>
              </a:rPr>
              <a:t>91</a:t>
            </a:r>
          </a:p>
          <a:p>
            <a:pPr algn="r">
              <a:lnSpc>
                <a:spcPct val="100000"/>
              </a:lnSpc>
            </a:pPr>
            <a:r>
              <a:rPr sz="1800">
                <a:solidFill>
                  <a:srgbClr val="4F5D6A"/>
                </a:solidFill>
                <a:latin typeface="Consolas"/>
              </a:rPr>
              <a:t>92</a:t>
            </a:r>
          </a:p>
          <a:p>
            <a:pPr algn="r">
              <a:lnSpc>
                <a:spcPct val="100000"/>
              </a:lnSpc>
            </a:pPr>
            <a:r>
              <a:rPr sz="1800">
                <a:solidFill>
                  <a:srgbClr val="4F5D6A"/>
                </a:solidFill>
                <a:latin typeface="Consolas"/>
              </a:rPr>
              <a:t>93</a:t>
            </a:r>
          </a:p>
          <a:p>
            <a:pPr algn="r">
              <a:lnSpc>
                <a:spcPct val="100000"/>
              </a:lnSpc>
            </a:pPr>
            <a:r>
              <a:rPr sz="1800">
                <a:solidFill>
                  <a:srgbClr val="4F5D6A"/>
                </a:solidFill>
                <a:latin typeface="Consolas"/>
              </a:rPr>
              <a:t>94</a:t>
            </a:r>
          </a:p>
          <a:p>
            <a:pPr algn="r">
              <a:lnSpc>
                <a:spcPct val="100000"/>
              </a:lnSpc>
            </a:pPr>
            <a:r>
              <a:rPr sz="1800">
                <a:solidFill>
                  <a:srgbClr val="4F5D6A"/>
                </a:solidFill>
                <a:latin typeface="Consolas"/>
              </a:rPr>
              <a:t>95</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633968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Sprint Scheduling as a CSP</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7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7  ·  Constraint Satisfaction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§7.7  ·  Handout p. 72     </a:t>
            </a:r>
            <a:fld id="{B2B4FF08-953F-4231-AC43-DEB74D6E09E3}" type="slidenum">
              <a:rPr lang="en-GB" sz="1000">
                <a:solidFill>
                  <a:srgbClr val="8795A1"/>
                </a:solidFill>
                <a:latin typeface="Segoe UI"/>
              </a:rPr>
              <a:t>27</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4489704"/>
          </a:xfrm>
          <a:prstGeom prst="roundRect">
            <a:avLst>
              <a:gd name="adj" fmla="val 203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code/ch07_sprint_scheduling_as.py</a:t>
            </a:r>
          </a:p>
        </p:txBody>
      </p:sp>
      <p:sp>
        <p:nvSpPr>
          <p:cNvPr id="13" name="!!code-text" descr="def ac3(domains, c): &quot;&quot;&quot;Arc consistency over the BINARY constraints only.&quot;&quot;&quot; nd = {k: list(v) for k, v in domains.items()} arcs = [] for (a, b) in BEFORE + APART: arcs += [(a, b), (b, a)] queue = list(arcs) while queue: xi, xj = queue.pop(0) keep = [vi for vi in nd[xi] if any(binary_ok(xi, vi, xj, vj, c) for vj in nd[xj])] if len(keep) != len(nd[xi]): nd[xi] = keep if not nd[xi]: return None queue += [(a, b) for (a, b) in arcs if b == xi] return nd"/>
          <p:cNvSpPr txBox="1"/>
          <p:nvPr/>
        </p:nvSpPr>
        <p:spPr>
          <a:xfrm>
            <a:off x="1362456" y="2066543"/>
            <a:ext cx="9987991" cy="3995928"/>
          </a:xfrm>
          <a:prstGeom prst="rect">
            <a:avLst/>
          </a:prstGeom>
          <a:noFill/>
        </p:spPr>
        <p:txBody>
          <a:bodyPr wrap="none" anchor="t" lIns="0" rIns="0" tIns="0" bIns="0">
            <a:noAutofit/>
          </a:bodyPr>
          <a:lstStyle/>
          <a:p>
            <a:pPr>
              <a:lnSpc>
                <a:spcPct val="100000"/>
              </a:lnSpc>
              <a:spcAft>
                <a:spcPts val="0"/>
              </a:spcAft>
            </a:pPr>
            <a:r>
              <a:rPr sz="1500" i="0">
                <a:solidFill>
                  <a:srgbClr val="5DADE2"/>
                </a:solidFill>
                <a:latin typeface="Consolas"/>
              </a:rPr>
              <a:t>def</a:t>
            </a:r>
            <a:r>
              <a:rPr sz="1500" i="0">
                <a:solidFill>
                  <a:srgbClr val="E8EDF2"/>
                </a:solidFill>
                <a:latin typeface="Consolas"/>
              </a:rPr>
              <a:t> </a:t>
            </a:r>
            <a:r>
              <a:rPr sz="1500" i="0">
                <a:solidFill>
                  <a:srgbClr val="C39BD3"/>
                </a:solidFill>
                <a:latin typeface="Consolas"/>
              </a:rPr>
              <a:t>ac3</a:t>
            </a:r>
            <a:r>
              <a:rPr sz="1500" i="0">
                <a:solidFill>
                  <a:srgbClr val="AEB6BF"/>
                </a:solidFill>
                <a:latin typeface="Consolas"/>
              </a:rPr>
              <a:t>(</a:t>
            </a:r>
            <a:r>
              <a:rPr sz="1500" i="0">
                <a:solidFill>
                  <a:srgbClr val="E8EDF2"/>
                </a:solidFill>
                <a:latin typeface="Consolas"/>
              </a:rPr>
              <a:t>domains</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c</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7DCEA0"/>
                </a:solidFill>
                <a:latin typeface="Consolas"/>
              </a:rPr>
              <a:t>"""Arc consistency over the BINARY constraints only."""</a:t>
            </a:r>
          </a:p>
          <a:p>
            <a:pPr>
              <a:lnSpc>
                <a:spcPct val="100000"/>
              </a:lnSpc>
              <a:spcAft>
                <a:spcPts val="0"/>
              </a:spcAft>
            </a:pPr>
            <a:r>
              <a:rPr sz="1500" i="0">
                <a:solidFill>
                  <a:srgbClr val="E8EDF2"/>
                </a:solidFill>
                <a:latin typeface="Consolas"/>
              </a:rPr>
              <a:t>    </a:t>
            </a:r>
            <a:r>
              <a:rPr sz="1500" i="0">
                <a:solidFill>
                  <a:srgbClr val="E8EDF2"/>
                </a:solidFill>
                <a:latin typeface="Consolas"/>
              </a:rPr>
              <a:t>nd</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k</a:t>
            </a:r>
            <a:r>
              <a:rPr sz="1500" i="0">
                <a:solidFill>
                  <a:srgbClr val="AEB6BF"/>
                </a:solidFill>
                <a:latin typeface="Consolas"/>
              </a:rPr>
              <a:t>:</a:t>
            </a:r>
            <a:r>
              <a:rPr sz="1500" i="0">
                <a:solidFill>
                  <a:srgbClr val="E8EDF2"/>
                </a:solidFill>
                <a:latin typeface="Consolas"/>
              </a:rPr>
              <a:t> </a:t>
            </a:r>
            <a:r>
              <a:rPr sz="1500" i="0">
                <a:solidFill>
                  <a:srgbClr val="C39BD3"/>
                </a:solidFill>
                <a:latin typeface="Consolas"/>
              </a:rPr>
              <a:t>list</a:t>
            </a:r>
            <a:r>
              <a:rPr sz="1500" i="0">
                <a:solidFill>
                  <a:srgbClr val="AEB6BF"/>
                </a:solidFill>
                <a:latin typeface="Consolas"/>
              </a:rPr>
              <a:t>(</a:t>
            </a:r>
            <a:r>
              <a:rPr sz="1500" i="0">
                <a:solidFill>
                  <a:srgbClr val="E8EDF2"/>
                </a:solidFill>
                <a:latin typeface="Consolas"/>
              </a:rPr>
              <a:t>v</a:t>
            </a:r>
            <a:r>
              <a:rPr sz="1500" i="0">
                <a:solidFill>
                  <a:srgbClr val="AEB6BF"/>
                </a:solidFill>
                <a:latin typeface="Consolas"/>
              </a:rPr>
              <a:t>)</a:t>
            </a:r>
            <a:r>
              <a:rPr sz="1500" i="0">
                <a:solidFill>
                  <a:srgbClr val="E8EDF2"/>
                </a:solidFill>
                <a:latin typeface="Consolas"/>
              </a:rPr>
              <a:t> </a:t>
            </a:r>
            <a:r>
              <a:rPr sz="1500" i="0">
                <a:solidFill>
                  <a:srgbClr val="5DADE2"/>
                </a:solidFill>
                <a:latin typeface="Consolas"/>
              </a:rPr>
              <a:t>for</a:t>
            </a:r>
            <a:r>
              <a:rPr sz="1500" i="0">
                <a:solidFill>
                  <a:srgbClr val="E8EDF2"/>
                </a:solidFill>
                <a:latin typeface="Consolas"/>
              </a:rPr>
              <a:t> </a:t>
            </a:r>
            <a:r>
              <a:rPr sz="1500" i="0">
                <a:solidFill>
                  <a:srgbClr val="E8EDF2"/>
                </a:solidFill>
                <a:latin typeface="Consolas"/>
              </a:rPr>
              <a:t>k</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v</a:t>
            </a:r>
            <a:r>
              <a:rPr sz="1500" i="0">
                <a:solidFill>
                  <a:srgbClr val="E8EDF2"/>
                </a:solidFill>
                <a:latin typeface="Consolas"/>
              </a:rPr>
              <a:t> </a:t>
            </a:r>
            <a:r>
              <a:rPr sz="1500" i="0">
                <a:solidFill>
                  <a:srgbClr val="AEB6BF"/>
                </a:solidFill>
                <a:latin typeface="Consolas"/>
              </a:rPr>
              <a:t>in</a:t>
            </a:r>
            <a:r>
              <a:rPr sz="1500" i="0">
                <a:solidFill>
                  <a:srgbClr val="E8EDF2"/>
                </a:solidFill>
                <a:latin typeface="Consolas"/>
              </a:rPr>
              <a:t> </a:t>
            </a:r>
            <a:r>
              <a:rPr sz="1500" i="0">
                <a:solidFill>
                  <a:srgbClr val="E8EDF2"/>
                </a:solidFill>
                <a:latin typeface="Consolas"/>
              </a:rPr>
              <a:t>domains</a:t>
            </a:r>
            <a:r>
              <a:rPr sz="1500" i="0">
                <a:solidFill>
                  <a:srgbClr val="AEB6BF"/>
                </a:solidFill>
                <a:latin typeface="Consolas"/>
              </a:rPr>
              <a:t>.</a:t>
            </a:r>
            <a:r>
              <a:rPr sz="1500" i="0">
                <a:solidFill>
                  <a:srgbClr val="E8EDF2"/>
                </a:solidFill>
                <a:latin typeface="Consolas"/>
              </a:rPr>
              <a:t>items</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arcs</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5DADE2"/>
                </a:solidFill>
                <a:latin typeface="Consolas"/>
              </a:rPr>
              <a:t>for</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a</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b</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in</a:t>
            </a:r>
            <a:r>
              <a:rPr sz="1500" i="0">
                <a:solidFill>
                  <a:srgbClr val="E8EDF2"/>
                </a:solidFill>
                <a:latin typeface="Consolas"/>
              </a:rPr>
              <a:t> </a:t>
            </a:r>
            <a:r>
              <a:rPr sz="1500" i="0">
                <a:solidFill>
                  <a:srgbClr val="E8EDF2"/>
                </a:solidFill>
                <a:latin typeface="Consolas"/>
              </a:rPr>
              <a:t>BEFORE</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APART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arcs</a:t>
            </a:r>
            <a:r>
              <a:rPr sz="1500" i="0">
                <a:solidFill>
                  <a:srgbClr val="E8EDF2"/>
                </a:solidFill>
                <a:latin typeface="Consolas"/>
              </a:rPr>
              <a:t> </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a</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b</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b</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a</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queue</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C39BD3"/>
                </a:solidFill>
                <a:latin typeface="Consolas"/>
              </a:rPr>
              <a:t>list</a:t>
            </a:r>
            <a:r>
              <a:rPr sz="1500" i="0">
                <a:solidFill>
                  <a:srgbClr val="AEB6BF"/>
                </a:solidFill>
                <a:latin typeface="Consolas"/>
              </a:rPr>
              <a:t>(</a:t>
            </a:r>
            <a:r>
              <a:rPr sz="1500" i="0">
                <a:solidFill>
                  <a:srgbClr val="E8EDF2"/>
                </a:solidFill>
                <a:latin typeface="Consolas"/>
              </a:rPr>
              <a:t>arcs</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5DADE2"/>
                </a:solidFill>
                <a:latin typeface="Consolas"/>
              </a:rPr>
              <a:t>while</a:t>
            </a:r>
            <a:r>
              <a:rPr sz="1500" i="0">
                <a:solidFill>
                  <a:srgbClr val="E8EDF2"/>
                </a:solidFill>
                <a:latin typeface="Consolas"/>
              </a:rPr>
              <a:t> </a:t>
            </a:r>
            <a:r>
              <a:rPr sz="1500" i="0">
                <a:solidFill>
                  <a:srgbClr val="E8EDF2"/>
                </a:solidFill>
                <a:latin typeface="Consolas"/>
              </a:rPr>
              <a:t>queue</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xi</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xj</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queue</a:t>
            </a:r>
            <a:r>
              <a:rPr sz="1500" i="0">
                <a:solidFill>
                  <a:srgbClr val="AEB6BF"/>
                </a:solidFill>
                <a:latin typeface="Consolas"/>
              </a:rPr>
              <a:t>.</a:t>
            </a:r>
            <a:r>
              <a:rPr sz="1500" i="0">
                <a:solidFill>
                  <a:srgbClr val="E8EDF2"/>
                </a:solidFill>
                <a:latin typeface="Consolas"/>
              </a:rPr>
              <a:t>pop</a:t>
            </a:r>
            <a:r>
              <a:rPr sz="1500" i="0">
                <a:solidFill>
                  <a:srgbClr val="AEB6BF"/>
                </a:solidFill>
                <a:latin typeface="Consolas"/>
              </a:rPr>
              <a:t>(</a:t>
            </a:r>
            <a:r>
              <a:rPr sz="1500" i="0">
                <a:solidFill>
                  <a:srgbClr val="F7DC6F"/>
                </a:solidFill>
                <a:latin typeface="Consolas"/>
              </a:rPr>
              <a:t>0</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keep</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vi</a:t>
            </a:r>
            <a:r>
              <a:rPr sz="1500" i="0">
                <a:solidFill>
                  <a:srgbClr val="E8EDF2"/>
                </a:solidFill>
                <a:latin typeface="Consolas"/>
              </a:rPr>
              <a:t> </a:t>
            </a:r>
            <a:r>
              <a:rPr sz="1500" i="0">
                <a:solidFill>
                  <a:srgbClr val="5DADE2"/>
                </a:solidFill>
                <a:latin typeface="Consolas"/>
              </a:rPr>
              <a:t>for</a:t>
            </a:r>
            <a:r>
              <a:rPr sz="1500" i="0">
                <a:solidFill>
                  <a:srgbClr val="E8EDF2"/>
                </a:solidFill>
                <a:latin typeface="Consolas"/>
              </a:rPr>
              <a:t> </a:t>
            </a:r>
            <a:r>
              <a:rPr sz="1500" i="0">
                <a:solidFill>
                  <a:srgbClr val="E8EDF2"/>
                </a:solidFill>
                <a:latin typeface="Consolas"/>
              </a:rPr>
              <a:t>vi</a:t>
            </a:r>
            <a:r>
              <a:rPr sz="1500" i="0">
                <a:solidFill>
                  <a:srgbClr val="E8EDF2"/>
                </a:solidFill>
                <a:latin typeface="Consolas"/>
              </a:rPr>
              <a:t> </a:t>
            </a:r>
            <a:r>
              <a:rPr sz="1500" i="0">
                <a:solidFill>
                  <a:srgbClr val="AEB6BF"/>
                </a:solidFill>
                <a:latin typeface="Consolas"/>
              </a:rPr>
              <a:t>in</a:t>
            </a:r>
            <a:r>
              <a:rPr sz="1500" i="0">
                <a:solidFill>
                  <a:srgbClr val="E8EDF2"/>
                </a:solidFill>
                <a:latin typeface="Consolas"/>
              </a:rPr>
              <a:t> </a:t>
            </a:r>
            <a:r>
              <a:rPr sz="1500" i="0">
                <a:solidFill>
                  <a:srgbClr val="E8EDF2"/>
                </a:solidFill>
                <a:latin typeface="Consolas"/>
              </a:rPr>
              <a:t>nd</a:t>
            </a:r>
            <a:r>
              <a:rPr sz="1500" i="0">
                <a:solidFill>
                  <a:srgbClr val="AEB6BF"/>
                </a:solidFill>
                <a:latin typeface="Consolas"/>
              </a:rPr>
              <a:t>[</a:t>
            </a:r>
            <a:r>
              <a:rPr sz="1500" i="0">
                <a:solidFill>
                  <a:srgbClr val="E8EDF2"/>
                </a:solidFill>
                <a:latin typeface="Consolas"/>
              </a:rPr>
              <a:t>xi</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5DADE2"/>
                </a:solidFill>
                <a:latin typeface="Consolas"/>
              </a:rPr>
              <a:t>if</a:t>
            </a:r>
            <a:r>
              <a:rPr sz="1500" i="0">
                <a:solidFill>
                  <a:srgbClr val="E8EDF2"/>
                </a:solidFill>
                <a:latin typeface="Consolas"/>
              </a:rPr>
              <a:t> </a:t>
            </a:r>
            <a:r>
              <a:rPr sz="1500" i="0">
                <a:solidFill>
                  <a:srgbClr val="C39BD3"/>
                </a:solidFill>
                <a:latin typeface="Consolas"/>
              </a:rPr>
              <a:t>any</a:t>
            </a:r>
            <a:r>
              <a:rPr sz="1500" i="0">
                <a:solidFill>
                  <a:srgbClr val="AEB6BF"/>
                </a:solidFill>
                <a:latin typeface="Consolas"/>
              </a:rPr>
              <a:t>(</a:t>
            </a:r>
            <a:r>
              <a:rPr sz="1500" i="0">
                <a:solidFill>
                  <a:srgbClr val="E8EDF2"/>
                </a:solidFill>
                <a:latin typeface="Consolas"/>
              </a:rPr>
              <a:t>binary_ok</a:t>
            </a:r>
            <a:r>
              <a:rPr sz="1500" i="0">
                <a:solidFill>
                  <a:srgbClr val="AEB6BF"/>
                </a:solidFill>
                <a:latin typeface="Consolas"/>
              </a:rPr>
              <a:t>(</a:t>
            </a:r>
            <a:r>
              <a:rPr sz="1500" i="0">
                <a:solidFill>
                  <a:srgbClr val="E8EDF2"/>
                </a:solidFill>
                <a:latin typeface="Consolas"/>
              </a:rPr>
              <a:t>xi</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vi</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xj</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vj</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c</a:t>
            </a:r>
            <a:r>
              <a:rPr sz="1500" i="0">
                <a:solidFill>
                  <a:srgbClr val="AEB6BF"/>
                </a:solidFill>
                <a:latin typeface="Consolas"/>
              </a:rPr>
              <a:t>)</a:t>
            </a:r>
            <a:r>
              <a:rPr sz="1500" i="0">
                <a:solidFill>
                  <a:srgbClr val="E8EDF2"/>
                </a:solidFill>
                <a:latin typeface="Consolas"/>
              </a:rPr>
              <a:t> </a:t>
            </a:r>
            <a:r>
              <a:rPr sz="1500" i="0">
                <a:solidFill>
                  <a:srgbClr val="5DADE2"/>
                </a:solidFill>
                <a:latin typeface="Consolas"/>
              </a:rPr>
              <a:t>for</a:t>
            </a:r>
            <a:r>
              <a:rPr sz="1500" i="0">
                <a:solidFill>
                  <a:srgbClr val="E8EDF2"/>
                </a:solidFill>
                <a:latin typeface="Consolas"/>
              </a:rPr>
              <a:t> </a:t>
            </a:r>
            <a:r>
              <a:rPr sz="1500" i="0">
                <a:solidFill>
                  <a:srgbClr val="E8EDF2"/>
                </a:solidFill>
                <a:latin typeface="Consolas"/>
              </a:rPr>
              <a:t>vj</a:t>
            </a:r>
            <a:r>
              <a:rPr sz="1500" i="0">
                <a:solidFill>
                  <a:srgbClr val="E8EDF2"/>
                </a:solidFill>
                <a:latin typeface="Consolas"/>
              </a:rPr>
              <a:t> </a:t>
            </a:r>
            <a:r>
              <a:rPr sz="1500" i="0">
                <a:solidFill>
                  <a:srgbClr val="AEB6BF"/>
                </a:solidFill>
                <a:latin typeface="Consolas"/>
              </a:rPr>
              <a:t>in</a:t>
            </a:r>
            <a:r>
              <a:rPr sz="1500" i="0">
                <a:solidFill>
                  <a:srgbClr val="E8EDF2"/>
                </a:solidFill>
                <a:latin typeface="Consolas"/>
              </a:rPr>
              <a:t> </a:t>
            </a:r>
            <a:r>
              <a:rPr sz="1500" i="0">
                <a:solidFill>
                  <a:srgbClr val="E8EDF2"/>
                </a:solidFill>
                <a:latin typeface="Consolas"/>
              </a:rPr>
              <a:t>nd</a:t>
            </a:r>
            <a:r>
              <a:rPr sz="1500" i="0">
                <a:solidFill>
                  <a:srgbClr val="AEB6BF"/>
                </a:solidFill>
                <a:latin typeface="Consolas"/>
              </a:rPr>
              <a:t>[</a:t>
            </a:r>
            <a:r>
              <a:rPr sz="1500" i="0">
                <a:solidFill>
                  <a:srgbClr val="E8EDF2"/>
                </a:solidFill>
                <a:latin typeface="Consolas"/>
              </a:rPr>
              <a:t>xj</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5DADE2"/>
                </a:solidFill>
                <a:latin typeface="Consolas"/>
              </a:rPr>
              <a:t>if</a:t>
            </a:r>
            <a:r>
              <a:rPr sz="1500" i="0">
                <a:solidFill>
                  <a:srgbClr val="E8EDF2"/>
                </a:solidFill>
                <a:latin typeface="Consolas"/>
              </a:rPr>
              <a:t> </a:t>
            </a:r>
            <a:r>
              <a:rPr sz="1500" i="0">
                <a:solidFill>
                  <a:srgbClr val="C39BD3"/>
                </a:solidFill>
                <a:latin typeface="Consolas"/>
              </a:rPr>
              <a:t>len</a:t>
            </a:r>
            <a:r>
              <a:rPr sz="1500" i="0">
                <a:solidFill>
                  <a:srgbClr val="AEB6BF"/>
                </a:solidFill>
                <a:latin typeface="Consolas"/>
              </a:rPr>
              <a:t>(</a:t>
            </a:r>
            <a:r>
              <a:rPr sz="1500" i="0">
                <a:solidFill>
                  <a:srgbClr val="E8EDF2"/>
                </a:solidFill>
                <a:latin typeface="Consolas"/>
              </a:rPr>
              <a:t>keep</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C39BD3"/>
                </a:solidFill>
                <a:latin typeface="Consolas"/>
              </a:rPr>
              <a:t>len</a:t>
            </a:r>
            <a:r>
              <a:rPr sz="1500" i="0">
                <a:solidFill>
                  <a:srgbClr val="AEB6BF"/>
                </a:solidFill>
                <a:latin typeface="Consolas"/>
              </a:rPr>
              <a:t>(</a:t>
            </a:r>
            <a:r>
              <a:rPr sz="1500" i="0">
                <a:solidFill>
                  <a:srgbClr val="E8EDF2"/>
                </a:solidFill>
                <a:latin typeface="Consolas"/>
              </a:rPr>
              <a:t>nd</a:t>
            </a:r>
            <a:r>
              <a:rPr sz="1500" i="0">
                <a:solidFill>
                  <a:srgbClr val="AEB6BF"/>
                </a:solidFill>
                <a:latin typeface="Consolas"/>
              </a:rPr>
              <a:t>[</a:t>
            </a:r>
            <a:r>
              <a:rPr sz="1500" i="0">
                <a:solidFill>
                  <a:srgbClr val="E8EDF2"/>
                </a:solidFill>
                <a:latin typeface="Consolas"/>
              </a:rPr>
              <a:t>xi</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nd</a:t>
            </a:r>
            <a:r>
              <a:rPr sz="1500" i="0">
                <a:solidFill>
                  <a:srgbClr val="AEB6BF"/>
                </a:solidFill>
                <a:latin typeface="Consolas"/>
              </a:rPr>
              <a:t>[</a:t>
            </a:r>
            <a:r>
              <a:rPr sz="1500" i="0">
                <a:solidFill>
                  <a:srgbClr val="E8EDF2"/>
                </a:solidFill>
                <a:latin typeface="Consolas"/>
              </a:rPr>
              <a:t>xi</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keep</a:t>
            </a:r>
          </a:p>
          <a:p>
            <a:pPr>
              <a:lnSpc>
                <a:spcPct val="100000"/>
              </a:lnSpc>
              <a:spcAft>
                <a:spcPts val="0"/>
              </a:spcAft>
            </a:pPr>
            <a:r>
              <a:rPr sz="1500" i="0">
                <a:solidFill>
                  <a:srgbClr val="E8EDF2"/>
                </a:solidFill>
                <a:latin typeface="Consolas"/>
              </a:rPr>
              <a:t>            </a:t>
            </a:r>
            <a:r>
              <a:rPr sz="1500" i="0">
                <a:solidFill>
                  <a:srgbClr val="5DADE2"/>
                </a:solidFill>
                <a:latin typeface="Consolas"/>
              </a:rPr>
              <a:t>if</a:t>
            </a:r>
            <a:r>
              <a:rPr sz="1500" i="0">
                <a:solidFill>
                  <a:srgbClr val="E8EDF2"/>
                </a:solidFill>
                <a:latin typeface="Consolas"/>
              </a:rPr>
              <a:t> </a:t>
            </a:r>
            <a:r>
              <a:rPr sz="1500" i="0">
                <a:solidFill>
                  <a:srgbClr val="AEB6BF"/>
                </a:solidFill>
                <a:latin typeface="Consolas"/>
              </a:rPr>
              <a:t>not</a:t>
            </a:r>
            <a:r>
              <a:rPr sz="1500" i="0">
                <a:solidFill>
                  <a:srgbClr val="E8EDF2"/>
                </a:solidFill>
                <a:latin typeface="Consolas"/>
              </a:rPr>
              <a:t> </a:t>
            </a:r>
            <a:r>
              <a:rPr sz="1500" i="0">
                <a:solidFill>
                  <a:srgbClr val="E8EDF2"/>
                </a:solidFill>
                <a:latin typeface="Consolas"/>
              </a:rPr>
              <a:t>nd</a:t>
            </a:r>
            <a:r>
              <a:rPr sz="1500" i="0">
                <a:solidFill>
                  <a:srgbClr val="AEB6BF"/>
                </a:solidFill>
                <a:latin typeface="Consolas"/>
              </a:rPr>
              <a:t>[</a:t>
            </a:r>
            <a:r>
              <a:rPr sz="1500" i="0">
                <a:solidFill>
                  <a:srgbClr val="E8EDF2"/>
                </a:solidFill>
                <a:latin typeface="Consolas"/>
              </a:rPr>
              <a:t>xi</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5DADE2"/>
                </a:solidFill>
                <a:latin typeface="Consolas"/>
              </a:rPr>
              <a:t>return</a:t>
            </a:r>
            <a:r>
              <a:rPr sz="1500" i="0">
                <a:solidFill>
                  <a:srgbClr val="E8EDF2"/>
                </a:solidFill>
                <a:latin typeface="Consolas"/>
              </a:rPr>
              <a:t> </a:t>
            </a:r>
            <a:r>
              <a:rPr sz="1500" i="0">
                <a:solidFill>
                  <a:srgbClr val="5DADE2"/>
                </a:solidFill>
                <a:latin typeface="Consolas"/>
              </a:rPr>
              <a:t>None</a:t>
            </a:r>
          </a:p>
          <a:p>
            <a:pPr>
              <a:lnSpc>
                <a:spcPct val="100000"/>
              </a:lnSpc>
              <a:spcAft>
                <a:spcPts val="0"/>
              </a:spcAft>
            </a:pPr>
            <a:r>
              <a:rPr sz="1500" i="0">
                <a:solidFill>
                  <a:srgbClr val="E8EDF2"/>
                </a:solidFill>
                <a:latin typeface="Consolas"/>
              </a:rPr>
              <a:t>            </a:t>
            </a:r>
            <a:r>
              <a:rPr sz="1500" i="0">
                <a:solidFill>
                  <a:srgbClr val="E8EDF2"/>
                </a:solidFill>
                <a:latin typeface="Consolas"/>
              </a:rPr>
              <a:t>queue</a:t>
            </a:r>
            <a:r>
              <a:rPr sz="1500" i="0">
                <a:solidFill>
                  <a:srgbClr val="E8EDF2"/>
                </a:solidFill>
                <a:latin typeface="Consolas"/>
              </a:rPr>
              <a:t> </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a</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b</a:t>
            </a:r>
            <a:r>
              <a:rPr sz="1500" i="0">
                <a:solidFill>
                  <a:srgbClr val="AEB6BF"/>
                </a:solidFill>
                <a:latin typeface="Consolas"/>
              </a:rPr>
              <a:t>)</a:t>
            </a:r>
            <a:r>
              <a:rPr sz="1500" i="0">
                <a:solidFill>
                  <a:srgbClr val="E8EDF2"/>
                </a:solidFill>
                <a:latin typeface="Consolas"/>
              </a:rPr>
              <a:t> </a:t>
            </a:r>
            <a:r>
              <a:rPr sz="1500" i="0">
                <a:solidFill>
                  <a:srgbClr val="5DADE2"/>
                </a:solidFill>
                <a:latin typeface="Consolas"/>
              </a:rPr>
              <a:t>for</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a</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b</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in</a:t>
            </a:r>
            <a:r>
              <a:rPr sz="1500" i="0">
                <a:solidFill>
                  <a:srgbClr val="E8EDF2"/>
                </a:solidFill>
                <a:latin typeface="Consolas"/>
              </a:rPr>
              <a:t> </a:t>
            </a:r>
            <a:r>
              <a:rPr sz="1500" i="0">
                <a:solidFill>
                  <a:srgbClr val="E8EDF2"/>
                </a:solidFill>
                <a:latin typeface="Consolas"/>
              </a:rPr>
              <a:t>arcs</a:t>
            </a:r>
            <a:r>
              <a:rPr sz="1500" i="0">
                <a:solidFill>
                  <a:srgbClr val="E8EDF2"/>
                </a:solidFill>
                <a:latin typeface="Consolas"/>
              </a:rPr>
              <a:t> </a:t>
            </a:r>
            <a:r>
              <a:rPr sz="1500" i="0">
                <a:solidFill>
                  <a:srgbClr val="5DADE2"/>
                </a:solidFill>
                <a:latin typeface="Consolas"/>
              </a:rPr>
              <a:t>if</a:t>
            </a:r>
            <a:r>
              <a:rPr sz="1500" i="0">
                <a:solidFill>
                  <a:srgbClr val="E8EDF2"/>
                </a:solidFill>
                <a:latin typeface="Consolas"/>
              </a:rPr>
              <a:t> </a:t>
            </a:r>
            <a:r>
              <a:rPr sz="1500" i="0">
                <a:solidFill>
                  <a:srgbClr val="E8EDF2"/>
                </a:solidFill>
                <a:latin typeface="Consolas"/>
              </a:rPr>
              <a:t>b</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xi</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5DADE2"/>
                </a:solidFill>
                <a:latin typeface="Consolas"/>
              </a:rPr>
              <a:t>return</a:t>
            </a:r>
            <a:r>
              <a:rPr sz="1500" i="0">
                <a:solidFill>
                  <a:srgbClr val="E8EDF2"/>
                </a:solidFill>
                <a:latin typeface="Consolas"/>
              </a:rPr>
              <a:t> </a:t>
            </a:r>
            <a:r>
              <a:rPr sz="1500" i="0">
                <a:solidFill>
                  <a:srgbClr val="E8EDF2"/>
                </a:solidFill>
                <a:latin typeface="Consolas"/>
              </a:rPr>
              <a:t>nd</a:t>
            </a:r>
          </a:p>
        </p:txBody>
      </p:sp>
      <p:sp>
        <p:nvSpPr>
          <p:cNvPr id="14" name="!!code-num"/>
          <p:cNvSpPr txBox="1"/>
          <p:nvPr/>
        </p:nvSpPr>
        <p:spPr>
          <a:xfrm>
            <a:off x="768096" y="2066543"/>
            <a:ext cx="393192" cy="3995928"/>
          </a:xfrm>
          <a:prstGeom prst="rect">
            <a:avLst/>
          </a:prstGeom>
          <a:noFill/>
        </p:spPr>
        <p:txBody>
          <a:bodyPr wrap="none" anchor="t" lIns="0" rIns="0" tIns="0" bIns="0">
            <a:noAutofit/>
          </a:bodyPr>
          <a:lstStyle/>
          <a:p>
            <a:pPr algn="r">
              <a:lnSpc>
                <a:spcPct val="100000"/>
              </a:lnSpc>
            </a:pPr>
            <a:r>
              <a:rPr sz="1500">
                <a:solidFill>
                  <a:srgbClr val="4F5D6A"/>
                </a:solidFill>
                <a:latin typeface="Consolas"/>
              </a:rPr>
              <a:t>98</a:t>
            </a:r>
          </a:p>
          <a:p>
            <a:pPr algn="r">
              <a:lnSpc>
                <a:spcPct val="100000"/>
              </a:lnSpc>
            </a:pPr>
            <a:r>
              <a:rPr sz="1500">
                <a:solidFill>
                  <a:srgbClr val="4F5D6A"/>
                </a:solidFill>
                <a:latin typeface="Consolas"/>
              </a:rPr>
              <a:t>99</a:t>
            </a:r>
          </a:p>
          <a:p>
            <a:pPr algn="r">
              <a:lnSpc>
                <a:spcPct val="100000"/>
              </a:lnSpc>
            </a:pPr>
            <a:r>
              <a:rPr sz="1500">
                <a:solidFill>
                  <a:srgbClr val="4F5D6A"/>
                </a:solidFill>
                <a:latin typeface="Consolas"/>
              </a:rPr>
              <a:t>100</a:t>
            </a:r>
          </a:p>
          <a:p>
            <a:pPr algn="r">
              <a:lnSpc>
                <a:spcPct val="100000"/>
              </a:lnSpc>
            </a:pPr>
            <a:r>
              <a:rPr sz="1500">
                <a:solidFill>
                  <a:srgbClr val="4F5D6A"/>
                </a:solidFill>
                <a:latin typeface="Consolas"/>
              </a:rPr>
              <a:t>101</a:t>
            </a:r>
          </a:p>
          <a:p>
            <a:pPr algn="r">
              <a:lnSpc>
                <a:spcPct val="100000"/>
              </a:lnSpc>
            </a:pPr>
            <a:r>
              <a:rPr sz="1500">
                <a:solidFill>
                  <a:srgbClr val="4F5D6A"/>
                </a:solidFill>
                <a:latin typeface="Consolas"/>
              </a:rPr>
              <a:t>102</a:t>
            </a:r>
          </a:p>
          <a:p>
            <a:pPr algn="r">
              <a:lnSpc>
                <a:spcPct val="100000"/>
              </a:lnSpc>
            </a:pPr>
            <a:r>
              <a:rPr sz="1500">
                <a:solidFill>
                  <a:srgbClr val="4F5D6A"/>
                </a:solidFill>
                <a:latin typeface="Consolas"/>
              </a:rPr>
              <a:t>103</a:t>
            </a:r>
          </a:p>
          <a:p>
            <a:pPr algn="r">
              <a:lnSpc>
                <a:spcPct val="100000"/>
              </a:lnSpc>
            </a:pPr>
            <a:r>
              <a:rPr sz="1500">
                <a:solidFill>
                  <a:srgbClr val="4F5D6A"/>
                </a:solidFill>
                <a:latin typeface="Consolas"/>
              </a:rPr>
              <a:t>104</a:t>
            </a:r>
          </a:p>
          <a:p>
            <a:pPr algn="r">
              <a:lnSpc>
                <a:spcPct val="100000"/>
              </a:lnSpc>
            </a:pPr>
            <a:r>
              <a:rPr sz="1500">
                <a:solidFill>
                  <a:srgbClr val="4F5D6A"/>
                </a:solidFill>
                <a:latin typeface="Consolas"/>
              </a:rPr>
              <a:t>105</a:t>
            </a:r>
          </a:p>
          <a:p>
            <a:pPr algn="r">
              <a:lnSpc>
                <a:spcPct val="100000"/>
              </a:lnSpc>
            </a:pPr>
            <a:r>
              <a:rPr sz="1500">
                <a:solidFill>
                  <a:srgbClr val="4F5D6A"/>
                </a:solidFill>
                <a:latin typeface="Consolas"/>
              </a:rPr>
              <a:t>106</a:t>
            </a:r>
          </a:p>
          <a:p>
            <a:pPr algn="r">
              <a:lnSpc>
                <a:spcPct val="100000"/>
              </a:lnSpc>
            </a:pPr>
            <a:r>
              <a:rPr sz="1500">
                <a:solidFill>
                  <a:srgbClr val="4F5D6A"/>
                </a:solidFill>
                <a:latin typeface="Consolas"/>
              </a:rPr>
              <a:t>107</a:t>
            </a:r>
          </a:p>
          <a:p>
            <a:pPr algn="r">
              <a:lnSpc>
                <a:spcPct val="100000"/>
              </a:lnSpc>
            </a:pPr>
            <a:r>
              <a:rPr sz="1500">
                <a:solidFill>
                  <a:srgbClr val="4F5D6A"/>
                </a:solidFill>
                <a:latin typeface="Consolas"/>
              </a:rPr>
              <a:t>108</a:t>
            </a:r>
          </a:p>
          <a:p>
            <a:pPr algn="r">
              <a:lnSpc>
                <a:spcPct val="100000"/>
              </a:lnSpc>
            </a:pPr>
            <a:r>
              <a:rPr sz="1500">
                <a:solidFill>
                  <a:srgbClr val="4F5D6A"/>
                </a:solidFill>
                <a:latin typeface="Consolas"/>
              </a:rPr>
              <a:t>109</a:t>
            </a:r>
          </a:p>
          <a:p>
            <a:pPr algn="r">
              <a:lnSpc>
                <a:spcPct val="100000"/>
              </a:lnSpc>
            </a:pPr>
            <a:r>
              <a:rPr sz="1500">
                <a:solidFill>
                  <a:srgbClr val="4F5D6A"/>
                </a:solidFill>
                <a:latin typeface="Consolas"/>
              </a:rPr>
              <a:t>110</a:t>
            </a:r>
          </a:p>
          <a:p>
            <a:pPr algn="r">
              <a:lnSpc>
                <a:spcPct val="100000"/>
              </a:lnSpc>
            </a:pPr>
            <a:r>
              <a:rPr sz="1500">
                <a:solidFill>
                  <a:srgbClr val="4F5D6A"/>
                </a:solidFill>
                <a:latin typeface="Consolas"/>
              </a:rPr>
              <a:t>111</a:t>
            </a:r>
          </a:p>
          <a:p>
            <a:pPr algn="r">
              <a:lnSpc>
                <a:spcPct val="100000"/>
              </a:lnSpc>
            </a:pPr>
            <a:r>
              <a:rPr sz="1500">
                <a:solidFill>
                  <a:srgbClr val="4F5D6A"/>
                </a:solidFill>
                <a:latin typeface="Consolas"/>
              </a:rPr>
              <a:t>112</a:t>
            </a:r>
          </a:p>
          <a:p>
            <a:pPr algn="r">
              <a:lnSpc>
                <a:spcPct val="100000"/>
              </a:lnSpc>
            </a:pPr>
            <a:r>
              <a:rPr sz="1500">
                <a:solidFill>
                  <a:srgbClr val="4F5D6A"/>
                </a:solidFill>
                <a:latin typeface="Consolas"/>
              </a:rPr>
              <a:t>113</a:t>
            </a:r>
          </a:p>
          <a:p>
            <a:pPr algn="r">
              <a:lnSpc>
                <a:spcPct val="100000"/>
              </a:lnSpc>
            </a:pPr>
            <a:r>
              <a:rPr sz="1500">
                <a:solidFill>
                  <a:srgbClr val="4F5D6A"/>
                </a:solidFill>
                <a:latin typeface="Consolas"/>
              </a:rPr>
              <a:t>114</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6583515"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Sprint Scheduling as a CSP</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8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7  ·  Constraint Satisfaction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§7.7  ·  Handout p. 72     </a:t>
            </a:r>
            <a:fld id="{67BAC23B-FC90-4DDB-B58F-356576C83211}" type="slidenum">
              <a:rPr lang="en-GB" sz="1000">
                <a:solidFill>
                  <a:srgbClr val="8795A1"/>
                </a:solidFill>
                <a:latin typeface="Segoe UI"/>
              </a:rPr>
              <a:t>28</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3041903"/>
          </a:xfrm>
          <a:prstGeom prst="roundRect">
            <a:avLst>
              <a:gd name="adj" fmla="val 300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code/ch07_sprint_scheduling_as.py</a:t>
            </a:r>
          </a:p>
        </p:txBody>
      </p:sp>
      <p:sp>
        <p:nvSpPr>
          <p:cNvPr id="13" name="!!code-text" descr="def solve(mrv=False, degree=False, fc=False, use_ac3=False): c = Counter() domains = {v: list(SLOTS) for v in NAMES} if use_ac3: domains = ac3(domains, c) if domains is None: return None, c found = []"/>
          <p:cNvSpPr txBox="1"/>
          <p:nvPr/>
        </p:nvSpPr>
        <p:spPr>
          <a:xfrm>
            <a:off x="1362456" y="2066543"/>
            <a:ext cx="9987991" cy="2548127"/>
          </a:xfrm>
          <a:prstGeom prst="rect">
            <a:avLst/>
          </a:prstGeom>
          <a:noFill/>
        </p:spPr>
        <p:txBody>
          <a:bodyPr wrap="none" anchor="t" lIns="0" rIns="0" tIns="0" bIns="0">
            <a:noAutofit/>
          </a:bodyPr>
          <a:lstStyle/>
          <a:p>
            <a:pPr>
              <a:lnSpc>
                <a:spcPct val="100000"/>
              </a:lnSpc>
              <a:spcAft>
                <a:spcPts val="0"/>
              </a:spcAft>
            </a:pPr>
            <a:r>
              <a:rPr sz="2000" i="0">
                <a:solidFill>
                  <a:srgbClr val="5DADE2"/>
                </a:solidFill>
                <a:latin typeface="Consolas"/>
              </a:rPr>
              <a:t>def</a:t>
            </a:r>
            <a:r>
              <a:rPr sz="2000" i="0">
                <a:solidFill>
                  <a:srgbClr val="E8EDF2"/>
                </a:solidFill>
                <a:latin typeface="Consolas"/>
              </a:rPr>
              <a:t> </a:t>
            </a:r>
            <a:r>
              <a:rPr sz="2000" i="0">
                <a:solidFill>
                  <a:srgbClr val="C39BD3"/>
                </a:solidFill>
                <a:latin typeface="Consolas"/>
              </a:rPr>
              <a:t>solve</a:t>
            </a:r>
            <a:r>
              <a:rPr sz="2000" i="0">
                <a:solidFill>
                  <a:srgbClr val="AEB6BF"/>
                </a:solidFill>
                <a:latin typeface="Consolas"/>
              </a:rPr>
              <a:t>(</a:t>
            </a:r>
            <a:r>
              <a:rPr sz="2000" i="0">
                <a:solidFill>
                  <a:srgbClr val="E8EDF2"/>
                </a:solidFill>
                <a:latin typeface="Consolas"/>
              </a:rPr>
              <a:t>mrv</a:t>
            </a:r>
            <a:r>
              <a:rPr sz="2000" i="0">
                <a:solidFill>
                  <a:srgbClr val="AEB6BF"/>
                </a:solidFill>
                <a:latin typeface="Consolas"/>
              </a:rPr>
              <a:t>=</a:t>
            </a:r>
            <a:r>
              <a:rPr sz="2000" i="0">
                <a:solidFill>
                  <a:srgbClr val="5DADE2"/>
                </a:solidFill>
                <a:latin typeface="Consolas"/>
              </a:rPr>
              <a:t>False</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degree</a:t>
            </a:r>
            <a:r>
              <a:rPr sz="2000" i="0">
                <a:solidFill>
                  <a:srgbClr val="AEB6BF"/>
                </a:solidFill>
                <a:latin typeface="Consolas"/>
              </a:rPr>
              <a:t>=</a:t>
            </a:r>
            <a:r>
              <a:rPr sz="2000" i="0">
                <a:solidFill>
                  <a:srgbClr val="5DADE2"/>
                </a:solidFill>
                <a:latin typeface="Consolas"/>
              </a:rPr>
              <a:t>False</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fc</a:t>
            </a:r>
            <a:r>
              <a:rPr sz="2000" i="0">
                <a:solidFill>
                  <a:srgbClr val="AEB6BF"/>
                </a:solidFill>
                <a:latin typeface="Consolas"/>
              </a:rPr>
              <a:t>=</a:t>
            </a:r>
            <a:r>
              <a:rPr sz="2000" i="0">
                <a:solidFill>
                  <a:srgbClr val="5DADE2"/>
                </a:solidFill>
                <a:latin typeface="Consolas"/>
              </a:rPr>
              <a:t>False</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use_ac3</a:t>
            </a:r>
            <a:r>
              <a:rPr sz="2000" i="0">
                <a:solidFill>
                  <a:srgbClr val="AEB6BF"/>
                </a:solidFill>
                <a:latin typeface="Consolas"/>
              </a:rPr>
              <a:t>=</a:t>
            </a:r>
            <a:r>
              <a:rPr sz="2000" i="0">
                <a:solidFill>
                  <a:srgbClr val="5DADE2"/>
                </a:solidFill>
                <a:latin typeface="Consolas"/>
              </a:rPr>
              <a:t>False</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c</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Counter</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domains</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v</a:t>
            </a:r>
            <a:r>
              <a:rPr sz="2000" i="0">
                <a:solidFill>
                  <a:srgbClr val="AEB6BF"/>
                </a:solidFill>
                <a:latin typeface="Consolas"/>
              </a:rPr>
              <a:t>:</a:t>
            </a:r>
            <a:r>
              <a:rPr sz="2000" i="0">
                <a:solidFill>
                  <a:srgbClr val="E8EDF2"/>
                </a:solidFill>
                <a:latin typeface="Consolas"/>
              </a:rPr>
              <a:t> </a:t>
            </a:r>
            <a:r>
              <a:rPr sz="2000" i="0">
                <a:solidFill>
                  <a:srgbClr val="C39BD3"/>
                </a:solidFill>
                <a:latin typeface="Consolas"/>
              </a:rPr>
              <a:t>list</a:t>
            </a:r>
            <a:r>
              <a:rPr sz="2000" i="0">
                <a:solidFill>
                  <a:srgbClr val="AEB6BF"/>
                </a:solidFill>
                <a:latin typeface="Consolas"/>
              </a:rPr>
              <a:t>(</a:t>
            </a:r>
            <a:r>
              <a:rPr sz="2000" i="0">
                <a:solidFill>
                  <a:srgbClr val="E8EDF2"/>
                </a:solidFill>
                <a:latin typeface="Consolas"/>
              </a:rPr>
              <a:t>SLOTS</a:t>
            </a:r>
            <a:r>
              <a:rPr sz="2000" i="0">
                <a:solidFill>
                  <a:srgbClr val="AEB6BF"/>
                </a:solidFill>
                <a:latin typeface="Consolas"/>
              </a:rPr>
              <a:t>)</a:t>
            </a:r>
            <a:r>
              <a:rPr sz="2000" i="0">
                <a:solidFill>
                  <a:srgbClr val="E8EDF2"/>
                </a:solidFill>
                <a:latin typeface="Consolas"/>
              </a:rPr>
              <a:t> </a:t>
            </a:r>
            <a:r>
              <a:rPr sz="2000" i="0">
                <a:solidFill>
                  <a:srgbClr val="5DADE2"/>
                </a:solidFill>
                <a:latin typeface="Consolas"/>
              </a:rPr>
              <a:t>for</a:t>
            </a:r>
            <a:r>
              <a:rPr sz="2000" i="0">
                <a:solidFill>
                  <a:srgbClr val="E8EDF2"/>
                </a:solidFill>
                <a:latin typeface="Consolas"/>
              </a:rPr>
              <a:t> </a:t>
            </a:r>
            <a:r>
              <a:rPr sz="2000" i="0">
                <a:solidFill>
                  <a:srgbClr val="E8EDF2"/>
                </a:solidFill>
                <a:latin typeface="Consolas"/>
              </a:rPr>
              <a:t>v</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E8EDF2"/>
                </a:solidFill>
                <a:latin typeface="Consolas"/>
              </a:rPr>
              <a:t>NAMES</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if</a:t>
            </a:r>
            <a:r>
              <a:rPr sz="2000" i="0">
                <a:solidFill>
                  <a:srgbClr val="E8EDF2"/>
                </a:solidFill>
                <a:latin typeface="Consolas"/>
              </a:rPr>
              <a:t> </a:t>
            </a:r>
            <a:r>
              <a:rPr sz="2000" i="0">
                <a:solidFill>
                  <a:srgbClr val="E8EDF2"/>
                </a:solidFill>
                <a:latin typeface="Consolas"/>
              </a:rPr>
              <a:t>use_ac3</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domains</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ac3</a:t>
            </a:r>
            <a:r>
              <a:rPr sz="2000" i="0">
                <a:solidFill>
                  <a:srgbClr val="AEB6BF"/>
                </a:solidFill>
                <a:latin typeface="Consolas"/>
              </a:rPr>
              <a:t>(</a:t>
            </a:r>
            <a:r>
              <a:rPr sz="2000" i="0">
                <a:solidFill>
                  <a:srgbClr val="E8EDF2"/>
                </a:solidFill>
                <a:latin typeface="Consolas"/>
              </a:rPr>
              <a:t>domains</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c</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if</a:t>
            </a:r>
            <a:r>
              <a:rPr sz="2000" i="0">
                <a:solidFill>
                  <a:srgbClr val="E8EDF2"/>
                </a:solidFill>
                <a:latin typeface="Consolas"/>
              </a:rPr>
              <a:t> </a:t>
            </a:r>
            <a:r>
              <a:rPr sz="2000" i="0">
                <a:solidFill>
                  <a:srgbClr val="E8EDF2"/>
                </a:solidFill>
                <a:latin typeface="Consolas"/>
              </a:rPr>
              <a:t>domains</a:t>
            </a:r>
            <a:r>
              <a:rPr sz="2000" i="0">
                <a:solidFill>
                  <a:srgbClr val="E8EDF2"/>
                </a:solidFill>
                <a:latin typeface="Consolas"/>
              </a:rPr>
              <a:t> </a:t>
            </a:r>
            <a:r>
              <a:rPr sz="2000" i="0">
                <a:solidFill>
                  <a:srgbClr val="AEB6BF"/>
                </a:solidFill>
                <a:latin typeface="Consolas"/>
              </a:rPr>
              <a:t>is</a:t>
            </a:r>
            <a:r>
              <a:rPr sz="2000" i="0">
                <a:solidFill>
                  <a:srgbClr val="E8EDF2"/>
                </a:solidFill>
                <a:latin typeface="Consolas"/>
              </a:rPr>
              <a:t> </a:t>
            </a:r>
            <a:r>
              <a:rPr sz="2000" i="0">
                <a:solidFill>
                  <a:srgbClr val="5DADE2"/>
                </a:solidFill>
                <a:latin typeface="Consolas"/>
              </a:rPr>
              <a:t>None</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return</a:t>
            </a:r>
            <a:r>
              <a:rPr sz="2000" i="0">
                <a:solidFill>
                  <a:srgbClr val="E8EDF2"/>
                </a:solidFill>
                <a:latin typeface="Consolas"/>
              </a:rPr>
              <a:t> </a:t>
            </a:r>
            <a:r>
              <a:rPr sz="2000" i="0">
                <a:solidFill>
                  <a:srgbClr val="5DADE2"/>
                </a:solidFill>
                <a:latin typeface="Consolas"/>
              </a:rPr>
              <a:t>None</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c</a:t>
            </a:r>
          </a:p>
          <a:p>
            <a:pPr>
              <a:lnSpc>
                <a:spcPct val="100000"/>
              </a:lnSpc>
              <a:spcAft>
                <a:spcPts val="0"/>
              </a:spcAft>
            </a:pPr>
            <a:r>
              <a:rPr sz="2000" i="0">
                <a:solidFill>
                  <a:srgbClr val="E8EDF2"/>
                </a:solidFill>
                <a:latin typeface="Consolas"/>
              </a:rPr>
              <a:t>    </a:t>
            </a:r>
            <a:r>
              <a:rPr sz="2000" i="0">
                <a:solidFill>
                  <a:srgbClr val="E8EDF2"/>
                </a:solidFill>
                <a:latin typeface="Consolas"/>
              </a:rPr>
              <a:t>found</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AEB6BF"/>
                </a:solidFill>
                <a:latin typeface="Consolas"/>
              </a:rPr>
              <a:t>]</a:t>
            </a:r>
          </a:p>
        </p:txBody>
      </p:sp>
      <p:sp>
        <p:nvSpPr>
          <p:cNvPr id="14" name="!!code-num"/>
          <p:cNvSpPr txBox="1"/>
          <p:nvPr/>
        </p:nvSpPr>
        <p:spPr>
          <a:xfrm>
            <a:off x="768096" y="2066543"/>
            <a:ext cx="393192" cy="2548127"/>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117</a:t>
            </a:r>
          </a:p>
          <a:p>
            <a:pPr algn="r">
              <a:lnSpc>
                <a:spcPct val="100000"/>
              </a:lnSpc>
            </a:pPr>
            <a:r>
              <a:rPr sz="2000">
                <a:solidFill>
                  <a:srgbClr val="4F5D6A"/>
                </a:solidFill>
                <a:latin typeface="Consolas"/>
              </a:rPr>
              <a:t>118</a:t>
            </a:r>
          </a:p>
          <a:p>
            <a:pPr algn="r">
              <a:lnSpc>
                <a:spcPct val="100000"/>
              </a:lnSpc>
            </a:pPr>
            <a:r>
              <a:rPr sz="2000">
                <a:solidFill>
                  <a:srgbClr val="4F5D6A"/>
                </a:solidFill>
                <a:latin typeface="Consolas"/>
              </a:rPr>
              <a:t>119</a:t>
            </a:r>
          </a:p>
          <a:p>
            <a:pPr algn="r">
              <a:lnSpc>
                <a:spcPct val="100000"/>
              </a:lnSpc>
            </a:pPr>
            <a:r>
              <a:rPr sz="2000">
                <a:solidFill>
                  <a:srgbClr val="4F5D6A"/>
                </a:solidFill>
                <a:latin typeface="Consolas"/>
              </a:rPr>
              <a:t>120</a:t>
            </a:r>
          </a:p>
          <a:p>
            <a:pPr algn="r">
              <a:lnSpc>
                <a:spcPct val="100000"/>
              </a:lnSpc>
            </a:pPr>
            <a:r>
              <a:rPr sz="2000">
                <a:solidFill>
                  <a:srgbClr val="4F5D6A"/>
                </a:solidFill>
                <a:latin typeface="Consolas"/>
              </a:rPr>
              <a:t>121</a:t>
            </a:r>
          </a:p>
          <a:p>
            <a:pPr algn="r">
              <a:lnSpc>
                <a:spcPct val="100000"/>
              </a:lnSpc>
            </a:pPr>
            <a:r>
              <a:rPr sz="2000">
                <a:solidFill>
                  <a:srgbClr val="4F5D6A"/>
                </a:solidFill>
                <a:latin typeface="Consolas"/>
              </a:rPr>
              <a:t>122</a:t>
            </a:r>
          </a:p>
          <a:p>
            <a:pPr algn="r">
              <a:lnSpc>
                <a:spcPct val="100000"/>
              </a:lnSpc>
            </a:pPr>
            <a:r>
              <a:rPr sz="2000">
                <a:solidFill>
                  <a:srgbClr val="4F5D6A"/>
                </a:solidFill>
                <a:latin typeface="Consolas"/>
              </a:rPr>
              <a:t>123</a:t>
            </a:r>
          </a:p>
          <a:p>
            <a:pPr algn="r">
              <a:lnSpc>
                <a:spcPct val="100000"/>
              </a:lnSpc>
            </a:pPr>
            <a:r>
              <a:rPr sz="2000">
                <a:solidFill>
                  <a:srgbClr val="4F5D6A"/>
                </a:solidFill>
                <a:latin typeface="Consolas"/>
              </a:rPr>
              <a:t>124</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6827349"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Sprint Scheduling as a CSP</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9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7  ·  Constraint Satisfaction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§7.7  ·  Handout p. 72     </a:t>
            </a:r>
            <a:fld id="{75E14208-C8A0-42E8-AE01-C87599290764}" type="slidenum">
              <a:rPr lang="en-GB" sz="1000">
                <a:solidFill>
                  <a:srgbClr val="8795A1"/>
                </a:solidFill>
                <a:latin typeface="Segoe UI"/>
              </a:rPr>
              <a:t>29</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4565904"/>
          </a:xfrm>
          <a:prstGeom prst="roundRect">
            <a:avLst>
              <a:gd name="adj" fmla="val 200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code/ch07_sprint_scheduling_as.py</a:t>
            </a:r>
          </a:p>
        </p:txBody>
      </p:sp>
      <p:sp>
        <p:nvSpPr>
          <p:cNvPr id="13" name="!!code-text" descr="def bt(assign, domains): c.nodes += 1 if len(assign) == len(NAMES): found.append(dict(assign)) return True var = select_var(assign, domains, mrv, degree) for val in domains[var]: if consistent(assign, var, val, c): assign[var] = val if fc: nd = forward_check(var, val, domains, c) if nd is not None and bt(assign, nd): return True elif bt(assign, domains): return True del assign[var] return False bt({}, domains) return (found[0] if found else None), c"/>
          <p:cNvSpPr txBox="1"/>
          <p:nvPr/>
        </p:nvSpPr>
        <p:spPr>
          <a:xfrm>
            <a:off x="1362456" y="2066543"/>
            <a:ext cx="9987991" cy="4072128"/>
          </a:xfrm>
          <a:prstGeom prst="rect">
            <a:avLst/>
          </a:prstGeom>
          <a:noFill/>
        </p:spPr>
        <p:txBody>
          <a:bodyPr wrap="none" anchor="t" lIns="0" rIns="0" tIns="0" bIns="0">
            <a:noAutofit/>
          </a:bodyPr>
          <a:lstStyle/>
          <a:p>
            <a:pPr>
              <a:lnSpc>
                <a:spcPct val="100000"/>
              </a:lnSpc>
              <a:spcAft>
                <a:spcPts val="0"/>
              </a:spcAft>
            </a:pPr>
            <a:r>
              <a:rPr sz="1300" i="0">
                <a:solidFill>
                  <a:srgbClr val="E8EDF2"/>
                </a:solidFill>
                <a:latin typeface="Consolas"/>
              </a:rPr>
              <a:t>    </a:t>
            </a:r>
            <a:r>
              <a:rPr sz="1300" i="0">
                <a:solidFill>
                  <a:srgbClr val="5DADE2"/>
                </a:solidFill>
                <a:latin typeface="Consolas"/>
              </a:rPr>
              <a:t>def</a:t>
            </a:r>
            <a:r>
              <a:rPr sz="1300" i="0">
                <a:solidFill>
                  <a:srgbClr val="E8EDF2"/>
                </a:solidFill>
                <a:latin typeface="Consolas"/>
              </a:rPr>
              <a:t> </a:t>
            </a:r>
            <a:r>
              <a:rPr sz="1300" i="0">
                <a:solidFill>
                  <a:srgbClr val="C39BD3"/>
                </a:solidFill>
                <a:latin typeface="Consolas"/>
              </a:rPr>
              <a:t>bt</a:t>
            </a:r>
            <a:r>
              <a:rPr sz="1300" i="0">
                <a:solidFill>
                  <a:srgbClr val="AEB6BF"/>
                </a:solidFill>
                <a:latin typeface="Consolas"/>
              </a:rPr>
              <a:t>(</a:t>
            </a:r>
            <a:r>
              <a:rPr sz="1300" i="0">
                <a:solidFill>
                  <a:srgbClr val="E8EDF2"/>
                </a:solidFill>
                <a:latin typeface="Consolas"/>
              </a:rPr>
              <a:t>assign</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domains</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c</a:t>
            </a:r>
            <a:r>
              <a:rPr sz="1300" i="0">
                <a:solidFill>
                  <a:srgbClr val="AEB6BF"/>
                </a:solidFill>
                <a:latin typeface="Consolas"/>
              </a:rPr>
              <a:t>.</a:t>
            </a:r>
            <a:r>
              <a:rPr sz="1300" i="0">
                <a:solidFill>
                  <a:srgbClr val="E8EDF2"/>
                </a:solidFill>
                <a:latin typeface="Consolas"/>
              </a:rPr>
              <a:t>nodes</a:t>
            </a: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1</a:t>
            </a:r>
          </a:p>
          <a:p>
            <a:pPr>
              <a:lnSpc>
                <a:spcPct val="100000"/>
              </a:lnSpc>
              <a:spcAft>
                <a:spcPts val="0"/>
              </a:spcAft>
            </a:pP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C39BD3"/>
                </a:solidFill>
                <a:latin typeface="Consolas"/>
              </a:rPr>
              <a:t>len</a:t>
            </a:r>
            <a:r>
              <a:rPr sz="1300" i="0">
                <a:solidFill>
                  <a:srgbClr val="AEB6BF"/>
                </a:solidFill>
                <a:latin typeface="Consolas"/>
              </a:rPr>
              <a:t>(</a:t>
            </a:r>
            <a:r>
              <a:rPr sz="1300" i="0">
                <a:solidFill>
                  <a:srgbClr val="E8EDF2"/>
                </a:solidFill>
                <a:latin typeface="Consolas"/>
              </a:rPr>
              <a:t>assign</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len</a:t>
            </a:r>
            <a:r>
              <a:rPr sz="1300" i="0">
                <a:solidFill>
                  <a:srgbClr val="AEB6BF"/>
                </a:solidFill>
                <a:latin typeface="Consolas"/>
              </a:rPr>
              <a:t>(</a:t>
            </a:r>
            <a:r>
              <a:rPr sz="1300" i="0">
                <a:solidFill>
                  <a:srgbClr val="E8EDF2"/>
                </a:solidFill>
                <a:latin typeface="Consolas"/>
              </a:rPr>
              <a:t>NAMES</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found</a:t>
            </a:r>
            <a:r>
              <a:rPr sz="1300" i="0">
                <a:solidFill>
                  <a:srgbClr val="AEB6BF"/>
                </a:solidFill>
                <a:latin typeface="Consolas"/>
              </a:rPr>
              <a:t>.</a:t>
            </a:r>
            <a:r>
              <a:rPr sz="1300" i="0">
                <a:solidFill>
                  <a:srgbClr val="E8EDF2"/>
                </a:solidFill>
                <a:latin typeface="Consolas"/>
              </a:rPr>
              <a:t>append</a:t>
            </a:r>
            <a:r>
              <a:rPr sz="1300" i="0">
                <a:solidFill>
                  <a:srgbClr val="AEB6BF"/>
                </a:solidFill>
                <a:latin typeface="Consolas"/>
              </a:rPr>
              <a:t>(</a:t>
            </a:r>
            <a:r>
              <a:rPr sz="1300" i="0">
                <a:solidFill>
                  <a:srgbClr val="C39BD3"/>
                </a:solidFill>
                <a:latin typeface="Consolas"/>
              </a:rPr>
              <a:t>dict</a:t>
            </a:r>
            <a:r>
              <a:rPr sz="1300" i="0">
                <a:solidFill>
                  <a:srgbClr val="AEB6BF"/>
                </a:solidFill>
                <a:latin typeface="Consolas"/>
              </a:rPr>
              <a:t>(</a:t>
            </a:r>
            <a:r>
              <a:rPr sz="1300" i="0">
                <a:solidFill>
                  <a:srgbClr val="E8EDF2"/>
                </a:solidFill>
                <a:latin typeface="Consolas"/>
              </a:rPr>
              <a:t>assign</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return</a:t>
            </a:r>
            <a:r>
              <a:rPr sz="1300" i="0">
                <a:solidFill>
                  <a:srgbClr val="E8EDF2"/>
                </a:solidFill>
                <a:latin typeface="Consolas"/>
              </a:rPr>
              <a:t> </a:t>
            </a:r>
            <a:r>
              <a:rPr sz="1300" i="0">
                <a:solidFill>
                  <a:srgbClr val="5DADE2"/>
                </a:solidFill>
                <a:latin typeface="Consolas"/>
              </a:rPr>
              <a:t>True</a:t>
            </a:r>
          </a:p>
          <a:p>
            <a:pPr>
              <a:lnSpc>
                <a:spcPct val="100000"/>
              </a:lnSpc>
              <a:spcAft>
                <a:spcPts val="0"/>
              </a:spcAft>
            </a:pPr>
            <a:r>
              <a:rPr sz="1300" i="0">
                <a:solidFill>
                  <a:srgbClr val="E8EDF2"/>
                </a:solidFill>
                <a:latin typeface="Consolas"/>
              </a:rPr>
              <a:t>        </a:t>
            </a:r>
            <a:r>
              <a:rPr sz="1300" i="0">
                <a:solidFill>
                  <a:srgbClr val="E8EDF2"/>
                </a:solidFill>
                <a:latin typeface="Consolas"/>
              </a:rPr>
              <a:t>var</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select_var</a:t>
            </a:r>
            <a:r>
              <a:rPr sz="1300" i="0">
                <a:solidFill>
                  <a:srgbClr val="AEB6BF"/>
                </a:solidFill>
                <a:latin typeface="Consolas"/>
              </a:rPr>
              <a:t>(</a:t>
            </a:r>
            <a:r>
              <a:rPr sz="1300" i="0">
                <a:solidFill>
                  <a:srgbClr val="E8EDF2"/>
                </a:solidFill>
                <a:latin typeface="Consolas"/>
              </a:rPr>
              <a:t>assign</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domains</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mrv</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degree</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val</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domains</a:t>
            </a:r>
            <a:r>
              <a:rPr sz="1300" i="0">
                <a:solidFill>
                  <a:srgbClr val="AEB6BF"/>
                </a:solidFill>
                <a:latin typeface="Consolas"/>
              </a:rPr>
              <a:t>[</a:t>
            </a:r>
            <a:r>
              <a:rPr sz="1300" i="0">
                <a:solidFill>
                  <a:srgbClr val="E8EDF2"/>
                </a:solidFill>
                <a:latin typeface="Consolas"/>
              </a:rPr>
              <a:t>var</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E8EDF2"/>
                </a:solidFill>
                <a:latin typeface="Consolas"/>
              </a:rPr>
              <a:t>consistent</a:t>
            </a:r>
            <a:r>
              <a:rPr sz="1300" i="0">
                <a:solidFill>
                  <a:srgbClr val="AEB6BF"/>
                </a:solidFill>
                <a:latin typeface="Consolas"/>
              </a:rPr>
              <a:t>(</a:t>
            </a:r>
            <a:r>
              <a:rPr sz="1300" i="0">
                <a:solidFill>
                  <a:srgbClr val="E8EDF2"/>
                </a:solidFill>
                <a:latin typeface="Consolas"/>
              </a:rPr>
              <a:t>assign</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var</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val</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c</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assign</a:t>
            </a:r>
            <a:r>
              <a:rPr sz="1300" i="0">
                <a:solidFill>
                  <a:srgbClr val="AEB6BF"/>
                </a:solidFill>
                <a:latin typeface="Consolas"/>
              </a:rPr>
              <a:t>[</a:t>
            </a:r>
            <a:r>
              <a:rPr sz="1300" i="0">
                <a:solidFill>
                  <a:srgbClr val="E8EDF2"/>
                </a:solidFill>
                <a:latin typeface="Consolas"/>
              </a:rPr>
              <a:t>var</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val</a:t>
            </a:r>
          </a:p>
          <a:p>
            <a:pPr>
              <a:lnSpc>
                <a:spcPct val="100000"/>
              </a:lnSpc>
              <a:spcAft>
                <a:spcPts val="0"/>
              </a:spcAft>
            </a:pP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E8EDF2"/>
                </a:solidFill>
                <a:latin typeface="Consolas"/>
              </a:rPr>
              <a:t>fc</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nd</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forward_check</a:t>
            </a:r>
            <a:r>
              <a:rPr sz="1300" i="0">
                <a:solidFill>
                  <a:srgbClr val="AEB6BF"/>
                </a:solidFill>
                <a:latin typeface="Consolas"/>
              </a:rPr>
              <a:t>(</a:t>
            </a:r>
            <a:r>
              <a:rPr sz="1300" i="0">
                <a:solidFill>
                  <a:srgbClr val="E8EDF2"/>
                </a:solidFill>
                <a:latin typeface="Consolas"/>
              </a:rPr>
              <a:t>var</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val</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domains</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c</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E8EDF2"/>
                </a:solidFill>
                <a:latin typeface="Consolas"/>
              </a:rPr>
              <a:t>nd</a:t>
            </a:r>
            <a:r>
              <a:rPr sz="1300" i="0">
                <a:solidFill>
                  <a:srgbClr val="E8EDF2"/>
                </a:solidFill>
                <a:latin typeface="Consolas"/>
              </a:rPr>
              <a:t> </a:t>
            </a:r>
            <a:r>
              <a:rPr sz="1300" i="0">
                <a:solidFill>
                  <a:srgbClr val="AEB6BF"/>
                </a:solidFill>
                <a:latin typeface="Consolas"/>
              </a:rPr>
              <a:t>is</a:t>
            </a:r>
            <a:r>
              <a:rPr sz="1300" i="0">
                <a:solidFill>
                  <a:srgbClr val="E8EDF2"/>
                </a:solidFill>
                <a:latin typeface="Consolas"/>
              </a:rPr>
              <a:t> </a:t>
            </a:r>
            <a:r>
              <a:rPr sz="1300" i="0">
                <a:solidFill>
                  <a:srgbClr val="AEB6BF"/>
                </a:solidFill>
                <a:latin typeface="Consolas"/>
              </a:rPr>
              <a:t>not</a:t>
            </a:r>
            <a:r>
              <a:rPr sz="1300" i="0">
                <a:solidFill>
                  <a:srgbClr val="E8EDF2"/>
                </a:solidFill>
                <a:latin typeface="Consolas"/>
              </a:rPr>
              <a:t> </a:t>
            </a:r>
            <a:r>
              <a:rPr sz="1300" i="0">
                <a:solidFill>
                  <a:srgbClr val="5DADE2"/>
                </a:solidFill>
                <a:latin typeface="Consolas"/>
              </a:rPr>
              <a:t>None</a:t>
            </a:r>
            <a:r>
              <a:rPr sz="1300" i="0">
                <a:solidFill>
                  <a:srgbClr val="E8EDF2"/>
                </a:solidFill>
                <a:latin typeface="Consolas"/>
              </a:rPr>
              <a:t> </a:t>
            </a:r>
            <a:r>
              <a:rPr sz="1300" i="0">
                <a:solidFill>
                  <a:srgbClr val="AEB6BF"/>
                </a:solidFill>
                <a:latin typeface="Consolas"/>
              </a:rPr>
              <a:t>and</a:t>
            </a:r>
            <a:r>
              <a:rPr sz="1300" i="0">
                <a:solidFill>
                  <a:srgbClr val="E8EDF2"/>
                </a:solidFill>
                <a:latin typeface="Consolas"/>
              </a:rPr>
              <a:t> </a:t>
            </a:r>
            <a:r>
              <a:rPr sz="1300" i="0">
                <a:solidFill>
                  <a:srgbClr val="E8EDF2"/>
                </a:solidFill>
                <a:latin typeface="Consolas"/>
              </a:rPr>
              <a:t>bt</a:t>
            </a:r>
            <a:r>
              <a:rPr sz="1300" i="0">
                <a:solidFill>
                  <a:srgbClr val="AEB6BF"/>
                </a:solidFill>
                <a:latin typeface="Consolas"/>
              </a:rPr>
              <a:t>(</a:t>
            </a:r>
            <a:r>
              <a:rPr sz="1300" i="0">
                <a:solidFill>
                  <a:srgbClr val="E8EDF2"/>
                </a:solidFill>
                <a:latin typeface="Consolas"/>
              </a:rPr>
              <a:t>assign</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nd</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return</a:t>
            </a:r>
            <a:r>
              <a:rPr sz="1300" i="0">
                <a:solidFill>
                  <a:srgbClr val="E8EDF2"/>
                </a:solidFill>
                <a:latin typeface="Consolas"/>
              </a:rPr>
              <a:t> </a:t>
            </a:r>
            <a:r>
              <a:rPr sz="1300" i="0">
                <a:solidFill>
                  <a:srgbClr val="5DADE2"/>
                </a:solidFill>
                <a:latin typeface="Consolas"/>
              </a:rPr>
              <a:t>True</a:t>
            </a:r>
          </a:p>
          <a:p>
            <a:pPr>
              <a:lnSpc>
                <a:spcPct val="100000"/>
              </a:lnSpc>
              <a:spcAft>
                <a:spcPts val="0"/>
              </a:spcAft>
            </a:pPr>
            <a:r>
              <a:rPr sz="1300" i="0">
                <a:solidFill>
                  <a:srgbClr val="E8EDF2"/>
                </a:solidFill>
                <a:latin typeface="Consolas"/>
              </a:rPr>
              <a:t>                </a:t>
            </a:r>
            <a:r>
              <a:rPr sz="1300" i="0">
                <a:solidFill>
                  <a:srgbClr val="5DADE2"/>
                </a:solidFill>
                <a:latin typeface="Consolas"/>
              </a:rPr>
              <a:t>elif</a:t>
            </a:r>
            <a:r>
              <a:rPr sz="1300" i="0">
                <a:solidFill>
                  <a:srgbClr val="E8EDF2"/>
                </a:solidFill>
                <a:latin typeface="Consolas"/>
              </a:rPr>
              <a:t> </a:t>
            </a:r>
            <a:r>
              <a:rPr sz="1300" i="0">
                <a:solidFill>
                  <a:srgbClr val="E8EDF2"/>
                </a:solidFill>
                <a:latin typeface="Consolas"/>
              </a:rPr>
              <a:t>bt</a:t>
            </a:r>
            <a:r>
              <a:rPr sz="1300" i="0">
                <a:solidFill>
                  <a:srgbClr val="AEB6BF"/>
                </a:solidFill>
                <a:latin typeface="Consolas"/>
              </a:rPr>
              <a:t>(</a:t>
            </a:r>
            <a:r>
              <a:rPr sz="1300" i="0">
                <a:solidFill>
                  <a:srgbClr val="E8EDF2"/>
                </a:solidFill>
                <a:latin typeface="Consolas"/>
              </a:rPr>
              <a:t>assign</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domains</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return</a:t>
            </a:r>
            <a:r>
              <a:rPr sz="1300" i="0">
                <a:solidFill>
                  <a:srgbClr val="E8EDF2"/>
                </a:solidFill>
                <a:latin typeface="Consolas"/>
              </a:rPr>
              <a:t> </a:t>
            </a:r>
            <a:r>
              <a:rPr sz="1300" i="0">
                <a:solidFill>
                  <a:srgbClr val="5DADE2"/>
                </a:solidFill>
                <a:latin typeface="Consolas"/>
              </a:rPr>
              <a:t>True</a:t>
            </a:r>
          </a:p>
          <a:p>
            <a:pPr>
              <a:lnSpc>
                <a:spcPct val="100000"/>
              </a:lnSpc>
              <a:spcAft>
                <a:spcPts val="0"/>
              </a:spcAft>
            </a:pPr>
            <a:r>
              <a:rPr sz="1300" i="0">
                <a:solidFill>
                  <a:srgbClr val="E8EDF2"/>
                </a:solidFill>
                <a:latin typeface="Consolas"/>
              </a:rPr>
              <a:t>                </a:t>
            </a:r>
            <a:r>
              <a:rPr sz="1300" i="0">
                <a:solidFill>
                  <a:srgbClr val="5DADE2"/>
                </a:solidFill>
                <a:latin typeface="Consolas"/>
              </a:rPr>
              <a:t>del</a:t>
            </a:r>
            <a:r>
              <a:rPr sz="1300" i="0">
                <a:solidFill>
                  <a:srgbClr val="E8EDF2"/>
                </a:solidFill>
                <a:latin typeface="Consolas"/>
              </a:rPr>
              <a:t> </a:t>
            </a:r>
            <a:r>
              <a:rPr sz="1300" i="0">
                <a:solidFill>
                  <a:srgbClr val="E8EDF2"/>
                </a:solidFill>
                <a:latin typeface="Consolas"/>
              </a:rPr>
              <a:t>assign</a:t>
            </a:r>
            <a:r>
              <a:rPr sz="1300" i="0">
                <a:solidFill>
                  <a:srgbClr val="AEB6BF"/>
                </a:solidFill>
                <a:latin typeface="Consolas"/>
              </a:rPr>
              <a:t>[</a:t>
            </a:r>
            <a:r>
              <a:rPr sz="1300" i="0">
                <a:solidFill>
                  <a:srgbClr val="E8EDF2"/>
                </a:solidFill>
                <a:latin typeface="Consolas"/>
              </a:rPr>
              <a:t>var</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return</a:t>
            </a:r>
            <a:r>
              <a:rPr sz="1300" i="0">
                <a:solidFill>
                  <a:srgbClr val="E8EDF2"/>
                </a:solidFill>
                <a:latin typeface="Consolas"/>
              </a:rPr>
              <a:t> </a:t>
            </a:r>
            <a:r>
              <a:rPr sz="1300" i="0">
                <a:solidFill>
                  <a:srgbClr val="5DADE2"/>
                </a:solidFill>
                <a:latin typeface="Consolas"/>
              </a:rPr>
              <a:t>False</a:t>
            </a:r>
          </a:p>
          <a:p>
            <a:pPr>
              <a:lnSpc>
                <a:spcPct val="100000"/>
              </a:lnSpc>
              <a:spcAft>
                <a:spcPts val="0"/>
              </a:spcAft>
            </a:pPr>
            <a:r>
              <a:rPr sz="1300">
                <a:latin typeface="Consolas"/>
              </a:rPr>
              <a:t> </a:t>
            </a:r>
          </a:p>
          <a:p>
            <a:pPr>
              <a:lnSpc>
                <a:spcPct val="100000"/>
              </a:lnSpc>
              <a:spcAft>
                <a:spcPts val="0"/>
              </a:spcAft>
            </a:pPr>
            <a:r>
              <a:rPr sz="1300" i="0">
                <a:solidFill>
                  <a:srgbClr val="E8EDF2"/>
                </a:solidFill>
                <a:latin typeface="Consolas"/>
              </a:rPr>
              <a:t>    </a:t>
            </a:r>
            <a:r>
              <a:rPr sz="1300" i="0">
                <a:solidFill>
                  <a:srgbClr val="E8EDF2"/>
                </a:solidFill>
                <a:latin typeface="Consolas"/>
              </a:rPr>
              <a:t>bt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domains</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return</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found</a:t>
            </a:r>
            <a:r>
              <a:rPr sz="1300" i="0">
                <a:solidFill>
                  <a:srgbClr val="AEB6BF"/>
                </a:solidFill>
                <a:latin typeface="Consolas"/>
              </a:rPr>
              <a:t>[</a:t>
            </a:r>
            <a:r>
              <a:rPr sz="1300" i="0">
                <a:solidFill>
                  <a:srgbClr val="F7DC6F"/>
                </a:solidFill>
                <a:latin typeface="Consolas"/>
              </a:rPr>
              <a:t>0</a:t>
            </a:r>
            <a:r>
              <a:rPr sz="1300" i="0">
                <a:solidFill>
                  <a:srgbClr val="AEB6BF"/>
                </a:solidFill>
                <a:latin typeface="Consolas"/>
              </a:rPr>
              <a:t>]</a:t>
            </a: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E8EDF2"/>
                </a:solidFill>
                <a:latin typeface="Consolas"/>
              </a:rPr>
              <a:t>found</a:t>
            </a:r>
            <a:r>
              <a:rPr sz="1300" i="0">
                <a:solidFill>
                  <a:srgbClr val="E8EDF2"/>
                </a:solidFill>
                <a:latin typeface="Consolas"/>
              </a:rPr>
              <a:t> </a:t>
            </a:r>
            <a:r>
              <a:rPr sz="1300" i="0">
                <a:solidFill>
                  <a:srgbClr val="5DADE2"/>
                </a:solidFill>
                <a:latin typeface="Consolas"/>
              </a:rPr>
              <a:t>else</a:t>
            </a:r>
            <a:r>
              <a:rPr sz="1300" i="0">
                <a:solidFill>
                  <a:srgbClr val="E8EDF2"/>
                </a:solidFill>
                <a:latin typeface="Consolas"/>
              </a:rPr>
              <a:t> </a:t>
            </a:r>
            <a:r>
              <a:rPr sz="1300" i="0">
                <a:solidFill>
                  <a:srgbClr val="5DADE2"/>
                </a:solidFill>
                <a:latin typeface="Consolas"/>
              </a:rPr>
              <a:t>None</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c</a:t>
            </a:r>
          </a:p>
        </p:txBody>
      </p:sp>
      <p:sp>
        <p:nvSpPr>
          <p:cNvPr id="14" name="!!code-num"/>
          <p:cNvSpPr txBox="1"/>
          <p:nvPr/>
        </p:nvSpPr>
        <p:spPr>
          <a:xfrm>
            <a:off x="768096" y="2066543"/>
            <a:ext cx="393192" cy="4072128"/>
          </a:xfrm>
          <a:prstGeom prst="rect">
            <a:avLst/>
          </a:prstGeom>
          <a:noFill/>
        </p:spPr>
        <p:txBody>
          <a:bodyPr wrap="none" anchor="t" lIns="0" rIns="0" tIns="0" bIns="0">
            <a:noAutofit/>
          </a:bodyPr>
          <a:lstStyle/>
          <a:p>
            <a:pPr algn="r">
              <a:lnSpc>
                <a:spcPct val="100000"/>
              </a:lnSpc>
            </a:pPr>
            <a:r>
              <a:rPr sz="1300">
                <a:solidFill>
                  <a:srgbClr val="4F5D6A"/>
                </a:solidFill>
                <a:latin typeface="Consolas"/>
              </a:rPr>
              <a:t>126</a:t>
            </a:r>
          </a:p>
          <a:p>
            <a:pPr algn="r">
              <a:lnSpc>
                <a:spcPct val="100000"/>
              </a:lnSpc>
            </a:pPr>
            <a:r>
              <a:rPr sz="1300">
                <a:solidFill>
                  <a:srgbClr val="4F5D6A"/>
                </a:solidFill>
                <a:latin typeface="Consolas"/>
              </a:rPr>
              <a:t>127</a:t>
            </a:r>
          </a:p>
          <a:p>
            <a:pPr algn="r">
              <a:lnSpc>
                <a:spcPct val="100000"/>
              </a:lnSpc>
            </a:pPr>
            <a:r>
              <a:rPr sz="1300">
                <a:solidFill>
                  <a:srgbClr val="4F5D6A"/>
                </a:solidFill>
                <a:latin typeface="Consolas"/>
              </a:rPr>
              <a:t>128</a:t>
            </a:r>
          </a:p>
          <a:p>
            <a:pPr algn="r">
              <a:lnSpc>
                <a:spcPct val="100000"/>
              </a:lnSpc>
            </a:pPr>
            <a:r>
              <a:rPr sz="1300">
                <a:solidFill>
                  <a:srgbClr val="4F5D6A"/>
                </a:solidFill>
                <a:latin typeface="Consolas"/>
              </a:rPr>
              <a:t>129</a:t>
            </a:r>
          </a:p>
          <a:p>
            <a:pPr algn="r">
              <a:lnSpc>
                <a:spcPct val="100000"/>
              </a:lnSpc>
            </a:pPr>
            <a:r>
              <a:rPr sz="1300">
                <a:solidFill>
                  <a:srgbClr val="4F5D6A"/>
                </a:solidFill>
                <a:latin typeface="Consolas"/>
              </a:rPr>
              <a:t>130</a:t>
            </a:r>
          </a:p>
          <a:p>
            <a:pPr algn="r">
              <a:lnSpc>
                <a:spcPct val="100000"/>
              </a:lnSpc>
            </a:pPr>
            <a:r>
              <a:rPr sz="1300">
                <a:solidFill>
                  <a:srgbClr val="4F5D6A"/>
                </a:solidFill>
                <a:latin typeface="Consolas"/>
              </a:rPr>
              <a:t>131</a:t>
            </a:r>
          </a:p>
          <a:p>
            <a:pPr algn="r">
              <a:lnSpc>
                <a:spcPct val="100000"/>
              </a:lnSpc>
            </a:pPr>
            <a:r>
              <a:rPr sz="1300">
                <a:solidFill>
                  <a:srgbClr val="4F5D6A"/>
                </a:solidFill>
                <a:latin typeface="Consolas"/>
              </a:rPr>
              <a:t>132</a:t>
            </a:r>
          </a:p>
          <a:p>
            <a:pPr algn="r">
              <a:lnSpc>
                <a:spcPct val="100000"/>
              </a:lnSpc>
            </a:pPr>
            <a:r>
              <a:rPr sz="1300">
                <a:solidFill>
                  <a:srgbClr val="4F5D6A"/>
                </a:solidFill>
                <a:latin typeface="Consolas"/>
              </a:rPr>
              <a:t>133</a:t>
            </a:r>
          </a:p>
          <a:p>
            <a:pPr algn="r">
              <a:lnSpc>
                <a:spcPct val="100000"/>
              </a:lnSpc>
            </a:pPr>
            <a:r>
              <a:rPr sz="1300">
                <a:solidFill>
                  <a:srgbClr val="4F5D6A"/>
                </a:solidFill>
                <a:latin typeface="Consolas"/>
              </a:rPr>
              <a:t>134</a:t>
            </a:r>
          </a:p>
          <a:p>
            <a:pPr algn="r">
              <a:lnSpc>
                <a:spcPct val="100000"/>
              </a:lnSpc>
            </a:pPr>
            <a:r>
              <a:rPr sz="1300">
                <a:solidFill>
                  <a:srgbClr val="4F5D6A"/>
                </a:solidFill>
                <a:latin typeface="Consolas"/>
              </a:rPr>
              <a:t>135</a:t>
            </a:r>
          </a:p>
          <a:p>
            <a:pPr algn="r">
              <a:lnSpc>
                <a:spcPct val="100000"/>
              </a:lnSpc>
            </a:pPr>
            <a:r>
              <a:rPr sz="1300">
                <a:solidFill>
                  <a:srgbClr val="4F5D6A"/>
                </a:solidFill>
                <a:latin typeface="Consolas"/>
              </a:rPr>
              <a:t>136</a:t>
            </a:r>
          </a:p>
          <a:p>
            <a:pPr algn="r">
              <a:lnSpc>
                <a:spcPct val="100000"/>
              </a:lnSpc>
            </a:pPr>
            <a:r>
              <a:rPr sz="1300">
                <a:solidFill>
                  <a:srgbClr val="4F5D6A"/>
                </a:solidFill>
                <a:latin typeface="Consolas"/>
              </a:rPr>
              <a:t>137</a:t>
            </a:r>
          </a:p>
          <a:p>
            <a:pPr algn="r">
              <a:lnSpc>
                <a:spcPct val="100000"/>
              </a:lnSpc>
            </a:pPr>
            <a:r>
              <a:rPr sz="1300">
                <a:solidFill>
                  <a:srgbClr val="4F5D6A"/>
                </a:solidFill>
                <a:latin typeface="Consolas"/>
              </a:rPr>
              <a:t>138</a:t>
            </a:r>
          </a:p>
          <a:p>
            <a:pPr algn="r">
              <a:lnSpc>
                <a:spcPct val="100000"/>
              </a:lnSpc>
            </a:pPr>
            <a:r>
              <a:rPr sz="1300">
                <a:solidFill>
                  <a:srgbClr val="4F5D6A"/>
                </a:solidFill>
                <a:latin typeface="Consolas"/>
              </a:rPr>
              <a:t>139</a:t>
            </a:r>
          </a:p>
          <a:p>
            <a:pPr algn="r">
              <a:lnSpc>
                <a:spcPct val="100000"/>
              </a:lnSpc>
            </a:pPr>
            <a:r>
              <a:rPr sz="1300">
                <a:solidFill>
                  <a:srgbClr val="4F5D6A"/>
                </a:solidFill>
                <a:latin typeface="Consolas"/>
              </a:rPr>
              <a:t>140</a:t>
            </a:r>
          </a:p>
          <a:p>
            <a:pPr algn="r">
              <a:lnSpc>
                <a:spcPct val="100000"/>
              </a:lnSpc>
            </a:pPr>
            <a:r>
              <a:rPr sz="1300">
                <a:solidFill>
                  <a:srgbClr val="4F5D6A"/>
                </a:solidFill>
                <a:latin typeface="Consolas"/>
              </a:rPr>
              <a:t>141</a:t>
            </a:r>
          </a:p>
          <a:p>
            <a:pPr algn="r">
              <a:lnSpc>
                <a:spcPct val="100000"/>
              </a:lnSpc>
            </a:pPr>
            <a:r>
              <a:rPr sz="1300">
                <a:solidFill>
                  <a:srgbClr val="4F5D6A"/>
                </a:solidFill>
                <a:latin typeface="Consolas"/>
              </a:rPr>
              <a:t>142</a:t>
            </a:r>
          </a:p>
          <a:p>
            <a:pPr algn="r">
              <a:lnSpc>
                <a:spcPct val="100000"/>
              </a:lnSpc>
            </a:pPr>
            <a:r>
              <a:rPr sz="1300">
                <a:solidFill>
                  <a:srgbClr val="4F5D6A"/>
                </a:solidFill>
                <a:latin typeface="Consolas"/>
              </a:rPr>
              <a:t>143</a:t>
            </a:r>
          </a:p>
          <a:p>
            <a:pPr algn="r">
              <a:lnSpc>
                <a:spcPct val="100000"/>
              </a:lnSpc>
            </a:pPr>
            <a:r>
              <a:rPr sz="1300">
                <a:solidFill>
                  <a:srgbClr val="4F5D6A"/>
                </a:solidFill>
                <a:latin typeface="Consolas"/>
              </a:rPr>
              <a:t>144</a:t>
            </a:r>
          </a:p>
          <a:p>
            <a:pPr algn="r">
              <a:lnSpc>
                <a:spcPct val="100000"/>
              </a:lnSpc>
            </a:pPr>
            <a:r>
              <a:rPr sz="1300">
                <a:solidFill>
                  <a:srgbClr val="4F5D6A"/>
                </a:solidFill>
                <a:latin typeface="Consolas"/>
              </a:rPr>
              <a:t>145</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7071183"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Sprint Scheduling as a CSP</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10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7  ·  Constraint Satisfaction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§7.7  ·  Handout p. 72     </a:t>
            </a:r>
            <a:fld id="{F15372F2-AF79-4274-AA50-7552F934C650}" type="slidenum">
              <a:rPr lang="en-GB" sz="1000">
                <a:solidFill>
                  <a:srgbClr val="8795A1"/>
                </a:solidFill>
                <a:latin typeface="Segoe UI"/>
              </a:rPr>
              <a:t>30</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3651504"/>
          </a:xfrm>
          <a:prstGeom prst="roundRect">
            <a:avLst>
              <a:gd name="adj" fmla="val 2504"/>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code/ch07_sprint_scheduling_as.py</a:t>
            </a:r>
          </a:p>
        </p:txBody>
      </p:sp>
      <p:sp>
        <p:nvSpPr>
          <p:cNvPr id="13" name="!!code-text" descr="def count_solutions(): &quot;&quot;&quot;Brute force over all 4^12 assignments, for the record.&quot;&quot;&quot; c, n = Counter(), 0 for combo in itertools.product(SLOTS, repeat=len(NAMES)): a = dict(zip(NAMES, combo)) if all(a[x] &lt; a[y] for x, y in BEFORE) \ and all(a[x] != a[y] for x, y in APART) \ and capacity_ok(a, c): n += 1 return n"/>
          <p:cNvSpPr txBox="1"/>
          <p:nvPr/>
        </p:nvSpPr>
        <p:spPr>
          <a:xfrm>
            <a:off x="1362456" y="2066543"/>
            <a:ext cx="9987991" cy="3157728"/>
          </a:xfrm>
          <a:prstGeom prst="rect">
            <a:avLst/>
          </a:prstGeom>
          <a:noFill/>
        </p:spPr>
        <p:txBody>
          <a:bodyPr wrap="none" anchor="t" lIns="0" rIns="0" tIns="0" bIns="0">
            <a:noAutofit/>
          </a:bodyPr>
          <a:lstStyle/>
          <a:p>
            <a:pPr>
              <a:lnSpc>
                <a:spcPct val="100000"/>
              </a:lnSpc>
              <a:spcAft>
                <a:spcPts val="0"/>
              </a:spcAft>
            </a:pPr>
            <a:r>
              <a:rPr sz="2000" i="0">
                <a:solidFill>
                  <a:srgbClr val="5DADE2"/>
                </a:solidFill>
                <a:latin typeface="Consolas"/>
              </a:rPr>
              <a:t>def</a:t>
            </a:r>
            <a:r>
              <a:rPr sz="2000" i="0">
                <a:solidFill>
                  <a:srgbClr val="E8EDF2"/>
                </a:solidFill>
                <a:latin typeface="Consolas"/>
              </a:rPr>
              <a:t> </a:t>
            </a:r>
            <a:r>
              <a:rPr sz="2000" i="0">
                <a:solidFill>
                  <a:srgbClr val="C39BD3"/>
                </a:solidFill>
                <a:latin typeface="Consolas"/>
              </a:rPr>
              <a:t>count_solutions</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7DCEA0"/>
                </a:solidFill>
                <a:latin typeface="Consolas"/>
              </a:rPr>
              <a:t>"""Brute force over all 4^12 assignments, for the record."""</a:t>
            </a:r>
          </a:p>
          <a:p>
            <a:pPr>
              <a:lnSpc>
                <a:spcPct val="100000"/>
              </a:lnSpc>
              <a:spcAft>
                <a:spcPts val="0"/>
              </a:spcAft>
            </a:pPr>
            <a:r>
              <a:rPr sz="2000" i="0">
                <a:solidFill>
                  <a:srgbClr val="E8EDF2"/>
                </a:solidFill>
                <a:latin typeface="Consolas"/>
              </a:rPr>
              <a:t>    </a:t>
            </a:r>
            <a:r>
              <a:rPr sz="2000" i="0">
                <a:solidFill>
                  <a:srgbClr val="E8EDF2"/>
                </a:solidFill>
                <a:latin typeface="Consolas"/>
              </a:rPr>
              <a:t>c</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n</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Counter</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F7DC6F"/>
                </a:solidFill>
                <a:latin typeface="Consolas"/>
              </a:rPr>
              <a:t>0</a:t>
            </a:r>
          </a:p>
          <a:p>
            <a:pPr>
              <a:lnSpc>
                <a:spcPct val="100000"/>
              </a:lnSpc>
              <a:spcAft>
                <a:spcPts val="0"/>
              </a:spcAft>
            </a:pPr>
            <a:r>
              <a:rPr sz="2000" i="0">
                <a:solidFill>
                  <a:srgbClr val="E8EDF2"/>
                </a:solidFill>
                <a:latin typeface="Consolas"/>
              </a:rPr>
              <a:t>    </a:t>
            </a:r>
            <a:r>
              <a:rPr sz="2000" i="0">
                <a:solidFill>
                  <a:srgbClr val="5DADE2"/>
                </a:solidFill>
                <a:latin typeface="Consolas"/>
              </a:rPr>
              <a:t>for</a:t>
            </a:r>
            <a:r>
              <a:rPr sz="2000" i="0">
                <a:solidFill>
                  <a:srgbClr val="E8EDF2"/>
                </a:solidFill>
                <a:latin typeface="Consolas"/>
              </a:rPr>
              <a:t> </a:t>
            </a:r>
            <a:r>
              <a:rPr sz="2000" i="0">
                <a:solidFill>
                  <a:srgbClr val="E8EDF2"/>
                </a:solidFill>
                <a:latin typeface="Consolas"/>
              </a:rPr>
              <a:t>combo</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E8EDF2"/>
                </a:solidFill>
                <a:latin typeface="Consolas"/>
              </a:rPr>
              <a:t>itertools</a:t>
            </a:r>
            <a:r>
              <a:rPr sz="2000" i="0">
                <a:solidFill>
                  <a:srgbClr val="AEB6BF"/>
                </a:solidFill>
                <a:latin typeface="Consolas"/>
              </a:rPr>
              <a:t>.</a:t>
            </a:r>
            <a:r>
              <a:rPr sz="2000" i="0">
                <a:solidFill>
                  <a:srgbClr val="E8EDF2"/>
                </a:solidFill>
                <a:latin typeface="Consolas"/>
              </a:rPr>
              <a:t>product</a:t>
            </a:r>
            <a:r>
              <a:rPr sz="2000" i="0">
                <a:solidFill>
                  <a:srgbClr val="AEB6BF"/>
                </a:solidFill>
                <a:latin typeface="Consolas"/>
              </a:rPr>
              <a:t>(</a:t>
            </a:r>
            <a:r>
              <a:rPr sz="2000" i="0">
                <a:solidFill>
                  <a:srgbClr val="E8EDF2"/>
                </a:solidFill>
                <a:latin typeface="Consolas"/>
              </a:rPr>
              <a:t>SLOTS</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repeat</a:t>
            </a:r>
            <a:r>
              <a:rPr sz="2000" i="0">
                <a:solidFill>
                  <a:srgbClr val="AEB6BF"/>
                </a:solidFill>
                <a:latin typeface="Consolas"/>
              </a:rPr>
              <a:t>=</a:t>
            </a:r>
            <a:r>
              <a:rPr sz="2000" i="0">
                <a:solidFill>
                  <a:srgbClr val="C39BD3"/>
                </a:solidFill>
                <a:latin typeface="Consolas"/>
              </a:rPr>
              <a:t>len</a:t>
            </a:r>
            <a:r>
              <a:rPr sz="2000" i="0">
                <a:solidFill>
                  <a:srgbClr val="AEB6BF"/>
                </a:solidFill>
                <a:latin typeface="Consolas"/>
              </a:rPr>
              <a:t>(</a:t>
            </a:r>
            <a:r>
              <a:rPr sz="2000" i="0">
                <a:solidFill>
                  <a:srgbClr val="E8EDF2"/>
                </a:solidFill>
                <a:latin typeface="Consolas"/>
              </a:rPr>
              <a:t>NAMES</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a</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C39BD3"/>
                </a:solidFill>
                <a:latin typeface="Consolas"/>
              </a:rPr>
              <a:t>dict</a:t>
            </a:r>
            <a:r>
              <a:rPr sz="2000" i="0">
                <a:solidFill>
                  <a:srgbClr val="AEB6BF"/>
                </a:solidFill>
                <a:latin typeface="Consolas"/>
              </a:rPr>
              <a:t>(</a:t>
            </a:r>
            <a:r>
              <a:rPr sz="2000" i="0">
                <a:solidFill>
                  <a:srgbClr val="C39BD3"/>
                </a:solidFill>
                <a:latin typeface="Consolas"/>
              </a:rPr>
              <a:t>zip</a:t>
            </a:r>
            <a:r>
              <a:rPr sz="2000" i="0">
                <a:solidFill>
                  <a:srgbClr val="AEB6BF"/>
                </a:solidFill>
                <a:latin typeface="Consolas"/>
              </a:rPr>
              <a:t>(</a:t>
            </a:r>
            <a:r>
              <a:rPr sz="2000" i="0">
                <a:solidFill>
                  <a:srgbClr val="E8EDF2"/>
                </a:solidFill>
                <a:latin typeface="Consolas"/>
              </a:rPr>
              <a:t>NAMES</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combo</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if</a:t>
            </a:r>
            <a:r>
              <a:rPr sz="2000" i="0">
                <a:solidFill>
                  <a:srgbClr val="E8EDF2"/>
                </a:solidFill>
                <a:latin typeface="Consolas"/>
              </a:rPr>
              <a:t> </a:t>
            </a:r>
            <a:r>
              <a:rPr sz="2000" i="0">
                <a:solidFill>
                  <a:srgbClr val="C39BD3"/>
                </a:solidFill>
                <a:latin typeface="Consolas"/>
              </a:rPr>
              <a:t>all</a:t>
            </a:r>
            <a:r>
              <a:rPr sz="2000" i="0">
                <a:solidFill>
                  <a:srgbClr val="AEB6BF"/>
                </a:solidFill>
                <a:latin typeface="Consolas"/>
              </a:rPr>
              <a:t>(</a:t>
            </a:r>
            <a:r>
              <a:rPr sz="2000" i="0">
                <a:solidFill>
                  <a:srgbClr val="E8EDF2"/>
                </a:solidFill>
                <a:latin typeface="Consolas"/>
              </a:rPr>
              <a:t>a</a:t>
            </a:r>
            <a:r>
              <a:rPr sz="2000" i="0">
                <a:solidFill>
                  <a:srgbClr val="AEB6BF"/>
                </a:solidFill>
                <a:latin typeface="Consolas"/>
              </a:rPr>
              <a:t>[</a:t>
            </a:r>
            <a:r>
              <a:rPr sz="2000" i="0">
                <a:solidFill>
                  <a:srgbClr val="E8EDF2"/>
                </a:solidFill>
                <a:latin typeface="Consolas"/>
              </a:rPr>
              <a:t>x</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&lt;</a:t>
            </a:r>
            <a:r>
              <a:rPr sz="2000" i="0">
                <a:solidFill>
                  <a:srgbClr val="E8EDF2"/>
                </a:solidFill>
                <a:latin typeface="Consolas"/>
              </a:rPr>
              <a:t> </a:t>
            </a:r>
            <a:r>
              <a:rPr sz="2000" i="0">
                <a:solidFill>
                  <a:srgbClr val="E8EDF2"/>
                </a:solidFill>
                <a:latin typeface="Consolas"/>
              </a:rPr>
              <a:t>a</a:t>
            </a:r>
            <a:r>
              <a:rPr sz="2000" i="0">
                <a:solidFill>
                  <a:srgbClr val="AEB6BF"/>
                </a:solidFill>
                <a:latin typeface="Consolas"/>
              </a:rPr>
              <a:t>[</a:t>
            </a:r>
            <a:r>
              <a:rPr sz="2000" i="0">
                <a:solidFill>
                  <a:srgbClr val="E8EDF2"/>
                </a:solidFill>
                <a:latin typeface="Consolas"/>
              </a:rPr>
              <a:t>y</a:t>
            </a:r>
            <a:r>
              <a:rPr sz="2000" i="0">
                <a:solidFill>
                  <a:srgbClr val="AEB6BF"/>
                </a:solidFill>
                <a:latin typeface="Consolas"/>
              </a:rPr>
              <a:t>]</a:t>
            </a:r>
            <a:r>
              <a:rPr sz="2000" i="0">
                <a:solidFill>
                  <a:srgbClr val="E8EDF2"/>
                </a:solidFill>
                <a:latin typeface="Consolas"/>
              </a:rPr>
              <a:t> </a:t>
            </a:r>
            <a:r>
              <a:rPr sz="2000" i="0">
                <a:solidFill>
                  <a:srgbClr val="5DADE2"/>
                </a:solidFill>
                <a:latin typeface="Consolas"/>
              </a:rPr>
              <a:t>for</a:t>
            </a:r>
            <a:r>
              <a:rPr sz="2000" i="0">
                <a:solidFill>
                  <a:srgbClr val="E8EDF2"/>
                </a:solidFill>
                <a:latin typeface="Consolas"/>
              </a:rPr>
              <a:t> </a:t>
            </a:r>
            <a:r>
              <a:rPr sz="2000" i="0">
                <a:solidFill>
                  <a:srgbClr val="E8EDF2"/>
                </a:solidFill>
                <a:latin typeface="Consolas"/>
              </a:rPr>
              <a:t>x</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y</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E8EDF2"/>
                </a:solidFill>
                <a:latin typeface="Consolas"/>
              </a:rPr>
              <a:t>BEFORE</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a:t>
            </a:r>
          </a:p>
          <a:p>
            <a:pPr>
              <a:lnSpc>
                <a:spcPct val="100000"/>
              </a:lnSpc>
              <a:spcAft>
                <a:spcPts val="0"/>
              </a:spcAft>
            </a:pPr>
            <a:r>
              <a:rPr sz="2000" i="0">
                <a:solidFill>
                  <a:srgbClr val="E8EDF2"/>
                </a:solidFill>
                <a:latin typeface="Consolas"/>
              </a:rPr>
              <a:t>           </a:t>
            </a:r>
            <a:r>
              <a:rPr sz="2000" i="0">
                <a:solidFill>
                  <a:srgbClr val="AEB6BF"/>
                </a:solidFill>
                <a:latin typeface="Consolas"/>
              </a:rPr>
              <a:t>and</a:t>
            </a:r>
            <a:r>
              <a:rPr sz="2000" i="0">
                <a:solidFill>
                  <a:srgbClr val="E8EDF2"/>
                </a:solidFill>
                <a:latin typeface="Consolas"/>
              </a:rPr>
              <a:t> </a:t>
            </a:r>
            <a:r>
              <a:rPr sz="2000" i="0">
                <a:solidFill>
                  <a:srgbClr val="C39BD3"/>
                </a:solidFill>
                <a:latin typeface="Consolas"/>
              </a:rPr>
              <a:t>all</a:t>
            </a:r>
            <a:r>
              <a:rPr sz="2000" i="0">
                <a:solidFill>
                  <a:srgbClr val="AEB6BF"/>
                </a:solidFill>
                <a:latin typeface="Consolas"/>
              </a:rPr>
              <a:t>(</a:t>
            </a:r>
            <a:r>
              <a:rPr sz="2000" i="0">
                <a:solidFill>
                  <a:srgbClr val="E8EDF2"/>
                </a:solidFill>
                <a:latin typeface="Consolas"/>
              </a:rPr>
              <a:t>a</a:t>
            </a:r>
            <a:r>
              <a:rPr sz="2000" i="0">
                <a:solidFill>
                  <a:srgbClr val="AEB6BF"/>
                </a:solidFill>
                <a:latin typeface="Consolas"/>
              </a:rPr>
              <a:t>[</a:t>
            </a:r>
            <a:r>
              <a:rPr sz="2000" i="0">
                <a:solidFill>
                  <a:srgbClr val="E8EDF2"/>
                </a:solidFill>
                <a:latin typeface="Consolas"/>
              </a:rPr>
              <a:t>x</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a</a:t>
            </a:r>
            <a:r>
              <a:rPr sz="2000" i="0">
                <a:solidFill>
                  <a:srgbClr val="AEB6BF"/>
                </a:solidFill>
                <a:latin typeface="Consolas"/>
              </a:rPr>
              <a:t>[</a:t>
            </a:r>
            <a:r>
              <a:rPr sz="2000" i="0">
                <a:solidFill>
                  <a:srgbClr val="E8EDF2"/>
                </a:solidFill>
                <a:latin typeface="Consolas"/>
              </a:rPr>
              <a:t>y</a:t>
            </a:r>
            <a:r>
              <a:rPr sz="2000" i="0">
                <a:solidFill>
                  <a:srgbClr val="AEB6BF"/>
                </a:solidFill>
                <a:latin typeface="Consolas"/>
              </a:rPr>
              <a:t>]</a:t>
            </a:r>
            <a:r>
              <a:rPr sz="2000" i="0">
                <a:solidFill>
                  <a:srgbClr val="E8EDF2"/>
                </a:solidFill>
                <a:latin typeface="Consolas"/>
              </a:rPr>
              <a:t> </a:t>
            </a:r>
            <a:r>
              <a:rPr sz="2000" i="0">
                <a:solidFill>
                  <a:srgbClr val="5DADE2"/>
                </a:solidFill>
                <a:latin typeface="Consolas"/>
              </a:rPr>
              <a:t>for</a:t>
            </a:r>
            <a:r>
              <a:rPr sz="2000" i="0">
                <a:solidFill>
                  <a:srgbClr val="E8EDF2"/>
                </a:solidFill>
                <a:latin typeface="Consolas"/>
              </a:rPr>
              <a:t> </a:t>
            </a:r>
            <a:r>
              <a:rPr sz="2000" i="0">
                <a:solidFill>
                  <a:srgbClr val="E8EDF2"/>
                </a:solidFill>
                <a:latin typeface="Consolas"/>
              </a:rPr>
              <a:t>x</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y</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E8EDF2"/>
                </a:solidFill>
                <a:latin typeface="Consolas"/>
              </a:rPr>
              <a:t>APART</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a:t>
            </a:r>
          </a:p>
          <a:p>
            <a:pPr>
              <a:lnSpc>
                <a:spcPct val="100000"/>
              </a:lnSpc>
              <a:spcAft>
                <a:spcPts val="0"/>
              </a:spcAft>
            </a:pPr>
            <a:r>
              <a:rPr sz="2000" i="0">
                <a:solidFill>
                  <a:srgbClr val="E8EDF2"/>
                </a:solidFill>
                <a:latin typeface="Consolas"/>
              </a:rPr>
              <a:t>           </a:t>
            </a:r>
            <a:r>
              <a:rPr sz="2000" i="0">
                <a:solidFill>
                  <a:srgbClr val="AEB6BF"/>
                </a:solidFill>
                <a:latin typeface="Consolas"/>
              </a:rPr>
              <a:t>and</a:t>
            </a:r>
            <a:r>
              <a:rPr sz="2000" i="0">
                <a:solidFill>
                  <a:srgbClr val="E8EDF2"/>
                </a:solidFill>
                <a:latin typeface="Consolas"/>
              </a:rPr>
              <a:t> </a:t>
            </a:r>
            <a:r>
              <a:rPr sz="2000" i="0">
                <a:solidFill>
                  <a:srgbClr val="E8EDF2"/>
                </a:solidFill>
                <a:latin typeface="Consolas"/>
              </a:rPr>
              <a:t>capacity_ok</a:t>
            </a:r>
            <a:r>
              <a:rPr sz="2000" i="0">
                <a:solidFill>
                  <a:srgbClr val="AEB6BF"/>
                </a:solidFill>
                <a:latin typeface="Consolas"/>
              </a:rPr>
              <a:t>(</a:t>
            </a:r>
            <a:r>
              <a:rPr sz="2000" i="0">
                <a:solidFill>
                  <a:srgbClr val="E8EDF2"/>
                </a:solidFill>
                <a:latin typeface="Consolas"/>
              </a:rPr>
              <a:t>a</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c</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n</a:t>
            </a:r>
            <a:r>
              <a:rPr sz="2000" i="0">
                <a:solidFill>
                  <a:srgbClr val="E8EDF2"/>
                </a:solidFill>
                <a:latin typeface="Consolas"/>
              </a:rPr>
              <a:t> </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F7DC6F"/>
                </a:solidFill>
                <a:latin typeface="Consolas"/>
              </a:rPr>
              <a:t>1</a:t>
            </a:r>
          </a:p>
          <a:p>
            <a:pPr>
              <a:lnSpc>
                <a:spcPct val="100000"/>
              </a:lnSpc>
              <a:spcAft>
                <a:spcPts val="0"/>
              </a:spcAft>
            </a:pPr>
            <a:r>
              <a:rPr sz="2000" i="0">
                <a:solidFill>
                  <a:srgbClr val="E8EDF2"/>
                </a:solidFill>
                <a:latin typeface="Consolas"/>
              </a:rPr>
              <a:t>    </a:t>
            </a:r>
            <a:r>
              <a:rPr sz="2000" i="0">
                <a:solidFill>
                  <a:srgbClr val="5DADE2"/>
                </a:solidFill>
                <a:latin typeface="Consolas"/>
              </a:rPr>
              <a:t>return</a:t>
            </a:r>
            <a:r>
              <a:rPr sz="2000" i="0">
                <a:solidFill>
                  <a:srgbClr val="E8EDF2"/>
                </a:solidFill>
                <a:latin typeface="Consolas"/>
              </a:rPr>
              <a:t> </a:t>
            </a:r>
            <a:r>
              <a:rPr sz="2000" i="0">
                <a:solidFill>
                  <a:srgbClr val="E8EDF2"/>
                </a:solidFill>
                <a:latin typeface="Consolas"/>
              </a:rPr>
              <a:t>n</a:t>
            </a:r>
          </a:p>
        </p:txBody>
      </p:sp>
      <p:sp>
        <p:nvSpPr>
          <p:cNvPr id="14" name="!!code-num"/>
          <p:cNvSpPr txBox="1"/>
          <p:nvPr/>
        </p:nvSpPr>
        <p:spPr>
          <a:xfrm>
            <a:off x="768096" y="2066543"/>
            <a:ext cx="393192" cy="31577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148</a:t>
            </a:r>
          </a:p>
          <a:p>
            <a:pPr algn="r">
              <a:lnSpc>
                <a:spcPct val="100000"/>
              </a:lnSpc>
            </a:pPr>
            <a:r>
              <a:rPr sz="2000">
                <a:solidFill>
                  <a:srgbClr val="4F5D6A"/>
                </a:solidFill>
                <a:latin typeface="Consolas"/>
              </a:rPr>
              <a:t>149</a:t>
            </a:r>
          </a:p>
          <a:p>
            <a:pPr algn="r">
              <a:lnSpc>
                <a:spcPct val="100000"/>
              </a:lnSpc>
            </a:pPr>
            <a:r>
              <a:rPr sz="2000">
                <a:solidFill>
                  <a:srgbClr val="4F5D6A"/>
                </a:solidFill>
                <a:latin typeface="Consolas"/>
              </a:rPr>
              <a:t>150</a:t>
            </a:r>
          </a:p>
          <a:p>
            <a:pPr algn="r">
              <a:lnSpc>
                <a:spcPct val="100000"/>
              </a:lnSpc>
            </a:pPr>
            <a:r>
              <a:rPr sz="2000">
                <a:solidFill>
                  <a:srgbClr val="4F5D6A"/>
                </a:solidFill>
                <a:latin typeface="Consolas"/>
              </a:rPr>
              <a:t>151</a:t>
            </a:r>
          </a:p>
          <a:p>
            <a:pPr algn="r">
              <a:lnSpc>
                <a:spcPct val="100000"/>
              </a:lnSpc>
            </a:pPr>
            <a:r>
              <a:rPr sz="2000">
                <a:solidFill>
                  <a:srgbClr val="4F5D6A"/>
                </a:solidFill>
                <a:latin typeface="Consolas"/>
              </a:rPr>
              <a:t>152</a:t>
            </a:r>
          </a:p>
          <a:p>
            <a:pPr algn="r">
              <a:lnSpc>
                <a:spcPct val="100000"/>
              </a:lnSpc>
            </a:pPr>
            <a:r>
              <a:rPr sz="2000">
                <a:solidFill>
                  <a:srgbClr val="4F5D6A"/>
                </a:solidFill>
                <a:latin typeface="Consolas"/>
              </a:rPr>
              <a:t>153</a:t>
            </a:r>
          </a:p>
          <a:p>
            <a:pPr algn="r">
              <a:lnSpc>
                <a:spcPct val="100000"/>
              </a:lnSpc>
            </a:pPr>
            <a:r>
              <a:rPr sz="2000">
                <a:solidFill>
                  <a:srgbClr val="4F5D6A"/>
                </a:solidFill>
                <a:latin typeface="Consolas"/>
              </a:rPr>
              <a:t>154</a:t>
            </a:r>
          </a:p>
          <a:p>
            <a:pPr algn="r">
              <a:lnSpc>
                <a:spcPct val="100000"/>
              </a:lnSpc>
            </a:pPr>
            <a:r>
              <a:rPr sz="2000">
                <a:solidFill>
                  <a:srgbClr val="4F5D6A"/>
                </a:solidFill>
                <a:latin typeface="Consolas"/>
              </a:rPr>
              <a:t>155</a:t>
            </a:r>
          </a:p>
          <a:p>
            <a:pPr algn="r">
              <a:lnSpc>
                <a:spcPct val="100000"/>
              </a:lnSpc>
            </a:pPr>
            <a:r>
              <a:rPr sz="2000">
                <a:solidFill>
                  <a:srgbClr val="4F5D6A"/>
                </a:solidFill>
                <a:latin typeface="Consolas"/>
              </a:rPr>
              <a:t>156</a:t>
            </a:r>
          </a:p>
          <a:p>
            <a:pPr algn="r">
              <a:lnSpc>
                <a:spcPct val="100000"/>
              </a:lnSpc>
            </a:pPr>
            <a:r>
              <a:rPr sz="2000">
                <a:solidFill>
                  <a:srgbClr val="4F5D6A"/>
                </a:solidFill>
                <a:latin typeface="Consolas"/>
              </a:rPr>
              <a:t>157</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7315017"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Sprint Scheduling as a CSP</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11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7  ·  Constraint Satisfaction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§7.7  ·  Handout p. 72     </a:t>
            </a:r>
            <a:fld id="{DD2FB5B7-93C5-471D-86D3-01C8AD414E07}" type="slidenum">
              <a:rPr lang="en-GB" sz="1000">
                <a:solidFill>
                  <a:srgbClr val="8795A1"/>
                </a:solidFill>
                <a:latin typeface="Segoe UI"/>
              </a:rPr>
              <a:t>31</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3621024"/>
          </a:xfrm>
          <a:prstGeom prst="roundRect">
            <a:avLst>
              <a:gd name="adj" fmla="val 2525"/>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code/ch07_sprint_scheduling_as.py</a:t>
            </a:r>
          </a:p>
        </p:txBody>
      </p:sp>
      <p:sp>
        <p:nvSpPr>
          <p:cNvPr id="13" name="!!code-text" descr="def show(sol): by = {s: [] for s in SLOTS} for n, v in sol.items(): by[v].append(n) out = [] for s in SLOTS: pts = sum(STORIES[n][0] for n in by[s]) out.append(&quot;sprint %d: %-18s %2d pts&quot; % (s, &quot;,&quot;.join(sorted(by[s], key=lambda x: int(x[1:]))), pts)) return &quot;\n&quot;.join(out)"/>
          <p:cNvSpPr txBox="1"/>
          <p:nvPr/>
        </p:nvSpPr>
        <p:spPr>
          <a:xfrm>
            <a:off x="1362456" y="2066543"/>
            <a:ext cx="9987991" cy="3127248"/>
          </a:xfrm>
          <a:prstGeom prst="rect">
            <a:avLst/>
          </a:prstGeom>
          <a:noFill/>
        </p:spPr>
        <p:txBody>
          <a:bodyPr wrap="none" anchor="t" lIns="0" rIns="0" tIns="0" bIns="0">
            <a:noAutofit/>
          </a:bodyPr>
          <a:lstStyle/>
          <a:p>
            <a:pPr>
              <a:lnSpc>
                <a:spcPct val="100000"/>
              </a:lnSpc>
              <a:spcAft>
                <a:spcPts val="0"/>
              </a:spcAft>
            </a:pPr>
            <a:r>
              <a:rPr sz="1800" i="0">
                <a:solidFill>
                  <a:srgbClr val="5DADE2"/>
                </a:solidFill>
                <a:latin typeface="Consolas"/>
              </a:rPr>
              <a:t>def</a:t>
            </a:r>
            <a:r>
              <a:rPr sz="1800" i="0">
                <a:solidFill>
                  <a:srgbClr val="E8EDF2"/>
                </a:solidFill>
                <a:latin typeface="Consolas"/>
              </a:rPr>
              <a:t> </a:t>
            </a:r>
            <a:r>
              <a:rPr sz="1800" i="0">
                <a:solidFill>
                  <a:srgbClr val="C39BD3"/>
                </a:solidFill>
                <a:latin typeface="Consolas"/>
              </a:rPr>
              <a:t>show</a:t>
            </a:r>
            <a:r>
              <a:rPr sz="1800" i="0">
                <a:solidFill>
                  <a:srgbClr val="AEB6BF"/>
                </a:solidFill>
                <a:latin typeface="Consolas"/>
              </a:rPr>
              <a:t>(</a:t>
            </a:r>
            <a:r>
              <a:rPr sz="1800" i="0">
                <a:solidFill>
                  <a:srgbClr val="E8EDF2"/>
                </a:solidFill>
                <a:latin typeface="Consolas"/>
              </a:rPr>
              <a:t>sol</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by</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s</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5DADE2"/>
                </a:solidFill>
                <a:latin typeface="Consolas"/>
              </a:rPr>
              <a:t>for</a:t>
            </a:r>
            <a:r>
              <a:rPr sz="1800" i="0">
                <a:solidFill>
                  <a:srgbClr val="E8EDF2"/>
                </a:solidFill>
                <a:latin typeface="Consolas"/>
              </a:rPr>
              <a:t> </a:t>
            </a:r>
            <a:r>
              <a:rPr sz="1800" i="0">
                <a:solidFill>
                  <a:srgbClr val="E8EDF2"/>
                </a:solidFill>
                <a:latin typeface="Consolas"/>
              </a:rPr>
              <a:t>s</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E8EDF2"/>
                </a:solidFill>
                <a:latin typeface="Consolas"/>
              </a:rPr>
              <a:t>SLOTS</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for</a:t>
            </a:r>
            <a:r>
              <a:rPr sz="1800" i="0">
                <a:solidFill>
                  <a:srgbClr val="E8EDF2"/>
                </a:solidFill>
                <a:latin typeface="Consolas"/>
              </a:rPr>
              <a:t> </a:t>
            </a:r>
            <a:r>
              <a:rPr sz="1800" i="0">
                <a:solidFill>
                  <a:srgbClr val="E8EDF2"/>
                </a:solidFill>
                <a:latin typeface="Consolas"/>
              </a:rPr>
              <a:t>n</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v</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E8EDF2"/>
                </a:solidFill>
                <a:latin typeface="Consolas"/>
              </a:rPr>
              <a:t>sol</a:t>
            </a:r>
            <a:r>
              <a:rPr sz="1800" i="0">
                <a:solidFill>
                  <a:srgbClr val="AEB6BF"/>
                </a:solidFill>
                <a:latin typeface="Consolas"/>
              </a:rPr>
              <a:t>.</a:t>
            </a:r>
            <a:r>
              <a:rPr sz="1800" i="0">
                <a:solidFill>
                  <a:srgbClr val="E8EDF2"/>
                </a:solidFill>
                <a:latin typeface="Consolas"/>
              </a:rPr>
              <a:t>items</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by</a:t>
            </a:r>
            <a:r>
              <a:rPr sz="1800" i="0">
                <a:solidFill>
                  <a:srgbClr val="AEB6BF"/>
                </a:solidFill>
                <a:latin typeface="Consolas"/>
              </a:rPr>
              <a:t>[</a:t>
            </a:r>
            <a:r>
              <a:rPr sz="1800" i="0">
                <a:solidFill>
                  <a:srgbClr val="E8EDF2"/>
                </a:solidFill>
                <a:latin typeface="Consolas"/>
              </a:rPr>
              <a:t>v</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append</a:t>
            </a:r>
            <a:r>
              <a:rPr sz="1800" i="0">
                <a:solidFill>
                  <a:srgbClr val="AEB6BF"/>
                </a:solidFill>
                <a:latin typeface="Consolas"/>
              </a:rPr>
              <a:t>(</a:t>
            </a:r>
            <a:r>
              <a:rPr sz="1800" i="0">
                <a:solidFill>
                  <a:srgbClr val="E8EDF2"/>
                </a:solidFill>
                <a:latin typeface="Consolas"/>
              </a:rPr>
              <a:t>n</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out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for</a:t>
            </a:r>
            <a:r>
              <a:rPr sz="1800" i="0">
                <a:solidFill>
                  <a:srgbClr val="E8EDF2"/>
                </a:solidFill>
                <a:latin typeface="Consolas"/>
              </a:rPr>
              <a:t> </a:t>
            </a:r>
            <a:r>
              <a:rPr sz="1800" i="0">
                <a:solidFill>
                  <a:srgbClr val="E8EDF2"/>
                </a:solidFill>
                <a:latin typeface="Consolas"/>
              </a:rPr>
              <a:t>s</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E8EDF2"/>
                </a:solidFill>
                <a:latin typeface="Consolas"/>
              </a:rPr>
              <a:t>SLOTS</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pts</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C39BD3"/>
                </a:solidFill>
                <a:latin typeface="Consolas"/>
              </a:rPr>
              <a:t>sum</a:t>
            </a:r>
            <a:r>
              <a:rPr sz="1800" i="0">
                <a:solidFill>
                  <a:srgbClr val="AEB6BF"/>
                </a:solidFill>
                <a:latin typeface="Consolas"/>
              </a:rPr>
              <a:t>(</a:t>
            </a:r>
            <a:r>
              <a:rPr sz="1800" i="0">
                <a:solidFill>
                  <a:srgbClr val="E8EDF2"/>
                </a:solidFill>
                <a:latin typeface="Consolas"/>
              </a:rPr>
              <a:t>STORIES</a:t>
            </a:r>
            <a:r>
              <a:rPr sz="1800" i="0">
                <a:solidFill>
                  <a:srgbClr val="AEB6BF"/>
                </a:solidFill>
                <a:latin typeface="Consolas"/>
              </a:rPr>
              <a:t>[</a:t>
            </a:r>
            <a:r>
              <a:rPr sz="1800" i="0">
                <a:solidFill>
                  <a:srgbClr val="E8EDF2"/>
                </a:solidFill>
                <a:latin typeface="Consolas"/>
              </a:rPr>
              <a:t>n</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E8EDF2"/>
                </a:solidFill>
                <a:latin typeface="Consolas"/>
              </a:rPr>
              <a:t> </a:t>
            </a:r>
            <a:r>
              <a:rPr sz="1800" i="0">
                <a:solidFill>
                  <a:srgbClr val="5DADE2"/>
                </a:solidFill>
                <a:latin typeface="Consolas"/>
              </a:rPr>
              <a:t>for</a:t>
            </a:r>
            <a:r>
              <a:rPr sz="1800" i="0">
                <a:solidFill>
                  <a:srgbClr val="E8EDF2"/>
                </a:solidFill>
                <a:latin typeface="Consolas"/>
              </a:rPr>
              <a:t> </a:t>
            </a:r>
            <a:r>
              <a:rPr sz="1800" i="0">
                <a:solidFill>
                  <a:srgbClr val="E8EDF2"/>
                </a:solidFill>
                <a:latin typeface="Consolas"/>
              </a:rPr>
              <a:t>n</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E8EDF2"/>
                </a:solidFill>
                <a:latin typeface="Consolas"/>
              </a:rPr>
              <a:t>by</a:t>
            </a:r>
            <a:r>
              <a:rPr sz="1800" i="0">
                <a:solidFill>
                  <a:srgbClr val="AEB6BF"/>
                </a:solidFill>
                <a:latin typeface="Consolas"/>
              </a:rPr>
              <a:t>[</a:t>
            </a:r>
            <a:r>
              <a:rPr sz="1800" i="0">
                <a:solidFill>
                  <a:srgbClr val="E8EDF2"/>
                </a:solidFill>
                <a:latin typeface="Consolas"/>
              </a:rPr>
              <a:t>s</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out</a:t>
            </a:r>
            <a:r>
              <a:rPr sz="1800" i="0">
                <a:solidFill>
                  <a:srgbClr val="AEB6BF"/>
                </a:solidFill>
                <a:latin typeface="Consolas"/>
              </a:rPr>
              <a:t>.</a:t>
            </a:r>
            <a:r>
              <a:rPr sz="1800" i="0">
                <a:solidFill>
                  <a:srgbClr val="E8EDF2"/>
                </a:solidFill>
                <a:latin typeface="Consolas"/>
              </a:rPr>
              <a:t>append</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sprint </a:t>
            </a:r>
            <a:r>
              <a:rPr sz="1800" i="0">
                <a:solidFill>
                  <a:srgbClr val="7DCEA0"/>
                </a:solidFill>
                <a:latin typeface="Consolas"/>
              </a:rPr>
              <a:t>%d</a:t>
            </a:r>
            <a:r>
              <a:rPr sz="1800" i="0">
                <a:solidFill>
                  <a:srgbClr val="7DCEA0"/>
                </a:solidFill>
                <a:latin typeface="Consolas"/>
              </a:rPr>
              <a:t>: </a:t>
            </a:r>
            <a:r>
              <a:rPr sz="1800" i="0">
                <a:solidFill>
                  <a:srgbClr val="7DCEA0"/>
                </a:solidFill>
                <a:latin typeface="Consolas"/>
              </a:rPr>
              <a:t>%-18s</a:t>
            </a:r>
            <a:r>
              <a:rPr sz="1800" i="0">
                <a:solidFill>
                  <a:srgbClr val="7DCEA0"/>
                </a:solidFill>
                <a:latin typeface="Consolas"/>
              </a:rPr>
              <a:t> </a:t>
            </a:r>
            <a:r>
              <a:rPr sz="1800" i="0">
                <a:solidFill>
                  <a:srgbClr val="7DCEA0"/>
                </a:solidFill>
                <a:latin typeface="Consolas"/>
              </a:rPr>
              <a:t>%2d</a:t>
            </a:r>
            <a:r>
              <a:rPr sz="1800" i="0">
                <a:solidFill>
                  <a:srgbClr val="7DCEA0"/>
                </a:solidFill>
                <a:latin typeface="Consolas"/>
              </a:rPr>
              <a:t> pts</a:t>
            </a:r>
            <a:r>
              <a:rPr sz="1800" i="0">
                <a:solidFill>
                  <a:srgbClr val="7DCEA0"/>
                </a:solidFill>
                <a:latin typeface="Consolas"/>
              </a:rPr>
              <a:t>"</a:t>
            </a:r>
          </a:p>
          <a:p>
            <a:pPr>
              <a:lnSpc>
                <a:spcPct val="100000"/>
              </a:lnSpc>
              <a:spcAft>
                <a:spcPts val="0"/>
              </a:spcAft>
            </a:pP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s</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join</a:t>
            </a:r>
            <a:r>
              <a:rPr sz="1800" i="0">
                <a:solidFill>
                  <a:srgbClr val="AEB6BF"/>
                </a:solidFill>
                <a:latin typeface="Consolas"/>
              </a:rPr>
              <a:t>(</a:t>
            </a:r>
            <a:r>
              <a:rPr sz="1800" i="0">
                <a:solidFill>
                  <a:srgbClr val="C39BD3"/>
                </a:solidFill>
                <a:latin typeface="Consolas"/>
              </a:rPr>
              <a:t>sorted</a:t>
            </a:r>
            <a:r>
              <a:rPr sz="1800" i="0">
                <a:solidFill>
                  <a:srgbClr val="AEB6BF"/>
                </a:solidFill>
                <a:latin typeface="Consolas"/>
              </a:rPr>
              <a:t>(</a:t>
            </a:r>
            <a:r>
              <a:rPr sz="1800" i="0">
                <a:solidFill>
                  <a:srgbClr val="E8EDF2"/>
                </a:solidFill>
                <a:latin typeface="Consolas"/>
              </a:rPr>
              <a:t>by</a:t>
            </a:r>
            <a:r>
              <a:rPr sz="1800" i="0">
                <a:solidFill>
                  <a:srgbClr val="AEB6BF"/>
                </a:solidFill>
                <a:latin typeface="Consolas"/>
              </a:rPr>
              <a:t>[</a:t>
            </a:r>
            <a:r>
              <a:rPr sz="1800" i="0">
                <a:solidFill>
                  <a:srgbClr val="E8EDF2"/>
                </a:solidFill>
                <a:latin typeface="Consolas"/>
              </a:rPr>
              <a:t>s</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key</a:t>
            </a:r>
            <a:r>
              <a:rPr sz="1800" i="0">
                <a:solidFill>
                  <a:srgbClr val="AEB6BF"/>
                </a:solidFill>
                <a:latin typeface="Consolas"/>
              </a:rPr>
              <a:t>=</a:t>
            </a:r>
            <a:r>
              <a:rPr sz="1800" i="0">
                <a:solidFill>
                  <a:srgbClr val="5DADE2"/>
                </a:solidFill>
                <a:latin typeface="Consolas"/>
              </a:rPr>
              <a:t>lambda</a:t>
            </a:r>
            <a:r>
              <a:rPr sz="1800" i="0">
                <a:solidFill>
                  <a:srgbClr val="E8EDF2"/>
                </a:solidFill>
                <a:latin typeface="Consolas"/>
              </a:rPr>
              <a:t> </a:t>
            </a:r>
            <a:r>
              <a:rPr sz="1800" i="0">
                <a:solidFill>
                  <a:srgbClr val="E8EDF2"/>
                </a:solidFill>
                <a:latin typeface="Consolas"/>
              </a:rPr>
              <a:t>x</a:t>
            </a:r>
            <a:r>
              <a:rPr sz="1800" i="0">
                <a:solidFill>
                  <a:srgbClr val="AEB6BF"/>
                </a:solidFill>
                <a:latin typeface="Consolas"/>
              </a:rPr>
              <a:t>:</a:t>
            </a:r>
            <a:r>
              <a:rPr sz="1800" i="0">
                <a:solidFill>
                  <a:srgbClr val="E8EDF2"/>
                </a:solidFill>
                <a:latin typeface="Consolas"/>
              </a:rPr>
              <a:t> </a:t>
            </a:r>
            <a:r>
              <a:rPr sz="1800" i="0">
                <a:solidFill>
                  <a:srgbClr val="C39BD3"/>
                </a:solidFill>
                <a:latin typeface="Consolas"/>
              </a:rPr>
              <a:t>int</a:t>
            </a:r>
            <a:r>
              <a:rPr sz="1800" i="0">
                <a:solidFill>
                  <a:srgbClr val="AEB6BF"/>
                </a:solidFill>
                <a:latin typeface="Consolas"/>
              </a:rPr>
              <a:t>(</a:t>
            </a:r>
            <a:r>
              <a:rPr sz="1800" i="0">
                <a:solidFill>
                  <a:srgbClr val="E8EDF2"/>
                </a:solidFill>
                <a:latin typeface="Consolas"/>
              </a:rPr>
              <a:t>x</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pts</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return</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\n</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join</a:t>
            </a:r>
            <a:r>
              <a:rPr sz="1800" i="0">
                <a:solidFill>
                  <a:srgbClr val="AEB6BF"/>
                </a:solidFill>
                <a:latin typeface="Consolas"/>
              </a:rPr>
              <a:t>(</a:t>
            </a:r>
            <a:r>
              <a:rPr sz="1800" i="0">
                <a:solidFill>
                  <a:srgbClr val="E8EDF2"/>
                </a:solidFill>
                <a:latin typeface="Consolas"/>
              </a:rPr>
              <a:t>out</a:t>
            </a:r>
            <a:r>
              <a:rPr sz="1800" i="0">
                <a:solidFill>
                  <a:srgbClr val="AEB6BF"/>
                </a:solidFill>
                <a:latin typeface="Consolas"/>
              </a:rPr>
              <a:t>)</a:t>
            </a:r>
          </a:p>
        </p:txBody>
      </p:sp>
      <p:sp>
        <p:nvSpPr>
          <p:cNvPr id="14" name="!!code-num"/>
          <p:cNvSpPr txBox="1"/>
          <p:nvPr/>
        </p:nvSpPr>
        <p:spPr>
          <a:xfrm>
            <a:off x="768096" y="2066543"/>
            <a:ext cx="393192" cy="3127248"/>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160</a:t>
            </a:r>
          </a:p>
          <a:p>
            <a:pPr algn="r">
              <a:lnSpc>
                <a:spcPct val="100000"/>
              </a:lnSpc>
            </a:pPr>
            <a:r>
              <a:rPr sz="1800">
                <a:solidFill>
                  <a:srgbClr val="4F5D6A"/>
                </a:solidFill>
                <a:latin typeface="Consolas"/>
              </a:rPr>
              <a:t>161</a:t>
            </a:r>
          </a:p>
          <a:p>
            <a:pPr algn="r">
              <a:lnSpc>
                <a:spcPct val="100000"/>
              </a:lnSpc>
            </a:pPr>
            <a:r>
              <a:rPr sz="1800">
                <a:solidFill>
                  <a:srgbClr val="4F5D6A"/>
                </a:solidFill>
                <a:latin typeface="Consolas"/>
              </a:rPr>
              <a:t>162</a:t>
            </a:r>
          </a:p>
          <a:p>
            <a:pPr algn="r">
              <a:lnSpc>
                <a:spcPct val="100000"/>
              </a:lnSpc>
            </a:pPr>
            <a:r>
              <a:rPr sz="1800">
                <a:solidFill>
                  <a:srgbClr val="4F5D6A"/>
                </a:solidFill>
                <a:latin typeface="Consolas"/>
              </a:rPr>
              <a:t>163</a:t>
            </a:r>
          </a:p>
          <a:p>
            <a:pPr algn="r">
              <a:lnSpc>
                <a:spcPct val="100000"/>
              </a:lnSpc>
            </a:pPr>
            <a:r>
              <a:rPr sz="1800">
                <a:solidFill>
                  <a:srgbClr val="4F5D6A"/>
                </a:solidFill>
                <a:latin typeface="Consolas"/>
              </a:rPr>
              <a:t>164</a:t>
            </a:r>
          </a:p>
          <a:p>
            <a:pPr algn="r">
              <a:lnSpc>
                <a:spcPct val="100000"/>
              </a:lnSpc>
            </a:pPr>
            <a:r>
              <a:rPr sz="1800">
                <a:solidFill>
                  <a:srgbClr val="4F5D6A"/>
                </a:solidFill>
                <a:latin typeface="Consolas"/>
              </a:rPr>
              <a:t>165</a:t>
            </a:r>
          </a:p>
          <a:p>
            <a:pPr algn="r">
              <a:lnSpc>
                <a:spcPct val="100000"/>
              </a:lnSpc>
            </a:pPr>
            <a:r>
              <a:rPr sz="1800">
                <a:solidFill>
                  <a:srgbClr val="4F5D6A"/>
                </a:solidFill>
                <a:latin typeface="Consolas"/>
              </a:rPr>
              <a:t>166</a:t>
            </a:r>
          </a:p>
          <a:p>
            <a:pPr algn="r">
              <a:lnSpc>
                <a:spcPct val="100000"/>
              </a:lnSpc>
            </a:pPr>
            <a:r>
              <a:rPr sz="1800">
                <a:solidFill>
                  <a:srgbClr val="4F5D6A"/>
                </a:solidFill>
                <a:latin typeface="Consolas"/>
              </a:rPr>
              <a:t>167</a:t>
            </a:r>
          </a:p>
          <a:p>
            <a:pPr algn="r">
              <a:lnSpc>
                <a:spcPct val="100000"/>
              </a:lnSpc>
            </a:pPr>
            <a:r>
              <a:rPr sz="1800">
                <a:solidFill>
                  <a:srgbClr val="4F5D6A"/>
                </a:solidFill>
                <a:latin typeface="Consolas"/>
              </a:rPr>
              <a:t>168</a:t>
            </a:r>
          </a:p>
          <a:p>
            <a:pPr algn="r">
              <a:lnSpc>
                <a:spcPct val="100000"/>
              </a:lnSpc>
            </a:pPr>
            <a:r>
              <a:rPr sz="1800">
                <a:solidFill>
                  <a:srgbClr val="4F5D6A"/>
                </a:solidFill>
                <a:latin typeface="Consolas"/>
              </a:rPr>
              <a:t>169</a:t>
            </a:r>
          </a:p>
          <a:p>
            <a:pPr algn="r">
              <a:lnSpc>
                <a:spcPct val="100000"/>
              </a:lnSpc>
            </a:pPr>
            <a:r>
              <a:rPr sz="1800">
                <a:solidFill>
                  <a:srgbClr val="4F5D6A"/>
                </a:solidFill>
                <a:latin typeface="Consolas"/>
              </a:rPr>
              <a:t>170</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755885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Sprint Scheduling as a CSP</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12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7  ·  Constraint Satisfaction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§7.7  ·  Handout p. 72     </a:t>
            </a:r>
            <a:fld id="{8A75D6AB-BDF3-49B1-8A9A-C3E225C8412D}" type="slidenum">
              <a:rPr lang="en-GB" sz="1000">
                <a:solidFill>
                  <a:srgbClr val="8795A1"/>
                </a:solidFill>
                <a:latin typeface="Segoe UI"/>
              </a:rPr>
              <a:t>32</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4565904"/>
          </a:xfrm>
          <a:prstGeom prst="roundRect">
            <a:avLst>
              <a:gd name="adj" fmla="val 200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code/ch07_sprint_scheduling_as.py</a:t>
            </a:r>
          </a:p>
        </p:txBody>
      </p:sp>
      <p:sp>
        <p:nvSpPr>
          <p:cNvPr id="13" name="!!code-text" descr="if __name__ == &quot;__main__&quot;: total = sum(p for p, _ in STORIES.values()) print(&quot;stories %d sprints %d assignments %d&quot; % (len(NAMES), len(SLOTS), len(SLOTS) ** len(NAMES))) print(&quot;points %d against capacity %d -- almost no slack&quot; % (total, CAP * len(SLOTS))) print(&quot;solutions:&quot;, count_solutions()) print() print(&quot;configuration checks nodes&quot;) print(&quot;-&quot; * 50) runs = [ (&quot;plain backtracking &quot;, dict()), (&quot;+ MRV &quot;, dict(mrv=True)), (&quot;+ MRV + degree &quot;, dict(mrv=True, degree=True)), (&quot;+ MRV + degree + FC &quot;, dict(mrv=True, degree=True, fc=True)), (&quot;+ MRV + degree + FC + AC-3 &quot;, dict(mrv=True, degree=True, fc=True, use_ac3=True)), ] res = {}"/>
          <p:cNvSpPr txBox="1"/>
          <p:nvPr/>
        </p:nvSpPr>
        <p:spPr>
          <a:xfrm>
            <a:off x="1362456" y="2066543"/>
            <a:ext cx="9987991" cy="4072128"/>
          </a:xfrm>
          <a:prstGeom prst="rect">
            <a:avLst/>
          </a:prstGeom>
          <a:noFill/>
        </p:spPr>
        <p:txBody>
          <a:bodyPr wrap="none" anchor="t" lIns="0" rIns="0" tIns="0" bIns="0">
            <a:noAutofit/>
          </a:bodyPr>
          <a:lstStyle/>
          <a:p>
            <a:pPr>
              <a:lnSpc>
                <a:spcPct val="100000"/>
              </a:lnSpc>
              <a:spcAft>
                <a:spcPts val="0"/>
              </a:spcAft>
            </a:pPr>
            <a:r>
              <a:rPr sz="1300" i="0">
                <a:solidFill>
                  <a:srgbClr val="5DADE2"/>
                </a:solidFill>
                <a:latin typeface="Consolas"/>
              </a:rPr>
              <a:t>if</a:t>
            </a:r>
            <a:r>
              <a:rPr sz="1300" i="0">
                <a:solidFill>
                  <a:srgbClr val="E8EDF2"/>
                </a:solidFill>
                <a:latin typeface="Consolas"/>
              </a:rPr>
              <a:t> </a:t>
            </a:r>
            <a:r>
              <a:rPr sz="1300" i="0">
                <a:solidFill>
                  <a:srgbClr val="E8EDF2"/>
                </a:solidFill>
                <a:latin typeface="Consolas"/>
              </a:rPr>
              <a:t>__name__</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__main__</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total</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sum</a:t>
            </a:r>
            <a:r>
              <a:rPr sz="1300" i="0">
                <a:solidFill>
                  <a:srgbClr val="AEB6BF"/>
                </a:solidFill>
                <a:latin typeface="Consolas"/>
              </a:rPr>
              <a:t>(</a:t>
            </a:r>
            <a:r>
              <a:rPr sz="1300" i="0">
                <a:solidFill>
                  <a:srgbClr val="E8EDF2"/>
                </a:solidFill>
                <a:latin typeface="Consolas"/>
              </a:rPr>
              <a:t>p</a:t>
            </a: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p</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_</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STORIES</a:t>
            </a:r>
            <a:r>
              <a:rPr sz="1300" i="0">
                <a:solidFill>
                  <a:srgbClr val="AEB6BF"/>
                </a:solidFill>
                <a:latin typeface="Consolas"/>
              </a:rPr>
              <a:t>.</a:t>
            </a:r>
            <a:r>
              <a:rPr sz="1300" i="0">
                <a:solidFill>
                  <a:srgbClr val="E8EDF2"/>
                </a:solidFill>
                <a:latin typeface="Consolas"/>
              </a:rPr>
              <a:t>values</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stories </a:t>
            </a:r>
            <a:r>
              <a:rPr sz="1300" i="0">
                <a:solidFill>
                  <a:srgbClr val="7DCEA0"/>
                </a:solidFill>
                <a:latin typeface="Consolas"/>
              </a:rPr>
              <a:t>%d</a:t>
            </a:r>
            <a:r>
              <a:rPr sz="1300" i="0">
                <a:solidFill>
                  <a:srgbClr val="7DCEA0"/>
                </a:solidFill>
                <a:latin typeface="Consolas"/>
              </a:rPr>
              <a:t>   sprints </a:t>
            </a:r>
            <a:r>
              <a:rPr sz="1300" i="0">
                <a:solidFill>
                  <a:srgbClr val="7DCEA0"/>
                </a:solidFill>
                <a:latin typeface="Consolas"/>
              </a:rPr>
              <a:t>%d</a:t>
            </a:r>
            <a:r>
              <a:rPr sz="1300" i="0">
                <a:solidFill>
                  <a:srgbClr val="7DCEA0"/>
                </a:solidFill>
                <a:latin typeface="Consolas"/>
              </a:rPr>
              <a:t>   assignments </a:t>
            </a:r>
            <a:r>
              <a:rPr sz="1300" i="0">
                <a:solidFill>
                  <a:srgbClr val="7DCEA0"/>
                </a:solidFill>
                <a:latin typeface="Consolas"/>
              </a:rPr>
              <a:t>%d</a:t>
            </a:r>
            <a:r>
              <a:rPr sz="1300" i="0">
                <a:solidFill>
                  <a:srgbClr val="7DCEA0"/>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C39BD3"/>
                </a:solidFill>
                <a:latin typeface="Consolas"/>
              </a:rPr>
              <a:t>len</a:t>
            </a:r>
            <a:r>
              <a:rPr sz="1300" i="0">
                <a:solidFill>
                  <a:srgbClr val="AEB6BF"/>
                </a:solidFill>
                <a:latin typeface="Consolas"/>
              </a:rPr>
              <a:t>(</a:t>
            </a:r>
            <a:r>
              <a:rPr sz="1300" i="0">
                <a:solidFill>
                  <a:srgbClr val="E8EDF2"/>
                </a:solidFill>
                <a:latin typeface="Consolas"/>
              </a:rPr>
              <a:t>NAMES</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len</a:t>
            </a:r>
            <a:r>
              <a:rPr sz="1300" i="0">
                <a:solidFill>
                  <a:srgbClr val="AEB6BF"/>
                </a:solidFill>
                <a:latin typeface="Consolas"/>
              </a:rPr>
              <a:t>(</a:t>
            </a:r>
            <a:r>
              <a:rPr sz="1300" i="0">
                <a:solidFill>
                  <a:srgbClr val="E8EDF2"/>
                </a:solidFill>
                <a:latin typeface="Consolas"/>
              </a:rPr>
              <a:t>SLOTS</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len</a:t>
            </a:r>
            <a:r>
              <a:rPr sz="1300" i="0">
                <a:solidFill>
                  <a:srgbClr val="AEB6BF"/>
                </a:solidFill>
                <a:latin typeface="Consolas"/>
              </a:rPr>
              <a:t>(</a:t>
            </a:r>
            <a:r>
              <a:rPr sz="1300" i="0">
                <a:solidFill>
                  <a:srgbClr val="E8EDF2"/>
                </a:solidFill>
                <a:latin typeface="Consolas"/>
              </a:rPr>
              <a:t>SLOTS</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len</a:t>
            </a:r>
            <a:r>
              <a:rPr sz="1300" i="0">
                <a:solidFill>
                  <a:srgbClr val="AEB6BF"/>
                </a:solidFill>
                <a:latin typeface="Consolas"/>
              </a:rPr>
              <a:t>(</a:t>
            </a:r>
            <a:r>
              <a:rPr sz="1300" i="0">
                <a:solidFill>
                  <a:srgbClr val="E8EDF2"/>
                </a:solidFill>
                <a:latin typeface="Consolas"/>
              </a:rPr>
              <a:t>NAMES</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points </a:t>
            </a:r>
            <a:r>
              <a:rPr sz="1300" i="0">
                <a:solidFill>
                  <a:srgbClr val="7DCEA0"/>
                </a:solidFill>
                <a:latin typeface="Consolas"/>
              </a:rPr>
              <a:t>%d</a:t>
            </a:r>
            <a:r>
              <a:rPr sz="1300" i="0">
                <a:solidFill>
                  <a:srgbClr val="7DCEA0"/>
                </a:solidFill>
                <a:latin typeface="Consolas"/>
              </a:rPr>
              <a:t> against capacity </a:t>
            </a:r>
            <a:r>
              <a:rPr sz="1300" i="0">
                <a:solidFill>
                  <a:srgbClr val="7DCEA0"/>
                </a:solidFill>
                <a:latin typeface="Consolas"/>
              </a:rPr>
              <a:t>%d</a:t>
            </a:r>
            <a:r>
              <a:rPr sz="1300" i="0">
                <a:solidFill>
                  <a:srgbClr val="7DCEA0"/>
                </a:solidFill>
                <a:latin typeface="Consolas"/>
              </a:rPr>
              <a:t> -- almost no slack</a:t>
            </a:r>
            <a:r>
              <a:rPr sz="1300" i="0">
                <a:solidFill>
                  <a:srgbClr val="7DCEA0"/>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total</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CAP</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len</a:t>
            </a:r>
            <a:r>
              <a:rPr sz="1300" i="0">
                <a:solidFill>
                  <a:srgbClr val="AEB6BF"/>
                </a:solidFill>
                <a:latin typeface="Consolas"/>
              </a:rPr>
              <a:t>(</a:t>
            </a:r>
            <a:r>
              <a:rPr sz="1300" i="0">
                <a:solidFill>
                  <a:srgbClr val="E8EDF2"/>
                </a:solidFill>
                <a:latin typeface="Consolas"/>
              </a:rPr>
              <a:t>SLOTS</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solutions:</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count_solutions</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configuration                    checks  nodes</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a:t>
            </a:r>
            <a:r>
              <a:rPr sz="1300" i="0">
                <a:solidFill>
                  <a:srgbClr val="7DCEA0"/>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50</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runs</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plain backtracking           </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dict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 MRV                        </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dict</a:t>
            </a:r>
            <a:r>
              <a:rPr sz="1300" i="0">
                <a:solidFill>
                  <a:srgbClr val="AEB6BF"/>
                </a:solidFill>
                <a:latin typeface="Consolas"/>
              </a:rPr>
              <a:t>(</a:t>
            </a:r>
            <a:r>
              <a:rPr sz="1300" i="0">
                <a:solidFill>
                  <a:srgbClr val="E8EDF2"/>
                </a:solidFill>
                <a:latin typeface="Consolas"/>
              </a:rPr>
              <a:t>mrv</a:t>
            </a:r>
            <a:r>
              <a:rPr sz="1300" i="0">
                <a:solidFill>
                  <a:srgbClr val="AEB6BF"/>
                </a:solidFill>
                <a:latin typeface="Consolas"/>
              </a:rPr>
              <a:t>=</a:t>
            </a:r>
            <a:r>
              <a:rPr sz="1300" i="0">
                <a:solidFill>
                  <a:srgbClr val="5DADE2"/>
                </a:solidFill>
                <a:latin typeface="Consolas"/>
              </a:rPr>
              <a:t>True</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 MRV + degree               </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dict</a:t>
            </a:r>
            <a:r>
              <a:rPr sz="1300" i="0">
                <a:solidFill>
                  <a:srgbClr val="AEB6BF"/>
                </a:solidFill>
                <a:latin typeface="Consolas"/>
              </a:rPr>
              <a:t>(</a:t>
            </a:r>
            <a:r>
              <a:rPr sz="1300" i="0">
                <a:solidFill>
                  <a:srgbClr val="E8EDF2"/>
                </a:solidFill>
                <a:latin typeface="Consolas"/>
              </a:rPr>
              <a:t>mrv</a:t>
            </a:r>
            <a:r>
              <a:rPr sz="1300" i="0">
                <a:solidFill>
                  <a:srgbClr val="AEB6BF"/>
                </a:solidFill>
                <a:latin typeface="Consolas"/>
              </a:rPr>
              <a:t>=</a:t>
            </a:r>
            <a:r>
              <a:rPr sz="1300" i="0">
                <a:solidFill>
                  <a:srgbClr val="5DADE2"/>
                </a:solidFill>
                <a:latin typeface="Consolas"/>
              </a:rPr>
              <a:t>True</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degree</a:t>
            </a:r>
            <a:r>
              <a:rPr sz="1300" i="0">
                <a:solidFill>
                  <a:srgbClr val="AEB6BF"/>
                </a:solidFill>
                <a:latin typeface="Consolas"/>
              </a:rPr>
              <a:t>=</a:t>
            </a:r>
            <a:r>
              <a:rPr sz="1300" i="0">
                <a:solidFill>
                  <a:srgbClr val="5DADE2"/>
                </a:solidFill>
                <a:latin typeface="Consolas"/>
              </a:rPr>
              <a:t>True</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 MRV + degree + FC          </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dict</a:t>
            </a:r>
            <a:r>
              <a:rPr sz="1300" i="0">
                <a:solidFill>
                  <a:srgbClr val="AEB6BF"/>
                </a:solidFill>
                <a:latin typeface="Consolas"/>
              </a:rPr>
              <a:t>(</a:t>
            </a:r>
            <a:r>
              <a:rPr sz="1300" i="0">
                <a:solidFill>
                  <a:srgbClr val="E8EDF2"/>
                </a:solidFill>
                <a:latin typeface="Consolas"/>
              </a:rPr>
              <a:t>mrv</a:t>
            </a:r>
            <a:r>
              <a:rPr sz="1300" i="0">
                <a:solidFill>
                  <a:srgbClr val="AEB6BF"/>
                </a:solidFill>
                <a:latin typeface="Consolas"/>
              </a:rPr>
              <a:t>=</a:t>
            </a:r>
            <a:r>
              <a:rPr sz="1300" i="0">
                <a:solidFill>
                  <a:srgbClr val="5DADE2"/>
                </a:solidFill>
                <a:latin typeface="Consolas"/>
              </a:rPr>
              <a:t>True</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degree</a:t>
            </a:r>
            <a:r>
              <a:rPr sz="1300" i="0">
                <a:solidFill>
                  <a:srgbClr val="AEB6BF"/>
                </a:solidFill>
                <a:latin typeface="Consolas"/>
              </a:rPr>
              <a:t>=</a:t>
            </a:r>
            <a:r>
              <a:rPr sz="1300" i="0">
                <a:solidFill>
                  <a:srgbClr val="5DADE2"/>
                </a:solidFill>
                <a:latin typeface="Consolas"/>
              </a:rPr>
              <a:t>True</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fc</a:t>
            </a:r>
            <a:r>
              <a:rPr sz="1300" i="0">
                <a:solidFill>
                  <a:srgbClr val="AEB6BF"/>
                </a:solidFill>
                <a:latin typeface="Consolas"/>
              </a:rPr>
              <a:t>=</a:t>
            </a:r>
            <a:r>
              <a:rPr sz="1300" i="0">
                <a:solidFill>
                  <a:srgbClr val="5DADE2"/>
                </a:solidFill>
                <a:latin typeface="Consolas"/>
              </a:rPr>
              <a:t>True</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 MRV + degree + FC + AC-3   </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dict</a:t>
            </a:r>
            <a:r>
              <a:rPr sz="1300" i="0">
                <a:solidFill>
                  <a:srgbClr val="AEB6BF"/>
                </a:solidFill>
                <a:latin typeface="Consolas"/>
              </a:rPr>
              <a:t>(</a:t>
            </a:r>
            <a:r>
              <a:rPr sz="1300" i="0">
                <a:solidFill>
                  <a:srgbClr val="E8EDF2"/>
                </a:solidFill>
                <a:latin typeface="Consolas"/>
              </a:rPr>
              <a:t>mrv</a:t>
            </a:r>
            <a:r>
              <a:rPr sz="1300" i="0">
                <a:solidFill>
                  <a:srgbClr val="AEB6BF"/>
                </a:solidFill>
                <a:latin typeface="Consolas"/>
              </a:rPr>
              <a:t>=</a:t>
            </a:r>
            <a:r>
              <a:rPr sz="1300" i="0">
                <a:solidFill>
                  <a:srgbClr val="5DADE2"/>
                </a:solidFill>
                <a:latin typeface="Consolas"/>
              </a:rPr>
              <a:t>True</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degree</a:t>
            </a:r>
            <a:r>
              <a:rPr sz="1300" i="0">
                <a:solidFill>
                  <a:srgbClr val="AEB6BF"/>
                </a:solidFill>
                <a:latin typeface="Consolas"/>
              </a:rPr>
              <a:t>=</a:t>
            </a:r>
            <a:r>
              <a:rPr sz="1300" i="0">
                <a:solidFill>
                  <a:srgbClr val="5DADE2"/>
                </a:solidFill>
                <a:latin typeface="Consolas"/>
              </a:rPr>
              <a:t>True</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fc</a:t>
            </a:r>
            <a:r>
              <a:rPr sz="1300" i="0">
                <a:solidFill>
                  <a:srgbClr val="AEB6BF"/>
                </a:solidFill>
                <a:latin typeface="Consolas"/>
              </a:rPr>
              <a:t>=</a:t>
            </a:r>
            <a:r>
              <a:rPr sz="1300" i="0">
                <a:solidFill>
                  <a:srgbClr val="5DADE2"/>
                </a:solidFill>
                <a:latin typeface="Consolas"/>
              </a:rPr>
              <a:t>True</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use_ac3</a:t>
            </a:r>
            <a:r>
              <a:rPr sz="1300" i="0">
                <a:solidFill>
                  <a:srgbClr val="AEB6BF"/>
                </a:solidFill>
                <a:latin typeface="Consolas"/>
              </a:rPr>
              <a:t>=</a:t>
            </a:r>
            <a:r>
              <a:rPr sz="1300" i="0">
                <a:solidFill>
                  <a:srgbClr val="5DADE2"/>
                </a:solidFill>
                <a:latin typeface="Consolas"/>
              </a:rPr>
              <a:t>True</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res</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p>
        </p:txBody>
      </p:sp>
      <p:sp>
        <p:nvSpPr>
          <p:cNvPr id="14" name="!!code-num"/>
          <p:cNvSpPr txBox="1"/>
          <p:nvPr/>
        </p:nvSpPr>
        <p:spPr>
          <a:xfrm>
            <a:off x="768096" y="2066543"/>
            <a:ext cx="393192" cy="4072128"/>
          </a:xfrm>
          <a:prstGeom prst="rect">
            <a:avLst/>
          </a:prstGeom>
          <a:noFill/>
        </p:spPr>
        <p:txBody>
          <a:bodyPr wrap="none" anchor="t" lIns="0" rIns="0" tIns="0" bIns="0">
            <a:noAutofit/>
          </a:bodyPr>
          <a:lstStyle/>
          <a:p>
            <a:pPr algn="r">
              <a:lnSpc>
                <a:spcPct val="100000"/>
              </a:lnSpc>
            </a:pPr>
            <a:r>
              <a:rPr sz="1300">
                <a:solidFill>
                  <a:srgbClr val="4F5D6A"/>
                </a:solidFill>
                <a:latin typeface="Consolas"/>
              </a:rPr>
              <a:t>173</a:t>
            </a:r>
          </a:p>
          <a:p>
            <a:pPr algn="r">
              <a:lnSpc>
                <a:spcPct val="100000"/>
              </a:lnSpc>
            </a:pPr>
            <a:r>
              <a:rPr sz="1300">
                <a:solidFill>
                  <a:srgbClr val="4F5D6A"/>
                </a:solidFill>
                <a:latin typeface="Consolas"/>
              </a:rPr>
              <a:t>174</a:t>
            </a:r>
          </a:p>
          <a:p>
            <a:pPr algn="r">
              <a:lnSpc>
                <a:spcPct val="100000"/>
              </a:lnSpc>
            </a:pPr>
            <a:r>
              <a:rPr sz="1300">
                <a:solidFill>
                  <a:srgbClr val="4F5D6A"/>
                </a:solidFill>
                <a:latin typeface="Consolas"/>
              </a:rPr>
              <a:t>175</a:t>
            </a:r>
          </a:p>
          <a:p>
            <a:pPr algn="r">
              <a:lnSpc>
                <a:spcPct val="100000"/>
              </a:lnSpc>
            </a:pPr>
            <a:r>
              <a:rPr sz="1300">
                <a:solidFill>
                  <a:srgbClr val="4F5D6A"/>
                </a:solidFill>
                <a:latin typeface="Consolas"/>
              </a:rPr>
              <a:t>176</a:t>
            </a:r>
          </a:p>
          <a:p>
            <a:pPr algn="r">
              <a:lnSpc>
                <a:spcPct val="100000"/>
              </a:lnSpc>
            </a:pPr>
            <a:r>
              <a:rPr sz="1300">
                <a:solidFill>
                  <a:srgbClr val="4F5D6A"/>
                </a:solidFill>
                <a:latin typeface="Consolas"/>
              </a:rPr>
              <a:t>177</a:t>
            </a:r>
          </a:p>
          <a:p>
            <a:pPr algn="r">
              <a:lnSpc>
                <a:spcPct val="100000"/>
              </a:lnSpc>
            </a:pPr>
            <a:r>
              <a:rPr sz="1300">
                <a:solidFill>
                  <a:srgbClr val="4F5D6A"/>
                </a:solidFill>
                <a:latin typeface="Consolas"/>
              </a:rPr>
              <a:t>178</a:t>
            </a:r>
          </a:p>
          <a:p>
            <a:pPr algn="r">
              <a:lnSpc>
                <a:spcPct val="100000"/>
              </a:lnSpc>
            </a:pPr>
            <a:r>
              <a:rPr sz="1300">
                <a:solidFill>
                  <a:srgbClr val="4F5D6A"/>
                </a:solidFill>
                <a:latin typeface="Consolas"/>
              </a:rPr>
              <a:t>179</a:t>
            </a:r>
          </a:p>
          <a:p>
            <a:pPr algn="r">
              <a:lnSpc>
                <a:spcPct val="100000"/>
              </a:lnSpc>
            </a:pPr>
            <a:r>
              <a:rPr sz="1300">
                <a:solidFill>
                  <a:srgbClr val="4F5D6A"/>
                </a:solidFill>
                <a:latin typeface="Consolas"/>
              </a:rPr>
              <a:t>180</a:t>
            </a:r>
          </a:p>
          <a:p>
            <a:pPr algn="r">
              <a:lnSpc>
                <a:spcPct val="100000"/>
              </a:lnSpc>
            </a:pPr>
            <a:r>
              <a:rPr sz="1300">
                <a:solidFill>
                  <a:srgbClr val="4F5D6A"/>
                </a:solidFill>
                <a:latin typeface="Consolas"/>
              </a:rPr>
              <a:t>181</a:t>
            </a:r>
          </a:p>
          <a:p>
            <a:pPr algn="r">
              <a:lnSpc>
                <a:spcPct val="100000"/>
              </a:lnSpc>
            </a:pPr>
            <a:r>
              <a:rPr sz="1300">
                <a:solidFill>
                  <a:srgbClr val="4F5D6A"/>
                </a:solidFill>
                <a:latin typeface="Consolas"/>
              </a:rPr>
              <a:t>182</a:t>
            </a:r>
          </a:p>
          <a:p>
            <a:pPr algn="r">
              <a:lnSpc>
                <a:spcPct val="100000"/>
              </a:lnSpc>
            </a:pPr>
            <a:r>
              <a:rPr sz="1300">
                <a:solidFill>
                  <a:srgbClr val="4F5D6A"/>
                </a:solidFill>
                <a:latin typeface="Consolas"/>
              </a:rPr>
              <a:t>183</a:t>
            </a:r>
          </a:p>
          <a:p>
            <a:pPr algn="r">
              <a:lnSpc>
                <a:spcPct val="100000"/>
              </a:lnSpc>
            </a:pPr>
            <a:r>
              <a:rPr sz="1300">
                <a:solidFill>
                  <a:srgbClr val="4F5D6A"/>
                </a:solidFill>
                <a:latin typeface="Consolas"/>
              </a:rPr>
              <a:t>184</a:t>
            </a:r>
          </a:p>
          <a:p>
            <a:pPr algn="r">
              <a:lnSpc>
                <a:spcPct val="100000"/>
              </a:lnSpc>
            </a:pPr>
            <a:r>
              <a:rPr sz="1300">
                <a:solidFill>
                  <a:srgbClr val="4F5D6A"/>
                </a:solidFill>
                <a:latin typeface="Consolas"/>
              </a:rPr>
              <a:t>185</a:t>
            </a:r>
          </a:p>
          <a:p>
            <a:pPr algn="r">
              <a:lnSpc>
                <a:spcPct val="100000"/>
              </a:lnSpc>
            </a:pPr>
            <a:r>
              <a:rPr sz="1300">
                <a:solidFill>
                  <a:srgbClr val="4F5D6A"/>
                </a:solidFill>
                <a:latin typeface="Consolas"/>
              </a:rPr>
              <a:t>186</a:t>
            </a:r>
          </a:p>
          <a:p>
            <a:pPr algn="r">
              <a:lnSpc>
                <a:spcPct val="100000"/>
              </a:lnSpc>
            </a:pPr>
            <a:r>
              <a:rPr sz="1300">
                <a:solidFill>
                  <a:srgbClr val="4F5D6A"/>
                </a:solidFill>
                <a:latin typeface="Consolas"/>
              </a:rPr>
              <a:t>187</a:t>
            </a:r>
          </a:p>
          <a:p>
            <a:pPr algn="r">
              <a:lnSpc>
                <a:spcPct val="100000"/>
              </a:lnSpc>
            </a:pPr>
            <a:r>
              <a:rPr sz="1300">
                <a:solidFill>
                  <a:srgbClr val="4F5D6A"/>
                </a:solidFill>
                <a:latin typeface="Consolas"/>
              </a:rPr>
              <a:t>188</a:t>
            </a:r>
          </a:p>
          <a:p>
            <a:pPr algn="r">
              <a:lnSpc>
                <a:spcPct val="100000"/>
              </a:lnSpc>
            </a:pPr>
            <a:r>
              <a:rPr sz="1300">
                <a:solidFill>
                  <a:srgbClr val="4F5D6A"/>
                </a:solidFill>
                <a:latin typeface="Consolas"/>
              </a:rPr>
              <a:t>189</a:t>
            </a:r>
          </a:p>
          <a:p>
            <a:pPr algn="r">
              <a:lnSpc>
                <a:spcPct val="100000"/>
              </a:lnSpc>
            </a:pPr>
            <a:r>
              <a:rPr sz="1300">
                <a:solidFill>
                  <a:srgbClr val="4F5D6A"/>
                </a:solidFill>
                <a:latin typeface="Consolas"/>
              </a:rPr>
              <a:t>190</a:t>
            </a:r>
          </a:p>
          <a:p>
            <a:pPr algn="r">
              <a:lnSpc>
                <a:spcPct val="100000"/>
              </a:lnSpc>
            </a:pPr>
            <a:r>
              <a:rPr sz="1300">
                <a:solidFill>
                  <a:srgbClr val="4F5D6A"/>
                </a:solidFill>
                <a:latin typeface="Consolas"/>
              </a:rPr>
              <a:t>191</a:t>
            </a:r>
          </a:p>
          <a:p>
            <a:pPr algn="r">
              <a:lnSpc>
                <a:spcPct val="100000"/>
              </a:lnSpc>
            </a:pPr>
            <a:r>
              <a:rPr sz="1300">
                <a:solidFill>
                  <a:srgbClr val="4F5D6A"/>
                </a:solidFill>
                <a:latin typeface="Consolas"/>
              </a:rPr>
              <a:t>192</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7802684"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Sprint Scheduling as a CSP</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13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7  ·  Constraint Satisfaction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§7.7  ·  Handout p. 72     </a:t>
            </a:r>
            <a:fld id="{AEE20372-6B96-46E0-B5C1-AE8469DC1C41}" type="slidenum">
              <a:rPr lang="en-GB" sz="1000">
                <a:solidFill>
                  <a:srgbClr val="8795A1"/>
                </a:solidFill>
                <a:latin typeface="Segoe UI"/>
              </a:rPr>
              <a:t>33</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4443983"/>
          </a:xfrm>
          <a:prstGeom prst="roundRect">
            <a:avLst>
              <a:gd name="adj" fmla="val 205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code/ch07_sprint_scheduling_as.py</a:t>
            </a:r>
          </a:p>
        </p:txBody>
      </p:sp>
      <p:sp>
        <p:nvSpPr>
          <p:cNvPr id="13" name="!!code-text" descr="for name, kw in runs: sol, c = solve(**kw) assert sol is not None, name res[name.strip()] = (c.checks, c.nodes) print(&quot;%s %7d %6d&quot; % (name, c.checks, c.nodes)) plain = res[&quot;plain backtracking&quot;] mrv_only = res[&quot;+ MRV&quot;] fc = res[&quot;+ MRV + degree + FC&quot;] ac = res[&quot;+ MRV + degree + FC + AC-3&quot;] # 1. MRV alone changes NOTHING: no propagation, no information assert mrv_only == plain print() print(&quot;MRV alone: %d checks, exactly as without it. Nothing has&quot; % mrv_only[0]) print(&quot;shrunk a domain, so every variable ties and MRV cannot&quot;) print(&quot;express a preference.&quot;)"/>
          <p:cNvSpPr txBox="1"/>
          <p:nvPr/>
        </p:nvSpPr>
        <p:spPr>
          <a:xfrm>
            <a:off x="1362456" y="2066543"/>
            <a:ext cx="9987991" cy="3950207"/>
          </a:xfrm>
          <a:prstGeom prst="rect">
            <a:avLst/>
          </a:prstGeom>
          <a:noFill/>
        </p:spPr>
        <p:txBody>
          <a:bodyPr wrap="none" anchor="t" lIns="0" rIns="0" tIns="0" bIns="0">
            <a:noAutofit/>
          </a:bodyPr>
          <a:lstStyle/>
          <a:p>
            <a:pPr>
              <a:lnSpc>
                <a:spcPct val="100000"/>
              </a:lnSpc>
              <a:spcAft>
                <a:spcPts val="0"/>
              </a:spcAft>
            </a:pPr>
            <a:r>
              <a:rPr sz="1400" i="0">
                <a:solidFill>
                  <a:srgbClr val="E8EDF2"/>
                </a:solidFill>
                <a:latin typeface="Consolas"/>
              </a:rPr>
              <a:t>    </a:t>
            </a:r>
            <a:r>
              <a:rPr sz="1400" i="0">
                <a:solidFill>
                  <a:srgbClr val="5DADE2"/>
                </a:solidFill>
                <a:latin typeface="Consolas"/>
              </a:rPr>
              <a:t>for</a:t>
            </a:r>
            <a:r>
              <a:rPr sz="1400" i="0">
                <a:solidFill>
                  <a:srgbClr val="E8EDF2"/>
                </a:solidFill>
                <a:latin typeface="Consolas"/>
              </a:rPr>
              <a:t> </a:t>
            </a:r>
            <a:r>
              <a:rPr sz="1400" i="0">
                <a:solidFill>
                  <a:srgbClr val="E8EDF2"/>
                </a:solidFill>
                <a:latin typeface="Consolas"/>
              </a:rPr>
              <a:t>name</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kw</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E8EDF2"/>
                </a:solidFill>
                <a:latin typeface="Consolas"/>
              </a:rPr>
              <a:t>runs</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sol</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c</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solve</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kw</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assert</a:t>
            </a:r>
            <a:r>
              <a:rPr sz="1400" i="0">
                <a:solidFill>
                  <a:srgbClr val="E8EDF2"/>
                </a:solidFill>
                <a:latin typeface="Consolas"/>
              </a:rPr>
              <a:t> </a:t>
            </a:r>
            <a:r>
              <a:rPr sz="1400" i="0">
                <a:solidFill>
                  <a:srgbClr val="E8EDF2"/>
                </a:solidFill>
                <a:latin typeface="Consolas"/>
              </a:rPr>
              <a:t>sol</a:t>
            </a:r>
            <a:r>
              <a:rPr sz="1400" i="0">
                <a:solidFill>
                  <a:srgbClr val="E8EDF2"/>
                </a:solidFill>
                <a:latin typeface="Consolas"/>
              </a:rPr>
              <a:t> </a:t>
            </a:r>
            <a:r>
              <a:rPr sz="1400" i="0">
                <a:solidFill>
                  <a:srgbClr val="AEB6BF"/>
                </a:solidFill>
                <a:latin typeface="Consolas"/>
              </a:rPr>
              <a:t>is</a:t>
            </a:r>
            <a:r>
              <a:rPr sz="1400" i="0">
                <a:solidFill>
                  <a:srgbClr val="E8EDF2"/>
                </a:solidFill>
                <a:latin typeface="Consolas"/>
              </a:rPr>
              <a:t> </a:t>
            </a:r>
            <a:r>
              <a:rPr sz="1400" i="0">
                <a:solidFill>
                  <a:srgbClr val="AEB6BF"/>
                </a:solidFill>
                <a:latin typeface="Consolas"/>
              </a:rPr>
              <a:t>not</a:t>
            </a:r>
            <a:r>
              <a:rPr sz="1400" i="0">
                <a:solidFill>
                  <a:srgbClr val="E8EDF2"/>
                </a:solidFill>
                <a:latin typeface="Consolas"/>
              </a:rPr>
              <a:t> </a:t>
            </a:r>
            <a:r>
              <a:rPr sz="1400" i="0">
                <a:solidFill>
                  <a:srgbClr val="5DADE2"/>
                </a:solidFill>
                <a:latin typeface="Consolas"/>
              </a:rPr>
              <a:t>None</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name</a:t>
            </a:r>
          </a:p>
          <a:p>
            <a:pPr>
              <a:lnSpc>
                <a:spcPct val="100000"/>
              </a:lnSpc>
              <a:spcAft>
                <a:spcPts val="0"/>
              </a:spcAft>
            </a:pPr>
            <a:r>
              <a:rPr sz="1400" i="0">
                <a:solidFill>
                  <a:srgbClr val="E8EDF2"/>
                </a:solidFill>
                <a:latin typeface="Consolas"/>
              </a:rPr>
              <a:t>        </a:t>
            </a:r>
            <a:r>
              <a:rPr sz="1400" i="0">
                <a:solidFill>
                  <a:srgbClr val="E8EDF2"/>
                </a:solidFill>
                <a:latin typeface="Consolas"/>
              </a:rPr>
              <a:t>res</a:t>
            </a:r>
            <a:r>
              <a:rPr sz="1400" i="0">
                <a:solidFill>
                  <a:srgbClr val="AEB6BF"/>
                </a:solidFill>
                <a:latin typeface="Consolas"/>
              </a:rPr>
              <a:t>[</a:t>
            </a:r>
            <a:r>
              <a:rPr sz="1400" i="0">
                <a:solidFill>
                  <a:srgbClr val="E8EDF2"/>
                </a:solidFill>
                <a:latin typeface="Consolas"/>
              </a:rPr>
              <a:t>name</a:t>
            </a:r>
            <a:r>
              <a:rPr sz="1400" i="0">
                <a:solidFill>
                  <a:srgbClr val="AEB6BF"/>
                </a:solidFill>
                <a:latin typeface="Consolas"/>
              </a:rPr>
              <a:t>.</a:t>
            </a:r>
            <a:r>
              <a:rPr sz="1400" i="0">
                <a:solidFill>
                  <a:srgbClr val="E8EDF2"/>
                </a:solidFill>
                <a:latin typeface="Consolas"/>
              </a:rPr>
              <a:t>strip</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c</a:t>
            </a:r>
            <a:r>
              <a:rPr sz="1400" i="0">
                <a:solidFill>
                  <a:srgbClr val="AEB6BF"/>
                </a:solidFill>
                <a:latin typeface="Consolas"/>
              </a:rPr>
              <a:t>.</a:t>
            </a:r>
            <a:r>
              <a:rPr sz="1400" i="0">
                <a:solidFill>
                  <a:srgbClr val="E8EDF2"/>
                </a:solidFill>
                <a:latin typeface="Consolas"/>
              </a:rPr>
              <a:t>checks</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c</a:t>
            </a:r>
            <a:r>
              <a:rPr sz="1400" i="0">
                <a:solidFill>
                  <a:srgbClr val="AEB6BF"/>
                </a:solidFill>
                <a:latin typeface="Consolas"/>
              </a:rPr>
              <a:t>.</a:t>
            </a:r>
            <a:r>
              <a:rPr sz="1400" i="0">
                <a:solidFill>
                  <a:srgbClr val="E8EDF2"/>
                </a:solidFill>
                <a:latin typeface="Consolas"/>
              </a:rPr>
              <a:t>nodes</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%s</a:t>
            </a:r>
            <a:r>
              <a:rPr sz="1400" i="0">
                <a:solidFill>
                  <a:srgbClr val="7DCEA0"/>
                </a:solidFill>
                <a:latin typeface="Consolas"/>
              </a:rPr>
              <a:t> </a:t>
            </a:r>
            <a:r>
              <a:rPr sz="1400" i="0">
                <a:solidFill>
                  <a:srgbClr val="7DCEA0"/>
                </a:solidFill>
                <a:latin typeface="Consolas"/>
              </a:rPr>
              <a:t>%7d</a:t>
            </a:r>
            <a:r>
              <a:rPr sz="1400" i="0">
                <a:solidFill>
                  <a:srgbClr val="7DCEA0"/>
                </a:solidFill>
                <a:latin typeface="Consolas"/>
              </a:rPr>
              <a:t> </a:t>
            </a:r>
            <a:r>
              <a:rPr sz="1400" i="0">
                <a:solidFill>
                  <a:srgbClr val="7DCEA0"/>
                </a:solidFill>
                <a:latin typeface="Consolas"/>
              </a:rPr>
              <a:t>%6d</a:t>
            </a:r>
            <a:r>
              <a:rPr sz="1400" i="0">
                <a:solidFill>
                  <a:srgbClr val="7DCEA0"/>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name</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c</a:t>
            </a:r>
            <a:r>
              <a:rPr sz="1400" i="0">
                <a:solidFill>
                  <a:srgbClr val="AEB6BF"/>
                </a:solidFill>
                <a:latin typeface="Consolas"/>
              </a:rPr>
              <a:t>.</a:t>
            </a:r>
            <a:r>
              <a:rPr sz="1400" i="0">
                <a:solidFill>
                  <a:srgbClr val="E8EDF2"/>
                </a:solidFill>
                <a:latin typeface="Consolas"/>
              </a:rPr>
              <a:t>checks</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c</a:t>
            </a:r>
            <a:r>
              <a:rPr sz="1400" i="0">
                <a:solidFill>
                  <a:srgbClr val="AEB6BF"/>
                </a:solidFill>
                <a:latin typeface="Consolas"/>
              </a:rPr>
              <a:t>.</a:t>
            </a:r>
            <a:r>
              <a:rPr sz="1400" i="0">
                <a:solidFill>
                  <a:srgbClr val="E8EDF2"/>
                </a:solidFill>
                <a:latin typeface="Consolas"/>
              </a:rPr>
              <a:t>nodes</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a:latin typeface="Consolas"/>
              </a:rPr>
              <a:t> </a:t>
            </a:r>
          </a:p>
          <a:p>
            <a:pPr>
              <a:lnSpc>
                <a:spcPct val="100000"/>
              </a:lnSpc>
              <a:spcAft>
                <a:spcPts val="0"/>
              </a:spcAft>
            </a:pPr>
            <a:r>
              <a:rPr sz="1400" i="0">
                <a:solidFill>
                  <a:srgbClr val="E8EDF2"/>
                </a:solidFill>
                <a:latin typeface="Consolas"/>
              </a:rPr>
              <a:t>    </a:t>
            </a:r>
            <a:r>
              <a:rPr sz="1400" i="0">
                <a:solidFill>
                  <a:srgbClr val="E8EDF2"/>
                </a:solidFill>
                <a:latin typeface="Consolas"/>
              </a:rPr>
              <a:t>plain</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res</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plain backtracking</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mrv_only</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res</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 MRV</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fc</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res</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 MRV + degree + FC</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ac</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res</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 MRV + degree + FC + AC-3</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a:latin typeface="Consolas"/>
              </a:rPr>
              <a:t> </a:t>
            </a:r>
          </a:p>
          <a:p>
            <a:pPr>
              <a:lnSpc>
                <a:spcPct val="100000"/>
              </a:lnSpc>
              <a:spcAft>
                <a:spcPts val="0"/>
              </a:spcAft>
            </a:pPr>
            <a:r>
              <a:rPr sz="1400" i="0">
                <a:solidFill>
                  <a:srgbClr val="E8EDF2"/>
                </a:solidFill>
                <a:latin typeface="Consolas"/>
              </a:rPr>
              <a:t>    </a:t>
            </a:r>
            <a:r>
              <a:rPr sz="1400" i="1">
                <a:solidFill>
                  <a:srgbClr val="8795A1"/>
                </a:solidFill>
                <a:latin typeface="Consolas"/>
              </a:rPr>
              <a:t># 1. MRV alone changes NOTHING: no propagation, no information</a:t>
            </a:r>
          </a:p>
          <a:p>
            <a:pPr>
              <a:lnSpc>
                <a:spcPct val="100000"/>
              </a:lnSpc>
              <a:spcAft>
                <a:spcPts val="0"/>
              </a:spcAft>
            </a:pPr>
            <a:r>
              <a:rPr sz="1400" i="0">
                <a:solidFill>
                  <a:srgbClr val="E8EDF2"/>
                </a:solidFill>
                <a:latin typeface="Consolas"/>
              </a:rPr>
              <a:t>    </a:t>
            </a:r>
            <a:r>
              <a:rPr sz="1400" i="0">
                <a:solidFill>
                  <a:srgbClr val="5DADE2"/>
                </a:solidFill>
                <a:latin typeface="Consolas"/>
              </a:rPr>
              <a:t>assert</a:t>
            </a:r>
            <a:r>
              <a:rPr sz="1400" i="0">
                <a:solidFill>
                  <a:srgbClr val="E8EDF2"/>
                </a:solidFill>
                <a:latin typeface="Consolas"/>
              </a:rPr>
              <a:t> </a:t>
            </a:r>
            <a:r>
              <a:rPr sz="1400" i="0">
                <a:solidFill>
                  <a:srgbClr val="E8EDF2"/>
                </a:solidFill>
                <a:latin typeface="Consolas"/>
              </a:rPr>
              <a:t>mrv_only</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plain</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MRV alone: </a:t>
            </a:r>
            <a:r>
              <a:rPr sz="1400" i="0">
                <a:solidFill>
                  <a:srgbClr val="7DCEA0"/>
                </a:solidFill>
                <a:latin typeface="Consolas"/>
              </a:rPr>
              <a:t>%d</a:t>
            </a:r>
            <a:r>
              <a:rPr sz="1400" i="0">
                <a:solidFill>
                  <a:srgbClr val="7DCEA0"/>
                </a:solidFill>
                <a:latin typeface="Consolas"/>
              </a:rPr>
              <a:t> checks, exactly as without it. Nothing has</a:t>
            </a:r>
            <a:r>
              <a:rPr sz="1400" i="0">
                <a:solidFill>
                  <a:srgbClr val="7DCEA0"/>
                </a:solidFill>
                <a:latin typeface="Consolas"/>
              </a:rPr>
              <a:t>"</a:t>
            </a:r>
          </a:p>
          <a:p>
            <a:pPr>
              <a:lnSpc>
                <a:spcPct val="100000"/>
              </a:lnSpc>
              <a:spcAft>
                <a:spcPts val="0"/>
              </a:spcAft>
            </a:pP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mrv_only</a:t>
            </a:r>
            <a:r>
              <a:rPr sz="1400" i="0">
                <a:solidFill>
                  <a:srgbClr val="AEB6BF"/>
                </a:solidFill>
                <a:latin typeface="Consolas"/>
              </a:rPr>
              <a:t>[</a:t>
            </a:r>
            <a:r>
              <a:rPr sz="1400" i="0">
                <a:solidFill>
                  <a:srgbClr val="F7DC6F"/>
                </a:solidFill>
                <a:latin typeface="Consolas"/>
              </a:rPr>
              <a:t>0</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shrunk a domain, so every variable ties and MRV cannot</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express a preference.</a:t>
            </a:r>
            <a:r>
              <a:rPr sz="1400" i="0">
                <a:solidFill>
                  <a:srgbClr val="7DCEA0"/>
                </a:solidFill>
                <a:latin typeface="Consolas"/>
              </a:rPr>
              <a:t>"</a:t>
            </a:r>
            <a:r>
              <a:rPr sz="1400" i="0">
                <a:solidFill>
                  <a:srgbClr val="AEB6BF"/>
                </a:solidFill>
                <a:latin typeface="Consolas"/>
              </a:rPr>
              <a:t>)</a:t>
            </a:r>
          </a:p>
        </p:txBody>
      </p:sp>
      <p:sp>
        <p:nvSpPr>
          <p:cNvPr id="14" name="!!code-num"/>
          <p:cNvSpPr txBox="1"/>
          <p:nvPr/>
        </p:nvSpPr>
        <p:spPr>
          <a:xfrm>
            <a:off x="768096" y="2066543"/>
            <a:ext cx="393192" cy="3950207"/>
          </a:xfrm>
          <a:prstGeom prst="rect">
            <a:avLst/>
          </a:prstGeom>
          <a:noFill/>
        </p:spPr>
        <p:txBody>
          <a:bodyPr wrap="none" anchor="t" lIns="0" rIns="0" tIns="0" bIns="0">
            <a:noAutofit/>
          </a:bodyPr>
          <a:lstStyle/>
          <a:p>
            <a:pPr algn="r">
              <a:lnSpc>
                <a:spcPct val="100000"/>
              </a:lnSpc>
            </a:pPr>
            <a:r>
              <a:rPr sz="1400">
                <a:solidFill>
                  <a:srgbClr val="4F5D6A"/>
                </a:solidFill>
                <a:latin typeface="Consolas"/>
              </a:rPr>
              <a:t>193</a:t>
            </a:r>
          </a:p>
          <a:p>
            <a:pPr algn="r">
              <a:lnSpc>
                <a:spcPct val="100000"/>
              </a:lnSpc>
            </a:pPr>
            <a:r>
              <a:rPr sz="1400">
                <a:solidFill>
                  <a:srgbClr val="4F5D6A"/>
                </a:solidFill>
                <a:latin typeface="Consolas"/>
              </a:rPr>
              <a:t>194</a:t>
            </a:r>
          </a:p>
          <a:p>
            <a:pPr algn="r">
              <a:lnSpc>
                <a:spcPct val="100000"/>
              </a:lnSpc>
            </a:pPr>
            <a:r>
              <a:rPr sz="1400">
                <a:solidFill>
                  <a:srgbClr val="4F5D6A"/>
                </a:solidFill>
                <a:latin typeface="Consolas"/>
              </a:rPr>
              <a:t>195</a:t>
            </a:r>
          </a:p>
          <a:p>
            <a:pPr algn="r">
              <a:lnSpc>
                <a:spcPct val="100000"/>
              </a:lnSpc>
            </a:pPr>
            <a:r>
              <a:rPr sz="1400">
                <a:solidFill>
                  <a:srgbClr val="4F5D6A"/>
                </a:solidFill>
                <a:latin typeface="Consolas"/>
              </a:rPr>
              <a:t>196</a:t>
            </a:r>
          </a:p>
          <a:p>
            <a:pPr algn="r">
              <a:lnSpc>
                <a:spcPct val="100000"/>
              </a:lnSpc>
            </a:pPr>
            <a:r>
              <a:rPr sz="1400">
                <a:solidFill>
                  <a:srgbClr val="4F5D6A"/>
                </a:solidFill>
                <a:latin typeface="Consolas"/>
              </a:rPr>
              <a:t>197</a:t>
            </a:r>
          </a:p>
          <a:p>
            <a:pPr algn="r">
              <a:lnSpc>
                <a:spcPct val="100000"/>
              </a:lnSpc>
            </a:pPr>
            <a:r>
              <a:rPr sz="1400">
                <a:solidFill>
                  <a:srgbClr val="4F5D6A"/>
                </a:solidFill>
                <a:latin typeface="Consolas"/>
              </a:rPr>
              <a:t>198</a:t>
            </a:r>
          </a:p>
          <a:p>
            <a:pPr algn="r">
              <a:lnSpc>
                <a:spcPct val="100000"/>
              </a:lnSpc>
            </a:pPr>
            <a:r>
              <a:rPr sz="1400">
                <a:solidFill>
                  <a:srgbClr val="4F5D6A"/>
                </a:solidFill>
                <a:latin typeface="Consolas"/>
              </a:rPr>
              <a:t>199</a:t>
            </a:r>
          </a:p>
          <a:p>
            <a:pPr algn="r">
              <a:lnSpc>
                <a:spcPct val="100000"/>
              </a:lnSpc>
            </a:pPr>
            <a:r>
              <a:rPr sz="1400">
                <a:solidFill>
                  <a:srgbClr val="4F5D6A"/>
                </a:solidFill>
                <a:latin typeface="Consolas"/>
              </a:rPr>
              <a:t>200</a:t>
            </a:r>
          </a:p>
          <a:p>
            <a:pPr algn="r">
              <a:lnSpc>
                <a:spcPct val="100000"/>
              </a:lnSpc>
            </a:pPr>
            <a:r>
              <a:rPr sz="1400">
                <a:solidFill>
                  <a:srgbClr val="4F5D6A"/>
                </a:solidFill>
                <a:latin typeface="Consolas"/>
              </a:rPr>
              <a:t>201</a:t>
            </a:r>
          </a:p>
          <a:p>
            <a:pPr algn="r">
              <a:lnSpc>
                <a:spcPct val="100000"/>
              </a:lnSpc>
            </a:pPr>
            <a:r>
              <a:rPr sz="1400">
                <a:solidFill>
                  <a:srgbClr val="4F5D6A"/>
                </a:solidFill>
                <a:latin typeface="Consolas"/>
              </a:rPr>
              <a:t>202</a:t>
            </a:r>
          </a:p>
          <a:p>
            <a:pPr algn="r">
              <a:lnSpc>
                <a:spcPct val="100000"/>
              </a:lnSpc>
            </a:pPr>
            <a:r>
              <a:rPr sz="1400">
                <a:solidFill>
                  <a:srgbClr val="4F5D6A"/>
                </a:solidFill>
                <a:latin typeface="Consolas"/>
              </a:rPr>
              <a:t>203</a:t>
            </a:r>
          </a:p>
          <a:p>
            <a:pPr algn="r">
              <a:lnSpc>
                <a:spcPct val="100000"/>
              </a:lnSpc>
            </a:pPr>
            <a:r>
              <a:rPr sz="1400">
                <a:solidFill>
                  <a:srgbClr val="4F5D6A"/>
                </a:solidFill>
                <a:latin typeface="Consolas"/>
              </a:rPr>
              <a:t>204</a:t>
            </a:r>
          </a:p>
          <a:p>
            <a:pPr algn="r">
              <a:lnSpc>
                <a:spcPct val="100000"/>
              </a:lnSpc>
            </a:pPr>
            <a:r>
              <a:rPr sz="1400">
                <a:solidFill>
                  <a:srgbClr val="4F5D6A"/>
                </a:solidFill>
                <a:latin typeface="Consolas"/>
              </a:rPr>
              <a:t>205</a:t>
            </a:r>
          </a:p>
          <a:p>
            <a:pPr algn="r">
              <a:lnSpc>
                <a:spcPct val="100000"/>
              </a:lnSpc>
            </a:pPr>
            <a:r>
              <a:rPr sz="1400">
                <a:solidFill>
                  <a:srgbClr val="4F5D6A"/>
                </a:solidFill>
                <a:latin typeface="Consolas"/>
              </a:rPr>
              <a:t>206</a:t>
            </a:r>
          </a:p>
          <a:p>
            <a:pPr algn="r">
              <a:lnSpc>
                <a:spcPct val="100000"/>
              </a:lnSpc>
            </a:pPr>
            <a:r>
              <a:rPr sz="1400">
                <a:solidFill>
                  <a:srgbClr val="4F5D6A"/>
                </a:solidFill>
                <a:latin typeface="Consolas"/>
              </a:rPr>
              <a:t>207</a:t>
            </a:r>
          </a:p>
          <a:p>
            <a:pPr algn="r">
              <a:lnSpc>
                <a:spcPct val="100000"/>
              </a:lnSpc>
            </a:pPr>
            <a:r>
              <a:rPr sz="1400">
                <a:solidFill>
                  <a:srgbClr val="4F5D6A"/>
                </a:solidFill>
                <a:latin typeface="Consolas"/>
              </a:rPr>
              <a:t>208</a:t>
            </a:r>
          </a:p>
          <a:p>
            <a:pPr algn="r">
              <a:lnSpc>
                <a:spcPct val="100000"/>
              </a:lnSpc>
            </a:pPr>
            <a:r>
              <a:rPr sz="1400">
                <a:solidFill>
                  <a:srgbClr val="4F5D6A"/>
                </a:solidFill>
                <a:latin typeface="Consolas"/>
              </a:rPr>
              <a:t>209</a:t>
            </a:r>
          </a:p>
          <a:p>
            <a:pPr algn="r">
              <a:lnSpc>
                <a:spcPct val="100000"/>
              </a:lnSpc>
            </a:pPr>
            <a:r>
              <a:rPr sz="1400">
                <a:solidFill>
                  <a:srgbClr val="4F5D6A"/>
                </a:solidFill>
                <a:latin typeface="Consolas"/>
              </a:rPr>
              <a:t>210</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8046518"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Sprint Scheduling as a CSP</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14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7  ·  Constraint Satisfaction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§7.7  ·  Handout p. 72     </a:t>
            </a:r>
            <a:fld id="{8A434A8A-9526-4C3F-95F8-1788398F96B1}" type="slidenum">
              <a:rPr lang="en-GB" sz="1000">
                <a:solidFill>
                  <a:srgbClr val="8795A1"/>
                </a:solidFill>
                <a:latin typeface="Segoe UI"/>
              </a:rPr>
              <a:t>34</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4565904"/>
          </a:xfrm>
          <a:prstGeom prst="roundRect">
            <a:avLst>
              <a:gd name="adj" fmla="val 200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code/ch07_sprint_scheduling_as.py</a:t>
            </a:r>
          </a:p>
        </p:txBody>
      </p:sp>
      <p:sp>
        <p:nvSpPr>
          <p:cNvPr id="13" name="!!code-text" descr="# 2. forward checking is the win, and it is large assert fc[0] * 5 &lt; plain[0] print() print(&quot;forward checking: %d -&gt; %d checks (%.0fx), %d -&gt; %d nodes&quot; % (plain[0], fc[0], plain[0] / fc[0], plain[1], fc[1])) # 3. AC-3 cannot see the capacity constraint, so it buys no nodes assert ac[1] == fc[1] and ac[0] &gt; fc[0] print() print(&quot;AC-3 preprocessing: %d extra checks, %d fewer nodes.&quot; % (ac[0] - fc[0], fc[1] - ac[1])) print(&quot;It prunes the binary structure and never sees capacity,&quot;) print(&quot;which is the constraint that actually binds.&quot;)"/>
          <p:cNvSpPr txBox="1"/>
          <p:nvPr/>
        </p:nvSpPr>
        <p:spPr>
          <a:xfrm>
            <a:off x="1362456" y="2066543"/>
            <a:ext cx="9987991" cy="4072128"/>
          </a:xfrm>
          <a:prstGeom prst="rect">
            <a:avLst/>
          </a:prstGeom>
          <a:noFill/>
        </p:spPr>
        <p:txBody>
          <a:bodyPr wrap="none" anchor="t" lIns="0" rIns="0" tIns="0" bIns="0">
            <a:noAutofit/>
          </a:bodyPr>
          <a:lstStyle/>
          <a:p>
            <a:pPr>
              <a:lnSpc>
                <a:spcPct val="100000"/>
              </a:lnSpc>
              <a:spcAft>
                <a:spcPts val="0"/>
              </a:spcAft>
            </a:pPr>
            <a:r>
              <a:rPr sz="2000" i="0">
                <a:solidFill>
                  <a:srgbClr val="E8EDF2"/>
                </a:solidFill>
                <a:latin typeface="Consolas"/>
              </a:rPr>
              <a:t>    </a:t>
            </a:r>
            <a:r>
              <a:rPr sz="2000" i="1">
                <a:solidFill>
                  <a:srgbClr val="8795A1"/>
                </a:solidFill>
                <a:latin typeface="Consolas"/>
              </a:rPr>
              <a:t># 2. forward checking is the win, and it is large</a:t>
            </a:r>
          </a:p>
          <a:p>
            <a:pPr>
              <a:lnSpc>
                <a:spcPct val="100000"/>
              </a:lnSpc>
              <a:spcAft>
                <a:spcPts val="0"/>
              </a:spcAft>
            </a:pPr>
            <a:r>
              <a:rPr sz="2000" i="0">
                <a:solidFill>
                  <a:srgbClr val="E8EDF2"/>
                </a:solidFill>
                <a:latin typeface="Consolas"/>
              </a:rPr>
              <a:t>    </a:t>
            </a:r>
            <a:r>
              <a:rPr sz="2000" i="0">
                <a:solidFill>
                  <a:srgbClr val="5DADE2"/>
                </a:solidFill>
                <a:latin typeface="Consolas"/>
              </a:rPr>
              <a:t>assert</a:t>
            </a:r>
            <a:r>
              <a:rPr sz="2000" i="0">
                <a:solidFill>
                  <a:srgbClr val="E8EDF2"/>
                </a:solidFill>
                <a:latin typeface="Consolas"/>
              </a:rPr>
              <a:t> </a:t>
            </a:r>
            <a:r>
              <a:rPr sz="2000" i="0">
                <a:solidFill>
                  <a:srgbClr val="E8EDF2"/>
                </a:solidFill>
                <a:latin typeface="Consolas"/>
              </a:rPr>
              <a:t>fc</a:t>
            </a:r>
            <a:r>
              <a:rPr sz="2000" i="0">
                <a:solidFill>
                  <a:srgbClr val="AEB6BF"/>
                </a:solidFill>
                <a:latin typeface="Consolas"/>
              </a:rPr>
              <a:t>[</a:t>
            </a:r>
            <a:r>
              <a:rPr sz="2000" i="0">
                <a:solidFill>
                  <a:srgbClr val="F7DC6F"/>
                </a:solidFill>
                <a:latin typeface="Consolas"/>
              </a:rPr>
              <a:t>0</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F7DC6F"/>
                </a:solidFill>
                <a:latin typeface="Consolas"/>
              </a:rPr>
              <a:t>5</a:t>
            </a:r>
            <a:r>
              <a:rPr sz="2000" i="0">
                <a:solidFill>
                  <a:srgbClr val="E8EDF2"/>
                </a:solidFill>
                <a:latin typeface="Consolas"/>
              </a:rPr>
              <a:t> </a:t>
            </a:r>
            <a:r>
              <a:rPr sz="2000" i="0">
                <a:solidFill>
                  <a:srgbClr val="AEB6BF"/>
                </a:solidFill>
                <a:latin typeface="Consolas"/>
              </a:rPr>
              <a:t>&lt;</a:t>
            </a:r>
            <a:r>
              <a:rPr sz="2000" i="0">
                <a:solidFill>
                  <a:srgbClr val="E8EDF2"/>
                </a:solidFill>
                <a:latin typeface="Consolas"/>
              </a:rPr>
              <a:t> </a:t>
            </a:r>
            <a:r>
              <a:rPr sz="2000" i="0">
                <a:solidFill>
                  <a:srgbClr val="E8EDF2"/>
                </a:solidFill>
                <a:latin typeface="Consolas"/>
              </a:rPr>
              <a:t>plain</a:t>
            </a:r>
            <a:r>
              <a:rPr sz="2000" i="0">
                <a:solidFill>
                  <a:srgbClr val="AEB6BF"/>
                </a:solidFill>
                <a:latin typeface="Consolas"/>
              </a:rPr>
              <a:t>[</a:t>
            </a:r>
            <a:r>
              <a:rPr sz="2000" i="0">
                <a:solidFill>
                  <a:srgbClr val="F7DC6F"/>
                </a:solidFill>
                <a:latin typeface="Consolas"/>
              </a:rPr>
              <a:t>0</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forward checking: </a:t>
            </a:r>
            <a:r>
              <a:rPr sz="2000" i="0">
                <a:solidFill>
                  <a:srgbClr val="7DCEA0"/>
                </a:solidFill>
                <a:latin typeface="Consolas"/>
              </a:rPr>
              <a:t>%d</a:t>
            </a:r>
            <a:r>
              <a:rPr sz="2000" i="0">
                <a:solidFill>
                  <a:srgbClr val="7DCEA0"/>
                </a:solidFill>
                <a:latin typeface="Consolas"/>
              </a:rPr>
              <a:t> -&gt; </a:t>
            </a:r>
            <a:r>
              <a:rPr sz="2000" i="0">
                <a:solidFill>
                  <a:srgbClr val="7DCEA0"/>
                </a:solidFill>
                <a:latin typeface="Consolas"/>
              </a:rPr>
              <a:t>%d</a:t>
            </a:r>
            <a:r>
              <a:rPr sz="2000" i="0">
                <a:solidFill>
                  <a:srgbClr val="7DCEA0"/>
                </a:solidFill>
                <a:latin typeface="Consolas"/>
              </a:rPr>
              <a:t> checks (</a:t>
            </a:r>
            <a:r>
              <a:rPr sz="2000" i="0">
                <a:solidFill>
                  <a:srgbClr val="7DCEA0"/>
                </a:solidFill>
                <a:latin typeface="Consolas"/>
              </a:rPr>
              <a:t>%.0f</a:t>
            </a:r>
            <a:r>
              <a:rPr sz="2000" i="0">
                <a:solidFill>
                  <a:srgbClr val="7DCEA0"/>
                </a:solidFill>
                <a:latin typeface="Consolas"/>
              </a:rPr>
              <a:t>x), </a:t>
            </a:r>
            <a:r>
              <a:rPr sz="2000" i="0">
                <a:solidFill>
                  <a:srgbClr val="7DCEA0"/>
                </a:solidFill>
                <a:latin typeface="Consolas"/>
              </a:rPr>
              <a:t>%d</a:t>
            </a:r>
            <a:r>
              <a:rPr sz="2000" i="0">
                <a:solidFill>
                  <a:srgbClr val="7DCEA0"/>
                </a:solidFill>
                <a:latin typeface="Consolas"/>
              </a:rPr>
              <a:t> -&gt; </a:t>
            </a:r>
            <a:r>
              <a:rPr sz="2000" i="0">
                <a:solidFill>
                  <a:srgbClr val="7DCEA0"/>
                </a:solidFill>
                <a:latin typeface="Consolas"/>
              </a:rPr>
              <a:t>%d</a:t>
            </a:r>
            <a:r>
              <a:rPr sz="2000" i="0">
                <a:solidFill>
                  <a:srgbClr val="7DCEA0"/>
                </a:solidFill>
                <a:latin typeface="Consolas"/>
              </a:rPr>
              <a:t> nodes</a:t>
            </a:r>
            <a:r>
              <a:rPr sz="2000" i="0">
                <a:solidFill>
                  <a:srgbClr val="7DCEA0"/>
                </a:solidFill>
                <a:latin typeface="Consolas"/>
              </a:rPr>
              <a:t>"</a:t>
            </a:r>
          </a:p>
          <a:p>
            <a:pPr>
              <a:lnSpc>
                <a:spcPct val="100000"/>
              </a:lnSpc>
              <a:spcAft>
                <a:spcPts val="0"/>
              </a:spcAft>
            </a:pP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plain</a:t>
            </a:r>
            <a:r>
              <a:rPr sz="2000" i="0">
                <a:solidFill>
                  <a:srgbClr val="AEB6BF"/>
                </a:solidFill>
                <a:latin typeface="Consolas"/>
              </a:rPr>
              <a:t>[</a:t>
            </a:r>
            <a:r>
              <a:rPr sz="2000" i="0">
                <a:solidFill>
                  <a:srgbClr val="F7DC6F"/>
                </a:solidFill>
                <a:latin typeface="Consolas"/>
              </a:rPr>
              <a:t>0</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fc</a:t>
            </a:r>
            <a:r>
              <a:rPr sz="2000" i="0">
                <a:solidFill>
                  <a:srgbClr val="AEB6BF"/>
                </a:solidFill>
                <a:latin typeface="Consolas"/>
              </a:rPr>
              <a:t>[</a:t>
            </a:r>
            <a:r>
              <a:rPr sz="2000" i="0">
                <a:solidFill>
                  <a:srgbClr val="F7DC6F"/>
                </a:solidFill>
                <a:latin typeface="Consolas"/>
              </a:rPr>
              <a:t>0</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plain</a:t>
            </a:r>
            <a:r>
              <a:rPr sz="2000" i="0">
                <a:solidFill>
                  <a:srgbClr val="AEB6BF"/>
                </a:solidFill>
                <a:latin typeface="Consolas"/>
              </a:rPr>
              <a:t>[</a:t>
            </a:r>
            <a:r>
              <a:rPr sz="2000" i="0">
                <a:solidFill>
                  <a:srgbClr val="F7DC6F"/>
                </a:solidFill>
                <a:latin typeface="Consolas"/>
              </a:rPr>
              <a:t>0</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fc</a:t>
            </a:r>
            <a:r>
              <a:rPr sz="2000" i="0">
                <a:solidFill>
                  <a:srgbClr val="AEB6BF"/>
                </a:solidFill>
                <a:latin typeface="Consolas"/>
              </a:rPr>
              <a:t>[</a:t>
            </a:r>
            <a:r>
              <a:rPr sz="2000" i="0">
                <a:solidFill>
                  <a:srgbClr val="F7DC6F"/>
                </a:solidFill>
                <a:latin typeface="Consolas"/>
              </a:rPr>
              <a:t>0</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plain</a:t>
            </a:r>
            <a:r>
              <a:rPr sz="2000" i="0">
                <a:solidFill>
                  <a:srgbClr val="AEB6BF"/>
                </a:solidFill>
                <a:latin typeface="Consolas"/>
              </a:rPr>
              <a:t>[</a:t>
            </a:r>
            <a:r>
              <a:rPr sz="2000" i="0">
                <a:solidFill>
                  <a:srgbClr val="F7DC6F"/>
                </a:solidFill>
                <a:latin typeface="Consolas"/>
              </a:rPr>
              <a:t>1</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fc</a:t>
            </a:r>
            <a:r>
              <a:rPr sz="2000" i="0">
                <a:solidFill>
                  <a:srgbClr val="AEB6BF"/>
                </a:solidFill>
                <a:latin typeface="Consolas"/>
              </a:rPr>
              <a:t>[</a:t>
            </a:r>
            <a:r>
              <a:rPr sz="2000" i="0">
                <a:solidFill>
                  <a:srgbClr val="F7DC6F"/>
                </a:solidFill>
                <a:latin typeface="Consolas"/>
              </a:rPr>
              <a:t>1</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a:latin typeface="Consolas"/>
              </a:rPr>
              <a:t> </a:t>
            </a:r>
          </a:p>
          <a:p>
            <a:pPr>
              <a:lnSpc>
                <a:spcPct val="100000"/>
              </a:lnSpc>
              <a:spcAft>
                <a:spcPts val="0"/>
              </a:spcAft>
            </a:pPr>
            <a:r>
              <a:rPr sz="2000" i="0">
                <a:solidFill>
                  <a:srgbClr val="E8EDF2"/>
                </a:solidFill>
                <a:latin typeface="Consolas"/>
              </a:rPr>
              <a:t>    </a:t>
            </a:r>
            <a:r>
              <a:rPr sz="2000" i="1">
                <a:solidFill>
                  <a:srgbClr val="8795A1"/>
                </a:solidFill>
                <a:latin typeface="Consolas"/>
              </a:rPr>
              <a:t># 3. AC-3 cannot see the capacity constraint, so it buys no nodes</a:t>
            </a:r>
          </a:p>
          <a:p>
            <a:pPr>
              <a:lnSpc>
                <a:spcPct val="100000"/>
              </a:lnSpc>
              <a:spcAft>
                <a:spcPts val="0"/>
              </a:spcAft>
            </a:pPr>
            <a:r>
              <a:rPr sz="2000" i="0">
                <a:solidFill>
                  <a:srgbClr val="E8EDF2"/>
                </a:solidFill>
                <a:latin typeface="Consolas"/>
              </a:rPr>
              <a:t>    </a:t>
            </a:r>
            <a:r>
              <a:rPr sz="2000" i="0">
                <a:solidFill>
                  <a:srgbClr val="5DADE2"/>
                </a:solidFill>
                <a:latin typeface="Consolas"/>
              </a:rPr>
              <a:t>assert</a:t>
            </a:r>
            <a:r>
              <a:rPr sz="2000" i="0">
                <a:solidFill>
                  <a:srgbClr val="E8EDF2"/>
                </a:solidFill>
                <a:latin typeface="Consolas"/>
              </a:rPr>
              <a:t> </a:t>
            </a:r>
            <a:r>
              <a:rPr sz="2000" i="0">
                <a:solidFill>
                  <a:srgbClr val="E8EDF2"/>
                </a:solidFill>
                <a:latin typeface="Consolas"/>
              </a:rPr>
              <a:t>ac</a:t>
            </a:r>
            <a:r>
              <a:rPr sz="2000" i="0">
                <a:solidFill>
                  <a:srgbClr val="AEB6BF"/>
                </a:solidFill>
                <a:latin typeface="Consolas"/>
              </a:rPr>
              <a:t>[</a:t>
            </a:r>
            <a:r>
              <a:rPr sz="2000" i="0">
                <a:solidFill>
                  <a:srgbClr val="F7DC6F"/>
                </a:solidFill>
                <a:latin typeface="Consolas"/>
              </a:rPr>
              <a:t>1</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fc</a:t>
            </a:r>
            <a:r>
              <a:rPr sz="2000" i="0">
                <a:solidFill>
                  <a:srgbClr val="AEB6BF"/>
                </a:solidFill>
                <a:latin typeface="Consolas"/>
              </a:rPr>
              <a:t>[</a:t>
            </a:r>
            <a:r>
              <a:rPr sz="2000" i="0">
                <a:solidFill>
                  <a:srgbClr val="F7DC6F"/>
                </a:solidFill>
                <a:latin typeface="Consolas"/>
              </a:rPr>
              <a:t>1</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and</a:t>
            </a:r>
            <a:r>
              <a:rPr sz="2000" i="0">
                <a:solidFill>
                  <a:srgbClr val="E8EDF2"/>
                </a:solidFill>
                <a:latin typeface="Consolas"/>
              </a:rPr>
              <a:t> </a:t>
            </a:r>
            <a:r>
              <a:rPr sz="2000" i="0">
                <a:solidFill>
                  <a:srgbClr val="E8EDF2"/>
                </a:solidFill>
                <a:latin typeface="Consolas"/>
              </a:rPr>
              <a:t>ac</a:t>
            </a:r>
            <a:r>
              <a:rPr sz="2000" i="0">
                <a:solidFill>
                  <a:srgbClr val="AEB6BF"/>
                </a:solidFill>
                <a:latin typeface="Consolas"/>
              </a:rPr>
              <a:t>[</a:t>
            </a:r>
            <a:r>
              <a:rPr sz="2000" i="0">
                <a:solidFill>
                  <a:srgbClr val="F7DC6F"/>
                </a:solidFill>
                <a:latin typeface="Consolas"/>
              </a:rPr>
              <a:t>0</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&gt;</a:t>
            </a:r>
            <a:r>
              <a:rPr sz="2000" i="0">
                <a:solidFill>
                  <a:srgbClr val="E8EDF2"/>
                </a:solidFill>
                <a:latin typeface="Consolas"/>
              </a:rPr>
              <a:t> </a:t>
            </a:r>
            <a:r>
              <a:rPr sz="2000" i="0">
                <a:solidFill>
                  <a:srgbClr val="E8EDF2"/>
                </a:solidFill>
                <a:latin typeface="Consolas"/>
              </a:rPr>
              <a:t>fc</a:t>
            </a:r>
            <a:r>
              <a:rPr sz="2000" i="0">
                <a:solidFill>
                  <a:srgbClr val="AEB6BF"/>
                </a:solidFill>
                <a:latin typeface="Consolas"/>
              </a:rPr>
              <a:t>[</a:t>
            </a:r>
            <a:r>
              <a:rPr sz="2000" i="0">
                <a:solidFill>
                  <a:srgbClr val="F7DC6F"/>
                </a:solidFill>
                <a:latin typeface="Consolas"/>
              </a:rPr>
              <a:t>0</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AC-3 preprocessing: </a:t>
            </a:r>
            <a:r>
              <a:rPr sz="2000" i="0">
                <a:solidFill>
                  <a:srgbClr val="7DCEA0"/>
                </a:solidFill>
                <a:latin typeface="Consolas"/>
              </a:rPr>
              <a:t>%d</a:t>
            </a:r>
            <a:r>
              <a:rPr sz="2000" i="0">
                <a:solidFill>
                  <a:srgbClr val="7DCEA0"/>
                </a:solidFill>
                <a:latin typeface="Consolas"/>
              </a:rPr>
              <a:t> extra checks, </a:t>
            </a:r>
            <a:r>
              <a:rPr sz="2000" i="0">
                <a:solidFill>
                  <a:srgbClr val="7DCEA0"/>
                </a:solidFill>
                <a:latin typeface="Consolas"/>
              </a:rPr>
              <a:t>%d</a:t>
            </a:r>
            <a:r>
              <a:rPr sz="2000" i="0">
                <a:solidFill>
                  <a:srgbClr val="7DCEA0"/>
                </a:solidFill>
                <a:latin typeface="Consolas"/>
              </a:rPr>
              <a:t> fewer nodes.</a:t>
            </a:r>
            <a:r>
              <a:rPr sz="2000" i="0">
                <a:solidFill>
                  <a:srgbClr val="7DCEA0"/>
                </a:solidFill>
                <a:latin typeface="Consolas"/>
              </a:rPr>
              <a:t>"</a:t>
            </a:r>
          </a:p>
          <a:p>
            <a:pPr>
              <a:lnSpc>
                <a:spcPct val="100000"/>
              </a:lnSpc>
              <a:spcAft>
                <a:spcPts val="0"/>
              </a:spcAft>
            </a:pP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ac</a:t>
            </a:r>
            <a:r>
              <a:rPr sz="2000" i="0">
                <a:solidFill>
                  <a:srgbClr val="AEB6BF"/>
                </a:solidFill>
                <a:latin typeface="Consolas"/>
              </a:rPr>
              <a:t>[</a:t>
            </a:r>
            <a:r>
              <a:rPr sz="2000" i="0">
                <a:solidFill>
                  <a:srgbClr val="F7DC6F"/>
                </a:solidFill>
                <a:latin typeface="Consolas"/>
              </a:rPr>
              <a:t>0</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fc</a:t>
            </a:r>
            <a:r>
              <a:rPr sz="2000" i="0">
                <a:solidFill>
                  <a:srgbClr val="AEB6BF"/>
                </a:solidFill>
                <a:latin typeface="Consolas"/>
              </a:rPr>
              <a:t>[</a:t>
            </a:r>
            <a:r>
              <a:rPr sz="2000" i="0">
                <a:solidFill>
                  <a:srgbClr val="F7DC6F"/>
                </a:solidFill>
                <a:latin typeface="Consolas"/>
              </a:rPr>
              <a:t>0</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fc</a:t>
            </a:r>
            <a:r>
              <a:rPr sz="2000" i="0">
                <a:solidFill>
                  <a:srgbClr val="AEB6BF"/>
                </a:solidFill>
                <a:latin typeface="Consolas"/>
              </a:rPr>
              <a:t>[</a:t>
            </a:r>
            <a:r>
              <a:rPr sz="2000" i="0">
                <a:solidFill>
                  <a:srgbClr val="F7DC6F"/>
                </a:solidFill>
                <a:latin typeface="Consolas"/>
              </a:rPr>
              <a:t>1</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ac</a:t>
            </a:r>
            <a:r>
              <a:rPr sz="2000" i="0">
                <a:solidFill>
                  <a:srgbClr val="AEB6BF"/>
                </a:solidFill>
                <a:latin typeface="Consolas"/>
              </a:rPr>
              <a:t>[</a:t>
            </a:r>
            <a:r>
              <a:rPr sz="2000" i="0">
                <a:solidFill>
                  <a:srgbClr val="F7DC6F"/>
                </a:solidFill>
                <a:latin typeface="Consolas"/>
              </a:rPr>
              <a:t>1</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It prunes the binary structure and never sees capacity,</a:t>
            </a:r>
            <a:r>
              <a:rPr sz="2000" i="0">
                <a:solidFill>
                  <a:srgbClr val="7DCEA0"/>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which is the constraint that actually binds.</a:t>
            </a:r>
            <a:r>
              <a:rPr sz="2000" i="0">
                <a:solidFill>
                  <a:srgbClr val="7DCEA0"/>
                </a:solidFill>
                <a:latin typeface="Consolas"/>
              </a:rPr>
              <a:t>"</a:t>
            </a:r>
            <a:r>
              <a:rPr sz="2000" i="0">
                <a:solidFill>
                  <a:srgbClr val="AEB6BF"/>
                </a:solidFill>
                <a:latin typeface="Consolas"/>
              </a:rPr>
              <a:t>)</a:t>
            </a:r>
          </a:p>
        </p:txBody>
      </p:sp>
      <p:sp>
        <p:nvSpPr>
          <p:cNvPr id="14" name="!!code-num"/>
          <p:cNvSpPr txBox="1"/>
          <p:nvPr/>
        </p:nvSpPr>
        <p:spPr>
          <a:xfrm>
            <a:off x="768096" y="2066543"/>
            <a:ext cx="393192" cy="40721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212</a:t>
            </a:r>
          </a:p>
          <a:p>
            <a:pPr algn="r">
              <a:lnSpc>
                <a:spcPct val="100000"/>
              </a:lnSpc>
            </a:pPr>
            <a:r>
              <a:rPr sz="2000">
                <a:solidFill>
                  <a:srgbClr val="4F5D6A"/>
                </a:solidFill>
                <a:latin typeface="Consolas"/>
              </a:rPr>
              <a:t>213</a:t>
            </a:r>
          </a:p>
          <a:p>
            <a:pPr algn="r">
              <a:lnSpc>
                <a:spcPct val="100000"/>
              </a:lnSpc>
            </a:pPr>
            <a:r>
              <a:rPr sz="2000">
                <a:solidFill>
                  <a:srgbClr val="4F5D6A"/>
                </a:solidFill>
                <a:latin typeface="Consolas"/>
              </a:rPr>
              <a:t>214</a:t>
            </a:r>
          </a:p>
          <a:p>
            <a:pPr algn="r">
              <a:lnSpc>
                <a:spcPct val="100000"/>
              </a:lnSpc>
            </a:pPr>
            <a:r>
              <a:rPr sz="2000">
                <a:solidFill>
                  <a:srgbClr val="4F5D6A"/>
                </a:solidFill>
                <a:latin typeface="Consolas"/>
              </a:rPr>
              <a:t>215</a:t>
            </a:r>
          </a:p>
          <a:p>
            <a:pPr algn="r">
              <a:lnSpc>
                <a:spcPct val="100000"/>
              </a:lnSpc>
            </a:pPr>
            <a:r>
              <a:rPr sz="2000">
                <a:solidFill>
                  <a:srgbClr val="4F5D6A"/>
                </a:solidFill>
                <a:latin typeface="Consolas"/>
              </a:rPr>
              <a:t>216</a:t>
            </a:r>
          </a:p>
          <a:p>
            <a:pPr algn="r">
              <a:lnSpc>
                <a:spcPct val="100000"/>
              </a:lnSpc>
            </a:pPr>
            <a:r>
              <a:rPr sz="2000">
                <a:solidFill>
                  <a:srgbClr val="4F5D6A"/>
                </a:solidFill>
                <a:latin typeface="Consolas"/>
              </a:rPr>
              <a:t>217</a:t>
            </a:r>
          </a:p>
          <a:p>
            <a:pPr algn="r">
              <a:lnSpc>
                <a:spcPct val="100000"/>
              </a:lnSpc>
            </a:pPr>
            <a:r>
              <a:rPr sz="2000">
                <a:solidFill>
                  <a:srgbClr val="4F5D6A"/>
                </a:solidFill>
                <a:latin typeface="Consolas"/>
              </a:rPr>
              <a:t>218</a:t>
            </a:r>
          </a:p>
          <a:p>
            <a:pPr algn="r">
              <a:lnSpc>
                <a:spcPct val="100000"/>
              </a:lnSpc>
            </a:pPr>
            <a:r>
              <a:rPr sz="2000">
                <a:solidFill>
                  <a:srgbClr val="4F5D6A"/>
                </a:solidFill>
                <a:latin typeface="Consolas"/>
              </a:rPr>
              <a:t>219</a:t>
            </a:r>
          </a:p>
          <a:p>
            <a:pPr algn="r">
              <a:lnSpc>
                <a:spcPct val="100000"/>
              </a:lnSpc>
            </a:pPr>
            <a:r>
              <a:rPr sz="2000">
                <a:solidFill>
                  <a:srgbClr val="4F5D6A"/>
                </a:solidFill>
                <a:latin typeface="Consolas"/>
              </a:rPr>
              <a:t>220</a:t>
            </a:r>
          </a:p>
          <a:p>
            <a:pPr algn="r">
              <a:lnSpc>
                <a:spcPct val="100000"/>
              </a:lnSpc>
            </a:pPr>
            <a:r>
              <a:rPr sz="2000">
                <a:solidFill>
                  <a:srgbClr val="4F5D6A"/>
                </a:solidFill>
                <a:latin typeface="Consolas"/>
              </a:rPr>
              <a:t>221</a:t>
            </a:r>
          </a:p>
          <a:p>
            <a:pPr algn="r">
              <a:lnSpc>
                <a:spcPct val="100000"/>
              </a:lnSpc>
            </a:pPr>
            <a:r>
              <a:rPr sz="2000">
                <a:solidFill>
                  <a:srgbClr val="4F5D6A"/>
                </a:solidFill>
                <a:latin typeface="Consolas"/>
              </a:rPr>
              <a:t>222</a:t>
            </a:r>
          </a:p>
          <a:p>
            <a:pPr algn="r">
              <a:lnSpc>
                <a:spcPct val="100000"/>
              </a:lnSpc>
            </a:pPr>
            <a:r>
              <a:rPr sz="2000">
                <a:solidFill>
                  <a:srgbClr val="4F5D6A"/>
                </a:solidFill>
                <a:latin typeface="Consolas"/>
              </a:rPr>
              <a:t>223</a:t>
            </a:r>
          </a:p>
          <a:p>
            <a:pPr algn="r">
              <a:lnSpc>
                <a:spcPct val="100000"/>
              </a:lnSpc>
            </a:pPr>
            <a:r>
              <a:rPr sz="2000">
                <a:solidFill>
                  <a:srgbClr val="4F5D6A"/>
                </a:solidFill>
                <a:latin typeface="Consolas"/>
              </a:rPr>
              <a:t>224</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8290352"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Sprint Scheduling as a CSP</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15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7  ·  Constraint Satisfaction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§7.7  ·  Handout p. 72     </a:t>
            </a:r>
            <a:fld id="{6972115B-D90F-4522-A769-736DE6C3663F}" type="slidenum">
              <a:rPr lang="en-GB" sz="1000">
                <a:solidFill>
                  <a:srgbClr val="8795A1"/>
                </a:solidFill>
                <a:latin typeface="Segoe UI"/>
              </a:rPr>
              <a:t>35</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4489704"/>
          </a:xfrm>
          <a:prstGeom prst="roundRect">
            <a:avLst>
              <a:gd name="adj" fmla="val 203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code/ch07_sprint_scheduling_as.py</a:t>
            </a:r>
          </a:p>
        </p:txBody>
      </p:sp>
      <p:sp>
        <p:nvSpPr>
          <p:cNvPr id="13" name="!!code-text" descr="# what AC-3 removes before any search c = Counter() d0 = {v: list(SLOTS) for v in NAMES} d1 = ac3(d0, c) narrowed = [v for v in NAMES if d1[v] != d0[v]] print() print(&quot;AC-3 narrowed %d of %d domains before any assignment:&quot; % (len(narrowed), len(NAMES))) for v in narrowed[:4]: print(&quot; %-4s %s -&gt; %s&quot; % (v, d0[v], d1[v])) print(&quot; ...&quot;) print() sol, _ = solve(mrv=True, degree=True, fc=True) print(show(sol))"/>
          <p:cNvSpPr txBox="1"/>
          <p:nvPr/>
        </p:nvSpPr>
        <p:spPr>
          <a:xfrm>
            <a:off x="1362456" y="2066543"/>
            <a:ext cx="9987991" cy="3995928"/>
          </a:xfrm>
          <a:prstGeom prst="rect">
            <a:avLst/>
          </a:prstGeom>
          <a:noFill/>
        </p:spPr>
        <p:txBody>
          <a:bodyPr wrap="none" anchor="t" lIns="0" rIns="0" tIns="0" bIns="0">
            <a:noAutofit/>
          </a:bodyPr>
          <a:lstStyle/>
          <a:p>
            <a:pPr>
              <a:lnSpc>
                <a:spcPct val="100000"/>
              </a:lnSpc>
              <a:spcAft>
                <a:spcPts val="0"/>
              </a:spcAft>
            </a:pPr>
            <a:r>
              <a:rPr sz="1700" i="0">
                <a:solidFill>
                  <a:srgbClr val="E8EDF2"/>
                </a:solidFill>
                <a:latin typeface="Consolas"/>
              </a:rPr>
              <a:t>    </a:t>
            </a:r>
            <a:r>
              <a:rPr sz="1700" i="1">
                <a:solidFill>
                  <a:srgbClr val="8795A1"/>
                </a:solidFill>
                <a:latin typeface="Consolas"/>
              </a:rPr>
              <a:t># what AC-3 removes before any search</a:t>
            </a:r>
          </a:p>
          <a:p>
            <a:pPr>
              <a:lnSpc>
                <a:spcPct val="100000"/>
              </a:lnSpc>
              <a:spcAft>
                <a:spcPts val="0"/>
              </a:spcAft>
            </a:pPr>
            <a:r>
              <a:rPr sz="1700" i="0">
                <a:solidFill>
                  <a:srgbClr val="E8EDF2"/>
                </a:solidFill>
                <a:latin typeface="Consolas"/>
              </a:rPr>
              <a:t>    </a:t>
            </a:r>
            <a:r>
              <a:rPr sz="1700" i="0">
                <a:solidFill>
                  <a:srgbClr val="E8EDF2"/>
                </a:solidFill>
                <a:latin typeface="Consolas"/>
              </a:rPr>
              <a:t>c</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Counter</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E8EDF2"/>
                </a:solidFill>
                <a:latin typeface="Consolas"/>
              </a:rPr>
              <a:t>d0</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v</a:t>
            </a:r>
            <a:r>
              <a:rPr sz="1700" i="0">
                <a:solidFill>
                  <a:srgbClr val="AEB6BF"/>
                </a:solidFill>
                <a:latin typeface="Consolas"/>
              </a:rPr>
              <a:t>:</a:t>
            </a:r>
            <a:r>
              <a:rPr sz="1700" i="0">
                <a:solidFill>
                  <a:srgbClr val="E8EDF2"/>
                </a:solidFill>
                <a:latin typeface="Consolas"/>
              </a:rPr>
              <a:t> </a:t>
            </a:r>
            <a:r>
              <a:rPr sz="1700" i="0">
                <a:solidFill>
                  <a:srgbClr val="C39BD3"/>
                </a:solidFill>
                <a:latin typeface="Consolas"/>
              </a:rPr>
              <a:t>list</a:t>
            </a:r>
            <a:r>
              <a:rPr sz="1700" i="0">
                <a:solidFill>
                  <a:srgbClr val="AEB6BF"/>
                </a:solidFill>
                <a:latin typeface="Consolas"/>
              </a:rPr>
              <a:t>(</a:t>
            </a:r>
            <a:r>
              <a:rPr sz="1700" i="0">
                <a:solidFill>
                  <a:srgbClr val="E8EDF2"/>
                </a:solidFill>
                <a:latin typeface="Consolas"/>
              </a:rPr>
              <a:t>SLOTS</a:t>
            </a:r>
            <a:r>
              <a:rPr sz="1700" i="0">
                <a:solidFill>
                  <a:srgbClr val="AEB6BF"/>
                </a:solidFill>
                <a:latin typeface="Consolas"/>
              </a:rPr>
              <a:t>)</a:t>
            </a:r>
            <a:r>
              <a:rPr sz="1700" i="0">
                <a:solidFill>
                  <a:srgbClr val="E8EDF2"/>
                </a:solidFill>
                <a:latin typeface="Consolas"/>
              </a:rPr>
              <a:t> </a:t>
            </a:r>
            <a:r>
              <a:rPr sz="1700" i="0">
                <a:solidFill>
                  <a:srgbClr val="5DADE2"/>
                </a:solidFill>
                <a:latin typeface="Consolas"/>
              </a:rPr>
              <a:t>for</a:t>
            </a:r>
            <a:r>
              <a:rPr sz="1700" i="0">
                <a:solidFill>
                  <a:srgbClr val="E8EDF2"/>
                </a:solidFill>
                <a:latin typeface="Consolas"/>
              </a:rPr>
              <a:t> </a:t>
            </a:r>
            <a:r>
              <a:rPr sz="1700" i="0">
                <a:solidFill>
                  <a:srgbClr val="E8EDF2"/>
                </a:solidFill>
                <a:latin typeface="Consolas"/>
              </a:rPr>
              <a:t>v</a:t>
            </a:r>
            <a:r>
              <a:rPr sz="1700" i="0">
                <a:solidFill>
                  <a:srgbClr val="E8EDF2"/>
                </a:solidFill>
                <a:latin typeface="Consolas"/>
              </a:rPr>
              <a:t> </a:t>
            </a:r>
            <a:r>
              <a:rPr sz="1700" i="0">
                <a:solidFill>
                  <a:srgbClr val="AEB6BF"/>
                </a:solidFill>
                <a:latin typeface="Consolas"/>
              </a:rPr>
              <a:t>in</a:t>
            </a:r>
            <a:r>
              <a:rPr sz="1700" i="0">
                <a:solidFill>
                  <a:srgbClr val="E8EDF2"/>
                </a:solidFill>
                <a:latin typeface="Consolas"/>
              </a:rPr>
              <a:t> </a:t>
            </a:r>
            <a:r>
              <a:rPr sz="1700" i="0">
                <a:solidFill>
                  <a:srgbClr val="E8EDF2"/>
                </a:solidFill>
                <a:latin typeface="Consolas"/>
              </a:rPr>
              <a:t>NAMES</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E8EDF2"/>
                </a:solidFill>
                <a:latin typeface="Consolas"/>
              </a:rPr>
              <a:t>d1</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ac3</a:t>
            </a:r>
            <a:r>
              <a:rPr sz="1700" i="0">
                <a:solidFill>
                  <a:srgbClr val="AEB6BF"/>
                </a:solidFill>
                <a:latin typeface="Consolas"/>
              </a:rPr>
              <a:t>(</a:t>
            </a:r>
            <a:r>
              <a:rPr sz="1700" i="0">
                <a:solidFill>
                  <a:srgbClr val="E8EDF2"/>
                </a:solidFill>
                <a:latin typeface="Consolas"/>
              </a:rPr>
              <a:t>d0</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c</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E8EDF2"/>
                </a:solidFill>
                <a:latin typeface="Consolas"/>
              </a:rPr>
              <a:t>narrowed</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v</a:t>
            </a:r>
            <a:r>
              <a:rPr sz="1700" i="0">
                <a:solidFill>
                  <a:srgbClr val="E8EDF2"/>
                </a:solidFill>
                <a:latin typeface="Consolas"/>
              </a:rPr>
              <a:t> </a:t>
            </a:r>
            <a:r>
              <a:rPr sz="1700" i="0">
                <a:solidFill>
                  <a:srgbClr val="5DADE2"/>
                </a:solidFill>
                <a:latin typeface="Consolas"/>
              </a:rPr>
              <a:t>for</a:t>
            </a:r>
            <a:r>
              <a:rPr sz="1700" i="0">
                <a:solidFill>
                  <a:srgbClr val="E8EDF2"/>
                </a:solidFill>
                <a:latin typeface="Consolas"/>
              </a:rPr>
              <a:t> </a:t>
            </a:r>
            <a:r>
              <a:rPr sz="1700" i="0">
                <a:solidFill>
                  <a:srgbClr val="E8EDF2"/>
                </a:solidFill>
                <a:latin typeface="Consolas"/>
              </a:rPr>
              <a:t>v</a:t>
            </a:r>
            <a:r>
              <a:rPr sz="1700" i="0">
                <a:solidFill>
                  <a:srgbClr val="E8EDF2"/>
                </a:solidFill>
                <a:latin typeface="Consolas"/>
              </a:rPr>
              <a:t> </a:t>
            </a:r>
            <a:r>
              <a:rPr sz="1700" i="0">
                <a:solidFill>
                  <a:srgbClr val="AEB6BF"/>
                </a:solidFill>
                <a:latin typeface="Consolas"/>
              </a:rPr>
              <a:t>in</a:t>
            </a:r>
            <a:r>
              <a:rPr sz="1700" i="0">
                <a:solidFill>
                  <a:srgbClr val="E8EDF2"/>
                </a:solidFill>
                <a:latin typeface="Consolas"/>
              </a:rPr>
              <a:t> </a:t>
            </a:r>
            <a:r>
              <a:rPr sz="1700" i="0">
                <a:solidFill>
                  <a:srgbClr val="E8EDF2"/>
                </a:solidFill>
                <a:latin typeface="Consolas"/>
              </a:rPr>
              <a:t>NAMES</a:t>
            </a:r>
            <a:r>
              <a:rPr sz="1700" i="0">
                <a:solidFill>
                  <a:srgbClr val="E8EDF2"/>
                </a:solidFill>
                <a:latin typeface="Consolas"/>
              </a:rPr>
              <a:t> </a:t>
            </a:r>
            <a:r>
              <a:rPr sz="1700" i="0">
                <a:solidFill>
                  <a:srgbClr val="5DADE2"/>
                </a:solidFill>
                <a:latin typeface="Consolas"/>
              </a:rPr>
              <a:t>if</a:t>
            </a:r>
            <a:r>
              <a:rPr sz="1700" i="0">
                <a:solidFill>
                  <a:srgbClr val="E8EDF2"/>
                </a:solidFill>
                <a:latin typeface="Consolas"/>
              </a:rPr>
              <a:t> </a:t>
            </a:r>
            <a:r>
              <a:rPr sz="1700" i="0">
                <a:solidFill>
                  <a:srgbClr val="E8EDF2"/>
                </a:solidFill>
                <a:latin typeface="Consolas"/>
              </a:rPr>
              <a:t>d1</a:t>
            </a:r>
            <a:r>
              <a:rPr sz="1700" i="0">
                <a:solidFill>
                  <a:srgbClr val="AEB6BF"/>
                </a:solidFill>
                <a:latin typeface="Consolas"/>
              </a:rPr>
              <a:t>[</a:t>
            </a:r>
            <a:r>
              <a:rPr sz="1700" i="0">
                <a:solidFill>
                  <a:srgbClr val="E8EDF2"/>
                </a:solidFill>
                <a:latin typeface="Consolas"/>
              </a:rPr>
              <a:t>v</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d0</a:t>
            </a:r>
            <a:r>
              <a:rPr sz="1700" i="0">
                <a:solidFill>
                  <a:srgbClr val="AEB6BF"/>
                </a:solidFill>
                <a:latin typeface="Consolas"/>
              </a:rPr>
              <a:t>[</a:t>
            </a:r>
            <a:r>
              <a:rPr sz="1700" i="0">
                <a:solidFill>
                  <a:srgbClr val="E8EDF2"/>
                </a:solidFill>
                <a:latin typeface="Consolas"/>
              </a:rPr>
              <a:t>v</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C39BD3"/>
                </a:solidFill>
                <a:latin typeface="Consolas"/>
              </a:rPr>
              <a:t>print</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C39BD3"/>
                </a:solidFill>
                <a:latin typeface="Consolas"/>
              </a:rPr>
              <a:t>print</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AC-3 narrowed </a:t>
            </a:r>
            <a:r>
              <a:rPr sz="1700" i="0">
                <a:solidFill>
                  <a:srgbClr val="7DCEA0"/>
                </a:solidFill>
                <a:latin typeface="Consolas"/>
              </a:rPr>
              <a:t>%d</a:t>
            </a:r>
            <a:r>
              <a:rPr sz="1700" i="0">
                <a:solidFill>
                  <a:srgbClr val="7DCEA0"/>
                </a:solidFill>
                <a:latin typeface="Consolas"/>
              </a:rPr>
              <a:t> of </a:t>
            </a:r>
            <a:r>
              <a:rPr sz="1700" i="0">
                <a:solidFill>
                  <a:srgbClr val="7DCEA0"/>
                </a:solidFill>
                <a:latin typeface="Consolas"/>
              </a:rPr>
              <a:t>%d</a:t>
            </a:r>
            <a:r>
              <a:rPr sz="1700" i="0">
                <a:solidFill>
                  <a:srgbClr val="7DCEA0"/>
                </a:solidFill>
                <a:latin typeface="Consolas"/>
              </a:rPr>
              <a:t> domains before any assignment:</a:t>
            </a:r>
            <a:r>
              <a:rPr sz="1700" i="0">
                <a:solidFill>
                  <a:srgbClr val="7DCEA0"/>
                </a:solidFill>
                <a:latin typeface="Consolas"/>
              </a:rPr>
              <a:t>"</a:t>
            </a:r>
          </a:p>
          <a:p>
            <a:pPr>
              <a:lnSpc>
                <a:spcPct val="100000"/>
              </a:lnSpc>
              <a:spcAft>
                <a:spcPts val="0"/>
              </a:spcAft>
            </a:pP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C39BD3"/>
                </a:solidFill>
                <a:latin typeface="Consolas"/>
              </a:rPr>
              <a:t>len</a:t>
            </a:r>
            <a:r>
              <a:rPr sz="1700" i="0">
                <a:solidFill>
                  <a:srgbClr val="AEB6BF"/>
                </a:solidFill>
                <a:latin typeface="Consolas"/>
              </a:rPr>
              <a:t>(</a:t>
            </a:r>
            <a:r>
              <a:rPr sz="1700" i="0">
                <a:solidFill>
                  <a:srgbClr val="E8EDF2"/>
                </a:solidFill>
                <a:latin typeface="Consolas"/>
              </a:rPr>
              <a:t>narrowed</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C39BD3"/>
                </a:solidFill>
                <a:latin typeface="Consolas"/>
              </a:rPr>
              <a:t>len</a:t>
            </a:r>
            <a:r>
              <a:rPr sz="1700" i="0">
                <a:solidFill>
                  <a:srgbClr val="AEB6BF"/>
                </a:solidFill>
                <a:latin typeface="Consolas"/>
              </a:rPr>
              <a:t>(</a:t>
            </a:r>
            <a:r>
              <a:rPr sz="1700" i="0">
                <a:solidFill>
                  <a:srgbClr val="E8EDF2"/>
                </a:solidFill>
                <a:latin typeface="Consolas"/>
              </a:rPr>
              <a:t>NAMES</a:t>
            </a:r>
            <a:r>
              <a:rPr sz="1700" i="0">
                <a:solidFill>
                  <a:srgbClr val="AEB6BF"/>
                </a:solidFill>
                <a:latin typeface="Consolas"/>
              </a:rPr>
              <a:t>)</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5DADE2"/>
                </a:solidFill>
                <a:latin typeface="Consolas"/>
              </a:rPr>
              <a:t>for</a:t>
            </a:r>
            <a:r>
              <a:rPr sz="1700" i="0">
                <a:solidFill>
                  <a:srgbClr val="E8EDF2"/>
                </a:solidFill>
                <a:latin typeface="Consolas"/>
              </a:rPr>
              <a:t> </a:t>
            </a:r>
            <a:r>
              <a:rPr sz="1700" i="0">
                <a:solidFill>
                  <a:srgbClr val="E8EDF2"/>
                </a:solidFill>
                <a:latin typeface="Consolas"/>
              </a:rPr>
              <a:t>v</a:t>
            </a:r>
            <a:r>
              <a:rPr sz="1700" i="0">
                <a:solidFill>
                  <a:srgbClr val="E8EDF2"/>
                </a:solidFill>
                <a:latin typeface="Consolas"/>
              </a:rPr>
              <a:t> </a:t>
            </a:r>
            <a:r>
              <a:rPr sz="1700" i="0">
                <a:solidFill>
                  <a:srgbClr val="AEB6BF"/>
                </a:solidFill>
                <a:latin typeface="Consolas"/>
              </a:rPr>
              <a:t>in</a:t>
            </a:r>
            <a:r>
              <a:rPr sz="1700" i="0">
                <a:solidFill>
                  <a:srgbClr val="E8EDF2"/>
                </a:solidFill>
                <a:latin typeface="Consolas"/>
              </a:rPr>
              <a:t> </a:t>
            </a:r>
            <a:r>
              <a:rPr sz="1700" i="0">
                <a:solidFill>
                  <a:srgbClr val="E8EDF2"/>
                </a:solidFill>
                <a:latin typeface="Consolas"/>
              </a:rPr>
              <a:t>narrowed</a:t>
            </a:r>
            <a:r>
              <a:rPr sz="1700" i="0">
                <a:solidFill>
                  <a:srgbClr val="AEB6BF"/>
                </a:solidFill>
                <a:latin typeface="Consolas"/>
              </a:rPr>
              <a:t>[</a:t>
            </a:r>
            <a:r>
              <a:rPr sz="1700" i="0">
                <a:solidFill>
                  <a:srgbClr val="AEB6BF"/>
                </a:solidFill>
                <a:latin typeface="Consolas"/>
              </a:rPr>
              <a:t>:</a:t>
            </a:r>
            <a:r>
              <a:rPr sz="1700" i="0">
                <a:solidFill>
                  <a:srgbClr val="F7DC6F"/>
                </a:solidFill>
                <a:latin typeface="Consolas"/>
              </a:rPr>
              <a:t>4</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C39BD3"/>
                </a:solidFill>
                <a:latin typeface="Consolas"/>
              </a:rPr>
              <a:t>print</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   </a:t>
            </a:r>
            <a:r>
              <a:rPr sz="1700" i="0">
                <a:solidFill>
                  <a:srgbClr val="7DCEA0"/>
                </a:solidFill>
                <a:latin typeface="Consolas"/>
              </a:rPr>
              <a:t>%-4s</a:t>
            </a:r>
            <a:r>
              <a:rPr sz="1700" i="0">
                <a:solidFill>
                  <a:srgbClr val="7DCEA0"/>
                </a:solidFill>
                <a:latin typeface="Consolas"/>
              </a:rPr>
              <a:t> </a:t>
            </a:r>
            <a:r>
              <a:rPr sz="1700" i="0">
                <a:solidFill>
                  <a:srgbClr val="7DCEA0"/>
                </a:solidFill>
                <a:latin typeface="Consolas"/>
              </a:rPr>
              <a:t>%s</a:t>
            </a:r>
            <a:r>
              <a:rPr sz="1700" i="0">
                <a:solidFill>
                  <a:srgbClr val="7DCEA0"/>
                </a:solidFill>
                <a:latin typeface="Consolas"/>
              </a:rPr>
              <a:t> -&gt; </a:t>
            </a:r>
            <a:r>
              <a:rPr sz="1700" i="0">
                <a:solidFill>
                  <a:srgbClr val="7DCEA0"/>
                </a:solidFill>
                <a:latin typeface="Consolas"/>
              </a:rPr>
              <a:t>%s</a:t>
            </a:r>
            <a:r>
              <a:rPr sz="1700" i="0">
                <a:solidFill>
                  <a:srgbClr val="7DCEA0"/>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v</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d0</a:t>
            </a:r>
            <a:r>
              <a:rPr sz="1700" i="0">
                <a:solidFill>
                  <a:srgbClr val="AEB6BF"/>
                </a:solidFill>
                <a:latin typeface="Consolas"/>
              </a:rPr>
              <a:t>[</a:t>
            </a:r>
            <a:r>
              <a:rPr sz="1700" i="0">
                <a:solidFill>
                  <a:srgbClr val="E8EDF2"/>
                </a:solidFill>
                <a:latin typeface="Consolas"/>
              </a:rPr>
              <a:t>v</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d1</a:t>
            </a:r>
            <a:r>
              <a:rPr sz="1700" i="0">
                <a:solidFill>
                  <a:srgbClr val="AEB6BF"/>
                </a:solidFill>
                <a:latin typeface="Consolas"/>
              </a:rPr>
              <a:t>[</a:t>
            </a:r>
            <a:r>
              <a:rPr sz="1700" i="0">
                <a:solidFill>
                  <a:srgbClr val="E8EDF2"/>
                </a:solidFill>
                <a:latin typeface="Consolas"/>
              </a:rPr>
              <a:t>v</a:t>
            </a:r>
            <a:r>
              <a:rPr sz="1700" i="0">
                <a:solidFill>
                  <a:srgbClr val="AEB6BF"/>
                </a:solidFill>
                <a:latin typeface="Consolas"/>
              </a:rPr>
              <a:t>]</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C39BD3"/>
                </a:solidFill>
                <a:latin typeface="Consolas"/>
              </a:rPr>
              <a:t>print</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   ...</a:t>
            </a:r>
            <a:r>
              <a:rPr sz="1700" i="0">
                <a:solidFill>
                  <a:srgbClr val="7DCEA0"/>
                </a:solidFill>
                <a:latin typeface="Consolas"/>
              </a:rPr>
              <a:t>"</a:t>
            </a:r>
            <a:r>
              <a:rPr sz="1700" i="0">
                <a:solidFill>
                  <a:srgbClr val="AEB6BF"/>
                </a:solidFill>
                <a:latin typeface="Consolas"/>
              </a:rPr>
              <a:t>)</a:t>
            </a:r>
          </a:p>
          <a:p>
            <a:pPr>
              <a:lnSpc>
                <a:spcPct val="100000"/>
              </a:lnSpc>
              <a:spcAft>
                <a:spcPts val="0"/>
              </a:spcAft>
            </a:pPr>
            <a:r>
              <a:rPr sz="1700">
                <a:latin typeface="Consolas"/>
              </a:rPr>
              <a:t> </a:t>
            </a:r>
          </a:p>
          <a:p>
            <a:pPr>
              <a:lnSpc>
                <a:spcPct val="100000"/>
              </a:lnSpc>
              <a:spcAft>
                <a:spcPts val="0"/>
              </a:spcAft>
            </a:pPr>
            <a:r>
              <a:rPr sz="1700" i="0">
                <a:solidFill>
                  <a:srgbClr val="E8EDF2"/>
                </a:solidFill>
                <a:latin typeface="Consolas"/>
              </a:rPr>
              <a:t>    </a:t>
            </a:r>
            <a:r>
              <a:rPr sz="1700" i="0">
                <a:solidFill>
                  <a:srgbClr val="C39BD3"/>
                </a:solidFill>
                <a:latin typeface="Consolas"/>
              </a:rPr>
              <a:t>print</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E8EDF2"/>
                </a:solidFill>
                <a:latin typeface="Consolas"/>
              </a:rPr>
              <a:t>sol</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_</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solve</a:t>
            </a:r>
            <a:r>
              <a:rPr sz="1700" i="0">
                <a:solidFill>
                  <a:srgbClr val="AEB6BF"/>
                </a:solidFill>
                <a:latin typeface="Consolas"/>
              </a:rPr>
              <a:t>(</a:t>
            </a:r>
            <a:r>
              <a:rPr sz="1700" i="0">
                <a:solidFill>
                  <a:srgbClr val="E8EDF2"/>
                </a:solidFill>
                <a:latin typeface="Consolas"/>
              </a:rPr>
              <a:t>mrv</a:t>
            </a:r>
            <a:r>
              <a:rPr sz="1700" i="0">
                <a:solidFill>
                  <a:srgbClr val="AEB6BF"/>
                </a:solidFill>
                <a:latin typeface="Consolas"/>
              </a:rPr>
              <a:t>=</a:t>
            </a:r>
            <a:r>
              <a:rPr sz="1700" i="0">
                <a:solidFill>
                  <a:srgbClr val="5DADE2"/>
                </a:solidFill>
                <a:latin typeface="Consolas"/>
              </a:rPr>
              <a:t>True</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degree</a:t>
            </a:r>
            <a:r>
              <a:rPr sz="1700" i="0">
                <a:solidFill>
                  <a:srgbClr val="AEB6BF"/>
                </a:solidFill>
                <a:latin typeface="Consolas"/>
              </a:rPr>
              <a:t>=</a:t>
            </a:r>
            <a:r>
              <a:rPr sz="1700" i="0">
                <a:solidFill>
                  <a:srgbClr val="5DADE2"/>
                </a:solidFill>
                <a:latin typeface="Consolas"/>
              </a:rPr>
              <a:t>True</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fc</a:t>
            </a:r>
            <a:r>
              <a:rPr sz="1700" i="0">
                <a:solidFill>
                  <a:srgbClr val="AEB6BF"/>
                </a:solidFill>
                <a:latin typeface="Consolas"/>
              </a:rPr>
              <a:t>=</a:t>
            </a:r>
            <a:r>
              <a:rPr sz="1700" i="0">
                <a:solidFill>
                  <a:srgbClr val="5DADE2"/>
                </a:solidFill>
                <a:latin typeface="Consolas"/>
              </a:rPr>
              <a:t>True</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C39BD3"/>
                </a:solidFill>
                <a:latin typeface="Consolas"/>
              </a:rPr>
              <a:t>print</a:t>
            </a:r>
            <a:r>
              <a:rPr sz="1700" i="0">
                <a:solidFill>
                  <a:srgbClr val="AEB6BF"/>
                </a:solidFill>
                <a:latin typeface="Consolas"/>
              </a:rPr>
              <a:t>(</a:t>
            </a:r>
            <a:r>
              <a:rPr sz="1700" i="0">
                <a:solidFill>
                  <a:srgbClr val="E8EDF2"/>
                </a:solidFill>
                <a:latin typeface="Consolas"/>
              </a:rPr>
              <a:t>show</a:t>
            </a:r>
            <a:r>
              <a:rPr sz="1700" i="0">
                <a:solidFill>
                  <a:srgbClr val="AEB6BF"/>
                </a:solidFill>
                <a:latin typeface="Consolas"/>
              </a:rPr>
              <a:t>(</a:t>
            </a:r>
            <a:r>
              <a:rPr sz="1700" i="0">
                <a:solidFill>
                  <a:srgbClr val="E8EDF2"/>
                </a:solidFill>
                <a:latin typeface="Consolas"/>
              </a:rPr>
              <a:t>sol</a:t>
            </a:r>
            <a:r>
              <a:rPr sz="1700" i="0">
                <a:solidFill>
                  <a:srgbClr val="AEB6BF"/>
                </a:solidFill>
                <a:latin typeface="Consolas"/>
              </a:rPr>
              <a:t>)</a:t>
            </a:r>
            <a:r>
              <a:rPr sz="1700" i="0">
                <a:solidFill>
                  <a:srgbClr val="AEB6BF"/>
                </a:solidFill>
                <a:latin typeface="Consolas"/>
              </a:rPr>
              <a:t>)</a:t>
            </a:r>
          </a:p>
        </p:txBody>
      </p:sp>
      <p:sp>
        <p:nvSpPr>
          <p:cNvPr id="14" name="!!code-num"/>
          <p:cNvSpPr txBox="1"/>
          <p:nvPr/>
        </p:nvSpPr>
        <p:spPr>
          <a:xfrm>
            <a:off x="768096" y="2066543"/>
            <a:ext cx="393192" cy="3995928"/>
          </a:xfrm>
          <a:prstGeom prst="rect">
            <a:avLst/>
          </a:prstGeom>
          <a:noFill/>
        </p:spPr>
        <p:txBody>
          <a:bodyPr wrap="none" anchor="t" lIns="0" rIns="0" tIns="0" bIns="0">
            <a:noAutofit/>
          </a:bodyPr>
          <a:lstStyle/>
          <a:p>
            <a:pPr algn="r">
              <a:lnSpc>
                <a:spcPct val="100000"/>
              </a:lnSpc>
            </a:pPr>
            <a:r>
              <a:rPr sz="1700">
                <a:solidFill>
                  <a:srgbClr val="4F5D6A"/>
                </a:solidFill>
                <a:latin typeface="Consolas"/>
              </a:rPr>
              <a:t>226</a:t>
            </a:r>
          </a:p>
          <a:p>
            <a:pPr algn="r">
              <a:lnSpc>
                <a:spcPct val="100000"/>
              </a:lnSpc>
            </a:pPr>
            <a:r>
              <a:rPr sz="1700">
                <a:solidFill>
                  <a:srgbClr val="4F5D6A"/>
                </a:solidFill>
                <a:latin typeface="Consolas"/>
              </a:rPr>
              <a:t>227</a:t>
            </a:r>
          </a:p>
          <a:p>
            <a:pPr algn="r">
              <a:lnSpc>
                <a:spcPct val="100000"/>
              </a:lnSpc>
            </a:pPr>
            <a:r>
              <a:rPr sz="1700">
                <a:solidFill>
                  <a:srgbClr val="4F5D6A"/>
                </a:solidFill>
                <a:latin typeface="Consolas"/>
              </a:rPr>
              <a:t>228</a:t>
            </a:r>
          </a:p>
          <a:p>
            <a:pPr algn="r">
              <a:lnSpc>
                <a:spcPct val="100000"/>
              </a:lnSpc>
            </a:pPr>
            <a:r>
              <a:rPr sz="1700">
                <a:solidFill>
                  <a:srgbClr val="4F5D6A"/>
                </a:solidFill>
                <a:latin typeface="Consolas"/>
              </a:rPr>
              <a:t>229</a:t>
            </a:r>
          </a:p>
          <a:p>
            <a:pPr algn="r">
              <a:lnSpc>
                <a:spcPct val="100000"/>
              </a:lnSpc>
            </a:pPr>
            <a:r>
              <a:rPr sz="1700">
                <a:solidFill>
                  <a:srgbClr val="4F5D6A"/>
                </a:solidFill>
                <a:latin typeface="Consolas"/>
              </a:rPr>
              <a:t>230</a:t>
            </a:r>
          </a:p>
          <a:p>
            <a:pPr algn="r">
              <a:lnSpc>
                <a:spcPct val="100000"/>
              </a:lnSpc>
            </a:pPr>
            <a:r>
              <a:rPr sz="1700">
                <a:solidFill>
                  <a:srgbClr val="4F5D6A"/>
                </a:solidFill>
                <a:latin typeface="Consolas"/>
              </a:rPr>
              <a:t>231</a:t>
            </a:r>
          </a:p>
          <a:p>
            <a:pPr algn="r">
              <a:lnSpc>
                <a:spcPct val="100000"/>
              </a:lnSpc>
            </a:pPr>
            <a:r>
              <a:rPr sz="1700">
                <a:solidFill>
                  <a:srgbClr val="4F5D6A"/>
                </a:solidFill>
                <a:latin typeface="Consolas"/>
              </a:rPr>
              <a:t>232</a:t>
            </a:r>
          </a:p>
          <a:p>
            <a:pPr algn="r">
              <a:lnSpc>
                <a:spcPct val="100000"/>
              </a:lnSpc>
            </a:pPr>
            <a:r>
              <a:rPr sz="1700">
                <a:solidFill>
                  <a:srgbClr val="4F5D6A"/>
                </a:solidFill>
                <a:latin typeface="Consolas"/>
              </a:rPr>
              <a:t>233</a:t>
            </a:r>
          </a:p>
          <a:p>
            <a:pPr algn="r">
              <a:lnSpc>
                <a:spcPct val="100000"/>
              </a:lnSpc>
            </a:pPr>
            <a:r>
              <a:rPr sz="1700">
                <a:solidFill>
                  <a:srgbClr val="4F5D6A"/>
                </a:solidFill>
                <a:latin typeface="Consolas"/>
              </a:rPr>
              <a:t>234</a:t>
            </a:r>
          </a:p>
          <a:p>
            <a:pPr algn="r">
              <a:lnSpc>
                <a:spcPct val="100000"/>
              </a:lnSpc>
            </a:pPr>
            <a:r>
              <a:rPr sz="1700">
                <a:solidFill>
                  <a:srgbClr val="4F5D6A"/>
                </a:solidFill>
                <a:latin typeface="Consolas"/>
              </a:rPr>
              <a:t>235</a:t>
            </a:r>
          </a:p>
          <a:p>
            <a:pPr algn="r">
              <a:lnSpc>
                <a:spcPct val="100000"/>
              </a:lnSpc>
            </a:pPr>
            <a:r>
              <a:rPr sz="1700">
                <a:solidFill>
                  <a:srgbClr val="4F5D6A"/>
                </a:solidFill>
                <a:latin typeface="Consolas"/>
              </a:rPr>
              <a:t>236</a:t>
            </a:r>
          </a:p>
          <a:p>
            <a:pPr algn="r">
              <a:lnSpc>
                <a:spcPct val="100000"/>
              </a:lnSpc>
            </a:pPr>
            <a:r>
              <a:rPr sz="1700">
                <a:solidFill>
                  <a:srgbClr val="4F5D6A"/>
                </a:solidFill>
                <a:latin typeface="Consolas"/>
              </a:rPr>
              <a:t>237</a:t>
            </a:r>
          </a:p>
          <a:p>
            <a:pPr algn="r">
              <a:lnSpc>
                <a:spcPct val="100000"/>
              </a:lnSpc>
            </a:pPr>
            <a:r>
              <a:rPr sz="1700">
                <a:solidFill>
                  <a:srgbClr val="4F5D6A"/>
                </a:solidFill>
                <a:latin typeface="Consolas"/>
              </a:rPr>
              <a:t>238</a:t>
            </a:r>
          </a:p>
          <a:p>
            <a:pPr algn="r">
              <a:lnSpc>
                <a:spcPct val="100000"/>
              </a:lnSpc>
            </a:pPr>
            <a:r>
              <a:rPr sz="1700">
                <a:solidFill>
                  <a:srgbClr val="4F5D6A"/>
                </a:solidFill>
                <a:latin typeface="Consolas"/>
              </a:rPr>
              <a:t>239</a:t>
            </a:r>
          </a:p>
          <a:p>
            <a:pPr algn="r">
              <a:lnSpc>
                <a:spcPct val="100000"/>
              </a:lnSpc>
            </a:pPr>
            <a:r>
              <a:rPr sz="1700">
                <a:solidFill>
                  <a:srgbClr val="4F5D6A"/>
                </a:solidFill>
                <a:latin typeface="Consolas"/>
              </a:rPr>
              <a:t>240</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8534186"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the lab shows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7  ·  Constraint Satisfaction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§7.7  ·  Handout p. 72     </a:t>
            </a:r>
            <a:fld id="{84186613-071A-483C-833A-20C2F195ADA0}" type="slidenum">
              <a:rPr lang="en-GB" sz="1000">
                <a:solidFill>
                  <a:srgbClr val="8795A1"/>
                </a:solidFill>
                <a:latin typeface="Segoe UI"/>
              </a:rPr>
              <a:t>36</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444496"/>
          </a:xfrm>
          <a:prstGeom prst="roundRect">
            <a:avLst>
              <a:gd name="adj" fmla="val 3740"/>
            </a:avLst>
          </a:prstGeom>
          <a:solidFill>
            <a:srgbClr val="EEF6F4"/>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444496"/>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86842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Two experiments afterwards. Raise </a:t>
            </a:r>
            <a:r>
              <a:rPr sz="2150" b="0" i="0">
                <a:solidFill>
                  <a:srgbClr val="1F4E79"/>
                </a:solidFill>
                <a:latin typeface="Consolas"/>
              </a:rPr>
              <a:t>CAP</a:t>
            </a:r>
            <a:r>
              <a:rPr sz="2300" b="0" i="0">
                <a:solidFill>
                  <a:srgbClr val="1C252B"/>
                </a:solidFill>
                <a:latin typeface="Segoe UI"/>
              </a:rPr>
              <a:t> to </a:t>
            </a:r>
            <a:r>
              <a:rPr sz="2300" b="0" i="0">
                <a:solidFill>
                  <a:srgbClr val="1C252B"/>
                </a:solidFill>
                <a:latin typeface="Cambria"/>
              </a:rPr>
              <a:t>13</a:t>
            </a:r>
            <a:r>
              <a:rPr sz="2300" b="0" i="0">
                <a:solidFill>
                  <a:srgbClr val="1C252B"/>
                </a:solidFill>
                <a:latin typeface="Segoe UI"/>
              </a:rPr>
              <a:t> and count the solutions again — the problem stops being interesting, which is what “the binding constraint” means. Then lower it to </a:t>
            </a:r>
            <a:r>
              <a:rPr sz="2300" b="0" i="0">
                <a:solidFill>
                  <a:srgbClr val="1C252B"/>
                </a:solidFill>
                <a:latin typeface="Cambria"/>
              </a:rPr>
              <a:t>11</a:t>
            </a:r>
            <a:r>
              <a:rPr sz="2300" b="0" i="0">
                <a:solidFill>
                  <a:srgbClr val="1C252B"/>
                </a:solidFill>
                <a:latin typeface="Segoe UI"/>
              </a:rPr>
              <a:t> and confirm that the search reports failure after exploring the whole space; that is the over-constrained case of the last section, and it is the one a delivery manager will actually bring you.</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8778020"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Adding MRV to plain backtracking on this problem changed the number of consistency checks by exactly zero. Explain why, and state the one change that makes MRV worth having.</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1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7  ·  Constraint Satisfaction</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78  ·  answers in Appendix D     </a:t>
            </a:r>
            <a:fld id="{94CAE7B0-E775-49D6-98CB-617015072880}" type="slidenum">
              <a:rPr lang="en-GB" sz="1000">
                <a:solidFill>
                  <a:srgbClr val="D5DEE5"/>
                </a:solidFill>
                <a:latin typeface="Segoe UI"/>
              </a:rPr>
              <a:t>37</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1099108"/>
          </a:xfrm>
        </p:spPr>
        <p:txBody>
          <a:bodyPr wrap="square" lIns="0" rIns="0" tIns="0" bIns="0" anchor="t">
            <a:noAutofit/>
          </a:bodyPr>
          <a:lstStyle/>
          <a:p>
            <a:pPr algn="l">
              <a:lnSpc>
                <a:spcPct val="96000"/>
              </a:lnSpc>
            </a:pPr>
            <a:r>
              <a:rPr sz="2400" b="0" i="0">
                <a:solidFill>
                  <a:srgbClr val="1A5276"/>
                </a:solidFill>
                <a:latin typeface="Segoe UI Semibold"/>
              </a:rPr>
              <a:t>Adding MRV to plain backtracking on this problem changed the number of consistency checks by exactly zero. Explain why, and state the one change that makes MRV worth having.</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1 OF 3  ·  ANSWER</a:t>
            </a:r>
          </a:p>
        </p:txBody>
      </p:sp>
      <p:sp>
        <p:nvSpPr>
          <p:cNvPr id="5" name="!!abar">
            <a:extLst>
              <a:ext uri="{C183D7F6-B498-43B3-948B-1728B52AA6E4}">
                <adec:decorative xmlns:adec="http://schemas.microsoft.com/office/drawing/2017/decorative" val="1"/>
              </a:ext>
            </a:extLst>
          </p:cNvPr>
          <p:cNvSpPr/>
          <p:nvPr/>
        </p:nvSpPr>
        <p:spPr>
          <a:xfrm>
            <a:off x="658368" y="2114092"/>
            <a:ext cx="64008" cy="2789529"/>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2114092"/>
            <a:ext cx="10509199" cy="2835249"/>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Because nothing in plain backtracking ever shrinks a domain. Every unassigned variable still has all four sprints available, so they all tie on the minimum-remaining-values count and the heuristic falls back on the first variable in the list — which is exactly what plain backtracking was already doing. The change that makes MRV worth having is </a:t>
            </a:r>
            <a:r>
              <a:rPr sz="2200" b="0" i="1">
                <a:solidFill>
                  <a:srgbClr val="1C252B"/>
                </a:solidFill>
                <a:latin typeface="Segoe UI"/>
              </a:rPr>
              <a:t>propagation</a:t>
            </a:r>
            <a:r>
              <a:rPr sz="2200" b="0" i="0">
                <a:solidFill>
                  <a:srgbClr val="1C252B"/>
                </a:solidFill>
                <a:latin typeface="Segoe UI"/>
              </a:rPr>
              <a:t>: forward checking removes values from neighbours after each assignment, and from that moment the domains have different sizes and MRV has something to compare. Measured: </a:t>
            </a:r>
            <a:r>
              <a:rPr sz="2200" b="0" i="0">
                <a:solidFill>
                  <a:srgbClr val="1C252B"/>
                </a:solidFill>
                <a:latin typeface="Cambria"/>
              </a:rPr>
              <a:t>3,784</a:t>
            </a:r>
            <a:r>
              <a:rPr sz="2200" b="0" i="0">
                <a:solidFill>
                  <a:srgbClr val="1C252B"/>
                </a:solidFill>
                <a:latin typeface="Segoe UI"/>
              </a:rPr>
              <a:t> checks with MRV alone, </a:t>
            </a:r>
            <a:r>
              <a:rPr sz="2200" b="0" i="0">
                <a:solidFill>
                  <a:srgbClr val="1C252B"/>
                </a:solidFill>
                <a:latin typeface="Cambria"/>
              </a:rPr>
              <a:t>415</a:t>
            </a:r>
            <a:r>
              <a:rPr sz="2200" b="0" i="0">
                <a:solidFill>
                  <a:srgbClr val="1C252B"/>
                </a:solidFill>
                <a:latin typeface="Segoe UI"/>
              </a:rPr>
              <a:t> with MRV and forward checking together.</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7  ·  Constraint Satisfaction</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78  ·  answers in Appendix D     </a:t>
            </a:r>
            <a:fld id="{89FDCBFD-13EA-429E-86C1-23C47A566B80}" type="slidenum">
              <a:rPr lang="en-GB" sz="1000">
                <a:solidFill>
                  <a:srgbClr val="8795A1"/>
                </a:solidFill>
                <a:latin typeface="Segoe UI"/>
              </a:rPr>
              <a:t>38</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265688"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AC-3 narrowed every domain in the problem and removed no search nodes at all. Explain how both of those can be true at once.</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2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7  ·  Constraint Satisfaction</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78  ·  answers in Appendix D     </a:t>
            </a:r>
            <a:fld id="{8B43E08C-C88F-4221-81B6-E31A0EE2B501}" type="slidenum">
              <a:rPr lang="en-GB" sz="1000">
                <a:solidFill>
                  <a:srgbClr val="D5DEE5"/>
                </a:solidFill>
                <a:latin typeface="Segoe UI"/>
              </a:rPr>
              <a:t>39</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747979"/>
          </a:xfrm>
        </p:spPr>
        <p:txBody>
          <a:bodyPr wrap="square" lIns="0" rIns="0" tIns="0" bIns="0" anchor="t">
            <a:noAutofit/>
          </a:bodyPr>
          <a:lstStyle/>
          <a:p>
            <a:pPr algn="l">
              <a:lnSpc>
                <a:spcPct val="96000"/>
              </a:lnSpc>
            </a:pPr>
            <a:r>
              <a:rPr sz="2400" b="0" i="0">
                <a:solidFill>
                  <a:srgbClr val="1A5276"/>
                </a:solidFill>
                <a:latin typeface="Segoe UI Semibold"/>
              </a:rPr>
              <a:t>AC-3 narrowed every domain in the problem and removed no search nodes at all. Explain how both of those can be true at once.</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2 OF 3  ·  ANSWER</a:t>
            </a:r>
          </a:p>
        </p:txBody>
      </p:sp>
      <p:sp>
        <p:nvSpPr>
          <p:cNvPr id="5" name="!!abar">
            <a:extLst>
              <a:ext uri="{C183D7F6-B498-43B3-948B-1728B52AA6E4}">
                <adec:decorative xmlns:adec="http://schemas.microsoft.com/office/drawing/2017/decorative" val="1"/>
              </a:ext>
            </a:extLst>
          </p:cNvPr>
          <p:cNvSpPr/>
          <p:nvPr/>
        </p:nvSpPr>
        <p:spPr>
          <a:xfrm>
            <a:off x="658368" y="1762963"/>
            <a:ext cx="64008" cy="24408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762963"/>
            <a:ext cx="10509199" cy="2486558"/>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Both are true because AC-3 works only on </a:t>
            </a:r>
            <a:r>
              <a:rPr sz="2200" b="0" i="1">
                <a:solidFill>
                  <a:srgbClr val="1C252B"/>
                </a:solidFill>
                <a:latin typeface="Segoe UI"/>
              </a:rPr>
              <a:t>binary</a:t>
            </a:r>
            <a:r>
              <a:rPr sz="2200" b="0" i="0">
                <a:solidFill>
                  <a:srgbClr val="1C252B"/>
                </a:solidFill>
                <a:latin typeface="Segoe UI"/>
              </a:rPr>
              <a:t> constraints. The precedence and same-developer constraints are binary, and AC-3 prunes them thoroughly — every one of the twelve domains loses at least one sprint. But the constraint that actually binds this problem is capacity: </a:t>
            </a:r>
            <a:r>
              <a:rPr sz="2200" b="0" i="0">
                <a:solidFill>
                  <a:srgbClr val="1C252B"/>
                </a:solidFill>
                <a:latin typeface="Cambria"/>
              </a:rPr>
              <a:t>45</a:t>
            </a:r>
            <a:r>
              <a:rPr sz="2200" b="0" i="0">
                <a:solidFill>
                  <a:srgbClr val="1C252B"/>
                </a:solidFill>
                <a:latin typeface="Segoe UI"/>
              </a:rPr>
              <a:t> points into </a:t>
            </a:r>
            <a:r>
              <a:rPr sz="2200" b="0" i="0">
                <a:solidFill>
                  <a:srgbClr val="1C252B"/>
                </a:solidFill>
                <a:latin typeface="Cambria"/>
              </a:rPr>
              <a:t>48</a:t>
            </a:r>
            <a:r>
              <a:rPr sz="2200" b="0" i="0">
                <a:solidFill>
                  <a:srgbClr val="1C252B"/>
                </a:solidFill>
                <a:latin typeface="Segoe UI"/>
              </a:rPr>
              <a:t>, an </a:t>
            </a:r>
            <a:r>
              <a:rPr sz="2200" b="0" i="1">
                <a:solidFill>
                  <a:srgbClr val="1C252B"/>
                </a:solidFill>
                <a:latin typeface="Cambria"/>
              </a:rPr>
              <a:t>n</a:t>
            </a:r>
            <a:r>
              <a:rPr sz="2200" b="0" i="0">
                <a:solidFill>
                  <a:srgbClr val="1C252B"/>
                </a:solidFill>
                <a:latin typeface="Segoe UI"/>
              </a:rPr>
              <a:t>-ary constraint over all twelve variables at once, which no arc can express and AC-3 never examines. So the preprocessing removes values that the search was not going to waste much time on anyway, at a cost of </a:t>
            </a:r>
            <a:r>
              <a:rPr sz="2200" b="0" i="0">
                <a:solidFill>
                  <a:srgbClr val="1C252B"/>
                </a:solidFill>
                <a:latin typeface="Cambria"/>
              </a:rPr>
              <a:t>224</a:t>
            </a:r>
            <a:r>
              <a:rPr sz="2200" b="0" i="0">
                <a:solidFill>
                  <a:srgbClr val="1C252B"/>
                </a:solidFill>
                <a:latin typeface="Segoe UI"/>
              </a:rPr>
              <a:t> extra consistency checks and a saving of zero nodes.</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7  ·  Constraint Satisfaction</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78  ·  answers in Appendix D     </a:t>
            </a:r>
            <a:fld id="{4ABE8AB3-1AF4-44D0-8F98-2D6FD0E8DD51}" type="slidenum">
              <a:rPr lang="en-GB" sz="1000">
                <a:solidFill>
                  <a:srgbClr val="8795A1"/>
                </a:solidFill>
                <a:latin typeface="Segoe UI"/>
              </a:rPr>
              <a:t>40</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753356"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A delivery manager reports that the backlog does not fit and asks what to do. Your solver returns “no solution”. Describe two ways to turn that into a useful answer, and say which constraint you would expect to be binding here.</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3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7  ·  Constraint Satisfaction</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78  ·  answers in Appendix D     </a:t>
            </a:r>
            <a:fld id="{2A13D9D0-9B35-4EB2-8088-2D30D58262AF}" type="slidenum">
              <a:rPr lang="en-GB" sz="1000">
                <a:solidFill>
                  <a:srgbClr val="D5DEE5"/>
                </a:solidFill>
                <a:latin typeface="Segoe UI"/>
              </a:rPr>
              <a:t>41</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1055217"/>
          </a:xfrm>
        </p:spPr>
        <p:txBody>
          <a:bodyPr wrap="square" lIns="0" rIns="0" tIns="0" bIns="0" anchor="t">
            <a:noAutofit/>
          </a:bodyPr>
          <a:lstStyle/>
          <a:p>
            <a:pPr algn="l">
              <a:lnSpc>
                <a:spcPct val="96000"/>
              </a:lnSpc>
            </a:pPr>
            <a:r>
              <a:rPr sz="2300" b="0" i="0">
                <a:solidFill>
                  <a:srgbClr val="1A5276"/>
                </a:solidFill>
                <a:latin typeface="Segoe UI Semibold"/>
              </a:rPr>
              <a:t>A delivery manager reports that the backlog does not fit and asks what to do. Your solver returns “no solution”. Describe two ways to turn that into a useful answer, and say which constraint you would expect to be binding here.</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3 OF 3  ·  ANSWER</a:t>
            </a:r>
          </a:p>
        </p:txBody>
      </p:sp>
      <p:sp>
        <p:nvSpPr>
          <p:cNvPr id="5" name="!!abar">
            <a:extLst>
              <a:ext uri="{C183D7F6-B498-43B3-948B-1728B52AA6E4}">
                <adec:decorative xmlns:adec="http://schemas.microsoft.com/office/drawing/2017/decorative" val="1"/>
              </a:ext>
            </a:extLst>
          </p:cNvPr>
          <p:cNvSpPr/>
          <p:nvPr/>
        </p:nvSpPr>
        <p:spPr>
          <a:xfrm>
            <a:off x="658368" y="2070201"/>
            <a:ext cx="64008" cy="2092147"/>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2070201"/>
            <a:ext cx="10509199" cy="2137867"/>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Either: instrument the propagation to record which constraint emptied a domain most often, and report that one; or re-run the solver with each constraint (or constraint class) relaxed in turn and report which relaxations make the problem solvable. Here you would expect </a:t>
            </a:r>
            <a:r>
              <a:rPr sz="2200" b="0" i="1">
                <a:solidFill>
                  <a:srgbClr val="1C252B"/>
                </a:solidFill>
                <a:latin typeface="Segoe UI"/>
              </a:rPr>
              <a:t>capacity</a:t>
            </a:r>
            <a:r>
              <a:rPr sz="2200" b="0" i="0">
                <a:solidFill>
                  <a:srgbClr val="1C252B"/>
                </a:solidFill>
                <a:latin typeface="Segoe UI"/>
              </a:rPr>
              <a:t> to bind, and the lab confirms it — raising the cap from </a:t>
            </a:r>
            <a:r>
              <a:rPr sz="2200" b="0" i="0">
                <a:solidFill>
                  <a:srgbClr val="1C252B"/>
                </a:solidFill>
                <a:latin typeface="Cambria"/>
              </a:rPr>
              <a:t>12</a:t>
            </a:r>
            <a:r>
              <a:rPr sz="2200" b="0" i="0">
                <a:solidFill>
                  <a:srgbClr val="1C252B"/>
                </a:solidFill>
                <a:latin typeface="Segoe UI"/>
              </a:rPr>
              <a:t> to </a:t>
            </a:r>
            <a:r>
              <a:rPr sz="2200" b="0" i="0">
                <a:solidFill>
                  <a:srgbClr val="1C252B"/>
                </a:solidFill>
                <a:latin typeface="Cambria"/>
              </a:rPr>
              <a:t>13</a:t>
            </a:r>
            <a:r>
              <a:rPr sz="2200" b="0" i="0">
                <a:solidFill>
                  <a:srgbClr val="1C252B"/>
                </a:solidFill>
                <a:latin typeface="Segoe UI"/>
              </a:rPr>
              <a:t> takes the solution count from </a:t>
            </a:r>
            <a:r>
              <a:rPr sz="2200" b="0" i="0">
                <a:solidFill>
                  <a:srgbClr val="1C252B"/>
                </a:solidFill>
                <a:latin typeface="Cambria"/>
              </a:rPr>
              <a:t>14</a:t>
            </a:r>
            <a:r>
              <a:rPr sz="2200" b="0" i="0">
                <a:solidFill>
                  <a:srgbClr val="1C252B"/>
                </a:solidFill>
                <a:latin typeface="Segoe UI"/>
              </a:rPr>
              <a:t> into the hundreds, while the precedence constraints have plenty of slack.</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7  ·  Constraint Satisfaction</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78  ·  answers in Appendix D     </a:t>
            </a:r>
            <a:fld id="{80C4AC5E-C58A-4732-83B6-0ED75B973EBC}" type="slidenum">
              <a:rPr lang="en-GB" sz="1000">
                <a:solidFill>
                  <a:srgbClr val="8795A1"/>
                </a:solidFill>
                <a:latin typeface="Segoe UI"/>
              </a:rPr>
              <a:t>42</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241023"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7  ·  Constraint Satisfaction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78     </a:t>
            </a:r>
            <a:fld id="{290A9FE7-DD29-426B-8AC1-DE44605459B0}" type="slidenum">
              <a:rPr lang="en-GB" sz="1000">
                <a:solidFill>
                  <a:srgbClr val="8795A1"/>
                </a:solidFill>
                <a:latin typeface="Segoe UI"/>
              </a:rPr>
              <a:t>43</a:t>
            </a:fld>
          </a:p>
        </p:txBody>
      </p:sp>
      <p:sp>
        <p:nvSpPr>
          <p:cNvPr id="7" name="!!sb0">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0"/>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9" name="!!st0"/>
          <p:cNvSpPr txBox="1"/>
          <p:nvPr/>
        </p:nvSpPr>
        <p:spPr>
          <a:xfrm>
            <a:off x="1298448" y="1737360"/>
            <a:ext cx="10234879" cy="80832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A </a:t>
            </a:r>
            <a:r>
              <a:rPr sz="1700" b="1" i="0">
                <a:solidFill>
                  <a:srgbClr val="1A5276"/>
                </a:solidFill>
                <a:latin typeface="Segoe UI"/>
              </a:rPr>
              <a:t>CSP</a:t>
            </a:r>
            <a:r>
              <a:rPr sz="1700" b="0" i="0">
                <a:solidFill>
                  <a:srgbClr val="1C252B"/>
                </a:solidFill>
                <a:latin typeface="Segoe UI"/>
              </a:rPr>
              <a:t> is variables, domains and constraints. Its advantage over a general search is that the goal test is not opaque: constraints can be checked against a </a:t>
            </a:r>
            <a:r>
              <a:rPr sz="1700" b="0" i="1">
                <a:solidFill>
                  <a:srgbClr val="1C252B"/>
                </a:solidFill>
                <a:latin typeface="Segoe UI"/>
              </a:rPr>
              <a:t>partial</a:t>
            </a:r>
            <a:r>
              <a:rPr sz="1700" b="0" i="0">
                <a:solidFill>
                  <a:srgbClr val="1C252B"/>
                </a:solidFill>
                <a:latin typeface="Segoe UI"/>
              </a:rPr>
              <a:t> assignment, so the search fails early. That alone turned </a:t>
            </a:r>
            <a:r>
              <a:rPr sz="1700" b="0" i="0">
                <a:solidFill>
                  <a:srgbClr val="1C252B"/>
                </a:solidFill>
                <a:latin typeface="Cambria"/>
              </a:rPr>
              <a:t>16.8</a:t>
            </a:r>
            <a:r>
              <a:rPr sz="1700" b="0" i="0">
                <a:solidFill>
                  <a:srgbClr val="1C252B"/>
                </a:solidFill>
                <a:latin typeface="Segoe UI"/>
              </a:rPr>
              <a:t> million assignments into </a:t>
            </a:r>
            <a:r>
              <a:rPr sz="1700" b="0" i="0">
                <a:solidFill>
                  <a:srgbClr val="1C252B"/>
                </a:solidFill>
                <a:latin typeface="Cambria"/>
              </a:rPr>
              <a:t>123</a:t>
            </a:r>
            <a:r>
              <a:rPr sz="1700" b="0" i="0">
                <a:solidFill>
                  <a:srgbClr val="1C252B"/>
                </a:solidFill>
                <a:latin typeface="Segoe UI"/>
              </a:rPr>
              <a:t> nodes.</a:t>
            </a:r>
          </a:p>
        </p:txBody>
      </p:sp>
      <p:sp>
        <p:nvSpPr>
          <p:cNvPr id="10" name="!!sb1">
            <a:extLst>
              <a:ext uri="{C183D7F6-B498-43B3-948B-1728B52AA6E4}">
                <adec:decorative xmlns:adec="http://schemas.microsoft.com/office/drawing/2017/decorative" val="1"/>
              </a:ext>
            </a:extLst>
          </p:cNvPr>
          <p:cNvSpPr/>
          <p:nvPr/>
        </p:nvSpPr>
        <p:spPr>
          <a:xfrm>
            <a:off x="658368" y="2737713"/>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sbn1"/>
          <p:cNvSpPr txBox="1"/>
          <p:nvPr/>
        </p:nvSpPr>
        <p:spPr>
          <a:xfrm>
            <a:off x="658368" y="2792577"/>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2" name="!!st1"/>
          <p:cNvSpPr txBox="1"/>
          <p:nvPr/>
        </p:nvSpPr>
        <p:spPr>
          <a:xfrm>
            <a:off x="1298448" y="2728569"/>
            <a:ext cx="10234879" cy="40233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1A5276"/>
                </a:solidFill>
                <a:latin typeface="Segoe UI"/>
              </a:rPr>
              <a:t>Backtracking search</a:t>
            </a:r>
            <a:r>
              <a:rPr sz="1700" b="0" i="0">
                <a:solidFill>
                  <a:srgbClr val="1C252B"/>
                </a:solidFill>
                <a:latin typeface="Segoe UI"/>
              </a:rPr>
              <a:t> assigns one variable at a time and undoes the last choice on failure.</a:t>
            </a:r>
          </a:p>
        </p:txBody>
      </p:sp>
      <p:sp>
        <p:nvSpPr>
          <p:cNvPr id="13" name="!!sb2">
            <a:extLst>
              <a:ext uri="{C183D7F6-B498-43B3-948B-1728B52AA6E4}">
                <adec:decorative xmlns:adec="http://schemas.microsoft.com/office/drawing/2017/decorative" val="1"/>
              </a:ext>
            </a:extLst>
          </p:cNvPr>
          <p:cNvSpPr/>
          <p:nvPr/>
        </p:nvSpPr>
        <p:spPr>
          <a:xfrm>
            <a:off x="658368" y="3322929"/>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sbn2"/>
          <p:cNvSpPr txBox="1"/>
          <p:nvPr/>
        </p:nvSpPr>
        <p:spPr>
          <a:xfrm>
            <a:off x="658368" y="3377793"/>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5" name="!!st2"/>
          <p:cNvSpPr txBox="1"/>
          <p:nvPr/>
        </p:nvSpPr>
        <p:spPr>
          <a:xfrm>
            <a:off x="1298448" y="3313785"/>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1A5276"/>
                </a:solidFill>
                <a:latin typeface="Segoe UI"/>
              </a:rPr>
              <a:t>MRV</a:t>
            </a:r>
            <a:r>
              <a:rPr sz="1700" b="0" i="0">
                <a:solidFill>
                  <a:srgbClr val="1C252B"/>
                </a:solidFill>
                <a:latin typeface="Segoe UI"/>
              </a:rPr>
              <a:t> assigns the most constrained variable next — fail first. The </a:t>
            </a:r>
            <a:r>
              <a:rPr sz="1700" b="1" i="0">
                <a:solidFill>
                  <a:srgbClr val="1A5276"/>
                </a:solidFill>
                <a:latin typeface="Segoe UI"/>
              </a:rPr>
              <a:t>degree heuristic</a:t>
            </a:r>
            <a:r>
              <a:rPr sz="1700" b="0" i="0">
                <a:solidFill>
                  <a:srgbClr val="1C252B"/>
                </a:solidFill>
                <a:latin typeface="Segoe UI"/>
              </a:rPr>
              <a:t> breaks ties; </a:t>
            </a:r>
            <a:r>
              <a:rPr sz="1700" b="1" i="0">
                <a:solidFill>
                  <a:srgbClr val="1A5276"/>
                </a:solidFill>
                <a:latin typeface="Segoe UI"/>
              </a:rPr>
              <a:t>least constraining value</a:t>
            </a:r>
            <a:r>
              <a:rPr sz="1700" b="0" i="0">
                <a:solidFill>
                  <a:srgbClr val="1C252B"/>
                </a:solidFill>
                <a:latin typeface="Segoe UI"/>
              </a:rPr>
              <a:t> orders values the other way, and both are right.</a:t>
            </a:r>
          </a:p>
        </p:txBody>
      </p:sp>
      <p:sp>
        <p:nvSpPr>
          <p:cNvPr id="16" name="!!sb3">
            <a:extLst>
              <a:ext uri="{C183D7F6-B498-43B3-948B-1728B52AA6E4}">
                <adec:decorative xmlns:adec="http://schemas.microsoft.com/office/drawing/2017/decorative" val="1"/>
              </a:ext>
            </a:extLst>
          </p:cNvPr>
          <p:cNvSpPr/>
          <p:nvPr/>
        </p:nvSpPr>
        <p:spPr>
          <a:xfrm>
            <a:off x="658368" y="4044695"/>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sbn3"/>
          <p:cNvSpPr txBox="1"/>
          <p:nvPr/>
        </p:nvSpPr>
        <p:spPr>
          <a:xfrm>
            <a:off x="658368" y="4099560"/>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8" name="!!st3"/>
          <p:cNvSpPr txBox="1"/>
          <p:nvPr/>
        </p:nvSpPr>
        <p:spPr>
          <a:xfrm>
            <a:off x="1298448" y="4035552"/>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1A5276"/>
                </a:solidFill>
                <a:latin typeface="Segoe UI"/>
              </a:rPr>
              <a:t>Forward checking</a:t>
            </a:r>
            <a:r>
              <a:rPr sz="1700" b="0" i="0">
                <a:solidFill>
                  <a:srgbClr val="1C252B"/>
                </a:solidFill>
                <a:latin typeface="Segoe UI"/>
              </a:rPr>
              <a:t> prunes neighbours’ domains after each assignment. It cut the work ninefold here — half by pruning, half by giving MRV something to measure. </a:t>
            </a:r>
            <a:r>
              <a:rPr sz="1700" b="0" i="1">
                <a:solidFill>
                  <a:srgbClr val="1C252B"/>
                </a:solidFill>
                <a:latin typeface="Segoe UI"/>
              </a:rPr>
              <a:t>Ordering and propagation are a package.</a:t>
            </a:r>
          </a:p>
        </p:txBody>
      </p:sp>
      <p:sp>
        <p:nvSpPr>
          <p:cNvPr id="19" name="!!sb4">
            <a:extLst>
              <a:ext uri="{C183D7F6-B498-43B3-948B-1728B52AA6E4}">
                <adec:decorative xmlns:adec="http://schemas.microsoft.com/office/drawing/2017/decorative" val="1"/>
              </a:ext>
            </a:extLst>
          </p:cNvPr>
          <p:cNvSpPr/>
          <p:nvPr/>
        </p:nvSpPr>
        <p:spPr>
          <a:xfrm>
            <a:off x="658368" y="4766462"/>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sbn4"/>
          <p:cNvSpPr txBox="1"/>
          <p:nvPr/>
        </p:nvSpPr>
        <p:spPr>
          <a:xfrm>
            <a:off x="658368" y="4821326"/>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1" name="!!st4"/>
          <p:cNvSpPr txBox="1"/>
          <p:nvPr/>
        </p:nvSpPr>
        <p:spPr>
          <a:xfrm>
            <a:off x="1298448" y="4757318"/>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1A5276"/>
                </a:solidFill>
                <a:latin typeface="Segoe UI"/>
              </a:rPr>
              <a:t>Arc consistency</a:t>
            </a:r>
            <a:r>
              <a:rPr sz="1700" b="0" i="0">
                <a:solidFill>
                  <a:srgbClr val="1C252B"/>
                </a:solidFill>
                <a:latin typeface="Segoe UI"/>
              </a:rPr>
              <a:t> (AC-3) propagates further, over binary constraints only. On this problem it narrowed all twelve domains and removed no nodes, because the binding constraint is </a:t>
            </a:r>
            <a:r>
              <a:rPr sz="1700" b="0" i="1">
                <a:solidFill>
                  <a:srgbClr val="1C252B"/>
                </a:solidFill>
                <a:latin typeface="Cambria"/>
              </a:rPr>
              <a:t>n</a:t>
            </a:r>
            <a:r>
              <a:rPr sz="1700" b="0" i="0">
                <a:solidFill>
                  <a:srgbClr val="1C252B"/>
                </a:solidFill>
                <a:latin typeface="Segoe UI"/>
              </a:rPr>
              <a:t>-ary and invisible to it.</a:t>
            </a:r>
          </a:p>
        </p:txBody>
      </p:sp>
      <p:sp>
        <p:nvSpPr>
          <p:cNvPr id="22" name="!!sb5">
            <a:extLst>
              <a:ext uri="{C183D7F6-B498-43B3-948B-1728B52AA6E4}">
                <adec:decorative xmlns:adec="http://schemas.microsoft.com/office/drawing/2017/decorative" val="1"/>
              </a:ext>
            </a:extLst>
          </p:cNvPr>
          <p:cNvSpPr/>
          <p:nvPr/>
        </p:nvSpPr>
        <p:spPr>
          <a:xfrm>
            <a:off x="658368" y="5488228"/>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sbn5"/>
          <p:cNvSpPr txBox="1"/>
          <p:nvPr/>
        </p:nvSpPr>
        <p:spPr>
          <a:xfrm>
            <a:off x="658368" y="5543092"/>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6</a:t>
            </a:r>
          </a:p>
        </p:txBody>
      </p:sp>
      <p:sp>
        <p:nvSpPr>
          <p:cNvPr id="24" name="!!st5"/>
          <p:cNvSpPr txBox="1"/>
          <p:nvPr/>
        </p:nvSpPr>
        <p:spPr>
          <a:xfrm>
            <a:off x="1298448" y="5479084"/>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A heuristic is a guess about a particular problem, not a general improvement: the degree tie-breaker tripled the node count. Measure on your instance, counting consistency checks rather than nodes.</a:t>
            </a:r>
          </a:p>
        </p:txBody>
      </p:sp>
      <p:sp>
        <p:nvSpPr>
          <p:cNvPr id="7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1" name="!!pfill">
            <a:extLst>
              <a:ext uri="{C183D7F6-B498-43B3-948B-1728B52AA6E4}">
                <adec:decorative xmlns:adec="http://schemas.microsoft.com/office/drawing/2017/decorative" val="1"/>
              </a:ext>
            </a:extLst>
          </p:cNvPr>
          <p:cNvSpPr/>
          <p:nvPr/>
        </p:nvSpPr>
        <p:spPr>
          <a:xfrm>
            <a:off x="0" y="0"/>
            <a:ext cx="10484857"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par>
                    <p:cTn id="59" fill="hold">
                      <p:stCondLst>
                        <p:cond delay="indefinite"/>
                      </p:stCondLst>
                      <p:childTnLst>
                        <p:par>
                          <p:cTn id="60" fill="hold">
                            <p:stCondLst>
                              <p:cond delay="0"/>
                            </p:stCondLst>
                            <p:childTnLst>
                              <p:par>
                                <p:cTn id="61" presetID="23" presetClass="entr" presetSubtype="16" fill="hold" grpId="0" nodeType="click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zoom(in)">
                                      <p:cBhvr>
                                        <p:cTn id="63" dur="26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260"/>
                                        <p:tgtEl>
                                          <p:spTgt spid="23"/>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wipe(right)">
                                      <p:cBhvr>
                                        <p:cTn id="69"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 (continued)</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7  ·  Constraint Satisfaction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78     </a:t>
            </a:r>
            <a:fld id="{5D656C82-5299-45AF-B672-49B4BA4148EB}" type="slidenum">
              <a:rPr lang="en-GB" sz="1000">
                <a:solidFill>
                  <a:srgbClr val="8795A1"/>
                </a:solidFill>
                <a:latin typeface="Segoe UI"/>
              </a:rPr>
              <a:t>44</a:t>
            </a:fld>
          </a:p>
        </p:txBody>
      </p:sp>
      <p:sp>
        <p:nvSpPr>
          <p:cNvPr id="7" name="!!sb6">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6"/>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7</a:t>
            </a:r>
          </a:p>
        </p:txBody>
      </p:sp>
      <p:sp>
        <p:nvSpPr>
          <p:cNvPr id="9" name="!!st6"/>
          <p:cNvSpPr txBox="1"/>
          <p:nvPr/>
        </p:nvSpPr>
        <p:spPr>
          <a:xfrm>
            <a:off x="1298448" y="1737360"/>
            <a:ext cx="10234879" cy="40233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For an over-constrained problem, report which constraint binds. “No solution” is true and useless.</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1072869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1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7  ·  Constraint Satisfaction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78     </a:t>
            </a:r>
            <a:fld id="{EEAF8DB1-E921-429B-8C94-03D6FEAEF427}" type="slidenum">
              <a:rPr lang="en-GB" sz="1000">
                <a:solidFill>
                  <a:srgbClr val="8795A1"/>
                </a:solidFill>
                <a:latin typeface="Segoe UI"/>
              </a:rPr>
              <a:t>45</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The minimum-remaining-values heuristic chooses: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value ruling out fewest options</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7133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variable with the fewest legal values left</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variable in the most constraints</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cheapest variable</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0972525"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2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7  ·  Constraint Satisfaction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78     </a:t>
            </a:r>
            <a:fld id="{DF6A46A9-C1A2-4208-B3B4-4C8DBC18F53F}" type="slidenum">
              <a:rPr lang="en-GB" sz="1000">
                <a:solidFill>
                  <a:srgbClr val="8795A1"/>
                </a:solidFill>
                <a:latin typeface="Segoe UI"/>
              </a:rPr>
              <a:t>46</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Forward checking prunes: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all variables</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7133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neighbours of the variable just assigned</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only the variable just assigned</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nothing until a domain empties</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216359"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3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7  ·  Constraint Satisfaction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78     </a:t>
            </a:r>
            <a:fld id="{B42879F4-F365-472C-A34D-4E66624B01B1}" type="slidenum">
              <a:rPr lang="en-GB" sz="1000">
                <a:solidFill>
                  <a:srgbClr val="8795A1"/>
                </a:solidFill>
                <a:latin typeface="Segoe UI"/>
              </a:rPr>
              <a:t>47</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AC-3 operates on:</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1">
                <a:solidFill>
                  <a:srgbClr val="1C252B"/>
                </a:solidFill>
                <a:latin typeface="Cambria"/>
              </a:rPr>
              <a:t>n</a:t>
            </a:r>
            <a:r>
              <a:rPr sz="2000" b="0" i="0">
                <a:solidFill>
                  <a:srgbClr val="1C252B"/>
                </a:solidFill>
                <a:latin typeface="Segoe UI"/>
              </a:rPr>
              <a:t>-ary constraints</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binary constraints</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objective function</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search tree</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460193"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4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7  ·  Constraint Satisfaction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78     </a:t>
            </a:r>
            <a:fld id="{4FF55241-4402-4511-86FC-F31DB1A91EAF}" type="slidenum">
              <a:rPr lang="en-GB" sz="1000">
                <a:solidFill>
                  <a:srgbClr val="8795A1"/>
                </a:solidFill>
                <a:latin typeface="Segoe UI"/>
              </a:rPr>
              <a:t>48</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An arc </a:t>
            </a:r>
            <a:r>
              <a:rPr sz="2600" b="0" i="1">
                <a:solidFill>
                  <a:srgbClr val="1C252B"/>
                </a:solidFill>
                <a:latin typeface="Cambria"/>
              </a:rPr>
              <a:t>X</a:t>
            </a:r>
            <a:r>
              <a:rPr sz="2600" b="0" i="1" baseline="-25000">
                <a:solidFill>
                  <a:srgbClr val="1C252B"/>
                </a:solidFill>
                <a:latin typeface="Cambria"/>
              </a:rPr>
              <a:t>i</a:t>
            </a:r>
            <a:r>
              <a:rPr sz="2600" b="0" i="0">
                <a:solidFill>
                  <a:srgbClr val="1C252B"/>
                </a:solidFill>
                <a:latin typeface="Cambria"/>
              </a:rPr>
              <a:t> → </a:t>
            </a:r>
            <a:r>
              <a:rPr sz="2600" b="0" i="1">
                <a:solidFill>
                  <a:srgbClr val="1C252B"/>
                </a:solidFill>
                <a:latin typeface="Cambria"/>
              </a:rPr>
              <a:t>X</a:t>
            </a:r>
            <a:r>
              <a:rPr sz="2600" b="0" i="1" baseline="-25000">
                <a:solidFill>
                  <a:srgbClr val="1C252B"/>
                </a:solidFill>
                <a:latin typeface="Cambria"/>
              </a:rPr>
              <a:t>j</a:t>
            </a:r>
            <a:r>
              <a:rPr sz="2600" b="0" i="0">
                <a:solidFill>
                  <a:srgbClr val="1C252B"/>
                </a:solidFill>
                <a:latin typeface="Segoe UI"/>
              </a:rPr>
              <a:t> is consistent when:</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7133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every value of </a:t>
            </a:r>
            <a:r>
              <a:rPr sz="2000" b="0" i="1">
                <a:solidFill>
                  <a:srgbClr val="1C252B"/>
                </a:solidFill>
                <a:latin typeface="Cambria"/>
              </a:rPr>
              <a:t>X</a:t>
            </a:r>
            <a:r>
              <a:rPr sz="2000" b="0" i="1" baseline="-25000">
                <a:solidFill>
                  <a:srgbClr val="1C252B"/>
                </a:solidFill>
                <a:latin typeface="Cambria"/>
              </a:rPr>
              <a:t>i</a:t>
            </a:r>
            <a:r>
              <a:rPr sz="2000" b="0" i="0">
                <a:solidFill>
                  <a:srgbClr val="1C252B"/>
                </a:solidFill>
                <a:latin typeface="Segoe UI"/>
              </a:rPr>
              <a:t> has some consistent partner in </a:t>
            </a:r>
            <a:r>
              <a:rPr sz="2000" b="0" i="1">
                <a:solidFill>
                  <a:srgbClr val="1C252B"/>
                </a:solidFill>
                <a:latin typeface="Cambria"/>
              </a:rPr>
              <a:t>X</a:t>
            </a:r>
            <a:r>
              <a:rPr sz="2000" b="0" i="1" baseline="-25000">
                <a:solidFill>
                  <a:srgbClr val="1C252B"/>
                </a:solidFill>
                <a:latin typeface="Cambria"/>
              </a:rPr>
              <a:t>j</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some value of </a:t>
            </a:r>
            <a:r>
              <a:rPr sz="2000" b="0" i="1">
                <a:solidFill>
                  <a:srgbClr val="1C252B"/>
                </a:solidFill>
                <a:latin typeface="Cambria"/>
              </a:rPr>
              <a:t>X</a:t>
            </a:r>
            <a:r>
              <a:rPr sz="2000" b="0" i="1" baseline="-25000">
                <a:solidFill>
                  <a:srgbClr val="1C252B"/>
                </a:solidFill>
                <a:latin typeface="Cambria"/>
              </a:rPr>
              <a:t>i</a:t>
            </a:r>
            <a:r>
              <a:rPr sz="2000" b="0" i="0">
                <a:solidFill>
                  <a:srgbClr val="1C252B"/>
                </a:solidFill>
                <a:latin typeface="Segoe UI"/>
              </a:rPr>
              <a:t> has a partner</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1">
                <a:solidFill>
                  <a:srgbClr val="1C252B"/>
                </a:solidFill>
                <a:latin typeface="Cambria"/>
              </a:rPr>
              <a:t>D</a:t>
            </a:r>
            <a:r>
              <a:rPr sz="2000" b="0" i="1" baseline="-25000">
                <a:solidFill>
                  <a:srgbClr val="1C252B"/>
                </a:solidFill>
                <a:latin typeface="Cambria"/>
              </a:rPr>
              <a:t>i</a:t>
            </a:r>
            <a:r>
              <a:rPr sz="2000" b="0" i="0">
                <a:solidFill>
                  <a:srgbClr val="1C252B"/>
                </a:solidFill>
                <a:latin typeface="Cambria"/>
              </a:rPr>
              <a:t> = </a:t>
            </a:r>
            <a:r>
              <a:rPr sz="2000" b="0" i="1">
                <a:solidFill>
                  <a:srgbClr val="1C252B"/>
                </a:solidFill>
                <a:latin typeface="Cambria"/>
              </a:rPr>
              <a:t>D</a:t>
            </a:r>
            <a:r>
              <a:rPr sz="2000" b="0" i="1" baseline="-25000">
                <a:solidFill>
                  <a:srgbClr val="1C252B"/>
                </a:solidFill>
                <a:latin typeface="Cambria"/>
              </a:rPr>
              <a:t>j</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1">
                <a:solidFill>
                  <a:srgbClr val="1C252B"/>
                </a:solidFill>
                <a:latin typeface="Cambria"/>
              </a:rPr>
              <a:t>X</a:t>
            </a:r>
            <a:r>
              <a:rPr sz="2000" b="0" i="1" baseline="-25000">
                <a:solidFill>
                  <a:srgbClr val="1C252B"/>
                </a:solidFill>
                <a:latin typeface="Cambria"/>
              </a:rPr>
              <a:t>i</a:t>
            </a:r>
            <a:r>
              <a:rPr sz="2000" b="0" i="0">
                <a:solidFill>
                  <a:srgbClr val="1C252B"/>
                </a:solidFill>
                <a:latin typeface="Segoe UI"/>
              </a:rPr>
              <a:t> is assigned</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704027"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For your notebook</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QUESTIONS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7  ·  Constraint Satisfaction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78     </a:t>
            </a:r>
            <a:fld id="{EDE668A7-ABCF-475F-A511-32C24D0FE85B}" type="slidenum">
              <a:rPr lang="en-GB" sz="1000">
                <a:solidFill>
                  <a:srgbClr val="8795A1"/>
                </a:solidFill>
                <a:latin typeface="Segoe UI"/>
              </a:rPr>
              <a:t>49</a:t>
            </a:fld>
          </a:p>
        </p:txBody>
      </p:sp>
      <p:sp>
        <p:nvSpPr>
          <p:cNvPr id="7" name="!!rt0">
            <a:extLst>
              <a:ext uri="{C183D7F6-B498-43B3-948B-1728B52AA6E4}">
                <adec:decorative xmlns:adec="http://schemas.microsoft.com/office/drawing/2017/decorative" val="1"/>
              </a:ext>
            </a:extLst>
          </p:cNvPr>
          <p:cNvSpPr/>
          <p:nvPr/>
        </p:nvSpPr>
        <p:spPr>
          <a:xfrm>
            <a:off x="658368" y="175564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rtt0"/>
          <p:cNvSpPr txBox="1"/>
          <p:nvPr/>
        </p:nvSpPr>
        <p:spPr>
          <a:xfrm>
            <a:off x="658368" y="179679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9" name="!!rq0"/>
          <p:cNvSpPr txBox="1"/>
          <p:nvPr/>
        </p:nvSpPr>
        <p:spPr>
          <a:xfrm>
            <a:off x="1892807" y="1737360"/>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Why does MRV need propagation to be useful? Use the measured result from this chapter in your answer.</a:t>
            </a:r>
          </a:p>
        </p:txBody>
      </p:sp>
      <p:sp>
        <p:nvSpPr>
          <p:cNvPr id="10" name="!!rt1">
            <a:extLst>
              <a:ext uri="{C183D7F6-B498-43B3-948B-1728B52AA6E4}">
                <adec:decorative xmlns:adec="http://schemas.microsoft.com/office/drawing/2017/decorative" val="1"/>
              </a:ext>
            </a:extLst>
          </p:cNvPr>
          <p:cNvSpPr/>
          <p:nvPr/>
        </p:nvSpPr>
        <p:spPr>
          <a:xfrm>
            <a:off x="658368" y="257738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tt1"/>
          <p:cNvSpPr txBox="1"/>
          <p:nvPr/>
        </p:nvSpPr>
        <p:spPr>
          <a:xfrm>
            <a:off x="658368" y="2618536"/>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2" name="!!rq1"/>
          <p:cNvSpPr txBox="1"/>
          <p:nvPr/>
        </p:nvSpPr>
        <p:spPr>
          <a:xfrm>
            <a:off x="1892807" y="2559100"/>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Explain why MRV picks the most constrained variable while least-constraining-value picks the least constraining value, and why that is not a contradiction.</a:t>
            </a:r>
          </a:p>
        </p:txBody>
      </p:sp>
      <p:sp>
        <p:nvSpPr>
          <p:cNvPr id="13" name="!!rt2">
            <a:extLst>
              <a:ext uri="{C183D7F6-B498-43B3-948B-1728B52AA6E4}">
                <adec:decorative xmlns:adec="http://schemas.microsoft.com/office/drawing/2017/decorative" val="1"/>
              </a:ext>
            </a:extLst>
          </p:cNvPr>
          <p:cNvSpPr/>
          <p:nvPr/>
        </p:nvSpPr>
        <p:spPr>
          <a:xfrm>
            <a:off x="658368" y="3399129"/>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rtt2"/>
          <p:cNvSpPr txBox="1"/>
          <p:nvPr/>
        </p:nvSpPr>
        <p:spPr>
          <a:xfrm>
            <a:off x="658368" y="3440277"/>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5" name="!!rq2"/>
          <p:cNvSpPr txBox="1"/>
          <p:nvPr/>
        </p:nvSpPr>
        <p:spPr>
          <a:xfrm>
            <a:off x="1892807" y="3380841"/>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Give an </a:t>
            </a:r>
            <a:r>
              <a:rPr sz="1900" b="0" i="1">
                <a:solidFill>
                  <a:srgbClr val="1C252B"/>
                </a:solidFill>
                <a:latin typeface="Cambria"/>
              </a:rPr>
              <a:t>n</a:t>
            </a:r>
            <a:r>
              <a:rPr sz="1900" b="0" i="0">
                <a:solidFill>
                  <a:srgbClr val="1C252B"/>
                </a:solidFill>
                <a:latin typeface="Segoe UI"/>
              </a:rPr>
              <a:t>-ary constraint from a project you know, and say what goes wrong if you expect arc consistency to enforce it.</a:t>
            </a:r>
          </a:p>
        </p:txBody>
      </p:sp>
      <p:sp>
        <p:nvSpPr>
          <p:cNvPr id="16" name="!!rt3">
            <a:extLst>
              <a:ext uri="{C183D7F6-B498-43B3-948B-1728B52AA6E4}">
                <adec:decorative xmlns:adec="http://schemas.microsoft.com/office/drawing/2017/decorative" val="1"/>
              </a:ext>
            </a:extLst>
          </p:cNvPr>
          <p:cNvSpPr/>
          <p:nvPr/>
        </p:nvSpPr>
        <p:spPr>
          <a:xfrm>
            <a:off x="658368" y="4220870"/>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tt3"/>
          <p:cNvSpPr txBox="1"/>
          <p:nvPr/>
        </p:nvSpPr>
        <p:spPr>
          <a:xfrm>
            <a:off x="658368" y="4262018"/>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18" name="!!rq3"/>
          <p:cNvSpPr txBox="1"/>
          <p:nvPr/>
        </p:nvSpPr>
        <p:spPr>
          <a:xfrm>
            <a:off x="1892807" y="4202582"/>
            <a:ext cx="9549079" cy="903427"/>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Take the constraint graph of Figure 7.1. By hand, assign </a:t>
            </a:r>
            <a:r>
              <a:rPr sz="1900" b="0" i="1">
                <a:solidFill>
                  <a:srgbClr val="1C252B"/>
                </a:solidFill>
                <a:latin typeface="Cambria"/>
              </a:rPr>
              <a:t>S</a:t>
            </a:r>
            <a:r>
              <a:rPr sz="1900" b="0" i="0">
                <a:solidFill>
                  <a:srgbClr val="1C252B"/>
                </a:solidFill>
                <a:latin typeface="Cambria"/>
              </a:rPr>
              <a:t>10 := 3</a:t>
            </a:r>
            <a:r>
              <a:rPr sz="1900" b="0" i="0">
                <a:solidFill>
                  <a:srgbClr val="1C252B"/>
                </a:solidFill>
                <a:latin typeface="Segoe UI"/>
              </a:rPr>
              <a:t> and apply forward checking. Which domains change, and to what? Then say which variable MRV would select next, and whether the degree heuristic would be consulted.</a:t>
            </a:r>
          </a:p>
        </p:txBody>
      </p:sp>
      <p:sp>
        <p:nvSpPr>
          <p:cNvPr id="1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fill">
            <a:extLst>
              <a:ext uri="{C183D7F6-B498-43B3-948B-1728B52AA6E4}">
                <adec:decorative xmlns:adec="http://schemas.microsoft.com/office/drawing/2017/decorative" val="1"/>
              </a:ext>
            </a:extLst>
          </p:cNvPr>
          <p:cNvSpPr/>
          <p:nvPr/>
        </p:nvSpPr>
        <p:spPr>
          <a:xfrm>
            <a:off x="0" y="0"/>
            <a:ext cx="1194786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1B7A43"/>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2D8552"/>
                </a:solidFill>
                <a:latin typeface="Segoe UI Black"/>
              </a:rPr>
              <a:t>07</a:t>
            </a:r>
          </a:p>
        </p:txBody>
      </p:sp>
      <p:sp>
        <p:nvSpPr>
          <p:cNvPr id="2" name="!!title"/>
          <p:cNvSpPr>
            <a:spLocks noGrp="1"/>
          </p:cNvSpPr>
          <p:nvPr>
            <p:ph type="title"/>
          </p:nvPr>
        </p:nvSpPr>
        <p:spPr>
          <a:xfrm>
            <a:off x="658368" y="1243584"/>
            <a:ext cx="8229600" cy="822960"/>
          </a:xfrm>
        </p:spPr>
        <p:txBody>
          <a:bodyPr wrap="square" lIns="0" rIns="0" tIns="0" bIns="0" anchor="t">
            <a:noAutofit/>
          </a:bodyPr>
          <a:lstStyle/>
          <a:p>
            <a:pPr algn="l">
              <a:lnSpc>
                <a:spcPct val="96000"/>
              </a:lnSpc>
            </a:pPr>
            <a:r>
              <a:rPr sz="4000" b="0">
                <a:solidFill>
                  <a:srgbClr val="FFFFFF"/>
                </a:solidFill>
                <a:latin typeface="Segoe UI Semibold"/>
              </a:rPr>
              <a:t>End of Chapter 7</a:t>
            </a:r>
          </a:p>
        </p:txBody>
      </p:sp>
      <p:sp>
        <p:nvSpPr>
          <p:cNvPr id="4" name="!!tbar">
            <a:extLst>
              <a:ext uri="{C183D7F6-B498-43B3-948B-1728B52AA6E4}">
                <adec:decorative xmlns:adec="http://schemas.microsoft.com/office/drawing/2017/decorative" val="1"/>
              </a:ext>
            </a:extLst>
          </p:cNvPr>
          <p:cNvSpPr/>
          <p:nvPr/>
        </p:nvSpPr>
        <p:spPr>
          <a:xfrm>
            <a:off x="658368" y="102412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cl0">
            <a:extLst>
              <a:ext uri="{C183D7F6-B498-43B3-948B-1728B52AA6E4}">
                <adec:decorative xmlns:adec="http://schemas.microsoft.com/office/drawing/2017/decorative" val="1"/>
              </a:ext>
            </a:extLst>
          </p:cNvPr>
          <p:cNvSpPr/>
          <p:nvPr/>
        </p:nvSpPr>
        <p:spPr>
          <a:xfrm>
            <a:off x="658368" y="2286000"/>
            <a:ext cx="5300319" cy="1097280"/>
          </a:xfrm>
          <a:prstGeom prst="roundRect">
            <a:avLst>
              <a:gd name="adj" fmla="val 8333"/>
            </a:avLst>
          </a:prstGeom>
          <a:solidFill>
            <a:srgbClr val="155F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cll0"/>
          <p:cNvSpPr txBox="1"/>
          <p:nvPr/>
        </p:nvSpPr>
        <p:spPr>
          <a:xfrm>
            <a:off x="932688"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CCB8"/>
                </a:solidFill>
                <a:latin typeface="Segoe UI"/>
              </a:rPr>
              <a:t>NEXT</a:t>
            </a:r>
          </a:p>
        </p:txBody>
      </p:sp>
      <p:sp>
        <p:nvSpPr>
          <p:cNvPr id="7" name="!!clv0"/>
          <p:cNvSpPr txBox="1"/>
          <p:nvPr/>
        </p:nvSpPr>
        <p:spPr>
          <a:xfrm>
            <a:off x="932688"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Chapter 8 — Adversarial Search and Game Playing</a:t>
            </a:r>
          </a:p>
        </p:txBody>
      </p:sp>
      <p:sp>
        <p:nvSpPr>
          <p:cNvPr id="8" name="!!cl1">
            <a:extLst>
              <a:ext uri="{C183D7F6-B498-43B3-948B-1728B52AA6E4}">
                <adec:decorative xmlns:adec="http://schemas.microsoft.com/office/drawing/2017/decorative" val="1"/>
              </a:ext>
            </a:extLst>
          </p:cNvPr>
          <p:cNvSpPr/>
          <p:nvPr/>
        </p:nvSpPr>
        <p:spPr>
          <a:xfrm>
            <a:off x="6233007" y="2286000"/>
            <a:ext cx="5300319" cy="1097280"/>
          </a:xfrm>
          <a:prstGeom prst="roundRect">
            <a:avLst>
              <a:gd name="adj" fmla="val 8333"/>
            </a:avLst>
          </a:prstGeom>
          <a:solidFill>
            <a:srgbClr val="155F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ll1"/>
          <p:cNvSpPr txBox="1"/>
          <p:nvPr/>
        </p:nvSpPr>
        <p:spPr>
          <a:xfrm>
            <a:off x="6507327"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CCB8"/>
                </a:solidFill>
                <a:latin typeface="Segoe UI"/>
              </a:rPr>
              <a:t>READ</a:t>
            </a:r>
          </a:p>
        </p:txBody>
      </p:sp>
      <p:sp>
        <p:nvSpPr>
          <p:cNvPr id="10" name="!!clv1"/>
          <p:cNvSpPr txBox="1"/>
          <p:nvPr/>
        </p:nvSpPr>
        <p:spPr>
          <a:xfrm>
            <a:off x="6507327"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Handout Chapter 7, pages 68–78</a:t>
            </a:r>
          </a:p>
        </p:txBody>
      </p:sp>
      <p:sp>
        <p:nvSpPr>
          <p:cNvPr id="11" name="!!cl2">
            <a:extLst>
              <a:ext uri="{C183D7F6-B498-43B3-948B-1728B52AA6E4}">
                <adec:decorative xmlns:adec="http://schemas.microsoft.com/office/drawing/2017/decorative" val="1"/>
              </a:ext>
            </a:extLst>
          </p:cNvPr>
          <p:cNvSpPr/>
          <p:nvPr/>
        </p:nvSpPr>
        <p:spPr>
          <a:xfrm>
            <a:off x="658368" y="3584448"/>
            <a:ext cx="5300319" cy="1097280"/>
          </a:xfrm>
          <a:prstGeom prst="roundRect">
            <a:avLst>
              <a:gd name="adj" fmla="val 8333"/>
            </a:avLst>
          </a:prstGeom>
          <a:solidFill>
            <a:srgbClr val="155F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ll2"/>
          <p:cNvSpPr txBox="1"/>
          <p:nvPr/>
        </p:nvSpPr>
        <p:spPr>
          <a:xfrm>
            <a:off x="932688"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CCB8"/>
                </a:solidFill>
                <a:latin typeface="Segoe UI"/>
              </a:rPr>
              <a:t>THIS WEEK'S LAB</a:t>
            </a:r>
          </a:p>
        </p:txBody>
      </p:sp>
      <p:sp>
        <p:nvSpPr>
          <p:cNvPr id="13" name="!!clv2"/>
          <p:cNvSpPr txBox="1"/>
          <p:nvPr/>
        </p:nvSpPr>
        <p:spPr>
          <a:xfrm>
            <a:off x="932688"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Sprint scheduling as a CSP</a:t>
            </a:r>
          </a:p>
        </p:txBody>
      </p:sp>
      <p:sp>
        <p:nvSpPr>
          <p:cNvPr id="14" name="!!cl3">
            <a:extLst>
              <a:ext uri="{C183D7F6-B498-43B3-948B-1728B52AA6E4}">
                <adec:decorative xmlns:adec="http://schemas.microsoft.com/office/drawing/2017/decorative" val="1"/>
              </a:ext>
            </a:extLst>
          </p:cNvPr>
          <p:cNvSpPr/>
          <p:nvPr/>
        </p:nvSpPr>
        <p:spPr>
          <a:xfrm>
            <a:off x="6233007" y="3584448"/>
            <a:ext cx="5300319" cy="1097280"/>
          </a:xfrm>
          <a:prstGeom prst="roundRect">
            <a:avLst>
              <a:gd name="adj" fmla="val 8333"/>
            </a:avLst>
          </a:prstGeom>
          <a:solidFill>
            <a:srgbClr val="155F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cll3"/>
          <p:cNvSpPr txBox="1"/>
          <p:nvPr/>
        </p:nvSpPr>
        <p:spPr>
          <a:xfrm>
            <a:off x="6507327"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CCB8"/>
                </a:solidFill>
                <a:latin typeface="Segoe UI"/>
              </a:rPr>
              <a:t>ASSESSMENT</a:t>
            </a:r>
          </a:p>
        </p:txBody>
      </p:sp>
      <p:sp>
        <p:nvSpPr>
          <p:cNvPr id="16" name="!!clv3"/>
          <p:cNvSpPr txBox="1"/>
          <p:nvPr/>
        </p:nvSpPr>
        <p:spPr>
          <a:xfrm>
            <a:off x="6507327"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Assignment 1 due; Quiz 2 (Ch 4–6)</a:t>
            </a:r>
          </a:p>
        </p:txBody>
      </p:sp>
      <p:sp>
        <p:nvSpPr>
          <p:cNvPr id="1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7  ·  Constraint Satisfaction</a:t>
            </a:r>
          </a:p>
        </p:txBody>
      </p:sp>
      <p:sp>
        <p:nvSpPr>
          <p:cNvPr id="18" name="!!footR"/>
          <p:cNvSpPr txBox="1"/>
          <p:nvPr/>
        </p:nvSpPr>
        <p:spPr>
          <a:xfrm>
            <a:off x="6639595" y="6437376"/>
            <a:ext cx="4893731" cy="237744"/>
          </a:xfrm>
          <a:prstGeom prst="rect">
            <a:avLst/>
          </a:prstGeom>
          <a:noFill/>
        </p:spPr>
        <p:txBody>
          <a:bodyPr wrap="square" anchor="t" lIns="0" rIns="0" tIns="0" bIns="0">
            <a:noAutofit/>
          </a:bodyPr>
          <a:lstStyle/>
          <a:p>
            <a:pPr algn="r"/>
            <a:fld id="{F55B5F5B-CBE9-4D0C-A369-08BEE44C79AC}" type="slidenum">
              <a:rPr lang="en-GB" sz="1000">
                <a:solidFill>
                  <a:srgbClr val="D5DEE5"/>
                </a:solidFill>
                <a:latin typeface="Segoe UI"/>
              </a:rPr>
              <a:t>50</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theme/theme1.xml><?xml version="1.0" encoding="utf-8"?>
<a:theme xmlns:a="http://schemas.openxmlformats.org/drawingml/2006/main" name="Artificial Intelligence Fall 2026">
  <a:themeElements>
    <a:clrScheme name="Artificial Intelligence Fall 2026">
      <a:dk1>
        <a:srgbClr val="1C252B"/>
      </a:dk1>
      <a:lt1>
        <a:srgbClr val="FFFFFF"/>
      </a:lt1>
      <a:dk2>
        <a:srgbClr val="1A5276"/>
      </a:dk2>
      <a:lt2>
        <a:srgbClr val="EBF5FB"/>
      </a:lt2>
      <a:accent1>
        <a:srgbClr val="1A5276"/>
      </a:accent1>
      <a:accent2>
        <a:srgbClr val="2E86C1"/>
      </a:accent2>
      <a:accent3>
        <a:srgbClr val="E74C3C"/>
      </a:accent3>
      <a:accent4>
        <a:srgbClr val="27AE60"/>
      </a:accent4>
      <a:accent5>
        <a:srgbClr val="8E44AD"/>
      </a:accent5>
      <a:accent6>
        <a:srgbClr val="B7950B"/>
      </a:accent6>
      <a:hlink>
        <a:srgbClr val="2E86C1"/>
      </a:hlink>
      <a:folHlink>
        <a:srgbClr val="8E44AD"/>
      </a:folHlink>
    </a:clrScheme>
    <a:fontScheme name="Artificial Intelligence Fall 2026">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7: Constraint Satisfaction</dc:title>
  <dc:subject>Artificial Intelligence — Search, Knowledge and Reasoning · BSIT · Fall 2026</dc:subject>
  <dc:creator>Dr. Mustafa Hameed</dc:creator>
  <cp:keywords>artificial intelligence; lecture slides; BSIT; HEC; Fall 2026</cp:keywords>
  <dc:description>generated using python-pptx</dc:description>
  <cp:lastModifiedBy>Steve Canny</cp:lastModifiedBy>
  <cp:revision>1</cp:revision>
  <dcterms:created xsi:type="dcterms:W3CDTF">2013-01-27T09:14:16Z</dcterms:created>
  <dcterms:modified xsi:type="dcterms:W3CDTF">2013-01-27T09:15:58Z</dcterms:modified>
  <cp:category>Lecture slides</cp:category>
</cp:coreProperties>
</file>