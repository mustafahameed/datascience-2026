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15C2235-0108-4EB0-AA18-3E6E4E84B8FE}">
          <p14:sldIdLst>
            <p14:sldId id="256"/>
            <p14:sldId id="257"/>
            <p14:sldId id="258"/>
            <p14:sldId id="259"/>
            <p14:sldId id="260"/>
          </p14:sldIdLst>
        </p14:section>
        <p14:section name="7.1 A Sprint Plan as a Constraint Problem" id="{8948EFFD-A0CF-474B-8FD6-4DADD75B4469}">
          <p14:sldIdLst>
            <p14:sldId id="261"/>
            <p14:sldId id="262"/>
            <p14:sldId id="263"/>
            <p14:sldId id="264"/>
          </p14:sldIdLst>
        </p14:section>
        <p14:section name="7.2 Backtracking Search" id="{65AE1E6E-1317-4BB1-BCC3-BAB3E12FB7DD}">
          <p14:sldIdLst>
            <p14:sldId id="265"/>
          </p14:sldIdLst>
        </p14:section>
        <p14:section name="7.3 Which Variable Next, and Which Value" id="{C7D7961B-C23B-41F9-AD8E-4E3253B61453}">
          <p14:sldIdLst>
            <p14:sldId id="266"/>
          </p14:sldIdLst>
        </p14:section>
        <p14:section name="7.4 Propagation: Forward Checking" id="{E55B04BE-2866-4A31-9E31-F016054171A5}">
          <p14:sldIdLst>
            <p14:sldId id="267"/>
          </p14:sldIdLst>
        </p14:section>
        <p14:section name="7.5 Propagation: Arc Consistency" id="{768C0EBC-8B2C-460F-BBD3-F82A7B1BF149}">
          <p14:sldIdLst>
            <p14:sldId id="268"/>
            <p14:sldId id="269"/>
            <p14:sldId id="270"/>
          </p14:sldIdLst>
        </p14:section>
        <p14:section name="7.6 The Measurement" id="{1DE0F52D-0378-4EE0-B4B3-9B8E20DEE03F}">
          <p14:sldIdLst>
            <p14:sldId id="271"/>
          </p14:sldIdLst>
        </p14:section>
        <p14:section name="7.7 When There Is No Solution" id="{57D8B99C-73C0-458B-A88B-E78C550AF099}">
          <p14:sldIdLst>
            <p14:sldId id="272"/>
            <p14:sldId id="273"/>
          </p14:sldIdLst>
        </p14:section>
        <p14:section name="Pitfalls" id="{ACD73B6E-715B-408C-B3B2-9F9C23A87DFA}">
          <p14:sldIdLst>
            <p14:sldId id="274"/>
          </p14:sldIdLst>
        </p14:section>
        <p14:section name="Lab" id="{1009EDB4-43D1-4DBB-B623-5449595278CC}">
          <p14:sldIdLst>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Checkpoint" id="{161352F7-2A92-45EE-BB3F-ECD658BBEAA8}">
          <p14:sldIdLst>
            <p14:sldId id="292"/>
            <p14:sldId id="293"/>
            <p14:sldId id="294"/>
            <p14:sldId id="295"/>
            <p14:sldId id="296"/>
            <p14:sldId id="297"/>
          </p14:sldIdLst>
        </p14:section>
        <p14:section name="Wrap-up" id="{E59365F5-5B6D-48AA-B104-C35520B7A772}">
          <p14:sldIdLst>
            <p14:sldId id="298"/>
            <p14:sldId id="299"/>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Constraint Satisfaction. Part 3 — Constraints, Games and Plans. Week 6: Constraint satisfaction. Handout pages 68–78.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(states as values) and Chapter 4 (backtracking is depth-first search with a commitment at each level). Chapter 5 is not needed: this chapter gets its leverage from the structure of the problem rather than from a heuristic estimate of distance.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constraint satisfaction problem; variable; domain; constraint; constraint graph; assignment; partial assignment; consistency; backtracking; minimum remaining values; degree heuristic; least constraining value; forward checking; arc consistency; AC-3; over-constrained.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stories must be placed into four sprints. Each sprint has a capacity of twelve story points. Some stories cannot start until others have finished. Some pairs belong to the same developer and are too large to sit in one sprint together. Find a placement that breaks nothing. Chapter 4 could search this: a state is a partial placement, an action adds one story. But that formulation throws away the thing that makes the problem tractable. A general search algorithm sees an opaque state and an opaque goal test. A constraint satisfaction problem exposes the structure — which variable each constraint touches — and the algorithms in this chapter exploit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7.1 (handout p. 69): The constraint graph. Twelve variables, twelve binary constraints, and one n-ary capacity constraint that no edge can represent.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Backtracking leaves two choices open, and they are where the remaining leverage is. Minimum remaining values (MRV). Assign next the variable with the fewest legal values left. The slogan is fail first: if some variable is going to run out of options, discovering it now costs one dead end, and discovering it ten levels later costs a subtree. Degree heuristic. When several variables tie on MRV, pick the one involved in the most constraints on unassigned variables. It is a tie-breaker, not a strategy in its own right. Least constraining value. Having chosen a variable, try first the value that rules out fewest options for its neighbours. Note that this pulls the opposite way from MRV — fail first on variables, succeed first on values — and both are right, because you must try every variable but only need one value to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checking is the smallest useful propagation. When a variable is assigned, remove from every neighbour’s domain the values now inconsistent with it. If any domain becomes empty, the assignment has already failed — backtrack at once rather than discovering it later. Two things happen at the same time. The obvious one is that dead ends are found sooner. The important one is that domains now have different sizes, so MRV finally has something to compare.</a:t>
            </a:r>
          </a:p>
          <a:p/>
          <a:p>
            <a:r>
              <a:t>Figure 7.2 (handout p. 70): Forward checking after one assignment. The pruning is the visible effect; giving the ordering heuristic something to measure is the valuable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checking only looks one step from the variable just assigned. Arc consistency propagates further.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as a preprocessing step on the sprint problem, before any search, AC-3 narrows every one of the twelve domains: stories at the head of a precedence chain lose the last sprint, stories at the tail lose the first. That is real information obtained without a single assignment.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configurations solve the same instance and find a solution. What differs is how much work it costs.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and the second is the one students get wrong in examinations. Structure beats search. Before any heuristic, formulating the problem as a CSP turned 16.8 million assignments into 123 nodes. An ordering heuristic can make things worse. The degree tie-breaker tripled the node count. Heuristics are informed guesses about a specific problem, not improvements in general, and the only way to know is to measure on your instance. Propagation is what pays. Forward checking cut the work ninefold — and about half of that was the pruning and half was making MRV functional. An over-constrained problem is the common case in practice: the backlog does not fit. Backtracking then explores the whole space and reports failure, which is true and useless. A delivery manager needs to know which constraint to relax. Two cheap and honest answers. Record the constraint that emptied a domain most often during propagation — that is usually the binding one. Or re-run with each constraint removed in turn and report which removals make the problem solvable. For this instance, raising the capacity from 12 to 13 turns 14 solutions into hundreds, which tells you at once that capacity, not precedence, is what binds.</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instance of Figure 7.1, solved five ways, counting every constraint check. Reproduces Table 7.1.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nothing in plain backtracking ever shrinks a domain. Every unassigned variable still has all four sprints available, so they all tie on the minimum-remaining-values count and the heuristic falls back on the first variable in the list — which is exactly what plain backtracking was already doing. The change that makes MRV worth having is propagation: forward checking removes values from neighbours after each assignment, and from that moment the domains have different sizes and MRV has something to compare. Measured: 3,784 checks with MRV alone, 415 with MRV and forward checking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Both are true because AC-3 works only on binary constraints. The precedence and same-developer constraints are binary, and AC-3 prunes them thoroughly — every one of the twelve domains loses at least one sprint. But the constraint that actually binds this problem is capacity: 45 points into 48, an n-ary constraint over all twelve variables at once, which no arc can express and AC-3 never examines. So the preprocessing removes values that the search was not going to waste much time on anyway, at a cost of 224 extra consistency checks and a saving of zero nodes.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Either: instrument the propagation to record which constraint emptied a domain most often, and report that one; or re-run the solver with each constraint (or constraint class) relaxed in turn and report which relaxations make the problem solvable. Here you would expect capacity to bind, and the lab confirms it — raising the cap from 12 to 13 takes the solution count from 14 into the hundreds, while the precedence constraints have plenty of slack.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8 — Adversarial Search and Game Playing. READ: Handout Chapter 7, pages 68–78. THIS WEEK'S LAB: Sprint scheduling as a CSP. ASSESSMENT: Assignment 1 due; Quiz 2 (Ch 4–6).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3.xml"/><Relationship Id="rId10" Type="http://schemas.openxmlformats.org/officeDocument/2006/relationships/slide" Target="slide16.xml"/><Relationship Id="rId11"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4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5.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6.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Constraint Satisfaction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CONSTRAINTS, GAMES AND PLANS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7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1EF11360-59C4-4CFE-BEF0-195D58D9C851}"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938487"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938487" y="2029967"/>
            <a:ext cx="1329163"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32354"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83235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118973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Constraint Satisfaction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1" name="!!chipBU5">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5">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5"/>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Informed Search and Heuristics</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Adversarial Search and Game Playing</a:t>
            </a:r>
          </a:p>
        </p:txBody>
      </p:sp>
      <p:sp>
        <p:nvSpPr>
          <p:cNvPr id="78" name="!!chipUS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Planning</a:t>
            </a:r>
          </a:p>
        </p:txBody>
      </p:sp>
      <p:sp>
        <p:nvSpPr>
          <p:cNvPr id="81" name="!!chipUS1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11  </a:t>
            </a:r>
            <a:r>
              <a:rPr sz="1400" b="0" i="0">
                <a:solidFill>
                  <a:srgbClr val="1C252B"/>
                </a:solidFill>
                <a:latin typeface="Segoe UI"/>
              </a:rPr>
              <a:t>Propositional Logic and Inference</a:t>
            </a:r>
          </a:p>
        </p:txBody>
      </p:sp>
      <p:sp>
        <p:nvSpPr>
          <p:cNvPr id="84" name="!!chipUS15">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15">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15"/>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15  </a:t>
            </a:r>
            <a:r>
              <a:rPr sz="1400" b="0" i="0">
                <a:solidFill>
                  <a:srgbClr val="1C252B"/>
                </a:solidFill>
                <a:latin typeface="Segoe UI"/>
              </a:rPr>
              <a:t>Bayesian Networks</a:t>
            </a:r>
          </a:p>
        </p:txBody>
      </p:sp>
      <p:sp>
        <p:nvSpPr>
          <p:cNvPr id="87" name="!!chipUS20">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bUS20">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tUS20"/>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20  </a:t>
            </a:r>
            <a:r>
              <a:rPr sz="1400" b="0" i="0">
                <a:solidFill>
                  <a:srgbClr val="1C252B"/>
                </a:solidFill>
                <a:latin typeface="Segoe UI"/>
              </a:rPr>
              <a:t>Recent Trends and Applications</a:t>
            </a:r>
          </a:p>
        </p:txBody>
      </p:sp>
      <p:sp>
        <p:nvSpPr>
          <p:cNvPr id="9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344E5773-B307-4197-B4CF-AF01403481C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Formulate</a:t>
            </a:r>
            <a:r>
              <a:rPr sz="2100" b="0" i="0">
                <a:solidFill>
                  <a:srgbClr val="1C252B"/>
                </a:solidFill>
                <a:latin typeface="Segoe UI"/>
              </a:rPr>
              <a:t> a problem as variables, domains and constraints, and </a:t>
            </a:r>
            <a:r>
              <a:rPr sz="2100" b="1" i="0">
                <a:solidFill>
                  <a:srgbClr val="1C252B"/>
                </a:solidFill>
                <a:latin typeface="Segoe UI"/>
              </a:rPr>
              <a:t>say</a:t>
            </a:r>
            <a:r>
              <a:rPr sz="2100" b="0" i="0">
                <a:solidFill>
                  <a:srgbClr val="1C252B"/>
                </a:solidFill>
                <a:latin typeface="Segoe UI"/>
              </a:rPr>
              <a:t> when that formulation is better than a search over states.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backtracking search with the minimum-remaining-values and degree heuristics, and </a:t>
            </a:r>
            <a:r>
              <a:rPr sz="2100" b="1" i="0">
                <a:solidFill>
                  <a:srgbClr val="1C252B"/>
                </a:solidFill>
                <a:latin typeface="Segoe UI"/>
              </a:rPr>
              <a:t>explain</a:t>
            </a:r>
            <a:r>
              <a:rPr sz="2100" b="0" i="0">
                <a:solidFill>
                  <a:srgbClr val="1C252B"/>
                </a:solidFill>
                <a:latin typeface="Segoe UI"/>
              </a:rPr>
              <a:t> what each one orders.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Propagate</a:t>
            </a:r>
            <a:r>
              <a:rPr sz="2100" b="0" i="0">
                <a:solidFill>
                  <a:srgbClr val="1C252B"/>
                </a:solidFill>
                <a:latin typeface="Segoe UI"/>
              </a:rPr>
              <a:t> constraints by forward checking and by arc consistency (AC-3), and </a:t>
            </a:r>
            <a:r>
              <a:rPr sz="2100" b="1" i="0">
                <a:solidFill>
                  <a:srgbClr val="1C252B"/>
                </a:solidFill>
                <a:latin typeface="Segoe UI"/>
              </a:rPr>
              <a:t>measure</a:t>
            </a:r>
            <a:r>
              <a:rPr sz="2100" b="0" i="0">
                <a:solidFill>
                  <a:srgbClr val="1C252B"/>
                </a:solidFill>
                <a:latin typeface="Segoe UI"/>
              </a:rPr>
              <a:t> what each removes.</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ordering heuristics and propagation are a package, and why either alone can be worthless.</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Recognise</a:t>
            </a:r>
            <a:r>
              <a:rPr sz="2100" b="0" i="0">
                <a:solidFill>
                  <a:srgbClr val="1C252B"/>
                </a:solidFill>
                <a:latin typeface="Segoe UI"/>
              </a:rPr>
              <a:t> when a constraint problem is over-constrained, and </a:t>
            </a:r>
            <a:r>
              <a:rPr sz="2100" b="1" i="0">
                <a:solidFill>
                  <a:srgbClr val="1C252B"/>
                </a:solidFill>
                <a:latin typeface="Segoe UI"/>
              </a:rPr>
              <a:t>report</a:t>
            </a:r>
            <a:r>
              <a:rPr sz="2100" b="0" i="0">
                <a:solidFill>
                  <a:srgbClr val="1C252B"/>
                </a:solidFill>
                <a:latin typeface="Segoe UI"/>
              </a:rPr>
              <a:t> which constraint is responsible.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1E173943-350A-42BE-897D-7DA35F4FA51D}" type="slidenum">
              <a:rPr lang="en-GB" sz="1000">
                <a:solidFill>
                  <a:srgbClr val="8795A1"/>
                </a:solidFill>
                <a:latin typeface="Segoe UI"/>
              </a:rPr>
              <a:t>4</a:t>
            </a:fld>
          </a:p>
        </p:txBody>
      </p:sp>
      <p:sp>
        <p:nvSpPr>
          <p:cNvPr id="7" name="!!term-constraint sat">
            <a:extLst>
              <a:ext uri="{C183D7F6-B498-43B3-948B-1728B52AA6E4}">
                <adec:decorative xmlns:adec="http://schemas.microsoft.com/office/drawing/2017/decorative" val="1"/>
              </a:ext>
            </a:extLst>
          </p:cNvPr>
          <p:cNvSpPr/>
          <p:nvPr/>
        </p:nvSpPr>
        <p:spPr>
          <a:xfrm>
            <a:off x="658368" y="1847088"/>
            <a:ext cx="32618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straint sa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straint sat"/>
          <p:cNvSpPr txBox="1"/>
          <p:nvPr/>
        </p:nvSpPr>
        <p:spPr>
          <a:xfrm>
            <a:off x="950976" y="1962911"/>
            <a:ext cx="307892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constraint satisfaction problem</a:t>
            </a:r>
          </a:p>
        </p:txBody>
      </p:sp>
      <p:sp>
        <p:nvSpPr>
          <p:cNvPr id="10" name="!!term-variable">
            <a:extLst>
              <a:ext uri="{C183D7F6-B498-43B3-948B-1728B52AA6E4}">
                <adec:decorative xmlns:adec="http://schemas.microsoft.com/office/drawing/2017/decorative" val="1"/>
              </a:ext>
            </a:extLst>
          </p:cNvPr>
          <p:cNvSpPr/>
          <p:nvPr/>
        </p:nvSpPr>
        <p:spPr>
          <a:xfrm>
            <a:off x="4066477" y="1847088"/>
            <a:ext cx="11518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ariable">
            <a:extLst>
              <a:ext uri="{C183D7F6-B498-43B3-948B-1728B52AA6E4}">
                <adec:decorative xmlns:adec="http://schemas.microsoft.com/office/drawing/2017/decorative" val="1"/>
              </a:ext>
            </a:extLst>
          </p:cNvPr>
          <p:cNvSpPr/>
          <p:nvPr/>
        </p:nvSpPr>
        <p:spPr>
          <a:xfrm>
            <a:off x="41944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ariable"/>
          <p:cNvSpPr txBox="1"/>
          <p:nvPr/>
        </p:nvSpPr>
        <p:spPr>
          <a:xfrm>
            <a:off x="4359085" y="1962911"/>
            <a:ext cx="9689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variable</a:t>
            </a:r>
          </a:p>
        </p:txBody>
      </p:sp>
      <p:sp>
        <p:nvSpPr>
          <p:cNvPr id="13" name="!!term-domain">
            <a:extLst>
              <a:ext uri="{C183D7F6-B498-43B3-948B-1728B52AA6E4}">
                <adec:decorative xmlns:adec="http://schemas.microsoft.com/office/drawing/2017/decorative" val="1"/>
              </a:ext>
            </a:extLst>
          </p:cNvPr>
          <p:cNvSpPr/>
          <p:nvPr/>
        </p:nvSpPr>
        <p:spPr>
          <a:xfrm>
            <a:off x="5364623" y="1847088"/>
            <a:ext cx="11338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domain">
            <a:extLst>
              <a:ext uri="{C183D7F6-B498-43B3-948B-1728B52AA6E4}">
                <adec:decorative xmlns:adec="http://schemas.microsoft.com/office/drawing/2017/decorative" val="1"/>
              </a:ext>
            </a:extLst>
          </p:cNvPr>
          <p:cNvSpPr/>
          <p:nvPr/>
        </p:nvSpPr>
        <p:spPr>
          <a:xfrm>
            <a:off x="54926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domain"/>
          <p:cNvSpPr txBox="1"/>
          <p:nvPr/>
        </p:nvSpPr>
        <p:spPr>
          <a:xfrm>
            <a:off x="5657231" y="1962911"/>
            <a:ext cx="9509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domain</a:t>
            </a:r>
          </a:p>
        </p:txBody>
      </p:sp>
      <p:sp>
        <p:nvSpPr>
          <p:cNvPr id="16" name="!!term-constraint">
            <a:extLst>
              <a:ext uri="{C183D7F6-B498-43B3-948B-1728B52AA6E4}">
                <adec:decorative xmlns:adec="http://schemas.microsoft.com/office/drawing/2017/decorative" val="1"/>
              </a:ext>
            </a:extLst>
          </p:cNvPr>
          <p:cNvSpPr/>
          <p:nvPr/>
        </p:nvSpPr>
        <p:spPr>
          <a:xfrm>
            <a:off x="6644795" y="1847088"/>
            <a:ext cx="13469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onstraint">
            <a:extLst>
              <a:ext uri="{C183D7F6-B498-43B3-948B-1728B52AA6E4}">
                <adec:decorative xmlns:adec="http://schemas.microsoft.com/office/drawing/2017/decorative" val="1"/>
              </a:ext>
            </a:extLst>
          </p:cNvPr>
          <p:cNvSpPr/>
          <p:nvPr/>
        </p:nvSpPr>
        <p:spPr>
          <a:xfrm>
            <a:off x="677281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onstraint"/>
          <p:cNvSpPr txBox="1"/>
          <p:nvPr/>
        </p:nvSpPr>
        <p:spPr>
          <a:xfrm>
            <a:off x="6937403" y="1962911"/>
            <a:ext cx="116405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constraint</a:t>
            </a:r>
          </a:p>
        </p:txBody>
      </p:sp>
      <p:sp>
        <p:nvSpPr>
          <p:cNvPr id="19" name="!!term-constraint gra">
            <a:extLst>
              <a:ext uri="{C183D7F6-B498-43B3-948B-1728B52AA6E4}">
                <adec:decorative xmlns:adec="http://schemas.microsoft.com/office/drawing/2017/decorative" val="1"/>
              </a:ext>
            </a:extLst>
          </p:cNvPr>
          <p:cNvSpPr/>
          <p:nvPr/>
        </p:nvSpPr>
        <p:spPr>
          <a:xfrm>
            <a:off x="8138035" y="1847088"/>
            <a:ext cx="19426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onstraint gra">
            <a:extLst>
              <a:ext uri="{C183D7F6-B498-43B3-948B-1728B52AA6E4}">
                <adec:decorative xmlns:adec="http://schemas.microsoft.com/office/drawing/2017/decorative" val="1"/>
              </a:ext>
            </a:extLst>
          </p:cNvPr>
          <p:cNvSpPr/>
          <p:nvPr/>
        </p:nvSpPr>
        <p:spPr>
          <a:xfrm>
            <a:off x="82660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onstraint gra"/>
          <p:cNvSpPr txBox="1"/>
          <p:nvPr/>
        </p:nvSpPr>
        <p:spPr>
          <a:xfrm>
            <a:off x="8430643" y="1962911"/>
            <a:ext cx="175973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constraint graph</a:t>
            </a:r>
          </a:p>
        </p:txBody>
      </p:sp>
      <p:sp>
        <p:nvSpPr>
          <p:cNvPr id="22" name="!!term-assignment">
            <a:extLst>
              <a:ext uri="{C183D7F6-B498-43B3-948B-1728B52AA6E4}">
                <adec:decorative xmlns:adec="http://schemas.microsoft.com/office/drawing/2017/decorative" val="1"/>
              </a:ext>
            </a:extLst>
          </p:cNvPr>
          <p:cNvSpPr/>
          <p:nvPr/>
        </p:nvSpPr>
        <p:spPr>
          <a:xfrm>
            <a:off x="658368" y="2468880"/>
            <a:ext cx="14841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assignmen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assignment"/>
          <p:cNvSpPr txBox="1"/>
          <p:nvPr/>
        </p:nvSpPr>
        <p:spPr>
          <a:xfrm>
            <a:off x="950976" y="2584704"/>
            <a:ext cx="13012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assignment</a:t>
            </a:r>
          </a:p>
        </p:txBody>
      </p:sp>
      <p:sp>
        <p:nvSpPr>
          <p:cNvPr id="25" name="!!term-partial assign">
            <a:extLst>
              <a:ext uri="{C183D7F6-B498-43B3-948B-1728B52AA6E4}">
                <adec:decorative xmlns:adec="http://schemas.microsoft.com/office/drawing/2017/decorative" val="1"/>
              </a:ext>
            </a:extLst>
          </p:cNvPr>
          <p:cNvSpPr/>
          <p:nvPr/>
        </p:nvSpPr>
        <p:spPr>
          <a:xfrm>
            <a:off x="2288816" y="2468880"/>
            <a:ext cx="21165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artial assign">
            <a:extLst>
              <a:ext uri="{C183D7F6-B498-43B3-948B-1728B52AA6E4}">
                <adec:decorative xmlns:adec="http://schemas.microsoft.com/office/drawing/2017/decorative" val="1"/>
              </a:ext>
            </a:extLst>
          </p:cNvPr>
          <p:cNvSpPr/>
          <p:nvPr/>
        </p:nvSpPr>
        <p:spPr>
          <a:xfrm>
            <a:off x="24168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artial assign"/>
          <p:cNvSpPr txBox="1"/>
          <p:nvPr/>
        </p:nvSpPr>
        <p:spPr>
          <a:xfrm>
            <a:off x="2581424" y="2584704"/>
            <a:ext cx="193367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partial assignment</a:t>
            </a:r>
          </a:p>
        </p:txBody>
      </p:sp>
      <p:sp>
        <p:nvSpPr>
          <p:cNvPr id="28" name="!!term-consistency">
            <a:extLst>
              <a:ext uri="{C183D7F6-B498-43B3-948B-1728B52AA6E4}">
                <adec:decorative xmlns:adec="http://schemas.microsoft.com/office/drawing/2017/decorative" val="1"/>
              </a:ext>
            </a:extLst>
          </p:cNvPr>
          <p:cNvSpPr/>
          <p:nvPr/>
        </p:nvSpPr>
        <p:spPr>
          <a:xfrm>
            <a:off x="4551678" y="2468880"/>
            <a:ext cx="14913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onsistency">
            <a:extLst>
              <a:ext uri="{C183D7F6-B498-43B3-948B-1728B52AA6E4}">
                <adec:decorative xmlns:adec="http://schemas.microsoft.com/office/drawing/2017/decorative" val="1"/>
              </a:ext>
            </a:extLst>
          </p:cNvPr>
          <p:cNvSpPr/>
          <p:nvPr/>
        </p:nvSpPr>
        <p:spPr>
          <a:xfrm>
            <a:off x="467969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onsistency"/>
          <p:cNvSpPr txBox="1"/>
          <p:nvPr/>
        </p:nvSpPr>
        <p:spPr>
          <a:xfrm>
            <a:off x="4844286" y="2584704"/>
            <a:ext cx="13084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consistency</a:t>
            </a:r>
          </a:p>
        </p:txBody>
      </p:sp>
      <p:sp>
        <p:nvSpPr>
          <p:cNvPr id="31" name="!!term-backtracking">
            <a:extLst>
              <a:ext uri="{C183D7F6-B498-43B3-948B-1728B52AA6E4}">
                <adec:decorative xmlns:adec="http://schemas.microsoft.com/office/drawing/2017/decorative" val="1"/>
              </a:ext>
            </a:extLst>
          </p:cNvPr>
          <p:cNvSpPr/>
          <p:nvPr/>
        </p:nvSpPr>
        <p:spPr>
          <a:xfrm>
            <a:off x="6189355" y="2468880"/>
            <a:ext cx="16011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backtracking">
            <a:extLst>
              <a:ext uri="{C183D7F6-B498-43B3-948B-1728B52AA6E4}">
                <adec:decorative xmlns:adec="http://schemas.microsoft.com/office/drawing/2017/decorative" val="1"/>
              </a:ext>
            </a:extLst>
          </p:cNvPr>
          <p:cNvSpPr/>
          <p:nvPr/>
        </p:nvSpPr>
        <p:spPr>
          <a:xfrm>
            <a:off x="63173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backtracking"/>
          <p:cNvSpPr txBox="1"/>
          <p:nvPr/>
        </p:nvSpPr>
        <p:spPr>
          <a:xfrm>
            <a:off x="6481963" y="2584704"/>
            <a:ext cx="141830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backtracking</a:t>
            </a:r>
          </a:p>
        </p:txBody>
      </p:sp>
      <p:sp>
        <p:nvSpPr>
          <p:cNvPr id="34" name="!!term-minimum remain">
            <a:extLst>
              <a:ext uri="{C183D7F6-B498-43B3-948B-1728B52AA6E4}">
                <adec:decorative xmlns:adec="http://schemas.microsoft.com/office/drawing/2017/decorative" val="1"/>
              </a:ext>
            </a:extLst>
          </p:cNvPr>
          <p:cNvSpPr/>
          <p:nvPr/>
        </p:nvSpPr>
        <p:spPr>
          <a:xfrm>
            <a:off x="7936840" y="2468880"/>
            <a:ext cx="29127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inimum remain">
            <a:extLst>
              <a:ext uri="{C183D7F6-B498-43B3-948B-1728B52AA6E4}">
                <adec:decorative xmlns:adec="http://schemas.microsoft.com/office/drawing/2017/decorative" val="1"/>
              </a:ext>
            </a:extLst>
          </p:cNvPr>
          <p:cNvSpPr/>
          <p:nvPr/>
        </p:nvSpPr>
        <p:spPr>
          <a:xfrm>
            <a:off x="806485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inimum remain"/>
          <p:cNvSpPr txBox="1"/>
          <p:nvPr/>
        </p:nvSpPr>
        <p:spPr>
          <a:xfrm>
            <a:off x="8229448" y="2584704"/>
            <a:ext cx="27298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minimum remaining values</a:t>
            </a:r>
          </a:p>
        </p:txBody>
      </p:sp>
      <p:sp>
        <p:nvSpPr>
          <p:cNvPr id="37" name="!!term-degree heurist">
            <a:extLst>
              <a:ext uri="{C183D7F6-B498-43B3-948B-1728B52AA6E4}">
                <adec:decorative xmlns:adec="http://schemas.microsoft.com/office/drawing/2017/decorative" val="1"/>
              </a:ext>
            </a:extLst>
          </p:cNvPr>
          <p:cNvSpPr/>
          <p:nvPr/>
        </p:nvSpPr>
        <p:spPr>
          <a:xfrm>
            <a:off x="658368" y="3090672"/>
            <a:ext cx="19065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egree heuris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egree heurist"/>
          <p:cNvSpPr txBox="1"/>
          <p:nvPr/>
        </p:nvSpPr>
        <p:spPr>
          <a:xfrm>
            <a:off x="950976" y="3206496"/>
            <a:ext cx="172362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degree heuristic</a:t>
            </a:r>
          </a:p>
        </p:txBody>
      </p:sp>
      <p:sp>
        <p:nvSpPr>
          <p:cNvPr id="40" name="!!term-least constrai">
            <a:extLst>
              <a:ext uri="{C183D7F6-B498-43B3-948B-1728B52AA6E4}">
                <adec:decorative xmlns:adec="http://schemas.microsoft.com/office/drawing/2017/decorative" val="1"/>
              </a:ext>
            </a:extLst>
          </p:cNvPr>
          <p:cNvSpPr/>
          <p:nvPr/>
        </p:nvSpPr>
        <p:spPr>
          <a:xfrm>
            <a:off x="2711178" y="3090672"/>
            <a:ext cx="25825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least constrai">
            <a:extLst>
              <a:ext uri="{C183D7F6-B498-43B3-948B-1728B52AA6E4}">
                <adec:decorative xmlns:adec="http://schemas.microsoft.com/office/drawing/2017/decorative" val="1"/>
              </a:ext>
            </a:extLst>
          </p:cNvPr>
          <p:cNvSpPr/>
          <p:nvPr/>
        </p:nvSpPr>
        <p:spPr>
          <a:xfrm>
            <a:off x="283919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least constrai"/>
          <p:cNvSpPr txBox="1"/>
          <p:nvPr/>
        </p:nvSpPr>
        <p:spPr>
          <a:xfrm>
            <a:off x="3003786" y="3206496"/>
            <a:ext cx="239970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least constraining value</a:t>
            </a:r>
          </a:p>
        </p:txBody>
      </p:sp>
      <p:sp>
        <p:nvSpPr>
          <p:cNvPr id="43" name="!!term-forward checki">
            <a:extLst>
              <a:ext uri="{C183D7F6-B498-43B3-948B-1728B52AA6E4}">
                <adec:decorative xmlns:adec="http://schemas.microsoft.com/office/drawing/2017/decorative" val="1"/>
              </a:ext>
            </a:extLst>
          </p:cNvPr>
          <p:cNvSpPr/>
          <p:nvPr/>
        </p:nvSpPr>
        <p:spPr>
          <a:xfrm>
            <a:off x="5440067" y="3090672"/>
            <a:ext cx="20135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forward checki">
            <a:extLst>
              <a:ext uri="{C183D7F6-B498-43B3-948B-1728B52AA6E4}">
                <adec:decorative xmlns:adec="http://schemas.microsoft.com/office/drawing/2017/decorative" val="1"/>
              </a:ext>
            </a:extLst>
          </p:cNvPr>
          <p:cNvSpPr/>
          <p:nvPr/>
        </p:nvSpPr>
        <p:spPr>
          <a:xfrm>
            <a:off x="556808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forward checki"/>
          <p:cNvSpPr txBox="1"/>
          <p:nvPr/>
        </p:nvSpPr>
        <p:spPr>
          <a:xfrm>
            <a:off x="5732675" y="3206496"/>
            <a:ext cx="18307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forward checking</a:t>
            </a:r>
          </a:p>
        </p:txBody>
      </p:sp>
      <p:sp>
        <p:nvSpPr>
          <p:cNvPr id="46" name="!!term-arc consistenc">
            <a:extLst>
              <a:ext uri="{C183D7F6-B498-43B3-948B-1728B52AA6E4}">
                <adec:decorative xmlns:adec="http://schemas.microsoft.com/office/drawing/2017/decorative" val="1"/>
              </a:ext>
            </a:extLst>
          </p:cNvPr>
          <p:cNvSpPr/>
          <p:nvPr/>
        </p:nvSpPr>
        <p:spPr>
          <a:xfrm>
            <a:off x="7599955" y="3090672"/>
            <a:ext cx="18215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rc consistenc">
            <a:extLst>
              <a:ext uri="{C183D7F6-B498-43B3-948B-1728B52AA6E4}">
                <adec:decorative xmlns:adec="http://schemas.microsoft.com/office/drawing/2017/decorative" val="1"/>
              </a:ext>
            </a:extLst>
          </p:cNvPr>
          <p:cNvSpPr/>
          <p:nvPr/>
        </p:nvSpPr>
        <p:spPr>
          <a:xfrm>
            <a:off x="772797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rc consistenc"/>
          <p:cNvSpPr txBox="1"/>
          <p:nvPr/>
        </p:nvSpPr>
        <p:spPr>
          <a:xfrm>
            <a:off x="7892563" y="3206496"/>
            <a:ext cx="163862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arc consistency</a:t>
            </a:r>
          </a:p>
        </p:txBody>
      </p:sp>
      <p:sp>
        <p:nvSpPr>
          <p:cNvPr id="49" name="!!term-AC-3">
            <a:extLst>
              <a:ext uri="{C183D7F6-B498-43B3-948B-1728B52AA6E4}">
                <adec:decorative xmlns:adec="http://schemas.microsoft.com/office/drawing/2017/decorative" val="1"/>
              </a:ext>
            </a:extLst>
          </p:cNvPr>
          <p:cNvSpPr/>
          <p:nvPr/>
        </p:nvSpPr>
        <p:spPr>
          <a:xfrm>
            <a:off x="9567761" y="3090672"/>
            <a:ext cx="8954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AC-3">
            <a:extLst>
              <a:ext uri="{C183D7F6-B498-43B3-948B-1728B52AA6E4}">
                <adec:decorative xmlns:adec="http://schemas.microsoft.com/office/drawing/2017/decorative" val="1"/>
              </a:ext>
            </a:extLst>
          </p:cNvPr>
          <p:cNvSpPr/>
          <p:nvPr/>
        </p:nvSpPr>
        <p:spPr>
          <a:xfrm>
            <a:off x="969577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AC-3"/>
          <p:cNvSpPr txBox="1"/>
          <p:nvPr/>
        </p:nvSpPr>
        <p:spPr>
          <a:xfrm>
            <a:off x="9860369" y="3206496"/>
            <a:ext cx="71259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AC-3</a:t>
            </a:r>
          </a:p>
        </p:txBody>
      </p:sp>
      <p:sp>
        <p:nvSpPr>
          <p:cNvPr id="52" name="!!term-over-constrain">
            <a:extLst>
              <a:ext uri="{C183D7F6-B498-43B3-948B-1728B52AA6E4}">
                <adec:decorative xmlns:adec="http://schemas.microsoft.com/office/drawing/2017/decorative" val="1"/>
              </a:ext>
            </a:extLst>
          </p:cNvPr>
          <p:cNvSpPr/>
          <p:nvPr/>
        </p:nvSpPr>
        <p:spPr>
          <a:xfrm>
            <a:off x="658368" y="3712464"/>
            <a:ext cx="19910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over-constrain">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over-constrain"/>
          <p:cNvSpPr txBox="1"/>
          <p:nvPr/>
        </p:nvSpPr>
        <p:spPr>
          <a:xfrm>
            <a:off x="950976" y="3828288"/>
            <a:ext cx="18082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over-constrained</a:t>
            </a:r>
          </a:p>
        </p:txBody>
      </p:sp>
      <p:sp>
        <p:nvSpPr>
          <p:cNvPr id="55"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68–78     </a:t>
            </a:r>
            <a:fld id="{379972D1-18BD-4ED7-8B83-40165A78B7E7}" type="slidenum">
              <a:rPr lang="en-GB" sz="1000">
                <a:solidFill>
                  <a:srgbClr val="8795A1"/>
                </a:solidFill>
                <a:latin typeface="Segoe UI"/>
              </a:rPr>
              <a:t>5</a:t>
            </a:fld>
          </a:p>
        </p:txBody>
      </p:sp>
      <p:sp>
        <p:nvSpPr>
          <p:cNvPr id="7" name="!!ag0" descr="Go to section 7.1 A Sprint Plan as a Constraint Proble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Sprint Plan as a Constraint Problem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68  ›</a:t>
            </a:r>
          </a:p>
        </p:txBody>
      </p:sp>
      <p:sp>
        <p:nvSpPr>
          <p:cNvPr id="12" name="!!ag1" descr="Go to section 7.2 Backtracking Search">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Backtracking Search</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69  ›</a:t>
            </a:r>
          </a:p>
        </p:txBody>
      </p:sp>
      <p:sp>
        <p:nvSpPr>
          <p:cNvPr id="17" name="!!ag2" descr="Go to section 7.3 Which Variable Next, and Which Valu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Which Variable Next, and Which Value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22" name="!!ag3" descr="Go to section 7.4 Propagation: Forward Check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Propagation: Forward Checking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27" name="!!ag4" descr="Go to section 7.5 Propagation: Arc Consistency">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Propagation: Arc Consistency</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32" name="!!ag5" descr="Go to section 7.6 The Measurement">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Measurement</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37" name="!!ag6" descr="Go to section 7.7 When There Is No Solution">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7.7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There Is No Solution</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72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Sprint Plan as a Constraint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7.1   A Sprint Plan as a Constraint Problem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Backtracking Search</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Which Variable Next, and Which Value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Propagation: Forward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7.5   Propagation: Arc Consistency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The Measurement</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When There Is No Solution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§7.1     </a:t>
            </a:r>
            <a:fld id="{C91A2BAC-D45F-4829-A5DB-B5A073FB053B}" type="slidenum">
              <a:rPr lang="en-GB" sz="1000">
                <a:solidFill>
                  <a:srgbClr val="8795A1"/>
                </a:solidFill>
                <a:latin typeface="Segoe UI"/>
              </a:rPr>
              <a:t>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Constraint satisfaction problem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68     </a:t>
            </a:r>
            <a:fld id="{14DC22F8-93EC-4761-884A-F7D0002F53C5}"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612"/>
          </a:xfrm>
          <a:prstGeom prst="roundRect">
            <a:avLst>
              <a:gd name="adj" fmla="val 208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61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CSP</a:t>
            </a:r>
            <a:r>
              <a:rPr sz="2000" b="0" i="0">
                <a:solidFill>
                  <a:srgbClr val="1C252B"/>
                </a:solidFill>
                <a:latin typeface="Segoe UI"/>
              </a:rPr>
              <a:t> is a triple:</a:t>
            </a:r>
          </a:p>
        </p:txBody>
      </p:sp>
      <p:sp>
        <p:nvSpPr>
          <p:cNvPr id="10" name="body-1"/>
          <p:cNvSpPr txBox="1"/>
          <p:nvPr/>
        </p:nvSpPr>
        <p:spPr>
          <a:xfrm>
            <a:off x="1060704" y="2504947"/>
            <a:ext cx="10161727" cy="1491488"/>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 set of </a:t>
            </a:r>
            <a:r>
              <a:rPr sz="2000" b="1" i="0">
                <a:solidFill>
                  <a:srgbClr val="1A5276"/>
                </a:solidFill>
                <a:latin typeface="Segoe UI"/>
              </a:rPr>
              <a:t>variables</a:t>
            </a:r>
            <a:r>
              <a:rPr sz="2000" b="0" i="0">
                <a:solidFill>
                  <a:srgbClr val="1C252B"/>
                </a:solidFill>
                <a:latin typeface="Segoe UI"/>
              </a:rPr>
              <a:t> </a:t>
            </a:r>
            <a:r>
              <a:rPr sz="2000" b="0" i="1">
                <a:solidFill>
                  <a:srgbClr val="1C252B"/>
                </a:solidFill>
                <a:latin typeface="Cambria"/>
              </a:rPr>
              <a:t>X</a:t>
            </a:r>
            <a:r>
              <a:rPr sz="1300" b="0" i="0" baseline="-25000">
                <a:solidFill>
                  <a:srgbClr val="1C252B"/>
                </a:solidFill>
                <a:latin typeface="Cambria"/>
              </a:rPr>
              <a:t>1</a:t>
            </a:r>
            <a:r>
              <a:rPr sz="2000" b="0" i="0">
                <a:solidFill>
                  <a:srgbClr val="1C252B"/>
                </a:solidFill>
                <a:latin typeface="Cambria"/>
              </a:rPr>
              <a:t>, …, </a:t>
            </a:r>
            <a:r>
              <a:rPr sz="2000" b="0" i="1">
                <a:solidFill>
                  <a:srgbClr val="1C252B"/>
                </a:solidFill>
                <a:latin typeface="Cambria"/>
              </a:rPr>
              <a:t>X</a:t>
            </a:r>
            <a:r>
              <a:rPr sz="1300" b="0" i="1" baseline="-25000">
                <a:solidFill>
                  <a:srgbClr val="1C252B"/>
                </a:solidFill>
                <a:latin typeface="Cambria"/>
              </a:rPr>
              <a:t>n</a:t>
            </a:r>
            <a:r>
              <a:rPr sz="2000" b="0" i="0">
                <a:solidFill>
                  <a:srgbClr val="1C252B"/>
                </a:solidFill>
                <a:latin typeface="Segoe UI"/>
              </a:rPr>
              <a:t>;</a:t>
            </a:r>
          </a:p>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 </a:t>
            </a:r>
            <a:r>
              <a:rPr sz="2000" b="1" i="0">
                <a:solidFill>
                  <a:srgbClr val="1A5276"/>
                </a:solidFill>
                <a:latin typeface="Segoe UI"/>
              </a:rPr>
              <a:t>domain</a:t>
            </a:r>
            <a:r>
              <a:rPr sz="2000" b="0" i="0">
                <a:solidFill>
                  <a:srgbClr val="1C252B"/>
                </a:solidFill>
                <a:latin typeface="Segoe UI"/>
              </a:rPr>
              <a:t> </a:t>
            </a:r>
            <a:r>
              <a:rPr sz="2000" b="0" i="1">
                <a:solidFill>
                  <a:srgbClr val="1C252B"/>
                </a:solidFill>
                <a:latin typeface="Cambria"/>
              </a:rPr>
              <a:t>D</a:t>
            </a:r>
            <a:r>
              <a:rPr sz="1300" b="0" i="1" baseline="-25000">
                <a:solidFill>
                  <a:srgbClr val="1C252B"/>
                </a:solidFill>
                <a:latin typeface="Cambria"/>
              </a:rPr>
              <a:t>i</a:t>
            </a:r>
            <a:r>
              <a:rPr sz="2000" b="0" i="0">
                <a:solidFill>
                  <a:srgbClr val="1C252B"/>
                </a:solidFill>
                <a:latin typeface="Segoe UI"/>
              </a:rPr>
              <a:t> of possible values for each variable;</a:t>
            </a:r>
          </a:p>
          <a:p>
            <a:pPr algn="l" marL="223631" indent="-223631">
              <a:lnSpc>
                <a:spcPct val="104000"/>
              </a:lnSpc>
              <a:spcBef>
                <a:spcPts val="0"/>
              </a:spcBef>
              <a:spcAft>
                <a:spcPts val="0"/>
              </a:spcAft>
            </a:pPr>
            <a:r>
              <a:rPr sz="2000" b="1">
                <a:solidFill>
                  <a:srgbClr val="8A4500"/>
                </a:solidFill>
                <a:latin typeface="Segoe UI"/>
              </a:rPr>
              <a:t>•	</a:t>
            </a:r>
            <a:r>
              <a:rPr sz="2000" b="0" i="0">
                <a:solidFill>
                  <a:srgbClr val="1C252B"/>
                </a:solidFill>
                <a:latin typeface="Segoe UI"/>
              </a:rPr>
              <a:t>a set of </a:t>
            </a:r>
            <a:r>
              <a:rPr sz="2000" b="1" i="0">
                <a:solidFill>
                  <a:srgbClr val="1A5276"/>
                </a:solidFill>
                <a:latin typeface="Segoe UI"/>
              </a:rPr>
              <a:t>constraints</a:t>
            </a:r>
            <a:r>
              <a:rPr sz="2000" b="0" i="0">
                <a:solidFill>
                  <a:srgbClr val="1C252B"/>
                </a:solidFill>
                <a:latin typeface="Segoe UI"/>
              </a:rPr>
              <a:t>, each restricting the values that some subset of the variables may take simultaneously.</a:t>
            </a:r>
          </a:p>
        </p:txBody>
      </p:sp>
      <p:sp>
        <p:nvSpPr>
          <p:cNvPr id="11" name="body-2"/>
          <p:cNvSpPr txBox="1"/>
          <p:nvPr/>
        </p:nvSpPr>
        <p:spPr>
          <a:xfrm>
            <a:off x="1060704" y="409041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solution</a:t>
            </a:r>
            <a:r>
              <a:rPr sz="2000" b="0" i="0">
                <a:solidFill>
                  <a:srgbClr val="1C252B"/>
                </a:solidFill>
                <a:latin typeface="Segoe UI"/>
              </a:rPr>
              <a:t> is a complete assignment that violates no constraint. A constraint over two variables is </a:t>
            </a:r>
            <a:r>
              <a:rPr sz="2000" b="1" i="0">
                <a:solidFill>
                  <a:srgbClr val="1A5276"/>
                </a:solidFill>
                <a:latin typeface="Segoe UI"/>
              </a:rPr>
              <a:t>binary</a:t>
            </a:r>
            <a:r>
              <a:rPr sz="2000" b="0" i="0">
                <a:solidFill>
                  <a:srgbClr val="1C252B"/>
                </a:solidFill>
                <a:latin typeface="Segoe UI"/>
              </a:rPr>
              <a:t>; over more than two, </a:t>
            </a:r>
            <a:r>
              <a:rPr sz="2000" b="0" i="1">
                <a:solidFill>
                  <a:srgbClr val="1C252B"/>
                </a:solidFill>
                <a:latin typeface="Cambria"/>
              </a:rPr>
              <a:t>n</a:t>
            </a:r>
            <a:r>
              <a:rPr sz="2000" b="0" i="0">
                <a:solidFill>
                  <a:srgbClr val="1C252B"/>
                </a:solidFill>
                <a:latin typeface="Segoe UI"/>
              </a:rPr>
              <a:t>-ary.</a:t>
            </a:r>
          </a:p>
        </p:txBody>
      </p:sp>
      <p:sp>
        <p:nvSpPr>
          <p:cNvPr id="12" name="body-3"/>
          <p:cNvSpPr txBox="1"/>
          <p:nvPr/>
        </p:nvSpPr>
        <p:spPr>
          <a:xfrm>
            <a:off x="1060704" y="4864099"/>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crucial property is that the goal test is not opaque: it is a conjunction of constraints, each of which can be checked against a </a:t>
            </a:r>
            <a:r>
              <a:rPr sz="2000" b="0" i="1">
                <a:solidFill>
                  <a:srgbClr val="1C252B"/>
                </a:solidFill>
                <a:latin typeface="Segoe UI"/>
              </a:rPr>
              <a:t>partial</a:t>
            </a:r>
            <a:r>
              <a:rPr sz="2000" b="0" i="0">
                <a:solidFill>
                  <a:srgbClr val="1C252B"/>
                </a:solidFill>
                <a:latin typeface="Segoe UI"/>
              </a:rPr>
              <a:t> assignment. That is what allows a search to fail early instead of at the leaves.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sprint problem, formulated</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68     </a:t>
            </a:r>
            <a:fld id="{AFE7C878-135E-4768-829D-D13846F85CC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37431"/>
          </a:xfrm>
          <a:prstGeom prst="roundRect">
            <a:avLst>
              <a:gd name="adj" fmla="val 2210"/>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3743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74899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E8449"/>
                </a:solidFill>
                <a:latin typeface="Segoe UI"/>
              </a:rPr>
              <a:t>•	</a:t>
            </a:r>
            <a:r>
              <a:rPr sz="2100" b="0" i="1">
                <a:solidFill>
                  <a:srgbClr val="1C252B"/>
                </a:solidFill>
                <a:latin typeface="Segoe UI"/>
              </a:rPr>
              <a:t>Variables:</a:t>
            </a:r>
            <a:r>
              <a:rPr sz="2100" b="0" i="0">
                <a:solidFill>
                  <a:srgbClr val="1C252B"/>
                </a:solidFill>
                <a:latin typeface="Segoe UI"/>
              </a:rPr>
              <a:t> the twelve stories </a:t>
            </a:r>
            <a:r>
              <a:rPr sz="1950" b="0" i="0">
                <a:solidFill>
                  <a:srgbClr val="1F4E79"/>
                </a:solidFill>
                <a:latin typeface="Consolas"/>
              </a:rPr>
              <a:t>S1</a:t>
            </a:r>
            <a:r>
              <a:rPr sz="2100" b="0" i="0">
                <a:solidFill>
                  <a:srgbClr val="1C252B"/>
                </a:solidFill>
                <a:latin typeface="Segoe UI"/>
              </a:rPr>
              <a:t> … </a:t>
            </a:r>
            <a:r>
              <a:rPr sz="1950" b="0" i="0">
                <a:solidFill>
                  <a:srgbClr val="1F4E79"/>
                </a:solidFill>
                <a:latin typeface="Consolas"/>
              </a:rPr>
              <a:t>S12</a:t>
            </a:r>
            <a:r>
              <a:rPr sz="2100" b="0" i="0">
                <a:solidFill>
                  <a:srgbClr val="1C252B"/>
                </a:solidFill>
                <a:latin typeface="Segoe UI"/>
              </a:rPr>
              <a:t>.</a:t>
            </a:r>
          </a:p>
          <a:p>
            <a:pPr algn="l" marL="234813" indent="-234813">
              <a:lnSpc>
                <a:spcPct val="104000"/>
              </a:lnSpc>
              <a:spcBef>
                <a:spcPts val="0"/>
              </a:spcBef>
              <a:spcAft>
                <a:spcPts val="735"/>
              </a:spcAft>
            </a:pPr>
            <a:r>
              <a:rPr sz="2100" b="1">
                <a:solidFill>
                  <a:srgbClr val="1E8449"/>
                </a:solidFill>
                <a:latin typeface="Segoe UI"/>
              </a:rPr>
              <a:t>•	</a:t>
            </a:r>
            <a:r>
              <a:rPr sz="2100" b="0" i="1">
                <a:solidFill>
                  <a:srgbClr val="1C252B"/>
                </a:solidFill>
                <a:latin typeface="Segoe UI"/>
              </a:rPr>
              <a:t>Domains:</a:t>
            </a:r>
            <a:r>
              <a:rPr sz="2100" b="0" i="0">
                <a:solidFill>
                  <a:srgbClr val="1C252B"/>
                </a:solidFill>
                <a:latin typeface="Segoe UI"/>
              </a:rPr>
              <a:t> </a:t>
            </a:r>
            <a:r>
              <a:rPr sz="2100" b="0" i="0">
                <a:solidFill>
                  <a:srgbClr val="1C252B"/>
                </a:solidFill>
                <a:latin typeface="Cambria"/>
              </a:rPr>
              <a:t>{1,2,3,4}</a:t>
            </a:r>
            <a:r>
              <a:rPr sz="2100" b="0" i="0">
                <a:solidFill>
                  <a:srgbClr val="1C252B"/>
                </a:solidFill>
                <a:latin typeface="Segoe UI"/>
              </a:rPr>
              <a:t>, the sprint each is placed in.</a:t>
            </a:r>
          </a:p>
          <a:p>
            <a:pPr algn="l" marL="234813" indent="-234813">
              <a:lnSpc>
                <a:spcPct val="104000"/>
              </a:lnSpc>
              <a:spcBef>
                <a:spcPts val="0"/>
              </a:spcBef>
              <a:spcAft>
                <a:spcPts val="735"/>
              </a:spcAft>
            </a:pPr>
            <a:r>
              <a:rPr sz="2100" b="1">
                <a:solidFill>
                  <a:srgbClr val="1E8449"/>
                </a:solidFill>
                <a:latin typeface="Segoe UI"/>
              </a:rPr>
              <a:t>•	</a:t>
            </a:r>
            <a:r>
              <a:rPr sz="2100" b="0" i="1">
                <a:solidFill>
                  <a:srgbClr val="1C252B"/>
                </a:solidFill>
                <a:latin typeface="Segoe UI"/>
              </a:rPr>
              <a:t>Precedence</a:t>
            </a:r>
            <a:r>
              <a:rPr sz="2100" b="0" i="0">
                <a:solidFill>
                  <a:srgbClr val="1C252B"/>
                </a:solidFill>
                <a:latin typeface="Segoe UI"/>
              </a:rPr>
              <a:t> (binary): </a:t>
            </a:r>
            <a:r>
              <a:rPr sz="2100" b="0" i="1">
                <a:solidFill>
                  <a:srgbClr val="1C252B"/>
                </a:solidFill>
                <a:latin typeface="Cambria"/>
              </a:rPr>
              <a:t>S</a:t>
            </a:r>
            <a:r>
              <a:rPr sz="2100" b="0" i="0">
                <a:solidFill>
                  <a:srgbClr val="1C252B"/>
                </a:solidFill>
                <a:latin typeface="Cambria"/>
              </a:rPr>
              <a:t>1 &lt; </a:t>
            </a:r>
            <a:r>
              <a:rPr sz="2100" b="0" i="1">
                <a:solidFill>
                  <a:srgbClr val="1C252B"/>
                </a:solidFill>
                <a:latin typeface="Cambria"/>
              </a:rPr>
              <a:t>S</a:t>
            </a:r>
            <a:r>
              <a:rPr sz="2100" b="0" i="0">
                <a:solidFill>
                  <a:srgbClr val="1C252B"/>
                </a:solidFill>
                <a:latin typeface="Cambria"/>
              </a:rPr>
              <a:t>4</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2 &lt; </a:t>
            </a:r>
            <a:r>
              <a:rPr sz="2100" b="0" i="1">
                <a:solidFill>
                  <a:srgbClr val="1C252B"/>
                </a:solidFill>
                <a:latin typeface="Cambria"/>
              </a:rPr>
              <a:t>S</a:t>
            </a:r>
            <a:r>
              <a:rPr sz="2100" b="0" i="0">
                <a:solidFill>
                  <a:srgbClr val="1C252B"/>
                </a:solidFill>
                <a:latin typeface="Cambria"/>
              </a:rPr>
              <a:t>5</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3 &lt; </a:t>
            </a:r>
            <a:r>
              <a:rPr sz="2100" b="0" i="1">
                <a:solidFill>
                  <a:srgbClr val="1C252B"/>
                </a:solidFill>
                <a:latin typeface="Cambria"/>
              </a:rPr>
              <a:t>S</a:t>
            </a:r>
            <a:r>
              <a:rPr sz="2100" b="0" i="0">
                <a:solidFill>
                  <a:srgbClr val="1C252B"/>
                </a:solidFill>
                <a:latin typeface="Cambria"/>
              </a:rPr>
              <a:t>7</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6 &lt; </a:t>
            </a:r>
            <a:r>
              <a:rPr sz="2100" b="0" i="1">
                <a:solidFill>
                  <a:srgbClr val="1C252B"/>
                </a:solidFill>
                <a:latin typeface="Cambria"/>
              </a:rPr>
              <a:t>S</a:t>
            </a:r>
            <a:r>
              <a:rPr sz="2100" b="0" i="0">
                <a:solidFill>
                  <a:srgbClr val="1C252B"/>
                </a:solidFill>
                <a:latin typeface="Cambria"/>
              </a:rPr>
              <a:t>8</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9 &lt; </a:t>
            </a:r>
            <a:r>
              <a:rPr sz="2100" b="0" i="1">
                <a:solidFill>
                  <a:srgbClr val="1C252B"/>
                </a:solidFill>
                <a:latin typeface="Cambria"/>
              </a:rPr>
              <a:t>S</a:t>
            </a:r>
            <a:r>
              <a:rPr sz="2100" b="0" i="0">
                <a:solidFill>
                  <a:srgbClr val="1C252B"/>
                </a:solidFill>
                <a:latin typeface="Cambria"/>
              </a:rPr>
              <a:t>12</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10 &lt; </a:t>
            </a:r>
            <a:r>
              <a:rPr sz="2100" b="0" i="1">
                <a:solidFill>
                  <a:srgbClr val="1C252B"/>
                </a:solidFill>
                <a:latin typeface="Cambria"/>
              </a:rPr>
              <a:t>S</a:t>
            </a:r>
            <a:r>
              <a:rPr sz="2100" b="0" i="0">
                <a:solidFill>
                  <a:srgbClr val="1C252B"/>
                </a:solidFill>
                <a:latin typeface="Cambria"/>
              </a:rPr>
              <a:t>11</a:t>
            </a:r>
            <a:r>
              <a:rPr sz="2100" b="0" i="0">
                <a:solidFill>
                  <a:srgbClr val="1C252B"/>
                </a:solidFill>
                <a:latin typeface="Segoe UI"/>
              </a:rPr>
              <a:t>, </a:t>
            </a:r>
            <a:r>
              <a:rPr sz="2100" b="0" i="1">
                <a:solidFill>
                  <a:srgbClr val="1C252B"/>
                </a:solidFill>
                <a:latin typeface="Cambria"/>
              </a:rPr>
              <a:t>S</a:t>
            </a:r>
            <a:r>
              <a:rPr sz="2100" b="0" i="0">
                <a:solidFill>
                  <a:srgbClr val="1C252B"/>
                </a:solidFill>
                <a:latin typeface="Cambria"/>
              </a:rPr>
              <a:t>4 &lt; </a:t>
            </a:r>
            <a:r>
              <a:rPr sz="2100" b="0" i="1">
                <a:solidFill>
                  <a:srgbClr val="1C252B"/>
                </a:solidFill>
                <a:latin typeface="Cambria"/>
              </a:rPr>
              <a:t>S</a:t>
            </a:r>
            <a:r>
              <a:rPr sz="2100" b="0" i="0">
                <a:solidFill>
                  <a:srgbClr val="1C252B"/>
                </a:solidFill>
                <a:latin typeface="Cambria"/>
              </a:rPr>
              <a:t>12</a:t>
            </a:r>
            <a:r>
              <a:rPr sz="2100" b="0" i="0">
                <a:solidFill>
                  <a:srgbClr val="1C252B"/>
                </a:solidFill>
                <a:latin typeface="Segoe UI"/>
              </a:rPr>
              <a:t>.</a:t>
            </a:r>
          </a:p>
          <a:p>
            <a:pPr algn="l" marL="234813" indent="-234813">
              <a:lnSpc>
                <a:spcPct val="104000"/>
              </a:lnSpc>
              <a:spcBef>
                <a:spcPts val="0"/>
              </a:spcBef>
              <a:spcAft>
                <a:spcPts val="735"/>
              </a:spcAft>
            </a:pPr>
            <a:r>
              <a:rPr sz="2100" b="1">
                <a:solidFill>
                  <a:srgbClr val="1E8449"/>
                </a:solidFill>
                <a:latin typeface="Segoe UI"/>
              </a:rPr>
              <a:t>•	</a:t>
            </a:r>
            <a:r>
              <a:rPr sz="2100" b="0" i="1">
                <a:solidFill>
                  <a:srgbClr val="1C252B"/>
                </a:solidFill>
                <a:latin typeface="Segoe UI"/>
              </a:rPr>
              <a:t>Same developer, too big together</a:t>
            </a:r>
            <a:r>
              <a:rPr sz="2100" b="0" i="0">
                <a:solidFill>
                  <a:srgbClr val="1C252B"/>
                </a:solidFill>
                <a:latin typeface="Segoe UI"/>
              </a:rPr>
              <a:t> (binary, “not equal”): </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1,</a:t>
            </a:r>
            <a:r>
              <a:rPr sz="2100" b="0" i="1">
                <a:solidFill>
                  <a:srgbClr val="1C252B"/>
                </a:solidFill>
                <a:latin typeface="Cambria"/>
              </a:rPr>
              <a:t>S</a:t>
            </a:r>
            <a:r>
              <a:rPr sz="2100" b="0" i="0">
                <a:solidFill>
                  <a:srgbClr val="1C252B"/>
                </a:solidFill>
                <a:latin typeface="Cambria"/>
              </a:rPr>
              <a:t>7}</a:t>
            </a:r>
            <a:r>
              <a:rPr sz="2100" b="0" i="0">
                <a:solidFill>
                  <a:srgbClr val="1C252B"/>
                </a:solidFill>
                <a:latin typeface="Segoe UI"/>
              </a:rPr>
              <a:t>, </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2,</a:t>
            </a:r>
            <a:r>
              <a:rPr sz="2100" b="0" i="1">
                <a:solidFill>
                  <a:srgbClr val="1C252B"/>
                </a:solidFill>
                <a:latin typeface="Cambria"/>
              </a:rPr>
              <a:t>S</a:t>
            </a:r>
            <a:r>
              <a:rPr sz="2100" b="0" i="0">
                <a:solidFill>
                  <a:srgbClr val="1C252B"/>
                </a:solidFill>
                <a:latin typeface="Cambria"/>
              </a:rPr>
              <a:t>8}</a:t>
            </a:r>
            <a:r>
              <a:rPr sz="2100" b="0" i="0">
                <a:solidFill>
                  <a:srgbClr val="1C252B"/>
                </a:solidFill>
                <a:latin typeface="Segoe UI"/>
              </a:rPr>
              <a:t>, </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4,</a:t>
            </a:r>
            <a:r>
              <a:rPr sz="2100" b="0" i="1">
                <a:solidFill>
                  <a:srgbClr val="1C252B"/>
                </a:solidFill>
                <a:latin typeface="Cambria"/>
              </a:rPr>
              <a:t>S</a:t>
            </a:r>
            <a:r>
              <a:rPr sz="2100" b="0" i="0">
                <a:solidFill>
                  <a:srgbClr val="1C252B"/>
                </a:solidFill>
                <a:latin typeface="Cambria"/>
              </a:rPr>
              <a:t>6}</a:t>
            </a:r>
            <a:r>
              <a:rPr sz="2100" b="0" i="0">
                <a:solidFill>
                  <a:srgbClr val="1C252B"/>
                </a:solidFill>
                <a:latin typeface="Segoe UI"/>
              </a:rPr>
              <a:t>, </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9,</a:t>
            </a:r>
            <a:r>
              <a:rPr sz="2100" b="0" i="1">
                <a:solidFill>
                  <a:srgbClr val="1C252B"/>
                </a:solidFill>
                <a:latin typeface="Cambria"/>
              </a:rPr>
              <a:t>S</a:t>
            </a:r>
            <a:r>
              <a:rPr sz="2100" b="0" i="0">
                <a:solidFill>
                  <a:srgbClr val="1C252B"/>
                </a:solidFill>
                <a:latin typeface="Cambria"/>
              </a:rPr>
              <a:t>10}</a:t>
            </a:r>
            <a:r>
              <a:rPr sz="2100" b="0" i="0">
                <a:solidFill>
                  <a:srgbClr val="1C252B"/>
                </a:solidFill>
                <a:latin typeface="Segoe UI"/>
              </a:rPr>
              <a:t>, </a:t>
            </a:r>
            <a:r>
              <a:rPr sz="2100" b="0" i="0">
                <a:solidFill>
                  <a:srgbClr val="1C252B"/>
                </a:solidFill>
                <a:latin typeface="Cambria"/>
              </a:rPr>
              <a:t>{</a:t>
            </a:r>
            <a:r>
              <a:rPr sz="2100" b="0" i="1">
                <a:solidFill>
                  <a:srgbClr val="1C252B"/>
                </a:solidFill>
                <a:latin typeface="Cambria"/>
              </a:rPr>
              <a:t>S</a:t>
            </a:r>
            <a:r>
              <a:rPr sz="2100" b="0" i="0">
                <a:solidFill>
                  <a:srgbClr val="1C252B"/>
                </a:solidFill>
                <a:latin typeface="Cambria"/>
              </a:rPr>
              <a:t>7,</a:t>
            </a:r>
            <a:r>
              <a:rPr sz="2100" b="0" i="1">
                <a:solidFill>
                  <a:srgbClr val="1C252B"/>
                </a:solidFill>
                <a:latin typeface="Cambria"/>
              </a:rPr>
              <a:t>S</a:t>
            </a:r>
            <a:r>
              <a:rPr sz="2100" b="0" i="0">
                <a:solidFill>
                  <a:srgbClr val="1C252B"/>
                </a:solidFill>
                <a:latin typeface="Cambria"/>
              </a:rPr>
              <a:t>12}</a:t>
            </a:r>
            <a:r>
              <a:rPr sz="2100" b="0" i="0">
                <a:solidFill>
                  <a:srgbClr val="1C252B"/>
                </a:solidFill>
                <a:latin typeface="Segoe UI"/>
              </a:rPr>
              <a:t>.</a:t>
            </a:r>
          </a:p>
          <a:p>
            <a:pPr algn="l" marL="234813" indent="-234813">
              <a:lnSpc>
                <a:spcPct val="104000"/>
              </a:lnSpc>
              <a:spcBef>
                <a:spcPts val="0"/>
              </a:spcBef>
              <a:spcAft>
                <a:spcPts val="0"/>
              </a:spcAft>
            </a:pPr>
            <a:r>
              <a:rPr sz="2100" b="1">
                <a:solidFill>
                  <a:srgbClr val="1E8449"/>
                </a:solidFill>
                <a:latin typeface="Segoe UI"/>
              </a:rPr>
              <a:t>•	</a:t>
            </a:r>
            <a:r>
              <a:rPr sz="2100" b="0" i="1">
                <a:solidFill>
                  <a:srgbClr val="1C252B"/>
                </a:solidFill>
                <a:latin typeface="Segoe UI"/>
              </a:rPr>
              <a:t>Capacity</a:t>
            </a:r>
            <a:r>
              <a:rPr sz="2100" b="0" i="0">
                <a:solidFill>
                  <a:srgbClr val="1C252B"/>
                </a:solidFill>
                <a:latin typeface="Segoe UI"/>
              </a:rPr>
              <a:t> (</a:t>
            </a:r>
            <a:r>
              <a:rPr sz="2100" b="0" i="1">
                <a:solidFill>
                  <a:srgbClr val="1C252B"/>
                </a:solidFill>
                <a:latin typeface="Cambria"/>
              </a:rPr>
              <a:t>n</a:t>
            </a:r>
            <a:r>
              <a:rPr sz="2100" b="0" i="0">
                <a:solidFill>
                  <a:srgbClr val="1C252B"/>
                </a:solidFill>
                <a:latin typeface="Segoe UI"/>
              </a:rPr>
              <a:t>-ary): the points in each sprint total at most </a:t>
            </a:r>
            <a:r>
              <a:rPr sz="2100" b="0" i="0">
                <a:solidFill>
                  <a:srgbClr val="1C252B"/>
                </a:solidFill>
                <a:latin typeface="Cambria"/>
              </a:rPr>
              <a:t>12</a:t>
            </a:r>
            <a:r>
              <a:rPr sz="2100" b="0" i="0">
                <a:solidFill>
                  <a:srgbClr val="1C252B"/>
                </a:solidFill>
                <a:latin typeface="Segoe UI"/>
              </a:rPr>
              <a:t>. The twelve stories total </a:t>
            </a:r>
            <a:r>
              <a:rPr sz="2100" b="0" i="0">
                <a:solidFill>
                  <a:srgbClr val="1C252B"/>
                </a:solidFill>
                <a:latin typeface="Cambria"/>
              </a:rPr>
              <a:t>45</a:t>
            </a:r>
            <a:r>
              <a:rPr sz="2100" b="0" i="0">
                <a:solidFill>
                  <a:srgbClr val="1C252B"/>
                </a:solidFill>
                <a:latin typeface="Segoe UI"/>
              </a:rPr>
              <a:t> points against a capacity of </a:t>
            </a:r>
            <a:r>
              <a:rPr sz="2100" b="0" i="0">
                <a:solidFill>
                  <a:srgbClr val="1C252B"/>
                </a:solidFill>
                <a:latin typeface="Cambria"/>
              </a:rPr>
              <a:t>48</a:t>
            </a:r>
            <a:r>
              <a:rPr sz="2100" b="0" i="0">
                <a:solidFill>
                  <a:srgbClr val="1C252B"/>
                </a:solidFill>
                <a:latin typeface="Segoe UI"/>
              </a:rPr>
              <a:t>, so there is almost no slack.</a:t>
            </a:r>
          </a:p>
        </p:txBody>
      </p:sp>
      <p:sp>
        <p:nvSpPr>
          <p:cNvPr id="10" name="body-1"/>
          <p:cNvSpPr txBox="1"/>
          <p:nvPr/>
        </p:nvSpPr>
        <p:spPr>
          <a:xfrm>
            <a:off x="1060704" y="4898212"/>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There are </a:t>
            </a:r>
            <a:r>
              <a:rPr sz="2100" b="0" i="0">
                <a:solidFill>
                  <a:srgbClr val="1C252B"/>
                </a:solidFill>
                <a:latin typeface="Cambria"/>
              </a:rPr>
              <a:t>4</a:t>
            </a:r>
            <a:r>
              <a:rPr sz="1400" b="0" i="0" baseline="30000">
                <a:solidFill>
                  <a:srgbClr val="1C252B"/>
                </a:solidFill>
                <a:latin typeface="Cambria"/>
              </a:rPr>
              <a:t>12</a:t>
            </a:r>
            <a:r>
              <a:rPr sz="2100" b="0" i="0">
                <a:solidFill>
                  <a:srgbClr val="1C252B"/>
                </a:solidFill>
                <a:latin typeface="Cambria"/>
              </a:rPr>
              <a:t> = 16,777,216</a:t>
            </a:r>
            <a:r>
              <a:rPr sz="2100" b="0" i="0">
                <a:solidFill>
                  <a:srgbClr val="1C252B"/>
                </a:solidFill>
                <a:latin typeface="Segoe UI"/>
              </a:rPr>
              <a:t> assignments and exactly </a:t>
            </a:r>
            <a:r>
              <a:rPr sz="2100" b="0" i="0">
                <a:solidFill>
                  <a:srgbClr val="1C252B"/>
                </a:solidFill>
                <a:latin typeface="Cambria"/>
              </a:rPr>
              <a:t>14</a:t>
            </a:r>
            <a:r>
              <a:rPr sz="2100" b="0" i="0">
                <a:solidFill>
                  <a:srgbClr val="1C252B"/>
                </a:solidFill>
                <a:latin typeface="Segoe UI"/>
              </a:rPr>
              <a:t> solutions — about one in a million.</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constraint graph</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68     </a:t>
            </a:r>
            <a:fld id="{3B380575-97CE-4FAE-80E1-4E642AEA5572}" type="slidenum">
              <a:rPr lang="en-GB" sz="1000">
                <a:solidFill>
                  <a:srgbClr val="8795A1"/>
                </a:solidFill>
                <a:latin typeface="Segoe UI"/>
              </a:rPr>
              <a:t>9</a:t>
            </a:fld>
          </a:p>
        </p:txBody>
      </p:sp>
      <p:pic>
        <p:nvPicPr>
          <p:cNvPr id="6" name="!!figure" descr="Figure 7.1. The constraint graph. Twelve variables, twelve binary constraints, and one n-ary capacity constraint that no edge can repres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7856"/>
            <a:ext cx="10874959" cy="349282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Twelve variables, twelve binary constraints, and one n-ary capacity constraint that no edge can represent.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Backtracking Search</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69     </a:t>
            </a:r>
            <a:fld id="{3582A0D0-B45C-4E53-90C9-2194AC340706}" type="slidenum">
              <a:rPr lang="en-GB" sz="1000">
                <a:solidFill>
                  <a:srgbClr val="8795A1"/>
                </a:solidFill>
                <a:latin typeface="Segoe UI"/>
              </a:rPr>
              <a:t>10</a:t>
            </a:fld>
          </a:p>
        </p:txBody>
      </p:sp>
      <p:sp>
        <p:nvSpPr>
          <p:cNvPr id="7" name="!!stbar">
            <a:extLst>
              <a:ext uri="{C183D7F6-B498-43B3-948B-1728B52AA6E4}">
                <adec:decorative xmlns:adec="http://schemas.microsoft.com/office/drawing/2017/decorative" val="1"/>
              </a:ext>
            </a:extLst>
          </p:cNvPr>
          <p:cNvSpPr/>
          <p:nvPr/>
        </p:nvSpPr>
        <p:spPr>
          <a:xfrm>
            <a:off x="658368" y="1810512"/>
            <a:ext cx="73152" cy="391805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Assign one variable at a time; after each assignment check it against everything already assigned; if nothing is consistent, undo the last choice and try the next value. This is </a:t>
            </a:r>
            <a:r>
              <a:rPr sz="2100" b="1" i="0">
                <a:solidFill>
                  <a:srgbClr val="1A5276"/>
                </a:solidFill>
                <a:latin typeface="Segoe UI"/>
              </a:rPr>
              <a:t>backtracking search</a:t>
            </a:r>
            <a:r>
              <a:rPr sz="2100" b="0" i="0">
                <a:solidFill>
                  <a:srgbClr val="1C252B"/>
                </a:solidFill>
                <a:latin typeface="Segoe UI"/>
              </a:rPr>
              <a:t>, and it is depth-first search with the goal test applied incrementally.</a:t>
            </a:r>
          </a:p>
        </p:txBody>
      </p:sp>
      <p:sp>
        <p:nvSpPr>
          <p:cNvPr id="9" name="body-1"/>
          <p:cNvSpPr txBox="1"/>
          <p:nvPr/>
        </p:nvSpPr>
        <p:spPr>
          <a:xfrm>
            <a:off x="1042415" y="3270275"/>
            <a:ext cx="1041775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incremental check is the whole gain. A general search must place all twelve stories before it can test anything; backtracking discovers that </a:t>
            </a:r>
            <a:r>
              <a:rPr sz="1950" b="0" i="0">
                <a:solidFill>
                  <a:srgbClr val="1F4E79"/>
                </a:solidFill>
                <a:latin typeface="Consolas"/>
              </a:rPr>
              <a:t>S4</a:t>
            </a:r>
            <a:r>
              <a:rPr sz="2100" b="0" i="0">
                <a:solidFill>
                  <a:srgbClr val="1C252B"/>
                </a:solidFill>
                <a:latin typeface="Segoe UI"/>
              </a:rPr>
              <a:t> cannot go in sprint 1 the moment </a:t>
            </a:r>
            <a:r>
              <a:rPr sz="1950" b="0" i="0">
                <a:solidFill>
                  <a:srgbClr val="1F4E79"/>
                </a:solidFill>
                <a:latin typeface="Consolas"/>
              </a:rPr>
              <a:t>S1</a:t>
            </a:r>
            <a:r>
              <a:rPr sz="2100" b="0" i="0">
                <a:solidFill>
                  <a:srgbClr val="1C252B"/>
                </a:solidFill>
                <a:latin typeface="Segoe UI"/>
              </a:rPr>
              <a:t> is placed there, and never builds any of the </a:t>
            </a:r>
            <a:r>
              <a:rPr sz="2100" b="0" i="0">
                <a:solidFill>
                  <a:srgbClr val="1C252B"/>
                </a:solidFill>
                <a:latin typeface="Cambria"/>
              </a:rPr>
              <a:t>4</a:t>
            </a:r>
            <a:r>
              <a:rPr sz="1400" b="0" i="0" baseline="30000">
                <a:solidFill>
                  <a:srgbClr val="1C252B"/>
                </a:solidFill>
                <a:latin typeface="Cambria"/>
              </a:rPr>
              <a:t>10</a:t>
            </a:r>
            <a:r>
              <a:rPr sz="2100" b="0" i="0">
                <a:solidFill>
                  <a:srgbClr val="1C252B"/>
                </a:solidFill>
                <a:latin typeface="Segoe UI"/>
              </a:rPr>
              <a:t> assignments below that choice.</a:t>
            </a:r>
          </a:p>
        </p:txBody>
      </p:sp>
      <p:sp>
        <p:nvSpPr>
          <p:cNvPr id="10" name="body-2"/>
          <p:cNvSpPr txBox="1"/>
          <p:nvPr/>
        </p:nvSpPr>
        <p:spPr>
          <a:xfrm>
            <a:off x="1042415" y="4748326"/>
            <a:ext cx="1041775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On the sprint problem, plain backtracking finds a solution after </a:t>
            </a:r>
            <a:r>
              <a:rPr sz="2100" b="0" i="0">
                <a:solidFill>
                  <a:srgbClr val="1C252B"/>
                </a:solidFill>
                <a:latin typeface="Cambria"/>
              </a:rPr>
              <a:t>123</a:t>
            </a:r>
            <a:r>
              <a:rPr sz="2100" b="0" i="0">
                <a:solidFill>
                  <a:srgbClr val="1C252B"/>
                </a:solidFill>
                <a:latin typeface="Segoe UI"/>
              </a:rPr>
              <a:t> nodes and </a:t>
            </a:r>
            <a:r>
              <a:rPr sz="2100" b="0" i="0">
                <a:solidFill>
                  <a:srgbClr val="1C252B"/>
                </a:solidFill>
                <a:latin typeface="Cambria"/>
              </a:rPr>
              <a:t>3,784</a:t>
            </a:r>
            <a:r>
              <a:rPr sz="2100" b="0" i="0">
                <a:solidFill>
                  <a:srgbClr val="1C252B"/>
                </a:solidFill>
                <a:latin typeface="Segoe UI"/>
              </a:rPr>
              <a:t> consistency checks — against </a:t>
            </a:r>
            <a:r>
              <a:rPr sz="2100" b="0" i="0">
                <a:solidFill>
                  <a:srgbClr val="1C252B"/>
                </a:solidFill>
                <a:latin typeface="Cambria"/>
              </a:rPr>
              <a:t>16,777,216</a:t>
            </a:r>
            <a:r>
              <a:rPr sz="2100" b="0" i="0">
                <a:solidFill>
                  <a:srgbClr val="1C252B"/>
                </a:solidFill>
                <a:latin typeface="Segoe UI"/>
              </a:rPr>
              <a:t> complete assignments. The structure was worth a factor of a hundred thousand before any heuristic was applied.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MRV on its own does nothing at all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§7.3  ·  Handout p. 70     </a:t>
            </a:r>
            <a:fld id="{1B40D904-886D-4162-B572-CDE8052F7468}"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Here is a result from the lab that is worth more than the heuristics themselves. Adding MRV to plain backtracking on this problem changes the cost by </a:t>
            </a:r>
            <a:r>
              <a:rPr sz="2000" b="0" i="1">
                <a:solidFill>
                  <a:srgbClr val="1C252B"/>
                </a:solidFill>
                <a:latin typeface="Segoe UI"/>
              </a:rPr>
              <a:t>nothing</a:t>
            </a:r>
            <a:r>
              <a:rPr sz="2000" b="0" i="0">
                <a:solidFill>
                  <a:srgbClr val="1C252B"/>
                </a:solidFill>
                <a:latin typeface="Segoe UI"/>
              </a:rPr>
              <a:t>: </a:t>
            </a:r>
            <a:r>
              <a:rPr sz="2000" b="0" i="0">
                <a:solidFill>
                  <a:srgbClr val="1C252B"/>
                </a:solidFill>
                <a:latin typeface="Cambria"/>
              </a:rPr>
              <a:t>3,784</a:t>
            </a:r>
            <a:r>
              <a:rPr sz="2000" b="0" i="0">
                <a:solidFill>
                  <a:srgbClr val="1C252B"/>
                </a:solidFill>
                <a:latin typeface="Segoe UI"/>
              </a:rPr>
              <a:t> consistency checks and </a:t>
            </a:r>
            <a:r>
              <a:rPr sz="2000" b="0" i="0">
                <a:solidFill>
                  <a:srgbClr val="1C252B"/>
                </a:solidFill>
                <a:latin typeface="Cambria"/>
              </a:rPr>
              <a:t>123</a:t>
            </a:r>
            <a:r>
              <a:rPr sz="2000" b="0" i="0">
                <a:solidFill>
                  <a:srgbClr val="1C252B"/>
                </a:solidFill>
                <a:latin typeface="Segoe UI"/>
              </a:rPr>
              <a:t> nodes, both with it and without.</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reason is not that MRV is a bad idea. It is that MRV has no information to act on. Every domain starts at four values and </a:t>
            </a:r>
            <a:r>
              <a:rPr sz="2000" b="0" i="1">
                <a:solidFill>
                  <a:srgbClr val="1C252B"/>
                </a:solidFill>
                <a:latin typeface="Segoe UI"/>
              </a:rPr>
              <a:t>nothing ever shrinks them</a:t>
            </a:r>
            <a:r>
              <a:rPr sz="2000" b="0" i="0">
                <a:solidFill>
                  <a:srgbClr val="1C252B"/>
                </a:solidFill>
                <a:latin typeface="Segoe UI"/>
              </a:rPr>
              <a:t>, so every unassigned variable ties forever and MRV falls back on the first variable in the list — which is what plain backtracking already did.</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Domains shrink only when something propagates the consequences of an assignment. So MRV and propagation are a package: neither is worth much without the other, and together they are worth a factor of nine here. If you take one thing from this chapter, take that.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Forward checking after one assignment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§7.4  ·  Handout p. 70     </a:t>
            </a:r>
            <a:fld id="{C0BF5801-4767-4FBB-909F-B5A137D3B2DF}" type="slidenum">
              <a:rPr lang="en-GB" sz="1000">
                <a:solidFill>
                  <a:srgbClr val="8795A1"/>
                </a:solidFill>
                <a:latin typeface="Segoe UI"/>
              </a:rPr>
              <a:t>12</a:t>
            </a:fld>
          </a:p>
        </p:txBody>
      </p:sp>
      <p:pic>
        <p:nvPicPr>
          <p:cNvPr id="6" name="!!figure" descr="Figure 7.2. Forward checking after one assignment. The pruning is the visible effect; giving the ordering heuristic something to measure is the valuable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68165"/>
            <a:ext cx="10874959" cy="326248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pruning is the visible effect; giving the ordering heuristic something to measure is the valuable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Propagation: Arc Consistency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A Sprint Plan as a Constraint Problem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Backtracking Search</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7.3   Which Variable Next, and Which Value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7.4   Propagation: Forward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7.5   Propagation: Arc Consistency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7.6   The Measurement</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7.7   When There Is No Solution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§7.5     </a:t>
            </a:r>
            <a:fld id="{7B8C4DE3-B850-43E0-962B-3E53B77E813F}" type="slidenum">
              <a:rPr lang="en-GB" sz="1000">
                <a:solidFill>
                  <a:srgbClr val="8795A1"/>
                </a:solidFill>
                <a:latin typeface="Segoe UI"/>
              </a:rPr>
              <a:t>13</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Arc consistency and AC-3</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71     </a:t>
            </a:r>
            <a:fld id="{A66A5E14-F1E0-407B-888A-EF91EB1AA805}"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arc </a:t>
            </a:r>
            <a:r>
              <a:rPr sz="2300" b="0" i="1">
                <a:solidFill>
                  <a:srgbClr val="1C252B"/>
                </a:solidFill>
                <a:latin typeface="Cambria"/>
              </a:rPr>
              <a:t>X</a:t>
            </a:r>
            <a:r>
              <a:rPr sz="1500" b="0" i="1" baseline="-25000">
                <a:solidFill>
                  <a:srgbClr val="1C252B"/>
                </a:solidFill>
                <a:latin typeface="Cambria"/>
              </a:rPr>
              <a:t>i</a:t>
            </a:r>
            <a:r>
              <a:rPr sz="2300" b="0" i="0">
                <a:solidFill>
                  <a:srgbClr val="1C252B"/>
                </a:solidFill>
                <a:latin typeface="Cambria"/>
              </a:rPr>
              <a:t> → </a:t>
            </a:r>
            <a:r>
              <a:rPr sz="2300" b="0" i="1">
                <a:solidFill>
                  <a:srgbClr val="1C252B"/>
                </a:solidFill>
                <a:latin typeface="Cambria"/>
              </a:rPr>
              <a:t>X</a:t>
            </a:r>
            <a:r>
              <a:rPr sz="1500" b="0" i="1" baseline="-25000">
                <a:solidFill>
                  <a:srgbClr val="1C252B"/>
                </a:solidFill>
                <a:latin typeface="Cambria"/>
              </a:rPr>
              <a:t>j</a:t>
            </a:r>
            <a:r>
              <a:rPr sz="2300" b="0" i="0">
                <a:solidFill>
                  <a:srgbClr val="1C252B"/>
                </a:solidFill>
                <a:latin typeface="Segoe UI"/>
              </a:rPr>
              <a:t> is </a:t>
            </a:r>
            <a:r>
              <a:rPr sz="2300" b="1" i="0">
                <a:solidFill>
                  <a:srgbClr val="1A5276"/>
                </a:solidFill>
                <a:latin typeface="Segoe UI"/>
              </a:rPr>
              <a:t>consistent</a:t>
            </a:r>
            <a:r>
              <a:rPr sz="2300" b="0" i="0">
                <a:solidFill>
                  <a:srgbClr val="1C252B"/>
                </a:solidFill>
                <a:latin typeface="Segoe UI"/>
              </a:rPr>
              <a:t> if for </a:t>
            </a:r>
            <a:r>
              <a:rPr sz="2300" b="0" i="1">
                <a:solidFill>
                  <a:srgbClr val="1C252B"/>
                </a:solidFill>
                <a:latin typeface="Segoe UI"/>
              </a:rPr>
              <a:t>every</a:t>
            </a:r>
            <a:r>
              <a:rPr sz="2300" b="0" i="0">
                <a:solidFill>
                  <a:srgbClr val="1C252B"/>
                </a:solidFill>
                <a:latin typeface="Segoe UI"/>
              </a:rPr>
              <a:t> value in </a:t>
            </a:r>
            <a:r>
              <a:rPr sz="2300" b="0" i="1">
                <a:solidFill>
                  <a:srgbClr val="1C252B"/>
                </a:solidFill>
                <a:latin typeface="Cambria"/>
              </a:rPr>
              <a:t>D</a:t>
            </a:r>
            <a:r>
              <a:rPr sz="1500" b="0" i="1" baseline="-25000">
                <a:solidFill>
                  <a:srgbClr val="1C252B"/>
                </a:solidFill>
                <a:latin typeface="Cambria"/>
              </a:rPr>
              <a:t>i</a:t>
            </a:r>
            <a:r>
              <a:rPr sz="2300" b="0" i="0">
                <a:solidFill>
                  <a:srgbClr val="1C252B"/>
                </a:solidFill>
                <a:latin typeface="Segoe UI"/>
              </a:rPr>
              <a:t> there is </a:t>
            </a:r>
            <a:r>
              <a:rPr sz="2300" b="0" i="1">
                <a:solidFill>
                  <a:srgbClr val="1C252B"/>
                </a:solidFill>
                <a:latin typeface="Segoe UI"/>
              </a:rPr>
              <a:t>some</a:t>
            </a:r>
            <a:r>
              <a:rPr sz="2300" b="0" i="0">
                <a:solidFill>
                  <a:srgbClr val="1C252B"/>
                </a:solidFill>
                <a:latin typeface="Segoe UI"/>
              </a:rPr>
              <a:t> value in </a:t>
            </a:r>
            <a:r>
              <a:rPr sz="2300" b="0" i="1">
                <a:solidFill>
                  <a:srgbClr val="1C252B"/>
                </a:solidFill>
                <a:latin typeface="Cambria"/>
              </a:rPr>
              <a:t>D</a:t>
            </a:r>
            <a:r>
              <a:rPr sz="1500" b="0" i="1" baseline="-25000">
                <a:solidFill>
                  <a:srgbClr val="1C252B"/>
                </a:solidFill>
                <a:latin typeface="Cambria"/>
              </a:rPr>
              <a:t>j</a:t>
            </a:r>
            <a:r>
              <a:rPr sz="2300" b="0" i="0">
                <a:solidFill>
                  <a:srgbClr val="1C252B"/>
                </a:solidFill>
                <a:latin typeface="Segoe UI"/>
              </a:rPr>
              <a:t> satisfying the binary constraint between them. A value in </a:t>
            </a:r>
            <a:r>
              <a:rPr sz="2300" b="0" i="1">
                <a:solidFill>
                  <a:srgbClr val="1C252B"/>
                </a:solidFill>
                <a:latin typeface="Cambria"/>
              </a:rPr>
              <a:t>D</a:t>
            </a:r>
            <a:r>
              <a:rPr sz="1500" b="0" i="1" baseline="-25000">
                <a:solidFill>
                  <a:srgbClr val="1C252B"/>
                </a:solidFill>
                <a:latin typeface="Cambria"/>
              </a:rPr>
              <a:t>i</a:t>
            </a:r>
            <a:r>
              <a:rPr sz="2300" b="0" i="0">
                <a:solidFill>
                  <a:srgbClr val="1C252B"/>
                </a:solidFill>
                <a:latin typeface="Segoe UI"/>
              </a:rPr>
              <a:t> with no partner can never appear in a solution and is removed.</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AC-3</a:t>
            </a:r>
            <a:r>
              <a:rPr sz="2300" b="0" i="0">
                <a:solidFill>
                  <a:srgbClr val="1C252B"/>
                </a:solidFill>
                <a:latin typeface="Segoe UI"/>
              </a:rPr>
              <a:t> enforces this everywhere: keep a queue of arcs; take one, prune </a:t>
            </a:r>
            <a:r>
              <a:rPr sz="2300" b="0" i="1">
                <a:solidFill>
                  <a:srgbClr val="1C252B"/>
                </a:solidFill>
                <a:latin typeface="Cambria"/>
              </a:rPr>
              <a:t>D</a:t>
            </a:r>
            <a:r>
              <a:rPr sz="1500" b="0" i="1" baseline="-25000">
                <a:solidFill>
                  <a:srgbClr val="1C252B"/>
                </a:solidFill>
                <a:latin typeface="Cambria"/>
              </a:rPr>
              <a:t>i</a:t>
            </a:r>
            <a:r>
              <a:rPr sz="2300" b="0" i="0">
                <a:solidFill>
                  <a:srgbClr val="1C252B"/>
                </a:solidFill>
                <a:latin typeface="Segoe UI"/>
              </a:rPr>
              <a:t> against </a:t>
            </a:r>
            <a:r>
              <a:rPr sz="2300" b="0" i="1">
                <a:solidFill>
                  <a:srgbClr val="1C252B"/>
                </a:solidFill>
                <a:latin typeface="Cambria"/>
              </a:rPr>
              <a:t>D</a:t>
            </a:r>
            <a:r>
              <a:rPr sz="1500" b="0" i="1" baseline="-25000">
                <a:solidFill>
                  <a:srgbClr val="1C252B"/>
                </a:solidFill>
                <a:latin typeface="Cambria"/>
              </a:rPr>
              <a:t>j</a:t>
            </a:r>
            <a:r>
              <a:rPr sz="2300" b="0" i="0">
                <a:solidFill>
                  <a:srgbClr val="1C252B"/>
                </a:solidFill>
                <a:latin typeface="Segoe UI"/>
              </a:rPr>
              <a:t>; if anything was removed, re-queue every arc </a:t>
            </a:r>
            <a:r>
              <a:rPr sz="2300" b="0" i="1">
                <a:solidFill>
                  <a:srgbClr val="1C252B"/>
                </a:solidFill>
                <a:latin typeface="Segoe UI"/>
              </a:rPr>
              <a:t>into</a:t>
            </a:r>
            <a:r>
              <a:rPr sz="2300" b="0" i="0">
                <a:solidFill>
                  <a:srgbClr val="1C252B"/>
                </a:solidFill>
                <a:latin typeface="Segoe UI"/>
              </a:rPr>
              <a:t> </a:t>
            </a:r>
            <a:r>
              <a:rPr sz="2300" b="0" i="1">
                <a:solidFill>
                  <a:srgbClr val="1C252B"/>
                </a:solidFill>
                <a:latin typeface="Cambria"/>
              </a:rPr>
              <a:t>X</a:t>
            </a:r>
            <a:r>
              <a:rPr sz="1500" b="0" i="1" baseline="-25000">
                <a:solidFill>
                  <a:srgbClr val="1C252B"/>
                </a:solidFill>
                <a:latin typeface="Cambria"/>
              </a:rPr>
              <a:t>i</a:t>
            </a:r>
            <a:r>
              <a:rPr sz="2300" b="0" i="0">
                <a:solidFill>
                  <a:srgbClr val="1C252B"/>
                </a:solidFill>
                <a:latin typeface="Segoe UI"/>
              </a:rPr>
              <a:t>, because those may now have lost partners. Stop when the queue empties, or fail if a domain empties.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AC-3 cannot see, and it is the important constraint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§7.5  ·  Handout p. 71     </a:t>
            </a:r>
            <a:fld id="{9E6D1461-05FA-4BD9-81E1-47B237EB5106}"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0930"/>
          </a:xfrm>
          <a:prstGeom prst="roundRect">
            <a:avLst>
              <a:gd name="adj" fmla="val 203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093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Look again at Figure 7.1: the capacity constraint has no edge, because it is </a:t>
            </a:r>
            <a:r>
              <a:rPr sz="1900" b="0" i="1">
                <a:solidFill>
                  <a:srgbClr val="1C252B"/>
                </a:solidFill>
                <a:latin typeface="Cambria"/>
              </a:rPr>
              <a:t>n</a:t>
            </a:r>
            <a:r>
              <a:rPr sz="1900" b="0" i="0">
                <a:solidFill>
                  <a:srgbClr val="1C252B"/>
                </a:solidFill>
                <a:latin typeface="Segoe UI"/>
              </a:rPr>
              <a:t>-ary and a constraint graph draws binary constraints. AC-3 works on arcs, so it never considers capacity at all.</a:t>
            </a:r>
          </a:p>
        </p:txBody>
      </p:sp>
      <p:sp>
        <p:nvSpPr>
          <p:cNvPr id="10" name="body-1"/>
          <p:cNvSpPr txBox="1"/>
          <p:nvPr/>
        </p:nvSpPr>
        <p:spPr>
          <a:xfrm>
            <a:off x="1060704" y="3084398"/>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This matters, because capacity is the constraint that actually makes this problem hard — </a:t>
            </a:r>
            <a:r>
              <a:rPr sz="1900" b="0" i="0">
                <a:solidFill>
                  <a:srgbClr val="1C252B"/>
                </a:solidFill>
                <a:latin typeface="Cambria"/>
              </a:rPr>
              <a:t>45</a:t>
            </a:r>
            <a:r>
              <a:rPr sz="1900" b="0" i="0">
                <a:solidFill>
                  <a:srgbClr val="1C252B"/>
                </a:solidFill>
                <a:latin typeface="Segoe UI"/>
              </a:rPr>
              <a:t> points into </a:t>
            </a:r>
            <a:r>
              <a:rPr sz="1900" b="0" i="0">
                <a:solidFill>
                  <a:srgbClr val="1C252B"/>
                </a:solidFill>
                <a:latin typeface="Cambria"/>
              </a:rPr>
              <a:t>48</a:t>
            </a:r>
            <a:r>
              <a:rPr sz="1900" b="0" i="0">
                <a:solidFill>
                  <a:srgbClr val="1C252B"/>
                </a:solidFill>
                <a:latin typeface="Segoe UI"/>
              </a:rPr>
              <a:t> of capacity. Arc consistency prunes the precedence and same-developer structure beautifully and leaves the binding constraint untouched. The measurement in Table 7.1 shows the consequence: AC-3 preprocessing costs </a:t>
            </a:r>
            <a:r>
              <a:rPr sz="1900" b="0" i="0">
                <a:solidFill>
                  <a:srgbClr val="1C252B"/>
                </a:solidFill>
                <a:latin typeface="Cambria"/>
              </a:rPr>
              <a:t>224</a:t>
            </a:r>
            <a:r>
              <a:rPr sz="1900" b="0" i="0">
                <a:solidFill>
                  <a:srgbClr val="1C252B"/>
                </a:solidFill>
                <a:latin typeface="Segoe UI"/>
              </a:rPr>
              <a:t> extra consistency checks and removes </a:t>
            </a:r>
            <a:r>
              <a:rPr sz="1900" b="0" i="1">
                <a:solidFill>
                  <a:srgbClr val="1C252B"/>
                </a:solidFill>
                <a:latin typeface="Segoe UI"/>
              </a:rPr>
              <a:t>no</a:t>
            </a:r>
            <a:r>
              <a:rPr sz="1900" b="0" i="0">
                <a:solidFill>
                  <a:srgbClr val="1C252B"/>
                </a:solidFill>
                <a:latin typeface="Segoe UI"/>
              </a:rPr>
              <a:t> search nodes at all.</a:t>
            </a:r>
          </a:p>
        </p:txBody>
      </p:sp>
      <p:sp>
        <p:nvSpPr>
          <p:cNvPr id="11" name="body-2"/>
          <p:cNvSpPr txBox="1"/>
          <p:nvPr/>
        </p:nvSpPr>
        <p:spPr>
          <a:xfrm>
            <a:off x="1060704" y="472282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general lesson is not that AC-3 is bad. It is that </a:t>
            </a:r>
            <a:r>
              <a:rPr sz="1900" b="0" i="1">
                <a:solidFill>
                  <a:srgbClr val="1C252B"/>
                </a:solidFill>
                <a:latin typeface="Segoe UI"/>
              </a:rPr>
              <a:t>propagation only propagates what you have expressed in a form it can read</a:t>
            </a:r>
            <a:r>
              <a:rPr sz="1900" b="0" i="0">
                <a:solidFill>
                  <a:srgbClr val="1C252B"/>
                </a:solidFill>
                <a:latin typeface="Segoe UI"/>
              </a:rPr>
              <a:t>. If the binding constraint is </a:t>
            </a:r>
            <a:r>
              <a:rPr sz="1900" b="0" i="1">
                <a:solidFill>
                  <a:srgbClr val="1C252B"/>
                </a:solidFill>
                <a:latin typeface="Cambria"/>
              </a:rPr>
              <a:t>n</a:t>
            </a:r>
            <a:r>
              <a:rPr sz="1900" b="0" i="0">
                <a:solidFill>
                  <a:srgbClr val="1C252B"/>
                </a:solidFill>
                <a:latin typeface="Segoe UI"/>
              </a:rPr>
              <a:t>-ary, you need a generalised consistency algorithm, or you must re-express the constraint — and knowing which situation you are in is the engineering judgement here.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Measurement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§7.6  ·  Handout p. 71     </a:t>
            </a:r>
            <a:fld id="{8D7EAF34-E6D0-4473-B5A3-4F138205E169}"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7" cy="4078221"/>
        </p:xfrm>
        <a:graphic>
          <a:graphicData uri="http://schemas.openxmlformats.org/drawingml/2006/table">
            <a:tbl>
              <a:tblPr firstRow="0" bandRow="0" firstCol="0" lastRow="0" lastCol="0" bandCol="0">
                <a:tableStyleId>{2D5ABB26-0587-4C30-8999-92F81FD0307C}</a:tableStyleId>
              </a:tblPr>
              <a:tblGrid>
                <a:gridCol w="4438758"/>
                <a:gridCol w="1701524"/>
                <a:gridCol w="1479586"/>
                <a:gridCol w="3255089"/>
              </a:tblGrid>
              <a:tr h="374904">
                <a:tc>
                  <a:txBody>
                    <a:bodyPr wrap="square"/>
                    <a:lstStyle/>
                    <a:p>
                      <a:pPr algn="l"/>
                      <a:r>
                        <a:rPr sz="1500" b="1" i="0">
                          <a:solidFill>
                            <a:srgbClr val="1A5276"/>
                          </a:solidFill>
                          <a:latin typeface="Segoe UI"/>
                        </a:rPr>
                        <a:t>Configuration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Checks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Nodes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Comment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03504">
                <a:tc>
                  <a:txBody>
                    <a:bodyPr wrap="square"/>
                    <a:lstStyle/>
                    <a:p>
                      <a:pPr algn="l"/>
                      <a:r>
                        <a:rPr sz="1500" b="0" i="0">
                          <a:solidFill>
                            <a:srgbClr val="1C252B"/>
                          </a:solidFill>
                          <a:latin typeface="Segoe UI"/>
                        </a:rPr>
                        <a:t>Plain backtracking</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3,784</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123</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The baseline. Already </a:t>
                      </a:r>
                      <a:r>
                        <a:rPr sz="1500" b="0" i="0">
                          <a:solidFill>
                            <a:srgbClr val="1C252B"/>
                          </a:solidFill>
                          <a:latin typeface="Cambria"/>
                        </a:rPr>
                        <a:t>10</a:t>
                      </a:r>
                      <a:r>
                        <a:rPr sz="1000" b="0" i="0" baseline="30000">
                          <a:solidFill>
                            <a:srgbClr val="1C252B"/>
                          </a:solidFill>
                          <a:latin typeface="Cambria"/>
                        </a:rPr>
                        <a:t>5</a:t>
                      </a:r>
                      <a:r>
                        <a:rPr sz="1500" b="0" i="0">
                          <a:solidFill>
                            <a:srgbClr val="1C252B"/>
                          </a:solidFill>
                          <a:latin typeface="Segoe UI"/>
                        </a:rPr>
                        <a:t> better than enumeration</a:t>
                      </a:r>
                      <a:endParaRPr sz="1500"/>
                    </a:p>
                  </a:txBody>
                  <a:tcPr marL="109728" marR="109728" marT="64008" marB="45720" anchor="t">
                    <a:lnL w="0" cmpd="sng">
                      <a:noFill/>
                    </a:lnL>
                    <a:lnR w="0" cmpd="sng">
                      <a:noFill/>
                    </a:lnR>
                    <a:lnT w="9525" cmpd="sng">
                      <a:noFill/>
                    </a:lnT>
                    <a:lnB w="9525" cmpd="sng">
                      <a:noFill/>
                    </a:lnB>
                    <a:solidFill>
                      <a:srgbClr val="FFFFFF"/>
                    </a:solidFill>
                  </a:tcPr>
                </a:tc>
              </a:tr>
              <a:tr h="832103">
                <a:tc>
                  <a:txBody>
                    <a:bodyPr wrap="square"/>
                    <a:lstStyle/>
                    <a:p>
                      <a:pPr algn="l"/>
                      <a:r>
                        <a:rPr sz="1500" b="0" i="0">
                          <a:solidFill>
                            <a:srgbClr val="1C252B"/>
                          </a:solidFill>
                          <a:latin typeface="Segoe UI"/>
                        </a:rPr>
                        <a:t>+ MRV</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3,784</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123</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1" i="0">
                          <a:solidFill>
                            <a:srgbClr val="1C252B"/>
                          </a:solidFill>
                          <a:latin typeface="Segoe UI"/>
                        </a:rPr>
                        <a:t>No change.</a:t>
                      </a:r>
                      <a:r>
                        <a:rPr sz="1500" b="0" i="0">
                          <a:solidFill>
                            <a:srgbClr val="1C252B"/>
                          </a:solidFill>
                          <a:latin typeface="Segoe UI"/>
                        </a:rPr>
                        <a:t> Nothing shrinks the domains, so MRV never has a preference</a:t>
                      </a:r>
                      <a:endParaRPr sz="1500"/>
                    </a:p>
                  </a:txBody>
                  <a:tcPr marL="109728" marR="109728" marT="64008" marB="45720" anchor="t">
                    <a:lnL w="0" cmpd="sng">
                      <a:noFill/>
                    </a:lnL>
                    <a:lnR w="0" cmpd="sng">
                      <a:noFill/>
                    </a:lnR>
                    <a:lnT w="9525" cmpd="sng">
                      <a:noFill/>
                    </a:lnT>
                    <a:lnB w="9525" cmpd="sng">
                      <a:noFill/>
                    </a:lnB>
                    <a:solidFill>
                      <a:srgbClr val="F2F8FC"/>
                    </a:solidFill>
                  </a:tcPr>
                </a:tc>
              </a:tr>
              <a:tr h="832103">
                <a:tc>
                  <a:txBody>
                    <a:bodyPr wrap="square"/>
                    <a:lstStyle/>
                    <a:p>
                      <a:pPr algn="l"/>
                      <a:r>
                        <a:rPr sz="1500" b="0" i="0">
                          <a:solidFill>
                            <a:srgbClr val="1C252B"/>
                          </a:solidFill>
                          <a:latin typeface="Segoe UI"/>
                        </a:rPr>
                        <a:t>+ MRV + degree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4,333</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436</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1" i="0">
                          <a:solidFill>
                            <a:srgbClr val="1C252B"/>
                          </a:solidFill>
                          <a:latin typeface="Segoe UI"/>
                        </a:rPr>
                        <a:t>Worse.</a:t>
                      </a:r>
                      <a:r>
                        <a:rPr sz="1500" b="0" i="0">
                          <a:solidFill>
                            <a:srgbClr val="1C252B"/>
                          </a:solidFill>
                          <a:latin typeface="Segoe UI"/>
                        </a:rPr>
                        <a:t> The tie-break imposes an ordering that happens to be unlucky here</a:t>
                      </a:r>
                      <a:endParaRPr sz="1500"/>
                    </a:p>
                  </a:txBody>
                  <a:tcPr marL="109728" marR="109728" marT="64008" marB="45720" anchor="t">
                    <a:lnL w="0" cmpd="sng">
                      <a:noFill/>
                    </a:lnL>
                    <a:lnR w="0" cmpd="sng">
                      <a:noFill/>
                    </a:lnR>
                    <a:lnT w="9525" cmpd="sng">
                      <a:noFill/>
                    </a:lnT>
                    <a:lnB w="9525" cmpd="sng">
                      <a:noFill/>
                    </a:lnB>
                    <a:solidFill>
                      <a:srgbClr val="FFFFFF"/>
                    </a:solidFill>
                  </a:tcPr>
                </a:tc>
              </a:tr>
              <a:tr h="832103">
                <a:tc>
                  <a:txBody>
                    <a:bodyPr wrap="square"/>
                    <a:lstStyle/>
                    <a:p>
                      <a:pPr algn="l"/>
                      <a:r>
                        <a:rPr sz="1500" b="0" i="0">
                          <a:solidFill>
                            <a:srgbClr val="1C252B"/>
                          </a:solidFill>
                          <a:latin typeface="Segoe UI"/>
                        </a:rPr>
                        <a:t>+ MRV + degree + forward checking</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1" i="0">
                          <a:solidFill>
                            <a:srgbClr val="1C252B"/>
                          </a:solidFill>
                          <a:latin typeface="Segoe UI"/>
                        </a:rPr>
                        <a:t>415</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1" i="0">
                          <a:solidFill>
                            <a:srgbClr val="1C252B"/>
                          </a:solidFill>
                          <a:latin typeface="Segoe UI"/>
                        </a:rPr>
                        <a:t>13</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1" i="0">
                          <a:solidFill>
                            <a:srgbClr val="1C252B"/>
                          </a:solidFill>
                          <a:latin typeface="Segoe UI"/>
                        </a:rPr>
                        <a:t>9</a:t>
                      </a:r>
                      <a:r>
                        <a:rPr sz="1500" b="1" i="0">
                          <a:solidFill>
                            <a:srgbClr val="1C252B"/>
                          </a:solidFill>
                          <a:latin typeface="Cambria"/>
                        </a:rPr>
                        <a:t>×</a:t>
                      </a:r>
                      <a:r>
                        <a:rPr sz="1500" b="1" i="0">
                          <a:solidFill>
                            <a:srgbClr val="1C252B"/>
                          </a:solidFill>
                          <a:latin typeface="Segoe UI"/>
                        </a:rPr>
                        <a:t> fewer checks.</a:t>
                      </a:r>
                      <a:r>
                        <a:rPr sz="1500" b="0" i="0">
                          <a:solidFill>
                            <a:srgbClr val="1C252B"/>
                          </a:solidFill>
                          <a:latin typeface="Segoe UI"/>
                        </a:rPr>
                        <a:t> Propagation gives MRV information, and the two compound</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0" i="0">
                          <a:solidFill>
                            <a:srgbClr val="1C252B"/>
                          </a:solidFill>
                          <a:latin typeface="Segoe UI"/>
                        </a:rPr>
                        <a:t>+ … + AC-3 preprocessing</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639</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13</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Same nodes, more checks: AC-3 cannot see the capacity constraint</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forward checking through the first three assignments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2542F665-9943-4E21-B3AA-34CD0D8AF53E}"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0809"/>
          </a:xfrm>
          <a:prstGeom prst="roundRect">
            <a:avLst>
              <a:gd name="adj" fmla="val 205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08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Start with every domain </a:t>
            </a:r>
            <a:r>
              <a:rPr sz="1900" b="0" i="0">
                <a:solidFill>
                  <a:srgbClr val="1C252B"/>
                </a:solidFill>
                <a:latin typeface="Cambria"/>
              </a:rPr>
              <a:t>{1,2,3,4}</a:t>
            </a:r>
            <a:r>
              <a:rPr sz="1900" b="0" i="0">
                <a:solidFill>
                  <a:srgbClr val="1C252B"/>
                </a:solidFill>
                <a:latin typeface="Segoe UI"/>
              </a:rPr>
              <a:t>. Take the variables in order.</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Assign </a:t>
            </a:r>
            <a:r>
              <a:rPr sz="1800" b="1" i="0">
                <a:solidFill>
                  <a:srgbClr val="1F4E79"/>
                </a:solidFill>
                <a:latin typeface="Consolas"/>
              </a:rPr>
              <a:t>S1</a:t>
            </a:r>
            <a:r>
              <a:rPr sz="1900" b="1" i="0">
                <a:solidFill>
                  <a:srgbClr val="1C252B"/>
                </a:solidFill>
                <a:latin typeface="Segoe UI"/>
              </a:rPr>
              <a:t> </a:t>
            </a:r>
            <a:r>
              <a:rPr sz="1900" b="1" i="0">
                <a:solidFill>
                  <a:srgbClr val="1C252B"/>
                </a:solidFill>
                <a:latin typeface="Cambria"/>
              </a:rPr>
              <a:t>:=</a:t>
            </a:r>
            <a:r>
              <a:rPr sz="1900" b="1" i="0">
                <a:solidFill>
                  <a:srgbClr val="1C252B"/>
                </a:solidFill>
                <a:latin typeface="Segoe UI"/>
              </a:rPr>
              <a:t> 1.</a:t>
            </a:r>
            <a:r>
              <a:rPr sz="1900" b="0" i="0">
                <a:solidFill>
                  <a:srgbClr val="1C252B"/>
                </a:solidFill>
                <a:latin typeface="Segoe UI"/>
              </a:rPr>
              <a:t> Forward checking examines </a:t>
            </a:r>
            <a:r>
              <a:rPr sz="1800" b="0" i="0">
                <a:solidFill>
                  <a:srgbClr val="1F4E79"/>
                </a:solidFill>
                <a:latin typeface="Consolas"/>
              </a:rPr>
              <a:t>S1</a:t>
            </a:r>
            <a:r>
              <a:rPr sz="1900" b="0" i="0">
                <a:solidFill>
                  <a:srgbClr val="1C252B"/>
                </a:solidFill>
                <a:latin typeface="Segoe UI"/>
              </a:rPr>
              <a:t>’s neighbours in Figure 7.1:</a:t>
            </a:r>
          </a:p>
        </p:txBody>
      </p:sp>
      <p:sp>
        <p:nvSpPr>
          <p:cNvPr id="11" name="body-2"/>
          <p:cNvSpPr txBox="1"/>
          <p:nvPr/>
        </p:nvSpPr>
        <p:spPr>
          <a:xfrm>
            <a:off x="1042416" y="2879394"/>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S</a:t>
            </a:r>
            <a:r>
              <a:rPr sz="1900" b="0" i="0">
                <a:solidFill>
                  <a:srgbClr val="1C252B"/>
                </a:solidFill>
                <a:latin typeface="Cambria"/>
              </a:rPr>
              <a:t>1 &lt; </a:t>
            </a:r>
            <a:r>
              <a:rPr sz="1900" b="0" i="1">
                <a:solidFill>
                  <a:srgbClr val="1C252B"/>
                </a:solidFill>
                <a:latin typeface="Cambria"/>
              </a:rPr>
              <a:t>S</a:t>
            </a:r>
            <a:r>
              <a:rPr sz="1900" b="0" i="0">
                <a:solidFill>
                  <a:srgbClr val="1C252B"/>
                </a:solidFill>
                <a:latin typeface="Cambria"/>
              </a:rPr>
              <a:t>4</a:t>
            </a:r>
            <a:r>
              <a:rPr sz="1900" b="0" i="0">
                <a:solidFill>
                  <a:srgbClr val="1C252B"/>
                </a:solidFill>
                <a:latin typeface="Segoe UI"/>
              </a:rPr>
              <a:t>: </a:t>
            </a:r>
            <a:r>
              <a:rPr sz="1800" b="0" i="0">
                <a:solidFill>
                  <a:srgbClr val="1F4E79"/>
                </a:solidFill>
                <a:latin typeface="Consolas"/>
              </a:rPr>
              <a:t>S4</a:t>
            </a:r>
            <a:r>
              <a:rPr sz="1900" b="0" i="0">
                <a:solidFill>
                  <a:srgbClr val="1C252B"/>
                </a:solidFill>
                <a:latin typeface="Segoe UI"/>
              </a:rPr>
              <a:t> must be later than </a:t>
            </a:r>
            <a:r>
              <a:rPr sz="1900" b="0" i="0">
                <a:solidFill>
                  <a:srgbClr val="1C252B"/>
                </a:solidFill>
                <a:latin typeface="Cambria"/>
              </a:rPr>
              <a:t>1</a:t>
            </a:r>
            <a:r>
              <a:rPr sz="1900" b="0" i="0">
                <a:solidFill>
                  <a:srgbClr val="1C252B"/>
                </a:solidFill>
                <a:latin typeface="Segoe UI"/>
              </a:rPr>
              <a:t>, so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4</a:t>
            </a:r>
            <a:r>
              <a:rPr sz="1900" b="0" i="0">
                <a:solidFill>
                  <a:srgbClr val="1C252B"/>
                </a:solidFill>
                <a:latin typeface="Cambria"/>
              </a:rPr>
              <a:t> = {2,3,4}</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S</a:t>
            </a:r>
            <a:r>
              <a:rPr sz="1900" b="0" i="0">
                <a:solidFill>
                  <a:srgbClr val="1C252B"/>
                </a:solidFill>
                <a:latin typeface="Cambria"/>
              </a:rPr>
              <a:t>1 ≠ </a:t>
            </a:r>
            <a:r>
              <a:rPr sz="1900" b="0" i="1">
                <a:solidFill>
                  <a:srgbClr val="1C252B"/>
                </a:solidFill>
                <a:latin typeface="Cambria"/>
              </a:rPr>
              <a:t>S</a:t>
            </a:r>
            <a:r>
              <a:rPr sz="1900" b="0" i="0">
                <a:solidFill>
                  <a:srgbClr val="1C252B"/>
                </a:solidFill>
                <a:latin typeface="Cambria"/>
              </a:rPr>
              <a:t>7</a:t>
            </a:r>
            <a:r>
              <a:rPr sz="1900" b="0" i="0">
                <a:solidFill>
                  <a:srgbClr val="1C252B"/>
                </a:solidFill>
                <a:latin typeface="Segoe UI"/>
              </a:rPr>
              <a:t>: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7</a:t>
            </a:r>
            <a:r>
              <a:rPr sz="1900" b="0" i="0">
                <a:solidFill>
                  <a:srgbClr val="1C252B"/>
                </a:solidFill>
                <a:latin typeface="Cambria"/>
              </a:rPr>
              <a:t> = {2,3,4}</a:t>
            </a:r>
            <a:r>
              <a:rPr sz="1900" b="0" i="0">
                <a:solidFill>
                  <a:srgbClr val="1C252B"/>
                </a:solidFill>
                <a:latin typeface="Segoe UI"/>
              </a:rPr>
              <a:t>.</a:t>
            </a:r>
          </a:p>
        </p:txBody>
      </p:sp>
      <p:sp>
        <p:nvSpPr>
          <p:cNvPr id="12" name="body-3"/>
          <p:cNvSpPr txBox="1"/>
          <p:nvPr/>
        </p:nvSpPr>
        <p:spPr>
          <a:xfrm>
            <a:off x="1042416" y="369884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Capacity: sprint 1 now holds </a:t>
            </a:r>
            <a:r>
              <a:rPr sz="1900" b="0" i="0">
                <a:solidFill>
                  <a:srgbClr val="1C252B"/>
                </a:solidFill>
                <a:latin typeface="Cambria"/>
              </a:rPr>
              <a:t>3</a:t>
            </a:r>
            <a:r>
              <a:rPr sz="1900" b="0" i="0">
                <a:solidFill>
                  <a:srgbClr val="1C252B"/>
                </a:solidFill>
                <a:latin typeface="Segoe UI"/>
              </a:rPr>
              <a:t> points of </a:t>
            </a:r>
            <a:r>
              <a:rPr sz="1900" b="0" i="0">
                <a:solidFill>
                  <a:srgbClr val="1C252B"/>
                </a:solidFill>
                <a:latin typeface="Cambria"/>
              </a:rPr>
              <a:t>12</a:t>
            </a:r>
            <a:r>
              <a:rPr sz="1900" b="0" i="0">
                <a:solidFill>
                  <a:srgbClr val="1C252B"/>
                </a:solidFill>
                <a:latin typeface="Segoe UI"/>
              </a:rPr>
              <a:t>. Fine.</a:t>
            </a:r>
          </a:p>
        </p:txBody>
      </p:sp>
      <p:sp>
        <p:nvSpPr>
          <p:cNvPr id="13" name="body-4"/>
          <p:cNvSpPr txBox="1"/>
          <p:nvPr/>
        </p:nvSpPr>
        <p:spPr>
          <a:xfrm>
            <a:off x="1042416" y="413270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MRV now chooses.</a:t>
            </a:r>
            <a:r>
              <a:rPr sz="1900" b="0" i="0">
                <a:solidFill>
                  <a:srgbClr val="1C252B"/>
                </a:solidFill>
                <a:latin typeface="Segoe UI"/>
              </a:rPr>
              <a:t> </a:t>
            </a:r>
            <a:r>
              <a:rPr sz="1800" b="0" i="0">
                <a:solidFill>
                  <a:srgbClr val="1F4E79"/>
                </a:solidFill>
                <a:latin typeface="Consolas"/>
              </a:rPr>
              <a:t>S4</a:t>
            </a:r>
            <a:r>
              <a:rPr sz="1900" b="0" i="0">
                <a:solidFill>
                  <a:srgbClr val="1C252B"/>
                </a:solidFill>
                <a:latin typeface="Segoe UI"/>
              </a:rPr>
              <a:t> and </a:t>
            </a:r>
            <a:r>
              <a:rPr sz="1800" b="0" i="0">
                <a:solidFill>
                  <a:srgbClr val="1F4E79"/>
                </a:solidFill>
                <a:latin typeface="Consolas"/>
              </a:rPr>
              <a:t>S7</a:t>
            </a:r>
            <a:r>
              <a:rPr sz="1900" b="0" i="0">
                <a:solidFill>
                  <a:srgbClr val="1C252B"/>
                </a:solidFill>
                <a:latin typeface="Segoe UI"/>
              </a:rPr>
              <a:t> have three values; everything else has four. It picks one of those two — and note that this is the first moment in the entire search at which MRV has expressed a preference. Say </a:t>
            </a:r>
            <a:r>
              <a:rPr sz="1800" b="0" i="0">
                <a:solidFill>
                  <a:srgbClr val="1F4E79"/>
                </a:solidFill>
                <a:latin typeface="Consolas"/>
              </a:rPr>
              <a:t>S4</a:t>
            </a:r>
            <a:r>
              <a:rPr sz="1900" b="0" i="0">
                <a:solidFill>
                  <a:srgbClr val="1C252B"/>
                </a:solidFill>
                <a:latin typeface="Segoe UI"/>
              </a:rPr>
              <a:t>.</a:t>
            </a:r>
          </a:p>
        </p:txBody>
      </p:sp>
      <p:sp>
        <p:nvSpPr>
          <p:cNvPr id="14" name="body-4bar">
            <a:extLst>
              <a:ext uri="{C183D7F6-B498-43B3-948B-1728B52AA6E4}">
                <adec:decorative xmlns:adec="http://schemas.microsoft.com/office/drawing/2017/decorative" val="1"/>
              </a:ext>
            </a:extLst>
          </p:cNvPr>
          <p:cNvSpPr/>
          <p:nvPr/>
        </p:nvSpPr>
        <p:spPr>
          <a:xfrm>
            <a:off x="841248" y="415099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516884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Assign </a:t>
            </a:r>
            <a:r>
              <a:rPr sz="1800" b="1" i="0">
                <a:solidFill>
                  <a:srgbClr val="1F4E79"/>
                </a:solidFill>
                <a:latin typeface="Consolas"/>
              </a:rPr>
              <a:t>S4</a:t>
            </a:r>
            <a:r>
              <a:rPr sz="1900" b="1" i="0">
                <a:solidFill>
                  <a:srgbClr val="1C252B"/>
                </a:solidFill>
                <a:latin typeface="Segoe UI"/>
              </a:rPr>
              <a:t> </a:t>
            </a:r>
            <a:r>
              <a:rPr sz="1900" b="1" i="0">
                <a:solidFill>
                  <a:srgbClr val="1C252B"/>
                </a:solidFill>
                <a:latin typeface="Cambria"/>
              </a:rPr>
              <a:t>:=</a:t>
            </a:r>
            <a:r>
              <a:rPr sz="1900" b="1" i="0">
                <a:solidFill>
                  <a:srgbClr val="1C252B"/>
                </a:solidFill>
                <a:latin typeface="Segoe UI"/>
              </a:rPr>
              <a:t> 2.</a:t>
            </a:r>
            <a:r>
              <a:rPr sz="1900" b="0" i="0">
                <a:solidFill>
                  <a:srgbClr val="1C252B"/>
                </a:solidFill>
                <a:latin typeface="Segoe UI"/>
              </a:rPr>
              <a:t> Propagate:</a:t>
            </a:r>
          </a:p>
        </p:txBody>
      </p:sp>
      <p:sp>
        <p:nvSpPr>
          <p:cNvPr id="16" name="body-5bar">
            <a:extLst>
              <a:ext uri="{C183D7F6-B498-43B3-948B-1728B52AA6E4}">
                <adec:decorative xmlns:adec="http://schemas.microsoft.com/office/drawing/2017/decorative" val="1"/>
              </a:ext>
            </a:extLst>
          </p:cNvPr>
          <p:cNvSpPr/>
          <p:nvPr/>
        </p:nvSpPr>
        <p:spPr>
          <a:xfrm>
            <a:off x="841248" y="518713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body-6"/>
          <p:cNvSpPr txBox="1"/>
          <p:nvPr/>
        </p:nvSpPr>
        <p:spPr>
          <a:xfrm>
            <a:off x="1042416" y="5602706"/>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S</a:t>
            </a:r>
            <a:r>
              <a:rPr sz="1900" b="0" i="0">
                <a:solidFill>
                  <a:srgbClr val="1C252B"/>
                </a:solidFill>
                <a:latin typeface="Cambria"/>
              </a:rPr>
              <a:t>4 &lt; </a:t>
            </a:r>
            <a:r>
              <a:rPr sz="1900" b="0" i="1">
                <a:solidFill>
                  <a:srgbClr val="1C252B"/>
                </a:solidFill>
                <a:latin typeface="Cambria"/>
              </a:rPr>
              <a:t>S</a:t>
            </a:r>
            <a:r>
              <a:rPr sz="1900" b="0" i="0">
                <a:solidFill>
                  <a:srgbClr val="1C252B"/>
                </a:solidFill>
                <a:latin typeface="Cambria"/>
              </a:rPr>
              <a:t>12</a:t>
            </a:r>
            <a:r>
              <a:rPr sz="1900" b="0" i="0">
                <a:solidFill>
                  <a:srgbClr val="1C252B"/>
                </a:solidFill>
                <a:latin typeface="Segoe UI"/>
              </a:rPr>
              <a:t>: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12</a:t>
            </a:r>
            <a:r>
              <a:rPr sz="1900" b="0" i="0">
                <a:solidFill>
                  <a:srgbClr val="1C252B"/>
                </a:solidFill>
                <a:latin typeface="Cambria"/>
              </a:rPr>
              <a:t> = {3,4}</a:t>
            </a:r>
            <a:r>
              <a:rPr sz="1900" b="0" i="0">
                <a:solidFill>
                  <a:srgbClr val="1C252B"/>
                </a:solidFill>
                <a:latin typeface="Segoe UI"/>
              </a:rPr>
              <a:t>.</a:t>
            </a:r>
          </a:p>
        </p:txBody>
      </p:sp>
      <p:sp>
        <p:nvSpPr>
          <p:cNvPr id="4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right)">
                                      <p:cBhvr>
                                        <p:cTn id="44"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forward checking through the first three assignments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E860592E-7CA4-485D-AAA2-B8CA658A700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88639"/>
          </a:xfrm>
          <a:prstGeom prst="roundRect">
            <a:avLst>
              <a:gd name="adj" fmla="val 262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886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S</a:t>
            </a:r>
            <a:r>
              <a:rPr sz="1900" b="0" i="0">
                <a:solidFill>
                  <a:srgbClr val="1C252B"/>
                </a:solidFill>
                <a:latin typeface="Cambria"/>
              </a:rPr>
              <a:t>4 ≠ </a:t>
            </a:r>
            <a:r>
              <a:rPr sz="1900" b="0" i="1">
                <a:solidFill>
                  <a:srgbClr val="1C252B"/>
                </a:solidFill>
                <a:latin typeface="Cambria"/>
              </a:rPr>
              <a:t>S</a:t>
            </a:r>
            <a:r>
              <a:rPr sz="1900" b="0" i="0">
                <a:solidFill>
                  <a:srgbClr val="1C252B"/>
                </a:solidFill>
                <a:latin typeface="Cambria"/>
              </a:rPr>
              <a:t>6</a:t>
            </a:r>
            <a:r>
              <a:rPr sz="1900" b="0" i="0">
                <a:solidFill>
                  <a:srgbClr val="1C252B"/>
                </a:solidFill>
                <a:latin typeface="Segoe UI"/>
              </a:rPr>
              <a:t>: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6</a:t>
            </a:r>
            <a:r>
              <a:rPr sz="1900" b="0" i="0">
                <a:solidFill>
                  <a:srgbClr val="1C252B"/>
                </a:solidFill>
                <a:latin typeface="Cambria"/>
              </a:rPr>
              <a:t> = {1,3,4}</a:t>
            </a:r>
            <a:r>
              <a:rPr sz="1900" b="0" i="0">
                <a:solidFill>
                  <a:srgbClr val="1C252B"/>
                </a:solidFill>
                <a:latin typeface="Segoe UI"/>
              </a:rPr>
              <a:t>.</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Capacity: sprint 2 holds </a:t>
            </a:r>
            <a:r>
              <a:rPr sz="1900" b="0" i="0">
                <a:solidFill>
                  <a:srgbClr val="1C252B"/>
                </a:solidFill>
                <a:latin typeface="Cambria"/>
              </a:rPr>
              <a:t>8</a:t>
            </a:r>
            <a:r>
              <a:rPr sz="1900" b="0" i="0">
                <a:solidFill>
                  <a:srgbClr val="1C252B"/>
                </a:solidFill>
                <a:latin typeface="Segoe UI"/>
              </a:rPr>
              <a:t> of </a:t>
            </a:r>
            <a:r>
              <a:rPr sz="1900" b="0" i="0">
                <a:solidFill>
                  <a:srgbClr val="1C252B"/>
                </a:solidFill>
                <a:latin typeface="Cambria"/>
              </a:rPr>
              <a:t>12</a:t>
            </a:r>
            <a:r>
              <a:rPr sz="1900" b="0" i="0">
                <a:solidFill>
                  <a:srgbClr val="1C252B"/>
                </a:solidFill>
                <a:latin typeface="Segoe UI"/>
              </a:rPr>
              <a:t>; only </a:t>
            </a:r>
            <a:r>
              <a:rPr sz="1900" b="0" i="0">
                <a:solidFill>
                  <a:srgbClr val="1C252B"/>
                </a:solidFill>
                <a:latin typeface="Cambria"/>
              </a:rPr>
              <a:t>4</a:t>
            </a:r>
            <a:r>
              <a:rPr sz="1900" b="0" i="0">
                <a:solidFill>
                  <a:srgbClr val="1C252B"/>
                </a:solidFill>
                <a:latin typeface="Segoe UI"/>
              </a:rPr>
              <a:t> points remain there, which will matter shortly.</a:t>
            </a:r>
          </a:p>
        </p:txBody>
      </p:sp>
      <p:sp>
        <p:nvSpPr>
          <p:cNvPr id="11" name="body-2"/>
          <p:cNvSpPr txBox="1"/>
          <p:nvPr/>
        </p:nvSpPr>
        <p:spPr>
          <a:xfrm>
            <a:off x="1042416" y="287939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MRV chooses </a:t>
            </a:r>
            <a:r>
              <a:rPr sz="1800" b="1" i="0">
                <a:solidFill>
                  <a:srgbClr val="1F4E79"/>
                </a:solidFill>
                <a:latin typeface="Consolas"/>
              </a:rPr>
              <a:t>S12</a:t>
            </a:r>
            <a:r>
              <a:rPr sz="1900" b="0" i="0">
                <a:solidFill>
                  <a:srgbClr val="1C252B"/>
                </a:solidFill>
                <a:latin typeface="Segoe UI"/>
              </a:rPr>
              <a:t>, now down to two values — the most constrained variable in the problem, and it was reached in two steps rather than by luck.</a:t>
            </a:r>
          </a:p>
        </p:txBody>
      </p:sp>
      <p:sp>
        <p:nvSpPr>
          <p:cNvPr id="12" name="body-2bar">
            <a:extLst>
              <a:ext uri="{C183D7F6-B498-43B3-948B-1728B52AA6E4}">
                <adec:decorative xmlns:adec="http://schemas.microsoft.com/office/drawing/2017/decorative" val="1"/>
              </a:ext>
            </a:extLst>
          </p:cNvPr>
          <p:cNvSpPr/>
          <p:nvPr/>
        </p:nvSpPr>
        <p:spPr>
          <a:xfrm>
            <a:off x="841248" y="289768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3614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Assign </a:t>
            </a:r>
            <a:r>
              <a:rPr sz="1800" b="1" i="0">
                <a:solidFill>
                  <a:srgbClr val="1F4E79"/>
                </a:solidFill>
                <a:latin typeface="Consolas"/>
              </a:rPr>
              <a:t>S12</a:t>
            </a:r>
            <a:r>
              <a:rPr sz="1900" b="1" i="0">
                <a:solidFill>
                  <a:srgbClr val="1C252B"/>
                </a:solidFill>
                <a:latin typeface="Segoe UI"/>
              </a:rPr>
              <a:t> </a:t>
            </a:r>
            <a:r>
              <a:rPr sz="1900" b="1" i="0">
                <a:solidFill>
                  <a:srgbClr val="1C252B"/>
                </a:solidFill>
                <a:latin typeface="Cambria"/>
              </a:rPr>
              <a:t>:=</a:t>
            </a:r>
            <a:r>
              <a:rPr sz="1900" b="1" i="0">
                <a:solidFill>
                  <a:srgbClr val="1C252B"/>
                </a:solidFill>
                <a:latin typeface="Segoe UI"/>
              </a:rPr>
              <a:t> 3.</a:t>
            </a:r>
            <a:r>
              <a:rPr sz="1900" b="0" i="0">
                <a:solidFill>
                  <a:srgbClr val="1C252B"/>
                </a:solidFill>
                <a:latin typeface="Segoe UI"/>
              </a:rPr>
              <a:t> Propagate: </a:t>
            </a:r>
            <a:r>
              <a:rPr sz="1900" b="0" i="1">
                <a:solidFill>
                  <a:srgbClr val="1C252B"/>
                </a:solidFill>
                <a:latin typeface="Cambria"/>
              </a:rPr>
              <a:t>S</a:t>
            </a:r>
            <a:r>
              <a:rPr sz="1900" b="0" i="0">
                <a:solidFill>
                  <a:srgbClr val="1C252B"/>
                </a:solidFill>
                <a:latin typeface="Cambria"/>
              </a:rPr>
              <a:t>9 &lt; </a:t>
            </a:r>
            <a:r>
              <a:rPr sz="1900" b="0" i="1">
                <a:solidFill>
                  <a:srgbClr val="1C252B"/>
                </a:solidFill>
                <a:latin typeface="Cambria"/>
              </a:rPr>
              <a:t>S</a:t>
            </a:r>
            <a:r>
              <a:rPr sz="1900" b="0" i="0">
                <a:solidFill>
                  <a:srgbClr val="1C252B"/>
                </a:solidFill>
                <a:latin typeface="Cambria"/>
              </a:rPr>
              <a:t>12</a:t>
            </a:r>
            <a:r>
              <a:rPr sz="1900" b="0" i="0">
                <a:solidFill>
                  <a:srgbClr val="1C252B"/>
                </a:solidFill>
                <a:latin typeface="Segoe UI"/>
              </a:rPr>
              <a:t> gives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9</a:t>
            </a:r>
            <a:r>
              <a:rPr sz="1900" b="0" i="0">
                <a:solidFill>
                  <a:srgbClr val="1C252B"/>
                </a:solidFill>
                <a:latin typeface="Cambria"/>
              </a:rPr>
              <a:t> = {1,2}</a:t>
            </a:r>
            <a:r>
              <a:rPr sz="1900" b="0" i="0">
                <a:solidFill>
                  <a:srgbClr val="1C252B"/>
                </a:solidFill>
                <a:latin typeface="Segoe UI"/>
              </a:rPr>
              <a:t>; </a:t>
            </a:r>
            <a:r>
              <a:rPr sz="1900" b="0" i="1">
                <a:solidFill>
                  <a:srgbClr val="1C252B"/>
                </a:solidFill>
                <a:latin typeface="Cambria"/>
              </a:rPr>
              <a:t>S</a:t>
            </a:r>
            <a:r>
              <a:rPr sz="1900" b="0" i="0">
                <a:solidFill>
                  <a:srgbClr val="1C252B"/>
                </a:solidFill>
                <a:latin typeface="Cambria"/>
              </a:rPr>
              <a:t>7 ≠ </a:t>
            </a:r>
            <a:r>
              <a:rPr sz="1900" b="0" i="1">
                <a:solidFill>
                  <a:srgbClr val="1C252B"/>
                </a:solidFill>
                <a:latin typeface="Cambria"/>
              </a:rPr>
              <a:t>S</a:t>
            </a:r>
            <a:r>
              <a:rPr sz="1900" b="0" i="0">
                <a:solidFill>
                  <a:srgbClr val="1C252B"/>
                </a:solidFill>
                <a:latin typeface="Cambria"/>
              </a:rPr>
              <a:t>12</a:t>
            </a:r>
            <a:r>
              <a:rPr sz="1900" b="0" i="0">
                <a:solidFill>
                  <a:srgbClr val="1C252B"/>
                </a:solidFill>
                <a:latin typeface="Segoe UI"/>
              </a:rPr>
              <a:t> gives </a:t>
            </a:r>
            <a:r>
              <a:rPr sz="1900" b="0" i="1">
                <a:solidFill>
                  <a:srgbClr val="1C252B"/>
                </a:solidFill>
                <a:latin typeface="Cambria"/>
              </a:rPr>
              <a:t>D</a:t>
            </a:r>
            <a:r>
              <a:rPr sz="1250" b="0" i="1" baseline="-25000">
                <a:solidFill>
                  <a:srgbClr val="1C252B"/>
                </a:solidFill>
                <a:latin typeface="Cambria"/>
              </a:rPr>
              <a:t>S</a:t>
            </a:r>
            <a:r>
              <a:rPr sz="1250" b="0" i="0" baseline="-25000">
                <a:solidFill>
                  <a:srgbClr val="1C252B"/>
                </a:solidFill>
                <a:latin typeface="Cambria"/>
              </a:rPr>
              <a:t>7</a:t>
            </a:r>
            <a:r>
              <a:rPr sz="1900" b="0" i="0">
                <a:solidFill>
                  <a:srgbClr val="1C252B"/>
                </a:solidFill>
                <a:latin typeface="Cambria"/>
              </a:rPr>
              <a:t> = {2,4}</a:t>
            </a:r>
            <a:r>
              <a:rPr sz="1900" b="0" i="0">
                <a:solidFill>
                  <a:srgbClr val="1C252B"/>
                </a:solidFill>
                <a:latin typeface="Segoe UI"/>
              </a:rPr>
              <a:t>.</a:t>
            </a:r>
          </a:p>
        </p:txBody>
      </p:sp>
      <p:sp>
        <p:nvSpPr>
          <p:cNvPr id="14" name="body-3bar">
            <a:extLst>
              <a:ext uri="{C183D7F6-B498-43B3-948B-1728B52AA6E4}">
                <adec:decorative xmlns:adec="http://schemas.microsoft.com/office/drawing/2017/decorative" val="1"/>
              </a:ext>
            </a:extLst>
          </p:cNvPr>
          <p:cNvSpPr/>
          <p:nvPr/>
        </p:nvSpPr>
        <p:spPr>
          <a:xfrm>
            <a:off x="841248" y="363268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404825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has been bought.</a:t>
            </a:r>
            <a:r>
              <a:rPr sz="1900" b="0" i="0">
                <a:solidFill>
                  <a:srgbClr val="1C252B"/>
                </a:solidFill>
                <a:latin typeface="Segoe UI"/>
              </a:rPr>
              <a:t> Three assignments, and four other variables have already lost values. Plain backtracking at this depth has pruned nothing and will discover the same facts one dead end at a time, hundreds of nodes later. The lab counts the difference: </a:t>
            </a:r>
            <a:r>
              <a:rPr sz="1900" b="0" i="0">
                <a:solidFill>
                  <a:srgbClr val="1C252B"/>
                </a:solidFill>
                <a:latin typeface="Cambria"/>
              </a:rPr>
              <a:t>13</a:t>
            </a:r>
            <a:r>
              <a:rPr sz="1900" b="0" i="0">
                <a:solidFill>
                  <a:srgbClr val="1C252B"/>
                </a:solidFill>
                <a:latin typeface="Segoe UI"/>
              </a:rPr>
              <a:t> nodes against </a:t>
            </a:r>
            <a:r>
              <a:rPr sz="1900" b="0" i="0">
                <a:solidFill>
                  <a:srgbClr val="1C252B"/>
                </a:solidFill>
                <a:latin typeface="Cambria"/>
              </a:rPr>
              <a:t>123</a:t>
            </a:r>
            <a:r>
              <a:rPr sz="1900" b="0" i="0">
                <a:solidFill>
                  <a:srgbClr val="1C252B"/>
                </a:solidFill>
                <a:latin typeface="Segoe UI"/>
              </a:rPr>
              <a:t>.</a:t>
            </a:r>
          </a:p>
        </p:txBody>
      </p:sp>
      <p:sp>
        <p:nvSpPr>
          <p:cNvPr id="16" name="body-4bar">
            <a:extLst>
              <a:ext uri="{C183D7F6-B498-43B3-948B-1728B52AA6E4}">
                <adec:decorative xmlns:adec="http://schemas.microsoft.com/office/drawing/2017/decorative" val="1"/>
              </a:ext>
            </a:extLst>
          </p:cNvPr>
          <p:cNvSpPr/>
          <p:nvPr/>
        </p:nvSpPr>
        <p:spPr>
          <a:xfrm>
            <a:off x="841248" y="4066539"/>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FDA251D0-507B-482E-BA08-A6D6956A4B06}"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MRV to help on its own.</a:t>
            </a:r>
            <a:r>
              <a:rPr sz="1700" b="0" i="0">
                <a:solidFill>
                  <a:srgbClr val="1C252B"/>
                </a:solidFill>
                <a:latin typeface="Segoe UI"/>
              </a:rPr>
              <a:t> Without propagation the domains never shrink, so MRV has nothing to order by. Measured here: exactly zero improvement.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 heuristic cannot hurt.</a:t>
            </a:r>
            <a:r>
              <a:rPr sz="1700" b="0" i="0">
                <a:solidFill>
                  <a:srgbClr val="1C252B"/>
                </a:solidFill>
                <a:latin typeface="Segoe UI"/>
              </a:rPr>
              <a:t> The degree tie-breaker tripled the node count on this instance.</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AC-3 to enforce an </a:t>
            </a:r>
            <a:r>
              <a:rPr sz="1700" b="1" i="1">
                <a:solidFill>
                  <a:srgbClr val="1C252B"/>
                </a:solidFill>
                <a:latin typeface="Cambria"/>
              </a:rPr>
              <a:t>n</a:t>
            </a:r>
            <a:r>
              <a:rPr sz="1700" b="1" i="0">
                <a:solidFill>
                  <a:srgbClr val="1C252B"/>
                </a:solidFill>
                <a:latin typeface="Segoe UI"/>
              </a:rPr>
              <a:t>-ary constraint.</a:t>
            </a:r>
            <a:r>
              <a:rPr sz="1700" b="0" i="0">
                <a:solidFill>
                  <a:srgbClr val="1C252B"/>
                </a:solidFill>
                <a:latin typeface="Segoe UI"/>
              </a:rPr>
              <a:t> It works on arcs. Capacity is invisible to it, and capacity is what binds here.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Re-running AC-3 from scratch at every node.</a:t>
            </a:r>
            <a:r>
              <a:rPr sz="1700" b="0" i="0">
                <a:solidFill>
                  <a:srgbClr val="1C252B"/>
                </a:solidFill>
                <a:latin typeface="Segoe UI"/>
              </a:rPr>
              <a:t> Propagate incrementally from the variable just assigned; a full re-run usually costs more than it saves, as the last row of Table 7.1 shows even for a single preprocessing pass.</a:t>
            </a:r>
          </a:p>
        </p:txBody>
      </p:sp>
      <p:sp>
        <p:nvSpPr>
          <p:cNvPr id="19" name="!!pb4">
            <a:extLst>
              <a:ext uri="{C183D7F6-B498-43B3-948B-1728B52AA6E4}">
                <adec:decorative xmlns:adec="http://schemas.microsoft.com/office/drawing/2017/decorative" val="1"/>
              </a:ext>
            </a:extLst>
          </p:cNvPr>
          <p:cNvSpPr/>
          <p:nvPr/>
        </p:nvSpPr>
        <p:spPr>
          <a:xfrm>
            <a:off x="658368" y="481218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3504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79389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“no solution” and stopping.</a:t>
            </a:r>
            <a:r>
              <a:rPr sz="1700" b="0" i="0">
                <a:solidFill>
                  <a:srgbClr val="1C252B"/>
                </a:solidFill>
                <a:latin typeface="Segoe UI"/>
              </a:rPr>
              <a:t> True and useless. Report which constraint is binding.</a:t>
            </a:r>
          </a:p>
        </p:txBody>
      </p:sp>
      <p:sp>
        <p:nvSpPr>
          <p:cNvPr id="22" name="!!pb5">
            <a:extLst>
              <a:ext uri="{C183D7F6-B498-43B3-948B-1728B52AA6E4}">
                <adec:decorative xmlns:adec="http://schemas.microsoft.com/office/drawing/2017/decorative" val="1"/>
              </a:ext>
            </a:extLst>
          </p:cNvPr>
          <p:cNvSpPr/>
          <p:nvPr/>
        </p:nvSpPr>
        <p:spPr>
          <a:xfrm>
            <a:off x="658368" y="537911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0197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36082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Counting nodes and calling it performance.</a:t>
            </a:r>
            <a:r>
              <a:rPr sz="1700" b="0" i="0">
                <a:solidFill>
                  <a:srgbClr val="1C252B"/>
                </a:solidFill>
                <a:latin typeface="Segoe UI"/>
              </a:rPr>
              <a:t> A node with propagation costs more than a node without. Count consistency checks, or time, or both — the same mistake as Chapter 6’s evaluation budget.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289CCA87-F1B7-486F-B4AF-5C8511B837E6}" type="slidenum">
              <a:rPr lang="en-GB" sz="1000">
                <a:solidFill>
                  <a:srgbClr val="8795A1"/>
                </a:solidFill>
                <a:latin typeface="Segoe UI"/>
              </a:rPr>
              <a:t>20</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instance of Figure 7.1, solved five ways, counting every constraint check. Reproduces Table 7.1.</a:t>
            </a:r>
          </a:p>
        </p:txBody>
      </p:sp>
      <p:sp>
        <p:nvSpPr>
          <p:cNvPr id="8" name="!!lfTHIS">
            <a:extLst>
              <a:ext uri="{C183D7F6-B498-43B3-948B-1728B52AA6E4}">
                <adec:decorative xmlns:adec="http://schemas.microsoft.com/office/drawing/2017/decorative" val="1"/>
              </a:ext>
            </a:extLst>
          </p:cNvPr>
          <p:cNvSpPr/>
          <p:nvPr/>
        </p:nvSpPr>
        <p:spPr>
          <a:xfrm>
            <a:off x="658368"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6: Sprint scheduling as a CSP</a:t>
            </a:r>
          </a:p>
        </p:txBody>
      </p:sp>
      <p:sp>
        <p:nvSpPr>
          <p:cNvPr id="12" name="!!lfWHAT">
            <a:extLst>
              <a:ext uri="{C183D7F6-B498-43B3-948B-1728B52AA6E4}">
                <adec:decorative xmlns:adec="http://schemas.microsoft.com/office/drawing/2017/decorative" val="1"/>
              </a:ext>
            </a:extLst>
          </p:cNvPr>
          <p:cNvSpPr/>
          <p:nvPr/>
        </p:nvSpPr>
        <p:spPr>
          <a:xfrm>
            <a:off x="4374794"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239 lines of Python</a:t>
            </a:r>
          </a:p>
        </p:txBody>
      </p:sp>
      <p:sp>
        <p:nvSpPr>
          <p:cNvPr id="16" name="!!lfRUNN">
            <a:extLst>
              <a:ext uri="{C183D7F6-B498-43B3-948B-1728B52AA6E4}">
                <adec:decorative xmlns:adec="http://schemas.microsoft.com/office/drawing/2017/decorative" val="1"/>
              </a:ext>
            </a:extLst>
          </p:cNvPr>
          <p:cNvSpPr/>
          <p:nvPr/>
        </p:nvSpPr>
        <p:spPr>
          <a:xfrm>
            <a:off x="8091220"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code/ch07_sprint_scheduling_as.py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477431BC-53D9-44D7-A8CE-013B057B4FE8}" type="slidenum">
              <a:rPr lang="en-GB" sz="1000">
                <a:solidFill>
                  <a:srgbClr val="8795A1"/>
                </a:solidFill>
                <a:latin typeface="Segoe UI"/>
              </a:rPr>
              <a:t>21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quot;&quot;&quot;Chapter 7 lab -- sprint scheduling as a constraint problem. Twelve stories into four sprints under precedence, same-developer and capacity constraints. The headline result is the second row: adding MRV to plain backtracking changes nothing at all, because nothing has shrunk the domains for it to compare. &quot;&quot;&quot; import itertools # story -&gt; (points, owner) STORIES = { &quot;S1&quot;: (3, &quot;Ayesha&quot;), &quot;S2&quot;: (5, &quot;Bilal&quot;), &quot;S3&quot;: (2, &quot;Ayesha&quot;), &quot;S4&quot;: (8, &quot;Chen&quot;), &quot;S5&quot;: (3, &quot;Bilal&quot;), &quot;S6&quot;: (2, &quot;Chen&quot;), &quot;S7&quot;: (5, &quot;Ayesha&quot;), &quot;S8&quot;: (3, &quot;Bilal&quot;), &quot;S9&quot;: (5, &quot;Dina&quot;), &quot;S10&quot;: (3, &quot;Dina&quot;), &quot;S11&quot;: (2, &quot;Chen&quot;), &quot;S12&quot;: (4, &quot;Ayesha&quot;), } NAMES = list(STORIES) SLOTS = (1, 2, 3, 4) CAP = 12"/>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7DCEA0"/>
                </a:solidFill>
                <a:latin typeface="Consolas"/>
              </a:rPr>
              <a:t>"""Chapter 7 lab -- sprint scheduling as a constraint problem.</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Twelve stories into four sprints under precedence, same-developer and</a:t>
            </a:r>
          </a:p>
          <a:p>
            <a:pPr>
              <a:lnSpc>
                <a:spcPct val="100000"/>
              </a:lnSpc>
              <a:spcAft>
                <a:spcPts val="0"/>
              </a:spcAft>
            </a:pPr>
            <a:r>
              <a:rPr sz="1300" i="0">
                <a:solidFill>
                  <a:srgbClr val="7DCEA0"/>
                </a:solidFill>
                <a:latin typeface="Consolas"/>
              </a:rPr>
              <a:t>capacity constraints. The headline result is the second row: adding</a:t>
            </a:r>
          </a:p>
          <a:p>
            <a:pPr>
              <a:lnSpc>
                <a:spcPct val="100000"/>
              </a:lnSpc>
              <a:spcAft>
                <a:spcPts val="0"/>
              </a:spcAft>
            </a:pPr>
            <a:r>
              <a:rPr sz="1300" i="0">
                <a:solidFill>
                  <a:srgbClr val="7DCEA0"/>
                </a:solidFill>
                <a:latin typeface="Consolas"/>
              </a:rPr>
              <a:t>MRV to plain backtracking changes nothing at all, because nothing has</a:t>
            </a:r>
          </a:p>
          <a:p>
            <a:pPr>
              <a:lnSpc>
                <a:spcPct val="100000"/>
              </a:lnSpc>
              <a:spcAft>
                <a:spcPts val="0"/>
              </a:spcAft>
            </a:pPr>
            <a:r>
              <a:rPr sz="1300" i="0">
                <a:solidFill>
                  <a:srgbClr val="7DCEA0"/>
                </a:solidFill>
                <a:latin typeface="Consolas"/>
              </a:rPr>
              <a:t>shrunk the domains for it to compare.</a:t>
            </a:r>
          </a:p>
          <a:p>
            <a:pPr>
              <a:lnSpc>
                <a:spcPct val="100000"/>
              </a:lnSpc>
              <a:spcAft>
                <a:spcPts val="0"/>
              </a:spcAft>
            </a:pP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import</a:t>
            </a:r>
            <a:r>
              <a:rPr sz="1300" i="0">
                <a:solidFill>
                  <a:srgbClr val="E8EDF2"/>
                </a:solidFill>
                <a:latin typeface="Consolas"/>
              </a:rPr>
              <a:t> </a:t>
            </a:r>
            <a:r>
              <a:rPr sz="1300" i="0">
                <a:solidFill>
                  <a:srgbClr val="76D7C4"/>
                </a:solidFill>
                <a:latin typeface="Consolas"/>
              </a:rPr>
              <a:t>itertools</a:t>
            </a:r>
          </a:p>
          <a:p>
            <a:pPr>
              <a:lnSpc>
                <a:spcPct val="100000"/>
              </a:lnSpc>
              <a:spcAft>
                <a:spcPts val="0"/>
              </a:spcAft>
            </a:pPr>
            <a:r>
              <a:rPr sz="1300">
                <a:latin typeface="Consolas"/>
              </a:rPr>
              <a:t> </a:t>
            </a:r>
          </a:p>
          <a:p>
            <a:pPr>
              <a:lnSpc>
                <a:spcPct val="100000"/>
              </a:lnSpc>
              <a:spcAft>
                <a:spcPts val="0"/>
              </a:spcAft>
            </a:pPr>
            <a:r>
              <a:rPr sz="1300" i="1">
                <a:solidFill>
                  <a:srgbClr val="8795A1"/>
                </a:solidFill>
                <a:latin typeface="Consolas"/>
              </a:rPr>
              <a:t># story -&gt; (points, owner)</a:t>
            </a:r>
          </a:p>
          <a:p>
            <a:pPr>
              <a:lnSpc>
                <a:spcPct val="100000"/>
              </a:lnSpc>
              <a:spcAft>
                <a:spcPts val="0"/>
              </a:spcAft>
            </a:pPr>
            <a:r>
              <a:rPr sz="1300" i="0">
                <a:solidFill>
                  <a:srgbClr val="E8EDF2"/>
                </a:solidFill>
                <a:latin typeface="Consolas"/>
              </a:rPr>
              <a:t>STORIES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S1</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Ayesha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S2</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Bilal</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S3</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Ayesha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S4</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8</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Chen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S5</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Bilal</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S6</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Chen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S7</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Ayesha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S8</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Bilal</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S9</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Dina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S10</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Dina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S11</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Chen</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S12</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Ayesha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E8EDF2"/>
                </a:solidFill>
                <a:latin typeface="Consolas"/>
              </a:rPr>
              <a:t>NAMES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list</a:t>
            </a:r>
            <a:r>
              <a:rPr sz="1300" i="0">
                <a:solidFill>
                  <a:srgbClr val="AEB6BF"/>
                </a:solidFill>
                <a:latin typeface="Consolas"/>
              </a:rPr>
              <a:t>(</a:t>
            </a:r>
            <a:r>
              <a:rPr sz="1300" i="0">
                <a:solidFill>
                  <a:srgbClr val="E8EDF2"/>
                </a:solidFill>
                <a:latin typeface="Consolas"/>
              </a:rPr>
              <a:t>STORIES</a:t>
            </a:r>
            <a:r>
              <a:rPr sz="1300" i="0">
                <a:solidFill>
                  <a:srgbClr val="AEB6BF"/>
                </a:solidFill>
                <a:latin typeface="Consolas"/>
              </a:rPr>
              <a:t>)</a:t>
            </a:r>
          </a:p>
          <a:p>
            <a:pPr>
              <a:lnSpc>
                <a:spcPct val="100000"/>
              </a:lnSpc>
              <a:spcAft>
                <a:spcPts val="0"/>
              </a:spcAft>
            </a:pPr>
            <a:r>
              <a:rPr sz="1300" i="0">
                <a:solidFill>
                  <a:srgbClr val="E8EDF2"/>
                </a:solidFill>
                <a:latin typeface="Consolas"/>
              </a:rPr>
              <a:t>SLOTS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4</a:t>
            </a:r>
            <a:r>
              <a:rPr sz="1300" i="0">
                <a:solidFill>
                  <a:srgbClr val="AEB6BF"/>
                </a:solidFill>
                <a:latin typeface="Consolas"/>
              </a:rPr>
              <a:t>)</a:t>
            </a:r>
          </a:p>
          <a:p>
            <a:pPr>
              <a:lnSpc>
                <a:spcPct val="100000"/>
              </a:lnSpc>
              <a:spcAft>
                <a:spcPts val="0"/>
              </a:spcAft>
            </a:pPr>
            <a:r>
              <a:rPr sz="1300" i="0">
                <a:solidFill>
                  <a:srgbClr val="E8EDF2"/>
                </a:solidFill>
                <a:latin typeface="Consolas"/>
              </a:rPr>
              <a:t>CAP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12</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8CDF13E3-35BC-4826-A653-77D2B0ECCDD6}" type="slidenum">
              <a:rPr lang="en-GB" sz="1000">
                <a:solidFill>
                  <a:srgbClr val="8795A1"/>
                </a:solidFill>
                <a:latin typeface="Segoe UI"/>
              </a:rPr>
              <a:t>22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261104"/>
          </a:xfrm>
          <a:prstGeom prst="roundRect">
            <a:avLst>
              <a:gd name="adj" fmla="val 214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 binary: a must finish in an earlier sprint than b BEFORE = [(&quot;S1&quot;, &quot;S4&quot;), (&quot;S2&quot;, &quot;S5&quot;), (&quot;S3&quot;, &quot;S7&quot;), (&quot;S6&quot;, &quot;S8&quot;), (&quot;S9&quot;, &quot;S12&quot;), (&quot;S10&quot;, &quot;S11&quot;), (&quot;S4&quot;, &quot;S12&quot;)] # binary: same developer, too much combined work for one sprint APART = [(&quot;S1&quot;, &quot;S7&quot;), (&quot;S2&quot;, &quot;S8&quot;), (&quot;S4&quot;, &quot;S6&quot;), (&quot;S9&quot;, &quot;S10&quot;), (&quot;S7&quot;, &quot;S12&quot;)] class Counter: def __init__(self): self.checks = 0 self.nodes = 0"/>
          <p:cNvSpPr txBox="1"/>
          <p:nvPr/>
        </p:nvSpPr>
        <p:spPr>
          <a:xfrm>
            <a:off x="1362456" y="2066543"/>
            <a:ext cx="9987991" cy="3767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binary: a must finish in an earlier sprint than b</a:t>
            </a:r>
          </a:p>
          <a:p>
            <a:pPr>
              <a:lnSpc>
                <a:spcPct val="100000"/>
              </a:lnSpc>
              <a:spcAft>
                <a:spcPts val="0"/>
              </a:spcAft>
            </a:pPr>
            <a:r>
              <a:rPr sz="2000" i="0">
                <a:solidFill>
                  <a:srgbClr val="E8EDF2"/>
                </a:solidFill>
                <a:latin typeface="Consolas"/>
              </a:rPr>
              <a:t>BEFORE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S1</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S4</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S2</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S5</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S3</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S7</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S6</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S8</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S9</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S12</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S10</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S11</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S4</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S12</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1">
                <a:solidFill>
                  <a:srgbClr val="8795A1"/>
                </a:solidFill>
                <a:latin typeface="Consolas"/>
              </a:rPr>
              <a:t># binary: same developer, too much combined work for one sprint</a:t>
            </a:r>
          </a:p>
          <a:p>
            <a:pPr>
              <a:lnSpc>
                <a:spcPct val="100000"/>
              </a:lnSpc>
              <a:spcAft>
                <a:spcPts val="0"/>
              </a:spcAft>
            </a:pPr>
            <a:r>
              <a:rPr sz="2000" i="0">
                <a:solidFill>
                  <a:srgbClr val="E8EDF2"/>
                </a:solidFill>
                <a:latin typeface="Consolas"/>
              </a:rPr>
              <a:t>APART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S1</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S7</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S2</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S8</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S4</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S6</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S9</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S10</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S7</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S12</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class</a:t>
            </a:r>
            <a:r>
              <a:rPr sz="2000" i="0">
                <a:solidFill>
                  <a:srgbClr val="E8EDF2"/>
                </a:solidFill>
                <a:latin typeface="Consolas"/>
              </a:rPr>
              <a:t> </a:t>
            </a:r>
            <a:r>
              <a:rPr sz="2000" i="0">
                <a:solidFill>
                  <a:srgbClr val="76D7C4"/>
                </a:solidFill>
                <a:latin typeface="Consolas"/>
              </a:rPr>
              <a:t>Counter</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__init__</a:t>
            </a:r>
            <a:r>
              <a:rPr sz="2000" i="0">
                <a:solidFill>
                  <a:srgbClr val="AEB6BF"/>
                </a:solidFill>
                <a:latin typeface="Consolas"/>
              </a:rPr>
              <a:t>(</a:t>
            </a:r>
            <a:r>
              <a:rPr sz="2000" i="0">
                <a:solidFill>
                  <a:srgbClr val="C39BD3"/>
                </a:solidFill>
                <a:latin typeface="Consolas"/>
              </a:rPr>
              <a:t>self</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self</a:t>
            </a:r>
            <a:r>
              <a:rPr sz="2000" i="0">
                <a:solidFill>
                  <a:srgbClr val="AEB6BF"/>
                </a:solidFill>
                <a:latin typeface="Consolas"/>
              </a:rPr>
              <a:t>.</a:t>
            </a:r>
            <a:r>
              <a:rPr sz="2000" i="0">
                <a:solidFill>
                  <a:srgbClr val="E8EDF2"/>
                </a:solidFill>
                <a:latin typeface="Consolas"/>
              </a:rPr>
              <a:t>checks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p>
          <a:p>
            <a:pPr>
              <a:lnSpc>
                <a:spcPct val="100000"/>
              </a:lnSpc>
              <a:spcAft>
                <a:spcPts val="0"/>
              </a:spcAft>
            </a:pPr>
            <a:r>
              <a:rPr sz="2000" i="0">
                <a:solidFill>
                  <a:srgbClr val="E8EDF2"/>
                </a:solidFill>
                <a:latin typeface="Consolas"/>
              </a:rPr>
              <a:t>        </a:t>
            </a:r>
            <a:r>
              <a:rPr sz="2000" i="0">
                <a:solidFill>
                  <a:srgbClr val="C39BD3"/>
                </a:solidFill>
                <a:latin typeface="Consolas"/>
              </a:rPr>
              <a:t>self</a:t>
            </a:r>
            <a:r>
              <a:rPr sz="2000" i="0">
                <a:solidFill>
                  <a:srgbClr val="AEB6BF"/>
                </a:solidFill>
                <a:latin typeface="Consolas"/>
              </a:rPr>
              <a:t>.</a:t>
            </a:r>
            <a:r>
              <a:rPr sz="2000" i="0">
                <a:solidFill>
                  <a:srgbClr val="E8EDF2"/>
                </a:solidFill>
                <a:latin typeface="Consolas"/>
              </a:rPr>
              <a:t>nodes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p>
        </p:txBody>
      </p:sp>
      <p:sp>
        <p:nvSpPr>
          <p:cNvPr id="14" name="!!code-num"/>
          <p:cNvSpPr txBox="1"/>
          <p:nvPr/>
        </p:nvSpPr>
        <p:spPr>
          <a:xfrm>
            <a:off x="768096" y="2066543"/>
            <a:ext cx="393192" cy="3767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23</a:t>
            </a:r>
          </a:p>
          <a:p>
            <a:pPr algn="r">
              <a:lnSpc>
                <a:spcPct val="100000"/>
              </a:lnSpc>
            </a:pPr>
            <a:r>
              <a:rPr sz="2000">
                <a:solidFill>
                  <a:srgbClr val="4F5D6A"/>
                </a:solidFill>
                <a:latin typeface="Consolas"/>
              </a:rPr>
              <a:t>24</a:t>
            </a:r>
          </a:p>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a:p>
            <a:pPr algn="r">
              <a:lnSpc>
                <a:spcPct val="100000"/>
              </a:lnSpc>
            </a:pPr>
            <a:r>
              <a:rPr sz="2000">
                <a:solidFill>
                  <a:srgbClr val="4F5D6A"/>
                </a:solidFill>
                <a:latin typeface="Consolas"/>
              </a:rPr>
              <a:t>28</a:t>
            </a:r>
          </a:p>
          <a:p>
            <a:pPr algn="r">
              <a:lnSpc>
                <a:spcPct val="100000"/>
              </a:lnSpc>
            </a:pPr>
            <a:r>
              <a:rPr sz="2000">
                <a:solidFill>
                  <a:srgbClr val="4F5D6A"/>
                </a:solidFill>
                <a:latin typeface="Consolas"/>
              </a:rPr>
              <a:t>29</a:t>
            </a:r>
          </a:p>
          <a:p>
            <a:pPr algn="r">
              <a:lnSpc>
                <a:spcPct val="100000"/>
              </a:lnSpc>
            </a:pPr>
            <a:r>
              <a:rPr sz="2000">
                <a:solidFill>
                  <a:srgbClr val="4F5D6A"/>
                </a:solidFill>
                <a:latin typeface="Consolas"/>
              </a:rPr>
              <a:t>30</a:t>
            </a:r>
          </a:p>
          <a:p>
            <a:pPr algn="r">
              <a:lnSpc>
                <a:spcPct val="100000"/>
              </a:lnSpc>
            </a:pPr>
            <a:r>
              <a:rPr sz="2000">
                <a:solidFill>
                  <a:srgbClr val="4F5D6A"/>
                </a:solidFill>
                <a:latin typeface="Consolas"/>
              </a:rPr>
              <a:t>31</a:t>
            </a:r>
          </a:p>
          <a:p>
            <a:pPr algn="r">
              <a:lnSpc>
                <a:spcPct val="100000"/>
              </a:lnSpc>
            </a:pPr>
            <a:r>
              <a:rPr sz="2000">
                <a:solidFill>
                  <a:srgbClr val="4F5D6A"/>
                </a:solidFill>
                <a:latin typeface="Consolas"/>
              </a:rPr>
              <a:t>32</a:t>
            </a:r>
          </a:p>
          <a:p>
            <a:pPr algn="r">
              <a:lnSpc>
                <a:spcPct val="100000"/>
              </a:lnSpc>
            </a:pPr>
            <a:r>
              <a:rPr sz="2000">
                <a:solidFill>
                  <a:srgbClr val="4F5D6A"/>
                </a:solidFill>
                <a:latin typeface="Consolas"/>
              </a:rPr>
              <a:t>33</a:t>
            </a:r>
          </a:p>
          <a:p>
            <a:pPr algn="r">
              <a:lnSpc>
                <a:spcPct val="100000"/>
              </a:lnSpc>
            </a:pPr>
            <a:r>
              <a:rPr sz="2000">
                <a:solidFill>
                  <a:srgbClr val="4F5D6A"/>
                </a:solidFill>
                <a:latin typeface="Consolas"/>
              </a:rPr>
              <a:t>34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DB9C1825-1003-4F9A-9092-DED29C7D769C}" type="slidenum">
              <a:rPr lang="en-GB" sz="1000">
                <a:solidFill>
                  <a:srgbClr val="8795A1"/>
                </a:solidFill>
                <a:latin typeface="Segoe UI"/>
              </a:rPr>
              <a:t>23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binary_ok(a, va, b, vb, c): &quot;&quot;&quot;Is the pair (a=va, b=vb) consistent? One consistency check.&quot;&quot;&quot; c.checks += 1 if (a, b) in BEFORE and not va &lt; vb: return False if (b, a) in BEFORE and not vb &lt; va: return False if ((a, b) in APART or (b, a) in APART) and va == vb: return False return True def capacity_ok(assign, c): &quot;&quot;&quot;The n-ary constraint. No arc can express this.&quot;&quot;&quot; c.checks += 1 load = dict.fromkeys(SLOTS, 0) for n, v in assign.items(): load[v] += STORIES[n][0] return all(load[s] &lt;= CAP for s in SLOTS)"/>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binary_ok</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"""Is the pair (a=va, b=vb) consistent? One consistency check."""</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checks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BEFORE</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va</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vb</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False</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BEFORE</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vb</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va</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False</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APART</a:t>
            </a:r>
            <a:r>
              <a:rPr sz="1400" i="0">
                <a:solidFill>
                  <a:srgbClr val="E8EDF2"/>
                </a:solidFill>
                <a:latin typeface="Consolas"/>
              </a:rPr>
              <a:t> </a:t>
            </a:r>
            <a:r>
              <a:rPr sz="1400" i="0">
                <a:solidFill>
                  <a:srgbClr val="AEB6BF"/>
                </a:solidFill>
                <a:latin typeface="Consolas"/>
              </a:rPr>
              <a:t>or</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APART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E8EDF2"/>
                </a:solidFill>
                <a:latin typeface="Consolas"/>
              </a:rPr>
              <a:t>va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vb</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False</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True</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capacity_ok</a:t>
            </a:r>
            <a:r>
              <a:rPr sz="1400" i="0">
                <a:solidFill>
                  <a:srgbClr val="AEB6BF"/>
                </a:solidFill>
                <a:latin typeface="Consolas"/>
              </a:rPr>
              <a:t>(</a:t>
            </a:r>
            <a:r>
              <a:rPr sz="1400" i="0">
                <a:solidFill>
                  <a:srgbClr val="E8EDF2"/>
                </a:solidFill>
                <a:latin typeface="Consolas"/>
              </a:rPr>
              <a:t>assign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"""The n-ary constraint. No arc can express this."""</a:t>
            </a:r>
          </a:p>
          <a:p>
            <a:pPr>
              <a:lnSpc>
                <a:spcPct val="100000"/>
              </a:lnSpc>
              <a:spcAft>
                <a:spcPts val="0"/>
              </a:spcAft>
            </a:pP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checks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E8EDF2"/>
                </a:solidFill>
                <a:latin typeface="Consolas"/>
              </a:rPr>
              <a:t>load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dict</a:t>
            </a:r>
            <a:r>
              <a:rPr sz="1400" i="0">
                <a:solidFill>
                  <a:srgbClr val="AEB6BF"/>
                </a:solidFill>
                <a:latin typeface="Consolas"/>
              </a:rPr>
              <a:t>.</a:t>
            </a:r>
            <a:r>
              <a:rPr sz="1400" i="0">
                <a:solidFill>
                  <a:srgbClr val="E8EDF2"/>
                </a:solidFill>
                <a:latin typeface="Consolas"/>
              </a:rPr>
              <a:t>fromkeys</a:t>
            </a:r>
            <a:r>
              <a:rPr sz="1400" i="0">
                <a:solidFill>
                  <a:srgbClr val="AEB6BF"/>
                </a:solidFill>
                <a:latin typeface="Consolas"/>
              </a:rPr>
              <a:t>(</a:t>
            </a:r>
            <a:r>
              <a:rPr sz="1400" i="0">
                <a:solidFill>
                  <a:srgbClr val="E8EDF2"/>
                </a:solidFill>
                <a:latin typeface="Consolas"/>
              </a:rPr>
              <a:t>SLOTS</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assign</a:t>
            </a:r>
            <a:r>
              <a:rPr sz="1400" i="0">
                <a:solidFill>
                  <a:srgbClr val="AEB6BF"/>
                </a:solidFill>
                <a:latin typeface="Consolas"/>
              </a:rPr>
              <a:t>.</a:t>
            </a:r>
            <a:r>
              <a:rPr sz="1400" i="0">
                <a:solidFill>
                  <a:srgbClr val="E8EDF2"/>
                </a:solidFill>
                <a:latin typeface="Consolas"/>
              </a:rPr>
              <a:t>items</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load</a:t>
            </a:r>
            <a:r>
              <a:rPr sz="1400" i="0">
                <a:solidFill>
                  <a:srgbClr val="AEB6BF"/>
                </a:solidFill>
                <a:latin typeface="Consolas"/>
              </a:rPr>
              <a:t>[</a:t>
            </a:r>
            <a:r>
              <a:rPr sz="1400" i="0">
                <a:solidFill>
                  <a:srgbClr val="E8EDF2"/>
                </a:solidFill>
                <a:latin typeface="Consolas"/>
              </a:rPr>
              <a:t>v</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STORIES</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C39BD3"/>
                </a:solidFill>
                <a:latin typeface="Consolas"/>
              </a:rPr>
              <a:t>all</a:t>
            </a:r>
            <a:r>
              <a:rPr sz="1400" i="0">
                <a:solidFill>
                  <a:srgbClr val="AEB6BF"/>
                </a:solidFill>
                <a:latin typeface="Consolas"/>
              </a:rPr>
              <a:t>(</a:t>
            </a:r>
            <a:r>
              <a:rPr sz="1400" i="0">
                <a:solidFill>
                  <a:srgbClr val="E8EDF2"/>
                </a:solidFill>
                <a:latin typeface="Consolas"/>
              </a:rPr>
              <a:t>load</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&lt;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CAP</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SLOTS</a:t>
            </a:r>
            <a:r>
              <a:rPr sz="1400" i="0">
                <a:solidFill>
                  <a:srgbClr val="AEB6BF"/>
                </a:solidFill>
                <a:latin typeface="Consolas"/>
              </a:rPr>
              <a:t>)</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37</a:t>
            </a:r>
          </a:p>
          <a:p>
            <a:pPr algn="r">
              <a:lnSpc>
                <a:spcPct val="100000"/>
              </a:lnSpc>
            </a:pPr>
            <a:r>
              <a:rPr sz="1400">
                <a:solidFill>
                  <a:srgbClr val="4F5D6A"/>
                </a:solidFill>
                <a:latin typeface="Consolas"/>
              </a:rPr>
              <a:t>38</a:t>
            </a:r>
          </a:p>
          <a:p>
            <a:pPr algn="r">
              <a:lnSpc>
                <a:spcPct val="100000"/>
              </a:lnSpc>
            </a:pPr>
            <a:r>
              <a:rPr sz="1400">
                <a:solidFill>
                  <a:srgbClr val="4F5D6A"/>
                </a:solidFill>
                <a:latin typeface="Consolas"/>
              </a:rPr>
              <a:t>39</a:t>
            </a:r>
          </a:p>
          <a:p>
            <a:pPr algn="r">
              <a:lnSpc>
                <a:spcPct val="100000"/>
              </a:lnSpc>
            </a:pPr>
            <a:r>
              <a:rPr sz="1400">
                <a:solidFill>
                  <a:srgbClr val="4F5D6A"/>
                </a:solidFill>
                <a:latin typeface="Consolas"/>
              </a:rPr>
              <a:t>40</a:t>
            </a:r>
          </a:p>
          <a:p>
            <a:pPr algn="r">
              <a:lnSpc>
                <a:spcPct val="100000"/>
              </a:lnSpc>
            </a:pPr>
            <a:r>
              <a:rPr sz="1400">
                <a:solidFill>
                  <a:srgbClr val="4F5D6A"/>
                </a:solidFill>
                <a:latin typeface="Consolas"/>
              </a:rPr>
              <a:t>41</a:t>
            </a:r>
          </a:p>
          <a:p>
            <a:pPr algn="r">
              <a:lnSpc>
                <a:spcPct val="100000"/>
              </a:lnSpc>
            </a:pPr>
            <a:r>
              <a:rPr sz="1400">
                <a:solidFill>
                  <a:srgbClr val="4F5D6A"/>
                </a:solidFill>
                <a:latin typeface="Consolas"/>
              </a:rPr>
              <a:t>42</a:t>
            </a:r>
          </a:p>
          <a:p>
            <a:pPr algn="r">
              <a:lnSpc>
                <a:spcPct val="100000"/>
              </a:lnSpc>
            </a:pPr>
            <a:r>
              <a:rPr sz="1400">
                <a:solidFill>
                  <a:srgbClr val="4F5D6A"/>
                </a:solidFill>
                <a:latin typeface="Consolas"/>
              </a:rPr>
              <a:t>43</a:t>
            </a:r>
          </a:p>
          <a:p>
            <a:pPr algn="r">
              <a:lnSpc>
                <a:spcPct val="100000"/>
              </a:lnSpc>
            </a:pPr>
            <a:r>
              <a:rPr sz="1400">
                <a:solidFill>
                  <a:srgbClr val="4F5D6A"/>
                </a:solidFill>
                <a:latin typeface="Consolas"/>
              </a:rPr>
              <a:t>44</a:t>
            </a:r>
          </a:p>
          <a:p>
            <a:pPr algn="r">
              <a:lnSpc>
                <a:spcPct val="100000"/>
              </a:lnSpc>
            </a:pPr>
            <a:r>
              <a:rPr sz="1400">
                <a:solidFill>
                  <a:srgbClr val="4F5D6A"/>
                </a:solidFill>
                <a:latin typeface="Consolas"/>
              </a:rPr>
              <a:t>45</a:t>
            </a:r>
          </a:p>
          <a:p>
            <a:pPr algn="r">
              <a:lnSpc>
                <a:spcPct val="100000"/>
              </a:lnSpc>
            </a:pPr>
            <a:r>
              <a:rPr sz="1400">
                <a:solidFill>
                  <a:srgbClr val="4F5D6A"/>
                </a:solidFill>
                <a:latin typeface="Consolas"/>
              </a:rPr>
              <a:t>46</a:t>
            </a:r>
          </a:p>
          <a:p>
            <a:pPr algn="r">
              <a:lnSpc>
                <a:spcPct val="100000"/>
              </a:lnSpc>
            </a:pPr>
            <a:r>
              <a:rPr sz="1400">
                <a:solidFill>
                  <a:srgbClr val="4F5D6A"/>
                </a:solidFill>
                <a:latin typeface="Consolas"/>
              </a:rPr>
              <a:t>47</a:t>
            </a:r>
          </a:p>
          <a:p>
            <a:pPr algn="r">
              <a:lnSpc>
                <a:spcPct val="100000"/>
              </a:lnSpc>
            </a:pPr>
            <a:r>
              <a:rPr sz="1400">
                <a:solidFill>
                  <a:srgbClr val="4F5D6A"/>
                </a:solidFill>
                <a:latin typeface="Consolas"/>
              </a:rPr>
              <a:t>48</a:t>
            </a:r>
          </a:p>
          <a:p>
            <a:pPr algn="r">
              <a:lnSpc>
                <a:spcPct val="100000"/>
              </a:lnSpc>
            </a:pPr>
            <a:r>
              <a:rPr sz="1400">
                <a:solidFill>
                  <a:srgbClr val="4F5D6A"/>
                </a:solidFill>
                <a:latin typeface="Consolas"/>
              </a:rPr>
              <a:t>49</a:t>
            </a:r>
          </a:p>
          <a:p>
            <a:pPr algn="r">
              <a:lnSpc>
                <a:spcPct val="100000"/>
              </a:lnSpc>
            </a:pPr>
            <a:r>
              <a:rPr sz="1400">
                <a:solidFill>
                  <a:srgbClr val="4F5D6A"/>
                </a:solidFill>
                <a:latin typeface="Consolas"/>
              </a:rPr>
              <a:t>50</a:t>
            </a:r>
          </a:p>
          <a:p>
            <a:pPr algn="r">
              <a:lnSpc>
                <a:spcPct val="100000"/>
              </a:lnSpc>
            </a:pPr>
            <a:r>
              <a:rPr sz="1400">
                <a:solidFill>
                  <a:srgbClr val="4F5D6A"/>
                </a:solidFill>
                <a:latin typeface="Consolas"/>
              </a:rPr>
              <a:t>51</a:t>
            </a:r>
          </a:p>
          <a:p>
            <a:pPr algn="r">
              <a:lnSpc>
                <a:spcPct val="100000"/>
              </a:lnSpc>
            </a:pPr>
            <a:r>
              <a:rPr sz="1400">
                <a:solidFill>
                  <a:srgbClr val="4F5D6A"/>
                </a:solidFill>
                <a:latin typeface="Consolas"/>
              </a:rPr>
              <a:t>52</a:t>
            </a:r>
          </a:p>
          <a:p>
            <a:pPr algn="r">
              <a:lnSpc>
                <a:spcPct val="100000"/>
              </a:lnSpc>
            </a:pPr>
            <a:r>
              <a:rPr sz="1400">
                <a:solidFill>
                  <a:srgbClr val="4F5D6A"/>
                </a:solidFill>
                <a:latin typeface="Consolas"/>
              </a:rPr>
              <a:t>53</a:t>
            </a:r>
          </a:p>
          <a:p>
            <a:pPr algn="r">
              <a:lnSpc>
                <a:spcPct val="100000"/>
              </a:lnSpc>
            </a:pPr>
            <a:r>
              <a:rPr sz="1400">
                <a:solidFill>
                  <a:srgbClr val="4F5D6A"/>
                </a:solidFill>
                <a:latin typeface="Consolas"/>
              </a:rPr>
              <a:t>54</a:t>
            </a:r>
          </a:p>
          <a:p>
            <a:pPr algn="r">
              <a:lnSpc>
                <a:spcPct val="100000"/>
              </a:lnSpc>
            </a:pPr>
            <a:r>
              <a:rPr sz="1400">
                <a:solidFill>
                  <a:srgbClr val="4F5D6A"/>
                </a:solidFill>
                <a:latin typeface="Consolas"/>
              </a:rPr>
              <a:t>55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A9B77E7A-150B-4A6B-BB4D-13CF51DBEC71}"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consistent(assign, var, val, c): for other, oval in assign.items(): if not binary_ok(var, val, other, oval, c): return False trial = dict(assign) trial[var] = val return capacity_ok(trial, c)"/>
          <p:cNvSpPr txBox="1"/>
          <p:nvPr/>
        </p:nvSpPr>
        <p:spPr>
          <a:xfrm>
            <a:off x="1362456" y="2066543"/>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consistent</a:t>
            </a:r>
            <a:r>
              <a:rPr sz="2000" i="0">
                <a:solidFill>
                  <a:srgbClr val="AEB6BF"/>
                </a:solidFill>
                <a:latin typeface="Consolas"/>
              </a:rPr>
              <a:t>(</a:t>
            </a:r>
            <a:r>
              <a:rPr sz="2000" i="0">
                <a:solidFill>
                  <a:srgbClr val="E8EDF2"/>
                </a:solidFill>
                <a:latin typeface="Consolas"/>
              </a:rPr>
              <a:t>assign</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val</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other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oval</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E8EDF2"/>
                </a:solidFill>
                <a:latin typeface="Consolas"/>
              </a:rPr>
              <a:t>binary_ok</a:t>
            </a:r>
            <a:r>
              <a:rPr sz="2000" i="0">
                <a:solidFill>
                  <a:srgbClr val="AEB6BF"/>
                </a:solidFill>
                <a:latin typeface="Consolas"/>
              </a:rPr>
              <a:t>(</a:t>
            </a:r>
            <a:r>
              <a:rPr sz="2000" i="0">
                <a:solidFill>
                  <a:srgbClr val="E8EDF2"/>
                </a:solidFill>
                <a:latin typeface="Consolas"/>
              </a:rPr>
              <a:t>var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val</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other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oval</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5DADE2"/>
                </a:solidFill>
                <a:latin typeface="Consolas"/>
              </a:rPr>
              <a:t>False</a:t>
            </a:r>
          </a:p>
          <a:p>
            <a:pPr>
              <a:lnSpc>
                <a:spcPct val="100000"/>
              </a:lnSpc>
              <a:spcAft>
                <a:spcPts val="0"/>
              </a:spcAft>
            </a:pPr>
            <a:r>
              <a:rPr sz="2000" i="0">
                <a:solidFill>
                  <a:srgbClr val="E8EDF2"/>
                </a:solidFill>
                <a:latin typeface="Consolas"/>
              </a:rPr>
              <a:t>    </a:t>
            </a:r>
            <a:r>
              <a:rPr sz="2000" i="0">
                <a:solidFill>
                  <a:srgbClr val="E8EDF2"/>
                </a:solidFill>
                <a:latin typeface="Consolas"/>
              </a:rPr>
              <a:t>trial</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dict</a:t>
            </a:r>
            <a:r>
              <a:rPr sz="2000" i="0">
                <a:solidFill>
                  <a:srgbClr val="AEB6BF"/>
                </a:solidFill>
                <a:latin typeface="Consolas"/>
              </a:rPr>
              <a:t>(</a:t>
            </a:r>
            <a:r>
              <a:rPr sz="2000" i="0">
                <a:solidFill>
                  <a:srgbClr val="E8EDF2"/>
                </a:solidFill>
                <a:latin typeface="Consolas"/>
              </a:rPr>
              <a:t>assign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trial</a:t>
            </a:r>
            <a:r>
              <a:rPr sz="2000" i="0">
                <a:solidFill>
                  <a:srgbClr val="AEB6BF"/>
                </a:solidFill>
                <a:latin typeface="Consolas"/>
              </a:rPr>
              <a:t>[</a:t>
            </a:r>
            <a:r>
              <a:rPr sz="2000" i="0">
                <a:solidFill>
                  <a:srgbClr val="E8EDF2"/>
                </a:solidFill>
                <a:latin typeface="Consolas"/>
              </a:rPr>
              <a:t>var</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val</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capacity_ok</a:t>
            </a:r>
            <a:r>
              <a:rPr sz="2000" i="0">
                <a:solidFill>
                  <a:srgbClr val="AEB6BF"/>
                </a:solidFill>
                <a:latin typeface="Consolas"/>
              </a:rPr>
              <a:t>(</a:t>
            </a:r>
            <a:r>
              <a:rPr sz="2000" i="0">
                <a:solidFill>
                  <a:srgbClr val="E8EDF2"/>
                </a:solidFill>
                <a:latin typeface="Consolas"/>
              </a:rPr>
              <a:t>trial</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p>
        </p:txBody>
      </p:sp>
      <p:sp>
        <p:nvSpPr>
          <p:cNvPr id="14" name="!!code-num"/>
          <p:cNvSpPr txBox="1"/>
          <p:nvPr/>
        </p:nvSpPr>
        <p:spPr>
          <a:xfrm>
            <a:off x="768096" y="2066543"/>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58</a:t>
            </a:r>
          </a:p>
          <a:p>
            <a:pPr algn="r">
              <a:lnSpc>
                <a:spcPct val="100000"/>
              </a:lnSpc>
            </a:pPr>
            <a:r>
              <a:rPr sz="2000">
                <a:solidFill>
                  <a:srgbClr val="4F5D6A"/>
                </a:solidFill>
                <a:latin typeface="Consolas"/>
              </a:rPr>
              <a:t>59</a:t>
            </a:r>
          </a:p>
          <a:p>
            <a:pPr algn="r">
              <a:lnSpc>
                <a:spcPct val="100000"/>
              </a:lnSpc>
            </a:pPr>
            <a:r>
              <a:rPr sz="2000">
                <a:solidFill>
                  <a:srgbClr val="4F5D6A"/>
                </a:solidFill>
                <a:latin typeface="Consolas"/>
              </a:rPr>
              <a:t>60</a:t>
            </a:r>
          </a:p>
          <a:p>
            <a:pPr algn="r">
              <a:lnSpc>
                <a:spcPct val="100000"/>
              </a:lnSpc>
            </a:pPr>
            <a:r>
              <a:rPr sz="2000">
                <a:solidFill>
                  <a:srgbClr val="4F5D6A"/>
                </a:solidFill>
                <a:latin typeface="Consolas"/>
              </a:rPr>
              <a:t>61</a:t>
            </a:r>
          </a:p>
          <a:p>
            <a:pPr algn="r">
              <a:lnSpc>
                <a:spcPct val="100000"/>
              </a:lnSpc>
            </a:pPr>
            <a:r>
              <a:rPr sz="2000">
                <a:solidFill>
                  <a:srgbClr val="4F5D6A"/>
                </a:solidFill>
                <a:latin typeface="Consolas"/>
              </a:rPr>
              <a:t>62</a:t>
            </a:r>
          </a:p>
          <a:p>
            <a:pPr algn="r">
              <a:lnSpc>
                <a:spcPct val="100000"/>
              </a:lnSpc>
            </a:pPr>
            <a:r>
              <a:rPr sz="2000">
                <a:solidFill>
                  <a:srgbClr val="4F5D6A"/>
                </a:solidFill>
                <a:latin typeface="Consolas"/>
              </a:rPr>
              <a:t>63</a:t>
            </a:r>
          </a:p>
          <a:p>
            <a:pPr algn="r">
              <a:lnSpc>
                <a:spcPct val="100000"/>
              </a:lnSpc>
            </a:pPr>
            <a:r>
              <a:rPr sz="2000">
                <a:solidFill>
                  <a:srgbClr val="4F5D6A"/>
                </a:solidFill>
                <a:latin typeface="Consolas"/>
              </a:rPr>
              <a:t>64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80F4FA06-4B49-4C20-8A4D-F37BBC301EDD}"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select_var(assign, domains, mrv, degree): un = [v for v in NAMES if v not in assign] if not mrv: return un[0] fewest = min(len(domains[v]) for v in un) tied = [v for v in un if len(domains[v]) == fewest] if len(tied) == 1 or not degree: return tied[0] def deg(v): return sum(1 for (a, b) in BEFORE + APART if (a == v and b not in assign) or (b == v and a not in assign)) return max(tied, key=deg)"/>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select_var</a:t>
            </a:r>
            <a:r>
              <a:rPr sz="1700" i="0">
                <a:solidFill>
                  <a:srgbClr val="AEB6BF"/>
                </a:solidFill>
                <a:latin typeface="Consolas"/>
              </a:rPr>
              <a:t>(</a:t>
            </a:r>
            <a:r>
              <a:rPr sz="1700" i="0">
                <a:solidFill>
                  <a:srgbClr val="E8EDF2"/>
                </a:solidFill>
                <a:latin typeface="Consolas"/>
              </a:rPr>
              <a:t>assign</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domains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mrv</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degree</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un</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v</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NAMES</a:t>
            </a: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not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assign</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AEB6BF"/>
                </a:solidFill>
                <a:latin typeface="Consolas"/>
              </a:rPr>
              <a:t>not</a:t>
            </a:r>
            <a:r>
              <a:rPr sz="1700" i="0">
                <a:solidFill>
                  <a:srgbClr val="E8EDF2"/>
                </a:solidFill>
                <a:latin typeface="Consolas"/>
              </a:rPr>
              <a:t> </a:t>
            </a:r>
            <a:r>
              <a:rPr sz="1700" i="0">
                <a:solidFill>
                  <a:srgbClr val="E8EDF2"/>
                </a:solidFill>
                <a:latin typeface="Consolas"/>
              </a:rPr>
              <a:t>mrv</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E8EDF2"/>
                </a:solidFill>
                <a:latin typeface="Consolas"/>
              </a:rPr>
              <a:t>un</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fewest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min</a:t>
            </a:r>
            <a:r>
              <a:rPr sz="1700" i="0">
                <a:solidFill>
                  <a:srgbClr val="AEB6BF"/>
                </a:solidFill>
                <a:latin typeface="Consolas"/>
              </a:rPr>
              <a:t>(</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domains</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un</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tied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v</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un</a:t>
            </a: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domains</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fewest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tied</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E8EDF2"/>
                </a:solidFill>
                <a:latin typeface="Consolas"/>
              </a:rPr>
              <a:t> </a:t>
            </a:r>
            <a:r>
              <a:rPr sz="1700" i="0">
                <a:solidFill>
                  <a:srgbClr val="AEB6BF"/>
                </a:solidFill>
                <a:latin typeface="Consolas"/>
              </a:rPr>
              <a:t>or</a:t>
            </a:r>
            <a:r>
              <a:rPr sz="1700" i="0">
                <a:solidFill>
                  <a:srgbClr val="E8EDF2"/>
                </a:solidFill>
                <a:latin typeface="Consolas"/>
              </a:rPr>
              <a:t> </a:t>
            </a:r>
            <a:r>
              <a:rPr sz="1700" i="0">
                <a:solidFill>
                  <a:srgbClr val="AEB6BF"/>
                </a:solidFill>
                <a:latin typeface="Consolas"/>
              </a:rPr>
              <a:t>not</a:t>
            </a:r>
            <a:r>
              <a:rPr sz="1700" i="0">
                <a:solidFill>
                  <a:srgbClr val="E8EDF2"/>
                </a:solidFill>
                <a:latin typeface="Consolas"/>
              </a:rPr>
              <a:t> </a:t>
            </a:r>
            <a:r>
              <a:rPr sz="1700" i="0">
                <a:solidFill>
                  <a:srgbClr val="E8EDF2"/>
                </a:solidFill>
                <a:latin typeface="Consolas"/>
              </a:rPr>
              <a:t>degree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E8EDF2"/>
                </a:solidFill>
                <a:latin typeface="Consolas"/>
              </a:rPr>
              <a:t>tied</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    </a:t>
            </a: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deg</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C39BD3"/>
                </a:solidFill>
                <a:latin typeface="Consolas"/>
              </a:rPr>
              <a:t>sum</a:t>
            </a:r>
            <a:r>
              <a:rPr sz="1700" i="0">
                <a:solidFill>
                  <a:srgbClr val="AEB6BF"/>
                </a:solidFill>
                <a:latin typeface="Consolas"/>
              </a:rPr>
              <a:t>(</a:t>
            </a:r>
            <a:r>
              <a:rPr sz="1700" i="0">
                <a:solidFill>
                  <a:srgbClr val="F7DC6F"/>
                </a:solidFill>
                <a:latin typeface="Consolas"/>
              </a:rPr>
              <a:t>1</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b</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BEFORE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APART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and</a:t>
            </a:r>
            <a:r>
              <a:rPr sz="1700" i="0">
                <a:solidFill>
                  <a:srgbClr val="E8EDF2"/>
                </a:solidFill>
                <a:latin typeface="Consolas"/>
              </a:rPr>
              <a:t> </a:t>
            </a:r>
            <a:r>
              <a:rPr sz="1700" i="0">
                <a:solidFill>
                  <a:srgbClr val="E8EDF2"/>
                </a:solidFill>
                <a:latin typeface="Consolas"/>
              </a:rPr>
              <a:t>b</a:t>
            </a:r>
            <a:r>
              <a:rPr sz="1700" i="0">
                <a:solidFill>
                  <a:srgbClr val="E8EDF2"/>
                </a:solidFill>
                <a:latin typeface="Consolas"/>
              </a:rPr>
              <a:t> </a:t>
            </a:r>
            <a:r>
              <a:rPr sz="1700" i="0">
                <a:solidFill>
                  <a:srgbClr val="AEB6BF"/>
                </a:solidFill>
                <a:latin typeface="Consolas"/>
              </a:rPr>
              <a:t>not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assign</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or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b</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and</a:t>
            </a:r>
            <a:r>
              <a:rPr sz="1700" i="0">
                <a:solidFill>
                  <a:srgbClr val="E8EDF2"/>
                </a:solidFill>
                <a:latin typeface="Consolas"/>
              </a:rPr>
              <a:t> </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not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assign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    </a:t>
            </a:r>
            <a:r>
              <a:rPr sz="1700" i="0">
                <a:solidFill>
                  <a:srgbClr val="5DADE2"/>
                </a:solidFill>
                <a:latin typeface="Consolas"/>
              </a:rPr>
              <a:t>return</a:t>
            </a:r>
            <a:r>
              <a:rPr sz="1700" i="0">
                <a:solidFill>
                  <a:srgbClr val="E8EDF2"/>
                </a:solidFill>
                <a:latin typeface="Consolas"/>
              </a:rPr>
              <a:t> </a:t>
            </a:r>
            <a:r>
              <a:rPr sz="1700" i="0">
                <a:solidFill>
                  <a:srgbClr val="C39BD3"/>
                </a:solidFill>
                <a:latin typeface="Consolas"/>
              </a:rPr>
              <a:t>max</a:t>
            </a:r>
            <a:r>
              <a:rPr sz="1700" i="0">
                <a:solidFill>
                  <a:srgbClr val="AEB6BF"/>
                </a:solidFill>
                <a:latin typeface="Consolas"/>
              </a:rPr>
              <a:t>(</a:t>
            </a:r>
            <a:r>
              <a:rPr sz="1700" i="0">
                <a:solidFill>
                  <a:srgbClr val="E8EDF2"/>
                </a:solidFill>
                <a:latin typeface="Consolas"/>
              </a:rPr>
              <a:t>tied</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key</a:t>
            </a:r>
            <a:r>
              <a:rPr sz="1700" i="0">
                <a:solidFill>
                  <a:srgbClr val="AEB6BF"/>
                </a:solidFill>
                <a:latin typeface="Consolas"/>
              </a:rPr>
              <a:t>=</a:t>
            </a:r>
            <a:r>
              <a:rPr sz="1700" i="0">
                <a:solidFill>
                  <a:srgbClr val="E8EDF2"/>
                </a:solidFill>
                <a:latin typeface="Consolas"/>
              </a:rPr>
              <a:t>deg</a:t>
            </a:r>
            <a:r>
              <a:rPr sz="17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67</a:t>
            </a:r>
          </a:p>
          <a:p>
            <a:pPr algn="r">
              <a:lnSpc>
                <a:spcPct val="100000"/>
              </a:lnSpc>
            </a:pPr>
            <a:r>
              <a:rPr sz="1700">
                <a:solidFill>
                  <a:srgbClr val="4F5D6A"/>
                </a:solidFill>
                <a:latin typeface="Consolas"/>
              </a:rPr>
              <a:t>68</a:t>
            </a:r>
          </a:p>
          <a:p>
            <a:pPr algn="r">
              <a:lnSpc>
                <a:spcPct val="100000"/>
              </a:lnSpc>
            </a:pPr>
            <a:r>
              <a:rPr sz="1700">
                <a:solidFill>
                  <a:srgbClr val="4F5D6A"/>
                </a:solidFill>
                <a:latin typeface="Consolas"/>
              </a:rPr>
              <a:t>69</a:t>
            </a:r>
          </a:p>
          <a:p>
            <a:pPr algn="r">
              <a:lnSpc>
                <a:spcPct val="100000"/>
              </a:lnSpc>
            </a:pPr>
            <a:r>
              <a:rPr sz="1700">
                <a:solidFill>
                  <a:srgbClr val="4F5D6A"/>
                </a:solidFill>
                <a:latin typeface="Consolas"/>
              </a:rPr>
              <a:t>70</a:t>
            </a:r>
          </a:p>
          <a:p>
            <a:pPr algn="r">
              <a:lnSpc>
                <a:spcPct val="100000"/>
              </a:lnSpc>
            </a:pPr>
            <a:r>
              <a:rPr sz="1700">
                <a:solidFill>
                  <a:srgbClr val="4F5D6A"/>
                </a:solidFill>
                <a:latin typeface="Consolas"/>
              </a:rPr>
              <a:t>71</a:t>
            </a:r>
          </a:p>
          <a:p>
            <a:pPr algn="r">
              <a:lnSpc>
                <a:spcPct val="100000"/>
              </a:lnSpc>
            </a:pPr>
            <a:r>
              <a:rPr sz="1700">
                <a:solidFill>
                  <a:srgbClr val="4F5D6A"/>
                </a:solidFill>
                <a:latin typeface="Consolas"/>
              </a:rPr>
              <a:t>72</a:t>
            </a:r>
          </a:p>
          <a:p>
            <a:pPr algn="r">
              <a:lnSpc>
                <a:spcPct val="100000"/>
              </a:lnSpc>
            </a:pPr>
            <a:r>
              <a:rPr sz="1700">
                <a:solidFill>
                  <a:srgbClr val="4F5D6A"/>
                </a:solidFill>
                <a:latin typeface="Consolas"/>
              </a:rPr>
              <a:t>73</a:t>
            </a:r>
          </a:p>
          <a:p>
            <a:pPr algn="r">
              <a:lnSpc>
                <a:spcPct val="100000"/>
              </a:lnSpc>
            </a:pPr>
            <a:r>
              <a:rPr sz="1700">
                <a:solidFill>
                  <a:srgbClr val="4F5D6A"/>
                </a:solidFill>
                <a:latin typeface="Consolas"/>
              </a:rPr>
              <a:t>74</a:t>
            </a:r>
          </a:p>
          <a:p>
            <a:pPr algn="r">
              <a:lnSpc>
                <a:spcPct val="100000"/>
              </a:lnSpc>
            </a:pPr>
            <a:r>
              <a:rPr sz="1700">
                <a:solidFill>
                  <a:srgbClr val="4F5D6A"/>
                </a:solidFill>
                <a:latin typeface="Consolas"/>
              </a:rPr>
              <a:t>75</a:t>
            </a:r>
          </a:p>
          <a:p>
            <a:pPr algn="r">
              <a:lnSpc>
                <a:spcPct val="100000"/>
              </a:lnSpc>
            </a:pPr>
            <a:r>
              <a:rPr sz="1700">
                <a:solidFill>
                  <a:srgbClr val="4F5D6A"/>
                </a:solidFill>
                <a:latin typeface="Consolas"/>
              </a:rPr>
              <a:t>76</a:t>
            </a:r>
          </a:p>
          <a:p>
            <a:pPr algn="r">
              <a:lnSpc>
                <a:spcPct val="100000"/>
              </a:lnSpc>
            </a:pPr>
            <a:r>
              <a:rPr sz="1700">
                <a:solidFill>
                  <a:srgbClr val="4F5D6A"/>
                </a:solidFill>
                <a:latin typeface="Consolas"/>
              </a:rPr>
              <a:t>77</a:t>
            </a:r>
          </a:p>
          <a:p>
            <a:pPr algn="r">
              <a:lnSpc>
                <a:spcPct val="100000"/>
              </a:lnSpc>
            </a:pPr>
            <a:r>
              <a:rPr sz="1700">
                <a:solidFill>
                  <a:srgbClr val="4F5D6A"/>
                </a:solidFill>
                <a:latin typeface="Consolas"/>
              </a:rPr>
              <a:t>78</a:t>
            </a:r>
          </a:p>
          <a:p>
            <a:pPr algn="r">
              <a:lnSpc>
                <a:spcPct val="100000"/>
              </a:lnSpc>
            </a:pPr>
            <a:r>
              <a:rPr sz="1700">
                <a:solidFill>
                  <a:srgbClr val="4F5D6A"/>
                </a:solidFill>
                <a:latin typeface="Consolas"/>
              </a:rPr>
              <a:t>79</a:t>
            </a:r>
          </a:p>
          <a:p>
            <a:pPr algn="r">
              <a:lnSpc>
                <a:spcPct val="100000"/>
              </a:lnSpc>
            </a:pPr>
            <a:r>
              <a:rPr sz="1700">
                <a:solidFill>
                  <a:srgbClr val="4F5D6A"/>
                </a:solidFill>
                <a:latin typeface="Consolas"/>
              </a:rPr>
              <a:t>80</a:t>
            </a:r>
          </a:p>
          <a:p>
            <a:pPr algn="r">
              <a:lnSpc>
                <a:spcPct val="100000"/>
              </a:lnSpc>
            </a:pPr>
            <a:r>
              <a:rPr sz="1700">
                <a:solidFill>
                  <a:srgbClr val="4F5D6A"/>
                </a:solidFill>
                <a:latin typeface="Consolas"/>
              </a:rPr>
              <a:t>81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B2929E7E-1142-4C30-B20F-EA435C789C23}"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forward_check(var, val, domains, c): &quot;&quot;&quot;Prune the neighbours. None means a domain emptied.&quot;&quot;&quot; nd = {k: list(v) for k, v in domains.items()} nd[var] = [val] for other in NAMES: if other == var: continue keep = [x for x in nd[other] if binary_ok(var, val, other, x, c)] if not keep: return None nd[other] = keep return nd"/>
          <p:cNvSpPr txBox="1"/>
          <p:nvPr/>
        </p:nvSpPr>
        <p:spPr>
          <a:xfrm>
            <a:off x="1362456" y="2066543"/>
            <a:ext cx="9987991" cy="340156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forward_check</a:t>
            </a:r>
            <a:r>
              <a:rPr sz="1800" i="0">
                <a:solidFill>
                  <a:srgbClr val="AEB6BF"/>
                </a:solidFill>
                <a:latin typeface="Consolas"/>
              </a:rPr>
              <a:t>(</a:t>
            </a:r>
            <a:r>
              <a:rPr sz="1800" i="0">
                <a:solidFill>
                  <a:srgbClr val="E8EDF2"/>
                </a:solidFill>
                <a:latin typeface="Consolas"/>
              </a:rPr>
              <a:t>var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domains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"""Prune the neighbours. None means a domain emptied."""</a:t>
            </a:r>
          </a:p>
          <a:p>
            <a:pPr>
              <a:lnSpc>
                <a:spcPct val="100000"/>
              </a:lnSpc>
              <a:spcAft>
                <a:spcPts val="0"/>
              </a:spcAft>
            </a:pPr>
            <a:r>
              <a:rPr sz="1800" i="0">
                <a:solidFill>
                  <a:srgbClr val="E8EDF2"/>
                </a:solidFill>
                <a:latin typeface="Consolas"/>
              </a:rPr>
              <a:t>    </a:t>
            </a:r>
            <a:r>
              <a:rPr sz="1800" i="0">
                <a:solidFill>
                  <a:srgbClr val="E8EDF2"/>
                </a:solidFill>
                <a:latin typeface="Consolas"/>
              </a:rPr>
              <a:t>nd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k</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list</a:t>
            </a:r>
            <a:r>
              <a:rPr sz="1800" i="0">
                <a:solidFill>
                  <a:srgbClr val="AEB6BF"/>
                </a:solidFill>
                <a:latin typeface="Consolas"/>
              </a:rPr>
              <a:t>(</a:t>
            </a:r>
            <a:r>
              <a:rPr sz="1800" i="0">
                <a:solidFill>
                  <a:srgbClr val="E8EDF2"/>
                </a:solidFill>
                <a:latin typeface="Consolas"/>
              </a:rPr>
              <a:t>v</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k</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domains</a:t>
            </a:r>
            <a:r>
              <a:rPr sz="1800" i="0">
                <a:solidFill>
                  <a:srgbClr val="AEB6BF"/>
                </a:solidFill>
                <a:latin typeface="Consolas"/>
              </a:rPr>
              <a:t>.</a:t>
            </a:r>
            <a:r>
              <a:rPr sz="1800" i="0">
                <a:solidFill>
                  <a:srgbClr val="E8EDF2"/>
                </a:solidFill>
                <a:latin typeface="Consolas"/>
              </a:rPr>
              <a:t>items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nd</a:t>
            </a:r>
            <a:r>
              <a:rPr sz="1800" i="0">
                <a:solidFill>
                  <a:srgbClr val="AEB6BF"/>
                </a:solidFill>
                <a:latin typeface="Consolas"/>
              </a:rPr>
              <a:t>[</a:t>
            </a:r>
            <a:r>
              <a:rPr sz="1800" i="0">
                <a:solidFill>
                  <a:srgbClr val="E8EDF2"/>
                </a:solidFill>
                <a:latin typeface="Consolas"/>
              </a:rPr>
              <a:t>var</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val</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other</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NAMES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other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var</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continue</a:t>
            </a:r>
          </a:p>
          <a:p>
            <a:pPr>
              <a:lnSpc>
                <a:spcPct val="100000"/>
              </a:lnSpc>
              <a:spcAft>
                <a:spcPts val="0"/>
              </a:spcAft>
            </a:pPr>
            <a:r>
              <a:rPr sz="1800" i="0">
                <a:solidFill>
                  <a:srgbClr val="E8EDF2"/>
                </a:solidFill>
                <a:latin typeface="Consolas"/>
              </a:rPr>
              <a:t>        </a:t>
            </a:r>
            <a:r>
              <a:rPr sz="1800" i="0">
                <a:solidFill>
                  <a:srgbClr val="E8EDF2"/>
                </a:solidFill>
                <a:latin typeface="Consolas"/>
              </a:rPr>
              <a:t>keep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x</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nd</a:t>
            </a:r>
            <a:r>
              <a:rPr sz="1800" i="0">
                <a:solidFill>
                  <a:srgbClr val="AEB6BF"/>
                </a:solidFill>
                <a:latin typeface="Consolas"/>
              </a:rPr>
              <a:t>[</a:t>
            </a:r>
            <a:r>
              <a:rPr sz="1800" i="0">
                <a:solidFill>
                  <a:srgbClr val="E8EDF2"/>
                </a:solidFill>
                <a:latin typeface="Consolas"/>
              </a:rPr>
              <a:t>other</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binary_ok</a:t>
            </a:r>
            <a:r>
              <a:rPr sz="1800" i="0">
                <a:solidFill>
                  <a:srgbClr val="AEB6BF"/>
                </a:solidFill>
                <a:latin typeface="Consolas"/>
              </a:rPr>
              <a:t>(</a:t>
            </a:r>
            <a:r>
              <a:rPr sz="1800" i="0">
                <a:solidFill>
                  <a:srgbClr val="E8EDF2"/>
                </a:solidFill>
                <a:latin typeface="Consolas"/>
              </a:rPr>
              <a:t>var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other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E8EDF2"/>
                </a:solidFill>
                <a:latin typeface="Consolas"/>
              </a:rPr>
              <a:t>keep</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5DADE2"/>
                </a:solidFill>
                <a:latin typeface="Consolas"/>
              </a:rPr>
              <a:t>None</a:t>
            </a:r>
          </a:p>
          <a:p>
            <a:pPr>
              <a:lnSpc>
                <a:spcPct val="100000"/>
              </a:lnSpc>
              <a:spcAft>
                <a:spcPts val="0"/>
              </a:spcAft>
            </a:pPr>
            <a:r>
              <a:rPr sz="1800" i="0">
                <a:solidFill>
                  <a:srgbClr val="E8EDF2"/>
                </a:solidFill>
                <a:latin typeface="Consolas"/>
              </a:rPr>
              <a:t>        </a:t>
            </a:r>
            <a:r>
              <a:rPr sz="1800" i="0">
                <a:solidFill>
                  <a:srgbClr val="E8EDF2"/>
                </a:solidFill>
                <a:latin typeface="Consolas"/>
              </a:rPr>
              <a:t>nd</a:t>
            </a:r>
            <a:r>
              <a:rPr sz="1800" i="0">
                <a:solidFill>
                  <a:srgbClr val="AEB6BF"/>
                </a:solidFill>
                <a:latin typeface="Consolas"/>
              </a:rPr>
              <a:t>[</a:t>
            </a:r>
            <a:r>
              <a:rPr sz="1800" i="0">
                <a:solidFill>
                  <a:srgbClr val="E8EDF2"/>
                </a:solidFill>
                <a:latin typeface="Consolas"/>
              </a:rPr>
              <a:t>other</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keep</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nd</a:t>
            </a:r>
          </a:p>
        </p:txBody>
      </p:sp>
      <p:sp>
        <p:nvSpPr>
          <p:cNvPr id="14" name="!!code-num"/>
          <p:cNvSpPr txBox="1"/>
          <p:nvPr/>
        </p:nvSpPr>
        <p:spPr>
          <a:xfrm>
            <a:off x="768096" y="2066543"/>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84</a:t>
            </a:r>
          </a:p>
          <a:p>
            <a:pPr algn="r">
              <a:lnSpc>
                <a:spcPct val="100000"/>
              </a:lnSpc>
            </a:pPr>
            <a:r>
              <a:rPr sz="1800">
                <a:solidFill>
                  <a:srgbClr val="4F5D6A"/>
                </a:solidFill>
                <a:latin typeface="Consolas"/>
              </a:rPr>
              <a:t>85</a:t>
            </a:r>
          </a:p>
          <a:p>
            <a:pPr algn="r">
              <a:lnSpc>
                <a:spcPct val="100000"/>
              </a:lnSpc>
            </a:pPr>
            <a:r>
              <a:rPr sz="1800">
                <a:solidFill>
                  <a:srgbClr val="4F5D6A"/>
                </a:solidFill>
                <a:latin typeface="Consolas"/>
              </a:rPr>
              <a:t>86</a:t>
            </a:r>
          </a:p>
          <a:p>
            <a:pPr algn="r">
              <a:lnSpc>
                <a:spcPct val="100000"/>
              </a:lnSpc>
            </a:pPr>
            <a:r>
              <a:rPr sz="1800">
                <a:solidFill>
                  <a:srgbClr val="4F5D6A"/>
                </a:solidFill>
                <a:latin typeface="Consolas"/>
              </a:rPr>
              <a:t>87</a:t>
            </a:r>
          </a:p>
          <a:p>
            <a:pPr algn="r">
              <a:lnSpc>
                <a:spcPct val="100000"/>
              </a:lnSpc>
            </a:pPr>
            <a:r>
              <a:rPr sz="1800">
                <a:solidFill>
                  <a:srgbClr val="4F5D6A"/>
                </a:solidFill>
                <a:latin typeface="Consolas"/>
              </a:rPr>
              <a:t>88</a:t>
            </a:r>
          </a:p>
          <a:p>
            <a:pPr algn="r">
              <a:lnSpc>
                <a:spcPct val="100000"/>
              </a:lnSpc>
            </a:pPr>
            <a:r>
              <a:rPr sz="1800">
                <a:solidFill>
                  <a:srgbClr val="4F5D6A"/>
                </a:solidFill>
                <a:latin typeface="Consolas"/>
              </a:rPr>
              <a:t>89</a:t>
            </a:r>
          </a:p>
          <a:p>
            <a:pPr algn="r">
              <a:lnSpc>
                <a:spcPct val="100000"/>
              </a:lnSpc>
            </a:pPr>
            <a:r>
              <a:rPr sz="1800">
                <a:solidFill>
                  <a:srgbClr val="4F5D6A"/>
                </a:solidFill>
                <a:latin typeface="Consolas"/>
              </a:rPr>
              <a:t>90</a:t>
            </a:r>
          </a:p>
          <a:p>
            <a:pPr algn="r">
              <a:lnSpc>
                <a:spcPct val="100000"/>
              </a:lnSpc>
            </a:pPr>
            <a:r>
              <a:rPr sz="1800">
                <a:solidFill>
                  <a:srgbClr val="4F5D6A"/>
                </a:solidFill>
                <a:latin typeface="Consolas"/>
              </a:rPr>
              <a:t>91</a:t>
            </a:r>
          </a:p>
          <a:p>
            <a:pPr algn="r">
              <a:lnSpc>
                <a:spcPct val="100000"/>
              </a:lnSpc>
            </a:pPr>
            <a:r>
              <a:rPr sz="1800">
                <a:solidFill>
                  <a:srgbClr val="4F5D6A"/>
                </a:solidFill>
                <a:latin typeface="Consolas"/>
              </a:rPr>
              <a:t>92</a:t>
            </a:r>
          </a:p>
          <a:p>
            <a:pPr algn="r">
              <a:lnSpc>
                <a:spcPct val="100000"/>
              </a:lnSpc>
            </a:pPr>
            <a:r>
              <a:rPr sz="1800">
                <a:solidFill>
                  <a:srgbClr val="4F5D6A"/>
                </a:solidFill>
                <a:latin typeface="Consolas"/>
              </a:rPr>
              <a:t>93</a:t>
            </a:r>
          </a:p>
          <a:p>
            <a:pPr algn="r">
              <a:lnSpc>
                <a:spcPct val="100000"/>
              </a:lnSpc>
            </a:pPr>
            <a:r>
              <a:rPr sz="1800">
                <a:solidFill>
                  <a:srgbClr val="4F5D6A"/>
                </a:solidFill>
                <a:latin typeface="Consolas"/>
              </a:rPr>
              <a:t>94</a:t>
            </a:r>
          </a:p>
          <a:p>
            <a:pPr algn="r">
              <a:lnSpc>
                <a:spcPct val="100000"/>
              </a:lnSpc>
            </a:pPr>
            <a:r>
              <a:rPr sz="1800">
                <a:solidFill>
                  <a:srgbClr val="4F5D6A"/>
                </a:solidFill>
                <a:latin typeface="Consolas"/>
              </a:rPr>
              <a:t>95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EDD476E5-0E6F-40AF-8ADD-9148E31CEB5B}"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ac3(domains, c): &quot;&quot;&quot;Arc consistency over the BINARY constraints only.&quot;&quot;&quot; nd = {k: list(v) for k, v in domains.items()} arcs = [] for (a, b) in BEFORE + APART: arcs += [(a, b), (b, a)] queue = list(arcs) while queue: xi, xj = queue.pop(0) keep = [vi for vi in nd[xi] if any(binary_ok(xi, vi, xj, vj, c) for vj in nd[xj])] if len(keep) != len(nd[xi]): nd[xi] = keep if not nd[xi]: return None queue += [(a, b) for (a, b) in arcs if b == xi] return nd"/>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ac3</a:t>
            </a:r>
            <a:r>
              <a:rPr sz="1500" i="0">
                <a:solidFill>
                  <a:srgbClr val="AEB6BF"/>
                </a:solidFill>
                <a:latin typeface="Consolas"/>
              </a:rPr>
              <a:t>(</a:t>
            </a:r>
            <a:r>
              <a:rPr sz="1500" i="0">
                <a:solidFill>
                  <a:srgbClr val="E8EDF2"/>
                </a:solidFill>
                <a:latin typeface="Consolas"/>
              </a:rPr>
              <a:t>domains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"""Arc consistency over the BINARY constraints only."""</a:t>
            </a:r>
          </a:p>
          <a:p>
            <a:pPr>
              <a:lnSpc>
                <a:spcPct val="100000"/>
              </a:lnSpc>
              <a:spcAft>
                <a:spcPts val="0"/>
              </a:spcAft>
            </a:pPr>
            <a:r>
              <a:rPr sz="1500" i="0">
                <a:solidFill>
                  <a:srgbClr val="E8EDF2"/>
                </a:solidFill>
                <a:latin typeface="Consolas"/>
              </a:rPr>
              <a:t>    </a:t>
            </a:r>
            <a:r>
              <a:rPr sz="1500" i="0">
                <a:solidFill>
                  <a:srgbClr val="E8EDF2"/>
                </a:solidFill>
                <a:latin typeface="Consolas"/>
              </a:rPr>
              <a:t>nd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k</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list</a:t>
            </a:r>
            <a:r>
              <a:rPr sz="1500" i="0">
                <a:solidFill>
                  <a:srgbClr val="AEB6BF"/>
                </a:solidFill>
                <a:latin typeface="Consolas"/>
              </a:rPr>
              <a:t>(</a:t>
            </a:r>
            <a:r>
              <a:rPr sz="1500" i="0">
                <a:solidFill>
                  <a:srgbClr val="E8EDF2"/>
                </a:solidFill>
                <a:latin typeface="Consolas"/>
              </a:rPr>
              <a:t>v</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k</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domains</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arcs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BEFORE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APART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arcs</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queue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list</a:t>
            </a:r>
            <a:r>
              <a:rPr sz="1500" i="0">
                <a:solidFill>
                  <a:srgbClr val="AEB6BF"/>
                </a:solidFill>
                <a:latin typeface="Consolas"/>
              </a:rPr>
              <a:t>(</a:t>
            </a:r>
            <a:r>
              <a:rPr sz="1500" i="0">
                <a:solidFill>
                  <a:srgbClr val="E8EDF2"/>
                </a:solidFill>
                <a:latin typeface="Consolas"/>
              </a:rPr>
              <a:t>arcs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while</a:t>
            </a:r>
            <a:r>
              <a:rPr sz="1500" i="0">
                <a:solidFill>
                  <a:srgbClr val="E8EDF2"/>
                </a:solidFill>
                <a:latin typeface="Consolas"/>
              </a:rPr>
              <a:t> </a:t>
            </a:r>
            <a:r>
              <a:rPr sz="1500" i="0">
                <a:solidFill>
                  <a:srgbClr val="E8EDF2"/>
                </a:solidFill>
                <a:latin typeface="Consolas"/>
              </a:rPr>
              <a:t>queue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xi</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xj</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queue</a:t>
            </a:r>
            <a:r>
              <a:rPr sz="1500" i="0">
                <a:solidFill>
                  <a:srgbClr val="AEB6BF"/>
                </a:solidFill>
                <a:latin typeface="Consolas"/>
              </a:rPr>
              <a:t>.</a:t>
            </a:r>
            <a:r>
              <a:rPr sz="1500" i="0">
                <a:solidFill>
                  <a:srgbClr val="E8EDF2"/>
                </a:solidFill>
                <a:latin typeface="Consolas"/>
              </a:rPr>
              <a:t>pop</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keep</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vi</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vi</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nd</a:t>
            </a:r>
            <a:r>
              <a:rPr sz="1500" i="0">
                <a:solidFill>
                  <a:srgbClr val="AEB6BF"/>
                </a:solidFill>
                <a:latin typeface="Consolas"/>
              </a:rPr>
              <a:t>[</a:t>
            </a:r>
            <a:r>
              <a:rPr sz="1500" i="0">
                <a:solidFill>
                  <a:srgbClr val="E8EDF2"/>
                </a:solidFill>
                <a:latin typeface="Consolas"/>
              </a:rPr>
              <a:t>xi</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C39BD3"/>
                </a:solidFill>
                <a:latin typeface="Consolas"/>
              </a:rPr>
              <a:t>any</a:t>
            </a:r>
            <a:r>
              <a:rPr sz="1500" i="0">
                <a:solidFill>
                  <a:srgbClr val="AEB6BF"/>
                </a:solidFill>
                <a:latin typeface="Consolas"/>
              </a:rPr>
              <a:t>(</a:t>
            </a:r>
            <a:r>
              <a:rPr sz="1500" i="0">
                <a:solidFill>
                  <a:srgbClr val="E8EDF2"/>
                </a:solidFill>
                <a:latin typeface="Consolas"/>
              </a:rPr>
              <a:t>binary_ok</a:t>
            </a:r>
            <a:r>
              <a:rPr sz="1500" i="0">
                <a:solidFill>
                  <a:srgbClr val="AEB6BF"/>
                </a:solidFill>
                <a:latin typeface="Consolas"/>
              </a:rPr>
              <a:t>(</a:t>
            </a:r>
            <a:r>
              <a:rPr sz="1500" i="0">
                <a:solidFill>
                  <a:srgbClr val="E8EDF2"/>
                </a:solidFill>
                <a:latin typeface="Consolas"/>
              </a:rPr>
              <a:t>xi</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vi</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xj</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vj</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vj</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nd</a:t>
            </a:r>
            <a:r>
              <a:rPr sz="1500" i="0">
                <a:solidFill>
                  <a:srgbClr val="AEB6BF"/>
                </a:solidFill>
                <a:latin typeface="Consolas"/>
              </a:rPr>
              <a:t>[</a:t>
            </a:r>
            <a:r>
              <a:rPr sz="1500" i="0">
                <a:solidFill>
                  <a:srgbClr val="E8EDF2"/>
                </a:solidFill>
                <a:latin typeface="Consolas"/>
              </a:rPr>
              <a:t>xj</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keep</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nd</a:t>
            </a:r>
            <a:r>
              <a:rPr sz="1500" i="0">
                <a:solidFill>
                  <a:srgbClr val="AEB6BF"/>
                </a:solidFill>
                <a:latin typeface="Consolas"/>
              </a:rPr>
              <a:t>[</a:t>
            </a:r>
            <a:r>
              <a:rPr sz="1500" i="0">
                <a:solidFill>
                  <a:srgbClr val="E8EDF2"/>
                </a:solidFill>
                <a:latin typeface="Consolas"/>
              </a:rPr>
              <a:t>xi</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nd</a:t>
            </a:r>
            <a:r>
              <a:rPr sz="1500" i="0">
                <a:solidFill>
                  <a:srgbClr val="AEB6BF"/>
                </a:solidFill>
                <a:latin typeface="Consolas"/>
              </a:rPr>
              <a:t>[</a:t>
            </a:r>
            <a:r>
              <a:rPr sz="1500" i="0">
                <a:solidFill>
                  <a:srgbClr val="E8EDF2"/>
                </a:solidFill>
                <a:latin typeface="Consolas"/>
              </a:rPr>
              <a:t>xi</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keep</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AEB6BF"/>
                </a:solidFill>
                <a:latin typeface="Consolas"/>
              </a:rPr>
              <a:t>not</a:t>
            </a:r>
            <a:r>
              <a:rPr sz="1500" i="0">
                <a:solidFill>
                  <a:srgbClr val="E8EDF2"/>
                </a:solidFill>
                <a:latin typeface="Consolas"/>
              </a:rPr>
              <a:t> </a:t>
            </a:r>
            <a:r>
              <a:rPr sz="1500" i="0">
                <a:solidFill>
                  <a:srgbClr val="E8EDF2"/>
                </a:solidFill>
                <a:latin typeface="Consolas"/>
              </a:rPr>
              <a:t>nd</a:t>
            </a:r>
            <a:r>
              <a:rPr sz="1500" i="0">
                <a:solidFill>
                  <a:srgbClr val="AEB6BF"/>
                </a:solidFill>
                <a:latin typeface="Consolas"/>
              </a:rPr>
              <a:t>[</a:t>
            </a:r>
            <a:r>
              <a:rPr sz="1500" i="0">
                <a:solidFill>
                  <a:srgbClr val="E8EDF2"/>
                </a:solidFill>
                <a:latin typeface="Consolas"/>
              </a:rPr>
              <a:t>xi</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5DADE2"/>
                </a:solidFill>
                <a:latin typeface="Consolas"/>
              </a:rPr>
              <a:t>None</a:t>
            </a:r>
          </a:p>
          <a:p>
            <a:pPr>
              <a:lnSpc>
                <a:spcPct val="100000"/>
              </a:lnSpc>
              <a:spcAft>
                <a:spcPts val="0"/>
              </a:spcAft>
            </a:pPr>
            <a:r>
              <a:rPr sz="1500" i="0">
                <a:solidFill>
                  <a:srgbClr val="E8EDF2"/>
                </a:solidFill>
                <a:latin typeface="Consolas"/>
              </a:rPr>
              <a:t>            </a:t>
            </a:r>
            <a:r>
              <a:rPr sz="1500" i="0">
                <a:solidFill>
                  <a:srgbClr val="E8EDF2"/>
                </a:solidFill>
                <a:latin typeface="Consolas"/>
              </a:rPr>
              <a:t>queue</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arcs</a:t>
            </a: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b</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xi</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nd</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98</a:t>
            </a:r>
          </a:p>
          <a:p>
            <a:pPr algn="r">
              <a:lnSpc>
                <a:spcPct val="100000"/>
              </a:lnSpc>
            </a:pPr>
            <a:r>
              <a:rPr sz="1500">
                <a:solidFill>
                  <a:srgbClr val="4F5D6A"/>
                </a:solidFill>
                <a:latin typeface="Consolas"/>
              </a:rPr>
              <a:t>99</a:t>
            </a:r>
          </a:p>
          <a:p>
            <a:pPr algn="r">
              <a:lnSpc>
                <a:spcPct val="100000"/>
              </a:lnSpc>
            </a:pPr>
            <a:r>
              <a:rPr sz="1500">
                <a:solidFill>
                  <a:srgbClr val="4F5D6A"/>
                </a:solidFill>
                <a:latin typeface="Consolas"/>
              </a:rPr>
              <a:t>100</a:t>
            </a:r>
          </a:p>
          <a:p>
            <a:pPr algn="r">
              <a:lnSpc>
                <a:spcPct val="100000"/>
              </a:lnSpc>
            </a:pPr>
            <a:r>
              <a:rPr sz="1500">
                <a:solidFill>
                  <a:srgbClr val="4F5D6A"/>
                </a:solidFill>
                <a:latin typeface="Consolas"/>
              </a:rPr>
              <a:t>101</a:t>
            </a:r>
          </a:p>
          <a:p>
            <a:pPr algn="r">
              <a:lnSpc>
                <a:spcPct val="100000"/>
              </a:lnSpc>
            </a:pPr>
            <a:r>
              <a:rPr sz="1500">
                <a:solidFill>
                  <a:srgbClr val="4F5D6A"/>
                </a:solidFill>
                <a:latin typeface="Consolas"/>
              </a:rPr>
              <a:t>102</a:t>
            </a:r>
          </a:p>
          <a:p>
            <a:pPr algn="r">
              <a:lnSpc>
                <a:spcPct val="100000"/>
              </a:lnSpc>
            </a:pPr>
            <a:r>
              <a:rPr sz="1500">
                <a:solidFill>
                  <a:srgbClr val="4F5D6A"/>
                </a:solidFill>
                <a:latin typeface="Consolas"/>
              </a:rPr>
              <a:t>103</a:t>
            </a:r>
          </a:p>
          <a:p>
            <a:pPr algn="r">
              <a:lnSpc>
                <a:spcPct val="100000"/>
              </a:lnSpc>
            </a:pPr>
            <a:r>
              <a:rPr sz="1500">
                <a:solidFill>
                  <a:srgbClr val="4F5D6A"/>
                </a:solidFill>
                <a:latin typeface="Consolas"/>
              </a:rPr>
              <a:t>104</a:t>
            </a:r>
          </a:p>
          <a:p>
            <a:pPr algn="r">
              <a:lnSpc>
                <a:spcPct val="100000"/>
              </a:lnSpc>
            </a:pPr>
            <a:r>
              <a:rPr sz="1500">
                <a:solidFill>
                  <a:srgbClr val="4F5D6A"/>
                </a:solidFill>
                <a:latin typeface="Consolas"/>
              </a:rPr>
              <a:t>105</a:t>
            </a:r>
          </a:p>
          <a:p>
            <a:pPr algn="r">
              <a:lnSpc>
                <a:spcPct val="100000"/>
              </a:lnSpc>
            </a:pPr>
            <a:r>
              <a:rPr sz="1500">
                <a:solidFill>
                  <a:srgbClr val="4F5D6A"/>
                </a:solidFill>
                <a:latin typeface="Consolas"/>
              </a:rPr>
              <a:t>106</a:t>
            </a:r>
          </a:p>
          <a:p>
            <a:pPr algn="r">
              <a:lnSpc>
                <a:spcPct val="100000"/>
              </a:lnSpc>
            </a:pPr>
            <a:r>
              <a:rPr sz="1500">
                <a:solidFill>
                  <a:srgbClr val="4F5D6A"/>
                </a:solidFill>
                <a:latin typeface="Consolas"/>
              </a:rPr>
              <a:t>107</a:t>
            </a:r>
          </a:p>
          <a:p>
            <a:pPr algn="r">
              <a:lnSpc>
                <a:spcPct val="100000"/>
              </a:lnSpc>
            </a:pPr>
            <a:r>
              <a:rPr sz="1500">
                <a:solidFill>
                  <a:srgbClr val="4F5D6A"/>
                </a:solidFill>
                <a:latin typeface="Consolas"/>
              </a:rPr>
              <a:t>108</a:t>
            </a:r>
          </a:p>
          <a:p>
            <a:pPr algn="r">
              <a:lnSpc>
                <a:spcPct val="100000"/>
              </a:lnSpc>
            </a:pPr>
            <a:r>
              <a:rPr sz="1500">
                <a:solidFill>
                  <a:srgbClr val="4F5D6A"/>
                </a:solidFill>
                <a:latin typeface="Consolas"/>
              </a:rPr>
              <a:t>109</a:t>
            </a:r>
          </a:p>
          <a:p>
            <a:pPr algn="r">
              <a:lnSpc>
                <a:spcPct val="100000"/>
              </a:lnSpc>
            </a:pPr>
            <a:r>
              <a:rPr sz="1500">
                <a:solidFill>
                  <a:srgbClr val="4F5D6A"/>
                </a:solidFill>
                <a:latin typeface="Consolas"/>
              </a:rPr>
              <a:t>110</a:t>
            </a:r>
          </a:p>
          <a:p>
            <a:pPr algn="r">
              <a:lnSpc>
                <a:spcPct val="100000"/>
              </a:lnSpc>
            </a:pPr>
            <a:r>
              <a:rPr sz="1500">
                <a:solidFill>
                  <a:srgbClr val="4F5D6A"/>
                </a:solidFill>
                <a:latin typeface="Consolas"/>
              </a:rPr>
              <a:t>111</a:t>
            </a:r>
          </a:p>
          <a:p>
            <a:pPr algn="r">
              <a:lnSpc>
                <a:spcPct val="100000"/>
              </a:lnSpc>
            </a:pPr>
            <a:r>
              <a:rPr sz="1500">
                <a:solidFill>
                  <a:srgbClr val="4F5D6A"/>
                </a:solidFill>
                <a:latin typeface="Consolas"/>
              </a:rPr>
              <a:t>112</a:t>
            </a:r>
          </a:p>
          <a:p>
            <a:pPr algn="r">
              <a:lnSpc>
                <a:spcPct val="100000"/>
              </a:lnSpc>
            </a:pPr>
            <a:r>
              <a:rPr sz="1500">
                <a:solidFill>
                  <a:srgbClr val="4F5D6A"/>
                </a:solidFill>
                <a:latin typeface="Consolas"/>
              </a:rPr>
              <a:t>113</a:t>
            </a:r>
          </a:p>
          <a:p>
            <a:pPr algn="r">
              <a:lnSpc>
                <a:spcPct val="100000"/>
              </a:lnSpc>
            </a:pPr>
            <a:r>
              <a:rPr sz="1500">
                <a:solidFill>
                  <a:srgbClr val="4F5D6A"/>
                </a:solidFill>
                <a:latin typeface="Consolas"/>
              </a:rPr>
              <a:t>114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DA684DFF-DFE7-4375-B37F-F683ECE840C2}"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solve(mrv=False, degree=False, fc=False, use_ac3=False): c = Counter() domains = {v: list(SLOTS) for v in NAMES} if use_ac3: domains = ac3(domains, c) if domains is None: return None, c found = []"/>
          <p:cNvSpPr txBox="1"/>
          <p:nvPr/>
        </p:nvSpPr>
        <p:spPr>
          <a:xfrm>
            <a:off x="1362456" y="2066543"/>
            <a:ext cx="9987991" cy="2548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solve</a:t>
            </a:r>
            <a:r>
              <a:rPr sz="2000" i="0">
                <a:solidFill>
                  <a:srgbClr val="AEB6BF"/>
                </a:solidFill>
                <a:latin typeface="Consolas"/>
              </a:rPr>
              <a:t>(</a:t>
            </a:r>
            <a:r>
              <a:rPr sz="2000" i="0">
                <a:solidFill>
                  <a:srgbClr val="E8EDF2"/>
                </a:solidFill>
                <a:latin typeface="Consolas"/>
              </a:rPr>
              <a:t>mrv</a:t>
            </a:r>
            <a:r>
              <a:rPr sz="2000" i="0">
                <a:solidFill>
                  <a:srgbClr val="AEB6BF"/>
                </a:solidFill>
                <a:latin typeface="Consolas"/>
              </a:rPr>
              <a:t>=</a:t>
            </a:r>
            <a:r>
              <a:rPr sz="2000" i="0">
                <a:solidFill>
                  <a:srgbClr val="5DADE2"/>
                </a:solidFill>
                <a:latin typeface="Consolas"/>
              </a:rPr>
              <a:t>False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degree</a:t>
            </a:r>
            <a:r>
              <a:rPr sz="2000" i="0">
                <a:solidFill>
                  <a:srgbClr val="AEB6BF"/>
                </a:solidFill>
                <a:latin typeface="Consolas"/>
              </a:rPr>
              <a:t>=</a:t>
            </a:r>
            <a:r>
              <a:rPr sz="2000" i="0">
                <a:solidFill>
                  <a:srgbClr val="5DADE2"/>
                </a:solidFill>
                <a:latin typeface="Consolas"/>
              </a:rPr>
              <a:t>False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5DADE2"/>
                </a:solidFill>
                <a:latin typeface="Consolas"/>
              </a:rPr>
              <a:t>False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use_ac3</a:t>
            </a:r>
            <a:r>
              <a:rPr sz="2000" i="0">
                <a:solidFill>
                  <a:srgbClr val="AEB6BF"/>
                </a:solidFill>
                <a:latin typeface="Consolas"/>
              </a:rPr>
              <a:t>=</a:t>
            </a:r>
            <a:r>
              <a:rPr sz="2000" i="0">
                <a:solidFill>
                  <a:srgbClr val="5DADE2"/>
                </a:solidFill>
                <a:latin typeface="Consolas"/>
              </a:rPr>
              <a:t>False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Counter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domains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v</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list</a:t>
            </a:r>
            <a:r>
              <a:rPr sz="2000" i="0">
                <a:solidFill>
                  <a:srgbClr val="AEB6BF"/>
                </a:solidFill>
                <a:latin typeface="Consolas"/>
              </a:rPr>
              <a:t>(</a:t>
            </a:r>
            <a:r>
              <a:rPr sz="2000" i="0">
                <a:solidFill>
                  <a:srgbClr val="E8EDF2"/>
                </a:solidFill>
                <a:latin typeface="Consolas"/>
              </a:rPr>
              <a:t>SLOTS</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NAMES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use_ac3</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domains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ac3</a:t>
            </a:r>
            <a:r>
              <a:rPr sz="2000" i="0">
                <a:solidFill>
                  <a:srgbClr val="AEB6BF"/>
                </a:solidFill>
                <a:latin typeface="Consolas"/>
              </a:rPr>
              <a:t>(</a:t>
            </a:r>
            <a:r>
              <a:rPr sz="2000" i="0">
                <a:solidFill>
                  <a:srgbClr val="E8EDF2"/>
                </a:solidFill>
                <a:latin typeface="Consolas"/>
              </a:rPr>
              <a:t>domains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domains</a:t>
            </a:r>
            <a:r>
              <a:rPr sz="2000" i="0">
                <a:solidFill>
                  <a:srgbClr val="E8EDF2"/>
                </a:solidFill>
                <a:latin typeface="Consolas"/>
              </a:rPr>
              <a:t> </a:t>
            </a:r>
            <a:r>
              <a:rPr sz="2000" i="0">
                <a:solidFill>
                  <a:srgbClr val="AEB6BF"/>
                </a:solidFill>
                <a:latin typeface="Consolas"/>
              </a:rPr>
              <a:t>is</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p>
          <a:p>
            <a:pPr>
              <a:lnSpc>
                <a:spcPct val="100000"/>
              </a:lnSpc>
              <a:spcAft>
                <a:spcPts val="0"/>
              </a:spcAft>
            </a:pPr>
            <a:r>
              <a:rPr sz="2000" i="0">
                <a:solidFill>
                  <a:srgbClr val="E8EDF2"/>
                </a:solidFill>
                <a:latin typeface="Consolas"/>
              </a:rPr>
              <a:t>    </a:t>
            </a:r>
            <a:r>
              <a:rPr sz="2000" i="0">
                <a:solidFill>
                  <a:srgbClr val="E8EDF2"/>
                </a:solidFill>
                <a:latin typeface="Consolas"/>
              </a:rPr>
              <a:t>found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2548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117</a:t>
            </a:r>
          </a:p>
          <a:p>
            <a:pPr algn="r">
              <a:lnSpc>
                <a:spcPct val="100000"/>
              </a:lnSpc>
            </a:pPr>
            <a:r>
              <a:rPr sz="2000">
                <a:solidFill>
                  <a:srgbClr val="4F5D6A"/>
                </a:solidFill>
                <a:latin typeface="Consolas"/>
              </a:rPr>
              <a:t>118</a:t>
            </a:r>
          </a:p>
          <a:p>
            <a:pPr algn="r">
              <a:lnSpc>
                <a:spcPct val="100000"/>
              </a:lnSpc>
            </a:pPr>
            <a:r>
              <a:rPr sz="2000">
                <a:solidFill>
                  <a:srgbClr val="4F5D6A"/>
                </a:solidFill>
                <a:latin typeface="Consolas"/>
              </a:rPr>
              <a:t>119</a:t>
            </a:r>
          </a:p>
          <a:p>
            <a:pPr algn="r">
              <a:lnSpc>
                <a:spcPct val="100000"/>
              </a:lnSpc>
            </a:pPr>
            <a:r>
              <a:rPr sz="2000">
                <a:solidFill>
                  <a:srgbClr val="4F5D6A"/>
                </a:solidFill>
                <a:latin typeface="Consolas"/>
              </a:rPr>
              <a:t>120</a:t>
            </a:r>
          </a:p>
          <a:p>
            <a:pPr algn="r">
              <a:lnSpc>
                <a:spcPct val="100000"/>
              </a:lnSpc>
            </a:pPr>
            <a:r>
              <a:rPr sz="2000">
                <a:solidFill>
                  <a:srgbClr val="4F5D6A"/>
                </a:solidFill>
                <a:latin typeface="Consolas"/>
              </a:rPr>
              <a:t>121</a:t>
            </a:r>
          </a:p>
          <a:p>
            <a:pPr algn="r">
              <a:lnSpc>
                <a:spcPct val="100000"/>
              </a:lnSpc>
            </a:pPr>
            <a:r>
              <a:rPr sz="2000">
                <a:solidFill>
                  <a:srgbClr val="4F5D6A"/>
                </a:solidFill>
                <a:latin typeface="Consolas"/>
              </a:rPr>
              <a:t>122</a:t>
            </a:r>
          </a:p>
          <a:p>
            <a:pPr algn="r">
              <a:lnSpc>
                <a:spcPct val="100000"/>
              </a:lnSpc>
            </a:pPr>
            <a:r>
              <a:rPr sz="2000">
                <a:solidFill>
                  <a:srgbClr val="4F5D6A"/>
                </a:solidFill>
                <a:latin typeface="Consolas"/>
              </a:rPr>
              <a:t>123</a:t>
            </a:r>
          </a:p>
          <a:p>
            <a:pPr algn="r">
              <a:lnSpc>
                <a:spcPct val="100000"/>
              </a:lnSpc>
            </a:pPr>
            <a:r>
              <a:rPr sz="2000">
                <a:solidFill>
                  <a:srgbClr val="4F5D6A"/>
                </a:solidFill>
                <a:latin typeface="Consolas"/>
              </a:rPr>
              <a:t>124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825055BB-4A8A-414B-92A6-75CF07511295}"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bt(assign, domains): c.nodes += 1 if len(assign) == len(NAMES): found.append(dict(assign)) return True var = select_var(assign, domains, mrv, degree) for val in domains[var]: if consistent(assign, var, val, c): assign[var] = val if fc: nd = forward_check(var, val, domains, c) if nd is not None and bt(assign, nd): return True elif bt(assign, domains): return True del assign[var] return False bt({}, domains) return (found[0] if found else None), c"/>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bt</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nodes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NAMES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found</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C39BD3"/>
                </a:solidFill>
                <a:latin typeface="Consolas"/>
              </a:rPr>
              <a:t>dict</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True</a:t>
            </a:r>
          </a:p>
          <a:p>
            <a:pPr>
              <a:lnSpc>
                <a:spcPct val="100000"/>
              </a:lnSpc>
              <a:spcAft>
                <a:spcPts val="0"/>
              </a:spcAft>
            </a:pPr>
            <a:r>
              <a:rPr sz="1300" i="0">
                <a:solidFill>
                  <a:srgbClr val="E8EDF2"/>
                </a:solidFill>
                <a:latin typeface="Consolas"/>
              </a:rPr>
              <a:t>        </a:t>
            </a:r>
            <a:r>
              <a:rPr sz="1300" i="0">
                <a:solidFill>
                  <a:srgbClr val="E8EDF2"/>
                </a:solidFill>
                <a:latin typeface="Consolas"/>
              </a:rPr>
              <a:t>var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select_var</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mrv</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degree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val</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r>
              <a:rPr sz="1300" i="0">
                <a:solidFill>
                  <a:srgbClr val="E8EDF2"/>
                </a:solidFill>
                <a:latin typeface="Consolas"/>
              </a:rPr>
              <a:t>var</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consistent</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var</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val</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fc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forward_check</a:t>
            </a:r>
            <a:r>
              <a:rPr sz="1300" i="0">
                <a:solidFill>
                  <a:srgbClr val="AEB6BF"/>
                </a:solidFill>
                <a:latin typeface="Consolas"/>
              </a:rPr>
              <a:t>(</a:t>
            </a:r>
            <a:r>
              <a:rPr sz="1300" i="0">
                <a:solidFill>
                  <a:srgbClr val="E8EDF2"/>
                </a:solidFill>
                <a:latin typeface="Consolas"/>
              </a:rPr>
              <a:t>var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nd</a:t>
            </a:r>
            <a:r>
              <a:rPr sz="1300" i="0">
                <a:solidFill>
                  <a:srgbClr val="E8EDF2"/>
                </a:solidFill>
                <a:latin typeface="Consolas"/>
              </a:rPr>
              <a:t> </a:t>
            </a:r>
            <a:r>
              <a:rPr sz="1300" i="0">
                <a:solidFill>
                  <a:srgbClr val="AEB6BF"/>
                </a:solidFill>
                <a:latin typeface="Consolas"/>
              </a:rPr>
              <a:t>is</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5DADE2"/>
                </a:solidFill>
                <a:latin typeface="Consolas"/>
              </a:rPr>
              <a:t>None</a:t>
            </a:r>
            <a:r>
              <a:rPr sz="1300" i="0">
                <a:solidFill>
                  <a:srgbClr val="E8EDF2"/>
                </a:solidFill>
                <a:latin typeface="Consolas"/>
              </a:rPr>
              <a:t> </a:t>
            </a:r>
            <a:r>
              <a:rPr sz="1300" i="0">
                <a:solidFill>
                  <a:srgbClr val="AEB6BF"/>
                </a:solidFill>
                <a:latin typeface="Consolas"/>
              </a:rPr>
              <a:t>and</a:t>
            </a:r>
            <a:r>
              <a:rPr sz="1300" i="0">
                <a:solidFill>
                  <a:srgbClr val="E8EDF2"/>
                </a:solidFill>
                <a:latin typeface="Consolas"/>
              </a:rPr>
              <a:t> </a:t>
            </a:r>
            <a:r>
              <a:rPr sz="1300" i="0">
                <a:solidFill>
                  <a:srgbClr val="E8EDF2"/>
                </a:solidFill>
                <a:latin typeface="Consolas"/>
              </a:rPr>
              <a:t>bt</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nd</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True</a:t>
            </a:r>
          </a:p>
          <a:p>
            <a:pPr>
              <a:lnSpc>
                <a:spcPct val="100000"/>
              </a:lnSpc>
              <a:spcAft>
                <a:spcPts val="0"/>
              </a:spcAft>
            </a:pPr>
            <a:r>
              <a:rPr sz="1300" i="0">
                <a:solidFill>
                  <a:srgbClr val="E8EDF2"/>
                </a:solidFill>
                <a:latin typeface="Consolas"/>
              </a:rPr>
              <a:t>                </a:t>
            </a:r>
            <a:r>
              <a:rPr sz="1300" i="0">
                <a:solidFill>
                  <a:srgbClr val="5DADE2"/>
                </a:solidFill>
                <a:latin typeface="Consolas"/>
              </a:rPr>
              <a:t>elif</a:t>
            </a:r>
            <a:r>
              <a:rPr sz="1300" i="0">
                <a:solidFill>
                  <a:srgbClr val="E8EDF2"/>
                </a:solidFill>
                <a:latin typeface="Consolas"/>
              </a:rPr>
              <a:t> </a:t>
            </a:r>
            <a:r>
              <a:rPr sz="1300" i="0">
                <a:solidFill>
                  <a:srgbClr val="E8EDF2"/>
                </a:solidFill>
                <a:latin typeface="Consolas"/>
              </a:rPr>
              <a:t>bt</a:t>
            </a:r>
            <a:r>
              <a:rPr sz="1300" i="0">
                <a:solidFill>
                  <a:srgbClr val="AEB6BF"/>
                </a:solidFill>
                <a:latin typeface="Consolas"/>
              </a:rPr>
              <a:t>(</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True</a:t>
            </a:r>
          </a:p>
          <a:p>
            <a:pPr>
              <a:lnSpc>
                <a:spcPct val="100000"/>
              </a:lnSpc>
              <a:spcAft>
                <a:spcPts val="0"/>
              </a:spcAft>
            </a:pPr>
            <a:r>
              <a:rPr sz="1300" i="0">
                <a:solidFill>
                  <a:srgbClr val="E8EDF2"/>
                </a:solidFill>
                <a:latin typeface="Consolas"/>
              </a:rPr>
              <a:t>                </a:t>
            </a:r>
            <a:r>
              <a:rPr sz="1300" i="0">
                <a:solidFill>
                  <a:srgbClr val="5DADE2"/>
                </a:solidFill>
                <a:latin typeface="Consolas"/>
              </a:rPr>
              <a:t>del</a:t>
            </a:r>
            <a:r>
              <a:rPr sz="1300" i="0">
                <a:solidFill>
                  <a:srgbClr val="E8EDF2"/>
                </a:solidFill>
                <a:latin typeface="Consolas"/>
              </a:rPr>
              <a:t> </a:t>
            </a:r>
            <a:r>
              <a:rPr sz="1300" i="0">
                <a:solidFill>
                  <a:srgbClr val="E8EDF2"/>
                </a:solidFill>
                <a:latin typeface="Consolas"/>
              </a:rPr>
              <a:t>assign</a:t>
            </a:r>
            <a:r>
              <a:rPr sz="1300" i="0">
                <a:solidFill>
                  <a:srgbClr val="AEB6BF"/>
                </a:solidFill>
                <a:latin typeface="Consolas"/>
              </a:rPr>
              <a:t>[</a:t>
            </a:r>
            <a:r>
              <a:rPr sz="1300" i="0">
                <a:solidFill>
                  <a:srgbClr val="E8EDF2"/>
                </a:solidFill>
                <a:latin typeface="Consolas"/>
              </a:rPr>
              <a:t>var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False</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E8EDF2"/>
                </a:solidFill>
                <a:latin typeface="Consolas"/>
              </a:rPr>
              <a:t>bt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domains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found</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found</a:t>
            </a:r>
            <a:r>
              <a:rPr sz="1300" i="0">
                <a:solidFill>
                  <a:srgbClr val="E8EDF2"/>
                </a:solidFill>
                <a:latin typeface="Consolas"/>
              </a:rPr>
              <a:t> </a:t>
            </a:r>
            <a:r>
              <a:rPr sz="1300" i="0">
                <a:solidFill>
                  <a:srgbClr val="5DADE2"/>
                </a:solidFill>
                <a:latin typeface="Consolas"/>
              </a:rPr>
              <a:t>else</a:t>
            </a:r>
            <a:r>
              <a:rPr sz="1300" i="0">
                <a:solidFill>
                  <a:srgbClr val="E8EDF2"/>
                </a:solidFill>
                <a:latin typeface="Consolas"/>
              </a:rPr>
              <a:t> </a:t>
            </a:r>
            <a:r>
              <a:rPr sz="1300" i="0">
                <a:solidFill>
                  <a:srgbClr val="5DADE2"/>
                </a:solidFill>
                <a:latin typeface="Consolas"/>
              </a:rPr>
              <a:t>None</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126</a:t>
            </a:r>
          </a:p>
          <a:p>
            <a:pPr algn="r">
              <a:lnSpc>
                <a:spcPct val="100000"/>
              </a:lnSpc>
            </a:pPr>
            <a:r>
              <a:rPr sz="1300">
                <a:solidFill>
                  <a:srgbClr val="4F5D6A"/>
                </a:solidFill>
                <a:latin typeface="Consolas"/>
              </a:rPr>
              <a:t>127</a:t>
            </a:r>
          </a:p>
          <a:p>
            <a:pPr algn="r">
              <a:lnSpc>
                <a:spcPct val="100000"/>
              </a:lnSpc>
            </a:pPr>
            <a:r>
              <a:rPr sz="1300">
                <a:solidFill>
                  <a:srgbClr val="4F5D6A"/>
                </a:solidFill>
                <a:latin typeface="Consolas"/>
              </a:rPr>
              <a:t>128</a:t>
            </a:r>
          </a:p>
          <a:p>
            <a:pPr algn="r">
              <a:lnSpc>
                <a:spcPct val="100000"/>
              </a:lnSpc>
            </a:pPr>
            <a:r>
              <a:rPr sz="1300">
                <a:solidFill>
                  <a:srgbClr val="4F5D6A"/>
                </a:solidFill>
                <a:latin typeface="Consolas"/>
              </a:rPr>
              <a:t>129</a:t>
            </a:r>
          </a:p>
          <a:p>
            <a:pPr algn="r">
              <a:lnSpc>
                <a:spcPct val="100000"/>
              </a:lnSpc>
            </a:pPr>
            <a:r>
              <a:rPr sz="1300">
                <a:solidFill>
                  <a:srgbClr val="4F5D6A"/>
                </a:solidFill>
                <a:latin typeface="Consolas"/>
              </a:rPr>
              <a:t>130</a:t>
            </a:r>
          </a:p>
          <a:p>
            <a:pPr algn="r">
              <a:lnSpc>
                <a:spcPct val="100000"/>
              </a:lnSpc>
            </a:pPr>
            <a:r>
              <a:rPr sz="1300">
                <a:solidFill>
                  <a:srgbClr val="4F5D6A"/>
                </a:solidFill>
                <a:latin typeface="Consolas"/>
              </a:rPr>
              <a:t>131</a:t>
            </a:r>
          </a:p>
          <a:p>
            <a:pPr algn="r">
              <a:lnSpc>
                <a:spcPct val="100000"/>
              </a:lnSpc>
            </a:pPr>
            <a:r>
              <a:rPr sz="1300">
                <a:solidFill>
                  <a:srgbClr val="4F5D6A"/>
                </a:solidFill>
                <a:latin typeface="Consolas"/>
              </a:rPr>
              <a:t>132</a:t>
            </a:r>
          </a:p>
          <a:p>
            <a:pPr algn="r">
              <a:lnSpc>
                <a:spcPct val="100000"/>
              </a:lnSpc>
            </a:pPr>
            <a:r>
              <a:rPr sz="1300">
                <a:solidFill>
                  <a:srgbClr val="4F5D6A"/>
                </a:solidFill>
                <a:latin typeface="Consolas"/>
              </a:rPr>
              <a:t>133</a:t>
            </a:r>
          </a:p>
          <a:p>
            <a:pPr algn="r">
              <a:lnSpc>
                <a:spcPct val="100000"/>
              </a:lnSpc>
            </a:pPr>
            <a:r>
              <a:rPr sz="1300">
                <a:solidFill>
                  <a:srgbClr val="4F5D6A"/>
                </a:solidFill>
                <a:latin typeface="Consolas"/>
              </a:rPr>
              <a:t>134</a:t>
            </a:r>
          </a:p>
          <a:p>
            <a:pPr algn="r">
              <a:lnSpc>
                <a:spcPct val="100000"/>
              </a:lnSpc>
            </a:pPr>
            <a:r>
              <a:rPr sz="1300">
                <a:solidFill>
                  <a:srgbClr val="4F5D6A"/>
                </a:solidFill>
                <a:latin typeface="Consolas"/>
              </a:rPr>
              <a:t>135</a:t>
            </a:r>
          </a:p>
          <a:p>
            <a:pPr algn="r">
              <a:lnSpc>
                <a:spcPct val="100000"/>
              </a:lnSpc>
            </a:pPr>
            <a:r>
              <a:rPr sz="1300">
                <a:solidFill>
                  <a:srgbClr val="4F5D6A"/>
                </a:solidFill>
                <a:latin typeface="Consolas"/>
              </a:rPr>
              <a:t>136</a:t>
            </a:r>
          </a:p>
          <a:p>
            <a:pPr algn="r">
              <a:lnSpc>
                <a:spcPct val="100000"/>
              </a:lnSpc>
            </a:pPr>
            <a:r>
              <a:rPr sz="1300">
                <a:solidFill>
                  <a:srgbClr val="4F5D6A"/>
                </a:solidFill>
                <a:latin typeface="Consolas"/>
              </a:rPr>
              <a:t>137</a:t>
            </a:r>
          </a:p>
          <a:p>
            <a:pPr algn="r">
              <a:lnSpc>
                <a:spcPct val="100000"/>
              </a:lnSpc>
            </a:pPr>
            <a:r>
              <a:rPr sz="1300">
                <a:solidFill>
                  <a:srgbClr val="4F5D6A"/>
                </a:solidFill>
                <a:latin typeface="Consolas"/>
              </a:rPr>
              <a:t>138</a:t>
            </a:r>
          </a:p>
          <a:p>
            <a:pPr algn="r">
              <a:lnSpc>
                <a:spcPct val="100000"/>
              </a:lnSpc>
            </a:pPr>
            <a:r>
              <a:rPr sz="1300">
                <a:solidFill>
                  <a:srgbClr val="4F5D6A"/>
                </a:solidFill>
                <a:latin typeface="Consolas"/>
              </a:rPr>
              <a:t>139</a:t>
            </a:r>
          </a:p>
          <a:p>
            <a:pPr algn="r">
              <a:lnSpc>
                <a:spcPct val="100000"/>
              </a:lnSpc>
            </a:pPr>
            <a:r>
              <a:rPr sz="1300">
                <a:solidFill>
                  <a:srgbClr val="4F5D6A"/>
                </a:solidFill>
                <a:latin typeface="Consolas"/>
              </a:rPr>
              <a:t>140</a:t>
            </a:r>
          </a:p>
          <a:p>
            <a:pPr algn="r">
              <a:lnSpc>
                <a:spcPct val="100000"/>
              </a:lnSpc>
            </a:pPr>
            <a:r>
              <a:rPr sz="1300">
                <a:solidFill>
                  <a:srgbClr val="4F5D6A"/>
                </a:solidFill>
                <a:latin typeface="Consolas"/>
              </a:rPr>
              <a:t>141</a:t>
            </a:r>
          </a:p>
          <a:p>
            <a:pPr algn="r">
              <a:lnSpc>
                <a:spcPct val="100000"/>
              </a:lnSpc>
            </a:pPr>
            <a:r>
              <a:rPr sz="1300">
                <a:solidFill>
                  <a:srgbClr val="4F5D6A"/>
                </a:solidFill>
                <a:latin typeface="Consolas"/>
              </a:rPr>
              <a:t>142</a:t>
            </a:r>
          </a:p>
          <a:p>
            <a:pPr algn="r">
              <a:lnSpc>
                <a:spcPct val="100000"/>
              </a:lnSpc>
            </a:pPr>
            <a:r>
              <a:rPr sz="1300">
                <a:solidFill>
                  <a:srgbClr val="4F5D6A"/>
                </a:solidFill>
                <a:latin typeface="Consolas"/>
              </a:rPr>
              <a:t>143</a:t>
            </a:r>
          </a:p>
          <a:p>
            <a:pPr algn="r">
              <a:lnSpc>
                <a:spcPct val="100000"/>
              </a:lnSpc>
            </a:pPr>
            <a:r>
              <a:rPr sz="1300">
                <a:solidFill>
                  <a:srgbClr val="4F5D6A"/>
                </a:solidFill>
                <a:latin typeface="Consolas"/>
              </a:rPr>
              <a:t>144</a:t>
            </a:r>
          </a:p>
          <a:p>
            <a:pPr algn="r">
              <a:lnSpc>
                <a:spcPct val="100000"/>
              </a:lnSpc>
            </a:pPr>
            <a:r>
              <a:rPr sz="1300">
                <a:solidFill>
                  <a:srgbClr val="4F5D6A"/>
                </a:solidFill>
                <a:latin typeface="Consolas"/>
              </a:rPr>
              <a:t>145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37729168-7657-42BF-98C4-F9597BB5E4A2}"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count_solutions(): &quot;&quot;&quot;Brute force over all 4^12 assignments, for the record.&quot;&quot;&quot; c, n = Counter(), 0 for combo in itertools.product(SLOTS, repeat=len(NAMES)): a = dict(zip(NAMES, combo)) if all(a[x] &lt; a[y] for x, y in BEFORE) \ and all(a[x] != a[y] for x, y in APART) \ and capacity_ok(a, c): n += 1 return n"/>
          <p:cNvSpPr txBox="1"/>
          <p:nvPr/>
        </p:nvSpPr>
        <p:spPr>
          <a:xfrm>
            <a:off x="1362456" y="2066543"/>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count_solutions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"""Brute force over all 4^12 assignments, for the record."""</a:t>
            </a:r>
          </a:p>
          <a:p>
            <a:pPr>
              <a:lnSpc>
                <a:spcPct val="100000"/>
              </a:lnSpc>
              <a:spcAft>
                <a:spcPts val="0"/>
              </a:spcAft>
            </a:pP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Counter</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combo</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itertools</a:t>
            </a:r>
            <a:r>
              <a:rPr sz="2000" i="0">
                <a:solidFill>
                  <a:srgbClr val="AEB6BF"/>
                </a:solidFill>
                <a:latin typeface="Consolas"/>
              </a:rPr>
              <a:t>.</a:t>
            </a:r>
            <a:r>
              <a:rPr sz="2000" i="0">
                <a:solidFill>
                  <a:srgbClr val="E8EDF2"/>
                </a:solidFill>
                <a:latin typeface="Consolas"/>
              </a:rPr>
              <a:t>product</a:t>
            </a:r>
            <a:r>
              <a:rPr sz="2000" i="0">
                <a:solidFill>
                  <a:srgbClr val="AEB6BF"/>
                </a:solidFill>
                <a:latin typeface="Consolas"/>
              </a:rPr>
              <a:t>(</a:t>
            </a:r>
            <a:r>
              <a:rPr sz="2000" i="0">
                <a:solidFill>
                  <a:srgbClr val="E8EDF2"/>
                </a:solidFill>
                <a:latin typeface="Consolas"/>
              </a:rPr>
              <a:t>SLOTS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repeat</a:t>
            </a:r>
            <a:r>
              <a:rPr sz="2000" i="0">
                <a:solidFill>
                  <a:srgbClr val="AEB6BF"/>
                </a:solidFill>
                <a:latin typeface="Consolas"/>
              </a:rPr>
              <a:t>=</a:t>
            </a:r>
            <a:r>
              <a:rPr sz="2000" i="0">
                <a:solidFill>
                  <a:srgbClr val="C39BD3"/>
                </a:solidFill>
                <a:latin typeface="Consolas"/>
              </a:rPr>
              <a:t>len</a:t>
            </a:r>
            <a:r>
              <a:rPr sz="2000" i="0">
                <a:solidFill>
                  <a:srgbClr val="AEB6BF"/>
                </a:solidFill>
                <a:latin typeface="Consolas"/>
              </a:rPr>
              <a:t>(</a:t>
            </a:r>
            <a:r>
              <a:rPr sz="2000" i="0">
                <a:solidFill>
                  <a:srgbClr val="E8EDF2"/>
                </a:solidFill>
                <a:latin typeface="Consolas"/>
              </a:rPr>
              <a:t>NAMES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a</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dict</a:t>
            </a:r>
            <a:r>
              <a:rPr sz="2000" i="0">
                <a:solidFill>
                  <a:srgbClr val="AEB6BF"/>
                </a:solidFill>
                <a:latin typeface="Consolas"/>
              </a:rPr>
              <a:t>(</a:t>
            </a:r>
            <a:r>
              <a:rPr sz="2000" i="0">
                <a:solidFill>
                  <a:srgbClr val="C39BD3"/>
                </a:solidFill>
                <a:latin typeface="Consolas"/>
              </a:rPr>
              <a:t>zip</a:t>
            </a:r>
            <a:r>
              <a:rPr sz="2000" i="0">
                <a:solidFill>
                  <a:srgbClr val="AEB6BF"/>
                </a:solidFill>
                <a:latin typeface="Consolas"/>
              </a:rPr>
              <a:t>(</a:t>
            </a:r>
            <a:r>
              <a:rPr sz="2000" i="0">
                <a:solidFill>
                  <a:srgbClr val="E8EDF2"/>
                </a:solidFill>
                <a:latin typeface="Consolas"/>
              </a:rPr>
              <a:t>NAMES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combo</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C39BD3"/>
                </a:solidFill>
                <a:latin typeface="Consolas"/>
              </a:rPr>
              <a:t>all</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x</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y</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x</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y</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BEFORE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and</a:t>
            </a:r>
            <a:r>
              <a:rPr sz="2000" i="0">
                <a:solidFill>
                  <a:srgbClr val="E8EDF2"/>
                </a:solidFill>
                <a:latin typeface="Consolas"/>
              </a:rPr>
              <a:t> </a:t>
            </a:r>
            <a:r>
              <a:rPr sz="2000" i="0">
                <a:solidFill>
                  <a:srgbClr val="C39BD3"/>
                </a:solidFill>
                <a:latin typeface="Consolas"/>
              </a:rPr>
              <a:t>all</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x</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y</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x</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y</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APART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and</a:t>
            </a:r>
            <a:r>
              <a:rPr sz="2000" i="0">
                <a:solidFill>
                  <a:srgbClr val="E8EDF2"/>
                </a:solidFill>
                <a:latin typeface="Consolas"/>
              </a:rPr>
              <a:t> </a:t>
            </a:r>
            <a:r>
              <a:rPr sz="2000" i="0">
                <a:solidFill>
                  <a:srgbClr val="E8EDF2"/>
                </a:solidFill>
                <a:latin typeface="Consolas"/>
              </a:rPr>
              <a:t>capacity_ok</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n</a:t>
            </a:r>
          </a:p>
        </p:txBody>
      </p:sp>
      <p:sp>
        <p:nvSpPr>
          <p:cNvPr id="14" name="!!code-num"/>
          <p:cNvSpPr txBox="1"/>
          <p:nvPr/>
        </p:nvSpPr>
        <p:spPr>
          <a:xfrm>
            <a:off x="768096" y="2066543"/>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148</a:t>
            </a:r>
          </a:p>
          <a:p>
            <a:pPr algn="r">
              <a:lnSpc>
                <a:spcPct val="100000"/>
              </a:lnSpc>
            </a:pPr>
            <a:r>
              <a:rPr sz="2000">
                <a:solidFill>
                  <a:srgbClr val="4F5D6A"/>
                </a:solidFill>
                <a:latin typeface="Consolas"/>
              </a:rPr>
              <a:t>149</a:t>
            </a:r>
          </a:p>
          <a:p>
            <a:pPr algn="r">
              <a:lnSpc>
                <a:spcPct val="100000"/>
              </a:lnSpc>
            </a:pPr>
            <a:r>
              <a:rPr sz="2000">
                <a:solidFill>
                  <a:srgbClr val="4F5D6A"/>
                </a:solidFill>
                <a:latin typeface="Consolas"/>
              </a:rPr>
              <a:t>150</a:t>
            </a:r>
          </a:p>
          <a:p>
            <a:pPr algn="r">
              <a:lnSpc>
                <a:spcPct val="100000"/>
              </a:lnSpc>
            </a:pPr>
            <a:r>
              <a:rPr sz="2000">
                <a:solidFill>
                  <a:srgbClr val="4F5D6A"/>
                </a:solidFill>
                <a:latin typeface="Consolas"/>
              </a:rPr>
              <a:t>151</a:t>
            </a:r>
          </a:p>
          <a:p>
            <a:pPr algn="r">
              <a:lnSpc>
                <a:spcPct val="100000"/>
              </a:lnSpc>
            </a:pPr>
            <a:r>
              <a:rPr sz="2000">
                <a:solidFill>
                  <a:srgbClr val="4F5D6A"/>
                </a:solidFill>
                <a:latin typeface="Consolas"/>
              </a:rPr>
              <a:t>152</a:t>
            </a:r>
          </a:p>
          <a:p>
            <a:pPr algn="r">
              <a:lnSpc>
                <a:spcPct val="100000"/>
              </a:lnSpc>
            </a:pPr>
            <a:r>
              <a:rPr sz="2000">
                <a:solidFill>
                  <a:srgbClr val="4F5D6A"/>
                </a:solidFill>
                <a:latin typeface="Consolas"/>
              </a:rPr>
              <a:t>153</a:t>
            </a:r>
          </a:p>
          <a:p>
            <a:pPr algn="r">
              <a:lnSpc>
                <a:spcPct val="100000"/>
              </a:lnSpc>
            </a:pPr>
            <a:r>
              <a:rPr sz="2000">
                <a:solidFill>
                  <a:srgbClr val="4F5D6A"/>
                </a:solidFill>
                <a:latin typeface="Consolas"/>
              </a:rPr>
              <a:t>154</a:t>
            </a:r>
          </a:p>
          <a:p>
            <a:pPr algn="r">
              <a:lnSpc>
                <a:spcPct val="100000"/>
              </a:lnSpc>
            </a:pPr>
            <a:r>
              <a:rPr sz="2000">
                <a:solidFill>
                  <a:srgbClr val="4F5D6A"/>
                </a:solidFill>
                <a:latin typeface="Consolas"/>
              </a:rPr>
              <a:t>155</a:t>
            </a:r>
          </a:p>
          <a:p>
            <a:pPr algn="r">
              <a:lnSpc>
                <a:spcPct val="100000"/>
              </a:lnSpc>
            </a:pPr>
            <a:r>
              <a:rPr sz="2000">
                <a:solidFill>
                  <a:srgbClr val="4F5D6A"/>
                </a:solidFill>
                <a:latin typeface="Consolas"/>
              </a:rPr>
              <a:t>156</a:t>
            </a:r>
          </a:p>
          <a:p>
            <a:pPr algn="r">
              <a:lnSpc>
                <a:spcPct val="100000"/>
              </a:lnSpc>
            </a:pPr>
            <a:r>
              <a:rPr sz="2000">
                <a:solidFill>
                  <a:srgbClr val="4F5D6A"/>
                </a:solidFill>
                <a:latin typeface="Consolas"/>
              </a:rPr>
              <a:t>157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66AC4D05-B108-413C-B4A0-98E11490A563}"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def show(sol): by = {s: [] for s in SLOTS} for n, v in sol.items(): by[v].append(n) out = [] for s in SLOTS: pts = sum(STORIES[n][0] for n in by[s]) out.append(&quot;sprint %d: %-18s %2d pts&quot; % (s, &quot;,&quot;.join(sorted(by[s], key=lambda x: int(x[1:]))), pts)) return &quot;\n&quot;.join(out)"/>
          <p:cNvSpPr txBox="1"/>
          <p:nvPr/>
        </p:nvSpPr>
        <p:spPr>
          <a:xfrm>
            <a:off x="1362456" y="2066543"/>
            <a:ext cx="9987991" cy="312724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show</a:t>
            </a:r>
            <a:r>
              <a:rPr sz="1800" i="0">
                <a:solidFill>
                  <a:srgbClr val="AEB6BF"/>
                </a:solidFill>
                <a:latin typeface="Consolas"/>
              </a:rPr>
              <a:t>(</a:t>
            </a:r>
            <a:r>
              <a:rPr sz="1800" i="0">
                <a:solidFill>
                  <a:srgbClr val="E8EDF2"/>
                </a:solidFill>
                <a:latin typeface="Consolas"/>
              </a:rPr>
              <a:t>sol</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by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SLOTS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sol</a:t>
            </a:r>
            <a:r>
              <a:rPr sz="1800" i="0">
                <a:solidFill>
                  <a:srgbClr val="AEB6BF"/>
                </a:solidFill>
                <a:latin typeface="Consolas"/>
              </a:rPr>
              <a:t>.</a:t>
            </a:r>
            <a:r>
              <a:rPr sz="1800" i="0">
                <a:solidFill>
                  <a:srgbClr val="E8EDF2"/>
                </a:solidFill>
                <a:latin typeface="Consolas"/>
              </a:rPr>
              <a:t>items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by</a:t>
            </a:r>
            <a:r>
              <a:rPr sz="1800" i="0">
                <a:solidFill>
                  <a:srgbClr val="AEB6BF"/>
                </a:solidFill>
                <a:latin typeface="Consolas"/>
              </a:rPr>
              <a:t>[</a:t>
            </a:r>
            <a:r>
              <a:rPr sz="1800" i="0">
                <a:solidFill>
                  <a:srgbClr val="E8EDF2"/>
                </a:solidFill>
                <a:latin typeface="Consolas"/>
              </a:rPr>
              <a:t>v</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out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SLOTS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sum</a:t>
            </a:r>
            <a:r>
              <a:rPr sz="1800" i="0">
                <a:solidFill>
                  <a:srgbClr val="AEB6BF"/>
                </a:solidFill>
                <a:latin typeface="Consolas"/>
              </a:rPr>
              <a:t>(</a:t>
            </a:r>
            <a:r>
              <a:rPr sz="1800" i="0">
                <a:solidFill>
                  <a:srgbClr val="E8EDF2"/>
                </a:solidFill>
                <a:latin typeface="Consolas"/>
              </a:rPr>
              <a:t>STORIES</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by</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out</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sprint </a:t>
            </a:r>
            <a:r>
              <a:rPr sz="1800" i="0">
                <a:solidFill>
                  <a:srgbClr val="7DCEA0"/>
                </a:solidFill>
                <a:latin typeface="Consolas"/>
              </a:rPr>
              <a:t>%d</a:t>
            </a:r>
            <a:r>
              <a:rPr sz="1800" i="0">
                <a:solidFill>
                  <a:srgbClr val="7DCEA0"/>
                </a:solidFill>
                <a:latin typeface="Consolas"/>
              </a:rPr>
              <a:t>: </a:t>
            </a:r>
            <a:r>
              <a:rPr sz="1800" i="0">
                <a:solidFill>
                  <a:srgbClr val="7DCEA0"/>
                </a:solidFill>
                <a:latin typeface="Consolas"/>
              </a:rPr>
              <a:t>%-18s</a:t>
            </a:r>
            <a:r>
              <a:rPr sz="1800" i="0">
                <a:solidFill>
                  <a:srgbClr val="7DCEA0"/>
                </a:solidFill>
                <a:latin typeface="Consolas"/>
              </a:rPr>
              <a:t> </a:t>
            </a:r>
            <a:r>
              <a:rPr sz="1800" i="0">
                <a:solidFill>
                  <a:srgbClr val="7DCEA0"/>
                </a:solidFill>
                <a:latin typeface="Consolas"/>
              </a:rPr>
              <a:t>%2d</a:t>
            </a:r>
            <a:r>
              <a:rPr sz="1800" i="0">
                <a:solidFill>
                  <a:srgbClr val="7DCEA0"/>
                </a:solidFill>
                <a:latin typeface="Consolas"/>
              </a:rPr>
              <a:t> pts</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C39BD3"/>
                </a:solidFill>
                <a:latin typeface="Consolas"/>
              </a:rPr>
              <a:t>sorted</a:t>
            </a:r>
            <a:r>
              <a:rPr sz="1800" i="0">
                <a:solidFill>
                  <a:srgbClr val="AEB6BF"/>
                </a:solidFill>
                <a:latin typeface="Consolas"/>
              </a:rPr>
              <a:t>(</a:t>
            </a:r>
            <a:r>
              <a:rPr sz="1800" i="0">
                <a:solidFill>
                  <a:srgbClr val="E8EDF2"/>
                </a:solidFill>
                <a:latin typeface="Consolas"/>
              </a:rPr>
              <a:t>by</a:t>
            </a:r>
            <a:r>
              <a:rPr sz="1800" i="0">
                <a:solidFill>
                  <a:srgbClr val="AEB6BF"/>
                </a:solidFill>
                <a:latin typeface="Consolas"/>
              </a:rPr>
              <a:t>[</a:t>
            </a:r>
            <a:r>
              <a:rPr sz="1800" i="0">
                <a:solidFill>
                  <a:srgbClr val="E8EDF2"/>
                </a:solidFill>
                <a:latin typeface="Consolas"/>
              </a:rPr>
              <a:t>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key</a:t>
            </a:r>
            <a:r>
              <a:rPr sz="1800" i="0">
                <a:solidFill>
                  <a:srgbClr val="AEB6BF"/>
                </a:solidFill>
                <a:latin typeface="Consolas"/>
              </a:rPr>
              <a:t>=</a:t>
            </a:r>
            <a:r>
              <a:rPr sz="1800" i="0">
                <a:solidFill>
                  <a:srgbClr val="5DADE2"/>
                </a:solidFill>
                <a:latin typeface="Consolas"/>
              </a:rPr>
              <a:t>lambda</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pts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join</a:t>
            </a:r>
            <a:r>
              <a:rPr sz="1800" i="0">
                <a:solidFill>
                  <a:srgbClr val="AEB6BF"/>
                </a:solidFill>
                <a:latin typeface="Consolas"/>
              </a:rPr>
              <a:t>(</a:t>
            </a:r>
            <a:r>
              <a:rPr sz="1800" i="0">
                <a:solidFill>
                  <a:srgbClr val="E8EDF2"/>
                </a:solidFill>
                <a:latin typeface="Consolas"/>
              </a:rPr>
              <a:t>out</a:t>
            </a:r>
            <a:r>
              <a:rPr sz="1800" i="0">
                <a:solidFill>
                  <a:srgbClr val="AEB6BF"/>
                </a:solidFill>
                <a:latin typeface="Consolas"/>
              </a:rPr>
              <a:t>)</a:t>
            </a:r>
          </a:p>
        </p:txBody>
      </p:sp>
      <p:sp>
        <p:nvSpPr>
          <p:cNvPr id="14" name="!!code-num"/>
          <p:cNvSpPr txBox="1"/>
          <p:nvPr/>
        </p:nvSpPr>
        <p:spPr>
          <a:xfrm>
            <a:off x="768096" y="2066543"/>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160</a:t>
            </a:r>
          </a:p>
          <a:p>
            <a:pPr algn="r">
              <a:lnSpc>
                <a:spcPct val="100000"/>
              </a:lnSpc>
            </a:pPr>
            <a:r>
              <a:rPr sz="1800">
                <a:solidFill>
                  <a:srgbClr val="4F5D6A"/>
                </a:solidFill>
                <a:latin typeface="Consolas"/>
              </a:rPr>
              <a:t>161</a:t>
            </a:r>
          </a:p>
          <a:p>
            <a:pPr algn="r">
              <a:lnSpc>
                <a:spcPct val="100000"/>
              </a:lnSpc>
            </a:pPr>
            <a:r>
              <a:rPr sz="1800">
                <a:solidFill>
                  <a:srgbClr val="4F5D6A"/>
                </a:solidFill>
                <a:latin typeface="Consolas"/>
              </a:rPr>
              <a:t>162</a:t>
            </a:r>
          </a:p>
          <a:p>
            <a:pPr algn="r">
              <a:lnSpc>
                <a:spcPct val="100000"/>
              </a:lnSpc>
            </a:pPr>
            <a:r>
              <a:rPr sz="1800">
                <a:solidFill>
                  <a:srgbClr val="4F5D6A"/>
                </a:solidFill>
                <a:latin typeface="Consolas"/>
              </a:rPr>
              <a:t>163</a:t>
            </a:r>
          </a:p>
          <a:p>
            <a:pPr algn="r">
              <a:lnSpc>
                <a:spcPct val="100000"/>
              </a:lnSpc>
            </a:pPr>
            <a:r>
              <a:rPr sz="1800">
                <a:solidFill>
                  <a:srgbClr val="4F5D6A"/>
                </a:solidFill>
                <a:latin typeface="Consolas"/>
              </a:rPr>
              <a:t>164</a:t>
            </a:r>
          </a:p>
          <a:p>
            <a:pPr algn="r">
              <a:lnSpc>
                <a:spcPct val="100000"/>
              </a:lnSpc>
            </a:pPr>
            <a:r>
              <a:rPr sz="1800">
                <a:solidFill>
                  <a:srgbClr val="4F5D6A"/>
                </a:solidFill>
                <a:latin typeface="Consolas"/>
              </a:rPr>
              <a:t>165</a:t>
            </a:r>
          </a:p>
          <a:p>
            <a:pPr algn="r">
              <a:lnSpc>
                <a:spcPct val="100000"/>
              </a:lnSpc>
            </a:pPr>
            <a:r>
              <a:rPr sz="1800">
                <a:solidFill>
                  <a:srgbClr val="4F5D6A"/>
                </a:solidFill>
                <a:latin typeface="Consolas"/>
              </a:rPr>
              <a:t>166</a:t>
            </a:r>
          </a:p>
          <a:p>
            <a:pPr algn="r">
              <a:lnSpc>
                <a:spcPct val="100000"/>
              </a:lnSpc>
            </a:pPr>
            <a:r>
              <a:rPr sz="1800">
                <a:solidFill>
                  <a:srgbClr val="4F5D6A"/>
                </a:solidFill>
                <a:latin typeface="Consolas"/>
              </a:rPr>
              <a:t>167</a:t>
            </a:r>
          </a:p>
          <a:p>
            <a:pPr algn="r">
              <a:lnSpc>
                <a:spcPct val="100000"/>
              </a:lnSpc>
            </a:pPr>
            <a:r>
              <a:rPr sz="1800">
                <a:solidFill>
                  <a:srgbClr val="4F5D6A"/>
                </a:solidFill>
                <a:latin typeface="Consolas"/>
              </a:rPr>
              <a:t>168</a:t>
            </a:r>
          </a:p>
          <a:p>
            <a:pPr algn="r">
              <a:lnSpc>
                <a:spcPct val="100000"/>
              </a:lnSpc>
            </a:pPr>
            <a:r>
              <a:rPr sz="1800">
                <a:solidFill>
                  <a:srgbClr val="4F5D6A"/>
                </a:solidFill>
                <a:latin typeface="Consolas"/>
              </a:rPr>
              <a:t>169</a:t>
            </a:r>
          </a:p>
          <a:p>
            <a:pPr algn="r">
              <a:lnSpc>
                <a:spcPct val="100000"/>
              </a:lnSpc>
            </a:pPr>
            <a:r>
              <a:rPr sz="1800">
                <a:solidFill>
                  <a:srgbClr val="4F5D6A"/>
                </a:solidFill>
                <a:latin typeface="Consolas"/>
              </a:rPr>
              <a:t>170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EEECEC48-C9CE-4993-8C11-50A4AE41ADBC}" type="slidenum">
              <a:rPr lang="en-GB" sz="1000">
                <a:solidFill>
                  <a:srgbClr val="8795A1"/>
                </a:solidFill>
                <a:latin typeface="Segoe UI"/>
              </a:rPr>
              <a:t>32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if __name__ == &quot;__main__&quot;: total = sum(p for p, _ in STORIES.values()) print(&quot;stories %d sprints %d assignments %d&quot; % (len(NAMES), len(SLOTS), len(SLOTS) ** len(NAMES))) print(&quot;points %d against capacity %d -- almost no slack&quot; % (total, CAP * len(SLOTS))) print(&quot;solutions:&quot;, count_solutions()) print() print(&quot;configuration checks nodes&quot;) print(&quot;-&quot; * 50) runs = [ (&quot;plain backtracking &quot;, dict()), (&quot;+ MRV &quot;, dict(mrv=True)), (&quot;+ MRV + degree &quot;, dict(mrv=True, degree=True)), (&quot;+ MRV + degree + FC &quot;, dict(mrv=True, degree=True, fc=True)), (&quot;+ MRV + degree + FC + AC-3 &quot;, dict(mrv=True, degree=True, fc=True, use_ac3=True)), ] res = {}"/>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__name__</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__main__</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total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sum</a:t>
            </a:r>
            <a:r>
              <a:rPr sz="1300" i="0">
                <a:solidFill>
                  <a:srgbClr val="AEB6BF"/>
                </a:solidFill>
                <a:latin typeface="Consolas"/>
              </a:rPr>
              <a:t>(</a:t>
            </a:r>
            <a:r>
              <a:rPr sz="1300" i="0">
                <a:solidFill>
                  <a:srgbClr val="E8EDF2"/>
                </a:solidFill>
                <a:latin typeface="Consolas"/>
              </a:rPr>
              <a:t>p</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p</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STORIES</a:t>
            </a:r>
            <a:r>
              <a:rPr sz="1300" i="0">
                <a:solidFill>
                  <a:srgbClr val="AEB6BF"/>
                </a:solidFill>
                <a:latin typeface="Consolas"/>
              </a:rPr>
              <a:t>.</a:t>
            </a:r>
            <a:r>
              <a:rPr sz="1300" i="0">
                <a:solidFill>
                  <a:srgbClr val="E8EDF2"/>
                </a:solidFill>
                <a:latin typeface="Consolas"/>
              </a:rPr>
              <a:t>values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stories </a:t>
            </a:r>
            <a:r>
              <a:rPr sz="1300" i="0">
                <a:solidFill>
                  <a:srgbClr val="7DCEA0"/>
                </a:solidFill>
                <a:latin typeface="Consolas"/>
              </a:rPr>
              <a:t>%d</a:t>
            </a:r>
            <a:r>
              <a:rPr sz="1300" i="0">
                <a:solidFill>
                  <a:srgbClr val="7DCEA0"/>
                </a:solidFill>
                <a:latin typeface="Consolas"/>
              </a:rPr>
              <a:t>   sprints </a:t>
            </a:r>
            <a:r>
              <a:rPr sz="1300" i="0">
                <a:solidFill>
                  <a:srgbClr val="7DCEA0"/>
                </a:solidFill>
                <a:latin typeface="Consolas"/>
              </a:rPr>
              <a:t>%d</a:t>
            </a:r>
            <a:r>
              <a:rPr sz="1300" i="0">
                <a:solidFill>
                  <a:srgbClr val="7DCEA0"/>
                </a:solidFill>
                <a:latin typeface="Consolas"/>
              </a:rPr>
              <a:t>   assignments </a:t>
            </a:r>
            <a:r>
              <a:rPr sz="1300" i="0">
                <a:solidFill>
                  <a:srgbClr val="7DCEA0"/>
                </a:solidFill>
                <a:latin typeface="Consolas"/>
              </a:rPr>
              <a:t>%d</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NAMES</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SLOTS</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SLOTS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NAMES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points </a:t>
            </a:r>
            <a:r>
              <a:rPr sz="1300" i="0">
                <a:solidFill>
                  <a:srgbClr val="7DCEA0"/>
                </a:solidFill>
                <a:latin typeface="Consolas"/>
              </a:rPr>
              <a:t>%d</a:t>
            </a:r>
            <a:r>
              <a:rPr sz="1300" i="0">
                <a:solidFill>
                  <a:srgbClr val="7DCEA0"/>
                </a:solidFill>
                <a:latin typeface="Consolas"/>
              </a:rPr>
              <a:t> against capacity </a:t>
            </a:r>
            <a:r>
              <a:rPr sz="1300" i="0">
                <a:solidFill>
                  <a:srgbClr val="7DCEA0"/>
                </a:solidFill>
                <a:latin typeface="Consolas"/>
              </a:rPr>
              <a:t>%d</a:t>
            </a:r>
            <a:r>
              <a:rPr sz="1300" i="0">
                <a:solidFill>
                  <a:srgbClr val="7DCEA0"/>
                </a:solidFill>
                <a:latin typeface="Consolas"/>
              </a:rPr>
              <a:t> -- almost no slack</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total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SLOTS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solutions: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count_solutions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configuration                    checks  nodes</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50</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runs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plain backtracking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dict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MRV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dict</a:t>
            </a:r>
            <a:r>
              <a:rPr sz="1300" i="0">
                <a:solidFill>
                  <a:srgbClr val="AEB6BF"/>
                </a:solidFill>
                <a:latin typeface="Consolas"/>
              </a:rPr>
              <a:t>(</a:t>
            </a:r>
            <a:r>
              <a:rPr sz="1300" i="0">
                <a:solidFill>
                  <a:srgbClr val="E8EDF2"/>
                </a:solidFill>
                <a:latin typeface="Consolas"/>
              </a:rPr>
              <a:t>mrv</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MRV + degree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dict</a:t>
            </a:r>
            <a:r>
              <a:rPr sz="1300" i="0">
                <a:solidFill>
                  <a:srgbClr val="AEB6BF"/>
                </a:solidFill>
                <a:latin typeface="Consolas"/>
              </a:rPr>
              <a:t>(</a:t>
            </a:r>
            <a:r>
              <a:rPr sz="1300" i="0">
                <a:solidFill>
                  <a:srgbClr val="E8EDF2"/>
                </a:solidFill>
                <a:latin typeface="Consolas"/>
              </a:rPr>
              <a:t>mrv</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degree</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MRV + degree + FC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dict</a:t>
            </a:r>
            <a:r>
              <a:rPr sz="1300" i="0">
                <a:solidFill>
                  <a:srgbClr val="AEB6BF"/>
                </a:solidFill>
                <a:latin typeface="Consolas"/>
              </a:rPr>
              <a:t>(</a:t>
            </a:r>
            <a:r>
              <a:rPr sz="1300" i="0">
                <a:solidFill>
                  <a:srgbClr val="E8EDF2"/>
                </a:solidFill>
                <a:latin typeface="Consolas"/>
              </a:rPr>
              <a:t>mrv</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degree</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fc</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MRV + degree + FC + AC-3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dict</a:t>
            </a:r>
            <a:r>
              <a:rPr sz="1300" i="0">
                <a:solidFill>
                  <a:srgbClr val="AEB6BF"/>
                </a:solidFill>
                <a:latin typeface="Consolas"/>
              </a:rPr>
              <a:t>(</a:t>
            </a:r>
            <a:r>
              <a:rPr sz="1300" i="0">
                <a:solidFill>
                  <a:srgbClr val="E8EDF2"/>
                </a:solidFill>
                <a:latin typeface="Consolas"/>
              </a:rPr>
              <a:t>mrv</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degree</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fc</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use_ac3</a:t>
            </a:r>
            <a:r>
              <a:rPr sz="1300" i="0">
                <a:solidFill>
                  <a:srgbClr val="AEB6BF"/>
                </a:solidFill>
                <a:latin typeface="Consolas"/>
              </a:rPr>
              <a:t>=</a:t>
            </a:r>
            <a:r>
              <a:rPr sz="1300" i="0">
                <a:solidFill>
                  <a:srgbClr val="5DADE2"/>
                </a:solidFill>
                <a:latin typeface="Consolas"/>
              </a:rPr>
              <a:t>True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173</a:t>
            </a:r>
          </a:p>
          <a:p>
            <a:pPr algn="r">
              <a:lnSpc>
                <a:spcPct val="100000"/>
              </a:lnSpc>
            </a:pPr>
            <a:r>
              <a:rPr sz="1300">
                <a:solidFill>
                  <a:srgbClr val="4F5D6A"/>
                </a:solidFill>
                <a:latin typeface="Consolas"/>
              </a:rPr>
              <a:t>174</a:t>
            </a:r>
          </a:p>
          <a:p>
            <a:pPr algn="r">
              <a:lnSpc>
                <a:spcPct val="100000"/>
              </a:lnSpc>
            </a:pPr>
            <a:r>
              <a:rPr sz="1300">
                <a:solidFill>
                  <a:srgbClr val="4F5D6A"/>
                </a:solidFill>
                <a:latin typeface="Consolas"/>
              </a:rPr>
              <a:t>175</a:t>
            </a:r>
          </a:p>
          <a:p>
            <a:pPr algn="r">
              <a:lnSpc>
                <a:spcPct val="100000"/>
              </a:lnSpc>
            </a:pPr>
            <a:r>
              <a:rPr sz="1300">
                <a:solidFill>
                  <a:srgbClr val="4F5D6A"/>
                </a:solidFill>
                <a:latin typeface="Consolas"/>
              </a:rPr>
              <a:t>176</a:t>
            </a:r>
          </a:p>
          <a:p>
            <a:pPr algn="r">
              <a:lnSpc>
                <a:spcPct val="100000"/>
              </a:lnSpc>
            </a:pPr>
            <a:r>
              <a:rPr sz="1300">
                <a:solidFill>
                  <a:srgbClr val="4F5D6A"/>
                </a:solidFill>
                <a:latin typeface="Consolas"/>
              </a:rPr>
              <a:t>177</a:t>
            </a:r>
          </a:p>
          <a:p>
            <a:pPr algn="r">
              <a:lnSpc>
                <a:spcPct val="100000"/>
              </a:lnSpc>
            </a:pPr>
            <a:r>
              <a:rPr sz="1300">
                <a:solidFill>
                  <a:srgbClr val="4F5D6A"/>
                </a:solidFill>
                <a:latin typeface="Consolas"/>
              </a:rPr>
              <a:t>178</a:t>
            </a:r>
          </a:p>
          <a:p>
            <a:pPr algn="r">
              <a:lnSpc>
                <a:spcPct val="100000"/>
              </a:lnSpc>
            </a:pPr>
            <a:r>
              <a:rPr sz="1300">
                <a:solidFill>
                  <a:srgbClr val="4F5D6A"/>
                </a:solidFill>
                <a:latin typeface="Consolas"/>
              </a:rPr>
              <a:t>179</a:t>
            </a:r>
          </a:p>
          <a:p>
            <a:pPr algn="r">
              <a:lnSpc>
                <a:spcPct val="100000"/>
              </a:lnSpc>
            </a:pPr>
            <a:r>
              <a:rPr sz="1300">
                <a:solidFill>
                  <a:srgbClr val="4F5D6A"/>
                </a:solidFill>
                <a:latin typeface="Consolas"/>
              </a:rPr>
              <a:t>180</a:t>
            </a:r>
          </a:p>
          <a:p>
            <a:pPr algn="r">
              <a:lnSpc>
                <a:spcPct val="100000"/>
              </a:lnSpc>
            </a:pPr>
            <a:r>
              <a:rPr sz="1300">
                <a:solidFill>
                  <a:srgbClr val="4F5D6A"/>
                </a:solidFill>
                <a:latin typeface="Consolas"/>
              </a:rPr>
              <a:t>181</a:t>
            </a:r>
          </a:p>
          <a:p>
            <a:pPr algn="r">
              <a:lnSpc>
                <a:spcPct val="100000"/>
              </a:lnSpc>
            </a:pPr>
            <a:r>
              <a:rPr sz="1300">
                <a:solidFill>
                  <a:srgbClr val="4F5D6A"/>
                </a:solidFill>
                <a:latin typeface="Consolas"/>
              </a:rPr>
              <a:t>182</a:t>
            </a:r>
          </a:p>
          <a:p>
            <a:pPr algn="r">
              <a:lnSpc>
                <a:spcPct val="100000"/>
              </a:lnSpc>
            </a:pPr>
            <a:r>
              <a:rPr sz="1300">
                <a:solidFill>
                  <a:srgbClr val="4F5D6A"/>
                </a:solidFill>
                <a:latin typeface="Consolas"/>
              </a:rPr>
              <a:t>183</a:t>
            </a:r>
          </a:p>
          <a:p>
            <a:pPr algn="r">
              <a:lnSpc>
                <a:spcPct val="100000"/>
              </a:lnSpc>
            </a:pPr>
            <a:r>
              <a:rPr sz="1300">
                <a:solidFill>
                  <a:srgbClr val="4F5D6A"/>
                </a:solidFill>
                <a:latin typeface="Consolas"/>
              </a:rPr>
              <a:t>184</a:t>
            </a:r>
          </a:p>
          <a:p>
            <a:pPr algn="r">
              <a:lnSpc>
                <a:spcPct val="100000"/>
              </a:lnSpc>
            </a:pPr>
            <a:r>
              <a:rPr sz="1300">
                <a:solidFill>
                  <a:srgbClr val="4F5D6A"/>
                </a:solidFill>
                <a:latin typeface="Consolas"/>
              </a:rPr>
              <a:t>185</a:t>
            </a:r>
          </a:p>
          <a:p>
            <a:pPr algn="r">
              <a:lnSpc>
                <a:spcPct val="100000"/>
              </a:lnSpc>
            </a:pPr>
            <a:r>
              <a:rPr sz="1300">
                <a:solidFill>
                  <a:srgbClr val="4F5D6A"/>
                </a:solidFill>
                <a:latin typeface="Consolas"/>
              </a:rPr>
              <a:t>186</a:t>
            </a:r>
          </a:p>
          <a:p>
            <a:pPr algn="r">
              <a:lnSpc>
                <a:spcPct val="100000"/>
              </a:lnSpc>
            </a:pPr>
            <a:r>
              <a:rPr sz="1300">
                <a:solidFill>
                  <a:srgbClr val="4F5D6A"/>
                </a:solidFill>
                <a:latin typeface="Consolas"/>
              </a:rPr>
              <a:t>187</a:t>
            </a:r>
          </a:p>
          <a:p>
            <a:pPr algn="r">
              <a:lnSpc>
                <a:spcPct val="100000"/>
              </a:lnSpc>
            </a:pPr>
            <a:r>
              <a:rPr sz="1300">
                <a:solidFill>
                  <a:srgbClr val="4F5D6A"/>
                </a:solidFill>
                <a:latin typeface="Consolas"/>
              </a:rPr>
              <a:t>188</a:t>
            </a:r>
          </a:p>
          <a:p>
            <a:pPr algn="r">
              <a:lnSpc>
                <a:spcPct val="100000"/>
              </a:lnSpc>
            </a:pPr>
            <a:r>
              <a:rPr sz="1300">
                <a:solidFill>
                  <a:srgbClr val="4F5D6A"/>
                </a:solidFill>
                <a:latin typeface="Consolas"/>
              </a:rPr>
              <a:t>189</a:t>
            </a:r>
          </a:p>
          <a:p>
            <a:pPr algn="r">
              <a:lnSpc>
                <a:spcPct val="100000"/>
              </a:lnSpc>
            </a:pPr>
            <a:r>
              <a:rPr sz="1300">
                <a:solidFill>
                  <a:srgbClr val="4F5D6A"/>
                </a:solidFill>
                <a:latin typeface="Consolas"/>
              </a:rPr>
              <a:t>190</a:t>
            </a:r>
          </a:p>
          <a:p>
            <a:pPr algn="r">
              <a:lnSpc>
                <a:spcPct val="100000"/>
              </a:lnSpc>
            </a:pPr>
            <a:r>
              <a:rPr sz="1300">
                <a:solidFill>
                  <a:srgbClr val="4F5D6A"/>
                </a:solidFill>
                <a:latin typeface="Consolas"/>
              </a:rPr>
              <a:t>191</a:t>
            </a:r>
          </a:p>
          <a:p>
            <a:pPr algn="r">
              <a:lnSpc>
                <a:spcPct val="100000"/>
              </a:lnSpc>
            </a:pPr>
            <a:r>
              <a:rPr sz="1300">
                <a:solidFill>
                  <a:srgbClr val="4F5D6A"/>
                </a:solidFill>
                <a:latin typeface="Consolas"/>
              </a:rPr>
              <a:t>192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C56E6F24-3F78-4332-9C49-954444D0E200}" type="slidenum">
              <a:rPr lang="en-GB" sz="1000">
                <a:solidFill>
                  <a:srgbClr val="8795A1"/>
                </a:solidFill>
                <a:latin typeface="Segoe UI"/>
              </a:rPr>
              <a:t>33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for name, kw in runs: sol, c = solve(**kw) assert sol is not None, name res[name.strip()] = (c.checks, c.nodes) print(&quot;%s %7d %6d&quot; % (name, c.checks, c.nodes)) plain = res[&quot;plain backtracking&quot;] mrv_only = res[&quot;+ MRV&quot;] fc = res[&quot;+ MRV + degree + FC&quot;] ac = res[&quot;+ MRV + degree + FC + AC-3&quot;] # 1. MRV alone changes NOTHING: no propagation, no information assert mrv_only == plain print() print(&quot;MRV alone: %d checks, exactly as without it. Nothing has&quot; % mrv_only[0]) print(&quot;shrunk a domain, so every variable ties and MRV cannot&quot;) print(&quot;express a preference.&quot;)"/>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kw</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runs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sol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solve</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kw</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sol</a:t>
            </a:r>
            <a:r>
              <a:rPr sz="1400" i="0">
                <a:solidFill>
                  <a:srgbClr val="E8EDF2"/>
                </a:solidFill>
                <a:latin typeface="Consolas"/>
              </a:rPr>
              <a:t> </a:t>
            </a:r>
            <a:r>
              <a:rPr sz="1400" i="0">
                <a:solidFill>
                  <a:srgbClr val="AEB6BF"/>
                </a:solidFill>
                <a:latin typeface="Consolas"/>
              </a:rPr>
              <a:t>is</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5DADE2"/>
                </a:solidFill>
                <a:latin typeface="Consolas"/>
              </a:rPr>
              <a:t>None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name</a:t>
            </a:r>
          </a:p>
          <a:p>
            <a:pPr>
              <a:lnSpc>
                <a:spcPct val="100000"/>
              </a:lnSpc>
              <a:spcAft>
                <a:spcPts val="0"/>
              </a:spcAft>
            </a:pPr>
            <a:r>
              <a:rPr sz="1400" i="0">
                <a:solidFill>
                  <a:srgbClr val="E8EDF2"/>
                </a:solidFill>
                <a:latin typeface="Consolas"/>
              </a:rPr>
              <a:t>        </a:t>
            </a:r>
            <a:r>
              <a:rPr sz="1400" i="0">
                <a:solidFill>
                  <a:srgbClr val="E8EDF2"/>
                </a:solidFill>
                <a:latin typeface="Consolas"/>
              </a:rPr>
              <a:t>res</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strip</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checks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nodes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a:t>
            </a:r>
            <a:r>
              <a:rPr sz="1400" i="0">
                <a:solidFill>
                  <a:srgbClr val="7DCEA0"/>
                </a:solidFill>
                <a:latin typeface="Consolas"/>
              </a:rPr>
              <a:t> </a:t>
            </a:r>
            <a:r>
              <a:rPr sz="1400" i="0">
                <a:solidFill>
                  <a:srgbClr val="7DCEA0"/>
                </a:solidFill>
                <a:latin typeface="Consolas"/>
              </a:rPr>
              <a:t>%7d</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checks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a:t>
            </a:r>
            <a:r>
              <a:rPr sz="1400" i="0">
                <a:solidFill>
                  <a:srgbClr val="AEB6BF"/>
                </a:solidFill>
                <a:latin typeface="Consolas"/>
              </a:rPr>
              <a:t>.</a:t>
            </a:r>
            <a:r>
              <a:rPr sz="1400" i="0">
                <a:solidFill>
                  <a:srgbClr val="E8EDF2"/>
                </a:solidFill>
                <a:latin typeface="Consolas"/>
              </a:rPr>
              <a:t>nodes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E8EDF2"/>
                </a:solidFill>
                <a:latin typeface="Consolas"/>
              </a:rPr>
              <a:t>plain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plain backtracking</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mrv_only</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MRV</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fc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MRV + degree + FC</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MRV + degree + FC + AC-3</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1">
                <a:solidFill>
                  <a:srgbClr val="8795A1"/>
                </a:solidFill>
                <a:latin typeface="Consolas"/>
              </a:rPr>
              <a:t># 1. MRV alone changes NOTHING: no propagation, no information</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mrv_only</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plain</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MRV alone: </a:t>
            </a:r>
            <a:r>
              <a:rPr sz="1400" i="0">
                <a:solidFill>
                  <a:srgbClr val="7DCEA0"/>
                </a:solidFill>
                <a:latin typeface="Consolas"/>
              </a:rPr>
              <a:t>%d</a:t>
            </a:r>
            <a:r>
              <a:rPr sz="1400" i="0">
                <a:solidFill>
                  <a:srgbClr val="7DCEA0"/>
                </a:solidFill>
                <a:latin typeface="Consolas"/>
              </a:rPr>
              <a:t> checks, exactly as without it. Nothing has</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mrv_only</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shrunk a domain, so every variable ties and MRV cannot</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express a preference.</a:t>
            </a:r>
            <a:r>
              <a:rPr sz="1400" i="0">
                <a:solidFill>
                  <a:srgbClr val="7DCEA0"/>
                </a:solidFill>
                <a:latin typeface="Consolas"/>
              </a:rPr>
              <a:t>"</a:t>
            </a:r>
            <a:r>
              <a:rPr sz="1400" i="0">
                <a:solidFill>
                  <a:srgbClr val="AEB6BF"/>
                </a:solidFill>
                <a:latin typeface="Consolas"/>
              </a:rPr>
              <a:t>)</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193</a:t>
            </a:r>
          </a:p>
          <a:p>
            <a:pPr algn="r">
              <a:lnSpc>
                <a:spcPct val="100000"/>
              </a:lnSpc>
            </a:pPr>
            <a:r>
              <a:rPr sz="1400">
                <a:solidFill>
                  <a:srgbClr val="4F5D6A"/>
                </a:solidFill>
                <a:latin typeface="Consolas"/>
              </a:rPr>
              <a:t>194</a:t>
            </a:r>
          </a:p>
          <a:p>
            <a:pPr algn="r">
              <a:lnSpc>
                <a:spcPct val="100000"/>
              </a:lnSpc>
            </a:pPr>
            <a:r>
              <a:rPr sz="1400">
                <a:solidFill>
                  <a:srgbClr val="4F5D6A"/>
                </a:solidFill>
                <a:latin typeface="Consolas"/>
              </a:rPr>
              <a:t>195</a:t>
            </a:r>
          </a:p>
          <a:p>
            <a:pPr algn="r">
              <a:lnSpc>
                <a:spcPct val="100000"/>
              </a:lnSpc>
            </a:pPr>
            <a:r>
              <a:rPr sz="1400">
                <a:solidFill>
                  <a:srgbClr val="4F5D6A"/>
                </a:solidFill>
                <a:latin typeface="Consolas"/>
              </a:rPr>
              <a:t>196</a:t>
            </a:r>
          </a:p>
          <a:p>
            <a:pPr algn="r">
              <a:lnSpc>
                <a:spcPct val="100000"/>
              </a:lnSpc>
            </a:pPr>
            <a:r>
              <a:rPr sz="1400">
                <a:solidFill>
                  <a:srgbClr val="4F5D6A"/>
                </a:solidFill>
                <a:latin typeface="Consolas"/>
              </a:rPr>
              <a:t>197</a:t>
            </a:r>
          </a:p>
          <a:p>
            <a:pPr algn="r">
              <a:lnSpc>
                <a:spcPct val="100000"/>
              </a:lnSpc>
            </a:pPr>
            <a:r>
              <a:rPr sz="1400">
                <a:solidFill>
                  <a:srgbClr val="4F5D6A"/>
                </a:solidFill>
                <a:latin typeface="Consolas"/>
              </a:rPr>
              <a:t>198</a:t>
            </a:r>
          </a:p>
          <a:p>
            <a:pPr algn="r">
              <a:lnSpc>
                <a:spcPct val="100000"/>
              </a:lnSpc>
            </a:pPr>
            <a:r>
              <a:rPr sz="1400">
                <a:solidFill>
                  <a:srgbClr val="4F5D6A"/>
                </a:solidFill>
                <a:latin typeface="Consolas"/>
              </a:rPr>
              <a:t>199</a:t>
            </a:r>
          </a:p>
          <a:p>
            <a:pPr algn="r">
              <a:lnSpc>
                <a:spcPct val="100000"/>
              </a:lnSpc>
            </a:pPr>
            <a:r>
              <a:rPr sz="1400">
                <a:solidFill>
                  <a:srgbClr val="4F5D6A"/>
                </a:solidFill>
                <a:latin typeface="Consolas"/>
              </a:rPr>
              <a:t>200</a:t>
            </a:r>
          </a:p>
          <a:p>
            <a:pPr algn="r">
              <a:lnSpc>
                <a:spcPct val="100000"/>
              </a:lnSpc>
            </a:pPr>
            <a:r>
              <a:rPr sz="1400">
                <a:solidFill>
                  <a:srgbClr val="4F5D6A"/>
                </a:solidFill>
                <a:latin typeface="Consolas"/>
              </a:rPr>
              <a:t>201</a:t>
            </a:r>
          </a:p>
          <a:p>
            <a:pPr algn="r">
              <a:lnSpc>
                <a:spcPct val="100000"/>
              </a:lnSpc>
            </a:pPr>
            <a:r>
              <a:rPr sz="1400">
                <a:solidFill>
                  <a:srgbClr val="4F5D6A"/>
                </a:solidFill>
                <a:latin typeface="Consolas"/>
              </a:rPr>
              <a:t>202</a:t>
            </a:r>
          </a:p>
          <a:p>
            <a:pPr algn="r">
              <a:lnSpc>
                <a:spcPct val="100000"/>
              </a:lnSpc>
            </a:pPr>
            <a:r>
              <a:rPr sz="1400">
                <a:solidFill>
                  <a:srgbClr val="4F5D6A"/>
                </a:solidFill>
                <a:latin typeface="Consolas"/>
              </a:rPr>
              <a:t>203</a:t>
            </a:r>
          </a:p>
          <a:p>
            <a:pPr algn="r">
              <a:lnSpc>
                <a:spcPct val="100000"/>
              </a:lnSpc>
            </a:pPr>
            <a:r>
              <a:rPr sz="1400">
                <a:solidFill>
                  <a:srgbClr val="4F5D6A"/>
                </a:solidFill>
                <a:latin typeface="Consolas"/>
              </a:rPr>
              <a:t>204</a:t>
            </a:r>
          </a:p>
          <a:p>
            <a:pPr algn="r">
              <a:lnSpc>
                <a:spcPct val="100000"/>
              </a:lnSpc>
            </a:pPr>
            <a:r>
              <a:rPr sz="1400">
                <a:solidFill>
                  <a:srgbClr val="4F5D6A"/>
                </a:solidFill>
                <a:latin typeface="Consolas"/>
              </a:rPr>
              <a:t>205</a:t>
            </a:r>
          </a:p>
          <a:p>
            <a:pPr algn="r">
              <a:lnSpc>
                <a:spcPct val="100000"/>
              </a:lnSpc>
            </a:pPr>
            <a:r>
              <a:rPr sz="1400">
                <a:solidFill>
                  <a:srgbClr val="4F5D6A"/>
                </a:solidFill>
                <a:latin typeface="Consolas"/>
              </a:rPr>
              <a:t>206</a:t>
            </a:r>
          </a:p>
          <a:p>
            <a:pPr algn="r">
              <a:lnSpc>
                <a:spcPct val="100000"/>
              </a:lnSpc>
            </a:pPr>
            <a:r>
              <a:rPr sz="1400">
                <a:solidFill>
                  <a:srgbClr val="4F5D6A"/>
                </a:solidFill>
                <a:latin typeface="Consolas"/>
              </a:rPr>
              <a:t>207</a:t>
            </a:r>
          </a:p>
          <a:p>
            <a:pPr algn="r">
              <a:lnSpc>
                <a:spcPct val="100000"/>
              </a:lnSpc>
            </a:pPr>
            <a:r>
              <a:rPr sz="1400">
                <a:solidFill>
                  <a:srgbClr val="4F5D6A"/>
                </a:solidFill>
                <a:latin typeface="Consolas"/>
              </a:rPr>
              <a:t>208</a:t>
            </a:r>
          </a:p>
          <a:p>
            <a:pPr algn="r">
              <a:lnSpc>
                <a:spcPct val="100000"/>
              </a:lnSpc>
            </a:pPr>
            <a:r>
              <a:rPr sz="1400">
                <a:solidFill>
                  <a:srgbClr val="4F5D6A"/>
                </a:solidFill>
                <a:latin typeface="Consolas"/>
              </a:rPr>
              <a:t>209</a:t>
            </a:r>
          </a:p>
          <a:p>
            <a:pPr algn="r">
              <a:lnSpc>
                <a:spcPct val="100000"/>
              </a:lnSpc>
            </a:pPr>
            <a:r>
              <a:rPr sz="1400">
                <a:solidFill>
                  <a:srgbClr val="4F5D6A"/>
                </a:solidFill>
                <a:latin typeface="Consolas"/>
              </a:rPr>
              <a:t>210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A886E107-B42E-4C86-8459-E338EF769E1B}" type="slidenum">
              <a:rPr lang="en-GB" sz="1000">
                <a:solidFill>
                  <a:srgbClr val="8795A1"/>
                </a:solidFill>
                <a:latin typeface="Segoe UI"/>
              </a:rPr>
              <a:t>34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 2. forward checking is the win, and it is large assert fc[0] * 5 &lt; plain[0] print() print(&quot;forward checking: %d -&gt; %d checks (%.0fx), %d -&gt; %d nodes&quot; % (plain[0], fc[0], plain[0] / fc[0], plain[1], fc[1])) # 3. AC-3 cannot see the capacity constraint, so it buys no nodes assert ac[1] == fc[1] and ac[0] &gt; fc[0] print() print(&quot;AC-3 preprocessing: %d extra checks, %d fewer nodes.&quot; % (ac[0] - fc[0], fc[1] - ac[1])) print(&quot;It prunes the binary structure and never sees capacity,&quot;) print(&quot;which is the constraint that actually binds.&quo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1">
                <a:solidFill>
                  <a:srgbClr val="8795A1"/>
                </a:solidFill>
                <a:latin typeface="Consolas"/>
              </a:rPr>
              <a:t># 2. forward checking is the win, and it is large</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5</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plain</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forward checking: </a:t>
            </a:r>
            <a:r>
              <a:rPr sz="2000" i="0">
                <a:solidFill>
                  <a:srgbClr val="7DCEA0"/>
                </a:solidFill>
                <a:latin typeface="Consolas"/>
              </a:rPr>
              <a:t>%d</a:t>
            </a:r>
            <a:r>
              <a:rPr sz="2000" i="0">
                <a:solidFill>
                  <a:srgbClr val="7DCEA0"/>
                </a:solidFill>
                <a:latin typeface="Consolas"/>
              </a:rPr>
              <a:t> -&gt; </a:t>
            </a:r>
            <a:r>
              <a:rPr sz="2000" i="0">
                <a:solidFill>
                  <a:srgbClr val="7DCEA0"/>
                </a:solidFill>
                <a:latin typeface="Consolas"/>
              </a:rPr>
              <a:t>%d</a:t>
            </a:r>
            <a:r>
              <a:rPr sz="2000" i="0">
                <a:solidFill>
                  <a:srgbClr val="7DCEA0"/>
                </a:solidFill>
                <a:latin typeface="Consolas"/>
              </a:rPr>
              <a:t> checks (</a:t>
            </a:r>
            <a:r>
              <a:rPr sz="2000" i="0">
                <a:solidFill>
                  <a:srgbClr val="7DCEA0"/>
                </a:solidFill>
                <a:latin typeface="Consolas"/>
              </a:rPr>
              <a:t>%.0f</a:t>
            </a:r>
            <a:r>
              <a:rPr sz="2000" i="0">
                <a:solidFill>
                  <a:srgbClr val="7DCEA0"/>
                </a:solidFill>
                <a:latin typeface="Consolas"/>
              </a:rPr>
              <a:t>x), </a:t>
            </a:r>
            <a:r>
              <a:rPr sz="2000" i="0">
                <a:solidFill>
                  <a:srgbClr val="7DCEA0"/>
                </a:solidFill>
                <a:latin typeface="Consolas"/>
              </a:rPr>
              <a:t>%d</a:t>
            </a:r>
            <a:r>
              <a:rPr sz="2000" i="0">
                <a:solidFill>
                  <a:srgbClr val="7DCEA0"/>
                </a:solidFill>
                <a:latin typeface="Consolas"/>
              </a:rPr>
              <a:t> -&gt; </a:t>
            </a:r>
            <a:r>
              <a:rPr sz="2000" i="0">
                <a:solidFill>
                  <a:srgbClr val="7DCEA0"/>
                </a:solidFill>
                <a:latin typeface="Consolas"/>
              </a:rPr>
              <a:t>%d</a:t>
            </a:r>
            <a:r>
              <a:rPr sz="2000" i="0">
                <a:solidFill>
                  <a:srgbClr val="7DCEA0"/>
                </a:solidFill>
                <a:latin typeface="Consolas"/>
              </a:rPr>
              <a:t> nodes</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plain</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plain</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plain</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    </a:t>
            </a:r>
            <a:r>
              <a:rPr sz="2000" i="1">
                <a:solidFill>
                  <a:srgbClr val="8795A1"/>
                </a:solidFill>
                <a:latin typeface="Consolas"/>
              </a:rPr>
              <a:t># 3. AC-3 cannot see the capacity constraint, so it buys no nodes</a:t>
            </a:r>
          </a:p>
          <a:p>
            <a:pPr>
              <a:lnSpc>
                <a:spcPct val="100000"/>
              </a:lnSpc>
              <a:spcAft>
                <a:spcPts val="0"/>
              </a:spcAft>
            </a:pPr>
            <a:r>
              <a:rPr sz="2000" i="0">
                <a:solidFill>
                  <a:srgbClr val="E8EDF2"/>
                </a:solidFill>
                <a:latin typeface="Consolas"/>
              </a:rPr>
              <a:t>    </a:t>
            </a:r>
            <a:r>
              <a:rPr sz="2000" i="0">
                <a:solidFill>
                  <a:srgbClr val="5DADE2"/>
                </a:solidFill>
                <a:latin typeface="Consolas"/>
              </a:rPr>
              <a:t>assert</a:t>
            </a:r>
            <a:r>
              <a:rPr sz="2000" i="0">
                <a:solidFill>
                  <a:srgbClr val="E8EDF2"/>
                </a:solidFill>
                <a:latin typeface="Consolas"/>
              </a:rPr>
              <a:t> </a:t>
            </a:r>
            <a:r>
              <a:rPr sz="2000" i="0">
                <a:solidFill>
                  <a:srgbClr val="E8EDF2"/>
                </a:solidFill>
                <a:latin typeface="Consolas"/>
              </a:rPr>
              <a:t>ac</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and</a:t>
            </a:r>
            <a:r>
              <a:rPr sz="2000" i="0">
                <a:solidFill>
                  <a:srgbClr val="E8EDF2"/>
                </a:solidFill>
                <a:latin typeface="Consolas"/>
              </a:rPr>
              <a:t> </a:t>
            </a:r>
            <a:r>
              <a:rPr sz="2000" i="0">
                <a:solidFill>
                  <a:srgbClr val="E8EDF2"/>
                </a:solidFill>
                <a:latin typeface="Consolas"/>
              </a:rPr>
              <a:t>ac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AC-3 preprocessing: </a:t>
            </a:r>
            <a:r>
              <a:rPr sz="2000" i="0">
                <a:solidFill>
                  <a:srgbClr val="7DCEA0"/>
                </a:solidFill>
                <a:latin typeface="Consolas"/>
              </a:rPr>
              <a:t>%d</a:t>
            </a:r>
            <a:r>
              <a:rPr sz="2000" i="0">
                <a:solidFill>
                  <a:srgbClr val="7DCEA0"/>
                </a:solidFill>
                <a:latin typeface="Consolas"/>
              </a:rPr>
              <a:t> extra checks, </a:t>
            </a:r>
            <a:r>
              <a:rPr sz="2000" i="0">
                <a:solidFill>
                  <a:srgbClr val="7DCEA0"/>
                </a:solidFill>
                <a:latin typeface="Consolas"/>
              </a:rPr>
              <a:t>%d</a:t>
            </a:r>
            <a:r>
              <a:rPr sz="2000" i="0">
                <a:solidFill>
                  <a:srgbClr val="7DCEA0"/>
                </a:solidFill>
                <a:latin typeface="Consolas"/>
              </a:rPr>
              <a:t> fewer nodes.</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ac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fc</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ac</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It prunes the binary structure and never sees capacity,</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which is the constraint that actually binds.</a:t>
            </a:r>
            <a:r>
              <a:rPr sz="2000" i="0">
                <a:solidFill>
                  <a:srgbClr val="7DCEA0"/>
                </a:solidFill>
                <a:latin typeface="Consolas"/>
              </a:rPr>
              <a:t>"</a:t>
            </a:r>
            <a:r>
              <a:rPr sz="20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212</a:t>
            </a:r>
          </a:p>
          <a:p>
            <a:pPr algn="r">
              <a:lnSpc>
                <a:spcPct val="100000"/>
              </a:lnSpc>
            </a:pPr>
            <a:r>
              <a:rPr sz="2000">
                <a:solidFill>
                  <a:srgbClr val="4F5D6A"/>
                </a:solidFill>
                <a:latin typeface="Consolas"/>
              </a:rPr>
              <a:t>213</a:t>
            </a:r>
          </a:p>
          <a:p>
            <a:pPr algn="r">
              <a:lnSpc>
                <a:spcPct val="100000"/>
              </a:lnSpc>
            </a:pPr>
            <a:r>
              <a:rPr sz="2000">
                <a:solidFill>
                  <a:srgbClr val="4F5D6A"/>
                </a:solidFill>
                <a:latin typeface="Consolas"/>
              </a:rPr>
              <a:t>214</a:t>
            </a:r>
          </a:p>
          <a:p>
            <a:pPr algn="r">
              <a:lnSpc>
                <a:spcPct val="100000"/>
              </a:lnSpc>
            </a:pPr>
            <a:r>
              <a:rPr sz="2000">
                <a:solidFill>
                  <a:srgbClr val="4F5D6A"/>
                </a:solidFill>
                <a:latin typeface="Consolas"/>
              </a:rPr>
              <a:t>215</a:t>
            </a:r>
          </a:p>
          <a:p>
            <a:pPr algn="r">
              <a:lnSpc>
                <a:spcPct val="100000"/>
              </a:lnSpc>
            </a:pPr>
            <a:r>
              <a:rPr sz="2000">
                <a:solidFill>
                  <a:srgbClr val="4F5D6A"/>
                </a:solidFill>
                <a:latin typeface="Consolas"/>
              </a:rPr>
              <a:t>216</a:t>
            </a:r>
          </a:p>
          <a:p>
            <a:pPr algn="r">
              <a:lnSpc>
                <a:spcPct val="100000"/>
              </a:lnSpc>
            </a:pPr>
            <a:r>
              <a:rPr sz="2000">
                <a:solidFill>
                  <a:srgbClr val="4F5D6A"/>
                </a:solidFill>
                <a:latin typeface="Consolas"/>
              </a:rPr>
              <a:t>217</a:t>
            </a:r>
          </a:p>
          <a:p>
            <a:pPr algn="r">
              <a:lnSpc>
                <a:spcPct val="100000"/>
              </a:lnSpc>
            </a:pPr>
            <a:r>
              <a:rPr sz="2000">
                <a:solidFill>
                  <a:srgbClr val="4F5D6A"/>
                </a:solidFill>
                <a:latin typeface="Consolas"/>
              </a:rPr>
              <a:t>218</a:t>
            </a:r>
          </a:p>
          <a:p>
            <a:pPr algn="r">
              <a:lnSpc>
                <a:spcPct val="100000"/>
              </a:lnSpc>
            </a:pPr>
            <a:r>
              <a:rPr sz="2000">
                <a:solidFill>
                  <a:srgbClr val="4F5D6A"/>
                </a:solidFill>
                <a:latin typeface="Consolas"/>
              </a:rPr>
              <a:t>219</a:t>
            </a:r>
          </a:p>
          <a:p>
            <a:pPr algn="r">
              <a:lnSpc>
                <a:spcPct val="100000"/>
              </a:lnSpc>
            </a:pPr>
            <a:r>
              <a:rPr sz="2000">
                <a:solidFill>
                  <a:srgbClr val="4F5D6A"/>
                </a:solidFill>
                <a:latin typeface="Consolas"/>
              </a:rPr>
              <a:t>220</a:t>
            </a:r>
          </a:p>
          <a:p>
            <a:pPr algn="r">
              <a:lnSpc>
                <a:spcPct val="100000"/>
              </a:lnSpc>
            </a:pPr>
            <a:r>
              <a:rPr sz="2000">
                <a:solidFill>
                  <a:srgbClr val="4F5D6A"/>
                </a:solidFill>
                <a:latin typeface="Consolas"/>
              </a:rPr>
              <a:t>221</a:t>
            </a:r>
          </a:p>
          <a:p>
            <a:pPr algn="r">
              <a:lnSpc>
                <a:spcPct val="100000"/>
              </a:lnSpc>
            </a:pPr>
            <a:r>
              <a:rPr sz="2000">
                <a:solidFill>
                  <a:srgbClr val="4F5D6A"/>
                </a:solidFill>
                <a:latin typeface="Consolas"/>
              </a:rPr>
              <a:t>222</a:t>
            </a:r>
          </a:p>
          <a:p>
            <a:pPr algn="r">
              <a:lnSpc>
                <a:spcPct val="100000"/>
              </a:lnSpc>
            </a:pPr>
            <a:r>
              <a:rPr sz="2000">
                <a:solidFill>
                  <a:srgbClr val="4F5D6A"/>
                </a:solidFill>
                <a:latin typeface="Consolas"/>
              </a:rPr>
              <a:t>223</a:t>
            </a:r>
          </a:p>
          <a:p>
            <a:pPr algn="r">
              <a:lnSpc>
                <a:spcPct val="100000"/>
              </a:lnSpc>
            </a:pPr>
            <a:r>
              <a:rPr sz="2000">
                <a:solidFill>
                  <a:srgbClr val="4F5D6A"/>
                </a:solidFill>
                <a:latin typeface="Consolas"/>
              </a:rPr>
              <a:t>224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Sprint Scheduling as a CSP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BA2A6FFF-A356-4BD4-83EE-ED1430B71A57}" type="slidenum">
              <a:rPr lang="en-GB" sz="1000">
                <a:solidFill>
                  <a:srgbClr val="8795A1"/>
                </a:solidFill>
                <a:latin typeface="Segoe UI"/>
              </a:rPr>
              <a:t>35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code/ch07_sprint_scheduling_as.py</a:t>
            </a:r>
          </a:p>
        </p:txBody>
      </p:sp>
      <p:sp>
        <p:nvSpPr>
          <p:cNvPr id="13" name="!!code-text" descr="# what AC-3 removes before any search c = Counter() d0 = {v: list(SLOTS) for v in NAMES} d1 = ac3(d0, c) narrowed = [v for v in NAMES if d1[v] != d0[v]] print() print(&quot;AC-3 narrowed %d of %d domains before any assignment:&quot; % (len(narrowed), len(NAMES))) for v in narrowed[:4]: print(&quot; %-4s %s -&gt; %s&quot; % (v, d0[v], d1[v])) print(&quot; ...&quot;) print() sol, _ = solve(mrv=True, degree=True, fc=True) print(show(sol))"/>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700" i="0">
                <a:solidFill>
                  <a:srgbClr val="E8EDF2"/>
                </a:solidFill>
                <a:latin typeface="Consolas"/>
              </a:rPr>
              <a:t>    </a:t>
            </a:r>
            <a:r>
              <a:rPr sz="1700" i="1">
                <a:solidFill>
                  <a:srgbClr val="8795A1"/>
                </a:solidFill>
                <a:latin typeface="Consolas"/>
              </a:rPr>
              <a:t># what AC-3 removes before any search</a:t>
            </a:r>
          </a:p>
          <a:p>
            <a:pPr>
              <a:lnSpc>
                <a:spcPct val="100000"/>
              </a:lnSpc>
              <a:spcAft>
                <a:spcPts val="0"/>
              </a:spcAft>
            </a:pPr>
            <a:r>
              <a:rPr sz="1700" i="0">
                <a:solidFill>
                  <a:srgbClr val="E8EDF2"/>
                </a:solidFill>
                <a:latin typeface="Consolas"/>
              </a:rPr>
              <a:t>    </a:t>
            </a:r>
            <a:r>
              <a:rPr sz="1700" i="0">
                <a:solidFill>
                  <a:srgbClr val="E8EDF2"/>
                </a:solidFill>
                <a:latin typeface="Consolas"/>
              </a:rPr>
              <a:t>c</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Counter</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d0</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list</a:t>
            </a:r>
            <a:r>
              <a:rPr sz="1700" i="0">
                <a:solidFill>
                  <a:srgbClr val="AEB6BF"/>
                </a:solidFill>
                <a:latin typeface="Consolas"/>
              </a:rPr>
              <a:t>(</a:t>
            </a:r>
            <a:r>
              <a:rPr sz="1700" i="0">
                <a:solidFill>
                  <a:srgbClr val="E8EDF2"/>
                </a:solidFill>
                <a:latin typeface="Consolas"/>
              </a:rPr>
              <a:t>SLOTS</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NAMES</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d1</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ac3</a:t>
            </a:r>
            <a:r>
              <a:rPr sz="1700" i="0">
                <a:solidFill>
                  <a:srgbClr val="AEB6BF"/>
                </a:solidFill>
                <a:latin typeface="Consolas"/>
              </a:rPr>
              <a:t>(</a:t>
            </a:r>
            <a:r>
              <a:rPr sz="1700" i="0">
                <a:solidFill>
                  <a:srgbClr val="E8EDF2"/>
                </a:solidFill>
                <a:latin typeface="Consolas"/>
              </a:rPr>
              <a:t>d0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narrowed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v</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NAMES</a:t>
            </a: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d1</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d0</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AC-3 narrowed </a:t>
            </a:r>
            <a:r>
              <a:rPr sz="1700" i="0">
                <a:solidFill>
                  <a:srgbClr val="7DCEA0"/>
                </a:solidFill>
                <a:latin typeface="Consolas"/>
              </a:rPr>
              <a:t>%d</a:t>
            </a:r>
            <a:r>
              <a:rPr sz="1700" i="0">
                <a:solidFill>
                  <a:srgbClr val="7DCEA0"/>
                </a:solidFill>
                <a:latin typeface="Consolas"/>
              </a:rPr>
              <a:t> of </a:t>
            </a:r>
            <a:r>
              <a:rPr sz="1700" i="0">
                <a:solidFill>
                  <a:srgbClr val="7DCEA0"/>
                </a:solidFill>
                <a:latin typeface="Consolas"/>
              </a:rPr>
              <a:t>%d</a:t>
            </a:r>
            <a:r>
              <a:rPr sz="1700" i="0">
                <a:solidFill>
                  <a:srgbClr val="7DCEA0"/>
                </a:solidFill>
                <a:latin typeface="Consolas"/>
              </a:rPr>
              <a:t> domains before any assignment:</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narrowed</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NAMES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narrowed</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%-4s</a:t>
            </a:r>
            <a:r>
              <a:rPr sz="1700" i="0">
                <a:solidFill>
                  <a:srgbClr val="7DCEA0"/>
                </a:solidFill>
                <a:latin typeface="Consolas"/>
              </a:rPr>
              <a:t> </a:t>
            </a:r>
            <a:r>
              <a:rPr sz="1700" i="0">
                <a:solidFill>
                  <a:srgbClr val="7DCEA0"/>
                </a:solidFill>
                <a:latin typeface="Consolas"/>
              </a:rPr>
              <a:t>%s</a:t>
            </a:r>
            <a:r>
              <a:rPr sz="1700" i="0">
                <a:solidFill>
                  <a:srgbClr val="7DCEA0"/>
                </a:solidFill>
                <a:latin typeface="Consolas"/>
              </a:rPr>
              <a:t> -&gt; </a:t>
            </a:r>
            <a:r>
              <a:rPr sz="1700" i="0">
                <a:solidFill>
                  <a:srgbClr val="7DCEA0"/>
                </a:solidFill>
                <a:latin typeface="Consolas"/>
              </a:rPr>
              <a:t>%s</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d0</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d1</a:t>
            </a:r>
            <a:r>
              <a:rPr sz="1700" i="0">
                <a:solidFill>
                  <a:srgbClr val="AEB6BF"/>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a:latin typeface="Consolas"/>
              </a:rPr>
              <a:t> </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sol</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_</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solve</a:t>
            </a:r>
            <a:r>
              <a:rPr sz="1700" i="0">
                <a:solidFill>
                  <a:srgbClr val="AEB6BF"/>
                </a:solidFill>
                <a:latin typeface="Consolas"/>
              </a:rPr>
              <a:t>(</a:t>
            </a:r>
            <a:r>
              <a:rPr sz="1700" i="0">
                <a:solidFill>
                  <a:srgbClr val="E8EDF2"/>
                </a:solidFill>
                <a:latin typeface="Consolas"/>
              </a:rPr>
              <a:t>mrv</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degree</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fc</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show</a:t>
            </a:r>
            <a:r>
              <a:rPr sz="1700" i="0">
                <a:solidFill>
                  <a:srgbClr val="AEB6BF"/>
                </a:solidFill>
                <a:latin typeface="Consolas"/>
              </a:rPr>
              <a:t>(</a:t>
            </a:r>
            <a:r>
              <a:rPr sz="1700" i="0">
                <a:solidFill>
                  <a:srgbClr val="E8EDF2"/>
                </a:solidFill>
                <a:latin typeface="Consolas"/>
              </a:rPr>
              <a:t>sol</a:t>
            </a:r>
            <a:r>
              <a:rPr sz="1700" i="0">
                <a:solidFill>
                  <a:srgbClr val="AEB6BF"/>
                </a:solidFill>
                <a:latin typeface="Consolas"/>
              </a:rPr>
              <a:t>)</a:t>
            </a:r>
            <a:r>
              <a:rPr sz="17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226</a:t>
            </a:r>
          </a:p>
          <a:p>
            <a:pPr algn="r">
              <a:lnSpc>
                <a:spcPct val="100000"/>
              </a:lnSpc>
            </a:pPr>
            <a:r>
              <a:rPr sz="1700">
                <a:solidFill>
                  <a:srgbClr val="4F5D6A"/>
                </a:solidFill>
                <a:latin typeface="Consolas"/>
              </a:rPr>
              <a:t>227</a:t>
            </a:r>
          </a:p>
          <a:p>
            <a:pPr algn="r">
              <a:lnSpc>
                <a:spcPct val="100000"/>
              </a:lnSpc>
            </a:pPr>
            <a:r>
              <a:rPr sz="1700">
                <a:solidFill>
                  <a:srgbClr val="4F5D6A"/>
                </a:solidFill>
                <a:latin typeface="Consolas"/>
              </a:rPr>
              <a:t>228</a:t>
            </a:r>
          </a:p>
          <a:p>
            <a:pPr algn="r">
              <a:lnSpc>
                <a:spcPct val="100000"/>
              </a:lnSpc>
            </a:pPr>
            <a:r>
              <a:rPr sz="1700">
                <a:solidFill>
                  <a:srgbClr val="4F5D6A"/>
                </a:solidFill>
                <a:latin typeface="Consolas"/>
              </a:rPr>
              <a:t>229</a:t>
            </a:r>
          </a:p>
          <a:p>
            <a:pPr algn="r">
              <a:lnSpc>
                <a:spcPct val="100000"/>
              </a:lnSpc>
            </a:pPr>
            <a:r>
              <a:rPr sz="1700">
                <a:solidFill>
                  <a:srgbClr val="4F5D6A"/>
                </a:solidFill>
                <a:latin typeface="Consolas"/>
              </a:rPr>
              <a:t>230</a:t>
            </a:r>
          </a:p>
          <a:p>
            <a:pPr algn="r">
              <a:lnSpc>
                <a:spcPct val="100000"/>
              </a:lnSpc>
            </a:pPr>
            <a:r>
              <a:rPr sz="1700">
                <a:solidFill>
                  <a:srgbClr val="4F5D6A"/>
                </a:solidFill>
                <a:latin typeface="Consolas"/>
              </a:rPr>
              <a:t>231</a:t>
            </a:r>
          </a:p>
          <a:p>
            <a:pPr algn="r">
              <a:lnSpc>
                <a:spcPct val="100000"/>
              </a:lnSpc>
            </a:pPr>
            <a:r>
              <a:rPr sz="1700">
                <a:solidFill>
                  <a:srgbClr val="4F5D6A"/>
                </a:solidFill>
                <a:latin typeface="Consolas"/>
              </a:rPr>
              <a:t>232</a:t>
            </a:r>
          </a:p>
          <a:p>
            <a:pPr algn="r">
              <a:lnSpc>
                <a:spcPct val="100000"/>
              </a:lnSpc>
            </a:pPr>
            <a:r>
              <a:rPr sz="1700">
                <a:solidFill>
                  <a:srgbClr val="4F5D6A"/>
                </a:solidFill>
                <a:latin typeface="Consolas"/>
              </a:rPr>
              <a:t>233</a:t>
            </a:r>
          </a:p>
          <a:p>
            <a:pPr algn="r">
              <a:lnSpc>
                <a:spcPct val="100000"/>
              </a:lnSpc>
            </a:pPr>
            <a:r>
              <a:rPr sz="1700">
                <a:solidFill>
                  <a:srgbClr val="4F5D6A"/>
                </a:solidFill>
                <a:latin typeface="Consolas"/>
              </a:rPr>
              <a:t>234</a:t>
            </a:r>
          </a:p>
          <a:p>
            <a:pPr algn="r">
              <a:lnSpc>
                <a:spcPct val="100000"/>
              </a:lnSpc>
            </a:pPr>
            <a:r>
              <a:rPr sz="1700">
                <a:solidFill>
                  <a:srgbClr val="4F5D6A"/>
                </a:solidFill>
                <a:latin typeface="Consolas"/>
              </a:rPr>
              <a:t>235</a:t>
            </a:r>
          </a:p>
          <a:p>
            <a:pPr algn="r">
              <a:lnSpc>
                <a:spcPct val="100000"/>
              </a:lnSpc>
            </a:pPr>
            <a:r>
              <a:rPr sz="1700">
                <a:solidFill>
                  <a:srgbClr val="4F5D6A"/>
                </a:solidFill>
                <a:latin typeface="Consolas"/>
              </a:rPr>
              <a:t>236</a:t>
            </a:r>
          </a:p>
          <a:p>
            <a:pPr algn="r">
              <a:lnSpc>
                <a:spcPct val="100000"/>
              </a:lnSpc>
            </a:pPr>
            <a:r>
              <a:rPr sz="1700">
                <a:solidFill>
                  <a:srgbClr val="4F5D6A"/>
                </a:solidFill>
                <a:latin typeface="Consolas"/>
              </a:rPr>
              <a:t>237</a:t>
            </a:r>
          </a:p>
          <a:p>
            <a:pPr algn="r">
              <a:lnSpc>
                <a:spcPct val="100000"/>
              </a:lnSpc>
            </a:pPr>
            <a:r>
              <a:rPr sz="1700">
                <a:solidFill>
                  <a:srgbClr val="4F5D6A"/>
                </a:solidFill>
                <a:latin typeface="Consolas"/>
              </a:rPr>
              <a:t>238</a:t>
            </a:r>
          </a:p>
          <a:p>
            <a:pPr algn="r">
              <a:lnSpc>
                <a:spcPct val="100000"/>
              </a:lnSpc>
            </a:pPr>
            <a:r>
              <a:rPr sz="1700">
                <a:solidFill>
                  <a:srgbClr val="4F5D6A"/>
                </a:solidFill>
                <a:latin typeface="Consolas"/>
              </a:rPr>
              <a:t>239</a:t>
            </a:r>
          </a:p>
          <a:p>
            <a:pPr algn="r">
              <a:lnSpc>
                <a:spcPct val="100000"/>
              </a:lnSpc>
            </a:pPr>
            <a:r>
              <a:rPr sz="1700">
                <a:solidFill>
                  <a:srgbClr val="4F5D6A"/>
                </a:solidFill>
                <a:latin typeface="Consolas"/>
              </a:rPr>
              <a:t>240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§7.7  ·  Handout p. 72     </a:t>
            </a:r>
            <a:fld id="{4149A7BA-5104-4FE1-83EC-98C6CB34B784}" type="slidenum">
              <a:rPr lang="en-GB" sz="1000">
                <a:solidFill>
                  <a:srgbClr val="8795A1"/>
                </a:solidFill>
                <a:latin typeface="Segoe UI"/>
              </a:rPr>
              <a:t>36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Two experiments afterwards. Raise </a:t>
            </a:r>
            <a:r>
              <a:rPr sz="2150" b="0" i="0">
                <a:solidFill>
                  <a:srgbClr val="1F4E79"/>
                </a:solidFill>
                <a:latin typeface="Consolas"/>
              </a:rPr>
              <a:t>CAP</a:t>
            </a:r>
            <a:r>
              <a:rPr sz="2300" b="0" i="0">
                <a:solidFill>
                  <a:srgbClr val="1C252B"/>
                </a:solidFill>
                <a:latin typeface="Segoe UI"/>
              </a:rPr>
              <a:t> to </a:t>
            </a:r>
            <a:r>
              <a:rPr sz="2300" b="0" i="0">
                <a:solidFill>
                  <a:srgbClr val="1C252B"/>
                </a:solidFill>
                <a:latin typeface="Cambria"/>
              </a:rPr>
              <a:t>13</a:t>
            </a:r>
            <a:r>
              <a:rPr sz="2300" b="0" i="0">
                <a:solidFill>
                  <a:srgbClr val="1C252B"/>
                </a:solidFill>
                <a:latin typeface="Segoe UI"/>
              </a:rPr>
              <a:t> and count the solutions again — the problem stops being interesting, which is what “the binding constraint” means. Then lower it to </a:t>
            </a:r>
            <a:r>
              <a:rPr sz="2300" b="0" i="0">
                <a:solidFill>
                  <a:srgbClr val="1C252B"/>
                </a:solidFill>
                <a:latin typeface="Cambria"/>
              </a:rPr>
              <a:t>11</a:t>
            </a:r>
            <a:r>
              <a:rPr sz="2300" b="0" i="0">
                <a:solidFill>
                  <a:srgbClr val="1C252B"/>
                </a:solidFill>
                <a:latin typeface="Segoe UI"/>
              </a:rPr>
              <a:t> and confirm that the search reports failure after exploring the whole space; that is the over-constrained case of the last section, and it is the one a delivery manager will actually bring you.</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Adding MRV to plain backtracking on this problem changed the number of consistency checks by exactly zero. Explain why, and state the one change that makes MRV worth having.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7  ·  Constraint Satisfaction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78  ·  answers in Appendix D     </a:t>
            </a:r>
            <a:fld id="{05DE5E34-A5CF-414F-A713-3164A748366D}"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Adding MRV to plain backtracking on this problem changed the number of consistency checks by exactly zero. Explain why, and state the one change that makes MRV worth having.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nothing in plain backtracking ever shrinks a domain. Every unassigned variable still has all four sprints available, so they all tie on the minimum-remaining-values count and the heuristic falls back on the first variable in the list — which is exactly what plain backtracking was already doing. The change that makes MRV worth having is </a:t>
            </a:r>
            <a:r>
              <a:rPr sz="2200" b="0" i="1">
                <a:solidFill>
                  <a:srgbClr val="1C252B"/>
                </a:solidFill>
                <a:latin typeface="Segoe UI"/>
              </a:rPr>
              <a:t>propagation</a:t>
            </a:r>
            <a:r>
              <a:rPr sz="2200" b="0" i="0">
                <a:solidFill>
                  <a:srgbClr val="1C252B"/>
                </a:solidFill>
                <a:latin typeface="Segoe UI"/>
              </a:rPr>
              <a:t>: forward checking removes values from neighbours after each assignment, and from that moment the domains have different sizes and MRV has something to compare. Measured: </a:t>
            </a:r>
            <a:r>
              <a:rPr sz="2200" b="0" i="0">
                <a:solidFill>
                  <a:srgbClr val="1C252B"/>
                </a:solidFill>
                <a:latin typeface="Cambria"/>
              </a:rPr>
              <a:t>3,784</a:t>
            </a:r>
            <a:r>
              <a:rPr sz="2200" b="0" i="0">
                <a:solidFill>
                  <a:srgbClr val="1C252B"/>
                </a:solidFill>
                <a:latin typeface="Segoe UI"/>
              </a:rPr>
              <a:t> checks with MRV alone, </a:t>
            </a:r>
            <a:r>
              <a:rPr sz="2200" b="0" i="0">
                <a:solidFill>
                  <a:srgbClr val="1C252B"/>
                </a:solidFill>
                <a:latin typeface="Cambria"/>
              </a:rPr>
              <a:t>415</a:t>
            </a:r>
            <a:r>
              <a:rPr sz="2200" b="0" i="0">
                <a:solidFill>
                  <a:srgbClr val="1C252B"/>
                </a:solidFill>
                <a:latin typeface="Segoe UI"/>
              </a:rPr>
              <a:t> with MRV and forward checking together.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  answers in Appendix D     </a:t>
            </a:r>
            <a:fld id="{7DC387E2-C39F-4A51-93B3-A0EDD4BF49CF}"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AC-3 narrowed every domain in the problem and removed no search nodes at all. Explain how both of those can be true at once.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7  ·  Constraint Satisfaction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78  ·  answers in Appendix D     </a:t>
            </a:r>
            <a:fld id="{EE32A16E-6EA4-4DEF-830D-1384F06F8931}"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AC-3 narrowed every domain in the problem and removed no search nodes at all. Explain how both of those can be true at once.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Both are true because AC-3 works only on </a:t>
            </a:r>
            <a:r>
              <a:rPr sz="2200" b="0" i="1">
                <a:solidFill>
                  <a:srgbClr val="1C252B"/>
                </a:solidFill>
                <a:latin typeface="Segoe UI"/>
              </a:rPr>
              <a:t>binary</a:t>
            </a:r>
            <a:r>
              <a:rPr sz="2200" b="0" i="0">
                <a:solidFill>
                  <a:srgbClr val="1C252B"/>
                </a:solidFill>
                <a:latin typeface="Segoe UI"/>
              </a:rPr>
              <a:t> constraints. The precedence and same-developer constraints are binary, and AC-3 prunes them thoroughly — every one of the twelve domains loses at least one sprint. But the constraint that actually binds this problem is capacity: </a:t>
            </a:r>
            <a:r>
              <a:rPr sz="2200" b="0" i="0">
                <a:solidFill>
                  <a:srgbClr val="1C252B"/>
                </a:solidFill>
                <a:latin typeface="Cambria"/>
              </a:rPr>
              <a:t>45</a:t>
            </a:r>
            <a:r>
              <a:rPr sz="2200" b="0" i="0">
                <a:solidFill>
                  <a:srgbClr val="1C252B"/>
                </a:solidFill>
                <a:latin typeface="Segoe UI"/>
              </a:rPr>
              <a:t> points into </a:t>
            </a:r>
            <a:r>
              <a:rPr sz="2200" b="0" i="0">
                <a:solidFill>
                  <a:srgbClr val="1C252B"/>
                </a:solidFill>
                <a:latin typeface="Cambria"/>
              </a:rPr>
              <a:t>48</a:t>
            </a:r>
            <a:r>
              <a:rPr sz="2200" b="0" i="0">
                <a:solidFill>
                  <a:srgbClr val="1C252B"/>
                </a:solidFill>
                <a:latin typeface="Segoe UI"/>
              </a:rPr>
              <a:t>, an </a:t>
            </a:r>
            <a:r>
              <a:rPr sz="2200" b="0" i="1">
                <a:solidFill>
                  <a:srgbClr val="1C252B"/>
                </a:solidFill>
                <a:latin typeface="Cambria"/>
              </a:rPr>
              <a:t>n</a:t>
            </a:r>
            <a:r>
              <a:rPr sz="2200" b="0" i="0">
                <a:solidFill>
                  <a:srgbClr val="1C252B"/>
                </a:solidFill>
                <a:latin typeface="Segoe UI"/>
              </a:rPr>
              <a:t>-ary constraint over all twelve variables at once, which no arc can express and AC-3 never examines. So the preprocessing removes values that the search was not going to waste much time on anyway, at a cost of </a:t>
            </a:r>
            <a:r>
              <a:rPr sz="2200" b="0" i="0">
                <a:solidFill>
                  <a:srgbClr val="1C252B"/>
                </a:solidFill>
                <a:latin typeface="Cambria"/>
              </a:rPr>
              <a:t>224</a:t>
            </a:r>
            <a:r>
              <a:rPr sz="2200" b="0" i="0">
                <a:solidFill>
                  <a:srgbClr val="1C252B"/>
                </a:solidFill>
                <a:latin typeface="Segoe UI"/>
              </a:rPr>
              <a:t> extra consistency checks and a saving of zero nodes.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  answers in Appendix D     </a:t>
            </a:r>
            <a:fld id="{5C73352F-5FA3-4A61-B88B-BA5A0C224BDC}"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delivery manager reports that the backlog does not fit and asks what to do. Your solver returns “no solution”. Describe two ways to turn that into a useful answer, and say which constraint you would expect to be binding here.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7  ·  Constraint Satisfaction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78  ·  answers in Appendix D     </a:t>
            </a:r>
            <a:fld id="{2D9FB1EB-C4D2-4714-A78A-5016C31A7A9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55217"/>
          </a:xfrm>
        </p:spPr>
        <p:txBody>
          <a:bodyPr wrap="square" lIns="0" rIns="0" tIns="0" bIns="0" anchor="t">
            <a:noAutofit/>
          </a:bodyPr>
          <a:lstStyle/>
          <a:p>
            <a:pPr algn="l">
              <a:lnSpc>
                <a:spcPct val="96000"/>
              </a:lnSpc>
            </a:pPr>
            <a:r>
              <a:rPr sz="2300" b="0" i="0">
                <a:solidFill>
                  <a:srgbClr val="1A5276"/>
                </a:solidFill>
                <a:latin typeface="Segoe UI Semibold"/>
              </a:rPr>
              <a:t>A delivery manager reports that the backlog does not fit and asks what to do. Your solver returns “no solution”. Describe two ways to turn that into a useful answer, and say which constraint you would expect to be binding here.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070201"/>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070201"/>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Either: instrument the propagation to record which constraint emptied a domain most often, and report that one; or re-run the solver with each constraint (or constraint class) relaxed in turn and report which relaxations make the problem solvable. Here you would expect </a:t>
            </a:r>
            <a:r>
              <a:rPr sz="2200" b="0" i="1">
                <a:solidFill>
                  <a:srgbClr val="1C252B"/>
                </a:solidFill>
                <a:latin typeface="Segoe UI"/>
              </a:rPr>
              <a:t>capacity</a:t>
            </a:r>
            <a:r>
              <a:rPr sz="2200" b="0" i="0">
                <a:solidFill>
                  <a:srgbClr val="1C252B"/>
                </a:solidFill>
                <a:latin typeface="Segoe UI"/>
              </a:rPr>
              <a:t> to bind, and the lab confirms it — raising the cap from </a:t>
            </a:r>
            <a:r>
              <a:rPr sz="2200" b="0" i="0">
                <a:solidFill>
                  <a:srgbClr val="1C252B"/>
                </a:solidFill>
                <a:latin typeface="Cambria"/>
              </a:rPr>
              <a:t>12</a:t>
            </a:r>
            <a:r>
              <a:rPr sz="2200" b="0" i="0">
                <a:solidFill>
                  <a:srgbClr val="1C252B"/>
                </a:solidFill>
                <a:latin typeface="Segoe UI"/>
              </a:rPr>
              <a:t> to </a:t>
            </a:r>
            <a:r>
              <a:rPr sz="2200" b="0" i="0">
                <a:solidFill>
                  <a:srgbClr val="1C252B"/>
                </a:solidFill>
                <a:latin typeface="Cambria"/>
              </a:rPr>
              <a:t>13</a:t>
            </a:r>
            <a:r>
              <a:rPr sz="2200" b="0" i="0">
                <a:solidFill>
                  <a:srgbClr val="1C252B"/>
                </a:solidFill>
                <a:latin typeface="Segoe UI"/>
              </a:rPr>
              <a:t> takes the solution count from </a:t>
            </a:r>
            <a:r>
              <a:rPr sz="2200" b="0" i="0">
                <a:solidFill>
                  <a:srgbClr val="1C252B"/>
                </a:solidFill>
                <a:latin typeface="Cambria"/>
              </a:rPr>
              <a:t>14</a:t>
            </a:r>
            <a:r>
              <a:rPr sz="2200" b="0" i="0">
                <a:solidFill>
                  <a:srgbClr val="1C252B"/>
                </a:solidFill>
                <a:latin typeface="Segoe UI"/>
              </a:rPr>
              <a:t> into the hundreds, while the precedence constraints have plenty of slack.</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  answers in Appendix D     </a:t>
            </a:r>
            <a:fld id="{2EDE578D-D457-422C-9018-1B8A9E31F4AF}"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A1FEAAFD-C5A1-40CB-825C-49F7FA78C9FC}"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CSP</a:t>
            </a:r>
            <a:r>
              <a:rPr sz="1700" b="0" i="0">
                <a:solidFill>
                  <a:srgbClr val="1C252B"/>
                </a:solidFill>
                <a:latin typeface="Segoe UI"/>
              </a:rPr>
              <a:t> is variables, domains and constraints. Its advantage over a general search is that the goal test is not opaque: constraints can be checked against a </a:t>
            </a:r>
            <a:r>
              <a:rPr sz="1700" b="0" i="1">
                <a:solidFill>
                  <a:srgbClr val="1C252B"/>
                </a:solidFill>
                <a:latin typeface="Segoe UI"/>
              </a:rPr>
              <a:t>partial</a:t>
            </a:r>
            <a:r>
              <a:rPr sz="1700" b="0" i="0">
                <a:solidFill>
                  <a:srgbClr val="1C252B"/>
                </a:solidFill>
                <a:latin typeface="Segoe UI"/>
              </a:rPr>
              <a:t> assignment, so the search fails early. That alone turned </a:t>
            </a:r>
            <a:r>
              <a:rPr sz="1700" b="0" i="0">
                <a:solidFill>
                  <a:srgbClr val="1C252B"/>
                </a:solidFill>
                <a:latin typeface="Cambria"/>
              </a:rPr>
              <a:t>16.8</a:t>
            </a:r>
            <a:r>
              <a:rPr sz="1700" b="0" i="0">
                <a:solidFill>
                  <a:srgbClr val="1C252B"/>
                </a:solidFill>
                <a:latin typeface="Segoe UI"/>
              </a:rPr>
              <a:t> million assignments into </a:t>
            </a:r>
            <a:r>
              <a:rPr sz="1700" b="0" i="0">
                <a:solidFill>
                  <a:srgbClr val="1C252B"/>
                </a:solidFill>
                <a:latin typeface="Cambria"/>
              </a:rPr>
              <a:t>123</a:t>
            </a:r>
            <a:r>
              <a:rPr sz="1700" b="0" i="0">
                <a:solidFill>
                  <a:srgbClr val="1C252B"/>
                </a:solidFill>
                <a:latin typeface="Segoe UI"/>
              </a:rPr>
              <a:t> nodes.</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Backtracking search</a:t>
            </a:r>
            <a:r>
              <a:rPr sz="1700" b="0" i="0">
                <a:solidFill>
                  <a:srgbClr val="1C252B"/>
                </a:solidFill>
                <a:latin typeface="Segoe UI"/>
              </a:rPr>
              <a:t> assigns one variable at a time and undoes the last choice on failure.</a:t>
            </a:r>
          </a:p>
        </p:txBody>
      </p:sp>
      <p:sp>
        <p:nvSpPr>
          <p:cNvPr id="13" name="!!sb2">
            <a:extLst>
              <a:ext uri="{C183D7F6-B498-43B3-948B-1728B52AA6E4}">
                <adec:decorative xmlns:adec="http://schemas.microsoft.com/office/drawing/2017/decorative" val="1"/>
              </a:ext>
            </a:extLst>
          </p:cNvPr>
          <p:cNvSpPr/>
          <p:nvPr/>
        </p:nvSpPr>
        <p:spPr>
          <a:xfrm>
            <a:off x="658368" y="332292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779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1378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MRV</a:t>
            </a:r>
            <a:r>
              <a:rPr sz="1700" b="0" i="0">
                <a:solidFill>
                  <a:srgbClr val="1C252B"/>
                </a:solidFill>
                <a:latin typeface="Segoe UI"/>
              </a:rPr>
              <a:t> assigns the most constrained variable next — fail first. The </a:t>
            </a:r>
            <a:r>
              <a:rPr sz="1700" b="1" i="0">
                <a:solidFill>
                  <a:srgbClr val="1A5276"/>
                </a:solidFill>
                <a:latin typeface="Segoe UI"/>
              </a:rPr>
              <a:t>degree heuristic</a:t>
            </a:r>
            <a:r>
              <a:rPr sz="1700" b="0" i="0">
                <a:solidFill>
                  <a:srgbClr val="1C252B"/>
                </a:solidFill>
                <a:latin typeface="Segoe UI"/>
              </a:rPr>
              <a:t> breaks ties; </a:t>
            </a:r>
            <a:r>
              <a:rPr sz="1700" b="1" i="0">
                <a:solidFill>
                  <a:srgbClr val="1A5276"/>
                </a:solidFill>
                <a:latin typeface="Segoe UI"/>
              </a:rPr>
              <a:t>least constraining value</a:t>
            </a:r>
            <a:r>
              <a:rPr sz="1700" b="0" i="0">
                <a:solidFill>
                  <a:srgbClr val="1C252B"/>
                </a:solidFill>
                <a:latin typeface="Segoe UI"/>
              </a:rPr>
              <a:t> orders values the other way, and both are right.</a:t>
            </a:r>
          </a:p>
        </p:txBody>
      </p:sp>
      <p:sp>
        <p:nvSpPr>
          <p:cNvPr id="16" name="!!sb3">
            <a:extLst>
              <a:ext uri="{C183D7F6-B498-43B3-948B-1728B52AA6E4}">
                <adec:decorative xmlns:adec="http://schemas.microsoft.com/office/drawing/2017/decorative" val="1"/>
              </a:ext>
            </a:extLst>
          </p:cNvPr>
          <p:cNvSpPr/>
          <p:nvPr/>
        </p:nvSpPr>
        <p:spPr>
          <a:xfrm>
            <a:off x="658368" y="404469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995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3555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Forward checking</a:t>
            </a:r>
            <a:r>
              <a:rPr sz="1700" b="0" i="0">
                <a:solidFill>
                  <a:srgbClr val="1C252B"/>
                </a:solidFill>
                <a:latin typeface="Segoe UI"/>
              </a:rPr>
              <a:t> prunes neighbours’ domains after each assignment. It cut the work ninefold here — half by pruning, half by giving MRV something to measure. </a:t>
            </a:r>
            <a:r>
              <a:rPr sz="1700" b="0" i="1">
                <a:solidFill>
                  <a:srgbClr val="1C252B"/>
                </a:solidFill>
                <a:latin typeface="Segoe UI"/>
              </a:rPr>
              <a:t>Ordering and propagation are a package.</a:t>
            </a:r>
          </a:p>
        </p:txBody>
      </p:sp>
      <p:sp>
        <p:nvSpPr>
          <p:cNvPr id="19" name="!!sb4">
            <a:extLst>
              <a:ext uri="{C183D7F6-B498-43B3-948B-1728B52AA6E4}">
                <adec:decorative xmlns:adec="http://schemas.microsoft.com/office/drawing/2017/decorative" val="1"/>
              </a:ext>
            </a:extLst>
          </p:cNvPr>
          <p:cNvSpPr/>
          <p:nvPr/>
        </p:nvSpPr>
        <p:spPr>
          <a:xfrm>
            <a:off x="658368" y="476646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2132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731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Arc consistency</a:t>
            </a:r>
            <a:r>
              <a:rPr sz="1700" b="0" i="0">
                <a:solidFill>
                  <a:srgbClr val="1C252B"/>
                </a:solidFill>
                <a:latin typeface="Segoe UI"/>
              </a:rPr>
              <a:t> (AC-3) propagates further, over binary constraints only. On this problem it narrowed all twelve domains and removed no nodes, because the binding constraint is </a:t>
            </a:r>
            <a:r>
              <a:rPr sz="1700" b="0" i="1">
                <a:solidFill>
                  <a:srgbClr val="1C252B"/>
                </a:solidFill>
                <a:latin typeface="Cambria"/>
              </a:rPr>
              <a:t>n</a:t>
            </a:r>
            <a:r>
              <a:rPr sz="1700" b="0" i="0">
                <a:solidFill>
                  <a:srgbClr val="1C252B"/>
                </a:solidFill>
                <a:latin typeface="Segoe UI"/>
              </a:rPr>
              <a:t>-ary and invisible to it.</a:t>
            </a:r>
          </a:p>
        </p:txBody>
      </p:sp>
      <p:sp>
        <p:nvSpPr>
          <p:cNvPr id="22" name="!!sb5">
            <a:extLst>
              <a:ext uri="{C183D7F6-B498-43B3-948B-1728B52AA6E4}">
                <adec:decorative xmlns:adec="http://schemas.microsoft.com/office/drawing/2017/decorative" val="1"/>
              </a:ext>
            </a:extLst>
          </p:cNvPr>
          <p:cNvSpPr/>
          <p:nvPr/>
        </p:nvSpPr>
        <p:spPr>
          <a:xfrm>
            <a:off x="658368" y="54882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430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79084"/>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heuristic is a guess about a particular problem, not a general improvement: the degree tie-breaker tripled the node count. Measure on your instance, counting consistency checks rather than nodes.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4848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BB7123A4-2AC3-4BD9-ADCF-A9DC844242E4}" type="slidenum">
              <a:rPr lang="en-GB" sz="1000">
                <a:solidFill>
                  <a:srgbClr val="8795A1"/>
                </a:solidFill>
                <a:latin typeface="Segoe UI"/>
              </a:rPr>
              <a:t>44</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For an over-constrained problem, report which constraint binds. “No solution” is true and useless.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0B1AAB6F-8DB8-42DB-8A85-4AF613BC79AB}"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minimum-remaining-values heuristic chooses: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value ruling out fewest options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variable with the fewest legal values left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variable in the most constraints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cheapest variable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29FDBD48-7319-4934-8D6B-9A98C07C3A54}"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Forward checking prunes: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variables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neighbours of the variable just assigned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the variable just assigned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nothing until a domain empties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BA1AB32D-557C-4B2E-9FEF-608F1C23F16A}"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AC-3 operates 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n</a:t>
            </a:r>
            <a:r>
              <a:rPr sz="2000" b="0" i="0">
                <a:solidFill>
                  <a:srgbClr val="1C252B"/>
                </a:solidFill>
                <a:latin typeface="Segoe UI"/>
              </a:rPr>
              <a:t>-ary constraints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binary constraints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objective function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search tree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3FB6F3A6-8CAF-4F04-B93B-E979107A32E3}"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arc </a:t>
            </a:r>
            <a:r>
              <a:rPr sz="2600" b="0" i="1">
                <a:solidFill>
                  <a:srgbClr val="1C252B"/>
                </a:solidFill>
                <a:latin typeface="Cambria"/>
              </a:rPr>
              <a:t>X</a:t>
            </a:r>
            <a:r>
              <a:rPr sz="1700" b="0" i="1" baseline="-25000">
                <a:solidFill>
                  <a:srgbClr val="1C252B"/>
                </a:solidFill>
                <a:latin typeface="Cambria"/>
              </a:rPr>
              <a:t>i</a:t>
            </a:r>
            <a:r>
              <a:rPr sz="2600" b="0" i="0">
                <a:solidFill>
                  <a:srgbClr val="1C252B"/>
                </a:solidFill>
                <a:latin typeface="Cambria"/>
              </a:rPr>
              <a:t> → </a:t>
            </a:r>
            <a:r>
              <a:rPr sz="2600" b="0" i="1">
                <a:solidFill>
                  <a:srgbClr val="1C252B"/>
                </a:solidFill>
                <a:latin typeface="Cambria"/>
              </a:rPr>
              <a:t>X</a:t>
            </a:r>
            <a:r>
              <a:rPr sz="1700" b="0" i="1" baseline="-25000">
                <a:solidFill>
                  <a:srgbClr val="1C252B"/>
                </a:solidFill>
                <a:latin typeface="Cambria"/>
              </a:rPr>
              <a:t>j</a:t>
            </a:r>
            <a:r>
              <a:rPr sz="2600" b="0" i="0">
                <a:solidFill>
                  <a:srgbClr val="1C252B"/>
                </a:solidFill>
                <a:latin typeface="Segoe UI"/>
              </a:rPr>
              <a:t> is consistent when: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every value of </a:t>
            </a:r>
            <a:r>
              <a:rPr sz="2000" b="0" i="1">
                <a:solidFill>
                  <a:srgbClr val="1C252B"/>
                </a:solidFill>
                <a:latin typeface="Cambria"/>
              </a:rPr>
              <a:t>X</a:t>
            </a:r>
            <a:r>
              <a:rPr sz="1300" b="0" i="1" baseline="-25000">
                <a:solidFill>
                  <a:srgbClr val="1C252B"/>
                </a:solidFill>
                <a:latin typeface="Cambria"/>
              </a:rPr>
              <a:t>i</a:t>
            </a:r>
            <a:r>
              <a:rPr sz="2000" b="0" i="0">
                <a:solidFill>
                  <a:srgbClr val="1C252B"/>
                </a:solidFill>
                <a:latin typeface="Segoe UI"/>
              </a:rPr>
              <a:t> has some consistent partner in </a:t>
            </a:r>
            <a:r>
              <a:rPr sz="2000" b="0" i="1">
                <a:solidFill>
                  <a:srgbClr val="1C252B"/>
                </a:solidFill>
                <a:latin typeface="Cambria"/>
              </a:rPr>
              <a:t>X</a:t>
            </a:r>
            <a:r>
              <a:rPr sz="1300" b="0" i="1" baseline="-25000">
                <a:solidFill>
                  <a:srgbClr val="1C252B"/>
                </a:solidFill>
                <a:latin typeface="Cambria"/>
              </a:rPr>
              <a:t>j</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some value of </a:t>
            </a:r>
            <a:r>
              <a:rPr sz="2000" b="0" i="1">
                <a:solidFill>
                  <a:srgbClr val="1C252B"/>
                </a:solidFill>
                <a:latin typeface="Cambria"/>
              </a:rPr>
              <a:t>X</a:t>
            </a:r>
            <a:r>
              <a:rPr sz="1300" b="0" i="1" baseline="-25000">
                <a:solidFill>
                  <a:srgbClr val="1C252B"/>
                </a:solidFill>
                <a:latin typeface="Cambria"/>
              </a:rPr>
              <a:t>i</a:t>
            </a:r>
            <a:r>
              <a:rPr sz="2000" b="0" i="0">
                <a:solidFill>
                  <a:srgbClr val="1C252B"/>
                </a:solidFill>
                <a:latin typeface="Segoe UI"/>
              </a:rPr>
              <a:t> has a partner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D</a:t>
            </a:r>
            <a:r>
              <a:rPr sz="1300" b="0" i="1" baseline="-25000">
                <a:solidFill>
                  <a:srgbClr val="1C252B"/>
                </a:solidFill>
                <a:latin typeface="Cambria"/>
              </a:rPr>
              <a:t>i</a:t>
            </a:r>
            <a:r>
              <a:rPr sz="2000" b="0" i="0">
                <a:solidFill>
                  <a:srgbClr val="1C252B"/>
                </a:solidFill>
                <a:latin typeface="Cambria"/>
              </a:rPr>
              <a:t> = </a:t>
            </a:r>
            <a:r>
              <a:rPr sz="2000" b="0" i="1">
                <a:solidFill>
                  <a:srgbClr val="1C252B"/>
                </a:solidFill>
                <a:latin typeface="Cambria"/>
              </a:rPr>
              <a:t>D</a:t>
            </a:r>
            <a:r>
              <a:rPr sz="1300" b="0" i="1" baseline="-25000">
                <a:solidFill>
                  <a:srgbClr val="1C252B"/>
                </a:solidFill>
                <a:latin typeface="Cambria"/>
              </a:rPr>
              <a:t>j</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X</a:t>
            </a:r>
            <a:r>
              <a:rPr sz="1300" b="0" i="1" baseline="-25000">
                <a:solidFill>
                  <a:srgbClr val="1C252B"/>
                </a:solidFill>
                <a:latin typeface="Cambria"/>
              </a:rPr>
              <a:t>i</a:t>
            </a:r>
            <a:r>
              <a:rPr sz="2000" b="0" i="0">
                <a:solidFill>
                  <a:srgbClr val="1C252B"/>
                </a:solidFill>
                <a:latin typeface="Segoe UI"/>
              </a:rPr>
              <a:t> is assigned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7  ·  Constraint Satisfaction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78     </a:t>
            </a:r>
            <a:fld id="{2E02F631-DA54-4FFB-B613-EA368AC32B6B}"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MRV need propagation to be useful? Use the measured result from this chapter in your answer.</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MRV picks the most constrained variable while least-constraining-value picks the least constraining value, and why that is not a contradiction.</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an </a:t>
            </a:r>
            <a:r>
              <a:rPr sz="1900" b="0" i="1">
                <a:solidFill>
                  <a:srgbClr val="1C252B"/>
                </a:solidFill>
                <a:latin typeface="Cambria"/>
              </a:rPr>
              <a:t>n</a:t>
            </a:r>
            <a:r>
              <a:rPr sz="1900" b="0" i="0">
                <a:solidFill>
                  <a:srgbClr val="1C252B"/>
                </a:solidFill>
                <a:latin typeface="Segoe UI"/>
              </a:rPr>
              <a:t>-ary constraint from a project you know, and say what goes wrong if you expect arc consistency to enforce it.</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the constraint graph of Figure 7.1. By hand, assign </a:t>
            </a:r>
            <a:r>
              <a:rPr sz="1900" b="0" i="1">
                <a:solidFill>
                  <a:srgbClr val="1C252B"/>
                </a:solidFill>
                <a:latin typeface="Cambria"/>
              </a:rPr>
              <a:t>S</a:t>
            </a:r>
            <a:r>
              <a:rPr sz="1900" b="0" i="0">
                <a:solidFill>
                  <a:srgbClr val="1C252B"/>
                </a:solidFill>
                <a:latin typeface="Cambria"/>
              </a:rPr>
              <a:t>10 := 3</a:t>
            </a:r>
            <a:r>
              <a:rPr sz="1900" b="0" i="0">
                <a:solidFill>
                  <a:srgbClr val="1C252B"/>
                </a:solidFill>
                <a:latin typeface="Segoe UI"/>
              </a:rPr>
              <a:t> and apply forward checking. Which domains change, and to what? Then say which variable MRV would select next, and whether the degree heuristic would be consulted.</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8 — Adversarial Search and Game Playing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7, pages 68–78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Sprint scheduling as a CSP</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due; Quiz 2 (Ch 4–6)</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7  ·  Constraint Satisfaction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C51E6A5-CD88-4715-AACA-6015D02227B1}"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Constraint Satisfaction</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