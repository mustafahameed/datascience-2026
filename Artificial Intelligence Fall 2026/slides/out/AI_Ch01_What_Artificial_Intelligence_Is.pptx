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1.svg" ContentType="image/svg+xml"/>
  <Override PartName="/ppt/media/image33.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3.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1.svg" ContentType="image/svg+xml"/>
  <Override PartName="/ppt/media/image52.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8117843-C86F-4DED-997A-0645720CB0F1}">
          <p14:sldIdLst>
            <p14:sldId id="256"/>
            <p14:sldId id="257"/>
            <p14:sldId id="258"/>
            <p14:sldId id="259"/>
            <p14:sldId id="260"/>
          </p14:sldIdLst>
        </p14:section>
        <p14:section name="1.1 Two Programs in a Project Office" id="{2947BAE3-3A65-4134-BEA3-6B47410FE210}">
          <p14:sldIdLst>
            <p14:sldId id="261"/>
          </p14:sldIdLst>
        </p14:section>
        <p14:section name="1.2 Four Definitions, Two Axes" id="{2EEC561C-AF3A-405F-8EA1-2F8B66182309}">
          <p14:sldIdLst>
            <p14:sldId id="262"/>
            <p14:sldId id="263"/>
            <p14:sldId id="264"/>
          </p14:sldIdLst>
        </p14:section>
        <p14:section name="1.3 Is It AI? A Checklist" id="{872DBC13-7C59-467B-A760-222E60E3F977}">
          <p14:sldIdLst>
            <p14:sldId id="265"/>
            <p14:sldId id="266"/>
            <p14:sldId id="267"/>
          </p14:sldIdLst>
        </p14:section>
        <p14:section name="1.4 The Branches of AI" id="{9CA67B67-3A41-4525-B2C9-51B3CA78036E}">
          <p14:sldIdLst>
            <p14:sldId id="268"/>
          </p14:sldIdLst>
        </p14:section>
        <p14:section name="1.5 Sixty Years in Five Waves" id="{C159B296-1BBC-45B8-A1C1-DEB2B32FE7F1}">
          <p14:sldIdLst>
            <p14:sldId id="269"/>
            <p14:sldId id="270"/>
            <p14:sldId id="271"/>
            <p14:sldId id="272"/>
          </p14:sldIdLst>
        </p14:section>
        <p14:section name="1.6 What This Course Teaches, and What It Does Not" id="{22595663-510F-423B-AAED-927752DAA4B9}">
          <p14:sldIdLst>
            <p14:sldId id="273"/>
            <p14:sldId id="274"/>
            <p14:sldId id="275"/>
            <p14:sldId id="276"/>
          </p14:sldIdLst>
        </p14:section>
        <p14:section name="Pitfalls" id="{D7350713-7C01-4644-9365-2EE8DE8C152E}">
          <p14:sldIdLst>
            <p14:sldId id="277"/>
          </p14:sldIdLst>
        </p14:section>
        <p14:section name="Lab" id="{818E0A16-10B8-4C75-AD39-6649B96F16ED}">
          <p14:sldIdLst>
            <p14:sldId id="278"/>
            <p14:sldId id="279"/>
            <p14:sldId id="280"/>
            <p14:sldId id="281"/>
            <p14:sldId id="282"/>
            <p14:sldId id="283"/>
            <p14:sldId id="284"/>
          </p14:sldIdLst>
        </p14:section>
        <p14:section name="Checkpoint" id="{9CE44F39-ABA5-4CF1-9D06-F333E35C65E7}">
          <p14:sldIdLst>
            <p14:sldId id="285"/>
            <p14:sldId id="286"/>
            <p14:sldId id="287"/>
            <p14:sldId id="288"/>
            <p14:sldId id="289"/>
            <p14:sldId id="290"/>
          </p14:sldIdLst>
        </p14:section>
        <p14:section name="Wrap-up" id="{FB72142C-8A57-4D07-9AD8-B52847B78C91}">
          <p14:sldIdLst>
            <p14:sldId id="291"/>
            <p14:sldId id="292"/>
            <p14:sldId id="293"/>
            <p14:sldId id="294"/>
            <p14:sldId id="295"/>
            <p14:sldId id="296"/>
            <p14:sldId id="297"/>
            <p14:sldId id="29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 What Artificial Intelligence Is. Part 1 — Foundations of Intelligent Systems. Week 1: What AI is; intelligent agents and task environments. Handout pages 3–12.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Object Oriented Programming, the published prerequisite for this course: classes, objects, inheritance, collections and recursion. No mathematics beyond school algebra is assumed in this chapter. Appendix A is a reference for every Python construct the labs use.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artificial intelligence; agent; percept; action; rationality; the Turing test; symbolic AI; knowledge representation; search; heuristic; combinatorial explosion; weak and strong AI; narrow and general AI; AI winter; expert system.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software house runs its delivery work out of a project management office. Two programs run there every night. The first recalculates the Gantt chart. It is given the task list, each task’s duration and each task’s predecessors, and it computes the earliest start and latest finish of every task, the critical path, and the float on everything off it. It is a few hundred lines long, it is completely deterministic, and if it ever disagrees with a hand calculation the program is wrong. Nobody in the office calls it intelligent. The second decides which of tonight’s three hundred open tickets to escalate to the on-call engineer. It is given the tickets, the service level agreements, who is on shift, what each engineer has already been handed, and a history of which escalations turned out to have been worth making. There is no formula in the brief. Two reasonable people, given the same three hundred tickets, would escalate different ones and each could defend the choice. The program has to decide anyway, tonight, before midnight. That difference — not the difficulty of the arithmetic, not the size of the codebase, and not the fashionability of the technique — is what this book is about. The first program computes an answer that was already implied by its input. The second must work out what to do when its input does not determine the answer.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definition is deliberately modest. It says nothing about consciousness, nothing about brains, and nothing about whether the agent’s reasoning resembles ours. It asks only that the agent take in a situation and choose. Everything in this course is machinery for making that choice: search when the agent must look ahead (Chapters 4 to 6), constraint reasoning when the choice must satisfy rules at once (Chapter 7), game reasoning when another agent is choosing against you (Chapter 8), planning when the choice is a sequence (Chapter 9), logic when the agent must draw conclusions from what it has been told (Chapters 10 to 13), and probability when what it has been told is not certain (Chapters 14 to 16). The field has never had one definition. It has had four, and they differ along two axes: whether the goal is to replicate thought or to produce the right behaviour, and whether the standard of correctness is human performance or an ideal standard of rationality. Figure 1.1 sets them out.</a:t>
            </a:r>
          </a:p>
          <a:p/>
          <a:p>
            <a:r>
              <a:t>Figure 1.1 (handout p. 4): The four classical definitions of artificial intelligence, on the two axes of thought against behaviour and human performance against rational performance. This course works in the bottom-right quadrant throughout.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“Artificial intelligence” is now a procurement word. Vendors apply it to spreadsheet macros, and sceptics withhold it from systems that plainly reason. The HEC outline asks you to be able to identify AI systems, which means having a test you can apply to software you did not write. Here is one. Five questions; score each one and count.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program scoring zero is ordinary software, however valuable. A program scoring one or two is doing something interesting. Three or more, and the vocabulary of this course is the right vocabulary for talking about it. Two warnings about the test. First, it is not a quality measure: a badly built system can score five, and the Gantt recalculator that scores zero is the most useful program in the office. Second, question 4 is neither necessary nor sufficient. Much of the most successful AI ever built — the chess programs of Chapter 8, the schedulers of Chapter 7, the diagnostic systems of Chapter 13 — scores zero on adaptation. Learning is one route to intelligent behaviour, not its definition. That is worth saying plainly at the start of a course that will spend fifteen weeks on the other routes.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field is conventionally divided as in Figure 1.2. The division is untidy, because the branches are not disjoint — planning uses search, natural language processing uses both logic and probability — but it is the division the HEC outline uses and the one job advertisements use.</a:t>
            </a:r>
          </a:p>
          <a:p/>
          <a:p>
            <a:r>
              <a:t>Figure 1.2 (handout p. 6): The branches of artificial intelligence, and which of them this course teaches. The five branches on the upper row are the body of the course; the lower row is covered by a signpost chapter or by another course entirely.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has a distinctive history: repeated cycles in which a genuine advance is over-promised, fails to generalise, and is followed by a collapse in funding severe enough to have earned its own name, an AI winter. Knowing the shape of the cycle is professionally useful, because it is happening again now and you will be asked to make judgements inside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Artificial intelligence, machine learning and data science are three courses in this degree, taught in that order, and students routinely confuse them because all three are described in job advertisements with the same six words. Figure 1.3 draws the boundary in a way that survives contact with a real question, and Appendix F states it chapter by chapter.</a:t>
            </a:r>
          </a:p>
          <a:p/>
          <a:p>
            <a:r>
              <a:t>Figure 1.3 (handout p. 8): Artificial intelligence, machine learning and data science, separated by what each is given and what each must work out. The distinction is not the technique; it is where the rules come from.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this course is symbolic. It teaches the agent that is told the rules and must reason with them. That is not a historical curiosity, for three reasons. It is where guarantees live — a constraint solver can prove no engineer is double-booked, and no learned model can (Chapter 7). It is where explanations live — a rule engine can print the chain that produced its answer, and that chain is what an auditor accepts (Chapter 13). And it is where you go when you have no data, which is the situation at the start of every new project. Chapter 17 is the one chapter about learning. It covers the three paradigms the HEC 2017 outline names, works the perceptron numerically, shows why a single perceptron cannot represent exclusive-or — the result that caused the first neural winter — and then stops and hands over. It is a signpost, not a unit.</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audit of the examplebox above, in code. Five tools from the project management office, five tests, one verdict each. Pure standard library: the point of this lab is the classification, not the computation.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Goal is passed on the description alone: “minimise total project delay” is an objective, not a procedure. Knowledge is arguably passed too — the task list with durations and dependencies is an explicit, inspectable representation that a delivery manager could correct without touching the algorithm. Search, adaptation and explanation cannot be judged without seeing the implementation: a program with this brief might enumerate alternatives or might compute one critical path directly, and the description does not say.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It is succeeding in acting humanly — the bottom-left quadrant, the Turing test standard, where indistinguishability from a person is the whole criterion. It is failing in acting rationally: with no representation of the service catalogue it cannot be relied on to give the right answer, and with no explanation its answers cannot be checked. It is also failing thinking rationally, since there is no inference to inspect. This is exactly the Eliza pattern of Chapter 19.</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Chapter 13 builds one. Such a system fails the adaptation test: its rules are elicited from experts by hand and it does not improve with experience. That is precisely the knowledge acquisition bottleneck which ended the expert-system boom — and note that it fails the one test this course does not teach, while passing the other four.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2 — Intelligent Agents and Task Environments. READ: Handout Chapter 1, pages 3–12. THIS WEEK'S LAB: Is it AI? a five-point audit; a reflex agent on a ticket queue.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0.xml"/><Relationship Id="rId8" Type="http://schemas.openxmlformats.org/officeDocument/2006/relationships/slide" Target="slide13.xml"/><Relationship Id="rId9" Type="http://schemas.openxmlformats.org/officeDocument/2006/relationships/slide" Target="slide14.xml"/><Relationship Id="rId10" Type="http://schemas.openxmlformats.org/officeDocument/2006/relationships/slide" Target="slide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7.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4.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8.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0.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1.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35.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36.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37.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38.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39.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40.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41.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5.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6.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7.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8.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9.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1.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2.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4.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5.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6.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7.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8.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16384"/>
                </a:solidFill>
                <a:latin typeface="Segoe UI Black"/>
              </a:rPr>
              <a:t>01</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What Artificial Intelligence Is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PART I  ·  FOUNDATIONS OF INTELLIGENT SYSTEMS</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CHAPTER 1  ·  WEEK 1</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DCE4"/>
                </a:solidFill>
                <a:latin typeface="Segoe UI"/>
              </a:rPr>
              <a:t>Artificial Intelligence — Search, Knowledge and Reasoning</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3B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B5BE"/>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C8CF"/>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B5BE"/>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     </a:t>
            </a:r>
            <a:fld id="{1B46A393-BB3F-4A03-A43E-61BA0938F011}" type="slidenum">
              <a:rPr lang="en-GB" sz="1000">
                <a:solidFill>
                  <a:srgbClr val="8795A1"/>
                </a:solidFill>
                <a:latin typeface="Segoe UI"/>
              </a:rPr>
              <a:t>2</a:t>
            </a:fld>
          </a:p>
        </p:txBody>
      </p:sp>
      <p:sp>
        <p:nvSpPr>
          <p:cNvPr id="7" name="!!rp1"/>
          <p:cNvSpPr txBox="1"/>
          <p:nvPr/>
        </p:nvSpPr>
        <p:spPr>
          <a:xfrm>
            <a:off x="932688" y="1755648"/>
            <a:ext cx="132916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A5276"/>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932688" y="2029967"/>
            <a:ext cx="1329163" cy="4572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591035"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591035"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093935"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093935"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5596834"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5596834"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7509260"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7509260"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012160" y="1755648"/>
            <a:ext cx="240229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012160" y="2029967"/>
            <a:ext cx="240229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26555" y="2112264"/>
            <a:ext cx="566928" cy="566928"/>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826555"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21" name="!!dot2">
            <a:extLst>
              <a:ext uri="{C183D7F6-B498-43B3-948B-1728B52AA6E4}">
                <adec:decorative xmlns:adec="http://schemas.microsoft.com/office/drawing/2017/decorative" val="1"/>
              </a:ext>
            </a:extLst>
          </p:cNvPr>
          <p:cNvSpPr/>
          <p:nvPr/>
        </p:nvSpPr>
        <p:spPr>
          <a:xfrm>
            <a:off x="1537833" y="2258568"/>
            <a:ext cx="274320" cy="274320"/>
          </a:xfrm>
          <a:prstGeom prst="ellipse">
            <a:avLst/>
          </a:prstGeom>
          <a:solidFill>
            <a:srgbClr val="FFFFFF"/>
          </a:solidFill>
          <a:ln w="15875">
            <a:solidFill>
              <a:srgbClr val="81A0B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4463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A4967"/>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947360" y="2258568"/>
            <a:ext cx="274320" cy="274320"/>
          </a:xfrm>
          <a:prstGeom prst="ellipse">
            <a:avLst/>
          </a:prstGeom>
          <a:solidFill>
            <a:srgbClr val="FFFFFF"/>
          </a:solidFill>
          <a:ln w="15875">
            <a:solidFill>
              <a:srgbClr val="81A0B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85592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A4967"/>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631206"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53976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3040733"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9492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450259"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35881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4134106"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404266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54363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45219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953159"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86171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637005"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54556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6046532"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95509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645605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3646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865585"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7741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54943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745799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958958"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8675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368484"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27704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9052331"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96089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946185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937041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87138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77994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10280910"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1018947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69043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5989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658368"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A5276"/>
                </a:solidFill>
                <a:latin typeface="Segoe UI"/>
              </a:rPr>
              <a:t>What Artificial Intelligence Is</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dep-none-BUILD"/>
          <p:cNvSpPr txBox="1"/>
          <p:nvPr/>
        </p:nvSpPr>
        <p:spPr>
          <a:xfrm>
            <a:off x="658368" y="3785616"/>
            <a:ext cx="520887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98A4AE"/>
                </a:solidFill>
                <a:latin typeface="Segoe UI"/>
              </a:rPr>
              <a:t>—  nothing earlier in the course</a:t>
            </a:r>
          </a:p>
        </p:txBody>
      </p:sp>
      <p:sp>
        <p:nvSpPr>
          <p:cNvPr id="66"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67" name="!!chipUS2">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US2">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US2"/>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Intelligent Agents and Task Environments</a:t>
            </a:r>
          </a:p>
        </p:txBody>
      </p:sp>
      <p:sp>
        <p:nvSpPr>
          <p:cNvPr id="70" name="!!chipUS4">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bUS4">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tUS4"/>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4  </a:t>
            </a:r>
            <a:r>
              <a:rPr sz="1400" b="0" i="0">
                <a:solidFill>
                  <a:srgbClr val="1C252B"/>
                </a:solidFill>
                <a:latin typeface="Segoe UI"/>
              </a:rPr>
              <a:t>Problem Formulation and Uninformed Search</a:t>
            </a:r>
          </a:p>
        </p:txBody>
      </p:sp>
      <p:sp>
        <p:nvSpPr>
          <p:cNvPr id="73" name="!!chipUS9">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chipbUS9">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tUS9"/>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9  </a:t>
            </a:r>
            <a:r>
              <a:rPr sz="1400" b="0" i="0">
                <a:solidFill>
                  <a:srgbClr val="1C252B"/>
                </a:solidFill>
                <a:latin typeface="Segoe UI"/>
              </a:rPr>
              <a:t>Planning</a:t>
            </a:r>
          </a:p>
        </p:txBody>
      </p:sp>
      <p:sp>
        <p:nvSpPr>
          <p:cNvPr id="76" name="!!chipUS10">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chipbUS10">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chiptUS10"/>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10  </a:t>
            </a:r>
            <a:r>
              <a:rPr sz="1400" b="0" i="0">
                <a:solidFill>
                  <a:srgbClr val="1C252B"/>
                </a:solidFill>
                <a:latin typeface="Segoe UI"/>
              </a:rPr>
              <a:t>Knowledge Representation</a:t>
            </a:r>
          </a:p>
        </p:txBody>
      </p:sp>
      <p:sp>
        <p:nvSpPr>
          <p:cNvPr id="79" name="!!chipUS17">
            <a:extLst>
              <a:ext uri="{C183D7F6-B498-43B3-948B-1728B52AA6E4}">
                <adec:decorative xmlns:adec="http://schemas.microsoft.com/office/drawing/2017/decorative" val="1"/>
              </a:ext>
            </a:extLst>
          </p:cNvPr>
          <p:cNvSpPr/>
          <p:nvPr/>
        </p:nvSpPr>
        <p:spPr>
          <a:xfrm>
            <a:off x="6324447" y="5833872"/>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chipbUS17">
            <a:extLst>
              <a:ext uri="{C183D7F6-B498-43B3-948B-1728B52AA6E4}">
                <adec:decorative xmlns:adec="http://schemas.microsoft.com/office/drawing/2017/decorative" val="1"/>
              </a:ext>
            </a:extLst>
          </p:cNvPr>
          <p:cNvSpPr/>
          <p:nvPr/>
        </p:nvSpPr>
        <p:spPr>
          <a:xfrm>
            <a:off x="6324447" y="5833872"/>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1" name="!!chiptUS17"/>
          <p:cNvSpPr txBox="1"/>
          <p:nvPr/>
        </p:nvSpPr>
        <p:spPr>
          <a:xfrm>
            <a:off x="6525615" y="5925312"/>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17  </a:t>
            </a:r>
            <a:r>
              <a:rPr sz="1400" b="0" i="0">
                <a:solidFill>
                  <a:srgbClr val="1C252B"/>
                </a:solidFill>
                <a:latin typeface="Segoe UI"/>
              </a:rPr>
              <a:t>Learning from Examples</a:t>
            </a:r>
          </a:p>
        </p:txBody>
      </p:sp>
      <p:sp>
        <p:nvSpPr>
          <p:cNvPr id="8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3" name="!!pfill">
            <a:extLst>
              <a:ext uri="{C183D7F6-B498-43B3-948B-1728B52AA6E4}">
                <adec:decorative xmlns:adec="http://schemas.microsoft.com/office/drawing/2017/decorative" val="1"/>
              </a:ext>
            </a:extLst>
          </p:cNvPr>
          <p:cNvSpPr/>
          <p:nvPr/>
        </p:nvSpPr>
        <p:spPr>
          <a:xfrm>
            <a:off x="0" y="0"/>
            <a:ext cx="56705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     </a:t>
            </a:r>
            <a:fld id="{1269254D-F7A2-4A3E-80E5-E5C4644B6928}"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Define</a:t>
            </a:r>
            <a:r>
              <a:rPr sz="2100" b="0" i="0">
                <a:solidFill>
                  <a:srgbClr val="1C252B"/>
                </a:solidFill>
                <a:latin typeface="Segoe UI"/>
              </a:rPr>
              <a:t> artificial intelligence, and </a:t>
            </a:r>
            <a:r>
              <a:rPr sz="2100" b="1" i="0">
                <a:solidFill>
                  <a:srgbClr val="1C252B"/>
                </a:solidFill>
                <a:latin typeface="Segoe UI"/>
              </a:rPr>
              <a:t>distinguish</a:t>
            </a:r>
            <a:r>
              <a:rPr sz="2100" b="0" i="0">
                <a:solidFill>
                  <a:srgbClr val="1C252B"/>
                </a:solidFill>
                <a:latin typeface="Segoe UI"/>
              </a:rPr>
              <a:t> the four classical definitions along the two axes of thinking versus acting and humanly versus rationally.</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Identify</a:t>
            </a:r>
            <a:r>
              <a:rPr sz="2100" b="0" i="0">
                <a:solidFill>
                  <a:srgbClr val="1C252B"/>
                </a:solidFill>
                <a:latin typeface="Segoe UI"/>
              </a:rPr>
              <a:t> whether a given piece of software is an AI system, by applying a five-point test rather than by reputation.</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09974"/>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Name</a:t>
            </a:r>
            <a:r>
              <a:rPr sz="2100" b="0" i="0">
                <a:solidFill>
                  <a:srgbClr val="1C252B"/>
                </a:solidFill>
                <a:latin typeface="Segoe UI"/>
              </a:rPr>
              <a:t> the branches of AI and </a:t>
            </a:r>
            <a:r>
              <a:rPr sz="2100" b="1" i="0">
                <a:solidFill>
                  <a:srgbClr val="1C252B"/>
                </a:solidFill>
                <a:latin typeface="Segoe UI"/>
              </a:rPr>
              <a:t>say</a:t>
            </a:r>
            <a:r>
              <a:rPr sz="2100" b="0" i="0">
                <a:solidFill>
                  <a:srgbClr val="1C252B"/>
                </a:solidFill>
                <a:latin typeface="Segoe UI"/>
              </a:rPr>
              <a:t> which of them this course teaches, which it signposts, and which belong to other courses.</a:t>
            </a:r>
          </a:p>
        </p:txBody>
      </p:sp>
      <p:sp>
        <p:nvSpPr>
          <p:cNvPr id="17" name="!!ob3">
            <a:extLst>
              <a:ext uri="{C183D7F6-B498-43B3-948B-1728B52AA6E4}">
                <adec:decorative xmlns:adec="http://schemas.microsoft.com/office/drawing/2017/decorative" val="1"/>
              </a:ext>
            </a:extLst>
          </p:cNvPr>
          <p:cNvSpPr/>
          <p:nvPr/>
        </p:nvSpPr>
        <p:spPr>
          <a:xfrm>
            <a:off x="658368" y="4767681"/>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827117"/>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758537"/>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Describe</a:t>
            </a:r>
            <a:r>
              <a:rPr sz="2100" b="0" i="0">
                <a:solidFill>
                  <a:srgbClr val="1C252B"/>
                </a:solidFill>
                <a:latin typeface="Segoe UI"/>
              </a:rPr>
              <a:t> the field’s history as a sequence of promises, disappointments and recoveries, and </a:t>
            </a:r>
            <a:r>
              <a:rPr sz="2100" b="1" i="0">
                <a:solidFill>
                  <a:srgbClr val="1C252B"/>
                </a:solidFill>
                <a:latin typeface="Segoe UI"/>
              </a:rPr>
              <a:t>explain</a:t>
            </a:r>
            <a:r>
              <a:rPr sz="2100" b="0" i="0">
                <a:solidFill>
                  <a:srgbClr val="1C252B"/>
                </a:solidFill>
                <a:latin typeface="Segoe UI"/>
              </a:rPr>
              <a:t> what caused each turn.</a:t>
            </a:r>
          </a:p>
        </p:txBody>
      </p:sp>
      <p:sp>
        <p:nvSpPr>
          <p:cNvPr id="20" name="!!ob4">
            <a:extLst>
              <a:ext uri="{C183D7F6-B498-43B3-948B-1728B52AA6E4}">
                <adec:decorative xmlns:adec="http://schemas.microsoft.com/office/drawing/2017/decorative" val="1"/>
              </a:ext>
            </a:extLst>
          </p:cNvPr>
          <p:cNvSpPr/>
          <p:nvPr/>
        </p:nvSpPr>
        <p:spPr>
          <a:xfrm>
            <a:off x="658368" y="5616244"/>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675680"/>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607100"/>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State</a:t>
            </a:r>
            <a:r>
              <a:rPr sz="2100" b="0" i="0">
                <a:solidFill>
                  <a:srgbClr val="1C252B"/>
                </a:solidFill>
                <a:latin typeface="Segoe UI"/>
              </a:rPr>
              <a:t> the boundary between artificial intelligence, machine learning and data science in terms of what each one is given and what each one must work out for itself.</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5058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     </a:t>
            </a:r>
            <a:fld id="{119BA897-1BA6-47B6-A5E5-8CDABDE43C11}" type="slidenum">
              <a:rPr lang="en-GB" sz="1000">
                <a:solidFill>
                  <a:srgbClr val="8795A1"/>
                </a:solidFill>
                <a:latin typeface="Segoe UI"/>
              </a:rPr>
              <a:t>4</a:t>
            </a:fld>
          </a:p>
        </p:txBody>
      </p:sp>
      <p:sp>
        <p:nvSpPr>
          <p:cNvPr id="7" name="!!term-artificial int">
            <a:extLst>
              <a:ext uri="{C183D7F6-B498-43B3-948B-1728B52AA6E4}">
                <adec:decorative xmlns:adec="http://schemas.microsoft.com/office/drawing/2017/decorative" val="1"/>
              </a:ext>
            </a:extLst>
          </p:cNvPr>
          <p:cNvSpPr/>
          <p:nvPr/>
        </p:nvSpPr>
        <p:spPr>
          <a:xfrm>
            <a:off x="658368" y="1847088"/>
            <a:ext cx="225896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artificial int">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artificial int"/>
          <p:cNvSpPr txBox="1"/>
          <p:nvPr/>
        </p:nvSpPr>
        <p:spPr>
          <a:xfrm>
            <a:off x="950976" y="1962911"/>
            <a:ext cx="207608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artificial intelligence</a:t>
            </a:r>
          </a:p>
        </p:txBody>
      </p:sp>
      <p:sp>
        <p:nvSpPr>
          <p:cNvPr id="10" name="!!term-agent">
            <a:extLst>
              <a:ext uri="{C183D7F6-B498-43B3-948B-1728B52AA6E4}">
                <adec:decorative xmlns:adec="http://schemas.microsoft.com/office/drawing/2017/decorative" val="1"/>
              </a:ext>
            </a:extLst>
          </p:cNvPr>
          <p:cNvSpPr/>
          <p:nvPr/>
        </p:nvSpPr>
        <p:spPr>
          <a:xfrm>
            <a:off x="3063637" y="1847088"/>
            <a:ext cx="96246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agent">
            <a:extLst>
              <a:ext uri="{C183D7F6-B498-43B3-948B-1728B52AA6E4}">
                <adec:decorative xmlns:adec="http://schemas.microsoft.com/office/drawing/2017/decorative" val="1"/>
              </a:ext>
            </a:extLst>
          </p:cNvPr>
          <p:cNvSpPr/>
          <p:nvPr/>
        </p:nvSpPr>
        <p:spPr>
          <a:xfrm>
            <a:off x="319165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agent"/>
          <p:cNvSpPr txBox="1"/>
          <p:nvPr/>
        </p:nvSpPr>
        <p:spPr>
          <a:xfrm>
            <a:off x="3356245" y="1962911"/>
            <a:ext cx="77958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agent</a:t>
            </a:r>
          </a:p>
        </p:txBody>
      </p:sp>
      <p:sp>
        <p:nvSpPr>
          <p:cNvPr id="13" name="!!term-percept">
            <a:extLst>
              <a:ext uri="{C183D7F6-B498-43B3-948B-1728B52AA6E4}">
                <adec:decorative xmlns:adec="http://schemas.microsoft.com/office/drawing/2017/decorative" val="1"/>
              </a:ext>
            </a:extLst>
          </p:cNvPr>
          <p:cNvSpPr/>
          <p:nvPr/>
        </p:nvSpPr>
        <p:spPr>
          <a:xfrm>
            <a:off x="4172402" y="1847088"/>
            <a:ext cx="113755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percept">
            <a:extLst>
              <a:ext uri="{C183D7F6-B498-43B3-948B-1728B52AA6E4}">
                <adec:decorative xmlns:adec="http://schemas.microsoft.com/office/drawing/2017/decorative" val="1"/>
              </a:ext>
            </a:extLst>
          </p:cNvPr>
          <p:cNvSpPr/>
          <p:nvPr/>
        </p:nvSpPr>
        <p:spPr>
          <a:xfrm>
            <a:off x="430041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percept"/>
          <p:cNvSpPr txBox="1"/>
          <p:nvPr/>
        </p:nvSpPr>
        <p:spPr>
          <a:xfrm>
            <a:off x="4465010" y="1962911"/>
            <a:ext cx="95467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percept</a:t>
            </a:r>
          </a:p>
        </p:txBody>
      </p:sp>
      <p:sp>
        <p:nvSpPr>
          <p:cNvPr id="16" name="!!term-action">
            <a:extLst>
              <a:ext uri="{C183D7F6-B498-43B3-948B-1728B52AA6E4}">
                <adec:decorative xmlns:adec="http://schemas.microsoft.com/office/drawing/2017/decorative" val="1"/>
              </a:ext>
            </a:extLst>
          </p:cNvPr>
          <p:cNvSpPr/>
          <p:nvPr/>
        </p:nvSpPr>
        <p:spPr>
          <a:xfrm>
            <a:off x="5456262" y="1847088"/>
            <a:ext cx="99935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action">
            <a:extLst>
              <a:ext uri="{C183D7F6-B498-43B3-948B-1728B52AA6E4}">
                <adec:decorative xmlns:adec="http://schemas.microsoft.com/office/drawing/2017/decorative" val="1"/>
              </a:ext>
            </a:extLst>
          </p:cNvPr>
          <p:cNvSpPr/>
          <p:nvPr/>
        </p:nvSpPr>
        <p:spPr>
          <a:xfrm>
            <a:off x="558427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action"/>
          <p:cNvSpPr txBox="1"/>
          <p:nvPr/>
        </p:nvSpPr>
        <p:spPr>
          <a:xfrm>
            <a:off x="5748870" y="1962911"/>
            <a:ext cx="81647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action</a:t>
            </a:r>
          </a:p>
        </p:txBody>
      </p:sp>
      <p:sp>
        <p:nvSpPr>
          <p:cNvPr id="19" name="!!term-rationality">
            <a:extLst>
              <a:ext uri="{C183D7F6-B498-43B3-948B-1728B52AA6E4}">
                <adec:decorative xmlns:adec="http://schemas.microsoft.com/office/drawing/2017/decorative" val="1"/>
              </a:ext>
            </a:extLst>
          </p:cNvPr>
          <p:cNvSpPr/>
          <p:nvPr/>
        </p:nvSpPr>
        <p:spPr>
          <a:xfrm>
            <a:off x="6601920" y="1847088"/>
            <a:ext cx="135211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rationality">
            <a:extLst>
              <a:ext uri="{C183D7F6-B498-43B3-948B-1728B52AA6E4}">
                <adec:decorative xmlns:adec="http://schemas.microsoft.com/office/drawing/2017/decorative" val="1"/>
              </a:ext>
            </a:extLst>
          </p:cNvPr>
          <p:cNvSpPr/>
          <p:nvPr/>
        </p:nvSpPr>
        <p:spPr>
          <a:xfrm>
            <a:off x="672993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rationality"/>
          <p:cNvSpPr txBox="1"/>
          <p:nvPr/>
        </p:nvSpPr>
        <p:spPr>
          <a:xfrm>
            <a:off x="6894528" y="1962911"/>
            <a:ext cx="116923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rationality</a:t>
            </a:r>
          </a:p>
        </p:txBody>
      </p:sp>
      <p:sp>
        <p:nvSpPr>
          <p:cNvPr id="22" name="!!term-the Turing tes">
            <a:extLst>
              <a:ext uri="{C183D7F6-B498-43B3-948B-1728B52AA6E4}">
                <adec:decorative xmlns:adec="http://schemas.microsoft.com/office/drawing/2017/decorative" val="1"/>
              </a:ext>
            </a:extLst>
          </p:cNvPr>
          <p:cNvSpPr/>
          <p:nvPr/>
        </p:nvSpPr>
        <p:spPr>
          <a:xfrm>
            <a:off x="8100341" y="1847088"/>
            <a:ext cx="177255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the Turing tes">
            <a:extLst>
              <a:ext uri="{C183D7F6-B498-43B3-948B-1728B52AA6E4}">
                <adec:decorative xmlns:adec="http://schemas.microsoft.com/office/drawing/2017/decorative" val="1"/>
              </a:ext>
            </a:extLst>
          </p:cNvPr>
          <p:cNvSpPr/>
          <p:nvPr/>
        </p:nvSpPr>
        <p:spPr>
          <a:xfrm>
            <a:off x="822835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the Turing tes"/>
          <p:cNvSpPr txBox="1"/>
          <p:nvPr/>
        </p:nvSpPr>
        <p:spPr>
          <a:xfrm>
            <a:off x="8392949" y="1962911"/>
            <a:ext cx="158967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the Turing test</a:t>
            </a:r>
          </a:p>
        </p:txBody>
      </p:sp>
      <p:sp>
        <p:nvSpPr>
          <p:cNvPr id="25" name="!!term-symbolic AI">
            <a:extLst>
              <a:ext uri="{C183D7F6-B498-43B3-948B-1728B52AA6E4}">
                <adec:decorative xmlns:adec="http://schemas.microsoft.com/office/drawing/2017/decorative" val="1"/>
              </a:ext>
            </a:extLst>
          </p:cNvPr>
          <p:cNvSpPr/>
          <p:nvPr/>
        </p:nvSpPr>
        <p:spPr>
          <a:xfrm>
            <a:off x="10019201" y="1847088"/>
            <a:ext cx="149056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symbolic AI">
            <a:extLst>
              <a:ext uri="{C183D7F6-B498-43B3-948B-1728B52AA6E4}">
                <adec:decorative xmlns:adec="http://schemas.microsoft.com/office/drawing/2017/decorative" val="1"/>
              </a:ext>
            </a:extLst>
          </p:cNvPr>
          <p:cNvSpPr/>
          <p:nvPr/>
        </p:nvSpPr>
        <p:spPr>
          <a:xfrm>
            <a:off x="1014721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symbolic AI"/>
          <p:cNvSpPr txBox="1"/>
          <p:nvPr/>
        </p:nvSpPr>
        <p:spPr>
          <a:xfrm>
            <a:off x="10311809" y="1962911"/>
            <a:ext cx="130768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symbolic AI</a:t>
            </a:r>
          </a:p>
        </p:txBody>
      </p:sp>
      <p:sp>
        <p:nvSpPr>
          <p:cNvPr id="28" name="!!term-knowledge repr">
            <a:extLst>
              <a:ext uri="{C183D7F6-B498-43B3-948B-1728B52AA6E4}">
                <adec:decorative xmlns:adec="http://schemas.microsoft.com/office/drawing/2017/decorative" val="1"/>
              </a:ext>
            </a:extLst>
          </p:cNvPr>
          <p:cNvSpPr/>
          <p:nvPr/>
        </p:nvSpPr>
        <p:spPr>
          <a:xfrm>
            <a:off x="658368" y="2468880"/>
            <a:ext cx="282982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knowledge repr">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knowledge repr"/>
          <p:cNvSpPr txBox="1"/>
          <p:nvPr/>
        </p:nvSpPr>
        <p:spPr>
          <a:xfrm>
            <a:off x="950976" y="2584704"/>
            <a:ext cx="264694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knowledge representation</a:t>
            </a:r>
          </a:p>
        </p:txBody>
      </p:sp>
      <p:sp>
        <p:nvSpPr>
          <p:cNvPr id="31" name="!!term-search">
            <a:extLst>
              <a:ext uri="{C183D7F6-B498-43B3-948B-1728B52AA6E4}">
                <adec:decorative xmlns:adec="http://schemas.microsoft.com/office/drawing/2017/decorative" val="1"/>
              </a:ext>
            </a:extLst>
          </p:cNvPr>
          <p:cNvSpPr/>
          <p:nvPr/>
        </p:nvSpPr>
        <p:spPr>
          <a:xfrm>
            <a:off x="3634497" y="2468880"/>
            <a:ext cx="102584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search">
            <a:extLst>
              <a:ext uri="{C183D7F6-B498-43B3-948B-1728B52AA6E4}">
                <adec:decorative xmlns:adec="http://schemas.microsoft.com/office/drawing/2017/decorative" val="1"/>
              </a:ext>
            </a:extLst>
          </p:cNvPr>
          <p:cNvSpPr/>
          <p:nvPr/>
        </p:nvSpPr>
        <p:spPr>
          <a:xfrm>
            <a:off x="376251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search"/>
          <p:cNvSpPr txBox="1"/>
          <p:nvPr/>
        </p:nvSpPr>
        <p:spPr>
          <a:xfrm>
            <a:off x="3927105" y="2584704"/>
            <a:ext cx="84296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search</a:t>
            </a:r>
          </a:p>
        </p:txBody>
      </p:sp>
      <p:sp>
        <p:nvSpPr>
          <p:cNvPr id="34" name="!!term-heuristic">
            <a:extLst>
              <a:ext uri="{C183D7F6-B498-43B3-948B-1728B52AA6E4}">
                <adec:decorative xmlns:adec="http://schemas.microsoft.com/office/drawing/2017/decorative" val="1"/>
              </a:ext>
            </a:extLst>
          </p:cNvPr>
          <p:cNvSpPr/>
          <p:nvPr/>
        </p:nvSpPr>
        <p:spPr>
          <a:xfrm>
            <a:off x="4806642" y="2468880"/>
            <a:ext cx="120827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heuristic">
            <a:extLst>
              <a:ext uri="{C183D7F6-B498-43B3-948B-1728B52AA6E4}">
                <adec:decorative xmlns:adec="http://schemas.microsoft.com/office/drawing/2017/decorative" val="1"/>
              </a:ext>
            </a:extLst>
          </p:cNvPr>
          <p:cNvSpPr/>
          <p:nvPr/>
        </p:nvSpPr>
        <p:spPr>
          <a:xfrm>
            <a:off x="493465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heuristic"/>
          <p:cNvSpPr txBox="1"/>
          <p:nvPr/>
        </p:nvSpPr>
        <p:spPr>
          <a:xfrm>
            <a:off x="5099250" y="2584704"/>
            <a:ext cx="102539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heuristic</a:t>
            </a:r>
          </a:p>
        </p:txBody>
      </p:sp>
      <p:sp>
        <p:nvSpPr>
          <p:cNvPr id="37" name="!!term-combinatorial ">
            <a:extLst>
              <a:ext uri="{C183D7F6-B498-43B3-948B-1728B52AA6E4}">
                <adec:decorative xmlns:adec="http://schemas.microsoft.com/office/drawing/2017/decorative" val="1"/>
              </a:ext>
            </a:extLst>
          </p:cNvPr>
          <p:cNvSpPr/>
          <p:nvPr/>
        </p:nvSpPr>
        <p:spPr>
          <a:xfrm>
            <a:off x="6161222" y="2468880"/>
            <a:ext cx="262966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combinatorial ">
            <a:extLst>
              <a:ext uri="{C183D7F6-B498-43B3-948B-1728B52AA6E4}">
                <adec:decorative xmlns:adec="http://schemas.microsoft.com/office/drawing/2017/decorative" val="1"/>
              </a:ext>
            </a:extLst>
          </p:cNvPr>
          <p:cNvSpPr/>
          <p:nvPr/>
        </p:nvSpPr>
        <p:spPr>
          <a:xfrm>
            <a:off x="628923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combinatorial "/>
          <p:cNvSpPr txBox="1"/>
          <p:nvPr/>
        </p:nvSpPr>
        <p:spPr>
          <a:xfrm>
            <a:off x="6453830" y="2584704"/>
            <a:ext cx="244678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combinatorial explosion</a:t>
            </a:r>
          </a:p>
        </p:txBody>
      </p:sp>
      <p:sp>
        <p:nvSpPr>
          <p:cNvPr id="40" name="!!term-weak and stron">
            <a:extLst>
              <a:ext uri="{C183D7F6-B498-43B3-948B-1728B52AA6E4}">
                <adec:decorative xmlns:adec="http://schemas.microsoft.com/office/drawing/2017/decorative" val="1"/>
              </a:ext>
            </a:extLst>
          </p:cNvPr>
          <p:cNvSpPr/>
          <p:nvPr/>
        </p:nvSpPr>
        <p:spPr>
          <a:xfrm>
            <a:off x="8937193" y="2468880"/>
            <a:ext cx="220080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weak and stron">
            <a:extLst>
              <a:ext uri="{C183D7F6-B498-43B3-948B-1728B52AA6E4}">
                <adec:decorative xmlns:adec="http://schemas.microsoft.com/office/drawing/2017/decorative" val="1"/>
              </a:ext>
            </a:extLst>
          </p:cNvPr>
          <p:cNvSpPr/>
          <p:nvPr/>
        </p:nvSpPr>
        <p:spPr>
          <a:xfrm>
            <a:off x="906520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weak and stron"/>
          <p:cNvSpPr txBox="1"/>
          <p:nvPr/>
        </p:nvSpPr>
        <p:spPr>
          <a:xfrm>
            <a:off x="9229801" y="2584704"/>
            <a:ext cx="201792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weak and strong AI</a:t>
            </a:r>
          </a:p>
        </p:txBody>
      </p:sp>
      <p:sp>
        <p:nvSpPr>
          <p:cNvPr id="43" name="!!term-narrow and gen">
            <a:extLst>
              <a:ext uri="{C183D7F6-B498-43B3-948B-1728B52AA6E4}">
                <adec:decorative xmlns:adec="http://schemas.microsoft.com/office/drawing/2017/decorative" val="1"/>
              </a:ext>
            </a:extLst>
          </p:cNvPr>
          <p:cNvSpPr/>
          <p:nvPr/>
        </p:nvSpPr>
        <p:spPr>
          <a:xfrm>
            <a:off x="658368" y="3090672"/>
            <a:ext cx="246529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narrow and gen">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narrow and gen"/>
          <p:cNvSpPr txBox="1"/>
          <p:nvPr/>
        </p:nvSpPr>
        <p:spPr>
          <a:xfrm>
            <a:off x="950976" y="3206496"/>
            <a:ext cx="228241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narrow and general AI</a:t>
            </a:r>
          </a:p>
        </p:txBody>
      </p:sp>
      <p:sp>
        <p:nvSpPr>
          <p:cNvPr id="46" name="!!term-AI winter">
            <a:extLst>
              <a:ext uri="{C183D7F6-B498-43B3-948B-1728B52AA6E4}">
                <adec:decorative xmlns:adec="http://schemas.microsoft.com/office/drawing/2017/decorative" val="1"/>
              </a:ext>
            </a:extLst>
          </p:cNvPr>
          <p:cNvSpPr/>
          <p:nvPr/>
        </p:nvSpPr>
        <p:spPr>
          <a:xfrm>
            <a:off x="3269962" y="3090672"/>
            <a:ext cx="125260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AI winter">
            <a:extLst>
              <a:ext uri="{C183D7F6-B498-43B3-948B-1728B52AA6E4}">
                <adec:decorative xmlns:adec="http://schemas.microsoft.com/office/drawing/2017/decorative" val="1"/>
              </a:ext>
            </a:extLst>
          </p:cNvPr>
          <p:cNvSpPr/>
          <p:nvPr/>
        </p:nvSpPr>
        <p:spPr>
          <a:xfrm>
            <a:off x="3397978"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AI winter"/>
          <p:cNvSpPr txBox="1"/>
          <p:nvPr/>
        </p:nvSpPr>
        <p:spPr>
          <a:xfrm>
            <a:off x="3562570" y="3206496"/>
            <a:ext cx="106972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AI winter</a:t>
            </a:r>
          </a:p>
        </p:txBody>
      </p:sp>
      <p:sp>
        <p:nvSpPr>
          <p:cNvPr id="49" name="!!term-expert system">
            <a:extLst>
              <a:ext uri="{C183D7F6-B498-43B3-948B-1728B52AA6E4}">
                <adec:decorative xmlns:adec="http://schemas.microsoft.com/office/drawing/2017/decorative" val="1"/>
              </a:ext>
            </a:extLst>
          </p:cNvPr>
          <p:cNvSpPr/>
          <p:nvPr/>
        </p:nvSpPr>
        <p:spPr>
          <a:xfrm>
            <a:off x="4668870" y="3090672"/>
            <a:ext cx="170515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expert system">
            <a:extLst>
              <a:ext uri="{C183D7F6-B498-43B3-948B-1728B52AA6E4}">
                <adec:decorative xmlns:adec="http://schemas.microsoft.com/office/drawing/2017/decorative" val="1"/>
              </a:ext>
            </a:extLst>
          </p:cNvPr>
          <p:cNvSpPr/>
          <p:nvPr/>
        </p:nvSpPr>
        <p:spPr>
          <a:xfrm>
            <a:off x="4796886"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expert system"/>
          <p:cNvSpPr txBox="1"/>
          <p:nvPr/>
        </p:nvSpPr>
        <p:spPr>
          <a:xfrm>
            <a:off x="4961478" y="3206496"/>
            <a:ext cx="152227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expert system</a:t>
            </a:r>
          </a:p>
        </p:txBody>
      </p:sp>
      <p:sp>
        <p:nvSpPr>
          <p:cNvPr id="52"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pfill">
            <a:extLst>
              <a:ext uri="{C183D7F6-B498-43B3-948B-1728B52AA6E4}">
                <adec:decorative xmlns:adec="http://schemas.microsoft.com/office/drawing/2017/decorative" val="1"/>
              </a:ext>
            </a:extLst>
          </p:cNvPr>
          <p:cNvSpPr/>
          <p:nvPr/>
        </p:nvSpPr>
        <p:spPr>
          <a:xfrm>
            <a:off x="0" y="0"/>
            <a:ext cx="113411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3–12     </a:t>
            </a:r>
            <a:fld id="{EED691CC-F5C3-49E7-A681-BD9EACAA0BB5}" type="slidenum">
              <a:rPr lang="en-GB" sz="1000">
                <a:solidFill>
                  <a:srgbClr val="8795A1"/>
                </a:solidFill>
                <a:latin typeface="Segoe UI"/>
              </a:rPr>
              <a:t>5</a:t>
            </a:fld>
          </a:p>
        </p:txBody>
      </p:sp>
      <p:sp>
        <p:nvSpPr>
          <p:cNvPr id="7" name="!!ag0" descr="Go to section 1.1 Two Programs in a Project Office">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1.1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Two Programs in a Project Office</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  ›</a:t>
            </a:r>
          </a:p>
        </p:txBody>
      </p:sp>
      <p:sp>
        <p:nvSpPr>
          <p:cNvPr id="12" name="!!ag1" descr="Go to section 1.2 Four Definitions, Two Axe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1.2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Four Definitions, Two Axes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  ›</a:t>
            </a:r>
          </a:p>
        </p:txBody>
      </p:sp>
      <p:sp>
        <p:nvSpPr>
          <p:cNvPr id="17" name="!!ag2" descr="Go to section 1.3 Is It AI? A Checklist">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1.3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Is It AI? A Checklist</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5  ›</a:t>
            </a:r>
          </a:p>
        </p:txBody>
      </p:sp>
      <p:sp>
        <p:nvSpPr>
          <p:cNvPr id="22" name="!!ag3" descr="Go to section 1.4 The Branches of AI">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1.4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Branches of AI</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6  ›</a:t>
            </a:r>
          </a:p>
        </p:txBody>
      </p:sp>
      <p:sp>
        <p:nvSpPr>
          <p:cNvPr id="27" name="!!ag4" descr="Go to section 1.5 Sixty Years in Five Waves">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1.5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Sixty Years in Five Waves</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6  ›</a:t>
            </a:r>
          </a:p>
        </p:txBody>
      </p:sp>
      <p:sp>
        <p:nvSpPr>
          <p:cNvPr id="32" name="!!ag5" descr="Go to section 1.6 What This Course Teaches, and What It Does Not">
            <a:hlinkClick action="ppaction://hlinksldjump" r:id="rId10"/>
          </p:cNvPr>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1.6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What This Course Teaches, and What It Does Not</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8  ›</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141763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Artificial intelligence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  ·  Handout p. 3     </a:t>
            </a:r>
            <a:fld id="{3C8A238C-2520-4B71-A60F-9CD9166009CA}" type="slidenum">
              <a:rPr lang="en-GB" sz="1000">
                <a:solidFill>
                  <a:srgbClr val="8795A1"/>
                </a:solidFill>
                <a:latin typeface="Segoe UI"/>
              </a:rPr>
              <a:t>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98773"/>
          </a:xfrm>
          <a:prstGeom prst="roundRect">
            <a:avLst>
              <a:gd name="adj" fmla="val 2472"/>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98773"/>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Artificial intelligence</a:t>
            </a:r>
            <a:r>
              <a:rPr sz="2300" b="0" i="0">
                <a:solidFill>
                  <a:srgbClr val="1C252B"/>
                </a:solidFill>
                <a:latin typeface="Segoe UI"/>
              </a:rPr>
              <a:t> is the study and construction of </a:t>
            </a:r>
            <a:r>
              <a:rPr sz="2300" b="1" i="0">
                <a:solidFill>
                  <a:srgbClr val="1A5276"/>
                </a:solidFill>
                <a:latin typeface="Segoe UI"/>
              </a:rPr>
              <a:t>agents</a:t>
            </a:r>
            <a:r>
              <a:rPr sz="2300" b="0" i="0">
                <a:solidFill>
                  <a:srgbClr val="1C252B"/>
                </a:solidFill>
                <a:latin typeface="Segoe UI"/>
              </a:rPr>
              <a:t>: programs that perceive an environment through </a:t>
            </a:r>
            <a:r>
              <a:rPr sz="2300" b="1" i="0">
                <a:solidFill>
                  <a:srgbClr val="1A5276"/>
                </a:solidFill>
                <a:latin typeface="Segoe UI"/>
              </a:rPr>
              <a:t>percepts</a:t>
            </a:r>
            <a:r>
              <a:rPr sz="2300" b="0" i="0">
                <a:solidFill>
                  <a:srgbClr val="1C252B"/>
                </a:solidFill>
                <a:latin typeface="Segoe UI"/>
              </a:rPr>
              <a:t> and act on it through </a:t>
            </a:r>
            <a:r>
              <a:rPr sz="2300" b="1" i="0">
                <a:solidFill>
                  <a:srgbClr val="1A5276"/>
                </a:solidFill>
                <a:latin typeface="Segoe UI"/>
              </a:rPr>
              <a:t>actions</a:t>
            </a:r>
            <a:r>
              <a:rPr sz="2300" b="0" i="0">
                <a:solidFill>
                  <a:srgbClr val="1C252B"/>
                </a:solidFill>
                <a:latin typeface="Segoe UI"/>
              </a:rPr>
              <a:t>, choosing those actions so as to do well by some measure of success. The central question of the field is not “can a machine think?” but “given what it can perceive, what should this agent do next?”</a:t>
            </a:r>
          </a:p>
        </p:txBody>
      </p:sp>
      <p:sp>
        <p:nvSpPr>
          <p:cNvPr id="10" name="body-1"/>
          <p:cNvSpPr txBox="1"/>
          <p:nvPr/>
        </p:nvSpPr>
        <p:spPr>
          <a:xfrm>
            <a:off x="1060704" y="403161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Segoe UI"/>
              </a:rPr>
              <a:t>After</a:t>
            </a:r>
            <a:r>
              <a:rPr sz="2300" b="0" i="0">
                <a:solidFill>
                  <a:srgbClr val="1C252B"/>
                </a:solidFill>
                <a:latin typeface="Segoe UI"/>
              </a:rPr>
              <a:t> S. Russell and P. Norvig, </a:t>
            </a:r>
            <a:r>
              <a:rPr sz="2300" b="0" i="1">
                <a:solidFill>
                  <a:srgbClr val="1C252B"/>
                </a:solidFill>
                <a:latin typeface="Segoe UI"/>
              </a:rPr>
              <a:t>Artificial Intelligence: A Modern Approach</a:t>
            </a:r>
            <a:r>
              <a:rPr sz="2300" b="0" i="0">
                <a:solidFill>
                  <a:srgbClr val="1C252B"/>
                </a:solidFill>
                <a:latin typeface="Segoe UI"/>
              </a:rPr>
              <a:t>, 3rd edition, Prentice Hall, 2010 — the set text for this course in both the HEC 2017 and HEC 2023 outlines.</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170116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Four Definitions, Two Axes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2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   Two Programs in a Project Office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1.2   Four Definitions, Two Axes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   Is It AI? A Checklist</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   The Branches of AI</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   Sixty Years in Five Waves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   What This Course Teaches, and What It Does Not</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§1.2     </a:t>
            </a:r>
            <a:fld id="{822032EB-5552-4B17-B6D8-DBD73E23484A}" type="slidenum">
              <a:rPr lang="en-GB" sz="1000">
                <a:solidFill>
                  <a:srgbClr val="8795A1"/>
                </a:solidFill>
                <a:latin typeface="Segoe UI"/>
              </a:rPr>
              <a:t>7</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198469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Definitions, Two Axes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1.1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  ·  Handout p. 4     </a:t>
            </a:r>
            <a:fld id="{306E7F88-405F-4AB2-B495-8B4207D66A07}" type="slidenum">
              <a:rPr lang="en-GB" sz="1000">
                <a:solidFill>
                  <a:srgbClr val="8795A1"/>
                </a:solidFill>
                <a:latin typeface="Segoe UI"/>
              </a:rPr>
              <a:t>8</a:t>
            </a:fld>
          </a:p>
        </p:txBody>
      </p:sp>
      <p:pic>
        <p:nvPicPr>
          <p:cNvPr id="6" name="!!figure" descr="Figure 1.1. The four classical definitions of artificial intelligence, on the two axes of thought against behaviour and human performance against rational performance. This course works in the bottom-right quadrant throughou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42471" y="1737360"/>
            <a:ext cx="5306751" cy="3471062"/>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391302"/>
            <a:ext cx="54864" cy="844905"/>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373014"/>
            <a:ext cx="10600639" cy="1027785"/>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four classical definitions of artificial intelligence, on the two axes of thought against behaviour and human performance against rational performance. This course works in the bottom-right quadrant throughout.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26822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Definitions, Two Axes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  ·  Handout p. 4     </a:t>
            </a:r>
            <a:fld id="{89810AE3-90AD-48F6-B9CF-2F90936F4E4A}"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27854"/>
          </a:xfrm>
          <a:prstGeom prst="roundRect">
            <a:avLst>
              <a:gd name="adj" fmla="val 2065"/>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2785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four quadrants are not four opinions about the same question; they are four different questions, and they license different evidence. If your goal is </a:t>
            </a:r>
            <a:r>
              <a:rPr sz="2300" b="0" i="1">
                <a:solidFill>
                  <a:srgbClr val="1C252B"/>
                </a:solidFill>
                <a:latin typeface="Segoe UI"/>
              </a:rPr>
              <a:t>acting humanly</a:t>
            </a:r>
            <a:r>
              <a:rPr sz="2300" b="0" i="0">
                <a:solidFill>
                  <a:srgbClr val="1C252B"/>
                </a:solidFill>
                <a:latin typeface="Segoe UI"/>
              </a:rPr>
              <a:t>, then a program that answers a service-desk query the way a tired engineer would — including the shortcuts — is a success. If your goal is </a:t>
            </a:r>
            <a:r>
              <a:rPr sz="2300" b="0" i="1">
                <a:solidFill>
                  <a:srgbClr val="1C252B"/>
                </a:solidFill>
                <a:latin typeface="Segoe UI"/>
              </a:rPr>
              <a:t>acting rationally</a:t>
            </a:r>
            <a:r>
              <a:rPr sz="2300" b="0" i="0">
                <a:solidFill>
                  <a:srgbClr val="1C252B"/>
                </a:solidFill>
                <a:latin typeface="Segoe UI"/>
              </a:rPr>
              <a:t>, the same program is a failure, because the tired engineer was wrong.</a:t>
            </a:r>
          </a:p>
        </p:txBody>
      </p:sp>
      <p:sp>
        <p:nvSpPr>
          <p:cNvPr id="10" name="body-1"/>
          <p:cNvSpPr txBox="1"/>
          <p:nvPr/>
        </p:nvSpPr>
        <p:spPr>
          <a:xfrm>
            <a:off x="1060704" y="43961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This matters in practice, and the practical consequence is this: </a:t>
            </a:r>
            <a:r>
              <a:rPr sz="2300" b="0" i="1">
                <a:solidFill>
                  <a:srgbClr val="1C252B"/>
                </a:solidFill>
                <a:latin typeface="Segoe UI"/>
              </a:rPr>
              <a:t>decide which quadrant you are in before you choose your evaluation</a:t>
            </a:r>
            <a:r>
              <a:rPr sz="2300" b="0" i="0">
                <a:solidFill>
                  <a:srgbClr val="1C252B"/>
                </a:solidFill>
                <a:latin typeface="Segoe UI"/>
              </a:rPr>
              <a:t>. Chapter 19 shows Eliza, a program that is a triumph in the bottom-left quadrant and worthless in the bottom-right, and the difference is not in the code.</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255175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Is It AI? A Checklist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3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   Two Programs in a Project Office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   Four Definitions, Two Axes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1.3   Is It AI? A Checklist</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   The Branches of AI</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   Sixty Years in Five Waves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   What This Course Teaches, and What It Does Not</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§1.3     </a:t>
            </a:r>
            <a:fld id="{043978FA-CF42-4430-9F08-1FDBFE282942}" type="slidenum">
              <a:rPr lang="en-GB" sz="1000">
                <a:solidFill>
                  <a:srgbClr val="8795A1"/>
                </a:solidFill>
                <a:latin typeface="Segoe UI"/>
              </a:rPr>
              <a:t>10</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283527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Is It AI? A Checklist</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  ·  Handout p. 5     </a:t>
            </a:r>
            <a:fld id="{89E385B4-48AB-4458-8101-CF9EB1735E02}"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65345"/>
          </a:xfrm>
          <a:prstGeom prst="roundRect">
            <a:avLst>
              <a:gd name="adj" fmla="val 2094"/>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65345"/>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789273"/>
          </a:xfrm>
          <a:prstGeom prst="rect">
            <a:avLst/>
          </a:prstGeom>
          <a:noFill/>
        </p:spPr>
        <p:txBody>
          <a:bodyPr wrap="square" anchor="t" lIns="0" rIns="0" tIns="0" bIns="0">
            <a:noAutofit/>
          </a:bodyPr>
          <a:lstStyle/>
          <a:p>
            <a:pPr algn="l" marL="434207" indent="-434207">
              <a:lnSpc>
                <a:spcPct val="104000"/>
              </a:lnSpc>
              <a:spcBef>
                <a:spcPts val="0"/>
              </a:spcBef>
              <a:spcAft>
                <a:spcPts val="630"/>
              </a:spcAft>
            </a:pPr>
            <a:r>
              <a:rPr sz="1800" b="1">
                <a:solidFill>
                  <a:srgbClr val="1A5276"/>
                </a:solidFill>
                <a:latin typeface="Segoe UI"/>
              </a:rPr>
              <a:t>1.	</a:t>
            </a:r>
            <a:r>
              <a:rPr sz="1800" b="1" i="0">
                <a:solidFill>
                  <a:srgbClr val="1A5276"/>
                </a:solidFill>
                <a:latin typeface="Segoe UI"/>
              </a:rPr>
              <a:t>Goal.</a:t>
            </a:r>
            <a:r>
              <a:rPr sz="1800" b="0" i="0">
                <a:solidFill>
                  <a:srgbClr val="1C252B"/>
                </a:solidFill>
                <a:latin typeface="Segoe UI"/>
              </a:rPr>
              <a:t> Is the program given an </a:t>
            </a:r>
            <a:r>
              <a:rPr sz="1800" b="0" i="1">
                <a:solidFill>
                  <a:srgbClr val="1C252B"/>
                </a:solidFill>
                <a:latin typeface="Segoe UI"/>
              </a:rPr>
              <a:t>objective</a:t>
            </a:r>
            <a:r>
              <a:rPr sz="1800" b="0" i="0">
                <a:solidFill>
                  <a:srgbClr val="1C252B"/>
                </a:solidFill>
                <a:latin typeface="Segoe UI"/>
              </a:rPr>
              <a:t> rather than a procedure? A program told </a:t>
            </a:r>
            <a:r>
              <a:rPr sz="1800" b="0" i="1">
                <a:solidFill>
                  <a:srgbClr val="1C252B"/>
                </a:solidFill>
                <a:latin typeface="Segoe UI"/>
              </a:rPr>
              <a:t>minimise the number of breached service level agreements</a:t>
            </a:r>
            <a:r>
              <a:rPr sz="1800" b="0" i="0">
                <a:solidFill>
                  <a:srgbClr val="1C252B"/>
                </a:solidFill>
                <a:latin typeface="Segoe UI"/>
              </a:rPr>
              <a:t> has a goal. A program told </a:t>
            </a:r>
            <a:r>
              <a:rPr sz="1800" b="0" i="1">
                <a:solidFill>
                  <a:srgbClr val="1C252B"/>
                </a:solidFill>
                <a:latin typeface="Segoe UI"/>
              </a:rPr>
              <a:t>sort the tickets by deadline, then assign the first ten</a:t>
            </a:r>
            <a:r>
              <a:rPr sz="1800" b="0" i="0">
                <a:solidFill>
                  <a:srgbClr val="1C252B"/>
                </a:solidFill>
                <a:latin typeface="Segoe UI"/>
              </a:rPr>
              <a:t> has a procedure.</a:t>
            </a:r>
          </a:p>
          <a:p>
            <a:pPr algn="l" marL="434207" indent="-434207">
              <a:lnSpc>
                <a:spcPct val="104000"/>
              </a:lnSpc>
              <a:spcBef>
                <a:spcPts val="0"/>
              </a:spcBef>
              <a:spcAft>
                <a:spcPts val="630"/>
              </a:spcAft>
            </a:pPr>
            <a:r>
              <a:rPr sz="1800" b="1">
                <a:solidFill>
                  <a:srgbClr val="1A5276"/>
                </a:solidFill>
                <a:latin typeface="Segoe UI"/>
              </a:rPr>
              <a:t>2.	</a:t>
            </a:r>
            <a:r>
              <a:rPr sz="1800" b="1" i="0">
                <a:solidFill>
                  <a:srgbClr val="1A5276"/>
                </a:solidFill>
                <a:latin typeface="Segoe UI"/>
              </a:rPr>
              <a:t>Search.</a:t>
            </a:r>
            <a:r>
              <a:rPr sz="1800" b="0" i="0">
                <a:solidFill>
                  <a:srgbClr val="1C252B"/>
                </a:solidFill>
                <a:latin typeface="Segoe UI"/>
              </a:rPr>
              <a:t> Does it </a:t>
            </a:r>
            <a:r>
              <a:rPr sz="1800" b="0" i="1">
                <a:solidFill>
                  <a:srgbClr val="1C252B"/>
                </a:solidFill>
                <a:latin typeface="Segoe UI"/>
              </a:rPr>
              <a:t>consider alternatives it does not act on</a:t>
            </a:r>
            <a:r>
              <a:rPr sz="1800" b="0" i="0">
                <a:solidFill>
                  <a:srgbClr val="1C252B"/>
                </a:solidFill>
                <a:latin typeface="Segoe UI"/>
              </a:rPr>
              <a:t>? An agent that generates candidate assignments, evaluates them and picks one has searched. An agent that computes one answer directly has not.</a:t>
            </a:r>
          </a:p>
          <a:p>
            <a:pPr algn="l" marL="434207" indent="-434207">
              <a:lnSpc>
                <a:spcPct val="104000"/>
              </a:lnSpc>
              <a:spcBef>
                <a:spcPts val="0"/>
              </a:spcBef>
              <a:spcAft>
                <a:spcPts val="630"/>
              </a:spcAft>
            </a:pPr>
            <a:r>
              <a:rPr sz="1800" b="1">
                <a:solidFill>
                  <a:srgbClr val="1A5276"/>
                </a:solidFill>
                <a:latin typeface="Segoe UI"/>
              </a:rPr>
              <a:t>3.	</a:t>
            </a:r>
            <a:r>
              <a:rPr sz="1800" b="1" i="0">
                <a:solidFill>
                  <a:srgbClr val="1A5276"/>
                </a:solidFill>
                <a:latin typeface="Segoe UI"/>
              </a:rPr>
              <a:t>Knowledge.</a:t>
            </a:r>
            <a:r>
              <a:rPr sz="1800" b="0" i="0">
                <a:solidFill>
                  <a:srgbClr val="1C252B"/>
                </a:solidFill>
                <a:latin typeface="Segoe UI"/>
              </a:rPr>
              <a:t> Does it hold an explicit, inspectable </a:t>
            </a:r>
            <a:r>
              <a:rPr sz="1800" b="0" i="1">
                <a:solidFill>
                  <a:srgbClr val="1C252B"/>
                </a:solidFill>
                <a:latin typeface="Segoe UI"/>
              </a:rPr>
              <a:t>representation</a:t>
            </a:r>
            <a:r>
              <a:rPr sz="1800" b="0" i="0">
                <a:solidFill>
                  <a:srgbClr val="1C252B"/>
                </a:solidFill>
                <a:latin typeface="Segoe UI"/>
              </a:rPr>
              <a:t> of its domain — facts, rules, constraints, a probability model — that a domain expert could read and correct without editing the algorithm?</a:t>
            </a:r>
          </a:p>
          <a:p>
            <a:pPr algn="l" marL="434207" indent="-434207">
              <a:lnSpc>
                <a:spcPct val="104000"/>
              </a:lnSpc>
              <a:spcBef>
                <a:spcPts val="0"/>
              </a:spcBef>
              <a:spcAft>
                <a:spcPts val="630"/>
              </a:spcAft>
            </a:pPr>
            <a:r>
              <a:rPr sz="1800" b="1">
                <a:solidFill>
                  <a:srgbClr val="1A5276"/>
                </a:solidFill>
                <a:latin typeface="Segoe UI"/>
              </a:rPr>
              <a:t>4.	</a:t>
            </a:r>
            <a:r>
              <a:rPr sz="1800" b="1" i="0">
                <a:solidFill>
                  <a:srgbClr val="1A5276"/>
                </a:solidFill>
                <a:latin typeface="Segoe UI"/>
              </a:rPr>
              <a:t>Adaptation.</a:t>
            </a:r>
            <a:r>
              <a:rPr sz="1800" b="0" i="0">
                <a:solidFill>
                  <a:srgbClr val="1C252B"/>
                </a:solidFill>
                <a:latin typeface="Segoe UI"/>
              </a:rPr>
              <a:t> Does its behaviour change with </a:t>
            </a:r>
            <a:r>
              <a:rPr sz="1800" b="0" i="1">
                <a:solidFill>
                  <a:srgbClr val="1C252B"/>
                </a:solidFill>
                <a:latin typeface="Segoe UI"/>
              </a:rPr>
              <a:t>experience</a:t>
            </a:r>
            <a:r>
              <a:rPr sz="1800" b="0" i="0">
                <a:solidFill>
                  <a:srgbClr val="1C252B"/>
                </a:solidFill>
                <a:latin typeface="Segoe UI"/>
              </a:rPr>
              <a:t>, without being reprogrammed?</a:t>
            </a:r>
          </a:p>
          <a:p>
            <a:pPr algn="l" marL="434207" indent="-434207">
              <a:lnSpc>
                <a:spcPct val="104000"/>
              </a:lnSpc>
              <a:spcBef>
                <a:spcPts val="0"/>
              </a:spcBef>
              <a:spcAft>
                <a:spcPts val="0"/>
              </a:spcAft>
            </a:pPr>
            <a:r>
              <a:rPr sz="1800" b="1">
                <a:solidFill>
                  <a:srgbClr val="1A5276"/>
                </a:solidFill>
                <a:latin typeface="Segoe UI"/>
              </a:rPr>
              <a:t>5.	</a:t>
            </a:r>
            <a:r>
              <a:rPr sz="1800" b="1" i="0">
                <a:solidFill>
                  <a:srgbClr val="1A5276"/>
                </a:solidFill>
                <a:latin typeface="Segoe UI"/>
              </a:rPr>
              <a:t>Explanation.</a:t>
            </a:r>
            <a:r>
              <a:rPr sz="1800" b="0" i="0">
                <a:solidFill>
                  <a:srgbClr val="1C252B"/>
                </a:solidFill>
                <a:latin typeface="Segoe UI"/>
              </a:rPr>
              <a:t> Can it say </a:t>
            </a:r>
            <a:r>
              <a:rPr sz="1800" b="0" i="1">
                <a:solidFill>
                  <a:srgbClr val="1C252B"/>
                </a:solidFill>
                <a:latin typeface="Segoe UI"/>
              </a:rPr>
              <a:t>why</a:t>
            </a:r>
            <a:r>
              <a:rPr sz="1800" b="0" i="0">
                <a:solidFill>
                  <a:srgbClr val="1C252B"/>
                </a:solidFill>
                <a:latin typeface="Segoe UI"/>
              </a:rPr>
              <a:t>? Can it produce the chain of facts and inferences that led to its answer?</a:t>
            </a:r>
          </a:p>
        </p:txBody>
      </p:sp>
      <p:sp>
        <p:nvSpPr>
          <p:cNvPr id="2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fill">
            <a:extLst>
              <a:ext uri="{C183D7F6-B498-43B3-948B-1728B52AA6E4}">
                <adec:decorative xmlns:adec="http://schemas.microsoft.com/office/drawing/2017/decorative" val="1"/>
              </a:ext>
            </a:extLst>
          </p:cNvPr>
          <p:cNvSpPr/>
          <p:nvPr/>
        </p:nvSpPr>
        <p:spPr>
          <a:xfrm>
            <a:off x="0" y="0"/>
            <a:ext cx="311880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8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8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8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Five tools in one project office</a:t>
            </a:r>
          </a:p>
        </p:txBody>
      </p:sp>
      <p:pic>
        <p:nvPicPr>
          <p:cNvPr id="3" name="!!kicker-icon" descr="code-27AE6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7AE60"/>
                </a:solidFill>
                <a:latin typeface="Segoe UI"/>
              </a:rPr>
              <a:t>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  ·  Handout p. 5     </a:t>
            </a:r>
            <a:fld id="{80A21BCA-CE70-4795-A58A-F93883E79020}"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64481"/>
          </a:xfrm>
          <a:prstGeom prst="roundRect">
            <a:avLst>
              <a:gd name="adj" fmla="val 2095"/>
            </a:avLst>
          </a:prstGeom>
          <a:solidFill>
            <a:srgbClr val="EAF7EF"/>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6448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58460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Scores on the five tests of Section 1.3, for the five programs the office actually runs. This is the audit the chapter’s lab reproduces in code.</a:t>
            </a:r>
          </a:p>
        </p:txBody>
      </p:sp>
      <p:graphicFrame>
        <p:nvGraphicFramePr>
          <p:cNvPr id="10" name="body-1"/>
          <p:cNvGraphicFramePr>
            <a:graphicFrameLocks noGrp="1"/>
          </p:cNvGraphicFramePr>
          <p:nvPr/>
        </p:nvGraphicFramePr>
        <p:xfrm>
          <a:off x="1060704" y="2705887"/>
          <a:ext cx="6492064" cy="2157984"/>
        </p:xfrm>
        <a:graphic>
          <a:graphicData uri="http://schemas.openxmlformats.org/drawingml/2006/table">
            <a:tbl>
              <a:tblPr firstRow="0" bandRow="0" firstCol="0" lastRow="0" lastCol="0" bandCol="0">
                <a:tableStyleId>{2D5ABB26-0587-4C30-8999-92F81FD0307C}</a:tableStyleId>
              </a:tblPr>
              <a:tblGrid>
                <a:gridCol w="2363442"/>
                <a:gridCol w="644830"/>
                <a:gridCol w="626168"/>
                <a:gridCol w="738801"/>
                <a:gridCol w="776342"/>
                <a:gridCol w="616567"/>
                <a:gridCol w="725914"/>
              </a:tblGrid>
              <a:tr h="359664">
                <a:tc>
                  <a:txBody>
                    <a:bodyPr wrap="square"/>
                    <a:lstStyle/>
                    <a:p>
                      <a:pPr algn="l"/>
                      <a:r>
                        <a:rPr sz="1400" b="1" i="0">
                          <a:solidFill>
                            <a:srgbClr val="1A5276"/>
                          </a:solidFill>
                          <a:latin typeface="Segoe UI"/>
                        </a:rPr>
                        <a:t>Program</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ctr"/>
                      <a:r>
                        <a:rPr sz="1400" b="1" i="0">
                          <a:solidFill>
                            <a:srgbClr val="1A5276"/>
                          </a:solidFill>
                          <a:latin typeface="Segoe UI"/>
                        </a:rPr>
                        <a:t>Goal</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ctr"/>
                      <a:r>
                        <a:rPr sz="1400" b="1" i="0">
                          <a:solidFill>
                            <a:srgbClr val="1A5276"/>
                          </a:solidFill>
                          <a:latin typeface="Segoe UI"/>
                        </a:rPr>
                        <a:t>Srch</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ctr"/>
                      <a:r>
                        <a:rPr sz="1400" b="1" i="0">
                          <a:solidFill>
                            <a:srgbClr val="1A5276"/>
                          </a:solidFill>
                          <a:latin typeface="Segoe UI"/>
                        </a:rPr>
                        <a:t>Know</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ctr"/>
                      <a:r>
                        <a:rPr sz="1400" b="1" i="0">
                          <a:solidFill>
                            <a:srgbClr val="1A5276"/>
                          </a:solidFill>
                          <a:latin typeface="Segoe UI"/>
                        </a:rPr>
                        <a:t>Adapt</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ctr"/>
                      <a:r>
                        <a:rPr sz="1400" b="1" i="0">
                          <a:solidFill>
                            <a:srgbClr val="1A5276"/>
                          </a:solidFill>
                          <a:latin typeface="Segoe UI"/>
                        </a:rPr>
                        <a:t>Expl</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ctr"/>
                      <a:r>
                        <a:rPr sz="1400" b="1" i="0">
                          <a:solidFill>
                            <a:srgbClr val="1A5276"/>
                          </a:solidFill>
                          <a:latin typeface="Segoe UI"/>
                        </a:rPr>
                        <a:t>Score</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59664">
                <a:tc>
                  <a:txBody>
                    <a:bodyPr wrap="square"/>
                    <a:lstStyle/>
                    <a:p>
                      <a:pPr algn="l"/>
                      <a:r>
                        <a:rPr sz="1400" b="0" i="0">
                          <a:solidFill>
                            <a:srgbClr val="1C252B"/>
                          </a:solidFill>
                          <a:latin typeface="Segoe UI"/>
                        </a:rPr>
                        <a:t>Gantt recalculator</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ctr"/>
                      <a:r>
                        <a:rPr sz="1400" b="0" i="0">
                          <a:solidFill>
                            <a:srgbClr val="1C252B"/>
                          </a:solidFill>
                          <a:latin typeface="Segoe UI"/>
                        </a:rPr>
                        <a:t>—</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ctr"/>
                      <a:r>
                        <a:rPr sz="1400" b="0" i="0">
                          <a:solidFill>
                            <a:srgbClr val="1C252B"/>
                          </a:solidFill>
                          <a:latin typeface="Segoe UI"/>
                        </a:rPr>
                        <a:t>—</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ctr"/>
                      <a:r>
                        <a:rPr sz="1400" b="0" i="0">
                          <a:solidFill>
                            <a:srgbClr val="1C252B"/>
                          </a:solidFill>
                          <a:latin typeface="Segoe UI"/>
                        </a:rPr>
                        <a:t>—</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ctr"/>
                      <a:r>
                        <a:rPr sz="1400" b="0" i="0">
                          <a:solidFill>
                            <a:srgbClr val="1C252B"/>
                          </a:solidFill>
                          <a:latin typeface="Segoe UI"/>
                        </a:rPr>
                        <a:t>—</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ctr"/>
                      <a:r>
                        <a:rPr sz="1400" b="0" i="0">
                          <a:solidFill>
                            <a:srgbClr val="1C252B"/>
                          </a:solidFill>
                          <a:latin typeface="Segoe UI"/>
                        </a:rPr>
                        <a:t>—</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ctr"/>
                      <a:r>
                        <a:rPr sz="1400" b="0" i="0">
                          <a:solidFill>
                            <a:srgbClr val="1C252B"/>
                          </a:solidFill>
                          <a:latin typeface="Segoe UI"/>
                        </a:rPr>
                        <a:t>0</a:t>
                      </a:r>
                      <a:endParaRPr sz="1400"/>
                    </a:p>
                  </a:txBody>
                  <a:tcPr marL="109728" marR="109728" marT="64008" marB="45720" anchor="t">
                    <a:lnL w="0" cmpd="sng">
                      <a:noFill/>
                    </a:lnL>
                    <a:lnR w="0" cmpd="sng">
                      <a:noFill/>
                    </a:lnR>
                    <a:lnT w="9525" cmpd="sng">
                      <a:noFill/>
                    </a:lnT>
                    <a:lnB w="9525" cmpd="sng">
                      <a:noFill/>
                    </a:lnB>
                    <a:solidFill>
                      <a:srgbClr val="FFFFFF"/>
                    </a:solidFill>
                  </a:tcPr>
                </a:tc>
              </a:tr>
              <a:tr h="359664">
                <a:tc>
                  <a:txBody>
                    <a:bodyPr wrap="square"/>
                    <a:lstStyle/>
                    <a:p>
                      <a:pPr algn="l"/>
                      <a:r>
                        <a:rPr sz="1400" b="0" i="0">
                          <a:solidFill>
                            <a:srgbClr val="1C252B"/>
                          </a:solidFill>
                          <a:latin typeface="Segoe UI"/>
                        </a:rPr>
                        <a:t>Burndown chart generator</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ctr"/>
                      <a:r>
                        <a:rPr sz="1400" b="0" i="0">
                          <a:solidFill>
                            <a:srgbClr val="1C252B"/>
                          </a:solidFill>
                          <a:latin typeface="Segoe UI"/>
                        </a:rPr>
                        <a:t>—</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ctr"/>
                      <a:r>
                        <a:rPr sz="1400" b="0" i="0">
                          <a:solidFill>
                            <a:srgbClr val="1C252B"/>
                          </a:solidFill>
                          <a:latin typeface="Segoe UI"/>
                        </a:rPr>
                        <a:t>—</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ctr"/>
                      <a:r>
                        <a:rPr sz="1400" b="0" i="0">
                          <a:solidFill>
                            <a:srgbClr val="1C252B"/>
                          </a:solidFill>
                          <a:latin typeface="Segoe UI"/>
                        </a:rPr>
                        <a:t>—</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ctr"/>
                      <a:r>
                        <a:rPr sz="1400" b="0" i="0">
                          <a:solidFill>
                            <a:srgbClr val="1C252B"/>
                          </a:solidFill>
                          <a:latin typeface="Segoe UI"/>
                        </a:rPr>
                        <a:t>—</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ctr"/>
                      <a:r>
                        <a:rPr sz="1400" b="0" i="0">
                          <a:solidFill>
                            <a:srgbClr val="1C252B"/>
                          </a:solidFill>
                          <a:latin typeface="Segoe UI"/>
                        </a:rPr>
                        <a:t>—</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ctr"/>
                      <a:r>
                        <a:rPr sz="1400" b="0" i="0">
                          <a:solidFill>
                            <a:srgbClr val="1C252B"/>
                          </a:solidFill>
                          <a:latin typeface="Segoe UI"/>
                        </a:rPr>
                        <a:t>0</a:t>
                      </a:r>
                      <a:endParaRPr sz="1400"/>
                    </a:p>
                  </a:txBody>
                  <a:tcPr marL="109728" marR="109728" marT="64008" marB="45720" anchor="t">
                    <a:lnL w="0" cmpd="sng">
                      <a:noFill/>
                    </a:lnL>
                    <a:lnR w="0" cmpd="sng">
                      <a:noFill/>
                    </a:lnR>
                    <a:lnT w="9525" cmpd="sng">
                      <a:noFill/>
                    </a:lnT>
                    <a:lnB w="9525" cmpd="sng">
                      <a:noFill/>
                    </a:lnB>
                    <a:solidFill>
                      <a:srgbClr val="F2F8FC"/>
                    </a:solidFill>
                  </a:tcPr>
                </a:tc>
              </a:tr>
              <a:tr h="359664">
                <a:tc>
                  <a:txBody>
                    <a:bodyPr wrap="square"/>
                    <a:lstStyle/>
                    <a:p>
                      <a:pPr algn="l"/>
                      <a:r>
                        <a:rPr sz="1400" b="0" i="0">
                          <a:solidFill>
                            <a:srgbClr val="1C252B"/>
                          </a:solidFill>
                          <a:latin typeface="Segoe UI"/>
                        </a:rPr>
                        <a:t>Sprint scheduler</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ctr"/>
                      <a:r>
                        <a:rPr sz="1400" b="0" i="0">
                          <a:solidFill>
                            <a:srgbClr val="1C252B"/>
                          </a:solidFill>
                          <a:latin typeface="Segoe UI"/>
                        </a:rPr>
                        <a:t>yes</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ctr"/>
                      <a:r>
                        <a:rPr sz="1400" b="0" i="0">
                          <a:solidFill>
                            <a:srgbClr val="1C252B"/>
                          </a:solidFill>
                          <a:latin typeface="Segoe UI"/>
                        </a:rPr>
                        <a:t>yes</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ctr"/>
                      <a:r>
                        <a:rPr sz="1400" b="0" i="0">
                          <a:solidFill>
                            <a:srgbClr val="1C252B"/>
                          </a:solidFill>
                          <a:latin typeface="Segoe UI"/>
                        </a:rPr>
                        <a:t>yes</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ctr"/>
                      <a:r>
                        <a:rPr sz="1400" b="0" i="0">
                          <a:solidFill>
                            <a:srgbClr val="1C252B"/>
                          </a:solidFill>
                          <a:latin typeface="Segoe UI"/>
                        </a:rPr>
                        <a:t>—</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ctr"/>
                      <a:r>
                        <a:rPr sz="1400" b="0" i="0">
                          <a:solidFill>
                            <a:srgbClr val="1C252B"/>
                          </a:solidFill>
                          <a:latin typeface="Segoe UI"/>
                        </a:rPr>
                        <a:t>yes</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ctr"/>
                      <a:r>
                        <a:rPr sz="1400" b="0" i="0">
                          <a:solidFill>
                            <a:srgbClr val="1C252B"/>
                          </a:solidFill>
                          <a:latin typeface="Segoe UI"/>
                        </a:rPr>
                        <a:t>4</a:t>
                      </a:r>
                      <a:endParaRPr sz="1400"/>
                    </a:p>
                  </a:txBody>
                  <a:tcPr marL="109728" marR="109728" marT="64008" marB="45720" anchor="t">
                    <a:lnL w="0" cmpd="sng">
                      <a:noFill/>
                    </a:lnL>
                    <a:lnR w="0" cmpd="sng">
                      <a:noFill/>
                    </a:lnR>
                    <a:lnT w="9525" cmpd="sng">
                      <a:noFill/>
                    </a:lnT>
                    <a:lnB w="9525" cmpd="sng">
                      <a:noFill/>
                    </a:lnB>
                    <a:solidFill>
                      <a:srgbClr val="FFFFFF"/>
                    </a:solidFill>
                  </a:tcPr>
                </a:tc>
              </a:tr>
              <a:tr h="359664">
                <a:tc>
                  <a:txBody>
                    <a:bodyPr wrap="square"/>
                    <a:lstStyle/>
                    <a:p>
                      <a:pPr algn="l"/>
                      <a:r>
                        <a:rPr sz="1400" b="0" i="0">
                          <a:solidFill>
                            <a:srgbClr val="1C252B"/>
                          </a:solidFill>
                          <a:latin typeface="Segoe UI"/>
                        </a:rPr>
                        <a:t>Escalation adviser</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ctr"/>
                      <a:r>
                        <a:rPr sz="1400" b="0" i="0">
                          <a:solidFill>
                            <a:srgbClr val="1C252B"/>
                          </a:solidFill>
                          <a:latin typeface="Segoe UI"/>
                        </a:rPr>
                        <a:t>yes</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ctr"/>
                      <a:r>
                        <a:rPr sz="1400" b="0" i="0">
                          <a:solidFill>
                            <a:srgbClr val="1C252B"/>
                          </a:solidFill>
                          <a:latin typeface="Segoe UI"/>
                        </a:rPr>
                        <a:t>yes</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ctr"/>
                      <a:r>
                        <a:rPr sz="1400" b="0" i="0">
                          <a:solidFill>
                            <a:srgbClr val="1C252B"/>
                          </a:solidFill>
                          <a:latin typeface="Segoe UI"/>
                        </a:rPr>
                        <a:t>yes</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ctr"/>
                      <a:r>
                        <a:rPr sz="1400" b="0" i="0">
                          <a:solidFill>
                            <a:srgbClr val="1C252B"/>
                          </a:solidFill>
                          <a:latin typeface="Segoe UI"/>
                        </a:rPr>
                        <a:t>—</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ctr"/>
                      <a:r>
                        <a:rPr sz="1400" b="0" i="0">
                          <a:solidFill>
                            <a:srgbClr val="1C252B"/>
                          </a:solidFill>
                          <a:latin typeface="Segoe UI"/>
                        </a:rPr>
                        <a:t>yes</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ctr"/>
                      <a:r>
                        <a:rPr sz="1400" b="0" i="0">
                          <a:solidFill>
                            <a:srgbClr val="1C252B"/>
                          </a:solidFill>
                          <a:latin typeface="Segoe UI"/>
                        </a:rPr>
                        <a:t>4</a:t>
                      </a:r>
                      <a:endParaRPr sz="1400"/>
                    </a:p>
                  </a:txBody>
                  <a:tcPr marL="109728" marR="109728" marT="64008" marB="45720" anchor="t">
                    <a:lnL w="0" cmpd="sng">
                      <a:noFill/>
                    </a:lnL>
                    <a:lnR w="0" cmpd="sng">
                      <a:noFill/>
                    </a:lnR>
                    <a:lnT w="9525" cmpd="sng">
                      <a:noFill/>
                    </a:lnT>
                    <a:lnB w="9525" cmpd="sng">
                      <a:noFill/>
                    </a:lnB>
                    <a:solidFill>
                      <a:srgbClr val="F2F8FC"/>
                    </a:solidFill>
                  </a:tcPr>
                </a:tc>
              </a:tr>
              <a:tr h="359664">
                <a:tc>
                  <a:txBody>
                    <a:bodyPr wrap="square"/>
                    <a:lstStyle/>
                    <a:p>
                      <a:pPr algn="l"/>
                      <a:r>
                        <a:rPr sz="1400" b="0" i="0">
                          <a:solidFill>
                            <a:srgbClr val="1C252B"/>
                          </a:solidFill>
                          <a:latin typeface="Segoe UI"/>
                        </a:rPr>
                        <a:t>Duplicate-ticket finder</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ctr"/>
                      <a:r>
                        <a:rPr sz="1400" b="0" i="0">
                          <a:solidFill>
                            <a:srgbClr val="1C252B"/>
                          </a:solidFill>
                          <a:latin typeface="Segoe UI"/>
                        </a:rPr>
                        <a:t>—</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ctr"/>
                      <a:r>
                        <a:rPr sz="1400" b="0" i="0">
                          <a:solidFill>
                            <a:srgbClr val="1C252B"/>
                          </a:solidFill>
                          <a:latin typeface="Segoe UI"/>
                        </a:rPr>
                        <a:t>—</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ctr"/>
                      <a:r>
                        <a:rPr sz="1400" b="0" i="0">
                          <a:solidFill>
                            <a:srgbClr val="1C252B"/>
                          </a:solidFill>
                          <a:latin typeface="Segoe UI"/>
                        </a:rPr>
                        <a:t>—</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ctr"/>
                      <a:r>
                        <a:rPr sz="1400" b="0" i="0">
                          <a:solidFill>
                            <a:srgbClr val="1C252B"/>
                          </a:solidFill>
                          <a:latin typeface="Segoe UI"/>
                        </a:rPr>
                        <a:t>yes</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ctr"/>
                      <a:r>
                        <a:rPr sz="1400" b="0" i="0">
                          <a:solidFill>
                            <a:srgbClr val="1C252B"/>
                          </a:solidFill>
                          <a:latin typeface="Segoe UI"/>
                        </a:rPr>
                        <a:t>—</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ctr"/>
                      <a:r>
                        <a:rPr sz="1400" b="0" i="0">
                          <a:solidFill>
                            <a:srgbClr val="1C252B"/>
                          </a:solidFill>
                          <a:latin typeface="Segoe UI"/>
                        </a:rPr>
                        <a:t>1</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1" name="body-2"/>
          <p:cNvSpPr txBox="1"/>
          <p:nvPr/>
        </p:nvSpPr>
        <p:spPr>
          <a:xfrm>
            <a:off x="1060704" y="4982616"/>
            <a:ext cx="10161727" cy="85404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two zeroes are not failures; they are the right tools for questions that have formulas. The sprint scheduler is Chapter 7, the escalation adviser is Chapter 13, and the duplicate finder is the one tool of the five that this course hands to Chapter 17 and then to Machine Learning.</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40233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branches of artificial intelligence, and which of them this course teaches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1.2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  ·  Handout p. 6     </a:t>
            </a:r>
            <a:fld id="{0B093333-0EAA-41A6-8412-898F83779FCF}" type="slidenum">
              <a:rPr lang="en-GB" sz="1000">
                <a:solidFill>
                  <a:srgbClr val="8795A1"/>
                </a:solidFill>
                <a:latin typeface="Segoe UI"/>
              </a:rPr>
              <a:t>13</a:t>
            </a:fld>
          </a:p>
        </p:txBody>
      </p:sp>
      <p:pic>
        <p:nvPicPr>
          <p:cNvPr id="6" name="!!figure" descr="Figure 1.2. The branches of artificial intelligence, and which of them this course teaches. The five branches on the upper row are the body of the course; the lower row is covered by a signpost chapter or by another course entirely."/>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71734" y="1737360"/>
            <a:ext cx="8448225"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five branches on the upper row are the body of the course; the lower row is covered by a signpost chapter or by another course entirely.</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68586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Sixty Years in Five Waves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5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   Two Programs in a Project Office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   Four Definitions, Two Axes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   Is It AI? A Checklist</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   The Branches of AI</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1.5   Sixty Years in Five Waves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   What This Course Teaches, and What It Does Not</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§1.5     </a:t>
            </a:r>
            <a:fld id="{75DDB349-2AAA-48CB-A123-B58CE373A6DA}" type="slidenum">
              <a:rPr lang="en-GB" sz="1000">
                <a:solidFill>
                  <a:srgbClr val="8795A1"/>
                </a:solidFill>
                <a:latin typeface="Segoe UI"/>
              </a:rPr>
              <a:t>14</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396938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Sixty Years in Five Waves</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  ·  Handout p. 6     </a:t>
            </a:r>
            <a:fld id="{65601979-C6A7-43E5-849C-EC782461BCB2}" type="slidenum">
              <a:rPr lang="en-GB" sz="1000">
                <a:solidFill>
                  <a:srgbClr val="8795A1"/>
                </a:solidFill>
                <a:latin typeface="Segoe UI"/>
              </a:rPr>
              <a:t>15</a:t>
            </a:fld>
          </a:p>
        </p:txBody>
      </p:sp>
      <p:graphicFrame>
        <p:nvGraphicFramePr>
          <p:cNvPr id="7" name="!!table"/>
          <p:cNvGraphicFramePr>
            <a:graphicFrameLocks noGrp="1"/>
          </p:cNvGraphicFramePr>
          <p:nvPr/>
        </p:nvGraphicFramePr>
        <p:xfrm>
          <a:off x="658368" y="1737360"/>
          <a:ext cx="10874958" cy="3986784"/>
        </p:xfrm>
        <a:graphic>
          <a:graphicData uri="http://schemas.openxmlformats.org/drawingml/2006/table">
            <a:tbl>
              <a:tblPr firstRow="0" bandRow="0" firstCol="0" lastRow="0" lastCol="0" bandCol="0">
                <a:tableStyleId>{2D5ABB26-0587-4C30-8999-92F81FD0307C}</a:tableStyleId>
              </a:tblPr>
              <a:tblGrid>
                <a:gridCol w="1812493"/>
                <a:gridCol w="3914985"/>
                <a:gridCol w="5147480"/>
              </a:tblGrid>
              <a:tr h="329184">
                <a:tc>
                  <a:txBody>
                    <a:bodyPr wrap="square"/>
                    <a:lstStyle/>
                    <a:p>
                      <a:pPr algn="l"/>
                      <a:r>
                        <a:rPr sz="1200" b="1" i="0">
                          <a:solidFill>
                            <a:srgbClr val="1A5276"/>
                          </a:solidFill>
                          <a:latin typeface="Segoe UI"/>
                        </a:rPr>
                        <a:t>Period</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What was achieved</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Why it stalled</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29184">
                <a:tc>
                  <a:txBody>
                    <a:bodyPr wrap="square"/>
                    <a:lstStyle/>
                    <a:p>
                      <a:pPr algn="l"/>
                      <a:r>
                        <a:rPr sz="1200" b="1" i="0">
                          <a:solidFill>
                            <a:srgbClr val="1C252B"/>
                          </a:solidFill>
                          <a:latin typeface="Segoe UI"/>
                        </a:rPr>
                        <a:t>Period</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1" i="0">
                          <a:solidFill>
                            <a:srgbClr val="1C252B"/>
                          </a:solidFill>
                          <a:latin typeface="Segoe UI"/>
                        </a:rPr>
                        <a:t>What was achieved</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1" i="0">
                          <a:solidFill>
                            <a:srgbClr val="1C252B"/>
                          </a:solidFill>
                          <a:latin typeface="Segoe UI"/>
                        </a:rPr>
                        <a:t>Why it stalled</a:t>
                      </a:r>
                      <a:endParaRPr sz="1200"/>
                    </a:p>
                  </a:txBody>
                  <a:tcPr marL="109728" marR="109728" marT="64008" marB="45720" anchor="t">
                    <a:lnL w="0" cmpd="sng">
                      <a:noFill/>
                    </a:lnL>
                    <a:lnR w="0" cmpd="sng">
                      <a:noFill/>
                    </a:lnR>
                    <a:lnT w="9525" cmpd="sng">
                      <a:noFill/>
                    </a:lnT>
                    <a:lnB w="9525" cmpd="sng">
                      <a:noFill/>
                    </a:lnB>
                    <a:solidFill>
                      <a:srgbClr val="FFFFFF"/>
                    </a:solidFill>
                  </a:tcPr>
                </a:tc>
              </a:tr>
              <a:tr h="877824">
                <a:tc>
                  <a:txBody>
                    <a:bodyPr wrap="square"/>
                    <a:lstStyle/>
                    <a:p>
                      <a:pPr algn="l"/>
                      <a:r>
                        <a:rPr sz="1200" b="0" i="0">
                          <a:solidFill>
                            <a:srgbClr val="1C252B"/>
                          </a:solidFill>
                          <a:latin typeface="Segoe UI"/>
                        </a:rPr>
                        <a:t>1943–1956 </a:t>
                      </a:r>
                      <a:r>
                        <a:rPr sz="1200" b="0" i="1">
                          <a:solidFill>
                            <a:srgbClr val="1C252B"/>
                          </a:solidFill>
                          <a:latin typeface="Segoe UI"/>
                        </a:rPr>
                        <a:t>Foundations</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McCulloch and Pitts’ artificial neuron; Turing’s 1950 paper and his test; the 1956 Dartmouth workshop, which named the field.</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Nothing stalled yet. The founding claim — that every aspect of intelligence could be “so precisely described that a machine can be made to simulate it” — set the expectations that the next twenty years failed to meet.</a:t>
                      </a:r>
                      <a:endParaRPr sz="1200"/>
                    </a:p>
                  </a:txBody>
                  <a:tcPr marL="109728" marR="109728" marT="64008" marB="45720" anchor="t">
                    <a:lnL w="0" cmpd="sng">
                      <a:noFill/>
                    </a:lnL>
                    <a:lnR w="0" cmpd="sng">
                      <a:noFill/>
                    </a:lnR>
                    <a:lnT w="9525" cmpd="sng">
                      <a:noFill/>
                    </a:lnT>
                    <a:lnB w="9525" cmpd="sng">
                      <a:noFill/>
                    </a:lnB>
                    <a:solidFill>
                      <a:srgbClr val="F2F8FC"/>
                    </a:solidFill>
                  </a:tcPr>
                </a:tc>
              </a:tr>
              <a:tr h="877824">
                <a:tc>
                  <a:txBody>
                    <a:bodyPr wrap="square"/>
                    <a:lstStyle/>
                    <a:p>
                      <a:pPr algn="l"/>
                      <a:r>
                        <a:rPr sz="1200" b="0" i="0">
                          <a:solidFill>
                            <a:srgbClr val="1C252B"/>
                          </a:solidFill>
                          <a:latin typeface="Segoe UI"/>
                        </a:rPr>
                        <a:t>1956–1974 </a:t>
                      </a:r>
                      <a:r>
                        <a:rPr sz="1200" b="0" i="1">
                          <a:solidFill>
                            <a:srgbClr val="1C252B"/>
                          </a:solidFill>
                          <a:latin typeface="Segoe UI"/>
                        </a:rPr>
                        <a:t>Search and the general solver</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The Logic Theorist and the General Problem Solver (Chapter 9); Samuel’s checkers player; Eliza (Chapter 18); early perceptrons (Chapter 17).</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1" i="0">
                          <a:solidFill>
                            <a:srgbClr val="1A5276"/>
                          </a:solidFill>
                          <a:latin typeface="Segoe UI"/>
                        </a:rPr>
                        <a:t>Combinatorial explosion</a:t>
                      </a:r>
                      <a:r>
                        <a:rPr sz="1200" b="0" i="0">
                          <a:solidFill>
                            <a:srgbClr val="1C252B"/>
                          </a:solidFill>
                          <a:latin typeface="Segoe UI"/>
                        </a:rPr>
                        <a:t>. The methods worked on toy problems and died on real ones: a search that is fine at depth 6 is hopeless at depth 20. Minsky and Papert’s 1969 analysis of the perceptron’s limits closed the neural line for fifteen years.</a:t>
                      </a:r>
                      <a:endParaRPr sz="1200"/>
                    </a:p>
                  </a:txBody>
                  <a:tcPr marL="109728" marR="109728" marT="64008" marB="45720" anchor="t">
                    <a:lnL w="0" cmpd="sng">
                      <a:noFill/>
                    </a:lnL>
                    <a:lnR w="0" cmpd="sng">
                      <a:noFill/>
                    </a:lnR>
                    <a:lnT w="9525" cmpd="sng">
                      <a:noFill/>
                    </a:lnT>
                    <a:lnB w="9525" cmpd="sng">
                      <a:noFill/>
                    </a:lnB>
                    <a:solidFill>
                      <a:srgbClr val="FFFFFF"/>
                    </a:solidFill>
                  </a:tcPr>
                </a:tc>
              </a:tr>
              <a:tr h="694944">
                <a:tc>
                  <a:txBody>
                    <a:bodyPr wrap="square"/>
                    <a:lstStyle/>
                    <a:p>
                      <a:pPr algn="l"/>
                      <a:r>
                        <a:rPr sz="1200" b="0" i="0">
                          <a:solidFill>
                            <a:srgbClr val="1C252B"/>
                          </a:solidFill>
                          <a:latin typeface="Segoe UI"/>
                        </a:rPr>
                        <a:t>1974–1980 </a:t>
                      </a:r>
                      <a:r>
                        <a:rPr sz="1200" b="0" i="1">
                          <a:solidFill>
                            <a:srgbClr val="1C252B"/>
                          </a:solidFill>
                          <a:latin typeface="Segoe UI"/>
                        </a:rPr>
                        <a:t>First winter</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The Lighthill report (1973) in the UK and DARPA’s withdrawal in the US ended general AI funding. The diagnosis was correct: the field had solved the easy half of its problems and called it progress.</a:t>
                      </a:r>
                      <a:endParaRPr sz="1200"/>
                    </a:p>
                  </a:txBody>
                  <a:tcPr marL="109728" marR="109728" marT="64008" marB="45720" anchor="t">
                    <a:lnL w="0" cmpd="sng">
                      <a:noFill/>
                    </a:lnL>
                    <a:lnR w="0" cmpd="sng">
                      <a:noFill/>
                    </a:lnR>
                    <a:lnT w="9525" cmpd="sng">
                      <a:noFill/>
                    </a:lnT>
                    <a:lnB w="9525" cmpd="sng">
                      <a:noFill/>
                    </a:lnB>
                    <a:solidFill>
                      <a:srgbClr val="F2F8FC"/>
                    </a:solidFill>
                  </a:tcPr>
                </a:tc>
              </a:tr>
              <a:tr h="877824">
                <a:tc>
                  <a:txBody>
                    <a:bodyPr wrap="square"/>
                    <a:lstStyle/>
                    <a:p>
                      <a:pPr algn="l"/>
                      <a:r>
                        <a:rPr sz="1200" b="0" i="0">
                          <a:solidFill>
                            <a:srgbClr val="1C252B"/>
                          </a:solidFill>
                          <a:latin typeface="Segoe UI"/>
                        </a:rPr>
                        <a:t>1980–1987 </a:t>
                      </a:r>
                      <a:r>
                        <a:rPr sz="1200" b="0" i="1">
                          <a:solidFill>
                            <a:srgbClr val="1C252B"/>
                          </a:solidFill>
                          <a:latin typeface="Segoe UI"/>
                        </a:rPr>
                        <a:t>Expert systems</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200" b="0" i="0">
                          <a:solidFill>
                            <a:srgbClr val="1C252B"/>
                          </a:solidFill>
                          <a:latin typeface="Segoe UI"/>
                        </a:rPr>
                        <a:t>Knowledge, not cleverness, as the engine: MYCIN, XCON, and a commercial industry in rule-based systems (Chapter 13). Japan’s Fifth Generation project.</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200" b="0" i="0">
                          <a:solidFill>
                            <a:srgbClr val="1C252B"/>
                          </a:solidFill>
                          <a:latin typeface="Segoe UI"/>
                        </a:rPr>
                        <a:t>The </a:t>
                      </a:r>
                      <a:r>
                        <a:rPr sz="1200" b="1" i="0">
                          <a:solidFill>
                            <a:srgbClr val="1A5276"/>
                          </a:solidFill>
                          <a:latin typeface="Segoe UI"/>
                        </a:rPr>
                        <a:t>knowledge acquisition bottleneck</a:t>
                      </a:r>
                      <a:r>
                        <a:rPr sz="1200" b="0" i="0">
                          <a:solidFill>
                            <a:srgbClr val="1C252B"/>
                          </a:solidFill>
                          <a:latin typeface="Segoe UI"/>
                        </a:rPr>
                        <a:t>. Rules had to be elicited from experts one at a time, could not be learned, grew brittle at a few thousand rules, and degraded catastrophically rather than gracefully at the edge of their competence.</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425291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Sixty Years in Five Waves (continued)</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  ·  Handout p. 6     </a:t>
            </a:r>
            <a:fld id="{786D0329-27B3-41F3-A789-46FB6024E6E1}" type="slidenum">
              <a:rPr lang="en-GB" sz="1000">
                <a:solidFill>
                  <a:srgbClr val="8795A1"/>
                </a:solidFill>
                <a:latin typeface="Segoe UI"/>
              </a:rPr>
              <a:t>16</a:t>
            </a:fld>
          </a:p>
        </p:txBody>
      </p:sp>
      <p:graphicFrame>
        <p:nvGraphicFramePr>
          <p:cNvPr id="7" name="!!table"/>
          <p:cNvGraphicFramePr>
            <a:graphicFrameLocks noGrp="1"/>
          </p:cNvGraphicFramePr>
          <p:nvPr/>
        </p:nvGraphicFramePr>
        <p:xfrm>
          <a:off x="658368" y="1737360"/>
          <a:ext cx="10874958" cy="2779776"/>
        </p:xfrm>
        <a:graphic>
          <a:graphicData uri="http://schemas.openxmlformats.org/drawingml/2006/table">
            <a:tbl>
              <a:tblPr firstRow="0" bandRow="0" firstCol="0" lastRow="0" lastCol="0" bandCol="0">
                <a:tableStyleId>{2D5ABB26-0587-4C30-8999-92F81FD0307C}</a:tableStyleId>
              </a:tblPr>
              <a:tblGrid>
                <a:gridCol w="1812493"/>
                <a:gridCol w="3914985"/>
                <a:gridCol w="5147480"/>
              </a:tblGrid>
              <a:tr h="329184">
                <a:tc>
                  <a:txBody>
                    <a:bodyPr wrap="square"/>
                    <a:lstStyle/>
                    <a:p>
                      <a:pPr algn="l"/>
                      <a:r>
                        <a:rPr sz="1200" b="1" i="0">
                          <a:solidFill>
                            <a:srgbClr val="1A5276"/>
                          </a:solidFill>
                          <a:latin typeface="Segoe UI"/>
                        </a:rPr>
                        <a:t>Period</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What was achieved</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Why it stalled</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94944">
                <a:tc>
                  <a:txBody>
                    <a:bodyPr wrap="square"/>
                    <a:lstStyle/>
                    <a:p>
                      <a:pPr algn="l"/>
                      <a:r>
                        <a:rPr sz="1200" b="0" i="0">
                          <a:solidFill>
                            <a:srgbClr val="1C252B"/>
                          </a:solidFill>
                          <a:latin typeface="Segoe UI"/>
                        </a:rPr>
                        <a:t>1987–1993 </a:t>
                      </a:r>
                      <a:r>
                        <a:rPr sz="1200" b="0" i="1">
                          <a:solidFill>
                            <a:srgbClr val="1C252B"/>
                          </a:solidFill>
                          <a:latin typeface="Segoe UI"/>
                        </a:rPr>
                        <a:t>Second winter</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The specialised hardware market collapsed; “AI” became a word firms avoided in prospectuses. The research continued under other names — “knowledge-based systems”, “decision support”.</a:t>
                      </a:r>
                      <a:endParaRPr sz="1200"/>
                    </a:p>
                  </a:txBody>
                  <a:tcPr marL="109728" marR="109728" marT="64008" marB="45720" anchor="t">
                    <a:lnL w="0" cmpd="sng">
                      <a:noFill/>
                    </a:lnL>
                    <a:lnR w="0" cmpd="sng">
                      <a:noFill/>
                    </a:lnR>
                    <a:lnT w="9525" cmpd="sng">
                      <a:noFill/>
                    </a:lnT>
                    <a:lnB w="9525" cmpd="sng">
                      <a:noFill/>
                    </a:lnB>
                    <a:solidFill>
                      <a:srgbClr val="FFFFFF"/>
                    </a:solidFill>
                  </a:tcPr>
                </a:tc>
              </a:tr>
              <a:tr h="1060704">
                <a:tc>
                  <a:txBody>
                    <a:bodyPr wrap="square"/>
                    <a:lstStyle/>
                    <a:p>
                      <a:pPr algn="l"/>
                      <a:r>
                        <a:rPr sz="1200" b="0" i="0">
                          <a:solidFill>
                            <a:srgbClr val="1C252B"/>
                          </a:solidFill>
                          <a:latin typeface="Segoe UI"/>
                        </a:rPr>
                        <a:t>1993–2011 </a:t>
                      </a:r>
                      <a:r>
                        <a:rPr sz="1200" b="0" i="1">
                          <a:solidFill>
                            <a:srgbClr val="1C252B"/>
                          </a:solidFill>
                          <a:latin typeface="Segoe UI"/>
                        </a:rPr>
                        <a:t>The quiet, successful period</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The rational-agent reframing that this course follows; probability and Bayesian networks (Chapter 15); Deep Blue (1997); statistical machine translation; search engines and recommenders. AI methods everywhere, under other names.</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It did not stall. It stopped claiming to be AI, which is why this era is the least famous and the most useful.</a:t>
                      </a:r>
                      <a:endParaRPr sz="1200"/>
                    </a:p>
                  </a:txBody>
                  <a:tcPr marL="109728" marR="109728" marT="64008" marB="45720" anchor="t">
                    <a:lnL w="0" cmpd="sng">
                      <a:noFill/>
                    </a:lnL>
                    <a:lnR w="0" cmpd="sng">
                      <a:noFill/>
                    </a:lnR>
                    <a:lnT w="9525" cmpd="sng">
                      <a:noFill/>
                    </a:lnT>
                    <a:lnB w="9525" cmpd="sng">
                      <a:noFill/>
                    </a:lnB>
                    <a:solidFill>
                      <a:srgbClr val="F2F8FC"/>
                    </a:solidFill>
                  </a:tcPr>
                </a:tc>
              </a:tr>
              <a:tr h="694944">
                <a:tc>
                  <a:txBody>
                    <a:bodyPr wrap="square"/>
                    <a:lstStyle/>
                    <a:p>
                      <a:pPr algn="l"/>
                      <a:r>
                        <a:rPr sz="1200" b="0" i="0">
                          <a:solidFill>
                            <a:srgbClr val="1C252B"/>
                          </a:solidFill>
                          <a:latin typeface="Segoe UI"/>
                        </a:rPr>
                        <a:t>2012–present </a:t>
                      </a:r>
                      <a:r>
                        <a:rPr sz="1200" b="0" i="1">
                          <a:solidFill>
                            <a:srgbClr val="1C252B"/>
                          </a:solidFill>
                          <a:latin typeface="Segoe UI"/>
                        </a:rPr>
                        <a:t>Learning at scale</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200" b="0" i="0">
                          <a:solidFill>
                            <a:srgbClr val="1C252B"/>
                          </a:solidFill>
                          <a:latin typeface="Segoe UI"/>
                        </a:rPr>
                        <a:t>Deep networks, then transformers and large language models; systems that write fluent text and usable code (Chapter 20).</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200" b="0" i="0">
                          <a:solidFill>
                            <a:srgbClr val="1C252B"/>
                          </a:solidFill>
                          <a:latin typeface="Segoe UI"/>
                        </a:rPr>
                        <a:t>Still open. The symbolic questions this course teaches — can it prove it, can it explain it, can it guarantee the constraint holds — are exactly the ones the current wave answers least well (Chapter 21).</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453644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pattern worth taking from the history</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  ·  Handout p. 6     </a:t>
            </a:r>
            <a:fld id="{9B7C571C-0AD2-47A7-9F26-7932BF8D4FF3}"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63314"/>
          </a:xfrm>
          <a:prstGeom prst="roundRect">
            <a:avLst>
              <a:gd name="adj" fmla="val 225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63314"/>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Every winter arrived the same way: a method that worked at small scale was sold as a method that worked, and the gap was discovered by customers rather than by researchers. The methods themselves were not discredited — minimax, resolution and rule engines are all in production today, in this book’s Chapters 8, 12 and 13. What was discredited each time was a claim about their </a:t>
            </a:r>
            <a:r>
              <a:rPr sz="2300" b="0" i="1">
                <a:solidFill>
                  <a:srgbClr val="1C252B"/>
                </a:solidFill>
                <a:latin typeface="Segoe UI"/>
              </a:rPr>
              <a:t>reach</a:t>
            </a:r>
            <a:r>
              <a:rPr sz="2300" b="0" i="0">
                <a:solidFill>
                  <a:srgbClr val="1C252B"/>
                </a:solidFill>
                <a:latin typeface="Segoe UI"/>
              </a:rPr>
              <a:t>.</a:t>
            </a:r>
          </a:p>
        </p:txBody>
      </p:sp>
      <p:sp>
        <p:nvSpPr>
          <p:cNvPr id="10" name="body-1"/>
          <p:cNvSpPr txBox="1"/>
          <p:nvPr/>
        </p:nvSpPr>
        <p:spPr>
          <a:xfrm>
            <a:off x="1060704" y="43961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You will be asked to make that kind of claim in your own career, probably about something you built over a weekend that worked beautifully on twenty examples. Chapter 21 gives you the vocabulary to make it honestly.</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481997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What This Course Teaches, and What It Does Not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6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1.6</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   Two Programs in a Project Office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   Four Definitions, Two Axes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   Is It AI? A Checklist</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   The Branches of AI</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   Sixty Years in Five Waves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1.6   What This Course Teaches, and What It Does Not</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§1.6     </a:t>
            </a:r>
            <a:fld id="{A6F818A9-6202-4A4D-AEED-4868E18EFA29}" type="slidenum">
              <a:rPr lang="en-GB" sz="1000">
                <a:solidFill>
                  <a:srgbClr val="8795A1"/>
                </a:solidFill>
                <a:latin typeface="Segoe UI"/>
              </a:rPr>
              <a:t>18</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510350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This Course Teaches, and What It Does Not</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1.3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  ·  Handout p. 8     </a:t>
            </a:r>
            <a:fld id="{43AEE4C5-3A3A-4454-969A-6156E851015E}" type="slidenum">
              <a:rPr lang="en-GB" sz="1000">
                <a:solidFill>
                  <a:srgbClr val="8795A1"/>
                </a:solidFill>
                <a:latin typeface="Segoe UI"/>
              </a:rPr>
              <a:t>19</a:t>
            </a:fld>
          </a:p>
        </p:txBody>
      </p:sp>
      <p:pic>
        <p:nvPicPr>
          <p:cNvPr id="6" name="!!figure" descr="Figure 1.3. Artificial intelligence, machine learning and data science, separated by what each is given and what each must work out. The distinction is not the technique; it is where the rules come from."/>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89472" y="1737360"/>
            <a:ext cx="9612750"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Artificial intelligence, machine learning and data science, separated by what each is given and what each must work out. The distinction is not the technique; it is where the rules come from.</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38702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Auditing one tool against the five tests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  ·  Handout p. 8     </a:t>
            </a:r>
            <a:fld id="{E8A2F9F2-C192-45A6-B441-F244364C119F}"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825494"/>
          </a:xfrm>
          <a:prstGeom prst="roundRect">
            <a:avLst>
              <a:gd name="adj" fmla="val 239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82549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office’s </a:t>
            </a:r>
            <a:r>
              <a:rPr sz="1900" b="0" i="1">
                <a:solidFill>
                  <a:srgbClr val="1C252B"/>
                </a:solidFill>
                <a:latin typeface="Segoe UI"/>
              </a:rPr>
              <a:t>duplicate-ticket finder</a:t>
            </a:r>
            <a:r>
              <a:rPr sz="1900" b="0" i="0">
                <a:solidFill>
                  <a:srgbClr val="1C252B"/>
                </a:solidFill>
                <a:latin typeface="Segoe UI"/>
              </a:rPr>
              <a:t> takes each new ticket and flags the three existing tickets most similar to it, so the service desk can merge them. Its similarity measure is tuned monthly against the merges the desk actually made. Score it.</a:t>
            </a:r>
          </a:p>
        </p:txBody>
      </p:sp>
      <p:sp>
        <p:nvSpPr>
          <p:cNvPr id="10" name="body-1"/>
          <p:cNvSpPr txBox="1"/>
          <p:nvPr/>
        </p:nvSpPr>
        <p:spPr>
          <a:xfrm>
            <a:off x="1042416" y="3047822"/>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1. Goal?</a:t>
            </a:r>
            <a:r>
              <a:rPr sz="1900" b="0" i="0">
                <a:solidFill>
                  <a:srgbClr val="1C252B"/>
                </a:solidFill>
                <a:latin typeface="Segoe UI"/>
              </a:rPr>
              <a:t> </a:t>
            </a:r>
            <a:r>
              <a:rPr sz="1900" b="0" i="1">
                <a:solidFill>
                  <a:srgbClr val="1C252B"/>
                </a:solidFill>
                <a:latin typeface="Segoe UI"/>
              </a:rPr>
              <a:t>No.</a:t>
            </a:r>
            <a:r>
              <a:rPr sz="1900" b="0" i="0">
                <a:solidFill>
                  <a:srgbClr val="1C252B"/>
                </a:solidFill>
                <a:latin typeface="Segoe UI"/>
              </a:rPr>
              <a:t> The brief is a procedure: compute similarity, return the top three. There is no objective it is trying to do well by; if the desk wanted the top five it would be a different program.</a:t>
            </a:r>
          </a:p>
        </p:txBody>
      </p:sp>
      <p:sp>
        <p:nvSpPr>
          <p:cNvPr id="11" name="body-2"/>
          <p:cNvSpPr txBox="1"/>
          <p:nvPr/>
        </p:nvSpPr>
        <p:spPr>
          <a:xfrm>
            <a:off x="1042416" y="4083964"/>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2. Search?</a:t>
            </a:r>
            <a:r>
              <a:rPr sz="1900" b="0" i="0">
                <a:solidFill>
                  <a:srgbClr val="1C252B"/>
                </a:solidFill>
                <a:latin typeface="Segoe UI"/>
              </a:rPr>
              <a:t> </a:t>
            </a:r>
            <a:r>
              <a:rPr sz="1900" b="0" i="1">
                <a:solidFill>
                  <a:srgbClr val="1C252B"/>
                </a:solidFill>
                <a:latin typeface="Segoe UI"/>
              </a:rPr>
              <a:t>No.</a:t>
            </a:r>
            <a:r>
              <a:rPr sz="1900" b="0" i="0">
                <a:solidFill>
                  <a:srgbClr val="1C252B"/>
                </a:solidFill>
                <a:latin typeface="Segoe UI"/>
              </a:rPr>
              <a:t> It scores every candidate and returns the best three. Scoring all alternatives and ranking them is not search — there is no point at which the program commits to a partial choice and explores its consequences. Compare Chapter 4, where a decision about task 3 changes which states are reachable at all.</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567055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Auditing one tool against the five tests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  ·  Handout p. 8     </a:t>
            </a:r>
            <a:fld id="{F1DB622B-523C-4F56-9B09-B942C196621C}"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958209"/>
          </a:xfrm>
          <a:prstGeom prst="roundRect">
            <a:avLst>
              <a:gd name="adj" fmla="val 231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95820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3. Knowledge?</a:t>
            </a:r>
            <a:r>
              <a:rPr sz="1900" b="0" i="0">
                <a:solidFill>
                  <a:srgbClr val="1C252B"/>
                </a:solidFill>
                <a:latin typeface="Segoe UI"/>
              </a:rPr>
              <a:t> </a:t>
            </a:r>
            <a:r>
              <a:rPr sz="1900" b="0" i="1">
                <a:solidFill>
                  <a:srgbClr val="1C252B"/>
                </a:solidFill>
                <a:latin typeface="Segoe UI"/>
              </a:rPr>
              <a:t>No.</a:t>
            </a:r>
            <a:r>
              <a:rPr sz="1900" b="0" i="0">
                <a:solidFill>
                  <a:srgbClr val="1C252B"/>
                </a:solidFill>
                <a:latin typeface="Segoe UI"/>
              </a:rPr>
              <a:t> The similarity weights are numbers in a configuration file. A service-desk manager cannot read them and say “that is wrong, a database timeout is not like a login failure”.</a:t>
            </a:r>
          </a:p>
        </p:txBody>
      </p:sp>
      <p:sp>
        <p:nvSpPr>
          <p:cNvPr id="10" name="body-1"/>
          <p:cNvSpPr txBox="1"/>
          <p:nvPr/>
        </p:nvSpPr>
        <p:spPr>
          <a:xfrm>
            <a:off x="1042416" y="3047822"/>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4. Adaptation?</a:t>
            </a:r>
            <a:r>
              <a:rPr sz="1900" b="0" i="0">
                <a:solidFill>
                  <a:srgbClr val="1C252B"/>
                </a:solidFill>
                <a:latin typeface="Segoe UI"/>
              </a:rPr>
              <a:t> </a:t>
            </a:r>
            <a:r>
              <a:rPr sz="1900" b="0" i="1">
                <a:solidFill>
                  <a:srgbClr val="1C252B"/>
                </a:solidFill>
                <a:latin typeface="Segoe UI"/>
              </a:rPr>
              <a:t>Yes.</a:t>
            </a:r>
            <a:r>
              <a:rPr sz="1900" b="0" i="0">
                <a:solidFill>
                  <a:srgbClr val="1C252B"/>
                </a:solidFill>
                <a:latin typeface="Segoe UI"/>
              </a:rPr>
              <a:t> Behaviour changes monthly on the evidence of past merges, with nobody editing the code.</a:t>
            </a:r>
          </a:p>
        </p:txBody>
      </p:sp>
      <p:sp>
        <p:nvSpPr>
          <p:cNvPr id="11" name="body-2"/>
          <p:cNvSpPr txBox="1"/>
          <p:nvPr/>
        </p:nvSpPr>
        <p:spPr>
          <a:xfrm>
            <a:off x="1042416" y="378282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5. Explanation?</a:t>
            </a:r>
            <a:r>
              <a:rPr sz="1900" b="0" i="0">
                <a:solidFill>
                  <a:srgbClr val="1C252B"/>
                </a:solidFill>
                <a:latin typeface="Segoe UI"/>
              </a:rPr>
              <a:t> </a:t>
            </a:r>
            <a:r>
              <a:rPr sz="1900" b="0" i="1">
                <a:solidFill>
                  <a:srgbClr val="1C252B"/>
                </a:solidFill>
                <a:latin typeface="Segoe UI"/>
              </a:rPr>
              <a:t>No.</a:t>
            </a:r>
            <a:r>
              <a:rPr sz="1900" b="0" i="0">
                <a:solidFill>
                  <a:srgbClr val="1C252B"/>
                </a:solidFill>
                <a:latin typeface="Segoe UI"/>
              </a:rPr>
              <a:t> It reports a similarity score. A score is a number, not a reason.</a:t>
            </a:r>
          </a:p>
        </p:txBody>
      </p:sp>
      <p:sp>
        <p:nvSpPr>
          <p:cNvPr id="12" name="body-3"/>
          <p:cNvSpPr txBox="1"/>
          <p:nvPr/>
        </p:nvSpPr>
        <p:spPr>
          <a:xfrm>
            <a:off x="1042416" y="4216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Score: 1 of 5</a:t>
            </a:r>
            <a:r>
              <a:rPr sz="1900" b="0" i="0">
                <a:solidFill>
                  <a:srgbClr val="1C252B"/>
                </a:solidFill>
                <a:latin typeface="Segoe UI"/>
              </a:rPr>
              <a:t> — and the one point is adaptation, the single test that this course does not teach. That is the correct verdict, and the useful one: the duplicate finder is a good tool and it is not an AI problem in the sense of this course. It is the machine learning course’s problem. Contrast the sprint scheduler, which scores 4 and whose one missing point is adaptation.</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595408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right)">
                                      <p:cBhvr>
                                        <p:cTn id="13" dur="42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right)">
                                      <p:cBhvr>
                                        <p:cTn id="18" dur="42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right)">
                                      <p:cBhvr>
                                        <p:cTn id="23"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  ·  Handout p. 8     </a:t>
            </a:r>
            <a:fld id="{CD58A7B8-2B8B-4B2A-BD3F-9FE12830C27C}" type="slidenum">
              <a:rPr lang="en-GB" sz="1000">
                <a:solidFill>
                  <a:srgbClr val="8795A1"/>
                </a:solidFill>
                <a:latin typeface="Segoe UI"/>
              </a:rPr>
              <a:t>22</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855878"/>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Treating “AI” as a synonym for “machine learning”.</a:t>
            </a:r>
            <a:r>
              <a:rPr sz="1800" b="0" i="0">
                <a:solidFill>
                  <a:srgbClr val="1C252B"/>
                </a:solidFill>
                <a:latin typeface="Segoe UI"/>
              </a:rPr>
              <a:t> It is the most common error in this subject, and it makes whole categories of problem invisible. If a constraint must </a:t>
            </a:r>
            <a:r>
              <a:rPr sz="1800" b="0" i="1">
                <a:solidFill>
                  <a:srgbClr val="1C252B"/>
                </a:solidFill>
                <a:latin typeface="Segoe UI"/>
              </a:rPr>
              <a:t>never</a:t>
            </a:r>
            <a:r>
              <a:rPr sz="1800" b="0" i="0">
                <a:solidFill>
                  <a:srgbClr val="1C252B"/>
                </a:solidFill>
                <a:latin typeface="Segoe UI"/>
              </a:rPr>
              <a:t> be violated, no amount of training data is the answer; you need Chapter 7.</a:t>
            </a:r>
          </a:p>
        </p:txBody>
      </p:sp>
      <p:sp>
        <p:nvSpPr>
          <p:cNvPr id="10" name="!!pb1">
            <a:extLst>
              <a:ext uri="{C183D7F6-B498-43B3-948B-1728B52AA6E4}">
                <adec:decorative xmlns:adec="http://schemas.microsoft.com/office/drawing/2017/decorative" val="1"/>
              </a:ext>
            </a:extLst>
          </p:cNvPr>
          <p:cNvSpPr/>
          <p:nvPr/>
        </p:nvSpPr>
        <p:spPr>
          <a:xfrm>
            <a:off x="658368" y="281269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83555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794406"/>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Reading the four quadrants of Figure 1.1 as a ranking.</a:t>
            </a:r>
            <a:r>
              <a:rPr sz="1800" b="0" i="0">
                <a:solidFill>
                  <a:srgbClr val="1C252B"/>
                </a:solidFill>
                <a:latin typeface="Segoe UI"/>
              </a:rPr>
              <a:t> They are different goals with different evidence. A program can be excellent in one and worthless in the neighbouring one.</a:t>
            </a:r>
          </a:p>
        </p:txBody>
      </p:sp>
      <p:sp>
        <p:nvSpPr>
          <p:cNvPr id="13" name="!!pb2">
            <a:extLst>
              <a:ext uri="{C183D7F6-B498-43B3-948B-1728B52AA6E4}">
                <adec:decorative xmlns:adec="http://schemas.microsoft.com/office/drawing/2017/decorative" val="1"/>
              </a:ext>
            </a:extLst>
          </p:cNvPr>
          <p:cNvSpPr/>
          <p:nvPr/>
        </p:nvSpPr>
        <p:spPr>
          <a:xfrm>
            <a:off x="658368" y="35844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607308"/>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566160"/>
            <a:ext cx="10271455" cy="855878"/>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Assuming a program that scores well on the checklist is a good program.</a:t>
            </a:r>
            <a:r>
              <a:rPr sz="1800" b="0" i="0">
                <a:solidFill>
                  <a:srgbClr val="1C252B"/>
                </a:solidFill>
                <a:latin typeface="Segoe UI"/>
              </a:rPr>
              <a:t> The checklist identifies the </a:t>
            </a:r>
            <a:r>
              <a:rPr sz="1800" b="0" i="1">
                <a:solidFill>
                  <a:srgbClr val="1C252B"/>
                </a:solidFill>
                <a:latin typeface="Segoe UI"/>
              </a:rPr>
              <a:t>kind</a:t>
            </a:r>
            <a:r>
              <a:rPr sz="1800" b="0" i="0">
                <a:solidFill>
                  <a:srgbClr val="1C252B"/>
                </a:solidFill>
                <a:latin typeface="Segoe UI"/>
              </a:rPr>
              <a:t> of system, not its quality. The highest-scoring system in an office can be the one that should be deleted.</a:t>
            </a:r>
          </a:p>
        </p:txBody>
      </p:sp>
      <p:sp>
        <p:nvSpPr>
          <p:cNvPr id="16" name="!!pb3">
            <a:extLst>
              <a:ext uri="{C183D7F6-B498-43B3-948B-1728B52AA6E4}">
                <adec:decorative xmlns:adec="http://schemas.microsoft.com/office/drawing/2017/decorative" val="1"/>
              </a:ext>
            </a:extLst>
          </p:cNvPr>
          <p:cNvSpPr/>
          <p:nvPr/>
        </p:nvSpPr>
        <p:spPr>
          <a:xfrm>
            <a:off x="658368" y="464149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66435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623206"/>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Believing the winters were caused by the methods failing.</a:t>
            </a:r>
            <a:r>
              <a:rPr sz="1800" b="0" i="0">
                <a:solidFill>
                  <a:srgbClr val="1C252B"/>
                </a:solidFill>
                <a:latin typeface="Segoe UI"/>
              </a:rPr>
              <a:t> Minimax, resolution and rule engines all still work and are all still deployed. What failed was a claim about how far they reached.</a:t>
            </a:r>
          </a:p>
        </p:txBody>
      </p:sp>
      <p:sp>
        <p:nvSpPr>
          <p:cNvPr id="19" name="!!pb4">
            <a:extLst>
              <a:ext uri="{C183D7F6-B498-43B3-948B-1728B52AA6E4}">
                <adec:decorative xmlns:adec="http://schemas.microsoft.com/office/drawing/2017/decorative" val="1"/>
              </a:ext>
            </a:extLst>
          </p:cNvPr>
          <p:cNvSpPr/>
          <p:nvPr/>
        </p:nvSpPr>
        <p:spPr>
          <a:xfrm>
            <a:off x="658368" y="54132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5436108"/>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5394960"/>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Calling a system “general” AI because it is fluent.</a:t>
            </a:r>
            <a:r>
              <a:rPr sz="1800" b="0" i="0">
                <a:solidFill>
                  <a:srgbClr val="1C252B"/>
                </a:solidFill>
                <a:latin typeface="Segoe UI"/>
              </a:rPr>
              <a:t> Fluency is the bottom-left quadrant — acting humanly. Chapter 19’s Eliza is two hundred lines long and was mistaken for a therapist in 1966.</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623761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Is It AI? A Five-Point Audit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  ·  Handout p. 8     </a:t>
            </a:r>
            <a:fld id="{8A5E3B96-5EDE-4198-BABC-C5737290508E}" type="slidenum">
              <a:rPr lang="en-GB" sz="1000">
                <a:solidFill>
                  <a:srgbClr val="8795A1"/>
                </a:solidFill>
                <a:latin typeface="Segoe UI"/>
              </a:rPr>
              <a:t>23</a:t>
            </a:fld>
          </a:p>
        </p:txBody>
      </p:sp>
      <p:sp>
        <p:nvSpPr>
          <p:cNvPr id="7" name="body-0"/>
          <p:cNvSpPr txBox="1"/>
          <p:nvPr/>
        </p:nvSpPr>
        <p:spPr>
          <a:xfrm>
            <a:off x="658368" y="1737360"/>
            <a:ext cx="10874959"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audit of the </a:t>
            </a:r>
            <a:r>
              <a:rPr sz="2000" b="0" i="1">
                <a:solidFill>
                  <a:srgbClr val="1C252B"/>
                </a:solidFill>
                <a:latin typeface="Segoe UI"/>
              </a:rPr>
              <a:t>examplebox</a:t>
            </a:r>
            <a:r>
              <a:rPr sz="2000" b="0" i="0">
                <a:solidFill>
                  <a:srgbClr val="1C252B"/>
                </a:solidFill>
                <a:latin typeface="Segoe UI"/>
              </a:rPr>
              <a:t> above, in code. Five tools from the project management office, five tests, one verdict each. Pure standard library: the point of this lab is the classification, not the computation.</a:t>
            </a:r>
          </a:p>
        </p:txBody>
      </p:sp>
      <p:sp>
        <p:nvSpPr>
          <p:cNvPr id="8" name="!!lfTHIS">
            <a:extLst>
              <a:ext uri="{C183D7F6-B498-43B3-948B-1728B52AA6E4}">
                <adec:decorative xmlns:adec="http://schemas.microsoft.com/office/drawing/2017/decorative" val="1"/>
              </a:ext>
            </a:extLst>
          </p:cNvPr>
          <p:cNvSpPr/>
          <p:nvPr/>
        </p:nvSpPr>
        <p:spPr>
          <a:xfrm>
            <a:off x="658368" y="2999232"/>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fbTHIS">
            <a:extLst>
              <a:ext uri="{C183D7F6-B498-43B3-948B-1728B52AA6E4}">
                <adec:decorative xmlns:adec="http://schemas.microsoft.com/office/drawing/2017/decorative" val="1"/>
              </a:ext>
            </a:extLst>
          </p:cNvPr>
          <p:cNvSpPr/>
          <p:nvPr/>
        </p:nvSpPr>
        <p:spPr>
          <a:xfrm>
            <a:off x="658368" y="2999232"/>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lflTHIS"/>
          <p:cNvSpPr txBox="1"/>
          <p:nvPr/>
        </p:nvSpPr>
        <p:spPr>
          <a:xfrm>
            <a:off x="932688" y="3163824"/>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11" name="!!lfvTHIS"/>
          <p:cNvSpPr txBox="1"/>
          <p:nvPr/>
        </p:nvSpPr>
        <p:spPr>
          <a:xfrm>
            <a:off x="932688" y="3456432"/>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500" b="0" i="0">
                <a:solidFill>
                  <a:srgbClr val="1C252B"/>
                </a:solidFill>
                <a:latin typeface="Segoe UI"/>
              </a:rPr>
              <a:t>Week 1: Is it AI? a five-point audit; a reflex agent on a ticket queue</a:t>
            </a:r>
          </a:p>
        </p:txBody>
      </p:sp>
      <p:sp>
        <p:nvSpPr>
          <p:cNvPr id="12" name="!!lfWHAT">
            <a:extLst>
              <a:ext uri="{C183D7F6-B498-43B3-948B-1728B52AA6E4}">
                <adec:decorative xmlns:adec="http://schemas.microsoft.com/office/drawing/2017/decorative" val="1"/>
              </a:ext>
            </a:extLst>
          </p:cNvPr>
          <p:cNvSpPr/>
          <p:nvPr/>
        </p:nvSpPr>
        <p:spPr>
          <a:xfrm>
            <a:off x="4374794" y="2999232"/>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lfbWHAT">
            <a:extLst>
              <a:ext uri="{C183D7F6-B498-43B3-948B-1728B52AA6E4}">
                <adec:decorative xmlns:adec="http://schemas.microsoft.com/office/drawing/2017/decorative" val="1"/>
              </a:ext>
            </a:extLst>
          </p:cNvPr>
          <p:cNvSpPr/>
          <p:nvPr/>
        </p:nvSpPr>
        <p:spPr>
          <a:xfrm>
            <a:off x="4374794" y="2999232"/>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flWHAT"/>
          <p:cNvSpPr txBox="1"/>
          <p:nvPr/>
        </p:nvSpPr>
        <p:spPr>
          <a:xfrm>
            <a:off x="4649114" y="3163824"/>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15" name="!!lfvWHAT"/>
          <p:cNvSpPr txBox="1"/>
          <p:nvPr/>
        </p:nvSpPr>
        <p:spPr>
          <a:xfrm>
            <a:off x="4649114" y="3456432"/>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84 lines of Python</a:t>
            </a:r>
          </a:p>
        </p:txBody>
      </p:sp>
      <p:sp>
        <p:nvSpPr>
          <p:cNvPr id="16" name="!!lfRUNN">
            <a:extLst>
              <a:ext uri="{C183D7F6-B498-43B3-948B-1728B52AA6E4}">
                <adec:decorative xmlns:adec="http://schemas.microsoft.com/office/drawing/2017/decorative" val="1"/>
              </a:ext>
            </a:extLst>
          </p:cNvPr>
          <p:cNvSpPr/>
          <p:nvPr/>
        </p:nvSpPr>
        <p:spPr>
          <a:xfrm>
            <a:off x="8091220" y="2999232"/>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lfbRUNN">
            <a:extLst>
              <a:ext uri="{C183D7F6-B498-43B3-948B-1728B52AA6E4}">
                <adec:decorative xmlns:adec="http://schemas.microsoft.com/office/drawing/2017/decorative" val="1"/>
              </a:ext>
            </a:extLst>
          </p:cNvPr>
          <p:cNvSpPr/>
          <p:nvPr/>
        </p:nvSpPr>
        <p:spPr>
          <a:xfrm>
            <a:off x="8091220" y="2999232"/>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lflRUNN"/>
          <p:cNvSpPr txBox="1"/>
          <p:nvPr/>
        </p:nvSpPr>
        <p:spPr>
          <a:xfrm>
            <a:off x="8365540" y="3163824"/>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19" name="!!lfvRUNN"/>
          <p:cNvSpPr txBox="1"/>
          <p:nvPr/>
        </p:nvSpPr>
        <p:spPr>
          <a:xfrm>
            <a:off x="8365540" y="3456432"/>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code/ch01_is_it_ai_five_point.py</a:t>
            </a:r>
          </a:p>
        </p:txBody>
      </p:sp>
      <p:sp>
        <p:nvSpPr>
          <p:cNvPr id="2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fill">
            <a:extLst>
              <a:ext uri="{C183D7F6-B498-43B3-948B-1728B52AA6E4}">
                <adec:decorative xmlns:adec="http://schemas.microsoft.com/office/drawing/2017/decorative" val="1"/>
              </a:ext>
            </a:extLst>
          </p:cNvPr>
          <p:cNvSpPr/>
          <p:nvPr/>
        </p:nvSpPr>
        <p:spPr>
          <a:xfrm>
            <a:off x="0" y="0"/>
            <a:ext cx="652113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Is It AI? A Five-Point Audit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  ·  Handout p. 8     </a:t>
            </a:r>
            <a:fld id="{CDCE2AFE-8D2D-441A-9F92-92D67EBACB90}" type="slidenum">
              <a:rPr lang="en-GB" sz="1000">
                <a:solidFill>
                  <a:srgbClr val="8795A1"/>
                </a:solidFill>
                <a:latin typeface="Segoe UI"/>
              </a:rPr>
              <a:t>24</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3346703"/>
          </a:xfrm>
          <a:prstGeom prst="roundRect">
            <a:avLst>
              <a:gd name="adj" fmla="val 273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code/ch01_is_it_ai_five_point.py</a:t>
            </a:r>
          </a:p>
        </p:txBody>
      </p:sp>
      <p:sp>
        <p:nvSpPr>
          <p:cNvPr id="13" name="!!code-text" descr="&quot;&quot;&quot;Chapter 1 lab -- Is it AI? A five-point audit. Score five programs from a project management office against the five tests of Section 1.3, and classify each one. Nothing here learns anything; the exercise is to separate programs that decide from programs that compute. &quot;&quot;&quot; TESTS = (&quot;goal&quot;, &quot;search&quot;, &quot;knowledge&quot;, &quot;adapts&quot;, &quot;explains&quot;)"/>
          <p:cNvSpPr txBox="1"/>
          <p:nvPr/>
        </p:nvSpPr>
        <p:spPr>
          <a:xfrm>
            <a:off x="1362456" y="2066543"/>
            <a:ext cx="9987991" cy="2852927"/>
          </a:xfrm>
          <a:prstGeom prst="rect">
            <a:avLst/>
          </a:prstGeom>
          <a:noFill/>
        </p:spPr>
        <p:txBody>
          <a:bodyPr wrap="none" anchor="t" lIns="0" rIns="0" tIns="0" bIns="0">
            <a:noAutofit/>
          </a:bodyPr>
          <a:lstStyle/>
          <a:p>
            <a:pPr>
              <a:lnSpc>
                <a:spcPct val="100000"/>
              </a:lnSpc>
              <a:spcAft>
                <a:spcPts val="0"/>
              </a:spcAft>
            </a:pPr>
            <a:r>
              <a:rPr sz="2000" i="0">
                <a:solidFill>
                  <a:srgbClr val="7DCEA0"/>
                </a:solidFill>
                <a:latin typeface="Consolas"/>
              </a:rPr>
              <a:t>"""Chapter 1 lab -- Is it AI? A five-point audit.</a:t>
            </a:r>
          </a:p>
          <a:p>
            <a:pPr>
              <a:lnSpc>
                <a:spcPct val="100000"/>
              </a:lnSpc>
              <a:spcAft>
                <a:spcPts val="0"/>
              </a:spcAft>
            </a:pPr>
            <a:r>
              <a:rPr sz="2000">
                <a:latin typeface="Consolas"/>
              </a:rPr>
              <a:t> </a:t>
            </a:r>
          </a:p>
          <a:p>
            <a:pPr>
              <a:lnSpc>
                <a:spcPct val="100000"/>
              </a:lnSpc>
              <a:spcAft>
                <a:spcPts val="0"/>
              </a:spcAft>
            </a:pPr>
            <a:r>
              <a:rPr sz="2000" i="0">
                <a:solidFill>
                  <a:srgbClr val="7DCEA0"/>
                </a:solidFill>
                <a:latin typeface="Consolas"/>
              </a:rPr>
              <a:t>Score five programs from a project management office against the five</a:t>
            </a:r>
          </a:p>
          <a:p>
            <a:pPr>
              <a:lnSpc>
                <a:spcPct val="100000"/>
              </a:lnSpc>
              <a:spcAft>
                <a:spcPts val="0"/>
              </a:spcAft>
            </a:pPr>
            <a:r>
              <a:rPr sz="2000" i="0">
                <a:solidFill>
                  <a:srgbClr val="7DCEA0"/>
                </a:solidFill>
                <a:latin typeface="Consolas"/>
              </a:rPr>
              <a:t>tests of Section 1.3, and classify each one. Nothing here learns</a:t>
            </a:r>
          </a:p>
          <a:p>
            <a:pPr>
              <a:lnSpc>
                <a:spcPct val="100000"/>
              </a:lnSpc>
              <a:spcAft>
                <a:spcPts val="0"/>
              </a:spcAft>
            </a:pPr>
            <a:r>
              <a:rPr sz="2000" i="0">
                <a:solidFill>
                  <a:srgbClr val="7DCEA0"/>
                </a:solidFill>
                <a:latin typeface="Consolas"/>
              </a:rPr>
              <a:t>anything; the exercise is to separate programs that decide from</a:t>
            </a:r>
          </a:p>
          <a:p>
            <a:pPr>
              <a:lnSpc>
                <a:spcPct val="100000"/>
              </a:lnSpc>
              <a:spcAft>
                <a:spcPts val="0"/>
              </a:spcAft>
            </a:pPr>
            <a:r>
              <a:rPr sz="2000" i="0">
                <a:solidFill>
                  <a:srgbClr val="7DCEA0"/>
                </a:solidFill>
                <a:latin typeface="Consolas"/>
              </a:rPr>
              <a:t>programs that compute.</a:t>
            </a:r>
          </a:p>
          <a:p>
            <a:pPr>
              <a:lnSpc>
                <a:spcPct val="100000"/>
              </a:lnSpc>
              <a:spcAft>
                <a:spcPts val="0"/>
              </a:spcAft>
            </a:pPr>
            <a:r>
              <a:rPr sz="2000" i="0">
                <a:solidFill>
                  <a:srgbClr val="7DCEA0"/>
                </a:solidFill>
                <a:latin typeface="Consolas"/>
              </a:rPr>
              <a:t>"""</a:t>
            </a:r>
          </a:p>
          <a:p>
            <a:pPr>
              <a:lnSpc>
                <a:spcPct val="100000"/>
              </a:lnSpc>
              <a:spcAft>
                <a:spcPts val="0"/>
              </a:spcAft>
            </a:pPr>
            <a:r>
              <a:rPr sz="2000">
                <a:latin typeface="Consolas"/>
              </a:rPr>
              <a:t> </a:t>
            </a:r>
          </a:p>
          <a:p>
            <a:pPr>
              <a:lnSpc>
                <a:spcPct val="100000"/>
              </a:lnSpc>
              <a:spcAft>
                <a:spcPts val="0"/>
              </a:spcAft>
            </a:pPr>
            <a:r>
              <a:rPr sz="2000" i="0">
                <a:solidFill>
                  <a:srgbClr val="E8EDF2"/>
                </a:solidFill>
                <a:latin typeface="Consolas"/>
              </a:rPr>
              <a:t>TESTS</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goal</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search</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knowledge</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adapts</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explains</a:t>
            </a:r>
            <a:r>
              <a:rPr sz="2000" i="0">
                <a:solidFill>
                  <a:srgbClr val="7DCEA0"/>
                </a:solidFill>
                <a:latin typeface="Consolas"/>
              </a:rPr>
              <a:t>"</a:t>
            </a:r>
            <a:r>
              <a:rPr sz="2000" i="0">
                <a:solidFill>
                  <a:srgbClr val="AEB6BF"/>
                </a:solidFill>
                <a:latin typeface="Consolas"/>
              </a:rPr>
              <a:t>)</a:t>
            </a:r>
          </a:p>
        </p:txBody>
      </p:sp>
      <p:sp>
        <p:nvSpPr>
          <p:cNvPr id="14" name="!!code-num"/>
          <p:cNvSpPr txBox="1"/>
          <p:nvPr/>
        </p:nvSpPr>
        <p:spPr>
          <a:xfrm>
            <a:off x="768096" y="2066543"/>
            <a:ext cx="393192" cy="28529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2</a:t>
            </a:r>
          </a:p>
          <a:p>
            <a:pPr algn="r">
              <a:lnSpc>
                <a:spcPct val="100000"/>
              </a:lnSpc>
            </a:pPr>
            <a:r>
              <a:rPr sz="2000">
                <a:solidFill>
                  <a:srgbClr val="4F5D6A"/>
                </a:solidFill>
                <a:latin typeface="Consolas"/>
              </a:rPr>
              <a:t>3</a:t>
            </a:r>
          </a:p>
          <a:p>
            <a:pPr algn="r">
              <a:lnSpc>
                <a:spcPct val="100000"/>
              </a:lnSpc>
            </a:pPr>
            <a:r>
              <a:rPr sz="2000">
                <a:solidFill>
                  <a:srgbClr val="4F5D6A"/>
                </a:solidFill>
                <a:latin typeface="Consolas"/>
              </a:rPr>
              <a:t>4</a:t>
            </a:r>
          </a:p>
          <a:p>
            <a:pPr algn="r">
              <a:lnSpc>
                <a:spcPct val="100000"/>
              </a:lnSpc>
            </a:pPr>
            <a:r>
              <a:rPr sz="2000">
                <a:solidFill>
                  <a:srgbClr val="4F5D6A"/>
                </a:solidFill>
                <a:latin typeface="Consolas"/>
              </a:rPr>
              <a:t>5</a:t>
            </a:r>
          </a:p>
          <a:p>
            <a:pPr algn="r">
              <a:lnSpc>
                <a:spcPct val="100000"/>
              </a:lnSpc>
            </a:pPr>
            <a:r>
              <a:rPr sz="2000">
                <a:solidFill>
                  <a:srgbClr val="4F5D6A"/>
                </a:solidFill>
                <a:latin typeface="Consolas"/>
              </a:rPr>
              <a:t>6</a:t>
            </a:r>
          </a:p>
          <a:p>
            <a:pPr algn="r">
              <a:lnSpc>
                <a:spcPct val="100000"/>
              </a:lnSpc>
            </a:pPr>
            <a:r>
              <a:rPr sz="2000">
                <a:solidFill>
                  <a:srgbClr val="4F5D6A"/>
                </a:solidFill>
                <a:latin typeface="Consolas"/>
              </a:rPr>
              <a:t>7</a:t>
            </a:r>
          </a:p>
          <a:p>
            <a:pPr algn="r">
              <a:lnSpc>
                <a:spcPct val="100000"/>
              </a:lnSpc>
            </a:pPr>
            <a:r>
              <a:rPr sz="2000">
                <a:solidFill>
                  <a:srgbClr val="4F5D6A"/>
                </a:solidFill>
                <a:latin typeface="Consolas"/>
              </a:rPr>
              <a:t>8</a:t>
            </a:r>
          </a:p>
          <a:p>
            <a:pPr algn="r">
              <a:lnSpc>
                <a:spcPct val="100000"/>
              </a:lnSpc>
            </a:pPr>
            <a:r>
              <a:rPr sz="2000">
                <a:solidFill>
                  <a:srgbClr val="4F5D6A"/>
                </a:solidFill>
                <a:latin typeface="Consolas"/>
              </a:rPr>
              <a:t>9</a:t>
            </a:r>
          </a:p>
          <a:p>
            <a:pPr algn="r">
              <a:lnSpc>
                <a:spcPct val="100000"/>
              </a:lnSpc>
            </a:pPr>
            <a:r>
              <a:rPr sz="2000">
                <a:solidFill>
                  <a:srgbClr val="4F5D6A"/>
                </a:solidFill>
                <a:latin typeface="Consolas"/>
              </a:rPr>
              <a:t>10</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80466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Is It AI? A Five-Point Audit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  ·  Handout p. 8     </a:t>
            </a:r>
            <a:fld id="{CE668321-5C02-4DE6-912B-2BAE3FCCD44C}" type="slidenum">
              <a:rPr lang="en-GB" sz="1000">
                <a:solidFill>
                  <a:srgbClr val="8795A1"/>
                </a:solidFill>
                <a:latin typeface="Segoe UI"/>
              </a:rPr>
              <a:t>25</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565904"/>
          </a:xfrm>
          <a:prstGeom prst="roundRect">
            <a:avLst>
              <a:gd name="adj" fmla="val 20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code/ch01_is_it_ai_five_point.py</a:t>
            </a:r>
          </a:p>
        </p:txBody>
      </p:sp>
      <p:sp>
        <p:nvSpPr>
          <p:cNvPr id="13" name="!!code-text" descr="# One row per tool: which of the five tests it passes, and why the # most interesting answer is what it is. TOOLS = { &quot;Gantt recalculator&quot;: { &quot;passes&quot;: (), &quot;note&quot;: &quot;given a procedure, not an objective; one answer, &quot; &quot;computed directly&quot;, }, &quot;Burndown chart generator&quot;: { &quot;passes&quot;: (), &quot;note&quot;: &quot;arithmetic and a plot; no alternatives considered&quot;, }, &quot;Sprint scheduler&quot;: { &quot;passes&quot;: (&quot;goal&quot;, &quot;search&quot;, &quot;knowledge&quot;, &quot;explains&quot;), &quot;note&quot;: &quot;constraints are declared, not coded; reports which &quot; &quot;constraint blocked a story (Chapter 7)&quot;, }, &quot;Escalation adviser&quot;: { &quot;passes&quot;: (&quot;goal&quot;, &quot;search&quot;, &quot;knowledge&quot;, &quot;explains&quot;), &quot;note&quot;: &quot;rules an operations lead can read and correct; prints &quot;"/>
          <p:cNvSpPr txBox="1"/>
          <p:nvPr/>
        </p:nvSpPr>
        <p:spPr>
          <a:xfrm>
            <a:off x="1362456" y="2066543"/>
            <a:ext cx="9987991" cy="4072128"/>
          </a:xfrm>
          <a:prstGeom prst="rect">
            <a:avLst/>
          </a:prstGeom>
          <a:noFill/>
        </p:spPr>
        <p:txBody>
          <a:bodyPr wrap="none" anchor="t" lIns="0" rIns="0" tIns="0" bIns="0">
            <a:noAutofit/>
          </a:bodyPr>
          <a:lstStyle/>
          <a:p>
            <a:pPr>
              <a:lnSpc>
                <a:spcPct val="100000"/>
              </a:lnSpc>
              <a:spcAft>
                <a:spcPts val="0"/>
              </a:spcAft>
            </a:pPr>
            <a:r>
              <a:rPr sz="1300" i="1">
                <a:solidFill>
                  <a:srgbClr val="8795A1"/>
                </a:solidFill>
                <a:latin typeface="Consolas"/>
              </a:rPr>
              <a:t># One row per tool: which of the five tests it passes, and why the</a:t>
            </a:r>
          </a:p>
          <a:p>
            <a:pPr>
              <a:lnSpc>
                <a:spcPct val="100000"/>
              </a:lnSpc>
              <a:spcAft>
                <a:spcPts val="0"/>
              </a:spcAft>
            </a:pPr>
            <a:r>
              <a:rPr sz="1300" i="1">
                <a:solidFill>
                  <a:srgbClr val="8795A1"/>
                </a:solidFill>
                <a:latin typeface="Consolas"/>
              </a:rPr>
              <a:t># most interesting answer is what it is.</a:t>
            </a:r>
          </a:p>
          <a:p>
            <a:pPr>
              <a:lnSpc>
                <a:spcPct val="100000"/>
              </a:lnSpc>
              <a:spcAft>
                <a:spcPts val="0"/>
              </a:spcAft>
            </a:pPr>
            <a:r>
              <a:rPr sz="1300" i="0">
                <a:solidFill>
                  <a:srgbClr val="E8EDF2"/>
                </a:solidFill>
                <a:latin typeface="Consolas"/>
              </a:rPr>
              <a:t>TOOLS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Gantt recalculator</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passes</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note</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given a procedure, not an objective; one answer, </a:t>
            </a:r>
            <a:r>
              <a:rPr sz="1300" i="0">
                <a:solidFill>
                  <a:srgbClr val="7DCEA0"/>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computed directly</a:t>
            </a:r>
            <a:r>
              <a:rPr sz="1300" i="0">
                <a:solidFill>
                  <a:srgbClr val="7DCEA0"/>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Burndown chart generator</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passes</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note</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arithmetic and a plot; no alternatives considered</a:t>
            </a:r>
            <a:r>
              <a:rPr sz="1300" i="0">
                <a:solidFill>
                  <a:srgbClr val="7DCEA0"/>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Sprint scheduler</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passes</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goal</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search</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knowledge</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explains</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note</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constraints are declared, not coded; reports which </a:t>
            </a:r>
            <a:r>
              <a:rPr sz="1300" i="0">
                <a:solidFill>
                  <a:srgbClr val="7DCEA0"/>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constraint blocked a story  (Chapter 7)</a:t>
            </a:r>
            <a:r>
              <a:rPr sz="1300" i="0">
                <a:solidFill>
                  <a:srgbClr val="7DCEA0"/>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Escalation adviser</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passes</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goal</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search</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knowledge</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explains</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note</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rules an operations lead can read and correct; prints </a:t>
            </a:r>
            <a:r>
              <a:rPr sz="1300" i="0">
                <a:solidFill>
                  <a:srgbClr val="7DCEA0"/>
                </a:solidFill>
                <a:latin typeface="Consolas"/>
              </a:rPr>
              <a:t>"</a:t>
            </a:r>
          </a:p>
        </p:txBody>
      </p:sp>
      <p:sp>
        <p:nvSpPr>
          <p:cNvPr id="14" name="!!code-num"/>
          <p:cNvSpPr txBox="1"/>
          <p:nvPr/>
        </p:nvSpPr>
        <p:spPr>
          <a:xfrm>
            <a:off x="768096" y="2066543"/>
            <a:ext cx="393192" cy="4072128"/>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12</a:t>
            </a:r>
          </a:p>
          <a:p>
            <a:pPr algn="r">
              <a:lnSpc>
                <a:spcPct val="100000"/>
              </a:lnSpc>
            </a:pPr>
            <a:r>
              <a:rPr sz="1300">
                <a:solidFill>
                  <a:srgbClr val="4F5D6A"/>
                </a:solidFill>
                <a:latin typeface="Consolas"/>
              </a:rPr>
              <a:t>13</a:t>
            </a:r>
          </a:p>
          <a:p>
            <a:pPr algn="r">
              <a:lnSpc>
                <a:spcPct val="100000"/>
              </a:lnSpc>
            </a:pPr>
            <a:r>
              <a:rPr sz="1300">
                <a:solidFill>
                  <a:srgbClr val="4F5D6A"/>
                </a:solidFill>
                <a:latin typeface="Consolas"/>
              </a:rPr>
              <a:t>14</a:t>
            </a:r>
          </a:p>
          <a:p>
            <a:pPr algn="r">
              <a:lnSpc>
                <a:spcPct val="100000"/>
              </a:lnSpc>
            </a:pPr>
            <a:r>
              <a:rPr sz="1300">
                <a:solidFill>
                  <a:srgbClr val="4F5D6A"/>
                </a:solidFill>
                <a:latin typeface="Consolas"/>
              </a:rPr>
              <a:t>15</a:t>
            </a:r>
          </a:p>
          <a:p>
            <a:pPr algn="r">
              <a:lnSpc>
                <a:spcPct val="100000"/>
              </a:lnSpc>
            </a:pPr>
            <a:r>
              <a:rPr sz="1300">
                <a:solidFill>
                  <a:srgbClr val="4F5D6A"/>
                </a:solidFill>
                <a:latin typeface="Consolas"/>
              </a:rPr>
              <a:t>16</a:t>
            </a:r>
          </a:p>
          <a:p>
            <a:pPr algn="r">
              <a:lnSpc>
                <a:spcPct val="100000"/>
              </a:lnSpc>
            </a:pPr>
            <a:r>
              <a:rPr sz="1300">
                <a:solidFill>
                  <a:srgbClr val="4F5D6A"/>
                </a:solidFill>
                <a:latin typeface="Consolas"/>
              </a:rPr>
              <a:t>17</a:t>
            </a:r>
          </a:p>
          <a:p>
            <a:pPr algn="r">
              <a:lnSpc>
                <a:spcPct val="100000"/>
              </a:lnSpc>
            </a:pPr>
            <a:r>
              <a:rPr sz="1300">
                <a:solidFill>
                  <a:srgbClr val="4F5D6A"/>
                </a:solidFill>
                <a:latin typeface="Consolas"/>
              </a:rPr>
              <a:t>18</a:t>
            </a:r>
          </a:p>
          <a:p>
            <a:pPr algn="r">
              <a:lnSpc>
                <a:spcPct val="100000"/>
              </a:lnSpc>
            </a:pPr>
            <a:r>
              <a:rPr sz="1300">
                <a:solidFill>
                  <a:srgbClr val="4F5D6A"/>
                </a:solidFill>
                <a:latin typeface="Consolas"/>
              </a:rPr>
              <a:t>19</a:t>
            </a:r>
          </a:p>
          <a:p>
            <a:pPr algn="r">
              <a:lnSpc>
                <a:spcPct val="100000"/>
              </a:lnSpc>
            </a:pPr>
            <a:r>
              <a:rPr sz="1300">
                <a:solidFill>
                  <a:srgbClr val="4F5D6A"/>
                </a:solidFill>
                <a:latin typeface="Consolas"/>
              </a:rPr>
              <a:t>20</a:t>
            </a:r>
          </a:p>
          <a:p>
            <a:pPr algn="r">
              <a:lnSpc>
                <a:spcPct val="100000"/>
              </a:lnSpc>
            </a:pPr>
            <a:r>
              <a:rPr sz="1300">
                <a:solidFill>
                  <a:srgbClr val="4F5D6A"/>
                </a:solidFill>
                <a:latin typeface="Consolas"/>
              </a:rPr>
              <a:t>21</a:t>
            </a:r>
          </a:p>
          <a:p>
            <a:pPr algn="r">
              <a:lnSpc>
                <a:spcPct val="100000"/>
              </a:lnSpc>
            </a:pPr>
            <a:r>
              <a:rPr sz="1300">
                <a:solidFill>
                  <a:srgbClr val="4F5D6A"/>
                </a:solidFill>
                <a:latin typeface="Consolas"/>
              </a:rPr>
              <a:t>22</a:t>
            </a:r>
          </a:p>
          <a:p>
            <a:pPr algn="r">
              <a:lnSpc>
                <a:spcPct val="100000"/>
              </a:lnSpc>
            </a:pPr>
            <a:r>
              <a:rPr sz="1300">
                <a:solidFill>
                  <a:srgbClr val="4F5D6A"/>
                </a:solidFill>
                <a:latin typeface="Consolas"/>
              </a:rPr>
              <a:t>23</a:t>
            </a:r>
          </a:p>
          <a:p>
            <a:pPr algn="r">
              <a:lnSpc>
                <a:spcPct val="100000"/>
              </a:lnSpc>
            </a:pPr>
            <a:r>
              <a:rPr sz="1300">
                <a:solidFill>
                  <a:srgbClr val="4F5D6A"/>
                </a:solidFill>
                <a:latin typeface="Consolas"/>
              </a:rPr>
              <a:t>24</a:t>
            </a:r>
          </a:p>
          <a:p>
            <a:pPr algn="r">
              <a:lnSpc>
                <a:spcPct val="100000"/>
              </a:lnSpc>
            </a:pPr>
            <a:r>
              <a:rPr sz="1300">
                <a:solidFill>
                  <a:srgbClr val="4F5D6A"/>
                </a:solidFill>
                <a:latin typeface="Consolas"/>
              </a:rPr>
              <a:t>25</a:t>
            </a:r>
          </a:p>
          <a:p>
            <a:pPr algn="r">
              <a:lnSpc>
                <a:spcPct val="100000"/>
              </a:lnSpc>
            </a:pPr>
            <a:r>
              <a:rPr sz="1300">
                <a:solidFill>
                  <a:srgbClr val="4F5D6A"/>
                </a:solidFill>
                <a:latin typeface="Consolas"/>
              </a:rPr>
              <a:t>26</a:t>
            </a:r>
          </a:p>
          <a:p>
            <a:pPr algn="r">
              <a:lnSpc>
                <a:spcPct val="100000"/>
              </a:lnSpc>
            </a:pPr>
            <a:r>
              <a:rPr sz="1300">
                <a:solidFill>
                  <a:srgbClr val="4F5D6A"/>
                </a:solidFill>
                <a:latin typeface="Consolas"/>
              </a:rPr>
              <a:t>27</a:t>
            </a:r>
          </a:p>
          <a:p>
            <a:pPr algn="r">
              <a:lnSpc>
                <a:spcPct val="100000"/>
              </a:lnSpc>
            </a:pPr>
            <a:r>
              <a:rPr sz="1300">
                <a:solidFill>
                  <a:srgbClr val="4F5D6A"/>
                </a:solidFill>
                <a:latin typeface="Consolas"/>
              </a:rPr>
              <a:t>28</a:t>
            </a:r>
          </a:p>
          <a:p>
            <a:pPr algn="r">
              <a:lnSpc>
                <a:spcPct val="100000"/>
              </a:lnSpc>
            </a:pPr>
            <a:r>
              <a:rPr sz="1300">
                <a:solidFill>
                  <a:srgbClr val="4F5D6A"/>
                </a:solidFill>
                <a:latin typeface="Consolas"/>
              </a:rPr>
              <a:t>29</a:t>
            </a:r>
          </a:p>
          <a:p>
            <a:pPr algn="r">
              <a:lnSpc>
                <a:spcPct val="100000"/>
              </a:lnSpc>
            </a:pPr>
            <a:r>
              <a:rPr sz="1300">
                <a:solidFill>
                  <a:srgbClr val="4F5D6A"/>
                </a:solidFill>
                <a:latin typeface="Consolas"/>
              </a:rPr>
              <a:t>30</a:t>
            </a:r>
          </a:p>
          <a:p>
            <a:pPr algn="r">
              <a:lnSpc>
                <a:spcPct val="100000"/>
              </a:lnSpc>
            </a:pPr>
            <a:r>
              <a:rPr sz="1300">
                <a:solidFill>
                  <a:srgbClr val="4F5D6A"/>
                </a:solidFill>
                <a:latin typeface="Consolas"/>
              </a:rPr>
              <a:t>31</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708819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Is It AI? A Five-Point Audit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  ·  Handout p. 8     </a:t>
            </a:r>
            <a:fld id="{61F5D581-92E2-4F2D-90CE-DCC440031521}" type="slidenum">
              <a:rPr lang="en-GB" sz="1000">
                <a:solidFill>
                  <a:srgbClr val="8795A1"/>
                </a:solidFill>
                <a:latin typeface="Segoe UI"/>
              </a:rPr>
              <a:t>26</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489704"/>
          </a:xfrm>
          <a:prstGeom prst="roundRect">
            <a:avLst>
              <a:gd name="adj" fmla="val 203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code/ch01_is_it_ai_five_point.py</a:t>
            </a:r>
          </a:p>
        </p:txBody>
      </p:sp>
      <p:sp>
        <p:nvSpPr>
          <p:cNvPr id="13" name="!!code-text" descr="&quot;its firing chain (Chapter 13)&quot;, }, &quot;Duplicate-ticket finder&quot;: { &quot;passes&quot;: (&quot;adapts&quot;,), &quot;note&quot;: &quot;weights retuned monthly from past merges; the one &quot; &quot;tool here that belongs to Machine Learning&quot;, }, } def verdict(score): &quot;&quot;&quot;The reading of a score given in Section 1.3.&quot;&quot;&quot; if score == 0: return &quot;ordinary software&quot; if score &lt;= 2: return &quot;doing something interesting&quot; return &quot;an AI system&quot;"/>
          <p:cNvSpPr txBox="1"/>
          <p:nvPr/>
        </p:nvSpPr>
        <p:spPr>
          <a:xfrm>
            <a:off x="1362456" y="2066543"/>
            <a:ext cx="9987991" cy="3995928"/>
          </a:xfrm>
          <a:prstGeom prst="rect">
            <a:avLst/>
          </a:prstGeom>
          <a:noFill/>
        </p:spPr>
        <p:txBody>
          <a:bodyPr wrap="none" anchor="t" lIns="0" rIns="0" tIns="0" bIns="0">
            <a:noAutofit/>
          </a:bodyPr>
          <a:lstStyle/>
          <a:p>
            <a:pPr>
              <a:lnSpc>
                <a:spcPct val="100000"/>
              </a:lnSpc>
              <a:spcAft>
                <a:spcPts val="0"/>
              </a:spcAft>
            </a:pP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its firing chain  (Chapter 13)</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Duplicate-ticket finder</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passes</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adapts</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note</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weights retuned monthly from past merges; the one </a:t>
            </a:r>
            <a:r>
              <a:rPr sz="1500" i="0">
                <a:solidFill>
                  <a:srgbClr val="7DCEA0"/>
                </a:solidFill>
                <a:latin typeface="Consolas"/>
              </a:rPr>
              <a:t>"</a:t>
            </a:r>
          </a:p>
          <a:p>
            <a:pPr>
              <a:lnSpc>
                <a:spcPct val="100000"/>
              </a:lnSpc>
              <a:spcAft>
                <a:spcPts val="0"/>
              </a:spcAft>
            </a:pP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tool here that belongs to Machine Learning</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AEB6BF"/>
                </a:solidFill>
                <a:latin typeface="Consolas"/>
              </a:rPr>
              <a:t>}</a:t>
            </a:r>
          </a:p>
          <a:p>
            <a:pPr>
              <a:lnSpc>
                <a:spcPct val="100000"/>
              </a:lnSpc>
              <a:spcAft>
                <a:spcPts val="0"/>
              </a:spcAft>
            </a:pPr>
            <a:r>
              <a:rPr sz="1500">
                <a:latin typeface="Consolas"/>
              </a:rPr>
              <a:t> </a:t>
            </a:r>
          </a:p>
          <a:p>
            <a:pPr>
              <a:lnSpc>
                <a:spcPct val="100000"/>
              </a:lnSpc>
              <a:spcAft>
                <a:spcPts val="0"/>
              </a:spcAft>
            </a:pPr>
            <a:r>
              <a:rPr sz="1500">
                <a:latin typeface="Consolas"/>
              </a:rPr>
              <a:t> </a:t>
            </a:r>
          </a:p>
          <a:p>
            <a:pPr>
              <a:lnSpc>
                <a:spcPct val="100000"/>
              </a:lnSpc>
              <a:spcAft>
                <a:spcPts val="0"/>
              </a:spcAft>
            </a:pPr>
            <a:r>
              <a:rPr sz="1500" i="0">
                <a:solidFill>
                  <a:srgbClr val="5DADE2"/>
                </a:solidFill>
                <a:latin typeface="Consolas"/>
              </a:rPr>
              <a:t>def</a:t>
            </a:r>
            <a:r>
              <a:rPr sz="1500" i="0">
                <a:solidFill>
                  <a:srgbClr val="E8EDF2"/>
                </a:solidFill>
                <a:latin typeface="Consolas"/>
              </a:rPr>
              <a:t> </a:t>
            </a:r>
            <a:r>
              <a:rPr sz="1500" i="0">
                <a:solidFill>
                  <a:srgbClr val="C39BD3"/>
                </a:solidFill>
                <a:latin typeface="Consolas"/>
              </a:rPr>
              <a:t>verdict</a:t>
            </a:r>
            <a:r>
              <a:rPr sz="1500" i="0">
                <a:solidFill>
                  <a:srgbClr val="AEB6BF"/>
                </a:solidFill>
                <a:latin typeface="Consolas"/>
              </a:rPr>
              <a:t>(</a:t>
            </a:r>
            <a:r>
              <a:rPr sz="1500" i="0">
                <a:solidFill>
                  <a:srgbClr val="E8EDF2"/>
                </a:solidFill>
                <a:latin typeface="Consolas"/>
              </a:rPr>
              <a:t>score</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7DCEA0"/>
                </a:solidFill>
                <a:latin typeface="Consolas"/>
              </a:rPr>
              <a:t>"""The reading of a score given in Section 1.3."""</a:t>
            </a:r>
          </a:p>
          <a:p>
            <a:pPr>
              <a:lnSpc>
                <a:spcPct val="100000"/>
              </a:lnSpc>
              <a:spcAft>
                <a:spcPts val="0"/>
              </a:spcAft>
            </a:pPr>
            <a:r>
              <a:rPr sz="1500" i="0">
                <a:solidFill>
                  <a:srgbClr val="E8EDF2"/>
                </a:solidFill>
                <a:latin typeface="Consolas"/>
              </a:rPr>
              <a:t>    </a:t>
            </a:r>
            <a:r>
              <a:rPr sz="1500" i="0">
                <a:solidFill>
                  <a:srgbClr val="5DADE2"/>
                </a:solidFill>
                <a:latin typeface="Consolas"/>
              </a:rPr>
              <a:t>if</a:t>
            </a:r>
            <a:r>
              <a:rPr sz="1500" i="0">
                <a:solidFill>
                  <a:srgbClr val="E8EDF2"/>
                </a:solidFill>
                <a:latin typeface="Consolas"/>
              </a:rPr>
              <a:t> </a:t>
            </a:r>
            <a:r>
              <a:rPr sz="1500" i="0">
                <a:solidFill>
                  <a:srgbClr val="E8EDF2"/>
                </a:solidFill>
                <a:latin typeface="Consolas"/>
              </a:rPr>
              <a:t>score</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0</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return</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ordinary software</a:t>
            </a:r>
            <a:r>
              <a:rPr sz="1500" i="0">
                <a:solidFill>
                  <a:srgbClr val="7DCEA0"/>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if</a:t>
            </a:r>
            <a:r>
              <a:rPr sz="1500" i="0">
                <a:solidFill>
                  <a:srgbClr val="E8EDF2"/>
                </a:solidFill>
                <a:latin typeface="Consolas"/>
              </a:rPr>
              <a:t> </a:t>
            </a:r>
            <a:r>
              <a:rPr sz="1500" i="0">
                <a:solidFill>
                  <a:srgbClr val="E8EDF2"/>
                </a:solidFill>
                <a:latin typeface="Consolas"/>
              </a:rPr>
              <a:t>score</a:t>
            </a:r>
            <a:r>
              <a:rPr sz="1500" i="0">
                <a:solidFill>
                  <a:srgbClr val="E8EDF2"/>
                </a:solidFill>
                <a:latin typeface="Consolas"/>
              </a:rPr>
              <a:t> </a:t>
            </a:r>
            <a:r>
              <a:rPr sz="1500" i="0">
                <a:solidFill>
                  <a:srgbClr val="AEB6BF"/>
                </a:solidFill>
                <a:latin typeface="Consolas"/>
              </a:rPr>
              <a:t>&lt;</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2</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return</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doing something interesting</a:t>
            </a:r>
            <a:r>
              <a:rPr sz="1500" i="0">
                <a:solidFill>
                  <a:srgbClr val="7DCEA0"/>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return</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an AI system</a:t>
            </a:r>
            <a:r>
              <a:rPr sz="1500" i="0">
                <a:solidFill>
                  <a:srgbClr val="7DCEA0"/>
                </a:solidFill>
                <a:latin typeface="Consolas"/>
              </a:rPr>
              <a:t>"</a:t>
            </a:r>
          </a:p>
        </p:txBody>
      </p:sp>
      <p:sp>
        <p:nvSpPr>
          <p:cNvPr id="14" name="!!code-num"/>
          <p:cNvSpPr txBox="1"/>
          <p:nvPr/>
        </p:nvSpPr>
        <p:spPr>
          <a:xfrm>
            <a:off x="768096" y="2066543"/>
            <a:ext cx="393192" cy="3995928"/>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32</a:t>
            </a:r>
          </a:p>
          <a:p>
            <a:pPr algn="r">
              <a:lnSpc>
                <a:spcPct val="100000"/>
              </a:lnSpc>
            </a:pPr>
            <a:r>
              <a:rPr sz="1500">
                <a:solidFill>
                  <a:srgbClr val="4F5D6A"/>
                </a:solidFill>
                <a:latin typeface="Consolas"/>
              </a:rPr>
              <a:t>33</a:t>
            </a:r>
          </a:p>
          <a:p>
            <a:pPr algn="r">
              <a:lnSpc>
                <a:spcPct val="100000"/>
              </a:lnSpc>
            </a:pPr>
            <a:r>
              <a:rPr sz="1500">
                <a:solidFill>
                  <a:srgbClr val="4F5D6A"/>
                </a:solidFill>
                <a:latin typeface="Consolas"/>
              </a:rPr>
              <a:t>34</a:t>
            </a:r>
          </a:p>
          <a:p>
            <a:pPr algn="r">
              <a:lnSpc>
                <a:spcPct val="100000"/>
              </a:lnSpc>
            </a:pPr>
            <a:r>
              <a:rPr sz="1500">
                <a:solidFill>
                  <a:srgbClr val="4F5D6A"/>
                </a:solidFill>
                <a:latin typeface="Consolas"/>
              </a:rPr>
              <a:t>35</a:t>
            </a:r>
          </a:p>
          <a:p>
            <a:pPr algn="r">
              <a:lnSpc>
                <a:spcPct val="100000"/>
              </a:lnSpc>
            </a:pPr>
            <a:r>
              <a:rPr sz="1500">
                <a:solidFill>
                  <a:srgbClr val="4F5D6A"/>
                </a:solidFill>
                <a:latin typeface="Consolas"/>
              </a:rPr>
              <a:t>36</a:t>
            </a:r>
          </a:p>
          <a:p>
            <a:pPr algn="r">
              <a:lnSpc>
                <a:spcPct val="100000"/>
              </a:lnSpc>
            </a:pPr>
            <a:r>
              <a:rPr sz="1500">
                <a:solidFill>
                  <a:srgbClr val="4F5D6A"/>
                </a:solidFill>
                <a:latin typeface="Consolas"/>
              </a:rPr>
              <a:t>37</a:t>
            </a:r>
          </a:p>
          <a:p>
            <a:pPr algn="r">
              <a:lnSpc>
                <a:spcPct val="100000"/>
              </a:lnSpc>
            </a:pPr>
            <a:r>
              <a:rPr sz="1500">
                <a:solidFill>
                  <a:srgbClr val="4F5D6A"/>
                </a:solidFill>
                <a:latin typeface="Consolas"/>
              </a:rPr>
              <a:t>38</a:t>
            </a:r>
          </a:p>
          <a:p>
            <a:pPr algn="r">
              <a:lnSpc>
                <a:spcPct val="100000"/>
              </a:lnSpc>
            </a:pPr>
            <a:r>
              <a:rPr sz="1500">
                <a:solidFill>
                  <a:srgbClr val="4F5D6A"/>
                </a:solidFill>
                <a:latin typeface="Consolas"/>
              </a:rPr>
              <a:t>39</a:t>
            </a:r>
          </a:p>
          <a:p>
            <a:pPr algn="r">
              <a:lnSpc>
                <a:spcPct val="100000"/>
              </a:lnSpc>
            </a:pPr>
            <a:r>
              <a:rPr sz="1500">
                <a:solidFill>
                  <a:srgbClr val="4F5D6A"/>
                </a:solidFill>
                <a:latin typeface="Consolas"/>
              </a:rPr>
              <a:t>40</a:t>
            </a:r>
          </a:p>
          <a:p>
            <a:pPr algn="r">
              <a:lnSpc>
                <a:spcPct val="100000"/>
              </a:lnSpc>
            </a:pPr>
            <a:r>
              <a:rPr sz="1500">
                <a:solidFill>
                  <a:srgbClr val="4F5D6A"/>
                </a:solidFill>
                <a:latin typeface="Consolas"/>
              </a:rPr>
              <a:t>41</a:t>
            </a:r>
          </a:p>
          <a:p>
            <a:pPr algn="r">
              <a:lnSpc>
                <a:spcPct val="100000"/>
              </a:lnSpc>
            </a:pPr>
            <a:r>
              <a:rPr sz="1500">
                <a:solidFill>
                  <a:srgbClr val="4F5D6A"/>
                </a:solidFill>
                <a:latin typeface="Consolas"/>
              </a:rPr>
              <a:t>42</a:t>
            </a:r>
          </a:p>
          <a:p>
            <a:pPr algn="r">
              <a:lnSpc>
                <a:spcPct val="100000"/>
              </a:lnSpc>
            </a:pPr>
            <a:r>
              <a:rPr sz="1500">
                <a:solidFill>
                  <a:srgbClr val="4F5D6A"/>
                </a:solidFill>
                <a:latin typeface="Consolas"/>
              </a:rPr>
              <a:t>43</a:t>
            </a:r>
          </a:p>
          <a:p>
            <a:pPr algn="r">
              <a:lnSpc>
                <a:spcPct val="100000"/>
              </a:lnSpc>
            </a:pPr>
            <a:r>
              <a:rPr sz="1500">
                <a:solidFill>
                  <a:srgbClr val="4F5D6A"/>
                </a:solidFill>
                <a:latin typeface="Consolas"/>
              </a:rPr>
              <a:t>44</a:t>
            </a:r>
          </a:p>
          <a:p>
            <a:pPr algn="r">
              <a:lnSpc>
                <a:spcPct val="100000"/>
              </a:lnSpc>
            </a:pPr>
            <a:r>
              <a:rPr sz="1500">
                <a:solidFill>
                  <a:srgbClr val="4F5D6A"/>
                </a:solidFill>
                <a:latin typeface="Consolas"/>
              </a:rPr>
              <a:t>45</a:t>
            </a:r>
          </a:p>
          <a:p>
            <a:pPr algn="r">
              <a:lnSpc>
                <a:spcPct val="100000"/>
              </a:lnSpc>
            </a:pPr>
            <a:r>
              <a:rPr sz="1500">
                <a:solidFill>
                  <a:srgbClr val="4F5D6A"/>
                </a:solidFill>
                <a:latin typeface="Consolas"/>
              </a:rPr>
              <a:t>46</a:t>
            </a:r>
          </a:p>
          <a:p>
            <a:pPr algn="r">
              <a:lnSpc>
                <a:spcPct val="100000"/>
              </a:lnSpc>
            </a:pPr>
            <a:r>
              <a:rPr sz="1500">
                <a:solidFill>
                  <a:srgbClr val="4F5D6A"/>
                </a:solidFill>
                <a:latin typeface="Consolas"/>
              </a:rPr>
              <a:t>47</a:t>
            </a:r>
          </a:p>
          <a:p>
            <a:pPr algn="r">
              <a:lnSpc>
                <a:spcPct val="100000"/>
              </a:lnSpc>
            </a:pPr>
            <a:r>
              <a:rPr sz="1500">
                <a:solidFill>
                  <a:srgbClr val="4F5D6A"/>
                </a:solidFill>
                <a:latin typeface="Consolas"/>
              </a:rPr>
              <a:t>48</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737172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Is It AI? A Five-Point Audit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  ·  Handout p. 8     </a:t>
            </a:r>
            <a:fld id="{318636B2-6FB2-4B0D-B203-C53AD0042011}" type="slidenum">
              <a:rPr lang="en-GB" sz="1000">
                <a:solidFill>
                  <a:srgbClr val="8795A1"/>
                </a:solidFill>
                <a:latin typeface="Segoe UI"/>
              </a:rPr>
              <a:t>27</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489704"/>
          </a:xfrm>
          <a:prstGeom prst="roundRect">
            <a:avLst>
              <a:gd name="adj" fmla="val 203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code/ch01_is_it_ai_five_point.py</a:t>
            </a:r>
          </a:p>
        </p:txBody>
      </p:sp>
      <p:sp>
        <p:nvSpPr>
          <p:cNvPr id="13" name="!!code-text" descr="def audit(): width = max(len(name) for name in TOOLS) head = &quot;TOOL&quot;.ljust(width) + &quot; &quot; + &quot; &quot;.join( t[:4].upper().rjust(5) for t in TESTS) + &quot; SCORE VERDICT&quot; print(head) print(&quot;-&quot; * len(head)) for name, row in TOOLS.items(): marks = [&quot;yes&quot;.rjust(5) if t in row[&quot;passes&quot;] else &quot;-&quot;.rjust(5) for t in TESTS] score = len(row[&quot;passes&quot;]) print(name.ljust(width) + &quot; &quot; + &quot; &quot;.join(marks) + &quot; %5d %s&quot; % (score, verdict(score))) print() for name, row in TOOLS.items(): print(&quot;%s\n %s&quot; % (name, row[&quot;note&quot;]))"/>
          <p:cNvSpPr txBox="1"/>
          <p:nvPr/>
        </p:nvSpPr>
        <p:spPr>
          <a:xfrm>
            <a:off x="1362456" y="2066543"/>
            <a:ext cx="9987991" cy="3995928"/>
          </a:xfrm>
          <a:prstGeom prst="rect">
            <a:avLst/>
          </a:prstGeom>
          <a:noFill/>
        </p:spPr>
        <p:txBody>
          <a:bodyPr wrap="none" anchor="t" lIns="0" rIns="0" tIns="0" bIns="0">
            <a:noAutofit/>
          </a:bodyPr>
          <a:lstStyle/>
          <a:p>
            <a:pPr>
              <a:lnSpc>
                <a:spcPct val="100000"/>
              </a:lnSpc>
              <a:spcAft>
                <a:spcPts val="0"/>
              </a:spcAft>
            </a:pPr>
            <a:r>
              <a:rPr sz="1700" i="0">
                <a:solidFill>
                  <a:srgbClr val="5DADE2"/>
                </a:solidFill>
                <a:latin typeface="Consolas"/>
              </a:rPr>
              <a:t>def</a:t>
            </a:r>
            <a:r>
              <a:rPr sz="1700" i="0">
                <a:solidFill>
                  <a:srgbClr val="E8EDF2"/>
                </a:solidFill>
                <a:latin typeface="Consolas"/>
              </a:rPr>
              <a:t> </a:t>
            </a:r>
            <a:r>
              <a:rPr sz="1700" i="0">
                <a:solidFill>
                  <a:srgbClr val="C39BD3"/>
                </a:solidFill>
                <a:latin typeface="Consolas"/>
              </a:rPr>
              <a:t>audit</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width</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C39BD3"/>
                </a:solidFill>
                <a:latin typeface="Consolas"/>
              </a:rPr>
              <a:t>max</a:t>
            </a:r>
            <a:r>
              <a:rPr sz="1700" i="0">
                <a:solidFill>
                  <a:srgbClr val="AEB6BF"/>
                </a:solidFill>
                <a:latin typeface="Consolas"/>
              </a:rPr>
              <a:t>(</a:t>
            </a:r>
            <a:r>
              <a:rPr sz="1700" i="0">
                <a:solidFill>
                  <a:srgbClr val="C39BD3"/>
                </a:solidFill>
                <a:latin typeface="Consolas"/>
              </a:rPr>
              <a:t>len</a:t>
            </a:r>
            <a:r>
              <a:rPr sz="1700" i="0">
                <a:solidFill>
                  <a:srgbClr val="AEB6BF"/>
                </a:solidFill>
                <a:latin typeface="Consolas"/>
              </a:rPr>
              <a:t>(</a:t>
            </a:r>
            <a:r>
              <a:rPr sz="1700" i="0">
                <a:solidFill>
                  <a:srgbClr val="E8EDF2"/>
                </a:solidFill>
                <a:latin typeface="Consolas"/>
              </a:rPr>
              <a:t>name</a:t>
            </a:r>
            <a:r>
              <a:rPr sz="1700" i="0">
                <a:solidFill>
                  <a:srgbClr val="AEB6BF"/>
                </a:solidFill>
                <a:latin typeface="Consolas"/>
              </a:rPr>
              <a:t>)</a:t>
            </a:r>
            <a:r>
              <a:rPr sz="1700" i="0">
                <a:solidFill>
                  <a:srgbClr val="E8EDF2"/>
                </a:solidFill>
                <a:latin typeface="Consolas"/>
              </a:rPr>
              <a:t> </a:t>
            </a:r>
            <a:r>
              <a:rPr sz="1700" i="0">
                <a:solidFill>
                  <a:srgbClr val="5DADE2"/>
                </a:solidFill>
                <a:latin typeface="Consolas"/>
              </a:rPr>
              <a:t>for</a:t>
            </a:r>
            <a:r>
              <a:rPr sz="1700" i="0">
                <a:solidFill>
                  <a:srgbClr val="E8EDF2"/>
                </a:solidFill>
                <a:latin typeface="Consolas"/>
              </a:rPr>
              <a:t> </a:t>
            </a:r>
            <a:r>
              <a:rPr sz="1700" i="0">
                <a:solidFill>
                  <a:srgbClr val="E8EDF2"/>
                </a:solidFill>
                <a:latin typeface="Consolas"/>
              </a:rPr>
              <a:t>name</a:t>
            </a:r>
            <a:r>
              <a:rPr sz="1700" i="0">
                <a:solidFill>
                  <a:srgbClr val="E8EDF2"/>
                </a:solidFill>
                <a:latin typeface="Consolas"/>
              </a:rPr>
              <a:t> </a:t>
            </a:r>
            <a:r>
              <a:rPr sz="1700" i="0">
                <a:solidFill>
                  <a:srgbClr val="AEB6BF"/>
                </a:solidFill>
                <a:latin typeface="Consolas"/>
              </a:rPr>
              <a:t>in</a:t>
            </a:r>
            <a:r>
              <a:rPr sz="1700" i="0">
                <a:solidFill>
                  <a:srgbClr val="E8EDF2"/>
                </a:solidFill>
                <a:latin typeface="Consolas"/>
              </a:rPr>
              <a:t> </a:t>
            </a:r>
            <a:r>
              <a:rPr sz="1700" i="0">
                <a:solidFill>
                  <a:srgbClr val="E8EDF2"/>
                </a:solidFill>
                <a:latin typeface="Consolas"/>
              </a:rPr>
              <a:t>TOOLS</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head</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TOOL</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ljust</a:t>
            </a:r>
            <a:r>
              <a:rPr sz="1700" i="0">
                <a:solidFill>
                  <a:srgbClr val="AEB6BF"/>
                </a:solidFill>
                <a:latin typeface="Consolas"/>
              </a:rPr>
              <a:t>(</a:t>
            </a:r>
            <a:r>
              <a:rPr sz="1700" i="0">
                <a:solidFill>
                  <a:srgbClr val="E8EDF2"/>
                </a:solidFill>
                <a:latin typeface="Consolas"/>
              </a:rPr>
              <a:t>width</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  </a:t>
            </a:r>
            <a:r>
              <a:rPr sz="1700" i="0">
                <a:solidFill>
                  <a:srgbClr val="7DCEA0"/>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 </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join</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t</a:t>
            </a:r>
            <a:r>
              <a:rPr sz="1700" i="0">
                <a:solidFill>
                  <a:srgbClr val="AEB6BF"/>
                </a:solidFill>
                <a:latin typeface="Consolas"/>
              </a:rPr>
              <a:t>[</a:t>
            </a:r>
            <a:r>
              <a:rPr sz="1700" i="0">
                <a:solidFill>
                  <a:srgbClr val="AEB6BF"/>
                </a:solidFill>
                <a:latin typeface="Consolas"/>
              </a:rPr>
              <a:t>:</a:t>
            </a:r>
            <a:r>
              <a:rPr sz="1700" i="0">
                <a:solidFill>
                  <a:srgbClr val="F7DC6F"/>
                </a:solidFill>
                <a:latin typeface="Consolas"/>
              </a:rPr>
              <a:t>4</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upper</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rjust</a:t>
            </a:r>
            <a:r>
              <a:rPr sz="1700" i="0">
                <a:solidFill>
                  <a:srgbClr val="AEB6BF"/>
                </a:solidFill>
                <a:latin typeface="Consolas"/>
              </a:rPr>
              <a:t>(</a:t>
            </a:r>
            <a:r>
              <a:rPr sz="1700" i="0">
                <a:solidFill>
                  <a:srgbClr val="F7DC6F"/>
                </a:solidFill>
                <a:latin typeface="Consolas"/>
              </a:rPr>
              <a:t>5</a:t>
            </a:r>
            <a:r>
              <a:rPr sz="1700" i="0">
                <a:solidFill>
                  <a:srgbClr val="AEB6BF"/>
                </a:solidFill>
                <a:latin typeface="Consolas"/>
              </a:rPr>
              <a:t>)</a:t>
            </a:r>
            <a:r>
              <a:rPr sz="1700" i="0">
                <a:solidFill>
                  <a:srgbClr val="E8EDF2"/>
                </a:solidFill>
                <a:latin typeface="Consolas"/>
              </a:rPr>
              <a:t> </a:t>
            </a:r>
            <a:r>
              <a:rPr sz="1700" i="0">
                <a:solidFill>
                  <a:srgbClr val="5DADE2"/>
                </a:solidFill>
                <a:latin typeface="Consolas"/>
              </a:rPr>
              <a:t>for</a:t>
            </a:r>
            <a:r>
              <a:rPr sz="1700" i="0">
                <a:solidFill>
                  <a:srgbClr val="E8EDF2"/>
                </a:solidFill>
                <a:latin typeface="Consolas"/>
              </a:rPr>
              <a:t> </a:t>
            </a:r>
            <a:r>
              <a:rPr sz="1700" i="0">
                <a:solidFill>
                  <a:srgbClr val="E8EDF2"/>
                </a:solidFill>
                <a:latin typeface="Consolas"/>
              </a:rPr>
              <a:t>t</a:t>
            </a:r>
            <a:r>
              <a:rPr sz="1700" i="0">
                <a:solidFill>
                  <a:srgbClr val="E8EDF2"/>
                </a:solidFill>
                <a:latin typeface="Consolas"/>
              </a:rPr>
              <a:t> </a:t>
            </a:r>
            <a:r>
              <a:rPr sz="1700" i="0">
                <a:solidFill>
                  <a:srgbClr val="AEB6BF"/>
                </a:solidFill>
                <a:latin typeface="Consolas"/>
              </a:rPr>
              <a:t>in</a:t>
            </a:r>
            <a:r>
              <a:rPr sz="1700" i="0">
                <a:solidFill>
                  <a:srgbClr val="E8EDF2"/>
                </a:solidFill>
                <a:latin typeface="Consolas"/>
              </a:rPr>
              <a:t> </a:t>
            </a:r>
            <a:r>
              <a:rPr sz="1700" i="0">
                <a:solidFill>
                  <a:srgbClr val="E8EDF2"/>
                </a:solidFill>
                <a:latin typeface="Consolas"/>
              </a:rPr>
              <a:t>TESTS</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   SCORE  VERDICT</a:t>
            </a:r>
            <a:r>
              <a:rPr sz="1700" i="0">
                <a:solidFill>
                  <a:srgbClr val="7DCEA0"/>
                </a:solidFill>
                <a:latin typeface="Consolas"/>
              </a:rPr>
              <a:t>"</a:t>
            </a:r>
          </a:p>
          <a:p>
            <a:pPr>
              <a:lnSpc>
                <a:spcPct val="100000"/>
              </a:lnSpc>
              <a:spcAft>
                <a:spcPts val="0"/>
              </a:spcAft>
            </a:pPr>
            <a:r>
              <a:rPr sz="1700" i="0">
                <a:solidFill>
                  <a:srgbClr val="E8EDF2"/>
                </a:solidFill>
                <a:latin typeface="Consolas"/>
              </a:rPr>
              <a:t>    </a:t>
            </a:r>
            <a:r>
              <a:rPr sz="1700" i="0">
                <a:solidFill>
                  <a:srgbClr val="C39BD3"/>
                </a:solidFill>
                <a:latin typeface="Consolas"/>
              </a:rPr>
              <a:t>print</a:t>
            </a:r>
            <a:r>
              <a:rPr sz="1700" i="0">
                <a:solidFill>
                  <a:srgbClr val="AEB6BF"/>
                </a:solidFill>
                <a:latin typeface="Consolas"/>
              </a:rPr>
              <a:t>(</a:t>
            </a:r>
            <a:r>
              <a:rPr sz="1700" i="0">
                <a:solidFill>
                  <a:srgbClr val="E8EDF2"/>
                </a:solidFill>
                <a:latin typeface="Consolas"/>
              </a:rPr>
              <a:t>head</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a:t>
            </a:r>
            <a:r>
              <a:rPr sz="1700" i="0">
                <a:solidFill>
                  <a:srgbClr val="7DCEA0"/>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C39BD3"/>
                </a:solidFill>
                <a:latin typeface="Consolas"/>
              </a:rPr>
              <a:t>len</a:t>
            </a:r>
            <a:r>
              <a:rPr sz="1700" i="0">
                <a:solidFill>
                  <a:srgbClr val="AEB6BF"/>
                </a:solidFill>
                <a:latin typeface="Consolas"/>
              </a:rPr>
              <a:t>(</a:t>
            </a:r>
            <a:r>
              <a:rPr sz="1700" i="0">
                <a:solidFill>
                  <a:srgbClr val="E8EDF2"/>
                </a:solidFill>
                <a:latin typeface="Consolas"/>
              </a:rPr>
              <a:t>head</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5DADE2"/>
                </a:solidFill>
                <a:latin typeface="Consolas"/>
              </a:rPr>
              <a:t>for</a:t>
            </a:r>
            <a:r>
              <a:rPr sz="1700" i="0">
                <a:solidFill>
                  <a:srgbClr val="E8EDF2"/>
                </a:solidFill>
                <a:latin typeface="Consolas"/>
              </a:rPr>
              <a:t> </a:t>
            </a:r>
            <a:r>
              <a:rPr sz="1700" i="0">
                <a:solidFill>
                  <a:srgbClr val="E8EDF2"/>
                </a:solidFill>
                <a:latin typeface="Consolas"/>
              </a:rPr>
              <a:t>name</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row</a:t>
            </a:r>
            <a:r>
              <a:rPr sz="1700" i="0">
                <a:solidFill>
                  <a:srgbClr val="E8EDF2"/>
                </a:solidFill>
                <a:latin typeface="Consolas"/>
              </a:rPr>
              <a:t> </a:t>
            </a:r>
            <a:r>
              <a:rPr sz="1700" i="0">
                <a:solidFill>
                  <a:srgbClr val="AEB6BF"/>
                </a:solidFill>
                <a:latin typeface="Consolas"/>
              </a:rPr>
              <a:t>in</a:t>
            </a:r>
            <a:r>
              <a:rPr sz="1700" i="0">
                <a:solidFill>
                  <a:srgbClr val="E8EDF2"/>
                </a:solidFill>
                <a:latin typeface="Consolas"/>
              </a:rPr>
              <a:t> </a:t>
            </a:r>
            <a:r>
              <a:rPr sz="1700" i="0">
                <a:solidFill>
                  <a:srgbClr val="E8EDF2"/>
                </a:solidFill>
                <a:latin typeface="Consolas"/>
              </a:rPr>
              <a:t>TOOLS</a:t>
            </a:r>
            <a:r>
              <a:rPr sz="1700" i="0">
                <a:solidFill>
                  <a:srgbClr val="AEB6BF"/>
                </a:solidFill>
                <a:latin typeface="Consolas"/>
              </a:rPr>
              <a:t>.</a:t>
            </a:r>
            <a:r>
              <a:rPr sz="1700" i="0">
                <a:solidFill>
                  <a:srgbClr val="E8EDF2"/>
                </a:solidFill>
                <a:latin typeface="Consolas"/>
              </a:rPr>
              <a:t>items</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marks</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yes</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rjust</a:t>
            </a:r>
            <a:r>
              <a:rPr sz="1700" i="0">
                <a:solidFill>
                  <a:srgbClr val="AEB6BF"/>
                </a:solidFill>
                <a:latin typeface="Consolas"/>
              </a:rPr>
              <a:t>(</a:t>
            </a:r>
            <a:r>
              <a:rPr sz="1700" i="0">
                <a:solidFill>
                  <a:srgbClr val="F7DC6F"/>
                </a:solidFill>
                <a:latin typeface="Consolas"/>
              </a:rPr>
              <a:t>5</a:t>
            </a:r>
            <a:r>
              <a:rPr sz="1700" i="0">
                <a:solidFill>
                  <a:srgbClr val="AEB6BF"/>
                </a:solidFill>
                <a:latin typeface="Consolas"/>
              </a:rPr>
              <a:t>)</a:t>
            </a:r>
            <a:r>
              <a:rPr sz="1700" i="0">
                <a:solidFill>
                  <a:srgbClr val="E8EDF2"/>
                </a:solidFill>
                <a:latin typeface="Consolas"/>
              </a:rPr>
              <a:t> </a:t>
            </a:r>
            <a:r>
              <a:rPr sz="1700" i="0">
                <a:solidFill>
                  <a:srgbClr val="5DADE2"/>
                </a:solidFill>
                <a:latin typeface="Consolas"/>
              </a:rPr>
              <a:t>if</a:t>
            </a:r>
            <a:r>
              <a:rPr sz="1700" i="0">
                <a:solidFill>
                  <a:srgbClr val="E8EDF2"/>
                </a:solidFill>
                <a:latin typeface="Consolas"/>
              </a:rPr>
              <a:t> </a:t>
            </a:r>
            <a:r>
              <a:rPr sz="1700" i="0">
                <a:solidFill>
                  <a:srgbClr val="E8EDF2"/>
                </a:solidFill>
                <a:latin typeface="Consolas"/>
              </a:rPr>
              <a:t>t</a:t>
            </a:r>
            <a:r>
              <a:rPr sz="1700" i="0">
                <a:solidFill>
                  <a:srgbClr val="E8EDF2"/>
                </a:solidFill>
                <a:latin typeface="Consolas"/>
              </a:rPr>
              <a:t> </a:t>
            </a:r>
            <a:r>
              <a:rPr sz="1700" i="0">
                <a:solidFill>
                  <a:srgbClr val="AEB6BF"/>
                </a:solidFill>
                <a:latin typeface="Consolas"/>
              </a:rPr>
              <a:t>in</a:t>
            </a:r>
            <a:r>
              <a:rPr sz="1700" i="0">
                <a:solidFill>
                  <a:srgbClr val="E8EDF2"/>
                </a:solidFill>
                <a:latin typeface="Consolas"/>
              </a:rPr>
              <a:t> </a:t>
            </a:r>
            <a:r>
              <a:rPr sz="1700" i="0">
                <a:solidFill>
                  <a:srgbClr val="E8EDF2"/>
                </a:solidFill>
                <a:latin typeface="Consolas"/>
              </a:rPr>
              <a:t>row</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passes</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5DADE2"/>
                </a:solidFill>
                <a:latin typeface="Consolas"/>
              </a:rPr>
              <a:t>else</a:t>
            </a: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rjust</a:t>
            </a:r>
            <a:r>
              <a:rPr sz="1700" i="0">
                <a:solidFill>
                  <a:srgbClr val="AEB6BF"/>
                </a:solidFill>
                <a:latin typeface="Consolas"/>
              </a:rPr>
              <a:t>(</a:t>
            </a:r>
            <a:r>
              <a:rPr sz="1700" i="0">
                <a:solidFill>
                  <a:srgbClr val="F7DC6F"/>
                </a:solidFill>
                <a:latin typeface="Consolas"/>
              </a:rPr>
              <a:t>5</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5DADE2"/>
                </a:solidFill>
                <a:latin typeface="Consolas"/>
              </a:rPr>
              <a:t>for</a:t>
            </a:r>
            <a:r>
              <a:rPr sz="1700" i="0">
                <a:solidFill>
                  <a:srgbClr val="E8EDF2"/>
                </a:solidFill>
                <a:latin typeface="Consolas"/>
              </a:rPr>
              <a:t> </a:t>
            </a:r>
            <a:r>
              <a:rPr sz="1700" i="0">
                <a:solidFill>
                  <a:srgbClr val="E8EDF2"/>
                </a:solidFill>
                <a:latin typeface="Consolas"/>
              </a:rPr>
              <a:t>t</a:t>
            </a:r>
            <a:r>
              <a:rPr sz="1700" i="0">
                <a:solidFill>
                  <a:srgbClr val="E8EDF2"/>
                </a:solidFill>
                <a:latin typeface="Consolas"/>
              </a:rPr>
              <a:t> </a:t>
            </a:r>
            <a:r>
              <a:rPr sz="1700" i="0">
                <a:solidFill>
                  <a:srgbClr val="AEB6BF"/>
                </a:solidFill>
                <a:latin typeface="Consolas"/>
              </a:rPr>
              <a:t>in</a:t>
            </a:r>
            <a:r>
              <a:rPr sz="1700" i="0">
                <a:solidFill>
                  <a:srgbClr val="E8EDF2"/>
                </a:solidFill>
                <a:latin typeface="Consolas"/>
              </a:rPr>
              <a:t> </a:t>
            </a:r>
            <a:r>
              <a:rPr sz="1700" i="0">
                <a:solidFill>
                  <a:srgbClr val="E8EDF2"/>
                </a:solidFill>
                <a:latin typeface="Consolas"/>
              </a:rPr>
              <a:t>TESTS</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score</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C39BD3"/>
                </a:solidFill>
                <a:latin typeface="Consolas"/>
              </a:rPr>
              <a:t>len</a:t>
            </a:r>
            <a:r>
              <a:rPr sz="1700" i="0">
                <a:solidFill>
                  <a:srgbClr val="AEB6BF"/>
                </a:solidFill>
                <a:latin typeface="Consolas"/>
              </a:rPr>
              <a:t>(</a:t>
            </a:r>
            <a:r>
              <a:rPr sz="1700" i="0">
                <a:solidFill>
                  <a:srgbClr val="E8EDF2"/>
                </a:solidFill>
                <a:latin typeface="Consolas"/>
              </a:rPr>
              <a:t>row</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passes</a:t>
            </a:r>
            <a:r>
              <a:rPr sz="1700" i="0">
                <a:solidFill>
                  <a:srgbClr val="7DCEA0"/>
                </a:solidFill>
                <a:latin typeface="Consolas"/>
              </a:rPr>
              <a: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C39BD3"/>
                </a:solidFill>
                <a:latin typeface="Consolas"/>
              </a:rPr>
              <a:t>print</a:t>
            </a:r>
            <a:r>
              <a:rPr sz="1700" i="0">
                <a:solidFill>
                  <a:srgbClr val="AEB6BF"/>
                </a:solidFill>
                <a:latin typeface="Consolas"/>
              </a:rPr>
              <a:t>(</a:t>
            </a:r>
            <a:r>
              <a:rPr sz="1700" i="0">
                <a:solidFill>
                  <a:srgbClr val="E8EDF2"/>
                </a:solidFill>
                <a:latin typeface="Consolas"/>
              </a:rPr>
              <a:t>name</a:t>
            </a:r>
            <a:r>
              <a:rPr sz="1700" i="0">
                <a:solidFill>
                  <a:srgbClr val="AEB6BF"/>
                </a:solidFill>
                <a:latin typeface="Consolas"/>
              </a:rPr>
              <a:t>.</a:t>
            </a:r>
            <a:r>
              <a:rPr sz="1700" i="0">
                <a:solidFill>
                  <a:srgbClr val="E8EDF2"/>
                </a:solidFill>
                <a:latin typeface="Consolas"/>
              </a:rPr>
              <a:t>ljust</a:t>
            </a:r>
            <a:r>
              <a:rPr sz="1700" i="0">
                <a:solidFill>
                  <a:srgbClr val="AEB6BF"/>
                </a:solidFill>
                <a:latin typeface="Consolas"/>
              </a:rPr>
              <a:t>(</a:t>
            </a:r>
            <a:r>
              <a:rPr sz="1700" i="0">
                <a:solidFill>
                  <a:srgbClr val="E8EDF2"/>
                </a:solidFill>
                <a:latin typeface="Consolas"/>
              </a:rPr>
              <a:t>width</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  </a:t>
            </a:r>
            <a:r>
              <a:rPr sz="1700" i="0">
                <a:solidFill>
                  <a:srgbClr val="7DCEA0"/>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 </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join</a:t>
            </a:r>
            <a:r>
              <a:rPr sz="1700" i="0">
                <a:solidFill>
                  <a:srgbClr val="AEB6BF"/>
                </a:solidFill>
                <a:latin typeface="Consolas"/>
              </a:rPr>
              <a:t>(</a:t>
            </a:r>
            <a:r>
              <a:rPr sz="1700" i="0">
                <a:solidFill>
                  <a:srgbClr val="E8EDF2"/>
                </a:solidFill>
                <a:latin typeface="Consolas"/>
              </a:rPr>
              <a:t>marks</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   </a:t>
            </a:r>
            <a:r>
              <a:rPr sz="1700" i="0">
                <a:solidFill>
                  <a:srgbClr val="7DCEA0"/>
                </a:solidFill>
                <a:latin typeface="Consolas"/>
              </a:rPr>
              <a:t>%5d</a:t>
            </a:r>
            <a:r>
              <a:rPr sz="1700" i="0">
                <a:solidFill>
                  <a:srgbClr val="7DCEA0"/>
                </a:solidFill>
                <a:latin typeface="Consolas"/>
              </a:rPr>
              <a:t>  </a:t>
            </a:r>
            <a:r>
              <a:rPr sz="1700" i="0">
                <a:solidFill>
                  <a:srgbClr val="7DCEA0"/>
                </a:solidFill>
                <a:latin typeface="Consolas"/>
              </a:rPr>
              <a:t>%s</a:t>
            </a:r>
            <a:r>
              <a:rPr sz="1700" i="0">
                <a:solidFill>
                  <a:srgbClr val="7DCEA0"/>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score</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verdict</a:t>
            </a:r>
            <a:r>
              <a:rPr sz="1700" i="0">
                <a:solidFill>
                  <a:srgbClr val="AEB6BF"/>
                </a:solidFill>
                <a:latin typeface="Consolas"/>
              </a:rPr>
              <a:t>(</a:t>
            </a:r>
            <a:r>
              <a:rPr sz="1700" i="0">
                <a:solidFill>
                  <a:srgbClr val="E8EDF2"/>
                </a:solidFill>
                <a:latin typeface="Consolas"/>
              </a:rPr>
              <a:t>score</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C39BD3"/>
                </a:solidFill>
                <a:latin typeface="Consolas"/>
              </a:rPr>
              <a:t>print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5DADE2"/>
                </a:solidFill>
                <a:latin typeface="Consolas"/>
              </a:rPr>
              <a:t>for</a:t>
            </a:r>
            <a:r>
              <a:rPr sz="1700" i="0">
                <a:solidFill>
                  <a:srgbClr val="E8EDF2"/>
                </a:solidFill>
                <a:latin typeface="Consolas"/>
              </a:rPr>
              <a:t> </a:t>
            </a:r>
            <a:r>
              <a:rPr sz="1700" i="0">
                <a:solidFill>
                  <a:srgbClr val="E8EDF2"/>
                </a:solidFill>
                <a:latin typeface="Consolas"/>
              </a:rPr>
              <a:t>name</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row</a:t>
            </a:r>
            <a:r>
              <a:rPr sz="1700" i="0">
                <a:solidFill>
                  <a:srgbClr val="E8EDF2"/>
                </a:solidFill>
                <a:latin typeface="Consolas"/>
              </a:rPr>
              <a:t> </a:t>
            </a:r>
            <a:r>
              <a:rPr sz="1700" i="0">
                <a:solidFill>
                  <a:srgbClr val="AEB6BF"/>
                </a:solidFill>
                <a:latin typeface="Consolas"/>
              </a:rPr>
              <a:t>in</a:t>
            </a:r>
            <a:r>
              <a:rPr sz="1700" i="0">
                <a:solidFill>
                  <a:srgbClr val="E8EDF2"/>
                </a:solidFill>
                <a:latin typeface="Consolas"/>
              </a:rPr>
              <a:t> </a:t>
            </a:r>
            <a:r>
              <a:rPr sz="1700" i="0">
                <a:solidFill>
                  <a:srgbClr val="E8EDF2"/>
                </a:solidFill>
                <a:latin typeface="Consolas"/>
              </a:rPr>
              <a:t>TOOLS</a:t>
            </a:r>
            <a:r>
              <a:rPr sz="1700" i="0">
                <a:solidFill>
                  <a:srgbClr val="AEB6BF"/>
                </a:solidFill>
                <a:latin typeface="Consolas"/>
              </a:rPr>
              <a:t>.</a:t>
            </a:r>
            <a:r>
              <a:rPr sz="1700" i="0">
                <a:solidFill>
                  <a:srgbClr val="E8EDF2"/>
                </a:solidFill>
                <a:latin typeface="Consolas"/>
              </a:rPr>
              <a:t>items</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%s</a:t>
            </a:r>
            <a:r>
              <a:rPr sz="1700" i="0">
                <a:solidFill>
                  <a:srgbClr val="7DCEA0"/>
                </a:solidFill>
                <a:latin typeface="Consolas"/>
              </a:rPr>
              <a:t>\n</a:t>
            </a:r>
            <a:r>
              <a:rPr sz="1700" i="0">
                <a:solidFill>
                  <a:srgbClr val="7DCEA0"/>
                </a:solidFill>
                <a:latin typeface="Consolas"/>
              </a:rPr>
              <a:t>    </a:t>
            </a:r>
            <a:r>
              <a:rPr sz="1700" i="0">
                <a:solidFill>
                  <a:srgbClr val="7DCEA0"/>
                </a:solidFill>
                <a:latin typeface="Consolas"/>
              </a:rPr>
              <a:t>%s</a:t>
            </a:r>
            <a:r>
              <a:rPr sz="1700" i="0">
                <a:solidFill>
                  <a:srgbClr val="7DCEA0"/>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name</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row</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note</a:t>
            </a:r>
            <a:r>
              <a:rPr sz="1700" i="0">
                <a:solidFill>
                  <a:srgbClr val="7DCEA0"/>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p>
        </p:txBody>
      </p:sp>
      <p:sp>
        <p:nvSpPr>
          <p:cNvPr id="14" name="!!code-num"/>
          <p:cNvSpPr txBox="1"/>
          <p:nvPr/>
        </p:nvSpPr>
        <p:spPr>
          <a:xfrm>
            <a:off x="768096" y="2066543"/>
            <a:ext cx="393192" cy="3995928"/>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51</a:t>
            </a:r>
          </a:p>
          <a:p>
            <a:pPr algn="r">
              <a:lnSpc>
                <a:spcPct val="100000"/>
              </a:lnSpc>
            </a:pPr>
            <a:r>
              <a:rPr sz="1700">
                <a:solidFill>
                  <a:srgbClr val="4F5D6A"/>
                </a:solidFill>
                <a:latin typeface="Consolas"/>
              </a:rPr>
              <a:t>52</a:t>
            </a:r>
          </a:p>
          <a:p>
            <a:pPr algn="r">
              <a:lnSpc>
                <a:spcPct val="100000"/>
              </a:lnSpc>
            </a:pPr>
            <a:r>
              <a:rPr sz="1700">
                <a:solidFill>
                  <a:srgbClr val="4F5D6A"/>
                </a:solidFill>
                <a:latin typeface="Consolas"/>
              </a:rPr>
              <a:t>53</a:t>
            </a:r>
          </a:p>
          <a:p>
            <a:pPr algn="r">
              <a:lnSpc>
                <a:spcPct val="100000"/>
              </a:lnSpc>
            </a:pPr>
            <a:r>
              <a:rPr sz="1700">
                <a:solidFill>
                  <a:srgbClr val="4F5D6A"/>
                </a:solidFill>
                <a:latin typeface="Consolas"/>
              </a:rPr>
              <a:t>54</a:t>
            </a:r>
          </a:p>
          <a:p>
            <a:pPr algn="r">
              <a:lnSpc>
                <a:spcPct val="100000"/>
              </a:lnSpc>
            </a:pPr>
            <a:r>
              <a:rPr sz="1700">
                <a:solidFill>
                  <a:srgbClr val="4F5D6A"/>
                </a:solidFill>
                <a:latin typeface="Consolas"/>
              </a:rPr>
              <a:t>55</a:t>
            </a:r>
          </a:p>
          <a:p>
            <a:pPr algn="r">
              <a:lnSpc>
                <a:spcPct val="100000"/>
              </a:lnSpc>
            </a:pPr>
            <a:r>
              <a:rPr sz="1700">
                <a:solidFill>
                  <a:srgbClr val="4F5D6A"/>
                </a:solidFill>
                <a:latin typeface="Consolas"/>
              </a:rPr>
              <a:t>56</a:t>
            </a:r>
          </a:p>
          <a:p>
            <a:pPr algn="r">
              <a:lnSpc>
                <a:spcPct val="100000"/>
              </a:lnSpc>
            </a:pPr>
            <a:r>
              <a:rPr sz="1700">
                <a:solidFill>
                  <a:srgbClr val="4F5D6A"/>
                </a:solidFill>
                <a:latin typeface="Consolas"/>
              </a:rPr>
              <a:t>57</a:t>
            </a:r>
          </a:p>
          <a:p>
            <a:pPr algn="r">
              <a:lnSpc>
                <a:spcPct val="100000"/>
              </a:lnSpc>
            </a:pPr>
            <a:r>
              <a:rPr sz="1700">
                <a:solidFill>
                  <a:srgbClr val="4F5D6A"/>
                </a:solidFill>
                <a:latin typeface="Consolas"/>
              </a:rPr>
              <a:t>58</a:t>
            </a:r>
          </a:p>
          <a:p>
            <a:pPr algn="r">
              <a:lnSpc>
                <a:spcPct val="100000"/>
              </a:lnSpc>
            </a:pPr>
            <a:r>
              <a:rPr sz="1700">
                <a:solidFill>
                  <a:srgbClr val="4F5D6A"/>
                </a:solidFill>
                <a:latin typeface="Consolas"/>
              </a:rPr>
              <a:t>59</a:t>
            </a:r>
          </a:p>
          <a:p>
            <a:pPr algn="r">
              <a:lnSpc>
                <a:spcPct val="100000"/>
              </a:lnSpc>
            </a:pPr>
            <a:r>
              <a:rPr sz="1700">
                <a:solidFill>
                  <a:srgbClr val="4F5D6A"/>
                </a:solidFill>
                <a:latin typeface="Consolas"/>
              </a:rPr>
              <a:t>60</a:t>
            </a:r>
          </a:p>
          <a:p>
            <a:pPr algn="r">
              <a:lnSpc>
                <a:spcPct val="100000"/>
              </a:lnSpc>
            </a:pPr>
            <a:r>
              <a:rPr sz="1700">
                <a:solidFill>
                  <a:srgbClr val="4F5D6A"/>
                </a:solidFill>
                <a:latin typeface="Consolas"/>
              </a:rPr>
              <a:t>61</a:t>
            </a:r>
          </a:p>
          <a:p>
            <a:pPr algn="r">
              <a:lnSpc>
                <a:spcPct val="100000"/>
              </a:lnSpc>
            </a:pPr>
            <a:r>
              <a:rPr sz="1700">
                <a:solidFill>
                  <a:srgbClr val="4F5D6A"/>
                </a:solidFill>
                <a:latin typeface="Consolas"/>
              </a:rPr>
              <a:t>62</a:t>
            </a:r>
          </a:p>
          <a:p>
            <a:pPr algn="r">
              <a:lnSpc>
                <a:spcPct val="100000"/>
              </a:lnSpc>
            </a:pPr>
            <a:r>
              <a:rPr sz="1700">
                <a:solidFill>
                  <a:srgbClr val="4F5D6A"/>
                </a:solidFill>
                <a:latin typeface="Consolas"/>
              </a:rPr>
              <a:t>63</a:t>
            </a:r>
          </a:p>
          <a:p>
            <a:pPr algn="r">
              <a:lnSpc>
                <a:spcPct val="100000"/>
              </a:lnSpc>
            </a:pPr>
            <a:r>
              <a:rPr sz="1700">
                <a:solidFill>
                  <a:srgbClr val="4F5D6A"/>
                </a:solidFill>
                <a:latin typeface="Consolas"/>
              </a:rPr>
              <a:t>64</a:t>
            </a:r>
          </a:p>
          <a:p>
            <a:pPr algn="r">
              <a:lnSpc>
                <a:spcPct val="100000"/>
              </a:lnSpc>
            </a:pPr>
            <a:r>
              <a:rPr sz="1700">
                <a:solidFill>
                  <a:srgbClr val="4F5D6A"/>
                </a:solidFill>
                <a:latin typeface="Consolas"/>
              </a:rPr>
              <a:t>65</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765525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Is It AI? A Five-Point Audit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  ·  Handout p. 8     </a:t>
            </a:r>
            <a:fld id="{4FB30B21-57FD-450E-AA44-ED720C530F61}" type="slidenum">
              <a:rPr lang="en-GB" sz="1000">
                <a:solidFill>
                  <a:srgbClr val="8795A1"/>
                </a:solidFill>
                <a:latin typeface="Segoe UI"/>
              </a:rPr>
              <a:t>28</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443983"/>
          </a:xfrm>
          <a:prstGeom prst="roundRect">
            <a:avLst>
              <a:gd name="adj" fmla="val 205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code/ch01_is_it_ai_five_point.py</a:t>
            </a:r>
          </a:p>
        </p:txBody>
      </p:sp>
      <p:sp>
        <p:nvSpPr>
          <p:cNvPr id="13" name="!!code-text" descr="def check(): &quot;&quot;&quot;The two claims the chapter makes about this table.&quot;&quot;&quot; scores = {n: len(r[&quot;passes&quot;]) for n, r in TOOLS.items()} # Adaptation is the only test the AI systems here fail ... for name in (&quot;Sprint scheduler&quot;, &quot;Escalation adviser&quot;): assert &quot;adapts&quot; not in TOOLS[name][&quot;passes&quot;], name assert scores[name] == 4, name # ... and the only test the machine learning tool passes. assert TOOLS[&quot;Duplicate-ticket finder&quot;][&quot;passes&quot;] == (&quot;adapts&quot;,) print(&quot;\nchecks passed: intelligent behaviour here does not &quot; &quot;require learning,&quot;) print(&quot;and the one tool that learns is the one this course &quot; &quot;hands on.&quot;) if __name__ == &quot;__main__&quot;: audit() check()"/>
          <p:cNvSpPr txBox="1"/>
          <p:nvPr/>
        </p:nvSpPr>
        <p:spPr>
          <a:xfrm>
            <a:off x="1362456" y="2066543"/>
            <a:ext cx="9987991" cy="3950207"/>
          </a:xfrm>
          <a:prstGeom prst="rect">
            <a:avLst/>
          </a:prstGeom>
          <a:noFill/>
        </p:spPr>
        <p:txBody>
          <a:bodyPr wrap="none" anchor="t" lIns="0" rIns="0" tIns="0" bIns="0">
            <a:noAutofit/>
          </a:bodyPr>
          <a:lstStyle/>
          <a:p>
            <a:pPr>
              <a:lnSpc>
                <a:spcPct val="100000"/>
              </a:lnSpc>
              <a:spcAft>
                <a:spcPts val="0"/>
              </a:spcAft>
            </a:pPr>
            <a:r>
              <a:rPr sz="1400" i="0">
                <a:solidFill>
                  <a:srgbClr val="5DADE2"/>
                </a:solidFill>
                <a:latin typeface="Consolas"/>
              </a:rPr>
              <a:t>def</a:t>
            </a:r>
            <a:r>
              <a:rPr sz="1400" i="0">
                <a:solidFill>
                  <a:srgbClr val="E8EDF2"/>
                </a:solidFill>
                <a:latin typeface="Consolas"/>
              </a:rPr>
              <a:t> </a:t>
            </a:r>
            <a:r>
              <a:rPr sz="1400" i="0">
                <a:solidFill>
                  <a:srgbClr val="C39BD3"/>
                </a:solidFill>
                <a:latin typeface="Consolas"/>
              </a:rPr>
              <a:t>check</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"""The two claims the chapter makes about this table."""</a:t>
            </a:r>
          </a:p>
          <a:p>
            <a:pPr>
              <a:lnSpc>
                <a:spcPct val="100000"/>
              </a:lnSpc>
              <a:spcAft>
                <a:spcPts val="0"/>
              </a:spcAft>
            </a:pPr>
            <a:r>
              <a:rPr sz="1400" i="0">
                <a:solidFill>
                  <a:srgbClr val="E8EDF2"/>
                </a:solidFill>
                <a:latin typeface="Consolas"/>
              </a:rPr>
              <a:t>    </a:t>
            </a:r>
            <a:r>
              <a:rPr sz="1400" i="0">
                <a:solidFill>
                  <a:srgbClr val="E8EDF2"/>
                </a:solidFill>
                <a:latin typeface="Consolas"/>
              </a:rPr>
              <a:t>scores</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n</a:t>
            </a:r>
            <a:r>
              <a:rPr sz="1400" i="0">
                <a:solidFill>
                  <a:srgbClr val="AEB6BF"/>
                </a:solidFill>
                <a:latin typeface="Consolas"/>
              </a:rPr>
              <a:t>:</a:t>
            </a:r>
            <a:r>
              <a:rPr sz="1400" i="0">
                <a:solidFill>
                  <a:srgbClr val="E8EDF2"/>
                </a:solidFill>
                <a:latin typeface="Consolas"/>
              </a:rPr>
              <a:t> </a:t>
            </a:r>
            <a:r>
              <a:rPr sz="1400" i="0">
                <a:solidFill>
                  <a:srgbClr val="C39BD3"/>
                </a:solidFill>
                <a:latin typeface="Consolas"/>
              </a:rPr>
              <a:t>len</a:t>
            </a:r>
            <a:r>
              <a:rPr sz="1400" i="0">
                <a:solidFill>
                  <a:srgbClr val="AEB6BF"/>
                </a:solidFill>
                <a:latin typeface="Consolas"/>
              </a:rPr>
              <a:t>(</a:t>
            </a:r>
            <a:r>
              <a:rPr sz="1400" i="0">
                <a:solidFill>
                  <a:srgbClr val="E8EDF2"/>
                </a:solidFill>
                <a:latin typeface="Consolas"/>
              </a:rPr>
              <a:t>r</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passes</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n</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r</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TOOLS</a:t>
            </a:r>
            <a:r>
              <a:rPr sz="1400" i="0">
                <a:solidFill>
                  <a:srgbClr val="AEB6BF"/>
                </a:solidFill>
                <a:latin typeface="Consolas"/>
              </a:rPr>
              <a:t>.</a:t>
            </a:r>
            <a:r>
              <a:rPr sz="1400" i="0">
                <a:solidFill>
                  <a:srgbClr val="E8EDF2"/>
                </a:solidFill>
                <a:latin typeface="Consolas"/>
              </a:rPr>
              <a:t>items</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1">
                <a:solidFill>
                  <a:srgbClr val="8795A1"/>
                </a:solidFill>
                <a:latin typeface="Consolas"/>
              </a:rPr>
              <a:t># Adaptation is the only test the AI systems here fail ...</a:t>
            </a:r>
          </a:p>
          <a:p>
            <a:pPr>
              <a:lnSpc>
                <a:spcPct val="100000"/>
              </a:lnSpc>
              <a:spcAft>
                <a:spcPts val="0"/>
              </a:spcAft>
            </a:pP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name</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Sprint scheduler</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Escalation adviser</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assert</a:t>
            </a: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adapts</a:t>
            </a:r>
            <a:r>
              <a:rPr sz="1400" i="0">
                <a:solidFill>
                  <a:srgbClr val="7DCEA0"/>
                </a:solidFill>
                <a:latin typeface="Consolas"/>
              </a:rPr>
              <a:t>"</a:t>
            </a:r>
            <a:r>
              <a:rPr sz="1400" i="0">
                <a:solidFill>
                  <a:srgbClr val="E8EDF2"/>
                </a:solidFill>
                <a:latin typeface="Consolas"/>
              </a:rPr>
              <a:t> </a:t>
            </a:r>
            <a:r>
              <a:rPr sz="1400" i="0">
                <a:solidFill>
                  <a:srgbClr val="AEB6BF"/>
                </a:solidFill>
                <a:latin typeface="Consolas"/>
              </a:rPr>
              <a:t>not</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TOOLS</a:t>
            </a:r>
            <a:r>
              <a:rPr sz="1400" i="0">
                <a:solidFill>
                  <a:srgbClr val="AEB6BF"/>
                </a:solidFill>
                <a:latin typeface="Consolas"/>
              </a:rPr>
              <a:t>[</a:t>
            </a:r>
            <a:r>
              <a:rPr sz="1400" i="0">
                <a:solidFill>
                  <a:srgbClr val="E8EDF2"/>
                </a:solidFill>
                <a:latin typeface="Consolas"/>
              </a:rPr>
              <a:t>name</a:t>
            </a:r>
            <a:r>
              <a:rPr sz="1400" i="0">
                <a:solidFill>
                  <a:srgbClr val="AEB6BF"/>
                </a:solidFill>
                <a:latin typeface="Consolas"/>
              </a:rPr>
              <a: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passes</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name</a:t>
            </a:r>
          </a:p>
          <a:p>
            <a:pPr>
              <a:lnSpc>
                <a:spcPct val="100000"/>
              </a:lnSpc>
              <a:spcAft>
                <a:spcPts val="0"/>
              </a:spcAft>
            </a:pPr>
            <a:r>
              <a:rPr sz="1400" i="0">
                <a:solidFill>
                  <a:srgbClr val="E8EDF2"/>
                </a:solidFill>
                <a:latin typeface="Consolas"/>
              </a:rPr>
              <a:t>        </a:t>
            </a:r>
            <a:r>
              <a:rPr sz="1400" i="0">
                <a:solidFill>
                  <a:srgbClr val="5DADE2"/>
                </a:solidFill>
                <a:latin typeface="Consolas"/>
              </a:rPr>
              <a:t>assert</a:t>
            </a:r>
            <a:r>
              <a:rPr sz="1400" i="0">
                <a:solidFill>
                  <a:srgbClr val="E8EDF2"/>
                </a:solidFill>
                <a:latin typeface="Consolas"/>
              </a:rPr>
              <a:t> </a:t>
            </a:r>
            <a:r>
              <a:rPr sz="1400" i="0">
                <a:solidFill>
                  <a:srgbClr val="E8EDF2"/>
                </a:solidFill>
                <a:latin typeface="Consolas"/>
              </a:rPr>
              <a:t>scores</a:t>
            </a:r>
            <a:r>
              <a:rPr sz="1400" i="0">
                <a:solidFill>
                  <a:srgbClr val="AEB6BF"/>
                </a:solidFill>
                <a:latin typeface="Consolas"/>
              </a:rPr>
              <a:t>[</a:t>
            </a:r>
            <a:r>
              <a:rPr sz="1400" i="0">
                <a:solidFill>
                  <a:srgbClr val="E8EDF2"/>
                </a:solidFill>
                <a:latin typeface="Consolas"/>
              </a:rPr>
              <a:t>name</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4</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name</a:t>
            </a:r>
          </a:p>
          <a:p>
            <a:pPr>
              <a:lnSpc>
                <a:spcPct val="100000"/>
              </a:lnSpc>
              <a:spcAft>
                <a:spcPts val="0"/>
              </a:spcAft>
            </a:pPr>
            <a:r>
              <a:rPr sz="1400" i="0">
                <a:solidFill>
                  <a:srgbClr val="E8EDF2"/>
                </a:solidFill>
                <a:latin typeface="Consolas"/>
              </a:rPr>
              <a:t>    </a:t>
            </a:r>
            <a:r>
              <a:rPr sz="1400" i="1">
                <a:solidFill>
                  <a:srgbClr val="8795A1"/>
                </a:solidFill>
                <a:latin typeface="Consolas"/>
              </a:rPr>
              <a:t># ... and the only test the machine learning tool passes.</a:t>
            </a:r>
          </a:p>
          <a:p>
            <a:pPr>
              <a:lnSpc>
                <a:spcPct val="100000"/>
              </a:lnSpc>
              <a:spcAft>
                <a:spcPts val="0"/>
              </a:spcAft>
            </a:pPr>
            <a:r>
              <a:rPr sz="1400" i="0">
                <a:solidFill>
                  <a:srgbClr val="E8EDF2"/>
                </a:solidFill>
                <a:latin typeface="Consolas"/>
              </a:rPr>
              <a:t>    </a:t>
            </a:r>
            <a:r>
              <a:rPr sz="1400" i="0">
                <a:solidFill>
                  <a:srgbClr val="5DADE2"/>
                </a:solidFill>
                <a:latin typeface="Consolas"/>
              </a:rPr>
              <a:t>assert</a:t>
            </a:r>
            <a:r>
              <a:rPr sz="1400" i="0">
                <a:solidFill>
                  <a:srgbClr val="E8EDF2"/>
                </a:solidFill>
                <a:latin typeface="Consolas"/>
              </a:rPr>
              <a:t> </a:t>
            </a:r>
            <a:r>
              <a:rPr sz="1400" i="0">
                <a:solidFill>
                  <a:srgbClr val="E8EDF2"/>
                </a:solidFill>
                <a:latin typeface="Consolas"/>
              </a:rPr>
              <a:t>TOOLS</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Duplicate-ticket finder</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passes</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adapts</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\n</a:t>
            </a:r>
            <a:r>
              <a:rPr sz="1400" i="0">
                <a:solidFill>
                  <a:srgbClr val="7DCEA0"/>
                </a:solidFill>
                <a:latin typeface="Consolas"/>
              </a:rPr>
              <a:t>checks passed: intelligent behaviour here does not </a:t>
            </a:r>
            <a:r>
              <a:rPr sz="1400" i="0">
                <a:solidFill>
                  <a:srgbClr val="7DCEA0"/>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require learning,</a:t>
            </a:r>
            <a:r>
              <a:rPr sz="1400" i="0">
                <a:solidFill>
                  <a:srgbClr val="7DCEA0"/>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and the one tool that learns is the one this course </a:t>
            </a:r>
            <a:r>
              <a:rPr sz="1400" i="0">
                <a:solidFill>
                  <a:srgbClr val="7DCEA0"/>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hands on.</a:t>
            </a:r>
            <a:r>
              <a:rPr sz="1400" i="0">
                <a:solidFill>
                  <a:srgbClr val="7DCEA0"/>
                </a:solidFill>
                <a:latin typeface="Consolas"/>
              </a:rPr>
              <a:t>"</a:t>
            </a:r>
            <a:r>
              <a:rPr sz="1400" i="0">
                <a:solidFill>
                  <a:srgbClr val="AEB6BF"/>
                </a:solidFill>
                <a:latin typeface="Consolas"/>
              </a:rPr>
              <a:t>)</a:t>
            </a:r>
          </a:p>
          <a:p>
            <a:pPr>
              <a:lnSpc>
                <a:spcPct val="100000"/>
              </a:lnSpc>
              <a:spcAft>
                <a:spcPts val="0"/>
              </a:spcAft>
            </a:pPr>
            <a:r>
              <a:rPr sz="1400">
                <a:latin typeface="Consolas"/>
              </a:rPr>
              <a:t> </a:t>
            </a:r>
          </a:p>
          <a:p>
            <a:pPr>
              <a:lnSpc>
                <a:spcPct val="100000"/>
              </a:lnSpc>
              <a:spcAft>
                <a:spcPts val="0"/>
              </a:spcAft>
            </a:pPr>
            <a:r>
              <a:rPr sz="1400">
                <a:latin typeface="Consolas"/>
              </a:rPr>
              <a:t> </a:t>
            </a:r>
          </a:p>
          <a:p>
            <a:pPr>
              <a:lnSpc>
                <a:spcPct val="100000"/>
              </a:lnSpc>
              <a:spcAft>
                <a:spcPts val="0"/>
              </a:spcAft>
            </a:pPr>
            <a:r>
              <a:rPr sz="1400" i="0">
                <a:solidFill>
                  <a:srgbClr val="5DADE2"/>
                </a:solidFill>
                <a:latin typeface="Consolas"/>
              </a:rPr>
              <a:t>if</a:t>
            </a:r>
            <a:r>
              <a:rPr sz="1400" i="0">
                <a:solidFill>
                  <a:srgbClr val="E8EDF2"/>
                </a:solidFill>
                <a:latin typeface="Consolas"/>
              </a:rPr>
              <a:t> </a:t>
            </a:r>
            <a:r>
              <a:rPr sz="1400" i="0">
                <a:solidFill>
                  <a:srgbClr val="E8EDF2"/>
                </a:solidFill>
                <a:latin typeface="Consolas"/>
              </a:rPr>
              <a:t>__name__</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__main__</a:t>
            </a:r>
            <a:r>
              <a:rPr sz="1400" i="0">
                <a:solidFill>
                  <a:srgbClr val="7DCEA0"/>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audit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check</a:t>
            </a:r>
            <a:r>
              <a:rPr sz="1400" i="0">
                <a:solidFill>
                  <a:srgbClr val="AEB6BF"/>
                </a:solidFill>
                <a:latin typeface="Consolas"/>
              </a:rPr>
              <a:t>(</a:t>
            </a:r>
            <a:r>
              <a:rPr sz="1400" i="0">
                <a:solidFill>
                  <a:srgbClr val="AEB6BF"/>
                </a:solidFill>
                <a:latin typeface="Consolas"/>
              </a:rPr>
              <a:t>)</a:t>
            </a:r>
          </a:p>
        </p:txBody>
      </p:sp>
      <p:sp>
        <p:nvSpPr>
          <p:cNvPr id="14" name="!!code-num"/>
          <p:cNvSpPr txBox="1"/>
          <p:nvPr/>
        </p:nvSpPr>
        <p:spPr>
          <a:xfrm>
            <a:off x="768096" y="2066543"/>
            <a:ext cx="393192" cy="3950207"/>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68</a:t>
            </a:r>
          </a:p>
          <a:p>
            <a:pPr algn="r">
              <a:lnSpc>
                <a:spcPct val="100000"/>
              </a:lnSpc>
            </a:pPr>
            <a:r>
              <a:rPr sz="1400">
                <a:solidFill>
                  <a:srgbClr val="4F5D6A"/>
                </a:solidFill>
                <a:latin typeface="Consolas"/>
              </a:rPr>
              <a:t>69</a:t>
            </a:r>
          </a:p>
          <a:p>
            <a:pPr algn="r">
              <a:lnSpc>
                <a:spcPct val="100000"/>
              </a:lnSpc>
            </a:pPr>
            <a:r>
              <a:rPr sz="1400">
                <a:solidFill>
                  <a:srgbClr val="4F5D6A"/>
                </a:solidFill>
                <a:latin typeface="Consolas"/>
              </a:rPr>
              <a:t>70</a:t>
            </a:r>
          </a:p>
          <a:p>
            <a:pPr algn="r">
              <a:lnSpc>
                <a:spcPct val="100000"/>
              </a:lnSpc>
            </a:pPr>
            <a:r>
              <a:rPr sz="1400">
                <a:solidFill>
                  <a:srgbClr val="4F5D6A"/>
                </a:solidFill>
                <a:latin typeface="Consolas"/>
              </a:rPr>
              <a:t>71</a:t>
            </a:r>
          </a:p>
          <a:p>
            <a:pPr algn="r">
              <a:lnSpc>
                <a:spcPct val="100000"/>
              </a:lnSpc>
            </a:pPr>
            <a:r>
              <a:rPr sz="1400">
                <a:solidFill>
                  <a:srgbClr val="4F5D6A"/>
                </a:solidFill>
                <a:latin typeface="Consolas"/>
              </a:rPr>
              <a:t>72</a:t>
            </a:r>
          </a:p>
          <a:p>
            <a:pPr algn="r">
              <a:lnSpc>
                <a:spcPct val="100000"/>
              </a:lnSpc>
            </a:pPr>
            <a:r>
              <a:rPr sz="1400">
                <a:solidFill>
                  <a:srgbClr val="4F5D6A"/>
                </a:solidFill>
                <a:latin typeface="Consolas"/>
              </a:rPr>
              <a:t>73</a:t>
            </a:r>
          </a:p>
          <a:p>
            <a:pPr algn="r">
              <a:lnSpc>
                <a:spcPct val="100000"/>
              </a:lnSpc>
            </a:pPr>
            <a:r>
              <a:rPr sz="1400">
                <a:solidFill>
                  <a:srgbClr val="4F5D6A"/>
                </a:solidFill>
                <a:latin typeface="Consolas"/>
              </a:rPr>
              <a:t>74</a:t>
            </a:r>
          </a:p>
          <a:p>
            <a:pPr algn="r">
              <a:lnSpc>
                <a:spcPct val="100000"/>
              </a:lnSpc>
            </a:pPr>
            <a:r>
              <a:rPr sz="1400">
                <a:solidFill>
                  <a:srgbClr val="4F5D6A"/>
                </a:solidFill>
                <a:latin typeface="Consolas"/>
              </a:rPr>
              <a:t>75</a:t>
            </a:r>
          </a:p>
          <a:p>
            <a:pPr algn="r">
              <a:lnSpc>
                <a:spcPct val="100000"/>
              </a:lnSpc>
            </a:pPr>
            <a:r>
              <a:rPr sz="1400">
                <a:solidFill>
                  <a:srgbClr val="4F5D6A"/>
                </a:solidFill>
                <a:latin typeface="Consolas"/>
              </a:rPr>
              <a:t>76</a:t>
            </a:r>
          </a:p>
          <a:p>
            <a:pPr algn="r">
              <a:lnSpc>
                <a:spcPct val="100000"/>
              </a:lnSpc>
            </a:pPr>
            <a:r>
              <a:rPr sz="1400">
                <a:solidFill>
                  <a:srgbClr val="4F5D6A"/>
                </a:solidFill>
                <a:latin typeface="Consolas"/>
              </a:rPr>
              <a:t>77</a:t>
            </a:r>
          </a:p>
          <a:p>
            <a:pPr algn="r">
              <a:lnSpc>
                <a:spcPct val="100000"/>
              </a:lnSpc>
            </a:pPr>
            <a:r>
              <a:rPr sz="1400">
                <a:solidFill>
                  <a:srgbClr val="4F5D6A"/>
                </a:solidFill>
                <a:latin typeface="Consolas"/>
              </a:rPr>
              <a:t>78</a:t>
            </a:r>
          </a:p>
          <a:p>
            <a:pPr algn="r">
              <a:lnSpc>
                <a:spcPct val="100000"/>
              </a:lnSpc>
            </a:pPr>
            <a:r>
              <a:rPr sz="1400">
                <a:solidFill>
                  <a:srgbClr val="4F5D6A"/>
                </a:solidFill>
                <a:latin typeface="Consolas"/>
              </a:rPr>
              <a:t>79</a:t>
            </a:r>
          </a:p>
          <a:p>
            <a:pPr algn="r">
              <a:lnSpc>
                <a:spcPct val="100000"/>
              </a:lnSpc>
            </a:pPr>
            <a:r>
              <a:rPr sz="1400">
                <a:solidFill>
                  <a:srgbClr val="4F5D6A"/>
                </a:solidFill>
                <a:latin typeface="Consolas"/>
              </a:rPr>
              <a:t>80</a:t>
            </a:r>
          </a:p>
          <a:p>
            <a:pPr algn="r">
              <a:lnSpc>
                <a:spcPct val="100000"/>
              </a:lnSpc>
            </a:pPr>
            <a:r>
              <a:rPr sz="1400">
                <a:solidFill>
                  <a:srgbClr val="4F5D6A"/>
                </a:solidFill>
                <a:latin typeface="Consolas"/>
              </a:rPr>
              <a:t>81</a:t>
            </a:r>
          </a:p>
          <a:p>
            <a:pPr algn="r">
              <a:lnSpc>
                <a:spcPct val="100000"/>
              </a:lnSpc>
            </a:pPr>
            <a:r>
              <a:rPr sz="1400">
                <a:solidFill>
                  <a:srgbClr val="4F5D6A"/>
                </a:solidFill>
                <a:latin typeface="Consolas"/>
              </a:rPr>
              <a:t>82</a:t>
            </a:r>
          </a:p>
          <a:p>
            <a:pPr algn="r">
              <a:lnSpc>
                <a:spcPct val="100000"/>
              </a:lnSpc>
            </a:pPr>
            <a:r>
              <a:rPr sz="1400">
                <a:solidFill>
                  <a:srgbClr val="4F5D6A"/>
                </a:solidFill>
                <a:latin typeface="Consolas"/>
              </a:rPr>
              <a:t>83</a:t>
            </a:r>
          </a:p>
          <a:p>
            <a:pPr algn="r">
              <a:lnSpc>
                <a:spcPct val="100000"/>
              </a:lnSpc>
            </a:pPr>
            <a:r>
              <a:rPr sz="1400">
                <a:solidFill>
                  <a:srgbClr val="4F5D6A"/>
                </a:solidFill>
                <a:latin typeface="Consolas"/>
              </a:rPr>
              <a:t>84</a:t>
            </a:r>
          </a:p>
          <a:p>
            <a:pPr algn="r">
              <a:lnSpc>
                <a:spcPct val="100000"/>
              </a:lnSpc>
            </a:pPr>
            <a:r>
              <a:rPr sz="1400">
                <a:solidFill>
                  <a:srgbClr val="4F5D6A"/>
                </a:solidFill>
                <a:latin typeface="Consolas"/>
              </a:rPr>
              <a:t>85</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793877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  ·  Handout p. 8     </a:t>
            </a:r>
            <a:fld id="{D92C2B7B-EEEE-4F90-90EA-4D0995CAD7AA}" type="slidenum">
              <a:rPr lang="en-GB" sz="1000">
                <a:solidFill>
                  <a:srgbClr val="8795A1"/>
                </a:solidFill>
                <a:latin typeface="Segoe UI"/>
              </a:rPr>
              <a:t>29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Now add a sixth tool of your own — something you have actually used, a CI pipeline or an IDE’s autocomplete — and score it. The interesting cases are the ones that score 2 or 3: write down which test you were least sure about and why.</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22230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program is given the sentence </a:t>
            </a:r>
            <a:r>
              <a:rPr sz="3400" b="0" i="1">
                <a:solidFill>
                  <a:srgbClr val="FFFFFF"/>
                </a:solidFill>
                <a:latin typeface="Segoe UI Semibold"/>
              </a:rPr>
              <a:t>minimise total project delay</a:t>
            </a:r>
            <a:r>
              <a:rPr sz="3400" b="0" i="0">
                <a:solidFill>
                  <a:srgbClr val="FFFFFF"/>
                </a:solidFill>
                <a:latin typeface="Segoe UI Semibold"/>
              </a:rPr>
              <a:t> and a list of tasks with durations and dependencies. Which of the five tests of Section 1.3 does it pass on that description alone, and which cannot be judged until you see the implementation?</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1  ·  What Artificial Intelligence Is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12  ·  answers in Appendix D     </a:t>
            </a:r>
            <a:fld id="{D1A28D3C-A0D7-4E7D-9834-C257DD8A4F5D}" type="slidenum">
              <a:rPr lang="en-GB" sz="1000">
                <a:solidFill>
                  <a:srgbClr val="D5DEE5"/>
                </a:solidFill>
                <a:latin typeface="Segoe UI"/>
              </a:rPr>
              <a:t>30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967435"/>
          </a:xfrm>
        </p:spPr>
        <p:txBody>
          <a:bodyPr wrap="square" lIns="0" rIns="0" tIns="0" bIns="0" anchor="t">
            <a:noAutofit/>
          </a:bodyPr>
          <a:lstStyle/>
          <a:p>
            <a:pPr algn="l">
              <a:lnSpc>
                <a:spcPct val="96000"/>
              </a:lnSpc>
            </a:pPr>
            <a:r>
              <a:rPr sz="2100" b="0" i="0">
                <a:solidFill>
                  <a:srgbClr val="1A5276"/>
                </a:solidFill>
                <a:latin typeface="Segoe UI Semibold"/>
              </a:rPr>
              <a:t>A program is given the sentence </a:t>
            </a:r>
            <a:r>
              <a:rPr sz="2100" b="0" i="1">
                <a:solidFill>
                  <a:srgbClr val="1A5276"/>
                </a:solidFill>
                <a:latin typeface="Segoe UI Semibold"/>
              </a:rPr>
              <a:t>minimise total project delay</a:t>
            </a:r>
            <a:r>
              <a:rPr sz="2100" b="0" i="0">
                <a:solidFill>
                  <a:srgbClr val="1A5276"/>
                </a:solidFill>
                <a:latin typeface="Segoe UI Semibold"/>
              </a:rPr>
              <a:t> and a list of tasks with durations and dependencies. Which of the five tests of Section 1.3 does it pass on that description alone, and which cannot be judged until you see the implementation?</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982419"/>
            <a:ext cx="64008" cy="24408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982419"/>
            <a:ext cx="1050919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256B9A"/>
                </a:solidFill>
                <a:latin typeface="Segoe UI"/>
              </a:rPr>
              <a:t>Goal</a:t>
            </a:r>
            <a:r>
              <a:rPr sz="2200" b="0" i="0">
                <a:solidFill>
                  <a:srgbClr val="1C252B"/>
                </a:solidFill>
                <a:latin typeface="Segoe UI"/>
              </a:rPr>
              <a:t> is passed on the description alone: “minimise total project delay” is an objective, not a procedure. </a:t>
            </a:r>
            <a:r>
              <a:rPr sz="2200" b="1" i="0">
                <a:solidFill>
                  <a:srgbClr val="1C252B"/>
                </a:solidFill>
                <a:latin typeface="Segoe UI"/>
              </a:rPr>
              <a:t>Knowledge</a:t>
            </a:r>
            <a:r>
              <a:rPr sz="2200" b="0" i="0">
                <a:solidFill>
                  <a:srgbClr val="1C252B"/>
                </a:solidFill>
                <a:latin typeface="Segoe UI"/>
              </a:rPr>
              <a:t> is arguably passed too — the task list with durations and dependencies is an explicit, inspectable representation that a delivery manager could correct without touching the algorithm. </a:t>
            </a:r>
            <a:r>
              <a:rPr sz="2200" b="1" i="0">
                <a:solidFill>
                  <a:srgbClr val="1C252B"/>
                </a:solidFill>
                <a:latin typeface="Segoe UI"/>
              </a:rPr>
              <a:t>Search</a:t>
            </a:r>
            <a:r>
              <a:rPr sz="2200" b="0" i="0">
                <a:solidFill>
                  <a:srgbClr val="1C252B"/>
                </a:solidFill>
                <a:latin typeface="Segoe UI"/>
              </a:rPr>
              <a:t>, </a:t>
            </a:r>
            <a:r>
              <a:rPr sz="2200" b="1" i="0">
                <a:solidFill>
                  <a:srgbClr val="1C252B"/>
                </a:solidFill>
                <a:latin typeface="Segoe UI"/>
              </a:rPr>
              <a:t>adaptation</a:t>
            </a:r>
            <a:r>
              <a:rPr sz="2200" b="0" i="0">
                <a:solidFill>
                  <a:srgbClr val="1C252B"/>
                </a:solidFill>
                <a:latin typeface="Segoe UI"/>
              </a:rPr>
              <a:t> and </a:t>
            </a:r>
            <a:r>
              <a:rPr sz="2200" b="1" i="0">
                <a:solidFill>
                  <a:srgbClr val="1C252B"/>
                </a:solidFill>
                <a:latin typeface="Segoe UI"/>
              </a:rPr>
              <a:t>explanation</a:t>
            </a:r>
            <a:r>
              <a:rPr sz="2200" b="0" i="0">
                <a:solidFill>
                  <a:srgbClr val="1C252B"/>
                </a:solidFill>
                <a:latin typeface="Segoe UI"/>
              </a:rPr>
              <a:t> cannot be judged without seeing the implementation: a program with this brief might enumerate alternatives or might compute one critical path directly, and the description does not say.</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  ·  answers in Appendix D     </a:t>
            </a:r>
            <a:fld id="{BC123A4B-D1DC-4ECD-95AC-A309210C8615}" type="slidenum">
              <a:rPr lang="en-GB" sz="1000">
                <a:solidFill>
                  <a:srgbClr val="8795A1"/>
                </a:solidFill>
                <a:latin typeface="Segoe UI"/>
              </a:rPr>
              <a:t>31</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878936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chatbot answers service-desk questions so convincingly that users believe it is a person, but it has no representation of the service catalogue and cannot say why it gave an answer. Which quadrant of Figure 1.1 is it succeeding in, and which is it failing in?</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1  ·  What Artificial Intelligence Is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12  ·  answers in Appendix D     </a:t>
            </a:r>
            <a:fld id="{1409C4BA-6888-4378-B1DF-77685BEB5070}" type="slidenum">
              <a:rPr lang="en-GB" sz="1000">
                <a:solidFill>
                  <a:srgbClr val="D5DEE5"/>
                </a:solidFill>
                <a:latin typeface="Segoe UI"/>
              </a:rPr>
              <a:t>32</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967435"/>
          </a:xfrm>
        </p:spPr>
        <p:txBody>
          <a:bodyPr wrap="square" lIns="0" rIns="0" tIns="0" bIns="0" anchor="t">
            <a:noAutofit/>
          </a:bodyPr>
          <a:lstStyle/>
          <a:p>
            <a:pPr algn="l">
              <a:lnSpc>
                <a:spcPct val="96000"/>
              </a:lnSpc>
            </a:pPr>
            <a:r>
              <a:rPr sz="2100" b="0" i="0">
                <a:solidFill>
                  <a:srgbClr val="1A5276"/>
                </a:solidFill>
                <a:latin typeface="Segoe UI Semibold"/>
              </a:rPr>
              <a:t>A chatbot answers service-desk questions so convincingly that users believe it is a person, but it has no representation of the service catalogue and cannot say why it gave an answer. Which quadrant of Figure 1.1 is it succeeding in, and which is it failing in?</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982419"/>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982419"/>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It is succeeding in </a:t>
            </a:r>
            <a:r>
              <a:rPr sz="2200" b="0" i="1">
                <a:solidFill>
                  <a:srgbClr val="1C252B"/>
                </a:solidFill>
                <a:latin typeface="Segoe UI"/>
              </a:rPr>
              <a:t>acting humanly</a:t>
            </a:r>
            <a:r>
              <a:rPr sz="2200" b="0" i="0">
                <a:solidFill>
                  <a:srgbClr val="1C252B"/>
                </a:solidFill>
                <a:latin typeface="Segoe UI"/>
              </a:rPr>
              <a:t> — the bottom-left quadrant, the Turing test standard, where indistinguishability from a person is the whole criterion. It is failing in </a:t>
            </a:r>
            <a:r>
              <a:rPr sz="2200" b="0" i="1">
                <a:solidFill>
                  <a:srgbClr val="1C252B"/>
                </a:solidFill>
                <a:latin typeface="Segoe UI"/>
              </a:rPr>
              <a:t>acting rationally</a:t>
            </a:r>
            <a:r>
              <a:rPr sz="2200" b="0" i="0">
                <a:solidFill>
                  <a:srgbClr val="1C252B"/>
                </a:solidFill>
                <a:latin typeface="Segoe UI"/>
              </a:rPr>
              <a:t>: with no representation of the service catalogue it cannot be relied on to give the right answer, and with no explanation its answers cannot be checked. It is also failing </a:t>
            </a:r>
            <a:r>
              <a:rPr sz="2200" b="0" i="1">
                <a:solidFill>
                  <a:srgbClr val="1C252B"/>
                </a:solidFill>
                <a:latin typeface="Segoe UI"/>
              </a:rPr>
              <a:t>thinking rationally</a:t>
            </a:r>
            <a:r>
              <a:rPr sz="2200" b="0" i="0">
                <a:solidFill>
                  <a:srgbClr val="1C252B"/>
                </a:solidFill>
                <a:latin typeface="Segoe UI"/>
              </a:rPr>
              <a:t>, since there is no inference to inspect. This is exactly the Eliza pattern of Chapter 19.</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  ·  answers in Appendix D     </a:t>
            </a:r>
            <a:fld id="{FDE2842E-CFA3-4A57-9732-0CA0CCC1FCEE}" type="slidenum">
              <a:rPr lang="en-GB" sz="1000">
                <a:solidFill>
                  <a:srgbClr val="8795A1"/>
                </a:solidFill>
                <a:latin typeface="Segoe UI"/>
              </a:rPr>
              <a:t>33</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35641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The expert-systems boom ended in the knowledge acquisition bottleneck. Name the chapter of this handout that builds an expert system, and state which single one of the five tests such a system fails.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1  ·  What Artificial Intelligence Is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12  ·  answers in Appendix D     </a:t>
            </a:r>
            <a:fld id="{46D131AF-678B-4F8C-B4D8-A860E93D5293}" type="slidenum">
              <a:rPr lang="en-GB" sz="1000">
                <a:solidFill>
                  <a:srgbClr val="D5DEE5"/>
                </a:solidFill>
                <a:latin typeface="Segoe UI"/>
              </a:rPr>
              <a:t>34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The expert-systems boom ended in the knowledge acquisition bottleneck. Name the chapter of this handout that builds an expert system, and state which single one of the five tests such a system fails.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Chapter 13 builds one. Such a system fails the </a:t>
            </a:r>
            <a:r>
              <a:rPr sz="2200" b="1" i="0">
                <a:solidFill>
                  <a:srgbClr val="1C252B"/>
                </a:solidFill>
                <a:latin typeface="Segoe UI"/>
              </a:rPr>
              <a:t>adaptation</a:t>
            </a:r>
            <a:r>
              <a:rPr sz="2200" b="0" i="0">
                <a:solidFill>
                  <a:srgbClr val="1C252B"/>
                </a:solidFill>
                <a:latin typeface="Segoe UI"/>
              </a:rPr>
              <a:t> test: its rules are elicited from experts by hand and it does not improve with experience. That is precisely the knowledge acquisition bottleneck which ended the expert-system boom — and note that it fails the one test this course does not teach, while passing the other four.</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  ·  answers in Appendix D     </a:t>
            </a:r>
            <a:fld id="{9B0991B1-C979-4E48-A670-85C7DD473B88}" type="slidenum">
              <a:rPr lang="en-GB" sz="1000">
                <a:solidFill>
                  <a:srgbClr val="8795A1"/>
                </a:solidFill>
                <a:latin typeface="Segoe UI"/>
              </a:rPr>
              <a:t>35</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92347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     </a:t>
            </a:r>
            <a:fld id="{D8A1FAE4-B7D5-46DB-A2C3-D62F3ECDDF6A}" type="slidenum">
              <a:rPr lang="en-GB" sz="1000">
                <a:solidFill>
                  <a:srgbClr val="8795A1"/>
                </a:solidFill>
                <a:latin typeface="Segoe UI"/>
              </a:rPr>
              <a:t>36</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An </a:t>
            </a:r>
            <a:r>
              <a:rPr sz="1700" b="1" i="0">
                <a:solidFill>
                  <a:srgbClr val="1A5276"/>
                </a:solidFill>
                <a:latin typeface="Segoe UI"/>
              </a:rPr>
              <a:t>agent</a:t>
            </a:r>
            <a:r>
              <a:rPr sz="1700" b="0" i="0">
                <a:solidFill>
                  <a:srgbClr val="1C252B"/>
                </a:solidFill>
                <a:latin typeface="Segoe UI"/>
              </a:rPr>
              <a:t> perceives an environment and acts on it. Artificial intelligence is the study of choosing those actions well; the field’s question is “what should this agent do next?”.</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four classical definitions differ on two axes: thinking against acting, and the human standard against the rational standard. This course works throughout in the </a:t>
            </a:r>
            <a:r>
              <a:rPr sz="1700" b="0" i="1">
                <a:solidFill>
                  <a:srgbClr val="1C252B"/>
                </a:solidFill>
                <a:latin typeface="Segoe UI"/>
              </a:rPr>
              <a:t>acting rationally</a:t>
            </a:r>
            <a:r>
              <a:rPr sz="1700" b="0" i="0">
                <a:solidFill>
                  <a:srgbClr val="1C252B"/>
                </a:solidFill>
                <a:latin typeface="Segoe UI"/>
              </a:rPr>
              <a:t> quadrant.</a:t>
            </a:r>
          </a:p>
        </p:txBody>
      </p:sp>
      <p:sp>
        <p:nvSpPr>
          <p:cNvPr id="13" name="!!sb2">
            <a:extLst>
              <a:ext uri="{C183D7F6-B498-43B3-948B-1728B52AA6E4}">
                <adec:decorative xmlns:adec="http://schemas.microsoft.com/office/drawing/2017/decorative" val="1"/>
              </a:ext>
            </a:extLst>
          </p:cNvPr>
          <p:cNvSpPr/>
          <p:nvPr/>
        </p:nvSpPr>
        <p:spPr>
          <a:xfrm>
            <a:off x="658368" y="31900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449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80892"/>
            <a:ext cx="102348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program is an AI system to the extent that it is given a goal rather than a procedure, considers alternatives, holds an inspectable representation of its domain, adapts, and can explain itself. Three or more of the five, and this course’s vocabulary applies.</a:t>
            </a:r>
          </a:p>
        </p:txBody>
      </p:sp>
      <p:sp>
        <p:nvSpPr>
          <p:cNvPr id="16" name="!!sb3">
            <a:extLst>
              <a:ext uri="{C183D7F6-B498-43B3-948B-1728B52AA6E4}">
                <adec:decorative xmlns:adec="http://schemas.microsoft.com/office/drawing/2017/decorative" val="1"/>
              </a:ext>
            </a:extLst>
          </p:cNvPr>
          <p:cNvSpPr/>
          <p:nvPr/>
        </p:nvSpPr>
        <p:spPr>
          <a:xfrm>
            <a:off x="658368" y="418124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23611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17210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Learning is one route to intelligent behaviour, not the definition of it. Chess programs, schedulers and diagnostic systems score zero on adaptation and are unambiguously AI.</a:t>
            </a:r>
          </a:p>
        </p:txBody>
      </p:sp>
      <p:sp>
        <p:nvSpPr>
          <p:cNvPr id="19" name="!!sb4">
            <a:extLst>
              <a:ext uri="{C183D7F6-B498-43B3-948B-1728B52AA6E4}">
                <adec:decorative xmlns:adec="http://schemas.microsoft.com/office/drawing/2017/decorative" val="1"/>
              </a:ext>
            </a:extLst>
          </p:cNvPr>
          <p:cNvSpPr/>
          <p:nvPr/>
        </p:nvSpPr>
        <p:spPr>
          <a:xfrm>
            <a:off x="658368" y="490301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95787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893868"/>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history is a cycle: a real advance, an over-general claim, a winter. Combinatorial explosion ended the first wave; the knowledge acquisition bottleneck ended the expert-system wave.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1020700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     </a:t>
            </a:r>
            <a:fld id="{39572874-8716-4ECF-AA19-D5FE106523B7}" type="slidenum">
              <a:rPr lang="en-GB" sz="1000">
                <a:solidFill>
                  <a:srgbClr val="8795A1"/>
                </a:solidFill>
                <a:latin typeface="Segoe UI"/>
              </a:rPr>
              <a:t>37</a:t>
            </a:fld>
          </a:p>
        </p:txBody>
      </p:sp>
      <p:sp>
        <p:nvSpPr>
          <p:cNvPr id="7" name="!!sb5">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5"/>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9" name="!!st5"/>
          <p:cNvSpPr txBox="1"/>
          <p:nvPr/>
        </p:nvSpPr>
        <p:spPr>
          <a:xfrm>
            <a:off x="1298448" y="1737360"/>
            <a:ext cx="102348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Artificial intelligence is given the rules and must work out what to do; machine learning is given examples and must work out the rule; data science is given a question and must work out what is true. This course is the first of the three, and it is symbolic.</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049052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     </a:t>
            </a:r>
            <a:fld id="{78E79F9E-44E4-408C-A995-FEC6D6E4ABD5}" type="slidenum">
              <a:rPr lang="en-GB" sz="1000">
                <a:solidFill>
                  <a:srgbClr val="8795A1"/>
                </a:solidFill>
                <a:latin typeface="Segoe UI"/>
              </a:rPr>
              <a:t>38</a:t>
            </a:fld>
          </a:p>
        </p:txBody>
      </p:sp>
      <p:sp>
        <p:nvSpPr>
          <p:cNvPr id="7" name="!!mstem"/>
          <p:cNvSpPr txBox="1"/>
          <p:nvPr/>
        </p:nvSpPr>
        <p:spPr>
          <a:xfrm>
            <a:off x="658368" y="1737360"/>
            <a:ext cx="10874959" cy="86989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program that beats a grandmaster at chess but cannot learn from its games is:</a:t>
            </a:r>
          </a:p>
        </p:txBody>
      </p:sp>
      <p:sp>
        <p:nvSpPr>
          <p:cNvPr id="8" name="!!mo0">
            <a:extLst>
              <a:ext uri="{C183D7F6-B498-43B3-948B-1728B52AA6E4}">
                <adec:decorative xmlns:adec="http://schemas.microsoft.com/office/drawing/2017/decorative" val="1"/>
              </a:ext>
            </a:extLst>
          </p:cNvPr>
          <p:cNvSpPr/>
          <p:nvPr/>
        </p:nvSpPr>
        <p:spPr>
          <a:xfrm>
            <a:off x="658368"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320161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not AI, because it does not learn</a:t>
            </a:r>
          </a:p>
        </p:txBody>
      </p:sp>
      <p:sp>
        <p:nvSpPr>
          <p:cNvPr id="12" name="!!mo1">
            <a:extLst>
              <a:ext uri="{C183D7F6-B498-43B3-948B-1728B52AA6E4}">
                <adec:decorative xmlns:adec="http://schemas.microsoft.com/office/drawing/2017/decorative" val="1"/>
              </a:ext>
            </a:extLst>
          </p:cNvPr>
          <p:cNvSpPr/>
          <p:nvPr/>
        </p:nvSpPr>
        <p:spPr>
          <a:xfrm>
            <a:off x="6214719"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320161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31254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AI, and scores zero on the adaptation test</a:t>
            </a:r>
          </a:p>
        </p:txBody>
      </p:sp>
      <p:sp>
        <p:nvSpPr>
          <p:cNvPr id="16" name="!!mo2">
            <a:extLst>
              <a:ext uri="{C183D7F6-B498-43B3-948B-1728B52AA6E4}">
                <adec:decorative xmlns:adec="http://schemas.microsoft.com/office/drawing/2017/decorative" val="1"/>
              </a:ext>
            </a:extLst>
          </p:cNvPr>
          <p:cNvSpPr/>
          <p:nvPr/>
        </p:nvSpPr>
        <p:spPr>
          <a:xfrm>
            <a:off x="658368"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439033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3141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AI only in the “thinking humanly” sense</a:t>
            </a:r>
          </a:p>
        </p:txBody>
      </p:sp>
      <p:sp>
        <p:nvSpPr>
          <p:cNvPr id="20" name="!!mo3">
            <a:extLst>
              <a:ext uri="{C183D7F6-B498-43B3-948B-1728B52AA6E4}">
                <adec:decorative xmlns:adec="http://schemas.microsoft.com/office/drawing/2017/decorative" val="1"/>
              </a:ext>
            </a:extLst>
          </p:cNvPr>
          <p:cNvSpPr/>
          <p:nvPr/>
        </p:nvSpPr>
        <p:spPr>
          <a:xfrm>
            <a:off x="6214719"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439033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machine learning</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077405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     </a:t>
            </a:r>
            <a:fld id="{3EC9812E-EACA-4950-9FDF-FB63DBD9D681}" type="slidenum">
              <a:rPr lang="en-GB" sz="1000">
                <a:solidFill>
                  <a:srgbClr val="8795A1"/>
                </a:solidFill>
                <a:latin typeface="Segoe UI"/>
              </a:rPr>
              <a:t>39</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Turing test belongs in which quadrant?</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thinking humanly</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thinking rationally</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acting humanly</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acting rationally</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05758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     </a:t>
            </a:r>
            <a:fld id="{72A02E7D-67EC-4BC0-A8D4-52D04EFD1FC4}" type="slidenum">
              <a:rPr lang="en-GB" sz="1000">
                <a:solidFill>
                  <a:srgbClr val="8795A1"/>
                </a:solidFill>
                <a:latin typeface="Segoe UI"/>
              </a:rPr>
              <a:t>40</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Which ended the first wave of AI research?</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knowledge acquisition bottleneck</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combinatorial explosion</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39020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collapse of the Lisp machine market</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Minsky and Papert’s book alone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4111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4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     </a:t>
            </a:r>
            <a:fld id="{F6B03F83-EE96-40D6-8C70-7E132B6E526D}" type="slidenum">
              <a:rPr lang="en-GB" sz="1000">
                <a:solidFill>
                  <a:srgbClr val="8795A1"/>
                </a:solidFill>
                <a:latin typeface="Segoe UI"/>
              </a:rPr>
              <a:t>41</a:t>
            </a:fld>
          </a:p>
        </p:txBody>
      </p:sp>
      <p:sp>
        <p:nvSpPr>
          <p:cNvPr id="7" name="!!mstem"/>
          <p:cNvSpPr txBox="1"/>
          <p:nvPr/>
        </p:nvSpPr>
        <p:spPr>
          <a:xfrm>
            <a:off x="658368" y="1737360"/>
            <a:ext cx="10874959" cy="1281988"/>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system is given the tasks, the dependencies and the objective, and returns a sequence of actions with a proof that no dependency is violated. Which course owns this problem?</a:t>
            </a:r>
          </a:p>
        </p:txBody>
      </p:sp>
      <p:sp>
        <p:nvSpPr>
          <p:cNvPr id="8" name="!!mo0">
            <a:extLst>
              <a:ext uri="{C183D7F6-B498-43B3-948B-1728B52AA6E4}">
                <adec:decorative xmlns:adec="http://schemas.microsoft.com/office/drawing/2017/decorative" val="1"/>
              </a:ext>
            </a:extLst>
          </p:cNvPr>
          <p:cNvSpPr/>
          <p:nvPr/>
        </p:nvSpPr>
        <p:spPr>
          <a:xfrm>
            <a:off x="658368" y="3339388"/>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3613708"/>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3696004"/>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3689908"/>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Artificial Intelligence</a:t>
            </a:r>
          </a:p>
        </p:txBody>
      </p:sp>
      <p:sp>
        <p:nvSpPr>
          <p:cNvPr id="12" name="!!mo1">
            <a:extLst>
              <a:ext uri="{C183D7F6-B498-43B3-948B-1728B52AA6E4}">
                <adec:decorative xmlns:adec="http://schemas.microsoft.com/office/drawing/2017/decorative" val="1"/>
              </a:ext>
            </a:extLst>
          </p:cNvPr>
          <p:cNvSpPr/>
          <p:nvPr/>
        </p:nvSpPr>
        <p:spPr>
          <a:xfrm>
            <a:off x="6214719" y="3339388"/>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3613708"/>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3696004"/>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3689908"/>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Machine Learning</a:t>
            </a:r>
          </a:p>
        </p:txBody>
      </p:sp>
      <p:sp>
        <p:nvSpPr>
          <p:cNvPr id="16" name="!!mo2">
            <a:extLst>
              <a:ext uri="{C183D7F6-B498-43B3-948B-1728B52AA6E4}">
                <adec:decorative xmlns:adec="http://schemas.microsoft.com/office/drawing/2017/decorative" val="1"/>
              </a:ext>
            </a:extLst>
          </p:cNvPr>
          <p:cNvSpPr/>
          <p:nvPr/>
        </p:nvSpPr>
        <p:spPr>
          <a:xfrm>
            <a:off x="658368" y="4528108"/>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4802428"/>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884724"/>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878628"/>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Data Science</a:t>
            </a:r>
          </a:p>
        </p:txBody>
      </p:sp>
      <p:sp>
        <p:nvSpPr>
          <p:cNvPr id="20" name="!!mo3">
            <a:extLst>
              <a:ext uri="{C183D7F6-B498-43B3-948B-1728B52AA6E4}">
                <adec:decorative xmlns:adec="http://schemas.microsoft.com/office/drawing/2017/decorative" val="1"/>
              </a:ext>
            </a:extLst>
          </p:cNvPr>
          <p:cNvSpPr/>
          <p:nvPr/>
        </p:nvSpPr>
        <p:spPr>
          <a:xfrm>
            <a:off x="6214719" y="4528108"/>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4802428"/>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884724"/>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878628"/>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Data Mining</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2463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  ·  What Artificial Intelligence Is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     </a:t>
            </a:r>
            <a:fld id="{B9989337-1911-45C6-82D4-5D32835BE465}" type="slidenum">
              <a:rPr lang="en-GB" sz="1000">
                <a:solidFill>
                  <a:srgbClr val="8795A1"/>
                </a:solidFill>
                <a:latin typeface="Segoe UI"/>
              </a:rPr>
              <a:t>42</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State the difference between being given a goal and being given a procedure, using two versions of the same ticket-triage requirement as your example.</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is “it adapts” neither necessary nor sufficient for a program to be an AI system? Give one example each way.</a:t>
            </a:r>
          </a:p>
        </p:txBody>
      </p:sp>
      <p:sp>
        <p:nvSpPr>
          <p:cNvPr id="13" name="!!rt2">
            <a:extLst>
              <a:ext uri="{C183D7F6-B498-43B3-948B-1728B52AA6E4}">
                <adec:decorative xmlns:adec="http://schemas.microsoft.com/office/drawing/2017/decorative" val="1"/>
              </a:ext>
            </a:extLst>
          </p:cNvPr>
          <p:cNvSpPr/>
          <p:nvPr/>
        </p:nvSpPr>
        <p:spPr>
          <a:xfrm>
            <a:off x="658368" y="3399129"/>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440277"/>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380841"/>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expert-system industry collapsed even though rule engines work. Explain what actually failed, and name the chapter of this handout in which you will build one anyway.</a:t>
            </a:r>
          </a:p>
        </p:txBody>
      </p:sp>
      <p:sp>
        <p:nvSpPr>
          <p:cNvPr id="16" name="!!rt3">
            <a:extLst>
              <a:ext uri="{C183D7F6-B498-43B3-948B-1728B52AA6E4}">
                <adec:decorative xmlns:adec="http://schemas.microsoft.com/office/drawing/2017/decorative" val="1"/>
              </a:ext>
            </a:extLst>
          </p:cNvPr>
          <p:cNvSpPr/>
          <p:nvPr/>
        </p:nvSpPr>
        <p:spPr>
          <a:xfrm>
            <a:off x="658368" y="4522012"/>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4563160"/>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4503724"/>
            <a:ext cx="9549079" cy="120456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Take a piece of software you have used this week. Score it against the five tests, writing one sentence of justification per test, and give the verdict. Then state which single change to the system would raise its score by one — and whether that change would make it better.</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1190816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C6081"/>
                </a:solidFill>
                <a:latin typeface="Segoe UI Black"/>
              </a:rPr>
              <a:t>01</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2 — Intelligent Agents and Task Environments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 pages 3–12</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Is it AI? a five-point audit; a reflex agent on a ticket queue</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1  ·  What Artificial Intelligence Is</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143EAF89-F286-483D-AF7D-801A8F8759D8}" type="slidenum">
              <a:rPr lang="en-GB" sz="1000">
                <a:solidFill>
                  <a:srgbClr val="D5DEE5"/>
                </a:solidFill>
                <a:latin typeface="Segoe UI"/>
              </a:rPr>
              <a:t>43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Artificial Intelligence Fall 2026">
  <a:themeElements>
    <a:clrScheme name="Artificial Intellig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Artificial Intellig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What Artificial Intelligence Is</dc:title>
  <dc:subject>Artificial Intelligence — Search, Knowledge and Reasoning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