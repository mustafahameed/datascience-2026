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1.svg" ContentType="image/svg+xml"/>
  <Override PartName="/ppt/media/image32.svg" ContentType="image/svg+xml"/>
  <Override PartName="/ppt/media/image34.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2.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358B594-ED0F-454F-8B95-D24BD534867C}">
          <p14:sldIdLst>
            <p14:sldId id="256"/>
            <p14:sldId id="257"/>
            <p14:sldId id="258"/>
            <p14:sldId id="259"/>
            <p14:sldId id="260"/>
          </p14:sldIdLst>
        </p14:section>
        <p14:section name="8.1 When the Other Party Is Choosing Too" id="{5CE9ECBA-FC17-4E70-879F-5053DDE2D57A}">
          <p14:sldIdLst>
            <p14:sldId id="261"/>
            <p14:sldId id="262"/>
            <p14:sldId id="263"/>
          </p14:sldIdLst>
        </p14:section>
        <p14:section name="8.2 Minimax by Hand" id="{1E7186A8-442A-43B1-8669-80D57B5AC3DB}">
          <p14:sldIdLst>
            <p14:sldId id="264"/>
          </p14:sldIdLst>
        </p14:section>
        <p14:section name="8.3 Alpha–Beta Pruning" id="{D3B4C4F0-2732-4FC2-82FB-9DA4A270062F}">
          <p14:sldIdLst>
            <p14:sldId id="265"/>
            <p14:sldId id="266"/>
            <p14:sldId id="267"/>
          </p14:sldIdLst>
        </p14:section>
        <p14:section name="8.4 Move Ordering Is Everything" id="{0FFC8917-791B-4006-AF9A-D3919391BE7F}">
          <p14:sldIdLst>
            <p14:sldId id="268"/>
            <p14:sldId id="269"/>
            <p14:sldId id="270"/>
            <p14:sldId id="271"/>
          </p14:sldIdLst>
        </p14:section>
        <p14:section name="8.5 Cutting Off the Search" id="{6C751D44-BA18-4E2C-A652-BF399892ECD1}">
          <p14:sldIdLst>
            <p14:sldId id="272"/>
            <p14:sldId id="273"/>
            <p14:sldId id="274"/>
          </p14:sldIdLst>
        </p14:section>
        <p14:section name="Pitfalls" id="{DBB36EA3-76F3-460D-82F1-FF4251E813C4}">
          <p14:sldIdLst>
            <p14:sldId id="275"/>
          </p14:sldIdLst>
        </p14:section>
        <p14:section name="Lab" id="{A60D1CA8-6821-4CDC-AD82-59C3BF9C4F70}">
          <p14:sldIdLst>
            <p14:sldId id="276"/>
            <p14:sldId id="277"/>
            <p14:sldId id="278"/>
            <p14:sldId id="279"/>
            <p14:sldId id="280"/>
            <p14:sldId id="281"/>
            <p14:sldId id="282"/>
            <p14:sldId id="283"/>
            <p14:sldId id="284"/>
            <p14:sldId id="285"/>
            <p14:sldId id="286"/>
            <p14:sldId id="287"/>
            <p14:sldId id="288"/>
            <p14:sldId id="289"/>
            <p14:sldId id="290"/>
          </p14:sldIdLst>
        </p14:section>
        <p14:section name="Checkpoint" id="{8E61C481-D749-4768-A725-4C555FEA3FF2}">
          <p14:sldIdLst>
            <p14:sldId id="291"/>
            <p14:sldId id="292"/>
            <p14:sldId id="293"/>
            <p14:sldId id="294"/>
            <p14:sldId id="295"/>
            <p14:sldId id="296"/>
          </p14:sldIdLst>
        </p14:section>
        <p14:section name="Wrap-up" id="{4AD3B257-B277-48C4-BC78-8BDDE3F53FD7}">
          <p14:sldIdLst>
            <p14:sldId id="297"/>
            <p14:sldId id="298"/>
            <p14:sldId id="299"/>
            <p14:sldId id="300"/>
            <p14:sldId id="301"/>
            <p14:sldId id="302"/>
            <p14:sldId id="303"/>
            <p14:sldId id="30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8: Adversarial Search and Game Playing. Part 3 — Constraints, Games and Plans. Week 7: Adversarial search and game playing. Handout pages 79–87.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4 (depth-first search, which is what a game tree search is) and Chapter 2 — specifically the multi-agent property of a task environment. This chapter is what you do when the sixth property of Table 2.2 comes out multi-agent.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game tree; ply; terminal state; utility; zero-sum; minimax value; MAX and MIN; alpha–beta pruning; cutoff; move ordering; principal variation; cutoff test; evaluation function; horizon effect.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delivery team and the client are agreeing a release slot. We propose, they respond, we respond, and so on until somebody accepts or the deadline forces a decision. Every option we might take is worth something to us — and what we eventually get depends on what they do next, which depends on what we do now. Chapter 6 would treat their behaviour as part of the landscape. Chapter 7 would treat it as a constraint. Both are wrong in the same way: the other party is not weather and not a rule. They are optimising, and if we model them as noise they will exploit us systematically. That is the multi-agent property of Chapter 2, and this chapter is what it costs to take it seriously.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8.1 is a three-ply negotiation, small enough to compute in your head and used for the rest of this chapter. Leaves are days of delay avoided, from our point of view.</a:t>
            </a:r>
          </a:p>
          <a:p/>
          <a:p>
            <a:r>
              <a:t>Figure 8.1 (handout p. 80): A three-ply negotiation. Squares are our choices, circles theirs. Minimax evaluates all eight leaves to establish that the position is worth 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Minimax examined every leaf. Most of them could not have changed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8.2 traces it on the same tree. Five of eight leaves are evaluated.</a:t>
            </a:r>
          </a:p>
          <a:p/>
          <a:p>
            <a:r>
              <a:t>Figure 8.2 (handout p. 81): Alpha–beta on the tree of Figure 8.1. Green leaves are evaluated, grey are never looked at, and the crosses mark the two cutoffs.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Alpha–beta prunes when it has already found something good. So the order in which moves are tried decides how much is pruned: try the best move first and the bounds tighten immediately; try it last and there is nothing to prune against. With perfect ordering — best move first at every node — alpha–beta evaluates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leaves instead of bd. That is roughly bd/2: the same time buys twice the depth, which for a game-playing program is the whole ball game. The chapter’s lab measures all of this on a five-ply, three-branch negotiation — 243 leaves — and the perfect-ordering bound is reached exactly: 33 + 32 − 1 = 27 + 9 − 1 = 35.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games do not fit. A negotiation with ten rounds and five options each is 510 ≈ 10 million leaves, and chess is unthinkable. So replace the terminal test with a cutoff test — stop at a fixed depth — and replace the utility with an evaluation function that estimates the position’s worth. The evaluation function is where domain knowledge enters, and the search is no better than it. For the negotiation: how far the current offer is from our target, how much slack remains in the schedule, whether the remaining rounds favour us. The horizon effect is the price. A cutoff at depth d cannot see anything at depth d+1, so the search happily chooses a line that pushes an unavoidable loss just past the horizon — conceding a small point now to delay a large concession into invisibility. The standard mitigations are to search quiescent positions deeper (do not stop in the middle of an exchange) and to extend the search along forcing lines.</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five-ply negotiation of Table 8.1, with four move orderings, counting leaf evaluations — the operation that costs.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alpha–beta only ever declines to evaluate leaves that provably cannot change the answer: a cutoff happens exactly when the player above already has a better alternative and will therefore never choose the branch being examined. The two searches must agree on every instance, not just this one — pruning is exact, and what it approximates is nothing at all.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First, the right-hand MIN node has already found a child worth 2, so it can hold us to at most 2 whatever its remaining child contains. Second, the root has already secured 5 from the left subtree. Since 2 &lt; 5 we will never play into this branch, so the value of its unexamined child cannot affect the root — and alpha–beta never learns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probes are themselves evaluations, and on a shallow tree they cost more than the cutoffs they buy: the lab measures 506 leaf evaluations with a depth-1 probe ordering against 75 with natural ordering. For ordering to pay, the tree must be deep enough that a better ordering saves an exponential amount, and the probe results must be cached — a transposition table — so that the work done to order one search is reused by the next. That is the situation in a chess engine at twenty ply, and not the situation at five.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9 — Planning. READ: Handout Chapter 8, pages 79–87. THIS WEEK'S LAB: Minimax and alpha–beta on a slot negotiation.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3.xml"/><Relationship Id="rId9" Type="http://schemas.openxmlformats.org/officeDocument/2006/relationships/slide" Target="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2.svg"/><Relationship Id="rId4" Type="http://schemas.openxmlformats.org/officeDocument/2006/relationships/image" Target="../media/image23.png"/><Relationship Id="rId5" Type="http://schemas.openxmlformats.org/officeDocument/2006/relationships/image" Target="../media/image24.sv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1.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2.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7.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8.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9.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0.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1.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2.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3.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4.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5.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6.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7.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8.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9.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50.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5.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6.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7.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8.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1.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4.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5.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6.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7.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08</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Adversarial Search and Game Playing</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CONSTRAINTS, GAMES AND PLANS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8  ·  WEEK 7</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Artificial Intelligence — Search, Knowledge and Reasoning</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79     </a:t>
            </a:r>
            <a:fld id="{98E3A2A4-CAE5-42C1-91E9-6318E3E975A8}" type="slidenum">
              <a:rPr lang="en-GB" sz="1000">
                <a:solidFill>
                  <a:srgbClr val="8795A1"/>
                </a:solidFill>
                <a:latin typeface="Segoe UI"/>
              </a:rPr>
              <a:t>2</a:t>
            </a:fld>
          </a:p>
        </p:txBody>
      </p:sp>
      <p:sp>
        <p:nvSpPr>
          <p:cNvPr id="7" name="!!rp1"/>
          <p:cNvSpPr txBox="1"/>
          <p:nvPr/>
        </p:nvSpPr>
        <p:spPr>
          <a:xfrm>
            <a:off x="7772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801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801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3783039" y="1755648"/>
            <a:ext cx="148461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3783039" y="2029967"/>
            <a:ext cx="1484611"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596834"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596834"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509260"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509260"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012160"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012160"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32031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2288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823210"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7317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241880"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241880"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8</a:t>
            </a:r>
          </a:p>
        </p:txBody>
      </p:sp>
      <p:sp>
        <p:nvSpPr>
          <p:cNvPr id="35" name="!!dot9">
            <a:extLst>
              <a:ext uri="{C183D7F6-B498-43B3-948B-1728B52AA6E4}">
                <adec:decorative xmlns:adec="http://schemas.microsoft.com/office/drawing/2017/decorative" val="1"/>
              </a:ext>
            </a:extLst>
          </p:cNvPr>
          <p:cNvSpPr/>
          <p:nvPr/>
        </p:nvSpPr>
        <p:spPr>
          <a:xfrm>
            <a:off x="4953159"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8617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63700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5455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6046532"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95509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4560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3646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86558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7741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54943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74579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958958"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8675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36848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2770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9052331"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9608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46185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3704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87138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7799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280910"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101894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1599264"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Adversarial Search and Game Playing</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Intelligent Agents and Task Environments</a:t>
            </a:r>
          </a:p>
        </p:txBody>
      </p:sp>
      <p:sp>
        <p:nvSpPr>
          <p:cNvPr id="68" name="!!chipBU4">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4">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4"/>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4  </a:t>
            </a:r>
            <a:r>
              <a:rPr sz="1400" b="0" i="0">
                <a:solidFill>
                  <a:srgbClr val="1C252B"/>
                </a:solidFill>
                <a:latin typeface="Segoe UI"/>
              </a:rPr>
              <a:t>Problem Formulation and Uninformed Search</a:t>
            </a:r>
          </a:p>
        </p:txBody>
      </p:sp>
      <p:sp>
        <p:nvSpPr>
          <p:cNvPr id="7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2" name="!!chipUS21">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bUS21">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tUS21"/>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21  </a:t>
            </a:r>
            <a:r>
              <a:rPr sz="1400" b="0" i="0">
                <a:solidFill>
                  <a:srgbClr val="1C252B"/>
                </a:solidFill>
                <a:latin typeface="Segoe UI"/>
              </a:rPr>
              <a:t>Responsible AI and Its Limits</a:t>
            </a:r>
          </a:p>
        </p:txBody>
      </p:sp>
      <p:sp>
        <p:nvSpPr>
          <p:cNvPr id="75" name="!!chipUS22">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22">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22"/>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22  </a:t>
            </a:r>
            <a:r>
              <a:rPr sz="1400" b="0" i="0">
                <a:solidFill>
                  <a:srgbClr val="1C252B"/>
                </a:solidFill>
                <a:latin typeface="Segoe UI"/>
              </a:rPr>
              <a:t>The Artificial Intelligence Project</a:t>
            </a:r>
          </a:p>
        </p:txBody>
      </p:sp>
      <p:sp>
        <p:nvSpPr>
          <p:cNvPr id="7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pfill">
            <a:extLst>
              <a:ext uri="{C183D7F6-B498-43B3-948B-1728B52AA6E4}">
                <adec:decorative xmlns:adec="http://schemas.microsoft.com/office/drawing/2017/decorative" val="1"/>
              </a:ext>
            </a:extLst>
          </p:cNvPr>
          <p:cNvSpPr/>
          <p:nvPr/>
        </p:nvSpPr>
        <p:spPr>
          <a:xfrm>
            <a:off x="0" y="0"/>
            <a:ext cx="49762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79     </a:t>
            </a:r>
            <a:fld id="{8D044115-4260-4413-8531-906F8C47CCF1}"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Model</a:t>
            </a:r>
            <a:r>
              <a:rPr sz="2100" b="0" i="0">
                <a:solidFill>
                  <a:srgbClr val="1C252B"/>
                </a:solidFill>
                <a:latin typeface="Segoe UI"/>
              </a:rPr>
              <a:t> a two-party interaction as a game tree with a utility at each leaf, and </a:t>
            </a:r>
            <a:r>
              <a:rPr sz="2100" b="1" i="0">
                <a:solidFill>
                  <a:srgbClr val="1C252B"/>
                </a:solidFill>
                <a:latin typeface="Segoe UI"/>
              </a:rPr>
              <a:t>say</a:t>
            </a:r>
            <a:r>
              <a:rPr sz="2100" b="0" i="0">
                <a:solidFill>
                  <a:srgbClr val="1C252B"/>
                </a:solidFill>
                <a:latin typeface="Segoe UI"/>
              </a:rPr>
              <a:t> what the zero-sum assumption commits you to.</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Compute</a:t>
            </a:r>
            <a:r>
              <a:rPr sz="2100" b="0" i="0">
                <a:solidFill>
                  <a:srgbClr val="1C252B"/>
                </a:solidFill>
                <a:latin typeface="Segoe UI"/>
              </a:rPr>
              <a:t> the minimax value of a position by hand and in code.</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664915"/>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Apply</a:t>
            </a:r>
            <a:r>
              <a:rPr sz="2100" b="0" i="0">
                <a:solidFill>
                  <a:srgbClr val="1C252B"/>
                </a:solidFill>
                <a:latin typeface="Segoe UI"/>
              </a:rPr>
              <a:t> alpha–beta pruning, </a:t>
            </a:r>
            <a:r>
              <a:rPr sz="2100" b="1" i="0">
                <a:solidFill>
                  <a:srgbClr val="1C252B"/>
                </a:solidFill>
                <a:latin typeface="Segoe UI"/>
              </a:rPr>
              <a:t>trace</a:t>
            </a:r>
            <a:r>
              <a:rPr sz="2100" b="0" i="0">
                <a:solidFill>
                  <a:srgbClr val="1C252B"/>
                </a:solidFill>
                <a:latin typeface="Segoe UI"/>
              </a:rPr>
              <a:t> its cutoffs, and </a:t>
            </a:r>
            <a:r>
              <a:rPr sz="2100" b="1" i="0">
                <a:solidFill>
                  <a:srgbClr val="1C252B"/>
                </a:solidFill>
                <a:latin typeface="Segoe UI"/>
              </a:rPr>
              <a:t>state</a:t>
            </a:r>
            <a:r>
              <a:rPr sz="2100" b="0" i="0">
                <a:solidFill>
                  <a:srgbClr val="1C252B"/>
                </a:solidFill>
                <a:latin typeface="Segoe UI"/>
              </a:rPr>
              <a:t> the bound it achieves under perfect move ordering.</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why move ordering determines how much is pruned, and </a:t>
            </a:r>
            <a:r>
              <a:rPr sz="2100" b="1" i="0">
                <a:solidFill>
                  <a:srgbClr val="1C252B"/>
                </a:solidFill>
                <a:latin typeface="Segoe UI"/>
              </a:rPr>
              <a:t>judge</a:t>
            </a:r>
            <a:r>
              <a:rPr sz="2100" b="0" i="0">
                <a:solidFill>
                  <a:srgbClr val="1C252B"/>
                </a:solidFill>
                <a:latin typeface="Segoe UI"/>
              </a:rPr>
              <a:t> when the cost of ordering exceeds what it saves.</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41233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Cut off</a:t>
            </a:r>
            <a:r>
              <a:rPr sz="2100" b="0" i="0">
                <a:solidFill>
                  <a:srgbClr val="1C252B"/>
                </a:solidFill>
                <a:latin typeface="Segoe UI"/>
              </a:rPr>
              <a:t> search with an evaluation function, and </a:t>
            </a:r>
            <a:r>
              <a:rPr sz="2100" b="1" i="0">
                <a:solidFill>
                  <a:srgbClr val="1C252B"/>
                </a:solidFill>
                <a:latin typeface="Segoe UI"/>
              </a:rPr>
              <a:t>recognise</a:t>
            </a:r>
            <a:r>
              <a:rPr sz="2100" b="0" i="0">
                <a:solidFill>
                  <a:srgbClr val="1C252B"/>
                </a:solidFill>
                <a:latin typeface="Segoe UI"/>
              </a:rPr>
              <a:t> the horizon effect.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4643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79     </a:t>
            </a:r>
            <a:fld id="{A392FEA9-1C31-4305-A0A3-47351182C1EA}" type="slidenum">
              <a:rPr lang="en-GB" sz="1000">
                <a:solidFill>
                  <a:srgbClr val="8795A1"/>
                </a:solidFill>
                <a:latin typeface="Segoe UI"/>
              </a:rPr>
              <a:t>4</a:t>
            </a:fld>
          </a:p>
        </p:txBody>
      </p:sp>
      <p:sp>
        <p:nvSpPr>
          <p:cNvPr id="7" name="!!term-game tree">
            <a:extLst>
              <a:ext uri="{C183D7F6-B498-43B3-948B-1728B52AA6E4}">
                <adec:decorative xmlns:adec="http://schemas.microsoft.com/office/drawing/2017/decorative" val="1"/>
              </a:ext>
            </a:extLst>
          </p:cNvPr>
          <p:cNvSpPr/>
          <p:nvPr/>
        </p:nvSpPr>
        <p:spPr>
          <a:xfrm>
            <a:off x="658368" y="1847088"/>
            <a:ext cx="13692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game tree">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game tree"/>
          <p:cNvSpPr txBox="1"/>
          <p:nvPr/>
        </p:nvSpPr>
        <p:spPr>
          <a:xfrm>
            <a:off x="950976" y="1962911"/>
            <a:ext cx="118639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game tree</a:t>
            </a:r>
          </a:p>
        </p:txBody>
      </p:sp>
      <p:sp>
        <p:nvSpPr>
          <p:cNvPr id="10" name="!!term-ply">
            <a:extLst>
              <a:ext uri="{C183D7F6-B498-43B3-948B-1728B52AA6E4}">
                <adec:decorative xmlns:adec="http://schemas.microsoft.com/office/drawing/2017/decorative" val="1"/>
              </a:ext>
            </a:extLst>
          </p:cNvPr>
          <p:cNvSpPr/>
          <p:nvPr/>
        </p:nvSpPr>
        <p:spPr>
          <a:xfrm>
            <a:off x="2173949" y="1847088"/>
            <a:ext cx="7112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ply">
            <a:extLst>
              <a:ext uri="{C183D7F6-B498-43B3-948B-1728B52AA6E4}">
                <adec:decorative xmlns:adec="http://schemas.microsoft.com/office/drawing/2017/decorative" val="1"/>
              </a:ext>
            </a:extLst>
          </p:cNvPr>
          <p:cNvSpPr/>
          <p:nvPr/>
        </p:nvSpPr>
        <p:spPr>
          <a:xfrm>
            <a:off x="230196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ply"/>
          <p:cNvSpPr txBox="1"/>
          <p:nvPr/>
        </p:nvSpPr>
        <p:spPr>
          <a:xfrm>
            <a:off x="2466557" y="1962911"/>
            <a:ext cx="52837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ply</a:t>
            </a:r>
          </a:p>
        </p:txBody>
      </p:sp>
      <p:sp>
        <p:nvSpPr>
          <p:cNvPr id="13" name="!!term-terminal state">
            <a:extLst>
              <a:ext uri="{C183D7F6-B498-43B3-948B-1728B52AA6E4}">
                <adec:decorative xmlns:adec="http://schemas.microsoft.com/office/drawing/2017/decorative" val="1"/>
              </a:ext>
            </a:extLst>
          </p:cNvPr>
          <p:cNvSpPr/>
          <p:nvPr/>
        </p:nvSpPr>
        <p:spPr>
          <a:xfrm>
            <a:off x="3031510" y="1847088"/>
            <a:ext cx="169031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terminal state">
            <a:extLst>
              <a:ext uri="{C183D7F6-B498-43B3-948B-1728B52AA6E4}">
                <adec:decorative xmlns:adec="http://schemas.microsoft.com/office/drawing/2017/decorative" val="1"/>
              </a:ext>
            </a:extLst>
          </p:cNvPr>
          <p:cNvSpPr/>
          <p:nvPr/>
        </p:nvSpPr>
        <p:spPr>
          <a:xfrm>
            <a:off x="315952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terminal state"/>
          <p:cNvSpPr txBox="1"/>
          <p:nvPr/>
        </p:nvSpPr>
        <p:spPr>
          <a:xfrm>
            <a:off x="3324118" y="1962911"/>
            <a:ext cx="150743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terminal state</a:t>
            </a:r>
          </a:p>
        </p:txBody>
      </p:sp>
      <p:sp>
        <p:nvSpPr>
          <p:cNvPr id="16" name="!!term-utility">
            <a:extLst>
              <a:ext uri="{C183D7F6-B498-43B3-948B-1728B52AA6E4}">
                <adec:decorative xmlns:adec="http://schemas.microsoft.com/office/drawing/2017/decorative" val="1"/>
              </a:ext>
            </a:extLst>
          </p:cNvPr>
          <p:cNvSpPr/>
          <p:nvPr/>
        </p:nvSpPr>
        <p:spPr>
          <a:xfrm>
            <a:off x="4868128" y="1847088"/>
            <a:ext cx="9475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utility">
            <a:extLst>
              <a:ext uri="{C183D7F6-B498-43B3-948B-1728B52AA6E4}">
                <adec:decorative xmlns:adec="http://schemas.microsoft.com/office/drawing/2017/decorative" val="1"/>
              </a:ext>
            </a:extLst>
          </p:cNvPr>
          <p:cNvSpPr/>
          <p:nvPr/>
        </p:nvSpPr>
        <p:spPr>
          <a:xfrm>
            <a:off x="499614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utility"/>
          <p:cNvSpPr txBox="1"/>
          <p:nvPr/>
        </p:nvSpPr>
        <p:spPr>
          <a:xfrm>
            <a:off x="5160736" y="1962911"/>
            <a:ext cx="76465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utility</a:t>
            </a:r>
          </a:p>
        </p:txBody>
      </p:sp>
      <p:sp>
        <p:nvSpPr>
          <p:cNvPr id="19" name="!!term-zero-sum">
            <a:extLst>
              <a:ext uri="{C183D7F6-B498-43B3-948B-1728B52AA6E4}">
                <adec:decorative xmlns:adec="http://schemas.microsoft.com/office/drawing/2017/decorative" val="1"/>
              </a:ext>
            </a:extLst>
          </p:cNvPr>
          <p:cNvSpPr/>
          <p:nvPr/>
        </p:nvSpPr>
        <p:spPr>
          <a:xfrm>
            <a:off x="5961970" y="1847088"/>
            <a:ext cx="130108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zero-sum">
            <a:extLst>
              <a:ext uri="{C183D7F6-B498-43B3-948B-1728B52AA6E4}">
                <adec:decorative xmlns:adec="http://schemas.microsoft.com/office/drawing/2017/decorative" val="1"/>
              </a:ext>
            </a:extLst>
          </p:cNvPr>
          <p:cNvSpPr/>
          <p:nvPr/>
        </p:nvSpPr>
        <p:spPr>
          <a:xfrm>
            <a:off x="608998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zero-sum"/>
          <p:cNvSpPr txBox="1"/>
          <p:nvPr/>
        </p:nvSpPr>
        <p:spPr>
          <a:xfrm>
            <a:off x="6254578" y="1962911"/>
            <a:ext cx="111820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zero-sum</a:t>
            </a:r>
          </a:p>
        </p:txBody>
      </p:sp>
      <p:sp>
        <p:nvSpPr>
          <p:cNvPr id="22" name="!!term-minimax value">
            <a:extLst>
              <a:ext uri="{C183D7F6-B498-43B3-948B-1728B52AA6E4}">
                <adec:decorative xmlns:adec="http://schemas.microsoft.com/office/drawing/2017/decorative" val="1"/>
              </a:ext>
            </a:extLst>
          </p:cNvPr>
          <p:cNvSpPr/>
          <p:nvPr/>
        </p:nvSpPr>
        <p:spPr>
          <a:xfrm>
            <a:off x="7409362" y="1847088"/>
            <a:ext cx="17514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minimax value">
            <a:extLst>
              <a:ext uri="{C183D7F6-B498-43B3-948B-1728B52AA6E4}">
                <adec:decorative xmlns:adec="http://schemas.microsoft.com/office/drawing/2017/decorative" val="1"/>
              </a:ext>
            </a:extLst>
          </p:cNvPr>
          <p:cNvSpPr/>
          <p:nvPr/>
        </p:nvSpPr>
        <p:spPr>
          <a:xfrm>
            <a:off x="753737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minimax value"/>
          <p:cNvSpPr txBox="1"/>
          <p:nvPr/>
        </p:nvSpPr>
        <p:spPr>
          <a:xfrm>
            <a:off x="7701970" y="1962911"/>
            <a:ext cx="156857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minimax value</a:t>
            </a:r>
          </a:p>
        </p:txBody>
      </p:sp>
      <p:sp>
        <p:nvSpPr>
          <p:cNvPr id="25" name="!!term-MAX and MIN">
            <a:extLst>
              <a:ext uri="{C183D7F6-B498-43B3-948B-1728B52AA6E4}">
                <adec:decorative xmlns:adec="http://schemas.microsoft.com/office/drawing/2017/decorative" val="1"/>
              </a:ext>
            </a:extLst>
          </p:cNvPr>
          <p:cNvSpPr/>
          <p:nvPr/>
        </p:nvSpPr>
        <p:spPr>
          <a:xfrm>
            <a:off x="9307123" y="1847088"/>
            <a:ext cx="17357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MAX and MIN">
            <a:extLst>
              <a:ext uri="{C183D7F6-B498-43B3-948B-1728B52AA6E4}">
                <adec:decorative xmlns:adec="http://schemas.microsoft.com/office/drawing/2017/decorative" val="1"/>
              </a:ext>
            </a:extLst>
          </p:cNvPr>
          <p:cNvSpPr/>
          <p:nvPr/>
        </p:nvSpPr>
        <p:spPr>
          <a:xfrm>
            <a:off x="943513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MAX and MIN"/>
          <p:cNvSpPr txBox="1"/>
          <p:nvPr/>
        </p:nvSpPr>
        <p:spPr>
          <a:xfrm>
            <a:off x="9599731" y="1962911"/>
            <a:ext cx="155288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MAX and MIN</a:t>
            </a:r>
          </a:p>
        </p:txBody>
      </p:sp>
      <p:sp>
        <p:nvSpPr>
          <p:cNvPr id="28" name="!!term-alpha–beta pru">
            <a:extLst>
              <a:ext uri="{C183D7F6-B498-43B3-948B-1728B52AA6E4}">
                <adec:decorative xmlns:adec="http://schemas.microsoft.com/office/drawing/2017/decorative" val="1"/>
              </a:ext>
            </a:extLst>
          </p:cNvPr>
          <p:cNvSpPr/>
          <p:nvPr/>
        </p:nvSpPr>
        <p:spPr>
          <a:xfrm>
            <a:off x="658368" y="2468880"/>
            <a:ext cx="222386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alpha–beta pru">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alpha–beta pru"/>
          <p:cNvSpPr txBox="1"/>
          <p:nvPr/>
        </p:nvSpPr>
        <p:spPr>
          <a:xfrm>
            <a:off x="950976" y="2584704"/>
            <a:ext cx="204098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alpha–beta pruning</a:t>
            </a:r>
          </a:p>
        </p:txBody>
      </p:sp>
      <p:sp>
        <p:nvSpPr>
          <p:cNvPr id="31" name="!!term-cutoff">
            <a:extLst>
              <a:ext uri="{C183D7F6-B498-43B3-948B-1728B52AA6E4}">
                <adec:decorative xmlns:adec="http://schemas.microsoft.com/office/drawing/2017/decorative" val="1"/>
              </a:ext>
            </a:extLst>
          </p:cNvPr>
          <p:cNvSpPr/>
          <p:nvPr/>
        </p:nvSpPr>
        <p:spPr>
          <a:xfrm>
            <a:off x="3028541" y="2468880"/>
            <a:ext cx="97336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cutoff">
            <a:extLst>
              <a:ext uri="{C183D7F6-B498-43B3-948B-1728B52AA6E4}">
                <adec:decorative xmlns:adec="http://schemas.microsoft.com/office/drawing/2017/decorative" val="1"/>
              </a:ext>
            </a:extLst>
          </p:cNvPr>
          <p:cNvSpPr/>
          <p:nvPr/>
        </p:nvSpPr>
        <p:spPr>
          <a:xfrm>
            <a:off x="315655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cutoff"/>
          <p:cNvSpPr txBox="1"/>
          <p:nvPr/>
        </p:nvSpPr>
        <p:spPr>
          <a:xfrm>
            <a:off x="3321149" y="2584704"/>
            <a:ext cx="79048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cutoff</a:t>
            </a:r>
          </a:p>
        </p:txBody>
      </p:sp>
      <p:sp>
        <p:nvSpPr>
          <p:cNvPr id="34" name="!!term-move ordering">
            <a:extLst>
              <a:ext uri="{C183D7F6-B498-43B3-948B-1728B52AA6E4}">
                <adec:decorative xmlns:adec="http://schemas.microsoft.com/office/drawing/2017/decorative" val="1"/>
              </a:ext>
            </a:extLst>
          </p:cNvPr>
          <p:cNvSpPr/>
          <p:nvPr/>
        </p:nvSpPr>
        <p:spPr>
          <a:xfrm>
            <a:off x="4148207" y="2468880"/>
            <a:ext cx="17889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move ordering">
            <a:extLst>
              <a:ext uri="{C183D7F6-B498-43B3-948B-1728B52AA6E4}">
                <adec:decorative xmlns:adec="http://schemas.microsoft.com/office/drawing/2017/decorative" val="1"/>
              </a:ext>
            </a:extLst>
          </p:cNvPr>
          <p:cNvSpPr/>
          <p:nvPr/>
        </p:nvSpPr>
        <p:spPr>
          <a:xfrm>
            <a:off x="427622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move ordering"/>
          <p:cNvSpPr txBox="1"/>
          <p:nvPr/>
        </p:nvSpPr>
        <p:spPr>
          <a:xfrm>
            <a:off x="4440815" y="2584704"/>
            <a:ext cx="160608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move ordering</a:t>
            </a:r>
          </a:p>
        </p:txBody>
      </p:sp>
      <p:sp>
        <p:nvSpPr>
          <p:cNvPr id="37" name="!!term-principal vari">
            <a:extLst>
              <a:ext uri="{C183D7F6-B498-43B3-948B-1728B52AA6E4}">
                <adec:decorative xmlns:adec="http://schemas.microsoft.com/office/drawing/2017/decorative" val="1"/>
              </a:ext>
            </a:extLst>
          </p:cNvPr>
          <p:cNvSpPr/>
          <p:nvPr/>
        </p:nvSpPr>
        <p:spPr>
          <a:xfrm>
            <a:off x="6083479" y="2468880"/>
            <a:ext cx="207225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principal vari">
            <a:extLst>
              <a:ext uri="{C183D7F6-B498-43B3-948B-1728B52AA6E4}">
                <adec:decorative xmlns:adec="http://schemas.microsoft.com/office/drawing/2017/decorative" val="1"/>
              </a:ext>
            </a:extLst>
          </p:cNvPr>
          <p:cNvSpPr/>
          <p:nvPr/>
        </p:nvSpPr>
        <p:spPr>
          <a:xfrm>
            <a:off x="621149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principal vari"/>
          <p:cNvSpPr txBox="1"/>
          <p:nvPr/>
        </p:nvSpPr>
        <p:spPr>
          <a:xfrm>
            <a:off x="6376087" y="2584704"/>
            <a:ext cx="188937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principal variation</a:t>
            </a:r>
          </a:p>
        </p:txBody>
      </p:sp>
      <p:sp>
        <p:nvSpPr>
          <p:cNvPr id="40" name="!!term-cutoff test">
            <a:extLst>
              <a:ext uri="{C183D7F6-B498-43B3-948B-1728B52AA6E4}">
                <adec:decorative xmlns:adec="http://schemas.microsoft.com/office/drawing/2017/decorative" val="1"/>
              </a:ext>
            </a:extLst>
          </p:cNvPr>
          <p:cNvSpPr/>
          <p:nvPr/>
        </p:nvSpPr>
        <p:spPr>
          <a:xfrm>
            <a:off x="8302042" y="2468880"/>
            <a:ext cx="136693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cutoff test">
            <a:extLst>
              <a:ext uri="{C183D7F6-B498-43B3-948B-1728B52AA6E4}">
                <adec:decorative xmlns:adec="http://schemas.microsoft.com/office/drawing/2017/decorative" val="1"/>
              </a:ext>
            </a:extLst>
          </p:cNvPr>
          <p:cNvSpPr/>
          <p:nvPr/>
        </p:nvSpPr>
        <p:spPr>
          <a:xfrm>
            <a:off x="843005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cutoff test"/>
          <p:cNvSpPr txBox="1"/>
          <p:nvPr/>
        </p:nvSpPr>
        <p:spPr>
          <a:xfrm>
            <a:off x="8594650" y="2584704"/>
            <a:ext cx="118405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cutoff test</a:t>
            </a:r>
          </a:p>
        </p:txBody>
      </p:sp>
      <p:sp>
        <p:nvSpPr>
          <p:cNvPr id="43" name="!!term-evaluation fun">
            <a:extLst>
              <a:ext uri="{C183D7F6-B498-43B3-948B-1728B52AA6E4}">
                <adec:decorative xmlns:adec="http://schemas.microsoft.com/office/drawing/2017/decorative" val="1"/>
              </a:ext>
            </a:extLst>
          </p:cNvPr>
          <p:cNvSpPr/>
          <p:nvPr/>
        </p:nvSpPr>
        <p:spPr>
          <a:xfrm>
            <a:off x="658368" y="3090672"/>
            <a:ext cx="21954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evaluation fun">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evaluation fun"/>
          <p:cNvSpPr txBox="1"/>
          <p:nvPr/>
        </p:nvSpPr>
        <p:spPr>
          <a:xfrm>
            <a:off x="950976" y="3206496"/>
            <a:ext cx="201253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evaluation function</a:t>
            </a:r>
          </a:p>
        </p:txBody>
      </p:sp>
      <p:sp>
        <p:nvSpPr>
          <p:cNvPr id="46" name="!!term-horizon effect">
            <a:extLst>
              <a:ext uri="{C183D7F6-B498-43B3-948B-1728B52AA6E4}">
                <adec:decorative xmlns:adec="http://schemas.microsoft.com/office/drawing/2017/decorative" val="1"/>
              </a:ext>
            </a:extLst>
          </p:cNvPr>
          <p:cNvSpPr/>
          <p:nvPr/>
        </p:nvSpPr>
        <p:spPr>
          <a:xfrm>
            <a:off x="3000088" y="3090672"/>
            <a:ext cx="17017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horizon effect">
            <a:extLst>
              <a:ext uri="{C183D7F6-B498-43B3-948B-1728B52AA6E4}">
                <adec:decorative xmlns:adec="http://schemas.microsoft.com/office/drawing/2017/decorative" val="1"/>
              </a:ext>
            </a:extLst>
          </p:cNvPr>
          <p:cNvSpPr/>
          <p:nvPr/>
        </p:nvSpPr>
        <p:spPr>
          <a:xfrm>
            <a:off x="312810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horizon effect"/>
          <p:cNvSpPr txBox="1"/>
          <p:nvPr/>
        </p:nvSpPr>
        <p:spPr>
          <a:xfrm>
            <a:off x="3292696" y="3206496"/>
            <a:ext cx="151889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horizon effect</a:t>
            </a:r>
          </a:p>
        </p:txBody>
      </p:sp>
      <p:sp>
        <p:nvSpPr>
          <p:cNvPr id="49"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pfill">
            <a:extLst>
              <a:ext uri="{C183D7F6-B498-43B3-948B-1728B52AA6E4}">
                <adec:decorative xmlns:adec="http://schemas.microsoft.com/office/drawing/2017/decorative" val="1"/>
              </a:ext>
            </a:extLst>
          </p:cNvPr>
          <p:cNvSpPr/>
          <p:nvPr/>
        </p:nvSpPr>
        <p:spPr>
          <a:xfrm>
            <a:off x="0" y="0"/>
            <a:ext cx="99524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79–87     </a:t>
            </a:r>
            <a:fld id="{0140D70F-FFF8-4942-9A09-D9619852130E}" type="slidenum">
              <a:rPr lang="en-GB" sz="1000">
                <a:solidFill>
                  <a:srgbClr val="8795A1"/>
                </a:solidFill>
                <a:latin typeface="Segoe UI"/>
              </a:rPr>
              <a:t>5</a:t>
            </a:fld>
          </a:p>
        </p:txBody>
      </p:sp>
      <p:sp>
        <p:nvSpPr>
          <p:cNvPr id="7" name="!!ag0" descr="Go to section 8.1 When the Other Party Is Choosing Too">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8.1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When the Other Party Is Choosing Too</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79  ›</a:t>
            </a:r>
          </a:p>
        </p:txBody>
      </p:sp>
      <p:sp>
        <p:nvSpPr>
          <p:cNvPr id="12" name="!!ag1" descr="Go to section 8.2 Minimax by Hand">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8.2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Minimax by Hand</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80  ›</a:t>
            </a:r>
          </a:p>
        </p:txBody>
      </p:sp>
      <p:sp>
        <p:nvSpPr>
          <p:cNvPr id="17" name="!!ag2" descr="Go to section 8.3 Alpha–Beta Pruning">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8.3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Alpha–Beta Pruning</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80  ›</a:t>
            </a:r>
          </a:p>
        </p:txBody>
      </p:sp>
      <p:sp>
        <p:nvSpPr>
          <p:cNvPr id="22" name="!!ag3" descr="Go to section 8.4 Move Ordering Is Everything">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8.4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Move Ordering Is Everything</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81  ›</a:t>
            </a:r>
          </a:p>
        </p:txBody>
      </p:sp>
      <p:sp>
        <p:nvSpPr>
          <p:cNvPr id="27" name="!!ag4" descr="Go to section 8.5 Cutting Off the Search">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8.5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Cutting Off the Search</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82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24405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When the Other Party Is Choosing Too</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8.1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8.1   When the Other Party Is Choosing Too</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8.2   Minimax by Hand</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8.3   Alpha–Beta Pruning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8.4   Move Ordering Is Everything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8.5   Cutting Off the Search</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§8.1     </a:t>
            </a:r>
            <a:fld id="{00E0A07A-9207-47F7-813D-46AC3CA8BCED}"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49286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Game tree and minimax value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§8.1  ·  Handout p. 79     </a:t>
            </a:r>
            <a:fld id="{BC4BF830-B505-45A4-A6F0-3CE82F44261B}"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74042"/>
          </a:xfrm>
          <a:prstGeom prst="roundRect">
            <a:avLst>
              <a:gd name="adj" fmla="val 209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7404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a:t>
            </a:r>
            <a:r>
              <a:rPr sz="2200" b="1" i="0">
                <a:solidFill>
                  <a:srgbClr val="1A5276"/>
                </a:solidFill>
                <a:latin typeface="Segoe UI"/>
              </a:rPr>
              <a:t>game tree</a:t>
            </a:r>
            <a:r>
              <a:rPr sz="2200" b="0" i="0">
                <a:solidFill>
                  <a:srgbClr val="1C252B"/>
                </a:solidFill>
                <a:latin typeface="Segoe UI"/>
              </a:rPr>
              <a:t> has the current position at its root; the children of a node are the positions reachable by one legal move; and each </a:t>
            </a:r>
            <a:r>
              <a:rPr sz="2200" b="1" i="0">
                <a:solidFill>
                  <a:srgbClr val="1A5276"/>
                </a:solidFill>
                <a:latin typeface="Segoe UI"/>
              </a:rPr>
              <a:t>terminal</a:t>
            </a:r>
            <a:r>
              <a:rPr sz="2200" b="0" i="0">
                <a:solidFill>
                  <a:srgbClr val="1C252B"/>
                </a:solidFill>
                <a:latin typeface="Segoe UI"/>
              </a:rPr>
              <a:t> position has a </a:t>
            </a:r>
            <a:r>
              <a:rPr sz="2200" b="1" i="0">
                <a:solidFill>
                  <a:srgbClr val="1A5276"/>
                </a:solidFill>
                <a:latin typeface="Segoe UI"/>
              </a:rPr>
              <a:t>utility</a:t>
            </a:r>
            <a:r>
              <a:rPr sz="2200" b="0" i="0">
                <a:solidFill>
                  <a:srgbClr val="1C252B"/>
                </a:solidFill>
                <a:latin typeface="Segoe UI"/>
              </a:rPr>
              <a:t> for us. Levels alternate between </a:t>
            </a:r>
            <a:r>
              <a:rPr sz="2200" b="1" i="0">
                <a:solidFill>
                  <a:srgbClr val="1A5276"/>
                </a:solidFill>
                <a:latin typeface="Segoe UI"/>
              </a:rPr>
              <a:t>MAX</a:t>
            </a:r>
            <a:r>
              <a:rPr sz="2200" b="0" i="0">
                <a:solidFill>
                  <a:srgbClr val="1C252B"/>
                </a:solidFill>
                <a:latin typeface="Segoe UI"/>
              </a:rPr>
              <a:t> (our move — we choose the largest value) and </a:t>
            </a:r>
            <a:r>
              <a:rPr sz="2200" b="1" i="0">
                <a:solidFill>
                  <a:srgbClr val="1A5276"/>
                </a:solidFill>
                <a:latin typeface="Segoe UI"/>
              </a:rPr>
              <a:t>MIN</a:t>
            </a:r>
            <a:r>
              <a:rPr sz="2200" b="0" i="0">
                <a:solidFill>
                  <a:srgbClr val="1C252B"/>
                </a:solidFill>
                <a:latin typeface="Segoe UI"/>
              </a:rPr>
              <a:t> (their move — they choose the smallest). One level is a </a:t>
            </a:r>
            <a:r>
              <a:rPr sz="2200" b="1" i="0">
                <a:solidFill>
                  <a:srgbClr val="1A5276"/>
                </a:solidFill>
                <a:latin typeface="Segoe UI"/>
              </a:rPr>
              <a:t>ply</a:t>
            </a:r>
            <a:r>
              <a:rPr sz="2200" b="0" i="0">
                <a:solidFill>
                  <a:srgbClr val="1C252B"/>
                </a:solidFill>
                <a:latin typeface="Segoe UI"/>
              </a:rPr>
              <a:t>.</a:t>
            </a:r>
          </a:p>
        </p:txBody>
      </p:sp>
      <p:sp>
        <p:nvSpPr>
          <p:cNvPr id="10" name="body-1"/>
          <p:cNvSpPr txBox="1"/>
          <p:nvPr/>
        </p:nvSpPr>
        <p:spPr>
          <a:xfrm>
            <a:off x="1060704" y="3596690"/>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a:t>
            </a:r>
            <a:r>
              <a:rPr sz="2200" b="1" i="0">
                <a:solidFill>
                  <a:srgbClr val="1A5276"/>
                </a:solidFill>
                <a:latin typeface="Segoe UI"/>
              </a:rPr>
              <a:t>minimax value</a:t>
            </a:r>
            <a:r>
              <a:rPr sz="2200" b="0" i="0">
                <a:solidFill>
                  <a:srgbClr val="1C252B"/>
                </a:solidFill>
                <a:latin typeface="Segoe UI"/>
              </a:rPr>
              <a:t> of a node is what the position is worth under optimal play by both sides:</a:t>
            </a:r>
          </a:p>
        </p:txBody>
      </p:sp>
      <p:pic>
        <p:nvPicPr>
          <p:cNvPr id="11" name="body-2" descr="\mathrm{minimax}(n) = \begin{cases} \mathrm{utility}(n) &amp; \text{$n$ terminal} \\ \max_{s} \mathrm{minimax}(s) &amp; \text{$n$ is a MAX node} \\ \min_{s} \mathrm{minimax}(s) &amp; \text{$n$ is a MIN node} \end{cas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4447743"/>
            <a:ext cx="10161727" cy="1352763"/>
          </a:xfrm>
          <a:prstGeom prst="rect">
            <a:avLst/>
          </a:prstGeom>
        </p:spPr>
      </p:pic>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74167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MIN assumes, and when it is wrong</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§8.1  ·  Handout p. 79     </a:t>
            </a:r>
            <a:fld id="{231870FF-A935-44B4-B0AA-877B87F3C01E}"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Minimax assumes the opponent plays the move that is worst for us — that the game is </a:t>
            </a:r>
            <a:r>
              <a:rPr sz="2300" b="1" i="0">
                <a:solidFill>
                  <a:srgbClr val="1A5276"/>
                </a:solidFill>
                <a:latin typeface="Segoe UI"/>
              </a:rPr>
              <a:t>zero-sum</a:t>
            </a:r>
            <a:r>
              <a:rPr sz="2300" b="0" i="0">
                <a:solidFill>
                  <a:srgbClr val="1C252B"/>
                </a:solidFill>
                <a:latin typeface="Segoe UI"/>
              </a:rPr>
              <a:t>, our gain being exactly their loss. A negotiation usually is not: both sides can lose by failing to agree, and both can gain from a slot that suits each.</a:t>
            </a:r>
          </a:p>
        </p:txBody>
      </p:sp>
      <p:sp>
        <p:nvSpPr>
          <p:cNvPr id="10" name="body-1"/>
          <p:cNvSpPr txBox="1"/>
          <p:nvPr/>
        </p:nvSpPr>
        <p:spPr>
          <a:xfrm>
            <a:off x="1060704" y="3667074"/>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Assuming an optimal adversary is nevertheless the right default, because it is the </a:t>
            </a:r>
            <a:r>
              <a:rPr sz="2300" b="0" i="1">
                <a:solidFill>
                  <a:srgbClr val="1C252B"/>
                </a:solidFill>
                <a:latin typeface="Segoe UI"/>
              </a:rPr>
              <a:t>safe</a:t>
            </a:r>
            <a:r>
              <a:rPr sz="2300" b="0" i="0">
                <a:solidFill>
                  <a:srgbClr val="1C252B"/>
                </a:solidFill>
                <a:latin typeface="Segoe UI"/>
              </a:rPr>
              <a:t> assumption. The minimax value is a guarantee: we can obtain at least this much whatever they do. Model them as cooperative and you get a better number and no guarantee at all. Know which one you are quoting.</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99048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three-ply negotiation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8.1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§8.2  ·  Handout p. 80     </a:t>
            </a:r>
            <a:fld id="{11B30FFB-9A4C-412E-A23C-F3A5B187ED27}" type="slidenum">
              <a:rPr lang="en-GB" sz="1000">
                <a:solidFill>
                  <a:srgbClr val="8795A1"/>
                </a:solidFill>
                <a:latin typeface="Segoe UI"/>
              </a:rPr>
              <a:t>9</a:t>
            </a:fld>
          </a:p>
        </p:txBody>
      </p:sp>
      <p:pic>
        <p:nvPicPr>
          <p:cNvPr id="6" name="!!figure" descr="Figure 8.1. A three-ply negotiation. Squares are our choices, circles theirs. Minimax evaluates all eight leaves to establish that the position is worth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81734"/>
            <a:ext cx="10874959" cy="291550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Squares are our choices, circles theirs. Minimax evaluates all eight leaves to establish that the position is worth 5.</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23929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Alpha–Beta Pruning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8.3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8.1   When the Other Party Is Choosing Too</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8.2   Minimax by Hand</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8.3   Alpha–Beta Pruning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8.4   Move Ordering Is Everything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8.5   Cutting Off the Search</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§8.3     </a:t>
            </a:r>
            <a:fld id="{9A1D2EE2-5080-4FF9-8CD9-96F0A57ACB92}" type="slidenum">
              <a:rPr lang="en-GB" sz="1000">
                <a:solidFill>
                  <a:srgbClr val="8795A1"/>
                </a:solidFill>
                <a:latin typeface="Segoe UI"/>
              </a:rPr>
              <a:t>10</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48810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Alpha and beta</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§8.3  ·  Handout p. 80     </a:t>
            </a:r>
            <a:fld id="{3B9EFF32-126F-40C3-A8FA-8FDC33584D41}"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86859"/>
          </a:xfrm>
          <a:prstGeom prst="roundRect">
            <a:avLst>
              <a:gd name="adj" fmla="val 2037"/>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86859"/>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Carry two bounds down the tree:</a:t>
            </a:r>
          </a:p>
        </p:txBody>
      </p:sp>
      <p:sp>
        <p:nvSpPr>
          <p:cNvPr id="10" name="body-1"/>
          <p:cNvSpPr txBox="1"/>
          <p:nvPr/>
        </p:nvSpPr>
        <p:spPr>
          <a:xfrm>
            <a:off x="1060704" y="2573451"/>
            <a:ext cx="10161727" cy="877036"/>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8A4500"/>
                </a:solidFill>
                <a:latin typeface="Segoe UI"/>
              </a:rPr>
              <a:t>•	</a:t>
            </a:r>
            <a:r>
              <a:rPr sz="2300" b="0" i="0">
                <a:solidFill>
                  <a:srgbClr val="1C252B"/>
                </a:solidFill>
                <a:latin typeface="Cambria"/>
              </a:rPr>
              <a:t>α</a:t>
            </a:r>
            <a:r>
              <a:rPr sz="2300" b="0" i="0">
                <a:solidFill>
                  <a:srgbClr val="1C252B"/>
                </a:solidFill>
                <a:latin typeface="Segoe UI"/>
              </a:rPr>
              <a:t> — the best value MAX can already guarantee somewhere above.</a:t>
            </a:r>
          </a:p>
          <a:p>
            <a:pPr algn="l" marL="257176" indent="-257176">
              <a:lnSpc>
                <a:spcPct val="104000"/>
              </a:lnSpc>
              <a:spcBef>
                <a:spcPts val="0"/>
              </a:spcBef>
              <a:spcAft>
                <a:spcPts val="0"/>
              </a:spcAft>
            </a:pPr>
            <a:r>
              <a:rPr sz="2300" b="1">
                <a:solidFill>
                  <a:srgbClr val="8A4500"/>
                </a:solidFill>
                <a:latin typeface="Segoe UI"/>
              </a:rPr>
              <a:t>•	</a:t>
            </a:r>
            <a:r>
              <a:rPr sz="2300" b="0" i="0">
                <a:solidFill>
                  <a:srgbClr val="1C252B"/>
                </a:solidFill>
                <a:latin typeface="Cambria"/>
              </a:rPr>
              <a:t>β</a:t>
            </a:r>
            <a:r>
              <a:rPr sz="2300" b="0" i="0">
                <a:solidFill>
                  <a:srgbClr val="1C252B"/>
                </a:solidFill>
                <a:latin typeface="Segoe UI"/>
              </a:rPr>
              <a:t> — the best value MIN can already guarantee somewhere above.</a:t>
            </a:r>
          </a:p>
        </p:txBody>
      </p:sp>
      <p:sp>
        <p:nvSpPr>
          <p:cNvPr id="11" name="body-2"/>
          <p:cNvSpPr txBox="1"/>
          <p:nvPr/>
        </p:nvSpPr>
        <p:spPr>
          <a:xfrm>
            <a:off x="1060704" y="3565423"/>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At any node, if </a:t>
            </a:r>
            <a:r>
              <a:rPr sz="2300" b="0" i="0">
                <a:solidFill>
                  <a:srgbClr val="1C252B"/>
                </a:solidFill>
                <a:latin typeface="Cambria"/>
              </a:rPr>
              <a:t>α ≥ β</a:t>
            </a:r>
            <a:r>
              <a:rPr sz="2300" b="0" i="0">
                <a:solidFill>
                  <a:srgbClr val="1C252B"/>
                </a:solidFill>
                <a:latin typeface="Segoe UI"/>
              </a:rPr>
              <a:t>, stop examining the remaining children: the player above already has a better alternative and will never choose this branch, so its exact value cannot matter.</a:t>
            </a:r>
          </a:p>
        </p:txBody>
      </p:sp>
      <p:sp>
        <p:nvSpPr>
          <p:cNvPr id="12" name="body-3"/>
          <p:cNvSpPr txBox="1"/>
          <p:nvPr/>
        </p:nvSpPr>
        <p:spPr>
          <a:xfrm>
            <a:off x="1060704" y="4819700"/>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Alpha–beta pruning</a:t>
            </a:r>
            <a:r>
              <a:rPr sz="2300" b="0" i="0">
                <a:solidFill>
                  <a:srgbClr val="1C252B"/>
                </a:solidFill>
                <a:latin typeface="Segoe UI"/>
              </a:rPr>
              <a:t> returns exactly the minimax value. It is not an approximation — it computes the same answer while declining to evaluate leaves that provably cannot affect it.</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73691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Alpha–beta on the tree of Figure 8.1</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8.2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§8.3  ·  Handout p. 80     </a:t>
            </a:r>
            <a:fld id="{CD50EEF9-DE2A-4A2E-9973-7824E051AD34}" type="slidenum">
              <a:rPr lang="en-GB" sz="1000">
                <a:solidFill>
                  <a:srgbClr val="8795A1"/>
                </a:solidFill>
                <a:latin typeface="Segoe UI"/>
              </a:rPr>
              <a:t>12</a:t>
            </a:fld>
          </a:p>
        </p:txBody>
      </p:sp>
      <p:pic>
        <p:nvPicPr>
          <p:cNvPr id="6" name="!!figure" descr="Figure 8.2. Alpha–beta on the tree of Figure 8.1. Green leaves are evaluated, grey are never looked at, and the crosses mark the two cutoff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24689" y="1737360"/>
            <a:ext cx="8742316"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Green leaves are evaluated, grey are never looked at, and the crosses mark the two cutoffs.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98572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Move Ordering Is Everything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8.4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8.1   When the Other Party Is Choosing Too</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8.2   Minimax by Hand</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8.3   Alpha–Beta Pruning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8.4   Move Ordering Is Everything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8.5   Cutting Off the Search</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§8.4     </a:t>
            </a:r>
            <a:fld id="{B9A6A979-6985-4177-8D7B-F0EF6DC1DC8B}" type="slidenum">
              <a:rPr lang="en-GB" sz="1000">
                <a:solidFill>
                  <a:srgbClr val="8795A1"/>
                </a:solidFill>
                <a:latin typeface="Segoe UI"/>
              </a:rPr>
              <a:t>13</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23453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Move Ordering Is Everything</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81     </a:t>
            </a:r>
            <a:fld id="{B79F49CE-E8F6-47A5-B2B1-8E5AE3B33150}"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904354"/>
          </a:xfrm>
          <a:prstGeom prst="roundRect">
            <a:avLst>
              <a:gd name="adj" fmla="val 4801"/>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90435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With </a:t>
            </a:r>
            <a:r>
              <a:rPr sz="2300" b="0" i="1">
                <a:solidFill>
                  <a:srgbClr val="1C252B"/>
                </a:solidFill>
                <a:latin typeface="Segoe UI"/>
              </a:rPr>
              <a:t>perfect</a:t>
            </a:r>
            <a:r>
              <a:rPr sz="2300" b="0" i="0">
                <a:solidFill>
                  <a:srgbClr val="1C252B"/>
                </a:solidFill>
                <a:latin typeface="Segoe UI"/>
              </a:rPr>
              <a:t> ordering — best move first at every node — alpha–beta evaluates</a:t>
            </a:r>
          </a:p>
        </p:txBody>
      </p:sp>
      <p:pic>
        <p:nvPicPr>
          <p:cNvPr id="10" name="body-1" descr="b^{\lceil d/2 \rceil} + b^{\lfloor d/2 \rfloor} - 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392826"/>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48334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Move Ordering Is Everything</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81     </a:t>
            </a:r>
            <a:fld id="{345DD0F5-CB54-494D-9D8A-B729EC2DB6FC}" type="slidenum">
              <a:rPr lang="en-GB" sz="1000">
                <a:solidFill>
                  <a:srgbClr val="8795A1"/>
                </a:solidFill>
                <a:latin typeface="Segoe UI"/>
              </a:rPr>
              <a:t>15</a:t>
            </a:fld>
          </a:p>
        </p:txBody>
      </p:sp>
      <p:graphicFrame>
        <p:nvGraphicFramePr>
          <p:cNvPr id="7" name="!!table"/>
          <p:cNvGraphicFramePr>
            <a:graphicFrameLocks noGrp="1"/>
          </p:cNvGraphicFramePr>
          <p:nvPr/>
        </p:nvGraphicFramePr>
        <p:xfrm>
          <a:off x="658368" y="1737360"/>
          <a:ext cx="10874957" cy="2286000"/>
        </p:xfrm>
        <a:graphic>
          <a:graphicData uri="http://schemas.openxmlformats.org/drawingml/2006/table">
            <a:tbl>
              <a:tblPr firstRow="0" bandRow="0" firstCol="0" lastRow="0" lastCol="0" bandCol="0">
                <a:tableStyleId>{2D5ABB26-0587-4C30-8999-92F81FD0307C}</a:tableStyleId>
              </a:tblPr>
              <a:tblGrid>
                <a:gridCol w="3702003"/>
                <a:gridCol w="1586573"/>
                <a:gridCol w="1322144"/>
                <a:gridCol w="4264237"/>
              </a:tblGrid>
              <a:tr h="405384">
                <a:tc>
                  <a:txBody>
                    <a:bodyPr wrap="square"/>
                    <a:lstStyle/>
                    <a:p>
                      <a:pPr algn="l"/>
                      <a:r>
                        <a:rPr sz="1700" b="1" i="0">
                          <a:solidFill>
                            <a:srgbClr val="1A5276"/>
                          </a:solidFill>
                          <a:latin typeface="Segoe UI"/>
                        </a:rPr>
                        <a:t>Algorithm</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Leaves seen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Saving</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Note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Minimax, no pruning</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243</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Every leaf, always</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Alpha–beta, worst ordering</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217</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1.1</a:t>
                      </a:r>
                      <a:r>
                        <a:rPr sz="1700" b="0" i="0">
                          <a:solidFill>
                            <a:srgbClr val="1C252B"/>
                          </a:solidFill>
                          <a:latin typeface="Cambria"/>
                        </a:rPr>
                        <a: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Pruning still helps a little, even at its worst</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Alpha–beta, natural ordering</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75</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3.2</a:t>
                      </a:r>
                      <a:r>
                        <a:rPr sz="1700" b="0" i="0">
                          <a:solidFill>
                            <a:srgbClr val="1C252B"/>
                          </a:solidFill>
                          <a:latin typeface="Cambria"/>
                        </a:rPr>
                        <a: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The realistic case</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Alpha–beta, perfect ordering</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1" i="0">
                          <a:solidFill>
                            <a:srgbClr val="1C252B"/>
                          </a:solidFill>
                          <a:latin typeface="Segoe UI"/>
                        </a:rPr>
                        <a:t>35</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1" i="0">
                          <a:solidFill>
                            <a:srgbClr val="1C252B"/>
                          </a:solidFill>
                          <a:latin typeface="Segoe UI"/>
                        </a:rPr>
                        <a:t>6.9</a:t>
                      </a:r>
                      <a:r>
                        <a:rPr sz="1700" b="1" i="0">
                          <a:solidFill>
                            <a:srgbClr val="1C252B"/>
                          </a:solidFill>
                          <a:latin typeface="Cambria"/>
                        </a:rPr>
                        <a:t>×</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Exactly </a:t>
                      </a:r>
                      <a:r>
                        <a:rPr sz="1700" b="0" i="1">
                          <a:solidFill>
                            <a:srgbClr val="1C252B"/>
                          </a:solidFill>
                          <a:latin typeface="Cambria"/>
                        </a:rPr>
                        <a:t>b</a:t>
                      </a:r>
                      <a:r>
                        <a:rPr sz="1100" b="0" i="0" baseline="30000">
                          <a:solidFill>
                            <a:srgbClr val="1C252B"/>
                          </a:solidFill>
                          <a:latin typeface="Cambria"/>
                        </a:rPr>
                        <a:t>⌈ </a:t>
                      </a:r>
                      <a:r>
                        <a:rPr sz="1100" b="0" i="1" baseline="30000">
                          <a:solidFill>
                            <a:srgbClr val="1C252B"/>
                          </a:solidFill>
                          <a:latin typeface="Cambria"/>
                        </a:rPr>
                        <a:t>d</a:t>
                      </a:r>
                      <a:r>
                        <a:rPr sz="1100" b="0" i="0" baseline="30000">
                          <a:solidFill>
                            <a:srgbClr val="1C252B"/>
                          </a:solidFill>
                          <a:latin typeface="Cambria"/>
                        </a:rPr>
                        <a:t>/2⌉</a:t>
                      </a:r>
                      <a:r>
                        <a:rPr sz="1700" b="0" i="0">
                          <a:solidFill>
                            <a:srgbClr val="1C252B"/>
                          </a:solidFill>
                          <a:latin typeface="Cambria"/>
                        </a:rPr>
                        <a:t> + </a:t>
                      </a:r>
                      <a:r>
                        <a:rPr sz="1700" b="0" i="1">
                          <a:solidFill>
                            <a:srgbClr val="1C252B"/>
                          </a:solidFill>
                          <a:latin typeface="Cambria"/>
                        </a:rPr>
                        <a:t>b</a:t>
                      </a:r>
                      <a:r>
                        <a:rPr sz="1100" b="0" i="0" baseline="30000">
                          <a:solidFill>
                            <a:srgbClr val="1C252B"/>
                          </a:solidFill>
                          <a:latin typeface="Cambria"/>
                        </a:rPr>
                        <a:t>⌊ </a:t>
                      </a:r>
                      <a:r>
                        <a:rPr sz="1100" b="0" i="1" baseline="30000">
                          <a:solidFill>
                            <a:srgbClr val="1C252B"/>
                          </a:solidFill>
                          <a:latin typeface="Cambria"/>
                        </a:rPr>
                        <a:t>d</a:t>
                      </a:r>
                      <a:r>
                        <a:rPr sz="1100" b="0" i="0" baseline="30000">
                          <a:solidFill>
                            <a:srgbClr val="1C252B"/>
                          </a:solidFill>
                          <a:latin typeface="Cambria"/>
                        </a:rPr>
                        <a:t>/2⌋</a:t>
                      </a:r>
                      <a:r>
                        <a:rPr sz="1700" b="0" i="0">
                          <a:solidFill>
                            <a:srgbClr val="1C252B"/>
                          </a:solidFill>
                          <a:latin typeface="Cambria"/>
                        </a:rPr>
                        <a:t> − 1</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73215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Move Ordering Is Everything</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81     </a:t>
            </a:r>
            <a:fld id="{8257D519-D957-49B5-B905-AB600E896386}"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7854"/>
          </a:xfrm>
          <a:prstGeom prst="roundRect">
            <a:avLst>
              <a:gd name="adj" fmla="val 206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785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Perfect ordering requires knowing the best move, which is what the search is for. So the practical question is how good an ordering you can buy cheaply. Real engines use a shallow search first and order the deep search by its results, plus remembered “killer” moves that caused cutoffs elsewhere.</a:t>
            </a:r>
          </a:p>
        </p:txBody>
      </p:sp>
      <p:sp>
        <p:nvSpPr>
          <p:cNvPr id="10" name="body-1"/>
          <p:cNvSpPr txBox="1"/>
          <p:nvPr/>
        </p:nvSpPr>
        <p:spPr>
          <a:xfrm>
            <a:off x="1060704" y="3667074"/>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But cheaply is doing real work in that sentence. The lab measures a shallow-probe ordering on this tree and it costs </a:t>
            </a:r>
            <a:r>
              <a:rPr sz="2300" b="0" i="1">
                <a:solidFill>
                  <a:srgbClr val="1C252B"/>
                </a:solidFill>
                <a:latin typeface="Segoe UI"/>
              </a:rPr>
              <a:t>506</a:t>
            </a:r>
            <a:r>
              <a:rPr sz="2300" b="0" i="0">
                <a:solidFill>
                  <a:srgbClr val="1C252B"/>
                </a:solidFill>
                <a:latin typeface="Segoe UI"/>
              </a:rPr>
              <a:t> leaf evaluations against natural ordering’s </a:t>
            </a:r>
            <a:r>
              <a:rPr sz="2300" b="0" i="0">
                <a:solidFill>
                  <a:srgbClr val="1C252B"/>
                </a:solidFill>
                <a:latin typeface="Cambria"/>
              </a:rPr>
              <a:t>75</a:t>
            </a:r>
            <a:r>
              <a:rPr sz="2300" b="0" i="0">
                <a:solidFill>
                  <a:srgbClr val="1C252B"/>
                </a:solidFill>
                <a:latin typeface="Segoe UI"/>
              </a:rPr>
              <a:t> — nearly seven times worse, because the probes themselves are evaluations and the tree is not deep enough to amortise them. Ordering pays in chess, at twenty ply with a transposition table caching the probes. At five ply it does not. Measure before you believe.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98096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Tracing alpha–beta through the tree of Figure 8.1</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86B60364-B4CD-413C-8059-67CFDB58B0A7}"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21354"/>
          </a:xfrm>
          <a:prstGeom prst="roundRect">
            <a:avLst>
              <a:gd name="adj" fmla="val 252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213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Left to right, carrying </a:t>
            </a:r>
            <a:r>
              <a:rPr sz="1900" b="0" i="0">
                <a:solidFill>
                  <a:srgbClr val="1C252B"/>
                </a:solidFill>
                <a:latin typeface="Cambria"/>
              </a:rPr>
              <a:t>(α, β)</a:t>
            </a:r>
            <a:r>
              <a:rPr sz="1900" b="0" i="0">
                <a:solidFill>
                  <a:srgbClr val="1C252B"/>
                </a:solidFill>
                <a:latin typeface="Segoe UI"/>
              </a:rPr>
              <a:t>.</a:t>
            </a:r>
          </a:p>
        </p:txBody>
      </p:sp>
      <p:sp>
        <p:nvSpPr>
          <p:cNvPr id="10" name="body-1"/>
          <p:cNvSpPr txBox="1"/>
          <p:nvPr/>
        </p:nvSpPr>
        <p:spPr>
          <a:xfrm>
            <a:off x="1042416" y="244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Root</a:t>
            </a:r>
            <a:r>
              <a:rPr sz="1900" b="0" i="0">
                <a:solidFill>
                  <a:srgbClr val="1C252B"/>
                </a:solidFill>
                <a:latin typeface="Segoe UI"/>
              </a:rPr>
              <a:t> (MAX), </a:t>
            </a:r>
            <a:r>
              <a:rPr sz="1900" b="0" i="0">
                <a:solidFill>
                  <a:srgbClr val="1C252B"/>
                </a:solidFill>
                <a:latin typeface="Cambria"/>
              </a:rPr>
              <a:t>α = −∞</a:t>
            </a:r>
            <a:r>
              <a:rPr sz="1900" b="0" i="0">
                <a:solidFill>
                  <a:srgbClr val="1C252B"/>
                </a:solidFill>
                <a:latin typeface="Segoe UI"/>
              </a:rPr>
              <a:t>, </a:t>
            </a:r>
            <a:r>
              <a:rPr sz="1900" b="0" i="0">
                <a:solidFill>
                  <a:srgbClr val="1C252B"/>
                </a:solidFill>
                <a:latin typeface="Cambria"/>
              </a:rPr>
              <a:t>β = +∞</a:t>
            </a:r>
            <a:r>
              <a:rPr sz="1900" b="0" i="0">
                <a:solidFill>
                  <a:srgbClr val="1C252B"/>
                </a:solidFill>
                <a:latin typeface="Segoe UI"/>
              </a:rPr>
              <a:t>. Descend left.</a:t>
            </a:r>
          </a:p>
        </p:txBody>
      </p:sp>
      <p:sp>
        <p:nvSpPr>
          <p:cNvPr id="11" name="body-2"/>
          <p:cNvSpPr txBox="1"/>
          <p:nvPr/>
        </p:nvSpPr>
        <p:spPr>
          <a:xfrm>
            <a:off x="1042416" y="287939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Left MIN node</a:t>
            </a:r>
            <a:r>
              <a:rPr sz="1900" b="0" i="0">
                <a:solidFill>
                  <a:srgbClr val="1C252B"/>
                </a:solidFill>
                <a:latin typeface="Segoe UI"/>
              </a:rPr>
              <a:t>, </a:t>
            </a:r>
            <a:r>
              <a:rPr sz="1900" b="0" i="0">
                <a:solidFill>
                  <a:srgbClr val="1C252B"/>
                </a:solidFill>
                <a:latin typeface="Cambria"/>
              </a:rPr>
              <a:t>(−∞, +∞)</a:t>
            </a:r>
            <a:r>
              <a:rPr sz="1900" b="0" i="0">
                <a:solidFill>
                  <a:srgbClr val="1C252B"/>
                </a:solidFill>
                <a:latin typeface="Segoe UI"/>
              </a:rPr>
              <a:t>. Descend to its left child.</a:t>
            </a:r>
          </a:p>
        </p:txBody>
      </p:sp>
      <p:sp>
        <p:nvSpPr>
          <p:cNvPr id="12" name="body-3"/>
          <p:cNvSpPr txBox="1"/>
          <p:nvPr/>
        </p:nvSpPr>
        <p:spPr>
          <a:xfrm>
            <a:off x="1042416" y="3313252"/>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MAX node</a:t>
            </a:r>
            <a:r>
              <a:rPr sz="1900" b="0" i="1">
                <a:solidFill>
                  <a:srgbClr val="1C252B"/>
                </a:solidFill>
                <a:latin typeface="Cambria"/>
              </a:rPr>
              <a:t>a</a:t>
            </a:r>
            <a:r>
              <a:rPr sz="1900" b="0" i="0">
                <a:solidFill>
                  <a:srgbClr val="1C252B"/>
                </a:solidFill>
                <a:latin typeface="Segoe UI"/>
              </a:rPr>
              <a:t>, </a:t>
            </a:r>
            <a:r>
              <a:rPr sz="1900" b="0" i="0">
                <a:solidFill>
                  <a:srgbClr val="1C252B"/>
                </a:solidFill>
                <a:latin typeface="Cambria"/>
              </a:rPr>
              <a:t>(−∞, +∞)</a:t>
            </a:r>
            <a:r>
              <a:rPr sz="1900" b="0" i="0">
                <a:solidFill>
                  <a:srgbClr val="1C252B"/>
                </a:solidFill>
                <a:latin typeface="Segoe UI"/>
              </a:rPr>
              <a:t>: evaluate leaf </a:t>
            </a:r>
            <a:r>
              <a:rPr sz="1900" b="0" i="0">
                <a:solidFill>
                  <a:srgbClr val="1C252B"/>
                </a:solidFill>
                <a:latin typeface="Cambria"/>
              </a:rPr>
              <a:t>3</a:t>
            </a:r>
            <a:r>
              <a:rPr sz="1900" b="0" i="0">
                <a:solidFill>
                  <a:srgbClr val="1C252B"/>
                </a:solidFill>
                <a:latin typeface="Segoe UI"/>
              </a:rPr>
              <a:t>, so </a:t>
            </a:r>
            <a:r>
              <a:rPr sz="1900" b="0" i="1">
                <a:solidFill>
                  <a:srgbClr val="1C252B"/>
                </a:solidFill>
                <a:latin typeface="Cambria"/>
              </a:rPr>
              <a:t>v</a:t>
            </a:r>
            <a:r>
              <a:rPr sz="1900" b="0" i="0">
                <a:solidFill>
                  <a:srgbClr val="1C252B"/>
                </a:solidFill>
                <a:latin typeface="Cambria"/>
              </a:rPr>
              <a:t>=3</a:t>
            </a:r>
            <a:r>
              <a:rPr sz="1900" b="0" i="0">
                <a:solidFill>
                  <a:srgbClr val="1C252B"/>
                </a:solidFill>
                <a:latin typeface="Segoe UI"/>
              </a:rPr>
              <a:t>, </a:t>
            </a:r>
            <a:r>
              <a:rPr sz="1900" b="0" i="0">
                <a:solidFill>
                  <a:srgbClr val="1C252B"/>
                </a:solidFill>
                <a:latin typeface="Cambria"/>
              </a:rPr>
              <a:t>α = 3</a:t>
            </a:r>
            <a:r>
              <a:rPr sz="1900" b="0" i="0">
                <a:solidFill>
                  <a:srgbClr val="1C252B"/>
                </a:solidFill>
                <a:latin typeface="Segoe UI"/>
              </a:rPr>
              <a:t>; evaluate leaf </a:t>
            </a:r>
            <a:r>
              <a:rPr sz="1900" b="0" i="0">
                <a:solidFill>
                  <a:srgbClr val="1C252B"/>
                </a:solidFill>
                <a:latin typeface="Cambria"/>
              </a:rPr>
              <a:t>5</a:t>
            </a:r>
            <a:r>
              <a:rPr sz="1900" b="0" i="0">
                <a:solidFill>
                  <a:srgbClr val="1C252B"/>
                </a:solidFill>
                <a:latin typeface="Segoe UI"/>
              </a:rPr>
              <a:t>, so </a:t>
            </a:r>
            <a:r>
              <a:rPr sz="1900" b="0" i="1">
                <a:solidFill>
                  <a:srgbClr val="1C252B"/>
                </a:solidFill>
                <a:latin typeface="Cambria"/>
              </a:rPr>
              <a:t>v</a:t>
            </a:r>
            <a:r>
              <a:rPr sz="1900" b="0" i="0">
                <a:solidFill>
                  <a:srgbClr val="1C252B"/>
                </a:solidFill>
                <a:latin typeface="Cambria"/>
              </a:rPr>
              <a:t>=5</a:t>
            </a:r>
            <a:r>
              <a:rPr sz="1900" b="0" i="0">
                <a:solidFill>
                  <a:srgbClr val="1C252B"/>
                </a:solidFill>
                <a:latin typeface="Segoe UI"/>
              </a:rPr>
              <a:t>, </a:t>
            </a:r>
            <a:r>
              <a:rPr sz="1900" b="0" i="0">
                <a:solidFill>
                  <a:srgbClr val="1C252B"/>
                </a:solidFill>
                <a:latin typeface="Cambria"/>
              </a:rPr>
              <a:t>α=5</a:t>
            </a:r>
            <a:r>
              <a:rPr sz="1900" b="0" i="0">
                <a:solidFill>
                  <a:srgbClr val="1C252B"/>
                </a:solidFill>
                <a:latin typeface="Segoe UI"/>
              </a:rPr>
              <a:t>. Return </a:t>
            </a:r>
            <a:r>
              <a:rPr sz="1900" b="0" i="0">
                <a:solidFill>
                  <a:srgbClr val="1C252B"/>
                </a:solidFill>
                <a:latin typeface="Cambria"/>
              </a:rPr>
              <a:t>5</a:t>
            </a:r>
            <a:r>
              <a:rPr sz="1900" b="0" i="0">
                <a:solidFill>
                  <a:srgbClr val="1C252B"/>
                </a:solidFill>
                <a:latin typeface="Segoe UI"/>
              </a:rPr>
              <a:t>. </a:t>
            </a:r>
            <a:r>
              <a:rPr sz="1900" b="0" i="1">
                <a:solidFill>
                  <a:srgbClr val="1C252B"/>
                </a:solidFill>
                <a:latin typeface="Segoe UI"/>
              </a:rPr>
              <a:t>(2 leaves)</a:t>
            </a:r>
          </a:p>
        </p:txBody>
      </p:sp>
      <p:sp>
        <p:nvSpPr>
          <p:cNvPr id="13" name="body-4"/>
          <p:cNvSpPr txBox="1"/>
          <p:nvPr/>
        </p:nvSpPr>
        <p:spPr>
          <a:xfrm>
            <a:off x="1042416" y="404825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Back at the left MIN node: </a:t>
            </a:r>
            <a:r>
              <a:rPr sz="1900" b="0" i="1">
                <a:solidFill>
                  <a:srgbClr val="1C252B"/>
                </a:solidFill>
                <a:latin typeface="Cambria"/>
              </a:rPr>
              <a:t>v</a:t>
            </a:r>
            <a:r>
              <a:rPr sz="1900" b="0" i="0">
                <a:solidFill>
                  <a:srgbClr val="1C252B"/>
                </a:solidFill>
                <a:latin typeface="Cambria"/>
              </a:rPr>
              <a:t> = 5</a:t>
            </a:r>
            <a:r>
              <a:rPr sz="1900" b="0" i="0">
                <a:solidFill>
                  <a:srgbClr val="1C252B"/>
                </a:solidFill>
                <a:latin typeface="Segoe UI"/>
              </a:rPr>
              <a:t>, so </a:t>
            </a:r>
            <a:r>
              <a:rPr sz="1900" b="0" i="0">
                <a:solidFill>
                  <a:srgbClr val="1C252B"/>
                </a:solidFill>
                <a:latin typeface="Cambria"/>
              </a:rPr>
              <a:t>β = 5</a:t>
            </a:r>
            <a:r>
              <a:rPr sz="1900" b="0" i="0">
                <a:solidFill>
                  <a:srgbClr val="1C252B"/>
                </a:solidFill>
                <a:latin typeface="Segoe UI"/>
              </a:rPr>
              <a:t>. Descend to its right child with </a:t>
            </a:r>
            <a:r>
              <a:rPr sz="1900" b="0" i="0">
                <a:solidFill>
                  <a:srgbClr val="1C252B"/>
                </a:solidFill>
                <a:latin typeface="Cambria"/>
              </a:rPr>
              <a:t>(−∞, 5)</a:t>
            </a:r>
            <a:r>
              <a:rPr sz="1900" b="0" i="0">
                <a:solidFill>
                  <a:srgbClr val="1C252B"/>
                </a:solidFill>
                <a:latin typeface="Segoe UI"/>
              </a:rPr>
              <a:t>.</a:t>
            </a:r>
          </a:p>
        </p:txBody>
      </p:sp>
      <p:sp>
        <p:nvSpPr>
          <p:cNvPr id="14" name="body-5"/>
          <p:cNvSpPr txBox="1"/>
          <p:nvPr/>
        </p:nvSpPr>
        <p:spPr>
          <a:xfrm>
            <a:off x="1042416" y="448210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MAX node</a:t>
            </a:r>
            <a:r>
              <a:rPr sz="1900" b="0" i="1">
                <a:solidFill>
                  <a:srgbClr val="1C252B"/>
                </a:solidFill>
                <a:latin typeface="Cambria"/>
              </a:rPr>
              <a:t>b</a:t>
            </a:r>
            <a:r>
              <a:rPr sz="1900" b="0" i="0">
                <a:solidFill>
                  <a:srgbClr val="1C252B"/>
                </a:solidFill>
                <a:latin typeface="Segoe UI"/>
              </a:rPr>
              <a:t>, </a:t>
            </a:r>
            <a:r>
              <a:rPr sz="1900" b="0" i="0">
                <a:solidFill>
                  <a:srgbClr val="1C252B"/>
                </a:solidFill>
                <a:latin typeface="Cambria"/>
              </a:rPr>
              <a:t>(−∞, 5)</a:t>
            </a:r>
            <a:r>
              <a:rPr sz="1900" b="0" i="0">
                <a:solidFill>
                  <a:srgbClr val="1C252B"/>
                </a:solidFill>
                <a:latin typeface="Segoe UI"/>
              </a:rPr>
              <a:t>: evaluate leaf </a:t>
            </a:r>
            <a:r>
              <a:rPr sz="1900" b="0" i="0">
                <a:solidFill>
                  <a:srgbClr val="1C252B"/>
                </a:solidFill>
                <a:latin typeface="Cambria"/>
              </a:rPr>
              <a:t>6</a:t>
            </a:r>
            <a:r>
              <a:rPr sz="1900" b="0" i="0">
                <a:solidFill>
                  <a:srgbClr val="1C252B"/>
                </a:solidFill>
                <a:latin typeface="Segoe UI"/>
              </a:rPr>
              <a:t>, so </a:t>
            </a:r>
            <a:r>
              <a:rPr sz="1900" b="0" i="1">
                <a:solidFill>
                  <a:srgbClr val="1C252B"/>
                </a:solidFill>
                <a:latin typeface="Cambria"/>
              </a:rPr>
              <a:t>v</a:t>
            </a:r>
            <a:r>
              <a:rPr sz="1900" b="0" i="0">
                <a:solidFill>
                  <a:srgbClr val="1C252B"/>
                </a:solidFill>
                <a:latin typeface="Cambria"/>
              </a:rPr>
              <a:t> = 6</a:t>
            </a:r>
            <a:r>
              <a:rPr sz="1900" b="0" i="0">
                <a:solidFill>
                  <a:srgbClr val="1C252B"/>
                </a:solidFill>
                <a:latin typeface="Segoe UI"/>
              </a:rPr>
              <a:t> and </a:t>
            </a:r>
            <a:r>
              <a:rPr sz="1900" b="0" i="0">
                <a:solidFill>
                  <a:srgbClr val="1C252B"/>
                </a:solidFill>
                <a:latin typeface="Cambria"/>
              </a:rPr>
              <a:t>α = 6</a:t>
            </a:r>
            <a:r>
              <a:rPr sz="1900" b="0" i="0">
                <a:solidFill>
                  <a:srgbClr val="1C252B"/>
                </a:solidFill>
                <a:latin typeface="Segoe UI"/>
              </a:rPr>
              <a:t>. Now </a:t>
            </a:r>
            <a:r>
              <a:rPr sz="1900" b="0" i="0">
                <a:solidFill>
                  <a:srgbClr val="1C252B"/>
                </a:solidFill>
                <a:latin typeface="Cambria"/>
              </a:rPr>
              <a:t>α ≥ β</a:t>
            </a:r>
            <a:r>
              <a:rPr sz="1900" b="0" i="0">
                <a:solidFill>
                  <a:srgbClr val="1C252B"/>
                </a:solidFill>
                <a:latin typeface="Segoe UI"/>
              </a:rPr>
              <a:t> (</a:t>
            </a:r>
            <a:r>
              <a:rPr sz="1900" b="0" i="0">
                <a:solidFill>
                  <a:srgbClr val="1C252B"/>
                </a:solidFill>
                <a:latin typeface="Cambria"/>
              </a:rPr>
              <a:t>6 ≥ 5</a:t>
            </a:r>
            <a:r>
              <a:rPr sz="1900" b="0" i="0">
                <a:solidFill>
                  <a:srgbClr val="1C252B"/>
                </a:solidFill>
                <a:latin typeface="Segoe UI"/>
              </a:rPr>
              <a:t>) — </a:t>
            </a:r>
            <a:r>
              <a:rPr sz="1900" b="1" i="0">
                <a:solidFill>
                  <a:srgbClr val="1C252B"/>
                </a:solidFill>
                <a:latin typeface="Segoe UI"/>
              </a:rPr>
              <a:t>cutoff</a:t>
            </a:r>
            <a:r>
              <a:rPr sz="1900" b="0" i="0">
                <a:solidFill>
                  <a:srgbClr val="1C252B"/>
                </a:solidFill>
                <a:latin typeface="Segoe UI"/>
              </a:rPr>
              <a:t>. Leaf </a:t>
            </a:r>
            <a:r>
              <a:rPr sz="1900" b="0" i="0">
                <a:solidFill>
                  <a:srgbClr val="1C252B"/>
                </a:solidFill>
                <a:latin typeface="Cambria"/>
              </a:rPr>
              <a:t>9</a:t>
            </a:r>
            <a:r>
              <a:rPr sz="1900" b="0" i="0">
                <a:solidFill>
                  <a:srgbClr val="1C252B"/>
                </a:solidFill>
                <a:latin typeface="Segoe UI"/>
              </a:rPr>
              <a:t> is never evaluated. Return </a:t>
            </a:r>
            <a:r>
              <a:rPr sz="1900" b="0" i="0">
                <a:solidFill>
                  <a:srgbClr val="1C252B"/>
                </a:solidFill>
                <a:latin typeface="Cambria"/>
              </a:rPr>
              <a:t>6</a:t>
            </a:r>
            <a:r>
              <a:rPr sz="1900" b="0" i="0">
                <a:solidFill>
                  <a:srgbClr val="1C252B"/>
                </a:solidFill>
                <a:latin typeface="Segoe UI"/>
              </a:rPr>
              <a:t>. </a:t>
            </a:r>
            <a:r>
              <a:rPr sz="1900" b="0" i="1">
                <a:solidFill>
                  <a:srgbClr val="1C252B"/>
                </a:solidFill>
                <a:latin typeface="Segoe UI"/>
              </a:rPr>
              <a:t>(1 leaf)</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422977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Tracing alpha–beta through the tree of Figure 8.1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5AE548CB-785C-4452-A24C-C46B0F33BBB9}"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24781"/>
          </a:xfrm>
          <a:prstGeom prst="roundRect">
            <a:avLst>
              <a:gd name="adj" fmla="val 202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247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it is safe: node </a:t>
            </a:r>
            <a:r>
              <a:rPr sz="1900" b="0" i="1">
                <a:solidFill>
                  <a:srgbClr val="1C252B"/>
                </a:solidFill>
                <a:latin typeface="Cambria"/>
              </a:rPr>
              <a:t>b</a:t>
            </a:r>
            <a:r>
              <a:rPr sz="1900" b="0" i="0">
                <a:solidFill>
                  <a:srgbClr val="1C252B"/>
                </a:solidFill>
                <a:latin typeface="Segoe UI"/>
              </a:rPr>
              <a:t> is a MAX node that can already secure </a:t>
            </a:r>
            <a:r>
              <a:rPr sz="1900" b="0" i="0">
                <a:solidFill>
                  <a:srgbClr val="1C252B"/>
                </a:solidFill>
                <a:latin typeface="Cambria"/>
              </a:rPr>
              <a:t>6</a:t>
            </a:r>
            <a:r>
              <a:rPr sz="1900" b="0" i="0">
                <a:solidFill>
                  <a:srgbClr val="1C252B"/>
                </a:solidFill>
                <a:latin typeface="Segoe UI"/>
              </a:rPr>
              <a:t>. The MIN node above it will never accept </a:t>
            </a:r>
            <a:r>
              <a:rPr sz="1900" b="0" i="0">
                <a:solidFill>
                  <a:srgbClr val="1C252B"/>
                </a:solidFill>
                <a:latin typeface="Cambria"/>
              </a:rPr>
              <a:t>6</a:t>
            </a:r>
            <a:r>
              <a:rPr sz="1900" b="0" i="0">
                <a:solidFill>
                  <a:srgbClr val="1C252B"/>
                </a:solidFill>
                <a:latin typeface="Segoe UI"/>
              </a:rPr>
              <a:t> when it already has </a:t>
            </a:r>
            <a:r>
              <a:rPr sz="1900" b="0" i="0">
                <a:solidFill>
                  <a:srgbClr val="1C252B"/>
                </a:solidFill>
                <a:latin typeface="Cambria"/>
              </a:rPr>
              <a:t>5</a:t>
            </a:r>
            <a:r>
              <a:rPr sz="1900" b="0" i="0">
                <a:solidFill>
                  <a:srgbClr val="1C252B"/>
                </a:solidFill>
                <a:latin typeface="Segoe UI"/>
              </a:rPr>
              <a:t> available. Whatever leaf </a:t>
            </a:r>
            <a:r>
              <a:rPr sz="1900" b="0" i="0">
                <a:solidFill>
                  <a:srgbClr val="1C252B"/>
                </a:solidFill>
                <a:latin typeface="Cambria"/>
              </a:rPr>
              <a:t>9</a:t>
            </a:r>
            <a:r>
              <a:rPr sz="1900" b="0" i="0">
                <a:solidFill>
                  <a:srgbClr val="1C252B"/>
                </a:solidFill>
                <a:latin typeface="Segoe UI"/>
              </a:rPr>
              <a:t> holds, </a:t>
            </a:r>
            <a:r>
              <a:rPr sz="1900" b="0" i="1">
                <a:solidFill>
                  <a:srgbClr val="1C252B"/>
                </a:solidFill>
                <a:latin typeface="Cambria"/>
              </a:rPr>
              <a:t>b</a:t>
            </a:r>
            <a:r>
              <a:rPr sz="1900" b="0" i="0">
                <a:solidFill>
                  <a:srgbClr val="1C252B"/>
                </a:solidFill>
                <a:latin typeface="Segoe UI"/>
              </a:rPr>
              <a:t> can only get </a:t>
            </a:r>
            <a:r>
              <a:rPr sz="1900" b="0" i="1">
                <a:solidFill>
                  <a:srgbClr val="1C252B"/>
                </a:solidFill>
                <a:latin typeface="Segoe UI"/>
              </a:rPr>
              <a:t>better</a:t>
            </a:r>
            <a:r>
              <a:rPr sz="1900" b="0" i="0">
                <a:solidFill>
                  <a:srgbClr val="1C252B"/>
                </a:solidFill>
                <a:latin typeface="Segoe UI"/>
              </a:rPr>
              <a:t> than </a:t>
            </a:r>
            <a:r>
              <a:rPr sz="1900" b="0" i="0">
                <a:solidFill>
                  <a:srgbClr val="1C252B"/>
                </a:solidFill>
                <a:latin typeface="Cambria"/>
              </a:rPr>
              <a:t>6</a:t>
            </a:r>
            <a:r>
              <a:rPr sz="1900" b="0" i="0">
                <a:solidFill>
                  <a:srgbClr val="1C252B"/>
                </a:solidFill>
                <a:latin typeface="Segoe UI"/>
              </a:rPr>
              <a:t>, so MIN’s choice is settled.</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Left MIN node returns </a:t>
            </a:r>
            <a:r>
              <a:rPr sz="1900" b="0" i="0">
                <a:solidFill>
                  <a:srgbClr val="1C252B"/>
                </a:solidFill>
                <a:latin typeface="Cambria"/>
              </a:rPr>
              <a:t>min(5, 6) = 5</a:t>
            </a:r>
            <a:r>
              <a:rPr sz="1900" b="0" i="0">
                <a:solidFill>
                  <a:srgbClr val="1C252B"/>
                </a:solidFill>
                <a:latin typeface="Segoe UI"/>
              </a:rPr>
              <a:t>. Root: </a:t>
            </a:r>
            <a:r>
              <a:rPr sz="1900" b="0" i="1">
                <a:solidFill>
                  <a:srgbClr val="1C252B"/>
                </a:solidFill>
                <a:latin typeface="Cambria"/>
              </a:rPr>
              <a:t>v</a:t>
            </a:r>
            <a:r>
              <a:rPr sz="1900" b="0" i="0">
                <a:solidFill>
                  <a:srgbClr val="1C252B"/>
                </a:solidFill>
                <a:latin typeface="Cambria"/>
              </a:rPr>
              <a:t> = 5</a:t>
            </a:r>
            <a:r>
              <a:rPr sz="1900" b="0" i="0">
                <a:solidFill>
                  <a:srgbClr val="1C252B"/>
                </a:solidFill>
                <a:latin typeface="Segoe UI"/>
              </a:rPr>
              <a:t>, </a:t>
            </a:r>
            <a:r>
              <a:rPr sz="1900" b="0" i="0">
                <a:solidFill>
                  <a:srgbClr val="1C252B"/>
                </a:solidFill>
                <a:latin typeface="Cambria"/>
              </a:rPr>
              <a:t>α = 5</a:t>
            </a:r>
            <a:r>
              <a:rPr sz="1900" b="0" i="0">
                <a:solidFill>
                  <a:srgbClr val="1C252B"/>
                </a:solidFill>
                <a:latin typeface="Segoe UI"/>
              </a:rPr>
              <a:t>.</a:t>
            </a:r>
          </a:p>
        </p:txBody>
      </p:sp>
      <p:sp>
        <p:nvSpPr>
          <p:cNvPr id="11" name="body-2"/>
          <p:cNvSpPr txBox="1"/>
          <p:nvPr/>
        </p:nvSpPr>
        <p:spPr>
          <a:xfrm>
            <a:off x="1042416" y="348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Right MIN node</a:t>
            </a:r>
            <a:r>
              <a:rPr sz="1900" b="0" i="0">
                <a:solidFill>
                  <a:srgbClr val="1C252B"/>
                </a:solidFill>
                <a:latin typeface="Segoe UI"/>
              </a:rPr>
              <a:t>, </a:t>
            </a:r>
            <a:r>
              <a:rPr sz="1900" b="0" i="0">
                <a:solidFill>
                  <a:srgbClr val="1C252B"/>
                </a:solidFill>
                <a:latin typeface="Cambria"/>
              </a:rPr>
              <a:t>(5, +∞)</a:t>
            </a:r>
            <a:r>
              <a:rPr sz="1900" b="0" i="0">
                <a:solidFill>
                  <a:srgbClr val="1C252B"/>
                </a:solidFill>
                <a:latin typeface="Segoe UI"/>
              </a:rPr>
              <a:t>. Descend left.</a:t>
            </a:r>
          </a:p>
        </p:txBody>
      </p:sp>
      <p:sp>
        <p:nvSpPr>
          <p:cNvPr id="12" name="body-3"/>
          <p:cNvSpPr txBox="1"/>
          <p:nvPr/>
        </p:nvSpPr>
        <p:spPr>
          <a:xfrm>
            <a:off x="1042416" y="391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MAX node</a:t>
            </a:r>
            <a:r>
              <a:rPr sz="1900" b="0" i="1">
                <a:solidFill>
                  <a:srgbClr val="1C252B"/>
                </a:solidFill>
                <a:latin typeface="Cambria"/>
              </a:rPr>
              <a:t>c</a:t>
            </a:r>
            <a:r>
              <a:rPr sz="1900" b="0" i="0">
                <a:solidFill>
                  <a:srgbClr val="1C252B"/>
                </a:solidFill>
                <a:latin typeface="Segoe UI"/>
              </a:rPr>
              <a:t>, </a:t>
            </a:r>
            <a:r>
              <a:rPr sz="1900" b="0" i="0">
                <a:solidFill>
                  <a:srgbClr val="1C252B"/>
                </a:solidFill>
                <a:latin typeface="Cambria"/>
              </a:rPr>
              <a:t>(5, +∞)</a:t>
            </a:r>
            <a:r>
              <a:rPr sz="1900" b="0" i="0">
                <a:solidFill>
                  <a:srgbClr val="1C252B"/>
                </a:solidFill>
                <a:latin typeface="Segoe UI"/>
              </a:rPr>
              <a:t>: leaf </a:t>
            </a:r>
            <a:r>
              <a:rPr sz="1900" b="0" i="0">
                <a:solidFill>
                  <a:srgbClr val="1C252B"/>
                </a:solidFill>
                <a:latin typeface="Cambria"/>
              </a:rPr>
              <a:t>1</a:t>
            </a:r>
            <a:r>
              <a:rPr sz="1900" b="0" i="0">
                <a:solidFill>
                  <a:srgbClr val="1C252B"/>
                </a:solidFill>
                <a:latin typeface="Segoe UI"/>
              </a:rPr>
              <a:t> gives </a:t>
            </a:r>
            <a:r>
              <a:rPr sz="1900" b="0" i="1">
                <a:solidFill>
                  <a:srgbClr val="1C252B"/>
                </a:solidFill>
                <a:latin typeface="Cambria"/>
              </a:rPr>
              <a:t>v</a:t>
            </a:r>
            <a:r>
              <a:rPr sz="1900" b="0" i="0">
                <a:solidFill>
                  <a:srgbClr val="1C252B"/>
                </a:solidFill>
                <a:latin typeface="Cambria"/>
              </a:rPr>
              <a:t>=1</a:t>
            </a:r>
            <a:r>
              <a:rPr sz="1900" b="0" i="0">
                <a:solidFill>
                  <a:srgbClr val="1C252B"/>
                </a:solidFill>
                <a:latin typeface="Segoe UI"/>
              </a:rPr>
              <a:t>; leaf </a:t>
            </a:r>
            <a:r>
              <a:rPr sz="1900" b="0" i="0">
                <a:solidFill>
                  <a:srgbClr val="1C252B"/>
                </a:solidFill>
                <a:latin typeface="Cambria"/>
              </a:rPr>
              <a:t>2</a:t>
            </a:r>
            <a:r>
              <a:rPr sz="1900" b="0" i="0">
                <a:solidFill>
                  <a:srgbClr val="1C252B"/>
                </a:solidFill>
                <a:latin typeface="Segoe UI"/>
              </a:rPr>
              <a:t> gives </a:t>
            </a:r>
            <a:r>
              <a:rPr sz="1900" b="0" i="1">
                <a:solidFill>
                  <a:srgbClr val="1C252B"/>
                </a:solidFill>
                <a:latin typeface="Cambria"/>
              </a:rPr>
              <a:t>v</a:t>
            </a:r>
            <a:r>
              <a:rPr sz="1900" b="0" i="0">
                <a:solidFill>
                  <a:srgbClr val="1C252B"/>
                </a:solidFill>
                <a:latin typeface="Cambria"/>
              </a:rPr>
              <a:t>=2</a:t>
            </a:r>
            <a:r>
              <a:rPr sz="1900" b="0" i="0">
                <a:solidFill>
                  <a:srgbClr val="1C252B"/>
                </a:solidFill>
                <a:latin typeface="Segoe UI"/>
              </a:rPr>
              <a:t>. Return </a:t>
            </a:r>
            <a:r>
              <a:rPr sz="1900" b="0" i="0">
                <a:solidFill>
                  <a:srgbClr val="1C252B"/>
                </a:solidFill>
                <a:latin typeface="Cambria"/>
              </a:rPr>
              <a:t>2</a:t>
            </a:r>
            <a:r>
              <a:rPr sz="1900" b="0" i="0">
                <a:solidFill>
                  <a:srgbClr val="1C252B"/>
                </a:solidFill>
                <a:latin typeface="Segoe UI"/>
              </a:rPr>
              <a:t>. </a:t>
            </a:r>
            <a:r>
              <a:rPr sz="1900" b="0" i="1">
                <a:solidFill>
                  <a:srgbClr val="1C252B"/>
                </a:solidFill>
                <a:latin typeface="Segoe UI"/>
              </a:rPr>
              <a:t>(2 leaves)</a:t>
            </a:r>
          </a:p>
        </p:txBody>
      </p:sp>
      <p:sp>
        <p:nvSpPr>
          <p:cNvPr id="13" name="body-4"/>
          <p:cNvSpPr txBox="1"/>
          <p:nvPr/>
        </p:nvSpPr>
        <p:spPr>
          <a:xfrm>
            <a:off x="1042416" y="434939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Right MIN node: </a:t>
            </a:r>
            <a:r>
              <a:rPr sz="1900" b="0" i="1">
                <a:solidFill>
                  <a:srgbClr val="1C252B"/>
                </a:solidFill>
                <a:latin typeface="Cambria"/>
              </a:rPr>
              <a:t>v</a:t>
            </a:r>
            <a:r>
              <a:rPr sz="1900" b="0" i="0">
                <a:solidFill>
                  <a:srgbClr val="1C252B"/>
                </a:solidFill>
                <a:latin typeface="Cambria"/>
              </a:rPr>
              <a:t> = 2</a:t>
            </a:r>
            <a:r>
              <a:rPr sz="1900" b="0" i="0">
                <a:solidFill>
                  <a:srgbClr val="1C252B"/>
                </a:solidFill>
                <a:latin typeface="Segoe UI"/>
              </a:rPr>
              <a:t>, so </a:t>
            </a:r>
            <a:r>
              <a:rPr sz="1900" b="0" i="0">
                <a:solidFill>
                  <a:srgbClr val="1C252B"/>
                </a:solidFill>
                <a:latin typeface="Cambria"/>
              </a:rPr>
              <a:t>β = 2</a:t>
            </a:r>
            <a:r>
              <a:rPr sz="1900" b="0" i="0">
                <a:solidFill>
                  <a:srgbClr val="1C252B"/>
                </a:solidFill>
                <a:latin typeface="Segoe UI"/>
              </a:rPr>
              <a:t>. Now </a:t>
            </a:r>
            <a:r>
              <a:rPr sz="1900" b="0" i="0">
                <a:solidFill>
                  <a:srgbClr val="1C252B"/>
                </a:solidFill>
                <a:latin typeface="Cambria"/>
              </a:rPr>
              <a:t>β ≤ α</a:t>
            </a:r>
            <a:r>
              <a:rPr sz="1900" b="0" i="0">
                <a:solidFill>
                  <a:srgbClr val="1C252B"/>
                </a:solidFill>
                <a:latin typeface="Segoe UI"/>
              </a:rPr>
              <a:t> (</a:t>
            </a:r>
            <a:r>
              <a:rPr sz="1900" b="0" i="0">
                <a:solidFill>
                  <a:srgbClr val="1C252B"/>
                </a:solidFill>
                <a:latin typeface="Cambria"/>
              </a:rPr>
              <a:t>2 ≤ 5</a:t>
            </a:r>
            <a:r>
              <a:rPr sz="1900" b="0" i="0">
                <a:solidFill>
                  <a:srgbClr val="1C252B"/>
                </a:solidFill>
                <a:latin typeface="Segoe UI"/>
              </a:rPr>
              <a:t>) — </a:t>
            </a:r>
            <a:r>
              <a:rPr sz="1900" b="1" i="0">
                <a:solidFill>
                  <a:srgbClr val="1C252B"/>
                </a:solidFill>
                <a:latin typeface="Segoe UI"/>
              </a:rPr>
              <a:t>cutoff</a:t>
            </a:r>
            <a:r>
              <a:rPr sz="1900" b="0" i="0">
                <a:solidFill>
                  <a:srgbClr val="1C252B"/>
                </a:solidFill>
                <a:latin typeface="Segoe UI"/>
              </a:rPr>
              <a:t>. Node </a:t>
            </a:r>
            <a:r>
              <a:rPr sz="1900" b="0" i="1">
                <a:solidFill>
                  <a:srgbClr val="1C252B"/>
                </a:solidFill>
                <a:latin typeface="Cambria"/>
              </a:rPr>
              <a:t>d</a:t>
            </a:r>
            <a:r>
              <a:rPr sz="1900" b="0" i="0">
                <a:solidFill>
                  <a:srgbClr val="1C252B"/>
                </a:solidFill>
                <a:latin typeface="Segoe UI"/>
              </a:rPr>
              <a:t> and both its leaves are skipped entirely. Return </a:t>
            </a:r>
            <a:r>
              <a:rPr sz="1900" b="0" i="0">
                <a:solidFill>
                  <a:srgbClr val="1C252B"/>
                </a:solidFill>
                <a:latin typeface="Cambria"/>
              </a:rPr>
              <a:t>2</a:t>
            </a:r>
            <a:r>
              <a:rPr sz="1900" b="0" i="0">
                <a:solidFill>
                  <a:srgbClr val="1C252B"/>
                </a:solidFill>
                <a:latin typeface="Segoe UI"/>
              </a:rPr>
              <a:t>.</a:t>
            </a:r>
          </a:p>
        </p:txBody>
      </p:sp>
      <p:sp>
        <p:nvSpPr>
          <p:cNvPr id="14" name="body-5"/>
          <p:cNvSpPr txBox="1"/>
          <p:nvPr/>
        </p:nvSpPr>
        <p:spPr>
          <a:xfrm>
            <a:off x="1042416" y="5084394"/>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it is safe: this MIN node can already hold us to </a:t>
            </a:r>
            <a:r>
              <a:rPr sz="1900" b="0" i="0">
                <a:solidFill>
                  <a:srgbClr val="1C252B"/>
                </a:solidFill>
                <a:latin typeface="Cambria"/>
              </a:rPr>
              <a:t>2</a:t>
            </a:r>
            <a:r>
              <a:rPr sz="1900" b="0" i="0">
                <a:solidFill>
                  <a:srgbClr val="1C252B"/>
                </a:solidFill>
                <a:latin typeface="Segoe UI"/>
              </a:rPr>
              <a:t>, and we have already secured </a:t>
            </a:r>
            <a:r>
              <a:rPr sz="1900" b="0" i="0">
                <a:solidFill>
                  <a:srgbClr val="1C252B"/>
                </a:solidFill>
                <a:latin typeface="Cambria"/>
              </a:rPr>
              <a:t>5</a:t>
            </a:r>
            <a:r>
              <a:rPr sz="1900" b="0" i="0">
                <a:solidFill>
                  <a:srgbClr val="1C252B"/>
                </a:solidFill>
                <a:latin typeface="Segoe UI"/>
              </a:rPr>
              <a:t> at the root. We will never play into this branch, so its exact value is irrelevant — which is why Figure 8.2 prints it as “?”.</a:t>
            </a:r>
          </a:p>
        </p:txBody>
      </p:sp>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447858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42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right)">
                                      <p:cBhvr>
                                        <p:cTn id="23" dur="42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right)">
                                      <p:cBhvr>
                                        <p:cTn id="28" dur="42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right)">
                                      <p:cBhvr>
                                        <p:cTn id="33"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Tracing alpha–beta through the tree of Figure 8.1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E58EBE9A-F398-49AD-BD4A-3E4DA2EA8B47}"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885924"/>
          </a:xfrm>
          <a:prstGeom prst="roundRect">
            <a:avLst>
              <a:gd name="adj" fmla="val 484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8859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Root</a:t>
            </a:r>
            <a:r>
              <a:rPr sz="1900" b="0" i="0">
                <a:solidFill>
                  <a:srgbClr val="1C252B"/>
                </a:solidFill>
                <a:latin typeface="Segoe UI"/>
              </a:rPr>
              <a:t> returns </a:t>
            </a:r>
            <a:r>
              <a:rPr sz="1900" b="0" i="0">
                <a:solidFill>
                  <a:srgbClr val="1C252B"/>
                </a:solidFill>
                <a:latin typeface="Cambria"/>
              </a:rPr>
              <a:t>max(5,2) = 5</a:t>
            </a:r>
            <a:r>
              <a:rPr sz="1900" b="0" i="0">
                <a:solidFill>
                  <a:srgbClr val="1C252B"/>
                </a:solidFill>
                <a:latin typeface="Segoe UI"/>
              </a:rPr>
              <a:t>. </a:t>
            </a:r>
            <a:r>
              <a:rPr sz="1900" b="1" i="0">
                <a:solidFill>
                  <a:srgbClr val="1C252B"/>
                </a:solidFill>
                <a:latin typeface="Segoe UI"/>
              </a:rPr>
              <a:t>Leaves evaluated: </a:t>
            </a:r>
            <a:r>
              <a:rPr sz="1900" b="1" i="0">
                <a:solidFill>
                  <a:srgbClr val="1C252B"/>
                </a:solidFill>
                <a:latin typeface="Cambria"/>
              </a:rPr>
              <a:t>3, 5, 6, 1, 2</a:t>
            </a:r>
            <a:r>
              <a:rPr sz="1900" b="1" i="0">
                <a:solidFill>
                  <a:srgbClr val="1C252B"/>
                </a:solidFill>
                <a:latin typeface="Segoe UI"/>
              </a:rPr>
              <a:t> — five of eight</a:t>
            </a:r>
            <a:r>
              <a:rPr sz="1900" b="0" i="0">
                <a:solidFill>
                  <a:srgbClr val="1C252B"/>
                </a:solidFill>
                <a:latin typeface="Segoe UI"/>
              </a:rPr>
              <a:t>, and the value is identical to minimax’s.</a:t>
            </a:r>
          </a:p>
        </p:txBody>
      </p:sp>
      <p:sp>
        <p:nvSpPr>
          <p:cNvPr id="10" name="body-1"/>
          <p:cNvSpPr txBox="1"/>
          <p:nvPr/>
        </p:nvSpPr>
        <p:spPr>
          <a:xfrm>
            <a:off x="1042416" y="274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Now reverse the leaves</a:t>
            </a:r>
            <a:r>
              <a:rPr sz="1900" b="0" i="0">
                <a:solidFill>
                  <a:srgbClr val="1C252B"/>
                </a:solidFill>
                <a:latin typeface="Segoe UI"/>
              </a:rPr>
              <a:t> to </a:t>
            </a:r>
            <a:r>
              <a:rPr sz="1900" b="0" i="0">
                <a:solidFill>
                  <a:srgbClr val="1C252B"/>
                </a:solidFill>
                <a:latin typeface="Cambria"/>
              </a:rPr>
              <a:t>[−1, 0, 2, 1, 9, 6, 5, 3]</a:t>
            </a:r>
            <a:r>
              <a:rPr sz="1900" b="0" i="0">
                <a:solidFill>
                  <a:srgbClr val="1C252B"/>
                </a:solidFill>
                <a:latin typeface="Segoe UI"/>
              </a:rPr>
              <a:t> and trace again. The minimax value is still </a:t>
            </a:r>
            <a:r>
              <a:rPr sz="1900" b="0" i="0">
                <a:solidFill>
                  <a:srgbClr val="1C252B"/>
                </a:solidFill>
                <a:latin typeface="Cambria"/>
              </a:rPr>
              <a:t>5</a:t>
            </a:r>
            <a:r>
              <a:rPr sz="1900" b="0" i="0">
                <a:solidFill>
                  <a:srgbClr val="1C252B"/>
                </a:solidFill>
                <a:latin typeface="Segoe UI"/>
              </a:rPr>
              <a:t>, but the cutoffs fall differently — that is move ordering, and it is the entire content of Table 8.1.</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72739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0FF6DFF8-FD44-4A49-A24C-A3039147633C}" type="slidenum">
              <a:rPr lang="en-GB" sz="1000">
                <a:solidFill>
                  <a:srgbClr val="8795A1"/>
                </a:solidFill>
                <a:latin typeface="Segoe UI"/>
              </a:rPr>
              <a:t>20</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Thinking alpha–beta is an approximation.</a:t>
            </a:r>
            <a:r>
              <a:rPr sz="1800" b="0" i="0">
                <a:solidFill>
                  <a:srgbClr val="1C252B"/>
                </a:solidFill>
                <a:latin typeface="Segoe UI"/>
              </a:rPr>
              <a:t> It returns exactly the minimax value. What it approximates is nothing; what it saves is leaves.</a:t>
            </a:r>
          </a:p>
        </p:txBody>
      </p:sp>
      <p:sp>
        <p:nvSpPr>
          <p:cNvPr id="10" name="!!pb1">
            <a:extLst>
              <a:ext uri="{C183D7F6-B498-43B3-948B-1728B52AA6E4}">
                <adec:decorative xmlns:adec="http://schemas.microsoft.com/office/drawing/2017/decorative" val="1"/>
              </a:ext>
            </a:extLst>
          </p:cNvPr>
          <p:cNvSpPr/>
          <p:nvPr/>
        </p:nvSpPr>
        <p:spPr>
          <a:xfrm>
            <a:off x="658368" y="25274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502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509113"/>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Modelling a negotiator as a stochastic process.</a:t>
            </a:r>
            <a:r>
              <a:rPr sz="1800" b="0" i="0">
                <a:solidFill>
                  <a:srgbClr val="1C252B"/>
                </a:solidFill>
                <a:latin typeface="Segoe UI"/>
              </a:rPr>
              <a:t> If their choice depends on yours, an average-case model is not merely inaccurate, it is exploitable.</a:t>
            </a:r>
          </a:p>
        </p:txBody>
      </p:sp>
      <p:sp>
        <p:nvSpPr>
          <p:cNvPr id="13" name="!!pb2">
            <a:extLst>
              <a:ext uri="{C183D7F6-B498-43B3-948B-1728B52AA6E4}">
                <adec:decorative xmlns:adec="http://schemas.microsoft.com/office/drawing/2017/decorative" val="1"/>
              </a:ext>
            </a:extLst>
          </p:cNvPr>
          <p:cNvSpPr/>
          <p:nvPr/>
        </p:nvSpPr>
        <p:spPr>
          <a:xfrm>
            <a:off x="658368" y="329915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32201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80867"/>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Quoting a cooperative-model number as a guarantee.</a:t>
            </a:r>
            <a:r>
              <a:rPr sz="1800" b="0" i="0">
                <a:solidFill>
                  <a:srgbClr val="1C252B"/>
                </a:solidFill>
                <a:latin typeface="Segoe UI"/>
              </a:rPr>
              <a:t> The minimax value is what you can secure </a:t>
            </a:r>
            <a:r>
              <a:rPr sz="1800" b="0" i="1">
                <a:solidFill>
                  <a:srgbClr val="1C252B"/>
                </a:solidFill>
                <a:latin typeface="Segoe UI"/>
              </a:rPr>
              <a:t>whatever</a:t>
            </a:r>
            <a:r>
              <a:rPr sz="1800" b="0" i="0">
                <a:solidFill>
                  <a:srgbClr val="1C252B"/>
                </a:solidFill>
                <a:latin typeface="Segoe UI"/>
              </a:rPr>
              <a:t> they do. Any friendlier assumption gives a bigger number and no floor.</a:t>
            </a:r>
          </a:p>
        </p:txBody>
      </p:sp>
      <p:sp>
        <p:nvSpPr>
          <p:cNvPr id="16" name="!!pb3">
            <a:extLst>
              <a:ext uri="{C183D7F6-B498-43B3-948B-1728B52AA6E4}">
                <adec:decorative xmlns:adec="http://schemas.microsoft.com/office/drawing/2017/decorative" val="1"/>
              </a:ext>
            </a:extLst>
          </p:cNvPr>
          <p:cNvSpPr/>
          <p:nvPr/>
        </p:nvSpPr>
        <p:spPr>
          <a:xfrm>
            <a:off x="658368" y="407090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09376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052620"/>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Assuming move ordering always pays.</a:t>
            </a:r>
            <a:r>
              <a:rPr sz="1800" b="0" i="0">
                <a:solidFill>
                  <a:srgbClr val="1C252B"/>
                </a:solidFill>
                <a:latin typeface="Segoe UI"/>
              </a:rPr>
              <a:t> Measured here: a shallow-probe ordering cost </a:t>
            </a:r>
            <a:r>
              <a:rPr sz="1800" b="0" i="0">
                <a:solidFill>
                  <a:srgbClr val="1C252B"/>
                </a:solidFill>
                <a:latin typeface="Cambria"/>
              </a:rPr>
              <a:t>506</a:t>
            </a:r>
            <a:r>
              <a:rPr sz="1800" b="0" i="0">
                <a:solidFill>
                  <a:srgbClr val="1C252B"/>
                </a:solidFill>
                <a:latin typeface="Segoe UI"/>
              </a:rPr>
              <a:t> leaf evaluations against natural ordering’s </a:t>
            </a:r>
            <a:r>
              <a:rPr sz="1800" b="0" i="0">
                <a:solidFill>
                  <a:srgbClr val="1C252B"/>
                </a:solidFill>
                <a:latin typeface="Cambria"/>
              </a:rPr>
              <a:t>75</a:t>
            </a:r>
            <a:r>
              <a:rPr sz="1800" b="0" i="0">
                <a:solidFill>
                  <a:srgbClr val="1C252B"/>
                </a:solidFill>
                <a:latin typeface="Segoe UI"/>
              </a:rPr>
              <a:t>. It pays at depth twenty, not at depth five.</a:t>
            </a:r>
          </a:p>
        </p:txBody>
      </p:sp>
      <p:sp>
        <p:nvSpPr>
          <p:cNvPr id="19" name="!!pb4">
            <a:extLst>
              <a:ext uri="{C183D7F6-B498-43B3-948B-1728B52AA6E4}">
                <adec:decorative xmlns:adec="http://schemas.microsoft.com/office/drawing/2017/decorative" val="1"/>
              </a:ext>
            </a:extLst>
          </p:cNvPr>
          <p:cNvSpPr/>
          <p:nvPr/>
        </p:nvSpPr>
        <p:spPr>
          <a:xfrm>
            <a:off x="658368" y="484266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86552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824374"/>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Stopping the search in a volatile position.</a:t>
            </a:r>
            <a:r>
              <a:rPr sz="1800" b="0" i="0">
                <a:solidFill>
                  <a:srgbClr val="1C252B"/>
                </a:solidFill>
                <a:latin typeface="Segoe UI"/>
              </a:rPr>
              <a:t> The horizon effect makes the program push bad news just out of sight. Search quiescent positions deeper.</a:t>
            </a:r>
          </a:p>
        </p:txBody>
      </p:sp>
      <p:sp>
        <p:nvSpPr>
          <p:cNvPr id="22" name="!!pb5">
            <a:extLst>
              <a:ext uri="{C183D7F6-B498-43B3-948B-1728B52AA6E4}">
                <adec:decorative xmlns:adec="http://schemas.microsoft.com/office/drawing/2017/decorative" val="1"/>
              </a:ext>
            </a:extLst>
          </p:cNvPr>
          <p:cNvSpPr/>
          <p:nvPr/>
        </p:nvSpPr>
        <p:spPr>
          <a:xfrm>
            <a:off x="658368" y="561441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63727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596128"/>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Forgetting that the evaluation function is the ceiling.</a:t>
            </a:r>
            <a:r>
              <a:rPr sz="1800" b="0" i="0">
                <a:solidFill>
                  <a:srgbClr val="1C252B"/>
                </a:solidFill>
                <a:latin typeface="Segoe UI"/>
              </a:rPr>
              <a:t> Beyond a point, deeper search of a bad evaluation function just finds worse moves more confidently.</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497620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Minimax and Alpha–Beta on a Slot Negotiation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19C73899-C03E-47A0-80A5-503374069AC1}" type="slidenum">
              <a:rPr lang="en-GB" sz="1000">
                <a:solidFill>
                  <a:srgbClr val="8795A1"/>
                </a:solidFill>
                <a:latin typeface="Segoe UI"/>
              </a:rPr>
              <a:t>21</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five-ply negotiation of Table 8.1, with four move orderings, counting leaf evaluations — the operation that costs.</a:t>
            </a:r>
          </a:p>
        </p:txBody>
      </p:sp>
      <p:sp>
        <p:nvSpPr>
          <p:cNvPr id="8" name="!!lfTHIS">
            <a:extLst>
              <a:ext uri="{C183D7F6-B498-43B3-948B-1728B52AA6E4}">
                <adec:decorative xmlns:adec="http://schemas.microsoft.com/office/drawing/2017/decorative" val="1"/>
              </a:ext>
            </a:extLst>
          </p:cNvPr>
          <p:cNvSpPr/>
          <p:nvPr/>
        </p:nvSpPr>
        <p:spPr>
          <a:xfrm>
            <a:off x="658368" y="268224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bTHIS">
            <a:extLst>
              <a:ext uri="{C183D7F6-B498-43B3-948B-1728B52AA6E4}">
                <adec:decorative xmlns:adec="http://schemas.microsoft.com/office/drawing/2017/decorative" val="1"/>
              </a:ext>
            </a:extLst>
          </p:cNvPr>
          <p:cNvSpPr/>
          <p:nvPr/>
        </p:nvSpPr>
        <p:spPr>
          <a:xfrm>
            <a:off x="658368"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lflTHIS"/>
          <p:cNvSpPr txBox="1"/>
          <p:nvPr/>
        </p:nvSpPr>
        <p:spPr>
          <a:xfrm>
            <a:off x="932688" y="284683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1" name="!!lfvTHIS"/>
          <p:cNvSpPr txBox="1"/>
          <p:nvPr/>
        </p:nvSpPr>
        <p:spPr>
          <a:xfrm>
            <a:off x="932688" y="313944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Week 7: Minimax and alpha–beta on a slot negotiation</a:t>
            </a:r>
          </a:p>
        </p:txBody>
      </p:sp>
      <p:sp>
        <p:nvSpPr>
          <p:cNvPr id="12" name="!!lfWHAT">
            <a:extLst>
              <a:ext uri="{C183D7F6-B498-43B3-948B-1728B52AA6E4}">
                <adec:decorative xmlns:adec="http://schemas.microsoft.com/office/drawing/2017/decorative" val="1"/>
              </a:ext>
            </a:extLst>
          </p:cNvPr>
          <p:cNvSpPr/>
          <p:nvPr/>
        </p:nvSpPr>
        <p:spPr>
          <a:xfrm>
            <a:off x="4374794" y="268224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bWHAT">
            <a:extLst>
              <a:ext uri="{C183D7F6-B498-43B3-948B-1728B52AA6E4}">
                <adec:decorative xmlns:adec="http://schemas.microsoft.com/office/drawing/2017/decorative" val="1"/>
              </a:ext>
            </a:extLst>
          </p:cNvPr>
          <p:cNvSpPr/>
          <p:nvPr/>
        </p:nvSpPr>
        <p:spPr>
          <a:xfrm>
            <a:off x="4374794"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flWHAT"/>
          <p:cNvSpPr txBox="1"/>
          <p:nvPr/>
        </p:nvSpPr>
        <p:spPr>
          <a:xfrm>
            <a:off x="4649114" y="284683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5" name="!!lfvWHAT"/>
          <p:cNvSpPr txBox="1"/>
          <p:nvPr/>
        </p:nvSpPr>
        <p:spPr>
          <a:xfrm>
            <a:off x="4649114" y="313944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201 lines of Python</a:t>
            </a:r>
          </a:p>
        </p:txBody>
      </p:sp>
      <p:sp>
        <p:nvSpPr>
          <p:cNvPr id="16" name="!!lfRUNN">
            <a:extLst>
              <a:ext uri="{C183D7F6-B498-43B3-948B-1728B52AA6E4}">
                <adec:decorative xmlns:adec="http://schemas.microsoft.com/office/drawing/2017/decorative" val="1"/>
              </a:ext>
            </a:extLst>
          </p:cNvPr>
          <p:cNvSpPr/>
          <p:nvPr/>
        </p:nvSpPr>
        <p:spPr>
          <a:xfrm>
            <a:off x="8091220" y="268224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lfbRUNN">
            <a:extLst>
              <a:ext uri="{C183D7F6-B498-43B3-948B-1728B52AA6E4}">
                <adec:decorative xmlns:adec="http://schemas.microsoft.com/office/drawing/2017/decorative" val="1"/>
              </a:ext>
            </a:extLst>
          </p:cNvPr>
          <p:cNvSpPr/>
          <p:nvPr/>
        </p:nvSpPr>
        <p:spPr>
          <a:xfrm>
            <a:off x="8091220"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lflRUNN"/>
          <p:cNvSpPr txBox="1"/>
          <p:nvPr/>
        </p:nvSpPr>
        <p:spPr>
          <a:xfrm>
            <a:off x="8365540" y="284683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19" name="!!lfvRUNN"/>
          <p:cNvSpPr txBox="1"/>
          <p:nvPr/>
        </p:nvSpPr>
        <p:spPr>
          <a:xfrm>
            <a:off x="8365540" y="313944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code/ch08_minimax_alpha_beta.py</a:t>
            </a: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522501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Minimax and Alpha–Beta on a Slot Negotiation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6426D523-E97E-4528-A315-77F9DA3BB682}" type="slidenum">
              <a:rPr lang="en-GB" sz="1000">
                <a:solidFill>
                  <a:srgbClr val="8795A1"/>
                </a:solidFill>
                <a:latin typeface="Segoe UI"/>
              </a:rPr>
              <a:t>22</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65904"/>
          </a:xfrm>
          <a:prstGeom prst="roundRect">
            <a:avLst>
              <a:gd name="adj" fmla="val 20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code/ch08_minimax_alpha_beta.py</a:t>
            </a:r>
          </a:p>
        </p:txBody>
      </p:sp>
      <p:sp>
        <p:nvSpPr>
          <p:cNvPr id="13" name="!!code-text" descr="&quot;&quot;&quot;Chapter 8 lab -- minimax and alpha-beta on a release negotiation. Five plies, three options each, 243 leaves. All four configurations return the same minimax value; they differ only in how many leaves they have to look at. The perfect-ordering row hits the theoretical bound b^ceil(d/2) + b^floor(d/2) - 1 exactly. &quot;&quot;&quot; import random DEPTH = 5 # plies of negotiation BRANCH = 3 # hold, concede, swap OPTIONS = (&quot;hold&quot;, &quot;concede&quot;, &quot;swap&quot;)"/>
          <p:cNvSpPr txBox="1"/>
          <p:nvPr/>
        </p:nvSpPr>
        <p:spPr>
          <a:xfrm>
            <a:off x="1362456" y="2066543"/>
            <a:ext cx="9987991" cy="4072128"/>
          </a:xfrm>
          <a:prstGeom prst="rect">
            <a:avLst/>
          </a:prstGeom>
          <a:noFill/>
        </p:spPr>
        <p:txBody>
          <a:bodyPr wrap="none" anchor="t" lIns="0" rIns="0" tIns="0" bIns="0">
            <a:noAutofit/>
          </a:bodyPr>
          <a:lstStyle/>
          <a:p>
            <a:pPr>
              <a:lnSpc>
                <a:spcPct val="100000"/>
              </a:lnSpc>
              <a:spcAft>
                <a:spcPts val="0"/>
              </a:spcAft>
            </a:pPr>
            <a:r>
              <a:rPr sz="2000" i="0">
                <a:solidFill>
                  <a:srgbClr val="7DCEA0"/>
                </a:solidFill>
                <a:latin typeface="Consolas"/>
              </a:rPr>
              <a:t>"""Chapter 8 lab -- minimax and alpha-beta on a release negotiation.</a:t>
            </a:r>
          </a:p>
          <a:p>
            <a:pPr>
              <a:lnSpc>
                <a:spcPct val="100000"/>
              </a:lnSpc>
              <a:spcAft>
                <a:spcPts val="0"/>
              </a:spcAft>
            </a:pPr>
            <a:r>
              <a:rPr sz="2000">
                <a:latin typeface="Consolas"/>
              </a:rPr>
              <a:t> </a:t>
            </a:r>
          </a:p>
          <a:p>
            <a:pPr>
              <a:lnSpc>
                <a:spcPct val="100000"/>
              </a:lnSpc>
              <a:spcAft>
                <a:spcPts val="0"/>
              </a:spcAft>
            </a:pPr>
            <a:r>
              <a:rPr sz="2000" i="0">
                <a:solidFill>
                  <a:srgbClr val="7DCEA0"/>
                </a:solidFill>
                <a:latin typeface="Consolas"/>
              </a:rPr>
              <a:t>Five plies, three options each, 243 leaves. All four configurations</a:t>
            </a:r>
          </a:p>
          <a:p>
            <a:pPr>
              <a:lnSpc>
                <a:spcPct val="100000"/>
              </a:lnSpc>
              <a:spcAft>
                <a:spcPts val="0"/>
              </a:spcAft>
            </a:pPr>
            <a:r>
              <a:rPr sz="2000" i="0">
                <a:solidFill>
                  <a:srgbClr val="7DCEA0"/>
                </a:solidFill>
                <a:latin typeface="Consolas"/>
              </a:rPr>
              <a:t>return the same minimax value; they differ only in how many leaves</a:t>
            </a:r>
          </a:p>
          <a:p>
            <a:pPr>
              <a:lnSpc>
                <a:spcPct val="100000"/>
              </a:lnSpc>
              <a:spcAft>
                <a:spcPts val="0"/>
              </a:spcAft>
            </a:pPr>
            <a:r>
              <a:rPr sz="2000" i="0">
                <a:solidFill>
                  <a:srgbClr val="7DCEA0"/>
                </a:solidFill>
                <a:latin typeface="Consolas"/>
              </a:rPr>
              <a:t>they have to look at. The perfect-ordering row hits the theoretical</a:t>
            </a:r>
          </a:p>
          <a:p>
            <a:pPr>
              <a:lnSpc>
                <a:spcPct val="100000"/>
              </a:lnSpc>
              <a:spcAft>
                <a:spcPts val="0"/>
              </a:spcAft>
            </a:pPr>
            <a:r>
              <a:rPr sz="2000" i="0">
                <a:solidFill>
                  <a:srgbClr val="7DCEA0"/>
                </a:solidFill>
                <a:latin typeface="Consolas"/>
              </a:rPr>
              <a:t>bound b^ceil(d/2) + b^floor(d/2) - 1 exactly.</a:t>
            </a:r>
          </a:p>
          <a:p>
            <a:pPr>
              <a:lnSpc>
                <a:spcPct val="100000"/>
              </a:lnSpc>
              <a:spcAft>
                <a:spcPts val="0"/>
              </a:spcAft>
            </a:pPr>
            <a:r>
              <a:rPr sz="2000" i="0">
                <a:solidFill>
                  <a:srgbClr val="7DCEA0"/>
                </a:solidFill>
                <a:latin typeface="Consolas"/>
              </a:rPr>
              <a:t>"""</a:t>
            </a:r>
          </a:p>
          <a:p>
            <a:pPr>
              <a:lnSpc>
                <a:spcPct val="100000"/>
              </a:lnSpc>
              <a:spcAft>
                <a:spcPts val="0"/>
              </a:spcAft>
            </a:pPr>
            <a:r>
              <a:rPr sz="2000">
                <a:latin typeface="Consolas"/>
              </a:rPr>
              <a:t> </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random</a:t>
            </a:r>
          </a:p>
          <a:p>
            <a:pPr>
              <a:lnSpc>
                <a:spcPct val="100000"/>
              </a:lnSpc>
              <a:spcAft>
                <a:spcPts val="0"/>
              </a:spcAft>
            </a:pPr>
            <a:r>
              <a:rPr sz="2000">
                <a:latin typeface="Consolas"/>
              </a:rPr>
              <a:t> </a:t>
            </a:r>
          </a:p>
          <a:p>
            <a:pPr>
              <a:lnSpc>
                <a:spcPct val="100000"/>
              </a:lnSpc>
              <a:spcAft>
                <a:spcPts val="0"/>
              </a:spcAft>
            </a:pPr>
            <a:r>
              <a:rPr sz="2000" i="0">
                <a:solidFill>
                  <a:srgbClr val="E8EDF2"/>
                </a:solidFill>
                <a:latin typeface="Consolas"/>
              </a:rPr>
              <a:t>DEPTH</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5</a:t>
            </a:r>
            <a:r>
              <a:rPr sz="2000" i="0">
                <a:solidFill>
                  <a:srgbClr val="E8EDF2"/>
                </a:solidFill>
                <a:latin typeface="Consolas"/>
              </a:rPr>
              <a:t>          </a:t>
            </a:r>
            <a:r>
              <a:rPr sz="2000" i="1">
                <a:solidFill>
                  <a:srgbClr val="8795A1"/>
                </a:solidFill>
                <a:latin typeface="Consolas"/>
              </a:rPr>
              <a:t># plies of negotiation</a:t>
            </a:r>
          </a:p>
          <a:p>
            <a:pPr>
              <a:lnSpc>
                <a:spcPct val="100000"/>
              </a:lnSpc>
              <a:spcAft>
                <a:spcPts val="0"/>
              </a:spcAft>
            </a:pPr>
            <a:r>
              <a:rPr sz="2000" i="0">
                <a:solidFill>
                  <a:srgbClr val="E8EDF2"/>
                </a:solidFill>
                <a:latin typeface="Consolas"/>
              </a:rPr>
              <a:t>BRANCH</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3</a:t>
            </a:r>
            <a:r>
              <a:rPr sz="2000" i="0">
                <a:solidFill>
                  <a:srgbClr val="E8EDF2"/>
                </a:solidFill>
                <a:latin typeface="Consolas"/>
              </a:rPr>
              <a:t>         </a:t>
            </a:r>
            <a:r>
              <a:rPr sz="2000" i="1">
                <a:solidFill>
                  <a:srgbClr val="8795A1"/>
                </a:solidFill>
                <a:latin typeface="Consolas"/>
              </a:rPr>
              <a:t># hold, concede, swap</a:t>
            </a:r>
          </a:p>
          <a:p>
            <a:pPr>
              <a:lnSpc>
                <a:spcPct val="100000"/>
              </a:lnSpc>
              <a:spcAft>
                <a:spcPts val="0"/>
              </a:spcAft>
            </a:pPr>
            <a:r>
              <a:rPr sz="2000" i="0">
                <a:solidFill>
                  <a:srgbClr val="E8EDF2"/>
                </a:solidFill>
                <a:latin typeface="Consolas"/>
              </a:rPr>
              <a:t>OPTIONS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hold</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concede</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swap</a:t>
            </a:r>
            <a:r>
              <a:rPr sz="2000" i="0">
                <a:solidFill>
                  <a:srgbClr val="7DCEA0"/>
                </a:solidFill>
                <a:latin typeface="Consolas"/>
              </a:rPr>
              <a:t>"</a:t>
            </a:r>
            <a:r>
              <a:rPr sz="2000" i="0">
                <a:solidFill>
                  <a:srgbClr val="AEB6BF"/>
                </a:solidFill>
                <a:latin typeface="Consolas"/>
              </a:rPr>
              <a:t>)</a:t>
            </a:r>
          </a:p>
        </p:txBody>
      </p:sp>
      <p:sp>
        <p:nvSpPr>
          <p:cNvPr id="14" name="!!code-num"/>
          <p:cNvSpPr txBox="1"/>
          <p:nvPr/>
        </p:nvSpPr>
        <p:spPr>
          <a:xfrm>
            <a:off x="768096" y="2066543"/>
            <a:ext cx="393192" cy="40721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a:p>
            <a:pPr algn="r">
              <a:lnSpc>
                <a:spcPct val="100000"/>
              </a:lnSpc>
            </a:pPr>
            <a:r>
              <a:rPr sz="2000">
                <a:solidFill>
                  <a:srgbClr val="4F5D6A"/>
                </a:solidFill>
                <a:latin typeface="Consolas"/>
              </a:rPr>
              <a:t>7</a:t>
            </a:r>
          </a:p>
          <a:p>
            <a:pPr algn="r">
              <a:lnSpc>
                <a:spcPct val="100000"/>
              </a:lnSpc>
            </a:pPr>
            <a:r>
              <a:rPr sz="2000">
                <a:solidFill>
                  <a:srgbClr val="4F5D6A"/>
                </a:solidFill>
                <a:latin typeface="Consolas"/>
              </a:rPr>
              <a:t>8</a:t>
            </a:r>
          </a:p>
          <a:p>
            <a:pPr algn="r">
              <a:lnSpc>
                <a:spcPct val="100000"/>
              </a:lnSpc>
            </a:pPr>
            <a:r>
              <a:rPr sz="2000">
                <a:solidFill>
                  <a:srgbClr val="4F5D6A"/>
                </a:solidFill>
                <a:latin typeface="Consolas"/>
              </a:rPr>
              <a:t>9</a:t>
            </a:r>
          </a:p>
          <a:p>
            <a:pPr algn="r">
              <a:lnSpc>
                <a:spcPct val="100000"/>
              </a:lnSpc>
            </a:pPr>
            <a:r>
              <a:rPr sz="2000">
                <a:solidFill>
                  <a:srgbClr val="4F5D6A"/>
                </a:solidFill>
                <a:latin typeface="Consolas"/>
              </a:rPr>
              <a:t>10</a:t>
            </a:r>
          </a:p>
          <a:p>
            <a:pPr algn="r">
              <a:lnSpc>
                <a:spcPct val="100000"/>
              </a:lnSpc>
            </a:pPr>
            <a:r>
              <a:rPr sz="2000">
                <a:solidFill>
                  <a:srgbClr val="4F5D6A"/>
                </a:solidFill>
                <a:latin typeface="Consolas"/>
              </a:rPr>
              <a:t>11</a:t>
            </a:r>
          </a:p>
          <a:p>
            <a:pPr algn="r">
              <a:lnSpc>
                <a:spcPct val="100000"/>
              </a:lnSpc>
            </a:pPr>
            <a:r>
              <a:rPr sz="2000">
                <a:solidFill>
                  <a:srgbClr val="4F5D6A"/>
                </a:solidFill>
                <a:latin typeface="Consolas"/>
              </a:rPr>
              <a:t>12</a:t>
            </a:r>
          </a:p>
          <a:p>
            <a:pPr algn="r">
              <a:lnSpc>
                <a:spcPct val="100000"/>
              </a:lnSpc>
            </a:pPr>
            <a:r>
              <a:rPr sz="2000">
                <a:solidFill>
                  <a:srgbClr val="4F5D6A"/>
                </a:solidFill>
                <a:latin typeface="Consolas"/>
              </a:rPr>
              <a:t>13</a:t>
            </a:r>
          </a:p>
          <a:p>
            <a:pPr algn="r">
              <a:lnSpc>
                <a:spcPct val="100000"/>
              </a:lnSpc>
            </a:pPr>
            <a:r>
              <a:rPr sz="2000">
                <a:solidFill>
                  <a:srgbClr val="4F5D6A"/>
                </a:solidFill>
                <a:latin typeface="Consolas"/>
              </a:rPr>
              <a:t>14</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47382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Minimax and Alpha–Beta on a Slot Negotiation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13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F1520570-5096-40DD-BD10-FB05E8F0096C}" type="slidenum">
              <a:rPr lang="en-GB" sz="1000">
                <a:solidFill>
                  <a:srgbClr val="8795A1"/>
                </a:solidFill>
                <a:latin typeface="Segoe UI"/>
              </a:rPr>
              <a:t>23</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89704"/>
          </a:xfrm>
          <a:prstGeom prst="roundRect">
            <a:avLst>
              <a:gd name="adj" fmla="val 20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code/ch08_minimax_alpha_beta.py</a:t>
            </a:r>
          </a:p>
        </p:txBody>
      </p:sp>
      <p:sp>
        <p:nvSpPr>
          <p:cNvPr id="13" name="!!code-text" descr="def build(seed=7): &quot;&quot;&quot;Leaf utilities to us, in days of delay avoided.&quot;&quot;&quot; rng = random.Random(seed) leaves = {} def rec(path): if len(path) == DEPTH: leaves[path] = rng.randrange(-20, 21) return for m in range(BRANCH): rec(path + (m,)) rec(()) return leaves LEAVES = build()"/>
          <p:cNvSpPr txBox="1"/>
          <p:nvPr/>
        </p:nvSpPr>
        <p:spPr>
          <a:xfrm>
            <a:off x="1362456" y="2066543"/>
            <a:ext cx="9987991" cy="3995928"/>
          </a:xfrm>
          <a:prstGeom prst="rect">
            <a:avLst/>
          </a:prstGeom>
          <a:noFill/>
        </p:spPr>
        <p:txBody>
          <a:bodyPr wrap="none" anchor="t" lIns="0" rIns="0" tIns="0" bIns="0">
            <a:noAutofit/>
          </a:bodyPr>
          <a:lstStyle/>
          <a:p>
            <a:pPr>
              <a:lnSpc>
                <a:spcPct val="100000"/>
              </a:lnSpc>
              <a:spcAft>
                <a:spcPts val="0"/>
              </a:spcAft>
            </a:pP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build</a:t>
            </a:r>
            <a:r>
              <a:rPr sz="1500" i="0">
                <a:solidFill>
                  <a:srgbClr val="AEB6BF"/>
                </a:solidFill>
                <a:latin typeface="Consolas"/>
              </a:rPr>
              <a:t>(</a:t>
            </a:r>
            <a:r>
              <a:rPr sz="1500" i="0">
                <a:solidFill>
                  <a:srgbClr val="E8EDF2"/>
                </a:solidFill>
                <a:latin typeface="Consolas"/>
              </a:rPr>
              <a:t>seed</a:t>
            </a:r>
            <a:r>
              <a:rPr sz="1500" i="0">
                <a:solidFill>
                  <a:srgbClr val="AEB6BF"/>
                </a:solidFill>
                <a:latin typeface="Consolas"/>
              </a:rPr>
              <a:t>=</a:t>
            </a:r>
            <a:r>
              <a:rPr sz="1500" i="0">
                <a:solidFill>
                  <a:srgbClr val="F7DC6F"/>
                </a:solidFill>
                <a:latin typeface="Consolas"/>
              </a:rPr>
              <a:t>7</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"""Leaf utilities to us, in days of delay avoided."""</a:t>
            </a:r>
          </a:p>
          <a:p>
            <a:pPr>
              <a:lnSpc>
                <a:spcPct val="100000"/>
              </a:lnSpc>
              <a:spcAft>
                <a:spcPts val="0"/>
              </a:spcAft>
            </a:pPr>
            <a:r>
              <a:rPr sz="1500" i="0">
                <a:solidFill>
                  <a:srgbClr val="E8EDF2"/>
                </a:solidFill>
                <a:latin typeface="Consolas"/>
              </a:rPr>
              <a:t>    </a:t>
            </a:r>
            <a:r>
              <a:rPr sz="1500" i="0">
                <a:solidFill>
                  <a:srgbClr val="E8EDF2"/>
                </a:solidFill>
                <a:latin typeface="Consolas"/>
              </a:rPr>
              <a:t>rng</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random</a:t>
            </a:r>
            <a:r>
              <a:rPr sz="1500" i="0">
                <a:solidFill>
                  <a:srgbClr val="AEB6BF"/>
                </a:solidFill>
                <a:latin typeface="Consolas"/>
              </a:rPr>
              <a:t>.</a:t>
            </a:r>
            <a:r>
              <a:rPr sz="1500" i="0">
                <a:solidFill>
                  <a:srgbClr val="E8EDF2"/>
                </a:solidFill>
                <a:latin typeface="Consolas"/>
              </a:rPr>
              <a:t>Random</a:t>
            </a:r>
            <a:r>
              <a:rPr sz="1500" i="0">
                <a:solidFill>
                  <a:srgbClr val="AEB6BF"/>
                </a:solidFill>
                <a:latin typeface="Consolas"/>
              </a:rPr>
              <a:t>(</a:t>
            </a:r>
            <a:r>
              <a:rPr sz="1500" i="0">
                <a:solidFill>
                  <a:srgbClr val="E8EDF2"/>
                </a:solidFill>
                <a:latin typeface="Consolas"/>
              </a:rPr>
              <a:t>seed</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leaves</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    </a:t>
            </a: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rec</a:t>
            </a:r>
            <a:r>
              <a:rPr sz="1500" i="0">
                <a:solidFill>
                  <a:srgbClr val="AEB6BF"/>
                </a:solidFill>
                <a:latin typeface="Consolas"/>
              </a:rPr>
              <a:t>(</a:t>
            </a:r>
            <a:r>
              <a:rPr sz="1500" i="0">
                <a:solidFill>
                  <a:srgbClr val="E8EDF2"/>
                </a:solidFill>
                <a:latin typeface="Consolas"/>
              </a:rPr>
              <a:t>path</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C39BD3"/>
                </a:solidFill>
                <a:latin typeface="Consolas"/>
              </a:rPr>
              <a:t>len</a:t>
            </a:r>
            <a:r>
              <a:rPr sz="1500" i="0">
                <a:solidFill>
                  <a:srgbClr val="AEB6BF"/>
                </a:solidFill>
                <a:latin typeface="Consolas"/>
              </a:rPr>
              <a:t>(</a:t>
            </a:r>
            <a:r>
              <a:rPr sz="1500" i="0">
                <a:solidFill>
                  <a:srgbClr val="E8EDF2"/>
                </a:solidFill>
                <a:latin typeface="Consolas"/>
              </a:rPr>
              <a:t>path</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DEPTH</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leaves</a:t>
            </a:r>
            <a:r>
              <a:rPr sz="1500" i="0">
                <a:solidFill>
                  <a:srgbClr val="AEB6BF"/>
                </a:solidFill>
                <a:latin typeface="Consolas"/>
              </a:rPr>
              <a:t>[</a:t>
            </a:r>
            <a:r>
              <a:rPr sz="1500" i="0">
                <a:solidFill>
                  <a:srgbClr val="E8EDF2"/>
                </a:solidFill>
                <a:latin typeface="Consolas"/>
              </a:rPr>
              <a:t>path</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rng</a:t>
            </a:r>
            <a:r>
              <a:rPr sz="1500" i="0">
                <a:solidFill>
                  <a:srgbClr val="AEB6BF"/>
                </a:solidFill>
                <a:latin typeface="Consolas"/>
              </a:rPr>
              <a:t>.</a:t>
            </a:r>
            <a:r>
              <a:rPr sz="1500" i="0">
                <a:solidFill>
                  <a:srgbClr val="E8EDF2"/>
                </a:solidFill>
                <a:latin typeface="Consolas"/>
              </a:rPr>
              <a:t>randrange</a:t>
            </a:r>
            <a:r>
              <a:rPr sz="1500" i="0">
                <a:solidFill>
                  <a:srgbClr val="AEB6BF"/>
                </a:solidFill>
                <a:latin typeface="Consolas"/>
              </a:rPr>
              <a:t>(</a:t>
            </a:r>
            <a:r>
              <a:rPr sz="1500" i="0">
                <a:solidFill>
                  <a:srgbClr val="AEB6BF"/>
                </a:solidFill>
                <a:latin typeface="Consolas"/>
              </a:rPr>
              <a:t>-</a:t>
            </a:r>
            <a:r>
              <a:rPr sz="1500" i="0">
                <a:solidFill>
                  <a:srgbClr val="F7DC6F"/>
                </a:solidFill>
                <a:latin typeface="Consolas"/>
              </a:rPr>
              <a:t>20</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21</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p>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m</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C39BD3"/>
                </a:solidFill>
                <a:latin typeface="Consolas"/>
              </a:rPr>
              <a:t>range</a:t>
            </a:r>
            <a:r>
              <a:rPr sz="1500" i="0">
                <a:solidFill>
                  <a:srgbClr val="AEB6BF"/>
                </a:solidFill>
                <a:latin typeface="Consolas"/>
              </a:rPr>
              <a:t>(</a:t>
            </a:r>
            <a:r>
              <a:rPr sz="1500" i="0">
                <a:solidFill>
                  <a:srgbClr val="E8EDF2"/>
                </a:solidFill>
                <a:latin typeface="Consolas"/>
              </a:rPr>
              <a:t>BRANCH</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rec</a:t>
            </a:r>
            <a:r>
              <a:rPr sz="1500" i="0">
                <a:solidFill>
                  <a:srgbClr val="AEB6BF"/>
                </a:solidFill>
                <a:latin typeface="Consolas"/>
              </a:rPr>
              <a:t>(</a:t>
            </a:r>
            <a:r>
              <a:rPr sz="1500" i="0">
                <a:solidFill>
                  <a:srgbClr val="E8EDF2"/>
                </a:solidFill>
                <a:latin typeface="Consolas"/>
              </a:rPr>
              <a:t>path</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m</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    </a:t>
            </a:r>
            <a:r>
              <a:rPr sz="1500" i="0">
                <a:solidFill>
                  <a:srgbClr val="E8EDF2"/>
                </a:solidFill>
                <a:latin typeface="Consolas"/>
              </a:rPr>
              <a:t>rec</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E8EDF2"/>
                </a:solidFill>
                <a:latin typeface="Consolas"/>
              </a:rPr>
              <a:t>leaves</a:t>
            </a:r>
          </a:p>
          <a:p>
            <a:pPr>
              <a:lnSpc>
                <a:spcPct val="100000"/>
              </a:lnSpc>
              <a:spcAft>
                <a:spcPts val="0"/>
              </a:spcAft>
            </a:pPr>
            <a:r>
              <a:rPr sz="1500">
                <a:latin typeface="Consolas"/>
              </a:rPr>
              <a:t> </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LEAVES</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build</a:t>
            </a:r>
            <a:r>
              <a:rPr sz="1500" i="0">
                <a:solidFill>
                  <a:srgbClr val="AEB6BF"/>
                </a:solidFill>
                <a:latin typeface="Consolas"/>
              </a:rPr>
              <a:t>(</a:t>
            </a:r>
            <a:r>
              <a:rPr sz="1500" i="0">
                <a:solidFill>
                  <a:srgbClr val="AEB6BF"/>
                </a:solidFill>
                <a:latin typeface="Consolas"/>
              </a:rPr>
              <a:t>)</a:t>
            </a:r>
          </a:p>
        </p:txBody>
      </p:sp>
      <p:sp>
        <p:nvSpPr>
          <p:cNvPr id="14" name="!!code-num"/>
          <p:cNvSpPr txBox="1"/>
          <p:nvPr/>
        </p:nvSpPr>
        <p:spPr>
          <a:xfrm>
            <a:off x="768096" y="2066543"/>
            <a:ext cx="393192" cy="3995928"/>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17</a:t>
            </a:r>
          </a:p>
          <a:p>
            <a:pPr algn="r">
              <a:lnSpc>
                <a:spcPct val="100000"/>
              </a:lnSpc>
            </a:pPr>
            <a:r>
              <a:rPr sz="1500">
                <a:solidFill>
                  <a:srgbClr val="4F5D6A"/>
                </a:solidFill>
                <a:latin typeface="Consolas"/>
              </a:rPr>
              <a:t>18</a:t>
            </a:r>
          </a:p>
          <a:p>
            <a:pPr algn="r">
              <a:lnSpc>
                <a:spcPct val="100000"/>
              </a:lnSpc>
            </a:pPr>
            <a:r>
              <a:rPr sz="1500">
                <a:solidFill>
                  <a:srgbClr val="4F5D6A"/>
                </a:solidFill>
                <a:latin typeface="Consolas"/>
              </a:rPr>
              <a:t>19</a:t>
            </a:r>
          </a:p>
          <a:p>
            <a:pPr algn="r">
              <a:lnSpc>
                <a:spcPct val="100000"/>
              </a:lnSpc>
            </a:pPr>
            <a:r>
              <a:rPr sz="1500">
                <a:solidFill>
                  <a:srgbClr val="4F5D6A"/>
                </a:solidFill>
                <a:latin typeface="Consolas"/>
              </a:rPr>
              <a:t>20</a:t>
            </a:r>
          </a:p>
          <a:p>
            <a:pPr algn="r">
              <a:lnSpc>
                <a:spcPct val="100000"/>
              </a:lnSpc>
            </a:pPr>
            <a:r>
              <a:rPr sz="1500">
                <a:solidFill>
                  <a:srgbClr val="4F5D6A"/>
                </a:solidFill>
                <a:latin typeface="Consolas"/>
              </a:rPr>
              <a:t>21</a:t>
            </a:r>
          </a:p>
          <a:p>
            <a:pPr algn="r">
              <a:lnSpc>
                <a:spcPct val="100000"/>
              </a:lnSpc>
            </a:pPr>
            <a:r>
              <a:rPr sz="1500">
                <a:solidFill>
                  <a:srgbClr val="4F5D6A"/>
                </a:solidFill>
                <a:latin typeface="Consolas"/>
              </a:rPr>
              <a:t>22</a:t>
            </a:r>
          </a:p>
          <a:p>
            <a:pPr algn="r">
              <a:lnSpc>
                <a:spcPct val="100000"/>
              </a:lnSpc>
            </a:pPr>
            <a:r>
              <a:rPr sz="1500">
                <a:solidFill>
                  <a:srgbClr val="4F5D6A"/>
                </a:solidFill>
                <a:latin typeface="Consolas"/>
              </a:rPr>
              <a:t>23</a:t>
            </a:r>
          </a:p>
          <a:p>
            <a:pPr algn="r">
              <a:lnSpc>
                <a:spcPct val="100000"/>
              </a:lnSpc>
            </a:pPr>
            <a:r>
              <a:rPr sz="1500">
                <a:solidFill>
                  <a:srgbClr val="4F5D6A"/>
                </a:solidFill>
                <a:latin typeface="Consolas"/>
              </a:rPr>
              <a:t>24</a:t>
            </a:r>
          </a:p>
          <a:p>
            <a:pPr algn="r">
              <a:lnSpc>
                <a:spcPct val="100000"/>
              </a:lnSpc>
            </a:pPr>
            <a:r>
              <a:rPr sz="1500">
                <a:solidFill>
                  <a:srgbClr val="4F5D6A"/>
                </a:solidFill>
                <a:latin typeface="Consolas"/>
              </a:rPr>
              <a:t>25</a:t>
            </a:r>
          </a:p>
          <a:p>
            <a:pPr algn="r">
              <a:lnSpc>
                <a:spcPct val="100000"/>
              </a:lnSpc>
            </a:pPr>
            <a:r>
              <a:rPr sz="1500">
                <a:solidFill>
                  <a:srgbClr val="4F5D6A"/>
                </a:solidFill>
                <a:latin typeface="Consolas"/>
              </a:rPr>
              <a:t>26</a:t>
            </a:r>
          </a:p>
          <a:p>
            <a:pPr algn="r">
              <a:lnSpc>
                <a:spcPct val="100000"/>
              </a:lnSpc>
            </a:pPr>
            <a:r>
              <a:rPr sz="1500">
                <a:solidFill>
                  <a:srgbClr val="4F5D6A"/>
                </a:solidFill>
                <a:latin typeface="Consolas"/>
              </a:rPr>
              <a:t>27</a:t>
            </a:r>
          </a:p>
          <a:p>
            <a:pPr algn="r">
              <a:lnSpc>
                <a:spcPct val="100000"/>
              </a:lnSpc>
            </a:pPr>
            <a:r>
              <a:rPr sz="1500">
                <a:solidFill>
                  <a:srgbClr val="4F5D6A"/>
                </a:solidFill>
                <a:latin typeface="Consolas"/>
              </a:rPr>
              <a:t>28</a:t>
            </a:r>
          </a:p>
          <a:p>
            <a:pPr algn="r">
              <a:lnSpc>
                <a:spcPct val="100000"/>
              </a:lnSpc>
            </a:pPr>
            <a:r>
              <a:rPr sz="1500">
                <a:solidFill>
                  <a:srgbClr val="4F5D6A"/>
                </a:solidFill>
                <a:latin typeface="Consolas"/>
              </a:rPr>
              <a:t>29</a:t>
            </a:r>
          </a:p>
          <a:p>
            <a:pPr algn="r">
              <a:lnSpc>
                <a:spcPct val="100000"/>
              </a:lnSpc>
            </a:pPr>
            <a:r>
              <a:rPr sz="1500">
                <a:solidFill>
                  <a:srgbClr val="4F5D6A"/>
                </a:solidFill>
                <a:latin typeface="Consolas"/>
              </a:rPr>
              <a:t>30</a:t>
            </a:r>
          </a:p>
          <a:p>
            <a:pPr algn="r">
              <a:lnSpc>
                <a:spcPct val="100000"/>
              </a:lnSpc>
            </a:pPr>
            <a:r>
              <a:rPr sz="1500">
                <a:solidFill>
                  <a:srgbClr val="4F5D6A"/>
                </a:solidFill>
                <a:latin typeface="Consolas"/>
              </a:rPr>
              <a:t>31</a:t>
            </a:r>
          </a:p>
          <a:p>
            <a:pPr algn="r">
              <a:lnSpc>
                <a:spcPct val="100000"/>
              </a:lnSpc>
            </a:pPr>
            <a:r>
              <a:rPr sz="1500">
                <a:solidFill>
                  <a:srgbClr val="4F5D6A"/>
                </a:solidFill>
                <a:latin typeface="Consolas"/>
              </a:rPr>
              <a:t>32</a:t>
            </a:r>
          </a:p>
          <a:p>
            <a:pPr algn="r">
              <a:lnSpc>
                <a:spcPct val="100000"/>
              </a:lnSpc>
            </a:pPr>
            <a:r>
              <a:rPr sz="1500">
                <a:solidFill>
                  <a:srgbClr val="4F5D6A"/>
                </a:solidFill>
                <a:latin typeface="Consolas"/>
              </a:rPr>
              <a:t>33</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72263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Minimax and Alpha–Beta on a Slot Negotiation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13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3E873E91-97B3-4BB3-83EF-C8A83ACABA40}" type="slidenum">
              <a:rPr lang="en-GB" sz="1000">
                <a:solidFill>
                  <a:srgbClr val="8795A1"/>
                </a:solidFill>
                <a:latin typeface="Segoe UI"/>
              </a:rPr>
              <a:t>24</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657344"/>
          </a:xfrm>
          <a:prstGeom prst="roundRect">
            <a:avLst>
              <a:gd name="adj" fmla="val 196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code/ch08_minimax_alpha_beta.py</a:t>
            </a:r>
          </a:p>
        </p:txBody>
      </p:sp>
      <p:sp>
        <p:nvSpPr>
          <p:cNvPr id="13" name="!!code-text" descr="class Counter: def __init__(self): self.evals = 0 # leaf evaluations: the expensive op self.nodes = 0 def minimax(path, maximising, c): c.nodes += 1 if len(path) == DEPTH: c.evals += 1 return LEAVES[path] vals = [minimax(path + (m,), not maximising, c) for m in range(BRANCH)] return max(vals) if maximising else min(vals) def true_value(path, maximising): &quot;&quot;&quot;An oracle, used only to build the best/worst orderings.&quot;&quot;&quot; return minimax(path, maximising, Counter())"/>
          <p:cNvSpPr txBox="1"/>
          <p:nvPr/>
        </p:nvSpPr>
        <p:spPr>
          <a:xfrm>
            <a:off x="1362456" y="2066543"/>
            <a:ext cx="9987991" cy="4163568"/>
          </a:xfrm>
          <a:prstGeom prst="rect">
            <a:avLst/>
          </a:prstGeom>
          <a:noFill/>
        </p:spPr>
        <p:txBody>
          <a:bodyPr wrap="none" anchor="t" lIns="0" rIns="0" tIns="0" bIns="0">
            <a:noAutofit/>
          </a:bodyPr>
          <a:lstStyle/>
          <a:p>
            <a:pPr>
              <a:lnSpc>
                <a:spcPct val="100000"/>
              </a:lnSpc>
              <a:spcAft>
                <a:spcPts val="0"/>
              </a:spcAft>
            </a:pPr>
            <a:r>
              <a:rPr sz="1400" i="0">
                <a:solidFill>
                  <a:srgbClr val="5DADE2"/>
                </a:solidFill>
                <a:latin typeface="Consolas"/>
              </a:rPr>
              <a:t>class</a:t>
            </a:r>
            <a:r>
              <a:rPr sz="1400" i="0">
                <a:solidFill>
                  <a:srgbClr val="E8EDF2"/>
                </a:solidFill>
                <a:latin typeface="Consolas"/>
              </a:rPr>
              <a:t> </a:t>
            </a:r>
            <a:r>
              <a:rPr sz="1400" i="0">
                <a:solidFill>
                  <a:srgbClr val="76D7C4"/>
                </a:solidFill>
                <a:latin typeface="Consolas"/>
              </a:rPr>
              <a:t>Counter</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__init__</a:t>
            </a:r>
            <a:r>
              <a:rPr sz="1400" i="0">
                <a:solidFill>
                  <a:srgbClr val="AEB6BF"/>
                </a:solidFill>
                <a:latin typeface="Consolas"/>
              </a:rPr>
              <a:t>(</a:t>
            </a:r>
            <a:r>
              <a:rPr sz="1400" i="0">
                <a:solidFill>
                  <a:srgbClr val="C39BD3"/>
                </a:solidFill>
                <a:latin typeface="Consolas"/>
              </a:rPr>
              <a:t>self</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self</a:t>
            </a:r>
            <a:r>
              <a:rPr sz="1400" i="0">
                <a:solidFill>
                  <a:srgbClr val="AEB6BF"/>
                </a:solidFill>
                <a:latin typeface="Consolas"/>
              </a:rPr>
              <a:t>.</a:t>
            </a:r>
            <a:r>
              <a:rPr sz="1400" i="0">
                <a:solidFill>
                  <a:srgbClr val="E8EDF2"/>
                </a:solidFill>
                <a:latin typeface="Consolas"/>
              </a:rPr>
              <a:t>evals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a:t>
            </a:r>
            <a:r>
              <a:rPr sz="1400" i="0">
                <a:solidFill>
                  <a:srgbClr val="E8EDF2"/>
                </a:solidFill>
                <a:latin typeface="Consolas"/>
              </a:rPr>
              <a:t>          </a:t>
            </a:r>
            <a:r>
              <a:rPr sz="1400" i="1">
                <a:solidFill>
                  <a:srgbClr val="8795A1"/>
                </a:solidFill>
                <a:latin typeface="Consolas"/>
              </a:rPr>
              <a:t># leaf evaluations: the expensive op</a:t>
            </a:r>
          </a:p>
          <a:p>
            <a:pPr>
              <a:lnSpc>
                <a:spcPct val="100000"/>
              </a:lnSpc>
              <a:spcAft>
                <a:spcPts val="0"/>
              </a:spcAft>
            </a:pPr>
            <a:r>
              <a:rPr sz="1400" i="0">
                <a:solidFill>
                  <a:srgbClr val="E8EDF2"/>
                </a:solidFill>
                <a:latin typeface="Consolas"/>
              </a:rPr>
              <a:t>        </a:t>
            </a:r>
            <a:r>
              <a:rPr sz="1400" i="0">
                <a:solidFill>
                  <a:srgbClr val="C39BD3"/>
                </a:solidFill>
                <a:latin typeface="Consolas"/>
              </a:rPr>
              <a:t>self</a:t>
            </a:r>
            <a:r>
              <a:rPr sz="1400" i="0">
                <a:solidFill>
                  <a:srgbClr val="AEB6BF"/>
                </a:solidFill>
                <a:latin typeface="Consolas"/>
              </a:rPr>
              <a:t>.</a:t>
            </a:r>
            <a:r>
              <a:rPr sz="1400" i="0">
                <a:solidFill>
                  <a:srgbClr val="E8EDF2"/>
                </a:solidFill>
                <a:latin typeface="Consolas"/>
              </a:rPr>
              <a:t>nodes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a:t>
            </a:r>
          </a:p>
          <a:p>
            <a:pPr>
              <a:lnSpc>
                <a:spcPct val="100000"/>
              </a:lnSpc>
              <a:spcAft>
                <a:spcPts val="0"/>
              </a:spcAft>
            </a:pPr>
            <a:r>
              <a:rPr sz="1400">
                <a:latin typeface="Consolas"/>
              </a:rPr>
              <a:t> </a:t>
            </a:r>
          </a:p>
          <a:p>
            <a:pPr>
              <a:lnSpc>
                <a:spcPct val="100000"/>
              </a:lnSpc>
              <a:spcAft>
                <a:spcPts val="0"/>
              </a:spcAft>
            </a:pPr>
            <a:r>
              <a:rPr sz="1400">
                <a:latin typeface="Consolas"/>
              </a:rPr>
              <a:t> </a:t>
            </a:r>
          </a:p>
          <a:p>
            <a:pPr>
              <a:lnSpc>
                <a:spcPct val="100000"/>
              </a:lnSpc>
              <a:spcAft>
                <a:spcPts val="0"/>
              </a:spcAft>
            </a:pP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minimax</a:t>
            </a:r>
            <a:r>
              <a:rPr sz="1400" i="0">
                <a:solidFill>
                  <a:srgbClr val="AEB6BF"/>
                </a:solidFill>
                <a:latin typeface="Consolas"/>
              </a:rPr>
              <a:t>(</a:t>
            </a:r>
            <a:r>
              <a:rPr sz="1400" i="0">
                <a:solidFill>
                  <a:srgbClr val="E8EDF2"/>
                </a:solidFill>
                <a:latin typeface="Consolas"/>
              </a:rPr>
              <a:t>path</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maximising</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E8EDF2"/>
                </a:solidFill>
                <a:latin typeface="Consolas"/>
              </a:rPr>
              <a:t>nodes</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C39BD3"/>
                </a:solidFill>
                <a:latin typeface="Consolas"/>
              </a:rPr>
              <a:t>len</a:t>
            </a:r>
            <a:r>
              <a:rPr sz="1400" i="0">
                <a:solidFill>
                  <a:srgbClr val="AEB6BF"/>
                </a:solidFill>
                <a:latin typeface="Consolas"/>
              </a:rPr>
              <a:t>(</a:t>
            </a:r>
            <a:r>
              <a:rPr sz="1400" i="0">
                <a:solidFill>
                  <a:srgbClr val="E8EDF2"/>
                </a:solidFill>
                <a:latin typeface="Consolas"/>
              </a:rPr>
              <a:t>path</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DEPTH</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E8EDF2"/>
                </a:solidFill>
                <a:latin typeface="Consolas"/>
              </a:rPr>
              <a:t>evals</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LEAVES</a:t>
            </a:r>
            <a:r>
              <a:rPr sz="1400" i="0">
                <a:solidFill>
                  <a:srgbClr val="AEB6BF"/>
                </a:solidFill>
                <a:latin typeface="Consolas"/>
              </a:rPr>
              <a:t>[</a:t>
            </a:r>
            <a:r>
              <a:rPr sz="1400" i="0">
                <a:solidFill>
                  <a:srgbClr val="E8EDF2"/>
                </a:solidFill>
                <a:latin typeface="Consolas"/>
              </a:rPr>
              <a:t>path</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vals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minimax</a:t>
            </a:r>
            <a:r>
              <a:rPr sz="1400" i="0">
                <a:solidFill>
                  <a:srgbClr val="AEB6BF"/>
                </a:solidFill>
                <a:latin typeface="Consolas"/>
              </a:rPr>
              <a:t>(</a:t>
            </a:r>
            <a:r>
              <a:rPr sz="1400" i="0">
                <a:solidFill>
                  <a:srgbClr val="E8EDF2"/>
                </a:solidFill>
                <a:latin typeface="Consolas"/>
              </a:rPr>
              <a:t>path</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m</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E8EDF2"/>
                </a:solidFill>
                <a:latin typeface="Consolas"/>
              </a:rPr>
              <a:t>maximising</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m</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C39BD3"/>
                </a:solidFill>
                <a:latin typeface="Consolas"/>
              </a:rPr>
              <a:t>range</a:t>
            </a:r>
            <a:r>
              <a:rPr sz="1400" i="0">
                <a:solidFill>
                  <a:srgbClr val="AEB6BF"/>
                </a:solidFill>
                <a:latin typeface="Consolas"/>
              </a:rPr>
              <a:t>(</a:t>
            </a:r>
            <a:r>
              <a:rPr sz="1400" i="0">
                <a:solidFill>
                  <a:srgbClr val="E8EDF2"/>
                </a:solidFill>
                <a:latin typeface="Consolas"/>
              </a:rPr>
              <a:t>BRANCH</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C39BD3"/>
                </a:solidFill>
                <a:latin typeface="Consolas"/>
              </a:rPr>
              <a:t>max</a:t>
            </a:r>
            <a:r>
              <a:rPr sz="1400" i="0">
                <a:solidFill>
                  <a:srgbClr val="AEB6BF"/>
                </a:solidFill>
                <a:latin typeface="Consolas"/>
              </a:rPr>
              <a:t>(</a:t>
            </a:r>
            <a:r>
              <a:rPr sz="1400" i="0">
                <a:solidFill>
                  <a:srgbClr val="E8EDF2"/>
                </a:solidFill>
                <a:latin typeface="Consolas"/>
              </a:rPr>
              <a:t>vals</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maximising</a:t>
            </a:r>
            <a:r>
              <a:rPr sz="1400" i="0">
                <a:solidFill>
                  <a:srgbClr val="E8EDF2"/>
                </a:solidFill>
                <a:latin typeface="Consolas"/>
              </a:rPr>
              <a:t> </a:t>
            </a:r>
            <a:r>
              <a:rPr sz="1400" i="0">
                <a:solidFill>
                  <a:srgbClr val="5DADE2"/>
                </a:solidFill>
                <a:latin typeface="Consolas"/>
              </a:rPr>
              <a:t>else</a:t>
            </a:r>
            <a:r>
              <a:rPr sz="1400" i="0">
                <a:solidFill>
                  <a:srgbClr val="E8EDF2"/>
                </a:solidFill>
                <a:latin typeface="Consolas"/>
              </a:rPr>
              <a:t> </a:t>
            </a:r>
            <a:r>
              <a:rPr sz="1400" i="0">
                <a:solidFill>
                  <a:srgbClr val="C39BD3"/>
                </a:solidFill>
                <a:latin typeface="Consolas"/>
              </a:rPr>
              <a:t>min</a:t>
            </a:r>
            <a:r>
              <a:rPr sz="1400" i="0">
                <a:solidFill>
                  <a:srgbClr val="AEB6BF"/>
                </a:solidFill>
                <a:latin typeface="Consolas"/>
              </a:rPr>
              <a:t>(</a:t>
            </a:r>
            <a:r>
              <a:rPr sz="1400" i="0">
                <a:solidFill>
                  <a:srgbClr val="E8EDF2"/>
                </a:solidFill>
                <a:latin typeface="Consolas"/>
              </a:rPr>
              <a:t>vals</a:t>
            </a:r>
            <a:r>
              <a:rPr sz="1400" i="0">
                <a:solidFill>
                  <a:srgbClr val="AEB6BF"/>
                </a:solidFill>
                <a:latin typeface="Consolas"/>
              </a:rPr>
              <a:t>)</a:t>
            </a:r>
          </a:p>
          <a:p>
            <a:pPr>
              <a:lnSpc>
                <a:spcPct val="100000"/>
              </a:lnSpc>
              <a:spcAft>
                <a:spcPts val="0"/>
              </a:spcAft>
            </a:pPr>
            <a:r>
              <a:rPr sz="1400">
                <a:latin typeface="Consolas"/>
              </a:rPr>
              <a:t> </a:t>
            </a:r>
          </a:p>
          <a:p>
            <a:pPr>
              <a:lnSpc>
                <a:spcPct val="100000"/>
              </a:lnSpc>
              <a:spcAft>
                <a:spcPts val="0"/>
              </a:spcAft>
            </a:pPr>
            <a:r>
              <a:rPr sz="1400">
                <a:latin typeface="Consolas"/>
              </a:rPr>
              <a:t> </a:t>
            </a:r>
          </a:p>
          <a:p>
            <a:pPr>
              <a:lnSpc>
                <a:spcPct val="100000"/>
              </a:lnSpc>
              <a:spcAft>
                <a:spcPts val="0"/>
              </a:spcAft>
            </a:pP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true_value</a:t>
            </a:r>
            <a:r>
              <a:rPr sz="1400" i="0">
                <a:solidFill>
                  <a:srgbClr val="AEB6BF"/>
                </a:solidFill>
                <a:latin typeface="Consolas"/>
              </a:rPr>
              <a:t>(</a:t>
            </a:r>
            <a:r>
              <a:rPr sz="1400" i="0">
                <a:solidFill>
                  <a:srgbClr val="E8EDF2"/>
                </a:solidFill>
                <a:latin typeface="Consolas"/>
              </a:rPr>
              <a:t>path</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maximising</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"""An oracle, used only to build the best/worst orderings."""</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minimax</a:t>
            </a:r>
            <a:r>
              <a:rPr sz="1400" i="0">
                <a:solidFill>
                  <a:srgbClr val="AEB6BF"/>
                </a:solidFill>
                <a:latin typeface="Consolas"/>
              </a:rPr>
              <a:t>(</a:t>
            </a:r>
            <a:r>
              <a:rPr sz="1400" i="0">
                <a:solidFill>
                  <a:srgbClr val="E8EDF2"/>
                </a:solidFill>
                <a:latin typeface="Consolas"/>
              </a:rPr>
              <a:t>path</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maximising</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Counter</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p:txBody>
      </p:sp>
      <p:sp>
        <p:nvSpPr>
          <p:cNvPr id="14" name="!!code-num"/>
          <p:cNvSpPr txBox="1"/>
          <p:nvPr/>
        </p:nvSpPr>
        <p:spPr>
          <a:xfrm>
            <a:off x="768096" y="2066543"/>
            <a:ext cx="393192" cy="4163568"/>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36</a:t>
            </a:r>
          </a:p>
          <a:p>
            <a:pPr algn="r">
              <a:lnSpc>
                <a:spcPct val="100000"/>
              </a:lnSpc>
            </a:pPr>
            <a:r>
              <a:rPr sz="1400">
                <a:solidFill>
                  <a:srgbClr val="4F5D6A"/>
                </a:solidFill>
                <a:latin typeface="Consolas"/>
              </a:rPr>
              <a:t>37</a:t>
            </a:r>
          </a:p>
          <a:p>
            <a:pPr algn="r">
              <a:lnSpc>
                <a:spcPct val="100000"/>
              </a:lnSpc>
            </a:pPr>
            <a:r>
              <a:rPr sz="1400">
                <a:solidFill>
                  <a:srgbClr val="4F5D6A"/>
                </a:solidFill>
                <a:latin typeface="Consolas"/>
              </a:rPr>
              <a:t>38</a:t>
            </a:r>
          </a:p>
          <a:p>
            <a:pPr algn="r">
              <a:lnSpc>
                <a:spcPct val="100000"/>
              </a:lnSpc>
            </a:pPr>
            <a:r>
              <a:rPr sz="1400">
                <a:solidFill>
                  <a:srgbClr val="4F5D6A"/>
                </a:solidFill>
                <a:latin typeface="Consolas"/>
              </a:rPr>
              <a:t>39</a:t>
            </a:r>
          </a:p>
          <a:p>
            <a:pPr algn="r">
              <a:lnSpc>
                <a:spcPct val="100000"/>
              </a:lnSpc>
            </a:pPr>
            <a:r>
              <a:rPr sz="1400">
                <a:solidFill>
                  <a:srgbClr val="4F5D6A"/>
                </a:solidFill>
                <a:latin typeface="Consolas"/>
              </a:rPr>
              <a:t>40</a:t>
            </a:r>
          </a:p>
          <a:p>
            <a:pPr algn="r">
              <a:lnSpc>
                <a:spcPct val="100000"/>
              </a:lnSpc>
            </a:pPr>
            <a:r>
              <a:rPr sz="1400">
                <a:solidFill>
                  <a:srgbClr val="4F5D6A"/>
                </a:solidFill>
                <a:latin typeface="Consolas"/>
              </a:rPr>
              <a:t>41</a:t>
            </a:r>
          </a:p>
          <a:p>
            <a:pPr algn="r">
              <a:lnSpc>
                <a:spcPct val="100000"/>
              </a:lnSpc>
            </a:pPr>
            <a:r>
              <a:rPr sz="1400">
                <a:solidFill>
                  <a:srgbClr val="4F5D6A"/>
                </a:solidFill>
                <a:latin typeface="Consolas"/>
              </a:rPr>
              <a:t>42</a:t>
            </a:r>
          </a:p>
          <a:p>
            <a:pPr algn="r">
              <a:lnSpc>
                <a:spcPct val="100000"/>
              </a:lnSpc>
            </a:pPr>
            <a:r>
              <a:rPr sz="1400">
                <a:solidFill>
                  <a:srgbClr val="4F5D6A"/>
                </a:solidFill>
                <a:latin typeface="Consolas"/>
              </a:rPr>
              <a:t>43</a:t>
            </a:r>
          </a:p>
          <a:p>
            <a:pPr algn="r">
              <a:lnSpc>
                <a:spcPct val="100000"/>
              </a:lnSpc>
            </a:pPr>
            <a:r>
              <a:rPr sz="1400">
                <a:solidFill>
                  <a:srgbClr val="4F5D6A"/>
                </a:solidFill>
                <a:latin typeface="Consolas"/>
              </a:rPr>
              <a:t>44</a:t>
            </a:r>
          </a:p>
          <a:p>
            <a:pPr algn="r">
              <a:lnSpc>
                <a:spcPct val="100000"/>
              </a:lnSpc>
            </a:pPr>
            <a:r>
              <a:rPr sz="1400">
                <a:solidFill>
                  <a:srgbClr val="4F5D6A"/>
                </a:solidFill>
                <a:latin typeface="Consolas"/>
              </a:rPr>
              <a:t>45</a:t>
            </a:r>
          </a:p>
          <a:p>
            <a:pPr algn="r">
              <a:lnSpc>
                <a:spcPct val="100000"/>
              </a:lnSpc>
            </a:pPr>
            <a:r>
              <a:rPr sz="1400">
                <a:solidFill>
                  <a:srgbClr val="4F5D6A"/>
                </a:solidFill>
                <a:latin typeface="Consolas"/>
              </a:rPr>
              <a:t>46</a:t>
            </a:r>
          </a:p>
          <a:p>
            <a:pPr algn="r">
              <a:lnSpc>
                <a:spcPct val="100000"/>
              </a:lnSpc>
            </a:pPr>
            <a:r>
              <a:rPr sz="1400">
                <a:solidFill>
                  <a:srgbClr val="4F5D6A"/>
                </a:solidFill>
                <a:latin typeface="Consolas"/>
              </a:rPr>
              <a:t>47</a:t>
            </a:r>
          </a:p>
          <a:p>
            <a:pPr algn="r">
              <a:lnSpc>
                <a:spcPct val="100000"/>
              </a:lnSpc>
            </a:pPr>
            <a:r>
              <a:rPr sz="1400">
                <a:solidFill>
                  <a:srgbClr val="4F5D6A"/>
                </a:solidFill>
                <a:latin typeface="Consolas"/>
              </a:rPr>
              <a:t>48</a:t>
            </a:r>
          </a:p>
          <a:p>
            <a:pPr algn="r">
              <a:lnSpc>
                <a:spcPct val="100000"/>
              </a:lnSpc>
            </a:pPr>
            <a:r>
              <a:rPr sz="1400">
                <a:solidFill>
                  <a:srgbClr val="4F5D6A"/>
                </a:solidFill>
                <a:latin typeface="Consolas"/>
              </a:rPr>
              <a:t>49</a:t>
            </a:r>
          </a:p>
          <a:p>
            <a:pPr algn="r">
              <a:lnSpc>
                <a:spcPct val="100000"/>
              </a:lnSpc>
            </a:pPr>
            <a:r>
              <a:rPr sz="1400">
                <a:solidFill>
                  <a:srgbClr val="4F5D6A"/>
                </a:solidFill>
                <a:latin typeface="Consolas"/>
              </a:rPr>
              <a:t>50</a:t>
            </a:r>
          </a:p>
          <a:p>
            <a:pPr algn="r">
              <a:lnSpc>
                <a:spcPct val="100000"/>
              </a:lnSpc>
            </a:pPr>
            <a:r>
              <a:rPr sz="1400">
                <a:solidFill>
                  <a:srgbClr val="4F5D6A"/>
                </a:solidFill>
                <a:latin typeface="Consolas"/>
              </a:rPr>
              <a:t>51</a:t>
            </a:r>
          </a:p>
          <a:p>
            <a:pPr algn="r">
              <a:lnSpc>
                <a:spcPct val="100000"/>
              </a:lnSpc>
            </a:pPr>
            <a:r>
              <a:rPr sz="1400">
                <a:solidFill>
                  <a:srgbClr val="4F5D6A"/>
                </a:solidFill>
                <a:latin typeface="Consolas"/>
              </a:rPr>
              <a:t>52</a:t>
            </a:r>
          </a:p>
          <a:p>
            <a:pPr algn="r">
              <a:lnSpc>
                <a:spcPct val="100000"/>
              </a:lnSpc>
            </a:pPr>
            <a:r>
              <a:rPr sz="1400">
                <a:solidFill>
                  <a:srgbClr val="4F5D6A"/>
                </a:solidFill>
                <a:latin typeface="Consolas"/>
              </a:rPr>
              <a:t>53</a:t>
            </a:r>
          </a:p>
          <a:p>
            <a:pPr algn="r">
              <a:lnSpc>
                <a:spcPct val="100000"/>
              </a:lnSpc>
            </a:pPr>
            <a:r>
              <a:rPr sz="1400">
                <a:solidFill>
                  <a:srgbClr val="4F5D6A"/>
                </a:solidFill>
                <a:latin typeface="Consolas"/>
              </a:rPr>
              <a:t>54</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9714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Minimax and Alpha–Beta on a Slot Negotiation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13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8DD9F1FA-F522-451A-A4CE-B915D42F295A}" type="slidenum">
              <a:rPr lang="en-GB" sz="1000">
                <a:solidFill>
                  <a:srgbClr val="8795A1"/>
                </a:solidFill>
                <a:latin typeface="Segoe UI"/>
              </a:rPr>
              <a:t>25</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2798063"/>
          </a:xfrm>
          <a:prstGeom prst="roundRect">
            <a:avLst>
              <a:gd name="adj" fmla="val 3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code/ch08_minimax_alpha_beta.py</a:t>
            </a:r>
          </a:p>
        </p:txBody>
      </p:sp>
      <p:sp>
        <p:nvSpPr>
          <p:cNvPr id="13" name="!!code-text" descr="def ordered(path, maximising, how): ms = list(range(BRANCH)) if how == &quot;natural&quot;: return ms # 'best' puts the strongest move first, 'worst' puts it last rev = maximising if how == &quot;best&quot; else not maximising return sorted(ms, key=lambda m: true_value(path + (m,), not maximising), reverse=rev)"/>
          <p:cNvSpPr txBox="1"/>
          <p:nvPr/>
        </p:nvSpPr>
        <p:spPr>
          <a:xfrm>
            <a:off x="1362456" y="2066543"/>
            <a:ext cx="9987991" cy="2304287"/>
          </a:xfrm>
          <a:prstGeom prst="rect">
            <a:avLst/>
          </a:prstGeom>
          <a:noFill/>
        </p:spPr>
        <p:txBody>
          <a:bodyPr wrap="none" anchor="t" lIns="0" rIns="0" tIns="0" bIns="0">
            <a:noAutofit/>
          </a:bodyPr>
          <a:lstStyle/>
          <a:p>
            <a:pPr>
              <a:lnSpc>
                <a:spcPct val="100000"/>
              </a:lnSpc>
              <a:spcAft>
                <a:spcPts val="0"/>
              </a:spcAft>
            </a:pPr>
            <a:r>
              <a:rPr sz="1800" i="0">
                <a:solidFill>
                  <a:srgbClr val="5DADE2"/>
                </a:solidFill>
                <a:latin typeface="Consolas"/>
              </a:rPr>
              <a:t>def</a:t>
            </a:r>
            <a:r>
              <a:rPr sz="1800" i="0">
                <a:solidFill>
                  <a:srgbClr val="E8EDF2"/>
                </a:solidFill>
                <a:latin typeface="Consolas"/>
              </a:rPr>
              <a:t> </a:t>
            </a:r>
            <a:r>
              <a:rPr sz="1800" i="0">
                <a:solidFill>
                  <a:srgbClr val="C39BD3"/>
                </a:solidFill>
                <a:latin typeface="Consolas"/>
              </a:rPr>
              <a:t>ordered</a:t>
            </a:r>
            <a:r>
              <a:rPr sz="1800" i="0">
                <a:solidFill>
                  <a:srgbClr val="AEB6BF"/>
                </a:solidFill>
                <a:latin typeface="Consolas"/>
              </a:rPr>
              <a:t>(</a:t>
            </a:r>
            <a:r>
              <a:rPr sz="1800" i="0">
                <a:solidFill>
                  <a:srgbClr val="E8EDF2"/>
                </a:solidFill>
                <a:latin typeface="Consolas"/>
              </a:rPr>
              <a:t>path</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maximising</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how</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ms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list</a:t>
            </a:r>
            <a:r>
              <a:rPr sz="1800" i="0">
                <a:solidFill>
                  <a:srgbClr val="AEB6BF"/>
                </a:solidFill>
                <a:latin typeface="Consolas"/>
              </a:rPr>
              <a:t>(</a:t>
            </a:r>
            <a:r>
              <a:rPr sz="1800" i="0">
                <a:solidFill>
                  <a:srgbClr val="C39BD3"/>
                </a:solidFill>
                <a:latin typeface="Consolas"/>
              </a:rPr>
              <a:t>range</a:t>
            </a:r>
            <a:r>
              <a:rPr sz="1800" i="0">
                <a:solidFill>
                  <a:srgbClr val="AEB6BF"/>
                </a:solidFill>
                <a:latin typeface="Consolas"/>
              </a:rPr>
              <a:t>(</a:t>
            </a:r>
            <a:r>
              <a:rPr sz="1800" i="0">
                <a:solidFill>
                  <a:srgbClr val="E8EDF2"/>
                </a:solidFill>
                <a:latin typeface="Consolas"/>
              </a:rPr>
              <a:t>BRANCH</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how</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natural</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E8EDF2"/>
                </a:solidFill>
                <a:latin typeface="Consolas"/>
              </a:rPr>
              <a:t>ms</a:t>
            </a:r>
          </a:p>
          <a:p>
            <a:pPr>
              <a:lnSpc>
                <a:spcPct val="100000"/>
              </a:lnSpc>
              <a:spcAft>
                <a:spcPts val="0"/>
              </a:spcAft>
            </a:pPr>
            <a:r>
              <a:rPr sz="1800" i="0">
                <a:solidFill>
                  <a:srgbClr val="E8EDF2"/>
                </a:solidFill>
                <a:latin typeface="Consolas"/>
              </a:rPr>
              <a:t>    </a:t>
            </a:r>
            <a:r>
              <a:rPr sz="1800" i="1">
                <a:solidFill>
                  <a:srgbClr val="8795A1"/>
                </a:solidFill>
                <a:latin typeface="Consolas"/>
              </a:rPr>
              <a:t># 'best' puts the strongest move first, 'worst' puts it last</a:t>
            </a:r>
          </a:p>
          <a:p>
            <a:pPr>
              <a:lnSpc>
                <a:spcPct val="100000"/>
              </a:lnSpc>
              <a:spcAft>
                <a:spcPts val="0"/>
              </a:spcAft>
            </a:pPr>
            <a:r>
              <a:rPr sz="1800" i="0">
                <a:solidFill>
                  <a:srgbClr val="E8EDF2"/>
                </a:solidFill>
                <a:latin typeface="Consolas"/>
              </a:rPr>
              <a:t>    </a:t>
            </a:r>
            <a:r>
              <a:rPr sz="1800" i="0">
                <a:solidFill>
                  <a:srgbClr val="E8EDF2"/>
                </a:solidFill>
                <a:latin typeface="Consolas"/>
              </a:rPr>
              <a:t>rev</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maximising</a:t>
            </a: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how</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best</a:t>
            </a:r>
            <a:r>
              <a:rPr sz="1800" i="0">
                <a:solidFill>
                  <a:srgbClr val="7DCEA0"/>
                </a:solidFill>
                <a:latin typeface="Consolas"/>
              </a:rPr>
              <a:t>"</a:t>
            </a:r>
            <a:r>
              <a:rPr sz="1800" i="0">
                <a:solidFill>
                  <a:srgbClr val="E8EDF2"/>
                </a:solidFill>
                <a:latin typeface="Consolas"/>
              </a:rPr>
              <a:t> </a:t>
            </a:r>
            <a:r>
              <a:rPr sz="1800" i="0">
                <a:solidFill>
                  <a:srgbClr val="5DADE2"/>
                </a:solidFill>
                <a:latin typeface="Consolas"/>
              </a:rPr>
              <a:t>else</a:t>
            </a:r>
            <a:r>
              <a:rPr sz="1800" i="0">
                <a:solidFill>
                  <a:srgbClr val="E8EDF2"/>
                </a:solidFill>
                <a:latin typeface="Consolas"/>
              </a:rPr>
              <a:t> </a:t>
            </a:r>
            <a:r>
              <a:rPr sz="1800" i="0">
                <a:solidFill>
                  <a:srgbClr val="AEB6BF"/>
                </a:solidFill>
                <a:latin typeface="Consolas"/>
              </a:rPr>
              <a:t>not</a:t>
            </a:r>
            <a:r>
              <a:rPr sz="1800" i="0">
                <a:solidFill>
                  <a:srgbClr val="E8EDF2"/>
                </a:solidFill>
                <a:latin typeface="Consolas"/>
              </a:rPr>
              <a:t> </a:t>
            </a:r>
            <a:r>
              <a:rPr sz="1800" i="0">
                <a:solidFill>
                  <a:srgbClr val="E8EDF2"/>
                </a:solidFill>
                <a:latin typeface="Consolas"/>
              </a:rPr>
              <a:t>maximising</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C39BD3"/>
                </a:solidFill>
                <a:latin typeface="Consolas"/>
              </a:rPr>
              <a:t>sorted</a:t>
            </a:r>
            <a:r>
              <a:rPr sz="1800" i="0">
                <a:solidFill>
                  <a:srgbClr val="AEB6BF"/>
                </a:solidFill>
                <a:latin typeface="Consolas"/>
              </a:rPr>
              <a:t>(</a:t>
            </a:r>
            <a:r>
              <a:rPr sz="1800" i="0">
                <a:solidFill>
                  <a:srgbClr val="E8EDF2"/>
                </a:solidFill>
                <a:latin typeface="Consolas"/>
              </a:rPr>
              <a:t>ms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key</a:t>
            </a:r>
            <a:r>
              <a:rPr sz="1800" i="0">
                <a:solidFill>
                  <a:srgbClr val="AEB6BF"/>
                </a:solidFill>
                <a:latin typeface="Consolas"/>
              </a:rPr>
              <a:t>=</a:t>
            </a:r>
            <a:r>
              <a:rPr sz="1800" i="0">
                <a:solidFill>
                  <a:srgbClr val="5DADE2"/>
                </a:solidFill>
                <a:latin typeface="Consolas"/>
              </a:rPr>
              <a:t>lambda</a:t>
            </a:r>
            <a:r>
              <a:rPr sz="1800" i="0">
                <a:solidFill>
                  <a:srgbClr val="E8EDF2"/>
                </a:solidFill>
                <a:latin typeface="Consolas"/>
              </a:rPr>
              <a:t> </a:t>
            </a:r>
            <a:r>
              <a:rPr sz="1800" i="0">
                <a:solidFill>
                  <a:srgbClr val="E8EDF2"/>
                </a:solidFill>
                <a:latin typeface="Consolas"/>
              </a:rPr>
              <a:t>m</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true_value</a:t>
            </a:r>
            <a:r>
              <a:rPr sz="1800" i="0">
                <a:solidFill>
                  <a:srgbClr val="AEB6BF"/>
                </a:solidFill>
                <a:latin typeface="Consolas"/>
              </a:rPr>
              <a:t>(</a:t>
            </a:r>
            <a:r>
              <a:rPr sz="1800" i="0">
                <a:solidFill>
                  <a:srgbClr val="E8EDF2"/>
                </a:solidFill>
                <a:latin typeface="Consolas"/>
              </a:rPr>
              <a:t>path</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m</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not</a:t>
            </a:r>
            <a:r>
              <a:rPr sz="1800" i="0">
                <a:solidFill>
                  <a:srgbClr val="E8EDF2"/>
                </a:solidFill>
                <a:latin typeface="Consolas"/>
              </a:rPr>
              <a:t> </a:t>
            </a:r>
            <a:r>
              <a:rPr sz="1800" i="0">
                <a:solidFill>
                  <a:srgbClr val="E8EDF2"/>
                </a:solidFill>
                <a:latin typeface="Consolas"/>
              </a:rPr>
              <a:t>maximising</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reverse</a:t>
            </a:r>
            <a:r>
              <a:rPr sz="1800" i="0">
                <a:solidFill>
                  <a:srgbClr val="AEB6BF"/>
                </a:solidFill>
                <a:latin typeface="Consolas"/>
              </a:rPr>
              <a:t>=</a:t>
            </a:r>
            <a:r>
              <a:rPr sz="1800" i="0">
                <a:solidFill>
                  <a:srgbClr val="E8EDF2"/>
                </a:solidFill>
                <a:latin typeface="Consolas"/>
              </a:rPr>
              <a:t>rev</a:t>
            </a:r>
            <a:r>
              <a:rPr sz="1800" i="0">
                <a:solidFill>
                  <a:srgbClr val="AEB6BF"/>
                </a:solidFill>
                <a:latin typeface="Consolas"/>
              </a:rPr>
              <a:t>)</a:t>
            </a:r>
          </a:p>
        </p:txBody>
      </p:sp>
      <p:sp>
        <p:nvSpPr>
          <p:cNvPr id="14" name="!!code-num"/>
          <p:cNvSpPr txBox="1"/>
          <p:nvPr/>
        </p:nvSpPr>
        <p:spPr>
          <a:xfrm>
            <a:off x="768096" y="2066543"/>
            <a:ext cx="393192" cy="23042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57</a:t>
            </a:r>
          </a:p>
          <a:p>
            <a:pPr algn="r">
              <a:lnSpc>
                <a:spcPct val="100000"/>
              </a:lnSpc>
            </a:pPr>
            <a:r>
              <a:rPr sz="1800">
                <a:solidFill>
                  <a:srgbClr val="4F5D6A"/>
                </a:solidFill>
                <a:latin typeface="Consolas"/>
              </a:rPr>
              <a:t>58</a:t>
            </a:r>
          </a:p>
          <a:p>
            <a:pPr algn="r">
              <a:lnSpc>
                <a:spcPct val="100000"/>
              </a:lnSpc>
            </a:pPr>
            <a:r>
              <a:rPr sz="1800">
                <a:solidFill>
                  <a:srgbClr val="4F5D6A"/>
                </a:solidFill>
                <a:latin typeface="Consolas"/>
              </a:rPr>
              <a:t>59</a:t>
            </a:r>
          </a:p>
          <a:p>
            <a:pPr algn="r">
              <a:lnSpc>
                <a:spcPct val="100000"/>
              </a:lnSpc>
            </a:pPr>
            <a:r>
              <a:rPr sz="1800">
                <a:solidFill>
                  <a:srgbClr val="4F5D6A"/>
                </a:solidFill>
                <a:latin typeface="Consolas"/>
              </a:rPr>
              <a:t>60</a:t>
            </a:r>
          </a:p>
          <a:p>
            <a:pPr algn="r">
              <a:lnSpc>
                <a:spcPct val="100000"/>
              </a:lnSpc>
            </a:pPr>
            <a:r>
              <a:rPr sz="1800">
                <a:solidFill>
                  <a:srgbClr val="4F5D6A"/>
                </a:solidFill>
                <a:latin typeface="Consolas"/>
              </a:rPr>
              <a:t>61</a:t>
            </a:r>
          </a:p>
          <a:p>
            <a:pPr algn="r">
              <a:lnSpc>
                <a:spcPct val="100000"/>
              </a:lnSpc>
            </a:pPr>
            <a:r>
              <a:rPr sz="1800">
                <a:solidFill>
                  <a:srgbClr val="4F5D6A"/>
                </a:solidFill>
                <a:latin typeface="Consolas"/>
              </a:rPr>
              <a:t>62</a:t>
            </a:r>
          </a:p>
          <a:p>
            <a:pPr algn="r">
              <a:lnSpc>
                <a:spcPct val="100000"/>
              </a:lnSpc>
            </a:pPr>
            <a:r>
              <a:rPr sz="1800">
                <a:solidFill>
                  <a:srgbClr val="4F5D6A"/>
                </a:solidFill>
                <a:latin typeface="Consolas"/>
              </a:rPr>
              <a:t>63</a:t>
            </a:r>
          </a:p>
          <a:p>
            <a:pPr algn="r">
              <a:lnSpc>
                <a:spcPct val="100000"/>
              </a:lnSpc>
            </a:pPr>
            <a:r>
              <a:rPr sz="1800">
                <a:solidFill>
                  <a:srgbClr val="4F5D6A"/>
                </a:solidFill>
                <a:latin typeface="Consolas"/>
              </a:rPr>
              <a:t>64</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22025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Minimax and Alpha–Beta on a Slot Negotiation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13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AD2D150B-4394-476C-AD0A-3245DA10C10E}" type="slidenum">
              <a:rPr lang="en-GB" sz="1000">
                <a:solidFill>
                  <a:srgbClr val="8795A1"/>
                </a:solidFill>
                <a:latin typeface="Segoe UI"/>
              </a:rPr>
              <a:t>26</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65904"/>
          </a:xfrm>
          <a:prstGeom prst="roundRect">
            <a:avLst>
              <a:gd name="adj" fmla="val 20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code/ch08_minimax_alpha_beta.py</a:t>
            </a:r>
          </a:p>
        </p:txBody>
      </p:sp>
      <p:sp>
        <p:nvSpPr>
          <p:cNvPr id="13" name="!!code-text" descr="def alphabeta(path, maximising, alpha, beta, c, how=&quot;natural&quot;): c.nodes += 1 if len(path) == DEPTH: c.evals += 1 return LEAVES[path] if maximising: v = -10 ** 9 for m in ordered(path, maximising, how): v = max(v, alphabeta(path + (m,), False, alpha, beta, c, how)) alpha = max(alpha, v) if alpha &gt;= beta: break # beta cutoff return v v = 10 ** 9 for m in ordered(path, maximising, how): v = min(v, alphabeta(path + (m,), True, alpha, beta, c, how)) beta = min(beta, v) if beta &lt;= alpha: break # alpha cutoff return v"/>
          <p:cNvSpPr txBox="1"/>
          <p:nvPr/>
        </p:nvSpPr>
        <p:spPr>
          <a:xfrm>
            <a:off x="1362456" y="2066543"/>
            <a:ext cx="9987991" cy="4072128"/>
          </a:xfrm>
          <a:prstGeom prst="rect">
            <a:avLst/>
          </a:prstGeom>
          <a:noFill/>
        </p:spPr>
        <p:txBody>
          <a:bodyPr wrap="none" anchor="t" lIns="0" rIns="0" tIns="0" bIns="0">
            <a:noAutofit/>
          </a:bodyPr>
          <a:lstStyle/>
          <a:p>
            <a:pPr>
              <a:lnSpc>
                <a:spcPct val="100000"/>
              </a:lnSpc>
              <a:spcAft>
                <a:spcPts val="0"/>
              </a:spcAft>
            </a:pP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alphabeta</a:t>
            </a:r>
            <a:r>
              <a:rPr sz="1300" i="0">
                <a:solidFill>
                  <a:srgbClr val="AEB6BF"/>
                </a:solidFill>
                <a:latin typeface="Consolas"/>
              </a:rPr>
              <a:t>(</a:t>
            </a:r>
            <a:r>
              <a:rPr sz="1300" i="0">
                <a:solidFill>
                  <a:srgbClr val="E8EDF2"/>
                </a:solidFill>
                <a:latin typeface="Consolas"/>
              </a:rPr>
              <a:t>path</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maximising</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alpha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beta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how</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natural</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nodes</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path</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DEPTH</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evals</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LEAVES</a:t>
            </a:r>
            <a:r>
              <a:rPr sz="1300" i="0">
                <a:solidFill>
                  <a:srgbClr val="AEB6BF"/>
                </a:solidFill>
                <a:latin typeface="Consolas"/>
              </a:rPr>
              <a:t>[</a:t>
            </a:r>
            <a:r>
              <a:rPr sz="1300" i="0">
                <a:solidFill>
                  <a:srgbClr val="E8EDF2"/>
                </a:solidFill>
                <a:latin typeface="Consolas"/>
              </a:rPr>
              <a:t>path</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maximising</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v</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10</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9</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m</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ordered</a:t>
            </a:r>
            <a:r>
              <a:rPr sz="1300" i="0">
                <a:solidFill>
                  <a:srgbClr val="AEB6BF"/>
                </a:solidFill>
                <a:latin typeface="Consolas"/>
              </a:rPr>
              <a:t>(</a:t>
            </a:r>
            <a:r>
              <a:rPr sz="1300" i="0">
                <a:solidFill>
                  <a:srgbClr val="E8EDF2"/>
                </a:solidFill>
                <a:latin typeface="Consolas"/>
              </a:rPr>
              <a:t>path</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maximising</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how</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v</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max</a:t>
            </a:r>
            <a:r>
              <a:rPr sz="1300" i="0">
                <a:solidFill>
                  <a:srgbClr val="AEB6BF"/>
                </a:solidFill>
                <a:latin typeface="Consolas"/>
              </a:rPr>
              <a:t>(</a:t>
            </a:r>
            <a:r>
              <a:rPr sz="1300" i="0">
                <a:solidFill>
                  <a:srgbClr val="E8EDF2"/>
                </a:solidFill>
                <a:latin typeface="Consolas"/>
              </a:rPr>
              <a:t>v</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alphabeta</a:t>
            </a:r>
            <a:r>
              <a:rPr sz="1300" i="0">
                <a:solidFill>
                  <a:srgbClr val="AEB6BF"/>
                </a:solidFill>
                <a:latin typeface="Consolas"/>
              </a:rPr>
              <a:t>(</a:t>
            </a:r>
            <a:r>
              <a:rPr sz="1300" i="0">
                <a:solidFill>
                  <a:srgbClr val="E8EDF2"/>
                </a:solidFill>
                <a:latin typeface="Consolas"/>
              </a:rPr>
              <a:t>path</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m</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False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alpha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beta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how</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alpha</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max</a:t>
            </a:r>
            <a:r>
              <a:rPr sz="1300" i="0">
                <a:solidFill>
                  <a:srgbClr val="AEB6BF"/>
                </a:solidFill>
                <a:latin typeface="Consolas"/>
              </a:rPr>
              <a:t>(</a:t>
            </a:r>
            <a:r>
              <a:rPr sz="1300" i="0">
                <a:solidFill>
                  <a:srgbClr val="E8EDF2"/>
                </a:solidFill>
                <a:latin typeface="Consolas"/>
              </a:rPr>
              <a:t>alpha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v</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alpha</a:t>
            </a:r>
            <a:r>
              <a:rPr sz="1300" i="0">
                <a:solidFill>
                  <a:srgbClr val="E8EDF2"/>
                </a:solidFill>
                <a:latin typeface="Consolas"/>
              </a:rPr>
              <a:t> </a:t>
            </a:r>
            <a:r>
              <a:rPr sz="1300" i="0">
                <a:solidFill>
                  <a:srgbClr val="AEB6BF"/>
                </a:solidFill>
                <a:latin typeface="Consolas"/>
              </a:rPr>
              <a:t>&gt;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beta</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break</a:t>
            </a:r>
            <a:r>
              <a:rPr sz="1300" i="0">
                <a:solidFill>
                  <a:srgbClr val="E8EDF2"/>
                </a:solidFill>
                <a:latin typeface="Consolas"/>
              </a:rPr>
              <a:t>                      </a:t>
            </a:r>
            <a:r>
              <a:rPr sz="1300" i="1">
                <a:solidFill>
                  <a:srgbClr val="8795A1"/>
                </a:solidFill>
                <a:latin typeface="Consolas"/>
              </a:rPr>
              <a:t># beta cutoff</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v</a:t>
            </a:r>
          </a:p>
          <a:p>
            <a:pPr>
              <a:lnSpc>
                <a:spcPct val="100000"/>
              </a:lnSpc>
              <a:spcAft>
                <a:spcPts val="0"/>
              </a:spcAft>
            </a:pPr>
            <a:r>
              <a:rPr sz="1300" i="0">
                <a:solidFill>
                  <a:srgbClr val="E8EDF2"/>
                </a:solidFill>
                <a:latin typeface="Consolas"/>
              </a:rPr>
              <a:t>    </a:t>
            </a:r>
            <a:r>
              <a:rPr sz="1300" i="0">
                <a:solidFill>
                  <a:srgbClr val="E8EDF2"/>
                </a:solidFill>
                <a:latin typeface="Consolas"/>
              </a:rPr>
              <a:t>v</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9</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m</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ordered</a:t>
            </a:r>
            <a:r>
              <a:rPr sz="1300" i="0">
                <a:solidFill>
                  <a:srgbClr val="AEB6BF"/>
                </a:solidFill>
                <a:latin typeface="Consolas"/>
              </a:rPr>
              <a:t>(</a:t>
            </a:r>
            <a:r>
              <a:rPr sz="1300" i="0">
                <a:solidFill>
                  <a:srgbClr val="E8EDF2"/>
                </a:solidFill>
                <a:latin typeface="Consolas"/>
              </a:rPr>
              <a:t>path</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maximising</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how</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v</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min</a:t>
            </a:r>
            <a:r>
              <a:rPr sz="1300" i="0">
                <a:solidFill>
                  <a:srgbClr val="AEB6BF"/>
                </a:solidFill>
                <a:latin typeface="Consolas"/>
              </a:rPr>
              <a:t>(</a:t>
            </a:r>
            <a:r>
              <a:rPr sz="1300" i="0">
                <a:solidFill>
                  <a:srgbClr val="E8EDF2"/>
                </a:solidFill>
                <a:latin typeface="Consolas"/>
              </a:rPr>
              <a:t>v</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alphabeta</a:t>
            </a:r>
            <a:r>
              <a:rPr sz="1300" i="0">
                <a:solidFill>
                  <a:srgbClr val="AEB6BF"/>
                </a:solidFill>
                <a:latin typeface="Consolas"/>
              </a:rPr>
              <a:t>(</a:t>
            </a:r>
            <a:r>
              <a:rPr sz="1300" i="0">
                <a:solidFill>
                  <a:srgbClr val="E8EDF2"/>
                </a:solidFill>
                <a:latin typeface="Consolas"/>
              </a:rPr>
              <a:t>path</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m</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True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alpha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beta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how</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beta</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min</a:t>
            </a:r>
            <a:r>
              <a:rPr sz="1300" i="0">
                <a:solidFill>
                  <a:srgbClr val="AEB6BF"/>
                </a:solidFill>
                <a:latin typeface="Consolas"/>
              </a:rPr>
              <a:t>(</a:t>
            </a:r>
            <a:r>
              <a:rPr sz="1300" i="0">
                <a:solidFill>
                  <a:srgbClr val="E8EDF2"/>
                </a:solidFill>
                <a:latin typeface="Consolas"/>
              </a:rPr>
              <a:t>beta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v</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beta</a:t>
            </a:r>
            <a:r>
              <a:rPr sz="1300" i="0">
                <a:solidFill>
                  <a:srgbClr val="E8EDF2"/>
                </a:solidFill>
                <a:latin typeface="Consolas"/>
              </a:rPr>
              <a:t> </a:t>
            </a:r>
            <a:r>
              <a:rPr sz="1300" i="0">
                <a:solidFill>
                  <a:srgbClr val="AEB6BF"/>
                </a:solidFill>
                <a:latin typeface="Consolas"/>
              </a:rPr>
              <a:t>&lt;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alpha</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break</a:t>
            </a:r>
            <a:r>
              <a:rPr sz="1300" i="0">
                <a:solidFill>
                  <a:srgbClr val="E8EDF2"/>
                </a:solidFill>
                <a:latin typeface="Consolas"/>
              </a:rPr>
              <a:t>                          </a:t>
            </a:r>
            <a:r>
              <a:rPr sz="1300" i="1">
                <a:solidFill>
                  <a:srgbClr val="8795A1"/>
                </a:solidFill>
                <a:latin typeface="Consolas"/>
              </a:rPr>
              <a:t># alpha cutoff</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v</a:t>
            </a:r>
          </a:p>
        </p:txBody>
      </p:sp>
      <p:sp>
        <p:nvSpPr>
          <p:cNvPr id="14" name="!!code-num"/>
          <p:cNvSpPr txBox="1"/>
          <p:nvPr/>
        </p:nvSpPr>
        <p:spPr>
          <a:xfrm>
            <a:off x="768096" y="2066543"/>
            <a:ext cx="393192" cy="4072128"/>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67</a:t>
            </a:r>
          </a:p>
          <a:p>
            <a:pPr algn="r">
              <a:lnSpc>
                <a:spcPct val="100000"/>
              </a:lnSpc>
            </a:pPr>
            <a:r>
              <a:rPr sz="1300">
                <a:solidFill>
                  <a:srgbClr val="4F5D6A"/>
                </a:solidFill>
                <a:latin typeface="Consolas"/>
              </a:rPr>
              <a:t>68</a:t>
            </a:r>
          </a:p>
          <a:p>
            <a:pPr algn="r">
              <a:lnSpc>
                <a:spcPct val="100000"/>
              </a:lnSpc>
            </a:pPr>
            <a:r>
              <a:rPr sz="1300">
                <a:solidFill>
                  <a:srgbClr val="4F5D6A"/>
                </a:solidFill>
                <a:latin typeface="Consolas"/>
              </a:rPr>
              <a:t>69</a:t>
            </a:r>
          </a:p>
          <a:p>
            <a:pPr algn="r">
              <a:lnSpc>
                <a:spcPct val="100000"/>
              </a:lnSpc>
            </a:pPr>
            <a:r>
              <a:rPr sz="1300">
                <a:solidFill>
                  <a:srgbClr val="4F5D6A"/>
                </a:solidFill>
                <a:latin typeface="Consolas"/>
              </a:rPr>
              <a:t>70</a:t>
            </a:r>
          </a:p>
          <a:p>
            <a:pPr algn="r">
              <a:lnSpc>
                <a:spcPct val="100000"/>
              </a:lnSpc>
            </a:pPr>
            <a:r>
              <a:rPr sz="1300">
                <a:solidFill>
                  <a:srgbClr val="4F5D6A"/>
                </a:solidFill>
                <a:latin typeface="Consolas"/>
              </a:rPr>
              <a:t>71</a:t>
            </a:r>
          </a:p>
          <a:p>
            <a:pPr algn="r">
              <a:lnSpc>
                <a:spcPct val="100000"/>
              </a:lnSpc>
            </a:pPr>
            <a:r>
              <a:rPr sz="1300">
                <a:solidFill>
                  <a:srgbClr val="4F5D6A"/>
                </a:solidFill>
                <a:latin typeface="Consolas"/>
              </a:rPr>
              <a:t>72</a:t>
            </a:r>
          </a:p>
          <a:p>
            <a:pPr algn="r">
              <a:lnSpc>
                <a:spcPct val="100000"/>
              </a:lnSpc>
            </a:pPr>
            <a:r>
              <a:rPr sz="1300">
                <a:solidFill>
                  <a:srgbClr val="4F5D6A"/>
                </a:solidFill>
                <a:latin typeface="Consolas"/>
              </a:rPr>
              <a:t>73</a:t>
            </a:r>
          </a:p>
          <a:p>
            <a:pPr algn="r">
              <a:lnSpc>
                <a:spcPct val="100000"/>
              </a:lnSpc>
            </a:pPr>
            <a:r>
              <a:rPr sz="1300">
                <a:solidFill>
                  <a:srgbClr val="4F5D6A"/>
                </a:solidFill>
                <a:latin typeface="Consolas"/>
              </a:rPr>
              <a:t>74</a:t>
            </a:r>
          </a:p>
          <a:p>
            <a:pPr algn="r">
              <a:lnSpc>
                <a:spcPct val="100000"/>
              </a:lnSpc>
            </a:pPr>
            <a:r>
              <a:rPr sz="1300">
                <a:solidFill>
                  <a:srgbClr val="4F5D6A"/>
                </a:solidFill>
                <a:latin typeface="Consolas"/>
              </a:rPr>
              <a:t>75</a:t>
            </a:r>
          </a:p>
          <a:p>
            <a:pPr algn="r">
              <a:lnSpc>
                <a:spcPct val="100000"/>
              </a:lnSpc>
            </a:pPr>
            <a:r>
              <a:rPr sz="1300">
                <a:solidFill>
                  <a:srgbClr val="4F5D6A"/>
                </a:solidFill>
                <a:latin typeface="Consolas"/>
              </a:rPr>
              <a:t>76</a:t>
            </a:r>
          </a:p>
          <a:p>
            <a:pPr algn="r">
              <a:lnSpc>
                <a:spcPct val="100000"/>
              </a:lnSpc>
            </a:pPr>
            <a:r>
              <a:rPr sz="1300">
                <a:solidFill>
                  <a:srgbClr val="4F5D6A"/>
                </a:solidFill>
                <a:latin typeface="Consolas"/>
              </a:rPr>
              <a:t>77</a:t>
            </a:r>
          </a:p>
          <a:p>
            <a:pPr algn="r">
              <a:lnSpc>
                <a:spcPct val="100000"/>
              </a:lnSpc>
            </a:pPr>
            <a:r>
              <a:rPr sz="1300">
                <a:solidFill>
                  <a:srgbClr val="4F5D6A"/>
                </a:solidFill>
                <a:latin typeface="Consolas"/>
              </a:rPr>
              <a:t>78</a:t>
            </a:r>
          </a:p>
          <a:p>
            <a:pPr algn="r">
              <a:lnSpc>
                <a:spcPct val="100000"/>
              </a:lnSpc>
            </a:pPr>
            <a:r>
              <a:rPr sz="1300">
                <a:solidFill>
                  <a:srgbClr val="4F5D6A"/>
                </a:solidFill>
                <a:latin typeface="Consolas"/>
              </a:rPr>
              <a:t>79</a:t>
            </a:r>
          </a:p>
          <a:p>
            <a:pPr algn="r">
              <a:lnSpc>
                <a:spcPct val="100000"/>
              </a:lnSpc>
            </a:pPr>
            <a:r>
              <a:rPr sz="1300">
                <a:solidFill>
                  <a:srgbClr val="4F5D6A"/>
                </a:solidFill>
                <a:latin typeface="Consolas"/>
              </a:rPr>
              <a:t>80</a:t>
            </a:r>
          </a:p>
          <a:p>
            <a:pPr algn="r">
              <a:lnSpc>
                <a:spcPct val="100000"/>
              </a:lnSpc>
            </a:pPr>
            <a:r>
              <a:rPr sz="1300">
                <a:solidFill>
                  <a:srgbClr val="4F5D6A"/>
                </a:solidFill>
                <a:latin typeface="Consolas"/>
              </a:rPr>
              <a:t>81</a:t>
            </a:r>
          </a:p>
          <a:p>
            <a:pPr algn="r">
              <a:lnSpc>
                <a:spcPct val="100000"/>
              </a:lnSpc>
            </a:pPr>
            <a:r>
              <a:rPr sz="1300">
                <a:solidFill>
                  <a:srgbClr val="4F5D6A"/>
                </a:solidFill>
                <a:latin typeface="Consolas"/>
              </a:rPr>
              <a:t>82</a:t>
            </a:r>
          </a:p>
          <a:p>
            <a:pPr algn="r">
              <a:lnSpc>
                <a:spcPct val="100000"/>
              </a:lnSpc>
            </a:pPr>
            <a:r>
              <a:rPr sz="1300">
                <a:solidFill>
                  <a:srgbClr val="4F5D6A"/>
                </a:solidFill>
                <a:latin typeface="Consolas"/>
              </a:rPr>
              <a:t>83</a:t>
            </a:r>
          </a:p>
          <a:p>
            <a:pPr algn="r">
              <a:lnSpc>
                <a:spcPct val="100000"/>
              </a:lnSpc>
            </a:pPr>
            <a:r>
              <a:rPr sz="1300">
                <a:solidFill>
                  <a:srgbClr val="4F5D6A"/>
                </a:solidFill>
                <a:latin typeface="Consolas"/>
              </a:rPr>
              <a:t>84</a:t>
            </a:r>
          </a:p>
          <a:p>
            <a:pPr algn="r">
              <a:lnSpc>
                <a:spcPct val="100000"/>
              </a:lnSpc>
            </a:pPr>
            <a:r>
              <a:rPr sz="1300">
                <a:solidFill>
                  <a:srgbClr val="4F5D6A"/>
                </a:solidFill>
                <a:latin typeface="Consolas"/>
              </a:rPr>
              <a:t>85</a:t>
            </a:r>
          </a:p>
          <a:p>
            <a:pPr algn="r">
              <a:lnSpc>
                <a:spcPct val="100000"/>
              </a:lnSpc>
            </a:pPr>
            <a:r>
              <a:rPr sz="1300">
                <a:solidFill>
                  <a:srgbClr val="4F5D6A"/>
                </a:solidFill>
                <a:latin typeface="Consolas"/>
              </a:rPr>
              <a:t>86</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46906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Minimax and Alpha–Beta on a Slot Negotiation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13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4281477C-5185-47F4-B16D-D033A0EFD8DA}" type="slidenum">
              <a:rPr lang="en-GB" sz="1000">
                <a:solidFill>
                  <a:srgbClr val="8795A1"/>
                </a:solidFill>
                <a:latin typeface="Segoe UI"/>
              </a:rPr>
              <a:t>27</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43983"/>
          </a:xfrm>
          <a:prstGeom prst="roundRect">
            <a:avLst>
              <a:gd name="adj" fmla="val 20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code/ch08_minimax_alpha_beta.py</a:t>
            </a:r>
          </a:p>
        </p:txBody>
      </p:sp>
      <p:sp>
        <p:nvSpPr>
          <p:cNvPr id="13" name="!!code-text" descr="def shallow(path, maximising, limit, c): &quot;&quot;&quot;A depth-limited probe, used to ORDER a deeper search. Every leaf it touches is charged, because in a real engine the evaluation function is what costs. &quot;&quot;&quot; if len(path) == DEPTH: c.evals += 1 return LEAVES[path] if limit == 0: p = path while len(p) &lt; DEPTH: p = p + (0,) c.evals += 1 return LEAVES[p] vals = [shallow(path + (m,), not maximising, limit - 1, c) for m in range(BRANCH)] return max(vals) if maximising else min(vals)"/>
          <p:cNvSpPr txBox="1"/>
          <p:nvPr/>
        </p:nvSpPr>
        <p:spPr>
          <a:xfrm>
            <a:off x="1362456" y="2066543"/>
            <a:ext cx="9987991" cy="3950207"/>
          </a:xfrm>
          <a:prstGeom prst="rect">
            <a:avLst/>
          </a:prstGeom>
          <a:noFill/>
        </p:spPr>
        <p:txBody>
          <a:bodyPr wrap="none" anchor="t" lIns="0" rIns="0" tIns="0" bIns="0">
            <a:noAutofit/>
          </a:bodyPr>
          <a:lstStyle/>
          <a:p>
            <a:pPr>
              <a:lnSpc>
                <a:spcPct val="100000"/>
              </a:lnSpc>
              <a:spcAft>
                <a:spcPts val="0"/>
              </a:spcAft>
            </a:pP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shallow</a:t>
            </a:r>
            <a:r>
              <a:rPr sz="1400" i="0">
                <a:solidFill>
                  <a:srgbClr val="AEB6BF"/>
                </a:solidFill>
                <a:latin typeface="Consolas"/>
              </a:rPr>
              <a:t>(</a:t>
            </a:r>
            <a:r>
              <a:rPr sz="1400" i="0">
                <a:solidFill>
                  <a:srgbClr val="E8EDF2"/>
                </a:solidFill>
                <a:latin typeface="Consolas"/>
              </a:rPr>
              <a:t>path</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maximising</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limit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 depth-limited probe, used to ORDER a deeper search.</a:t>
            </a:r>
          </a:p>
          <a:p>
            <a:pPr>
              <a:lnSpc>
                <a:spcPct val="100000"/>
              </a:lnSpc>
              <a:spcAft>
                <a:spcPts val="0"/>
              </a:spcAft>
            </a:pPr>
            <a:r>
              <a:rPr sz="1400">
                <a:latin typeface="Consolas"/>
              </a:rPr>
              <a:t> </a:t>
            </a:r>
          </a:p>
          <a:p>
            <a:pPr>
              <a:lnSpc>
                <a:spcPct val="100000"/>
              </a:lnSpc>
              <a:spcAft>
                <a:spcPts val="0"/>
              </a:spcAft>
            </a:pPr>
            <a:r>
              <a:rPr sz="1400" i="0">
                <a:solidFill>
                  <a:srgbClr val="7DCEA0"/>
                </a:solidFill>
                <a:latin typeface="Consolas"/>
              </a:rPr>
              <a:t>    Every leaf it touches is charged, because in a real engine the</a:t>
            </a:r>
          </a:p>
          <a:p>
            <a:pPr>
              <a:lnSpc>
                <a:spcPct val="100000"/>
              </a:lnSpc>
              <a:spcAft>
                <a:spcPts val="0"/>
              </a:spcAft>
            </a:pPr>
            <a:r>
              <a:rPr sz="1400" i="0">
                <a:solidFill>
                  <a:srgbClr val="7DCEA0"/>
                </a:solidFill>
                <a:latin typeface="Consolas"/>
              </a:rPr>
              <a:t>    evaluation function is what costs.</a:t>
            </a:r>
          </a:p>
          <a:p>
            <a:pPr>
              <a:lnSpc>
                <a:spcPct val="100000"/>
              </a:lnSpc>
              <a:spcAft>
                <a:spcPts val="0"/>
              </a:spcAft>
            </a:pPr>
            <a:r>
              <a:rPr sz="1400" i="0">
                <a:solidFill>
                  <a:srgbClr val="7DCEA0"/>
                </a:solidFill>
                <a:latin typeface="Consolas"/>
              </a:rPr>
              <a:t>    """</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C39BD3"/>
                </a:solidFill>
                <a:latin typeface="Consolas"/>
              </a:rPr>
              <a:t>len</a:t>
            </a:r>
            <a:r>
              <a:rPr sz="1400" i="0">
                <a:solidFill>
                  <a:srgbClr val="AEB6BF"/>
                </a:solidFill>
                <a:latin typeface="Consolas"/>
              </a:rPr>
              <a:t>(</a:t>
            </a:r>
            <a:r>
              <a:rPr sz="1400" i="0">
                <a:solidFill>
                  <a:srgbClr val="E8EDF2"/>
                </a:solidFill>
                <a:latin typeface="Consolas"/>
              </a:rPr>
              <a:t>path</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DEPTH</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E8EDF2"/>
                </a:solidFill>
                <a:latin typeface="Consolas"/>
              </a:rPr>
              <a:t>evals</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LEAVES</a:t>
            </a:r>
            <a:r>
              <a:rPr sz="1400" i="0">
                <a:solidFill>
                  <a:srgbClr val="AEB6BF"/>
                </a:solidFill>
                <a:latin typeface="Consolas"/>
              </a:rPr>
              <a:t>[</a:t>
            </a:r>
            <a:r>
              <a:rPr sz="1400" i="0">
                <a:solidFill>
                  <a:srgbClr val="E8EDF2"/>
                </a:solidFill>
                <a:latin typeface="Consolas"/>
              </a:rPr>
              <a:t>path</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limit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p</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path</a:t>
            </a:r>
          </a:p>
          <a:p>
            <a:pPr>
              <a:lnSpc>
                <a:spcPct val="100000"/>
              </a:lnSpc>
              <a:spcAft>
                <a:spcPts val="0"/>
              </a:spcAft>
            </a:pPr>
            <a:r>
              <a:rPr sz="1400" i="0">
                <a:solidFill>
                  <a:srgbClr val="E8EDF2"/>
                </a:solidFill>
                <a:latin typeface="Consolas"/>
              </a:rPr>
              <a:t>        </a:t>
            </a:r>
            <a:r>
              <a:rPr sz="1400" i="0">
                <a:solidFill>
                  <a:srgbClr val="5DADE2"/>
                </a:solidFill>
                <a:latin typeface="Consolas"/>
              </a:rPr>
              <a:t>while</a:t>
            </a:r>
            <a:r>
              <a:rPr sz="1400" i="0">
                <a:solidFill>
                  <a:srgbClr val="E8EDF2"/>
                </a:solidFill>
                <a:latin typeface="Consolas"/>
              </a:rPr>
              <a:t> </a:t>
            </a:r>
            <a:r>
              <a:rPr sz="1400" i="0">
                <a:solidFill>
                  <a:srgbClr val="C39BD3"/>
                </a:solidFill>
                <a:latin typeface="Consolas"/>
              </a:rPr>
              <a:t>len</a:t>
            </a:r>
            <a:r>
              <a:rPr sz="1400" i="0">
                <a:solidFill>
                  <a:srgbClr val="AEB6BF"/>
                </a:solidFill>
                <a:latin typeface="Consolas"/>
              </a:rPr>
              <a:t>(</a:t>
            </a:r>
            <a:r>
              <a:rPr sz="1400" i="0">
                <a:solidFill>
                  <a:srgbClr val="E8EDF2"/>
                </a:solidFill>
                <a:latin typeface="Consolas"/>
              </a:rPr>
              <a:t>p</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&lt;</a:t>
            </a:r>
            <a:r>
              <a:rPr sz="1400" i="0">
                <a:solidFill>
                  <a:srgbClr val="E8EDF2"/>
                </a:solidFill>
                <a:latin typeface="Consolas"/>
              </a:rPr>
              <a:t> </a:t>
            </a:r>
            <a:r>
              <a:rPr sz="1400" i="0">
                <a:solidFill>
                  <a:srgbClr val="E8EDF2"/>
                </a:solidFill>
                <a:latin typeface="Consolas"/>
              </a:rPr>
              <a:t>DEPTH</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p</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0</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E8EDF2"/>
                </a:solidFill>
                <a:latin typeface="Consolas"/>
              </a:rPr>
              <a:t>evals</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LEAVES</a:t>
            </a:r>
            <a:r>
              <a:rPr sz="1400" i="0">
                <a:solidFill>
                  <a:srgbClr val="AEB6BF"/>
                </a:solidFill>
                <a:latin typeface="Consolas"/>
              </a:rPr>
              <a:t>[</a:t>
            </a:r>
            <a:r>
              <a:rPr sz="1400" i="0">
                <a:solidFill>
                  <a:srgbClr val="E8EDF2"/>
                </a:solidFill>
                <a:latin typeface="Consolas"/>
              </a:rPr>
              <a:t>p</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vals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shallow</a:t>
            </a:r>
            <a:r>
              <a:rPr sz="1400" i="0">
                <a:solidFill>
                  <a:srgbClr val="AEB6BF"/>
                </a:solidFill>
                <a:latin typeface="Consolas"/>
              </a:rPr>
              <a:t>(</a:t>
            </a:r>
            <a:r>
              <a:rPr sz="1400" i="0">
                <a:solidFill>
                  <a:srgbClr val="E8EDF2"/>
                </a:solidFill>
                <a:latin typeface="Consolas"/>
              </a:rPr>
              <a:t>path</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m</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E8EDF2"/>
                </a:solidFill>
                <a:latin typeface="Consolas"/>
              </a:rPr>
              <a:t>maximising</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limit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m</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C39BD3"/>
                </a:solidFill>
                <a:latin typeface="Consolas"/>
              </a:rPr>
              <a:t>range</a:t>
            </a:r>
            <a:r>
              <a:rPr sz="1400" i="0">
                <a:solidFill>
                  <a:srgbClr val="AEB6BF"/>
                </a:solidFill>
                <a:latin typeface="Consolas"/>
              </a:rPr>
              <a:t>(</a:t>
            </a:r>
            <a:r>
              <a:rPr sz="1400" i="0">
                <a:solidFill>
                  <a:srgbClr val="E8EDF2"/>
                </a:solidFill>
                <a:latin typeface="Consolas"/>
              </a:rPr>
              <a:t>BRANCH</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C39BD3"/>
                </a:solidFill>
                <a:latin typeface="Consolas"/>
              </a:rPr>
              <a:t>max</a:t>
            </a:r>
            <a:r>
              <a:rPr sz="1400" i="0">
                <a:solidFill>
                  <a:srgbClr val="AEB6BF"/>
                </a:solidFill>
                <a:latin typeface="Consolas"/>
              </a:rPr>
              <a:t>(</a:t>
            </a:r>
            <a:r>
              <a:rPr sz="1400" i="0">
                <a:solidFill>
                  <a:srgbClr val="E8EDF2"/>
                </a:solidFill>
                <a:latin typeface="Consolas"/>
              </a:rPr>
              <a:t>vals</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maximising</a:t>
            </a:r>
            <a:r>
              <a:rPr sz="1400" i="0">
                <a:solidFill>
                  <a:srgbClr val="E8EDF2"/>
                </a:solidFill>
                <a:latin typeface="Consolas"/>
              </a:rPr>
              <a:t> </a:t>
            </a:r>
            <a:r>
              <a:rPr sz="1400" i="0">
                <a:solidFill>
                  <a:srgbClr val="5DADE2"/>
                </a:solidFill>
                <a:latin typeface="Consolas"/>
              </a:rPr>
              <a:t>else</a:t>
            </a:r>
            <a:r>
              <a:rPr sz="1400" i="0">
                <a:solidFill>
                  <a:srgbClr val="E8EDF2"/>
                </a:solidFill>
                <a:latin typeface="Consolas"/>
              </a:rPr>
              <a:t> </a:t>
            </a:r>
            <a:r>
              <a:rPr sz="1400" i="0">
                <a:solidFill>
                  <a:srgbClr val="C39BD3"/>
                </a:solidFill>
                <a:latin typeface="Consolas"/>
              </a:rPr>
              <a:t>min</a:t>
            </a:r>
            <a:r>
              <a:rPr sz="1400" i="0">
                <a:solidFill>
                  <a:srgbClr val="AEB6BF"/>
                </a:solidFill>
                <a:latin typeface="Consolas"/>
              </a:rPr>
              <a:t>(</a:t>
            </a:r>
            <a:r>
              <a:rPr sz="1400" i="0">
                <a:solidFill>
                  <a:srgbClr val="E8EDF2"/>
                </a:solidFill>
                <a:latin typeface="Consolas"/>
              </a:rPr>
              <a:t>vals</a:t>
            </a:r>
            <a:r>
              <a:rPr sz="1400" i="0">
                <a:solidFill>
                  <a:srgbClr val="AEB6BF"/>
                </a:solidFill>
                <a:latin typeface="Consolas"/>
              </a:rPr>
              <a:t>)</a:t>
            </a:r>
          </a:p>
        </p:txBody>
      </p:sp>
      <p:sp>
        <p:nvSpPr>
          <p:cNvPr id="14" name="!!code-num"/>
          <p:cNvSpPr txBox="1"/>
          <p:nvPr/>
        </p:nvSpPr>
        <p:spPr>
          <a:xfrm>
            <a:off x="768096" y="2066543"/>
            <a:ext cx="393192" cy="395020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89</a:t>
            </a:r>
          </a:p>
          <a:p>
            <a:pPr algn="r">
              <a:lnSpc>
                <a:spcPct val="100000"/>
              </a:lnSpc>
            </a:pPr>
            <a:r>
              <a:rPr sz="1400">
                <a:solidFill>
                  <a:srgbClr val="4F5D6A"/>
                </a:solidFill>
                <a:latin typeface="Consolas"/>
              </a:rPr>
              <a:t>90</a:t>
            </a:r>
          </a:p>
          <a:p>
            <a:pPr algn="r">
              <a:lnSpc>
                <a:spcPct val="100000"/>
              </a:lnSpc>
            </a:pPr>
            <a:r>
              <a:rPr sz="1400">
                <a:solidFill>
                  <a:srgbClr val="4F5D6A"/>
                </a:solidFill>
                <a:latin typeface="Consolas"/>
              </a:rPr>
              <a:t>91</a:t>
            </a:r>
          </a:p>
          <a:p>
            <a:pPr algn="r">
              <a:lnSpc>
                <a:spcPct val="100000"/>
              </a:lnSpc>
            </a:pPr>
            <a:r>
              <a:rPr sz="1400">
                <a:solidFill>
                  <a:srgbClr val="4F5D6A"/>
                </a:solidFill>
                <a:latin typeface="Consolas"/>
              </a:rPr>
              <a:t>92</a:t>
            </a:r>
          </a:p>
          <a:p>
            <a:pPr algn="r">
              <a:lnSpc>
                <a:spcPct val="100000"/>
              </a:lnSpc>
            </a:pPr>
            <a:r>
              <a:rPr sz="1400">
                <a:solidFill>
                  <a:srgbClr val="4F5D6A"/>
                </a:solidFill>
                <a:latin typeface="Consolas"/>
              </a:rPr>
              <a:t>93</a:t>
            </a:r>
          </a:p>
          <a:p>
            <a:pPr algn="r">
              <a:lnSpc>
                <a:spcPct val="100000"/>
              </a:lnSpc>
            </a:pPr>
            <a:r>
              <a:rPr sz="1400">
                <a:solidFill>
                  <a:srgbClr val="4F5D6A"/>
                </a:solidFill>
                <a:latin typeface="Consolas"/>
              </a:rPr>
              <a:t>94</a:t>
            </a:r>
          </a:p>
          <a:p>
            <a:pPr algn="r">
              <a:lnSpc>
                <a:spcPct val="100000"/>
              </a:lnSpc>
            </a:pPr>
            <a:r>
              <a:rPr sz="1400">
                <a:solidFill>
                  <a:srgbClr val="4F5D6A"/>
                </a:solidFill>
                <a:latin typeface="Consolas"/>
              </a:rPr>
              <a:t>95</a:t>
            </a:r>
          </a:p>
          <a:p>
            <a:pPr algn="r">
              <a:lnSpc>
                <a:spcPct val="100000"/>
              </a:lnSpc>
            </a:pPr>
            <a:r>
              <a:rPr sz="1400">
                <a:solidFill>
                  <a:srgbClr val="4F5D6A"/>
                </a:solidFill>
                <a:latin typeface="Consolas"/>
              </a:rPr>
              <a:t>96</a:t>
            </a:r>
          </a:p>
          <a:p>
            <a:pPr algn="r">
              <a:lnSpc>
                <a:spcPct val="100000"/>
              </a:lnSpc>
            </a:pPr>
            <a:r>
              <a:rPr sz="1400">
                <a:solidFill>
                  <a:srgbClr val="4F5D6A"/>
                </a:solidFill>
                <a:latin typeface="Consolas"/>
              </a:rPr>
              <a:t>97</a:t>
            </a:r>
          </a:p>
          <a:p>
            <a:pPr algn="r">
              <a:lnSpc>
                <a:spcPct val="100000"/>
              </a:lnSpc>
            </a:pPr>
            <a:r>
              <a:rPr sz="1400">
                <a:solidFill>
                  <a:srgbClr val="4F5D6A"/>
                </a:solidFill>
                <a:latin typeface="Consolas"/>
              </a:rPr>
              <a:t>98</a:t>
            </a:r>
          </a:p>
          <a:p>
            <a:pPr algn="r">
              <a:lnSpc>
                <a:spcPct val="100000"/>
              </a:lnSpc>
            </a:pPr>
            <a:r>
              <a:rPr sz="1400">
                <a:solidFill>
                  <a:srgbClr val="4F5D6A"/>
                </a:solidFill>
                <a:latin typeface="Consolas"/>
              </a:rPr>
              <a:t>99</a:t>
            </a:r>
          </a:p>
          <a:p>
            <a:pPr algn="r">
              <a:lnSpc>
                <a:spcPct val="100000"/>
              </a:lnSpc>
            </a:pPr>
            <a:r>
              <a:rPr sz="1400">
                <a:solidFill>
                  <a:srgbClr val="4F5D6A"/>
                </a:solidFill>
                <a:latin typeface="Consolas"/>
              </a:rPr>
              <a:t>100</a:t>
            </a:r>
          </a:p>
          <a:p>
            <a:pPr algn="r">
              <a:lnSpc>
                <a:spcPct val="100000"/>
              </a:lnSpc>
            </a:pPr>
            <a:r>
              <a:rPr sz="1400">
                <a:solidFill>
                  <a:srgbClr val="4F5D6A"/>
                </a:solidFill>
                <a:latin typeface="Consolas"/>
              </a:rPr>
              <a:t>101</a:t>
            </a:r>
          </a:p>
          <a:p>
            <a:pPr algn="r">
              <a:lnSpc>
                <a:spcPct val="100000"/>
              </a:lnSpc>
            </a:pPr>
            <a:r>
              <a:rPr sz="1400">
                <a:solidFill>
                  <a:srgbClr val="4F5D6A"/>
                </a:solidFill>
                <a:latin typeface="Consolas"/>
              </a:rPr>
              <a:t>102</a:t>
            </a:r>
          </a:p>
          <a:p>
            <a:pPr algn="r">
              <a:lnSpc>
                <a:spcPct val="100000"/>
              </a:lnSpc>
            </a:pPr>
            <a:r>
              <a:rPr sz="1400">
                <a:solidFill>
                  <a:srgbClr val="4F5D6A"/>
                </a:solidFill>
                <a:latin typeface="Consolas"/>
              </a:rPr>
              <a:t>103</a:t>
            </a:r>
          </a:p>
          <a:p>
            <a:pPr algn="r">
              <a:lnSpc>
                <a:spcPct val="100000"/>
              </a:lnSpc>
            </a:pPr>
            <a:r>
              <a:rPr sz="1400">
                <a:solidFill>
                  <a:srgbClr val="4F5D6A"/>
                </a:solidFill>
                <a:latin typeface="Consolas"/>
              </a:rPr>
              <a:t>104</a:t>
            </a:r>
          </a:p>
          <a:p>
            <a:pPr algn="r">
              <a:lnSpc>
                <a:spcPct val="100000"/>
              </a:lnSpc>
            </a:pPr>
            <a:r>
              <a:rPr sz="1400">
                <a:solidFill>
                  <a:srgbClr val="4F5D6A"/>
                </a:solidFill>
                <a:latin typeface="Consolas"/>
              </a:rPr>
              <a:t>105</a:t>
            </a:r>
          </a:p>
          <a:p>
            <a:pPr algn="r">
              <a:lnSpc>
                <a:spcPct val="100000"/>
              </a:lnSpc>
            </a:pPr>
            <a:r>
              <a:rPr sz="1400">
                <a:solidFill>
                  <a:srgbClr val="4F5D6A"/>
                </a:solidFill>
                <a:latin typeface="Consolas"/>
              </a:rPr>
              <a:t>106</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71787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Minimax and Alpha–Beta on a Slot Negotiation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13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9091249F-622F-4F3C-8441-A8857BFB3A1B}" type="slidenum">
              <a:rPr lang="en-GB" sz="1000">
                <a:solidFill>
                  <a:srgbClr val="8795A1"/>
                </a:solidFill>
                <a:latin typeface="Segoe UI"/>
              </a:rPr>
              <a:t>28</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65904"/>
          </a:xfrm>
          <a:prstGeom prst="roundRect">
            <a:avLst>
              <a:gd name="adj" fmla="val 20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code/ch08_minimax_alpha_beta.py</a:t>
            </a:r>
          </a:p>
        </p:txBody>
      </p:sp>
      <p:sp>
        <p:nvSpPr>
          <p:cNvPr id="13" name="!!code-text" descr="def ab_probe_ordered(path, maximising, alpha, beta, c, probe=1): &quot;&quot;&quot;Alpha-beta ordering its moves by a shallow probe.&quot;&quot;&quot; c.nodes += 1 if len(path) == DEPTH: c.evals += 1 return LEAVES[path] ms = sorted(range(BRANCH), key=lambda m: shallow(path + (m,), not maximising, probe, c), reverse=maximising) if maximising: v = -10 ** 9 for m in ms: v = max(v, ab_probe_ordered(path + (m,), False, alpha, beta, c, probe)) alpha = max(alpha, v) if alpha &gt;= beta: break return v v = 10 ** 9"/>
          <p:cNvSpPr txBox="1"/>
          <p:nvPr/>
        </p:nvSpPr>
        <p:spPr>
          <a:xfrm>
            <a:off x="1362456" y="2066543"/>
            <a:ext cx="9987991" cy="4072128"/>
          </a:xfrm>
          <a:prstGeom prst="rect">
            <a:avLst/>
          </a:prstGeom>
          <a:noFill/>
        </p:spPr>
        <p:txBody>
          <a:bodyPr wrap="none" anchor="t" lIns="0" rIns="0" tIns="0" bIns="0">
            <a:noAutofit/>
          </a:bodyPr>
          <a:lstStyle/>
          <a:p>
            <a:pPr>
              <a:lnSpc>
                <a:spcPct val="100000"/>
              </a:lnSpc>
              <a:spcAft>
                <a:spcPts val="0"/>
              </a:spcAft>
            </a:pP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ab_probe_ordered</a:t>
            </a:r>
            <a:r>
              <a:rPr sz="1300" i="0">
                <a:solidFill>
                  <a:srgbClr val="AEB6BF"/>
                </a:solidFill>
                <a:latin typeface="Consolas"/>
              </a:rPr>
              <a:t>(</a:t>
            </a:r>
            <a:r>
              <a:rPr sz="1300" i="0">
                <a:solidFill>
                  <a:srgbClr val="E8EDF2"/>
                </a:solidFill>
                <a:latin typeface="Consolas"/>
              </a:rPr>
              <a:t>path</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maximising</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alpha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beta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probe</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"""Alpha-beta ordering its moves by a shallow probe."""</a:t>
            </a:r>
          </a:p>
          <a:p>
            <a:pPr>
              <a:lnSpc>
                <a:spcPct val="100000"/>
              </a:lnSpc>
              <a:spcAft>
                <a:spcPts val="0"/>
              </a:spcAft>
            </a:pP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nodes</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path</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DEPTH</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evals</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LEAVES</a:t>
            </a:r>
            <a:r>
              <a:rPr sz="1300" i="0">
                <a:solidFill>
                  <a:srgbClr val="AEB6BF"/>
                </a:solidFill>
                <a:latin typeface="Consolas"/>
              </a:rPr>
              <a:t>[</a:t>
            </a:r>
            <a:r>
              <a:rPr sz="1300" i="0">
                <a:solidFill>
                  <a:srgbClr val="E8EDF2"/>
                </a:solidFill>
                <a:latin typeface="Consolas"/>
              </a:rPr>
              <a:t>path</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ms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sorted</a:t>
            </a:r>
            <a:r>
              <a:rPr sz="1300" i="0">
                <a:solidFill>
                  <a:srgbClr val="AEB6BF"/>
                </a:solidFill>
                <a:latin typeface="Consolas"/>
              </a:rPr>
              <a:t>(</a:t>
            </a:r>
            <a:r>
              <a:rPr sz="1300" i="0">
                <a:solidFill>
                  <a:srgbClr val="C39BD3"/>
                </a:solidFill>
                <a:latin typeface="Consolas"/>
              </a:rPr>
              <a:t>range</a:t>
            </a:r>
            <a:r>
              <a:rPr sz="1300" i="0">
                <a:solidFill>
                  <a:srgbClr val="AEB6BF"/>
                </a:solidFill>
                <a:latin typeface="Consolas"/>
              </a:rPr>
              <a:t>(</a:t>
            </a:r>
            <a:r>
              <a:rPr sz="1300" i="0">
                <a:solidFill>
                  <a:srgbClr val="E8EDF2"/>
                </a:solidFill>
                <a:latin typeface="Consolas"/>
              </a:rPr>
              <a:t>BRANCH</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key</a:t>
            </a:r>
            <a:r>
              <a:rPr sz="1300" i="0">
                <a:solidFill>
                  <a:srgbClr val="AEB6BF"/>
                </a:solidFill>
                <a:latin typeface="Consolas"/>
              </a:rPr>
              <a:t>=</a:t>
            </a:r>
            <a:r>
              <a:rPr sz="1300" i="0">
                <a:solidFill>
                  <a:srgbClr val="5DADE2"/>
                </a:solidFill>
                <a:latin typeface="Consolas"/>
              </a:rPr>
              <a:t>lambda</a:t>
            </a:r>
            <a:r>
              <a:rPr sz="1300" i="0">
                <a:solidFill>
                  <a:srgbClr val="E8EDF2"/>
                </a:solidFill>
                <a:latin typeface="Consolas"/>
              </a:rPr>
              <a:t> </a:t>
            </a:r>
            <a:r>
              <a:rPr sz="1300" i="0">
                <a:solidFill>
                  <a:srgbClr val="E8EDF2"/>
                </a:solidFill>
                <a:latin typeface="Consolas"/>
              </a:rPr>
              <a:t>m</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shallow</a:t>
            </a:r>
            <a:r>
              <a:rPr sz="1300" i="0">
                <a:solidFill>
                  <a:srgbClr val="AEB6BF"/>
                </a:solidFill>
                <a:latin typeface="Consolas"/>
              </a:rPr>
              <a:t>(</a:t>
            </a:r>
            <a:r>
              <a:rPr sz="1300" i="0">
                <a:solidFill>
                  <a:srgbClr val="E8EDF2"/>
                </a:solidFill>
                <a:latin typeface="Consolas"/>
              </a:rPr>
              <a:t>path</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m</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not</a:t>
            </a:r>
            <a:r>
              <a:rPr sz="1300" i="0">
                <a:solidFill>
                  <a:srgbClr val="E8EDF2"/>
                </a:solidFill>
                <a:latin typeface="Consolas"/>
              </a:rPr>
              <a:t> </a:t>
            </a:r>
            <a:r>
              <a:rPr sz="1300" i="0">
                <a:solidFill>
                  <a:srgbClr val="E8EDF2"/>
                </a:solidFill>
                <a:latin typeface="Consolas"/>
              </a:rPr>
              <a:t>maximising</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probe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reverse</a:t>
            </a:r>
            <a:r>
              <a:rPr sz="1300" i="0">
                <a:solidFill>
                  <a:srgbClr val="AEB6BF"/>
                </a:solidFill>
                <a:latin typeface="Consolas"/>
              </a:rPr>
              <a:t>=</a:t>
            </a:r>
            <a:r>
              <a:rPr sz="1300" i="0">
                <a:solidFill>
                  <a:srgbClr val="E8EDF2"/>
                </a:solidFill>
                <a:latin typeface="Consolas"/>
              </a:rPr>
              <a:t>maximising</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maximising</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v</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10</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9</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m</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ms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v</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max</a:t>
            </a:r>
            <a:r>
              <a:rPr sz="1300" i="0">
                <a:solidFill>
                  <a:srgbClr val="AEB6BF"/>
                </a:solidFill>
                <a:latin typeface="Consolas"/>
              </a:rPr>
              <a:t>(</a:t>
            </a:r>
            <a:r>
              <a:rPr sz="1300" i="0">
                <a:solidFill>
                  <a:srgbClr val="E8EDF2"/>
                </a:solidFill>
                <a:latin typeface="Consolas"/>
              </a:rPr>
              <a:t>v</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ab_probe_ordered</a:t>
            </a:r>
            <a:r>
              <a:rPr sz="1300" i="0">
                <a:solidFill>
                  <a:srgbClr val="AEB6BF"/>
                </a:solidFill>
                <a:latin typeface="Consolas"/>
              </a:rPr>
              <a:t>(</a:t>
            </a:r>
            <a:r>
              <a:rPr sz="1300" i="0">
                <a:solidFill>
                  <a:srgbClr val="E8EDF2"/>
                </a:solidFill>
                <a:latin typeface="Consolas"/>
              </a:rPr>
              <a:t>path</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m</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False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alpha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beta</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probe</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alpha</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max</a:t>
            </a:r>
            <a:r>
              <a:rPr sz="1300" i="0">
                <a:solidFill>
                  <a:srgbClr val="AEB6BF"/>
                </a:solidFill>
                <a:latin typeface="Consolas"/>
              </a:rPr>
              <a:t>(</a:t>
            </a:r>
            <a:r>
              <a:rPr sz="1300" i="0">
                <a:solidFill>
                  <a:srgbClr val="E8EDF2"/>
                </a:solidFill>
                <a:latin typeface="Consolas"/>
              </a:rPr>
              <a:t>alpha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v</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alpha</a:t>
            </a:r>
            <a:r>
              <a:rPr sz="1300" i="0">
                <a:solidFill>
                  <a:srgbClr val="E8EDF2"/>
                </a:solidFill>
                <a:latin typeface="Consolas"/>
              </a:rPr>
              <a:t> </a:t>
            </a:r>
            <a:r>
              <a:rPr sz="1300" i="0">
                <a:solidFill>
                  <a:srgbClr val="AEB6BF"/>
                </a:solidFill>
                <a:latin typeface="Consolas"/>
              </a:rPr>
              <a:t>&gt;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beta</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break</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v</a:t>
            </a:r>
          </a:p>
          <a:p>
            <a:pPr>
              <a:lnSpc>
                <a:spcPct val="100000"/>
              </a:lnSpc>
              <a:spcAft>
                <a:spcPts val="0"/>
              </a:spcAft>
            </a:pPr>
            <a:r>
              <a:rPr sz="1300" i="0">
                <a:solidFill>
                  <a:srgbClr val="E8EDF2"/>
                </a:solidFill>
                <a:latin typeface="Consolas"/>
              </a:rPr>
              <a:t>    </a:t>
            </a:r>
            <a:r>
              <a:rPr sz="1300" i="0">
                <a:solidFill>
                  <a:srgbClr val="E8EDF2"/>
                </a:solidFill>
                <a:latin typeface="Consolas"/>
              </a:rPr>
              <a:t>v</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9</a:t>
            </a:r>
          </a:p>
        </p:txBody>
      </p:sp>
      <p:sp>
        <p:nvSpPr>
          <p:cNvPr id="14" name="!!code-num"/>
          <p:cNvSpPr txBox="1"/>
          <p:nvPr/>
        </p:nvSpPr>
        <p:spPr>
          <a:xfrm>
            <a:off x="768096" y="2066543"/>
            <a:ext cx="393192" cy="4072128"/>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109</a:t>
            </a:r>
          </a:p>
          <a:p>
            <a:pPr algn="r">
              <a:lnSpc>
                <a:spcPct val="100000"/>
              </a:lnSpc>
            </a:pPr>
            <a:r>
              <a:rPr sz="1300">
                <a:solidFill>
                  <a:srgbClr val="4F5D6A"/>
                </a:solidFill>
                <a:latin typeface="Consolas"/>
              </a:rPr>
              <a:t>110</a:t>
            </a:r>
          </a:p>
          <a:p>
            <a:pPr algn="r">
              <a:lnSpc>
                <a:spcPct val="100000"/>
              </a:lnSpc>
            </a:pPr>
            <a:r>
              <a:rPr sz="1300">
                <a:solidFill>
                  <a:srgbClr val="4F5D6A"/>
                </a:solidFill>
                <a:latin typeface="Consolas"/>
              </a:rPr>
              <a:t>111</a:t>
            </a:r>
          </a:p>
          <a:p>
            <a:pPr algn="r">
              <a:lnSpc>
                <a:spcPct val="100000"/>
              </a:lnSpc>
            </a:pPr>
            <a:r>
              <a:rPr sz="1300">
                <a:solidFill>
                  <a:srgbClr val="4F5D6A"/>
                </a:solidFill>
                <a:latin typeface="Consolas"/>
              </a:rPr>
              <a:t>112</a:t>
            </a:r>
          </a:p>
          <a:p>
            <a:pPr algn="r">
              <a:lnSpc>
                <a:spcPct val="100000"/>
              </a:lnSpc>
            </a:pPr>
            <a:r>
              <a:rPr sz="1300">
                <a:solidFill>
                  <a:srgbClr val="4F5D6A"/>
                </a:solidFill>
                <a:latin typeface="Consolas"/>
              </a:rPr>
              <a:t>113</a:t>
            </a:r>
          </a:p>
          <a:p>
            <a:pPr algn="r">
              <a:lnSpc>
                <a:spcPct val="100000"/>
              </a:lnSpc>
            </a:pPr>
            <a:r>
              <a:rPr sz="1300">
                <a:solidFill>
                  <a:srgbClr val="4F5D6A"/>
                </a:solidFill>
                <a:latin typeface="Consolas"/>
              </a:rPr>
              <a:t>114</a:t>
            </a:r>
          </a:p>
          <a:p>
            <a:pPr algn="r">
              <a:lnSpc>
                <a:spcPct val="100000"/>
              </a:lnSpc>
            </a:pPr>
            <a:r>
              <a:rPr sz="1300">
                <a:solidFill>
                  <a:srgbClr val="4F5D6A"/>
                </a:solidFill>
                <a:latin typeface="Consolas"/>
              </a:rPr>
              <a:t>115</a:t>
            </a:r>
          </a:p>
          <a:p>
            <a:pPr algn="r">
              <a:lnSpc>
                <a:spcPct val="100000"/>
              </a:lnSpc>
            </a:pPr>
            <a:r>
              <a:rPr sz="1300">
                <a:solidFill>
                  <a:srgbClr val="4F5D6A"/>
                </a:solidFill>
                <a:latin typeface="Consolas"/>
              </a:rPr>
              <a:t>116</a:t>
            </a:r>
          </a:p>
          <a:p>
            <a:pPr algn="r">
              <a:lnSpc>
                <a:spcPct val="100000"/>
              </a:lnSpc>
            </a:pPr>
            <a:r>
              <a:rPr sz="1300">
                <a:solidFill>
                  <a:srgbClr val="4F5D6A"/>
                </a:solidFill>
                <a:latin typeface="Consolas"/>
              </a:rPr>
              <a:t>117</a:t>
            </a:r>
          </a:p>
          <a:p>
            <a:pPr algn="r">
              <a:lnSpc>
                <a:spcPct val="100000"/>
              </a:lnSpc>
            </a:pPr>
            <a:r>
              <a:rPr sz="1300">
                <a:solidFill>
                  <a:srgbClr val="4F5D6A"/>
                </a:solidFill>
                <a:latin typeface="Consolas"/>
              </a:rPr>
              <a:t>118</a:t>
            </a:r>
          </a:p>
          <a:p>
            <a:pPr algn="r">
              <a:lnSpc>
                <a:spcPct val="100000"/>
              </a:lnSpc>
            </a:pPr>
            <a:r>
              <a:rPr sz="1300">
                <a:solidFill>
                  <a:srgbClr val="4F5D6A"/>
                </a:solidFill>
                <a:latin typeface="Consolas"/>
              </a:rPr>
              <a:t>119</a:t>
            </a:r>
          </a:p>
          <a:p>
            <a:pPr algn="r">
              <a:lnSpc>
                <a:spcPct val="100000"/>
              </a:lnSpc>
            </a:pPr>
            <a:r>
              <a:rPr sz="1300">
                <a:solidFill>
                  <a:srgbClr val="4F5D6A"/>
                </a:solidFill>
                <a:latin typeface="Consolas"/>
              </a:rPr>
              <a:t>120</a:t>
            </a:r>
          </a:p>
          <a:p>
            <a:pPr algn="r">
              <a:lnSpc>
                <a:spcPct val="100000"/>
              </a:lnSpc>
            </a:pPr>
            <a:r>
              <a:rPr sz="1300">
                <a:solidFill>
                  <a:srgbClr val="4F5D6A"/>
                </a:solidFill>
                <a:latin typeface="Consolas"/>
              </a:rPr>
              <a:t>121</a:t>
            </a:r>
          </a:p>
          <a:p>
            <a:pPr algn="r">
              <a:lnSpc>
                <a:spcPct val="100000"/>
              </a:lnSpc>
            </a:pPr>
            <a:r>
              <a:rPr sz="1300">
                <a:solidFill>
                  <a:srgbClr val="4F5D6A"/>
                </a:solidFill>
                <a:latin typeface="Consolas"/>
              </a:rPr>
              <a:t>122</a:t>
            </a:r>
          </a:p>
          <a:p>
            <a:pPr algn="r">
              <a:lnSpc>
                <a:spcPct val="100000"/>
              </a:lnSpc>
            </a:pPr>
            <a:r>
              <a:rPr sz="1300">
                <a:solidFill>
                  <a:srgbClr val="4F5D6A"/>
                </a:solidFill>
                <a:latin typeface="Consolas"/>
              </a:rPr>
              <a:t>123</a:t>
            </a:r>
          </a:p>
          <a:p>
            <a:pPr algn="r">
              <a:lnSpc>
                <a:spcPct val="100000"/>
              </a:lnSpc>
            </a:pPr>
            <a:r>
              <a:rPr sz="1300">
                <a:solidFill>
                  <a:srgbClr val="4F5D6A"/>
                </a:solidFill>
                <a:latin typeface="Consolas"/>
              </a:rPr>
              <a:t>124</a:t>
            </a:r>
          </a:p>
          <a:p>
            <a:pPr algn="r">
              <a:lnSpc>
                <a:spcPct val="100000"/>
              </a:lnSpc>
            </a:pPr>
            <a:r>
              <a:rPr sz="1300">
                <a:solidFill>
                  <a:srgbClr val="4F5D6A"/>
                </a:solidFill>
                <a:latin typeface="Consolas"/>
              </a:rPr>
              <a:t>125</a:t>
            </a:r>
          </a:p>
          <a:p>
            <a:pPr algn="r">
              <a:lnSpc>
                <a:spcPct val="100000"/>
              </a:lnSpc>
            </a:pPr>
            <a:r>
              <a:rPr sz="1300">
                <a:solidFill>
                  <a:srgbClr val="4F5D6A"/>
                </a:solidFill>
                <a:latin typeface="Consolas"/>
              </a:rPr>
              <a:t>126</a:t>
            </a:r>
          </a:p>
          <a:p>
            <a:pPr algn="r">
              <a:lnSpc>
                <a:spcPct val="100000"/>
              </a:lnSpc>
            </a:pPr>
            <a:r>
              <a:rPr sz="1300">
                <a:solidFill>
                  <a:srgbClr val="4F5D6A"/>
                </a:solidFill>
                <a:latin typeface="Consolas"/>
              </a:rPr>
              <a:t>127</a:t>
            </a:r>
          </a:p>
          <a:p>
            <a:pPr algn="r">
              <a:lnSpc>
                <a:spcPct val="100000"/>
              </a:lnSpc>
            </a:pPr>
            <a:r>
              <a:rPr sz="1300">
                <a:solidFill>
                  <a:srgbClr val="4F5D6A"/>
                </a:solidFill>
                <a:latin typeface="Consolas"/>
              </a:rPr>
              <a:t>128</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96668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Minimax and Alpha–Beta on a Slot Negotiation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13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A65FB4C9-56AD-4F9C-9BDA-C3453F3E0A55}" type="slidenum">
              <a:rPr lang="en-GB" sz="1000">
                <a:solidFill>
                  <a:srgbClr val="8795A1"/>
                </a:solidFill>
                <a:latin typeface="Segoe UI"/>
              </a:rPr>
              <a:t>29</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2737104"/>
          </a:xfrm>
          <a:prstGeom prst="roundRect">
            <a:avLst>
              <a:gd name="adj" fmla="val 334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code/ch08_minimax_alpha_beta.py</a:t>
            </a:r>
          </a:p>
        </p:txBody>
      </p:sp>
      <p:sp>
        <p:nvSpPr>
          <p:cNvPr id="13" name="!!code-text" descr="for m in ms: v = min(v, ab_probe_ordered(path + (m,), True, alpha, beta, c, probe)) beta = min(beta, v) if beta &lt;= alpha: break return v"/>
          <p:cNvSpPr txBox="1"/>
          <p:nvPr/>
        </p:nvSpPr>
        <p:spPr>
          <a:xfrm>
            <a:off x="1362456" y="2066543"/>
            <a:ext cx="9987991" cy="2243328"/>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m</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ms</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v</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min</a:t>
            </a:r>
            <a:r>
              <a:rPr sz="2000" i="0">
                <a:solidFill>
                  <a:srgbClr val="AEB6BF"/>
                </a:solidFill>
                <a:latin typeface="Consolas"/>
              </a:rPr>
              <a:t>(</a:t>
            </a:r>
            <a:r>
              <a:rPr sz="2000" i="0">
                <a:solidFill>
                  <a:srgbClr val="E8EDF2"/>
                </a:solidFill>
                <a:latin typeface="Consolas"/>
              </a:rPr>
              <a:t>v</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ab_probe_ordered</a:t>
            </a:r>
            <a:r>
              <a:rPr sz="2000" i="0">
                <a:solidFill>
                  <a:srgbClr val="AEB6BF"/>
                </a:solidFill>
                <a:latin typeface="Consolas"/>
              </a:rPr>
              <a:t>(</a:t>
            </a:r>
            <a:r>
              <a:rPr sz="2000" i="0">
                <a:solidFill>
                  <a:srgbClr val="E8EDF2"/>
                </a:solidFill>
                <a:latin typeface="Consolas"/>
              </a:rPr>
              <a:t>path</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m</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True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alpha</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beta</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c</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probe</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beta</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min</a:t>
            </a:r>
            <a:r>
              <a:rPr sz="2000" i="0">
                <a:solidFill>
                  <a:srgbClr val="AEB6BF"/>
                </a:solidFill>
                <a:latin typeface="Consolas"/>
              </a:rPr>
              <a:t>(</a:t>
            </a:r>
            <a:r>
              <a:rPr sz="2000" i="0">
                <a:solidFill>
                  <a:srgbClr val="E8EDF2"/>
                </a:solidFill>
                <a:latin typeface="Consolas"/>
              </a:rPr>
              <a:t>beta</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v</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beta</a:t>
            </a:r>
            <a:r>
              <a:rPr sz="2000" i="0">
                <a:solidFill>
                  <a:srgbClr val="E8EDF2"/>
                </a:solidFill>
                <a:latin typeface="Consolas"/>
              </a:rPr>
              <a:t> </a:t>
            </a:r>
            <a:r>
              <a:rPr sz="2000" i="0">
                <a:solidFill>
                  <a:srgbClr val="AEB6BF"/>
                </a:solidFill>
                <a:latin typeface="Consolas"/>
              </a:rPr>
              <a:t>&lt;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alpha</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break</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E8EDF2"/>
                </a:solidFill>
                <a:latin typeface="Consolas"/>
              </a:rPr>
              <a:t>v</a:t>
            </a:r>
          </a:p>
        </p:txBody>
      </p:sp>
      <p:sp>
        <p:nvSpPr>
          <p:cNvPr id="14" name="!!code-num"/>
          <p:cNvSpPr txBox="1"/>
          <p:nvPr/>
        </p:nvSpPr>
        <p:spPr>
          <a:xfrm>
            <a:off x="768096" y="2066543"/>
            <a:ext cx="393192" cy="2243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129</a:t>
            </a:r>
          </a:p>
          <a:p>
            <a:pPr algn="r">
              <a:lnSpc>
                <a:spcPct val="100000"/>
              </a:lnSpc>
            </a:pPr>
            <a:r>
              <a:rPr sz="2000">
                <a:solidFill>
                  <a:srgbClr val="4F5D6A"/>
                </a:solidFill>
                <a:latin typeface="Consolas"/>
              </a:rPr>
              <a:t>130</a:t>
            </a:r>
          </a:p>
          <a:p>
            <a:pPr algn="r">
              <a:lnSpc>
                <a:spcPct val="100000"/>
              </a:lnSpc>
            </a:pPr>
            <a:r>
              <a:rPr sz="2000">
                <a:solidFill>
                  <a:srgbClr val="4F5D6A"/>
                </a:solidFill>
                <a:latin typeface="Consolas"/>
              </a:rPr>
              <a:t>131</a:t>
            </a:r>
          </a:p>
          <a:p>
            <a:pPr algn="r">
              <a:lnSpc>
                <a:spcPct val="100000"/>
              </a:lnSpc>
            </a:pPr>
            <a:r>
              <a:rPr sz="2000">
                <a:solidFill>
                  <a:srgbClr val="4F5D6A"/>
                </a:solidFill>
                <a:latin typeface="Consolas"/>
              </a:rPr>
              <a:t>132</a:t>
            </a:r>
          </a:p>
          <a:p>
            <a:pPr algn="r">
              <a:lnSpc>
                <a:spcPct val="100000"/>
              </a:lnSpc>
            </a:pPr>
            <a:r>
              <a:rPr sz="2000">
                <a:solidFill>
                  <a:srgbClr val="4F5D6A"/>
                </a:solidFill>
                <a:latin typeface="Consolas"/>
              </a:rPr>
              <a:t>133</a:t>
            </a:r>
          </a:p>
          <a:p>
            <a:pPr algn="r">
              <a:lnSpc>
                <a:spcPct val="100000"/>
              </a:lnSpc>
            </a:pPr>
            <a:r>
              <a:rPr sz="2000">
                <a:solidFill>
                  <a:srgbClr val="4F5D6A"/>
                </a:solidFill>
                <a:latin typeface="Consolas"/>
              </a:rPr>
              <a:t>134</a:t>
            </a:r>
          </a:p>
          <a:p>
            <a:pPr algn="r">
              <a:lnSpc>
                <a:spcPct val="100000"/>
              </a:lnSpc>
            </a:pPr>
            <a:r>
              <a:rPr sz="2000">
                <a:solidFill>
                  <a:srgbClr val="4F5D6A"/>
                </a:solidFill>
                <a:latin typeface="Consolas"/>
              </a:rPr>
              <a:t>135</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21549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Minimax and Alpha–Beta on a Slot Negotiation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13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2A353787-911E-493F-B28E-D74A27F1E68F}" type="slidenum">
              <a:rPr lang="en-GB" sz="1000">
                <a:solidFill>
                  <a:srgbClr val="8795A1"/>
                </a:solidFill>
                <a:latin typeface="Segoe UI"/>
              </a:rPr>
              <a:t>30</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261104"/>
          </a:xfrm>
          <a:prstGeom prst="roundRect">
            <a:avLst>
              <a:gd name="adj" fmla="val 214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code/ch08_minimax_alpha_beta.py</a:t>
            </a:r>
          </a:p>
        </p:txBody>
      </p:sp>
      <p:sp>
        <p:nvSpPr>
          <p:cNvPr id="13" name="!!code-text" descr="if __name__ == &quot;__main__&quot;: print(&quot;depth %d, branching %d, leaves %d&quot; % (DEPTH, BRANCH, BRANCH ** DEPTH)) c0 = Counter() value = minimax((), True, c0) print(&quot;minimax value: %d&quot; % value) print() print(&quot;algorithm leaf evals nodes value&quot;) print(&quot;-&quot; * 60) print(&quot;%-30s %10d %7d %6d&quot; % (&quot;minimax, no pruning&quot;, c0.evals, c0.nodes, value))"/>
          <p:cNvSpPr txBox="1"/>
          <p:nvPr/>
        </p:nvSpPr>
        <p:spPr>
          <a:xfrm>
            <a:off x="1362456" y="2066543"/>
            <a:ext cx="9987991" cy="37673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__name__</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__main__</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depth </a:t>
            </a:r>
            <a:r>
              <a:rPr sz="2000" i="0">
                <a:solidFill>
                  <a:srgbClr val="7DCEA0"/>
                </a:solidFill>
                <a:latin typeface="Consolas"/>
              </a:rPr>
              <a:t>%d</a:t>
            </a:r>
            <a:r>
              <a:rPr sz="2000" i="0">
                <a:solidFill>
                  <a:srgbClr val="7DCEA0"/>
                </a:solidFill>
                <a:latin typeface="Consolas"/>
              </a:rPr>
              <a:t>, branching </a:t>
            </a:r>
            <a:r>
              <a:rPr sz="2000" i="0">
                <a:solidFill>
                  <a:srgbClr val="7DCEA0"/>
                </a:solidFill>
                <a:latin typeface="Consolas"/>
              </a:rPr>
              <a:t>%d</a:t>
            </a:r>
            <a:r>
              <a:rPr sz="2000" i="0">
                <a:solidFill>
                  <a:srgbClr val="7DCEA0"/>
                </a:solidFill>
                <a:latin typeface="Consolas"/>
              </a:rPr>
              <a:t>, leaves </a:t>
            </a:r>
            <a:r>
              <a:rPr sz="2000" i="0">
                <a:solidFill>
                  <a:srgbClr val="7DCEA0"/>
                </a:solidFill>
                <a:latin typeface="Consolas"/>
              </a:rPr>
              <a:t>%d</a:t>
            </a:r>
            <a:r>
              <a:rPr sz="2000" i="0">
                <a:solidFill>
                  <a:srgbClr val="7DCEA0"/>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DEPTH</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BRANCH</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BRANCH</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DEPTH</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a:latin typeface="Consolas"/>
              </a:rPr>
              <a:t> </a:t>
            </a:r>
          </a:p>
          <a:p>
            <a:pPr>
              <a:lnSpc>
                <a:spcPct val="100000"/>
              </a:lnSpc>
              <a:spcAft>
                <a:spcPts val="0"/>
              </a:spcAft>
            </a:pPr>
            <a:r>
              <a:rPr sz="2000" i="0">
                <a:solidFill>
                  <a:srgbClr val="E8EDF2"/>
                </a:solidFill>
                <a:latin typeface="Consolas"/>
              </a:rPr>
              <a:t>    </a:t>
            </a:r>
            <a:r>
              <a:rPr sz="2000" i="0">
                <a:solidFill>
                  <a:srgbClr val="E8EDF2"/>
                </a:solidFill>
                <a:latin typeface="Consolas"/>
              </a:rPr>
              <a:t>c0</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Counter</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value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minimax</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True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c0</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minimax value: </a:t>
            </a:r>
            <a:r>
              <a:rPr sz="2000" i="0">
                <a:solidFill>
                  <a:srgbClr val="7DCEA0"/>
                </a:solidFill>
                <a:latin typeface="Consolas"/>
              </a:rPr>
              <a:t>%d</a:t>
            </a:r>
            <a:r>
              <a:rPr sz="2000" i="0">
                <a:solidFill>
                  <a:srgbClr val="7DCEA0"/>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value</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algorithm                      leaf evals   nodes  value</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a:t>
            </a:r>
            <a:r>
              <a:rPr sz="2000" i="0">
                <a:solidFill>
                  <a:srgbClr val="7DCEA0"/>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60</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%-30s</a:t>
            </a:r>
            <a:r>
              <a:rPr sz="2000" i="0">
                <a:solidFill>
                  <a:srgbClr val="7DCEA0"/>
                </a:solidFill>
                <a:latin typeface="Consolas"/>
              </a:rPr>
              <a:t> </a:t>
            </a:r>
            <a:r>
              <a:rPr sz="2000" i="0">
                <a:solidFill>
                  <a:srgbClr val="7DCEA0"/>
                </a:solidFill>
                <a:latin typeface="Consolas"/>
              </a:rPr>
              <a:t>%10d</a:t>
            </a:r>
            <a:r>
              <a:rPr sz="2000" i="0">
                <a:solidFill>
                  <a:srgbClr val="7DCEA0"/>
                </a:solidFill>
                <a:latin typeface="Consolas"/>
              </a:rPr>
              <a:t> </a:t>
            </a:r>
            <a:r>
              <a:rPr sz="2000" i="0">
                <a:solidFill>
                  <a:srgbClr val="7DCEA0"/>
                </a:solidFill>
                <a:latin typeface="Consolas"/>
              </a:rPr>
              <a:t>%7d</a:t>
            </a:r>
            <a:r>
              <a:rPr sz="2000" i="0">
                <a:solidFill>
                  <a:srgbClr val="7DCEA0"/>
                </a:solidFill>
                <a:latin typeface="Consolas"/>
              </a:rPr>
              <a:t> </a:t>
            </a:r>
            <a:r>
              <a:rPr sz="2000" i="0">
                <a:solidFill>
                  <a:srgbClr val="7DCEA0"/>
                </a:solidFill>
                <a:latin typeface="Consolas"/>
              </a:rPr>
              <a:t>%6d</a:t>
            </a:r>
            <a:r>
              <a:rPr sz="2000" i="0">
                <a:solidFill>
                  <a:srgbClr val="7DCEA0"/>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minimax, no pruning</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c0</a:t>
            </a:r>
            <a:r>
              <a:rPr sz="2000" i="0">
                <a:solidFill>
                  <a:srgbClr val="AEB6BF"/>
                </a:solidFill>
                <a:latin typeface="Consolas"/>
              </a:rPr>
              <a:t>.</a:t>
            </a:r>
            <a:r>
              <a:rPr sz="2000" i="0">
                <a:solidFill>
                  <a:srgbClr val="E8EDF2"/>
                </a:solidFill>
                <a:latin typeface="Consolas"/>
              </a:rPr>
              <a:t>evals</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c0</a:t>
            </a:r>
            <a:r>
              <a:rPr sz="2000" i="0">
                <a:solidFill>
                  <a:srgbClr val="AEB6BF"/>
                </a:solidFill>
                <a:latin typeface="Consolas"/>
              </a:rPr>
              <a:t>.</a:t>
            </a:r>
            <a:r>
              <a:rPr sz="2000" i="0">
                <a:solidFill>
                  <a:srgbClr val="E8EDF2"/>
                </a:solidFill>
                <a:latin typeface="Consolas"/>
              </a:rPr>
              <a:t>nodes</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value</a:t>
            </a:r>
            <a:r>
              <a:rPr sz="2000" i="0">
                <a:solidFill>
                  <a:srgbClr val="AEB6BF"/>
                </a:solidFill>
                <a:latin typeface="Consolas"/>
              </a:rPr>
              <a:t>)</a:t>
            </a:r>
            <a:r>
              <a:rPr sz="2000" i="0">
                <a:solidFill>
                  <a:srgbClr val="AEB6BF"/>
                </a:solidFill>
                <a:latin typeface="Consolas"/>
              </a:rPr>
              <a:t>)</a:t>
            </a:r>
          </a:p>
        </p:txBody>
      </p:sp>
      <p:sp>
        <p:nvSpPr>
          <p:cNvPr id="14" name="!!code-num"/>
          <p:cNvSpPr txBox="1"/>
          <p:nvPr/>
        </p:nvSpPr>
        <p:spPr>
          <a:xfrm>
            <a:off x="768096" y="2066543"/>
            <a:ext cx="393192" cy="3767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138</a:t>
            </a:r>
          </a:p>
          <a:p>
            <a:pPr algn="r">
              <a:lnSpc>
                <a:spcPct val="100000"/>
              </a:lnSpc>
            </a:pPr>
            <a:r>
              <a:rPr sz="2000">
                <a:solidFill>
                  <a:srgbClr val="4F5D6A"/>
                </a:solidFill>
                <a:latin typeface="Consolas"/>
              </a:rPr>
              <a:t>139</a:t>
            </a:r>
          </a:p>
          <a:p>
            <a:pPr algn="r">
              <a:lnSpc>
                <a:spcPct val="100000"/>
              </a:lnSpc>
            </a:pPr>
            <a:r>
              <a:rPr sz="2000">
                <a:solidFill>
                  <a:srgbClr val="4F5D6A"/>
                </a:solidFill>
                <a:latin typeface="Consolas"/>
              </a:rPr>
              <a:t>140</a:t>
            </a:r>
          </a:p>
          <a:p>
            <a:pPr algn="r">
              <a:lnSpc>
                <a:spcPct val="100000"/>
              </a:lnSpc>
            </a:pPr>
            <a:r>
              <a:rPr sz="2000">
                <a:solidFill>
                  <a:srgbClr val="4F5D6A"/>
                </a:solidFill>
                <a:latin typeface="Consolas"/>
              </a:rPr>
              <a:t>141</a:t>
            </a:r>
          </a:p>
          <a:p>
            <a:pPr algn="r">
              <a:lnSpc>
                <a:spcPct val="100000"/>
              </a:lnSpc>
            </a:pPr>
            <a:r>
              <a:rPr sz="2000">
                <a:solidFill>
                  <a:srgbClr val="4F5D6A"/>
                </a:solidFill>
                <a:latin typeface="Consolas"/>
              </a:rPr>
              <a:t>142</a:t>
            </a:r>
          </a:p>
          <a:p>
            <a:pPr algn="r">
              <a:lnSpc>
                <a:spcPct val="100000"/>
              </a:lnSpc>
            </a:pPr>
            <a:r>
              <a:rPr sz="2000">
                <a:solidFill>
                  <a:srgbClr val="4F5D6A"/>
                </a:solidFill>
                <a:latin typeface="Consolas"/>
              </a:rPr>
              <a:t>143</a:t>
            </a:r>
          </a:p>
          <a:p>
            <a:pPr algn="r">
              <a:lnSpc>
                <a:spcPct val="100000"/>
              </a:lnSpc>
            </a:pPr>
            <a:r>
              <a:rPr sz="2000">
                <a:solidFill>
                  <a:srgbClr val="4F5D6A"/>
                </a:solidFill>
                <a:latin typeface="Consolas"/>
              </a:rPr>
              <a:t>144</a:t>
            </a:r>
          </a:p>
          <a:p>
            <a:pPr algn="r">
              <a:lnSpc>
                <a:spcPct val="100000"/>
              </a:lnSpc>
            </a:pPr>
            <a:r>
              <a:rPr sz="2000">
                <a:solidFill>
                  <a:srgbClr val="4F5D6A"/>
                </a:solidFill>
                <a:latin typeface="Consolas"/>
              </a:rPr>
              <a:t>145</a:t>
            </a:r>
          </a:p>
          <a:p>
            <a:pPr algn="r">
              <a:lnSpc>
                <a:spcPct val="100000"/>
              </a:lnSpc>
            </a:pPr>
            <a:r>
              <a:rPr sz="2000">
                <a:solidFill>
                  <a:srgbClr val="4F5D6A"/>
                </a:solidFill>
                <a:latin typeface="Consolas"/>
              </a:rPr>
              <a:t>146</a:t>
            </a:r>
          </a:p>
          <a:p>
            <a:pPr algn="r">
              <a:lnSpc>
                <a:spcPct val="100000"/>
              </a:lnSpc>
            </a:pPr>
            <a:r>
              <a:rPr sz="2000">
                <a:solidFill>
                  <a:srgbClr val="4F5D6A"/>
                </a:solidFill>
                <a:latin typeface="Consolas"/>
              </a:rPr>
              <a:t>147</a:t>
            </a:r>
          </a:p>
          <a:p>
            <a:pPr algn="r">
              <a:lnSpc>
                <a:spcPct val="100000"/>
              </a:lnSpc>
            </a:pPr>
            <a:r>
              <a:rPr sz="2000">
                <a:solidFill>
                  <a:srgbClr val="4F5D6A"/>
                </a:solidFill>
                <a:latin typeface="Consolas"/>
              </a:rPr>
              <a:t>148</a:t>
            </a:r>
          </a:p>
          <a:p>
            <a:pPr algn="r">
              <a:lnSpc>
                <a:spcPct val="100000"/>
              </a:lnSpc>
            </a:pPr>
            <a:r>
              <a:rPr sz="2000">
                <a:solidFill>
                  <a:srgbClr val="4F5D6A"/>
                </a:solidFill>
                <a:latin typeface="Consolas"/>
              </a:rPr>
              <a:t>149</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46430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Minimax and Alpha–Beta on a Slot Negotiation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10 OF 13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F1FD7942-B7E4-45BB-BA31-A04CFCD1188B}" type="slidenum">
              <a:rPr lang="en-GB" sz="1000">
                <a:solidFill>
                  <a:srgbClr val="8795A1"/>
                </a:solidFill>
                <a:latin typeface="Segoe UI"/>
              </a:rPr>
              <a:t>31</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43983"/>
          </a:xfrm>
          <a:prstGeom prst="roundRect">
            <a:avLst>
              <a:gd name="adj" fmla="val 20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code/ch08_minimax_alpha_beta.py</a:t>
            </a:r>
          </a:p>
        </p:txBody>
      </p:sp>
      <p:sp>
        <p:nvSpPr>
          <p:cNvPr id="13" name="!!code-text" descr="results = {&quot;minimax&quot;: c0.evals} for how, label in ((&quot;worst&quot;, &quot;alpha-beta, worst ordering &quot;), (&quot;natural&quot;, &quot;alpha-beta, natural ordering&quot;), (&quot;best&quot;, &quot;alpha-beta, perfect ordering&quot;)): c = Counter() v = alphabeta((), True, -10 ** 9, 10 ** 9, c, how) assert v == value, how # pruning is EXACT results[how] = c.evals print(&quot;%-30s %10d %7d %6d&quot; % (label, c.evals, c.nodes, v)) # the theoretical bound, reached exactly by perfect ordering bound = BRANCH ** ((DEPTH + 1) // 2) + BRANCH ** (DEPTH // 2) - 1 print() print(&quot;b^ceil(d/2) + b^floor(d/2) - 1 = %d^%d + %d^%d - 1 = %d&quot; % (BRANCH, (DEPTH + 1) // 2, BRANCH, DEPTH // 2, bound)) assert results[&quot;best&quot;] == bound print(&quot;perfect ordering evaluated %d leaves: the bound, exactly.&quot; % results[&quot;best&quot;])"/>
          <p:cNvSpPr txBox="1"/>
          <p:nvPr/>
        </p:nvSpPr>
        <p:spPr>
          <a:xfrm>
            <a:off x="1362456" y="2066543"/>
            <a:ext cx="9987991" cy="3950207"/>
          </a:xfrm>
          <a:prstGeom prst="rect">
            <a:avLst/>
          </a:prstGeom>
          <a:noFill/>
        </p:spPr>
        <p:txBody>
          <a:bodyPr wrap="none" anchor="t" lIns="0" rIns="0" tIns="0" bIns="0">
            <a:noAutofit/>
          </a:bodyPr>
          <a:lstStyle/>
          <a:p>
            <a:pPr>
              <a:lnSpc>
                <a:spcPct val="100000"/>
              </a:lnSpc>
              <a:spcAft>
                <a:spcPts val="0"/>
              </a:spcAft>
            </a:pPr>
            <a:r>
              <a:rPr sz="1400" i="0">
                <a:solidFill>
                  <a:srgbClr val="E8EDF2"/>
                </a:solidFill>
                <a:latin typeface="Consolas"/>
              </a:rPr>
              <a:t>    </a:t>
            </a:r>
            <a:r>
              <a:rPr sz="1400" i="0">
                <a:solidFill>
                  <a:srgbClr val="E8EDF2"/>
                </a:solidFill>
                <a:latin typeface="Consolas"/>
              </a:rPr>
              <a:t>results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minimax</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c0</a:t>
            </a:r>
            <a:r>
              <a:rPr sz="1400" i="0">
                <a:solidFill>
                  <a:srgbClr val="AEB6BF"/>
                </a:solidFill>
                <a:latin typeface="Consolas"/>
              </a:rPr>
              <a:t>.</a:t>
            </a:r>
            <a:r>
              <a:rPr sz="1400" i="0">
                <a:solidFill>
                  <a:srgbClr val="E8EDF2"/>
                </a:solidFill>
                <a:latin typeface="Consolas"/>
              </a:rPr>
              <a:t>evals</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how</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label</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worst</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alpha-beta, worst ordering  </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natural</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alpha-beta, natural ordering</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best</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alpha-beta, perfect ordering</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c</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Counter</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v</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alphabeta</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True</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10</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9</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10</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9</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how</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assert</a:t>
            </a:r>
            <a:r>
              <a:rPr sz="1400" i="0">
                <a:solidFill>
                  <a:srgbClr val="E8EDF2"/>
                </a:solidFill>
                <a:latin typeface="Consolas"/>
              </a:rPr>
              <a:t> </a:t>
            </a:r>
            <a:r>
              <a:rPr sz="1400" i="0">
                <a:solidFill>
                  <a:srgbClr val="E8EDF2"/>
                </a:solidFill>
                <a:latin typeface="Consolas"/>
              </a:rPr>
              <a:t>v</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value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how</a:t>
            </a:r>
            <a:r>
              <a:rPr sz="1400" i="0">
                <a:solidFill>
                  <a:srgbClr val="E8EDF2"/>
                </a:solidFill>
                <a:latin typeface="Consolas"/>
              </a:rPr>
              <a:t>          </a:t>
            </a:r>
            <a:r>
              <a:rPr sz="1400" i="1">
                <a:solidFill>
                  <a:srgbClr val="8795A1"/>
                </a:solidFill>
                <a:latin typeface="Consolas"/>
              </a:rPr>
              <a:t># pruning is EXACT</a:t>
            </a:r>
          </a:p>
          <a:p>
            <a:pPr>
              <a:lnSpc>
                <a:spcPct val="100000"/>
              </a:lnSpc>
              <a:spcAft>
                <a:spcPts val="0"/>
              </a:spcAft>
            </a:pPr>
            <a:r>
              <a:rPr sz="1400" i="0">
                <a:solidFill>
                  <a:srgbClr val="E8EDF2"/>
                </a:solidFill>
                <a:latin typeface="Consolas"/>
              </a:rPr>
              <a:t>        </a:t>
            </a:r>
            <a:r>
              <a:rPr sz="1400" i="0">
                <a:solidFill>
                  <a:srgbClr val="E8EDF2"/>
                </a:solidFill>
                <a:latin typeface="Consolas"/>
              </a:rPr>
              <a:t>results</a:t>
            </a:r>
            <a:r>
              <a:rPr sz="1400" i="0">
                <a:solidFill>
                  <a:srgbClr val="AEB6BF"/>
                </a:solidFill>
                <a:latin typeface="Consolas"/>
              </a:rPr>
              <a:t>[</a:t>
            </a:r>
            <a:r>
              <a:rPr sz="1400" i="0">
                <a:solidFill>
                  <a:srgbClr val="E8EDF2"/>
                </a:solidFill>
                <a:latin typeface="Consolas"/>
              </a:rPr>
              <a:t>how</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E8EDF2"/>
                </a:solidFill>
                <a:latin typeface="Consolas"/>
              </a:rPr>
              <a:t>evals</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%-30s</a:t>
            </a:r>
            <a:r>
              <a:rPr sz="1400" i="0">
                <a:solidFill>
                  <a:srgbClr val="7DCEA0"/>
                </a:solidFill>
                <a:latin typeface="Consolas"/>
              </a:rPr>
              <a:t> </a:t>
            </a:r>
            <a:r>
              <a:rPr sz="1400" i="0">
                <a:solidFill>
                  <a:srgbClr val="7DCEA0"/>
                </a:solidFill>
                <a:latin typeface="Consolas"/>
              </a:rPr>
              <a:t>%10d</a:t>
            </a:r>
            <a:r>
              <a:rPr sz="1400" i="0">
                <a:solidFill>
                  <a:srgbClr val="7DCEA0"/>
                </a:solidFill>
                <a:latin typeface="Consolas"/>
              </a:rPr>
              <a:t> </a:t>
            </a:r>
            <a:r>
              <a:rPr sz="1400" i="0">
                <a:solidFill>
                  <a:srgbClr val="7DCEA0"/>
                </a:solidFill>
                <a:latin typeface="Consolas"/>
              </a:rPr>
              <a:t>%7d</a:t>
            </a:r>
            <a:r>
              <a:rPr sz="1400" i="0">
                <a:solidFill>
                  <a:srgbClr val="7DCEA0"/>
                </a:solidFill>
                <a:latin typeface="Consolas"/>
              </a:rPr>
              <a:t> </a:t>
            </a:r>
            <a:r>
              <a:rPr sz="1400" i="0">
                <a:solidFill>
                  <a:srgbClr val="7DCEA0"/>
                </a:solidFill>
                <a:latin typeface="Consolas"/>
              </a:rPr>
              <a:t>%6d</a:t>
            </a:r>
            <a:r>
              <a:rPr sz="1400" i="0">
                <a:solidFill>
                  <a:srgbClr val="7DCEA0"/>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label</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E8EDF2"/>
                </a:solidFill>
                <a:latin typeface="Consolas"/>
              </a:rPr>
              <a:t>evals</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E8EDF2"/>
                </a:solidFill>
                <a:latin typeface="Consolas"/>
              </a:rPr>
              <a:t>nodes</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v</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    </a:t>
            </a:r>
            <a:r>
              <a:rPr sz="1400" i="1">
                <a:solidFill>
                  <a:srgbClr val="8795A1"/>
                </a:solidFill>
                <a:latin typeface="Consolas"/>
              </a:rPr>
              <a:t># the theoretical bound, reached exactly by perfect ordering</a:t>
            </a:r>
          </a:p>
          <a:p>
            <a:pPr>
              <a:lnSpc>
                <a:spcPct val="100000"/>
              </a:lnSpc>
              <a:spcAft>
                <a:spcPts val="0"/>
              </a:spcAft>
            </a:pPr>
            <a:r>
              <a:rPr sz="1400" i="0">
                <a:solidFill>
                  <a:srgbClr val="E8EDF2"/>
                </a:solidFill>
                <a:latin typeface="Consolas"/>
              </a:rPr>
              <a:t>    </a:t>
            </a:r>
            <a:r>
              <a:rPr sz="1400" i="0">
                <a:solidFill>
                  <a:srgbClr val="E8EDF2"/>
                </a:solidFill>
                <a:latin typeface="Consolas"/>
              </a:rPr>
              <a:t>bound</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BRANCH</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DEPTH</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BRANCH</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DEPTH</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b^ceil(d/2) + b^floor(d/2) - 1 = </a:t>
            </a:r>
            <a:r>
              <a:rPr sz="1400" i="0">
                <a:solidFill>
                  <a:srgbClr val="7DCEA0"/>
                </a:solidFill>
                <a:latin typeface="Consolas"/>
              </a:rPr>
              <a:t>%d</a:t>
            </a:r>
            <a:r>
              <a:rPr sz="1400" i="0">
                <a:solidFill>
                  <a:srgbClr val="7DCEA0"/>
                </a:solidFill>
                <a:latin typeface="Consolas"/>
              </a:rPr>
              <a:t>^</a:t>
            </a:r>
            <a:r>
              <a:rPr sz="1400" i="0">
                <a:solidFill>
                  <a:srgbClr val="7DCEA0"/>
                </a:solidFill>
                <a:latin typeface="Consolas"/>
              </a:rPr>
              <a:t>%d</a:t>
            </a:r>
            <a:r>
              <a:rPr sz="1400" i="0">
                <a:solidFill>
                  <a:srgbClr val="7DCEA0"/>
                </a:solidFill>
                <a:latin typeface="Consolas"/>
              </a:rPr>
              <a:t> + </a:t>
            </a:r>
            <a:r>
              <a:rPr sz="1400" i="0">
                <a:solidFill>
                  <a:srgbClr val="7DCEA0"/>
                </a:solidFill>
                <a:latin typeface="Consolas"/>
              </a:rPr>
              <a:t>%d</a:t>
            </a:r>
            <a:r>
              <a:rPr sz="1400" i="0">
                <a:solidFill>
                  <a:srgbClr val="7DCEA0"/>
                </a:solidFill>
                <a:latin typeface="Consolas"/>
              </a:rPr>
              <a:t>^</a:t>
            </a:r>
            <a:r>
              <a:rPr sz="1400" i="0">
                <a:solidFill>
                  <a:srgbClr val="7DCEA0"/>
                </a:solidFill>
                <a:latin typeface="Consolas"/>
              </a:rPr>
              <a:t>%d</a:t>
            </a:r>
            <a:r>
              <a:rPr sz="1400" i="0">
                <a:solidFill>
                  <a:srgbClr val="7DCEA0"/>
                </a:solidFill>
                <a:latin typeface="Consolas"/>
              </a:rPr>
              <a:t> - 1 = </a:t>
            </a:r>
            <a:r>
              <a:rPr sz="1400" i="0">
                <a:solidFill>
                  <a:srgbClr val="7DCEA0"/>
                </a:solidFill>
                <a:latin typeface="Consolas"/>
              </a:rPr>
              <a:t>%d</a:t>
            </a:r>
            <a:r>
              <a:rPr sz="1400" i="0">
                <a:solidFill>
                  <a:srgbClr val="7DCEA0"/>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BRANCH</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DEPTH</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BRANCH</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DEPTH</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bound</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assert</a:t>
            </a:r>
            <a:r>
              <a:rPr sz="1400" i="0">
                <a:solidFill>
                  <a:srgbClr val="E8EDF2"/>
                </a:solidFill>
                <a:latin typeface="Consolas"/>
              </a:rPr>
              <a:t> </a:t>
            </a:r>
            <a:r>
              <a:rPr sz="1400" i="0">
                <a:solidFill>
                  <a:srgbClr val="E8EDF2"/>
                </a:solidFill>
                <a:latin typeface="Consolas"/>
              </a:rPr>
              <a:t>results</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best</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bound</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perfect ordering evaluated </a:t>
            </a:r>
            <a:r>
              <a:rPr sz="1400" i="0">
                <a:solidFill>
                  <a:srgbClr val="7DCEA0"/>
                </a:solidFill>
                <a:latin typeface="Consolas"/>
              </a:rPr>
              <a:t>%d</a:t>
            </a:r>
            <a:r>
              <a:rPr sz="1400" i="0">
                <a:solidFill>
                  <a:srgbClr val="7DCEA0"/>
                </a:solidFill>
                <a:latin typeface="Consolas"/>
              </a:rPr>
              <a:t> leaves: the bound, exactly.</a:t>
            </a:r>
            <a:r>
              <a:rPr sz="1400" i="0">
                <a:solidFill>
                  <a:srgbClr val="7DCEA0"/>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results</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best</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p>
        </p:txBody>
      </p:sp>
      <p:sp>
        <p:nvSpPr>
          <p:cNvPr id="14" name="!!code-num"/>
          <p:cNvSpPr txBox="1"/>
          <p:nvPr/>
        </p:nvSpPr>
        <p:spPr>
          <a:xfrm>
            <a:off x="768096" y="2066543"/>
            <a:ext cx="393192" cy="395020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151</a:t>
            </a:r>
          </a:p>
          <a:p>
            <a:pPr algn="r">
              <a:lnSpc>
                <a:spcPct val="100000"/>
              </a:lnSpc>
            </a:pPr>
            <a:r>
              <a:rPr sz="1400">
                <a:solidFill>
                  <a:srgbClr val="4F5D6A"/>
                </a:solidFill>
                <a:latin typeface="Consolas"/>
              </a:rPr>
              <a:t>152</a:t>
            </a:r>
          </a:p>
          <a:p>
            <a:pPr algn="r">
              <a:lnSpc>
                <a:spcPct val="100000"/>
              </a:lnSpc>
            </a:pPr>
            <a:r>
              <a:rPr sz="1400">
                <a:solidFill>
                  <a:srgbClr val="4F5D6A"/>
                </a:solidFill>
                <a:latin typeface="Consolas"/>
              </a:rPr>
              <a:t>153</a:t>
            </a:r>
          </a:p>
          <a:p>
            <a:pPr algn="r">
              <a:lnSpc>
                <a:spcPct val="100000"/>
              </a:lnSpc>
            </a:pPr>
            <a:r>
              <a:rPr sz="1400">
                <a:solidFill>
                  <a:srgbClr val="4F5D6A"/>
                </a:solidFill>
                <a:latin typeface="Consolas"/>
              </a:rPr>
              <a:t>154</a:t>
            </a:r>
          </a:p>
          <a:p>
            <a:pPr algn="r">
              <a:lnSpc>
                <a:spcPct val="100000"/>
              </a:lnSpc>
            </a:pPr>
            <a:r>
              <a:rPr sz="1400">
                <a:solidFill>
                  <a:srgbClr val="4F5D6A"/>
                </a:solidFill>
                <a:latin typeface="Consolas"/>
              </a:rPr>
              <a:t>155</a:t>
            </a:r>
          </a:p>
          <a:p>
            <a:pPr algn="r">
              <a:lnSpc>
                <a:spcPct val="100000"/>
              </a:lnSpc>
            </a:pPr>
            <a:r>
              <a:rPr sz="1400">
                <a:solidFill>
                  <a:srgbClr val="4F5D6A"/>
                </a:solidFill>
                <a:latin typeface="Consolas"/>
              </a:rPr>
              <a:t>156</a:t>
            </a:r>
          </a:p>
          <a:p>
            <a:pPr algn="r">
              <a:lnSpc>
                <a:spcPct val="100000"/>
              </a:lnSpc>
            </a:pPr>
            <a:r>
              <a:rPr sz="1400">
                <a:solidFill>
                  <a:srgbClr val="4F5D6A"/>
                </a:solidFill>
                <a:latin typeface="Consolas"/>
              </a:rPr>
              <a:t>157</a:t>
            </a:r>
          </a:p>
          <a:p>
            <a:pPr algn="r">
              <a:lnSpc>
                <a:spcPct val="100000"/>
              </a:lnSpc>
            </a:pPr>
            <a:r>
              <a:rPr sz="1400">
                <a:solidFill>
                  <a:srgbClr val="4F5D6A"/>
                </a:solidFill>
                <a:latin typeface="Consolas"/>
              </a:rPr>
              <a:t>158</a:t>
            </a:r>
          </a:p>
          <a:p>
            <a:pPr algn="r">
              <a:lnSpc>
                <a:spcPct val="100000"/>
              </a:lnSpc>
            </a:pPr>
            <a:r>
              <a:rPr sz="1400">
                <a:solidFill>
                  <a:srgbClr val="4F5D6A"/>
                </a:solidFill>
                <a:latin typeface="Consolas"/>
              </a:rPr>
              <a:t>159</a:t>
            </a:r>
          </a:p>
          <a:p>
            <a:pPr algn="r">
              <a:lnSpc>
                <a:spcPct val="100000"/>
              </a:lnSpc>
            </a:pPr>
            <a:r>
              <a:rPr sz="1400">
                <a:solidFill>
                  <a:srgbClr val="4F5D6A"/>
                </a:solidFill>
                <a:latin typeface="Consolas"/>
              </a:rPr>
              <a:t>160</a:t>
            </a:r>
          </a:p>
          <a:p>
            <a:pPr algn="r">
              <a:lnSpc>
                <a:spcPct val="100000"/>
              </a:lnSpc>
            </a:pPr>
            <a:r>
              <a:rPr sz="1400">
                <a:solidFill>
                  <a:srgbClr val="4F5D6A"/>
                </a:solidFill>
                <a:latin typeface="Consolas"/>
              </a:rPr>
              <a:t>161</a:t>
            </a:r>
          </a:p>
          <a:p>
            <a:pPr algn="r">
              <a:lnSpc>
                <a:spcPct val="100000"/>
              </a:lnSpc>
            </a:pPr>
            <a:r>
              <a:rPr sz="1400">
                <a:solidFill>
                  <a:srgbClr val="4F5D6A"/>
                </a:solidFill>
                <a:latin typeface="Consolas"/>
              </a:rPr>
              <a:t>162</a:t>
            </a:r>
          </a:p>
          <a:p>
            <a:pPr algn="r">
              <a:lnSpc>
                <a:spcPct val="100000"/>
              </a:lnSpc>
            </a:pPr>
            <a:r>
              <a:rPr sz="1400">
                <a:solidFill>
                  <a:srgbClr val="4F5D6A"/>
                </a:solidFill>
                <a:latin typeface="Consolas"/>
              </a:rPr>
              <a:t>163</a:t>
            </a:r>
          </a:p>
          <a:p>
            <a:pPr algn="r">
              <a:lnSpc>
                <a:spcPct val="100000"/>
              </a:lnSpc>
            </a:pPr>
            <a:r>
              <a:rPr sz="1400">
                <a:solidFill>
                  <a:srgbClr val="4F5D6A"/>
                </a:solidFill>
                <a:latin typeface="Consolas"/>
              </a:rPr>
              <a:t>164</a:t>
            </a:r>
          </a:p>
          <a:p>
            <a:pPr algn="r">
              <a:lnSpc>
                <a:spcPct val="100000"/>
              </a:lnSpc>
            </a:pPr>
            <a:r>
              <a:rPr sz="1400">
                <a:solidFill>
                  <a:srgbClr val="4F5D6A"/>
                </a:solidFill>
                <a:latin typeface="Consolas"/>
              </a:rPr>
              <a:t>165</a:t>
            </a:r>
          </a:p>
          <a:p>
            <a:pPr algn="r">
              <a:lnSpc>
                <a:spcPct val="100000"/>
              </a:lnSpc>
            </a:pPr>
            <a:r>
              <a:rPr sz="1400">
                <a:solidFill>
                  <a:srgbClr val="4F5D6A"/>
                </a:solidFill>
                <a:latin typeface="Consolas"/>
              </a:rPr>
              <a:t>166</a:t>
            </a:r>
          </a:p>
          <a:p>
            <a:pPr algn="r">
              <a:lnSpc>
                <a:spcPct val="100000"/>
              </a:lnSpc>
            </a:pPr>
            <a:r>
              <a:rPr sz="1400">
                <a:solidFill>
                  <a:srgbClr val="4F5D6A"/>
                </a:solidFill>
                <a:latin typeface="Consolas"/>
              </a:rPr>
              <a:t>167</a:t>
            </a:r>
          </a:p>
          <a:p>
            <a:pPr algn="r">
              <a:lnSpc>
                <a:spcPct val="100000"/>
              </a:lnSpc>
            </a:pPr>
            <a:r>
              <a:rPr sz="1400">
                <a:solidFill>
                  <a:srgbClr val="4F5D6A"/>
                </a:solidFill>
                <a:latin typeface="Consolas"/>
              </a:rPr>
              <a:t>168</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71311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Minimax and Alpha–Beta on a Slot Negotiation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11 OF 13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5C61794E-E37E-4469-9726-C57783052A8E}" type="slidenum">
              <a:rPr lang="en-GB" sz="1000">
                <a:solidFill>
                  <a:srgbClr val="8795A1"/>
                </a:solidFill>
                <a:latin typeface="Segoe UI"/>
              </a:rPr>
              <a:t>32</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346703"/>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code/ch08_minimax_alpha_beta.py</a:t>
            </a:r>
          </a:p>
        </p:txBody>
      </p:sp>
      <p:sp>
        <p:nvSpPr>
          <p:cNvPr id="13" name="!!code-text" descr="# pruning never loses, and ordering decides how much it wins assert results[&quot;worst&quot;] &lt; results[&quot;minimax&quot;] assert results[&quot;best&quot;] &lt; results[&quot;natural&quot;] &lt; results[&quot;worst&quot;] print() print(&quot;saving against minimax: worst %.1fx natural %.1fx &quot; &quot;perfect %.1fx&quot; % (results[&quot;minimax&quot;] / results[&quot;worst&quot;], results[&quot;minimax&quot;] / results[&quot;natural&quot;], results[&quot;minimax&quot;] / results[&quot;best&quot;]))"/>
          <p:cNvSpPr txBox="1"/>
          <p:nvPr/>
        </p:nvSpPr>
        <p:spPr>
          <a:xfrm>
            <a:off x="1362456" y="2066543"/>
            <a:ext cx="9987991" cy="2852927"/>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    </a:t>
            </a:r>
            <a:r>
              <a:rPr sz="2000" i="1">
                <a:solidFill>
                  <a:srgbClr val="8795A1"/>
                </a:solidFill>
                <a:latin typeface="Consolas"/>
              </a:rPr>
              <a:t># pruning never loses, and ordering decides how much it wins</a:t>
            </a:r>
          </a:p>
          <a:p>
            <a:pPr>
              <a:lnSpc>
                <a:spcPct val="100000"/>
              </a:lnSpc>
              <a:spcAft>
                <a:spcPts val="0"/>
              </a:spcAft>
            </a:pPr>
            <a:r>
              <a:rPr sz="2000" i="0">
                <a:solidFill>
                  <a:srgbClr val="E8EDF2"/>
                </a:solidFill>
                <a:latin typeface="Consolas"/>
              </a:rPr>
              <a:t>    </a:t>
            </a:r>
            <a:r>
              <a:rPr sz="2000" i="0">
                <a:solidFill>
                  <a:srgbClr val="5DADE2"/>
                </a:solidFill>
                <a:latin typeface="Consolas"/>
              </a:rPr>
              <a:t>assert</a:t>
            </a:r>
            <a:r>
              <a:rPr sz="2000" i="0">
                <a:solidFill>
                  <a:srgbClr val="E8EDF2"/>
                </a:solidFill>
                <a:latin typeface="Consolas"/>
              </a:rPr>
              <a:t> </a:t>
            </a:r>
            <a:r>
              <a:rPr sz="2000" i="0">
                <a:solidFill>
                  <a:srgbClr val="E8EDF2"/>
                </a:solidFill>
                <a:latin typeface="Consolas"/>
              </a:rPr>
              <a:t>results</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worst</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&lt;</a:t>
            </a:r>
            <a:r>
              <a:rPr sz="2000" i="0">
                <a:solidFill>
                  <a:srgbClr val="E8EDF2"/>
                </a:solidFill>
                <a:latin typeface="Consolas"/>
              </a:rPr>
              <a:t> </a:t>
            </a:r>
            <a:r>
              <a:rPr sz="2000" i="0">
                <a:solidFill>
                  <a:srgbClr val="E8EDF2"/>
                </a:solidFill>
                <a:latin typeface="Consolas"/>
              </a:rPr>
              <a:t>results</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minimax</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assert</a:t>
            </a:r>
            <a:r>
              <a:rPr sz="2000" i="0">
                <a:solidFill>
                  <a:srgbClr val="E8EDF2"/>
                </a:solidFill>
                <a:latin typeface="Consolas"/>
              </a:rPr>
              <a:t> </a:t>
            </a:r>
            <a:r>
              <a:rPr sz="2000" i="0">
                <a:solidFill>
                  <a:srgbClr val="E8EDF2"/>
                </a:solidFill>
                <a:latin typeface="Consolas"/>
              </a:rPr>
              <a:t>results</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best</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&lt;</a:t>
            </a:r>
            <a:r>
              <a:rPr sz="2000" i="0">
                <a:solidFill>
                  <a:srgbClr val="E8EDF2"/>
                </a:solidFill>
                <a:latin typeface="Consolas"/>
              </a:rPr>
              <a:t> </a:t>
            </a:r>
            <a:r>
              <a:rPr sz="2000" i="0">
                <a:solidFill>
                  <a:srgbClr val="E8EDF2"/>
                </a:solidFill>
                <a:latin typeface="Consolas"/>
              </a:rPr>
              <a:t>results</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natural</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&lt;</a:t>
            </a:r>
            <a:r>
              <a:rPr sz="2000" i="0">
                <a:solidFill>
                  <a:srgbClr val="E8EDF2"/>
                </a:solidFill>
                <a:latin typeface="Consolas"/>
              </a:rPr>
              <a:t> </a:t>
            </a:r>
            <a:r>
              <a:rPr sz="2000" i="0">
                <a:solidFill>
                  <a:srgbClr val="E8EDF2"/>
                </a:solidFill>
                <a:latin typeface="Consolas"/>
              </a:rPr>
              <a:t>results</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worst</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saving against minimax:  worst </a:t>
            </a:r>
            <a:r>
              <a:rPr sz="2000" i="0">
                <a:solidFill>
                  <a:srgbClr val="7DCEA0"/>
                </a:solidFill>
                <a:latin typeface="Consolas"/>
              </a:rPr>
              <a:t>%.1f</a:t>
            </a:r>
            <a:r>
              <a:rPr sz="2000" i="0">
                <a:solidFill>
                  <a:srgbClr val="7DCEA0"/>
                </a:solidFill>
                <a:latin typeface="Consolas"/>
              </a:rPr>
              <a:t>x   natural </a:t>
            </a:r>
            <a:r>
              <a:rPr sz="2000" i="0">
                <a:solidFill>
                  <a:srgbClr val="7DCEA0"/>
                </a:solidFill>
                <a:latin typeface="Consolas"/>
              </a:rPr>
              <a:t>%.1f</a:t>
            </a:r>
            <a:r>
              <a:rPr sz="2000" i="0">
                <a:solidFill>
                  <a:srgbClr val="7DCEA0"/>
                </a:solidFill>
                <a:latin typeface="Consolas"/>
              </a:rPr>
              <a:t>x   </a:t>
            </a:r>
            <a:r>
              <a:rPr sz="2000" i="0">
                <a:solidFill>
                  <a:srgbClr val="7DCEA0"/>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perfect </a:t>
            </a:r>
            <a:r>
              <a:rPr sz="2000" i="0">
                <a:solidFill>
                  <a:srgbClr val="7DCEA0"/>
                </a:solidFill>
                <a:latin typeface="Consolas"/>
              </a:rPr>
              <a:t>%.1f</a:t>
            </a:r>
            <a:r>
              <a:rPr sz="2000" i="0">
                <a:solidFill>
                  <a:srgbClr val="7DCEA0"/>
                </a:solidFill>
                <a:latin typeface="Consolas"/>
              </a:rPr>
              <a:t>x</a:t>
            </a:r>
            <a:r>
              <a:rPr sz="2000" i="0">
                <a:solidFill>
                  <a:srgbClr val="7DCEA0"/>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results</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minimax</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results</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worst</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results</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minimax</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results</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natural</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results</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minimax</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results</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best</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p:txBody>
      </p:sp>
      <p:sp>
        <p:nvSpPr>
          <p:cNvPr id="14" name="!!code-num"/>
          <p:cNvSpPr txBox="1"/>
          <p:nvPr/>
        </p:nvSpPr>
        <p:spPr>
          <a:xfrm>
            <a:off x="768096" y="2066543"/>
            <a:ext cx="393192" cy="28529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170</a:t>
            </a:r>
          </a:p>
          <a:p>
            <a:pPr algn="r">
              <a:lnSpc>
                <a:spcPct val="100000"/>
              </a:lnSpc>
            </a:pPr>
            <a:r>
              <a:rPr sz="2000">
                <a:solidFill>
                  <a:srgbClr val="4F5D6A"/>
                </a:solidFill>
                <a:latin typeface="Consolas"/>
              </a:rPr>
              <a:t>171</a:t>
            </a:r>
          </a:p>
          <a:p>
            <a:pPr algn="r">
              <a:lnSpc>
                <a:spcPct val="100000"/>
              </a:lnSpc>
            </a:pPr>
            <a:r>
              <a:rPr sz="2000">
                <a:solidFill>
                  <a:srgbClr val="4F5D6A"/>
                </a:solidFill>
                <a:latin typeface="Consolas"/>
              </a:rPr>
              <a:t>172</a:t>
            </a:r>
          </a:p>
          <a:p>
            <a:pPr algn="r">
              <a:lnSpc>
                <a:spcPct val="100000"/>
              </a:lnSpc>
            </a:pPr>
            <a:r>
              <a:rPr sz="2000">
                <a:solidFill>
                  <a:srgbClr val="4F5D6A"/>
                </a:solidFill>
                <a:latin typeface="Consolas"/>
              </a:rPr>
              <a:t>173</a:t>
            </a:r>
          </a:p>
          <a:p>
            <a:pPr algn="r">
              <a:lnSpc>
                <a:spcPct val="100000"/>
              </a:lnSpc>
            </a:pPr>
            <a:r>
              <a:rPr sz="2000">
                <a:solidFill>
                  <a:srgbClr val="4F5D6A"/>
                </a:solidFill>
                <a:latin typeface="Consolas"/>
              </a:rPr>
              <a:t>174</a:t>
            </a:r>
          </a:p>
          <a:p>
            <a:pPr algn="r">
              <a:lnSpc>
                <a:spcPct val="100000"/>
              </a:lnSpc>
            </a:pPr>
            <a:r>
              <a:rPr sz="2000">
                <a:solidFill>
                  <a:srgbClr val="4F5D6A"/>
                </a:solidFill>
                <a:latin typeface="Consolas"/>
              </a:rPr>
              <a:t>175</a:t>
            </a:r>
          </a:p>
          <a:p>
            <a:pPr algn="r">
              <a:lnSpc>
                <a:spcPct val="100000"/>
              </a:lnSpc>
            </a:pPr>
            <a:r>
              <a:rPr sz="2000">
                <a:solidFill>
                  <a:srgbClr val="4F5D6A"/>
                </a:solidFill>
                <a:latin typeface="Consolas"/>
              </a:rPr>
              <a:t>176</a:t>
            </a:r>
          </a:p>
          <a:p>
            <a:pPr algn="r">
              <a:lnSpc>
                <a:spcPct val="100000"/>
              </a:lnSpc>
            </a:pPr>
            <a:r>
              <a:rPr sz="2000">
                <a:solidFill>
                  <a:srgbClr val="4F5D6A"/>
                </a:solidFill>
                <a:latin typeface="Consolas"/>
              </a:rPr>
              <a:t>177</a:t>
            </a:r>
          </a:p>
          <a:p>
            <a:pPr algn="r">
              <a:lnSpc>
                <a:spcPct val="100000"/>
              </a:lnSpc>
            </a:pPr>
            <a:r>
              <a:rPr sz="2000">
                <a:solidFill>
                  <a:srgbClr val="4F5D6A"/>
                </a:solidFill>
                <a:latin typeface="Consolas"/>
              </a:rPr>
              <a:t>178</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96192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Minimax and Alpha–Beta on a Slot Negotiation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12 OF 13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931820D0-A7F1-4F3B-8856-72EC3288F2A4}" type="slidenum">
              <a:rPr lang="en-GB" sz="1000">
                <a:solidFill>
                  <a:srgbClr val="8795A1"/>
                </a:solidFill>
                <a:latin typeface="Segoe UI"/>
              </a:rPr>
              <a:t>33</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788663"/>
          </a:xfrm>
          <a:prstGeom prst="roundRect">
            <a:avLst>
              <a:gd name="adj" fmla="val 24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code/ch08_minimax_alpha_beta.py</a:t>
            </a:r>
          </a:p>
        </p:txBody>
      </p:sp>
      <p:sp>
        <p:nvSpPr>
          <p:cNvPr id="13" name="!!code-text" descr="# does a shallow probe pay for the ordering it buys? Not here. c = Counter() v = ab_probe_ordered((), True, -10 ** 9, 10 ** 9, c, probe=1) assert v == value print() print(&quot;ordering by a depth-1 probe: %d leaf evals against natural&quot; % c.evals) print(&quot;ordering's %d. The probes cost more than they save at this&quot; % results[&quot;natural&quot;]) print(&quot;depth. Ordering pays in chess, at twenty ply with a cache.&quot;) assert c.evals &gt; results[&quot;natural&quot;]"/>
          <p:cNvSpPr txBox="1"/>
          <p:nvPr/>
        </p:nvSpPr>
        <p:spPr>
          <a:xfrm>
            <a:off x="1362456" y="2066543"/>
            <a:ext cx="9987991" cy="3294887"/>
          </a:xfrm>
          <a:prstGeom prst="rect">
            <a:avLst/>
          </a:prstGeom>
          <a:noFill/>
        </p:spPr>
        <p:txBody>
          <a:bodyPr wrap="none" anchor="t" lIns="0" rIns="0" tIns="0" bIns="0">
            <a:noAutofit/>
          </a:bodyPr>
          <a:lstStyle/>
          <a:p>
            <a:pPr>
              <a:lnSpc>
                <a:spcPct val="100000"/>
              </a:lnSpc>
              <a:spcAft>
                <a:spcPts val="0"/>
              </a:spcAft>
            </a:pPr>
            <a:r>
              <a:rPr sz="1900" i="0">
                <a:solidFill>
                  <a:srgbClr val="E8EDF2"/>
                </a:solidFill>
                <a:latin typeface="Consolas"/>
              </a:rPr>
              <a:t>    </a:t>
            </a:r>
            <a:r>
              <a:rPr sz="1900" i="1">
                <a:solidFill>
                  <a:srgbClr val="8795A1"/>
                </a:solidFill>
                <a:latin typeface="Consolas"/>
              </a:rPr>
              <a:t># does a shallow probe pay for the ordering it buys? Not here.</a:t>
            </a:r>
          </a:p>
          <a:p>
            <a:pPr>
              <a:lnSpc>
                <a:spcPct val="100000"/>
              </a:lnSpc>
              <a:spcAft>
                <a:spcPts val="0"/>
              </a:spcAft>
            </a:pP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Counter</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v</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ab_probe_ordered</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True</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F7DC6F"/>
                </a:solidFill>
                <a:latin typeface="Consolas"/>
              </a:rPr>
              <a:t>10</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9</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10</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9</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c</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probe</a:t>
            </a:r>
            <a:r>
              <a:rPr sz="1900" i="0">
                <a:solidFill>
                  <a:srgbClr val="AEB6BF"/>
                </a:solidFill>
                <a:latin typeface="Consolas"/>
              </a:rPr>
              <a:t>=</a:t>
            </a:r>
            <a:r>
              <a:rPr sz="1900" i="0">
                <a:solidFill>
                  <a:srgbClr val="F7DC6F"/>
                </a:solidFill>
                <a:latin typeface="Consolas"/>
              </a:rPr>
              <a:t>1</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assert</a:t>
            </a:r>
            <a:r>
              <a:rPr sz="1900" i="0">
                <a:solidFill>
                  <a:srgbClr val="E8EDF2"/>
                </a:solidFill>
                <a:latin typeface="Consolas"/>
              </a:rPr>
              <a:t> </a:t>
            </a:r>
            <a:r>
              <a:rPr sz="1900" i="0">
                <a:solidFill>
                  <a:srgbClr val="E8EDF2"/>
                </a:solidFill>
                <a:latin typeface="Consolas"/>
              </a:rPr>
              <a:t>v</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value</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ordering by a depth-1 probe: </a:t>
            </a:r>
            <a:r>
              <a:rPr sz="1900" i="0">
                <a:solidFill>
                  <a:srgbClr val="7DCEA0"/>
                </a:solidFill>
                <a:latin typeface="Consolas"/>
              </a:rPr>
              <a:t>%d</a:t>
            </a:r>
            <a:r>
              <a:rPr sz="1900" i="0">
                <a:solidFill>
                  <a:srgbClr val="7DCEA0"/>
                </a:solidFill>
                <a:latin typeface="Consolas"/>
              </a:rPr>
              <a:t> leaf evals against natural</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c</a:t>
            </a:r>
            <a:r>
              <a:rPr sz="1900" i="0">
                <a:solidFill>
                  <a:srgbClr val="AEB6BF"/>
                </a:solidFill>
                <a:latin typeface="Consolas"/>
              </a:rPr>
              <a:t>.</a:t>
            </a:r>
            <a:r>
              <a:rPr sz="1900" i="0">
                <a:solidFill>
                  <a:srgbClr val="E8EDF2"/>
                </a:solidFill>
                <a:latin typeface="Consolas"/>
              </a:rPr>
              <a:t>evals</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ordering</a:t>
            </a:r>
            <a:r>
              <a:rPr sz="1900" i="0">
                <a:solidFill>
                  <a:srgbClr val="7DCEA0"/>
                </a:solidFill>
                <a:latin typeface="Consolas"/>
              </a:rPr>
              <a:t>'</a:t>
            </a:r>
            <a:r>
              <a:rPr sz="1900" i="0">
                <a:solidFill>
                  <a:srgbClr val="7DCEA0"/>
                </a:solidFill>
                <a:latin typeface="Consolas"/>
              </a:rPr>
              <a:t>s </a:t>
            </a:r>
            <a:r>
              <a:rPr sz="1900" i="0">
                <a:solidFill>
                  <a:srgbClr val="7DCEA0"/>
                </a:solidFill>
                <a:latin typeface="Consolas"/>
              </a:rPr>
              <a:t>%d</a:t>
            </a:r>
            <a:r>
              <a:rPr sz="1900" i="0">
                <a:solidFill>
                  <a:srgbClr val="7DCEA0"/>
                </a:solidFill>
                <a:latin typeface="Consolas"/>
              </a:rPr>
              <a:t>. The probes cost more than they save at this</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results</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natural</a:t>
            </a:r>
            <a:r>
              <a:rPr sz="1900" i="0">
                <a:solidFill>
                  <a:srgbClr val="7DCEA0"/>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depth. Ordering pays in chess, at twenty ply with a cache.</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assert</a:t>
            </a:r>
            <a:r>
              <a:rPr sz="1900" i="0">
                <a:solidFill>
                  <a:srgbClr val="E8EDF2"/>
                </a:solidFill>
                <a:latin typeface="Consolas"/>
              </a:rPr>
              <a:t> </a:t>
            </a:r>
            <a:r>
              <a:rPr sz="1900" i="0">
                <a:solidFill>
                  <a:srgbClr val="E8EDF2"/>
                </a:solidFill>
                <a:latin typeface="Consolas"/>
              </a:rPr>
              <a:t>c</a:t>
            </a:r>
            <a:r>
              <a:rPr sz="1900" i="0">
                <a:solidFill>
                  <a:srgbClr val="AEB6BF"/>
                </a:solidFill>
                <a:latin typeface="Consolas"/>
              </a:rPr>
              <a:t>.</a:t>
            </a:r>
            <a:r>
              <a:rPr sz="1900" i="0">
                <a:solidFill>
                  <a:srgbClr val="E8EDF2"/>
                </a:solidFill>
                <a:latin typeface="Consolas"/>
              </a:rPr>
              <a:t>evals</a:t>
            </a:r>
            <a:r>
              <a:rPr sz="1900" i="0">
                <a:solidFill>
                  <a:srgbClr val="E8EDF2"/>
                </a:solidFill>
                <a:latin typeface="Consolas"/>
              </a:rPr>
              <a:t> </a:t>
            </a:r>
            <a:r>
              <a:rPr sz="1900" i="0">
                <a:solidFill>
                  <a:srgbClr val="AEB6BF"/>
                </a:solidFill>
                <a:latin typeface="Consolas"/>
              </a:rPr>
              <a:t>&gt;</a:t>
            </a:r>
            <a:r>
              <a:rPr sz="1900" i="0">
                <a:solidFill>
                  <a:srgbClr val="E8EDF2"/>
                </a:solidFill>
                <a:latin typeface="Consolas"/>
              </a:rPr>
              <a:t> </a:t>
            </a:r>
            <a:r>
              <a:rPr sz="1900" i="0">
                <a:solidFill>
                  <a:srgbClr val="E8EDF2"/>
                </a:solidFill>
                <a:latin typeface="Consolas"/>
              </a:rPr>
              <a:t>results</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natural</a:t>
            </a:r>
            <a:r>
              <a:rPr sz="1900" i="0">
                <a:solidFill>
                  <a:srgbClr val="7DCEA0"/>
                </a:solidFill>
                <a:latin typeface="Consolas"/>
              </a:rPr>
              <a:t>"</a:t>
            </a:r>
            <a:r>
              <a:rPr sz="1900" i="0">
                <a:solidFill>
                  <a:srgbClr val="AEB6BF"/>
                </a:solidFill>
                <a:latin typeface="Consolas"/>
              </a:rPr>
              <a:t>]</a:t>
            </a:r>
          </a:p>
        </p:txBody>
      </p:sp>
      <p:sp>
        <p:nvSpPr>
          <p:cNvPr id="14" name="!!code-num"/>
          <p:cNvSpPr txBox="1"/>
          <p:nvPr/>
        </p:nvSpPr>
        <p:spPr>
          <a:xfrm>
            <a:off x="768096" y="2066543"/>
            <a:ext cx="393192" cy="32948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180</a:t>
            </a:r>
          </a:p>
          <a:p>
            <a:pPr algn="r">
              <a:lnSpc>
                <a:spcPct val="100000"/>
              </a:lnSpc>
            </a:pPr>
            <a:r>
              <a:rPr sz="1900">
                <a:solidFill>
                  <a:srgbClr val="4F5D6A"/>
                </a:solidFill>
                <a:latin typeface="Consolas"/>
              </a:rPr>
              <a:t>181</a:t>
            </a:r>
          </a:p>
          <a:p>
            <a:pPr algn="r">
              <a:lnSpc>
                <a:spcPct val="100000"/>
              </a:lnSpc>
            </a:pPr>
            <a:r>
              <a:rPr sz="1900">
                <a:solidFill>
                  <a:srgbClr val="4F5D6A"/>
                </a:solidFill>
                <a:latin typeface="Consolas"/>
              </a:rPr>
              <a:t>182</a:t>
            </a:r>
          </a:p>
          <a:p>
            <a:pPr algn="r">
              <a:lnSpc>
                <a:spcPct val="100000"/>
              </a:lnSpc>
            </a:pPr>
            <a:r>
              <a:rPr sz="1900">
                <a:solidFill>
                  <a:srgbClr val="4F5D6A"/>
                </a:solidFill>
                <a:latin typeface="Consolas"/>
              </a:rPr>
              <a:t>183</a:t>
            </a:r>
          </a:p>
          <a:p>
            <a:pPr algn="r">
              <a:lnSpc>
                <a:spcPct val="100000"/>
              </a:lnSpc>
            </a:pPr>
            <a:r>
              <a:rPr sz="1900">
                <a:solidFill>
                  <a:srgbClr val="4F5D6A"/>
                </a:solidFill>
                <a:latin typeface="Consolas"/>
              </a:rPr>
              <a:t>184</a:t>
            </a:r>
          </a:p>
          <a:p>
            <a:pPr algn="r">
              <a:lnSpc>
                <a:spcPct val="100000"/>
              </a:lnSpc>
            </a:pPr>
            <a:r>
              <a:rPr sz="1900">
                <a:solidFill>
                  <a:srgbClr val="4F5D6A"/>
                </a:solidFill>
                <a:latin typeface="Consolas"/>
              </a:rPr>
              <a:t>185</a:t>
            </a:r>
          </a:p>
          <a:p>
            <a:pPr algn="r">
              <a:lnSpc>
                <a:spcPct val="100000"/>
              </a:lnSpc>
            </a:pPr>
            <a:r>
              <a:rPr sz="1900">
                <a:solidFill>
                  <a:srgbClr val="4F5D6A"/>
                </a:solidFill>
                <a:latin typeface="Consolas"/>
              </a:rPr>
              <a:t>186</a:t>
            </a:r>
          </a:p>
          <a:p>
            <a:pPr algn="r">
              <a:lnSpc>
                <a:spcPct val="100000"/>
              </a:lnSpc>
            </a:pPr>
            <a:r>
              <a:rPr sz="1900">
                <a:solidFill>
                  <a:srgbClr val="4F5D6A"/>
                </a:solidFill>
                <a:latin typeface="Consolas"/>
              </a:rPr>
              <a:t>187</a:t>
            </a:r>
          </a:p>
          <a:p>
            <a:pPr algn="r">
              <a:lnSpc>
                <a:spcPct val="100000"/>
              </a:lnSpc>
            </a:pPr>
            <a:r>
              <a:rPr sz="1900">
                <a:solidFill>
                  <a:srgbClr val="4F5D6A"/>
                </a:solidFill>
                <a:latin typeface="Consolas"/>
              </a:rPr>
              <a:t>188</a:t>
            </a:r>
          </a:p>
          <a:p>
            <a:pPr algn="r">
              <a:lnSpc>
                <a:spcPct val="100000"/>
              </a:lnSpc>
            </a:pPr>
            <a:r>
              <a:rPr sz="1900">
                <a:solidFill>
                  <a:srgbClr val="4F5D6A"/>
                </a:solidFill>
                <a:latin typeface="Consolas"/>
              </a:rPr>
              <a:t>189</a:t>
            </a:r>
          </a:p>
          <a:p>
            <a:pPr algn="r">
              <a:lnSpc>
                <a:spcPct val="100000"/>
              </a:lnSpc>
            </a:pPr>
            <a:r>
              <a:rPr sz="1900">
                <a:solidFill>
                  <a:srgbClr val="4F5D6A"/>
                </a:solidFill>
                <a:latin typeface="Consolas"/>
              </a:rPr>
              <a:t>190</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21073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Minimax and Alpha–Beta on a Slot Negotiation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13 OF 13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B64E3057-BE64-4CD3-9A00-34BC79789E5C}" type="slidenum">
              <a:rPr lang="en-GB" sz="1000">
                <a:solidFill>
                  <a:srgbClr val="8795A1"/>
                </a:solidFill>
                <a:latin typeface="Segoe UI"/>
              </a:rPr>
              <a:t>34</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code/ch08_minimax_alpha_beta.py</a:t>
            </a:r>
          </a:p>
        </p:txBody>
      </p:sp>
      <p:sp>
        <p:nvSpPr>
          <p:cNvPr id="13" name="!!code-text" descr="# how much does the instance matter? totals = [] for seed in range(20): globals()[&quot;LEAVES&quot;] = build(seed) c = Counter() alphabeta((), True, -10 ** 9, 10 ** 9, c, &quot;natural&quot;) totals.append(c.evals) print() print(&quot;across 20 different negotiations, natural ordering:&quot;) print(&quot; leaf evals min %d mean %.1f max %d&quot; % (min(totals), sum(totals) / len(totals), max(totals)))"/>
          <p:cNvSpPr txBox="1"/>
          <p:nvPr/>
        </p:nvSpPr>
        <p:spPr>
          <a:xfrm>
            <a:off x="1362456" y="2066543"/>
            <a:ext cx="9987991" cy="3462527"/>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    </a:t>
            </a:r>
            <a:r>
              <a:rPr sz="2000" i="1">
                <a:solidFill>
                  <a:srgbClr val="8795A1"/>
                </a:solidFill>
                <a:latin typeface="Consolas"/>
              </a:rPr>
              <a:t># how much does the instance matter?</a:t>
            </a:r>
          </a:p>
          <a:p>
            <a:pPr>
              <a:lnSpc>
                <a:spcPct val="100000"/>
              </a:lnSpc>
              <a:spcAft>
                <a:spcPts val="0"/>
              </a:spcAft>
            </a:pPr>
            <a:r>
              <a:rPr sz="2000" i="0">
                <a:solidFill>
                  <a:srgbClr val="E8EDF2"/>
                </a:solidFill>
                <a:latin typeface="Consolas"/>
              </a:rPr>
              <a:t>    </a:t>
            </a:r>
            <a:r>
              <a:rPr sz="2000" i="0">
                <a:solidFill>
                  <a:srgbClr val="E8EDF2"/>
                </a:solidFill>
                <a:latin typeface="Consolas"/>
              </a:rPr>
              <a:t>totals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seed</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C39BD3"/>
                </a:solidFill>
                <a:latin typeface="Consolas"/>
              </a:rPr>
              <a:t>range</a:t>
            </a:r>
            <a:r>
              <a:rPr sz="2000" i="0">
                <a:solidFill>
                  <a:srgbClr val="AEB6BF"/>
                </a:solidFill>
                <a:latin typeface="Consolas"/>
              </a:rPr>
              <a:t>(</a:t>
            </a:r>
            <a:r>
              <a:rPr sz="2000" i="0">
                <a:solidFill>
                  <a:srgbClr val="F7DC6F"/>
                </a:solidFill>
                <a:latin typeface="Consolas"/>
              </a:rPr>
              <a:t>20</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globals</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LEAVES</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build</a:t>
            </a:r>
            <a:r>
              <a:rPr sz="2000" i="0">
                <a:solidFill>
                  <a:srgbClr val="AEB6BF"/>
                </a:solidFill>
                <a:latin typeface="Consolas"/>
              </a:rPr>
              <a:t>(</a:t>
            </a:r>
            <a:r>
              <a:rPr sz="2000" i="0">
                <a:solidFill>
                  <a:srgbClr val="E8EDF2"/>
                </a:solidFill>
                <a:latin typeface="Consolas"/>
              </a:rPr>
              <a:t>seed</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c</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Counter</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alphabeta</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True</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F7DC6F"/>
                </a:solidFill>
                <a:latin typeface="Consolas"/>
              </a:rPr>
              <a:t>10</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9</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10</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9</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natural</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totals</a:t>
            </a:r>
            <a:r>
              <a:rPr sz="2000" i="0">
                <a:solidFill>
                  <a:srgbClr val="AEB6BF"/>
                </a:solidFill>
                <a:latin typeface="Consolas"/>
              </a:rPr>
              <a:t>.</a:t>
            </a:r>
            <a:r>
              <a:rPr sz="2000" i="0">
                <a:solidFill>
                  <a:srgbClr val="E8EDF2"/>
                </a:solidFill>
                <a:latin typeface="Consolas"/>
              </a:rPr>
              <a:t>append</a:t>
            </a:r>
            <a:r>
              <a:rPr sz="2000" i="0">
                <a:solidFill>
                  <a:srgbClr val="AEB6BF"/>
                </a:solidFill>
                <a:latin typeface="Consolas"/>
              </a:rPr>
              <a:t>(</a:t>
            </a:r>
            <a:r>
              <a:rPr sz="2000" i="0">
                <a:solidFill>
                  <a:srgbClr val="E8EDF2"/>
                </a:solidFill>
                <a:latin typeface="Consolas"/>
              </a:rPr>
              <a:t>c</a:t>
            </a:r>
            <a:r>
              <a:rPr sz="2000" i="0">
                <a:solidFill>
                  <a:srgbClr val="AEB6BF"/>
                </a:solidFill>
                <a:latin typeface="Consolas"/>
              </a:rPr>
              <a:t>.</a:t>
            </a:r>
            <a:r>
              <a:rPr sz="2000" i="0">
                <a:solidFill>
                  <a:srgbClr val="E8EDF2"/>
                </a:solidFill>
                <a:latin typeface="Consolas"/>
              </a:rPr>
              <a:t>evals</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across 20 different negotiations, natural ordering:</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   leaf evals  min </a:t>
            </a:r>
            <a:r>
              <a:rPr sz="2000" i="0">
                <a:solidFill>
                  <a:srgbClr val="7DCEA0"/>
                </a:solidFill>
                <a:latin typeface="Consolas"/>
              </a:rPr>
              <a:t>%d</a:t>
            </a:r>
            <a:r>
              <a:rPr sz="2000" i="0">
                <a:solidFill>
                  <a:srgbClr val="7DCEA0"/>
                </a:solidFill>
                <a:latin typeface="Consolas"/>
              </a:rPr>
              <a:t>   mean </a:t>
            </a:r>
            <a:r>
              <a:rPr sz="2000" i="0">
                <a:solidFill>
                  <a:srgbClr val="7DCEA0"/>
                </a:solidFill>
                <a:latin typeface="Consolas"/>
              </a:rPr>
              <a:t>%.1f</a:t>
            </a:r>
            <a:r>
              <a:rPr sz="2000" i="0">
                <a:solidFill>
                  <a:srgbClr val="7DCEA0"/>
                </a:solidFill>
                <a:latin typeface="Consolas"/>
              </a:rPr>
              <a:t>   max </a:t>
            </a:r>
            <a:r>
              <a:rPr sz="2000" i="0">
                <a:solidFill>
                  <a:srgbClr val="7DCEA0"/>
                </a:solidFill>
                <a:latin typeface="Consolas"/>
              </a:rPr>
              <a:t>%d</a:t>
            </a:r>
            <a:r>
              <a:rPr sz="2000" i="0">
                <a:solidFill>
                  <a:srgbClr val="7DCEA0"/>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C39BD3"/>
                </a:solidFill>
                <a:latin typeface="Consolas"/>
              </a:rPr>
              <a:t>min</a:t>
            </a:r>
            <a:r>
              <a:rPr sz="2000" i="0">
                <a:solidFill>
                  <a:srgbClr val="AEB6BF"/>
                </a:solidFill>
                <a:latin typeface="Consolas"/>
              </a:rPr>
              <a:t>(</a:t>
            </a:r>
            <a:r>
              <a:rPr sz="2000" i="0">
                <a:solidFill>
                  <a:srgbClr val="E8EDF2"/>
                </a:solidFill>
                <a:latin typeface="Consolas"/>
              </a:rPr>
              <a:t>totals</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sum</a:t>
            </a:r>
            <a:r>
              <a:rPr sz="2000" i="0">
                <a:solidFill>
                  <a:srgbClr val="AEB6BF"/>
                </a:solidFill>
                <a:latin typeface="Consolas"/>
              </a:rPr>
              <a:t>(</a:t>
            </a:r>
            <a:r>
              <a:rPr sz="2000" i="0">
                <a:solidFill>
                  <a:srgbClr val="E8EDF2"/>
                </a:solidFill>
                <a:latin typeface="Consolas"/>
              </a:rPr>
              <a:t>totals</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len</a:t>
            </a:r>
            <a:r>
              <a:rPr sz="2000" i="0">
                <a:solidFill>
                  <a:srgbClr val="AEB6BF"/>
                </a:solidFill>
                <a:latin typeface="Consolas"/>
              </a:rPr>
              <a:t>(</a:t>
            </a:r>
            <a:r>
              <a:rPr sz="2000" i="0">
                <a:solidFill>
                  <a:srgbClr val="E8EDF2"/>
                </a:solidFill>
                <a:latin typeface="Consolas"/>
              </a:rPr>
              <a:t>totals</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max</a:t>
            </a:r>
            <a:r>
              <a:rPr sz="2000" i="0">
                <a:solidFill>
                  <a:srgbClr val="AEB6BF"/>
                </a:solidFill>
                <a:latin typeface="Consolas"/>
              </a:rPr>
              <a:t>(</a:t>
            </a:r>
            <a:r>
              <a:rPr sz="2000" i="0">
                <a:solidFill>
                  <a:srgbClr val="E8EDF2"/>
                </a:solidFill>
                <a:latin typeface="Consolas"/>
              </a:rPr>
              <a:t>totals</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p:txBody>
      </p:sp>
      <p:sp>
        <p:nvSpPr>
          <p:cNvPr id="14" name="!!code-num"/>
          <p:cNvSpPr txBox="1"/>
          <p:nvPr/>
        </p:nvSpPr>
        <p:spPr>
          <a:xfrm>
            <a:off x="768096" y="2066543"/>
            <a:ext cx="393192" cy="34625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192</a:t>
            </a:r>
          </a:p>
          <a:p>
            <a:pPr algn="r">
              <a:lnSpc>
                <a:spcPct val="100000"/>
              </a:lnSpc>
            </a:pPr>
            <a:r>
              <a:rPr sz="2000">
                <a:solidFill>
                  <a:srgbClr val="4F5D6A"/>
                </a:solidFill>
                <a:latin typeface="Consolas"/>
              </a:rPr>
              <a:t>193</a:t>
            </a:r>
          </a:p>
          <a:p>
            <a:pPr algn="r">
              <a:lnSpc>
                <a:spcPct val="100000"/>
              </a:lnSpc>
            </a:pPr>
            <a:r>
              <a:rPr sz="2000">
                <a:solidFill>
                  <a:srgbClr val="4F5D6A"/>
                </a:solidFill>
                <a:latin typeface="Consolas"/>
              </a:rPr>
              <a:t>194</a:t>
            </a:r>
          </a:p>
          <a:p>
            <a:pPr algn="r">
              <a:lnSpc>
                <a:spcPct val="100000"/>
              </a:lnSpc>
            </a:pPr>
            <a:r>
              <a:rPr sz="2000">
                <a:solidFill>
                  <a:srgbClr val="4F5D6A"/>
                </a:solidFill>
                <a:latin typeface="Consolas"/>
              </a:rPr>
              <a:t>195</a:t>
            </a:r>
          </a:p>
          <a:p>
            <a:pPr algn="r">
              <a:lnSpc>
                <a:spcPct val="100000"/>
              </a:lnSpc>
            </a:pPr>
            <a:r>
              <a:rPr sz="2000">
                <a:solidFill>
                  <a:srgbClr val="4F5D6A"/>
                </a:solidFill>
                <a:latin typeface="Consolas"/>
              </a:rPr>
              <a:t>196</a:t>
            </a:r>
          </a:p>
          <a:p>
            <a:pPr algn="r">
              <a:lnSpc>
                <a:spcPct val="100000"/>
              </a:lnSpc>
            </a:pPr>
            <a:r>
              <a:rPr sz="2000">
                <a:solidFill>
                  <a:srgbClr val="4F5D6A"/>
                </a:solidFill>
                <a:latin typeface="Consolas"/>
              </a:rPr>
              <a:t>197</a:t>
            </a:r>
          </a:p>
          <a:p>
            <a:pPr algn="r">
              <a:lnSpc>
                <a:spcPct val="100000"/>
              </a:lnSpc>
            </a:pPr>
            <a:r>
              <a:rPr sz="2000">
                <a:solidFill>
                  <a:srgbClr val="4F5D6A"/>
                </a:solidFill>
                <a:latin typeface="Consolas"/>
              </a:rPr>
              <a:t>198</a:t>
            </a:r>
          </a:p>
          <a:p>
            <a:pPr algn="r">
              <a:lnSpc>
                <a:spcPct val="100000"/>
              </a:lnSpc>
            </a:pPr>
            <a:r>
              <a:rPr sz="2000">
                <a:solidFill>
                  <a:srgbClr val="4F5D6A"/>
                </a:solidFill>
                <a:latin typeface="Consolas"/>
              </a:rPr>
              <a:t>199</a:t>
            </a:r>
          </a:p>
          <a:p>
            <a:pPr algn="r">
              <a:lnSpc>
                <a:spcPct val="100000"/>
              </a:lnSpc>
            </a:pPr>
            <a:r>
              <a:rPr sz="2000">
                <a:solidFill>
                  <a:srgbClr val="4F5D6A"/>
                </a:solidFill>
                <a:latin typeface="Consolas"/>
              </a:rPr>
              <a:t>200</a:t>
            </a:r>
          </a:p>
          <a:p>
            <a:pPr algn="r">
              <a:lnSpc>
                <a:spcPct val="100000"/>
              </a:lnSpc>
            </a:pPr>
            <a:r>
              <a:rPr sz="2000">
                <a:solidFill>
                  <a:srgbClr val="4F5D6A"/>
                </a:solidFill>
                <a:latin typeface="Consolas"/>
              </a:rPr>
              <a:t>201</a:t>
            </a:r>
          </a:p>
          <a:p>
            <a:pPr algn="r">
              <a:lnSpc>
                <a:spcPct val="100000"/>
              </a:lnSpc>
            </a:pPr>
            <a:r>
              <a:rPr sz="2000">
                <a:solidFill>
                  <a:srgbClr val="4F5D6A"/>
                </a:solidFill>
                <a:latin typeface="Consolas"/>
              </a:rPr>
              <a:t>202</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45954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82     </a:t>
            </a:r>
            <a:fld id="{C0FE0273-4D8C-46E7-B7D9-D5B6B801A6C8}" type="slidenum">
              <a:rPr lang="en-GB" sz="1000">
                <a:solidFill>
                  <a:srgbClr val="8795A1"/>
                </a:solidFill>
                <a:latin typeface="Segoe UI"/>
              </a:rPr>
              <a:t>35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Then try the experiment from the worked example: set </a:t>
            </a:r>
            <a:r>
              <a:rPr sz="2150" b="0" i="0">
                <a:solidFill>
                  <a:srgbClr val="1F4E79"/>
                </a:solidFill>
                <a:latin typeface="Consolas"/>
              </a:rPr>
              <a:t>DEPTH = 6</a:t>
            </a:r>
            <a:r>
              <a:rPr sz="2300" b="0" i="0">
                <a:solidFill>
                  <a:srgbClr val="1C252B"/>
                </a:solidFill>
                <a:latin typeface="Segoe UI"/>
              </a:rPr>
              <a:t> and watch both the minimax count and the perfect-ordering bound move — </a:t>
            </a:r>
            <a:r>
              <a:rPr sz="2300" b="0" i="0">
                <a:solidFill>
                  <a:srgbClr val="1C252B"/>
                </a:solidFill>
                <a:latin typeface="Cambria"/>
              </a:rPr>
              <a:t>729</a:t>
            </a:r>
            <a:r>
              <a:rPr sz="2300" b="0" i="0">
                <a:solidFill>
                  <a:srgbClr val="1C252B"/>
                </a:solidFill>
                <a:latin typeface="Segoe UI"/>
              </a:rPr>
              <a:t> leaves against </a:t>
            </a:r>
            <a:r>
              <a:rPr sz="2300" b="0" i="0">
                <a:solidFill>
                  <a:srgbClr val="1C252B"/>
                </a:solidFill>
                <a:latin typeface="Cambria"/>
              </a:rPr>
              <a:t>3</a:t>
            </a:r>
            <a:r>
              <a:rPr sz="1500" b="0" i="0" baseline="30000">
                <a:solidFill>
                  <a:srgbClr val="1C252B"/>
                </a:solidFill>
                <a:latin typeface="Cambria"/>
              </a:rPr>
              <a:t>3</a:t>
            </a:r>
            <a:r>
              <a:rPr sz="2300" b="0" i="0">
                <a:solidFill>
                  <a:srgbClr val="1C252B"/>
                </a:solidFill>
                <a:latin typeface="Cambria"/>
              </a:rPr>
              <a:t>+3</a:t>
            </a:r>
            <a:r>
              <a:rPr sz="1500" b="0" i="0" baseline="30000">
                <a:solidFill>
                  <a:srgbClr val="1C252B"/>
                </a:solidFill>
                <a:latin typeface="Cambria"/>
              </a:rPr>
              <a:t>3</a:t>
            </a:r>
            <a:r>
              <a:rPr sz="2300" b="0" i="0">
                <a:solidFill>
                  <a:srgbClr val="1C252B"/>
                </a:solidFill>
                <a:latin typeface="Cambria"/>
              </a:rPr>
              <a:t>−1 = 53</a:t>
            </a:r>
            <a:r>
              <a:rPr sz="2300" b="0" i="0">
                <a:solidFill>
                  <a:srgbClr val="1C252B"/>
                </a:solidFill>
                <a:latin typeface="Segoe UI"/>
              </a:rPr>
              <a:t>. The gap is what buys the extra depth.</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70835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Alpha–beta evaluated five leaves where minimax evaluated eight, and both returned </a:t>
            </a:r>
            <a:r>
              <a:rPr sz="3400" b="0" i="0">
                <a:solidFill>
                  <a:srgbClr val="FFFFFF"/>
                </a:solidFill>
                <a:latin typeface="Cambria"/>
              </a:rPr>
              <a:t>5</a:t>
            </a:r>
            <a:r>
              <a:rPr sz="3400" b="0" i="0">
                <a:solidFill>
                  <a:srgbClr val="FFFFFF"/>
                </a:solidFill>
                <a:latin typeface="Segoe UI Semibold"/>
              </a:rPr>
              <a:t>. Explain in one sentence why that is not a coincidence and not an approximation.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8  ·  Adversarial Search and Game Playing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87  ·  answers in Appendix D     </a:t>
            </a:r>
            <a:fld id="{6EDB31A8-2FF6-4F31-8BB1-2B61E2771574}"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Alpha–beta evaluated five leaves where minimax evaluated eight, and both returned </a:t>
            </a:r>
            <a:r>
              <a:rPr sz="2400" b="0" i="0">
                <a:solidFill>
                  <a:srgbClr val="1A5276"/>
                </a:solidFill>
                <a:latin typeface="Cambria"/>
              </a:rPr>
              <a:t>5</a:t>
            </a:r>
            <a:r>
              <a:rPr sz="2400" b="0" i="0">
                <a:solidFill>
                  <a:srgbClr val="1A5276"/>
                </a:solidFill>
                <a:latin typeface="Segoe UI Semibold"/>
              </a:rPr>
              <a:t>. Explain in one sentence why that is not a coincidence and not an approximation.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alpha–beta only ever declines to evaluate leaves that </a:t>
            </a:r>
            <a:r>
              <a:rPr sz="2200" b="0" i="1">
                <a:solidFill>
                  <a:srgbClr val="1C252B"/>
                </a:solidFill>
                <a:latin typeface="Segoe UI"/>
              </a:rPr>
              <a:t>provably</a:t>
            </a:r>
            <a:r>
              <a:rPr sz="2200" b="0" i="0">
                <a:solidFill>
                  <a:srgbClr val="1C252B"/>
                </a:solidFill>
                <a:latin typeface="Segoe UI"/>
              </a:rPr>
              <a:t> cannot change the answer: a cutoff happens exactly when the player above already has a better alternative and will therefore never choose the branch being examined. The two searches must agree on every instance, not just this one — pruning is exact, and what it approximates is nothing at all.</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87  ·  answers in Appendix D     </a:t>
            </a:r>
            <a:fld id="{CAA201AE-935D-487E-90A3-3A9ADEED778B}"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20597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In Figure 8.2 the right-hand MIN node’s right child is printed as “?”. State the two facts that together make its value irrelevant.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8  ·  Adversarial Search and Game Playing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87  ·  answers in Appendix D     </a:t>
            </a:r>
            <a:fld id="{25C05584-39FD-408D-8DE5-016841542CEF}"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In Figure 8.2 the right-hand MIN node’s right child is printed as “?”. State the two facts that together make its value irrelevant.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First, the right-hand MIN node has already found a child worth </a:t>
            </a:r>
            <a:r>
              <a:rPr sz="2200" b="0" i="0">
                <a:solidFill>
                  <a:srgbClr val="1C252B"/>
                </a:solidFill>
                <a:latin typeface="Cambria"/>
              </a:rPr>
              <a:t>2</a:t>
            </a:r>
            <a:r>
              <a:rPr sz="2200" b="0" i="0">
                <a:solidFill>
                  <a:srgbClr val="1C252B"/>
                </a:solidFill>
                <a:latin typeface="Segoe UI"/>
              </a:rPr>
              <a:t>, so it can hold us to at most </a:t>
            </a:r>
            <a:r>
              <a:rPr sz="2200" b="0" i="0">
                <a:solidFill>
                  <a:srgbClr val="1C252B"/>
                </a:solidFill>
                <a:latin typeface="Cambria"/>
              </a:rPr>
              <a:t>2</a:t>
            </a:r>
            <a:r>
              <a:rPr sz="2200" b="0" i="0">
                <a:solidFill>
                  <a:srgbClr val="1C252B"/>
                </a:solidFill>
                <a:latin typeface="Segoe UI"/>
              </a:rPr>
              <a:t> whatever its remaining child contains. Second, the root has already secured </a:t>
            </a:r>
            <a:r>
              <a:rPr sz="2200" b="0" i="0">
                <a:solidFill>
                  <a:srgbClr val="1C252B"/>
                </a:solidFill>
                <a:latin typeface="Cambria"/>
              </a:rPr>
              <a:t>5</a:t>
            </a:r>
            <a:r>
              <a:rPr sz="2200" b="0" i="0">
                <a:solidFill>
                  <a:srgbClr val="1C252B"/>
                </a:solidFill>
                <a:latin typeface="Segoe UI"/>
              </a:rPr>
              <a:t> from the left subtree. Since </a:t>
            </a:r>
            <a:r>
              <a:rPr sz="2200" b="0" i="0">
                <a:solidFill>
                  <a:srgbClr val="1C252B"/>
                </a:solidFill>
                <a:latin typeface="Cambria"/>
              </a:rPr>
              <a:t>2 &lt; 5</a:t>
            </a:r>
            <a:r>
              <a:rPr sz="2200" b="0" i="0">
                <a:solidFill>
                  <a:srgbClr val="1C252B"/>
                </a:solidFill>
                <a:latin typeface="Segoe UI"/>
              </a:rPr>
              <a:t> we will never play into this branch, so the value of its unexamined child cannot affect the root — and alpha–beta never learns it.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87  ·  answers in Appendix D     </a:t>
            </a:r>
            <a:fld id="{A71E690A-7F7E-4E0A-80EC-561AF9950B75}"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0359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colleague adds shallow-probe move ordering to your alpha–beta search and reports that it is slower. Give the most likely explanation, and say what would have to change for the ordering to pay.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8  ·  Adversarial Search and Game Playing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87  ·  answers in Appendix D     </a:t>
            </a:r>
            <a:fld id="{00D94F24-BAC4-4F89-B81E-C2431AA6EA20}"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colleague adds shallow-probe move ordering to your alpha–beta search and reports that it is slower. Give the most likely explanation, and say what would have to change for the ordering to pay.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probes are themselves evaluations, and on a shallow tree they cost more than the cutoffs they buy: the lab measures </a:t>
            </a:r>
            <a:r>
              <a:rPr sz="2200" b="0" i="0">
                <a:solidFill>
                  <a:srgbClr val="1C252B"/>
                </a:solidFill>
                <a:latin typeface="Cambria"/>
              </a:rPr>
              <a:t>506</a:t>
            </a:r>
            <a:r>
              <a:rPr sz="2200" b="0" i="0">
                <a:solidFill>
                  <a:srgbClr val="1C252B"/>
                </a:solidFill>
                <a:latin typeface="Segoe UI"/>
              </a:rPr>
              <a:t> leaf evaluations with a depth-1 probe ordering against </a:t>
            </a:r>
            <a:r>
              <a:rPr sz="2200" b="0" i="0">
                <a:solidFill>
                  <a:srgbClr val="1C252B"/>
                </a:solidFill>
                <a:latin typeface="Cambria"/>
              </a:rPr>
              <a:t>75</a:t>
            </a:r>
            <a:r>
              <a:rPr sz="2200" b="0" i="0">
                <a:solidFill>
                  <a:srgbClr val="1C252B"/>
                </a:solidFill>
                <a:latin typeface="Segoe UI"/>
              </a:rPr>
              <a:t> with natural ordering. For ordering to pay, the tree must be deep enough that a better ordering saves an exponential amount, and the probe results must be cached — a transposition table — so that the work done to order one search is reused by the next. That is the situation in a chess engine at twenty ply, and not the situation at five.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87  ·  answers in Appendix D     </a:t>
            </a:r>
            <a:fld id="{8C59CC08-5077-47E3-A1D8-E3F91B26B973}" type="slidenum">
              <a:rPr lang="en-GB" sz="1000">
                <a:solidFill>
                  <a:srgbClr val="8795A1"/>
                </a:solidFill>
                <a:latin typeface="Segoe UI"/>
              </a:rPr>
              <a:t>41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0121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87     </a:t>
            </a:r>
            <a:fld id="{C95DF12D-1D5F-4894-8DAF-EE1B3E6BCAB1}" type="slidenum">
              <a:rPr lang="en-GB" sz="1000">
                <a:solidFill>
                  <a:srgbClr val="8795A1"/>
                </a:solidFill>
                <a:latin typeface="Segoe UI"/>
              </a:rPr>
              <a:t>42</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a:t>
            </a:r>
            <a:r>
              <a:rPr sz="1700" b="1" i="0">
                <a:solidFill>
                  <a:srgbClr val="1A5276"/>
                </a:solidFill>
                <a:latin typeface="Segoe UI"/>
              </a:rPr>
              <a:t>game tree</a:t>
            </a:r>
            <a:r>
              <a:rPr sz="1700" b="0" i="0">
                <a:solidFill>
                  <a:srgbClr val="1C252B"/>
                </a:solidFill>
                <a:latin typeface="Segoe UI"/>
              </a:rPr>
              <a:t> alternates </a:t>
            </a:r>
            <a:r>
              <a:rPr sz="1700" b="1" i="0">
                <a:solidFill>
                  <a:srgbClr val="1A5276"/>
                </a:solidFill>
                <a:latin typeface="Segoe UI"/>
              </a:rPr>
              <a:t>MAX</a:t>
            </a:r>
            <a:r>
              <a:rPr sz="1700" b="0" i="0">
                <a:solidFill>
                  <a:srgbClr val="1C252B"/>
                </a:solidFill>
                <a:latin typeface="Segoe UI"/>
              </a:rPr>
              <a:t> levels (ours) and </a:t>
            </a:r>
            <a:r>
              <a:rPr sz="1700" b="1" i="0">
                <a:solidFill>
                  <a:srgbClr val="1A5276"/>
                </a:solidFill>
                <a:latin typeface="Segoe UI"/>
              </a:rPr>
              <a:t>MIN</a:t>
            </a:r>
            <a:r>
              <a:rPr sz="1700" b="0" i="0">
                <a:solidFill>
                  <a:srgbClr val="1C252B"/>
                </a:solidFill>
                <a:latin typeface="Segoe UI"/>
              </a:rPr>
              <a:t> levels (theirs). The </a:t>
            </a:r>
            <a:r>
              <a:rPr sz="1700" b="1" i="0">
                <a:solidFill>
                  <a:srgbClr val="1A5276"/>
                </a:solidFill>
                <a:latin typeface="Segoe UI"/>
              </a:rPr>
              <a:t>minimax value</a:t>
            </a:r>
            <a:r>
              <a:rPr sz="1700" b="0" i="0">
                <a:solidFill>
                  <a:srgbClr val="1C252B"/>
                </a:solidFill>
                <a:latin typeface="Segoe UI"/>
              </a:rPr>
              <a:t> is the position’s worth under optimal play by both sides, and it is a </a:t>
            </a:r>
            <a:r>
              <a:rPr sz="1700" b="0" i="1">
                <a:solidFill>
                  <a:srgbClr val="1C252B"/>
                </a:solidFill>
                <a:latin typeface="Segoe UI"/>
              </a:rPr>
              <a:t>guarantee</a:t>
            </a:r>
            <a:r>
              <a:rPr sz="1700" b="0" i="0">
                <a:solidFill>
                  <a:srgbClr val="1C252B"/>
                </a:solidFill>
                <a:latin typeface="Segoe UI"/>
              </a:rPr>
              <a:t>: at least this much, whatever they do.</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Minimax assumes a zero-sum optimal opponent. That is usually false and still the right default, because it is the only assumption that yields a floor.</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Alpha–beta pruning</a:t>
            </a:r>
            <a:r>
              <a:rPr sz="1700" b="0" i="0">
                <a:solidFill>
                  <a:srgbClr val="1C252B"/>
                </a:solidFill>
                <a:latin typeface="Segoe UI"/>
              </a:rPr>
              <a:t> carries the best values each player can already secure and stops examining a branch when </a:t>
            </a:r>
            <a:r>
              <a:rPr sz="1700" b="0" i="0">
                <a:solidFill>
                  <a:srgbClr val="1C252B"/>
                </a:solidFill>
                <a:latin typeface="Cambria"/>
              </a:rPr>
              <a:t>α ≥ β</a:t>
            </a:r>
            <a:r>
              <a:rPr sz="1700" b="0" i="0">
                <a:solidFill>
                  <a:srgbClr val="1C252B"/>
                </a:solidFill>
                <a:latin typeface="Segoe UI"/>
              </a:rPr>
              <a:t>. It returns </a:t>
            </a:r>
            <a:r>
              <a:rPr sz="1700" b="0" i="1">
                <a:solidFill>
                  <a:srgbClr val="1C252B"/>
                </a:solidFill>
                <a:latin typeface="Segoe UI"/>
              </a:rPr>
              <a:t>exactly</a:t>
            </a:r>
            <a:r>
              <a:rPr sz="1700" b="0" i="0">
                <a:solidFill>
                  <a:srgbClr val="1C252B"/>
                </a:solidFill>
                <a:latin typeface="Segoe UI"/>
              </a:rPr>
              <a:t> the minimax value.</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Move ordering</a:t>
            </a:r>
            <a:r>
              <a:rPr sz="1700" b="0" i="0">
                <a:solidFill>
                  <a:srgbClr val="1C252B"/>
                </a:solidFill>
                <a:latin typeface="Segoe UI"/>
              </a:rPr>
              <a:t> decides how much is pruned. With perfect ordering alpha–beta sees </a:t>
            </a:r>
            <a:r>
              <a:rPr sz="1700" b="0" i="1">
                <a:solidFill>
                  <a:srgbClr val="1C252B"/>
                </a:solidFill>
                <a:latin typeface="Cambria"/>
              </a:rPr>
              <a:t>b</a:t>
            </a:r>
            <a:r>
              <a:rPr sz="1100" b="0" i="0" baseline="30000">
                <a:solidFill>
                  <a:srgbClr val="1C252B"/>
                </a:solidFill>
                <a:latin typeface="Cambria"/>
              </a:rPr>
              <a:t>⌈ </a:t>
            </a:r>
            <a:r>
              <a:rPr sz="1100" b="0" i="1" baseline="30000">
                <a:solidFill>
                  <a:srgbClr val="1C252B"/>
                </a:solidFill>
                <a:latin typeface="Cambria"/>
              </a:rPr>
              <a:t>d</a:t>
            </a:r>
            <a:r>
              <a:rPr sz="1100" b="0" i="0" baseline="30000">
                <a:solidFill>
                  <a:srgbClr val="1C252B"/>
                </a:solidFill>
                <a:latin typeface="Cambria"/>
              </a:rPr>
              <a:t>/2⌉</a:t>
            </a:r>
            <a:r>
              <a:rPr sz="1700" b="0" i="0">
                <a:solidFill>
                  <a:srgbClr val="1C252B"/>
                </a:solidFill>
                <a:latin typeface="Cambria"/>
              </a:rPr>
              <a:t> + </a:t>
            </a:r>
            <a:r>
              <a:rPr sz="1700" b="0" i="1">
                <a:solidFill>
                  <a:srgbClr val="1C252B"/>
                </a:solidFill>
                <a:latin typeface="Cambria"/>
              </a:rPr>
              <a:t>b</a:t>
            </a:r>
            <a:r>
              <a:rPr sz="1100" b="0" i="0" baseline="30000">
                <a:solidFill>
                  <a:srgbClr val="1C252B"/>
                </a:solidFill>
                <a:latin typeface="Cambria"/>
              </a:rPr>
              <a:t>⌊ </a:t>
            </a:r>
            <a:r>
              <a:rPr sz="1100" b="0" i="1" baseline="30000">
                <a:solidFill>
                  <a:srgbClr val="1C252B"/>
                </a:solidFill>
                <a:latin typeface="Cambria"/>
              </a:rPr>
              <a:t>d</a:t>
            </a:r>
            <a:r>
              <a:rPr sz="1100" b="0" i="0" baseline="30000">
                <a:solidFill>
                  <a:srgbClr val="1C252B"/>
                </a:solidFill>
                <a:latin typeface="Cambria"/>
              </a:rPr>
              <a:t>/2⌋</a:t>
            </a:r>
            <a:r>
              <a:rPr sz="1700" b="0" i="0">
                <a:solidFill>
                  <a:srgbClr val="1C252B"/>
                </a:solidFill>
                <a:latin typeface="Cambria"/>
              </a:rPr>
              <a:t> − 1</a:t>
            </a:r>
            <a:r>
              <a:rPr sz="1700" b="0" i="0">
                <a:solidFill>
                  <a:srgbClr val="1C252B"/>
                </a:solidFill>
                <a:latin typeface="Segoe UI"/>
              </a:rPr>
              <a:t> leaves — measured here as exactly </a:t>
            </a:r>
            <a:r>
              <a:rPr sz="1700" b="0" i="0">
                <a:solidFill>
                  <a:srgbClr val="1C252B"/>
                </a:solidFill>
                <a:latin typeface="Cambria"/>
              </a:rPr>
              <a:t>35</a:t>
            </a:r>
            <a:r>
              <a:rPr sz="1700" b="0" i="0">
                <a:solidFill>
                  <a:srgbClr val="1C252B"/>
                </a:solidFill>
                <a:latin typeface="Segoe UI"/>
              </a:rPr>
              <a:t> against minimax’s </a:t>
            </a:r>
            <a:r>
              <a:rPr sz="1700" b="0" i="0">
                <a:solidFill>
                  <a:srgbClr val="1C252B"/>
                </a:solidFill>
                <a:latin typeface="Cambria"/>
              </a:rPr>
              <a:t>243</a:t>
            </a:r>
            <a:r>
              <a:rPr sz="1700" b="0" i="0">
                <a:solidFill>
                  <a:srgbClr val="1C252B"/>
                </a:solidFill>
                <a:latin typeface="Segoe UI"/>
              </a:rPr>
              <a:t> — which is roughly </a:t>
            </a:r>
            <a:r>
              <a:rPr sz="1700" b="0" i="1">
                <a:solidFill>
                  <a:srgbClr val="1C252B"/>
                </a:solidFill>
                <a:latin typeface="Cambria"/>
              </a:rPr>
              <a:t>b</a:t>
            </a:r>
            <a:r>
              <a:rPr sz="1100" b="0" i="1" baseline="30000">
                <a:solidFill>
                  <a:srgbClr val="1C252B"/>
                </a:solidFill>
                <a:latin typeface="Cambria"/>
              </a:rPr>
              <a:t>d</a:t>
            </a:r>
            <a:r>
              <a:rPr sz="1100" b="0" i="0" baseline="30000">
                <a:solidFill>
                  <a:srgbClr val="1C252B"/>
                </a:solidFill>
                <a:latin typeface="Cambria"/>
              </a:rPr>
              <a:t>/2</a:t>
            </a:r>
            <a:r>
              <a:rPr sz="1700" b="0" i="0">
                <a:solidFill>
                  <a:srgbClr val="1C252B"/>
                </a:solidFill>
                <a:latin typeface="Segoe UI"/>
              </a:rPr>
              <a:t>, so the same time buys twice the depth.</a:t>
            </a:r>
          </a:p>
        </p:txBody>
      </p:sp>
      <p:sp>
        <p:nvSpPr>
          <p:cNvPr id="19" name="!!sb4">
            <a:extLst>
              <a:ext uri="{C183D7F6-B498-43B3-948B-1728B52AA6E4}">
                <adec:decorative xmlns:adec="http://schemas.microsoft.com/office/drawing/2017/decorative" val="1"/>
              </a:ext>
            </a:extLst>
          </p:cNvPr>
          <p:cNvSpPr/>
          <p:nvPr/>
        </p:nvSpPr>
        <p:spPr>
          <a:xfrm>
            <a:off x="658368" y="49030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578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9386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Buying a good ordering is not free. A shallow-probe ordering cost </a:t>
            </a:r>
            <a:r>
              <a:rPr sz="1700" b="0" i="0">
                <a:solidFill>
                  <a:srgbClr val="1C252B"/>
                </a:solidFill>
                <a:latin typeface="Cambria"/>
              </a:rPr>
              <a:t>506</a:t>
            </a:r>
            <a:r>
              <a:rPr sz="1700" b="0" i="0">
                <a:solidFill>
                  <a:srgbClr val="1C252B"/>
                </a:solidFill>
                <a:latin typeface="Segoe UI"/>
              </a:rPr>
              <a:t> leaf evaluations here against natural ordering’s </a:t>
            </a:r>
            <a:r>
              <a:rPr sz="1700" b="0" i="0">
                <a:solidFill>
                  <a:srgbClr val="1C252B"/>
                </a:solidFill>
                <a:latin typeface="Cambria"/>
              </a:rPr>
              <a:t>75</a:t>
            </a:r>
            <a:r>
              <a:rPr sz="1700" b="0" i="0">
                <a:solidFill>
                  <a:srgbClr val="1C252B"/>
                </a:solidFill>
                <a:latin typeface="Segoe UI"/>
              </a:rPr>
              <a:t>: it pays at great depth with a cache, and not at five ply.</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45002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87     </a:t>
            </a:r>
            <a:fld id="{AFF4E22D-7265-410D-AC45-09B96CFFD1B3}" type="slidenum">
              <a:rPr lang="en-GB" sz="1000">
                <a:solidFill>
                  <a:srgbClr val="8795A1"/>
                </a:solidFill>
                <a:latin typeface="Segoe UI"/>
              </a:rPr>
              <a:t>43</a:t>
            </a:fld>
          </a:p>
        </p:txBody>
      </p:sp>
      <p:sp>
        <p:nvSpPr>
          <p:cNvPr id="7" name="!!sb5">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5"/>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9" name="!!st5"/>
          <p:cNvSpPr txBox="1"/>
          <p:nvPr/>
        </p:nvSpPr>
        <p:spPr>
          <a:xfrm>
            <a:off x="1298448" y="1737360"/>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Real games need a </a:t>
            </a:r>
            <a:r>
              <a:rPr sz="1700" b="1" i="0">
                <a:solidFill>
                  <a:srgbClr val="1A5276"/>
                </a:solidFill>
                <a:latin typeface="Segoe UI"/>
              </a:rPr>
              <a:t>cutoff test</a:t>
            </a:r>
            <a:r>
              <a:rPr sz="1700" b="0" i="0">
                <a:solidFill>
                  <a:srgbClr val="1C252B"/>
                </a:solidFill>
                <a:latin typeface="Segoe UI"/>
              </a:rPr>
              <a:t> and an </a:t>
            </a:r>
            <a:r>
              <a:rPr sz="1700" b="1" i="0">
                <a:solidFill>
                  <a:srgbClr val="1A5276"/>
                </a:solidFill>
                <a:latin typeface="Segoe UI"/>
              </a:rPr>
              <a:t>evaluation function</a:t>
            </a:r>
            <a:r>
              <a:rPr sz="1700" b="0" i="0">
                <a:solidFill>
                  <a:srgbClr val="1C252B"/>
                </a:solidFill>
                <a:latin typeface="Segoe UI"/>
              </a:rPr>
              <a:t>, which is where domain knowledge enters and where the search’s ceiling is set. The </a:t>
            </a:r>
            <a:r>
              <a:rPr sz="1700" b="1" i="0">
                <a:solidFill>
                  <a:srgbClr val="1A5276"/>
                </a:solidFill>
                <a:latin typeface="Segoe UI"/>
              </a:rPr>
              <a:t>horizon effect</a:t>
            </a:r>
            <a:r>
              <a:rPr sz="1700" b="0" i="0">
                <a:solidFill>
                  <a:srgbClr val="1C252B"/>
                </a:solidFill>
                <a:latin typeface="Segoe UI"/>
              </a:rPr>
              <a:t> is the cost: the program pushes unavoidable bad news just past the cutoff.</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069883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87     </a:t>
            </a:r>
            <a:fld id="{6EF8A168-7362-43D8-B423-C4754827AFB9}" type="slidenum">
              <a:rPr lang="en-GB" sz="1000">
                <a:solidFill>
                  <a:srgbClr val="8795A1"/>
                </a:solidFill>
                <a:latin typeface="Segoe UI"/>
              </a:rPr>
              <a:t>44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Alpha–beta pruning returns: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an approximation of the minimax value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exactly the minimax value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greedy value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lower bound only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094764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87     </a:t>
            </a:r>
            <a:fld id="{BE3CE489-26AF-4B64-8312-3753AAD5DB18}" type="slidenum">
              <a:rPr lang="en-GB" sz="1000">
                <a:solidFill>
                  <a:srgbClr val="8795A1"/>
                </a:solidFill>
                <a:latin typeface="Segoe UI"/>
              </a:rPr>
              <a:t>45</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cutoff occurs when: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α ≥ β</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α &lt; β</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depth limit is reached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leaf is negative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19645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87     </a:t>
            </a:r>
            <a:fld id="{D68CEEB0-4041-42FF-837F-79CA426C2595}" type="slidenum">
              <a:rPr lang="en-GB" sz="1000">
                <a:solidFill>
                  <a:srgbClr val="8795A1"/>
                </a:solidFill>
                <a:latin typeface="Segoe UI"/>
              </a:rPr>
              <a:t>46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Under perfect move ordering alpha–beta examines about: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b</a:t>
            </a:r>
            <a:r>
              <a:rPr sz="1300" b="0" i="1" baseline="30000">
                <a:solidFill>
                  <a:srgbClr val="1C252B"/>
                </a:solidFill>
                <a:latin typeface="Cambria"/>
              </a:rPr>
              <a:t>d</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b</a:t>
            </a:r>
            <a:r>
              <a:rPr sz="1300" b="0" i="1" baseline="30000">
                <a:solidFill>
                  <a:srgbClr val="1C252B"/>
                </a:solidFill>
                <a:latin typeface="Cambria"/>
              </a:rPr>
              <a:t>d</a:t>
            </a:r>
            <a:r>
              <a:rPr sz="1300" b="0" i="0" baseline="30000">
                <a:solidFill>
                  <a:srgbClr val="1C252B"/>
                </a:solidFill>
                <a:latin typeface="Cambria"/>
              </a:rPr>
              <a:t>/2</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d</a:t>
            </a:r>
            <a:r>
              <a:rPr sz="1300" b="0" i="1" baseline="30000">
                <a:solidFill>
                  <a:srgbClr val="1C252B"/>
                </a:solidFill>
                <a:latin typeface="Cambria"/>
              </a:rPr>
              <a:t>b</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bd</a:t>
            </a:r>
            <a:r>
              <a:rPr sz="2000" b="0" i="0">
                <a:solidFill>
                  <a:srgbClr val="1C252B"/>
                </a:solidFill>
                <a:latin typeface="Segoe UI"/>
              </a:rPr>
              <a:t> leaves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4526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4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87     </a:t>
            </a:r>
            <a:fld id="{373D06D0-7091-4A33-B435-69054D2DB391}" type="slidenum">
              <a:rPr lang="en-GB" sz="1000">
                <a:solidFill>
                  <a:srgbClr val="8795A1"/>
                </a:solidFill>
                <a:latin typeface="Segoe UI"/>
              </a:rPr>
              <a:t>47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horizon effect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running out of memory</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pushing an unavoidable loss beyond the depth limit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pruning too aggressively</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bad evaluation function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9407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8  ·  Adversarial Search and Game Playing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87     </a:t>
            </a:r>
            <a:fld id="{5F9B86C5-9017-4487-880A-99F7A32F320B}" type="slidenum">
              <a:rPr lang="en-GB" sz="1000">
                <a:solidFill>
                  <a:srgbClr val="8795A1"/>
                </a:solidFill>
                <a:latin typeface="Segoe UI"/>
              </a:rPr>
              <a:t>48</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the minimax value is a guarantee, and what you give up by modelling the other party as cooperative instead.</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does move ordering affect alpha–beta but not minimax?</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Using the measured numbers in this chapter, explain the circumstances in which investing in move ordering pays and the circumstances in which it does not.</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120456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Take the tree of Figure 8.1 with its leaves reversed to </a:t>
            </a:r>
            <a:r>
              <a:rPr sz="1900" b="0" i="0">
                <a:solidFill>
                  <a:srgbClr val="1C252B"/>
                </a:solidFill>
                <a:latin typeface="Cambria"/>
              </a:rPr>
              <a:t>[−1, 0, 2, 1, 9, 6, 5, 3]</a:t>
            </a:r>
            <a:r>
              <a:rPr sz="1900" b="0" i="0">
                <a:solidFill>
                  <a:srgbClr val="1C252B"/>
                </a:solidFill>
                <a:latin typeface="Segoe UI"/>
              </a:rPr>
              <a:t>. Compute the minimax value, then trace alpha–beta left to right and list which leaves are evaluated and where each cutoff occurs. Compare the count with the five of the worked example and say what that demonstrates.</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194288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08</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8</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9 — Planning</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8, pages 79–87</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Minimax and alpha–beta on a slot negotiation</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8  ·  Adversarial Search and Game Playing</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827FD34A-5E55-4CB3-9FF1-A171B92ABA75}" type="slidenum">
              <a:rPr lang="en-GB" sz="1000">
                <a:solidFill>
                  <a:srgbClr val="D5DEE5"/>
                </a:solidFill>
                <a:latin typeface="Segoe UI"/>
              </a:rPr>
              <a:t>49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rtificial Intelligence Fall 2026">
  <a:themeElements>
    <a:clrScheme name="Artificial Intellig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rtificial Intellig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Adversarial Search and Game Playing</dc:title>
  <dc:subject>Artificial Intelligence — Search, Knowledge and Reasoning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