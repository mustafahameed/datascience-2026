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19.svg" ContentType="image/svg+xml"/>
  <Override PartName="/ppt/media/image21.svg" ContentType="image/svg+xml"/>
  <Override PartName="/ppt/media/image23.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1.svg" ContentType="image/svg+xml"/>
  <Override PartName="/ppt/media/image33.svg" ContentType="image/svg+xml"/>
  <Override PartName="/ppt/media/image34.svg" ContentType="image/svg+xml"/>
  <Override PartName="/ppt/media/image36.svg" ContentType="image/svg+xml"/>
  <Override PartName="/ppt/media/image37.svg" ContentType="image/svg+xml"/>
  <Override PartName="/ppt/media/image39.svg" ContentType="image/svg+xml"/>
  <Override PartName="/ppt/media/image4.svg" ContentType="image/svg+xml"/>
  <Override PartName="/ppt/media/image40.svg" ContentType="image/svg+xml"/>
  <Override PartName="/ppt/media/image41.svg" ContentType="image/svg+xml"/>
  <Override PartName="/ppt/media/image42.svg" ContentType="image/svg+xml"/>
  <Override PartName="/ppt/media/image43.svg" ContentType="image/svg+xml"/>
  <Override PartName="/ppt/media/image44.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media/image54.svg" ContentType="image/svg+xml"/>
  <Override PartName="/ppt/media/image55.svg" ContentType="image/svg+xml"/>
  <Override PartName="/ppt/media/image56.svg" ContentType="image/svg+xml"/>
  <Override PartName="/ppt/media/image57.svg" ContentType="image/svg+xml"/>
  <Override PartName="/ppt/media/image59.svg" ContentType="image/svg+xml"/>
  <Override PartName="/ppt/media/image6.svg" ContentType="image/svg+xml"/>
  <Override PartName="/ppt/media/image61.svg" ContentType="image/svg+xml"/>
  <Override PartName="/ppt/media/image62.svg" ContentType="image/svg+xml"/>
  <Override PartName="/ppt/media/image63.svg" ContentType="image/svg+xml"/>
  <Override PartName="/ppt/media/image64.svg" ContentType="image/svg+xml"/>
  <Override PartName="/ppt/media/image65.svg" ContentType="image/svg+xml"/>
  <Override PartName="/ppt/media/image67.svg" ContentType="image/svg+xml"/>
  <Override PartName="/ppt/media/image68.svg" ContentType="image/svg+xml"/>
  <Override PartName="/ppt/media/image70.svg" ContentType="image/svg+xml"/>
  <Override PartName="/ppt/media/image71.svg" ContentType="image/svg+xml"/>
  <Override PartName="/ppt/media/image72.svg" ContentType="image/svg+xml"/>
  <Override PartName="/ppt/media/image73.svg" ContentType="image/svg+xml"/>
  <Override PartName="/ppt/media/image74.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FFF8685-7AD2-442C-8029-D373A1CBF9F2}">
          <p14:sldIdLst>
            <p14:sldId id="256"/>
            <p14:sldId id="257"/>
            <p14:sldId id="258"/>
            <p14:sldId id="259"/>
            <p14:sldId id="260"/>
          </p14:sldIdLst>
        </p14:section>
        <p14:section name="6.1 When the Path Does Not Matter" id="{0FE395F6-C76E-4D31-98AC-26E6916604BC}">
          <p14:sldIdLst>
            <p14:sldId id="261"/>
          </p14:sldIdLst>
        </p14:section>
        <p14:section name="6.2 The State-Space Landscape" id="{2142E809-446F-4FE0-9BF2-8CF5CB03DD10}">
          <p14:sldIdLst>
            <p14:sldId id="262"/>
          </p14:sldIdLst>
        </p14:section>
        <p14:section name="6.3 Hill Climbing" id="{8AB179E0-5B36-434B-A618-389E4C8242AC}">
          <p14:sldIdLst>
            <p14:sldId id="263"/>
          </p14:sldIdLst>
        </p14:section>
        <p14:section name="6.4 Three Ways Out" id="{89DF4DFB-DED2-4943-9A86-CA51C40050F5}">
          <p14:sldIdLst>
            <p14:sldId id="264"/>
            <p14:sldId id="265"/>
          </p14:sldIdLst>
        </p14:section>
        <p14:section name="6.5 Genetic Algorithms" id="{7A9E4571-71B1-4EAC-B973-4092AD21DE8B}">
          <p14:sldIdLst>
            <p14:sldId id="266"/>
            <p14:sldId id="267"/>
            <p14:sldId id="268"/>
          </p14:sldIdLst>
        </p14:section>
        <p14:section name="6.6 Comparing Them Honestly" id="{10EDEC65-A9CA-4695-B8E1-E602516F61B4}">
          <p14:sldIdLst>
            <p14:sldId id="269"/>
            <p14:sldId id="270"/>
            <p14:sldId id="271"/>
            <p14:sldId id="272"/>
            <p14:sldId id="273"/>
            <p14:sldId id="274"/>
          </p14:sldIdLst>
        </p14:section>
        <p14:section name="Pitfalls" id="{B38D0BA7-84AA-4349-A845-39B0651D74C4}">
          <p14:sldIdLst>
            <p14:sldId id="275"/>
            <p14:sldId id="276"/>
          </p14:sldIdLst>
        </p14:section>
        <p14:section name="Lab" id="{D7A7B0A4-CC39-4F76-B082-E12C489697CD}">
          <p14:sldIdLst>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Lst>
        </p14:section>
        <p14:section name="Checkpoint" id="{9F3800C5-8BE5-4351-88D9-884A8F2B6C1B}">
          <p14:sldIdLst>
            <p14:sldId id="296"/>
            <p14:sldId id="297"/>
            <p14:sldId id="298"/>
            <p14:sldId id="299"/>
            <p14:sldId id="300"/>
            <p14:sldId id="301"/>
          </p14:sldIdLst>
        </p14:section>
        <p14:section name="Wrap-up" id="{19D0BF68-070B-4EC7-8FFB-32E9E65F5595}">
          <p14:sldIdLst>
            <p14:sldId id="302"/>
            <p14:sldId id="303"/>
            <p14:sldId id="304"/>
            <p14:sldId id="305"/>
            <p14:sldId id="306"/>
            <p14:sldId id="307"/>
            <p14:sldId id="308"/>
            <p14:sldId id="30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6: Local Search and Optimisation. Part 2 — Problem Solving by Search. Week 5: Local search and optimisation. Handout pages 54–67.</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4 and Chapter 5 (the systematic searches this chapter abandons, and the objective-function thinking it keeps). Chapter 3 for representing a state as a tuple. This chapter needs no explored set and no frontier, and that is the point.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local search; objective function; state-space landscape; global maximum; local maximum; plateau; shoulder; ridge; hill climbing; steepest ascent; sideways move; random-restart hill climbing; simulated annealing; temperature schedule; local beam search; genetic algorithm; selection; crossover; mutation; evaluation budget.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search so far returned a path: do this, then this, then this. For the release plan that was exactly right — the order is the deliverable. Now a different question. Nine developers must be assigned to four workstreams. Each developer is better at some streams than others, and each stream wants a particular headcount. There is no sequence here; there is only an assignment, and it is either good or bad. Nobody cares in what order you decided it. For problems of that shape, keeping a frontier and an explored set is pure waste. Local search keeps a single current state and tries to improve it, using no memory of how it got there. It gives up completeness and optimality, and in exchange it handles spaces that systematic search cannot approach at all.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Picture the objective as a surface over the space of states: every state is a point on the floor and its score is the height. Local search is a climber on that surface who can see only the immediately adjacent ground. Figure 6.1 names the features that decide the outcome.</a:t>
            </a:r>
          </a:p>
          <a:p/>
          <a:p>
            <a:r>
              <a:t>Figure 6.1 (handout p. 55): The state-space landscape. Local search sees only the ground next to it. A local maximum has no better neighbour but is not the best state; a plateau is flat, so there is no gradient to follow, and a shoulder is a plateau that does lead upward — which is why forbidding flat moves loses solutions and allowing them without limit loops forever. A ridge is a run of local maxima along which no single move goes up, though a combination of two would.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at every neighbour, move to the best one, stop when no neighbour is better. That is steepest-ascent hill climbing, and it is about eight lines long. It is also, on this problem, close to useless: from a random start it reaches the optimum of 42 in roughly one run in two hundred, and its average final score is 30.3. The landscape is full of local maxima because the headcount penalty and the skill match pull against each other — moving a developer to the stream she is best at often unbalances two streams at once, and no single move repairs it. That is a ridge, and it is the characteristic failure. Hill climbing is not a bad implementation of a good idea; it is a correct implementation of an idea that does not work unaided.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hill climbing from a random start; keep the best result; repeat until the budget is gone. It is three extra lines, it has no parameters, it is trivially parallel, and it is a far stronger baseline than its reputation suggests — on this problem it lifts the mean from 30.3 to 39.5 and finds the optimum in 37 runs out of 200. Remember that figure while reading the rest of the chapter. Any more sophisticated method must beat random restart at the same budget, or it is not earning its complexity. Instead of always climbing, pick a random neighbour and accept it if it is an improvement — but if it is worse, accept it anyway with probability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 is a temperature that starts high and is lowered to zero on a schedule. The name is from metallurgy: cool a metal slowly and its atoms settle into a low-energy crystal; cool it fast and they freeze into whatever disordered state they happened to be in. Read the formula at its two extremes. When T is large, Δ/T is near zero and p is near 1 — almost anything is accepted, and the search wanders freely, ignoring the landscape. When T approaches zero, p approaches zero for any negative Δ, and the method becomes hill climbing. The schedule therefore interpolates between a random walk and a greedy climb, and the art is all in how fast. Figure 6.2 plots the acceptance probability.</a:t>
            </a:r>
          </a:p>
          <a:p/>
          <a:p>
            <a:r>
              <a:t>Figure 6.2 (handout p. 56): Simulated annealing’s acceptance probability exp(Δ/T). High temperature accepts almost any move; as T falls the method converges on hill climbing. Note that an improving move is always accepted, at every temperature.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is a theoretical result worth knowing and not over-trusting: if the temperature is lowered slowly enough, simulated annealing finds the global optimum with probability approaching one. “Slowly enough” is slower than enumerating the space, so the guarantee is of no operational use. What matters in practice is that the method is robust, needs one parameter, and does well. Keep k states rather than one; generate all their successors; keep the best k. This is not the same as k parallel hill climbs, because the k slots are reallocated globally — useful information passes between the threads, and the population tends to concentrate in the promising region. With randomised selection of which successors to keep, it is stochastic beam search, and it is the direct ancestor of the next idea.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Almost every published comparison of these methods is worthless, for one reason: the methods are given different amounts of work. A genetic algorithm with a population of 100 over 500 generations has evaluated the objective 50,000 times; hill climbing from one start evaluates it a few hundred times. Declaring the former better is not a finding. The only fair comparison fixes the evaluation budget: every method may call the objective function the same number of times. Figure 6.3 and Table 6.1 do that at 4,000 calls, over 200 independent runs with seeds 0 to 199.</a:t>
            </a:r>
          </a:p>
          <a:p/>
          <a:p>
            <a:r>
              <a:t>Figure 6.3 (handout p. 58): Mean final score at an equal budget of 4,000 objective evaluations per run. Hill climbing alone is far behind; the three escape strategies are close together, with the genetic algorithm ahead.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to take from the table. Escaping local maxima is what matters, and almost any escape works. The gap from hill climbing to the weakest escape strategy is 9.1 points of mean score; the gap from the weakest escape to the best is 2.1. Nearly all the available improvement comes from not being a pure hill climber, and very little from which alternative you pick. Random restart is a serious baseline. No parameters, three lines, perfect parallelism, and it comes within 2.1 points of the winner. Measure it before reaching for anything more interesting; if your sophisticated method cannot beat it, you have learned something useful cheaply. The genetic algorithm wins here, on a problem whose structure suits it. It reached the optimum in four runs out of five. Section 6.6.1 shows how easily that result can be reversed by an apparently innocent change to how the budget is counted — which is the real lesson of this section. None of them is reliable on a single run. Even the winner missed the optimum in 40 of 200 runs. If you need the optimum rather than a good answer, local search is the wrong tool and Chapter 7 is the right one.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methods, one objective, one budget. The lab finds the true optimum by enumeration first, so every method can be scored against the truth rather than against each other.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Set-up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Set-up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Set-up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Set-up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Steepest-ascent hill climbing.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7: Random-restart hill climbing.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8: Simulated annealing.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9: Genetic algorithm.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10: Genetic algorithm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11: Genetic algorithm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12: Genetic algorithm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13: Genetic algorithm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14: Genetic algorithm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15: Genetic algorithm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16: Genetic algorithm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17: Genetic algorithm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A plateau is a flat region of the landscape; a shoulder is a plateau with rising ground beyond it. (a) Forbidding sideways moves means halting on every shoulder, so solutions that lie just beyond flat ground are never reached. (b) Allowing them without limit means the search can circle a genuine plateau forever. The standard compromise is a cap — allow sideways moves up to a fixed count, then stop.</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With Δ = −6: at T = 8, p = e−6/8 = e−0.75 ≈ 0.472, so a move six points worse is accepted almost half the time. At T = 0.5, p = e−12 ≈ 6.1 × 10−6, which is effectively never. Early in the run the search wanders and can cross a ridge; late in the run it is hill climbing and only consolidates.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Crossover assumes the state decomposes into blocks that are independently good, so that splicing part of one parent onto part of another preserves value. The staffing objective largely satisfies this: most of a developer’s contribution is her own skill score, which depends on her assignment alone. What would break it is an objective depending on pairs of positions — who is rostered alongside whom, or two services that must not share a host — because then a block’s value depends on the block it is spliced next to.</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7 — Constraint Satisfaction. READ: Handout Chapter 6, pages 54–67. THIS WEEK'S LAB: Staffing by annealing and by evolution.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 Target="slide10.xml"/><Relationship Id="rId9" Type="http://schemas.openxmlformats.org/officeDocument/2006/relationships/slide" Target="slide11.xml"/><Relationship Id="rId10" Type="http://schemas.openxmlformats.org/officeDocument/2006/relationships/slide" Target="slide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image" Target="../media/image13.png"/><Relationship Id="rId5" Type="http://schemas.openxmlformats.org/officeDocument/2006/relationships/image" Target="../media/image14.svg"/><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9.svg"/><Relationship Id="rId4" Type="http://schemas.openxmlformats.org/officeDocument/2006/relationships/image" Target="../media/image20.png"/><Relationship Id="rId5" Type="http://schemas.openxmlformats.org/officeDocument/2006/relationships/image" Target="../media/image21.sv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24.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image" Target="../media/image26.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image" Target="../media/image28.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image" Target="../media/image30.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31.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image" Target="../media/image34.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36.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37.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39.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40.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41.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42.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43.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44.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45.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46.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47.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48.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49.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50.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51.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52.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53.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54.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55.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56.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57.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image" Target="../media/image59.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0.png"/><Relationship Id="rId3" Type="http://schemas.openxmlformats.org/officeDocument/2006/relationships/image" Target="../media/image61.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image" Target="../media/image62.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0.png"/><Relationship Id="rId3" Type="http://schemas.openxmlformats.org/officeDocument/2006/relationships/image" Target="../media/image63.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image" Target="../media/image64.sv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0.png"/><Relationship Id="rId3" Type="http://schemas.openxmlformats.org/officeDocument/2006/relationships/image" Target="../media/image65.sv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6.png"/><Relationship Id="rId3" Type="http://schemas.openxmlformats.org/officeDocument/2006/relationships/image" Target="../media/image67.sv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6.png"/><Relationship Id="rId3" Type="http://schemas.openxmlformats.org/officeDocument/2006/relationships/image" Target="../media/image68.sv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 Id="rId3" Type="http://schemas.openxmlformats.org/officeDocument/2006/relationships/image" Target="../media/image70.sv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 Id="rId3" Type="http://schemas.openxmlformats.org/officeDocument/2006/relationships/image" Target="../media/image71.sv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 Id="rId3" Type="http://schemas.openxmlformats.org/officeDocument/2006/relationships/image" Target="../media/image72.sv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 Id="rId3" Type="http://schemas.openxmlformats.org/officeDocument/2006/relationships/image" Target="../media/image73.sv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 Id="rId3" Type="http://schemas.openxmlformats.org/officeDocument/2006/relationships/image" Target="../media/image74.svg"/><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3679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9769F"/>
                </a:solidFill>
                <a:latin typeface="Segoe UI Black"/>
              </a:rPr>
              <a:t>06</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Local Search and Optimisation</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C1D4E1"/>
                </a:solidFill>
                <a:latin typeface="Segoe UI"/>
              </a:rPr>
              <a:t>PART II  ·  PROBLEM SOLVING BY SEARCH</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C1D4E1"/>
                </a:solidFill>
                <a:latin typeface="Segoe UI"/>
              </a:rPr>
              <a:t>CHAPTER 6  ·  WEEK 5</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3E1EA"/>
                </a:solidFill>
                <a:latin typeface="Segoe UI"/>
              </a:rPr>
              <a:t>Artificial Intelligence — Search, Knowledge and Reasoning</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94A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8BAC7"/>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FCCD6"/>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8BAC7"/>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6  ·  Local Search and Optimisation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54     </a:t>
            </a:r>
            <a:fld id="{04AECF9A-34BC-472B-9DAB-7A09ED83CF4D}" type="slidenum">
              <a:rPr lang="en-GB" sz="1000">
                <a:solidFill>
                  <a:srgbClr val="8795A1"/>
                </a:solidFill>
                <a:latin typeface="Segoe UI"/>
              </a:rPr>
              <a:t>2</a:t>
            </a:fld>
          </a:p>
        </p:txBody>
      </p:sp>
      <p:sp>
        <p:nvSpPr>
          <p:cNvPr id="7" name="!!rp1"/>
          <p:cNvSpPr txBox="1"/>
          <p:nvPr/>
        </p:nvSpPr>
        <p:spPr>
          <a:xfrm>
            <a:off x="777239"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39"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280139" y="1755648"/>
            <a:ext cx="132916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280139" y="2029967"/>
            <a:ext cx="1329163" cy="4572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093935"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093935"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5596834" y="1755648"/>
            <a:ext cx="158324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5596834" y="2029967"/>
            <a:ext cx="158324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7509260"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7509260"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9012160" y="1755648"/>
            <a:ext cx="240229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9012160" y="2029967"/>
            <a:ext cx="240229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1741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2597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26937"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354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636464"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450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320310"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222887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729837"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6383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148507" y="2112264"/>
            <a:ext cx="566928" cy="566928"/>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3148507"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31" name="!!dot7">
            <a:extLst>
              <a:ext uri="{C183D7F6-B498-43B3-948B-1728B52AA6E4}">
                <adec:decorative xmlns:adec="http://schemas.microsoft.com/office/drawing/2017/decorative" val="1"/>
              </a:ext>
            </a:extLst>
          </p:cNvPr>
          <p:cNvSpPr/>
          <p:nvPr/>
        </p:nvSpPr>
        <p:spPr>
          <a:xfrm>
            <a:off x="4134106"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404266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4543632"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445219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953159"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86171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5637005"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554556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6046532"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95509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645605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63646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865585"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77414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7549431"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745799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958958"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8675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8368484"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827704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9052331"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96089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9461857"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937041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87138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77994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10280910"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1018947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690437"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5989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109996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10085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label"/>
          <p:cNvSpPr txBox="1"/>
          <p:nvPr/>
        </p:nvSpPr>
        <p:spPr>
          <a:xfrm>
            <a:off x="658368"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236794"/>
                </a:solidFill>
                <a:latin typeface="Segoe UI"/>
              </a:rPr>
              <a:t>Local Search and Optimisation</a:t>
            </a:r>
          </a:p>
        </p:txBody>
      </p:sp>
      <p:sp>
        <p:nvSpPr>
          <p:cNvPr id="6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5" name="!!chipBU3">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chipbBU3">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7" name="!!chiptBU3"/>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3  </a:t>
            </a:r>
            <a:r>
              <a:rPr sz="1400" b="0" i="0">
                <a:solidFill>
                  <a:srgbClr val="1C252B"/>
                </a:solidFill>
                <a:latin typeface="Segoe UI"/>
              </a:rPr>
              <a:t>Representations and Search in Python</a:t>
            </a:r>
          </a:p>
        </p:txBody>
      </p:sp>
      <p:sp>
        <p:nvSpPr>
          <p:cNvPr id="68" name="!!chipBU4">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bBU4">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chiptBU4"/>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4  </a:t>
            </a:r>
            <a:r>
              <a:rPr sz="1400" b="0" i="0">
                <a:solidFill>
                  <a:srgbClr val="1C252B"/>
                </a:solidFill>
                <a:latin typeface="Segoe UI"/>
              </a:rPr>
              <a:t>Problem Formulation and Uninformed Search</a:t>
            </a:r>
          </a:p>
        </p:txBody>
      </p:sp>
      <p:sp>
        <p:nvSpPr>
          <p:cNvPr id="71" name="!!chipBU5">
            <a:extLst>
              <a:ext uri="{C183D7F6-B498-43B3-948B-1728B52AA6E4}">
                <adec:decorative xmlns:adec="http://schemas.microsoft.com/office/drawing/2017/decorative" val="1"/>
              </a:ext>
            </a:extLst>
          </p:cNvPr>
          <p:cNvSpPr/>
          <p:nvPr/>
        </p:nvSpPr>
        <p:spPr>
          <a:xfrm>
            <a:off x="658368" y="4809744"/>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bBU5">
            <a:extLst>
              <a:ext uri="{C183D7F6-B498-43B3-948B-1728B52AA6E4}">
                <adec:decorative xmlns:adec="http://schemas.microsoft.com/office/drawing/2017/decorative" val="1"/>
              </a:ext>
            </a:extLst>
          </p:cNvPr>
          <p:cNvSpPr/>
          <p:nvPr/>
        </p:nvSpPr>
        <p:spPr>
          <a:xfrm>
            <a:off x="658368" y="4809744"/>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3" name="!!chiptBU5"/>
          <p:cNvSpPr txBox="1"/>
          <p:nvPr/>
        </p:nvSpPr>
        <p:spPr>
          <a:xfrm>
            <a:off x="859536"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5  </a:t>
            </a:r>
            <a:r>
              <a:rPr sz="1400" b="0" i="0">
                <a:solidFill>
                  <a:srgbClr val="1C252B"/>
                </a:solidFill>
                <a:latin typeface="Segoe UI"/>
              </a:rPr>
              <a:t>Informed Search and Heuristics</a:t>
            </a:r>
          </a:p>
        </p:txBody>
      </p:sp>
      <p:sp>
        <p:nvSpPr>
          <p:cNvPr id="74"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5" name="!!chipUS7">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chipbUS7">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7" name="!!chiptUS7"/>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7  </a:t>
            </a:r>
            <a:r>
              <a:rPr sz="1400" b="0" i="0">
                <a:solidFill>
                  <a:srgbClr val="1C252B"/>
                </a:solidFill>
                <a:latin typeface="Segoe UI"/>
              </a:rPr>
              <a:t>Constraint Satisfaction</a:t>
            </a:r>
          </a:p>
        </p:txBody>
      </p:sp>
      <p:sp>
        <p:nvSpPr>
          <p:cNvPr id="78" name="!!chipUS8">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chipbUS8">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chiptUS8"/>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8  </a:t>
            </a:r>
            <a:r>
              <a:rPr sz="1400" b="0" i="0">
                <a:solidFill>
                  <a:srgbClr val="1C252B"/>
                </a:solidFill>
                <a:latin typeface="Segoe UI"/>
              </a:rPr>
              <a:t>Adversarial Search and Game Playing</a:t>
            </a:r>
          </a:p>
        </p:txBody>
      </p:sp>
      <p:sp>
        <p:nvSpPr>
          <p:cNvPr id="81" name="!!chipUS22">
            <a:extLst>
              <a:ext uri="{C183D7F6-B498-43B3-948B-1728B52AA6E4}">
                <adec:decorative xmlns:adec="http://schemas.microsoft.com/office/drawing/2017/decorative" val="1"/>
              </a:ext>
            </a:extLst>
          </p:cNvPr>
          <p:cNvSpPr/>
          <p:nvPr/>
        </p:nvSpPr>
        <p:spPr>
          <a:xfrm>
            <a:off x="6324447" y="4809744"/>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chipbUS22">
            <a:extLst>
              <a:ext uri="{C183D7F6-B498-43B3-948B-1728B52AA6E4}">
                <adec:decorative xmlns:adec="http://schemas.microsoft.com/office/drawing/2017/decorative" val="1"/>
              </a:ext>
            </a:extLst>
          </p:cNvPr>
          <p:cNvSpPr/>
          <p:nvPr/>
        </p:nvSpPr>
        <p:spPr>
          <a:xfrm>
            <a:off x="6324447" y="4809744"/>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3" name="!!chiptUS22"/>
          <p:cNvSpPr txBox="1"/>
          <p:nvPr/>
        </p:nvSpPr>
        <p:spPr>
          <a:xfrm>
            <a:off x="6525615"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22  </a:t>
            </a:r>
            <a:r>
              <a:rPr sz="1400" b="0" i="0">
                <a:solidFill>
                  <a:srgbClr val="1C252B"/>
                </a:solidFill>
                <a:latin typeface="Segoe UI"/>
              </a:rPr>
              <a:t>The Artificial Intelligence Project</a:t>
            </a:r>
          </a:p>
        </p:txBody>
      </p:sp>
      <p:sp>
        <p:nvSpPr>
          <p:cNvPr id="8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5" name="!!pfill">
            <a:extLst>
              <a:ext uri="{C183D7F6-B498-43B3-948B-1728B52AA6E4}">
                <adec:decorative xmlns:adec="http://schemas.microsoft.com/office/drawing/2017/decorative" val="1"/>
              </a:ext>
            </a:extLst>
          </p:cNvPr>
          <p:cNvSpPr/>
          <p:nvPr/>
        </p:nvSpPr>
        <p:spPr>
          <a:xfrm>
            <a:off x="0" y="0"/>
            <a:ext cx="45154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6  ·  Local Search and Optimisation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54     </a:t>
            </a:r>
            <a:fld id="{730C8613-9E6B-42B8-B660-61C9BEA942EB}"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Recognise</a:t>
            </a:r>
            <a:r>
              <a:rPr sz="2100" b="0" i="0">
                <a:solidFill>
                  <a:srgbClr val="1C252B"/>
                </a:solidFill>
                <a:latin typeface="Segoe UI"/>
              </a:rPr>
              <a:t> the problems for which local search is appropriate — those where the goal is a good final state and the path to it is of no interest.</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06141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Implement</a:t>
            </a:r>
            <a:r>
              <a:rPr sz="2100" b="0" i="0">
                <a:solidFill>
                  <a:srgbClr val="1C252B"/>
                </a:solidFill>
                <a:latin typeface="Segoe UI"/>
              </a:rPr>
              <a:t> steepest-ascent hill climbing, and </a:t>
            </a:r>
            <a:r>
              <a:rPr sz="2100" b="1" i="0">
                <a:solidFill>
                  <a:srgbClr val="1C252B"/>
                </a:solidFill>
                <a:latin typeface="Segoe UI"/>
              </a:rPr>
              <a:t>diagnose</a:t>
            </a:r>
            <a:r>
              <a:rPr sz="2100" b="0" i="0">
                <a:solidFill>
                  <a:srgbClr val="1C252B"/>
                </a:solidFill>
                <a:latin typeface="Segoe UI"/>
              </a:rPr>
              <a:t> the three landscape features that defeat it: local maxima, plateaus and ridges.</a:t>
            </a:r>
          </a:p>
        </p:txBody>
      </p:sp>
      <p:sp>
        <p:nvSpPr>
          <p:cNvPr id="14" name="!!ob2">
            <a:extLst>
              <a:ext uri="{C183D7F6-B498-43B3-948B-1728B52AA6E4}">
                <adec:decorative xmlns:adec="http://schemas.microsoft.com/office/drawing/2017/decorative" val="1"/>
              </a:ext>
            </a:extLst>
          </p:cNvPr>
          <p:cNvSpPr/>
          <p:nvPr/>
        </p:nvSpPr>
        <p:spPr>
          <a:xfrm>
            <a:off x="658368" y="3919118"/>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97855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909974"/>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Explain</a:t>
            </a:r>
            <a:r>
              <a:rPr sz="2100" b="0" i="0">
                <a:solidFill>
                  <a:srgbClr val="1C252B"/>
                </a:solidFill>
                <a:latin typeface="Segoe UI"/>
              </a:rPr>
              <a:t> simulated annealing’s acceptance rule, and </a:t>
            </a:r>
            <a:r>
              <a:rPr sz="2100" b="1" i="0">
                <a:solidFill>
                  <a:srgbClr val="1C252B"/>
                </a:solidFill>
                <a:latin typeface="Segoe UI"/>
              </a:rPr>
              <a:t>say</a:t>
            </a:r>
            <a:r>
              <a:rPr sz="2100" b="0" i="0">
                <a:solidFill>
                  <a:srgbClr val="1C252B"/>
                </a:solidFill>
                <a:latin typeface="Segoe UI"/>
              </a:rPr>
              <a:t> what the temperature schedule controls at each end.</a:t>
            </a:r>
          </a:p>
        </p:txBody>
      </p:sp>
      <p:sp>
        <p:nvSpPr>
          <p:cNvPr id="17" name="!!ob3">
            <a:extLst>
              <a:ext uri="{C183D7F6-B498-43B3-948B-1728B52AA6E4}">
                <adec:decorative xmlns:adec="http://schemas.microsoft.com/office/drawing/2017/decorative" val="1"/>
              </a:ext>
            </a:extLst>
          </p:cNvPr>
          <p:cNvSpPr/>
          <p:nvPr/>
        </p:nvSpPr>
        <p:spPr>
          <a:xfrm>
            <a:off x="658368" y="4767681"/>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827117"/>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758537"/>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Describe</a:t>
            </a:r>
            <a:r>
              <a:rPr sz="2100" b="0" i="0">
                <a:solidFill>
                  <a:srgbClr val="1C252B"/>
                </a:solidFill>
                <a:latin typeface="Segoe UI"/>
              </a:rPr>
              <a:t> a genetic algorithm’s four operators, and </a:t>
            </a:r>
            <a:r>
              <a:rPr sz="2100" b="1" i="0">
                <a:solidFill>
                  <a:srgbClr val="1C252B"/>
                </a:solidFill>
                <a:latin typeface="Segoe UI"/>
              </a:rPr>
              <a:t>identify</a:t>
            </a:r>
            <a:r>
              <a:rPr sz="2100" b="0" i="0">
                <a:solidFill>
                  <a:srgbClr val="1C252B"/>
                </a:solidFill>
                <a:latin typeface="Segoe UI"/>
              </a:rPr>
              <a:t> the assumption about the problem that crossover relies on.</a:t>
            </a:r>
          </a:p>
        </p:txBody>
      </p:sp>
      <p:sp>
        <p:nvSpPr>
          <p:cNvPr id="20" name="!!ob4">
            <a:extLst>
              <a:ext uri="{C183D7F6-B498-43B3-948B-1728B52AA6E4}">
                <adec:decorative xmlns:adec="http://schemas.microsoft.com/office/drawing/2017/decorative" val="1"/>
              </a:ext>
            </a:extLst>
          </p:cNvPr>
          <p:cNvSpPr/>
          <p:nvPr/>
        </p:nvSpPr>
        <p:spPr>
          <a:xfrm>
            <a:off x="658368" y="5616244"/>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675680"/>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607100"/>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Compare</a:t>
            </a:r>
            <a:r>
              <a:rPr sz="2100" b="0" i="0">
                <a:solidFill>
                  <a:srgbClr val="1C252B"/>
                </a:solidFill>
                <a:latin typeface="Segoe UI"/>
              </a:rPr>
              <a:t> local search methods at an </a:t>
            </a:r>
            <a:r>
              <a:rPr sz="2100" b="0" i="1">
                <a:solidFill>
                  <a:srgbClr val="1C252B"/>
                </a:solidFill>
                <a:latin typeface="Segoe UI"/>
              </a:rPr>
              <a:t>equal evaluation budget</a:t>
            </a:r>
            <a:r>
              <a:rPr sz="2100" b="0" i="0">
                <a:solidFill>
                  <a:srgbClr val="1C252B"/>
                </a:solidFill>
                <a:latin typeface="Segoe UI"/>
              </a:rPr>
              <a:t>, and </a:t>
            </a:r>
            <a:r>
              <a:rPr sz="2100" b="1" i="0">
                <a:solidFill>
                  <a:srgbClr val="1C252B"/>
                </a:solidFill>
                <a:latin typeface="Segoe UI"/>
              </a:rPr>
              <a:t>explain</a:t>
            </a:r>
            <a:r>
              <a:rPr sz="2100" b="0" i="0">
                <a:solidFill>
                  <a:srgbClr val="1C252B"/>
                </a:solidFill>
                <a:latin typeface="Segoe UI"/>
              </a:rPr>
              <a:t> why any other comparison is meaningless.</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67731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6  ·  Local Search and Optimisation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54     </a:t>
            </a:r>
            <a:fld id="{2ED34DA5-31DA-4816-97E9-7663EEF1A60C}" type="slidenum">
              <a:rPr lang="en-GB" sz="1000">
                <a:solidFill>
                  <a:srgbClr val="8795A1"/>
                </a:solidFill>
                <a:latin typeface="Segoe UI"/>
              </a:rPr>
              <a:t>4</a:t>
            </a:fld>
          </a:p>
        </p:txBody>
      </p:sp>
      <p:sp>
        <p:nvSpPr>
          <p:cNvPr id="7" name="!!term-local search">
            <a:extLst>
              <a:ext uri="{C183D7F6-B498-43B3-948B-1728B52AA6E4}">
                <adec:decorative xmlns:adec="http://schemas.microsoft.com/office/drawing/2017/decorative" val="1"/>
              </a:ext>
            </a:extLst>
          </p:cNvPr>
          <p:cNvSpPr/>
          <p:nvPr/>
        </p:nvSpPr>
        <p:spPr>
          <a:xfrm>
            <a:off x="658368" y="1847088"/>
            <a:ext cx="143898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local search">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local search"/>
          <p:cNvSpPr txBox="1"/>
          <p:nvPr/>
        </p:nvSpPr>
        <p:spPr>
          <a:xfrm>
            <a:off x="950976" y="1970532"/>
            <a:ext cx="125610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local search</a:t>
            </a:r>
          </a:p>
        </p:txBody>
      </p:sp>
      <p:sp>
        <p:nvSpPr>
          <p:cNvPr id="10" name="!!term-objective func">
            <a:extLst>
              <a:ext uri="{C183D7F6-B498-43B3-948B-1728B52AA6E4}">
                <adec:decorative xmlns:adec="http://schemas.microsoft.com/office/drawing/2017/decorative" val="1"/>
              </a:ext>
            </a:extLst>
          </p:cNvPr>
          <p:cNvSpPr/>
          <p:nvPr/>
        </p:nvSpPr>
        <p:spPr>
          <a:xfrm>
            <a:off x="2243658" y="1847088"/>
            <a:ext cx="197355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objective func">
            <a:extLst>
              <a:ext uri="{C183D7F6-B498-43B3-948B-1728B52AA6E4}">
                <adec:decorative xmlns:adec="http://schemas.microsoft.com/office/drawing/2017/decorative" val="1"/>
              </a:ext>
            </a:extLst>
          </p:cNvPr>
          <p:cNvSpPr/>
          <p:nvPr/>
        </p:nvSpPr>
        <p:spPr>
          <a:xfrm>
            <a:off x="237167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objective func"/>
          <p:cNvSpPr txBox="1"/>
          <p:nvPr/>
        </p:nvSpPr>
        <p:spPr>
          <a:xfrm>
            <a:off x="2536266" y="1970532"/>
            <a:ext cx="179067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objective function</a:t>
            </a:r>
          </a:p>
        </p:txBody>
      </p:sp>
      <p:sp>
        <p:nvSpPr>
          <p:cNvPr id="13" name="!!term-state-space la">
            <a:extLst>
              <a:ext uri="{C183D7F6-B498-43B3-948B-1728B52AA6E4}">
                <adec:decorative xmlns:adec="http://schemas.microsoft.com/office/drawing/2017/decorative" val="1"/>
              </a:ext>
            </a:extLst>
          </p:cNvPr>
          <p:cNvSpPr/>
          <p:nvPr/>
        </p:nvSpPr>
        <p:spPr>
          <a:xfrm>
            <a:off x="4363516" y="1847088"/>
            <a:ext cx="232870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state-space la">
            <a:extLst>
              <a:ext uri="{C183D7F6-B498-43B3-948B-1728B52AA6E4}">
                <adec:decorative xmlns:adec="http://schemas.microsoft.com/office/drawing/2017/decorative" val="1"/>
              </a:ext>
            </a:extLst>
          </p:cNvPr>
          <p:cNvSpPr/>
          <p:nvPr/>
        </p:nvSpPr>
        <p:spPr>
          <a:xfrm>
            <a:off x="4491532"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state-space la"/>
          <p:cNvSpPr txBox="1"/>
          <p:nvPr/>
        </p:nvSpPr>
        <p:spPr>
          <a:xfrm>
            <a:off x="4656124" y="1970532"/>
            <a:ext cx="214582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state-space landscape</a:t>
            </a:r>
          </a:p>
        </p:txBody>
      </p:sp>
      <p:sp>
        <p:nvSpPr>
          <p:cNvPr id="16" name="!!term-global maximum">
            <a:extLst>
              <a:ext uri="{C183D7F6-B498-43B3-948B-1728B52AA6E4}">
                <adec:decorative xmlns:adec="http://schemas.microsoft.com/office/drawing/2017/decorative" val="1"/>
              </a:ext>
            </a:extLst>
          </p:cNvPr>
          <p:cNvSpPr/>
          <p:nvPr/>
        </p:nvSpPr>
        <p:spPr>
          <a:xfrm>
            <a:off x="6838527" y="1847088"/>
            <a:ext cx="187462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global maximum">
            <a:extLst>
              <a:ext uri="{C183D7F6-B498-43B3-948B-1728B52AA6E4}">
                <adec:decorative xmlns:adec="http://schemas.microsoft.com/office/drawing/2017/decorative" val="1"/>
              </a:ext>
            </a:extLst>
          </p:cNvPr>
          <p:cNvSpPr/>
          <p:nvPr/>
        </p:nvSpPr>
        <p:spPr>
          <a:xfrm>
            <a:off x="6966543"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global maximum"/>
          <p:cNvSpPr txBox="1"/>
          <p:nvPr/>
        </p:nvSpPr>
        <p:spPr>
          <a:xfrm>
            <a:off x="7131135" y="1970532"/>
            <a:ext cx="169174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global maximum</a:t>
            </a:r>
          </a:p>
        </p:txBody>
      </p:sp>
      <p:sp>
        <p:nvSpPr>
          <p:cNvPr id="19" name="!!term-local maximum">
            <a:extLst>
              <a:ext uri="{C183D7F6-B498-43B3-948B-1728B52AA6E4}">
                <adec:decorative xmlns:adec="http://schemas.microsoft.com/office/drawing/2017/decorative" val="1"/>
              </a:ext>
            </a:extLst>
          </p:cNvPr>
          <p:cNvSpPr/>
          <p:nvPr/>
        </p:nvSpPr>
        <p:spPr>
          <a:xfrm>
            <a:off x="8859460" y="1847088"/>
            <a:ext cx="173573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local maximum">
            <a:extLst>
              <a:ext uri="{C183D7F6-B498-43B3-948B-1728B52AA6E4}">
                <adec:decorative xmlns:adec="http://schemas.microsoft.com/office/drawing/2017/decorative" val="1"/>
              </a:ext>
            </a:extLst>
          </p:cNvPr>
          <p:cNvSpPr/>
          <p:nvPr/>
        </p:nvSpPr>
        <p:spPr>
          <a:xfrm>
            <a:off x="8987476"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local maximum"/>
          <p:cNvSpPr txBox="1"/>
          <p:nvPr/>
        </p:nvSpPr>
        <p:spPr>
          <a:xfrm>
            <a:off x="9152068" y="1970532"/>
            <a:ext cx="155285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local maximum</a:t>
            </a:r>
          </a:p>
        </p:txBody>
      </p:sp>
      <p:sp>
        <p:nvSpPr>
          <p:cNvPr id="22" name="!!term-plateau">
            <a:extLst>
              <a:ext uri="{C183D7F6-B498-43B3-948B-1728B52AA6E4}">
                <adec:decorative xmlns:adec="http://schemas.microsoft.com/office/drawing/2017/decorative" val="1"/>
              </a:ext>
            </a:extLst>
          </p:cNvPr>
          <p:cNvSpPr/>
          <p:nvPr/>
        </p:nvSpPr>
        <p:spPr>
          <a:xfrm>
            <a:off x="658368" y="2468880"/>
            <a:ext cx="107544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plateau">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plateau"/>
          <p:cNvSpPr txBox="1"/>
          <p:nvPr/>
        </p:nvSpPr>
        <p:spPr>
          <a:xfrm>
            <a:off x="950976" y="2592324"/>
            <a:ext cx="89256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plateau</a:t>
            </a:r>
          </a:p>
        </p:txBody>
      </p:sp>
      <p:sp>
        <p:nvSpPr>
          <p:cNvPr id="25" name="!!term-shoulder">
            <a:extLst>
              <a:ext uri="{C183D7F6-B498-43B3-948B-1728B52AA6E4}">
                <adec:decorative xmlns:adec="http://schemas.microsoft.com/office/drawing/2017/decorative" val="1"/>
              </a:ext>
            </a:extLst>
          </p:cNvPr>
          <p:cNvSpPr/>
          <p:nvPr/>
        </p:nvSpPr>
        <p:spPr>
          <a:xfrm>
            <a:off x="1880119" y="2468880"/>
            <a:ext cx="118583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shoulder">
            <a:extLst>
              <a:ext uri="{C183D7F6-B498-43B3-948B-1728B52AA6E4}">
                <adec:decorative xmlns:adec="http://schemas.microsoft.com/office/drawing/2017/decorative" val="1"/>
              </a:ext>
            </a:extLst>
          </p:cNvPr>
          <p:cNvSpPr/>
          <p:nvPr/>
        </p:nvSpPr>
        <p:spPr>
          <a:xfrm>
            <a:off x="2008135"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shoulder"/>
          <p:cNvSpPr txBox="1"/>
          <p:nvPr/>
        </p:nvSpPr>
        <p:spPr>
          <a:xfrm>
            <a:off x="2172727" y="2592324"/>
            <a:ext cx="100295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shoulder</a:t>
            </a:r>
          </a:p>
        </p:txBody>
      </p:sp>
      <p:sp>
        <p:nvSpPr>
          <p:cNvPr id="28" name="!!term-ridge">
            <a:extLst>
              <a:ext uri="{C183D7F6-B498-43B3-948B-1728B52AA6E4}">
                <adec:decorative xmlns:adec="http://schemas.microsoft.com/office/drawing/2017/decorative" val="1"/>
              </a:ext>
            </a:extLst>
          </p:cNvPr>
          <p:cNvSpPr/>
          <p:nvPr/>
        </p:nvSpPr>
        <p:spPr>
          <a:xfrm>
            <a:off x="3212262" y="2468880"/>
            <a:ext cx="88407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ridge">
            <a:extLst>
              <a:ext uri="{C183D7F6-B498-43B3-948B-1728B52AA6E4}">
                <adec:decorative xmlns:adec="http://schemas.microsoft.com/office/drawing/2017/decorative" val="1"/>
              </a:ext>
            </a:extLst>
          </p:cNvPr>
          <p:cNvSpPr/>
          <p:nvPr/>
        </p:nvSpPr>
        <p:spPr>
          <a:xfrm>
            <a:off x="3340278"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ridge"/>
          <p:cNvSpPr txBox="1"/>
          <p:nvPr/>
        </p:nvSpPr>
        <p:spPr>
          <a:xfrm>
            <a:off x="3504870" y="2592324"/>
            <a:ext cx="70119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ridge</a:t>
            </a:r>
          </a:p>
        </p:txBody>
      </p:sp>
      <p:sp>
        <p:nvSpPr>
          <p:cNvPr id="31" name="!!term-hill climbing">
            <a:extLst>
              <a:ext uri="{C183D7F6-B498-43B3-948B-1728B52AA6E4}">
                <adec:decorative xmlns:adec="http://schemas.microsoft.com/office/drawing/2017/decorative" val="1"/>
              </a:ext>
            </a:extLst>
          </p:cNvPr>
          <p:cNvSpPr/>
          <p:nvPr/>
        </p:nvSpPr>
        <p:spPr>
          <a:xfrm>
            <a:off x="4242643" y="2468880"/>
            <a:ext cx="148002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hill climbing">
            <a:extLst>
              <a:ext uri="{C183D7F6-B498-43B3-948B-1728B52AA6E4}">
                <adec:decorative xmlns:adec="http://schemas.microsoft.com/office/drawing/2017/decorative" val="1"/>
              </a:ext>
            </a:extLst>
          </p:cNvPr>
          <p:cNvSpPr/>
          <p:nvPr/>
        </p:nvSpPr>
        <p:spPr>
          <a:xfrm>
            <a:off x="4370659"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hill climbing"/>
          <p:cNvSpPr txBox="1"/>
          <p:nvPr/>
        </p:nvSpPr>
        <p:spPr>
          <a:xfrm>
            <a:off x="4535251" y="2592324"/>
            <a:ext cx="129714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hill climbing</a:t>
            </a:r>
          </a:p>
        </p:txBody>
      </p:sp>
      <p:sp>
        <p:nvSpPr>
          <p:cNvPr id="34" name="!!term-steepest ascen">
            <a:extLst>
              <a:ext uri="{C183D7F6-B498-43B3-948B-1728B52AA6E4}">
                <adec:decorative xmlns:adec="http://schemas.microsoft.com/office/drawing/2017/decorative" val="1"/>
              </a:ext>
            </a:extLst>
          </p:cNvPr>
          <p:cNvSpPr/>
          <p:nvPr/>
        </p:nvSpPr>
        <p:spPr>
          <a:xfrm>
            <a:off x="5868972" y="2468880"/>
            <a:ext cx="175630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steepest ascen">
            <a:extLst>
              <a:ext uri="{C183D7F6-B498-43B3-948B-1728B52AA6E4}">
                <adec:decorative xmlns:adec="http://schemas.microsoft.com/office/drawing/2017/decorative" val="1"/>
              </a:ext>
            </a:extLst>
          </p:cNvPr>
          <p:cNvSpPr/>
          <p:nvPr/>
        </p:nvSpPr>
        <p:spPr>
          <a:xfrm>
            <a:off x="5996988"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steepest ascen"/>
          <p:cNvSpPr txBox="1"/>
          <p:nvPr/>
        </p:nvSpPr>
        <p:spPr>
          <a:xfrm>
            <a:off x="6161580" y="2592324"/>
            <a:ext cx="157342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steepest ascent</a:t>
            </a:r>
          </a:p>
        </p:txBody>
      </p:sp>
      <p:sp>
        <p:nvSpPr>
          <p:cNvPr id="37" name="!!term-sideways move">
            <a:extLst>
              <a:ext uri="{C183D7F6-B498-43B3-948B-1728B52AA6E4}">
                <adec:decorative xmlns:adec="http://schemas.microsoft.com/office/drawing/2017/decorative" val="1"/>
              </a:ext>
            </a:extLst>
          </p:cNvPr>
          <p:cNvSpPr/>
          <p:nvPr/>
        </p:nvSpPr>
        <p:spPr>
          <a:xfrm>
            <a:off x="7771585" y="2468880"/>
            <a:ext cx="172930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sideways move">
            <a:extLst>
              <a:ext uri="{C183D7F6-B498-43B3-948B-1728B52AA6E4}">
                <adec:decorative xmlns:adec="http://schemas.microsoft.com/office/drawing/2017/decorative" val="1"/>
              </a:ext>
            </a:extLst>
          </p:cNvPr>
          <p:cNvSpPr/>
          <p:nvPr/>
        </p:nvSpPr>
        <p:spPr>
          <a:xfrm>
            <a:off x="7899601"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sideways move"/>
          <p:cNvSpPr txBox="1"/>
          <p:nvPr/>
        </p:nvSpPr>
        <p:spPr>
          <a:xfrm>
            <a:off x="8064193" y="2592324"/>
            <a:ext cx="154642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sideways move</a:t>
            </a:r>
          </a:p>
        </p:txBody>
      </p:sp>
      <p:sp>
        <p:nvSpPr>
          <p:cNvPr id="40" name="!!term-random-restart">
            <a:extLst>
              <a:ext uri="{C183D7F6-B498-43B3-948B-1728B52AA6E4}">
                <adec:decorative xmlns:adec="http://schemas.microsoft.com/office/drawing/2017/decorative" val="1"/>
              </a:ext>
            </a:extLst>
          </p:cNvPr>
          <p:cNvSpPr/>
          <p:nvPr/>
        </p:nvSpPr>
        <p:spPr>
          <a:xfrm>
            <a:off x="658368" y="3090672"/>
            <a:ext cx="283305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random-restart">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random-restart"/>
          <p:cNvSpPr txBox="1"/>
          <p:nvPr/>
        </p:nvSpPr>
        <p:spPr>
          <a:xfrm>
            <a:off x="950976" y="3214116"/>
            <a:ext cx="265017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random-restart hill climbing</a:t>
            </a:r>
          </a:p>
        </p:txBody>
      </p:sp>
      <p:sp>
        <p:nvSpPr>
          <p:cNvPr id="43" name="!!term-simulated anne">
            <a:extLst>
              <a:ext uri="{C183D7F6-B498-43B3-948B-1728B52AA6E4}">
                <adec:decorative xmlns:adec="http://schemas.microsoft.com/office/drawing/2017/decorative" val="1"/>
              </a:ext>
            </a:extLst>
          </p:cNvPr>
          <p:cNvSpPr/>
          <p:nvPr/>
        </p:nvSpPr>
        <p:spPr>
          <a:xfrm>
            <a:off x="3637726" y="3090672"/>
            <a:ext cx="216455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simulated anne">
            <a:extLst>
              <a:ext uri="{C183D7F6-B498-43B3-948B-1728B52AA6E4}">
                <adec:decorative xmlns:adec="http://schemas.microsoft.com/office/drawing/2017/decorative" val="1"/>
              </a:ext>
            </a:extLst>
          </p:cNvPr>
          <p:cNvSpPr/>
          <p:nvPr/>
        </p:nvSpPr>
        <p:spPr>
          <a:xfrm>
            <a:off x="3765742"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simulated anne"/>
          <p:cNvSpPr txBox="1"/>
          <p:nvPr/>
        </p:nvSpPr>
        <p:spPr>
          <a:xfrm>
            <a:off x="3930334" y="3214116"/>
            <a:ext cx="198167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simulated annealing</a:t>
            </a:r>
          </a:p>
        </p:txBody>
      </p:sp>
      <p:sp>
        <p:nvSpPr>
          <p:cNvPr id="46" name="!!term-temperature sc">
            <a:extLst>
              <a:ext uri="{C183D7F6-B498-43B3-948B-1728B52AA6E4}">
                <adec:decorative xmlns:adec="http://schemas.microsoft.com/office/drawing/2017/decorative" val="1"/>
              </a:ext>
            </a:extLst>
          </p:cNvPr>
          <p:cNvSpPr/>
          <p:nvPr/>
        </p:nvSpPr>
        <p:spPr>
          <a:xfrm>
            <a:off x="5948584" y="3090672"/>
            <a:ext cx="231121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temperature sc">
            <a:extLst>
              <a:ext uri="{C183D7F6-B498-43B3-948B-1728B52AA6E4}">
                <adec:decorative xmlns:adec="http://schemas.microsoft.com/office/drawing/2017/decorative" val="1"/>
              </a:ext>
            </a:extLst>
          </p:cNvPr>
          <p:cNvSpPr/>
          <p:nvPr/>
        </p:nvSpPr>
        <p:spPr>
          <a:xfrm>
            <a:off x="6076600"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temperature sc"/>
          <p:cNvSpPr txBox="1"/>
          <p:nvPr/>
        </p:nvSpPr>
        <p:spPr>
          <a:xfrm>
            <a:off x="6241192" y="3214116"/>
            <a:ext cx="212833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temperature schedule</a:t>
            </a:r>
          </a:p>
        </p:txBody>
      </p:sp>
      <p:sp>
        <p:nvSpPr>
          <p:cNvPr id="49" name="!!term-local beam sea">
            <a:extLst>
              <a:ext uri="{C183D7F6-B498-43B3-948B-1728B52AA6E4}">
                <adec:decorative xmlns:adec="http://schemas.microsoft.com/office/drawing/2017/decorative" val="1"/>
              </a:ext>
            </a:extLst>
          </p:cNvPr>
          <p:cNvSpPr/>
          <p:nvPr/>
        </p:nvSpPr>
        <p:spPr>
          <a:xfrm>
            <a:off x="8406108" y="3090672"/>
            <a:ext cx="197431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local beam sea">
            <a:extLst>
              <a:ext uri="{C183D7F6-B498-43B3-948B-1728B52AA6E4}">
                <adec:decorative xmlns:adec="http://schemas.microsoft.com/office/drawing/2017/decorative" val="1"/>
              </a:ext>
            </a:extLst>
          </p:cNvPr>
          <p:cNvSpPr/>
          <p:nvPr/>
        </p:nvSpPr>
        <p:spPr>
          <a:xfrm>
            <a:off x="853412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local beam sea"/>
          <p:cNvSpPr txBox="1"/>
          <p:nvPr/>
        </p:nvSpPr>
        <p:spPr>
          <a:xfrm>
            <a:off x="8698716" y="3214116"/>
            <a:ext cx="179143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local beam search</a:t>
            </a:r>
          </a:p>
        </p:txBody>
      </p:sp>
      <p:sp>
        <p:nvSpPr>
          <p:cNvPr id="52" name="!!term-genetic algori">
            <a:extLst>
              <a:ext uri="{C183D7F6-B498-43B3-948B-1728B52AA6E4}">
                <adec:decorative xmlns:adec="http://schemas.microsoft.com/office/drawing/2017/decorative" val="1"/>
              </a:ext>
            </a:extLst>
          </p:cNvPr>
          <p:cNvSpPr/>
          <p:nvPr/>
        </p:nvSpPr>
        <p:spPr>
          <a:xfrm>
            <a:off x="658368" y="3712464"/>
            <a:ext cx="195453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rmd-genetic algori">
            <a:extLst>
              <a:ext uri="{C183D7F6-B498-43B3-948B-1728B52AA6E4}">
                <adec:decorative xmlns:adec="http://schemas.microsoft.com/office/drawing/2017/decorative" val="1"/>
              </a:ext>
            </a:extLst>
          </p:cNvPr>
          <p:cNvSpPr/>
          <p:nvPr/>
        </p:nvSpPr>
        <p:spPr>
          <a:xfrm>
            <a:off x="786384"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termt-genetic algori"/>
          <p:cNvSpPr txBox="1"/>
          <p:nvPr/>
        </p:nvSpPr>
        <p:spPr>
          <a:xfrm>
            <a:off x="950976" y="3835908"/>
            <a:ext cx="177165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genetic algorithm</a:t>
            </a:r>
          </a:p>
        </p:txBody>
      </p:sp>
      <p:sp>
        <p:nvSpPr>
          <p:cNvPr id="55" name="!!term-selection">
            <a:extLst>
              <a:ext uri="{C183D7F6-B498-43B3-948B-1728B52AA6E4}">
                <adec:decorative xmlns:adec="http://schemas.microsoft.com/office/drawing/2017/decorative" val="1"/>
              </a:ext>
            </a:extLst>
          </p:cNvPr>
          <p:cNvSpPr/>
          <p:nvPr/>
        </p:nvSpPr>
        <p:spPr>
          <a:xfrm>
            <a:off x="2759202" y="3712464"/>
            <a:ext cx="119808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termd-selection">
            <a:extLst>
              <a:ext uri="{C183D7F6-B498-43B3-948B-1728B52AA6E4}">
                <adec:decorative xmlns:adec="http://schemas.microsoft.com/office/drawing/2017/decorative" val="1"/>
              </a:ext>
            </a:extLst>
          </p:cNvPr>
          <p:cNvSpPr/>
          <p:nvPr/>
        </p:nvSpPr>
        <p:spPr>
          <a:xfrm>
            <a:off x="2887218"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termt-selection"/>
          <p:cNvSpPr txBox="1"/>
          <p:nvPr/>
        </p:nvSpPr>
        <p:spPr>
          <a:xfrm>
            <a:off x="3051810" y="3835908"/>
            <a:ext cx="101520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selection</a:t>
            </a:r>
          </a:p>
        </p:txBody>
      </p:sp>
      <p:sp>
        <p:nvSpPr>
          <p:cNvPr id="58" name="!!term-crossover">
            <a:extLst>
              <a:ext uri="{C183D7F6-B498-43B3-948B-1728B52AA6E4}">
                <adec:decorative xmlns:adec="http://schemas.microsoft.com/office/drawing/2017/decorative" val="1"/>
              </a:ext>
            </a:extLst>
          </p:cNvPr>
          <p:cNvSpPr/>
          <p:nvPr/>
        </p:nvSpPr>
        <p:spPr>
          <a:xfrm>
            <a:off x="4103587" y="3712464"/>
            <a:ext cx="125107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9" name="!!termd-crossover">
            <a:extLst>
              <a:ext uri="{C183D7F6-B498-43B3-948B-1728B52AA6E4}">
                <adec:decorative xmlns:adec="http://schemas.microsoft.com/office/drawing/2017/decorative" val="1"/>
              </a:ext>
            </a:extLst>
          </p:cNvPr>
          <p:cNvSpPr/>
          <p:nvPr/>
        </p:nvSpPr>
        <p:spPr>
          <a:xfrm>
            <a:off x="4231603"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termt-crossover"/>
          <p:cNvSpPr txBox="1"/>
          <p:nvPr/>
        </p:nvSpPr>
        <p:spPr>
          <a:xfrm>
            <a:off x="4396195" y="3835908"/>
            <a:ext cx="106819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crossover</a:t>
            </a:r>
          </a:p>
        </p:txBody>
      </p:sp>
      <p:sp>
        <p:nvSpPr>
          <p:cNvPr id="61" name="!!term-mutation">
            <a:extLst>
              <a:ext uri="{C183D7F6-B498-43B3-948B-1728B52AA6E4}">
                <adec:decorative xmlns:adec="http://schemas.microsoft.com/office/drawing/2017/decorative" val="1"/>
              </a:ext>
            </a:extLst>
          </p:cNvPr>
          <p:cNvSpPr/>
          <p:nvPr/>
        </p:nvSpPr>
        <p:spPr>
          <a:xfrm>
            <a:off x="5500961" y="3712464"/>
            <a:ext cx="121770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termd-mutation">
            <a:extLst>
              <a:ext uri="{C183D7F6-B498-43B3-948B-1728B52AA6E4}">
                <adec:decorative xmlns:adec="http://schemas.microsoft.com/office/drawing/2017/decorative" val="1"/>
              </a:ext>
            </a:extLst>
          </p:cNvPr>
          <p:cNvSpPr/>
          <p:nvPr/>
        </p:nvSpPr>
        <p:spPr>
          <a:xfrm>
            <a:off x="5628977"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3" name="!!termt-mutation"/>
          <p:cNvSpPr txBox="1"/>
          <p:nvPr/>
        </p:nvSpPr>
        <p:spPr>
          <a:xfrm>
            <a:off x="5793569" y="3835908"/>
            <a:ext cx="103482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mutation</a:t>
            </a:r>
          </a:p>
        </p:txBody>
      </p:sp>
      <p:sp>
        <p:nvSpPr>
          <p:cNvPr id="64" name="!!term-evaluation bud">
            <a:extLst>
              <a:ext uri="{C183D7F6-B498-43B3-948B-1728B52AA6E4}">
                <adec:decorative xmlns:adec="http://schemas.microsoft.com/office/drawing/2017/decorative" val="1"/>
              </a:ext>
            </a:extLst>
          </p:cNvPr>
          <p:cNvSpPr/>
          <p:nvPr/>
        </p:nvSpPr>
        <p:spPr>
          <a:xfrm>
            <a:off x="6864971" y="3712464"/>
            <a:ext cx="199897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5" name="!!termd-evaluation bud">
            <a:extLst>
              <a:ext uri="{C183D7F6-B498-43B3-948B-1728B52AA6E4}">
                <adec:decorative xmlns:adec="http://schemas.microsoft.com/office/drawing/2017/decorative" val="1"/>
              </a:ext>
            </a:extLst>
          </p:cNvPr>
          <p:cNvSpPr/>
          <p:nvPr/>
        </p:nvSpPr>
        <p:spPr>
          <a:xfrm>
            <a:off x="6992987"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termt-evaluation bud"/>
          <p:cNvSpPr txBox="1"/>
          <p:nvPr/>
        </p:nvSpPr>
        <p:spPr>
          <a:xfrm>
            <a:off x="7157579" y="3835908"/>
            <a:ext cx="181609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evaluation budget</a:t>
            </a:r>
          </a:p>
        </p:txBody>
      </p:sp>
      <p:sp>
        <p:nvSpPr>
          <p:cNvPr id="67" name="!!termnote"/>
          <p:cNvSpPr txBox="1"/>
          <p:nvPr/>
        </p:nvSpPr>
        <p:spPr>
          <a:xfrm>
            <a:off x="658368" y="4535424"/>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6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pfill">
            <a:extLst>
              <a:ext uri="{C183D7F6-B498-43B3-948B-1728B52AA6E4}">
                <adec:decorative xmlns:adec="http://schemas.microsoft.com/office/drawing/2017/decorative" val="1"/>
              </a:ext>
            </a:extLst>
          </p:cNvPr>
          <p:cNvSpPr/>
          <p:nvPr/>
        </p:nvSpPr>
        <p:spPr>
          <a:xfrm>
            <a:off x="0" y="0"/>
            <a:ext cx="90308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6  ·  Local Search and Optimisation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54–67     </a:t>
            </a:r>
            <a:fld id="{193AF07D-67CB-4FD3-9E48-7DEB53AD67AA}" type="slidenum">
              <a:rPr lang="en-GB" sz="1000">
                <a:solidFill>
                  <a:srgbClr val="8795A1"/>
                </a:solidFill>
                <a:latin typeface="Segoe UI"/>
              </a:rPr>
              <a:t>5</a:t>
            </a:fld>
          </a:p>
        </p:txBody>
      </p:sp>
      <p:sp>
        <p:nvSpPr>
          <p:cNvPr id="7" name="!!ag0" descr="Go to section 6.1 When the Path Does Not Matter">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6.1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When the Path Does Not Matter</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54  ›</a:t>
            </a:r>
          </a:p>
        </p:txBody>
      </p:sp>
      <p:sp>
        <p:nvSpPr>
          <p:cNvPr id="12" name="!!ag1" descr="Go to section 6.2 The State-Space Landscape">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6.2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State-Space Landscape</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55  ›</a:t>
            </a:r>
          </a:p>
        </p:txBody>
      </p:sp>
      <p:sp>
        <p:nvSpPr>
          <p:cNvPr id="17" name="!!ag2" descr="Go to section 6.3 Hill Climbing">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6.3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Hill Climbing</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55  ›</a:t>
            </a:r>
          </a:p>
        </p:txBody>
      </p:sp>
      <p:sp>
        <p:nvSpPr>
          <p:cNvPr id="22" name="!!ag3" descr="Go to section 6.4 Three Ways Out">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6.4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Three Ways Out</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56  ›</a:t>
            </a:r>
          </a:p>
        </p:txBody>
      </p:sp>
      <p:sp>
        <p:nvSpPr>
          <p:cNvPr id="27" name="!!ag4" descr="Go to section 6.5 Genetic Algorithms">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6.5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Genetic Algorithms</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57  ›</a:t>
            </a:r>
          </a:p>
        </p:txBody>
      </p:sp>
      <p:sp>
        <p:nvSpPr>
          <p:cNvPr id="32" name="!!ag5" descr="Go to section 6.6 Comparing Them Honestly">
            <a:hlinkClick action="ppaction://hlinksldjump" r:id="rId10"/>
          </p:cNvPr>
          <p:cNvSpPr/>
          <p:nvPr/>
        </p:nvSpPr>
        <p:spPr>
          <a:xfrm>
            <a:off x="658368" y="49743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agb5">
            <a:extLst>
              <a:ext uri="{C183D7F6-B498-43B3-948B-1728B52AA6E4}">
                <adec:decorative xmlns:adec="http://schemas.microsoft.com/office/drawing/2017/decorative" val="1"/>
              </a:ext>
            </a:extLst>
          </p:cNvPr>
          <p:cNvSpPr/>
          <p:nvPr/>
        </p:nvSpPr>
        <p:spPr>
          <a:xfrm>
            <a:off x="658368" y="497433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agn5"/>
          <p:cNvSpPr txBox="1"/>
          <p:nvPr/>
        </p:nvSpPr>
        <p:spPr>
          <a:xfrm>
            <a:off x="932688" y="51206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6.6</a:t>
            </a:r>
          </a:p>
        </p:txBody>
      </p:sp>
      <p:sp>
        <p:nvSpPr>
          <p:cNvPr id="35" name="!!agt5"/>
          <p:cNvSpPr txBox="1"/>
          <p:nvPr/>
        </p:nvSpPr>
        <p:spPr>
          <a:xfrm>
            <a:off x="1847088" y="51206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Comparing Them Honestly</a:t>
            </a:r>
          </a:p>
        </p:txBody>
      </p:sp>
      <p:sp>
        <p:nvSpPr>
          <p:cNvPr id="36" name="!!agp5"/>
          <p:cNvSpPr txBox="1"/>
          <p:nvPr/>
        </p:nvSpPr>
        <p:spPr>
          <a:xfrm>
            <a:off x="9795967" y="51480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57  ›</a:t>
            </a:r>
          </a:p>
        </p:txBody>
      </p:sp>
      <p:sp>
        <p:nvSpPr>
          <p:cNvPr id="3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pfill">
            <a:extLst>
              <a:ext uri="{C183D7F6-B498-43B3-948B-1728B52AA6E4}">
                <adec:decorative xmlns:adec="http://schemas.microsoft.com/office/drawing/2017/decorative" val="1"/>
              </a:ext>
            </a:extLst>
          </p:cNvPr>
          <p:cNvSpPr/>
          <p:nvPr/>
        </p:nvSpPr>
        <p:spPr>
          <a:xfrm>
            <a:off x="0" y="0"/>
            <a:ext cx="112886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staffing problem</a:t>
            </a:r>
          </a:p>
        </p:txBody>
      </p:sp>
      <p:pic>
        <p:nvPicPr>
          <p:cNvPr id="3" name="!!kicker-icon" descr="code-27AE6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7AE60"/>
                </a:solidFill>
                <a:latin typeface="Segoe UI"/>
              </a:rPr>
              <a:t>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6  ·  Local Search and Optimisation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§6.1  ·  Handout p. 54     </a:t>
            </a:r>
            <a:fld id="{A7D58137-2737-4986-9233-AF28C63CEA83}" type="slidenum">
              <a:rPr lang="en-GB" sz="1000">
                <a:solidFill>
                  <a:srgbClr val="8795A1"/>
                </a:solidFill>
                <a:latin typeface="Segoe UI"/>
              </a:rPr>
              <a:t>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066473"/>
          </a:xfrm>
          <a:prstGeom prst="roundRect">
            <a:avLst>
              <a:gd name="adj" fmla="val 2248"/>
            </a:avLst>
          </a:prstGeom>
          <a:solidFill>
            <a:srgbClr val="EAF7EF"/>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0664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Nine developers, four streams (</a:t>
            </a:r>
            <a:r>
              <a:rPr sz="1800" b="0" i="0">
                <a:solidFill>
                  <a:srgbClr val="1F4E79"/>
                </a:solidFill>
                <a:latin typeface="Consolas"/>
              </a:rPr>
              <a:t>api</a:t>
            </a:r>
            <a:r>
              <a:rPr sz="1900" b="0" i="0">
                <a:solidFill>
                  <a:srgbClr val="1C252B"/>
                </a:solidFill>
                <a:latin typeface="Segoe UI"/>
              </a:rPr>
              <a:t>, </a:t>
            </a:r>
            <a:r>
              <a:rPr sz="1800" b="0" i="0">
                <a:solidFill>
                  <a:srgbClr val="1F4E79"/>
                </a:solidFill>
                <a:latin typeface="Consolas"/>
              </a:rPr>
              <a:t>ui</a:t>
            </a:r>
            <a:r>
              <a:rPr sz="1900" b="0" i="0">
                <a:solidFill>
                  <a:srgbClr val="1C252B"/>
                </a:solidFill>
                <a:latin typeface="Segoe UI"/>
              </a:rPr>
              <a:t>, </a:t>
            </a:r>
            <a:r>
              <a:rPr sz="1800" b="0" i="0">
                <a:solidFill>
                  <a:srgbClr val="1F4E79"/>
                </a:solidFill>
                <a:latin typeface="Consolas"/>
              </a:rPr>
              <a:t>data</a:t>
            </a:r>
            <a:r>
              <a:rPr sz="1900" b="0" i="0">
                <a:solidFill>
                  <a:srgbClr val="1C252B"/>
                </a:solidFill>
                <a:latin typeface="Segoe UI"/>
              </a:rPr>
              <a:t>, </a:t>
            </a:r>
            <a:r>
              <a:rPr sz="1800" b="0" i="0">
                <a:solidFill>
                  <a:srgbClr val="1F4E79"/>
                </a:solidFill>
                <a:latin typeface="Consolas"/>
              </a:rPr>
              <a:t>infra</a:t>
            </a:r>
            <a:r>
              <a:rPr sz="1900" b="0" i="0">
                <a:solidFill>
                  <a:srgbClr val="1C252B"/>
                </a:solidFill>
                <a:latin typeface="Segoe UI"/>
              </a:rPr>
              <a:t>). Each developer has a skill from </a:t>
            </a:r>
            <a:r>
              <a:rPr sz="1900" b="0" i="0">
                <a:solidFill>
                  <a:srgbClr val="1C252B"/>
                </a:solidFill>
                <a:latin typeface="Cambria"/>
              </a:rPr>
              <a:t>1</a:t>
            </a:r>
            <a:r>
              <a:rPr sz="1900" b="0" i="0">
                <a:solidFill>
                  <a:srgbClr val="1C252B"/>
                </a:solidFill>
                <a:latin typeface="Segoe UI"/>
              </a:rPr>
              <a:t> to </a:t>
            </a:r>
            <a:r>
              <a:rPr sz="1900" b="0" i="0">
                <a:solidFill>
                  <a:srgbClr val="1C252B"/>
                </a:solidFill>
                <a:latin typeface="Cambria"/>
              </a:rPr>
              <a:t>5</a:t>
            </a:r>
            <a:r>
              <a:rPr sz="1900" b="0" i="0">
                <a:solidFill>
                  <a:srgbClr val="1C252B"/>
                </a:solidFill>
                <a:latin typeface="Segoe UI"/>
              </a:rPr>
              <a:t> on each stream. The target headcount is </a:t>
            </a:r>
            <a:r>
              <a:rPr sz="1900" b="0" i="0">
                <a:solidFill>
                  <a:srgbClr val="1C252B"/>
                </a:solidFill>
                <a:latin typeface="Cambria"/>
              </a:rPr>
              <a:t>(3,2,2,2)</a:t>
            </a:r>
            <a:r>
              <a:rPr sz="1900" b="0" i="0">
                <a:solidFill>
                  <a:srgbClr val="1C252B"/>
                </a:solidFill>
                <a:latin typeface="Segoe UI"/>
              </a:rPr>
              <a:t>.</a:t>
            </a:r>
          </a:p>
        </p:txBody>
      </p:sp>
      <p:sp>
        <p:nvSpPr>
          <p:cNvPr id="10" name="body-1"/>
          <p:cNvSpPr txBox="1"/>
          <p:nvPr/>
        </p:nvSpPr>
        <p:spPr>
          <a:xfrm>
            <a:off x="1060704" y="2783255"/>
            <a:ext cx="10161727"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state is a tuple of nine stream indices, e.g. </a:t>
            </a:r>
            <a:r>
              <a:rPr sz="1900" b="0" i="0">
                <a:solidFill>
                  <a:srgbClr val="1C252B"/>
                </a:solidFill>
                <a:latin typeface="Cambria"/>
              </a:rPr>
              <a:t>(0,0,1,2,3,2,1,3,0)</a:t>
            </a:r>
            <a:r>
              <a:rPr sz="1900" b="0" i="0">
                <a:solidFill>
                  <a:srgbClr val="1C252B"/>
                </a:solidFill>
                <a:latin typeface="Segoe UI"/>
              </a:rPr>
              <a:t>. The objective to maximise is</a:t>
            </a:r>
          </a:p>
        </p:txBody>
      </p:sp>
      <p:pic>
        <p:nvPicPr>
          <p:cNvPr id="11" name="body-2" descr="\mathrm{score}(s) \;=\; \underbrace{\sum_{i} \mathrm{skill}(d_{i}, s_{i})}_{\text{skill match}} \;-\; 4 \sum_{j} \bigl| \mathrm{count}_{j}(s) - \mathrm{target}_{j} \big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3217113"/>
            <a:ext cx="10161727" cy="938540"/>
          </a:xfrm>
          <a:prstGeom prst="rect">
            <a:avLst/>
          </a:prstGeom>
        </p:spPr>
      </p:pic>
      <p:sp>
        <p:nvSpPr>
          <p:cNvPr id="12" name="body-3"/>
          <p:cNvSpPr txBox="1"/>
          <p:nvPr/>
        </p:nvSpPr>
        <p:spPr>
          <a:xfrm>
            <a:off x="1060704" y="4288368"/>
            <a:ext cx="10161727"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The space has </a:t>
            </a:r>
            <a:r>
              <a:rPr sz="1900" b="0" i="0">
                <a:solidFill>
                  <a:srgbClr val="1C252B"/>
                </a:solidFill>
                <a:latin typeface="Cambria"/>
              </a:rPr>
              <a:t>4</a:t>
            </a:r>
            <a:r>
              <a:rPr sz="1250" b="0" i="0" baseline="30000">
                <a:solidFill>
                  <a:srgbClr val="1C252B"/>
                </a:solidFill>
                <a:latin typeface="Cambria"/>
              </a:rPr>
              <a:t>9</a:t>
            </a:r>
            <a:r>
              <a:rPr sz="1900" b="0" i="0">
                <a:solidFill>
                  <a:srgbClr val="1C252B"/>
                </a:solidFill>
                <a:latin typeface="Cambria"/>
              </a:rPr>
              <a:t> = 262,144</a:t>
            </a:r>
            <a:r>
              <a:rPr sz="1900" b="0" i="0">
                <a:solidFill>
                  <a:srgbClr val="1C252B"/>
                </a:solidFill>
                <a:latin typeface="Segoe UI"/>
              </a:rPr>
              <a:t> states, small enough that the lab can find the true optimum by exhaustive enumeration — it is </a:t>
            </a:r>
            <a:r>
              <a:rPr sz="1900" b="1" i="0">
                <a:solidFill>
                  <a:srgbClr val="1C252B"/>
                </a:solidFill>
                <a:latin typeface="Cambria"/>
              </a:rPr>
              <a:t>42</a:t>
            </a:r>
            <a:r>
              <a:rPr sz="1900" b="0" i="0">
                <a:solidFill>
                  <a:srgbClr val="1C252B"/>
                </a:solidFill>
                <a:latin typeface="Segoe UI"/>
              </a:rPr>
              <a:t> — and then check how close each method gets. That is the only reason the problem is this small. Twelve developers and six streams would be </a:t>
            </a:r>
            <a:r>
              <a:rPr sz="1900" b="0" i="0">
                <a:solidFill>
                  <a:srgbClr val="1C252B"/>
                </a:solidFill>
                <a:latin typeface="Cambria"/>
              </a:rPr>
              <a:t>6</a:t>
            </a:r>
            <a:r>
              <a:rPr sz="1250" b="0" i="0" baseline="30000">
                <a:solidFill>
                  <a:srgbClr val="1C252B"/>
                </a:solidFill>
                <a:latin typeface="Cambria"/>
              </a:rPr>
              <a:t>12</a:t>
            </a:r>
            <a:r>
              <a:rPr sz="1900" b="0" i="0">
                <a:solidFill>
                  <a:srgbClr val="1C252B"/>
                </a:solidFill>
                <a:latin typeface="Cambria"/>
              </a:rPr>
              <a:t> ≈ 2.2</a:t>
            </a:r>
            <a:r>
              <a:rPr sz="1900" b="0" i="0">
                <a:solidFill>
                  <a:srgbClr val="1C252B"/>
                </a:solidFill>
                <a:latin typeface="Segoe UI"/>
              </a:rPr>
              <a:t> billion.</a:t>
            </a:r>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135463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state-space landscape</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36794"/>
                </a:solidFill>
                <a:latin typeface="Segoe UI"/>
              </a:rPr>
              <a:t>FIGURE 6.1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6  ·  Local Search and Optimisation</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§6.2  ·  Handout p. 55     </a:t>
            </a:r>
            <a:fld id="{6B1D48E2-E863-4466-AB8D-0A01FCB45E69}" type="slidenum">
              <a:rPr lang="en-GB" sz="1000">
                <a:solidFill>
                  <a:srgbClr val="8795A1"/>
                </a:solidFill>
                <a:latin typeface="Segoe UI"/>
              </a:rPr>
              <a:t>7</a:t>
            </a:fld>
          </a:p>
        </p:txBody>
      </p:sp>
      <p:pic>
        <p:nvPicPr>
          <p:cNvPr id="6" name="!!figure" descr="Figure 6.1. The state-space landscape. Local search sees only the ground next to it. A local maximum has no better neighbour but is not the best state; a plateau is flat, so there is no gradient to follow, and a shoulder is a plateau that does lead upward — which is why forbidding flat moves loses solutions and allowing them without limit loops forever. A ridge is a run of local maxima along which no single move goes up, though a combination of two would."/>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122192" y="1737360"/>
            <a:ext cx="7947309" cy="3391814"/>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312054"/>
            <a:ext cx="54864" cy="924153"/>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293766"/>
            <a:ext cx="10600639" cy="1107033"/>
          </a:xfrm>
          <a:prstGeom prst="rect">
            <a:avLst/>
          </a:prstGeom>
          <a:noFill/>
        </p:spPr>
        <p:txBody>
          <a:bodyPr wrap="square" anchor="t" lIns="0" rIns="0" tIns="0" bIns="0">
            <a:noAutofit/>
          </a:bodyPr>
          <a:lstStyle/>
          <a:p>
            <a:pPr algn="l">
              <a:lnSpc>
                <a:spcPct val="104000"/>
              </a:lnSpc>
              <a:spcBef>
                <a:spcPts val="0"/>
              </a:spcBef>
              <a:spcAft>
                <a:spcPts val="0"/>
              </a:spcAft>
            </a:pPr>
            <a:r>
              <a:rPr sz="1400" b="0" i="0">
                <a:solidFill>
                  <a:srgbClr val="3E4C57"/>
                </a:solidFill>
                <a:latin typeface="Segoe UI"/>
              </a:rPr>
              <a:t>Local search sees only the ground next to it. A local maximum has no better neighbour but is not the best state; a plateau is flat, so there is no gradient to follow, and a shoulder is a plateau that does lead upward — which is why forbidding flat moves loses solutions and allowing them without limit loops forever. A ridge is a run of local maxima along which no single move goes up, though a combination of two would.</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58040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plateau dilemma</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6  ·  Local Search and Optimisation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§6.3  ·  Handout p. 55     </a:t>
            </a:r>
            <a:fld id="{CC1B965E-4DD2-41AE-AFA3-056865316106}"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334232"/>
          </a:xfrm>
          <a:prstGeom prst="roundRect">
            <a:avLst>
              <a:gd name="adj" fmla="val 2742"/>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334232"/>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If hill climbing stops when no neighbour is </a:t>
            </a:r>
            <a:r>
              <a:rPr sz="2300" b="0" i="1">
                <a:solidFill>
                  <a:srgbClr val="1C252B"/>
                </a:solidFill>
                <a:latin typeface="Segoe UI"/>
              </a:rPr>
              <a:t>strictly</a:t>
            </a:r>
            <a:r>
              <a:rPr sz="2300" b="0" i="0">
                <a:solidFill>
                  <a:srgbClr val="1C252B"/>
                </a:solidFill>
                <a:latin typeface="Segoe UI"/>
              </a:rPr>
              <a:t> better, it halts on every shoulder — flat ground that would have led upward. If it allows sideways moves onto equal-scoring neighbours, it can circle a genuine plateau forever.</a:t>
            </a:r>
          </a:p>
        </p:txBody>
      </p:sp>
      <p:sp>
        <p:nvSpPr>
          <p:cNvPr id="10" name="body-1"/>
          <p:cNvSpPr txBox="1"/>
          <p:nvPr/>
        </p:nvSpPr>
        <p:spPr>
          <a:xfrm>
            <a:off x="1060704" y="3302533"/>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standard compromise is to allow sideways moves up to a fixed limit (a hundred, say) and then stop. It is a hack, it works, and it is worth knowing that this is what the literature does rather than assuming there is something more elegant.</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180617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Simulated annealing</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6  ·  Local Search and Optimisation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§6.4.2  ·  Handout p. 56     </a:t>
            </a:r>
            <a:fld id="{6E3BD705-4D18-4EBE-BE79-734535D79952}"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312908"/>
          </a:xfrm>
          <a:prstGeom prst="roundRect">
            <a:avLst>
              <a:gd name="adj" fmla="val 3953"/>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31290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Instead of always climbing, pick a random neighbour and accept it if it is an improvement — but if it is worse, accept it anyway with probability</a:t>
            </a:r>
          </a:p>
        </p:txBody>
      </p:sp>
      <p:pic>
        <p:nvPicPr>
          <p:cNvPr id="10" name="body-1" descr="p \;=\; \exp\!\left(\frac{\Delta}{T}\right), \qquad \Delta = \mathrm{score}(\text{new}) - \mathrm{score}(\text{current}) &lt; 0,"/>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937992"/>
            <a:ext cx="10161727" cy="801380"/>
          </a:xfrm>
          <a:prstGeom prst="rect">
            <a:avLst/>
          </a:prstGeom>
        </p:spPr>
      </p:pic>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203194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Simulated annealing’s acceptance probability exp(Δ/T)</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36794"/>
                </a:solidFill>
                <a:latin typeface="Segoe UI"/>
              </a:rPr>
              <a:t>FIGURE 6.2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6  ·  Local Search and Optimisation</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§6.4.2  ·  Handout p. 56     </a:t>
            </a:r>
            <a:fld id="{5A24D0B0-0D68-4830-9F68-A4FADC8BB3F2}" type="slidenum">
              <a:rPr lang="en-GB" sz="1000">
                <a:solidFill>
                  <a:srgbClr val="8795A1"/>
                </a:solidFill>
                <a:latin typeface="Segoe UI"/>
              </a:rPr>
              <a:t>10</a:t>
            </a:fld>
          </a:p>
        </p:txBody>
      </p:sp>
      <p:pic>
        <p:nvPicPr>
          <p:cNvPr id="6" name="!!figure" descr="Figure 6.2. Simulated annealing’s acceptance probability exp(Δ/T). High temperature accepts almost any move; as T falls the method converges on hill climbing. Note that an improving move is always accepted, at every temperatur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809080" y="1737360"/>
            <a:ext cx="8573535"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High temperature accepts almost any move; as T falls the method converges on hill climbing. Note that an improving move is always accepted, at every temperature.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25772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Genetic Algorithms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5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6.5</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6.1   When the Path Does Not Matter</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6.2   The State-Space Landscape</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6.3   Hill Climbing</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6.4   Three Ways Out</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6.5   Genetic Algorithms</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6.6   Comparing Them Honestly</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6</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§6.5     </a:t>
            </a:r>
            <a:fld id="{E59F260A-BAAB-49C5-BA62-233B328C4534}" type="slidenum">
              <a:rPr lang="en-GB" sz="1000">
                <a:solidFill>
                  <a:srgbClr val="8795A1"/>
                </a:solidFill>
                <a:latin typeface="Segoe UI"/>
              </a:rPr>
              <a:t>11</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248349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Genetic Algorithms</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6  ·  Local Search and Optimisation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§6.5  ·  Handout p. 57     </a:t>
            </a:r>
            <a:fld id="{DC4890FA-CBC6-48EE-A0AA-99B77B362419}"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20438"/>
          </a:xfrm>
          <a:prstGeom prst="roundRect">
            <a:avLst>
              <a:gd name="adj" fmla="val 2116"/>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2043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genetic algorithm is stochastic beam search with one extra operator: states are strings, and new states are made by </a:t>
            </a:r>
            <a:r>
              <a:rPr sz="1900" b="0" i="1">
                <a:solidFill>
                  <a:srgbClr val="1C252B"/>
                </a:solidFill>
                <a:latin typeface="Segoe UI"/>
              </a:rPr>
              <a:t>combining two parents</a:t>
            </a:r>
            <a:r>
              <a:rPr sz="1900" b="0" i="0">
                <a:solidFill>
                  <a:srgbClr val="1C252B"/>
                </a:solidFill>
                <a:latin typeface="Segoe UI"/>
              </a:rPr>
              <a:t> rather than mutating one. Four operators:</a:t>
            </a:r>
          </a:p>
        </p:txBody>
      </p:sp>
      <p:sp>
        <p:nvSpPr>
          <p:cNvPr id="10" name="body-1"/>
          <p:cNvSpPr txBox="1"/>
          <p:nvPr/>
        </p:nvSpPr>
        <p:spPr>
          <a:xfrm>
            <a:off x="1060704" y="2783255"/>
            <a:ext cx="10161727" cy="3009366"/>
          </a:xfrm>
          <a:prstGeom prst="rect">
            <a:avLst/>
          </a:prstGeom>
          <a:noFill/>
        </p:spPr>
        <p:txBody>
          <a:bodyPr wrap="square" anchor="t" lIns="0" rIns="0" tIns="0" bIns="0">
            <a:noAutofit/>
          </a:bodyPr>
          <a:lstStyle/>
          <a:p>
            <a:pPr algn="l" marL="458330" indent="-458330">
              <a:lnSpc>
                <a:spcPct val="104000"/>
              </a:lnSpc>
              <a:spcBef>
                <a:spcPts val="0"/>
              </a:spcBef>
              <a:spcAft>
                <a:spcPts val="665"/>
              </a:spcAft>
            </a:pPr>
            <a:r>
              <a:rPr sz="1900" b="1">
                <a:solidFill>
                  <a:srgbClr val="1A5276"/>
                </a:solidFill>
                <a:latin typeface="Segoe UI"/>
              </a:rPr>
              <a:t>1.	</a:t>
            </a:r>
            <a:r>
              <a:rPr sz="1900" b="1" i="0">
                <a:solidFill>
                  <a:srgbClr val="1A5276"/>
                </a:solidFill>
                <a:latin typeface="Segoe UI"/>
              </a:rPr>
              <a:t>Selection</a:t>
            </a:r>
            <a:r>
              <a:rPr sz="1900" b="0" i="0">
                <a:solidFill>
                  <a:srgbClr val="1C252B"/>
                </a:solidFill>
                <a:latin typeface="Segoe UI"/>
              </a:rPr>
              <a:t> — choose parents with a bias toward high scores. The lab uses tournament selection: sample three at random, keep the best.</a:t>
            </a:r>
          </a:p>
          <a:p>
            <a:pPr algn="l" marL="458330" indent="-458330">
              <a:lnSpc>
                <a:spcPct val="104000"/>
              </a:lnSpc>
              <a:spcBef>
                <a:spcPts val="0"/>
              </a:spcBef>
              <a:spcAft>
                <a:spcPts val="665"/>
              </a:spcAft>
            </a:pPr>
            <a:r>
              <a:rPr sz="1900" b="1">
                <a:solidFill>
                  <a:srgbClr val="1A5276"/>
                </a:solidFill>
                <a:latin typeface="Segoe UI"/>
              </a:rPr>
              <a:t>2.	</a:t>
            </a:r>
            <a:r>
              <a:rPr sz="1900" b="1" i="0">
                <a:solidFill>
                  <a:srgbClr val="1A5276"/>
                </a:solidFill>
                <a:latin typeface="Segoe UI"/>
              </a:rPr>
              <a:t>Crossover</a:t>
            </a:r>
            <a:r>
              <a:rPr sz="1900" b="0" i="0">
                <a:solidFill>
                  <a:srgbClr val="1C252B"/>
                </a:solidFill>
                <a:latin typeface="Segoe UI"/>
              </a:rPr>
              <a:t> — cut both parents at the same random point and splice. With nine developers, cut after developer </a:t>
            </a:r>
            <a:r>
              <a:rPr sz="1900" b="0" i="0">
                <a:solidFill>
                  <a:srgbClr val="1C252B"/>
                </a:solidFill>
                <a:latin typeface="Cambria"/>
              </a:rPr>
              <a:t>4</a:t>
            </a:r>
            <a:r>
              <a:rPr sz="1900" b="0" i="0">
                <a:solidFill>
                  <a:srgbClr val="1C252B"/>
                </a:solidFill>
                <a:latin typeface="Segoe UI"/>
              </a:rPr>
              <a:t> and take the first four assignments from one parent and the last five from the other.</a:t>
            </a:r>
          </a:p>
          <a:p>
            <a:pPr algn="l" marL="458330" indent="-458330">
              <a:lnSpc>
                <a:spcPct val="104000"/>
              </a:lnSpc>
              <a:spcBef>
                <a:spcPts val="0"/>
              </a:spcBef>
              <a:spcAft>
                <a:spcPts val="665"/>
              </a:spcAft>
            </a:pPr>
            <a:r>
              <a:rPr sz="1900" b="1">
                <a:solidFill>
                  <a:srgbClr val="1A5276"/>
                </a:solidFill>
                <a:latin typeface="Segoe UI"/>
              </a:rPr>
              <a:t>3.	</a:t>
            </a:r>
            <a:r>
              <a:rPr sz="1900" b="1" i="0">
                <a:solidFill>
                  <a:srgbClr val="1A5276"/>
                </a:solidFill>
                <a:latin typeface="Segoe UI"/>
              </a:rPr>
              <a:t>Mutation</a:t>
            </a:r>
            <a:r>
              <a:rPr sz="1900" b="0" i="0">
                <a:solidFill>
                  <a:srgbClr val="1C252B"/>
                </a:solidFill>
                <a:latin typeface="Segoe UI"/>
              </a:rPr>
              <a:t> — with small probability, reassign a developer at random. This is what stops the population collapsing to one state.</a:t>
            </a:r>
          </a:p>
          <a:p>
            <a:pPr algn="l" marL="458330" indent="-458330">
              <a:lnSpc>
                <a:spcPct val="104000"/>
              </a:lnSpc>
              <a:spcBef>
                <a:spcPts val="0"/>
              </a:spcBef>
              <a:spcAft>
                <a:spcPts val="0"/>
              </a:spcAft>
            </a:pPr>
            <a:r>
              <a:rPr sz="1900" b="1">
                <a:solidFill>
                  <a:srgbClr val="1A5276"/>
                </a:solidFill>
                <a:latin typeface="Segoe UI"/>
              </a:rPr>
              <a:t>4.	</a:t>
            </a:r>
            <a:r>
              <a:rPr sz="1900" b="1" i="0">
                <a:solidFill>
                  <a:srgbClr val="1A5276"/>
                </a:solidFill>
                <a:latin typeface="Segoe UI"/>
              </a:rPr>
              <a:t>Elitism</a:t>
            </a:r>
            <a:r>
              <a:rPr sz="1900" b="0" i="0">
                <a:solidFill>
                  <a:srgbClr val="1C252B"/>
                </a:solidFill>
                <a:latin typeface="Segoe UI"/>
              </a:rPr>
              <a:t> — carry the best few unchanged into the next generation, so a good solution is never lost.</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270926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xEl>
                                              <p:pRg st="3" end="3"/>
                                            </p:txEl>
                                          </p:spTgt>
                                        </p:tgtEl>
                                        <p:attrNameLst>
                                          <p:attrName>style.visibility</p:attrName>
                                        </p:attrNameLst>
                                      </p:cBhvr>
                                      <p:to>
                                        <p:strVal val="visible"/>
                                      </p:to>
                                    </p:set>
                                    <p:animEffect transition="in" filter="fade">
                                      <p:cBhvr>
                                        <p:cTn id="23" dur="38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Genetic Algorithms</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6  ·  Local Search and Optimisation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§6.5  ·  Handout p. 57     </a:t>
            </a:r>
            <a:fld id="{F3FD3935-5F01-402F-83F7-142009ED4F62}"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62043"/>
          </a:xfrm>
          <a:prstGeom prst="roundRect">
            <a:avLst>
              <a:gd name="adj" fmla="val 2096"/>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62043"/>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2349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Crossover is the whole claim of a genetic algorithm, and it rests on an assumption: that the string decomposes into </a:t>
            </a:r>
            <a:r>
              <a:rPr sz="1700" b="0" i="1">
                <a:solidFill>
                  <a:srgbClr val="1C252B"/>
                </a:solidFill>
                <a:latin typeface="Segoe UI"/>
              </a:rPr>
              <a:t>blocks that are independently good</a:t>
            </a:r>
            <a:r>
              <a:rPr sz="1700" b="0" i="0">
                <a:solidFill>
                  <a:srgbClr val="1C252B"/>
                </a:solidFill>
                <a:latin typeface="Segoe UI"/>
              </a:rPr>
              <a:t>. Splicing the first four developers’ assignments from one parent onto the last five from another helps only if those are meaningful units that can be judged apart from each other.</a:t>
            </a:r>
          </a:p>
        </p:txBody>
      </p:sp>
      <p:sp>
        <p:nvSpPr>
          <p:cNvPr id="10" name="body-1"/>
          <p:cNvSpPr txBox="1"/>
          <p:nvPr/>
        </p:nvSpPr>
        <p:spPr>
          <a:xfrm>
            <a:off x="1060704" y="3244773"/>
            <a:ext cx="10161727" cy="139293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On the staffing problem the assumption holds reasonably well, and it is worth seeing why. Most of a developer’s contribution is her own skill score, which depends on her assignment alone — that part decomposes perfectly. The headcount penalty is the only coupling, and it is a mild global correction rather than a pairwise tangle. So inherited blocks mostly keep their value, and the measurement below shows the genetic algorithm winning clearly.</a:t>
            </a:r>
          </a:p>
        </p:txBody>
      </p:sp>
      <p:sp>
        <p:nvSpPr>
          <p:cNvPr id="11" name="body-2"/>
          <p:cNvSpPr txBox="1"/>
          <p:nvPr/>
        </p:nvSpPr>
        <p:spPr>
          <a:xfrm>
            <a:off x="1060704" y="4710734"/>
            <a:ext cx="10161727" cy="112349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That is a happy outcome and not a general law. On a problem where the objective depends on </a:t>
            </a:r>
            <a:r>
              <a:rPr sz="1700" b="0" i="1">
                <a:solidFill>
                  <a:srgbClr val="1C252B"/>
                </a:solidFill>
                <a:latin typeface="Segoe UI"/>
              </a:rPr>
              <a:t>pairs</a:t>
            </a:r>
            <a:r>
              <a:rPr sz="1700" b="0" i="0">
                <a:solidFill>
                  <a:srgbClr val="1C252B"/>
                </a:solidFill>
                <a:latin typeface="Segoe UI"/>
              </a:rPr>
              <a:t> of positions — who is rostered alongside whom, which two services must not share a host — crossover routinely destroys exactly the structure it inherits, and the same code performs badly. Crossover is a claim about your problem. Check it; do not assume it.</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93503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Comparing Them Honestly</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6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6.6</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6.1   When the Path Does Not Matter</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6.2   The State-Space Landscape</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6.3   Hill Climbing</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6.4   Three Ways Out</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6.5   Genetic Algorithms</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6.6   Comparing Them Honestly</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6</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§6.6     </a:t>
            </a:r>
            <a:fld id="{970284F1-C3B2-4311-ADF2-D9CADFD841C5}" type="slidenum">
              <a:rPr lang="en-GB" sz="1000">
                <a:solidFill>
                  <a:srgbClr val="8795A1"/>
                </a:solidFill>
                <a:latin typeface="Segoe UI"/>
              </a:rPr>
              <a:t>14</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316080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Mean final score at an equal budget of 4,000 objective evaluations per run</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36794"/>
                </a:solidFill>
                <a:latin typeface="Segoe UI"/>
              </a:rPr>
              <a:t>FIGURE 6.3</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6  ·  Local Search and Optimisation</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§6.6  ·  Handout p. 57     </a:t>
            </a:r>
            <a:fld id="{CE4C1E23-C799-4D2A-903E-CDB443205757}" type="slidenum">
              <a:rPr lang="en-GB" sz="1000">
                <a:solidFill>
                  <a:srgbClr val="8795A1"/>
                </a:solidFill>
                <a:latin typeface="Segoe UI"/>
              </a:rPr>
              <a:t>15</a:t>
            </a:fld>
          </a:p>
        </p:txBody>
      </p:sp>
      <p:pic>
        <p:nvPicPr>
          <p:cNvPr id="6" name="!!figure" descr="Figure 6.3. Mean final score at an equal budget of 4,000 objective evaluations per run. Hill climbing alone is far behind; the three escape strategies are close together, with the genetic algorithm ahead."/>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902952"/>
            <a:ext cx="10874959" cy="2794260"/>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Hill climbing alone is far behind; the three escape strategies are close together, with the genetic algorithm ahead.</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38658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Comparing Them Honestly</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6  ·  Local Search and Optimisation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§6.6  ·  Handout p. 57     </a:t>
            </a:r>
            <a:fld id="{9B7F0609-AD6C-4E1F-91BE-D1F30C13CE01}" type="slidenum">
              <a:rPr lang="en-GB" sz="1000">
                <a:solidFill>
                  <a:srgbClr val="8795A1"/>
                </a:solidFill>
                <a:latin typeface="Segoe UI"/>
              </a:rPr>
              <a:t>16</a:t>
            </a:fld>
          </a:p>
        </p:txBody>
      </p:sp>
      <p:graphicFrame>
        <p:nvGraphicFramePr>
          <p:cNvPr id="7" name="!!table"/>
          <p:cNvGraphicFramePr>
            <a:graphicFrameLocks noGrp="1"/>
          </p:cNvGraphicFramePr>
          <p:nvPr/>
        </p:nvGraphicFramePr>
        <p:xfrm>
          <a:off x="658368" y="1737360"/>
          <a:ext cx="10874957" cy="3209544"/>
        </p:xfrm>
        <a:graphic>
          <a:graphicData uri="http://schemas.openxmlformats.org/drawingml/2006/table">
            <a:tbl>
              <a:tblPr firstRow="0" bandRow="0" firstCol="0" lastRow="0" lastCol="0" bandCol="0">
                <a:tableStyleId>{2D5ABB26-0587-4C30-8999-92F81FD0307C}</a:tableStyleId>
              </a:tblPr>
              <a:tblGrid>
                <a:gridCol w="3489725"/>
                <a:gridCol w="2028910"/>
                <a:gridCol w="1785441"/>
                <a:gridCol w="1623128"/>
                <a:gridCol w="1947753"/>
              </a:tblGrid>
              <a:tr h="405384">
                <a:tc>
                  <a:txBody>
                    <a:bodyPr wrap="square"/>
                    <a:lstStyle/>
                    <a:p>
                      <a:pPr algn="l"/>
                      <a:r>
                        <a:rPr sz="1700" b="1" i="0">
                          <a:solidFill>
                            <a:srgbClr val="1A5276"/>
                          </a:solidFill>
                          <a:latin typeface="Segoe UI"/>
                        </a:rPr>
                        <a:t>Method</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Found optimum</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Mean score</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Worst run</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Parameters</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405384">
                <a:tc>
                  <a:txBody>
                    <a:bodyPr wrap="square"/>
                    <a:lstStyle/>
                    <a:p>
                      <a:pPr algn="l"/>
                      <a:r>
                        <a:rPr sz="1700" b="1" i="0">
                          <a:solidFill>
                            <a:srgbClr val="1C252B"/>
                          </a:solidFill>
                          <a:latin typeface="Segoe UI"/>
                        </a:rPr>
                        <a:t>Method</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1" i="0">
                          <a:solidFill>
                            <a:srgbClr val="1C252B"/>
                          </a:solidFill>
                          <a:latin typeface="Segoe UI"/>
                        </a:rPr>
                        <a:t>Found optimum</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1" i="0">
                          <a:solidFill>
                            <a:srgbClr val="1C252B"/>
                          </a:solidFill>
                          <a:latin typeface="Segoe UI"/>
                        </a:rPr>
                        <a:t>Mean score</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1" i="0">
                          <a:solidFill>
                            <a:srgbClr val="1C252B"/>
                          </a:solidFill>
                          <a:latin typeface="Segoe UI"/>
                        </a:rPr>
                        <a:t>Worst run</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1" i="0">
                          <a:solidFill>
                            <a:srgbClr val="1C252B"/>
                          </a:solidFill>
                          <a:latin typeface="Segoe UI"/>
                        </a:rPr>
                        <a:t>Parameters</a:t>
                      </a:r>
                      <a:endParaRPr sz="1700"/>
                    </a:p>
                  </a:txBody>
                  <a:tcPr marL="109728" marR="109728" marT="64008" marB="45720" anchor="t">
                    <a:lnL w="0" cmpd="sng">
                      <a:noFill/>
                    </a:lnL>
                    <a:lnR w="0" cmpd="sng">
                      <a:noFill/>
                    </a:lnR>
                    <a:lnT w="9525" cmpd="sng">
                      <a:noFill/>
                    </a:lnT>
                    <a:lnB w="9525" cmpd="sng">
                      <a:noFill/>
                    </a:lnB>
                    <a:solidFill>
                      <a:srgbClr val="FFFFFF"/>
                    </a:solidFill>
                  </a:tcPr>
                </a:tc>
              </a:tr>
              <a:tr h="405384">
                <a:tc>
                  <a:txBody>
                    <a:bodyPr wrap="square"/>
                    <a:lstStyle/>
                    <a:p>
                      <a:pPr algn="l"/>
                      <a:r>
                        <a:rPr sz="1700" b="0" i="0">
                          <a:solidFill>
                            <a:srgbClr val="1C252B"/>
                          </a:solidFill>
                          <a:latin typeface="Segoe UI"/>
                        </a:rPr>
                        <a:t>Hill climbing, one start</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1 / 200</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30.34</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22</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none</a:t>
                      </a:r>
                      <a:endParaRPr sz="1700"/>
                    </a:p>
                  </a:txBody>
                  <a:tcPr marL="109728" marR="109728" marT="64008" marB="45720" anchor="t">
                    <a:lnL w="0" cmpd="sng">
                      <a:noFill/>
                    </a:lnL>
                    <a:lnR w="0" cmpd="sng">
                      <a:noFill/>
                    </a:lnR>
                    <a:lnT w="9525" cmpd="sng">
                      <a:noFill/>
                    </a:lnT>
                    <a:lnB w="9525" cmpd="sng">
                      <a:noFill/>
                    </a:lnB>
                    <a:solidFill>
                      <a:srgbClr val="F2F8FC"/>
                    </a:solidFill>
                  </a:tcPr>
                </a:tc>
              </a:tr>
              <a:tr h="405384">
                <a:tc>
                  <a:txBody>
                    <a:bodyPr wrap="square"/>
                    <a:lstStyle/>
                    <a:p>
                      <a:pPr algn="l"/>
                      <a:r>
                        <a:rPr sz="1700" b="0" i="0">
                          <a:solidFill>
                            <a:srgbClr val="1C252B"/>
                          </a:solidFill>
                          <a:latin typeface="Segoe UI"/>
                        </a:rPr>
                        <a:t>Random-restart hill climbing</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37 / 200</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39.45</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36</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none</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Simulated annealing</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51 / 200</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39.99</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37</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initial temperature</a:t>
                      </a:r>
                      <a:endParaRPr sz="1700"/>
                    </a:p>
                  </a:txBody>
                  <a:tcPr marL="109728" marR="109728" marT="64008" marB="45720" anchor="t">
                    <a:lnL w="0" cmpd="sng">
                      <a:noFill/>
                    </a:lnL>
                    <a:lnR w="0" cmpd="sng">
                      <a:noFill/>
                    </a:lnR>
                    <a:lnT w="9525" cmpd="sng">
                      <a:noFill/>
                    </a:lnT>
                    <a:lnB w="9525" cmpd="sng">
                      <a:noFill/>
                    </a:lnB>
                    <a:solidFill>
                      <a:srgbClr val="F2F8FC"/>
                    </a:solidFill>
                  </a:tcPr>
                </a:tc>
              </a:tr>
              <a:tr h="923544">
                <a:tc>
                  <a:txBody>
                    <a:bodyPr wrap="square"/>
                    <a:lstStyle/>
                    <a:p>
                      <a:pPr algn="l"/>
                      <a:r>
                        <a:rPr sz="1700" b="0" i="0">
                          <a:solidFill>
                            <a:srgbClr val="1C252B"/>
                          </a:solidFill>
                          <a:latin typeface="Segoe UI"/>
                        </a:rPr>
                        <a:t>Genetic algorithm</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1" i="0">
                          <a:solidFill>
                            <a:srgbClr val="1C252B"/>
                          </a:solidFill>
                          <a:latin typeface="Segoe UI"/>
                        </a:rPr>
                        <a:t>160 / 200</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1" i="0">
                          <a:solidFill>
                            <a:srgbClr val="1C252B"/>
                          </a:solidFill>
                          <a:latin typeface="Segoe UI"/>
                        </a:rPr>
                        <a:t>41.54</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37</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population, mutation rate, tournament size</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361235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same four methods, two defensible accountings</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6  ·  Local Search and Optimisation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§6.6.1  ·  Handout p. 59     </a:t>
            </a:r>
            <a:fld id="{9A501E18-F000-4F86-8879-9825C3B74EDD}"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888435"/>
          </a:xfrm>
          <a:prstGeom prst="roundRect">
            <a:avLst>
              <a:gd name="adj" fmla="val 2351"/>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888435"/>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060094"/>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A genetic algorithm evaluates fitness in two places: once per individual per generation, and again inside each tournament when it compares candidate parents. The standard — and correct — practice is to evaluate each individual </a:t>
            </a:r>
            <a:r>
              <a:rPr sz="1600" b="0" i="1">
                <a:solidFill>
                  <a:srgbClr val="1C252B"/>
                </a:solidFill>
                <a:latin typeface="Segoe UI"/>
              </a:rPr>
              <a:t>once</a:t>
            </a:r>
            <a:r>
              <a:rPr sz="1600" b="0" i="0">
                <a:solidFill>
                  <a:srgbClr val="1C252B"/>
                </a:solidFill>
                <a:latin typeface="Segoe UI"/>
              </a:rPr>
              <a:t> per generation and cache the value for every selection decision, so a generation costs exactly </a:t>
            </a:r>
            <a:r>
              <a:rPr sz="1500" b="0" i="0">
                <a:solidFill>
                  <a:srgbClr val="1F4E79"/>
                </a:solidFill>
                <a:latin typeface="Consolas"/>
              </a:rPr>
              <a:t>pop</a:t>
            </a:r>
            <a:r>
              <a:rPr sz="1600" b="0" i="0">
                <a:solidFill>
                  <a:srgbClr val="1C252B"/>
                </a:solidFill>
                <a:latin typeface="Segoe UI"/>
              </a:rPr>
              <a:t> evaluations. That is what Table 6.1 does, and the genetic algorithm comes first with a mean of </a:t>
            </a:r>
            <a:r>
              <a:rPr sz="1600" b="0" i="0">
                <a:solidFill>
                  <a:srgbClr val="1C252B"/>
                </a:solidFill>
                <a:latin typeface="Cambria"/>
              </a:rPr>
              <a:t>41.54</a:t>
            </a:r>
            <a:r>
              <a:rPr sz="1600" b="0" i="0">
                <a:solidFill>
                  <a:srgbClr val="1C252B"/>
                </a:solidFill>
                <a:latin typeface="Segoe UI"/>
              </a:rPr>
              <a:t>.</a:t>
            </a:r>
          </a:p>
        </p:txBody>
      </p:sp>
      <p:sp>
        <p:nvSpPr>
          <p:cNvPr id="10" name="body-1"/>
          <p:cNvSpPr txBox="1"/>
          <p:nvPr/>
        </p:nvSpPr>
        <p:spPr>
          <a:xfrm>
            <a:off x="1060704" y="3174390"/>
            <a:ext cx="10161727" cy="1060094"/>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Charge each tournament comparison as a fresh evaluation instead — two tournaments of three per child, so roughly six times as many — and the same code, same seeds, same budget, produces a mean of </a:t>
            </a:r>
            <a:r>
              <a:rPr sz="1600" b="0" i="0">
                <a:solidFill>
                  <a:srgbClr val="1C252B"/>
                </a:solidFill>
                <a:latin typeface="Cambria"/>
              </a:rPr>
              <a:t>38.25</a:t>
            </a:r>
            <a:r>
              <a:rPr sz="1600" b="0" i="0">
                <a:solidFill>
                  <a:srgbClr val="1C252B"/>
                </a:solidFill>
                <a:latin typeface="Segoe UI"/>
              </a:rPr>
              <a:t> and </a:t>
            </a:r>
            <a:r>
              <a:rPr sz="1600" b="0" i="0">
                <a:solidFill>
                  <a:srgbClr val="1C252B"/>
                </a:solidFill>
                <a:latin typeface="Cambria"/>
              </a:rPr>
              <a:t>29/200</a:t>
            </a:r>
            <a:r>
              <a:rPr sz="1600" b="0" i="0">
                <a:solidFill>
                  <a:srgbClr val="1C252B"/>
                </a:solidFill>
                <a:latin typeface="Segoe UI"/>
              </a:rPr>
              <a:t> optima. </a:t>
            </a:r>
            <a:r>
              <a:rPr sz="1600" b="0" i="1">
                <a:solidFill>
                  <a:srgbClr val="1C252B"/>
                </a:solidFill>
                <a:latin typeface="Segoe UI"/>
              </a:rPr>
              <a:t>The genetic algorithm moves from first place to last.</a:t>
            </a:r>
            <a:r>
              <a:rPr sz="1600" b="0" i="0">
                <a:solidFill>
                  <a:srgbClr val="1C252B"/>
                </a:solidFill>
                <a:latin typeface="Segoe UI"/>
              </a:rPr>
              <a:t> Nothing about the algorithm changed; only the bookkeeping did.</a:t>
            </a:r>
          </a:p>
        </p:txBody>
      </p:sp>
      <p:sp>
        <p:nvSpPr>
          <p:cNvPr id="11" name="body-2"/>
          <p:cNvSpPr txBox="1"/>
          <p:nvPr/>
        </p:nvSpPr>
        <p:spPr>
          <a:xfrm>
            <a:off x="1060704" y="4300524"/>
            <a:ext cx="10161727" cy="1060094"/>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Which accounting is right? Caching is right, because in any real application the objective is the expensive part and no competent implementation would recompute a fitness it already holds. But notice how little the question announces itself, and how completely the answer changes the published conclusion. When you read a comparison of metaheuristics, the first question is not which method won — it is what the authors counted.</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83812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one developer cannot be moved to fix a ridge</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6  ·  Local Search and Optimisation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§6.6.1  ·  Handout p. 59     </a:t>
            </a:r>
            <a:fld id="{07451266-CA96-492A-A73F-3AFC463A186D}"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524351"/>
          </a:xfrm>
          <a:prstGeom prst="roundRect">
            <a:avLst>
              <a:gd name="adj" fmla="val 2594"/>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52435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Take the state in which every developer is assigned to the stream she is individually best at. Reading the skill table: Ayesha </a:t>
            </a:r>
            <a:r>
              <a:rPr sz="1900" b="0" i="0">
                <a:solidFill>
                  <a:srgbClr val="1C252B"/>
                </a:solidFill>
                <a:latin typeface="Cambria"/>
              </a:rPr>
              <a:t>→</a:t>
            </a:r>
            <a:r>
              <a:rPr sz="1900" b="0" i="0">
                <a:solidFill>
                  <a:srgbClr val="1C252B"/>
                </a:solidFill>
                <a:latin typeface="Segoe UI"/>
              </a:rPr>
              <a:t> </a:t>
            </a:r>
            <a:r>
              <a:rPr sz="1800" b="0" i="0">
                <a:solidFill>
                  <a:srgbClr val="1F4E79"/>
                </a:solidFill>
                <a:latin typeface="Consolas"/>
              </a:rPr>
              <a:t>api</a:t>
            </a:r>
            <a:r>
              <a:rPr sz="1900" b="0" i="0">
                <a:solidFill>
                  <a:srgbClr val="1C252B"/>
                </a:solidFill>
                <a:latin typeface="Segoe UI"/>
              </a:rPr>
              <a:t> (</a:t>
            </a:r>
            <a:r>
              <a:rPr sz="1900" b="0" i="0">
                <a:solidFill>
                  <a:srgbClr val="1C252B"/>
                </a:solidFill>
                <a:latin typeface="Cambria"/>
              </a:rPr>
              <a:t>5</a:t>
            </a:r>
            <a:r>
              <a:rPr sz="1900" b="0" i="0">
                <a:solidFill>
                  <a:srgbClr val="1C252B"/>
                </a:solidFill>
                <a:latin typeface="Segoe UI"/>
              </a:rPr>
              <a:t>), Bilal </a:t>
            </a:r>
            <a:r>
              <a:rPr sz="1900" b="0" i="0">
                <a:solidFill>
                  <a:srgbClr val="1C252B"/>
                </a:solidFill>
                <a:latin typeface="Cambria"/>
              </a:rPr>
              <a:t>→</a:t>
            </a:r>
            <a:r>
              <a:rPr sz="1900" b="0" i="0">
                <a:solidFill>
                  <a:srgbClr val="1C252B"/>
                </a:solidFill>
                <a:latin typeface="Segoe UI"/>
              </a:rPr>
              <a:t> </a:t>
            </a:r>
            <a:r>
              <a:rPr sz="1800" b="0" i="0">
                <a:solidFill>
                  <a:srgbClr val="1F4E79"/>
                </a:solidFill>
                <a:latin typeface="Consolas"/>
              </a:rPr>
              <a:t>api</a:t>
            </a:r>
            <a:r>
              <a:rPr sz="1900" b="0" i="0">
                <a:solidFill>
                  <a:srgbClr val="1C252B"/>
                </a:solidFill>
                <a:latin typeface="Segoe UI"/>
              </a:rPr>
              <a:t> (</a:t>
            </a:r>
            <a:r>
              <a:rPr sz="1900" b="0" i="0">
                <a:solidFill>
                  <a:srgbClr val="1C252B"/>
                </a:solidFill>
                <a:latin typeface="Cambria"/>
              </a:rPr>
              <a:t>4</a:t>
            </a:r>
            <a:r>
              <a:rPr sz="1900" b="0" i="0">
                <a:solidFill>
                  <a:srgbClr val="1C252B"/>
                </a:solidFill>
                <a:latin typeface="Segoe UI"/>
              </a:rPr>
              <a:t>), Chen </a:t>
            </a:r>
            <a:r>
              <a:rPr sz="1900" b="0" i="0">
                <a:solidFill>
                  <a:srgbClr val="1C252B"/>
                </a:solidFill>
                <a:latin typeface="Cambria"/>
              </a:rPr>
              <a:t>→</a:t>
            </a:r>
            <a:r>
              <a:rPr sz="1900" b="0" i="0">
                <a:solidFill>
                  <a:srgbClr val="1C252B"/>
                </a:solidFill>
                <a:latin typeface="Segoe UI"/>
              </a:rPr>
              <a:t> </a:t>
            </a:r>
            <a:r>
              <a:rPr sz="1800" b="0" i="0">
                <a:solidFill>
                  <a:srgbClr val="1F4E79"/>
                </a:solidFill>
                <a:latin typeface="Consolas"/>
              </a:rPr>
              <a:t>ui</a:t>
            </a:r>
            <a:r>
              <a:rPr sz="1900" b="0" i="0">
                <a:solidFill>
                  <a:srgbClr val="1C252B"/>
                </a:solidFill>
                <a:latin typeface="Segoe UI"/>
              </a:rPr>
              <a:t> (</a:t>
            </a:r>
            <a:r>
              <a:rPr sz="1900" b="0" i="0">
                <a:solidFill>
                  <a:srgbClr val="1C252B"/>
                </a:solidFill>
                <a:latin typeface="Cambria"/>
              </a:rPr>
              <a:t>5</a:t>
            </a:r>
            <a:r>
              <a:rPr sz="1900" b="0" i="0">
                <a:solidFill>
                  <a:srgbClr val="1C252B"/>
                </a:solidFill>
                <a:latin typeface="Segoe UI"/>
              </a:rPr>
              <a:t>), Dina </a:t>
            </a:r>
            <a:r>
              <a:rPr sz="1900" b="0" i="0">
                <a:solidFill>
                  <a:srgbClr val="1C252B"/>
                </a:solidFill>
                <a:latin typeface="Cambria"/>
              </a:rPr>
              <a:t>→</a:t>
            </a:r>
            <a:r>
              <a:rPr sz="1900" b="0" i="0">
                <a:solidFill>
                  <a:srgbClr val="1C252B"/>
                </a:solidFill>
                <a:latin typeface="Segoe UI"/>
              </a:rPr>
              <a:t> </a:t>
            </a:r>
            <a:r>
              <a:rPr sz="1800" b="0" i="0">
                <a:solidFill>
                  <a:srgbClr val="1F4E79"/>
                </a:solidFill>
                <a:latin typeface="Consolas"/>
              </a:rPr>
              <a:t>data</a:t>
            </a:r>
            <a:r>
              <a:rPr sz="1900" b="0" i="0">
                <a:solidFill>
                  <a:srgbClr val="1C252B"/>
                </a:solidFill>
                <a:latin typeface="Segoe UI"/>
              </a:rPr>
              <a:t> (</a:t>
            </a:r>
            <a:r>
              <a:rPr sz="1900" b="0" i="0">
                <a:solidFill>
                  <a:srgbClr val="1C252B"/>
                </a:solidFill>
                <a:latin typeface="Cambria"/>
              </a:rPr>
              <a:t>5</a:t>
            </a:r>
            <a:r>
              <a:rPr sz="1900" b="0" i="0">
                <a:solidFill>
                  <a:srgbClr val="1C252B"/>
                </a:solidFill>
                <a:latin typeface="Segoe UI"/>
              </a:rPr>
              <a:t>), Emre </a:t>
            </a:r>
            <a:r>
              <a:rPr sz="1900" b="0" i="0">
                <a:solidFill>
                  <a:srgbClr val="1C252B"/>
                </a:solidFill>
                <a:latin typeface="Cambria"/>
              </a:rPr>
              <a:t>→</a:t>
            </a:r>
            <a:r>
              <a:rPr sz="1900" b="0" i="0">
                <a:solidFill>
                  <a:srgbClr val="1C252B"/>
                </a:solidFill>
                <a:latin typeface="Segoe UI"/>
              </a:rPr>
              <a:t> </a:t>
            </a:r>
            <a:r>
              <a:rPr sz="1800" b="0" i="0">
                <a:solidFill>
                  <a:srgbClr val="1F4E79"/>
                </a:solidFill>
                <a:latin typeface="Consolas"/>
              </a:rPr>
              <a:t>infra</a:t>
            </a:r>
            <a:r>
              <a:rPr sz="1900" b="0" i="0">
                <a:solidFill>
                  <a:srgbClr val="1C252B"/>
                </a:solidFill>
                <a:latin typeface="Segoe UI"/>
              </a:rPr>
              <a:t> (</a:t>
            </a:r>
            <a:r>
              <a:rPr sz="1900" b="0" i="0">
                <a:solidFill>
                  <a:srgbClr val="1C252B"/>
                </a:solidFill>
                <a:latin typeface="Cambria"/>
              </a:rPr>
              <a:t>5</a:t>
            </a:r>
            <a:r>
              <a:rPr sz="1900" b="0" i="0">
                <a:solidFill>
                  <a:srgbClr val="1C252B"/>
                </a:solidFill>
                <a:latin typeface="Segoe UI"/>
              </a:rPr>
              <a:t>), Farah </a:t>
            </a:r>
            <a:r>
              <a:rPr sz="1900" b="0" i="0">
                <a:solidFill>
                  <a:srgbClr val="1C252B"/>
                </a:solidFill>
                <a:latin typeface="Cambria"/>
              </a:rPr>
              <a:t>→</a:t>
            </a:r>
            <a:r>
              <a:rPr sz="1900" b="0" i="0">
                <a:solidFill>
                  <a:srgbClr val="1C252B"/>
                </a:solidFill>
                <a:latin typeface="Segoe UI"/>
              </a:rPr>
              <a:t> </a:t>
            </a:r>
            <a:r>
              <a:rPr sz="1800" b="0" i="0">
                <a:solidFill>
                  <a:srgbClr val="1F4E79"/>
                </a:solidFill>
                <a:latin typeface="Consolas"/>
              </a:rPr>
              <a:t>data</a:t>
            </a:r>
            <a:r>
              <a:rPr sz="1900" b="0" i="0">
                <a:solidFill>
                  <a:srgbClr val="1C252B"/>
                </a:solidFill>
                <a:latin typeface="Segoe UI"/>
              </a:rPr>
              <a:t> (</a:t>
            </a:r>
            <a:r>
              <a:rPr sz="1900" b="0" i="0">
                <a:solidFill>
                  <a:srgbClr val="1C252B"/>
                </a:solidFill>
                <a:latin typeface="Cambria"/>
              </a:rPr>
              <a:t>5</a:t>
            </a:r>
            <a:r>
              <a:rPr sz="1900" b="0" i="0">
                <a:solidFill>
                  <a:srgbClr val="1C252B"/>
                </a:solidFill>
                <a:latin typeface="Segoe UI"/>
              </a:rPr>
              <a:t>), Gul </a:t>
            </a:r>
            <a:r>
              <a:rPr sz="1900" b="0" i="0">
                <a:solidFill>
                  <a:srgbClr val="1C252B"/>
                </a:solidFill>
                <a:latin typeface="Cambria"/>
              </a:rPr>
              <a:t>→</a:t>
            </a:r>
            <a:r>
              <a:rPr sz="1900" b="0" i="0">
                <a:solidFill>
                  <a:srgbClr val="1C252B"/>
                </a:solidFill>
                <a:latin typeface="Segoe UI"/>
              </a:rPr>
              <a:t> </a:t>
            </a:r>
            <a:r>
              <a:rPr sz="1800" b="0" i="0">
                <a:solidFill>
                  <a:srgbClr val="1F4E79"/>
                </a:solidFill>
                <a:latin typeface="Consolas"/>
              </a:rPr>
              <a:t>ui</a:t>
            </a:r>
            <a:r>
              <a:rPr sz="1900" b="0" i="0">
                <a:solidFill>
                  <a:srgbClr val="1C252B"/>
                </a:solidFill>
                <a:latin typeface="Segoe UI"/>
              </a:rPr>
              <a:t> (</a:t>
            </a:r>
            <a:r>
              <a:rPr sz="1900" b="0" i="0">
                <a:solidFill>
                  <a:srgbClr val="1C252B"/>
                </a:solidFill>
                <a:latin typeface="Cambria"/>
              </a:rPr>
              <a:t>5</a:t>
            </a:r>
            <a:r>
              <a:rPr sz="1900" b="0" i="0">
                <a:solidFill>
                  <a:srgbClr val="1C252B"/>
                </a:solidFill>
                <a:latin typeface="Segoe UI"/>
              </a:rPr>
              <a:t>), Hassan </a:t>
            </a:r>
            <a:r>
              <a:rPr sz="1900" b="0" i="0">
                <a:solidFill>
                  <a:srgbClr val="1C252B"/>
                </a:solidFill>
                <a:latin typeface="Cambria"/>
              </a:rPr>
              <a:t>→</a:t>
            </a:r>
            <a:r>
              <a:rPr sz="1900" b="0" i="0">
                <a:solidFill>
                  <a:srgbClr val="1C252B"/>
                </a:solidFill>
                <a:latin typeface="Segoe UI"/>
              </a:rPr>
              <a:t> </a:t>
            </a:r>
            <a:r>
              <a:rPr sz="1800" b="0" i="0">
                <a:solidFill>
                  <a:srgbClr val="1F4E79"/>
                </a:solidFill>
                <a:latin typeface="Consolas"/>
              </a:rPr>
              <a:t>infra</a:t>
            </a:r>
            <a:r>
              <a:rPr sz="1900" b="0" i="0">
                <a:solidFill>
                  <a:srgbClr val="1C252B"/>
                </a:solidFill>
                <a:latin typeface="Segoe UI"/>
              </a:rPr>
              <a:t> (</a:t>
            </a:r>
            <a:r>
              <a:rPr sz="1900" b="0" i="0">
                <a:solidFill>
                  <a:srgbClr val="1C252B"/>
                </a:solidFill>
                <a:latin typeface="Cambria"/>
              </a:rPr>
              <a:t>5</a:t>
            </a:r>
            <a:r>
              <a:rPr sz="1900" b="0" i="0">
                <a:solidFill>
                  <a:srgbClr val="1C252B"/>
                </a:solidFill>
                <a:latin typeface="Segoe UI"/>
              </a:rPr>
              <a:t>), Iqra </a:t>
            </a:r>
            <a:r>
              <a:rPr sz="1900" b="0" i="0">
                <a:solidFill>
                  <a:srgbClr val="1C252B"/>
                </a:solidFill>
                <a:latin typeface="Cambria"/>
              </a:rPr>
              <a:t>→</a:t>
            </a:r>
            <a:r>
              <a:rPr sz="1900" b="0" i="0">
                <a:solidFill>
                  <a:srgbClr val="1C252B"/>
                </a:solidFill>
                <a:latin typeface="Segoe UI"/>
              </a:rPr>
              <a:t> tied at </a:t>
            </a:r>
            <a:r>
              <a:rPr sz="1900" b="0" i="0">
                <a:solidFill>
                  <a:srgbClr val="1C252B"/>
                </a:solidFill>
                <a:latin typeface="Cambria"/>
              </a:rPr>
              <a:t>3</a:t>
            </a:r>
            <a:r>
              <a:rPr sz="1900" b="0" i="0">
                <a:solidFill>
                  <a:srgbClr val="1C252B"/>
                </a:solidFill>
                <a:latin typeface="Segoe UI"/>
              </a:rPr>
              <a:t>, say </a:t>
            </a:r>
            <a:r>
              <a:rPr sz="1800" b="0" i="0">
                <a:solidFill>
                  <a:srgbClr val="1F4E79"/>
                </a:solidFill>
                <a:latin typeface="Consolas"/>
              </a:rPr>
              <a:t>api</a:t>
            </a:r>
            <a:r>
              <a:rPr sz="1900" b="0" i="0">
                <a:solidFill>
                  <a:srgbClr val="1C252B"/>
                </a:solidFill>
                <a:latin typeface="Segoe UI"/>
              </a:rPr>
              <a:t>.</a:t>
            </a:r>
          </a:p>
        </p:txBody>
      </p:sp>
      <p:sp>
        <p:nvSpPr>
          <p:cNvPr id="10" name="body-1"/>
          <p:cNvSpPr txBox="1"/>
          <p:nvPr/>
        </p:nvSpPr>
        <p:spPr>
          <a:xfrm>
            <a:off x="1042416" y="3047822"/>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Skill match:</a:t>
            </a:r>
            <a:r>
              <a:rPr sz="1900" b="0" i="0">
                <a:solidFill>
                  <a:srgbClr val="1C252B"/>
                </a:solidFill>
                <a:latin typeface="Segoe UI"/>
              </a:rPr>
              <a:t> </a:t>
            </a:r>
            <a:r>
              <a:rPr sz="1900" b="0" i="0">
                <a:solidFill>
                  <a:srgbClr val="1C252B"/>
                </a:solidFill>
                <a:latin typeface="Cambria"/>
              </a:rPr>
              <a:t>5+4+5+5+5+5+5+5+3 = 42</a:t>
            </a:r>
            <a:r>
              <a:rPr sz="1900" b="0" i="0">
                <a:solidFill>
                  <a:srgbClr val="1C252B"/>
                </a:solidFill>
                <a:latin typeface="Segoe UI"/>
              </a:rPr>
              <a:t>. </a:t>
            </a:r>
            <a:r>
              <a:rPr sz="1900" b="1" i="0">
                <a:solidFill>
                  <a:srgbClr val="1C252B"/>
                </a:solidFill>
                <a:latin typeface="Segoe UI"/>
              </a:rPr>
              <a:t>Headcount:</a:t>
            </a:r>
            <a:r>
              <a:rPr sz="1900" b="0" i="0">
                <a:solidFill>
                  <a:srgbClr val="1C252B"/>
                </a:solidFill>
                <a:latin typeface="Segoe UI"/>
              </a:rPr>
              <a:t> </a:t>
            </a:r>
            <a:r>
              <a:rPr sz="1800" b="0" i="0">
                <a:solidFill>
                  <a:srgbClr val="1F4E79"/>
                </a:solidFill>
                <a:latin typeface="Consolas"/>
              </a:rPr>
              <a:t>api</a:t>
            </a:r>
            <a:r>
              <a:rPr sz="1900" b="0" i="0">
                <a:solidFill>
                  <a:srgbClr val="1C252B"/>
                </a:solidFill>
                <a:latin typeface="Segoe UI"/>
              </a:rPr>
              <a:t> </a:t>
            </a:r>
            <a:r>
              <a:rPr sz="1900" b="0" i="0">
                <a:solidFill>
                  <a:srgbClr val="1C252B"/>
                </a:solidFill>
                <a:latin typeface="Cambria"/>
              </a:rPr>
              <a:t>3</a:t>
            </a:r>
            <a:r>
              <a:rPr sz="1900" b="0" i="0">
                <a:solidFill>
                  <a:srgbClr val="1C252B"/>
                </a:solidFill>
                <a:latin typeface="Segoe UI"/>
              </a:rPr>
              <a:t>, </a:t>
            </a:r>
            <a:r>
              <a:rPr sz="1800" b="0" i="0">
                <a:solidFill>
                  <a:srgbClr val="1F4E79"/>
                </a:solidFill>
                <a:latin typeface="Consolas"/>
              </a:rPr>
              <a:t>ui</a:t>
            </a:r>
            <a:r>
              <a:rPr sz="1900" b="0" i="0">
                <a:solidFill>
                  <a:srgbClr val="1C252B"/>
                </a:solidFill>
                <a:latin typeface="Segoe UI"/>
              </a:rPr>
              <a:t> </a:t>
            </a:r>
            <a:r>
              <a:rPr sz="1900" b="0" i="0">
                <a:solidFill>
                  <a:srgbClr val="1C252B"/>
                </a:solidFill>
                <a:latin typeface="Cambria"/>
              </a:rPr>
              <a:t>2</a:t>
            </a:r>
            <a:r>
              <a:rPr sz="1900" b="0" i="0">
                <a:solidFill>
                  <a:srgbClr val="1C252B"/>
                </a:solidFill>
                <a:latin typeface="Segoe UI"/>
              </a:rPr>
              <a:t>, </a:t>
            </a:r>
            <a:r>
              <a:rPr sz="1800" b="0" i="0">
                <a:solidFill>
                  <a:srgbClr val="1F4E79"/>
                </a:solidFill>
                <a:latin typeface="Consolas"/>
              </a:rPr>
              <a:t>data</a:t>
            </a:r>
            <a:r>
              <a:rPr sz="1900" b="0" i="0">
                <a:solidFill>
                  <a:srgbClr val="1C252B"/>
                </a:solidFill>
                <a:latin typeface="Segoe UI"/>
              </a:rPr>
              <a:t> </a:t>
            </a:r>
            <a:r>
              <a:rPr sz="1900" b="0" i="0">
                <a:solidFill>
                  <a:srgbClr val="1C252B"/>
                </a:solidFill>
                <a:latin typeface="Cambria"/>
              </a:rPr>
              <a:t>2</a:t>
            </a:r>
            <a:r>
              <a:rPr sz="1900" b="0" i="0">
                <a:solidFill>
                  <a:srgbClr val="1C252B"/>
                </a:solidFill>
                <a:latin typeface="Segoe UI"/>
              </a:rPr>
              <a:t>, </a:t>
            </a:r>
            <a:r>
              <a:rPr sz="1800" b="0" i="0">
                <a:solidFill>
                  <a:srgbClr val="1F4E79"/>
                </a:solidFill>
                <a:latin typeface="Consolas"/>
              </a:rPr>
              <a:t>infra</a:t>
            </a:r>
            <a:r>
              <a:rPr sz="1900" b="0" i="0">
                <a:solidFill>
                  <a:srgbClr val="1C252B"/>
                </a:solidFill>
                <a:latin typeface="Segoe UI"/>
              </a:rPr>
              <a:t> </a:t>
            </a:r>
            <a:r>
              <a:rPr sz="1900" b="0" i="0">
                <a:solidFill>
                  <a:srgbClr val="1C252B"/>
                </a:solidFill>
                <a:latin typeface="Cambria"/>
              </a:rPr>
              <a:t>2</a:t>
            </a:r>
            <a:r>
              <a:rPr sz="1900" b="0" i="0">
                <a:solidFill>
                  <a:srgbClr val="1C252B"/>
                </a:solidFill>
                <a:latin typeface="Segoe UI"/>
              </a:rPr>
              <a:t> — exactly the target </a:t>
            </a:r>
            <a:r>
              <a:rPr sz="1900" b="0" i="0">
                <a:solidFill>
                  <a:srgbClr val="1C252B"/>
                </a:solidFill>
                <a:latin typeface="Cambria"/>
              </a:rPr>
              <a:t>(3,2,2,2)</a:t>
            </a:r>
            <a:r>
              <a:rPr sz="1900" b="0" i="0">
                <a:solidFill>
                  <a:srgbClr val="1C252B"/>
                </a:solidFill>
                <a:latin typeface="Segoe UI"/>
              </a:rPr>
              <a:t>, so the imbalance penalty is zero. </a:t>
            </a:r>
            <a:r>
              <a:rPr sz="1900" b="1" i="0">
                <a:solidFill>
                  <a:srgbClr val="1C252B"/>
                </a:solidFill>
                <a:latin typeface="Segoe UI"/>
              </a:rPr>
              <a:t>Score:</a:t>
            </a:r>
            <a:r>
              <a:rPr sz="1900" b="0" i="0">
                <a:solidFill>
                  <a:srgbClr val="1C252B"/>
                </a:solidFill>
                <a:latin typeface="Segoe UI"/>
              </a:rPr>
              <a:t> </a:t>
            </a:r>
            <a:r>
              <a:rPr sz="1900" b="0" i="0">
                <a:solidFill>
                  <a:srgbClr val="1C252B"/>
                </a:solidFill>
                <a:latin typeface="Cambria"/>
              </a:rPr>
              <a:t>42 − 0 = 42</a:t>
            </a:r>
            <a:r>
              <a:rPr sz="1900" b="0" i="0">
                <a:solidFill>
                  <a:srgbClr val="1C252B"/>
                </a:solidFill>
                <a:latin typeface="Segoe UI"/>
              </a:rPr>
              <a:t>. This is the global optimum, and the lab confirms it by enumeration.</a:t>
            </a:r>
          </a:p>
        </p:txBody>
      </p:sp>
      <p:sp>
        <p:nvSpPr>
          <p:cNvPr id="11" name="body-2"/>
          <p:cNvSpPr txBox="1"/>
          <p:nvPr/>
        </p:nvSpPr>
        <p:spPr>
          <a:xfrm>
            <a:off x="1042416" y="4083964"/>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Now start one move away from it</a:t>
            </a:r>
            <a:r>
              <a:rPr sz="1900" b="0" i="0">
                <a:solidFill>
                  <a:srgbClr val="1C252B"/>
                </a:solidFill>
                <a:latin typeface="Segoe UI"/>
              </a:rPr>
              <a:t> — swap Iqra to </a:t>
            </a:r>
            <a:r>
              <a:rPr sz="1800" b="0" i="0">
                <a:solidFill>
                  <a:srgbClr val="1F4E79"/>
                </a:solidFill>
                <a:latin typeface="Consolas"/>
              </a:rPr>
              <a:t>ui</a:t>
            </a:r>
            <a:r>
              <a:rPr sz="1900" b="0" i="0">
                <a:solidFill>
                  <a:srgbClr val="1C252B"/>
                </a:solidFill>
                <a:latin typeface="Segoe UI"/>
              </a:rPr>
              <a:t>. Headcount becomes </a:t>
            </a:r>
            <a:r>
              <a:rPr sz="1900" b="0" i="0">
                <a:solidFill>
                  <a:srgbClr val="1C252B"/>
                </a:solidFill>
                <a:latin typeface="Cambria"/>
              </a:rPr>
              <a:t>(2,3,2,2)</a:t>
            </a:r>
            <a:r>
              <a:rPr sz="1900" b="0" i="0">
                <a:solidFill>
                  <a:srgbClr val="1C252B"/>
                </a:solidFill>
                <a:latin typeface="Segoe UI"/>
              </a:rPr>
              <a:t>: two streams are off target by one each, so the imbalance is </a:t>
            </a:r>
            <a:r>
              <a:rPr sz="1900" b="0" i="0">
                <a:solidFill>
                  <a:srgbClr val="1C252B"/>
                </a:solidFill>
                <a:latin typeface="Cambria"/>
              </a:rPr>
              <a:t>2</a:t>
            </a:r>
            <a:r>
              <a:rPr sz="1900" b="0" i="0">
                <a:solidFill>
                  <a:srgbClr val="1C252B"/>
                </a:solidFill>
                <a:latin typeface="Segoe UI"/>
              </a:rPr>
              <a:t> and the penalty is </a:t>
            </a:r>
            <a:r>
              <a:rPr sz="1900" b="0" i="0">
                <a:solidFill>
                  <a:srgbClr val="1C252B"/>
                </a:solidFill>
                <a:latin typeface="Cambria"/>
              </a:rPr>
              <a:t>8</a:t>
            </a:r>
            <a:r>
              <a:rPr sz="1900" b="0" i="0">
                <a:solidFill>
                  <a:srgbClr val="1C252B"/>
                </a:solidFill>
                <a:latin typeface="Segoe UI"/>
              </a:rPr>
              <a:t>. Skill match becomes </a:t>
            </a:r>
            <a:r>
              <a:rPr sz="1900" b="0" i="0">
                <a:solidFill>
                  <a:srgbClr val="1C252B"/>
                </a:solidFill>
                <a:latin typeface="Cambria"/>
              </a:rPr>
              <a:t>42−3+3 = 42</a:t>
            </a:r>
            <a:r>
              <a:rPr sz="1900" b="0" i="0">
                <a:solidFill>
                  <a:srgbClr val="1C252B"/>
                </a:solidFill>
                <a:latin typeface="Segoe UI"/>
              </a:rPr>
              <a:t>. Score </a:t>
            </a:r>
            <a:r>
              <a:rPr sz="1900" b="0" i="0">
                <a:solidFill>
                  <a:srgbClr val="1C252B"/>
                </a:solidFill>
                <a:latin typeface="Cambria"/>
              </a:rPr>
              <a:t>34</a:t>
            </a:r>
            <a:r>
              <a:rPr sz="1900" b="0" i="0">
                <a:solidFill>
                  <a:srgbClr val="1C252B"/>
                </a:solidFill>
                <a:latin typeface="Segoe UI"/>
              </a:rPr>
              <a:t>.</a:t>
            </a:r>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406389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one developer cannot be moved to fix a ridge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6  ·  Local Search and Optimisation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§6.6.1  ·  Handout p. 59     </a:t>
            </a:r>
            <a:fld id="{CDD00B8A-C489-47DE-AD48-71CC5DA745D6}"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391636"/>
          </a:xfrm>
          <a:prstGeom prst="roundRect">
            <a:avLst>
              <a:gd name="adj" fmla="val 2696"/>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39163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55143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trap.</a:t>
            </a:r>
            <a:r>
              <a:rPr sz="1900" b="0" i="0">
                <a:solidFill>
                  <a:srgbClr val="1C252B"/>
                </a:solidFill>
                <a:latin typeface="Segoe UI"/>
              </a:rPr>
              <a:t> From that state, consider every single move. Moving Iqra back to </a:t>
            </a:r>
            <a:r>
              <a:rPr sz="1800" b="0" i="0">
                <a:solidFill>
                  <a:srgbClr val="1F4E79"/>
                </a:solidFill>
                <a:latin typeface="Consolas"/>
              </a:rPr>
              <a:t>api</a:t>
            </a:r>
            <a:r>
              <a:rPr sz="1900" b="0" i="0">
                <a:solidFill>
                  <a:srgbClr val="1C252B"/>
                </a:solidFill>
                <a:latin typeface="Segoe UI"/>
              </a:rPr>
              <a:t> recovers </a:t>
            </a:r>
            <a:r>
              <a:rPr sz="1900" b="0" i="0">
                <a:solidFill>
                  <a:srgbClr val="1C252B"/>
                </a:solidFill>
                <a:latin typeface="Cambria"/>
              </a:rPr>
              <a:t>42</a:t>
            </a:r>
            <a:r>
              <a:rPr sz="1900" b="0" i="0">
                <a:solidFill>
                  <a:srgbClr val="1C252B"/>
                </a:solidFill>
                <a:latin typeface="Segoe UI"/>
              </a:rPr>
              <a:t> — so this particular state is </a:t>
            </a:r>
            <a:r>
              <a:rPr sz="1900" b="0" i="1">
                <a:solidFill>
                  <a:srgbClr val="1C252B"/>
                </a:solidFill>
                <a:latin typeface="Segoe UI"/>
              </a:rPr>
              <a:t>not</a:t>
            </a:r>
            <a:r>
              <a:rPr sz="1900" b="0" i="0">
                <a:solidFill>
                  <a:srgbClr val="1C252B"/>
                </a:solidFill>
                <a:latin typeface="Segoe UI"/>
              </a:rPr>
              <a:t> a local maximum, and hill climbing escapes it. The genuine traps are states where two developers are each in the wrong stream in a way that balances the headcount. Move either one alone and the headcount goes off target, costing </a:t>
            </a:r>
            <a:r>
              <a:rPr sz="1900" b="0" i="0">
                <a:solidFill>
                  <a:srgbClr val="1C252B"/>
                </a:solidFill>
                <a:latin typeface="Cambria"/>
              </a:rPr>
              <a:t>8</a:t>
            </a:r>
            <a:r>
              <a:rPr sz="1900" b="0" i="0">
                <a:solidFill>
                  <a:srgbClr val="1C252B"/>
                </a:solidFill>
                <a:latin typeface="Segoe UI"/>
              </a:rPr>
              <a:t>, while the skill gain is at most </a:t>
            </a:r>
            <a:r>
              <a:rPr sz="1900" b="0" i="0">
                <a:solidFill>
                  <a:srgbClr val="1C252B"/>
                </a:solidFill>
                <a:latin typeface="Cambria"/>
              </a:rPr>
              <a:t>4</a:t>
            </a:r>
            <a:r>
              <a:rPr sz="1900" b="0" i="0">
                <a:solidFill>
                  <a:srgbClr val="1C252B"/>
                </a:solidFill>
                <a:latin typeface="Segoe UI"/>
              </a:rPr>
              <a:t>. So both single moves go </a:t>
            </a:r>
            <a:r>
              <a:rPr sz="1900" b="0" i="1">
                <a:solidFill>
                  <a:srgbClr val="1C252B"/>
                </a:solidFill>
                <a:latin typeface="Segoe UI"/>
              </a:rPr>
              <a:t>down</a:t>
            </a:r>
            <a:r>
              <a:rPr sz="1900" b="0" i="0">
                <a:solidFill>
                  <a:srgbClr val="1C252B"/>
                </a:solidFill>
                <a:latin typeface="Segoe UI"/>
              </a:rPr>
              <a:t>, and only the simultaneous pair goes up.</a:t>
            </a:r>
          </a:p>
        </p:txBody>
      </p:sp>
      <p:sp>
        <p:nvSpPr>
          <p:cNvPr id="10" name="body-1"/>
          <p:cNvSpPr txBox="1"/>
          <p:nvPr/>
        </p:nvSpPr>
        <p:spPr>
          <a:xfrm>
            <a:off x="1042416" y="3650107"/>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That is a ridge</a:t>
            </a:r>
            <a:r>
              <a:rPr sz="1900" b="0" i="0">
                <a:solidFill>
                  <a:srgbClr val="1C252B"/>
                </a:solidFill>
                <a:latin typeface="Segoe UI"/>
              </a:rPr>
              <a:t>, and it is why hill climbing reaches </a:t>
            </a:r>
            <a:r>
              <a:rPr sz="1900" b="0" i="0">
                <a:solidFill>
                  <a:srgbClr val="1C252B"/>
                </a:solidFill>
                <a:latin typeface="Cambria"/>
              </a:rPr>
              <a:t>42</a:t>
            </a:r>
            <a:r>
              <a:rPr sz="1900" b="0" i="0">
                <a:solidFill>
                  <a:srgbClr val="1C252B"/>
                </a:solidFill>
                <a:latin typeface="Segoe UI"/>
              </a:rPr>
              <a:t> only once in two hundred starts. It also explains why simulated annealing helps: accepting the first of the two moves, at a cost of </a:t>
            </a:r>
            <a:r>
              <a:rPr sz="1900" b="0" i="0">
                <a:solidFill>
                  <a:srgbClr val="1C252B"/>
                </a:solidFill>
                <a:latin typeface="Cambria"/>
              </a:rPr>
              <a:t>4</a:t>
            </a:r>
            <a:r>
              <a:rPr sz="1900" b="0" i="0">
                <a:solidFill>
                  <a:srgbClr val="1C252B"/>
                </a:solidFill>
                <a:latin typeface="Segoe UI"/>
              </a:rPr>
              <a:t>, is exactly the kind of temporary worsening that a positive temperature permits and a hill climber forbids.</a:t>
            </a:r>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428967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right)">
                                      <p:cBhvr>
                                        <p:cTn id="13" dur="42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6  ·  Local Search and Optimisation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§6.6.1  ·  Handout p. 59     </a:t>
            </a:r>
            <a:fld id="{2A1BD231-40A6-49C4-AE33-0A0222EBCD50}" type="slidenum">
              <a:rPr lang="en-GB" sz="1000">
                <a:solidFill>
                  <a:srgbClr val="8795A1"/>
                </a:solidFill>
                <a:latin typeface="Segoe UI"/>
              </a:rPr>
              <a:t>20</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Comparing methods at unequal budgets.</a:t>
            </a:r>
            <a:r>
              <a:rPr sz="1700" b="0" i="0">
                <a:solidFill>
                  <a:srgbClr val="1C252B"/>
                </a:solidFill>
                <a:latin typeface="Segoe UI"/>
              </a:rPr>
              <a:t> The most common error in this area, and it always flatters the method with the largest population. Fix the number of objective evaluations.</a:t>
            </a:r>
          </a:p>
        </p:txBody>
      </p:sp>
      <p:sp>
        <p:nvSpPr>
          <p:cNvPr id="10" name="!!pb1">
            <a:extLst>
              <a:ext uri="{C183D7F6-B498-43B3-948B-1728B52AA6E4}">
                <adec:decorative xmlns:adec="http://schemas.microsoft.com/office/drawing/2017/decorative" val="1"/>
              </a:ext>
            </a:extLst>
          </p:cNvPr>
          <p:cNvSpPr/>
          <p:nvPr/>
        </p:nvSpPr>
        <p:spPr>
          <a:xfrm>
            <a:off x="658368" y="249570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51856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477414"/>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Using local search when you need a guarantee.</a:t>
            </a:r>
            <a:r>
              <a:rPr sz="1700" b="0" i="0">
                <a:solidFill>
                  <a:srgbClr val="1C252B"/>
                </a:solidFill>
                <a:latin typeface="Segoe UI"/>
              </a:rPr>
              <a:t> It gives a good state, never a proof. “No engineer is double-booked” is not something to establish by annealing — use Chapter 7.</a:t>
            </a:r>
          </a:p>
        </p:txBody>
      </p:sp>
      <p:sp>
        <p:nvSpPr>
          <p:cNvPr id="13" name="!!pb2">
            <a:extLst>
              <a:ext uri="{C183D7F6-B498-43B3-948B-1728B52AA6E4}">
                <adec:decorative xmlns:adec="http://schemas.microsoft.com/office/drawing/2017/decorative" val="1"/>
              </a:ext>
            </a:extLst>
          </p:cNvPr>
          <p:cNvSpPr/>
          <p:nvPr/>
        </p:nvSpPr>
        <p:spPr>
          <a:xfrm>
            <a:off x="658368" y="323575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25861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217468"/>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Allowing unlimited sideways moves.</a:t>
            </a:r>
            <a:r>
              <a:rPr sz="1700" b="0" i="0">
                <a:solidFill>
                  <a:srgbClr val="1C252B"/>
                </a:solidFill>
                <a:latin typeface="Segoe UI"/>
              </a:rPr>
              <a:t> An infinite loop on a plateau. Cap them.</a:t>
            </a:r>
          </a:p>
        </p:txBody>
      </p:sp>
      <p:sp>
        <p:nvSpPr>
          <p:cNvPr id="16" name="!!pb3">
            <a:extLst>
              <a:ext uri="{C183D7F6-B498-43B3-948B-1728B52AA6E4}">
                <adec:decorative xmlns:adec="http://schemas.microsoft.com/office/drawing/2017/decorative" val="1"/>
              </a:ext>
            </a:extLst>
          </p:cNvPr>
          <p:cNvSpPr/>
          <p:nvPr/>
        </p:nvSpPr>
        <p:spPr>
          <a:xfrm>
            <a:off x="658368" y="3802684"/>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3825544"/>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3784396"/>
            <a:ext cx="10271455" cy="1077772"/>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Reaching for a genetic algorithm first.</a:t>
            </a:r>
            <a:r>
              <a:rPr sz="1700" b="0" i="0">
                <a:solidFill>
                  <a:srgbClr val="1C252B"/>
                </a:solidFill>
                <a:latin typeface="Segoe UI"/>
              </a:rPr>
              <a:t> It has the most parameters and the strongest assumption — that crossover recombines meaningful blocks. It won here, but only </a:t>
            </a:r>
            <a:r>
              <a:rPr sz="1700" b="0" i="0">
                <a:solidFill>
                  <a:srgbClr val="1C252B"/>
                </a:solidFill>
                <a:latin typeface="Cambria"/>
              </a:rPr>
              <a:t>2.1</a:t>
            </a:r>
            <a:r>
              <a:rPr sz="1700" b="0" i="0">
                <a:solidFill>
                  <a:srgbClr val="1C252B"/>
                </a:solidFill>
                <a:latin typeface="Segoe UI"/>
              </a:rPr>
              <a:t> mean points ahead of parameterless random restart, and on a problem with pairwise structure it would lose. Establish the baseline first.</a:t>
            </a:r>
          </a:p>
        </p:txBody>
      </p:sp>
      <p:sp>
        <p:nvSpPr>
          <p:cNvPr id="19" name="!!pb4">
            <a:extLst>
              <a:ext uri="{C183D7F6-B498-43B3-948B-1728B52AA6E4}">
                <adec:decorative xmlns:adec="http://schemas.microsoft.com/office/drawing/2017/decorative" val="1"/>
              </a:ext>
            </a:extLst>
          </p:cNvPr>
          <p:cNvSpPr/>
          <p:nvPr/>
        </p:nvSpPr>
        <p:spPr>
          <a:xfrm>
            <a:off x="658368" y="5081625"/>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5104485"/>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5063337"/>
            <a:ext cx="10271455" cy="808329"/>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Not stating what an “evaluation” means in a comparison.</a:t>
            </a:r>
            <a:r>
              <a:rPr sz="1700" b="0" i="0">
                <a:solidFill>
                  <a:srgbClr val="1C252B"/>
                </a:solidFill>
                <a:latin typeface="Segoe UI"/>
              </a:rPr>
              <a:t> Charging a genetic algorithm per tournament comparison instead of per individual per generation moved it from first place to last on this problem, with no change to the code (Section 6.6.1).</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451544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 (continued)</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6  ·  Local Search and Optimisation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§6.6.1  ·  Handout p. 59     </a:t>
            </a:r>
            <a:fld id="{C36D3122-F647-4271-817E-2CF5D95DBD37}" type="slidenum">
              <a:rPr lang="en-GB" sz="1000">
                <a:solidFill>
                  <a:srgbClr val="8795A1"/>
                </a:solidFill>
                <a:latin typeface="Segoe UI"/>
              </a:rPr>
              <a:t>21</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An annealing schedule that cools too fast.</a:t>
            </a:r>
            <a:r>
              <a:rPr sz="1700" b="0" i="0">
                <a:solidFill>
                  <a:srgbClr val="1C252B"/>
                </a:solidFill>
                <a:latin typeface="Segoe UI"/>
              </a:rPr>
              <a:t> At </a:t>
            </a:r>
            <a:r>
              <a:rPr sz="1700" b="0" i="1">
                <a:solidFill>
                  <a:srgbClr val="1C252B"/>
                </a:solidFill>
                <a:latin typeface="Cambria"/>
              </a:rPr>
              <a:t>T</a:t>
            </a:r>
            <a:r>
              <a:rPr sz="1700" b="0" i="0">
                <a:solidFill>
                  <a:srgbClr val="1C252B"/>
                </a:solidFill>
                <a:latin typeface="Cambria"/>
              </a:rPr>
              <a:t> ≈ 0</a:t>
            </a:r>
            <a:r>
              <a:rPr sz="1700" b="0" i="0">
                <a:solidFill>
                  <a:srgbClr val="1C252B"/>
                </a:solidFill>
                <a:latin typeface="Segoe UI"/>
              </a:rPr>
              <a:t> from the second iteration it </a:t>
            </a:r>
            <a:r>
              <a:rPr sz="1700" b="0" i="1">
                <a:solidFill>
                  <a:srgbClr val="1C252B"/>
                </a:solidFill>
                <a:latin typeface="Segoe UI"/>
              </a:rPr>
              <a:t>is</a:t>
            </a:r>
            <a:r>
              <a:rPr sz="1700" b="0" i="0">
                <a:solidFill>
                  <a:srgbClr val="1C252B"/>
                </a:solidFill>
                <a:latin typeface="Segoe UI"/>
              </a:rPr>
              <a:t> hill climbing, with extra code. Print the acceptance rate over time; if it is near zero early, the schedule is wrong.</a:t>
            </a:r>
          </a:p>
        </p:txBody>
      </p:sp>
      <p:sp>
        <p:nvSpPr>
          <p:cNvPr id="10" name="!!pb1">
            <a:extLst>
              <a:ext uri="{C183D7F6-B498-43B3-948B-1728B52AA6E4}">
                <adec:decorative xmlns:adec="http://schemas.microsoft.com/office/drawing/2017/decorative" val="1"/>
              </a:ext>
            </a:extLst>
          </p:cNvPr>
          <p:cNvSpPr/>
          <p:nvPr/>
        </p:nvSpPr>
        <p:spPr>
          <a:xfrm>
            <a:off x="658368" y="249570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51856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477414"/>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Reporting the best of many runs as the method’s performance.</a:t>
            </a:r>
            <a:r>
              <a:rPr sz="1700" b="0" i="0">
                <a:solidFill>
                  <a:srgbClr val="1C252B"/>
                </a:solidFill>
                <a:latin typeface="Segoe UI"/>
              </a:rPr>
              <a:t> Report the mean and the worst as well, or you are describing your luck.</a:t>
            </a:r>
          </a:p>
        </p:txBody>
      </p:sp>
      <p:sp>
        <p:nvSpPr>
          <p:cNvPr id="2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pfill">
            <a:extLst>
              <a:ext uri="{C183D7F6-B498-43B3-948B-1728B52AA6E4}">
                <adec:decorative xmlns:adec="http://schemas.microsoft.com/office/drawing/2017/decorative" val="1"/>
              </a:ext>
            </a:extLst>
          </p:cNvPr>
          <p:cNvSpPr/>
          <p:nvPr/>
        </p:nvSpPr>
        <p:spPr>
          <a:xfrm>
            <a:off x="0" y="0"/>
            <a:ext cx="474121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Staffing by Annealing and by Evolution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6  ·  Local Search and Optimisation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§6.6.1  ·  Handout p. 59     </a:t>
            </a:r>
            <a:fld id="{F06FEFD5-83AA-4BF2-80D2-726871310165}" type="slidenum">
              <a:rPr lang="en-GB" sz="1000">
                <a:solidFill>
                  <a:srgbClr val="8795A1"/>
                </a:solidFill>
                <a:latin typeface="Segoe UI"/>
              </a:rPr>
              <a:t>22</a:t>
            </a:fld>
          </a:p>
        </p:txBody>
      </p:sp>
      <p:sp>
        <p:nvSpPr>
          <p:cNvPr id="7" name="body-0"/>
          <p:cNvSpPr txBox="1"/>
          <p:nvPr/>
        </p:nvSpPr>
        <p:spPr>
          <a:xfrm>
            <a:off x="658368" y="1737360"/>
            <a:ext cx="1087495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Four methods, one objective, one budget. The lab finds the true optimum by enumeration first, so every method can be scored against the truth rather than against each other.</a:t>
            </a:r>
          </a:p>
        </p:txBody>
      </p:sp>
      <p:sp>
        <p:nvSpPr>
          <p:cNvPr id="8" name="!!labsteps-h"/>
          <p:cNvSpPr txBox="1"/>
          <p:nvPr/>
        </p:nvSpPr>
        <p:spPr>
          <a:xfrm>
            <a:off x="658368" y="268224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9" name="!!labsteps"/>
          <p:cNvSpPr txBox="1"/>
          <p:nvPr/>
        </p:nvSpPr>
        <p:spPr>
          <a:xfrm>
            <a:off x="658368" y="3066288"/>
            <a:ext cx="10874959" cy="1466849"/>
          </a:xfrm>
          <a:prstGeom prst="rect">
            <a:avLst/>
          </a:prstGeom>
          <a:noFill/>
        </p:spPr>
        <p:txBody>
          <a:bodyPr wrap="square" anchor="t" lIns="0" rIns="0" tIns="0" bIns="0">
            <a:noAutofit/>
          </a:bodyPr>
          <a:lstStyle/>
          <a:p>
            <a:pPr algn="l" marL="459473" indent="-459473">
              <a:lnSpc>
                <a:spcPct val="100000"/>
              </a:lnSpc>
              <a:spcBef>
                <a:spcPts val="0"/>
              </a:spcBef>
              <a:spcAft>
                <a:spcPts val="570"/>
              </a:spcAft>
            </a:pPr>
            <a:r>
              <a:rPr sz="1900" b="1">
                <a:solidFill>
                  <a:srgbClr val="117A65"/>
                </a:solidFill>
                <a:latin typeface="Segoe UI"/>
              </a:rPr>
              <a:t>1.	</a:t>
            </a:r>
            <a:r>
              <a:rPr sz="1900" b="0" i="0">
                <a:solidFill>
                  <a:srgbClr val="1C252B"/>
                </a:solidFill>
                <a:latin typeface="Segoe UI"/>
              </a:rPr>
              <a:t>Steepest-ascent hill climbing</a:t>
            </a:r>
          </a:p>
          <a:p>
            <a:pPr algn="l" marL="459473" indent="-459473">
              <a:lnSpc>
                <a:spcPct val="100000"/>
              </a:lnSpc>
              <a:spcBef>
                <a:spcPts val="0"/>
              </a:spcBef>
              <a:spcAft>
                <a:spcPts val="570"/>
              </a:spcAft>
            </a:pPr>
            <a:r>
              <a:rPr sz="1900" b="1">
                <a:solidFill>
                  <a:srgbClr val="117A65"/>
                </a:solidFill>
                <a:latin typeface="Segoe UI"/>
              </a:rPr>
              <a:t>2.	</a:t>
            </a:r>
            <a:r>
              <a:rPr sz="1900" b="0" i="0">
                <a:solidFill>
                  <a:srgbClr val="1C252B"/>
                </a:solidFill>
                <a:latin typeface="Segoe UI"/>
              </a:rPr>
              <a:t>Random-restart hill climbing</a:t>
            </a:r>
          </a:p>
          <a:p>
            <a:pPr algn="l" marL="459473" indent="-459473">
              <a:lnSpc>
                <a:spcPct val="100000"/>
              </a:lnSpc>
              <a:spcBef>
                <a:spcPts val="0"/>
              </a:spcBef>
              <a:spcAft>
                <a:spcPts val="570"/>
              </a:spcAft>
            </a:pPr>
            <a:r>
              <a:rPr sz="1900" b="1">
                <a:solidFill>
                  <a:srgbClr val="117A65"/>
                </a:solidFill>
                <a:latin typeface="Segoe UI"/>
              </a:rPr>
              <a:t>3.	</a:t>
            </a:r>
            <a:r>
              <a:rPr sz="1900" b="0" i="0">
                <a:solidFill>
                  <a:srgbClr val="1C252B"/>
                </a:solidFill>
                <a:latin typeface="Segoe UI"/>
              </a:rPr>
              <a:t>Simulated annealing</a:t>
            </a:r>
          </a:p>
          <a:p>
            <a:pPr algn="l" marL="459473" indent="-459473">
              <a:lnSpc>
                <a:spcPct val="100000"/>
              </a:lnSpc>
              <a:spcBef>
                <a:spcPts val="0"/>
              </a:spcBef>
              <a:spcAft>
                <a:spcPts val="0"/>
              </a:spcAft>
            </a:pPr>
            <a:r>
              <a:rPr sz="1900" b="1">
                <a:solidFill>
                  <a:srgbClr val="117A65"/>
                </a:solidFill>
                <a:latin typeface="Segoe UI"/>
              </a:rPr>
              <a:t>4.	</a:t>
            </a:r>
            <a:r>
              <a:rPr sz="1900" b="0" i="0">
                <a:solidFill>
                  <a:srgbClr val="1C252B"/>
                </a:solidFill>
                <a:latin typeface="Segoe UI"/>
              </a:rPr>
              <a:t>Genetic algorithm</a:t>
            </a:r>
          </a:p>
        </p:txBody>
      </p:sp>
      <p:sp>
        <p:nvSpPr>
          <p:cNvPr id="24" name="!!lfTHIS">
            <a:extLst>
              <a:ext uri="{C183D7F6-B498-43B3-948B-1728B52AA6E4}">
                <adec:decorative xmlns:adec="http://schemas.microsoft.com/office/drawing/2017/decorative" val="1"/>
              </a:ext>
            </a:extLst>
          </p:cNvPr>
          <p:cNvSpPr/>
          <p:nvPr/>
        </p:nvSpPr>
        <p:spPr>
          <a:xfrm>
            <a:off x="658368"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flTHIS"/>
          <p:cNvSpPr txBox="1"/>
          <p:nvPr/>
        </p:nvSpPr>
        <p:spPr>
          <a:xfrm>
            <a:off x="932688"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27" name="!!lfvTHIS"/>
          <p:cNvSpPr txBox="1"/>
          <p:nvPr/>
        </p:nvSpPr>
        <p:spPr>
          <a:xfrm>
            <a:off x="932688"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5: Staffing by annealing and by evolution</a:t>
            </a:r>
          </a:p>
        </p:txBody>
      </p:sp>
      <p:sp>
        <p:nvSpPr>
          <p:cNvPr id="28" name="!!lfWHAT">
            <a:extLst>
              <a:ext uri="{C183D7F6-B498-43B3-948B-1728B52AA6E4}">
                <adec:decorative xmlns:adec="http://schemas.microsoft.com/office/drawing/2017/decorative" val="1"/>
              </a:ext>
            </a:extLst>
          </p:cNvPr>
          <p:cNvSpPr/>
          <p:nvPr/>
        </p:nvSpPr>
        <p:spPr>
          <a:xfrm>
            <a:off x="4374794"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lfbWHAT">
            <a:extLst>
              <a:ext uri="{C183D7F6-B498-43B3-948B-1728B52AA6E4}">
                <adec:decorative xmlns:adec="http://schemas.microsoft.com/office/drawing/2017/decorative" val="1"/>
              </a:ext>
            </a:extLst>
          </p:cNvPr>
          <p:cNvSpPr/>
          <p:nvPr/>
        </p:nvSpPr>
        <p:spPr>
          <a:xfrm>
            <a:off x="4374794"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lflWHAT"/>
          <p:cNvSpPr txBox="1"/>
          <p:nvPr/>
        </p:nvSpPr>
        <p:spPr>
          <a:xfrm>
            <a:off x="4649114"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31" name="!!lfvWHAT"/>
          <p:cNvSpPr txBox="1"/>
          <p:nvPr/>
        </p:nvSpPr>
        <p:spPr>
          <a:xfrm>
            <a:off x="4649114"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234 lines of Python</a:t>
            </a:r>
          </a:p>
        </p:txBody>
      </p:sp>
      <p:sp>
        <p:nvSpPr>
          <p:cNvPr id="32" name="!!lfRUNN">
            <a:extLst>
              <a:ext uri="{C183D7F6-B498-43B3-948B-1728B52AA6E4}">
                <adec:decorative xmlns:adec="http://schemas.microsoft.com/office/drawing/2017/decorative" val="1"/>
              </a:ext>
            </a:extLst>
          </p:cNvPr>
          <p:cNvSpPr/>
          <p:nvPr/>
        </p:nvSpPr>
        <p:spPr>
          <a:xfrm>
            <a:off x="8091220"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lfbRUNN">
            <a:extLst>
              <a:ext uri="{C183D7F6-B498-43B3-948B-1728B52AA6E4}">
                <adec:decorative xmlns:adec="http://schemas.microsoft.com/office/drawing/2017/decorative" val="1"/>
              </a:ext>
            </a:extLst>
          </p:cNvPr>
          <p:cNvSpPr/>
          <p:nvPr/>
        </p:nvSpPr>
        <p:spPr>
          <a:xfrm>
            <a:off x="8091220"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lflRUNN"/>
          <p:cNvSpPr txBox="1"/>
          <p:nvPr/>
        </p:nvSpPr>
        <p:spPr>
          <a:xfrm>
            <a:off x="8365540"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35" name="!!lfvRUNN"/>
          <p:cNvSpPr txBox="1"/>
          <p:nvPr/>
        </p:nvSpPr>
        <p:spPr>
          <a:xfrm>
            <a:off x="8365540"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code/ch06_staffing_annealing.py</a:t>
            </a:r>
          </a:p>
        </p:txBody>
      </p:sp>
      <p:sp>
        <p:nvSpPr>
          <p:cNvPr id="3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7" name="!!pfill">
            <a:extLst>
              <a:ext uri="{C183D7F6-B498-43B3-948B-1728B52AA6E4}">
                <adec:decorative xmlns:adec="http://schemas.microsoft.com/office/drawing/2017/decorative" val="1"/>
              </a:ext>
            </a:extLst>
          </p:cNvPr>
          <p:cNvSpPr/>
          <p:nvPr/>
        </p:nvSpPr>
        <p:spPr>
          <a:xfrm>
            <a:off x="0" y="0"/>
            <a:ext cx="496698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0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0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0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Staffing by Annealing and by Evolution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17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6  ·  Local Search and Optimisation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§6.6.1  ·  Handout p. 59     </a:t>
            </a:r>
            <a:fld id="{6691BAC6-2E34-407B-A8F5-D633D8A6DC6D}" type="slidenum">
              <a:rPr lang="en-GB" sz="1000">
                <a:solidFill>
                  <a:srgbClr val="8795A1"/>
                </a:solidFill>
                <a:latin typeface="Segoe UI"/>
              </a:rPr>
              <a:t>23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17264"/>
          </a:xfrm>
          <a:prstGeom prst="roundRect">
            <a:avLst>
              <a:gd name="adj" fmla="val 22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code/ch06_staffing_annealing.py</a:t>
            </a:r>
          </a:p>
        </p:txBody>
      </p:sp>
      <p:sp>
        <p:nvSpPr>
          <p:cNvPr id="14" name="!!code-text" descr="&quot;&quot;&quot;Chapter 6 lab -- local search on the staffing problem. Nine developers, four workstreams. Reproduces Table 6.1. Every method gets exactly the same number of objective-function evaluations, which is the only comparison that means anything. &quot;&quot;&quot; import itertools import math import random DEVS = (&quot;Ayesha&quot;, &quot;Bilal&quot;, &quot;Chen&quot;, &quot;Dina&quot;, &quot;Emre&quot;, &quot;Farah&quot;, &quot;Gul&quot;, &quot;Hassan&quot;, &quot;Iqra&quot;) STREAMS = (&quot;api&quot;, &quot;ui&quot;, &quot;data&quot;, &quot;infra&quot;)"/>
          <p:cNvSpPr txBox="1"/>
          <p:nvPr/>
        </p:nvSpPr>
        <p:spPr>
          <a:xfrm>
            <a:off x="1362456" y="2523744"/>
            <a:ext cx="9987991" cy="3523487"/>
          </a:xfrm>
          <a:prstGeom prst="rect">
            <a:avLst/>
          </a:prstGeom>
          <a:noFill/>
        </p:spPr>
        <p:txBody>
          <a:bodyPr wrap="none" anchor="t" lIns="0" rIns="0" tIns="0" bIns="0">
            <a:noAutofit/>
          </a:bodyPr>
          <a:lstStyle/>
          <a:p>
            <a:pPr>
              <a:lnSpc>
                <a:spcPct val="100000"/>
              </a:lnSpc>
              <a:spcAft>
                <a:spcPts val="0"/>
              </a:spcAft>
            </a:pPr>
            <a:r>
              <a:rPr sz="1600" i="0">
                <a:solidFill>
                  <a:srgbClr val="7DCEA0"/>
                </a:solidFill>
                <a:latin typeface="Consolas"/>
              </a:rPr>
              <a:t>"""Chapter 6 lab -- local search on the staffing problem.</a:t>
            </a:r>
          </a:p>
          <a:p>
            <a:pPr>
              <a:lnSpc>
                <a:spcPct val="100000"/>
              </a:lnSpc>
              <a:spcAft>
                <a:spcPts val="0"/>
              </a:spcAft>
            </a:pPr>
            <a:r>
              <a:rPr sz="1600">
                <a:latin typeface="Consolas"/>
              </a:rPr>
              <a:t> </a:t>
            </a:r>
          </a:p>
          <a:p>
            <a:pPr>
              <a:lnSpc>
                <a:spcPct val="100000"/>
              </a:lnSpc>
              <a:spcAft>
                <a:spcPts val="0"/>
              </a:spcAft>
            </a:pPr>
            <a:r>
              <a:rPr sz="1600" i="0">
                <a:solidFill>
                  <a:srgbClr val="7DCEA0"/>
                </a:solidFill>
                <a:latin typeface="Consolas"/>
              </a:rPr>
              <a:t>Nine developers, four workstreams. Reproduces Table 6.1. Every method</a:t>
            </a:r>
          </a:p>
          <a:p>
            <a:pPr>
              <a:lnSpc>
                <a:spcPct val="100000"/>
              </a:lnSpc>
              <a:spcAft>
                <a:spcPts val="0"/>
              </a:spcAft>
            </a:pPr>
            <a:r>
              <a:rPr sz="1600" i="0">
                <a:solidFill>
                  <a:srgbClr val="7DCEA0"/>
                </a:solidFill>
                <a:latin typeface="Consolas"/>
              </a:rPr>
              <a:t>gets exactly the same number of objective-function evaluations, which</a:t>
            </a:r>
          </a:p>
          <a:p>
            <a:pPr>
              <a:lnSpc>
                <a:spcPct val="100000"/>
              </a:lnSpc>
              <a:spcAft>
                <a:spcPts val="0"/>
              </a:spcAft>
            </a:pPr>
            <a:r>
              <a:rPr sz="1600" i="0">
                <a:solidFill>
                  <a:srgbClr val="7DCEA0"/>
                </a:solidFill>
                <a:latin typeface="Consolas"/>
              </a:rPr>
              <a:t>is the only comparison that means anything.</a:t>
            </a:r>
          </a:p>
          <a:p>
            <a:pPr>
              <a:lnSpc>
                <a:spcPct val="100000"/>
              </a:lnSpc>
              <a:spcAft>
                <a:spcPts val="0"/>
              </a:spcAft>
            </a:pPr>
            <a:r>
              <a:rPr sz="1600" i="0">
                <a:solidFill>
                  <a:srgbClr val="7DCEA0"/>
                </a:solidFill>
                <a:latin typeface="Consolas"/>
              </a:rPr>
              <a:t>"""</a:t>
            </a:r>
          </a:p>
          <a:p>
            <a:pPr>
              <a:lnSpc>
                <a:spcPct val="100000"/>
              </a:lnSpc>
              <a:spcAft>
                <a:spcPts val="0"/>
              </a:spcAft>
            </a:pPr>
            <a:r>
              <a:rPr sz="1600">
                <a:latin typeface="Consolas"/>
              </a:rPr>
              <a:t> </a:t>
            </a:r>
          </a:p>
          <a:p>
            <a:pPr>
              <a:lnSpc>
                <a:spcPct val="100000"/>
              </a:lnSpc>
              <a:spcAft>
                <a:spcPts val="0"/>
              </a:spcAft>
            </a:pPr>
            <a:r>
              <a:rPr sz="1600" i="0">
                <a:solidFill>
                  <a:srgbClr val="5DADE2"/>
                </a:solidFill>
                <a:latin typeface="Consolas"/>
              </a:rPr>
              <a:t>import</a:t>
            </a:r>
            <a:r>
              <a:rPr sz="1600" i="0">
                <a:solidFill>
                  <a:srgbClr val="E8EDF2"/>
                </a:solidFill>
                <a:latin typeface="Consolas"/>
              </a:rPr>
              <a:t> </a:t>
            </a:r>
            <a:r>
              <a:rPr sz="1600" i="0">
                <a:solidFill>
                  <a:srgbClr val="76D7C4"/>
                </a:solidFill>
                <a:latin typeface="Consolas"/>
              </a:rPr>
              <a:t>itertools</a:t>
            </a:r>
          </a:p>
          <a:p>
            <a:pPr>
              <a:lnSpc>
                <a:spcPct val="100000"/>
              </a:lnSpc>
              <a:spcAft>
                <a:spcPts val="0"/>
              </a:spcAft>
            </a:pPr>
            <a:r>
              <a:rPr sz="1600" i="0">
                <a:solidFill>
                  <a:srgbClr val="5DADE2"/>
                </a:solidFill>
                <a:latin typeface="Consolas"/>
              </a:rPr>
              <a:t>import</a:t>
            </a:r>
            <a:r>
              <a:rPr sz="1600" i="0">
                <a:solidFill>
                  <a:srgbClr val="E8EDF2"/>
                </a:solidFill>
                <a:latin typeface="Consolas"/>
              </a:rPr>
              <a:t> </a:t>
            </a:r>
            <a:r>
              <a:rPr sz="1600" i="0">
                <a:solidFill>
                  <a:srgbClr val="76D7C4"/>
                </a:solidFill>
                <a:latin typeface="Consolas"/>
              </a:rPr>
              <a:t>math</a:t>
            </a:r>
          </a:p>
          <a:p>
            <a:pPr>
              <a:lnSpc>
                <a:spcPct val="100000"/>
              </a:lnSpc>
              <a:spcAft>
                <a:spcPts val="0"/>
              </a:spcAft>
            </a:pPr>
            <a:r>
              <a:rPr sz="1600" i="0">
                <a:solidFill>
                  <a:srgbClr val="5DADE2"/>
                </a:solidFill>
                <a:latin typeface="Consolas"/>
              </a:rPr>
              <a:t>import</a:t>
            </a:r>
            <a:r>
              <a:rPr sz="1600" i="0">
                <a:solidFill>
                  <a:srgbClr val="E8EDF2"/>
                </a:solidFill>
                <a:latin typeface="Consolas"/>
              </a:rPr>
              <a:t> </a:t>
            </a:r>
            <a:r>
              <a:rPr sz="1600" i="0">
                <a:solidFill>
                  <a:srgbClr val="76D7C4"/>
                </a:solidFill>
                <a:latin typeface="Consolas"/>
              </a:rPr>
              <a:t>random</a:t>
            </a:r>
          </a:p>
          <a:p>
            <a:pPr>
              <a:lnSpc>
                <a:spcPct val="100000"/>
              </a:lnSpc>
              <a:spcAft>
                <a:spcPts val="0"/>
              </a:spcAft>
            </a:pPr>
            <a:r>
              <a:rPr sz="1600">
                <a:latin typeface="Consolas"/>
              </a:rPr>
              <a:t> </a:t>
            </a:r>
          </a:p>
          <a:p>
            <a:pPr>
              <a:lnSpc>
                <a:spcPct val="100000"/>
              </a:lnSpc>
              <a:spcAft>
                <a:spcPts val="0"/>
              </a:spcAft>
            </a:pPr>
            <a:r>
              <a:rPr sz="1600" i="0">
                <a:solidFill>
                  <a:srgbClr val="E8EDF2"/>
                </a:solidFill>
                <a:latin typeface="Consolas"/>
              </a:rPr>
              <a:t>DEVS</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AEB6BF"/>
                </a:solidFill>
                <a:latin typeface="Consolas"/>
              </a:rPr>
              <a:t>(</a:t>
            </a:r>
            <a:r>
              <a:rPr sz="1600" i="0">
                <a:solidFill>
                  <a:srgbClr val="7DCEA0"/>
                </a:solidFill>
                <a:latin typeface="Consolas"/>
              </a:rPr>
              <a:t>"</a:t>
            </a:r>
            <a:r>
              <a:rPr sz="1600" i="0">
                <a:solidFill>
                  <a:srgbClr val="7DCEA0"/>
                </a:solidFill>
                <a:latin typeface="Consolas"/>
              </a:rPr>
              <a:t>Ayesha</a:t>
            </a:r>
            <a:r>
              <a:rPr sz="1600" i="0">
                <a:solidFill>
                  <a:srgbClr val="7DCEA0"/>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7DCEA0"/>
                </a:solidFill>
                <a:latin typeface="Consolas"/>
              </a:rPr>
              <a:t>"</a:t>
            </a:r>
            <a:r>
              <a:rPr sz="1600" i="0">
                <a:solidFill>
                  <a:srgbClr val="7DCEA0"/>
                </a:solidFill>
                <a:latin typeface="Consolas"/>
              </a:rPr>
              <a:t>Bilal</a:t>
            </a:r>
            <a:r>
              <a:rPr sz="1600" i="0">
                <a:solidFill>
                  <a:srgbClr val="7DCEA0"/>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7DCEA0"/>
                </a:solidFill>
                <a:latin typeface="Consolas"/>
              </a:rPr>
              <a:t>"</a:t>
            </a:r>
            <a:r>
              <a:rPr sz="1600" i="0">
                <a:solidFill>
                  <a:srgbClr val="7DCEA0"/>
                </a:solidFill>
                <a:latin typeface="Consolas"/>
              </a:rPr>
              <a:t>Chen</a:t>
            </a:r>
            <a:r>
              <a:rPr sz="1600" i="0">
                <a:solidFill>
                  <a:srgbClr val="7DCEA0"/>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7DCEA0"/>
                </a:solidFill>
                <a:latin typeface="Consolas"/>
              </a:rPr>
              <a:t>"</a:t>
            </a:r>
            <a:r>
              <a:rPr sz="1600" i="0">
                <a:solidFill>
                  <a:srgbClr val="7DCEA0"/>
                </a:solidFill>
                <a:latin typeface="Consolas"/>
              </a:rPr>
              <a:t>Dina</a:t>
            </a:r>
            <a:r>
              <a:rPr sz="1600" i="0">
                <a:solidFill>
                  <a:srgbClr val="7DCEA0"/>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7DCEA0"/>
                </a:solidFill>
                <a:latin typeface="Consolas"/>
              </a:rPr>
              <a:t>"</a:t>
            </a:r>
            <a:r>
              <a:rPr sz="1600" i="0">
                <a:solidFill>
                  <a:srgbClr val="7DCEA0"/>
                </a:solidFill>
                <a:latin typeface="Consolas"/>
              </a:rPr>
              <a:t>Emre</a:t>
            </a:r>
            <a:r>
              <a:rPr sz="1600" i="0">
                <a:solidFill>
                  <a:srgbClr val="7DCEA0"/>
                </a:solidFill>
                <a:latin typeface="Consolas"/>
              </a:rPr>
              <a:t>"</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7DCEA0"/>
                </a:solidFill>
                <a:latin typeface="Consolas"/>
              </a:rPr>
              <a:t>"</a:t>
            </a:r>
            <a:r>
              <a:rPr sz="1600" i="0">
                <a:solidFill>
                  <a:srgbClr val="7DCEA0"/>
                </a:solidFill>
                <a:latin typeface="Consolas"/>
              </a:rPr>
              <a:t>Farah</a:t>
            </a:r>
            <a:r>
              <a:rPr sz="1600" i="0">
                <a:solidFill>
                  <a:srgbClr val="7DCEA0"/>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7DCEA0"/>
                </a:solidFill>
                <a:latin typeface="Consolas"/>
              </a:rPr>
              <a:t>"</a:t>
            </a:r>
            <a:r>
              <a:rPr sz="1600" i="0">
                <a:solidFill>
                  <a:srgbClr val="7DCEA0"/>
                </a:solidFill>
                <a:latin typeface="Consolas"/>
              </a:rPr>
              <a:t>Gul</a:t>
            </a:r>
            <a:r>
              <a:rPr sz="1600" i="0">
                <a:solidFill>
                  <a:srgbClr val="7DCEA0"/>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7DCEA0"/>
                </a:solidFill>
                <a:latin typeface="Consolas"/>
              </a:rPr>
              <a:t>"</a:t>
            </a:r>
            <a:r>
              <a:rPr sz="1600" i="0">
                <a:solidFill>
                  <a:srgbClr val="7DCEA0"/>
                </a:solidFill>
                <a:latin typeface="Consolas"/>
              </a:rPr>
              <a:t>Hassan</a:t>
            </a:r>
            <a:r>
              <a:rPr sz="1600" i="0">
                <a:solidFill>
                  <a:srgbClr val="7DCEA0"/>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7DCEA0"/>
                </a:solidFill>
                <a:latin typeface="Consolas"/>
              </a:rPr>
              <a:t>"</a:t>
            </a:r>
            <a:r>
              <a:rPr sz="1600" i="0">
                <a:solidFill>
                  <a:srgbClr val="7DCEA0"/>
                </a:solidFill>
                <a:latin typeface="Consolas"/>
              </a:rPr>
              <a:t>Iqra</a:t>
            </a:r>
            <a:r>
              <a:rPr sz="1600" i="0">
                <a:solidFill>
                  <a:srgbClr val="7DCEA0"/>
                </a:solidFill>
                <a:latin typeface="Consolas"/>
              </a:rPr>
              <a:t>"</a:t>
            </a:r>
            <a:r>
              <a:rPr sz="1600" i="0">
                <a:solidFill>
                  <a:srgbClr val="AEB6BF"/>
                </a:solidFill>
                <a:latin typeface="Consolas"/>
              </a:rPr>
              <a:t>)</a:t>
            </a:r>
          </a:p>
          <a:p>
            <a:pPr>
              <a:lnSpc>
                <a:spcPct val="100000"/>
              </a:lnSpc>
              <a:spcAft>
                <a:spcPts val="0"/>
              </a:spcAft>
            </a:pPr>
            <a:r>
              <a:rPr sz="1600" i="0">
                <a:solidFill>
                  <a:srgbClr val="E8EDF2"/>
                </a:solidFill>
                <a:latin typeface="Consolas"/>
              </a:rPr>
              <a:t>STREAMS</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AEB6BF"/>
                </a:solidFill>
                <a:latin typeface="Consolas"/>
              </a:rPr>
              <a:t>(</a:t>
            </a:r>
            <a:r>
              <a:rPr sz="1600" i="0">
                <a:solidFill>
                  <a:srgbClr val="7DCEA0"/>
                </a:solidFill>
                <a:latin typeface="Consolas"/>
              </a:rPr>
              <a:t>"</a:t>
            </a:r>
            <a:r>
              <a:rPr sz="1600" i="0">
                <a:solidFill>
                  <a:srgbClr val="7DCEA0"/>
                </a:solidFill>
                <a:latin typeface="Consolas"/>
              </a:rPr>
              <a:t>api</a:t>
            </a:r>
            <a:r>
              <a:rPr sz="1600" i="0">
                <a:solidFill>
                  <a:srgbClr val="7DCEA0"/>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7DCEA0"/>
                </a:solidFill>
                <a:latin typeface="Consolas"/>
              </a:rPr>
              <a:t>"</a:t>
            </a:r>
            <a:r>
              <a:rPr sz="1600" i="0">
                <a:solidFill>
                  <a:srgbClr val="7DCEA0"/>
                </a:solidFill>
                <a:latin typeface="Consolas"/>
              </a:rPr>
              <a:t>ui</a:t>
            </a:r>
            <a:r>
              <a:rPr sz="1600" i="0">
                <a:solidFill>
                  <a:srgbClr val="7DCEA0"/>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7DCEA0"/>
                </a:solidFill>
                <a:latin typeface="Consolas"/>
              </a:rPr>
              <a:t>"</a:t>
            </a:r>
            <a:r>
              <a:rPr sz="1600" i="0">
                <a:solidFill>
                  <a:srgbClr val="7DCEA0"/>
                </a:solidFill>
                <a:latin typeface="Consolas"/>
              </a:rPr>
              <a:t>data</a:t>
            </a:r>
            <a:r>
              <a:rPr sz="1600" i="0">
                <a:solidFill>
                  <a:srgbClr val="7DCEA0"/>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7DCEA0"/>
                </a:solidFill>
                <a:latin typeface="Consolas"/>
              </a:rPr>
              <a:t>"</a:t>
            </a:r>
            <a:r>
              <a:rPr sz="1600" i="0">
                <a:solidFill>
                  <a:srgbClr val="7DCEA0"/>
                </a:solidFill>
                <a:latin typeface="Consolas"/>
              </a:rPr>
              <a:t>infra</a:t>
            </a:r>
            <a:r>
              <a:rPr sz="1600" i="0">
                <a:solidFill>
                  <a:srgbClr val="7DCEA0"/>
                </a:solidFill>
                <a:latin typeface="Consolas"/>
              </a:rPr>
              <a:t>"</a:t>
            </a:r>
            <a:r>
              <a:rPr sz="1600" i="0">
                <a:solidFill>
                  <a:srgbClr val="AEB6BF"/>
                </a:solidFill>
                <a:latin typeface="Consolas"/>
              </a:rPr>
              <a:t>)</a:t>
            </a:r>
          </a:p>
        </p:txBody>
      </p:sp>
      <p:sp>
        <p:nvSpPr>
          <p:cNvPr id="15" name="!!code-num"/>
          <p:cNvSpPr txBox="1"/>
          <p:nvPr/>
        </p:nvSpPr>
        <p:spPr>
          <a:xfrm>
            <a:off x="768096" y="2523744"/>
            <a:ext cx="393192" cy="3523487"/>
          </a:xfrm>
          <a:prstGeom prst="rect">
            <a:avLst/>
          </a:prstGeom>
          <a:noFill/>
        </p:spPr>
        <p:txBody>
          <a:bodyPr wrap="none" anchor="t" lIns="0" rIns="0" tIns="0" bIns="0">
            <a:noAutofit/>
          </a:bodyPr>
          <a:lstStyle/>
          <a:p>
            <a:pPr algn="r">
              <a:lnSpc>
                <a:spcPct val="100000"/>
              </a:lnSpc>
            </a:pPr>
            <a:r>
              <a:rPr sz="1600">
                <a:solidFill>
                  <a:srgbClr val="4F5D6A"/>
                </a:solidFill>
                <a:latin typeface="Consolas"/>
              </a:rPr>
              <a:t>2</a:t>
            </a:r>
          </a:p>
          <a:p>
            <a:pPr algn="r">
              <a:lnSpc>
                <a:spcPct val="100000"/>
              </a:lnSpc>
            </a:pPr>
            <a:r>
              <a:rPr sz="1600">
                <a:solidFill>
                  <a:srgbClr val="4F5D6A"/>
                </a:solidFill>
                <a:latin typeface="Consolas"/>
              </a:rPr>
              <a:t>3</a:t>
            </a:r>
          </a:p>
          <a:p>
            <a:pPr algn="r">
              <a:lnSpc>
                <a:spcPct val="100000"/>
              </a:lnSpc>
            </a:pPr>
            <a:r>
              <a:rPr sz="1600">
                <a:solidFill>
                  <a:srgbClr val="4F5D6A"/>
                </a:solidFill>
                <a:latin typeface="Consolas"/>
              </a:rPr>
              <a:t>4</a:t>
            </a:r>
          </a:p>
          <a:p>
            <a:pPr algn="r">
              <a:lnSpc>
                <a:spcPct val="100000"/>
              </a:lnSpc>
            </a:pPr>
            <a:r>
              <a:rPr sz="1600">
                <a:solidFill>
                  <a:srgbClr val="4F5D6A"/>
                </a:solidFill>
                <a:latin typeface="Consolas"/>
              </a:rPr>
              <a:t>5</a:t>
            </a:r>
          </a:p>
          <a:p>
            <a:pPr algn="r">
              <a:lnSpc>
                <a:spcPct val="100000"/>
              </a:lnSpc>
            </a:pPr>
            <a:r>
              <a:rPr sz="1600">
                <a:solidFill>
                  <a:srgbClr val="4F5D6A"/>
                </a:solidFill>
                <a:latin typeface="Consolas"/>
              </a:rPr>
              <a:t>6</a:t>
            </a:r>
          </a:p>
          <a:p>
            <a:pPr algn="r">
              <a:lnSpc>
                <a:spcPct val="100000"/>
              </a:lnSpc>
            </a:pPr>
            <a:r>
              <a:rPr sz="1600">
                <a:solidFill>
                  <a:srgbClr val="4F5D6A"/>
                </a:solidFill>
                <a:latin typeface="Consolas"/>
              </a:rPr>
              <a:t>7</a:t>
            </a:r>
          </a:p>
          <a:p>
            <a:pPr algn="r">
              <a:lnSpc>
                <a:spcPct val="100000"/>
              </a:lnSpc>
            </a:pPr>
            <a:r>
              <a:rPr sz="1600">
                <a:solidFill>
                  <a:srgbClr val="4F5D6A"/>
                </a:solidFill>
                <a:latin typeface="Consolas"/>
              </a:rPr>
              <a:t>8</a:t>
            </a:r>
          </a:p>
          <a:p>
            <a:pPr algn="r">
              <a:lnSpc>
                <a:spcPct val="100000"/>
              </a:lnSpc>
            </a:pPr>
            <a:r>
              <a:rPr sz="1600">
                <a:solidFill>
                  <a:srgbClr val="4F5D6A"/>
                </a:solidFill>
                <a:latin typeface="Consolas"/>
              </a:rPr>
              <a:t>9</a:t>
            </a:r>
          </a:p>
          <a:p>
            <a:pPr algn="r">
              <a:lnSpc>
                <a:spcPct val="100000"/>
              </a:lnSpc>
            </a:pPr>
            <a:r>
              <a:rPr sz="1600">
                <a:solidFill>
                  <a:srgbClr val="4F5D6A"/>
                </a:solidFill>
                <a:latin typeface="Consolas"/>
              </a:rPr>
              <a:t>10</a:t>
            </a:r>
          </a:p>
          <a:p>
            <a:pPr algn="r">
              <a:lnSpc>
                <a:spcPct val="100000"/>
              </a:lnSpc>
            </a:pPr>
            <a:r>
              <a:rPr sz="1600">
                <a:solidFill>
                  <a:srgbClr val="4F5D6A"/>
                </a:solidFill>
                <a:latin typeface="Consolas"/>
              </a:rPr>
              <a:t>11</a:t>
            </a:r>
          </a:p>
          <a:p>
            <a:pPr algn="r">
              <a:lnSpc>
                <a:spcPct val="100000"/>
              </a:lnSpc>
            </a:pPr>
            <a:r>
              <a:rPr sz="1600">
                <a:solidFill>
                  <a:srgbClr val="4F5D6A"/>
                </a:solidFill>
                <a:latin typeface="Consolas"/>
              </a:rPr>
              <a:t>12</a:t>
            </a:r>
          </a:p>
          <a:p>
            <a:pPr algn="r">
              <a:lnSpc>
                <a:spcPct val="100000"/>
              </a:lnSpc>
            </a:pPr>
            <a:r>
              <a:rPr sz="1600">
                <a:solidFill>
                  <a:srgbClr val="4F5D6A"/>
                </a:solidFill>
                <a:latin typeface="Consolas"/>
              </a:rPr>
              <a:t>13</a:t>
            </a:r>
          </a:p>
          <a:p>
            <a:pPr algn="r">
              <a:lnSpc>
                <a:spcPct val="100000"/>
              </a:lnSpc>
            </a:pPr>
            <a:r>
              <a:rPr sz="1600">
                <a:solidFill>
                  <a:srgbClr val="4F5D6A"/>
                </a:solidFill>
                <a:latin typeface="Consolas"/>
              </a:rPr>
              <a:t>14</a:t>
            </a:r>
          </a:p>
          <a:p>
            <a:pPr algn="r">
              <a:lnSpc>
                <a:spcPct val="100000"/>
              </a:lnSpc>
            </a:pPr>
            <a:r>
              <a:rPr sz="1600">
                <a:solidFill>
                  <a:srgbClr val="4F5D6A"/>
                </a:solidFill>
                <a:latin typeface="Consolas"/>
              </a:rPr>
              <a:t>15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519275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Staffing by Annealing and by Evolution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17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6  ·  Local Search and Optimisation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§6.6.1  ·  Handout p. 59     </a:t>
            </a:r>
            <a:fld id="{6C07C66E-F976-4B01-9C69-0CAF21597A52}" type="slidenum">
              <a:rPr lang="en-GB" sz="1000">
                <a:solidFill>
                  <a:srgbClr val="8795A1"/>
                </a:solidFill>
                <a:latin typeface="Segoe UI"/>
              </a:rPr>
              <a:t>24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17264"/>
          </a:xfrm>
          <a:prstGeom prst="roundRect">
            <a:avLst>
              <a:gd name="adj" fmla="val 22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code/ch06_staffing_annealing.py</a:t>
            </a:r>
          </a:p>
        </p:txBody>
      </p:sp>
      <p:sp>
        <p:nvSpPr>
          <p:cNvPr id="14" name="!!code-text" descr="# skill of each developer on each stream, 1 (weak) to 5 (strong) SKILL = { &quot;Ayesha&quot;: (5, 2, 3, 1), &quot;Bilal&quot;: (4, 3, 2, 2), &quot;Chen&quot;: (2, 5, 1, 2), &quot;Dina&quot;: (1, 4, 5, 2), &quot;Emre&quot;: (3, 1, 4, 5), &quot;Farah&quot;: (2, 2, 5, 3), &quot;Gul&quot;: (1, 5, 2, 3), &quot;Hassan&quot;: (4, 1, 2, 5), &quot;Iqra&quot;: (3, 3, 3, 3), } TARGET = (3, 2, 2, 2) # headcount wanted per stream PENALTY = 4 # cost per developer away from target NS = len(STREAMS) BUDGET = 4000 # objective evaluations allowed per run"/>
          <p:cNvSpPr txBox="1"/>
          <p:nvPr/>
        </p:nvSpPr>
        <p:spPr>
          <a:xfrm>
            <a:off x="1362456" y="2523744"/>
            <a:ext cx="9987991" cy="3523487"/>
          </a:xfrm>
          <a:prstGeom prst="rect">
            <a:avLst/>
          </a:prstGeom>
          <a:noFill/>
        </p:spPr>
        <p:txBody>
          <a:bodyPr wrap="none" anchor="t" lIns="0" rIns="0" tIns="0" bIns="0">
            <a:noAutofit/>
          </a:bodyPr>
          <a:lstStyle/>
          <a:p>
            <a:pPr>
              <a:lnSpc>
                <a:spcPct val="100000"/>
              </a:lnSpc>
              <a:spcAft>
                <a:spcPts val="0"/>
              </a:spcAft>
            </a:pPr>
            <a:r>
              <a:rPr sz="1400" i="1">
                <a:solidFill>
                  <a:srgbClr val="8795A1"/>
                </a:solidFill>
                <a:latin typeface="Consolas"/>
              </a:rPr>
              <a:t># skill of each developer on each stream, 1 (weak) to 5 (strong)</a:t>
            </a:r>
          </a:p>
          <a:p>
            <a:pPr>
              <a:lnSpc>
                <a:spcPct val="100000"/>
              </a:lnSpc>
              <a:spcAft>
                <a:spcPts val="0"/>
              </a:spcAft>
            </a:pPr>
            <a:r>
              <a:rPr sz="1400" i="0">
                <a:solidFill>
                  <a:srgbClr val="E8EDF2"/>
                </a:solidFill>
                <a:latin typeface="Consolas"/>
              </a:rPr>
              <a:t>SKILL</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Ayesha</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F7DC6F"/>
                </a:solidFill>
                <a:latin typeface="Consolas"/>
              </a:rPr>
              <a:t>5</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2</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3</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1</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Bilal</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F7DC6F"/>
                </a:solidFill>
                <a:latin typeface="Consolas"/>
              </a:rPr>
              <a:t>4</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3</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2</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2</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Chen</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F7DC6F"/>
                </a:solidFill>
                <a:latin typeface="Consolas"/>
              </a:rPr>
              <a:t>2</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5</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1</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2</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Dina</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F7DC6F"/>
                </a:solidFill>
                <a:latin typeface="Consolas"/>
              </a:rPr>
              <a:t>1</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4</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5</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2</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Emre</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F7DC6F"/>
                </a:solidFill>
                <a:latin typeface="Consolas"/>
              </a:rPr>
              <a:t>3</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1</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4</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5</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Farah</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F7DC6F"/>
                </a:solidFill>
                <a:latin typeface="Consolas"/>
              </a:rPr>
              <a:t>2</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2</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5</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3</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Gul</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F7DC6F"/>
                </a:solidFill>
                <a:latin typeface="Consolas"/>
              </a:rPr>
              <a:t>1</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5</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2</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3</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Hassan</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F7DC6F"/>
                </a:solidFill>
                <a:latin typeface="Consolas"/>
              </a:rPr>
              <a:t>4</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1</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2</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5</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Iqra</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F7DC6F"/>
                </a:solidFill>
                <a:latin typeface="Consolas"/>
              </a:rPr>
              <a:t>3</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3</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3</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3</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AEB6BF"/>
                </a:solidFill>
                <a:latin typeface="Consolas"/>
              </a:rPr>
              <a:t>}</a:t>
            </a:r>
          </a:p>
          <a:p>
            <a:pPr>
              <a:lnSpc>
                <a:spcPct val="100000"/>
              </a:lnSpc>
              <a:spcAft>
                <a:spcPts val="0"/>
              </a:spcAft>
            </a:pPr>
            <a:r>
              <a:rPr sz="1400" i="0">
                <a:solidFill>
                  <a:srgbClr val="E8EDF2"/>
                </a:solidFill>
                <a:latin typeface="Consolas"/>
              </a:rPr>
              <a:t>TARGET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F7DC6F"/>
                </a:solidFill>
                <a:latin typeface="Consolas"/>
              </a:rPr>
              <a:t>3</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2</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2</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2</a:t>
            </a:r>
            <a:r>
              <a:rPr sz="1400" i="0">
                <a:solidFill>
                  <a:srgbClr val="AEB6BF"/>
                </a:solidFill>
                <a:latin typeface="Consolas"/>
              </a:rPr>
              <a:t>)</a:t>
            </a:r>
            <a:r>
              <a:rPr sz="1400" i="0">
                <a:solidFill>
                  <a:srgbClr val="E8EDF2"/>
                </a:solidFill>
                <a:latin typeface="Consolas"/>
              </a:rPr>
              <a:t>      </a:t>
            </a:r>
            <a:r>
              <a:rPr sz="1400" i="1">
                <a:solidFill>
                  <a:srgbClr val="8795A1"/>
                </a:solidFill>
                <a:latin typeface="Consolas"/>
              </a:rPr>
              <a:t># headcount wanted per stream</a:t>
            </a:r>
          </a:p>
          <a:p>
            <a:pPr>
              <a:lnSpc>
                <a:spcPct val="100000"/>
              </a:lnSpc>
              <a:spcAft>
                <a:spcPts val="0"/>
              </a:spcAft>
            </a:pPr>
            <a:r>
              <a:rPr sz="1400" i="0">
                <a:solidFill>
                  <a:srgbClr val="E8EDF2"/>
                </a:solidFill>
                <a:latin typeface="Consolas"/>
              </a:rPr>
              <a:t>PENALTY</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4</a:t>
            </a:r>
            <a:r>
              <a:rPr sz="1400" i="0">
                <a:solidFill>
                  <a:srgbClr val="E8EDF2"/>
                </a:solidFill>
                <a:latin typeface="Consolas"/>
              </a:rPr>
              <a:t>                </a:t>
            </a:r>
            <a:r>
              <a:rPr sz="1400" i="1">
                <a:solidFill>
                  <a:srgbClr val="8795A1"/>
                </a:solidFill>
                <a:latin typeface="Consolas"/>
              </a:rPr>
              <a:t># cost per developer away from target</a:t>
            </a:r>
          </a:p>
          <a:p>
            <a:pPr>
              <a:lnSpc>
                <a:spcPct val="100000"/>
              </a:lnSpc>
              <a:spcAft>
                <a:spcPts val="0"/>
              </a:spcAft>
            </a:pPr>
            <a:r>
              <a:rPr sz="1400" i="0">
                <a:solidFill>
                  <a:srgbClr val="E8EDF2"/>
                </a:solidFill>
                <a:latin typeface="Consolas"/>
              </a:rPr>
              <a:t>NS</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C39BD3"/>
                </a:solidFill>
                <a:latin typeface="Consolas"/>
              </a:rPr>
              <a:t>len</a:t>
            </a:r>
            <a:r>
              <a:rPr sz="1400" i="0">
                <a:solidFill>
                  <a:srgbClr val="AEB6BF"/>
                </a:solidFill>
                <a:latin typeface="Consolas"/>
              </a:rPr>
              <a:t>(</a:t>
            </a:r>
            <a:r>
              <a:rPr sz="1400" i="0">
                <a:solidFill>
                  <a:srgbClr val="E8EDF2"/>
                </a:solidFill>
                <a:latin typeface="Consolas"/>
              </a:rPr>
              <a:t>STREAMS</a:t>
            </a:r>
            <a:r>
              <a:rPr sz="1400" i="0">
                <a:solidFill>
                  <a:srgbClr val="AEB6BF"/>
                </a:solidFill>
                <a:latin typeface="Consolas"/>
              </a:rPr>
              <a:t>)</a:t>
            </a:r>
          </a:p>
          <a:p>
            <a:pPr>
              <a:lnSpc>
                <a:spcPct val="100000"/>
              </a:lnSpc>
              <a:spcAft>
                <a:spcPts val="0"/>
              </a:spcAft>
            </a:pPr>
            <a:r>
              <a:rPr sz="1400" i="0">
                <a:solidFill>
                  <a:srgbClr val="E8EDF2"/>
                </a:solidFill>
                <a:latin typeface="Consolas"/>
              </a:rPr>
              <a:t>BUDGET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4000</a:t>
            </a:r>
            <a:r>
              <a:rPr sz="1400" i="0">
                <a:solidFill>
                  <a:srgbClr val="E8EDF2"/>
                </a:solidFill>
                <a:latin typeface="Consolas"/>
              </a:rPr>
              <a:t>              </a:t>
            </a:r>
            <a:r>
              <a:rPr sz="1400" i="1">
                <a:solidFill>
                  <a:srgbClr val="8795A1"/>
                </a:solidFill>
                <a:latin typeface="Consolas"/>
              </a:rPr>
              <a:t># objective evaluations allowed per run</a:t>
            </a:r>
          </a:p>
        </p:txBody>
      </p:sp>
      <p:sp>
        <p:nvSpPr>
          <p:cNvPr id="15" name="!!code-num"/>
          <p:cNvSpPr txBox="1"/>
          <p:nvPr/>
        </p:nvSpPr>
        <p:spPr>
          <a:xfrm>
            <a:off x="768096" y="2523744"/>
            <a:ext cx="393192" cy="3523487"/>
          </a:xfrm>
          <a:prstGeom prst="rect">
            <a:avLst/>
          </a:prstGeom>
          <a:noFill/>
        </p:spPr>
        <p:txBody>
          <a:bodyPr wrap="none" anchor="t" lIns="0" rIns="0" tIns="0" bIns="0">
            <a:noAutofit/>
          </a:bodyPr>
          <a:lstStyle/>
          <a:p>
            <a:pPr algn="r">
              <a:lnSpc>
                <a:spcPct val="100000"/>
              </a:lnSpc>
            </a:pPr>
            <a:r>
              <a:rPr sz="1400">
                <a:solidFill>
                  <a:srgbClr val="4F5D6A"/>
                </a:solidFill>
                <a:latin typeface="Consolas"/>
              </a:rPr>
              <a:t>17</a:t>
            </a:r>
          </a:p>
          <a:p>
            <a:pPr algn="r">
              <a:lnSpc>
                <a:spcPct val="100000"/>
              </a:lnSpc>
            </a:pPr>
            <a:r>
              <a:rPr sz="1400">
                <a:solidFill>
                  <a:srgbClr val="4F5D6A"/>
                </a:solidFill>
                <a:latin typeface="Consolas"/>
              </a:rPr>
              <a:t>18</a:t>
            </a:r>
          </a:p>
          <a:p>
            <a:pPr algn="r">
              <a:lnSpc>
                <a:spcPct val="100000"/>
              </a:lnSpc>
            </a:pPr>
            <a:r>
              <a:rPr sz="1400">
                <a:solidFill>
                  <a:srgbClr val="4F5D6A"/>
                </a:solidFill>
                <a:latin typeface="Consolas"/>
              </a:rPr>
              <a:t>19</a:t>
            </a:r>
          </a:p>
          <a:p>
            <a:pPr algn="r">
              <a:lnSpc>
                <a:spcPct val="100000"/>
              </a:lnSpc>
            </a:pPr>
            <a:r>
              <a:rPr sz="1400">
                <a:solidFill>
                  <a:srgbClr val="4F5D6A"/>
                </a:solidFill>
                <a:latin typeface="Consolas"/>
              </a:rPr>
              <a:t>20</a:t>
            </a:r>
          </a:p>
          <a:p>
            <a:pPr algn="r">
              <a:lnSpc>
                <a:spcPct val="100000"/>
              </a:lnSpc>
            </a:pPr>
            <a:r>
              <a:rPr sz="1400">
                <a:solidFill>
                  <a:srgbClr val="4F5D6A"/>
                </a:solidFill>
                <a:latin typeface="Consolas"/>
              </a:rPr>
              <a:t>21</a:t>
            </a:r>
          </a:p>
          <a:p>
            <a:pPr algn="r">
              <a:lnSpc>
                <a:spcPct val="100000"/>
              </a:lnSpc>
            </a:pPr>
            <a:r>
              <a:rPr sz="1400">
                <a:solidFill>
                  <a:srgbClr val="4F5D6A"/>
                </a:solidFill>
                <a:latin typeface="Consolas"/>
              </a:rPr>
              <a:t>22</a:t>
            </a:r>
          </a:p>
          <a:p>
            <a:pPr algn="r">
              <a:lnSpc>
                <a:spcPct val="100000"/>
              </a:lnSpc>
            </a:pPr>
            <a:r>
              <a:rPr sz="1400">
                <a:solidFill>
                  <a:srgbClr val="4F5D6A"/>
                </a:solidFill>
                <a:latin typeface="Consolas"/>
              </a:rPr>
              <a:t>23</a:t>
            </a:r>
          </a:p>
          <a:p>
            <a:pPr algn="r">
              <a:lnSpc>
                <a:spcPct val="100000"/>
              </a:lnSpc>
            </a:pPr>
            <a:r>
              <a:rPr sz="1400">
                <a:solidFill>
                  <a:srgbClr val="4F5D6A"/>
                </a:solidFill>
                <a:latin typeface="Consolas"/>
              </a:rPr>
              <a:t>24</a:t>
            </a:r>
          </a:p>
          <a:p>
            <a:pPr algn="r">
              <a:lnSpc>
                <a:spcPct val="100000"/>
              </a:lnSpc>
            </a:pPr>
            <a:r>
              <a:rPr sz="1400">
                <a:solidFill>
                  <a:srgbClr val="4F5D6A"/>
                </a:solidFill>
                <a:latin typeface="Consolas"/>
              </a:rPr>
              <a:t>25</a:t>
            </a:r>
          </a:p>
          <a:p>
            <a:pPr algn="r">
              <a:lnSpc>
                <a:spcPct val="100000"/>
              </a:lnSpc>
            </a:pPr>
            <a:r>
              <a:rPr sz="1400">
                <a:solidFill>
                  <a:srgbClr val="4F5D6A"/>
                </a:solidFill>
                <a:latin typeface="Consolas"/>
              </a:rPr>
              <a:t>26</a:t>
            </a:r>
          </a:p>
          <a:p>
            <a:pPr algn="r">
              <a:lnSpc>
                <a:spcPct val="100000"/>
              </a:lnSpc>
            </a:pPr>
            <a:r>
              <a:rPr sz="1400">
                <a:solidFill>
                  <a:srgbClr val="4F5D6A"/>
                </a:solidFill>
                <a:latin typeface="Consolas"/>
              </a:rPr>
              <a:t>27</a:t>
            </a:r>
          </a:p>
          <a:p>
            <a:pPr algn="r">
              <a:lnSpc>
                <a:spcPct val="100000"/>
              </a:lnSpc>
            </a:pPr>
            <a:r>
              <a:rPr sz="1400">
                <a:solidFill>
                  <a:srgbClr val="4F5D6A"/>
                </a:solidFill>
                <a:latin typeface="Consolas"/>
              </a:rPr>
              <a:t>28</a:t>
            </a:r>
          </a:p>
          <a:p>
            <a:pPr algn="r">
              <a:lnSpc>
                <a:spcPct val="100000"/>
              </a:lnSpc>
            </a:pPr>
            <a:r>
              <a:rPr sz="1400">
                <a:solidFill>
                  <a:srgbClr val="4F5D6A"/>
                </a:solidFill>
                <a:latin typeface="Consolas"/>
              </a:rPr>
              <a:t>29</a:t>
            </a:r>
          </a:p>
          <a:p>
            <a:pPr algn="r">
              <a:lnSpc>
                <a:spcPct val="100000"/>
              </a:lnSpc>
            </a:pPr>
            <a:r>
              <a:rPr sz="1400">
                <a:solidFill>
                  <a:srgbClr val="4F5D6A"/>
                </a:solidFill>
                <a:latin typeface="Consolas"/>
              </a:rPr>
              <a:t>30</a:t>
            </a:r>
          </a:p>
          <a:p>
            <a:pPr algn="r">
              <a:lnSpc>
                <a:spcPct val="100000"/>
              </a:lnSpc>
            </a:pPr>
            <a:r>
              <a:rPr sz="1400">
                <a:solidFill>
                  <a:srgbClr val="4F5D6A"/>
                </a:solidFill>
                <a:latin typeface="Consolas"/>
              </a:rPr>
              <a:t>31</a:t>
            </a:r>
          </a:p>
          <a:p>
            <a:pPr algn="r">
              <a:lnSpc>
                <a:spcPct val="100000"/>
              </a:lnSpc>
            </a:pPr>
            <a:r>
              <a:rPr sz="1400">
                <a:solidFill>
                  <a:srgbClr val="4F5D6A"/>
                </a:solidFill>
                <a:latin typeface="Consolas"/>
              </a:rPr>
              <a:t>32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541853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Staffing by Annealing and by Evolution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17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6  ·  Local Search and Optimisation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§6.6.1  ·  Handout p. 59     </a:t>
            </a:r>
            <a:fld id="{D5FBC2C9-44D3-403D-9F4A-5C995399195B}" type="slidenum">
              <a:rPr lang="en-GB" sz="1000">
                <a:solidFill>
                  <a:srgbClr val="8795A1"/>
                </a:solidFill>
                <a:latin typeface="Segoe UI"/>
              </a:rPr>
              <a:t>25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737104"/>
          </a:xfrm>
          <a:prstGeom prst="roundRect">
            <a:avLst>
              <a:gd name="adj" fmla="val 334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code/ch06_staffing_annealing.py</a:t>
            </a:r>
          </a:p>
        </p:txBody>
      </p:sp>
      <p:sp>
        <p:nvSpPr>
          <p:cNvPr id="14" name="!!code-text" descr="def raw_score(state): fit = sum(SKILL[DEVS[i]][s] for i, s in enumerate(state)) counts = [0] * NS for s in state: counts[s] += 1 off = sum(abs(counts[j] - TARGET[j]) for j in range(NS)) return fit - PENALTY * off"/>
          <p:cNvSpPr txBox="1"/>
          <p:nvPr/>
        </p:nvSpPr>
        <p:spPr>
          <a:xfrm>
            <a:off x="1362456" y="2523744"/>
            <a:ext cx="9987991" cy="2243328"/>
          </a:xfrm>
          <a:prstGeom prst="rect">
            <a:avLst/>
          </a:prstGeom>
          <a:noFill/>
        </p:spPr>
        <p:txBody>
          <a:bodyPr wrap="none" anchor="t" lIns="0" rIns="0" tIns="0" bIns="0">
            <a:noAutofit/>
          </a:bodyPr>
          <a:lstStyle/>
          <a:p>
            <a:pPr>
              <a:lnSpc>
                <a:spcPct val="100000"/>
              </a:lnSpc>
              <a:spcAft>
                <a:spcPts val="0"/>
              </a:spcAft>
            </a:pPr>
            <a:r>
              <a:rPr sz="2000" i="0">
                <a:solidFill>
                  <a:srgbClr val="5DADE2"/>
                </a:solidFill>
                <a:latin typeface="Consolas"/>
              </a:rPr>
              <a:t>def</a:t>
            </a:r>
            <a:r>
              <a:rPr sz="2000" i="0">
                <a:solidFill>
                  <a:srgbClr val="E8EDF2"/>
                </a:solidFill>
                <a:latin typeface="Consolas"/>
              </a:rPr>
              <a:t> </a:t>
            </a:r>
            <a:r>
              <a:rPr sz="2000" i="0">
                <a:solidFill>
                  <a:srgbClr val="C39BD3"/>
                </a:solidFill>
                <a:latin typeface="Consolas"/>
              </a:rPr>
              <a:t>raw_score</a:t>
            </a:r>
            <a:r>
              <a:rPr sz="2000" i="0">
                <a:solidFill>
                  <a:srgbClr val="AEB6BF"/>
                </a:solidFill>
                <a:latin typeface="Consolas"/>
              </a:rPr>
              <a:t>(</a:t>
            </a:r>
            <a:r>
              <a:rPr sz="2000" i="0">
                <a:solidFill>
                  <a:srgbClr val="E8EDF2"/>
                </a:solidFill>
                <a:latin typeface="Consolas"/>
              </a:rPr>
              <a:t>state</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fit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C39BD3"/>
                </a:solidFill>
                <a:latin typeface="Consolas"/>
              </a:rPr>
              <a:t>sum</a:t>
            </a:r>
            <a:r>
              <a:rPr sz="2000" i="0">
                <a:solidFill>
                  <a:srgbClr val="AEB6BF"/>
                </a:solidFill>
                <a:latin typeface="Consolas"/>
              </a:rPr>
              <a:t>(</a:t>
            </a:r>
            <a:r>
              <a:rPr sz="2000" i="0">
                <a:solidFill>
                  <a:srgbClr val="E8EDF2"/>
                </a:solidFill>
                <a:latin typeface="Consolas"/>
              </a:rPr>
              <a:t>SKILL</a:t>
            </a:r>
            <a:r>
              <a:rPr sz="2000" i="0">
                <a:solidFill>
                  <a:srgbClr val="AEB6BF"/>
                </a:solidFill>
                <a:latin typeface="Consolas"/>
              </a:rPr>
              <a:t>[</a:t>
            </a:r>
            <a:r>
              <a:rPr sz="2000" i="0">
                <a:solidFill>
                  <a:srgbClr val="E8EDF2"/>
                </a:solidFill>
                <a:latin typeface="Consolas"/>
              </a:rPr>
              <a:t>DEVS</a:t>
            </a:r>
            <a:r>
              <a:rPr sz="2000" i="0">
                <a:solidFill>
                  <a:srgbClr val="AEB6BF"/>
                </a:solidFill>
                <a:latin typeface="Consolas"/>
              </a:rPr>
              <a:t>[</a:t>
            </a:r>
            <a:r>
              <a:rPr sz="2000" i="0">
                <a:solidFill>
                  <a:srgbClr val="E8EDF2"/>
                </a:solidFill>
                <a:latin typeface="Consolas"/>
              </a:rPr>
              <a:t>i</a:t>
            </a:r>
            <a:r>
              <a:rPr sz="2000" i="0">
                <a:solidFill>
                  <a:srgbClr val="AEB6BF"/>
                </a:solidFill>
                <a:latin typeface="Consolas"/>
              </a:rPr>
              <a:t>]</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s</a:t>
            </a:r>
            <a:r>
              <a:rPr sz="2000" i="0">
                <a:solidFill>
                  <a:srgbClr val="AEB6BF"/>
                </a:solidFill>
                <a:latin typeface="Consolas"/>
              </a:rPr>
              <a:t>]</a:t>
            </a:r>
            <a:r>
              <a:rPr sz="2000" i="0">
                <a:solidFill>
                  <a:srgbClr val="E8EDF2"/>
                </a:solidFill>
                <a:latin typeface="Consolas"/>
              </a:rPr>
              <a:t> </a:t>
            </a:r>
            <a:r>
              <a:rPr sz="2000" i="0">
                <a:solidFill>
                  <a:srgbClr val="5DADE2"/>
                </a:solidFill>
                <a:latin typeface="Consolas"/>
              </a:rPr>
              <a:t>for</a:t>
            </a:r>
            <a:r>
              <a:rPr sz="2000" i="0">
                <a:solidFill>
                  <a:srgbClr val="E8EDF2"/>
                </a:solidFill>
                <a:latin typeface="Consolas"/>
              </a:rPr>
              <a:t> </a:t>
            </a:r>
            <a:r>
              <a:rPr sz="2000" i="0">
                <a:solidFill>
                  <a:srgbClr val="E8EDF2"/>
                </a:solidFill>
                <a:latin typeface="Consolas"/>
              </a:rPr>
              <a:t>i</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s</a:t>
            </a:r>
            <a:r>
              <a:rPr sz="2000" i="0">
                <a:solidFill>
                  <a:srgbClr val="E8EDF2"/>
                </a:solidFill>
                <a:latin typeface="Consolas"/>
              </a:rPr>
              <a:t> </a:t>
            </a:r>
            <a:r>
              <a:rPr sz="2000" i="0">
                <a:solidFill>
                  <a:srgbClr val="AEB6BF"/>
                </a:solidFill>
                <a:latin typeface="Consolas"/>
              </a:rPr>
              <a:t>in</a:t>
            </a:r>
            <a:r>
              <a:rPr sz="2000" i="0">
                <a:solidFill>
                  <a:srgbClr val="E8EDF2"/>
                </a:solidFill>
                <a:latin typeface="Consolas"/>
              </a:rPr>
              <a:t> </a:t>
            </a:r>
            <a:r>
              <a:rPr sz="2000" i="0">
                <a:solidFill>
                  <a:srgbClr val="C39BD3"/>
                </a:solidFill>
                <a:latin typeface="Consolas"/>
              </a:rPr>
              <a:t>enumerate</a:t>
            </a:r>
            <a:r>
              <a:rPr sz="2000" i="0">
                <a:solidFill>
                  <a:srgbClr val="AEB6BF"/>
                </a:solidFill>
                <a:latin typeface="Consolas"/>
              </a:rPr>
              <a:t>(</a:t>
            </a:r>
            <a:r>
              <a:rPr sz="2000" i="0">
                <a:solidFill>
                  <a:srgbClr val="E8EDF2"/>
                </a:solidFill>
                <a:latin typeface="Consolas"/>
              </a:rPr>
              <a:t>state</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counts</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F7DC6F"/>
                </a:solidFill>
                <a:latin typeface="Consolas"/>
              </a:rPr>
              <a:t>0</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NS</a:t>
            </a:r>
          </a:p>
          <a:p>
            <a:pPr>
              <a:lnSpc>
                <a:spcPct val="100000"/>
              </a:lnSpc>
              <a:spcAft>
                <a:spcPts val="0"/>
              </a:spcAft>
            </a:pPr>
            <a:r>
              <a:rPr sz="2000" i="0">
                <a:solidFill>
                  <a:srgbClr val="E8EDF2"/>
                </a:solidFill>
                <a:latin typeface="Consolas"/>
              </a:rPr>
              <a:t>    </a:t>
            </a:r>
            <a:r>
              <a:rPr sz="2000" i="0">
                <a:solidFill>
                  <a:srgbClr val="5DADE2"/>
                </a:solidFill>
                <a:latin typeface="Consolas"/>
              </a:rPr>
              <a:t>for</a:t>
            </a:r>
            <a:r>
              <a:rPr sz="2000" i="0">
                <a:solidFill>
                  <a:srgbClr val="E8EDF2"/>
                </a:solidFill>
                <a:latin typeface="Consolas"/>
              </a:rPr>
              <a:t> </a:t>
            </a:r>
            <a:r>
              <a:rPr sz="2000" i="0">
                <a:solidFill>
                  <a:srgbClr val="E8EDF2"/>
                </a:solidFill>
                <a:latin typeface="Consolas"/>
              </a:rPr>
              <a:t>s</a:t>
            </a:r>
            <a:r>
              <a:rPr sz="2000" i="0">
                <a:solidFill>
                  <a:srgbClr val="E8EDF2"/>
                </a:solidFill>
                <a:latin typeface="Consolas"/>
              </a:rPr>
              <a:t> </a:t>
            </a:r>
            <a:r>
              <a:rPr sz="2000" i="0">
                <a:solidFill>
                  <a:srgbClr val="AEB6BF"/>
                </a:solidFill>
                <a:latin typeface="Consolas"/>
              </a:rPr>
              <a:t>in</a:t>
            </a:r>
            <a:r>
              <a:rPr sz="2000" i="0">
                <a:solidFill>
                  <a:srgbClr val="E8EDF2"/>
                </a:solidFill>
                <a:latin typeface="Consolas"/>
              </a:rPr>
              <a:t> </a:t>
            </a:r>
            <a:r>
              <a:rPr sz="2000" i="0">
                <a:solidFill>
                  <a:srgbClr val="E8EDF2"/>
                </a:solidFill>
                <a:latin typeface="Consolas"/>
              </a:rPr>
              <a:t>state</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counts</a:t>
            </a:r>
            <a:r>
              <a:rPr sz="2000" i="0">
                <a:solidFill>
                  <a:srgbClr val="AEB6BF"/>
                </a:solidFill>
                <a:latin typeface="Consolas"/>
              </a:rPr>
              <a:t>[</a:t>
            </a:r>
            <a:r>
              <a:rPr sz="2000" i="0">
                <a:solidFill>
                  <a:srgbClr val="E8EDF2"/>
                </a:solidFill>
                <a:latin typeface="Consolas"/>
              </a:rPr>
              <a:t>s</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F7DC6F"/>
                </a:solidFill>
                <a:latin typeface="Consolas"/>
              </a:rPr>
              <a:t>1</a:t>
            </a:r>
          </a:p>
          <a:p>
            <a:pPr>
              <a:lnSpc>
                <a:spcPct val="100000"/>
              </a:lnSpc>
              <a:spcAft>
                <a:spcPts val="0"/>
              </a:spcAft>
            </a:pPr>
            <a:r>
              <a:rPr sz="2000" i="0">
                <a:solidFill>
                  <a:srgbClr val="E8EDF2"/>
                </a:solidFill>
                <a:latin typeface="Consolas"/>
              </a:rPr>
              <a:t>    </a:t>
            </a:r>
            <a:r>
              <a:rPr sz="2000" i="0">
                <a:solidFill>
                  <a:srgbClr val="E8EDF2"/>
                </a:solidFill>
                <a:latin typeface="Consolas"/>
              </a:rPr>
              <a:t>off</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C39BD3"/>
                </a:solidFill>
                <a:latin typeface="Consolas"/>
              </a:rPr>
              <a:t>sum</a:t>
            </a:r>
            <a:r>
              <a:rPr sz="2000" i="0">
                <a:solidFill>
                  <a:srgbClr val="AEB6BF"/>
                </a:solidFill>
                <a:latin typeface="Consolas"/>
              </a:rPr>
              <a:t>(</a:t>
            </a:r>
            <a:r>
              <a:rPr sz="2000" i="0">
                <a:solidFill>
                  <a:srgbClr val="C39BD3"/>
                </a:solidFill>
                <a:latin typeface="Consolas"/>
              </a:rPr>
              <a:t>abs</a:t>
            </a:r>
            <a:r>
              <a:rPr sz="2000" i="0">
                <a:solidFill>
                  <a:srgbClr val="AEB6BF"/>
                </a:solidFill>
                <a:latin typeface="Consolas"/>
              </a:rPr>
              <a:t>(</a:t>
            </a:r>
            <a:r>
              <a:rPr sz="2000" i="0">
                <a:solidFill>
                  <a:srgbClr val="E8EDF2"/>
                </a:solidFill>
                <a:latin typeface="Consolas"/>
              </a:rPr>
              <a:t>counts</a:t>
            </a:r>
            <a:r>
              <a:rPr sz="2000" i="0">
                <a:solidFill>
                  <a:srgbClr val="AEB6BF"/>
                </a:solidFill>
                <a:latin typeface="Consolas"/>
              </a:rPr>
              <a:t>[</a:t>
            </a:r>
            <a:r>
              <a:rPr sz="2000" i="0">
                <a:solidFill>
                  <a:srgbClr val="E8EDF2"/>
                </a:solidFill>
                <a:latin typeface="Consolas"/>
              </a:rPr>
              <a:t>j</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TARGET</a:t>
            </a:r>
            <a:r>
              <a:rPr sz="2000" i="0">
                <a:solidFill>
                  <a:srgbClr val="AEB6BF"/>
                </a:solidFill>
                <a:latin typeface="Consolas"/>
              </a:rPr>
              <a:t>[</a:t>
            </a:r>
            <a:r>
              <a:rPr sz="2000" i="0">
                <a:solidFill>
                  <a:srgbClr val="E8EDF2"/>
                </a:solidFill>
                <a:latin typeface="Consolas"/>
              </a:rPr>
              <a:t>j</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5DADE2"/>
                </a:solidFill>
                <a:latin typeface="Consolas"/>
              </a:rPr>
              <a:t>for</a:t>
            </a:r>
            <a:r>
              <a:rPr sz="2000" i="0">
                <a:solidFill>
                  <a:srgbClr val="E8EDF2"/>
                </a:solidFill>
                <a:latin typeface="Consolas"/>
              </a:rPr>
              <a:t> </a:t>
            </a:r>
            <a:r>
              <a:rPr sz="2000" i="0">
                <a:solidFill>
                  <a:srgbClr val="E8EDF2"/>
                </a:solidFill>
                <a:latin typeface="Consolas"/>
              </a:rPr>
              <a:t>j</a:t>
            </a:r>
            <a:r>
              <a:rPr sz="2000" i="0">
                <a:solidFill>
                  <a:srgbClr val="E8EDF2"/>
                </a:solidFill>
                <a:latin typeface="Consolas"/>
              </a:rPr>
              <a:t> </a:t>
            </a:r>
            <a:r>
              <a:rPr sz="2000" i="0">
                <a:solidFill>
                  <a:srgbClr val="AEB6BF"/>
                </a:solidFill>
                <a:latin typeface="Consolas"/>
              </a:rPr>
              <a:t>in</a:t>
            </a:r>
            <a:r>
              <a:rPr sz="2000" i="0">
                <a:solidFill>
                  <a:srgbClr val="E8EDF2"/>
                </a:solidFill>
                <a:latin typeface="Consolas"/>
              </a:rPr>
              <a:t> </a:t>
            </a:r>
            <a:r>
              <a:rPr sz="2000" i="0">
                <a:solidFill>
                  <a:srgbClr val="C39BD3"/>
                </a:solidFill>
                <a:latin typeface="Consolas"/>
              </a:rPr>
              <a:t>range</a:t>
            </a:r>
            <a:r>
              <a:rPr sz="2000" i="0">
                <a:solidFill>
                  <a:srgbClr val="AEB6BF"/>
                </a:solidFill>
                <a:latin typeface="Consolas"/>
              </a:rPr>
              <a:t>(</a:t>
            </a:r>
            <a:r>
              <a:rPr sz="2000" i="0">
                <a:solidFill>
                  <a:srgbClr val="E8EDF2"/>
                </a:solidFill>
                <a:latin typeface="Consolas"/>
              </a:rPr>
              <a:t>NS</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return</a:t>
            </a:r>
            <a:r>
              <a:rPr sz="2000" i="0">
                <a:solidFill>
                  <a:srgbClr val="E8EDF2"/>
                </a:solidFill>
                <a:latin typeface="Consolas"/>
              </a:rPr>
              <a:t> </a:t>
            </a:r>
            <a:r>
              <a:rPr sz="2000" i="0">
                <a:solidFill>
                  <a:srgbClr val="E8EDF2"/>
                </a:solidFill>
                <a:latin typeface="Consolas"/>
              </a:rPr>
              <a:t>fit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PENALTY</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off</a:t>
            </a:r>
          </a:p>
        </p:txBody>
      </p:sp>
      <p:sp>
        <p:nvSpPr>
          <p:cNvPr id="15" name="!!code-num"/>
          <p:cNvSpPr txBox="1"/>
          <p:nvPr/>
        </p:nvSpPr>
        <p:spPr>
          <a:xfrm>
            <a:off x="768096" y="2523744"/>
            <a:ext cx="393192" cy="22433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35</a:t>
            </a:r>
          </a:p>
          <a:p>
            <a:pPr algn="r">
              <a:lnSpc>
                <a:spcPct val="100000"/>
              </a:lnSpc>
            </a:pPr>
            <a:r>
              <a:rPr sz="2000">
                <a:solidFill>
                  <a:srgbClr val="4F5D6A"/>
                </a:solidFill>
                <a:latin typeface="Consolas"/>
              </a:rPr>
              <a:t>36</a:t>
            </a:r>
          </a:p>
          <a:p>
            <a:pPr algn="r">
              <a:lnSpc>
                <a:spcPct val="100000"/>
              </a:lnSpc>
            </a:pPr>
            <a:r>
              <a:rPr sz="2000">
                <a:solidFill>
                  <a:srgbClr val="4F5D6A"/>
                </a:solidFill>
                <a:latin typeface="Consolas"/>
              </a:rPr>
              <a:t>37</a:t>
            </a:r>
          </a:p>
          <a:p>
            <a:pPr algn="r">
              <a:lnSpc>
                <a:spcPct val="100000"/>
              </a:lnSpc>
            </a:pPr>
            <a:r>
              <a:rPr sz="2000">
                <a:solidFill>
                  <a:srgbClr val="4F5D6A"/>
                </a:solidFill>
                <a:latin typeface="Consolas"/>
              </a:rPr>
              <a:t>38</a:t>
            </a:r>
          </a:p>
          <a:p>
            <a:pPr algn="r">
              <a:lnSpc>
                <a:spcPct val="100000"/>
              </a:lnSpc>
            </a:pPr>
            <a:r>
              <a:rPr sz="2000">
                <a:solidFill>
                  <a:srgbClr val="4F5D6A"/>
                </a:solidFill>
                <a:latin typeface="Consolas"/>
              </a:rPr>
              <a:t>39</a:t>
            </a:r>
          </a:p>
          <a:p>
            <a:pPr algn="r">
              <a:lnSpc>
                <a:spcPct val="100000"/>
              </a:lnSpc>
            </a:pPr>
            <a:r>
              <a:rPr sz="2000">
                <a:solidFill>
                  <a:srgbClr val="4F5D6A"/>
                </a:solidFill>
                <a:latin typeface="Consolas"/>
              </a:rPr>
              <a:t>40</a:t>
            </a:r>
          </a:p>
          <a:p>
            <a:pPr algn="r">
              <a:lnSpc>
                <a:spcPct val="100000"/>
              </a:lnSpc>
            </a:pPr>
            <a:r>
              <a:rPr sz="2000">
                <a:solidFill>
                  <a:srgbClr val="4F5D6A"/>
                </a:solidFill>
                <a:latin typeface="Consolas"/>
              </a:rPr>
              <a:t>41</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564430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Staffing by Annealing and by Evolution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17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6  ·  Local Search and Optimisation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§6.6.1  ·  Handout p. 59     </a:t>
            </a:r>
            <a:fld id="{AA710199-27C2-4AEF-9BCA-983FD6B1D8E8}" type="slidenum">
              <a:rPr lang="en-GB" sz="1000">
                <a:solidFill>
                  <a:srgbClr val="8795A1"/>
                </a:solidFill>
                <a:latin typeface="Segoe UI"/>
              </a:rPr>
              <a:t>26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78223"/>
          </a:xfrm>
          <a:prstGeom prst="roundRect">
            <a:avLst>
              <a:gd name="adj" fmla="val 224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code/ch06_staffing_annealing.py</a:t>
            </a:r>
          </a:p>
        </p:txBody>
      </p:sp>
      <p:sp>
        <p:nvSpPr>
          <p:cNvPr id="14" name="!!code-text" descr="class Budget: &quot;&quot;&quot;Counts objective evaluations, so no method can cheat.&quot;&quot;&quot; def __init__(self, cap): self.cap, self.n = cap, 0 def score(self, state): self.n += 1 return raw_score(state) def left(self): return self.n &lt; self.cap"/>
          <p:cNvSpPr txBox="1"/>
          <p:nvPr/>
        </p:nvSpPr>
        <p:spPr>
          <a:xfrm>
            <a:off x="1362456" y="2523744"/>
            <a:ext cx="9987991" cy="3584447"/>
          </a:xfrm>
          <a:prstGeom prst="rect">
            <a:avLst/>
          </a:prstGeom>
          <a:noFill/>
        </p:spPr>
        <p:txBody>
          <a:bodyPr wrap="none" anchor="t" lIns="0" rIns="0" tIns="0" bIns="0">
            <a:noAutofit/>
          </a:bodyPr>
          <a:lstStyle/>
          <a:p>
            <a:pPr>
              <a:lnSpc>
                <a:spcPct val="100000"/>
              </a:lnSpc>
              <a:spcAft>
                <a:spcPts val="0"/>
              </a:spcAft>
            </a:pPr>
            <a:r>
              <a:rPr sz="1900" i="0">
                <a:solidFill>
                  <a:srgbClr val="5DADE2"/>
                </a:solidFill>
                <a:latin typeface="Consolas"/>
              </a:rPr>
              <a:t>class</a:t>
            </a:r>
            <a:r>
              <a:rPr sz="1900" i="0">
                <a:solidFill>
                  <a:srgbClr val="E8EDF2"/>
                </a:solidFill>
                <a:latin typeface="Consolas"/>
              </a:rPr>
              <a:t> </a:t>
            </a:r>
            <a:r>
              <a:rPr sz="1900" i="0">
                <a:solidFill>
                  <a:srgbClr val="76D7C4"/>
                </a:solidFill>
                <a:latin typeface="Consolas"/>
              </a:rPr>
              <a:t>Budget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7DCEA0"/>
                </a:solidFill>
                <a:latin typeface="Consolas"/>
              </a:rPr>
              <a:t>"""Counts objective evaluations, so no method can cheat."""</a:t>
            </a:r>
          </a:p>
          <a:p>
            <a:pPr>
              <a:lnSpc>
                <a:spcPct val="100000"/>
              </a:lnSpc>
              <a:spcAft>
                <a:spcPts val="0"/>
              </a:spcAft>
            </a:pPr>
            <a:r>
              <a:rPr sz="1900">
                <a:latin typeface="Consolas"/>
              </a:rPr>
              <a:t> </a:t>
            </a:r>
          </a:p>
          <a:p>
            <a:pPr>
              <a:lnSpc>
                <a:spcPct val="100000"/>
              </a:lnSpc>
              <a:spcAft>
                <a:spcPts val="0"/>
              </a:spcAft>
            </a:pPr>
            <a:r>
              <a:rPr sz="1900" i="0">
                <a:solidFill>
                  <a:srgbClr val="E8EDF2"/>
                </a:solidFill>
                <a:latin typeface="Consolas"/>
              </a:rPr>
              <a:t>    </a:t>
            </a:r>
            <a:r>
              <a:rPr sz="1900" i="0">
                <a:solidFill>
                  <a:srgbClr val="5DADE2"/>
                </a:solidFill>
                <a:latin typeface="Consolas"/>
              </a:rPr>
              <a:t>def</a:t>
            </a:r>
            <a:r>
              <a:rPr sz="1900" i="0">
                <a:solidFill>
                  <a:srgbClr val="E8EDF2"/>
                </a:solidFill>
                <a:latin typeface="Consolas"/>
              </a:rPr>
              <a:t> </a:t>
            </a:r>
            <a:r>
              <a:rPr sz="1900" i="0">
                <a:solidFill>
                  <a:srgbClr val="C39BD3"/>
                </a:solidFill>
                <a:latin typeface="Consolas"/>
              </a:rPr>
              <a:t>__init__</a:t>
            </a:r>
            <a:r>
              <a:rPr sz="1900" i="0">
                <a:solidFill>
                  <a:srgbClr val="AEB6BF"/>
                </a:solidFill>
                <a:latin typeface="Consolas"/>
              </a:rPr>
              <a:t>(</a:t>
            </a:r>
            <a:r>
              <a:rPr sz="1900" i="0">
                <a:solidFill>
                  <a:srgbClr val="C39BD3"/>
                </a:solidFill>
                <a:latin typeface="Consolas"/>
              </a:rPr>
              <a:t>self</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cap</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C39BD3"/>
                </a:solidFill>
                <a:latin typeface="Consolas"/>
              </a:rPr>
              <a:t>self</a:t>
            </a:r>
            <a:r>
              <a:rPr sz="1900" i="0">
                <a:solidFill>
                  <a:srgbClr val="AEB6BF"/>
                </a:solidFill>
                <a:latin typeface="Consolas"/>
              </a:rPr>
              <a:t>.</a:t>
            </a:r>
            <a:r>
              <a:rPr sz="1900" i="0">
                <a:solidFill>
                  <a:srgbClr val="E8EDF2"/>
                </a:solidFill>
                <a:latin typeface="Consolas"/>
              </a:rPr>
              <a:t>cap</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self</a:t>
            </a:r>
            <a:r>
              <a:rPr sz="1900" i="0">
                <a:solidFill>
                  <a:srgbClr val="AEB6BF"/>
                </a:solidFill>
                <a:latin typeface="Consolas"/>
              </a:rPr>
              <a:t>.</a:t>
            </a:r>
            <a:r>
              <a:rPr sz="1900" i="0">
                <a:solidFill>
                  <a:srgbClr val="E8EDF2"/>
                </a:solidFill>
                <a:latin typeface="Consolas"/>
              </a:rPr>
              <a:t>n</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cap</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0</a:t>
            </a:r>
          </a:p>
          <a:p>
            <a:pPr>
              <a:lnSpc>
                <a:spcPct val="100000"/>
              </a:lnSpc>
              <a:spcAft>
                <a:spcPts val="0"/>
              </a:spcAft>
            </a:pPr>
            <a:r>
              <a:rPr sz="1900">
                <a:latin typeface="Consolas"/>
              </a:rPr>
              <a:t> </a:t>
            </a:r>
          </a:p>
          <a:p>
            <a:pPr>
              <a:lnSpc>
                <a:spcPct val="100000"/>
              </a:lnSpc>
              <a:spcAft>
                <a:spcPts val="0"/>
              </a:spcAft>
            </a:pPr>
            <a:r>
              <a:rPr sz="1900" i="0">
                <a:solidFill>
                  <a:srgbClr val="E8EDF2"/>
                </a:solidFill>
                <a:latin typeface="Consolas"/>
              </a:rPr>
              <a:t>    </a:t>
            </a:r>
            <a:r>
              <a:rPr sz="1900" i="0">
                <a:solidFill>
                  <a:srgbClr val="5DADE2"/>
                </a:solidFill>
                <a:latin typeface="Consolas"/>
              </a:rPr>
              <a:t>def</a:t>
            </a:r>
            <a:r>
              <a:rPr sz="1900" i="0">
                <a:solidFill>
                  <a:srgbClr val="E8EDF2"/>
                </a:solidFill>
                <a:latin typeface="Consolas"/>
              </a:rPr>
              <a:t> </a:t>
            </a:r>
            <a:r>
              <a:rPr sz="1900" i="0">
                <a:solidFill>
                  <a:srgbClr val="C39BD3"/>
                </a:solidFill>
                <a:latin typeface="Consolas"/>
              </a:rPr>
              <a:t>score</a:t>
            </a:r>
            <a:r>
              <a:rPr sz="1900" i="0">
                <a:solidFill>
                  <a:srgbClr val="AEB6BF"/>
                </a:solidFill>
                <a:latin typeface="Consolas"/>
              </a:rPr>
              <a:t>(</a:t>
            </a:r>
            <a:r>
              <a:rPr sz="1900" i="0">
                <a:solidFill>
                  <a:srgbClr val="C39BD3"/>
                </a:solidFill>
                <a:latin typeface="Consolas"/>
              </a:rPr>
              <a:t>self</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state</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C39BD3"/>
                </a:solidFill>
                <a:latin typeface="Consolas"/>
              </a:rPr>
              <a:t>self</a:t>
            </a:r>
            <a:r>
              <a:rPr sz="1900" i="0">
                <a:solidFill>
                  <a:srgbClr val="AEB6BF"/>
                </a:solidFill>
                <a:latin typeface="Consolas"/>
              </a:rPr>
              <a:t>.</a:t>
            </a:r>
            <a:r>
              <a:rPr sz="1900" i="0">
                <a:solidFill>
                  <a:srgbClr val="E8EDF2"/>
                </a:solidFill>
                <a:latin typeface="Consolas"/>
              </a:rPr>
              <a:t>n</a:t>
            </a:r>
            <a:r>
              <a:rPr sz="1900" i="0">
                <a:solidFill>
                  <a:srgbClr val="E8EDF2"/>
                </a:solidFill>
                <a:latin typeface="Consolas"/>
              </a:rPr>
              <a:t> </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1</a:t>
            </a:r>
          </a:p>
          <a:p>
            <a:pPr>
              <a:lnSpc>
                <a:spcPct val="100000"/>
              </a:lnSpc>
              <a:spcAft>
                <a:spcPts val="0"/>
              </a:spcAft>
            </a:pPr>
            <a:r>
              <a:rPr sz="1900" i="0">
                <a:solidFill>
                  <a:srgbClr val="E8EDF2"/>
                </a:solidFill>
                <a:latin typeface="Consolas"/>
              </a:rPr>
              <a:t>        </a:t>
            </a:r>
            <a:r>
              <a:rPr sz="1900" i="0">
                <a:solidFill>
                  <a:srgbClr val="5DADE2"/>
                </a:solidFill>
                <a:latin typeface="Consolas"/>
              </a:rPr>
              <a:t>return</a:t>
            </a:r>
            <a:r>
              <a:rPr sz="1900" i="0">
                <a:solidFill>
                  <a:srgbClr val="E8EDF2"/>
                </a:solidFill>
                <a:latin typeface="Consolas"/>
              </a:rPr>
              <a:t> </a:t>
            </a:r>
            <a:r>
              <a:rPr sz="1900" i="0">
                <a:solidFill>
                  <a:srgbClr val="E8EDF2"/>
                </a:solidFill>
                <a:latin typeface="Consolas"/>
              </a:rPr>
              <a:t>raw_score</a:t>
            </a:r>
            <a:r>
              <a:rPr sz="1900" i="0">
                <a:solidFill>
                  <a:srgbClr val="AEB6BF"/>
                </a:solidFill>
                <a:latin typeface="Consolas"/>
              </a:rPr>
              <a:t>(</a:t>
            </a:r>
            <a:r>
              <a:rPr sz="1900" i="0">
                <a:solidFill>
                  <a:srgbClr val="E8EDF2"/>
                </a:solidFill>
                <a:latin typeface="Consolas"/>
              </a:rPr>
              <a:t>state</a:t>
            </a:r>
            <a:r>
              <a:rPr sz="1900" i="0">
                <a:solidFill>
                  <a:srgbClr val="AEB6BF"/>
                </a:solidFill>
                <a:latin typeface="Consolas"/>
              </a:rPr>
              <a:t>)</a:t>
            </a:r>
          </a:p>
          <a:p>
            <a:pPr>
              <a:lnSpc>
                <a:spcPct val="100000"/>
              </a:lnSpc>
              <a:spcAft>
                <a:spcPts val="0"/>
              </a:spcAft>
            </a:pPr>
            <a:r>
              <a:rPr sz="1900">
                <a:latin typeface="Consolas"/>
              </a:rPr>
              <a:t> </a:t>
            </a:r>
          </a:p>
          <a:p>
            <a:pPr>
              <a:lnSpc>
                <a:spcPct val="100000"/>
              </a:lnSpc>
              <a:spcAft>
                <a:spcPts val="0"/>
              </a:spcAft>
            </a:pPr>
            <a:r>
              <a:rPr sz="1900" i="0">
                <a:solidFill>
                  <a:srgbClr val="E8EDF2"/>
                </a:solidFill>
                <a:latin typeface="Consolas"/>
              </a:rPr>
              <a:t>    </a:t>
            </a:r>
            <a:r>
              <a:rPr sz="1900" i="0">
                <a:solidFill>
                  <a:srgbClr val="5DADE2"/>
                </a:solidFill>
                <a:latin typeface="Consolas"/>
              </a:rPr>
              <a:t>def</a:t>
            </a:r>
            <a:r>
              <a:rPr sz="1900" i="0">
                <a:solidFill>
                  <a:srgbClr val="E8EDF2"/>
                </a:solidFill>
                <a:latin typeface="Consolas"/>
              </a:rPr>
              <a:t> </a:t>
            </a:r>
            <a:r>
              <a:rPr sz="1900" i="0">
                <a:solidFill>
                  <a:srgbClr val="C39BD3"/>
                </a:solidFill>
                <a:latin typeface="Consolas"/>
              </a:rPr>
              <a:t>left</a:t>
            </a:r>
            <a:r>
              <a:rPr sz="1900" i="0">
                <a:solidFill>
                  <a:srgbClr val="AEB6BF"/>
                </a:solidFill>
                <a:latin typeface="Consolas"/>
              </a:rPr>
              <a:t>(</a:t>
            </a:r>
            <a:r>
              <a:rPr sz="1900" i="0">
                <a:solidFill>
                  <a:srgbClr val="C39BD3"/>
                </a:solidFill>
                <a:latin typeface="Consolas"/>
              </a:rPr>
              <a:t>self</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return</a:t>
            </a:r>
            <a:r>
              <a:rPr sz="1900" i="0">
                <a:solidFill>
                  <a:srgbClr val="E8EDF2"/>
                </a:solidFill>
                <a:latin typeface="Consolas"/>
              </a:rPr>
              <a:t> </a:t>
            </a:r>
            <a:r>
              <a:rPr sz="1900" i="0">
                <a:solidFill>
                  <a:srgbClr val="C39BD3"/>
                </a:solidFill>
                <a:latin typeface="Consolas"/>
              </a:rPr>
              <a:t>self</a:t>
            </a:r>
            <a:r>
              <a:rPr sz="1900" i="0">
                <a:solidFill>
                  <a:srgbClr val="AEB6BF"/>
                </a:solidFill>
                <a:latin typeface="Consolas"/>
              </a:rPr>
              <a:t>.</a:t>
            </a:r>
            <a:r>
              <a:rPr sz="1900" i="0">
                <a:solidFill>
                  <a:srgbClr val="E8EDF2"/>
                </a:solidFill>
                <a:latin typeface="Consolas"/>
              </a:rPr>
              <a:t>n</a:t>
            </a:r>
            <a:r>
              <a:rPr sz="1900" i="0">
                <a:solidFill>
                  <a:srgbClr val="E8EDF2"/>
                </a:solidFill>
                <a:latin typeface="Consolas"/>
              </a:rPr>
              <a:t> </a:t>
            </a:r>
            <a:r>
              <a:rPr sz="1900" i="0">
                <a:solidFill>
                  <a:srgbClr val="AEB6BF"/>
                </a:solidFill>
                <a:latin typeface="Consolas"/>
              </a:rPr>
              <a:t>&lt;</a:t>
            </a:r>
            <a:r>
              <a:rPr sz="1900" i="0">
                <a:solidFill>
                  <a:srgbClr val="E8EDF2"/>
                </a:solidFill>
                <a:latin typeface="Consolas"/>
              </a:rPr>
              <a:t> </a:t>
            </a:r>
            <a:r>
              <a:rPr sz="1900" i="0">
                <a:solidFill>
                  <a:srgbClr val="C39BD3"/>
                </a:solidFill>
                <a:latin typeface="Consolas"/>
              </a:rPr>
              <a:t>self</a:t>
            </a:r>
            <a:r>
              <a:rPr sz="1900" i="0">
                <a:solidFill>
                  <a:srgbClr val="AEB6BF"/>
                </a:solidFill>
                <a:latin typeface="Consolas"/>
              </a:rPr>
              <a:t>.</a:t>
            </a:r>
            <a:r>
              <a:rPr sz="1900" i="0">
                <a:solidFill>
                  <a:srgbClr val="E8EDF2"/>
                </a:solidFill>
                <a:latin typeface="Consolas"/>
              </a:rPr>
              <a:t>cap</a:t>
            </a:r>
          </a:p>
        </p:txBody>
      </p:sp>
      <p:sp>
        <p:nvSpPr>
          <p:cNvPr id="15" name="!!code-num"/>
          <p:cNvSpPr txBox="1"/>
          <p:nvPr/>
        </p:nvSpPr>
        <p:spPr>
          <a:xfrm>
            <a:off x="768096" y="2523744"/>
            <a:ext cx="393192" cy="358444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44</a:t>
            </a:r>
          </a:p>
          <a:p>
            <a:pPr algn="r">
              <a:lnSpc>
                <a:spcPct val="100000"/>
              </a:lnSpc>
            </a:pPr>
            <a:r>
              <a:rPr sz="1900">
                <a:solidFill>
                  <a:srgbClr val="4F5D6A"/>
                </a:solidFill>
                <a:latin typeface="Consolas"/>
              </a:rPr>
              <a:t>45</a:t>
            </a:r>
          </a:p>
          <a:p>
            <a:pPr algn="r">
              <a:lnSpc>
                <a:spcPct val="100000"/>
              </a:lnSpc>
            </a:pPr>
            <a:r>
              <a:rPr sz="1900">
                <a:solidFill>
                  <a:srgbClr val="4F5D6A"/>
                </a:solidFill>
                <a:latin typeface="Consolas"/>
              </a:rPr>
              <a:t>46</a:t>
            </a:r>
          </a:p>
          <a:p>
            <a:pPr algn="r">
              <a:lnSpc>
                <a:spcPct val="100000"/>
              </a:lnSpc>
            </a:pPr>
            <a:r>
              <a:rPr sz="1900">
                <a:solidFill>
                  <a:srgbClr val="4F5D6A"/>
                </a:solidFill>
                <a:latin typeface="Consolas"/>
              </a:rPr>
              <a:t>47</a:t>
            </a:r>
          </a:p>
          <a:p>
            <a:pPr algn="r">
              <a:lnSpc>
                <a:spcPct val="100000"/>
              </a:lnSpc>
            </a:pPr>
            <a:r>
              <a:rPr sz="1900">
                <a:solidFill>
                  <a:srgbClr val="4F5D6A"/>
                </a:solidFill>
                <a:latin typeface="Consolas"/>
              </a:rPr>
              <a:t>48</a:t>
            </a:r>
          </a:p>
          <a:p>
            <a:pPr algn="r">
              <a:lnSpc>
                <a:spcPct val="100000"/>
              </a:lnSpc>
            </a:pPr>
            <a:r>
              <a:rPr sz="1900">
                <a:solidFill>
                  <a:srgbClr val="4F5D6A"/>
                </a:solidFill>
                <a:latin typeface="Consolas"/>
              </a:rPr>
              <a:t>49</a:t>
            </a:r>
          </a:p>
          <a:p>
            <a:pPr algn="r">
              <a:lnSpc>
                <a:spcPct val="100000"/>
              </a:lnSpc>
            </a:pPr>
            <a:r>
              <a:rPr sz="1900">
                <a:solidFill>
                  <a:srgbClr val="4F5D6A"/>
                </a:solidFill>
                <a:latin typeface="Consolas"/>
              </a:rPr>
              <a:t>50</a:t>
            </a:r>
          </a:p>
          <a:p>
            <a:pPr algn="r">
              <a:lnSpc>
                <a:spcPct val="100000"/>
              </a:lnSpc>
            </a:pPr>
            <a:r>
              <a:rPr sz="1900">
                <a:solidFill>
                  <a:srgbClr val="4F5D6A"/>
                </a:solidFill>
                <a:latin typeface="Consolas"/>
              </a:rPr>
              <a:t>51</a:t>
            </a:r>
          </a:p>
          <a:p>
            <a:pPr algn="r">
              <a:lnSpc>
                <a:spcPct val="100000"/>
              </a:lnSpc>
            </a:pPr>
            <a:r>
              <a:rPr sz="1900">
                <a:solidFill>
                  <a:srgbClr val="4F5D6A"/>
                </a:solidFill>
                <a:latin typeface="Consolas"/>
              </a:rPr>
              <a:t>52</a:t>
            </a:r>
          </a:p>
          <a:p>
            <a:pPr algn="r">
              <a:lnSpc>
                <a:spcPct val="100000"/>
              </a:lnSpc>
            </a:pPr>
            <a:r>
              <a:rPr sz="1900">
                <a:solidFill>
                  <a:srgbClr val="4F5D6A"/>
                </a:solidFill>
                <a:latin typeface="Consolas"/>
              </a:rPr>
              <a:t>53</a:t>
            </a:r>
          </a:p>
          <a:p>
            <a:pPr algn="r">
              <a:lnSpc>
                <a:spcPct val="100000"/>
              </a:lnSpc>
            </a:pPr>
            <a:r>
              <a:rPr sz="1900">
                <a:solidFill>
                  <a:srgbClr val="4F5D6A"/>
                </a:solidFill>
                <a:latin typeface="Consolas"/>
              </a:rPr>
              <a:t>54</a:t>
            </a:r>
          </a:p>
          <a:p>
            <a:pPr algn="r">
              <a:lnSpc>
                <a:spcPct val="100000"/>
              </a:lnSpc>
            </a:pPr>
            <a:r>
              <a:rPr sz="1900">
                <a:solidFill>
                  <a:srgbClr val="4F5D6A"/>
                </a:solidFill>
                <a:latin typeface="Consolas"/>
              </a:rPr>
              <a:t>55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587007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Staffing by Annealing and by Evolution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17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6  ·  Local Search and Optimisation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§6.6.1  ·  Handout p. 59     </a:t>
            </a:r>
            <a:fld id="{26976672-F75F-4874-93AF-9B1791446F53}" type="slidenum">
              <a:rPr lang="en-GB" sz="1000">
                <a:solidFill>
                  <a:srgbClr val="8795A1"/>
                </a:solidFill>
                <a:latin typeface="Segoe UI"/>
              </a:rPr>
              <a:t>27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971543"/>
          </a:xfrm>
          <a:prstGeom prst="roundRect">
            <a:avLst>
              <a:gd name="adj" fmla="val 230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code/ch06_staffing_annealing.py</a:t>
            </a:r>
          </a:p>
        </p:txBody>
      </p:sp>
      <p:sp>
        <p:nvSpPr>
          <p:cNvPr id="14" name="!!code-text" descr="def neighbours(state): for i in range(len(state)): for s in range(NS): if s != state[i]: yield state[:i] + (s,) + state[i + 1:] def random_state(rng): return tuple(rng.randrange(NS) for _ in DEVS) def one_neighbour(state, rng): i = rng.randrange(len(state)) s = rng.randrange(NS) while s == state[i]: s = rng.randrange(NS) return state[:i] + (s,) + state[i + 1:]"/>
          <p:cNvSpPr txBox="1"/>
          <p:nvPr/>
        </p:nvSpPr>
        <p:spPr>
          <a:xfrm>
            <a:off x="1362456" y="2523744"/>
            <a:ext cx="9987991" cy="3477767"/>
          </a:xfrm>
          <a:prstGeom prst="rect">
            <a:avLst/>
          </a:prstGeom>
          <a:noFill/>
        </p:spPr>
        <p:txBody>
          <a:bodyPr wrap="none" anchor="t" lIns="0" rIns="0" tIns="0" bIns="0">
            <a:noAutofit/>
          </a:bodyPr>
          <a:lstStyle/>
          <a:p>
            <a:pPr>
              <a:lnSpc>
                <a:spcPct val="100000"/>
              </a:lnSpc>
              <a:spcAft>
                <a:spcPts val="0"/>
              </a:spcAft>
            </a:pPr>
            <a:r>
              <a:rPr sz="1300" i="0">
                <a:solidFill>
                  <a:srgbClr val="5DADE2"/>
                </a:solidFill>
                <a:latin typeface="Consolas"/>
              </a:rPr>
              <a:t>def</a:t>
            </a:r>
            <a:r>
              <a:rPr sz="1300" i="0">
                <a:solidFill>
                  <a:srgbClr val="E8EDF2"/>
                </a:solidFill>
                <a:latin typeface="Consolas"/>
              </a:rPr>
              <a:t> </a:t>
            </a:r>
            <a:r>
              <a:rPr sz="1300" i="0">
                <a:solidFill>
                  <a:srgbClr val="C39BD3"/>
                </a:solidFill>
                <a:latin typeface="Consolas"/>
              </a:rPr>
              <a:t>neighbours</a:t>
            </a:r>
            <a:r>
              <a:rPr sz="1300" i="0">
                <a:solidFill>
                  <a:srgbClr val="AEB6BF"/>
                </a:solidFill>
                <a:latin typeface="Consolas"/>
              </a:rPr>
              <a:t>(</a:t>
            </a:r>
            <a:r>
              <a:rPr sz="1300" i="0">
                <a:solidFill>
                  <a:srgbClr val="E8EDF2"/>
                </a:solidFill>
                <a:latin typeface="Consolas"/>
              </a:rPr>
              <a:t>state</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for</a:t>
            </a:r>
            <a:r>
              <a:rPr sz="1300" i="0">
                <a:solidFill>
                  <a:srgbClr val="E8EDF2"/>
                </a:solidFill>
                <a:latin typeface="Consolas"/>
              </a:rPr>
              <a:t> </a:t>
            </a:r>
            <a:r>
              <a:rPr sz="1300" i="0">
                <a:solidFill>
                  <a:srgbClr val="E8EDF2"/>
                </a:solidFill>
                <a:latin typeface="Consolas"/>
              </a:rPr>
              <a:t>i</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C39BD3"/>
                </a:solidFill>
                <a:latin typeface="Consolas"/>
              </a:rPr>
              <a:t>range</a:t>
            </a:r>
            <a:r>
              <a:rPr sz="1300" i="0">
                <a:solidFill>
                  <a:srgbClr val="AEB6BF"/>
                </a:solidFill>
                <a:latin typeface="Consolas"/>
              </a:rPr>
              <a:t>(</a:t>
            </a:r>
            <a:r>
              <a:rPr sz="1300" i="0">
                <a:solidFill>
                  <a:srgbClr val="C39BD3"/>
                </a:solidFill>
                <a:latin typeface="Consolas"/>
              </a:rPr>
              <a:t>len</a:t>
            </a:r>
            <a:r>
              <a:rPr sz="1300" i="0">
                <a:solidFill>
                  <a:srgbClr val="AEB6BF"/>
                </a:solidFill>
                <a:latin typeface="Consolas"/>
              </a:rPr>
              <a:t>(</a:t>
            </a:r>
            <a:r>
              <a:rPr sz="1300" i="0">
                <a:solidFill>
                  <a:srgbClr val="E8EDF2"/>
                </a:solidFill>
                <a:latin typeface="Consolas"/>
              </a:rPr>
              <a:t>state</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for</a:t>
            </a:r>
            <a:r>
              <a:rPr sz="1300" i="0">
                <a:solidFill>
                  <a:srgbClr val="E8EDF2"/>
                </a:solidFill>
                <a:latin typeface="Consolas"/>
              </a:rPr>
              <a:t> </a:t>
            </a:r>
            <a:r>
              <a:rPr sz="1300" i="0">
                <a:solidFill>
                  <a:srgbClr val="E8EDF2"/>
                </a:solidFill>
                <a:latin typeface="Consolas"/>
              </a:rPr>
              <a:t>s</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C39BD3"/>
                </a:solidFill>
                <a:latin typeface="Consolas"/>
              </a:rPr>
              <a:t>range</a:t>
            </a:r>
            <a:r>
              <a:rPr sz="1300" i="0">
                <a:solidFill>
                  <a:srgbClr val="AEB6BF"/>
                </a:solidFill>
                <a:latin typeface="Consolas"/>
              </a:rPr>
              <a:t>(</a:t>
            </a:r>
            <a:r>
              <a:rPr sz="1300" i="0">
                <a:solidFill>
                  <a:srgbClr val="E8EDF2"/>
                </a:solidFill>
                <a:latin typeface="Consolas"/>
              </a:rPr>
              <a:t>NS</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if</a:t>
            </a:r>
            <a:r>
              <a:rPr sz="1300" i="0">
                <a:solidFill>
                  <a:srgbClr val="E8EDF2"/>
                </a:solidFill>
                <a:latin typeface="Consolas"/>
              </a:rPr>
              <a:t> </a:t>
            </a:r>
            <a:r>
              <a:rPr sz="1300" i="0">
                <a:solidFill>
                  <a:srgbClr val="E8EDF2"/>
                </a:solidFill>
                <a:latin typeface="Consolas"/>
              </a:rPr>
              <a:t>s</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state</a:t>
            </a:r>
            <a:r>
              <a:rPr sz="1300" i="0">
                <a:solidFill>
                  <a:srgbClr val="AEB6BF"/>
                </a:solidFill>
                <a:latin typeface="Consolas"/>
              </a:rPr>
              <a:t>[</a:t>
            </a:r>
            <a:r>
              <a:rPr sz="1300" i="0">
                <a:solidFill>
                  <a:srgbClr val="E8EDF2"/>
                </a:solidFill>
                <a:latin typeface="Consolas"/>
              </a:rPr>
              <a:t>i</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yield</a:t>
            </a:r>
            <a:r>
              <a:rPr sz="1300" i="0">
                <a:solidFill>
                  <a:srgbClr val="E8EDF2"/>
                </a:solidFill>
                <a:latin typeface="Consolas"/>
              </a:rPr>
              <a:t> </a:t>
            </a:r>
            <a:r>
              <a:rPr sz="1300" i="0">
                <a:solidFill>
                  <a:srgbClr val="E8EDF2"/>
                </a:solidFill>
                <a:latin typeface="Consolas"/>
              </a:rPr>
              <a:t>state</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i</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s</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state</a:t>
            </a:r>
            <a:r>
              <a:rPr sz="1300" i="0">
                <a:solidFill>
                  <a:srgbClr val="AEB6BF"/>
                </a:solidFill>
                <a:latin typeface="Consolas"/>
              </a:rPr>
              <a:t>[</a:t>
            </a:r>
            <a:r>
              <a:rPr sz="1300" i="0">
                <a:solidFill>
                  <a:srgbClr val="E8EDF2"/>
                </a:solidFill>
                <a:latin typeface="Consolas"/>
              </a:rPr>
              <a:t>i</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1</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a:latin typeface="Consolas"/>
              </a:rPr>
              <a:t> </a:t>
            </a:r>
          </a:p>
          <a:p>
            <a:pPr>
              <a:lnSpc>
                <a:spcPct val="100000"/>
              </a:lnSpc>
              <a:spcAft>
                <a:spcPts val="0"/>
              </a:spcAft>
            </a:pPr>
            <a:r>
              <a:rPr sz="1300">
                <a:latin typeface="Consolas"/>
              </a:rPr>
              <a:t> </a:t>
            </a:r>
          </a:p>
          <a:p>
            <a:pPr>
              <a:lnSpc>
                <a:spcPct val="100000"/>
              </a:lnSpc>
              <a:spcAft>
                <a:spcPts val="0"/>
              </a:spcAft>
            </a:pPr>
            <a:r>
              <a:rPr sz="1300" i="0">
                <a:solidFill>
                  <a:srgbClr val="5DADE2"/>
                </a:solidFill>
                <a:latin typeface="Consolas"/>
              </a:rPr>
              <a:t>def</a:t>
            </a:r>
            <a:r>
              <a:rPr sz="1300" i="0">
                <a:solidFill>
                  <a:srgbClr val="E8EDF2"/>
                </a:solidFill>
                <a:latin typeface="Consolas"/>
              </a:rPr>
              <a:t> </a:t>
            </a:r>
            <a:r>
              <a:rPr sz="1300" i="0">
                <a:solidFill>
                  <a:srgbClr val="C39BD3"/>
                </a:solidFill>
                <a:latin typeface="Consolas"/>
              </a:rPr>
              <a:t>random_state</a:t>
            </a:r>
            <a:r>
              <a:rPr sz="1300" i="0">
                <a:solidFill>
                  <a:srgbClr val="AEB6BF"/>
                </a:solidFill>
                <a:latin typeface="Consolas"/>
              </a:rPr>
              <a:t>(</a:t>
            </a:r>
            <a:r>
              <a:rPr sz="1300" i="0">
                <a:solidFill>
                  <a:srgbClr val="E8EDF2"/>
                </a:solidFill>
                <a:latin typeface="Consolas"/>
              </a:rPr>
              <a:t>rng</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return</a:t>
            </a:r>
            <a:r>
              <a:rPr sz="1300" i="0">
                <a:solidFill>
                  <a:srgbClr val="E8EDF2"/>
                </a:solidFill>
                <a:latin typeface="Consolas"/>
              </a:rPr>
              <a:t> </a:t>
            </a:r>
            <a:r>
              <a:rPr sz="1300" i="0">
                <a:solidFill>
                  <a:srgbClr val="C39BD3"/>
                </a:solidFill>
                <a:latin typeface="Consolas"/>
              </a:rPr>
              <a:t>tuple</a:t>
            </a:r>
            <a:r>
              <a:rPr sz="1300" i="0">
                <a:solidFill>
                  <a:srgbClr val="AEB6BF"/>
                </a:solidFill>
                <a:latin typeface="Consolas"/>
              </a:rPr>
              <a:t>(</a:t>
            </a:r>
            <a:r>
              <a:rPr sz="1300" i="0">
                <a:solidFill>
                  <a:srgbClr val="E8EDF2"/>
                </a:solidFill>
                <a:latin typeface="Consolas"/>
              </a:rPr>
              <a:t>rng</a:t>
            </a:r>
            <a:r>
              <a:rPr sz="1300" i="0">
                <a:solidFill>
                  <a:srgbClr val="AEB6BF"/>
                </a:solidFill>
                <a:latin typeface="Consolas"/>
              </a:rPr>
              <a:t>.</a:t>
            </a:r>
            <a:r>
              <a:rPr sz="1300" i="0">
                <a:solidFill>
                  <a:srgbClr val="E8EDF2"/>
                </a:solidFill>
                <a:latin typeface="Consolas"/>
              </a:rPr>
              <a:t>randrange</a:t>
            </a:r>
            <a:r>
              <a:rPr sz="1300" i="0">
                <a:solidFill>
                  <a:srgbClr val="AEB6BF"/>
                </a:solidFill>
                <a:latin typeface="Consolas"/>
              </a:rPr>
              <a:t>(</a:t>
            </a:r>
            <a:r>
              <a:rPr sz="1300" i="0">
                <a:solidFill>
                  <a:srgbClr val="E8EDF2"/>
                </a:solidFill>
                <a:latin typeface="Consolas"/>
              </a:rPr>
              <a:t>NS</a:t>
            </a:r>
            <a:r>
              <a:rPr sz="1300" i="0">
                <a:solidFill>
                  <a:srgbClr val="AEB6BF"/>
                </a:solidFill>
                <a:latin typeface="Consolas"/>
              </a:rPr>
              <a:t>)</a:t>
            </a:r>
            <a:r>
              <a:rPr sz="1300" i="0">
                <a:solidFill>
                  <a:srgbClr val="E8EDF2"/>
                </a:solidFill>
                <a:latin typeface="Consolas"/>
              </a:rPr>
              <a:t> </a:t>
            </a:r>
            <a:r>
              <a:rPr sz="1300" i="0">
                <a:solidFill>
                  <a:srgbClr val="5DADE2"/>
                </a:solidFill>
                <a:latin typeface="Consolas"/>
              </a:rPr>
              <a:t>for</a:t>
            </a:r>
            <a:r>
              <a:rPr sz="1300" i="0">
                <a:solidFill>
                  <a:srgbClr val="E8EDF2"/>
                </a:solidFill>
                <a:latin typeface="Consolas"/>
              </a:rPr>
              <a:t> </a:t>
            </a:r>
            <a:r>
              <a:rPr sz="1300" i="0">
                <a:solidFill>
                  <a:srgbClr val="E8EDF2"/>
                </a:solidFill>
                <a:latin typeface="Consolas"/>
              </a:rPr>
              <a:t>_</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E8EDF2"/>
                </a:solidFill>
                <a:latin typeface="Consolas"/>
              </a:rPr>
              <a:t>DEVS</a:t>
            </a:r>
            <a:r>
              <a:rPr sz="1300" i="0">
                <a:solidFill>
                  <a:srgbClr val="AEB6BF"/>
                </a:solidFill>
                <a:latin typeface="Consolas"/>
              </a:rPr>
              <a:t>)</a:t>
            </a:r>
          </a:p>
          <a:p>
            <a:pPr>
              <a:lnSpc>
                <a:spcPct val="100000"/>
              </a:lnSpc>
              <a:spcAft>
                <a:spcPts val="0"/>
              </a:spcAft>
            </a:pPr>
            <a:r>
              <a:rPr sz="1300">
                <a:latin typeface="Consolas"/>
              </a:rPr>
              <a:t> </a:t>
            </a:r>
          </a:p>
          <a:p>
            <a:pPr>
              <a:lnSpc>
                <a:spcPct val="100000"/>
              </a:lnSpc>
              <a:spcAft>
                <a:spcPts val="0"/>
              </a:spcAft>
            </a:pPr>
            <a:r>
              <a:rPr sz="1300">
                <a:latin typeface="Consolas"/>
              </a:rPr>
              <a:t> </a:t>
            </a:r>
          </a:p>
          <a:p>
            <a:pPr>
              <a:lnSpc>
                <a:spcPct val="100000"/>
              </a:lnSpc>
              <a:spcAft>
                <a:spcPts val="0"/>
              </a:spcAft>
            </a:pPr>
            <a:r>
              <a:rPr sz="1300" i="0">
                <a:solidFill>
                  <a:srgbClr val="5DADE2"/>
                </a:solidFill>
                <a:latin typeface="Consolas"/>
              </a:rPr>
              <a:t>def</a:t>
            </a:r>
            <a:r>
              <a:rPr sz="1300" i="0">
                <a:solidFill>
                  <a:srgbClr val="E8EDF2"/>
                </a:solidFill>
                <a:latin typeface="Consolas"/>
              </a:rPr>
              <a:t> </a:t>
            </a:r>
            <a:r>
              <a:rPr sz="1300" i="0">
                <a:solidFill>
                  <a:srgbClr val="C39BD3"/>
                </a:solidFill>
                <a:latin typeface="Consolas"/>
              </a:rPr>
              <a:t>one_neighbour</a:t>
            </a:r>
            <a:r>
              <a:rPr sz="1300" i="0">
                <a:solidFill>
                  <a:srgbClr val="AEB6BF"/>
                </a:solidFill>
                <a:latin typeface="Consolas"/>
              </a:rPr>
              <a:t>(</a:t>
            </a:r>
            <a:r>
              <a:rPr sz="1300" i="0">
                <a:solidFill>
                  <a:srgbClr val="E8EDF2"/>
                </a:solidFill>
                <a:latin typeface="Consolas"/>
              </a:rPr>
              <a:t>state</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rng</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i</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rng</a:t>
            </a:r>
            <a:r>
              <a:rPr sz="1300" i="0">
                <a:solidFill>
                  <a:srgbClr val="AEB6BF"/>
                </a:solidFill>
                <a:latin typeface="Consolas"/>
              </a:rPr>
              <a:t>.</a:t>
            </a:r>
            <a:r>
              <a:rPr sz="1300" i="0">
                <a:solidFill>
                  <a:srgbClr val="E8EDF2"/>
                </a:solidFill>
                <a:latin typeface="Consolas"/>
              </a:rPr>
              <a:t>randrange</a:t>
            </a:r>
            <a:r>
              <a:rPr sz="1300" i="0">
                <a:solidFill>
                  <a:srgbClr val="AEB6BF"/>
                </a:solidFill>
                <a:latin typeface="Consolas"/>
              </a:rPr>
              <a:t>(</a:t>
            </a:r>
            <a:r>
              <a:rPr sz="1300" i="0">
                <a:solidFill>
                  <a:srgbClr val="C39BD3"/>
                </a:solidFill>
                <a:latin typeface="Consolas"/>
              </a:rPr>
              <a:t>len</a:t>
            </a:r>
            <a:r>
              <a:rPr sz="1300" i="0">
                <a:solidFill>
                  <a:srgbClr val="AEB6BF"/>
                </a:solidFill>
                <a:latin typeface="Consolas"/>
              </a:rPr>
              <a:t>(</a:t>
            </a:r>
            <a:r>
              <a:rPr sz="1300" i="0">
                <a:solidFill>
                  <a:srgbClr val="E8EDF2"/>
                </a:solidFill>
                <a:latin typeface="Consolas"/>
              </a:rPr>
              <a:t>state</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s</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rng</a:t>
            </a:r>
            <a:r>
              <a:rPr sz="1300" i="0">
                <a:solidFill>
                  <a:srgbClr val="AEB6BF"/>
                </a:solidFill>
                <a:latin typeface="Consolas"/>
              </a:rPr>
              <a:t>.</a:t>
            </a:r>
            <a:r>
              <a:rPr sz="1300" i="0">
                <a:solidFill>
                  <a:srgbClr val="E8EDF2"/>
                </a:solidFill>
                <a:latin typeface="Consolas"/>
              </a:rPr>
              <a:t>randrange</a:t>
            </a:r>
            <a:r>
              <a:rPr sz="1300" i="0">
                <a:solidFill>
                  <a:srgbClr val="AEB6BF"/>
                </a:solidFill>
                <a:latin typeface="Consolas"/>
              </a:rPr>
              <a:t>(</a:t>
            </a:r>
            <a:r>
              <a:rPr sz="1300" i="0">
                <a:solidFill>
                  <a:srgbClr val="E8EDF2"/>
                </a:solidFill>
                <a:latin typeface="Consolas"/>
              </a:rPr>
              <a:t>NS</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while</a:t>
            </a:r>
            <a:r>
              <a:rPr sz="1300" i="0">
                <a:solidFill>
                  <a:srgbClr val="E8EDF2"/>
                </a:solidFill>
                <a:latin typeface="Consolas"/>
              </a:rPr>
              <a:t> </a:t>
            </a:r>
            <a:r>
              <a:rPr sz="1300" i="0">
                <a:solidFill>
                  <a:srgbClr val="E8EDF2"/>
                </a:solidFill>
                <a:latin typeface="Consolas"/>
              </a:rPr>
              <a:t>s</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state</a:t>
            </a:r>
            <a:r>
              <a:rPr sz="1300" i="0">
                <a:solidFill>
                  <a:srgbClr val="AEB6BF"/>
                </a:solidFill>
                <a:latin typeface="Consolas"/>
              </a:rPr>
              <a:t>[</a:t>
            </a:r>
            <a:r>
              <a:rPr sz="1300" i="0">
                <a:solidFill>
                  <a:srgbClr val="E8EDF2"/>
                </a:solidFill>
                <a:latin typeface="Consolas"/>
              </a:rPr>
              <a:t>i</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s</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rng</a:t>
            </a:r>
            <a:r>
              <a:rPr sz="1300" i="0">
                <a:solidFill>
                  <a:srgbClr val="AEB6BF"/>
                </a:solidFill>
                <a:latin typeface="Consolas"/>
              </a:rPr>
              <a:t>.</a:t>
            </a:r>
            <a:r>
              <a:rPr sz="1300" i="0">
                <a:solidFill>
                  <a:srgbClr val="E8EDF2"/>
                </a:solidFill>
                <a:latin typeface="Consolas"/>
              </a:rPr>
              <a:t>randrange</a:t>
            </a:r>
            <a:r>
              <a:rPr sz="1300" i="0">
                <a:solidFill>
                  <a:srgbClr val="AEB6BF"/>
                </a:solidFill>
                <a:latin typeface="Consolas"/>
              </a:rPr>
              <a:t>(</a:t>
            </a:r>
            <a:r>
              <a:rPr sz="1300" i="0">
                <a:solidFill>
                  <a:srgbClr val="E8EDF2"/>
                </a:solidFill>
                <a:latin typeface="Consolas"/>
              </a:rPr>
              <a:t>NS</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return</a:t>
            </a:r>
            <a:r>
              <a:rPr sz="1300" i="0">
                <a:solidFill>
                  <a:srgbClr val="E8EDF2"/>
                </a:solidFill>
                <a:latin typeface="Consolas"/>
              </a:rPr>
              <a:t> </a:t>
            </a:r>
            <a:r>
              <a:rPr sz="1300" i="0">
                <a:solidFill>
                  <a:srgbClr val="E8EDF2"/>
                </a:solidFill>
                <a:latin typeface="Consolas"/>
              </a:rPr>
              <a:t>state</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i</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s</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state</a:t>
            </a:r>
            <a:r>
              <a:rPr sz="1300" i="0">
                <a:solidFill>
                  <a:srgbClr val="AEB6BF"/>
                </a:solidFill>
                <a:latin typeface="Consolas"/>
              </a:rPr>
              <a:t>[</a:t>
            </a:r>
            <a:r>
              <a:rPr sz="1300" i="0">
                <a:solidFill>
                  <a:srgbClr val="E8EDF2"/>
                </a:solidFill>
                <a:latin typeface="Consolas"/>
              </a:rPr>
              <a:t>i</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1</a:t>
            </a:r>
            <a:r>
              <a:rPr sz="1300" i="0">
                <a:solidFill>
                  <a:srgbClr val="AEB6BF"/>
                </a:solidFill>
                <a:latin typeface="Consolas"/>
              </a:rPr>
              <a:t>:</a:t>
            </a:r>
            <a:r>
              <a:rPr sz="1300" i="0">
                <a:solidFill>
                  <a:srgbClr val="AEB6BF"/>
                </a:solidFill>
                <a:latin typeface="Consolas"/>
              </a:rPr>
              <a:t>]</a:t>
            </a:r>
          </a:p>
        </p:txBody>
      </p:sp>
      <p:sp>
        <p:nvSpPr>
          <p:cNvPr id="15" name="!!code-num"/>
          <p:cNvSpPr txBox="1"/>
          <p:nvPr/>
        </p:nvSpPr>
        <p:spPr>
          <a:xfrm>
            <a:off x="768096" y="2523744"/>
            <a:ext cx="393192" cy="3477767"/>
          </a:xfrm>
          <a:prstGeom prst="rect">
            <a:avLst/>
          </a:prstGeom>
          <a:noFill/>
        </p:spPr>
        <p:txBody>
          <a:bodyPr wrap="none" anchor="t" lIns="0" rIns="0" tIns="0" bIns="0">
            <a:noAutofit/>
          </a:bodyPr>
          <a:lstStyle/>
          <a:p>
            <a:pPr algn="r">
              <a:lnSpc>
                <a:spcPct val="100000"/>
              </a:lnSpc>
            </a:pPr>
            <a:r>
              <a:rPr sz="1300">
                <a:solidFill>
                  <a:srgbClr val="4F5D6A"/>
                </a:solidFill>
                <a:latin typeface="Consolas"/>
              </a:rPr>
              <a:t>58</a:t>
            </a:r>
          </a:p>
          <a:p>
            <a:pPr algn="r">
              <a:lnSpc>
                <a:spcPct val="100000"/>
              </a:lnSpc>
            </a:pPr>
            <a:r>
              <a:rPr sz="1300">
                <a:solidFill>
                  <a:srgbClr val="4F5D6A"/>
                </a:solidFill>
                <a:latin typeface="Consolas"/>
              </a:rPr>
              <a:t>59</a:t>
            </a:r>
          </a:p>
          <a:p>
            <a:pPr algn="r">
              <a:lnSpc>
                <a:spcPct val="100000"/>
              </a:lnSpc>
            </a:pPr>
            <a:r>
              <a:rPr sz="1300">
                <a:solidFill>
                  <a:srgbClr val="4F5D6A"/>
                </a:solidFill>
                <a:latin typeface="Consolas"/>
              </a:rPr>
              <a:t>60</a:t>
            </a:r>
          </a:p>
          <a:p>
            <a:pPr algn="r">
              <a:lnSpc>
                <a:spcPct val="100000"/>
              </a:lnSpc>
            </a:pPr>
            <a:r>
              <a:rPr sz="1300">
                <a:solidFill>
                  <a:srgbClr val="4F5D6A"/>
                </a:solidFill>
                <a:latin typeface="Consolas"/>
              </a:rPr>
              <a:t>61</a:t>
            </a:r>
          </a:p>
          <a:p>
            <a:pPr algn="r">
              <a:lnSpc>
                <a:spcPct val="100000"/>
              </a:lnSpc>
            </a:pPr>
            <a:r>
              <a:rPr sz="1300">
                <a:solidFill>
                  <a:srgbClr val="4F5D6A"/>
                </a:solidFill>
                <a:latin typeface="Consolas"/>
              </a:rPr>
              <a:t>62</a:t>
            </a:r>
          </a:p>
          <a:p>
            <a:pPr algn="r">
              <a:lnSpc>
                <a:spcPct val="100000"/>
              </a:lnSpc>
            </a:pPr>
            <a:r>
              <a:rPr sz="1300">
                <a:solidFill>
                  <a:srgbClr val="4F5D6A"/>
                </a:solidFill>
                <a:latin typeface="Consolas"/>
              </a:rPr>
              <a:t>63</a:t>
            </a:r>
          </a:p>
          <a:p>
            <a:pPr algn="r">
              <a:lnSpc>
                <a:spcPct val="100000"/>
              </a:lnSpc>
            </a:pPr>
            <a:r>
              <a:rPr sz="1300">
                <a:solidFill>
                  <a:srgbClr val="4F5D6A"/>
                </a:solidFill>
                <a:latin typeface="Consolas"/>
              </a:rPr>
              <a:t>64</a:t>
            </a:r>
          </a:p>
          <a:p>
            <a:pPr algn="r">
              <a:lnSpc>
                <a:spcPct val="100000"/>
              </a:lnSpc>
            </a:pPr>
            <a:r>
              <a:rPr sz="1300">
                <a:solidFill>
                  <a:srgbClr val="4F5D6A"/>
                </a:solidFill>
                <a:latin typeface="Consolas"/>
              </a:rPr>
              <a:t>65</a:t>
            </a:r>
          </a:p>
          <a:p>
            <a:pPr algn="r">
              <a:lnSpc>
                <a:spcPct val="100000"/>
              </a:lnSpc>
            </a:pPr>
            <a:r>
              <a:rPr sz="1300">
                <a:solidFill>
                  <a:srgbClr val="4F5D6A"/>
                </a:solidFill>
                <a:latin typeface="Consolas"/>
              </a:rPr>
              <a:t>66</a:t>
            </a:r>
          </a:p>
          <a:p>
            <a:pPr algn="r">
              <a:lnSpc>
                <a:spcPct val="100000"/>
              </a:lnSpc>
            </a:pPr>
            <a:r>
              <a:rPr sz="1300">
                <a:solidFill>
                  <a:srgbClr val="4F5D6A"/>
                </a:solidFill>
                <a:latin typeface="Consolas"/>
              </a:rPr>
              <a:t>67</a:t>
            </a:r>
          </a:p>
          <a:p>
            <a:pPr algn="r">
              <a:lnSpc>
                <a:spcPct val="100000"/>
              </a:lnSpc>
            </a:pPr>
            <a:r>
              <a:rPr sz="1300">
                <a:solidFill>
                  <a:srgbClr val="4F5D6A"/>
                </a:solidFill>
                <a:latin typeface="Consolas"/>
              </a:rPr>
              <a:t>68</a:t>
            </a:r>
          </a:p>
          <a:p>
            <a:pPr algn="r">
              <a:lnSpc>
                <a:spcPct val="100000"/>
              </a:lnSpc>
            </a:pPr>
            <a:r>
              <a:rPr sz="1300">
                <a:solidFill>
                  <a:srgbClr val="4F5D6A"/>
                </a:solidFill>
                <a:latin typeface="Consolas"/>
              </a:rPr>
              <a:t>69</a:t>
            </a:r>
          </a:p>
          <a:p>
            <a:pPr algn="r">
              <a:lnSpc>
                <a:spcPct val="100000"/>
              </a:lnSpc>
            </a:pPr>
            <a:r>
              <a:rPr sz="1300">
                <a:solidFill>
                  <a:srgbClr val="4F5D6A"/>
                </a:solidFill>
                <a:latin typeface="Consolas"/>
              </a:rPr>
              <a:t>70</a:t>
            </a:r>
          </a:p>
          <a:p>
            <a:pPr algn="r">
              <a:lnSpc>
                <a:spcPct val="100000"/>
              </a:lnSpc>
            </a:pPr>
            <a:r>
              <a:rPr sz="1300">
                <a:solidFill>
                  <a:srgbClr val="4F5D6A"/>
                </a:solidFill>
                <a:latin typeface="Consolas"/>
              </a:rPr>
              <a:t>71</a:t>
            </a:r>
          </a:p>
          <a:p>
            <a:pPr algn="r">
              <a:lnSpc>
                <a:spcPct val="100000"/>
              </a:lnSpc>
            </a:pPr>
            <a:r>
              <a:rPr sz="1300">
                <a:solidFill>
                  <a:srgbClr val="4F5D6A"/>
                </a:solidFill>
                <a:latin typeface="Consolas"/>
              </a:rPr>
              <a:t>72</a:t>
            </a:r>
          </a:p>
          <a:p>
            <a:pPr algn="r">
              <a:lnSpc>
                <a:spcPct val="100000"/>
              </a:lnSpc>
            </a:pPr>
            <a:r>
              <a:rPr sz="1300">
                <a:solidFill>
                  <a:srgbClr val="4F5D6A"/>
                </a:solidFill>
                <a:latin typeface="Consolas"/>
              </a:rPr>
              <a:t>73</a:t>
            </a:r>
          </a:p>
          <a:p>
            <a:pPr algn="r">
              <a:lnSpc>
                <a:spcPct val="100000"/>
              </a:lnSpc>
            </a:pPr>
            <a:r>
              <a:rPr sz="1300">
                <a:solidFill>
                  <a:srgbClr val="4F5D6A"/>
                </a:solidFill>
                <a:latin typeface="Consolas"/>
              </a:rPr>
              <a:t>74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09584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Staffing by Annealing and by Evolution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6 OF 17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6  ·  Local Search and Optimisation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§6.6.1  ·  Handout p. 59     </a:t>
            </a:r>
            <a:fld id="{F2779A83-B802-4231-8FF3-1037EFE70C49}" type="slidenum">
              <a:rPr lang="en-GB" sz="1000">
                <a:solidFill>
                  <a:srgbClr val="8795A1"/>
                </a:solidFill>
                <a:latin typeface="Segoe UI"/>
              </a:rPr>
              <a:t>28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Steepest-ascent hill climbing</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17264"/>
          </a:xfrm>
          <a:prstGeom prst="roundRect">
            <a:avLst>
              <a:gd name="adj" fmla="val 22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code/ch06_staffing_annealing.py</a:t>
            </a:r>
          </a:p>
        </p:txBody>
      </p:sp>
      <p:sp>
        <p:nvSpPr>
          <p:cNvPr id="14" name="!!code-text" descr="# --- 1. steepest-ascent hill climbing ------------------------------ def hill_climb(b, rng, start=None): st = start if start is not None else random_state(rng) while b.left(): cur = b.score(st) best, bestv = None, cur for n in neighbours(st): if not b.left(): break v = b.score(n) if v &gt; bestv: best, bestv = n, v if best is None: return st, cur # no better neighbour: stuck st = best return st, raw_score(st)"/>
          <p:cNvSpPr txBox="1"/>
          <p:nvPr/>
        </p:nvSpPr>
        <p:spPr>
          <a:xfrm>
            <a:off x="1362456" y="2523744"/>
            <a:ext cx="9987991" cy="3523487"/>
          </a:xfrm>
          <a:prstGeom prst="rect">
            <a:avLst/>
          </a:prstGeom>
          <a:noFill/>
        </p:spPr>
        <p:txBody>
          <a:bodyPr wrap="none" anchor="t" lIns="0" rIns="0" tIns="0" bIns="0">
            <a:noAutofit/>
          </a:bodyPr>
          <a:lstStyle/>
          <a:p>
            <a:pPr>
              <a:lnSpc>
                <a:spcPct val="100000"/>
              </a:lnSpc>
              <a:spcAft>
                <a:spcPts val="0"/>
              </a:spcAft>
            </a:pPr>
            <a:r>
              <a:rPr sz="1400" i="1">
                <a:solidFill>
                  <a:srgbClr val="8795A1"/>
                </a:solidFill>
                <a:latin typeface="Consolas"/>
              </a:rPr>
              <a:t># --- 1. steepest-ascent hill climbing ------------------------------</a:t>
            </a:r>
          </a:p>
          <a:p>
            <a:pPr>
              <a:lnSpc>
                <a:spcPct val="100000"/>
              </a:lnSpc>
              <a:spcAft>
                <a:spcPts val="0"/>
              </a:spcAft>
            </a:pPr>
            <a:r>
              <a:rPr sz="1400" i="0">
                <a:solidFill>
                  <a:srgbClr val="5DADE2"/>
                </a:solidFill>
                <a:latin typeface="Consolas"/>
              </a:rPr>
              <a:t>def</a:t>
            </a:r>
            <a:r>
              <a:rPr sz="1400" i="0">
                <a:solidFill>
                  <a:srgbClr val="E8EDF2"/>
                </a:solidFill>
                <a:latin typeface="Consolas"/>
              </a:rPr>
              <a:t> </a:t>
            </a:r>
            <a:r>
              <a:rPr sz="1400" i="0">
                <a:solidFill>
                  <a:srgbClr val="C39BD3"/>
                </a:solidFill>
                <a:latin typeface="Consolas"/>
              </a:rPr>
              <a:t>hill_climb</a:t>
            </a:r>
            <a:r>
              <a:rPr sz="1400" i="0">
                <a:solidFill>
                  <a:srgbClr val="AEB6BF"/>
                </a:solidFill>
                <a:latin typeface="Consolas"/>
              </a:rPr>
              <a:t>(</a:t>
            </a:r>
            <a:r>
              <a:rPr sz="1400" i="0">
                <a:solidFill>
                  <a:srgbClr val="E8EDF2"/>
                </a:solidFill>
                <a:latin typeface="Consolas"/>
              </a:rPr>
              <a:t>b</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rng</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start</a:t>
            </a:r>
            <a:r>
              <a:rPr sz="1400" i="0">
                <a:solidFill>
                  <a:srgbClr val="AEB6BF"/>
                </a:solidFill>
                <a:latin typeface="Consolas"/>
              </a:rPr>
              <a:t>=</a:t>
            </a:r>
            <a:r>
              <a:rPr sz="1400" i="0">
                <a:solidFill>
                  <a:srgbClr val="5DADE2"/>
                </a:solidFill>
                <a:latin typeface="Consolas"/>
              </a:rPr>
              <a:t>None</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st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start</a:t>
            </a:r>
            <a:r>
              <a:rPr sz="1400" i="0">
                <a:solidFill>
                  <a:srgbClr val="E8EDF2"/>
                </a:solidFill>
                <a:latin typeface="Consolas"/>
              </a:rPr>
              <a:t> </a:t>
            </a:r>
            <a:r>
              <a:rPr sz="1400" i="0">
                <a:solidFill>
                  <a:srgbClr val="5DADE2"/>
                </a:solidFill>
                <a:latin typeface="Consolas"/>
              </a:rPr>
              <a:t>if</a:t>
            </a:r>
            <a:r>
              <a:rPr sz="1400" i="0">
                <a:solidFill>
                  <a:srgbClr val="E8EDF2"/>
                </a:solidFill>
                <a:latin typeface="Consolas"/>
              </a:rPr>
              <a:t> </a:t>
            </a:r>
            <a:r>
              <a:rPr sz="1400" i="0">
                <a:solidFill>
                  <a:srgbClr val="E8EDF2"/>
                </a:solidFill>
                <a:latin typeface="Consolas"/>
              </a:rPr>
              <a:t>start</a:t>
            </a:r>
            <a:r>
              <a:rPr sz="1400" i="0">
                <a:solidFill>
                  <a:srgbClr val="E8EDF2"/>
                </a:solidFill>
                <a:latin typeface="Consolas"/>
              </a:rPr>
              <a:t> </a:t>
            </a:r>
            <a:r>
              <a:rPr sz="1400" i="0">
                <a:solidFill>
                  <a:srgbClr val="AEB6BF"/>
                </a:solidFill>
                <a:latin typeface="Consolas"/>
              </a:rPr>
              <a:t>is</a:t>
            </a:r>
            <a:r>
              <a:rPr sz="1400" i="0">
                <a:solidFill>
                  <a:srgbClr val="E8EDF2"/>
                </a:solidFill>
                <a:latin typeface="Consolas"/>
              </a:rPr>
              <a:t> </a:t>
            </a:r>
            <a:r>
              <a:rPr sz="1400" i="0">
                <a:solidFill>
                  <a:srgbClr val="AEB6BF"/>
                </a:solidFill>
                <a:latin typeface="Consolas"/>
              </a:rPr>
              <a:t>not</a:t>
            </a:r>
            <a:r>
              <a:rPr sz="1400" i="0">
                <a:solidFill>
                  <a:srgbClr val="E8EDF2"/>
                </a:solidFill>
                <a:latin typeface="Consolas"/>
              </a:rPr>
              <a:t> </a:t>
            </a:r>
            <a:r>
              <a:rPr sz="1400" i="0">
                <a:solidFill>
                  <a:srgbClr val="5DADE2"/>
                </a:solidFill>
                <a:latin typeface="Consolas"/>
              </a:rPr>
              <a:t>None</a:t>
            </a:r>
            <a:r>
              <a:rPr sz="1400" i="0">
                <a:solidFill>
                  <a:srgbClr val="E8EDF2"/>
                </a:solidFill>
                <a:latin typeface="Consolas"/>
              </a:rPr>
              <a:t> </a:t>
            </a:r>
            <a:r>
              <a:rPr sz="1400" i="0">
                <a:solidFill>
                  <a:srgbClr val="5DADE2"/>
                </a:solidFill>
                <a:latin typeface="Consolas"/>
              </a:rPr>
              <a:t>else</a:t>
            </a:r>
            <a:r>
              <a:rPr sz="1400" i="0">
                <a:solidFill>
                  <a:srgbClr val="E8EDF2"/>
                </a:solidFill>
                <a:latin typeface="Consolas"/>
              </a:rPr>
              <a:t> </a:t>
            </a:r>
            <a:r>
              <a:rPr sz="1400" i="0">
                <a:solidFill>
                  <a:srgbClr val="E8EDF2"/>
                </a:solidFill>
                <a:latin typeface="Consolas"/>
              </a:rPr>
              <a:t>random_state</a:t>
            </a:r>
            <a:r>
              <a:rPr sz="1400" i="0">
                <a:solidFill>
                  <a:srgbClr val="AEB6BF"/>
                </a:solidFill>
                <a:latin typeface="Consolas"/>
              </a:rPr>
              <a:t>(</a:t>
            </a:r>
            <a:r>
              <a:rPr sz="1400" i="0">
                <a:solidFill>
                  <a:srgbClr val="E8EDF2"/>
                </a:solidFill>
                <a:latin typeface="Consolas"/>
              </a:rPr>
              <a:t>rng</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while</a:t>
            </a:r>
            <a:r>
              <a:rPr sz="1400" i="0">
                <a:solidFill>
                  <a:srgbClr val="E8EDF2"/>
                </a:solidFill>
                <a:latin typeface="Consolas"/>
              </a:rPr>
              <a:t> </a:t>
            </a:r>
            <a:r>
              <a:rPr sz="1400" i="0">
                <a:solidFill>
                  <a:srgbClr val="E8EDF2"/>
                </a:solidFill>
                <a:latin typeface="Consolas"/>
              </a:rPr>
              <a:t>b</a:t>
            </a:r>
            <a:r>
              <a:rPr sz="1400" i="0">
                <a:solidFill>
                  <a:srgbClr val="AEB6BF"/>
                </a:solidFill>
                <a:latin typeface="Consolas"/>
              </a:rPr>
              <a:t>.</a:t>
            </a:r>
            <a:r>
              <a:rPr sz="1400" i="0">
                <a:solidFill>
                  <a:srgbClr val="E8EDF2"/>
                </a:solidFill>
                <a:latin typeface="Consolas"/>
              </a:rPr>
              <a:t>left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cur</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b</a:t>
            </a:r>
            <a:r>
              <a:rPr sz="1400" i="0">
                <a:solidFill>
                  <a:srgbClr val="AEB6BF"/>
                </a:solidFill>
                <a:latin typeface="Consolas"/>
              </a:rPr>
              <a:t>.</a:t>
            </a:r>
            <a:r>
              <a:rPr sz="1400" i="0">
                <a:solidFill>
                  <a:srgbClr val="E8EDF2"/>
                </a:solidFill>
                <a:latin typeface="Consolas"/>
              </a:rPr>
              <a:t>score</a:t>
            </a:r>
            <a:r>
              <a:rPr sz="1400" i="0">
                <a:solidFill>
                  <a:srgbClr val="AEB6BF"/>
                </a:solidFill>
                <a:latin typeface="Consolas"/>
              </a:rPr>
              <a:t>(</a:t>
            </a:r>
            <a:r>
              <a:rPr sz="1400" i="0">
                <a:solidFill>
                  <a:srgbClr val="E8EDF2"/>
                </a:solidFill>
                <a:latin typeface="Consolas"/>
              </a:rPr>
              <a:t>st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best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bestv</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5DADE2"/>
                </a:solidFill>
                <a:latin typeface="Consolas"/>
              </a:rPr>
              <a:t>None</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cur</a:t>
            </a:r>
          </a:p>
          <a:p>
            <a:pPr>
              <a:lnSpc>
                <a:spcPct val="100000"/>
              </a:lnSpc>
              <a:spcAft>
                <a:spcPts val="0"/>
              </a:spcAft>
            </a:pPr>
            <a:r>
              <a:rPr sz="1400" i="0">
                <a:solidFill>
                  <a:srgbClr val="E8EDF2"/>
                </a:solidFill>
                <a:latin typeface="Consolas"/>
              </a:rPr>
              <a:t>        </a:t>
            </a:r>
            <a:r>
              <a:rPr sz="1400" i="0">
                <a:solidFill>
                  <a:srgbClr val="5DADE2"/>
                </a:solidFill>
                <a:latin typeface="Consolas"/>
              </a:rPr>
              <a:t>for</a:t>
            </a:r>
            <a:r>
              <a:rPr sz="1400" i="0">
                <a:solidFill>
                  <a:srgbClr val="E8EDF2"/>
                </a:solidFill>
                <a:latin typeface="Consolas"/>
              </a:rPr>
              <a:t> </a:t>
            </a:r>
            <a:r>
              <a:rPr sz="1400" i="0">
                <a:solidFill>
                  <a:srgbClr val="E8EDF2"/>
                </a:solidFill>
                <a:latin typeface="Consolas"/>
              </a:rPr>
              <a:t>n</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E8EDF2"/>
                </a:solidFill>
                <a:latin typeface="Consolas"/>
              </a:rPr>
              <a:t>neighbours</a:t>
            </a:r>
            <a:r>
              <a:rPr sz="1400" i="0">
                <a:solidFill>
                  <a:srgbClr val="AEB6BF"/>
                </a:solidFill>
                <a:latin typeface="Consolas"/>
              </a:rPr>
              <a:t>(</a:t>
            </a:r>
            <a:r>
              <a:rPr sz="1400" i="0">
                <a:solidFill>
                  <a:srgbClr val="E8EDF2"/>
                </a:solidFill>
                <a:latin typeface="Consolas"/>
              </a:rPr>
              <a:t>st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if</a:t>
            </a:r>
            <a:r>
              <a:rPr sz="1400" i="0">
                <a:solidFill>
                  <a:srgbClr val="E8EDF2"/>
                </a:solidFill>
                <a:latin typeface="Consolas"/>
              </a:rPr>
              <a:t> </a:t>
            </a:r>
            <a:r>
              <a:rPr sz="1400" i="0">
                <a:solidFill>
                  <a:srgbClr val="AEB6BF"/>
                </a:solidFill>
                <a:latin typeface="Consolas"/>
              </a:rPr>
              <a:t>not</a:t>
            </a:r>
            <a:r>
              <a:rPr sz="1400" i="0">
                <a:solidFill>
                  <a:srgbClr val="E8EDF2"/>
                </a:solidFill>
                <a:latin typeface="Consolas"/>
              </a:rPr>
              <a:t> </a:t>
            </a:r>
            <a:r>
              <a:rPr sz="1400" i="0">
                <a:solidFill>
                  <a:srgbClr val="E8EDF2"/>
                </a:solidFill>
                <a:latin typeface="Consolas"/>
              </a:rPr>
              <a:t>b</a:t>
            </a:r>
            <a:r>
              <a:rPr sz="1400" i="0">
                <a:solidFill>
                  <a:srgbClr val="AEB6BF"/>
                </a:solidFill>
                <a:latin typeface="Consolas"/>
              </a:rPr>
              <a:t>.</a:t>
            </a:r>
            <a:r>
              <a:rPr sz="1400" i="0">
                <a:solidFill>
                  <a:srgbClr val="E8EDF2"/>
                </a:solidFill>
                <a:latin typeface="Consolas"/>
              </a:rPr>
              <a:t>left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break</a:t>
            </a:r>
          </a:p>
          <a:p>
            <a:pPr>
              <a:lnSpc>
                <a:spcPct val="100000"/>
              </a:lnSpc>
              <a:spcAft>
                <a:spcPts val="0"/>
              </a:spcAft>
            </a:pPr>
            <a:r>
              <a:rPr sz="1400" i="0">
                <a:solidFill>
                  <a:srgbClr val="E8EDF2"/>
                </a:solidFill>
                <a:latin typeface="Consolas"/>
              </a:rPr>
              <a:t>            </a:t>
            </a:r>
            <a:r>
              <a:rPr sz="1400" i="0">
                <a:solidFill>
                  <a:srgbClr val="E8EDF2"/>
                </a:solidFill>
                <a:latin typeface="Consolas"/>
              </a:rPr>
              <a:t>v</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b</a:t>
            </a:r>
            <a:r>
              <a:rPr sz="1400" i="0">
                <a:solidFill>
                  <a:srgbClr val="AEB6BF"/>
                </a:solidFill>
                <a:latin typeface="Consolas"/>
              </a:rPr>
              <a:t>.</a:t>
            </a:r>
            <a:r>
              <a:rPr sz="1400" i="0">
                <a:solidFill>
                  <a:srgbClr val="E8EDF2"/>
                </a:solidFill>
                <a:latin typeface="Consolas"/>
              </a:rPr>
              <a:t>score</a:t>
            </a:r>
            <a:r>
              <a:rPr sz="1400" i="0">
                <a:solidFill>
                  <a:srgbClr val="AEB6BF"/>
                </a:solidFill>
                <a:latin typeface="Consolas"/>
              </a:rPr>
              <a:t>(</a:t>
            </a:r>
            <a:r>
              <a:rPr sz="1400" i="0">
                <a:solidFill>
                  <a:srgbClr val="E8EDF2"/>
                </a:solidFill>
                <a:latin typeface="Consolas"/>
              </a:rPr>
              <a:t>n</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if</a:t>
            </a:r>
            <a:r>
              <a:rPr sz="1400" i="0">
                <a:solidFill>
                  <a:srgbClr val="E8EDF2"/>
                </a:solidFill>
                <a:latin typeface="Consolas"/>
              </a:rPr>
              <a:t> </a:t>
            </a:r>
            <a:r>
              <a:rPr sz="1400" i="0">
                <a:solidFill>
                  <a:srgbClr val="E8EDF2"/>
                </a:solidFill>
                <a:latin typeface="Consolas"/>
              </a:rPr>
              <a:t>v</a:t>
            </a:r>
            <a:r>
              <a:rPr sz="1400" i="0">
                <a:solidFill>
                  <a:srgbClr val="E8EDF2"/>
                </a:solidFill>
                <a:latin typeface="Consolas"/>
              </a:rPr>
              <a:t> </a:t>
            </a:r>
            <a:r>
              <a:rPr sz="1400" i="0">
                <a:solidFill>
                  <a:srgbClr val="AEB6BF"/>
                </a:solidFill>
                <a:latin typeface="Consolas"/>
              </a:rPr>
              <a:t>&gt;</a:t>
            </a:r>
            <a:r>
              <a:rPr sz="1400" i="0">
                <a:solidFill>
                  <a:srgbClr val="E8EDF2"/>
                </a:solidFill>
                <a:latin typeface="Consolas"/>
              </a:rPr>
              <a:t> </a:t>
            </a:r>
            <a:r>
              <a:rPr sz="1400" i="0">
                <a:solidFill>
                  <a:srgbClr val="E8EDF2"/>
                </a:solidFill>
                <a:latin typeface="Consolas"/>
              </a:rPr>
              <a:t>bestv</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best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bestv</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n</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v</a:t>
            </a:r>
          </a:p>
          <a:p>
            <a:pPr>
              <a:lnSpc>
                <a:spcPct val="100000"/>
              </a:lnSpc>
              <a:spcAft>
                <a:spcPts val="0"/>
              </a:spcAft>
            </a:pPr>
            <a:r>
              <a:rPr sz="1400" i="0">
                <a:solidFill>
                  <a:srgbClr val="E8EDF2"/>
                </a:solidFill>
                <a:latin typeface="Consolas"/>
              </a:rPr>
              <a:t>        </a:t>
            </a:r>
            <a:r>
              <a:rPr sz="1400" i="0">
                <a:solidFill>
                  <a:srgbClr val="5DADE2"/>
                </a:solidFill>
                <a:latin typeface="Consolas"/>
              </a:rPr>
              <a:t>if</a:t>
            </a:r>
            <a:r>
              <a:rPr sz="1400" i="0">
                <a:solidFill>
                  <a:srgbClr val="E8EDF2"/>
                </a:solidFill>
                <a:latin typeface="Consolas"/>
              </a:rPr>
              <a:t> </a:t>
            </a:r>
            <a:r>
              <a:rPr sz="1400" i="0">
                <a:solidFill>
                  <a:srgbClr val="E8EDF2"/>
                </a:solidFill>
                <a:latin typeface="Consolas"/>
              </a:rPr>
              <a:t>best</a:t>
            </a:r>
            <a:r>
              <a:rPr sz="1400" i="0">
                <a:solidFill>
                  <a:srgbClr val="E8EDF2"/>
                </a:solidFill>
                <a:latin typeface="Consolas"/>
              </a:rPr>
              <a:t> </a:t>
            </a:r>
            <a:r>
              <a:rPr sz="1400" i="0">
                <a:solidFill>
                  <a:srgbClr val="AEB6BF"/>
                </a:solidFill>
                <a:latin typeface="Consolas"/>
              </a:rPr>
              <a:t>is</a:t>
            </a:r>
            <a:r>
              <a:rPr sz="1400" i="0">
                <a:solidFill>
                  <a:srgbClr val="E8EDF2"/>
                </a:solidFill>
                <a:latin typeface="Consolas"/>
              </a:rPr>
              <a:t> </a:t>
            </a:r>
            <a:r>
              <a:rPr sz="1400" i="0">
                <a:solidFill>
                  <a:srgbClr val="5DADE2"/>
                </a:solidFill>
                <a:latin typeface="Consolas"/>
              </a:rPr>
              <a:t>None</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return</a:t>
            </a:r>
            <a:r>
              <a:rPr sz="1400" i="0">
                <a:solidFill>
                  <a:srgbClr val="E8EDF2"/>
                </a:solidFill>
                <a:latin typeface="Consolas"/>
              </a:rPr>
              <a:t> </a:t>
            </a:r>
            <a:r>
              <a:rPr sz="1400" i="0">
                <a:solidFill>
                  <a:srgbClr val="E8EDF2"/>
                </a:solidFill>
                <a:latin typeface="Consolas"/>
              </a:rPr>
              <a:t>st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cur</a:t>
            </a:r>
            <a:r>
              <a:rPr sz="1400" i="0">
                <a:solidFill>
                  <a:srgbClr val="E8EDF2"/>
                </a:solidFill>
                <a:latin typeface="Consolas"/>
              </a:rPr>
              <a:t>          </a:t>
            </a:r>
            <a:r>
              <a:rPr sz="1400" i="1">
                <a:solidFill>
                  <a:srgbClr val="8795A1"/>
                </a:solidFill>
                <a:latin typeface="Consolas"/>
              </a:rPr>
              <a:t># no better neighbour: stuck</a:t>
            </a:r>
          </a:p>
          <a:p>
            <a:pPr>
              <a:lnSpc>
                <a:spcPct val="100000"/>
              </a:lnSpc>
              <a:spcAft>
                <a:spcPts val="0"/>
              </a:spcAft>
            </a:pPr>
            <a:r>
              <a:rPr sz="1400" i="0">
                <a:solidFill>
                  <a:srgbClr val="E8EDF2"/>
                </a:solidFill>
                <a:latin typeface="Consolas"/>
              </a:rPr>
              <a:t>        </a:t>
            </a:r>
            <a:r>
              <a:rPr sz="1400" i="0">
                <a:solidFill>
                  <a:srgbClr val="E8EDF2"/>
                </a:solidFill>
                <a:latin typeface="Consolas"/>
              </a:rPr>
              <a:t>st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best</a:t>
            </a:r>
          </a:p>
          <a:p>
            <a:pPr>
              <a:lnSpc>
                <a:spcPct val="100000"/>
              </a:lnSpc>
              <a:spcAft>
                <a:spcPts val="0"/>
              </a:spcAft>
            </a:pPr>
            <a:r>
              <a:rPr sz="1400" i="0">
                <a:solidFill>
                  <a:srgbClr val="E8EDF2"/>
                </a:solidFill>
                <a:latin typeface="Consolas"/>
              </a:rPr>
              <a:t>    </a:t>
            </a:r>
            <a:r>
              <a:rPr sz="1400" i="0">
                <a:solidFill>
                  <a:srgbClr val="5DADE2"/>
                </a:solidFill>
                <a:latin typeface="Consolas"/>
              </a:rPr>
              <a:t>return</a:t>
            </a:r>
            <a:r>
              <a:rPr sz="1400" i="0">
                <a:solidFill>
                  <a:srgbClr val="E8EDF2"/>
                </a:solidFill>
                <a:latin typeface="Consolas"/>
              </a:rPr>
              <a:t> </a:t>
            </a:r>
            <a:r>
              <a:rPr sz="1400" i="0">
                <a:solidFill>
                  <a:srgbClr val="E8EDF2"/>
                </a:solidFill>
                <a:latin typeface="Consolas"/>
              </a:rPr>
              <a:t>st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raw_score</a:t>
            </a:r>
            <a:r>
              <a:rPr sz="1400" i="0">
                <a:solidFill>
                  <a:srgbClr val="AEB6BF"/>
                </a:solidFill>
                <a:latin typeface="Consolas"/>
              </a:rPr>
              <a:t>(</a:t>
            </a:r>
            <a:r>
              <a:rPr sz="1400" i="0">
                <a:solidFill>
                  <a:srgbClr val="E8EDF2"/>
                </a:solidFill>
                <a:latin typeface="Consolas"/>
              </a:rPr>
              <a:t>st</a:t>
            </a:r>
            <a:r>
              <a:rPr sz="1400" i="0">
                <a:solidFill>
                  <a:srgbClr val="AEB6BF"/>
                </a:solidFill>
                <a:latin typeface="Consolas"/>
              </a:rPr>
              <a:t>)</a:t>
            </a:r>
          </a:p>
        </p:txBody>
      </p:sp>
      <p:sp>
        <p:nvSpPr>
          <p:cNvPr id="15" name="!!code-num"/>
          <p:cNvSpPr txBox="1"/>
          <p:nvPr/>
        </p:nvSpPr>
        <p:spPr>
          <a:xfrm>
            <a:off x="768096" y="2523744"/>
            <a:ext cx="393192" cy="3523487"/>
          </a:xfrm>
          <a:prstGeom prst="rect">
            <a:avLst/>
          </a:prstGeom>
          <a:noFill/>
        </p:spPr>
        <p:txBody>
          <a:bodyPr wrap="none" anchor="t" lIns="0" rIns="0" tIns="0" bIns="0">
            <a:noAutofit/>
          </a:bodyPr>
          <a:lstStyle/>
          <a:p>
            <a:pPr algn="r">
              <a:lnSpc>
                <a:spcPct val="100000"/>
              </a:lnSpc>
            </a:pPr>
            <a:r>
              <a:rPr sz="1400">
                <a:solidFill>
                  <a:srgbClr val="4F5D6A"/>
                </a:solidFill>
                <a:latin typeface="Consolas"/>
              </a:rPr>
              <a:t>77</a:t>
            </a:r>
          </a:p>
          <a:p>
            <a:pPr algn="r">
              <a:lnSpc>
                <a:spcPct val="100000"/>
              </a:lnSpc>
            </a:pPr>
            <a:r>
              <a:rPr sz="1400">
                <a:solidFill>
                  <a:srgbClr val="4F5D6A"/>
                </a:solidFill>
                <a:latin typeface="Consolas"/>
              </a:rPr>
              <a:t>78</a:t>
            </a:r>
          </a:p>
          <a:p>
            <a:pPr algn="r">
              <a:lnSpc>
                <a:spcPct val="100000"/>
              </a:lnSpc>
            </a:pPr>
            <a:r>
              <a:rPr sz="1400">
                <a:solidFill>
                  <a:srgbClr val="4F5D6A"/>
                </a:solidFill>
                <a:latin typeface="Consolas"/>
              </a:rPr>
              <a:t>79</a:t>
            </a:r>
          </a:p>
          <a:p>
            <a:pPr algn="r">
              <a:lnSpc>
                <a:spcPct val="100000"/>
              </a:lnSpc>
            </a:pPr>
            <a:r>
              <a:rPr sz="1400">
                <a:solidFill>
                  <a:srgbClr val="4F5D6A"/>
                </a:solidFill>
                <a:latin typeface="Consolas"/>
              </a:rPr>
              <a:t>80</a:t>
            </a:r>
          </a:p>
          <a:p>
            <a:pPr algn="r">
              <a:lnSpc>
                <a:spcPct val="100000"/>
              </a:lnSpc>
            </a:pPr>
            <a:r>
              <a:rPr sz="1400">
                <a:solidFill>
                  <a:srgbClr val="4F5D6A"/>
                </a:solidFill>
                <a:latin typeface="Consolas"/>
              </a:rPr>
              <a:t>81</a:t>
            </a:r>
          </a:p>
          <a:p>
            <a:pPr algn="r">
              <a:lnSpc>
                <a:spcPct val="100000"/>
              </a:lnSpc>
            </a:pPr>
            <a:r>
              <a:rPr sz="1400">
                <a:solidFill>
                  <a:srgbClr val="4F5D6A"/>
                </a:solidFill>
                <a:latin typeface="Consolas"/>
              </a:rPr>
              <a:t>82</a:t>
            </a:r>
          </a:p>
          <a:p>
            <a:pPr algn="r">
              <a:lnSpc>
                <a:spcPct val="100000"/>
              </a:lnSpc>
            </a:pPr>
            <a:r>
              <a:rPr sz="1400">
                <a:solidFill>
                  <a:srgbClr val="4F5D6A"/>
                </a:solidFill>
                <a:latin typeface="Consolas"/>
              </a:rPr>
              <a:t>83</a:t>
            </a:r>
          </a:p>
          <a:p>
            <a:pPr algn="r">
              <a:lnSpc>
                <a:spcPct val="100000"/>
              </a:lnSpc>
            </a:pPr>
            <a:r>
              <a:rPr sz="1400">
                <a:solidFill>
                  <a:srgbClr val="4F5D6A"/>
                </a:solidFill>
                <a:latin typeface="Consolas"/>
              </a:rPr>
              <a:t>84</a:t>
            </a:r>
          </a:p>
          <a:p>
            <a:pPr algn="r">
              <a:lnSpc>
                <a:spcPct val="100000"/>
              </a:lnSpc>
            </a:pPr>
            <a:r>
              <a:rPr sz="1400">
                <a:solidFill>
                  <a:srgbClr val="4F5D6A"/>
                </a:solidFill>
                <a:latin typeface="Consolas"/>
              </a:rPr>
              <a:t>85</a:t>
            </a:r>
          </a:p>
          <a:p>
            <a:pPr algn="r">
              <a:lnSpc>
                <a:spcPct val="100000"/>
              </a:lnSpc>
            </a:pPr>
            <a:r>
              <a:rPr sz="1400">
                <a:solidFill>
                  <a:srgbClr val="4F5D6A"/>
                </a:solidFill>
                <a:latin typeface="Consolas"/>
              </a:rPr>
              <a:t>86</a:t>
            </a:r>
          </a:p>
          <a:p>
            <a:pPr algn="r">
              <a:lnSpc>
                <a:spcPct val="100000"/>
              </a:lnSpc>
            </a:pPr>
            <a:r>
              <a:rPr sz="1400">
                <a:solidFill>
                  <a:srgbClr val="4F5D6A"/>
                </a:solidFill>
                <a:latin typeface="Consolas"/>
              </a:rPr>
              <a:t>87</a:t>
            </a:r>
          </a:p>
          <a:p>
            <a:pPr algn="r">
              <a:lnSpc>
                <a:spcPct val="100000"/>
              </a:lnSpc>
            </a:pPr>
            <a:r>
              <a:rPr sz="1400">
                <a:solidFill>
                  <a:srgbClr val="4F5D6A"/>
                </a:solidFill>
                <a:latin typeface="Consolas"/>
              </a:rPr>
              <a:t>88</a:t>
            </a:r>
          </a:p>
          <a:p>
            <a:pPr algn="r">
              <a:lnSpc>
                <a:spcPct val="100000"/>
              </a:lnSpc>
            </a:pPr>
            <a:r>
              <a:rPr sz="1400">
                <a:solidFill>
                  <a:srgbClr val="4F5D6A"/>
                </a:solidFill>
                <a:latin typeface="Consolas"/>
              </a:rPr>
              <a:t>89</a:t>
            </a:r>
          </a:p>
          <a:p>
            <a:pPr algn="r">
              <a:lnSpc>
                <a:spcPct val="100000"/>
              </a:lnSpc>
            </a:pPr>
            <a:r>
              <a:rPr sz="1400">
                <a:solidFill>
                  <a:srgbClr val="4F5D6A"/>
                </a:solidFill>
                <a:latin typeface="Consolas"/>
              </a:rPr>
              <a:t>90</a:t>
            </a:r>
          </a:p>
          <a:p>
            <a:pPr algn="r">
              <a:lnSpc>
                <a:spcPct val="100000"/>
              </a:lnSpc>
            </a:pPr>
            <a:r>
              <a:rPr sz="1400">
                <a:solidFill>
                  <a:srgbClr val="4F5D6A"/>
                </a:solidFill>
                <a:latin typeface="Consolas"/>
              </a:rPr>
              <a:t>91</a:t>
            </a:r>
          </a:p>
          <a:p>
            <a:pPr algn="r">
              <a:lnSpc>
                <a:spcPct val="100000"/>
              </a:lnSpc>
            </a:pPr>
            <a:r>
              <a:rPr sz="1400">
                <a:solidFill>
                  <a:srgbClr val="4F5D6A"/>
                </a:solidFill>
                <a:latin typeface="Consolas"/>
              </a:rPr>
              <a:t>92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32161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Staffing by Annealing and by Evolution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7 OF 17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6  ·  Local Search and Optimisation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§6.6.1  ·  Handout p. 59     </a:t>
            </a:r>
            <a:fld id="{FDCFEE08-EBFF-4BFC-AA3B-824AC1D1823D}" type="slidenum">
              <a:rPr lang="en-GB" sz="1000">
                <a:solidFill>
                  <a:srgbClr val="8795A1"/>
                </a:solidFill>
                <a:latin typeface="Segoe UI"/>
              </a:rPr>
              <a:t>29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Random-restart hill climbing</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041903"/>
          </a:xfrm>
          <a:prstGeom prst="roundRect">
            <a:avLst>
              <a:gd name="adj" fmla="val 300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code/ch06_staffing_annealing.py</a:t>
            </a:r>
          </a:p>
        </p:txBody>
      </p:sp>
      <p:sp>
        <p:nvSpPr>
          <p:cNvPr id="14" name="!!code-text" descr="# --- 2. random-restart hill climbing ------------------------------- def random_restart(b, rng): best, bestv = None, None while b.left(): st, v = hill_climb(b, rng) if bestv is None or v &gt; bestv: best, bestv = st, v return best, bestv"/>
          <p:cNvSpPr txBox="1"/>
          <p:nvPr/>
        </p:nvSpPr>
        <p:spPr>
          <a:xfrm>
            <a:off x="1362456" y="2523744"/>
            <a:ext cx="9987991" cy="2548127"/>
          </a:xfrm>
          <a:prstGeom prst="rect">
            <a:avLst/>
          </a:prstGeom>
          <a:noFill/>
        </p:spPr>
        <p:txBody>
          <a:bodyPr wrap="none" anchor="t" lIns="0" rIns="0" tIns="0" bIns="0">
            <a:noAutofit/>
          </a:bodyPr>
          <a:lstStyle/>
          <a:p>
            <a:pPr>
              <a:lnSpc>
                <a:spcPct val="100000"/>
              </a:lnSpc>
              <a:spcAft>
                <a:spcPts val="0"/>
              </a:spcAft>
            </a:pPr>
            <a:r>
              <a:rPr sz="2000" i="1">
                <a:solidFill>
                  <a:srgbClr val="8795A1"/>
                </a:solidFill>
                <a:latin typeface="Consolas"/>
              </a:rPr>
              <a:t># --- 2. random-restart hill climbing -------------------------------</a:t>
            </a:r>
          </a:p>
          <a:p>
            <a:pPr>
              <a:lnSpc>
                <a:spcPct val="100000"/>
              </a:lnSpc>
              <a:spcAft>
                <a:spcPts val="0"/>
              </a:spcAft>
            </a:pPr>
            <a:r>
              <a:rPr sz="2000" i="0">
                <a:solidFill>
                  <a:srgbClr val="5DADE2"/>
                </a:solidFill>
                <a:latin typeface="Consolas"/>
              </a:rPr>
              <a:t>def</a:t>
            </a:r>
            <a:r>
              <a:rPr sz="2000" i="0">
                <a:solidFill>
                  <a:srgbClr val="E8EDF2"/>
                </a:solidFill>
                <a:latin typeface="Consolas"/>
              </a:rPr>
              <a:t> </a:t>
            </a:r>
            <a:r>
              <a:rPr sz="2000" i="0">
                <a:solidFill>
                  <a:srgbClr val="C39BD3"/>
                </a:solidFill>
                <a:latin typeface="Consolas"/>
              </a:rPr>
              <a:t>random_restart</a:t>
            </a:r>
            <a:r>
              <a:rPr sz="2000" i="0">
                <a:solidFill>
                  <a:srgbClr val="AEB6BF"/>
                </a:solidFill>
                <a:latin typeface="Consolas"/>
              </a:rPr>
              <a:t>(</a:t>
            </a:r>
            <a:r>
              <a:rPr sz="2000" i="0">
                <a:solidFill>
                  <a:srgbClr val="E8EDF2"/>
                </a:solidFill>
                <a:latin typeface="Consolas"/>
              </a:rPr>
              <a:t>b</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rng</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best</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bestv</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5DADE2"/>
                </a:solidFill>
                <a:latin typeface="Consolas"/>
              </a:rPr>
              <a:t>None</a:t>
            </a:r>
            <a:r>
              <a:rPr sz="2000" i="0">
                <a:solidFill>
                  <a:srgbClr val="AEB6BF"/>
                </a:solidFill>
                <a:latin typeface="Consolas"/>
              </a:rPr>
              <a:t>,</a:t>
            </a:r>
            <a:r>
              <a:rPr sz="2000" i="0">
                <a:solidFill>
                  <a:srgbClr val="E8EDF2"/>
                </a:solidFill>
                <a:latin typeface="Consolas"/>
              </a:rPr>
              <a:t> </a:t>
            </a:r>
            <a:r>
              <a:rPr sz="2000" i="0">
                <a:solidFill>
                  <a:srgbClr val="5DADE2"/>
                </a:solidFill>
                <a:latin typeface="Consolas"/>
              </a:rPr>
              <a:t>None</a:t>
            </a:r>
          </a:p>
          <a:p>
            <a:pPr>
              <a:lnSpc>
                <a:spcPct val="100000"/>
              </a:lnSpc>
              <a:spcAft>
                <a:spcPts val="0"/>
              </a:spcAft>
            </a:pPr>
            <a:r>
              <a:rPr sz="2000" i="0">
                <a:solidFill>
                  <a:srgbClr val="E8EDF2"/>
                </a:solidFill>
                <a:latin typeface="Consolas"/>
              </a:rPr>
              <a:t>    </a:t>
            </a:r>
            <a:r>
              <a:rPr sz="2000" i="0">
                <a:solidFill>
                  <a:srgbClr val="5DADE2"/>
                </a:solidFill>
                <a:latin typeface="Consolas"/>
              </a:rPr>
              <a:t>while</a:t>
            </a:r>
            <a:r>
              <a:rPr sz="2000" i="0">
                <a:solidFill>
                  <a:srgbClr val="E8EDF2"/>
                </a:solidFill>
                <a:latin typeface="Consolas"/>
              </a:rPr>
              <a:t> </a:t>
            </a:r>
            <a:r>
              <a:rPr sz="2000" i="0">
                <a:solidFill>
                  <a:srgbClr val="E8EDF2"/>
                </a:solidFill>
                <a:latin typeface="Consolas"/>
              </a:rPr>
              <a:t>b</a:t>
            </a:r>
            <a:r>
              <a:rPr sz="2000" i="0">
                <a:solidFill>
                  <a:srgbClr val="AEB6BF"/>
                </a:solidFill>
                <a:latin typeface="Consolas"/>
              </a:rPr>
              <a:t>.</a:t>
            </a:r>
            <a:r>
              <a:rPr sz="2000" i="0">
                <a:solidFill>
                  <a:srgbClr val="E8EDF2"/>
                </a:solidFill>
                <a:latin typeface="Consolas"/>
              </a:rPr>
              <a:t>left</a:t>
            </a:r>
            <a:r>
              <a:rPr sz="2000" i="0">
                <a:solidFill>
                  <a:srgbClr val="AEB6BF"/>
                </a:solidFill>
                <a:latin typeface="Consolas"/>
              </a:rPr>
              <a:t>(</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st</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v</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hill_climb</a:t>
            </a:r>
            <a:r>
              <a:rPr sz="2000" i="0">
                <a:solidFill>
                  <a:srgbClr val="AEB6BF"/>
                </a:solidFill>
                <a:latin typeface="Consolas"/>
              </a:rPr>
              <a:t>(</a:t>
            </a:r>
            <a:r>
              <a:rPr sz="2000" i="0">
                <a:solidFill>
                  <a:srgbClr val="E8EDF2"/>
                </a:solidFill>
                <a:latin typeface="Consolas"/>
              </a:rPr>
              <a:t>b</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rng</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if</a:t>
            </a:r>
            <a:r>
              <a:rPr sz="2000" i="0">
                <a:solidFill>
                  <a:srgbClr val="E8EDF2"/>
                </a:solidFill>
                <a:latin typeface="Consolas"/>
              </a:rPr>
              <a:t> </a:t>
            </a:r>
            <a:r>
              <a:rPr sz="2000" i="0">
                <a:solidFill>
                  <a:srgbClr val="E8EDF2"/>
                </a:solidFill>
                <a:latin typeface="Consolas"/>
              </a:rPr>
              <a:t>bestv</a:t>
            </a:r>
            <a:r>
              <a:rPr sz="2000" i="0">
                <a:solidFill>
                  <a:srgbClr val="E8EDF2"/>
                </a:solidFill>
                <a:latin typeface="Consolas"/>
              </a:rPr>
              <a:t> </a:t>
            </a:r>
            <a:r>
              <a:rPr sz="2000" i="0">
                <a:solidFill>
                  <a:srgbClr val="AEB6BF"/>
                </a:solidFill>
                <a:latin typeface="Consolas"/>
              </a:rPr>
              <a:t>is</a:t>
            </a:r>
            <a:r>
              <a:rPr sz="2000" i="0">
                <a:solidFill>
                  <a:srgbClr val="E8EDF2"/>
                </a:solidFill>
                <a:latin typeface="Consolas"/>
              </a:rPr>
              <a:t> </a:t>
            </a:r>
            <a:r>
              <a:rPr sz="2000" i="0">
                <a:solidFill>
                  <a:srgbClr val="5DADE2"/>
                </a:solidFill>
                <a:latin typeface="Consolas"/>
              </a:rPr>
              <a:t>None</a:t>
            </a:r>
            <a:r>
              <a:rPr sz="2000" i="0">
                <a:solidFill>
                  <a:srgbClr val="E8EDF2"/>
                </a:solidFill>
                <a:latin typeface="Consolas"/>
              </a:rPr>
              <a:t> </a:t>
            </a:r>
            <a:r>
              <a:rPr sz="2000" i="0">
                <a:solidFill>
                  <a:srgbClr val="AEB6BF"/>
                </a:solidFill>
                <a:latin typeface="Consolas"/>
              </a:rPr>
              <a:t>or</a:t>
            </a:r>
            <a:r>
              <a:rPr sz="2000" i="0">
                <a:solidFill>
                  <a:srgbClr val="E8EDF2"/>
                </a:solidFill>
                <a:latin typeface="Consolas"/>
              </a:rPr>
              <a:t> </a:t>
            </a:r>
            <a:r>
              <a:rPr sz="2000" i="0">
                <a:solidFill>
                  <a:srgbClr val="E8EDF2"/>
                </a:solidFill>
                <a:latin typeface="Consolas"/>
              </a:rPr>
              <a:t>v</a:t>
            </a:r>
            <a:r>
              <a:rPr sz="2000" i="0">
                <a:solidFill>
                  <a:srgbClr val="E8EDF2"/>
                </a:solidFill>
                <a:latin typeface="Consolas"/>
              </a:rPr>
              <a:t> </a:t>
            </a:r>
            <a:r>
              <a:rPr sz="2000" i="0">
                <a:solidFill>
                  <a:srgbClr val="AEB6BF"/>
                </a:solidFill>
                <a:latin typeface="Consolas"/>
              </a:rPr>
              <a:t>&gt;</a:t>
            </a:r>
            <a:r>
              <a:rPr sz="2000" i="0">
                <a:solidFill>
                  <a:srgbClr val="E8EDF2"/>
                </a:solidFill>
                <a:latin typeface="Consolas"/>
              </a:rPr>
              <a:t> </a:t>
            </a:r>
            <a:r>
              <a:rPr sz="2000" i="0">
                <a:solidFill>
                  <a:srgbClr val="E8EDF2"/>
                </a:solidFill>
                <a:latin typeface="Consolas"/>
              </a:rPr>
              <a:t>bestv</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best</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bestv</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st</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v</a:t>
            </a:r>
          </a:p>
          <a:p>
            <a:pPr>
              <a:lnSpc>
                <a:spcPct val="100000"/>
              </a:lnSpc>
              <a:spcAft>
                <a:spcPts val="0"/>
              </a:spcAft>
            </a:pPr>
            <a:r>
              <a:rPr sz="2000" i="0">
                <a:solidFill>
                  <a:srgbClr val="E8EDF2"/>
                </a:solidFill>
                <a:latin typeface="Consolas"/>
              </a:rPr>
              <a:t>    </a:t>
            </a:r>
            <a:r>
              <a:rPr sz="2000" i="0">
                <a:solidFill>
                  <a:srgbClr val="5DADE2"/>
                </a:solidFill>
                <a:latin typeface="Consolas"/>
              </a:rPr>
              <a:t>return</a:t>
            </a:r>
            <a:r>
              <a:rPr sz="2000" i="0">
                <a:solidFill>
                  <a:srgbClr val="E8EDF2"/>
                </a:solidFill>
                <a:latin typeface="Consolas"/>
              </a:rPr>
              <a:t> </a:t>
            </a:r>
            <a:r>
              <a:rPr sz="2000" i="0">
                <a:solidFill>
                  <a:srgbClr val="E8EDF2"/>
                </a:solidFill>
                <a:latin typeface="Consolas"/>
              </a:rPr>
              <a:t>best</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bestv</a:t>
            </a:r>
          </a:p>
        </p:txBody>
      </p:sp>
      <p:sp>
        <p:nvSpPr>
          <p:cNvPr id="15" name="!!code-num"/>
          <p:cNvSpPr txBox="1"/>
          <p:nvPr/>
        </p:nvSpPr>
        <p:spPr>
          <a:xfrm>
            <a:off x="768096" y="2523744"/>
            <a:ext cx="393192" cy="2548127"/>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95</a:t>
            </a:r>
          </a:p>
          <a:p>
            <a:pPr algn="r">
              <a:lnSpc>
                <a:spcPct val="100000"/>
              </a:lnSpc>
            </a:pPr>
            <a:r>
              <a:rPr sz="2000">
                <a:solidFill>
                  <a:srgbClr val="4F5D6A"/>
                </a:solidFill>
                <a:latin typeface="Consolas"/>
              </a:rPr>
              <a:t>96</a:t>
            </a:r>
          </a:p>
          <a:p>
            <a:pPr algn="r">
              <a:lnSpc>
                <a:spcPct val="100000"/>
              </a:lnSpc>
            </a:pPr>
            <a:r>
              <a:rPr sz="2000">
                <a:solidFill>
                  <a:srgbClr val="4F5D6A"/>
                </a:solidFill>
                <a:latin typeface="Consolas"/>
              </a:rPr>
              <a:t>97</a:t>
            </a:r>
          </a:p>
          <a:p>
            <a:pPr algn="r">
              <a:lnSpc>
                <a:spcPct val="100000"/>
              </a:lnSpc>
            </a:pPr>
            <a:r>
              <a:rPr sz="2000">
                <a:solidFill>
                  <a:srgbClr val="4F5D6A"/>
                </a:solidFill>
                <a:latin typeface="Consolas"/>
              </a:rPr>
              <a:t>98</a:t>
            </a:r>
          </a:p>
          <a:p>
            <a:pPr algn="r">
              <a:lnSpc>
                <a:spcPct val="100000"/>
              </a:lnSpc>
            </a:pPr>
            <a:r>
              <a:rPr sz="2000">
                <a:solidFill>
                  <a:srgbClr val="4F5D6A"/>
                </a:solidFill>
                <a:latin typeface="Consolas"/>
              </a:rPr>
              <a:t>99</a:t>
            </a:r>
          </a:p>
          <a:p>
            <a:pPr algn="r">
              <a:lnSpc>
                <a:spcPct val="100000"/>
              </a:lnSpc>
            </a:pPr>
            <a:r>
              <a:rPr sz="2000">
                <a:solidFill>
                  <a:srgbClr val="4F5D6A"/>
                </a:solidFill>
                <a:latin typeface="Consolas"/>
              </a:rPr>
              <a:t>100</a:t>
            </a:r>
          </a:p>
          <a:p>
            <a:pPr algn="r">
              <a:lnSpc>
                <a:spcPct val="100000"/>
              </a:lnSpc>
            </a:pPr>
            <a:r>
              <a:rPr sz="2000">
                <a:solidFill>
                  <a:srgbClr val="4F5D6A"/>
                </a:solidFill>
                <a:latin typeface="Consolas"/>
              </a:rPr>
              <a:t>101</a:t>
            </a:r>
          </a:p>
          <a:p>
            <a:pPr algn="r">
              <a:lnSpc>
                <a:spcPct val="100000"/>
              </a:lnSpc>
            </a:pPr>
            <a:r>
              <a:rPr sz="2000">
                <a:solidFill>
                  <a:srgbClr val="4F5D6A"/>
                </a:solidFill>
                <a:latin typeface="Consolas"/>
              </a:rPr>
              <a:t>102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54739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Staffing by Annealing and by Evolution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8 OF 17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6  ·  Local Search and Optimisation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§6.6.1  ·  Handout p. 59     </a:t>
            </a:r>
            <a:fld id="{581DED8C-DEB1-470C-A8F4-96D4B5ECA2F4}" type="slidenum">
              <a:rPr lang="en-GB" sz="1000">
                <a:solidFill>
                  <a:srgbClr val="8795A1"/>
                </a:solidFill>
                <a:latin typeface="Segoe UI"/>
              </a:rPr>
              <a:t>30</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Simulated annealing</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32504"/>
          </a:xfrm>
          <a:prstGeom prst="roundRect">
            <a:avLst>
              <a:gd name="adj" fmla="val 226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code/ch06_staffing_annealing.py</a:t>
            </a:r>
          </a:p>
        </p:txBody>
      </p:sp>
      <p:sp>
        <p:nvSpPr>
          <p:cNvPr id="14" name="!!code-text" descr="# --- 3. simulated annealing ---------------------------------------- def anneal(b, rng, t0=8.0): st = random_state(rng) cur = b.score(st) best, bestv = st, cur while b.left(): T = t0 * (1 - b.n / b.cap) + 1e-9 # linear cooling cand = one_neighbour(st, rng) v = b.score(cand) d = v - cur if d &gt; 0 or rng.random() &lt; math.exp(d / T): st, cur = cand, v if cur &gt; bestv: best, bestv = st, cur return best, bestv"/>
          <p:cNvSpPr txBox="1"/>
          <p:nvPr/>
        </p:nvSpPr>
        <p:spPr>
          <a:xfrm>
            <a:off x="1362456" y="2523744"/>
            <a:ext cx="9987991" cy="3538727"/>
          </a:xfrm>
          <a:prstGeom prst="rect">
            <a:avLst/>
          </a:prstGeom>
          <a:noFill/>
        </p:spPr>
        <p:txBody>
          <a:bodyPr wrap="none" anchor="t" lIns="0" rIns="0" tIns="0" bIns="0">
            <a:noAutofit/>
          </a:bodyPr>
          <a:lstStyle/>
          <a:p>
            <a:pPr>
              <a:lnSpc>
                <a:spcPct val="100000"/>
              </a:lnSpc>
              <a:spcAft>
                <a:spcPts val="0"/>
              </a:spcAft>
            </a:pPr>
            <a:r>
              <a:rPr sz="1500" i="1">
                <a:solidFill>
                  <a:srgbClr val="8795A1"/>
                </a:solidFill>
                <a:latin typeface="Consolas"/>
              </a:rPr>
              <a:t># --- 3. simulated annealing ----------------------------------------</a:t>
            </a:r>
          </a:p>
          <a:p>
            <a:pPr>
              <a:lnSpc>
                <a:spcPct val="100000"/>
              </a:lnSpc>
              <a:spcAft>
                <a:spcPts val="0"/>
              </a:spcAft>
            </a:pPr>
            <a:r>
              <a:rPr sz="1500" i="0">
                <a:solidFill>
                  <a:srgbClr val="5DADE2"/>
                </a:solidFill>
                <a:latin typeface="Consolas"/>
              </a:rPr>
              <a:t>def</a:t>
            </a:r>
            <a:r>
              <a:rPr sz="1500" i="0">
                <a:solidFill>
                  <a:srgbClr val="E8EDF2"/>
                </a:solidFill>
                <a:latin typeface="Consolas"/>
              </a:rPr>
              <a:t> </a:t>
            </a:r>
            <a:r>
              <a:rPr sz="1500" i="0">
                <a:solidFill>
                  <a:srgbClr val="C39BD3"/>
                </a:solidFill>
                <a:latin typeface="Consolas"/>
              </a:rPr>
              <a:t>anneal</a:t>
            </a:r>
            <a:r>
              <a:rPr sz="1500" i="0">
                <a:solidFill>
                  <a:srgbClr val="AEB6BF"/>
                </a:solidFill>
                <a:latin typeface="Consolas"/>
              </a:rPr>
              <a:t>(</a:t>
            </a:r>
            <a:r>
              <a:rPr sz="1500" i="0">
                <a:solidFill>
                  <a:srgbClr val="E8EDF2"/>
                </a:solidFill>
                <a:latin typeface="Consolas"/>
              </a:rPr>
              <a:t>b</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rng</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t0</a:t>
            </a:r>
            <a:r>
              <a:rPr sz="1500" i="0">
                <a:solidFill>
                  <a:srgbClr val="AEB6BF"/>
                </a:solidFill>
                <a:latin typeface="Consolas"/>
              </a:rPr>
              <a:t>=</a:t>
            </a:r>
            <a:r>
              <a:rPr sz="1500" i="0">
                <a:solidFill>
                  <a:srgbClr val="F7DC6F"/>
                </a:solidFill>
                <a:latin typeface="Consolas"/>
              </a:rPr>
              <a:t>8.0</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st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random_state</a:t>
            </a:r>
            <a:r>
              <a:rPr sz="1500" i="0">
                <a:solidFill>
                  <a:srgbClr val="AEB6BF"/>
                </a:solidFill>
                <a:latin typeface="Consolas"/>
              </a:rPr>
              <a:t>(</a:t>
            </a:r>
            <a:r>
              <a:rPr sz="1500" i="0">
                <a:solidFill>
                  <a:srgbClr val="E8EDF2"/>
                </a:solidFill>
                <a:latin typeface="Consolas"/>
              </a:rPr>
              <a:t>rng</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cur</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b</a:t>
            </a:r>
            <a:r>
              <a:rPr sz="1500" i="0">
                <a:solidFill>
                  <a:srgbClr val="AEB6BF"/>
                </a:solidFill>
                <a:latin typeface="Consolas"/>
              </a:rPr>
              <a:t>.</a:t>
            </a:r>
            <a:r>
              <a:rPr sz="1500" i="0">
                <a:solidFill>
                  <a:srgbClr val="E8EDF2"/>
                </a:solidFill>
                <a:latin typeface="Consolas"/>
              </a:rPr>
              <a:t>score</a:t>
            </a:r>
            <a:r>
              <a:rPr sz="1500" i="0">
                <a:solidFill>
                  <a:srgbClr val="AEB6BF"/>
                </a:solidFill>
                <a:latin typeface="Consolas"/>
              </a:rPr>
              <a:t>(</a:t>
            </a:r>
            <a:r>
              <a:rPr sz="1500" i="0">
                <a:solidFill>
                  <a:srgbClr val="E8EDF2"/>
                </a:solidFill>
                <a:latin typeface="Consolas"/>
              </a:rPr>
              <a:t>st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best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bestv</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st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cur</a:t>
            </a:r>
          </a:p>
          <a:p>
            <a:pPr>
              <a:lnSpc>
                <a:spcPct val="100000"/>
              </a:lnSpc>
              <a:spcAft>
                <a:spcPts val="0"/>
              </a:spcAft>
            </a:pPr>
            <a:r>
              <a:rPr sz="1500" i="0">
                <a:solidFill>
                  <a:srgbClr val="E8EDF2"/>
                </a:solidFill>
                <a:latin typeface="Consolas"/>
              </a:rPr>
              <a:t>    </a:t>
            </a:r>
            <a:r>
              <a:rPr sz="1500" i="0">
                <a:solidFill>
                  <a:srgbClr val="5DADE2"/>
                </a:solidFill>
                <a:latin typeface="Consolas"/>
              </a:rPr>
              <a:t>while</a:t>
            </a:r>
            <a:r>
              <a:rPr sz="1500" i="0">
                <a:solidFill>
                  <a:srgbClr val="E8EDF2"/>
                </a:solidFill>
                <a:latin typeface="Consolas"/>
              </a:rPr>
              <a:t> </a:t>
            </a:r>
            <a:r>
              <a:rPr sz="1500" i="0">
                <a:solidFill>
                  <a:srgbClr val="E8EDF2"/>
                </a:solidFill>
                <a:latin typeface="Consolas"/>
              </a:rPr>
              <a:t>b</a:t>
            </a:r>
            <a:r>
              <a:rPr sz="1500" i="0">
                <a:solidFill>
                  <a:srgbClr val="AEB6BF"/>
                </a:solidFill>
                <a:latin typeface="Consolas"/>
              </a:rPr>
              <a:t>.</a:t>
            </a:r>
            <a:r>
              <a:rPr sz="1500" i="0">
                <a:solidFill>
                  <a:srgbClr val="E8EDF2"/>
                </a:solidFill>
                <a:latin typeface="Consolas"/>
              </a:rPr>
              <a:t>left</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t0</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F7DC6F"/>
                </a:solidFill>
                <a:latin typeface="Consolas"/>
              </a:rPr>
              <a:t>1</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b</a:t>
            </a:r>
            <a:r>
              <a:rPr sz="1500" i="0">
                <a:solidFill>
                  <a:srgbClr val="AEB6BF"/>
                </a:solidFill>
                <a:latin typeface="Consolas"/>
              </a:rPr>
              <a:t>.</a:t>
            </a:r>
            <a:r>
              <a:rPr sz="1500" i="0">
                <a:solidFill>
                  <a:srgbClr val="E8EDF2"/>
                </a:solidFill>
                <a:latin typeface="Consolas"/>
              </a:rPr>
              <a:t>n</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b</a:t>
            </a:r>
            <a:r>
              <a:rPr sz="1500" i="0">
                <a:solidFill>
                  <a:srgbClr val="AEB6BF"/>
                </a:solidFill>
                <a:latin typeface="Consolas"/>
              </a:rPr>
              <a:t>.</a:t>
            </a:r>
            <a:r>
              <a:rPr sz="1500" i="0">
                <a:solidFill>
                  <a:srgbClr val="E8EDF2"/>
                </a:solidFill>
                <a:latin typeface="Consolas"/>
              </a:rPr>
              <a:t>cap</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1e-9</a:t>
            </a:r>
            <a:r>
              <a:rPr sz="1500" i="0">
                <a:solidFill>
                  <a:srgbClr val="E8EDF2"/>
                </a:solidFill>
                <a:latin typeface="Consolas"/>
              </a:rPr>
              <a:t>      </a:t>
            </a:r>
            <a:r>
              <a:rPr sz="1500" i="1">
                <a:solidFill>
                  <a:srgbClr val="8795A1"/>
                </a:solidFill>
                <a:latin typeface="Consolas"/>
              </a:rPr>
              <a:t># linear cooling</a:t>
            </a:r>
          </a:p>
          <a:p>
            <a:pPr>
              <a:lnSpc>
                <a:spcPct val="100000"/>
              </a:lnSpc>
              <a:spcAft>
                <a:spcPts val="0"/>
              </a:spcAft>
            </a:pPr>
            <a:r>
              <a:rPr sz="1500" i="0">
                <a:solidFill>
                  <a:srgbClr val="E8EDF2"/>
                </a:solidFill>
                <a:latin typeface="Consolas"/>
              </a:rPr>
              <a:t>        </a:t>
            </a:r>
            <a:r>
              <a:rPr sz="1500" i="0">
                <a:solidFill>
                  <a:srgbClr val="E8EDF2"/>
                </a:solidFill>
                <a:latin typeface="Consolas"/>
              </a:rPr>
              <a:t>cand</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one_neighbour</a:t>
            </a:r>
            <a:r>
              <a:rPr sz="1500" i="0">
                <a:solidFill>
                  <a:srgbClr val="AEB6BF"/>
                </a:solidFill>
                <a:latin typeface="Consolas"/>
              </a:rPr>
              <a:t>(</a:t>
            </a:r>
            <a:r>
              <a:rPr sz="1500" i="0">
                <a:solidFill>
                  <a:srgbClr val="E8EDF2"/>
                </a:solidFill>
                <a:latin typeface="Consolas"/>
              </a:rPr>
              <a:t>st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rng</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v</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b</a:t>
            </a:r>
            <a:r>
              <a:rPr sz="1500" i="0">
                <a:solidFill>
                  <a:srgbClr val="AEB6BF"/>
                </a:solidFill>
                <a:latin typeface="Consolas"/>
              </a:rPr>
              <a:t>.</a:t>
            </a:r>
            <a:r>
              <a:rPr sz="1500" i="0">
                <a:solidFill>
                  <a:srgbClr val="E8EDF2"/>
                </a:solidFill>
                <a:latin typeface="Consolas"/>
              </a:rPr>
              <a:t>score</a:t>
            </a:r>
            <a:r>
              <a:rPr sz="1500" i="0">
                <a:solidFill>
                  <a:srgbClr val="AEB6BF"/>
                </a:solidFill>
                <a:latin typeface="Consolas"/>
              </a:rPr>
              <a:t>(</a:t>
            </a:r>
            <a:r>
              <a:rPr sz="1500" i="0">
                <a:solidFill>
                  <a:srgbClr val="E8EDF2"/>
                </a:solidFill>
                <a:latin typeface="Consolas"/>
              </a:rPr>
              <a:t>cand</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d</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v</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cur</a:t>
            </a:r>
          </a:p>
          <a:p>
            <a:pPr>
              <a:lnSpc>
                <a:spcPct val="100000"/>
              </a:lnSpc>
              <a:spcAft>
                <a:spcPts val="0"/>
              </a:spcAft>
            </a:pPr>
            <a:r>
              <a:rPr sz="1500" i="0">
                <a:solidFill>
                  <a:srgbClr val="E8EDF2"/>
                </a:solidFill>
                <a:latin typeface="Consolas"/>
              </a:rPr>
              <a:t>        </a:t>
            </a:r>
            <a:r>
              <a:rPr sz="1500" i="0">
                <a:solidFill>
                  <a:srgbClr val="5DADE2"/>
                </a:solidFill>
                <a:latin typeface="Consolas"/>
              </a:rPr>
              <a:t>if</a:t>
            </a:r>
            <a:r>
              <a:rPr sz="1500" i="0">
                <a:solidFill>
                  <a:srgbClr val="E8EDF2"/>
                </a:solidFill>
                <a:latin typeface="Consolas"/>
              </a:rPr>
              <a:t> </a:t>
            </a:r>
            <a:r>
              <a:rPr sz="1500" i="0">
                <a:solidFill>
                  <a:srgbClr val="E8EDF2"/>
                </a:solidFill>
                <a:latin typeface="Consolas"/>
              </a:rPr>
              <a:t>d</a:t>
            </a:r>
            <a:r>
              <a:rPr sz="1500" i="0">
                <a:solidFill>
                  <a:srgbClr val="E8EDF2"/>
                </a:solidFill>
                <a:latin typeface="Consolas"/>
              </a:rPr>
              <a:t> </a:t>
            </a:r>
            <a:r>
              <a:rPr sz="1500" i="0">
                <a:solidFill>
                  <a:srgbClr val="AEB6BF"/>
                </a:solidFill>
                <a:latin typeface="Consolas"/>
              </a:rPr>
              <a:t>&gt;</a:t>
            </a:r>
            <a:r>
              <a:rPr sz="1500" i="0">
                <a:solidFill>
                  <a:srgbClr val="E8EDF2"/>
                </a:solidFill>
                <a:latin typeface="Consolas"/>
              </a:rPr>
              <a:t> </a:t>
            </a:r>
            <a:r>
              <a:rPr sz="1500" i="0">
                <a:solidFill>
                  <a:srgbClr val="F7DC6F"/>
                </a:solidFill>
                <a:latin typeface="Consolas"/>
              </a:rPr>
              <a:t>0</a:t>
            </a:r>
            <a:r>
              <a:rPr sz="1500" i="0">
                <a:solidFill>
                  <a:srgbClr val="E8EDF2"/>
                </a:solidFill>
                <a:latin typeface="Consolas"/>
              </a:rPr>
              <a:t> </a:t>
            </a:r>
            <a:r>
              <a:rPr sz="1500" i="0">
                <a:solidFill>
                  <a:srgbClr val="AEB6BF"/>
                </a:solidFill>
                <a:latin typeface="Consolas"/>
              </a:rPr>
              <a:t>or</a:t>
            </a:r>
            <a:r>
              <a:rPr sz="1500" i="0">
                <a:solidFill>
                  <a:srgbClr val="E8EDF2"/>
                </a:solidFill>
                <a:latin typeface="Consolas"/>
              </a:rPr>
              <a:t> </a:t>
            </a:r>
            <a:r>
              <a:rPr sz="1500" i="0">
                <a:solidFill>
                  <a:srgbClr val="E8EDF2"/>
                </a:solidFill>
                <a:latin typeface="Consolas"/>
              </a:rPr>
              <a:t>rng</a:t>
            </a:r>
            <a:r>
              <a:rPr sz="1500" i="0">
                <a:solidFill>
                  <a:srgbClr val="AEB6BF"/>
                </a:solidFill>
                <a:latin typeface="Consolas"/>
              </a:rPr>
              <a:t>.</a:t>
            </a:r>
            <a:r>
              <a:rPr sz="1500" i="0">
                <a:solidFill>
                  <a:srgbClr val="E8EDF2"/>
                </a:solidFill>
                <a:latin typeface="Consolas"/>
              </a:rPr>
              <a:t>random</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&lt;</a:t>
            </a:r>
            <a:r>
              <a:rPr sz="1500" i="0">
                <a:solidFill>
                  <a:srgbClr val="E8EDF2"/>
                </a:solidFill>
                <a:latin typeface="Consolas"/>
              </a:rPr>
              <a:t> </a:t>
            </a:r>
            <a:r>
              <a:rPr sz="1500" i="0">
                <a:solidFill>
                  <a:srgbClr val="E8EDF2"/>
                </a:solidFill>
                <a:latin typeface="Consolas"/>
              </a:rPr>
              <a:t>math</a:t>
            </a:r>
            <a:r>
              <a:rPr sz="1500" i="0">
                <a:solidFill>
                  <a:srgbClr val="AEB6BF"/>
                </a:solidFill>
                <a:latin typeface="Consolas"/>
              </a:rPr>
              <a:t>.</a:t>
            </a:r>
            <a:r>
              <a:rPr sz="1500" i="0">
                <a:solidFill>
                  <a:srgbClr val="E8EDF2"/>
                </a:solidFill>
                <a:latin typeface="Consolas"/>
              </a:rPr>
              <a:t>exp</a:t>
            </a:r>
            <a:r>
              <a:rPr sz="1500" i="0">
                <a:solidFill>
                  <a:srgbClr val="AEB6BF"/>
                </a:solidFill>
                <a:latin typeface="Consolas"/>
              </a:rPr>
              <a:t>(</a:t>
            </a:r>
            <a:r>
              <a:rPr sz="1500" i="0">
                <a:solidFill>
                  <a:srgbClr val="E8EDF2"/>
                </a:solidFill>
                <a:latin typeface="Consolas"/>
              </a:rPr>
              <a:t>d</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st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cur</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cand</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v</a:t>
            </a:r>
          </a:p>
          <a:p>
            <a:pPr>
              <a:lnSpc>
                <a:spcPct val="100000"/>
              </a:lnSpc>
              <a:spcAft>
                <a:spcPts val="0"/>
              </a:spcAft>
            </a:pPr>
            <a:r>
              <a:rPr sz="1500" i="0">
                <a:solidFill>
                  <a:srgbClr val="E8EDF2"/>
                </a:solidFill>
                <a:latin typeface="Consolas"/>
              </a:rPr>
              <a:t>            </a:t>
            </a:r>
            <a:r>
              <a:rPr sz="1500" i="0">
                <a:solidFill>
                  <a:srgbClr val="5DADE2"/>
                </a:solidFill>
                <a:latin typeface="Consolas"/>
              </a:rPr>
              <a:t>if</a:t>
            </a:r>
            <a:r>
              <a:rPr sz="1500" i="0">
                <a:solidFill>
                  <a:srgbClr val="E8EDF2"/>
                </a:solidFill>
                <a:latin typeface="Consolas"/>
              </a:rPr>
              <a:t> </a:t>
            </a:r>
            <a:r>
              <a:rPr sz="1500" i="0">
                <a:solidFill>
                  <a:srgbClr val="E8EDF2"/>
                </a:solidFill>
                <a:latin typeface="Consolas"/>
              </a:rPr>
              <a:t>cur</a:t>
            </a:r>
            <a:r>
              <a:rPr sz="1500" i="0">
                <a:solidFill>
                  <a:srgbClr val="E8EDF2"/>
                </a:solidFill>
                <a:latin typeface="Consolas"/>
              </a:rPr>
              <a:t> </a:t>
            </a:r>
            <a:r>
              <a:rPr sz="1500" i="0">
                <a:solidFill>
                  <a:srgbClr val="AEB6BF"/>
                </a:solidFill>
                <a:latin typeface="Consolas"/>
              </a:rPr>
              <a:t>&gt;</a:t>
            </a:r>
            <a:r>
              <a:rPr sz="1500" i="0">
                <a:solidFill>
                  <a:srgbClr val="E8EDF2"/>
                </a:solidFill>
                <a:latin typeface="Consolas"/>
              </a:rPr>
              <a:t> </a:t>
            </a:r>
            <a:r>
              <a:rPr sz="1500" i="0">
                <a:solidFill>
                  <a:srgbClr val="E8EDF2"/>
                </a:solidFill>
                <a:latin typeface="Consolas"/>
              </a:rPr>
              <a:t>bestv</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best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bestv</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st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cur</a:t>
            </a:r>
          </a:p>
          <a:p>
            <a:pPr>
              <a:lnSpc>
                <a:spcPct val="100000"/>
              </a:lnSpc>
              <a:spcAft>
                <a:spcPts val="0"/>
              </a:spcAft>
            </a:pPr>
            <a:r>
              <a:rPr sz="1500" i="0">
                <a:solidFill>
                  <a:srgbClr val="E8EDF2"/>
                </a:solidFill>
                <a:latin typeface="Consolas"/>
              </a:rPr>
              <a:t>    </a:t>
            </a:r>
            <a:r>
              <a:rPr sz="1500" i="0">
                <a:solidFill>
                  <a:srgbClr val="5DADE2"/>
                </a:solidFill>
                <a:latin typeface="Consolas"/>
              </a:rPr>
              <a:t>return</a:t>
            </a:r>
            <a:r>
              <a:rPr sz="1500" i="0">
                <a:solidFill>
                  <a:srgbClr val="E8EDF2"/>
                </a:solidFill>
                <a:latin typeface="Consolas"/>
              </a:rPr>
              <a:t> </a:t>
            </a:r>
            <a:r>
              <a:rPr sz="1500" i="0">
                <a:solidFill>
                  <a:srgbClr val="E8EDF2"/>
                </a:solidFill>
                <a:latin typeface="Consolas"/>
              </a:rPr>
              <a:t>best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bestv</a:t>
            </a:r>
          </a:p>
        </p:txBody>
      </p:sp>
      <p:sp>
        <p:nvSpPr>
          <p:cNvPr id="15" name="!!code-num"/>
          <p:cNvSpPr txBox="1"/>
          <p:nvPr/>
        </p:nvSpPr>
        <p:spPr>
          <a:xfrm>
            <a:off x="768096" y="2523744"/>
            <a:ext cx="393192" cy="3538727"/>
          </a:xfrm>
          <a:prstGeom prst="rect">
            <a:avLst/>
          </a:prstGeom>
          <a:noFill/>
        </p:spPr>
        <p:txBody>
          <a:bodyPr wrap="none" anchor="t" lIns="0" rIns="0" tIns="0" bIns="0">
            <a:noAutofit/>
          </a:bodyPr>
          <a:lstStyle/>
          <a:p>
            <a:pPr algn="r">
              <a:lnSpc>
                <a:spcPct val="100000"/>
              </a:lnSpc>
            </a:pPr>
            <a:r>
              <a:rPr sz="1500">
                <a:solidFill>
                  <a:srgbClr val="4F5D6A"/>
                </a:solidFill>
                <a:latin typeface="Consolas"/>
              </a:rPr>
              <a:t>105</a:t>
            </a:r>
          </a:p>
          <a:p>
            <a:pPr algn="r">
              <a:lnSpc>
                <a:spcPct val="100000"/>
              </a:lnSpc>
            </a:pPr>
            <a:r>
              <a:rPr sz="1500">
                <a:solidFill>
                  <a:srgbClr val="4F5D6A"/>
                </a:solidFill>
                <a:latin typeface="Consolas"/>
              </a:rPr>
              <a:t>106</a:t>
            </a:r>
          </a:p>
          <a:p>
            <a:pPr algn="r">
              <a:lnSpc>
                <a:spcPct val="100000"/>
              </a:lnSpc>
            </a:pPr>
            <a:r>
              <a:rPr sz="1500">
                <a:solidFill>
                  <a:srgbClr val="4F5D6A"/>
                </a:solidFill>
                <a:latin typeface="Consolas"/>
              </a:rPr>
              <a:t>107</a:t>
            </a:r>
          </a:p>
          <a:p>
            <a:pPr algn="r">
              <a:lnSpc>
                <a:spcPct val="100000"/>
              </a:lnSpc>
            </a:pPr>
            <a:r>
              <a:rPr sz="1500">
                <a:solidFill>
                  <a:srgbClr val="4F5D6A"/>
                </a:solidFill>
                <a:latin typeface="Consolas"/>
              </a:rPr>
              <a:t>108</a:t>
            </a:r>
          </a:p>
          <a:p>
            <a:pPr algn="r">
              <a:lnSpc>
                <a:spcPct val="100000"/>
              </a:lnSpc>
            </a:pPr>
            <a:r>
              <a:rPr sz="1500">
                <a:solidFill>
                  <a:srgbClr val="4F5D6A"/>
                </a:solidFill>
                <a:latin typeface="Consolas"/>
              </a:rPr>
              <a:t>109</a:t>
            </a:r>
          </a:p>
          <a:p>
            <a:pPr algn="r">
              <a:lnSpc>
                <a:spcPct val="100000"/>
              </a:lnSpc>
            </a:pPr>
            <a:r>
              <a:rPr sz="1500">
                <a:solidFill>
                  <a:srgbClr val="4F5D6A"/>
                </a:solidFill>
                <a:latin typeface="Consolas"/>
              </a:rPr>
              <a:t>110</a:t>
            </a:r>
          </a:p>
          <a:p>
            <a:pPr algn="r">
              <a:lnSpc>
                <a:spcPct val="100000"/>
              </a:lnSpc>
            </a:pPr>
            <a:r>
              <a:rPr sz="1500">
                <a:solidFill>
                  <a:srgbClr val="4F5D6A"/>
                </a:solidFill>
                <a:latin typeface="Consolas"/>
              </a:rPr>
              <a:t>111</a:t>
            </a:r>
          </a:p>
          <a:p>
            <a:pPr algn="r">
              <a:lnSpc>
                <a:spcPct val="100000"/>
              </a:lnSpc>
            </a:pPr>
            <a:r>
              <a:rPr sz="1500">
                <a:solidFill>
                  <a:srgbClr val="4F5D6A"/>
                </a:solidFill>
                <a:latin typeface="Consolas"/>
              </a:rPr>
              <a:t>112</a:t>
            </a:r>
          </a:p>
          <a:p>
            <a:pPr algn="r">
              <a:lnSpc>
                <a:spcPct val="100000"/>
              </a:lnSpc>
            </a:pPr>
            <a:r>
              <a:rPr sz="1500">
                <a:solidFill>
                  <a:srgbClr val="4F5D6A"/>
                </a:solidFill>
                <a:latin typeface="Consolas"/>
              </a:rPr>
              <a:t>113</a:t>
            </a:r>
          </a:p>
          <a:p>
            <a:pPr algn="r">
              <a:lnSpc>
                <a:spcPct val="100000"/>
              </a:lnSpc>
            </a:pPr>
            <a:r>
              <a:rPr sz="1500">
                <a:solidFill>
                  <a:srgbClr val="4F5D6A"/>
                </a:solidFill>
                <a:latin typeface="Consolas"/>
              </a:rPr>
              <a:t>114</a:t>
            </a:r>
          </a:p>
          <a:p>
            <a:pPr algn="r">
              <a:lnSpc>
                <a:spcPct val="100000"/>
              </a:lnSpc>
            </a:pPr>
            <a:r>
              <a:rPr sz="1500">
                <a:solidFill>
                  <a:srgbClr val="4F5D6A"/>
                </a:solidFill>
                <a:latin typeface="Consolas"/>
              </a:rPr>
              <a:t>115</a:t>
            </a:r>
          </a:p>
          <a:p>
            <a:pPr algn="r">
              <a:lnSpc>
                <a:spcPct val="100000"/>
              </a:lnSpc>
            </a:pPr>
            <a:r>
              <a:rPr sz="1500">
                <a:solidFill>
                  <a:srgbClr val="4F5D6A"/>
                </a:solidFill>
                <a:latin typeface="Consolas"/>
              </a:rPr>
              <a:t>116</a:t>
            </a:r>
          </a:p>
          <a:p>
            <a:pPr algn="r">
              <a:lnSpc>
                <a:spcPct val="100000"/>
              </a:lnSpc>
            </a:pPr>
            <a:r>
              <a:rPr sz="1500">
                <a:solidFill>
                  <a:srgbClr val="4F5D6A"/>
                </a:solidFill>
                <a:latin typeface="Consolas"/>
              </a:rPr>
              <a:t>117</a:t>
            </a:r>
          </a:p>
          <a:p>
            <a:pPr algn="r">
              <a:lnSpc>
                <a:spcPct val="100000"/>
              </a:lnSpc>
            </a:pPr>
            <a:r>
              <a:rPr sz="1500">
                <a:solidFill>
                  <a:srgbClr val="4F5D6A"/>
                </a:solidFill>
                <a:latin typeface="Consolas"/>
              </a:rPr>
              <a:t>118</a:t>
            </a:r>
          </a:p>
          <a:p>
            <a:pPr algn="r">
              <a:lnSpc>
                <a:spcPct val="100000"/>
              </a:lnSpc>
            </a:pPr>
            <a:r>
              <a:rPr sz="1500">
                <a:solidFill>
                  <a:srgbClr val="4F5D6A"/>
                </a:solidFill>
                <a:latin typeface="Consolas"/>
              </a:rPr>
              <a:t>119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77316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Staffing by Annealing and by Evolution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9 OF 17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6  ·  Local Search and Optimisation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§6.6.1  ·  Handout p. 59     </a:t>
            </a:r>
            <a:fld id="{EE96E84A-652A-4E19-B3E0-BEB24CA069D1}" type="slidenum">
              <a:rPr lang="en-GB" sz="1000">
                <a:solidFill>
                  <a:srgbClr val="8795A1"/>
                </a:solidFill>
                <a:latin typeface="Segoe UI"/>
              </a:rPr>
              <a:t>31</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Genetic algorithm</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340863"/>
          </a:xfrm>
          <a:prstGeom prst="roundRect">
            <a:avLst>
              <a:gd name="adj" fmla="val 390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code/ch06_staffing_annealing.py</a:t>
            </a:r>
          </a:p>
        </p:txBody>
      </p:sp>
      <p:sp>
        <p:nvSpPr>
          <p:cNvPr id="14" name="!!code-text" descr="# --- 4. genetic algorithm ------------------------------------------ def genetic(b, rng, pop=30, mut=0.12): &quot;&quot;&quot;Standard fitness accounting: every individual is evaluated once per generation and the value is then cached for every selection decision in that generation. So one generation costs exactly `pop` evaluations -- no selection is ever free."/>
          <p:cNvSpPr txBox="1"/>
          <p:nvPr/>
        </p:nvSpPr>
        <p:spPr>
          <a:xfrm>
            <a:off x="1362456" y="2523744"/>
            <a:ext cx="9987991" cy="184708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--- 4. genetic algorithm ------------------------------------------</a:t>
            </a:r>
          </a:p>
          <a:p>
            <a:pPr>
              <a:lnSpc>
                <a:spcPct val="100000"/>
              </a:lnSpc>
              <a:spcAft>
                <a:spcPts val="0"/>
              </a:spcAft>
            </a:pPr>
            <a:r>
              <a:rPr sz="1900" i="0">
                <a:solidFill>
                  <a:srgbClr val="5DADE2"/>
                </a:solidFill>
                <a:latin typeface="Consolas"/>
              </a:rPr>
              <a:t>def</a:t>
            </a:r>
            <a:r>
              <a:rPr sz="1900" i="0">
                <a:solidFill>
                  <a:srgbClr val="E8EDF2"/>
                </a:solidFill>
                <a:latin typeface="Consolas"/>
              </a:rPr>
              <a:t> </a:t>
            </a:r>
            <a:r>
              <a:rPr sz="1900" i="0">
                <a:solidFill>
                  <a:srgbClr val="C39BD3"/>
                </a:solidFill>
                <a:latin typeface="Consolas"/>
              </a:rPr>
              <a:t>genetic</a:t>
            </a:r>
            <a:r>
              <a:rPr sz="1900" i="0">
                <a:solidFill>
                  <a:srgbClr val="AEB6BF"/>
                </a:solidFill>
                <a:latin typeface="Consolas"/>
              </a:rPr>
              <a:t>(</a:t>
            </a:r>
            <a:r>
              <a:rPr sz="1900" i="0">
                <a:solidFill>
                  <a:srgbClr val="E8EDF2"/>
                </a:solidFill>
                <a:latin typeface="Consolas"/>
              </a:rPr>
              <a:t>b</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rng</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pop</a:t>
            </a:r>
            <a:r>
              <a:rPr sz="1900" i="0">
                <a:solidFill>
                  <a:srgbClr val="AEB6BF"/>
                </a:solidFill>
                <a:latin typeface="Consolas"/>
              </a:rPr>
              <a:t>=</a:t>
            </a:r>
            <a:r>
              <a:rPr sz="1900" i="0">
                <a:solidFill>
                  <a:srgbClr val="F7DC6F"/>
                </a:solidFill>
                <a:latin typeface="Consolas"/>
              </a:rPr>
              <a:t>30</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mut</a:t>
            </a:r>
            <a:r>
              <a:rPr sz="1900" i="0">
                <a:solidFill>
                  <a:srgbClr val="AEB6BF"/>
                </a:solidFill>
                <a:latin typeface="Consolas"/>
              </a:rPr>
              <a:t>=</a:t>
            </a:r>
            <a:r>
              <a:rPr sz="1900" i="0">
                <a:solidFill>
                  <a:srgbClr val="F7DC6F"/>
                </a:solidFill>
                <a:latin typeface="Consolas"/>
              </a:rPr>
              <a:t>0.12</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Standard fitness accounting: every individual is evaluated once</a:t>
            </a:r>
          </a:p>
          <a:p>
            <a:pPr>
              <a:lnSpc>
                <a:spcPct val="100000"/>
              </a:lnSpc>
              <a:spcAft>
                <a:spcPts val="0"/>
              </a:spcAft>
            </a:pPr>
            <a:r>
              <a:rPr sz="1900" i="0">
                <a:solidFill>
                  <a:srgbClr val="7DCEA0"/>
                </a:solidFill>
                <a:latin typeface="Consolas"/>
              </a:rPr>
              <a:t>    per generation and the value is then cached for every selection</a:t>
            </a:r>
          </a:p>
          <a:p>
            <a:pPr>
              <a:lnSpc>
                <a:spcPct val="100000"/>
              </a:lnSpc>
              <a:spcAft>
                <a:spcPts val="0"/>
              </a:spcAft>
            </a:pPr>
            <a:r>
              <a:rPr sz="1900" i="0">
                <a:solidFill>
                  <a:srgbClr val="7DCEA0"/>
                </a:solidFill>
                <a:latin typeface="Consolas"/>
              </a:rPr>
              <a:t>    decision in that generation. So one generation costs exactly `pop`</a:t>
            </a:r>
          </a:p>
          <a:p>
            <a:pPr>
              <a:lnSpc>
                <a:spcPct val="100000"/>
              </a:lnSpc>
              <a:spcAft>
                <a:spcPts val="0"/>
              </a:spcAft>
            </a:pPr>
            <a:r>
              <a:rPr sz="1900" i="0">
                <a:solidFill>
                  <a:srgbClr val="7DCEA0"/>
                </a:solidFill>
                <a:latin typeface="Consolas"/>
              </a:rPr>
              <a:t>    evaluations -- no selection is ever free.</a:t>
            </a:r>
          </a:p>
        </p:txBody>
      </p:sp>
      <p:sp>
        <p:nvSpPr>
          <p:cNvPr id="15" name="!!code-num"/>
          <p:cNvSpPr txBox="1"/>
          <p:nvPr/>
        </p:nvSpPr>
        <p:spPr>
          <a:xfrm>
            <a:off x="768096" y="2523744"/>
            <a:ext cx="393192" cy="184708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122</a:t>
            </a:r>
          </a:p>
          <a:p>
            <a:pPr algn="r">
              <a:lnSpc>
                <a:spcPct val="100000"/>
              </a:lnSpc>
            </a:pPr>
            <a:r>
              <a:rPr sz="1900">
                <a:solidFill>
                  <a:srgbClr val="4F5D6A"/>
                </a:solidFill>
                <a:latin typeface="Consolas"/>
              </a:rPr>
              <a:t>123</a:t>
            </a:r>
          </a:p>
          <a:p>
            <a:pPr algn="r">
              <a:lnSpc>
                <a:spcPct val="100000"/>
              </a:lnSpc>
            </a:pPr>
            <a:r>
              <a:rPr sz="1900">
                <a:solidFill>
                  <a:srgbClr val="4F5D6A"/>
                </a:solidFill>
                <a:latin typeface="Consolas"/>
              </a:rPr>
              <a:t>124</a:t>
            </a:r>
          </a:p>
          <a:p>
            <a:pPr algn="r">
              <a:lnSpc>
                <a:spcPct val="100000"/>
              </a:lnSpc>
            </a:pPr>
            <a:r>
              <a:rPr sz="1900">
                <a:solidFill>
                  <a:srgbClr val="4F5D6A"/>
                </a:solidFill>
                <a:latin typeface="Consolas"/>
              </a:rPr>
              <a:t>125</a:t>
            </a:r>
          </a:p>
          <a:p>
            <a:pPr algn="r">
              <a:lnSpc>
                <a:spcPct val="100000"/>
              </a:lnSpc>
            </a:pPr>
            <a:r>
              <a:rPr sz="1900">
                <a:solidFill>
                  <a:srgbClr val="4F5D6A"/>
                </a:solidFill>
                <a:latin typeface="Consolas"/>
              </a:rPr>
              <a:t>126</a:t>
            </a:r>
          </a:p>
          <a:p>
            <a:pPr algn="r">
              <a:lnSpc>
                <a:spcPct val="100000"/>
              </a:lnSpc>
            </a:pPr>
            <a:r>
              <a:rPr sz="1900">
                <a:solidFill>
                  <a:srgbClr val="4F5D6A"/>
                </a:solidFill>
                <a:latin typeface="Consolas"/>
              </a:rPr>
              <a:t>127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99893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Staffing by Annealing and by Evolution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10 OF 17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6  ·  Local Search and Optimisation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§6.6.1  ·  Handout p. 59     </a:t>
            </a:r>
            <a:fld id="{3D8379D2-1CFB-4749-B52B-95450F2D0D8D}" type="slidenum">
              <a:rPr lang="en-GB" sz="1000">
                <a:solidFill>
                  <a:srgbClr val="8795A1"/>
                </a:solidFill>
                <a:latin typeface="Segoe UI"/>
              </a:rPr>
              <a:t>32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Genetic algorithm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630424"/>
          </a:xfrm>
          <a:prstGeom prst="roundRect">
            <a:avLst>
              <a:gd name="adj" fmla="val 34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code/ch06_staffing_annealing.py</a:t>
            </a:r>
          </a:p>
        </p:txBody>
      </p:sp>
      <p:sp>
        <p:nvSpPr>
          <p:cNvPr id="14" name="!!code-text" descr="This matters more than it looks. Charging each tournament comparison separately instead costs about six times as much per generation, and the method drops from first place to last. See the alertbox in Section 6.6. &quot;&quot;&quot; P = [random_state(rng) for _ in range(pop)] bestx, bestv = None, None"/>
          <p:cNvSpPr txBox="1"/>
          <p:nvPr/>
        </p:nvSpPr>
        <p:spPr>
          <a:xfrm>
            <a:off x="1362456" y="2523744"/>
            <a:ext cx="9987991" cy="2136648"/>
          </a:xfrm>
          <a:prstGeom prst="rect">
            <a:avLst/>
          </a:prstGeom>
          <a:noFill/>
        </p:spPr>
        <p:txBody>
          <a:bodyPr wrap="none" anchor="t" lIns="0" rIns="0" tIns="0" bIns="0">
            <a:noAutofit/>
          </a:bodyPr>
          <a:lstStyle/>
          <a:p>
            <a:pPr>
              <a:lnSpc>
                <a:spcPct val="100000"/>
              </a:lnSpc>
              <a:spcAft>
                <a:spcPts val="0"/>
              </a:spcAft>
            </a:pPr>
            <a:r>
              <a:rPr sz="1900" i="0">
                <a:solidFill>
                  <a:srgbClr val="E8EDF2"/>
                </a:solidFill>
                <a:latin typeface="Consolas"/>
              </a:rPr>
              <a:t>    </a:t>
            </a:r>
            <a:r>
              <a:rPr sz="1900" i="0">
                <a:solidFill>
                  <a:srgbClr val="E8EDF2"/>
                </a:solidFill>
                <a:latin typeface="Consolas"/>
              </a:rPr>
              <a:t>This</a:t>
            </a:r>
            <a:r>
              <a:rPr sz="1900" i="0">
                <a:solidFill>
                  <a:srgbClr val="E8EDF2"/>
                </a:solidFill>
                <a:latin typeface="Consolas"/>
              </a:rPr>
              <a:t> </a:t>
            </a:r>
            <a:r>
              <a:rPr sz="1900" i="0">
                <a:solidFill>
                  <a:srgbClr val="E8EDF2"/>
                </a:solidFill>
                <a:latin typeface="Consolas"/>
              </a:rPr>
              <a:t>matters</a:t>
            </a:r>
            <a:r>
              <a:rPr sz="1900" i="0">
                <a:solidFill>
                  <a:srgbClr val="E8EDF2"/>
                </a:solidFill>
                <a:latin typeface="Consolas"/>
              </a:rPr>
              <a:t> </a:t>
            </a:r>
            <a:r>
              <a:rPr sz="1900" i="0">
                <a:solidFill>
                  <a:srgbClr val="E8EDF2"/>
                </a:solidFill>
                <a:latin typeface="Consolas"/>
              </a:rPr>
              <a:t>more</a:t>
            </a:r>
            <a:r>
              <a:rPr sz="1900" i="0">
                <a:solidFill>
                  <a:srgbClr val="E8EDF2"/>
                </a:solidFill>
                <a:latin typeface="Consolas"/>
              </a:rPr>
              <a:t> </a:t>
            </a:r>
            <a:r>
              <a:rPr sz="1900" i="0">
                <a:solidFill>
                  <a:srgbClr val="E8EDF2"/>
                </a:solidFill>
                <a:latin typeface="Consolas"/>
              </a:rPr>
              <a:t>than</a:t>
            </a:r>
            <a:r>
              <a:rPr sz="1900" i="0">
                <a:solidFill>
                  <a:srgbClr val="E8EDF2"/>
                </a:solidFill>
                <a:latin typeface="Consolas"/>
              </a:rPr>
              <a:t> </a:t>
            </a:r>
            <a:r>
              <a:rPr sz="1900" i="0">
                <a:solidFill>
                  <a:srgbClr val="E8EDF2"/>
                </a:solidFill>
                <a:latin typeface="Consolas"/>
              </a:rPr>
              <a:t>it</a:t>
            </a:r>
            <a:r>
              <a:rPr sz="1900" i="0">
                <a:solidFill>
                  <a:srgbClr val="E8EDF2"/>
                </a:solidFill>
                <a:latin typeface="Consolas"/>
              </a:rPr>
              <a:t> </a:t>
            </a:r>
            <a:r>
              <a:rPr sz="1900" i="0">
                <a:solidFill>
                  <a:srgbClr val="E8EDF2"/>
                </a:solidFill>
                <a:latin typeface="Consolas"/>
              </a:rPr>
              <a:t>looks</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Charging</a:t>
            </a:r>
            <a:r>
              <a:rPr sz="1900" i="0">
                <a:solidFill>
                  <a:srgbClr val="E8EDF2"/>
                </a:solidFill>
                <a:latin typeface="Consolas"/>
              </a:rPr>
              <a:t> </a:t>
            </a:r>
            <a:r>
              <a:rPr sz="1900" i="0">
                <a:solidFill>
                  <a:srgbClr val="E8EDF2"/>
                </a:solidFill>
                <a:latin typeface="Consolas"/>
              </a:rPr>
              <a:t>each</a:t>
            </a:r>
            <a:r>
              <a:rPr sz="1900" i="0">
                <a:solidFill>
                  <a:srgbClr val="E8EDF2"/>
                </a:solidFill>
                <a:latin typeface="Consolas"/>
              </a:rPr>
              <a:t> </a:t>
            </a:r>
            <a:r>
              <a:rPr sz="1900" i="0">
                <a:solidFill>
                  <a:srgbClr val="E8EDF2"/>
                </a:solidFill>
                <a:latin typeface="Consolas"/>
              </a:rPr>
              <a:t>tournament</a:t>
            </a:r>
          </a:p>
          <a:p>
            <a:pPr>
              <a:lnSpc>
                <a:spcPct val="100000"/>
              </a:lnSpc>
              <a:spcAft>
                <a:spcPts val="0"/>
              </a:spcAft>
            </a:pPr>
            <a:r>
              <a:rPr sz="1900" i="0">
                <a:solidFill>
                  <a:srgbClr val="E8EDF2"/>
                </a:solidFill>
                <a:latin typeface="Consolas"/>
              </a:rPr>
              <a:t>    </a:t>
            </a:r>
            <a:r>
              <a:rPr sz="1900" i="0">
                <a:solidFill>
                  <a:srgbClr val="E8EDF2"/>
                </a:solidFill>
                <a:latin typeface="Consolas"/>
              </a:rPr>
              <a:t>comparison</a:t>
            </a:r>
            <a:r>
              <a:rPr sz="1900" i="0">
                <a:solidFill>
                  <a:srgbClr val="E8EDF2"/>
                </a:solidFill>
                <a:latin typeface="Consolas"/>
              </a:rPr>
              <a:t> </a:t>
            </a:r>
            <a:r>
              <a:rPr sz="1900" i="0">
                <a:solidFill>
                  <a:srgbClr val="E8EDF2"/>
                </a:solidFill>
                <a:latin typeface="Consolas"/>
              </a:rPr>
              <a:t>separately</a:t>
            </a:r>
            <a:r>
              <a:rPr sz="1900" i="0">
                <a:solidFill>
                  <a:srgbClr val="E8EDF2"/>
                </a:solidFill>
                <a:latin typeface="Consolas"/>
              </a:rPr>
              <a:t> </a:t>
            </a:r>
            <a:r>
              <a:rPr sz="1900" i="0">
                <a:solidFill>
                  <a:srgbClr val="E8EDF2"/>
                </a:solidFill>
                <a:latin typeface="Consolas"/>
              </a:rPr>
              <a:t>instead</a:t>
            </a:r>
            <a:r>
              <a:rPr sz="1900" i="0">
                <a:solidFill>
                  <a:srgbClr val="E8EDF2"/>
                </a:solidFill>
                <a:latin typeface="Consolas"/>
              </a:rPr>
              <a:t> </a:t>
            </a:r>
            <a:r>
              <a:rPr sz="1900" i="0">
                <a:solidFill>
                  <a:srgbClr val="E8EDF2"/>
                </a:solidFill>
                <a:latin typeface="Consolas"/>
              </a:rPr>
              <a:t>costs</a:t>
            </a:r>
            <a:r>
              <a:rPr sz="1900" i="0">
                <a:solidFill>
                  <a:srgbClr val="E8EDF2"/>
                </a:solidFill>
                <a:latin typeface="Consolas"/>
              </a:rPr>
              <a:t> </a:t>
            </a:r>
            <a:r>
              <a:rPr sz="1900" i="0">
                <a:solidFill>
                  <a:srgbClr val="E8EDF2"/>
                </a:solidFill>
                <a:latin typeface="Consolas"/>
              </a:rPr>
              <a:t>about</a:t>
            </a:r>
            <a:r>
              <a:rPr sz="1900" i="0">
                <a:solidFill>
                  <a:srgbClr val="E8EDF2"/>
                </a:solidFill>
                <a:latin typeface="Consolas"/>
              </a:rPr>
              <a:t> </a:t>
            </a:r>
            <a:r>
              <a:rPr sz="1900" i="0">
                <a:solidFill>
                  <a:srgbClr val="E8EDF2"/>
                </a:solidFill>
                <a:latin typeface="Consolas"/>
              </a:rPr>
              <a:t>six</a:t>
            </a:r>
            <a:r>
              <a:rPr sz="1900" i="0">
                <a:solidFill>
                  <a:srgbClr val="E8EDF2"/>
                </a:solidFill>
                <a:latin typeface="Consolas"/>
              </a:rPr>
              <a:t> </a:t>
            </a:r>
            <a:r>
              <a:rPr sz="1900" i="0">
                <a:solidFill>
                  <a:srgbClr val="E8EDF2"/>
                </a:solidFill>
                <a:latin typeface="Consolas"/>
              </a:rPr>
              <a:t>times</a:t>
            </a:r>
            <a:r>
              <a:rPr sz="1900" i="0">
                <a:solidFill>
                  <a:srgbClr val="E8EDF2"/>
                </a:solidFill>
                <a:latin typeface="Consolas"/>
              </a:rPr>
              <a:t> </a:t>
            </a:r>
            <a:r>
              <a:rPr sz="1900" i="0">
                <a:solidFill>
                  <a:srgbClr val="5DADE2"/>
                </a:solidFill>
                <a:latin typeface="Consolas"/>
              </a:rPr>
              <a:t>as</a:t>
            </a:r>
            <a:r>
              <a:rPr sz="1900" i="0">
                <a:solidFill>
                  <a:srgbClr val="E8EDF2"/>
                </a:solidFill>
                <a:latin typeface="Consolas"/>
              </a:rPr>
              <a:t> </a:t>
            </a:r>
            <a:r>
              <a:rPr sz="1900" i="0">
                <a:solidFill>
                  <a:srgbClr val="E8EDF2"/>
                </a:solidFill>
                <a:latin typeface="Consolas"/>
              </a:rPr>
              <a:t>much</a:t>
            </a:r>
            <a:r>
              <a:rPr sz="1900" i="0">
                <a:solidFill>
                  <a:srgbClr val="E8EDF2"/>
                </a:solidFill>
                <a:latin typeface="Consolas"/>
              </a:rPr>
              <a:t> </a:t>
            </a:r>
            <a:r>
              <a:rPr sz="1900" i="0">
                <a:solidFill>
                  <a:srgbClr val="E8EDF2"/>
                </a:solidFill>
                <a:latin typeface="Consolas"/>
              </a:rPr>
              <a:t>per</a:t>
            </a:r>
          </a:p>
          <a:p>
            <a:pPr>
              <a:lnSpc>
                <a:spcPct val="100000"/>
              </a:lnSpc>
              <a:spcAft>
                <a:spcPts val="0"/>
              </a:spcAft>
            </a:pPr>
            <a:r>
              <a:rPr sz="1900" i="0">
                <a:solidFill>
                  <a:srgbClr val="E8EDF2"/>
                </a:solidFill>
                <a:latin typeface="Consolas"/>
              </a:rPr>
              <a:t>    </a:t>
            </a:r>
            <a:r>
              <a:rPr sz="1900" i="0">
                <a:solidFill>
                  <a:srgbClr val="E8EDF2"/>
                </a:solidFill>
                <a:latin typeface="Consolas"/>
              </a:rPr>
              <a:t>generation</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and</a:t>
            </a:r>
            <a:r>
              <a:rPr sz="1900" i="0">
                <a:solidFill>
                  <a:srgbClr val="E8EDF2"/>
                </a:solidFill>
                <a:latin typeface="Consolas"/>
              </a:rPr>
              <a:t> </a:t>
            </a:r>
            <a:r>
              <a:rPr sz="1900" i="0">
                <a:solidFill>
                  <a:srgbClr val="E8EDF2"/>
                </a:solidFill>
                <a:latin typeface="Consolas"/>
              </a:rPr>
              <a:t>the</a:t>
            </a:r>
            <a:r>
              <a:rPr sz="1900" i="0">
                <a:solidFill>
                  <a:srgbClr val="E8EDF2"/>
                </a:solidFill>
                <a:latin typeface="Consolas"/>
              </a:rPr>
              <a:t> </a:t>
            </a:r>
            <a:r>
              <a:rPr sz="1900" i="0">
                <a:solidFill>
                  <a:srgbClr val="E8EDF2"/>
                </a:solidFill>
                <a:latin typeface="Consolas"/>
              </a:rPr>
              <a:t>method</a:t>
            </a:r>
            <a:r>
              <a:rPr sz="1900" i="0">
                <a:solidFill>
                  <a:srgbClr val="E8EDF2"/>
                </a:solidFill>
                <a:latin typeface="Consolas"/>
              </a:rPr>
              <a:t> </a:t>
            </a:r>
            <a:r>
              <a:rPr sz="1900" i="0">
                <a:solidFill>
                  <a:srgbClr val="E8EDF2"/>
                </a:solidFill>
                <a:latin typeface="Consolas"/>
              </a:rPr>
              <a:t>drops</a:t>
            </a:r>
            <a:r>
              <a:rPr sz="1900" i="0">
                <a:solidFill>
                  <a:srgbClr val="E8EDF2"/>
                </a:solidFill>
                <a:latin typeface="Consolas"/>
              </a:rPr>
              <a:t> </a:t>
            </a:r>
            <a:r>
              <a:rPr sz="1900" i="0">
                <a:solidFill>
                  <a:srgbClr val="5DADE2"/>
                </a:solidFill>
                <a:latin typeface="Consolas"/>
              </a:rPr>
              <a:t>from</a:t>
            </a:r>
            <a:r>
              <a:rPr sz="1900" i="0">
                <a:solidFill>
                  <a:srgbClr val="E8EDF2"/>
                </a:solidFill>
                <a:latin typeface="Consolas"/>
              </a:rPr>
              <a:t> </a:t>
            </a:r>
            <a:r>
              <a:rPr sz="1900" i="0">
                <a:solidFill>
                  <a:srgbClr val="76D7C4"/>
                </a:solidFill>
                <a:latin typeface="Consolas"/>
              </a:rPr>
              <a:t>first</a:t>
            </a:r>
            <a:r>
              <a:rPr sz="1900" i="0">
                <a:solidFill>
                  <a:srgbClr val="E8EDF2"/>
                </a:solidFill>
                <a:latin typeface="Consolas"/>
              </a:rPr>
              <a:t> </a:t>
            </a:r>
            <a:r>
              <a:rPr sz="1900" i="0">
                <a:solidFill>
                  <a:srgbClr val="E8EDF2"/>
                </a:solidFill>
                <a:latin typeface="Consolas"/>
              </a:rPr>
              <a:t>place</a:t>
            </a:r>
            <a:r>
              <a:rPr sz="1900" i="0">
                <a:solidFill>
                  <a:srgbClr val="E8EDF2"/>
                </a:solidFill>
                <a:latin typeface="Consolas"/>
              </a:rPr>
              <a:t> </a:t>
            </a:r>
            <a:r>
              <a:rPr sz="1900" i="0">
                <a:solidFill>
                  <a:srgbClr val="E8EDF2"/>
                </a:solidFill>
                <a:latin typeface="Consolas"/>
              </a:rPr>
              <a:t>to</a:t>
            </a:r>
            <a:r>
              <a:rPr sz="1900" i="0">
                <a:solidFill>
                  <a:srgbClr val="E8EDF2"/>
                </a:solidFill>
                <a:latin typeface="Consolas"/>
              </a:rPr>
              <a:t> </a:t>
            </a:r>
            <a:r>
              <a:rPr sz="1900" i="0">
                <a:solidFill>
                  <a:srgbClr val="E8EDF2"/>
                </a:solidFill>
                <a:latin typeface="Consolas"/>
              </a:rPr>
              <a:t>last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See</a:t>
            </a:r>
            <a:r>
              <a:rPr sz="1900" i="0">
                <a:solidFill>
                  <a:srgbClr val="E8EDF2"/>
                </a:solidFill>
                <a:latin typeface="Consolas"/>
              </a:rPr>
              <a:t> </a:t>
            </a:r>
            <a:r>
              <a:rPr sz="1900" i="0">
                <a:solidFill>
                  <a:srgbClr val="E8EDF2"/>
                </a:solidFill>
                <a:latin typeface="Consolas"/>
              </a:rPr>
              <a:t>the</a:t>
            </a:r>
          </a:p>
          <a:p>
            <a:pPr>
              <a:lnSpc>
                <a:spcPct val="100000"/>
              </a:lnSpc>
              <a:spcAft>
                <a:spcPts val="0"/>
              </a:spcAft>
            </a:pPr>
            <a:r>
              <a:rPr sz="1900" i="0">
                <a:solidFill>
                  <a:srgbClr val="E8EDF2"/>
                </a:solidFill>
                <a:latin typeface="Consolas"/>
              </a:rPr>
              <a:t>    </a:t>
            </a:r>
            <a:r>
              <a:rPr sz="1900" i="0">
                <a:solidFill>
                  <a:srgbClr val="E8EDF2"/>
                </a:solidFill>
                <a:latin typeface="Consolas"/>
              </a:rPr>
              <a:t>alertbox</a:t>
            </a:r>
            <a:r>
              <a:rPr sz="1900" i="0">
                <a:solidFill>
                  <a:srgbClr val="E8EDF2"/>
                </a:solidFill>
                <a:latin typeface="Consolas"/>
              </a:rPr>
              <a:t> </a:t>
            </a:r>
            <a:r>
              <a:rPr sz="1900" i="0">
                <a:solidFill>
                  <a:srgbClr val="AEB6BF"/>
                </a:solidFill>
                <a:latin typeface="Consolas"/>
              </a:rPr>
              <a:t>in</a:t>
            </a:r>
            <a:r>
              <a:rPr sz="1900" i="0">
                <a:solidFill>
                  <a:srgbClr val="E8EDF2"/>
                </a:solidFill>
                <a:latin typeface="Consolas"/>
              </a:rPr>
              <a:t> </a:t>
            </a:r>
            <a:r>
              <a:rPr sz="1900" i="0">
                <a:solidFill>
                  <a:srgbClr val="E8EDF2"/>
                </a:solidFill>
                <a:latin typeface="Consolas"/>
              </a:rPr>
              <a:t>Section</a:t>
            </a:r>
            <a:r>
              <a:rPr sz="1900" i="0">
                <a:solidFill>
                  <a:srgbClr val="E8EDF2"/>
                </a:solidFill>
                <a:latin typeface="Consolas"/>
              </a:rPr>
              <a:t> </a:t>
            </a:r>
            <a:r>
              <a:rPr sz="1900" i="0">
                <a:solidFill>
                  <a:srgbClr val="F7DC6F"/>
                </a:solidFill>
                <a:latin typeface="Consolas"/>
              </a:rPr>
              <a:t>6.6</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7DCEA0"/>
                </a:solidFill>
                <a:latin typeface="Consolas"/>
              </a:rPr>
              <a:t>"""</a:t>
            </a:r>
          </a:p>
          <a:p>
            <a:pPr>
              <a:lnSpc>
                <a:spcPct val="100000"/>
              </a:lnSpc>
              <a:spcAft>
                <a:spcPts val="0"/>
              </a:spcAft>
            </a:pPr>
            <a:r>
              <a:rPr sz="1900" i="0">
                <a:solidFill>
                  <a:srgbClr val="7DCEA0"/>
                </a:solidFill>
                <a:latin typeface="Consolas"/>
              </a:rPr>
              <a:t>    P = [random_state(rng) for _ in range(pop)]</a:t>
            </a:r>
          </a:p>
          <a:p>
            <a:pPr>
              <a:lnSpc>
                <a:spcPct val="100000"/>
              </a:lnSpc>
              <a:spcAft>
                <a:spcPts val="0"/>
              </a:spcAft>
            </a:pPr>
            <a:r>
              <a:rPr sz="1900" i="0">
                <a:solidFill>
                  <a:srgbClr val="7DCEA0"/>
                </a:solidFill>
                <a:latin typeface="Consolas"/>
              </a:rPr>
              <a:t>    bestx, bestv = None, None</a:t>
            </a:r>
          </a:p>
        </p:txBody>
      </p:sp>
      <p:sp>
        <p:nvSpPr>
          <p:cNvPr id="15" name="!!code-num"/>
          <p:cNvSpPr txBox="1"/>
          <p:nvPr/>
        </p:nvSpPr>
        <p:spPr>
          <a:xfrm>
            <a:off x="768096" y="2523744"/>
            <a:ext cx="393192" cy="213664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129</a:t>
            </a:r>
          </a:p>
          <a:p>
            <a:pPr algn="r">
              <a:lnSpc>
                <a:spcPct val="100000"/>
              </a:lnSpc>
            </a:pPr>
            <a:r>
              <a:rPr sz="1900">
                <a:solidFill>
                  <a:srgbClr val="4F5D6A"/>
                </a:solidFill>
                <a:latin typeface="Consolas"/>
              </a:rPr>
              <a:t>130</a:t>
            </a:r>
          </a:p>
          <a:p>
            <a:pPr algn="r">
              <a:lnSpc>
                <a:spcPct val="100000"/>
              </a:lnSpc>
            </a:pPr>
            <a:r>
              <a:rPr sz="1900">
                <a:solidFill>
                  <a:srgbClr val="4F5D6A"/>
                </a:solidFill>
                <a:latin typeface="Consolas"/>
              </a:rPr>
              <a:t>131</a:t>
            </a:r>
          </a:p>
          <a:p>
            <a:pPr algn="r">
              <a:lnSpc>
                <a:spcPct val="100000"/>
              </a:lnSpc>
            </a:pPr>
            <a:r>
              <a:rPr sz="1900">
                <a:solidFill>
                  <a:srgbClr val="4F5D6A"/>
                </a:solidFill>
                <a:latin typeface="Consolas"/>
              </a:rPr>
              <a:t>132</a:t>
            </a:r>
          </a:p>
          <a:p>
            <a:pPr algn="r">
              <a:lnSpc>
                <a:spcPct val="100000"/>
              </a:lnSpc>
            </a:pPr>
            <a:r>
              <a:rPr sz="1900">
                <a:solidFill>
                  <a:srgbClr val="4F5D6A"/>
                </a:solidFill>
                <a:latin typeface="Consolas"/>
              </a:rPr>
              <a:t>133</a:t>
            </a:r>
          </a:p>
          <a:p>
            <a:pPr algn="r">
              <a:lnSpc>
                <a:spcPct val="100000"/>
              </a:lnSpc>
            </a:pPr>
            <a:r>
              <a:rPr sz="1900">
                <a:solidFill>
                  <a:srgbClr val="4F5D6A"/>
                </a:solidFill>
                <a:latin typeface="Consolas"/>
              </a:rPr>
              <a:t>134</a:t>
            </a:r>
          </a:p>
          <a:p>
            <a:pPr algn="r">
              <a:lnSpc>
                <a:spcPct val="100000"/>
              </a:lnSpc>
            </a:pPr>
            <a:r>
              <a:rPr sz="1900">
                <a:solidFill>
                  <a:srgbClr val="4F5D6A"/>
                </a:solidFill>
                <a:latin typeface="Consolas"/>
              </a:rPr>
              <a:t>135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22470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Staffing by Annealing and by Evolution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11 OF 17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6  ·  Local Search and Optimisation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§6.6.1  ·  Handout p. 59     </a:t>
            </a:r>
            <a:fld id="{E97971F8-6634-4A16-B360-8BC4D761740E}" type="slidenum">
              <a:rPr lang="en-GB" sz="1000">
                <a:solidFill>
                  <a:srgbClr val="8795A1"/>
                </a:solidFill>
                <a:latin typeface="Segoe UI"/>
              </a:rPr>
              <a:t>33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Genetic algorithm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78223"/>
          </a:xfrm>
          <a:prstGeom prst="roundRect">
            <a:avLst>
              <a:gd name="adj" fmla="val 224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code/ch06_staffing_annealing.py</a:t>
            </a:r>
          </a:p>
        </p:txBody>
      </p:sp>
      <p:sp>
        <p:nvSpPr>
          <p:cNvPr id="14" name="!!code-text" descr="while b.n + pop &lt;= b.cap: fit = [b.score(x) for x in P] # pop evaluations, once order = sorted(range(pop), key=lambda i: -fit[i]) if bestv is None or fit[order[0]] &gt; bestv: bestv, bestx = fit[order[0]], P[order[0]] elite = [P[i] for i in order[: pop // 5]] nxt = list(elite) def tournament(): &quot;&quot;&quot;Best of three, judged on the cached fitness.&quot;&quot;&quot; picked = rng.sample(range(pop), 3) return P[max(picked, key=lambda i: fit[i])]"/>
          <p:cNvSpPr txBox="1"/>
          <p:nvPr/>
        </p:nvSpPr>
        <p:spPr>
          <a:xfrm>
            <a:off x="1362456" y="2523744"/>
            <a:ext cx="9987991" cy="3584447"/>
          </a:xfrm>
          <a:prstGeom prst="rect">
            <a:avLst/>
          </a:prstGeom>
          <a:noFill/>
        </p:spPr>
        <p:txBody>
          <a:bodyPr wrap="none" anchor="t" lIns="0" rIns="0" tIns="0" bIns="0">
            <a:noAutofit/>
          </a:bodyPr>
          <a:lstStyle/>
          <a:p>
            <a:pPr>
              <a:lnSpc>
                <a:spcPct val="100000"/>
              </a:lnSpc>
              <a:spcAft>
                <a:spcPts val="0"/>
              </a:spcAft>
            </a:pPr>
            <a:r>
              <a:rPr sz="1900" i="0">
                <a:solidFill>
                  <a:srgbClr val="E8EDF2"/>
                </a:solidFill>
                <a:latin typeface="Consolas"/>
              </a:rPr>
              <a:t>    </a:t>
            </a:r>
            <a:r>
              <a:rPr sz="1900" i="0">
                <a:solidFill>
                  <a:srgbClr val="5DADE2"/>
                </a:solidFill>
                <a:latin typeface="Consolas"/>
              </a:rPr>
              <a:t>while</a:t>
            </a:r>
            <a:r>
              <a:rPr sz="1900" i="0">
                <a:solidFill>
                  <a:srgbClr val="E8EDF2"/>
                </a:solidFill>
                <a:latin typeface="Consolas"/>
              </a:rPr>
              <a:t> </a:t>
            </a:r>
            <a:r>
              <a:rPr sz="1900" i="0">
                <a:solidFill>
                  <a:srgbClr val="E8EDF2"/>
                </a:solidFill>
                <a:latin typeface="Consolas"/>
              </a:rPr>
              <a:t>b</a:t>
            </a:r>
            <a:r>
              <a:rPr sz="1900" i="0">
                <a:solidFill>
                  <a:srgbClr val="AEB6BF"/>
                </a:solidFill>
                <a:latin typeface="Consolas"/>
              </a:rPr>
              <a:t>.</a:t>
            </a:r>
            <a:r>
              <a:rPr sz="1900" i="0">
                <a:solidFill>
                  <a:srgbClr val="E8EDF2"/>
                </a:solidFill>
                <a:latin typeface="Consolas"/>
              </a:rPr>
              <a:t>n</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pop</a:t>
            </a:r>
            <a:r>
              <a:rPr sz="1900" i="0">
                <a:solidFill>
                  <a:srgbClr val="E8EDF2"/>
                </a:solidFill>
                <a:latin typeface="Consolas"/>
              </a:rPr>
              <a:t> </a:t>
            </a:r>
            <a:r>
              <a:rPr sz="1900" i="0">
                <a:solidFill>
                  <a:srgbClr val="AEB6BF"/>
                </a:solidFill>
                <a:latin typeface="Consolas"/>
              </a:rPr>
              <a:t>&lt;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b</a:t>
            </a:r>
            <a:r>
              <a:rPr sz="1900" i="0">
                <a:solidFill>
                  <a:srgbClr val="AEB6BF"/>
                </a:solidFill>
                <a:latin typeface="Consolas"/>
              </a:rPr>
              <a:t>.</a:t>
            </a:r>
            <a:r>
              <a:rPr sz="1900" i="0">
                <a:solidFill>
                  <a:srgbClr val="E8EDF2"/>
                </a:solidFill>
                <a:latin typeface="Consolas"/>
              </a:rPr>
              <a:t>cap</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fit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b</a:t>
            </a:r>
            <a:r>
              <a:rPr sz="1900" i="0">
                <a:solidFill>
                  <a:srgbClr val="AEB6BF"/>
                </a:solidFill>
                <a:latin typeface="Consolas"/>
              </a:rPr>
              <a:t>.</a:t>
            </a:r>
            <a:r>
              <a:rPr sz="1900" i="0">
                <a:solidFill>
                  <a:srgbClr val="E8EDF2"/>
                </a:solidFill>
                <a:latin typeface="Consolas"/>
              </a:rPr>
              <a:t>score</a:t>
            </a:r>
            <a:r>
              <a:rPr sz="1900" i="0">
                <a:solidFill>
                  <a:srgbClr val="AEB6BF"/>
                </a:solidFill>
                <a:latin typeface="Consolas"/>
              </a:rPr>
              <a:t>(</a:t>
            </a:r>
            <a:r>
              <a:rPr sz="1900" i="0">
                <a:solidFill>
                  <a:srgbClr val="E8EDF2"/>
                </a:solidFill>
                <a:latin typeface="Consolas"/>
              </a:rPr>
              <a:t>x</a:t>
            </a:r>
            <a:r>
              <a:rPr sz="1900" i="0">
                <a:solidFill>
                  <a:srgbClr val="AEB6BF"/>
                </a:solidFill>
                <a:latin typeface="Consolas"/>
              </a:rPr>
              <a:t>)</a:t>
            </a:r>
            <a:r>
              <a:rPr sz="1900" i="0">
                <a:solidFill>
                  <a:srgbClr val="E8EDF2"/>
                </a:solidFill>
                <a:latin typeface="Consolas"/>
              </a:rPr>
              <a:t> </a:t>
            </a:r>
            <a:r>
              <a:rPr sz="1900" i="0">
                <a:solidFill>
                  <a:srgbClr val="5DADE2"/>
                </a:solidFill>
                <a:latin typeface="Consolas"/>
              </a:rPr>
              <a:t>for</a:t>
            </a:r>
            <a:r>
              <a:rPr sz="1900" i="0">
                <a:solidFill>
                  <a:srgbClr val="E8EDF2"/>
                </a:solidFill>
                <a:latin typeface="Consolas"/>
              </a:rPr>
              <a:t> </a:t>
            </a:r>
            <a:r>
              <a:rPr sz="1900" i="0">
                <a:solidFill>
                  <a:srgbClr val="E8EDF2"/>
                </a:solidFill>
                <a:latin typeface="Consolas"/>
              </a:rPr>
              <a:t>x</a:t>
            </a:r>
            <a:r>
              <a:rPr sz="1900" i="0">
                <a:solidFill>
                  <a:srgbClr val="E8EDF2"/>
                </a:solidFill>
                <a:latin typeface="Consolas"/>
              </a:rPr>
              <a:t> </a:t>
            </a:r>
            <a:r>
              <a:rPr sz="1900" i="0">
                <a:solidFill>
                  <a:srgbClr val="AEB6BF"/>
                </a:solidFill>
                <a:latin typeface="Consolas"/>
              </a:rPr>
              <a:t>in</a:t>
            </a:r>
            <a:r>
              <a:rPr sz="1900" i="0">
                <a:solidFill>
                  <a:srgbClr val="E8EDF2"/>
                </a:solidFill>
                <a:latin typeface="Consolas"/>
              </a:rPr>
              <a:t> </a:t>
            </a:r>
            <a:r>
              <a:rPr sz="1900" i="0">
                <a:solidFill>
                  <a:srgbClr val="E8EDF2"/>
                </a:solidFill>
                <a:latin typeface="Consolas"/>
              </a:rPr>
              <a:t>P</a:t>
            </a:r>
            <a:r>
              <a:rPr sz="1900" i="0">
                <a:solidFill>
                  <a:srgbClr val="AEB6BF"/>
                </a:solidFill>
                <a:latin typeface="Consolas"/>
              </a:rPr>
              <a:t>]</a:t>
            </a:r>
            <a:r>
              <a:rPr sz="1900" i="0">
                <a:solidFill>
                  <a:srgbClr val="E8EDF2"/>
                </a:solidFill>
                <a:latin typeface="Consolas"/>
              </a:rPr>
              <a:t>          </a:t>
            </a:r>
            <a:r>
              <a:rPr sz="1900" i="1">
                <a:solidFill>
                  <a:srgbClr val="8795A1"/>
                </a:solidFill>
                <a:latin typeface="Consolas"/>
              </a:rPr>
              <a:t># pop evaluations, once</a:t>
            </a:r>
          </a:p>
          <a:p>
            <a:pPr>
              <a:lnSpc>
                <a:spcPct val="100000"/>
              </a:lnSpc>
              <a:spcAft>
                <a:spcPts val="0"/>
              </a:spcAft>
            </a:pPr>
            <a:r>
              <a:rPr sz="1900" i="0">
                <a:solidFill>
                  <a:srgbClr val="E8EDF2"/>
                </a:solidFill>
                <a:latin typeface="Consolas"/>
              </a:rPr>
              <a:t>        </a:t>
            </a:r>
            <a:r>
              <a:rPr sz="1900" i="0">
                <a:solidFill>
                  <a:srgbClr val="E8EDF2"/>
                </a:solidFill>
                <a:latin typeface="Consolas"/>
              </a:rPr>
              <a:t>order</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sorted</a:t>
            </a:r>
            <a:r>
              <a:rPr sz="1900" i="0">
                <a:solidFill>
                  <a:srgbClr val="AEB6BF"/>
                </a:solidFill>
                <a:latin typeface="Consolas"/>
              </a:rPr>
              <a:t>(</a:t>
            </a:r>
            <a:r>
              <a:rPr sz="1900" i="0">
                <a:solidFill>
                  <a:srgbClr val="C39BD3"/>
                </a:solidFill>
                <a:latin typeface="Consolas"/>
              </a:rPr>
              <a:t>range</a:t>
            </a:r>
            <a:r>
              <a:rPr sz="1900" i="0">
                <a:solidFill>
                  <a:srgbClr val="AEB6BF"/>
                </a:solidFill>
                <a:latin typeface="Consolas"/>
              </a:rPr>
              <a:t>(</a:t>
            </a:r>
            <a:r>
              <a:rPr sz="1900" i="0">
                <a:solidFill>
                  <a:srgbClr val="E8EDF2"/>
                </a:solidFill>
                <a:latin typeface="Consolas"/>
              </a:rPr>
              <a:t>pop</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key</a:t>
            </a:r>
            <a:r>
              <a:rPr sz="1900" i="0">
                <a:solidFill>
                  <a:srgbClr val="AEB6BF"/>
                </a:solidFill>
                <a:latin typeface="Consolas"/>
              </a:rPr>
              <a:t>=</a:t>
            </a:r>
            <a:r>
              <a:rPr sz="1900" i="0">
                <a:solidFill>
                  <a:srgbClr val="5DADE2"/>
                </a:solidFill>
                <a:latin typeface="Consolas"/>
              </a:rPr>
              <a:t>lambda</a:t>
            </a:r>
            <a:r>
              <a:rPr sz="1900" i="0">
                <a:solidFill>
                  <a:srgbClr val="E8EDF2"/>
                </a:solidFill>
                <a:latin typeface="Consolas"/>
              </a:rPr>
              <a:t> </a:t>
            </a:r>
            <a:r>
              <a:rPr sz="1900" i="0">
                <a:solidFill>
                  <a:srgbClr val="E8EDF2"/>
                </a:solidFill>
                <a:latin typeface="Consolas"/>
              </a:rPr>
              <a:t>i</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fit</a:t>
            </a:r>
            <a:r>
              <a:rPr sz="1900" i="0">
                <a:solidFill>
                  <a:srgbClr val="AEB6BF"/>
                </a:solidFill>
                <a:latin typeface="Consolas"/>
              </a:rPr>
              <a:t>[</a:t>
            </a:r>
            <a:r>
              <a:rPr sz="1900" i="0">
                <a:solidFill>
                  <a:srgbClr val="E8EDF2"/>
                </a:solidFill>
                <a:latin typeface="Consolas"/>
              </a:rPr>
              <a:t>i</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if</a:t>
            </a:r>
            <a:r>
              <a:rPr sz="1900" i="0">
                <a:solidFill>
                  <a:srgbClr val="E8EDF2"/>
                </a:solidFill>
                <a:latin typeface="Consolas"/>
              </a:rPr>
              <a:t> </a:t>
            </a:r>
            <a:r>
              <a:rPr sz="1900" i="0">
                <a:solidFill>
                  <a:srgbClr val="E8EDF2"/>
                </a:solidFill>
                <a:latin typeface="Consolas"/>
              </a:rPr>
              <a:t>bestv</a:t>
            </a:r>
            <a:r>
              <a:rPr sz="1900" i="0">
                <a:solidFill>
                  <a:srgbClr val="E8EDF2"/>
                </a:solidFill>
                <a:latin typeface="Consolas"/>
              </a:rPr>
              <a:t> </a:t>
            </a:r>
            <a:r>
              <a:rPr sz="1900" i="0">
                <a:solidFill>
                  <a:srgbClr val="AEB6BF"/>
                </a:solidFill>
                <a:latin typeface="Consolas"/>
              </a:rPr>
              <a:t>is</a:t>
            </a:r>
            <a:r>
              <a:rPr sz="1900" i="0">
                <a:solidFill>
                  <a:srgbClr val="E8EDF2"/>
                </a:solidFill>
                <a:latin typeface="Consolas"/>
              </a:rPr>
              <a:t> </a:t>
            </a:r>
            <a:r>
              <a:rPr sz="1900" i="0">
                <a:solidFill>
                  <a:srgbClr val="5DADE2"/>
                </a:solidFill>
                <a:latin typeface="Consolas"/>
              </a:rPr>
              <a:t>None</a:t>
            </a:r>
            <a:r>
              <a:rPr sz="1900" i="0">
                <a:solidFill>
                  <a:srgbClr val="E8EDF2"/>
                </a:solidFill>
                <a:latin typeface="Consolas"/>
              </a:rPr>
              <a:t> </a:t>
            </a:r>
            <a:r>
              <a:rPr sz="1900" i="0">
                <a:solidFill>
                  <a:srgbClr val="AEB6BF"/>
                </a:solidFill>
                <a:latin typeface="Consolas"/>
              </a:rPr>
              <a:t>or</a:t>
            </a:r>
            <a:r>
              <a:rPr sz="1900" i="0">
                <a:solidFill>
                  <a:srgbClr val="E8EDF2"/>
                </a:solidFill>
                <a:latin typeface="Consolas"/>
              </a:rPr>
              <a:t> </a:t>
            </a:r>
            <a:r>
              <a:rPr sz="1900" i="0">
                <a:solidFill>
                  <a:srgbClr val="E8EDF2"/>
                </a:solidFill>
                <a:latin typeface="Consolas"/>
              </a:rPr>
              <a:t>fit</a:t>
            </a:r>
            <a:r>
              <a:rPr sz="1900" i="0">
                <a:solidFill>
                  <a:srgbClr val="AEB6BF"/>
                </a:solidFill>
                <a:latin typeface="Consolas"/>
              </a:rPr>
              <a:t>[</a:t>
            </a:r>
            <a:r>
              <a:rPr sz="1900" i="0">
                <a:solidFill>
                  <a:srgbClr val="E8EDF2"/>
                </a:solidFill>
                <a:latin typeface="Consolas"/>
              </a:rPr>
              <a:t>order</a:t>
            </a:r>
            <a:r>
              <a:rPr sz="1900" i="0">
                <a:solidFill>
                  <a:srgbClr val="AEB6BF"/>
                </a:solidFill>
                <a:latin typeface="Consolas"/>
              </a:rPr>
              <a:t>[</a:t>
            </a:r>
            <a:r>
              <a:rPr sz="1900" i="0">
                <a:solidFill>
                  <a:srgbClr val="F7DC6F"/>
                </a:solidFill>
                <a:latin typeface="Consolas"/>
              </a:rPr>
              <a:t>0</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&gt;</a:t>
            </a:r>
            <a:r>
              <a:rPr sz="1900" i="0">
                <a:solidFill>
                  <a:srgbClr val="E8EDF2"/>
                </a:solidFill>
                <a:latin typeface="Consolas"/>
              </a:rPr>
              <a:t> </a:t>
            </a:r>
            <a:r>
              <a:rPr sz="1900" i="0">
                <a:solidFill>
                  <a:srgbClr val="E8EDF2"/>
                </a:solidFill>
                <a:latin typeface="Consolas"/>
              </a:rPr>
              <a:t>bestv</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bestv</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bestx</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fit</a:t>
            </a:r>
            <a:r>
              <a:rPr sz="1900" i="0">
                <a:solidFill>
                  <a:srgbClr val="AEB6BF"/>
                </a:solidFill>
                <a:latin typeface="Consolas"/>
              </a:rPr>
              <a:t>[</a:t>
            </a:r>
            <a:r>
              <a:rPr sz="1900" i="0">
                <a:solidFill>
                  <a:srgbClr val="E8EDF2"/>
                </a:solidFill>
                <a:latin typeface="Consolas"/>
              </a:rPr>
              <a:t>order</a:t>
            </a:r>
            <a:r>
              <a:rPr sz="1900" i="0">
                <a:solidFill>
                  <a:srgbClr val="AEB6BF"/>
                </a:solidFill>
                <a:latin typeface="Consolas"/>
              </a:rPr>
              <a:t>[</a:t>
            </a:r>
            <a:r>
              <a:rPr sz="1900" i="0">
                <a:solidFill>
                  <a:srgbClr val="F7DC6F"/>
                </a:solidFill>
                <a:latin typeface="Consolas"/>
              </a:rPr>
              <a:t>0</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P</a:t>
            </a:r>
            <a:r>
              <a:rPr sz="1900" i="0">
                <a:solidFill>
                  <a:srgbClr val="AEB6BF"/>
                </a:solidFill>
                <a:latin typeface="Consolas"/>
              </a:rPr>
              <a:t>[</a:t>
            </a:r>
            <a:r>
              <a:rPr sz="1900" i="0">
                <a:solidFill>
                  <a:srgbClr val="E8EDF2"/>
                </a:solidFill>
                <a:latin typeface="Consolas"/>
              </a:rPr>
              <a:t>order</a:t>
            </a:r>
            <a:r>
              <a:rPr sz="1900" i="0">
                <a:solidFill>
                  <a:srgbClr val="AEB6BF"/>
                </a:solidFill>
                <a:latin typeface="Consolas"/>
              </a:rPr>
              <a:t>[</a:t>
            </a:r>
            <a:r>
              <a:rPr sz="1900" i="0">
                <a:solidFill>
                  <a:srgbClr val="F7DC6F"/>
                </a:solidFill>
                <a:latin typeface="Consolas"/>
              </a:rPr>
              <a:t>0</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elite</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P</a:t>
            </a:r>
            <a:r>
              <a:rPr sz="1900" i="0">
                <a:solidFill>
                  <a:srgbClr val="AEB6BF"/>
                </a:solidFill>
                <a:latin typeface="Consolas"/>
              </a:rPr>
              <a:t>[</a:t>
            </a:r>
            <a:r>
              <a:rPr sz="1900" i="0">
                <a:solidFill>
                  <a:srgbClr val="E8EDF2"/>
                </a:solidFill>
                <a:latin typeface="Consolas"/>
              </a:rPr>
              <a:t>i</a:t>
            </a:r>
            <a:r>
              <a:rPr sz="1900" i="0">
                <a:solidFill>
                  <a:srgbClr val="AEB6BF"/>
                </a:solidFill>
                <a:latin typeface="Consolas"/>
              </a:rPr>
              <a:t>]</a:t>
            </a:r>
            <a:r>
              <a:rPr sz="1900" i="0">
                <a:solidFill>
                  <a:srgbClr val="E8EDF2"/>
                </a:solidFill>
                <a:latin typeface="Consolas"/>
              </a:rPr>
              <a:t> </a:t>
            </a:r>
            <a:r>
              <a:rPr sz="1900" i="0">
                <a:solidFill>
                  <a:srgbClr val="5DADE2"/>
                </a:solidFill>
                <a:latin typeface="Consolas"/>
              </a:rPr>
              <a:t>for</a:t>
            </a:r>
            <a:r>
              <a:rPr sz="1900" i="0">
                <a:solidFill>
                  <a:srgbClr val="E8EDF2"/>
                </a:solidFill>
                <a:latin typeface="Consolas"/>
              </a:rPr>
              <a:t> </a:t>
            </a:r>
            <a:r>
              <a:rPr sz="1900" i="0">
                <a:solidFill>
                  <a:srgbClr val="E8EDF2"/>
                </a:solidFill>
                <a:latin typeface="Consolas"/>
              </a:rPr>
              <a:t>i</a:t>
            </a:r>
            <a:r>
              <a:rPr sz="1900" i="0">
                <a:solidFill>
                  <a:srgbClr val="E8EDF2"/>
                </a:solidFill>
                <a:latin typeface="Consolas"/>
              </a:rPr>
              <a:t> </a:t>
            </a:r>
            <a:r>
              <a:rPr sz="1900" i="0">
                <a:solidFill>
                  <a:srgbClr val="AEB6BF"/>
                </a:solidFill>
                <a:latin typeface="Consolas"/>
              </a:rPr>
              <a:t>in</a:t>
            </a:r>
            <a:r>
              <a:rPr sz="1900" i="0">
                <a:solidFill>
                  <a:srgbClr val="E8EDF2"/>
                </a:solidFill>
                <a:latin typeface="Consolas"/>
              </a:rPr>
              <a:t> </a:t>
            </a:r>
            <a:r>
              <a:rPr sz="1900" i="0">
                <a:solidFill>
                  <a:srgbClr val="E8EDF2"/>
                </a:solidFill>
                <a:latin typeface="Consolas"/>
              </a:rPr>
              <a:t>order</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pop</a:t>
            </a:r>
            <a:r>
              <a:rPr sz="1900" i="0">
                <a:solidFill>
                  <a:srgbClr val="E8EDF2"/>
                </a:solidFill>
                <a:latin typeface="Consolas"/>
              </a:rPr>
              <a:t> </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5</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nxt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list</a:t>
            </a:r>
            <a:r>
              <a:rPr sz="1900" i="0">
                <a:solidFill>
                  <a:srgbClr val="AEB6BF"/>
                </a:solidFill>
                <a:latin typeface="Consolas"/>
              </a:rPr>
              <a:t>(</a:t>
            </a:r>
            <a:r>
              <a:rPr sz="1900" i="0">
                <a:solidFill>
                  <a:srgbClr val="E8EDF2"/>
                </a:solidFill>
                <a:latin typeface="Consolas"/>
              </a:rPr>
              <a:t>elite</a:t>
            </a:r>
            <a:r>
              <a:rPr sz="1900" i="0">
                <a:solidFill>
                  <a:srgbClr val="AEB6BF"/>
                </a:solidFill>
                <a:latin typeface="Consolas"/>
              </a:rPr>
              <a:t>)</a:t>
            </a:r>
          </a:p>
          <a:p>
            <a:pPr>
              <a:lnSpc>
                <a:spcPct val="100000"/>
              </a:lnSpc>
              <a:spcAft>
                <a:spcPts val="0"/>
              </a:spcAft>
            </a:pPr>
            <a:r>
              <a:rPr sz="1900">
                <a:latin typeface="Consolas"/>
              </a:rPr>
              <a:t> </a:t>
            </a:r>
          </a:p>
          <a:p>
            <a:pPr>
              <a:lnSpc>
                <a:spcPct val="100000"/>
              </a:lnSpc>
              <a:spcAft>
                <a:spcPts val="0"/>
              </a:spcAft>
            </a:pPr>
            <a:r>
              <a:rPr sz="1900" i="0">
                <a:solidFill>
                  <a:srgbClr val="E8EDF2"/>
                </a:solidFill>
                <a:latin typeface="Consolas"/>
              </a:rPr>
              <a:t>        </a:t>
            </a:r>
            <a:r>
              <a:rPr sz="1900" i="0">
                <a:solidFill>
                  <a:srgbClr val="5DADE2"/>
                </a:solidFill>
                <a:latin typeface="Consolas"/>
              </a:rPr>
              <a:t>def</a:t>
            </a:r>
            <a:r>
              <a:rPr sz="1900" i="0">
                <a:solidFill>
                  <a:srgbClr val="E8EDF2"/>
                </a:solidFill>
                <a:latin typeface="Consolas"/>
              </a:rPr>
              <a:t> </a:t>
            </a:r>
            <a:r>
              <a:rPr sz="1900" i="0">
                <a:solidFill>
                  <a:srgbClr val="C39BD3"/>
                </a:solidFill>
                <a:latin typeface="Consolas"/>
              </a:rPr>
              <a:t>tournament</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7DCEA0"/>
                </a:solidFill>
                <a:latin typeface="Consolas"/>
              </a:rPr>
              <a:t>"""Best of three, judged on the cached fitness."""</a:t>
            </a:r>
          </a:p>
          <a:p>
            <a:pPr>
              <a:lnSpc>
                <a:spcPct val="100000"/>
              </a:lnSpc>
              <a:spcAft>
                <a:spcPts val="0"/>
              </a:spcAft>
            </a:pPr>
            <a:r>
              <a:rPr sz="1900" i="0">
                <a:solidFill>
                  <a:srgbClr val="E8EDF2"/>
                </a:solidFill>
                <a:latin typeface="Consolas"/>
              </a:rPr>
              <a:t>            </a:t>
            </a:r>
            <a:r>
              <a:rPr sz="1900" i="0">
                <a:solidFill>
                  <a:srgbClr val="E8EDF2"/>
                </a:solidFill>
                <a:latin typeface="Consolas"/>
              </a:rPr>
              <a:t>picked</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rng</a:t>
            </a:r>
            <a:r>
              <a:rPr sz="1900" i="0">
                <a:solidFill>
                  <a:srgbClr val="AEB6BF"/>
                </a:solidFill>
                <a:latin typeface="Consolas"/>
              </a:rPr>
              <a:t>.</a:t>
            </a:r>
            <a:r>
              <a:rPr sz="1900" i="0">
                <a:solidFill>
                  <a:srgbClr val="E8EDF2"/>
                </a:solidFill>
                <a:latin typeface="Consolas"/>
              </a:rPr>
              <a:t>sample</a:t>
            </a:r>
            <a:r>
              <a:rPr sz="1900" i="0">
                <a:solidFill>
                  <a:srgbClr val="AEB6BF"/>
                </a:solidFill>
                <a:latin typeface="Consolas"/>
              </a:rPr>
              <a:t>(</a:t>
            </a:r>
            <a:r>
              <a:rPr sz="1900" i="0">
                <a:solidFill>
                  <a:srgbClr val="C39BD3"/>
                </a:solidFill>
                <a:latin typeface="Consolas"/>
              </a:rPr>
              <a:t>range</a:t>
            </a:r>
            <a:r>
              <a:rPr sz="1900" i="0">
                <a:solidFill>
                  <a:srgbClr val="AEB6BF"/>
                </a:solidFill>
                <a:latin typeface="Consolas"/>
              </a:rPr>
              <a:t>(</a:t>
            </a:r>
            <a:r>
              <a:rPr sz="1900" i="0">
                <a:solidFill>
                  <a:srgbClr val="E8EDF2"/>
                </a:solidFill>
                <a:latin typeface="Consolas"/>
              </a:rPr>
              <a:t>pop</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3</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return</a:t>
            </a:r>
            <a:r>
              <a:rPr sz="1900" i="0">
                <a:solidFill>
                  <a:srgbClr val="E8EDF2"/>
                </a:solidFill>
                <a:latin typeface="Consolas"/>
              </a:rPr>
              <a:t> </a:t>
            </a:r>
            <a:r>
              <a:rPr sz="1900" i="0">
                <a:solidFill>
                  <a:srgbClr val="E8EDF2"/>
                </a:solidFill>
                <a:latin typeface="Consolas"/>
              </a:rPr>
              <a:t>P</a:t>
            </a:r>
            <a:r>
              <a:rPr sz="1900" i="0">
                <a:solidFill>
                  <a:srgbClr val="AEB6BF"/>
                </a:solidFill>
                <a:latin typeface="Consolas"/>
              </a:rPr>
              <a:t>[</a:t>
            </a:r>
            <a:r>
              <a:rPr sz="1900" i="0">
                <a:solidFill>
                  <a:srgbClr val="C39BD3"/>
                </a:solidFill>
                <a:latin typeface="Consolas"/>
              </a:rPr>
              <a:t>max</a:t>
            </a:r>
            <a:r>
              <a:rPr sz="1900" i="0">
                <a:solidFill>
                  <a:srgbClr val="AEB6BF"/>
                </a:solidFill>
                <a:latin typeface="Consolas"/>
              </a:rPr>
              <a:t>(</a:t>
            </a:r>
            <a:r>
              <a:rPr sz="1900" i="0">
                <a:solidFill>
                  <a:srgbClr val="E8EDF2"/>
                </a:solidFill>
                <a:latin typeface="Consolas"/>
              </a:rPr>
              <a:t>picked</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key</a:t>
            </a:r>
            <a:r>
              <a:rPr sz="1900" i="0">
                <a:solidFill>
                  <a:srgbClr val="AEB6BF"/>
                </a:solidFill>
                <a:latin typeface="Consolas"/>
              </a:rPr>
              <a:t>=</a:t>
            </a:r>
            <a:r>
              <a:rPr sz="1900" i="0">
                <a:solidFill>
                  <a:srgbClr val="5DADE2"/>
                </a:solidFill>
                <a:latin typeface="Consolas"/>
              </a:rPr>
              <a:t>lambda</a:t>
            </a:r>
            <a:r>
              <a:rPr sz="1900" i="0">
                <a:solidFill>
                  <a:srgbClr val="E8EDF2"/>
                </a:solidFill>
                <a:latin typeface="Consolas"/>
              </a:rPr>
              <a:t> </a:t>
            </a:r>
            <a:r>
              <a:rPr sz="1900" i="0">
                <a:solidFill>
                  <a:srgbClr val="E8EDF2"/>
                </a:solidFill>
                <a:latin typeface="Consolas"/>
              </a:rPr>
              <a:t>i</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fit</a:t>
            </a:r>
            <a:r>
              <a:rPr sz="1900" i="0">
                <a:solidFill>
                  <a:srgbClr val="AEB6BF"/>
                </a:solidFill>
                <a:latin typeface="Consolas"/>
              </a:rPr>
              <a:t>[</a:t>
            </a:r>
            <a:r>
              <a:rPr sz="1900" i="0">
                <a:solidFill>
                  <a:srgbClr val="E8EDF2"/>
                </a:solidFill>
                <a:latin typeface="Consolas"/>
              </a:rPr>
              <a:t>i</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t>
            </a:r>
          </a:p>
        </p:txBody>
      </p:sp>
      <p:sp>
        <p:nvSpPr>
          <p:cNvPr id="15" name="!!code-num"/>
          <p:cNvSpPr txBox="1"/>
          <p:nvPr/>
        </p:nvSpPr>
        <p:spPr>
          <a:xfrm>
            <a:off x="768096" y="2523744"/>
            <a:ext cx="393192" cy="358444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136</a:t>
            </a:r>
          </a:p>
          <a:p>
            <a:pPr algn="r">
              <a:lnSpc>
                <a:spcPct val="100000"/>
              </a:lnSpc>
            </a:pPr>
            <a:r>
              <a:rPr sz="1900">
                <a:solidFill>
                  <a:srgbClr val="4F5D6A"/>
                </a:solidFill>
                <a:latin typeface="Consolas"/>
              </a:rPr>
              <a:t>137</a:t>
            </a:r>
          </a:p>
          <a:p>
            <a:pPr algn="r">
              <a:lnSpc>
                <a:spcPct val="100000"/>
              </a:lnSpc>
            </a:pPr>
            <a:r>
              <a:rPr sz="1900">
                <a:solidFill>
                  <a:srgbClr val="4F5D6A"/>
                </a:solidFill>
                <a:latin typeface="Consolas"/>
              </a:rPr>
              <a:t>138</a:t>
            </a:r>
          </a:p>
          <a:p>
            <a:pPr algn="r">
              <a:lnSpc>
                <a:spcPct val="100000"/>
              </a:lnSpc>
            </a:pPr>
            <a:r>
              <a:rPr sz="1900">
                <a:solidFill>
                  <a:srgbClr val="4F5D6A"/>
                </a:solidFill>
                <a:latin typeface="Consolas"/>
              </a:rPr>
              <a:t>139</a:t>
            </a:r>
          </a:p>
          <a:p>
            <a:pPr algn="r">
              <a:lnSpc>
                <a:spcPct val="100000"/>
              </a:lnSpc>
            </a:pPr>
            <a:r>
              <a:rPr sz="1900">
                <a:solidFill>
                  <a:srgbClr val="4F5D6A"/>
                </a:solidFill>
                <a:latin typeface="Consolas"/>
              </a:rPr>
              <a:t>140</a:t>
            </a:r>
          </a:p>
          <a:p>
            <a:pPr algn="r">
              <a:lnSpc>
                <a:spcPct val="100000"/>
              </a:lnSpc>
            </a:pPr>
            <a:r>
              <a:rPr sz="1900">
                <a:solidFill>
                  <a:srgbClr val="4F5D6A"/>
                </a:solidFill>
                <a:latin typeface="Consolas"/>
              </a:rPr>
              <a:t>141</a:t>
            </a:r>
          </a:p>
          <a:p>
            <a:pPr algn="r">
              <a:lnSpc>
                <a:spcPct val="100000"/>
              </a:lnSpc>
            </a:pPr>
            <a:r>
              <a:rPr sz="1900">
                <a:solidFill>
                  <a:srgbClr val="4F5D6A"/>
                </a:solidFill>
                <a:latin typeface="Consolas"/>
              </a:rPr>
              <a:t>142</a:t>
            </a:r>
          </a:p>
          <a:p>
            <a:pPr algn="r">
              <a:lnSpc>
                <a:spcPct val="100000"/>
              </a:lnSpc>
            </a:pPr>
            <a:r>
              <a:rPr sz="1900">
                <a:solidFill>
                  <a:srgbClr val="4F5D6A"/>
                </a:solidFill>
                <a:latin typeface="Consolas"/>
              </a:rPr>
              <a:t>143</a:t>
            </a:r>
          </a:p>
          <a:p>
            <a:pPr algn="r">
              <a:lnSpc>
                <a:spcPct val="100000"/>
              </a:lnSpc>
            </a:pPr>
            <a:r>
              <a:rPr sz="1900">
                <a:solidFill>
                  <a:srgbClr val="4F5D6A"/>
                </a:solidFill>
                <a:latin typeface="Consolas"/>
              </a:rPr>
              <a:t>144</a:t>
            </a:r>
          </a:p>
          <a:p>
            <a:pPr algn="r">
              <a:lnSpc>
                <a:spcPct val="100000"/>
              </a:lnSpc>
            </a:pPr>
            <a:r>
              <a:rPr sz="1900">
                <a:solidFill>
                  <a:srgbClr val="4F5D6A"/>
                </a:solidFill>
                <a:latin typeface="Consolas"/>
              </a:rPr>
              <a:t>145</a:t>
            </a:r>
          </a:p>
          <a:p>
            <a:pPr algn="r">
              <a:lnSpc>
                <a:spcPct val="100000"/>
              </a:lnSpc>
            </a:pPr>
            <a:r>
              <a:rPr sz="1900">
                <a:solidFill>
                  <a:srgbClr val="4F5D6A"/>
                </a:solidFill>
                <a:latin typeface="Consolas"/>
              </a:rPr>
              <a:t>146</a:t>
            </a:r>
          </a:p>
          <a:p>
            <a:pPr algn="r">
              <a:lnSpc>
                <a:spcPct val="100000"/>
              </a:lnSpc>
            </a:pPr>
            <a:r>
              <a:rPr sz="1900">
                <a:solidFill>
                  <a:srgbClr val="4F5D6A"/>
                </a:solidFill>
                <a:latin typeface="Consolas"/>
              </a:rPr>
              <a:t>147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45048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Staffing by Annealing and by Evolution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12 OF 17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6  ·  Local Search and Optimisation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§6.6.1  ·  Handout p. 59     </a:t>
            </a:r>
            <a:fld id="{91C7AE85-3113-4687-B541-7D096F34B2B7}" type="slidenum">
              <a:rPr lang="en-GB" sz="1000">
                <a:solidFill>
                  <a:srgbClr val="8795A1"/>
                </a:solidFill>
                <a:latin typeface="Segoe UI"/>
              </a:rPr>
              <a:t>34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Genetic algorithm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78224"/>
          </a:xfrm>
          <a:prstGeom prst="roundRect">
            <a:avLst>
              <a:gd name="adj" fmla="val 224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code/ch06_staffing_annealing.py</a:t>
            </a:r>
          </a:p>
        </p:txBody>
      </p:sp>
      <p:sp>
        <p:nvSpPr>
          <p:cNvPr id="14" name="!!code-text" descr="while len(nxt) &lt; pop: a, c = tournament(), tournament() cut = rng.randrange(1, len(DEVS)) child = a[:cut] + c[cut:] child = tuple(rng.randrange(NS) if rng.random() &lt; mut else g for g in child) nxt.append(child) P = nxt return bestx, bestv def exhaustive(): &quot;&quot;&quot;4^9 = 262144 states: small enough to know the truth.&quot;&quot;&quot; best, arg = None, None for st in itertools.product(range(NS), repeat=len(DEVS)): v = raw_score(st) if best is None or v &gt; best: best, arg = v, st return best, arg"/>
          <p:cNvSpPr txBox="1"/>
          <p:nvPr/>
        </p:nvSpPr>
        <p:spPr>
          <a:xfrm>
            <a:off x="1362456" y="2523744"/>
            <a:ext cx="9987991" cy="3584447"/>
          </a:xfrm>
          <a:prstGeom prst="rect">
            <a:avLst/>
          </a:prstGeom>
          <a:noFill/>
        </p:spPr>
        <p:txBody>
          <a:bodyPr wrap="none" anchor="t" lIns="0" rIns="0" tIns="0" bIns="0">
            <a:noAutofit/>
          </a:bodyPr>
          <a:lstStyle/>
          <a:p>
            <a:pPr>
              <a:lnSpc>
                <a:spcPct val="100000"/>
              </a:lnSpc>
              <a:spcAft>
                <a:spcPts val="0"/>
              </a:spcAft>
            </a:pPr>
            <a:r>
              <a:rPr sz="1200" i="0">
                <a:solidFill>
                  <a:srgbClr val="E8EDF2"/>
                </a:solidFill>
                <a:latin typeface="Consolas"/>
              </a:rPr>
              <a:t>        </a:t>
            </a:r>
            <a:r>
              <a:rPr sz="1200" i="0">
                <a:solidFill>
                  <a:srgbClr val="5DADE2"/>
                </a:solidFill>
                <a:latin typeface="Consolas"/>
              </a:rPr>
              <a:t>while</a:t>
            </a:r>
            <a:r>
              <a:rPr sz="1200" i="0">
                <a:solidFill>
                  <a:srgbClr val="E8EDF2"/>
                </a:solidFill>
                <a:latin typeface="Consolas"/>
              </a:rPr>
              <a:t> </a:t>
            </a:r>
            <a:r>
              <a:rPr sz="1200" i="0">
                <a:solidFill>
                  <a:srgbClr val="C39BD3"/>
                </a:solidFill>
                <a:latin typeface="Consolas"/>
              </a:rPr>
              <a:t>len</a:t>
            </a:r>
            <a:r>
              <a:rPr sz="1200" i="0">
                <a:solidFill>
                  <a:srgbClr val="AEB6BF"/>
                </a:solidFill>
                <a:latin typeface="Consolas"/>
              </a:rPr>
              <a:t>(</a:t>
            </a:r>
            <a:r>
              <a:rPr sz="1200" i="0">
                <a:solidFill>
                  <a:srgbClr val="E8EDF2"/>
                </a:solidFill>
                <a:latin typeface="Consolas"/>
              </a:rPr>
              <a:t>nxt</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&lt;</a:t>
            </a:r>
            <a:r>
              <a:rPr sz="1200" i="0">
                <a:solidFill>
                  <a:srgbClr val="E8EDF2"/>
                </a:solidFill>
                <a:latin typeface="Consolas"/>
              </a:rPr>
              <a:t> </a:t>
            </a:r>
            <a:r>
              <a:rPr sz="1200" i="0">
                <a:solidFill>
                  <a:srgbClr val="E8EDF2"/>
                </a:solidFill>
                <a:latin typeface="Consolas"/>
              </a:rPr>
              <a:t>pop</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E8EDF2"/>
                </a:solidFill>
                <a:latin typeface="Consolas"/>
              </a:rPr>
              <a:t>a</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c</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tournament</a:t>
            </a:r>
            <a:r>
              <a:rPr sz="1200" i="0">
                <a:solidFill>
                  <a:srgbClr val="AEB6BF"/>
                </a:solidFill>
                <a:latin typeface="Consolas"/>
              </a:rPr>
              <a:t>(</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tournament</a:t>
            </a:r>
            <a:r>
              <a:rPr sz="1200" i="0">
                <a:solidFill>
                  <a:srgbClr val="AEB6BF"/>
                </a:solidFill>
                <a:latin typeface="Consolas"/>
              </a:rPr>
              <a:t>(</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E8EDF2"/>
                </a:solidFill>
                <a:latin typeface="Consolas"/>
              </a:rPr>
              <a:t>cut</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rng</a:t>
            </a:r>
            <a:r>
              <a:rPr sz="1200" i="0">
                <a:solidFill>
                  <a:srgbClr val="AEB6BF"/>
                </a:solidFill>
                <a:latin typeface="Consolas"/>
              </a:rPr>
              <a:t>.</a:t>
            </a:r>
            <a:r>
              <a:rPr sz="1200" i="0">
                <a:solidFill>
                  <a:srgbClr val="E8EDF2"/>
                </a:solidFill>
                <a:latin typeface="Consolas"/>
              </a:rPr>
              <a:t>randrange</a:t>
            </a:r>
            <a:r>
              <a:rPr sz="1200" i="0">
                <a:solidFill>
                  <a:srgbClr val="AEB6BF"/>
                </a:solidFill>
                <a:latin typeface="Consolas"/>
              </a:rPr>
              <a:t>(</a:t>
            </a:r>
            <a:r>
              <a:rPr sz="1200" i="0">
                <a:solidFill>
                  <a:srgbClr val="F7DC6F"/>
                </a:solidFill>
                <a:latin typeface="Consolas"/>
              </a:rPr>
              <a:t>1</a:t>
            </a:r>
            <a:r>
              <a:rPr sz="1200" i="0">
                <a:solidFill>
                  <a:srgbClr val="AEB6BF"/>
                </a:solidFill>
                <a:latin typeface="Consolas"/>
              </a:rPr>
              <a:t>,</a:t>
            </a:r>
            <a:r>
              <a:rPr sz="1200" i="0">
                <a:solidFill>
                  <a:srgbClr val="E8EDF2"/>
                </a:solidFill>
                <a:latin typeface="Consolas"/>
              </a:rPr>
              <a:t> </a:t>
            </a:r>
            <a:r>
              <a:rPr sz="1200" i="0">
                <a:solidFill>
                  <a:srgbClr val="C39BD3"/>
                </a:solidFill>
                <a:latin typeface="Consolas"/>
              </a:rPr>
              <a:t>len</a:t>
            </a:r>
            <a:r>
              <a:rPr sz="1200" i="0">
                <a:solidFill>
                  <a:srgbClr val="AEB6BF"/>
                </a:solidFill>
                <a:latin typeface="Consolas"/>
              </a:rPr>
              <a:t>(</a:t>
            </a:r>
            <a:r>
              <a:rPr sz="1200" i="0">
                <a:solidFill>
                  <a:srgbClr val="E8EDF2"/>
                </a:solidFill>
                <a:latin typeface="Consolas"/>
              </a:rPr>
              <a:t>DEVS</a:t>
            </a:r>
            <a:r>
              <a:rPr sz="1200" i="0">
                <a:solidFill>
                  <a:srgbClr val="AEB6BF"/>
                </a:solidFill>
                <a:latin typeface="Consolas"/>
              </a:rPr>
              <a:t>)</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E8EDF2"/>
                </a:solidFill>
                <a:latin typeface="Consolas"/>
              </a:rPr>
              <a:t>child</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a</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cut</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c</a:t>
            </a:r>
            <a:r>
              <a:rPr sz="1200" i="0">
                <a:solidFill>
                  <a:srgbClr val="AEB6BF"/>
                </a:solidFill>
                <a:latin typeface="Consolas"/>
              </a:rPr>
              <a:t>[</a:t>
            </a:r>
            <a:r>
              <a:rPr sz="1200" i="0">
                <a:solidFill>
                  <a:srgbClr val="E8EDF2"/>
                </a:solidFill>
                <a:latin typeface="Consolas"/>
              </a:rPr>
              <a:t>cut</a:t>
            </a:r>
            <a:r>
              <a:rPr sz="1200" i="0">
                <a:solidFill>
                  <a:srgbClr val="AEB6BF"/>
                </a:solidFill>
                <a:latin typeface="Consolas"/>
              </a:rPr>
              <a:t>:</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E8EDF2"/>
                </a:solidFill>
                <a:latin typeface="Consolas"/>
              </a:rPr>
              <a:t>child</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C39BD3"/>
                </a:solidFill>
                <a:latin typeface="Consolas"/>
              </a:rPr>
              <a:t>tuple</a:t>
            </a:r>
            <a:r>
              <a:rPr sz="1200" i="0">
                <a:solidFill>
                  <a:srgbClr val="AEB6BF"/>
                </a:solidFill>
                <a:latin typeface="Consolas"/>
              </a:rPr>
              <a:t>(</a:t>
            </a:r>
            <a:r>
              <a:rPr sz="1200" i="0">
                <a:solidFill>
                  <a:srgbClr val="E8EDF2"/>
                </a:solidFill>
                <a:latin typeface="Consolas"/>
              </a:rPr>
              <a:t>rng</a:t>
            </a:r>
            <a:r>
              <a:rPr sz="1200" i="0">
                <a:solidFill>
                  <a:srgbClr val="AEB6BF"/>
                </a:solidFill>
                <a:latin typeface="Consolas"/>
              </a:rPr>
              <a:t>.</a:t>
            </a:r>
            <a:r>
              <a:rPr sz="1200" i="0">
                <a:solidFill>
                  <a:srgbClr val="E8EDF2"/>
                </a:solidFill>
                <a:latin typeface="Consolas"/>
              </a:rPr>
              <a:t>randrange</a:t>
            </a:r>
            <a:r>
              <a:rPr sz="1200" i="0">
                <a:solidFill>
                  <a:srgbClr val="AEB6BF"/>
                </a:solidFill>
                <a:latin typeface="Consolas"/>
              </a:rPr>
              <a:t>(</a:t>
            </a:r>
            <a:r>
              <a:rPr sz="1200" i="0">
                <a:solidFill>
                  <a:srgbClr val="E8EDF2"/>
                </a:solidFill>
                <a:latin typeface="Consolas"/>
              </a:rPr>
              <a:t>NS</a:t>
            </a:r>
            <a:r>
              <a:rPr sz="1200" i="0">
                <a:solidFill>
                  <a:srgbClr val="AEB6BF"/>
                </a:solidFill>
                <a:latin typeface="Consolas"/>
              </a:rPr>
              <a:t>)</a:t>
            </a:r>
            <a:r>
              <a:rPr sz="1200" i="0">
                <a:solidFill>
                  <a:srgbClr val="E8EDF2"/>
                </a:solidFill>
                <a:latin typeface="Consolas"/>
              </a:rPr>
              <a:t> </a:t>
            </a:r>
            <a:r>
              <a:rPr sz="1200" i="0">
                <a:solidFill>
                  <a:srgbClr val="5DADE2"/>
                </a:solidFill>
                <a:latin typeface="Consolas"/>
              </a:rPr>
              <a:t>if</a:t>
            </a:r>
            <a:r>
              <a:rPr sz="1200" i="0">
                <a:solidFill>
                  <a:srgbClr val="E8EDF2"/>
                </a:solidFill>
                <a:latin typeface="Consolas"/>
              </a:rPr>
              <a:t> </a:t>
            </a:r>
            <a:r>
              <a:rPr sz="1200" i="0">
                <a:solidFill>
                  <a:srgbClr val="E8EDF2"/>
                </a:solidFill>
                <a:latin typeface="Consolas"/>
              </a:rPr>
              <a:t>rng</a:t>
            </a:r>
            <a:r>
              <a:rPr sz="1200" i="0">
                <a:solidFill>
                  <a:srgbClr val="AEB6BF"/>
                </a:solidFill>
                <a:latin typeface="Consolas"/>
              </a:rPr>
              <a:t>.</a:t>
            </a:r>
            <a:r>
              <a:rPr sz="1200" i="0">
                <a:solidFill>
                  <a:srgbClr val="E8EDF2"/>
                </a:solidFill>
                <a:latin typeface="Consolas"/>
              </a:rPr>
              <a:t>random</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 </a:t>
            </a:r>
            <a:r>
              <a:rPr sz="1200" i="0">
                <a:solidFill>
                  <a:srgbClr val="AEB6BF"/>
                </a:solidFill>
                <a:latin typeface="Consolas"/>
              </a:rPr>
              <a:t>&lt;</a:t>
            </a:r>
            <a:r>
              <a:rPr sz="1200" i="0">
                <a:solidFill>
                  <a:srgbClr val="E8EDF2"/>
                </a:solidFill>
                <a:latin typeface="Consolas"/>
              </a:rPr>
              <a:t> </a:t>
            </a:r>
            <a:r>
              <a:rPr sz="1200" i="0">
                <a:solidFill>
                  <a:srgbClr val="E8EDF2"/>
                </a:solidFill>
                <a:latin typeface="Consolas"/>
              </a:rPr>
              <a:t>mut</a:t>
            </a:r>
            <a:r>
              <a:rPr sz="1200" i="0">
                <a:solidFill>
                  <a:srgbClr val="E8EDF2"/>
                </a:solidFill>
                <a:latin typeface="Consolas"/>
              </a:rPr>
              <a:t> </a:t>
            </a:r>
            <a:r>
              <a:rPr sz="1200" i="0">
                <a:solidFill>
                  <a:srgbClr val="5DADE2"/>
                </a:solidFill>
                <a:latin typeface="Consolas"/>
              </a:rPr>
              <a:t>else</a:t>
            </a:r>
            <a:r>
              <a:rPr sz="1200" i="0">
                <a:solidFill>
                  <a:srgbClr val="E8EDF2"/>
                </a:solidFill>
                <a:latin typeface="Consolas"/>
              </a:rPr>
              <a:t> </a:t>
            </a:r>
            <a:r>
              <a:rPr sz="1200" i="0">
                <a:solidFill>
                  <a:srgbClr val="E8EDF2"/>
                </a:solidFill>
                <a:latin typeface="Consolas"/>
              </a:rPr>
              <a:t>g</a:t>
            </a:r>
          </a:p>
          <a:p>
            <a:pPr>
              <a:lnSpc>
                <a:spcPct val="100000"/>
              </a:lnSpc>
              <a:spcAft>
                <a:spcPts val="0"/>
              </a:spcAft>
            </a:pPr>
            <a:r>
              <a:rPr sz="1200" i="0">
                <a:solidFill>
                  <a:srgbClr val="E8EDF2"/>
                </a:solidFill>
                <a:latin typeface="Consolas"/>
              </a:rPr>
              <a:t>                          </a:t>
            </a:r>
            <a:r>
              <a:rPr sz="1200" i="0">
                <a:solidFill>
                  <a:srgbClr val="5DADE2"/>
                </a:solidFill>
                <a:latin typeface="Consolas"/>
              </a:rPr>
              <a:t>for</a:t>
            </a:r>
            <a:r>
              <a:rPr sz="1200" i="0">
                <a:solidFill>
                  <a:srgbClr val="E8EDF2"/>
                </a:solidFill>
                <a:latin typeface="Consolas"/>
              </a:rPr>
              <a:t> </a:t>
            </a:r>
            <a:r>
              <a:rPr sz="1200" i="0">
                <a:solidFill>
                  <a:srgbClr val="E8EDF2"/>
                </a:solidFill>
                <a:latin typeface="Consolas"/>
              </a:rPr>
              <a:t>g</a:t>
            </a:r>
            <a:r>
              <a:rPr sz="1200" i="0">
                <a:solidFill>
                  <a:srgbClr val="E8EDF2"/>
                </a:solidFill>
                <a:latin typeface="Consolas"/>
              </a:rPr>
              <a:t> </a:t>
            </a:r>
            <a:r>
              <a:rPr sz="1200" i="0">
                <a:solidFill>
                  <a:srgbClr val="AEB6BF"/>
                </a:solidFill>
                <a:latin typeface="Consolas"/>
              </a:rPr>
              <a:t>in</a:t>
            </a:r>
            <a:r>
              <a:rPr sz="1200" i="0">
                <a:solidFill>
                  <a:srgbClr val="E8EDF2"/>
                </a:solidFill>
                <a:latin typeface="Consolas"/>
              </a:rPr>
              <a:t> </a:t>
            </a:r>
            <a:r>
              <a:rPr sz="1200" i="0">
                <a:solidFill>
                  <a:srgbClr val="E8EDF2"/>
                </a:solidFill>
                <a:latin typeface="Consolas"/>
              </a:rPr>
              <a:t>child</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E8EDF2"/>
                </a:solidFill>
                <a:latin typeface="Consolas"/>
              </a:rPr>
              <a:t>nxt</a:t>
            </a:r>
            <a:r>
              <a:rPr sz="1200" i="0">
                <a:solidFill>
                  <a:srgbClr val="AEB6BF"/>
                </a:solidFill>
                <a:latin typeface="Consolas"/>
              </a:rPr>
              <a:t>.</a:t>
            </a:r>
            <a:r>
              <a:rPr sz="1200" i="0">
                <a:solidFill>
                  <a:srgbClr val="E8EDF2"/>
                </a:solidFill>
                <a:latin typeface="Consolas"/>
              </a:rPr>
              <a:t>append</a:t>
            </a:r>
            <a:r>
              <a:rPr sz="1200" i="0">
                <a:solidFill>
                  <a:srgbClr val="AEB6BF"/>
                </a:solidFill>
                <a:latin typeface="Consolas"/>
              </a:rPr>
              <a:t>(</a:t>
            </a:r>
            <a:r>
              <a:rPr sz="1200" i="0">
                <a:solidFill>
                  <a:srgbClr val="E8EDF2"/>
                </a:solidFill>
                <a:latin typeface="Consolas"/>
              </a:rPr>
              <a:t>child</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E8EDF2"/>
                </a:solidFill>
                <a:latin typeface="Consolas"/>
              </a:rPr>
              <a:t>P</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nxt</a:t>
            </a:r>
          </a:p>
          <a:p>
            <a:pPr>
              <a:lnSpc>
                <a:spcPct val="100000"/>
              </a:lnSpc>
              <a:spcAft>
                <a:spcPts val="0"/>
              </a:spcAft>
            </a:pPr>
            <a:r>
              <a:rPr sz="1200" i="0">
                <a:solidFill>
                  <a:srgbClr val="E8EDF2"/>
                </a:solidFill>
                <a:latin typeface="Consolas"/>
              </a:rPr>
              <a:t>    </a:t>
            </a:r>
            <a:r>
              <a:rPr sz="1200" i="0">
                <a:solidFill>
                  <a:srgbClr val="5DADE2"/>
                </a:solidFill>
                <a:latin typeface="Consolas"/>
              </a:rPr>
              <a:t>return</a:t>
            </a:r>
            <a:r>
              <a:rPr sz="1200" i="0">
                <a:solidFill>
                  <a:srgbClr val="E8EDF2"/>
                </a:solidFill>
                <a:latin typeface="Consolas"/>
              </a:rPr>
              <a:t> </a:t>
            </a:r>
            <a:r>
              <a:rPr sz="1200" i="0">
                <a:solidFill>
                  <a:srgbClr val="E8EDF2"/>
                </a:solidFill>
                <a:latin typeface="Consolas"/>
              </a:rPr>
              <a:t>bestx</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bestv</a:t>
            </a:r>
          </a:p>
          <a:p>
            <a:pPr>
              <a:lnSpc>
                <a:spcPct val="100000"/>
              </a:lnSpc>
              <a:spcAft>
                <a:spcPts val="0"/>
              </a:spcAft>
            </a:pPr>
            <a:r>
              <a:rPr sz="1200">
                <a:latin typeface="Consolas"/>
              </a:rPr>
              <a:t> </a:t>
            </a:r>
          </a:p>
          <a:p>
            <a:pPr>
              <a:lnSpc>
                <a:spcPct val="100000"/>
              </a:lnSpc>
              <a:spcAft>
                <a:spcPts val="0"/>
              </a:spcAft>
            </a:pPr>
            <a:r>
              <a:rPr sz="1200">
                <a:latin typeface="Consolas"/>
              </a:rPr>
              <a:t> </a:t>
            </a:r>
          </a:p>
          <a:p>
            <a:pPr>
              <a:lnSpc>
                <a:spcPct val="100000"/>
              </a:lnSpc>
              <a:spcAft>
                <a:spcPts val="0"/>
              </a:spcAft>
            </a:pPr>
            <a:r>
              <a:rPr sz="1200" i="0">
                <a:solidFill>
                  <a:srgbClr val="5DADE2"/>
                </a:solidFill>
                <a:latin typeface="Consolas"/>
              </a:rPr>
              <a:t>def</a:t>
            </a:r>
            <a:r>
              <a:rPr sz="1200" i="0">
                <a:solidFill>
                  <a:srgbClr val="E8EDF2"/>
                </a:solidFill>
                <a:latin typeface="Consolas"/>
              </a:rPr>
              <a:t> </a:t>
            </a:r>
            <a:r>
              <a:rPr sz="1200" i="0">
                <a:solidFill>
                  <a:srgbClr val="C39BD3"/>
                </a:solidFill>
                <a:latin typeface="Consolas"/>
              </a:rPr>
              <a:t>exhaustive</a:t>
            </a:r>
            <a:r>
              <a:rPr sz="1200" i="0">
                <a:solidFill>
                  <a:srgbClr val="AEB6BF"/>
                </a:solidFill>
                <a:latin typeface="Consolas"/>
              </a:rPr>
              <a:t>(</a:t>
            </a:r>
            <a:r>
              <a:rPr sz="1200" i="0">
                <a:solidFill>
                  <a:srgbClr val="AEB6BF"/>
                </a:solidFill>
                <a:latin typeface="Consolas"/>
              </a:rPr>
              <a:t>)</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7DCEA0"/>
                </a:solidFill>
                <a:latin typeface="Consolas"/>
              </a:rPr>
              <a:t>"""4^9 = 262144 states: small enough to know the truth."""</a:t>
            </a:r>
          </a:p>
          <a:p>
            <a:pPr>
              <a:lnSpc>
                <a:spcPct val="100000"/>
              </a:lnSpc>
              <a:spcAft>
                <a:spcPts val="0"/>
              </a:spcAft>
            </a:pPr>
            <a:r>
              <a:rPr sz="1200" i="0">
                <a:solidFill>
                  <a:srgbClr val="E8EDF2"/>
                </a:solidFill>
                <a:latin typeface="Consolas"/>
              </a:rPr>
              <a:t>    </a:t>
            </a:r>
            <a:r>
              <a:rPr sz="1200" i="0">
                <a:solidFill>
                  <a:srgbClr val="E8EDF2"/>
                </a:solidFill>
                <a:latin typeface="Consolas"/>
              </a:rPr>
              <a:t>best</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arg</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5DADE2"/>
                </a:solidFill>
                <a:latin typeface="Consolas"/>
              </a:rPr>
              <a:t>None</a:t>
            </a:r>
            <a:r>
              <a:rPr sz="1200" i="0">
                <a:solidFill>
                  <a:srgbClr val="AEB6BF"/>
                </a:solidFill>
                <a:latin typeface="Consolas"/>
              </a:rPr>
              <a:t>,</a:t>
            </a:r>
            <a:r>
              <a:rPr sz="1200" i="0">
                <a:solidFill>
                  <a:srgbClr val="E8EDF2"/>
                </a:solidFill>
                <a:latin typeface="Consolas"/>
              </a:rPr>
              <a:t> </a:t>
            </a:r>
            <a:r>
              <a:rPr sz="1200" i="0">
                <a:solidFill>
                  <a:srgbClr val="5DADE2"/>
                </a:solidFill>
                <a:latin typeface="Consolas"/>
              </a:rPr>
              <a:t>None</a:t>
            </a:r>
          </a:p>
          <a:p>
            <a:pPr>
              <a:lnSpc>
                <a:spcPct val="100000"/>
              </a:lnSpc>
              <a:spcAft>
                <a:spcPts val="0"/>
              </a:spcAft>
            </a:pPr>
            <a:r>
              <a:rPr sz="1200" i="0">
                <a:solidFill>
                  <a:srgbClr val="E8EDF2"/>
                </a:solidFill>
                <a:latin typeface="Consolas"/>
              </a:rPr>
              <a:t>    </a:t>
            </a:r>
            <a:r>
              <a:rPr sz="1200" i="0">
                <a:solidFill>
                  <a:srgbClr val="5DADE2"/>
                </a:solidFill>
                <a:latin typeface="Consolas"/>
              </a:rPr>
              <a:t>for</a:t>
            </a:r>
            <a:r>
              <a:rPr sz="1200" i="0">
                <a:solidFill>
                  <a:srgbClr val="E8EDF2"/>
                </a:solidFill>
                <a:latin typeface="Consolas"/>
              </a:rPr>
              <a:t> </a:t>
            </a:r>
            <a:r>
              <a:rPr sz="1200" i="0">
                <a:solidFill>
                  <a:srgbClr val="E8EDF2"/>
                </a:solidFill>
                <a:latin typeface="Consolas"/>
              </a:rPr>
              <a:t>st</a:t>
            </a:r>
            <a:r>
              <a:rPr sz="1200" i="0">
                <a:solidFill>
                  <a:srgbClr val="E8EDF2"/>
                </a:solidFill>
                <a:latin typeface="Consolas"/>
              </a:rPr>
              <a:t> </a:t>
            </a:r>
            <a:r>
              <a:rPr sz="1200" i="0">
                <a:solidFill>
                  <a:srgbClr val="AEB6BF"/>
                </a:solidFill>
                <a:latin typeface="Consolas"/>
              </a:rPr>
              <a:t>in</a:t>
            </a:r>
            <a:r>
              <a:rPr sz="1200" i="0">
                <a:solidFill>
                  <a:srgbClr val="E8EDF2"/>
                </a:solidFill>
                <a:latin typeface="Consolas"/>
              </a:rPr>
              <a:t> </a:t>
            </a:r>
            <a:r>
              <a:rPr sz="1200" i="0">
                <a:solidFill>
                  <a:srgbClr val="E8EDF2"/>
                </a:solidFill>
                <a:latin typeface="Consolas"/>
              </a:rPr>
              <a:t>itertools</a:t>
            </a:r>
            <a:r>
              <a:rPr sz="1200" i="0">
                <a:solidFill>
                  <a:srgbClr val="AEB6BF"/>
                </a:solidFill>
                <a:latin typeface="Consolas"/>
              </a:rPr>
              <a:t>.</a:t>
            </a:r>
            <a:r>
              <a:rPr sz="1200" i="0">
                <a:solidFill>
                  <a:srgbClr val="E8EDF2"/>
                </a:solidFill>
                <a:latin typeface="Consolas"/>
              </a:rPr>
              <a:t>product</a:t>
            </a:r>
            <a:r>
              <a:rPr sz="1200" i="0">
                <a:solidFill>
                  <a:srgbClr val="AEB6BF"/>
                </a:solidFill>
                <a:latin typeface="Consolas"/>
              </a:rPr>
              <a:t>(</a:t>
            </a:r>
            <a:r>
              <a:rPr sz="1200" i="0">
                <a:solidFill>
                  <a:srgbClr val="C39BD3"/>
                </a:solidFill>
                <a:latin typeface="Consolas"/>
              </a:rPr>
              <a:t>range</a:t>
            </a:r>
            <a:r>
              <a:rPr sz="1200" i="0">
                <a:solidFill>
                  <a:srgbClr val="AEB6BF"/>
                </a:solidFill>
                <a:latin typeface="Consolas"/>
              </a:rPr>
              <a:t>(</a:t>
            </a:r>
            <a:r>
              <a:rPr sz="1200" i="0">
                <a:solidFill>
                  <a:srgbClr val="E8EDF2"/>
                </a:solidFill>
                <a:latin typeface="Consolas"/>
              </a:rPr>
              <a:t>NS</a:t>
            </a:r>
            <a:r>
              <a:rPr sz="1200" i="0">
                <a:solidFill>
                  <a:srgbClr val="AEB6BF"/>
                </a:solidFill>
                <a:latin typeface="Consolas"/>
              </a:rPr>
              <a:t>)</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repeat</a:t>
            </a:r>
            <a:r>
              <a:rPr sz="1200" i="0">
                <a:solidFill>
                  <a:srgbClr val="AEB6BF"/>
                </a:solidFill>
                <a:latin typeface="Consolas"/>
              </a:rPr>
              <a:t>=</a:t>
            </a:r>
            <a:r>
              <a:rPr sz="1200" i="0">
                <a:solidFill>
                  <a:srgbClr val="C39BD3"/>
                </a:solidFill>
                <a:latin typeface="Consolas"/>
              </a:rPr>
              <a:t>len</a:t>
            </a:r>
            <a:r>
              <a:rPr sz="1200" i="0">
                <a:solidFill>
                  <a:srgbClr val="AEB6BF"/>
                </a:solidFill>
                <a:latin typeface="Consolas"/>
              </a:rPr>
              <a:t>(</a:t>
            </a:r>
            <a:r>
              <a:rPr sz="1200" i="0">
                <a:solidFill>
                  <a:srgbClr val="E8EDF2"/>
                </a:solidFill>
                <a:latin typeface="Consolas"/>
              </a:rPr>
              <a:t>DEVS</a:t>
            </a:r>
            <a:r>
              <a:rPr sz="1200" i="0">
                <a:solidFill>
                  <a:srgbClr val="AEB6BF"/>
                </a:solidFill>
                <a:latin typeface="Consolas"/>
              </a:rPr>
              <a:t>)</a:t>
            </a:r>
            <a:r>
              <a:rPr sz="1200" i="0">
                <a:solidFill>
                  <a:srgbClr val="AEB6BF"/>
                </a:solidFill>
                <a:latin typeface="Consolas"/>
              </a:rPr>
              <a:t>)</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E8EDF2"/>
                </a:solidFill>
                <a:latin typeface="Consolas"/>
              </a:rPr>
              <a:t>v</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raw_score</a:t>
            </a:r>
            <a:r>
              <a:rPr sz="1200" i="0">
                <a:solidFill>
                  <a:srgbClr val="AEB6BF"/>
                </a:solidFill>
                <a:latin typeface="Consolas"/>
              </a:rPr>
              <a:t>(</a:t>
            </a:r>
            <a:r>
              <a:rPr sz="1200" i="0">
                <a:solidFill>
                  <a:srgbClr val="E8EDF2"/>
                </a:solidFill>
                <a:latin typeface="Consolas"/>
              </a:rPr>
              <a:t>st</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5DADE2"/>
                </a:solidFill>
                <a:latin typeface="Consolas"/>
              </a:rPr>
              <a:t>if</a:t>
            </a:r>
            <a:r>
              <a:rPr sz="1200" i="0">
                <a:solidFill>
                  <a:srgbClr val="E8EDF2"/>
                </a:solidFill>
                <a:latin typeface="Consolas"/>
              </a:rPr>
              <a:t> </a:t>
            </a:r>
            <a:r>
              <a:rPr sz="1200" i="0">
                <a:solidFill>
                  <a:srgbClr val="E8EDF2"/>
                </a:solidFill>
                <a:latin typeface="Consolas"/>
              </a:rPr>
              <a:t>best</a:t>
            </a:r>
            <a:r>
              <a:rPr sz="1200" i="0">
                <a:solidFill>
                  <a:srgbClr val="E8EDF2"/>
                </a:solidFill>
                <a:latin typeface="Consolas"/>
              </a:rPr>
              <a:t> </a:t>
            </a:r>
            <a:r>
              <a:rPr sz="1200" i="0">
                <a:solidFill>
                  <a:srgbClr val="AEB6BF"/>
                </a:solidFill>
                <a:latin typeface="Consolas"/>
              </a:rPr>
              <a:t>is</a:t>
            </a:r>
            <a:r>
              <a:rPr sz="1200" i="0">
                <a:solidFill>
                  <a:srgbClr val="E8EDF2"/>
                </a:solidFill>
                <a:latin typeface="Consolas"/>
              </a:rPr>
              <a:t> </a:t>
            </a:r>
            <a:r>
              <a:rPr sz="1200" i="0">
                <a:solidFill>
                  <a:srgbClr val="5DADE2"/>
                </a:solidFill>
                <a:latin typeface="Consolas"/>
              </a:rPr>
              <a:t>None</a:t>
            </a:r>
            <a:r>
              <a:rPr sz="1200" i="0">
                <a:solidFill>
                  <a:srgbClr val="E8EDF2"/>
                </a:solidFill>
                <a:latin typeface="Consolas"/>
              </a:rPr>
              <a:t> </a:t>
            </a:r>
            <a:r>
              <a:rPr sz="1200" i="0">
                <a:solidFill>
                  <a:srgbClr val="AEB6BF"/>
                </a:solidFill>
                <a:latin typeface="Consolas"/>
              </a:rPr>
              <a:t>or</a:t>
            </a:r>
            <a:r>
              <a:rPr sz="1200" i="0">
                <a:solidFill>
                  <a:srgbClr val="E8EDF2"/>
                </a:solidFill>
                <a:latin typeface="Consolas"/>
              </a:rPr>
              <a:t> </a:t>
            </a:r>
            <a:r>
              <a:rPr sz="1200" i="0">
                <a:solidFill>
                  <a:srgbClr val="E8EDF2"/>
                </a:solidFill>
                <a:latin typeface="Consolas"/>
              </a:rPr>
              <a:t>v</a:t>
            </a:r>
            <a:r>
              <a:rPr sz="1200" i="0">
                <a:solidFill>
                  <a:srgbClr val="E8EDF2"/>
                </a:solidFill>
                <a:latin typeface="Consolas"/>
              </a:rPr>
              <a:t> </a:t>
            </a:r>
            <a:r>
              <a:rPr sz="1200" i="0">
                <a:solidFill>
                  <a:srgbClr val="AEB6BF"/>
                </a:solidFill>
                <a:latin typeface="Consolas"/>
              </a:rPr>
              <a:t>&gt;</a:t>
            </a:r>
            <a:r>
              <a:rPr sz="1200" i="0">
                <a:solidFill>
                  <a:srgbClr val="E8EDF2"/>
                </a:solidFill>
                <a:latin typeface="Consolas"/>
              </a:rPr>
              <a:t> </a:t>
            </a:r>
            <a:r>
              <a:rPr sz="1200" i="0">
                <a:solidFill>
                  <a:srgbClr val="E8EDF2"/>
                </a:solidFill>
                <a:latin typeface="Consolas"/>
              </a:rPr>
              <a:t>best</a:t>
            </a:r>
            <a:r>
              <a:rPr sz="1200" i="0">
                <a:solidFill>
                  <a:srgbClr val="AEB6BF"/>
                </a:solidFill>
                <a:latin typeface="Consolas"/>
              </a:rPr>
              <a:t>:</a:t>
            </a:r>
          </a:p>
          <a:p>
            <a:pPr>
              <a:lnSpc>
                <a:spcPct val="100000"/>
              </a:lnSpc>
              <a:spcAft>
                <a:spcPts val="0"/>
              </a:spcAft>
            </a:pPr>
            <a:r>
              <a:rPr sz="1200" i="0">
                <a:solidFill>
                  <a:srgbClr val="E8EDF2"/>
                </a:solidFill>
                <a:latin typeface="Consolas"/>
              </a:rPr>
              <a:t>            </a:t>
            </a:r>
            <a:r>
              <a:rPr sz="1200" i="0">
                <a:solidFill>
                  <a:srgbClr val="E8EDF2"/>
                </a:solidFill>
                <a:latin typeface="Consolas"/>
              </a:rPr>
              <a:t>best</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arg</a:t>
            </a:r>
            <a:r>
              <a:rPr sz="1200" i="0">
                <a:solidFill>
                  <a:srgbClr val="E8EDF2"/>
                </a:solidFill>
                <a:latin typeface="Consolas"/>
              </a:rPr>
              <a:t> </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v</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st</a:t>
            </a:r>
          </a:p>
          <a:p>
            <a:pPr>
              <a:lnSpc>
                <a:spcPct val="100000"/>
              </a:lnSpc>
              <a:spcAft>
                <a:spcPts val="0"/>
              </a:spcAft>
            </a:pPr>
            <a:r>
              <a:rPr sz="1200" i="0">
                <a:solidFill>
                  <a:srgbClr val="E8EDF2"/>
                </a:solidFill>
                <a:latin typeface="Consolas"/>
              </a:rPr>
              <a:t>    </a:t>
            </a:r>
            <a:r>
              <a:rPr sz="1200" i="0">
                <a:solidFill>
                  <a:srgbClr val="5DADE2"/>
                </a:solidFill>
                <a:latin typeface="Consolas"/>
              </a:rPr>
              <a:t>return</a:t>
            </a:r>
            <a:r>
              <a:rPr sz="1200" i="0">
                <a:solidFill>
                  <a:srgbClr val="E8EDF2"/>
                </a:solidFill>
                <a:latin typeface="Consolas"/>
              </a:rPr>
              <a:t> </a:t>
            </a:r>
            <a:r>
              <a:rPr sz="1200" i="0">
                <a:solidFill>
                  <a:srgbClr val="E8EDF2"/>
                </a:solidFill>
                <a:latin typeface="Consolas"/>
              </a:rPr>
              <a:t>best</a:t>
            </a:r>
            <a:r>
              <a:rPr sz="1200" i="0">
                <a:solidFill>
                  <a:srgbClr val="AEB6BF"/>
                </a:solidFill>
                <a:latin typeface="Consolas"/>
              </a:rPr>
              <a:t>,</a:t>
            </a:r>
            <a:r>
              <a:rPr sz="1200" i="0">
                <a:solidFill>
                  <a:srgbClr val="E8EDF2"/>
                </a:solidFill>
                <a:latin typeface="Consolas"/>
              </a:rPr>
              <a:t> </a:t>
            </a:r>
            <a:r>
              <a:rPr sz="1200" i="0">
                <a:solidFill>
                  <a:srgbClr val="E8EDF2"/>
                </a:solidFill>
                <a:latin typeface="Consolas"/>
              </a:rPr>
              <a:t>arg</a:t>
            </a:r>
          </a:p>
        </p:txBody>
      </p:sp>
      <p:sp>
        <p:nvSpPr>
          <p:cNvPr id="15" name="!!code-num"/>
          <p:cNvSpPr txBox="1"/>
          <p:nvPr/>
        </p:nvSpPr>
        <p:spPr>
          <a:xfrm>
            <a:off x="768096" y="2523744"/>
            <a:ext cx="393192" cy="3584447"/>
          </a:xfrm>
          <a:prstGeom prst="rect">
            <a:avLst/>
          </a:prstGeom>
          <a:noFill/>
        </p:spPr>
        <p:txBody>
          <a:bodyPr wrap="none" anchor="t" lIns="0" rIns="0" tIns="0" bIns="0">
            <a:noAutofit/>
          </a:bodyPr>
          <a:lstStyle/>
          <a:p>
            <a:pPr algn="r">
              <a:lnSpc>
                <a:spcPct val="100000"/>
              </a:lnSpc>
            </a:pPr>
            <a:r>
              <a:rPr sz="1200">
                <a:solidFill>
                  <a:srgbClr val="4F5D6A"/>
                </a:solidFill>
                <a:latin typeface="Consolas"/>
              </a:rPr>
              <a:t>149</a:t>
            </a:r>
          </a:p>
          <a:p>
            <a:pPr algn="r">
              <a:lnSpc>
                <a:spcPct val="100000"/>
              </a:lnSpc>
            </a:pPr>
            <a:r>
              <a:rPr sz="1200">
                <a:solidFill>
                  <a:srgbClr val="4F5D6A"/>
                </a:solidFill>
                <a:latin typeface="Consolas"/>
              </a:rPr>
              <a:t>150</a:t>
            </a:r>
          </a:p>
          <a:p>
            <a:pPr algn="r">
              <a:lnSpc>
                <a:spcPct val="100000"/>
              </a:lnSpc>
            </a:pPr>
            <a:r>
              <a:rPr sz="1200">
                <a:solidFill>
                  <a:srgbClr val="4F5D6A"/>
                </a:solidFill>
                <a:latin typeface="Consolas"/>
              </a:rPr>
              <a:t>151</a:t>
            </a:r>
          </a:p>
          <a:p>
            <a:pPr algn="r">
              <a:lnSpc>
                <a:spcPct val="100000"/>
              </a:lnSpc>
            </a:pPr>
            <a:r>
              <a:rPr sz="1200">
                <a:solidFill>
                  <a:srgbClr val="4F5D6A"/>
                </a:solidFill>
                <a:latin typeface="Consolas"/>
              </a:rPr>
              <a:t>152</a:t>
            </a:r>
          </a:p>
          <a:p>
            <a:pPr algn="r">
              <a:lnSpc>
                <a:spcPct val="100000"/>
              </a:lnSpc>
            </a:pPr>
            <a:r>
              <a:rPr sz="1200">
                <a:solidFill>
                  <a:srgbClr val="4F5D6A"/>
                </a:solidFill>
                <a:latin typeface="Consolas"/>
              </a:rPr>
              <a:t>153</a:t>
            </a:r>
          </a:p>
          <a:p>
            <a:pPr algn="r">
              <a:lnSpc>
                <a:spcPct val="100000"/>
              </a:lnSpc>
            </a:pPr>
            <a:r>
              <a:rPr sz="1200">
                <a:solidFill>
                  <a:srgbClr val="4F5D6A"/>
                </a:solidFill>
                <a:latin typeface="Consolas"/>
              </a:rPr>
              <a:t>154</a:t>
            </a:r>
          </a:p>
          <a:p>
            <a:pPr algn="r">
              <a:lnSpc>
                <a:spcPct val="100000"/>
              </a:lnSpc>
            </a:pPr>
            <a:r>
              <a:rPr sz="1200">
                <a:solidFill>
                  <a:srgbClr val="4F5D6A"/>
                </a:solidFill>
                <a:latin typeface="Consolas"/>
              </a:rPr>
              <a:t>155</a:t>
            </a:r>
          </a:p>
          <a:p>
            <a:pPr algn="r">
              <a:lnSpc>
                <a:spcPct val="100000"/>
              </a:lnSpc>
            </a:pPr>
            <a:r>
              <a:rPr sz="1200">
                <a:solidFill>
                  <a:srgbClr val="4F5D6A"/>
                </a:solidFill>
                <a:latin typeface="Consolas"/>
              </a:rPr>
              <a:t>156</a:t>
            </a:r>
          </a:p>
          <a:p>
            <a:pPr algn="r">
              <a:lnSpc>
                <a:spcPct val="100000"/>
              </a:lnSpc>
            </a:pPr>
            <a:r>
              <a:rPr sz="1200">
                <a:solidFill>
                  <a:srgbClr val="4F5D6A"/>
                </a:solidFill>
                <a:latin typeface="Consolas"/>
              </a:rPr>
              <a:t>157</a:t>
            </a:r>
          </a:p>
          <a:p>
            <a:pPr algn="r">
              <a:lnSpc>
                <a:spcPct val="100000"/>
              </a:lnSpc>
            </a:pPr>
            <a:r>
              <a:rPr sz="1200">
                <a:solidFill>
                  <a:srgbClr val="4F5D6A"/>
                </a:solidFill>
                <a:latin typeface="Consolas"/>
              </a:rPr>
              <a:t>158</a:t>
            </a:r>
          </a:p>
          <a:p>
            <a:pPr algn="r">
              <a:lnSpc>
                <a:spcPct val="100000"/>
              </a:lnSpc>
            </a:pPr>
            <a:r>
              <a:rPr sz="1200">
                <a:solidFill>
                  <a:srgbClr val="4F5D6A"/>
                </a:solidFill>
                <a:latin typeface="Consolas"/>
              </a:rPr>
              <a:t>159</a:t>
            </a:r>
          </a:p>
          <a:p>
            <a:pPr algn="r">
              <a:lnSpc>
                <a:spcPct val="100000"/>
              </a:lnSpc>
            </a:pPr>
            <a:r>
              <a:rPr sz="1200">
                <a:solidFill>
                  <a:srgbClr val="4F5D6A"/>
                </a:solidFill>
                <a:latin typeface="Consolas"/>
              </a:rPr>
              <a:t>160</a:t>
            </a:r>
          </a:p>
          <a:p>
            <a:pPr algn="r">
              <a:lnSpc>
                <a:spcPct val="100000"/>
              </a:lnSpc>
            </a:pPr>
            <a:r>
              <a:rPr sz="1200">
                <a:solidFill>
                  <a:srgbClr val="4F5D6A"/>
                </a:solidFill>
                <a:latin typeface="Consolas"/>
              </a:rPr>
              <a:t>161</a:t>
            </a:r>
          </a:p>
          <a:p>
            <a:pPr algn="r">
              <a:lnSpc>
                <a:spcPct val="100000"/>
              </a:lnSpc>
            </a:pPr>
            <a:r>
              <a:rPr sz="1200">
                <a:solidFill>
                  <a:srgbClr val="4F5D6A"/>
                </a:solidFill>
                <a:latin typeface="Consolas"/>
              </a:rPr>
              <a:t>162</a:t>
            </a:r>
          </a:p>
          <a:p>
            <a:pPr algn="r">
              <a:lnSpc>
                <a:spcPct val="100000"/>
              </a:lnSpc>
            </a:pPr>
            <a:r>
              <a:rPr sz="1200">
                <a:solidFill>
                  <a:srgbClr val="4F5D6A"/>
                </a:solidFill>
                <a:latin typeface="Consolas"/>
              </a:rPr>
              <a:t>163</a:t>
            </a:r>
          </a:p>
          <a:p>
            <a:pPr algn="r">
              <a:lnSpc>
                <a:spcPct val="100000"/>
              </a:lnSpc>
            </a:pPr>
            <a:r>
              <a:rPr sz="1200">
                <a:solidFill>
                  <a:srgbClr val="4F5D6A"/>
                </a:solidFill>
                <a:latin typeface="Consolas"/>
              </a:rPr>
              <a:t>164</a:t>
            </a:r>
          </a:p>
          <a:p>
            <a:pPr algn="r">
              <a:lnSpc>
                <a:spcPct val="100000"/>
              </a:lnSpc>
            </a:pPr>
            <a:r>
              <a:rPr sz="1200">
                <a:solidFill>
                  <a:srgbClr val="4F5D6A"/>
                </a:solidFill>
                <a:latin typeface="Consolas"/>
              </a:rPr>
              <a:t>165</a:t>
            </a:r>
          </a:p>
          <a:p>
            <a:pPr algn="r">
              <a:lnSpc>
                <a:spcPct val="100000"/>
              </a:lnSpc>
            </a:pPr>
            <a:r>
              <a:rPr sz="1200">
                <a:solidFill>
                  <a:srgbClr val="4F5D6A"/>
                </a:solidFill>
                <a:latin typeface="Consolas"/>
              </a:rPr>
              <a:t>166</a:t>
            </a:r>
          </a:p>
          <a:p>
            <a:pPr algn="r">
              <a:lnSpc>
                <a:spcPct val="100000"/>
              </a:lnSpc>
            </a:pPr>
            <a:r>
              <a:rPr sz="1200">
                <a:solidFill>
                  <a:srgbClr val="4F5D6A"/>
                </a:solidFill>
                <a:latin typeface="Consolas"/>
              </a:rPr>
              <a:t>167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67625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Staffing by Annealing and by Evolution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13 OF 17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6  ·  Local Search and Optimisation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§6.6.1  ·  Handout p. 59     </a:t>
            </a:r>
            <a:fld id="{1DA7F663-FCB1-43AF-AD86-98DC44B39E4B}" type="slidenum">
              <a:rPr lang="en-GB" sz="1000">
                <a:solidFill>
                  <a:srgbClr val="8795A1"/>
                </a:solidFill>
                <a:latin typeface="Segoe UI"/>
              </a:rPr>
              <a:t>35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Genetic algorithm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432304"/>
          </a:xfrm>
          <a:prstGeom prst="roundRect">
            <a:avLst>
              <a:gd name="adj" fmla="val 3759"/>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code/ch06_staffing_annealing.py</a:t>
            </a:r>
          </a:p>
        </p:txBody>
      </p:sp>
      <p:sp>
        <p:nvSpPr>
          <p:cNvPr id="14" name="!!code-text" descr="def show(state): by = {j: [] for j in range(NS)} for i, s in enumerate(state): by[s].append(DEVS[i]) return &quot; &quot;.join(&quot;%s: %s&quot; % (STREAMS[j], &quot;, &quot;.join(by[j])) for j in range(NS))"/>
          <p:cNvSpPr txBox="1"/>
          <p:nvPr/>
        </p:nvSpPr>
        <p:spPr>
          <a:xfrm>
            <a:off x="1362456" y="2523744"/>
            <a:ext cx="9987991" cy="1938528"/>
          </a:xfrm>
          <a:prstGeom prst="rect">
            <a:avLst/>
          </a:prstGeom>
          <a:noFill/>
        </p:spPr>
        <p:txBody>
          <a:bodyPr wrap="none" anchor="t" lIns="0" rIns="0" tIns="0" bIns="0">
            <a:noAutofit/>
          </a:bodyPr>
          <a:lstStyle/>
          <a:p>
            <a:pPr>
              <a:lnSpc>
                <a:spcPct val="100000"/>
              </a:lnSpc>
              <a:spcAft>
                <a:spcPts val="0"/>
              </a:spcAft>
            </a:pPr>
            <a:r>
              <a:rPr sz="2000" i="0">
                <a:solidFill>
                  <a:srgbClr val="5DADE2"/>
                </a:solidFill>
                <a:latin typeface="Consolas"/>
              </a:rPr>
              <a:t>def</a:t>
            </a:r>
            <a:r>
              <a:rPr sz="2000" i="0">
                <a:solidFill>
                  <a:srgbClr val="E8EDF2"/>
                </a:solidFill>
                <a:latin typeface="Consolas"/>
              </a:rPr>
              <a:t> </a:t>
            </a:r>
            <a:r>
              <a:rPr sz="2000" i="0">
                <a:solidFill>
                  <a:srgbClr val="C39BD3"/>
                </a:solidFill>
                <a:latin typeface="Consolas"/>
              </a:rPr>
              <a:t>show</a:t>
            </a:r>
            <a:r>
              <a:rPr sz="2000" i="0">
                <a:solidFill>
                  <a:srgbClr val="AEB6BF"/>
                </a:solidFill>
                <a:latin typeface="Consolas"/>
              </a:rPr>
              <a:t>(</a:t>
            </a:r>
            <a:r>
              <a:rPr sz="2000" i="0">
                <a:solidFill>
                  <a:srgbClr val="E8EDF2"/>
                </a:solidFill>
                <a:latin typeface="Consolas"/>
              </a:rPr>
              <a:t>state</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by</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j</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5DADE2"/>
                </a:solidFill>
                <a:latin typeface="Consolas"/>
              </a:rPr>
              <a:t>for</a:t>
            </a:r>
            <a:r>
              <a:rPr sz="2000" i="0">
                <a:solidFill>
                  <a:srgbClr val="E8EDF2"/>
                </a:solidFill>
                <a:latin typeface="Consolas"/>
              </a:rPr>
              <a:t> </a:t>
            </a:r>
            <a:r>
              <a:rPr sz="2000" i="0">
                <a:solidFill>
                  <a:srgbClr val="E8EDF2"/>
                </a:solidFill>
                <a:latin typeface="Consolas"/>
              </a:rPr>
              <a:t>j</a:t>
            </a:r>
            <a:r>
              <a:rPr sz="2000" i="0">
                <a:solidFill>
                  <a:srgbClr val="E8EDF2"/>
                </a:solidFill>
                <a:latin typeface="Consolas"/>
              </a:rPr>
              <a:t> </a:t>
            </a:r>
            <a:r>
              <a:rPr sz="2000" i="0">
                <a:solidFill>
                  <a:srgbClr val="AEB6BF"/>
                </a:solidFill>
                <a:latin typeface="Consolas"/>
              </a:rPr>
              <a:t>in</a:t>
            </a:r>
            <a:r>
              <a:rPr sz="2000" i="0">
                <a:solidFill>
                  <a:srgbClr val="E8EDF2"/>
                </a:solidFill>
                <a:latin typeface="Consolas"/>
              </a:rPr>
              <a:t> </a:t>
            </a:r>
            <a:r>
              <a:rPr sz="2000" i="0">
                <a:solidFill>
                  <a:srgbClr val="C39BD3"/>
                </a:solidFill>
                <a:latin typeface="Consolas"/>
              </a:rPr>
              <a:t>range</a:t>
            </a:r>
            <a:r>
              <a:rPr sz="2000" i="0">
                <a:solidFill>
                  <a:srgbClr val="AEB6BF"/>
                </a:solidFill>
                <a:latin typeface="Consolas"/>
              </a:rPr>
              <a:t>(</a:t>
            </a:r>
            <a:r>
              <a:rPr sz="2000" i="0">
                <a:solidFill>
                  <a:srgbClr val="E8EDF2"/>
                </a:solidFill>
                <a:latin typeface="Consolas"/>
              </a:rPr>
              <a:t>NS</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for</a:t>
            </a:r>
            <a:r>
              <a:rPr sz="2000" i="0">
                <a:solidFill>
                  <a:srgbClr val="E8EDF2"/>
                </a:solidFill>
                <a:latin typeface="Consolas"/>
              </a:rPr>
              <a:t> </a:t>
            </a:r>
            <a:r>
              <a:rPr sz="2000" i="0">
                <a:solidFill>
                  <a:srgbClr val="E8EDF2"/>
                </a:solidFill>
                <a:latin typeface="Consolas"/>
              </a:rPr>
              <a:t>i</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s</a:t>
            </a:r>
            <a:r>
              <a:rPr sz="2000" i="0">
                <a:solidFill>
                  <a:srgbClr val="E8EDF2"/>
                </a:solidFill>
                <a:latin typeface="Consolas"/>
              </a:rPr>
              <a:t> </a:t>
            </a:r>
            <a:r>
              <a:rPr sz="2000" i="0">
                <a:solidFill>
                  <a:srgbClr val="AEB6BF"/>
                </a:solidFill>
                <a:latin typeface="Consolas"/>
              </a:rPr>
              <a:t>in</a:t>
            </a:r>
            <a:r>
              <a:rPr sz="2000" i="0">
                <a:solidFill>
                  <a:srgbClr val="E8EDF2"/>
                </a:solidFill>
                <a:latin typeface="Consolas"/>
              </a:rPr>
              <a:t> </a:t>
            </a:r>
            <a:r>
              <a:rPr sz="2000" i="0">
                <a:solidFill>
                  <a:srgbClr val="C39BD3"/>
                </a:solidFill>
                <a:latin typeface="Consolas"/>
              </a:rPr>
              <a:t>enumerate</a:t>
            </a:r>
            <a:r>
              <a:rPr sz="2000" i="0">
                <a:solidFill>
                  <a:srgbClr val="AEB6BF"/>
                </a:solidFill>
                <a:latin typeface="Consolas"/>
              </a:rPr>
              <a:t>(</a:t>
            </a:r>
            <a:r>
              <a:rPr sz="2000" i="0">
                <a:solidFill>
                  <a:srgbClr val="E8EDF2"/>
                </a:solidFill>
                <a:latin typeface="Consolas"/>
              </a:rPr>
              <a:t>state</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by</a:t>
            </a:r>
            <a:r>
              <a:rPr sz="2000" i="0">
                <a:solidFill>
                  <a:srgbClr val="AEB6BF"/>
                </a:solidFill>
                <a:latin typeface="Consolas"/>
              </a:rPr>
              <a:t>[</a:t>
            </a:r>
            <a:r>
              <a:rPr sz="2000" i="0">
                <a:solidFill>
                  <a:srgbClr val="E8EDF2"/>
                </a:solidFill>
                <a:latin typeface="Consolas"/>
              </a:rPr>
              <a:t>s</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append</a:t>
            </a:r>
            <a:r>
              <a:rPr sz="2000" i="0">
                <a:solidFill>
                  <a:srgbClr val="AEB6BF"/>
                </a:solidFill>
                <a:latin typeface="Consolas"/>
              </a:rPr>
              <a:t>(</a:t>
            </a:r>
            <a:r>
              <a:rPr sz="2000" i="0">
                <a:solidFill>
                  <a:srgbClr val="E8EDF2"/>
                </a:solidFill>
                <a:latin typeface="Consolas"/>
              </a:rPr>
              <a:t>DEVS</a:t>
            </a:r>
            <a:r>
              <a:rPr sz="2000" i="0">
                <a:solidFill>
                  <a:srgbClr val="AEB6BF"/>
                </a:solidFill>
                <a:latin typeface="Consolas"/>
              </a:rPr>
              <a:t>[</a:t>
            </a:r>
            <a:r>
              <a:rPr sz="2000" i="0">
                <a:solidFill>
                  <a:srgbClr val="E8EDF2"/>
                </a:solidFill>
                <a:latin typeface="Consolas"/>
              </a:rPr>
              <a:t>i</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return</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  </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join</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%s</a:t>
            </a:r>
            <a:r>
              <a:rPr sz="2000" i="0">
                <a:solidFill>
                  <a:srgbClr val="7DCEA0"/>
                </a:solidFill>
                <a:latin typeface="Consolas"/>
              </a:rPr>
              <a:t>: </a:t>
            </a:r>
            <a:r>
              <a:rPr sz="2000" i="0">
                <a:solidFill>
                  <a:srgbClr val="7DCEA0"/>
                </a:solidFill>
                <a:latin typeface="Consolas"/>
              </a:rPr>
              <a:t>%s</a:t>
            </a:r>
            <a:r>
              <a:rPr sz="2000" i="0">
                <a:solidFill>
                  <a:srgbClr val="7DCEA0"/>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STREAMS</a:t>
            </a:r>
            <a:r>
              <a:rPr sz="2000" i="0">
                <a:solidFill>
                  <a:srgbClr val="AEB6BF"/>
                </a:solidFill>
                <a:latin typeface="Consolas"/>
              </a:rPr>
              <a:t>[</a:t>
            </a:r>
            <a:r>
              <a:rPr sz="2000" i="0">
                <a:solidFill>
                  <a:srgbClr val="E8EDF2"/>
                </a:solidFill>
                <a:latin typeface="Consolas"/>
              </a:rPr>
              <a:t>j</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 </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join</a:t>
            </a:r>
            <a:r>
              <a:rPr sz="2000" i="0">
                <a:solidFill>
                  <a:srgbClr val="AEB6BF"/>
                </a:solidFill>
                <a:latin typeface="Consolas"/>
              </a:rPr>
              <a:t>(</a:t>
            </a:r>
            <a:r>
              <a:rPr sz="2000" i="0">
                <a:solidFill>
                  <a:srgbClr val="E8EDF2"/>
                </a:solidFill>
                <a:latin typeface="Consolas"/>
              </a:rPr>
              <a:t>by</a:t>
            </a:r>
            <a:r>
              <a:rPr sz="2000" i="0">
                <a:solidFill>
                  <a:srgbClr val="AEB6BF"/>
                </a:solidFill>
                <a:latin typeface="Consolas"/>
              </a:rPr>
              <a:t>[</a:t>
            </a:r>
            <a:r>
              <a:rPr sz="2000" i="0">
                <a:solidFill>
                  <a:srgbClr val="E8EDF2"/>
                </a:solidFill>
                <a:latin typeface="Consolas"/>
              </a:rPr>
              <a:t>j</a:t>
            </a:r>
            <a:r>
              <a:rPr sz="2000" i="0">
                <a:solidFill>
                  <a:srgbClr val="AEB6BF"/>
                </a:solidFill>
                <a:latin typeface="Consolas"/>
              </a:rPr>
              <a:t>]</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for</a:t>
            </a:r>
            <a:r>
              <a:rPr sz="2000" i="0">
                <a:solidFill>
                  <a:srgbClr val="E8EDF2"/>
                </a:solidFill>
                <a:latin typeface="Consolas"/>
              </a:rPr>
              <a:t> </a:t>
            </a:r>
            <a:r>
              <a:rPr sz="2000" i="0">
                <a:solidFill>
                  <a:srgbClr val="E8EDF2"/>
                </a:solidFill>
                <a:latin typeface="Consolas"/>
              </a:rPr>
              <a:t>j</a:t>
            </a:r>
            <a:r>
              <a:rPr sz="2000" i="0">
                <a:solidFill>
                  <a:srgbClr val="E8EDF2"/>
                </a:solidFill>
                <a:latin typeface="Consolas"/>
              </a:rPr>
              <a:t> </a:t>
            </a:r>
            <a:r>
              <a:rPr sz="2000" i="0">
                <a:solidFill>
                  <a:srgbClr val="AEB6BF"/>
                </a:solidFill>
                <a:latin typeface="Consolas"/>
              </a:rPr>
              <a:t>in</a:t>
            </a:r>
            <a:r>
              <a:rPr sz="2000" i="0">
                <a:solidFill>
                  <a:srgbClr val="E8EDF2"/>
                </a:solidFill>
                <a:latin typeface="Consolas"/>
              </a:rPr>
              <a:t> </a:t>
            </a:r>
            <a:r>
              <a:rPr sz="2000" i="0">
                <a:solidFill>
                  <a:srgbClr val="C39BD3"/>
                </a:solidFill>
                <a:latin typeface="Consolas"/>
              </a:rPr>
              <a:t>range</a:t>
            </a:r>
            <a:r>
              <a:rPr sz="2000" i="0">
                <a:solidFill>
                  <a:srgbClr val="AEB6BF"/>
                </a:solidFill>
                <a:latin typeface="Consolas"/>
              </a:rPr>
              <a:t>(</a:t>
            </a:r>
            <a:r>
              <a:rPr sz="2000" i="0">
                <a:solidFill>
                  <a:srgbClr val="E8EDF2"/>
                </a:solidFill>
                <a:latin typeface="Consolas"/>
              </a:rPr>
              <a:t>NS</a:t>
            </a:r>
            <a:r>
              <a:rPr sz="2000" i="0">
                <a:solidFill>
                  <a:srgbClr val="AEB6BF"/>
                </a:solidFill>
                <a:latin typeface="Consolas"/>
              </a:rPr>
              <a:t>)</a:t>
            </a:r>
            <a:r>
              <a:rPr sz="2000" i="0">
                <a:solidFill>
                  <a:srgbClr val="AEB6BF"/>
                </a:solidFill>
                <a:latin typeface="Consolas"/>
              </a:rPr>
              <a:t>)</a:t>
            </a:r>
          </a:p>
        </p:txBody>
      </p:sp>
      <p:sp>
        <p:nvSpPr>
          <p:cNvPr id="15" name="!!code-num"/>
          <p:cNvSpPr txBox="1"/>
          <p:nvPr/>
        </p:nvSpPr>
        <p:spPr>
          <a:xfrm>
            <a:off x="768096" y="2523744"/>
            <a:ext cx="393192" cy="19385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170</a:t>
            </a:r>
          </a:p>
          <a:p>
            <a:pPr algn="r">
              <a:lnSpc>
                <a:spcPct val="100000"/>
              </a:lnSpc>
            </a:pPr>
            <a:r>
              <a:rPr sz="2000">
                <a:solidFill>
                  <a:srgbClr val="4F5D6A"/>
                </a:solidFill>
                <a:latin typeface="Consolas"/>
              </a:rPr>
              <a:t>171</a:t>
            </a:r>
          </a:p>
          <a:p>
            <a:pPr algn="r">
              <a:lnSpc>
                <a:spcPct val="100000"/>
              </a:lnSpc>
            </a:pPr>
            <a:r>
              <a:rPr sz="2000">
                <a:solidFill>
                  <a:srgbClr val="4F5D6A"/>
                </a:solidFill>
                <a:latin typeface="Consolas"/>
              </a:rPr>
              <a:t>172</a:t>
            </a:r>
          </a:p>
          <a:p>
            <a:pPr algn="r">
              <a:lnSpc>
                <a:spcPct val="100000"/>
              </a:lnSpc>
            </a:pPr>
            <a:r>
              <a:rPr sz="2000">
                <a:solidFill>
                  <a:srgbClr val="4F5D6A"/>
                </a:solidFill>
                <a:latin typeface="Consolas"/>
              </a:rPr>
              <a:t>173</a:t>
            </a:r>
          </a:p>
          <a:p>
            <a:pPr algn="r">
              <a:lnSpc>
                <a:spcPct val="100000"/>
              </a:lnSpc>
            </a:pPr>
            <a:r>
              <a:rPr sz="2000">
                <a:solidFill>
                  <a:srgbClr val="4F5D6A"/>
                </a:solidFill>
                <a:latin typeface="Consolas"/>
              </a:rPr>
              <a:t>174</a:t>
            </a:r>
          </a:p>
          <a:p>
            <a:pPr algn="r">
              <a:lnSpc>
                <a:spcPct val="100000"/>
              </a:lnSpc>
            </a:pPr>
            <a:r>
              <a:rPr sz="2000">
                <a:solidFill>
                  <a:srgbClr val="4F5D6A"/>
                </a:solidFill>
                <a:latin typeface="Consolas"/>
              </a:rPr>
              <a:t>175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90202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Staffing by Annealing and by Evolution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14 OF 17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6  ·  Local Search and Optimisation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§6.6.1  ·  Handout p. 59     </a:t>
            </a:r>
            <a:fld id="{FC9D22CF-6921-4901-83CC-E7BDD6A5E811}" type="slidenum">
              <a:rPr lang="en-GB" sz="1000">
                <a:solidFill>
                  <a:srgbClr val="8795A1"/>
                </a:solidFill>
                <a:latin typeface="Segoe UI"/>
              </a:rPr>
              <a:t>36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Genetic algorithm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072383"/>
          </a:xfrm>
          <a:prstGeom prst="roundRect">
            <a:avLst>
              <a:gd name="adj" fmla="val 29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code/ch06_staffing_annealing.py</a:t>
            </a:r>
          </a:p>
        </p:txBody>
      </p:sp>
      <p:sp>
        <p:nvSpPr>
          <p:cNvPr id="14" name="!!code-text" descr="if __name__ == &quot;__main__&quot;: opt, arg = exhaustive() print(&quot;states: %d exhaustive optimum: %d&quot; % (NS ** len(DEVS), opt)) print(show(arg)) print() print(&quot;budget: %d evaluations per run, 200 runs, seeds 0-199&quot; % BUDGET) print() print(&quot;method optimum mean worst&quot;) print(&quot;-&quot; * 56)"/>
          <p:cNvSpPr txBox="1"/>
          <p:nvPr/>
        </p:nvSpPr>
        <p:spPr>
          <a:xfrm>
            <a:off x="1362456" y="2523744"/>
            <a:ext cx="9987991" cy="2578607"/>
          </a:xfrm>
          <a:prstGeom prst="rect">
            <a:avLst/>
          </a:prstGeom>
          <a:noFill/>
        </p:spPr>
        <p:txBody>
          <a:bodyPr wrap="none" anchor="t" lIns="0" rIns="0" tIns="0" bIns="0">
            <a:noAutofit/>
          </a:bodyPr>
          <a:lstStyle/>
          <a:p>
            <a:pPr>
              <a:lnSpc>
                <a:spcPct val="100000"/>
              </a:lnSpc>
              <a:spcAft>
                <a:spcPts val="0"/>
              </a:spcAft>
            </a:pPr>
            <a:r>
              <a:rPr sz="1800" i="0">
                <a:solidFill>
                  <a:srgbClr val="5DADE2"/>
                </a:solidFill>
                <a:latin typeface="Consolas"/>
              </a:rPr>
              <a:t>if</a:t>
            </a:r>
            <a:r>
              <a:rPr sz="1800" i="0">
                <a:solidFill>
                  <a:srgbClr val="E8EDF2"/>
                </a:solidFill>
                <a:latin typeface="Consolas"/>
              </a:rPr>
              <a:t> </a:t>
            </a:r>
            <a:r>
              <a:rPr sz="1800" i="0">
                <a:solidFill>
                  <a:srgbClr val="E8EDF2"/>
                </a:solidFill>
                <a:latin typeface="Consolas"/>
              </a:rPr>
              <a:t>__name__</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__main__</a:t>
            </a:r>
            <a:r>
              <a:rPr sz="1800" i="0">
                <a:solidFill>
                  <a:srgbClr val="7DCEA0"/>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opt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arg</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exhaustive</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states: </a:t>
            </a:r>
            <a:r>
              <a:rPr sz="1800" i="0">
                <a:solidFill>
                  <a:srgbClr val="7DCEA0"/>
                </a:solidFill>
                <a:latin typeface="Consolas"/>
              </a:rPr>
              <a:t>%d</a:t>
            </a:r>
            <a:r>
              <a:rPr sz="1800" i="0">
                <a:solidFill>
                  <a:srgbClr val="7DCEA0"/>
                </a:solidFill>
                <a:latin typeface="Consolas"/>
              </a:rPr>
              <a:t>      exhaustive optimum: </a:t>
            </a:r>
            <a:r>
              <a:rPr sz="1800" i="0">
                <a:solidFill>
                  <a:srgbClr val="7DCEA0"/>
                </a:solidFill>
                <a:latin typeface="Consolas"/>
              </a:rPr>
              <a:t>%d</a:t>
            </a:r>
            <a:r>
              <a:rPr sz="1800" i="0">
                <a:solidFill>
                  <a:srgbClr val="7DCEA0"/>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NS</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len</a:t>
            </a:r>
            <a:r>
              <a:rPr sz="1800" i="0">
                <a:solidFill>
                  <a:srgbClr val="AEB6BF"/>
                </a:solidFill>
                <a:latin typeface="Consolas"/>
              </a:rPr>
              <a:t>(</a:t>
            </a:r>
            <a:r>
              <a:rPr sz="1800" i="0">
                <a:solidFill>
                  <a:srgbClr val="E8EDF2"/>
                </a:solidFill>
                <a:latin typeface="Consolas"/>
              </a:rPr>
              <a:t>DEVS</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opt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C39BD3"/>
                </a:solidFill>
                <a:latin typeface="Consolas"/>
              </a:rPr>
              <a:t>print</a:t>
            </a:r>
            <a:r>
              <a:rPr sz="1800" i="0">
                <a:solidFill>
                  <a:srgbClr val="AEB6BF"/>
                </a:solidFill>
                <a:latin typeface="Consolas"/>
              </a:rPr>
              <a:t>(</a:t>
            </a:r>
            <a:r>
              <a:rPr sz="1800" i="0">
                <a:solidFill>
                  <a:srgbClr val="E8EDF2"/>
                </a:solidFill>
                <a:latin typeface="Consolas"/>
              </a:rPr>
              <a:t>show</a:t>
            </a:r>
            <a:r>
              <a:rPr sz="1800" i="0">
                <a:solidFill>
                  <a:srgbClr val="AEB6BF"/>
                </a:solidFill>
                <a:latin typeface="Consolas"/>
              </a:rPr>
              <a:t>(</a:t>
            </a:r>
            <a:r>
              <a:rPr sz="1800" i="0">
                <a:solidFill>
                  <a:srgbClr val="E8EDF2"/>
                </a:solidFill>
                <a:latin typeface="Consolas"/>
              </a:rPr>
              <a:t>arg</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C39BD3"/>
                </a:solidFill>
                <a:latin typeface="Consolas"/>
              </a:rPr>
              <a:t>print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budget: </a:t>
            </a:r>
            <a:r>
              <a:rPr sz="1800" i="0">
                <a:solidFill>
                  <a:srgbClr val="7DCEA0"/>
                </a:solidFill>
                <a:latin typeface="Consolas"/>
              </a:rPr>
              <a:t>%d</a:t>
            </a:r>
            <a:r>
              <a:rPr sz="1800" i="0">
                <a:solidFill>
                  <a:srgbClr val="7DCEA0"/>
                </a:solidFill>
                <a:latin typeface="Consolas"/>
              </a:rPr>
              <a:t> evaluations per run, 200 runs, seeds 0-199</a:t>
            </a:r>
            <a:r>
              <a:rPr sz="1800" i="0">
                <a:solidFill>
                  <a:srgbClr val="7DCEA0"/>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BUDGET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C39BD3"/>
                </a:solidFill>
                <a:latin typeface="Consolas"/>
              </a:rPr>
              <a:t>print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method                        optimum    mean   worst</a:t>
            </a:r>
            <a:r>
              <a:rPr sz="1800" i="0">
                <a:solidFill>
                  <a:srgbClr val="7DCEA0"/>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a:t>
            </a:r>
            <a:r>
              <a:rPr sz="1800" i="0">
                <a:solidFill>
                  <a:srgbClr val="7DCEA0"/>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56</a:t>
            </a:r>
            <a:r>
              <a:rPr sz="1800" i="0">
                <a:solidFill>
                  <a:srgbClr val="AEB6BF"/>
                </a:solidFill>
                <a:latin typeface="Consolas"/>
              </a:rPr>
              <a:t>)</a:t>
            </a:r>
          </a:p>
        </p:txBody>
      </p:sp>
      <p:sp>
        <p:nvSpPr>
          <p:cNvPr id="15" name="!!code-num"/>
          <p:cNvSpPr txBox="1"/>
          <p:nvPr/>
        </p:nvSpPr>
        <p:spPr>
          <a:xfrm>
            <a:off x="768096" y="2523744"/>
            <a:ext cx="393192" cy="257860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178</a:t>
            </a:r>
          </a:p>
          <a:p>
            <a:pPr algn="r">
              <a:lnSpc>
                <a:spcPct val="100000"/>
              </a:lnSpc>
            </a:pPr>
            <a:r>
              <a:rPr sz="1800">
                <a:solidFill>
                  <a:srgbClr val="4F5D6A"/>
                </a:solidFill>
                <a:latin typeface="Consolas"/>
              </a:rPr>
              <a:t>179</a:t>
            </a:r>
          </a:p>
          <a:p>
            <a:pPr algn="r">
              <a:lnSpc>
                <a:spcPct val="100000"/>
              </a:lnSpc>
            </a:pPr>
            <a:r>
              <a:rPr sz="1800">
                <a:solidFill>
                  <a:srgbClr val="4F5D6A"/>
                </a:solidFill>
                <a:latin typeface="Consolas"/>
              </a:rPr>
              <a:t>180</a:t>
            </a:r>
          </a:p>
          <a:p>
            <a:pPr algn="r">
              <a:lnSpc>
                <a:spcPct val="100000"/>
              </a:lnSpc>
            </a:pPr>
            <a:r>
              <a:rPr sz="1800">
                <a:solidFill>
                  <a:srgbClr val="4F5D6A"/>
                </a:solidFill>
                <a:latin typeface="Consolas"/>
              </a:rPr>
              <a:t>181</a:t>
            </a:r>
          </a:p>
          <a:p>
            <a:pPr algn="r">
              <a:lnSpc>
                <a:spcPct val="100000"/>
              </a:lnSpc>
            </a:pPr>
            <a:r>
              <a:rPr sz="1800">
                <a:solidFill>
                  <a:srgbClr val="4F5D6A"/>
                </a:solidFill>
                <a:latin typeface="Consolas"/>
              </a:rPr>
              <a:t>182</a:t>
            </a:r>
          </a:p>
          <a:p>
            <a:pPr algn="r">
              <a:lnSpc>
                <a:spcPct val="100000"/>
              </a:lnSpc>
            </a:pPr>
            <a:r>
              <a:rPr sz="1800">
                <a:solidFill>
                  <a:srgbClr val="4F5D6A"/>
                </a:solidFill>
                <a:latin typeface="Consolas"/>
              </a:rPr>
              <a:t>183</a:t>
            </a:r>
          </a:p>
          <a:p>
            <a:pPr algn="r">
              <a:lnSpc>
                <a:spcPct val="100000"/>
              </a:lnSpc>
            </a:pPr>
            <a:r>
              <a:rPr sz="1800">
                <a:solidFill>
                  <a:srgbClr val="4F5D6A"/>
                </a:solidFill>
                <a:latin typeface="Consolas"/>
              </a:rPr>
              <a:t>184</a:t>
            </a:r>
          </a:p>
          <a:p>
            <a:pPr algn="r">
              <a:lnSpc>
                <a:spcPct val="100000"/>
              </a:lnSpc>
            </a:pPr>
            <a:r>
              <a:rPr sz="1800">
                <a:solidFill>
                  <a:srgbClr val="4F5D6A"/>
                </a:solidFill>
                <a:latin typeface="Consolas"/>
              </a:rPr>
              <a:t>185</a:t>
            </a:r>
          </a:p>
          <a:p>
            <a:pPr algn="r">
              <a:lnSpc>
                <a:spcPct val="100000"/>
              </a:lnSpc>
            </a:pPr>
            <a:r>
              <a:rPr sz="1800">
                <a:solidFill>
                  <a:srgbClr val="4F5D6A"/>
                </a:solidFill>
                <a:latin typeface="Consolas"/>
              </a:rPr>
              <a:t>186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12779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Staffing by Annealing and by Evolution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15 OF 17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6  ·  Local Search and Optimisation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§6.6.1  ·  Handout p. 59     </a:t>
            </a:r>
            <a:fld id="{E7F16DCF-0D42-4E97-B90F-884911E6DFA6}" type="slidenum">
              <a:rPr lang="en-GB" sz="1000">
                <a:solidFill>
                  <a:srgbClr val="8795A1"/>
                </a:solidFill>
                <a:latin typeface="Segoe UI"/>
              </a:rPr>
              <a:t>37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Genetic algorithm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971543"/>
          </a:xfrm>
          <a:prstGeom prst="roundRect">
            <a:avLst>
              <a:gd name="adj" fmla="val 230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code/ch06_staffing_annealing.py</a:t>
            </a:r>
          </a:p>
        </p:txBody>
      </p:sp>
      <p:sp>
        <p:nvSpPr>
          <p:cNvPr id="14" name="!!code-text" descr="methods = ((&quot;hill climbing, one start&quot;, hill_climb), (&quot;random restart &quot;, random_restart), (&quot;simulated annealing &quot;, anneal), (&quot;genetic algorithm &quot;, genetic)) table = {} for name, fn in methods: hits, total, worst = 0, 0, None for seed in range(200): rng = random.Random(seed) _, v = fn(Budget(BUDGET), rng) total += v worst = v if worst is None else min(worst, v) if v == opt: hits += 1 table[name.strip()] = (hits, total / 200, worst) print(&quot;%s %4d/200 %7.2f %6d&quot; % (name, hits, total / 200, worst))"/>
          <p:cNvSpPr txBox="1"/>
          <p:nvPr/>
        </p:nvSpPr>
        <p:spPr>
          <a:xfrm>
            <a:off x="1362456" y="2523744"/>
            <a:ext cx="9987991" cy="3477767"/>
          </a:xfrm>
          <a:prstGeom prst="rect">
            <a:avLst/>
          </a:prstGeom>
          <a:noFill/>
        </p:spPr>
        <p:txBody>
          <a:bodyPr wrap="none" anchor="t" lIns="0" rIns="0" tIns="0" bIns="0">
            <a:noAutofit/>
          </a:bodyPr>
          <a:lstStyle/>
          <a:p>
            <a:pPr>
              <a:lnSpc>
                <a:spcPct val="100000"/>
              </a:lnSpc>
              <a:spcAft>
                <a:spcPts val="0"/>
              </a:spcAft>
            </a:pPr>
            <a:r>
              <a:rPr sz="1300" i="0">
                <a:solidFill>
                  <a:srgbClr val="E8EDF2"/>
                </a:solidFill>
                <a:latin typeface="Consolas"/>
              </a:rPr>
              <a:t>    </a:t>
            </a:r>
            <a:r>
              <a:rPr sz="1300" i="0">
                <a:solidFill>
                  <a:srgbClr val="E8EDF2"/>
                </a:solidFill>
                <a:latin typeface="Consolas"/>
              </a:rPr>
              <a:t>methods</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hill climbing, one start</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hill_climb</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random restart          </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random_restart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simulated annealing     </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anneal</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genetic algorithm       </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genetic</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table</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for</a:t>
            </a:r>
            <a:r>
              <a:rPr sz="1300" i="0">
                <a:solidFill>
                  <a:srgbClr val="E8EDF2"/>
                </a:solidFill>
                <a:latin typeface="Consolas"/>
              </a:rPr>
              <a:t> </a:t>
            </a:r>
            <a:r>
              <a:rPr sz="1300" i="0">
                <a:solidFill>
                  <a:srgbClr val="E8EDF2"/>
                </a:solidFill>
                <a:latin typeface="Consolas"/>
              </a:rPr>
              <a:t>name</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fn</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E8EDF2"/>
                </a:solidFill>
                <a:latin typeface="Consolas"/>
              </a:rPr>
              <a:t>methods</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hits</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total</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worst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0</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0</a:t>
            </a:r>
            <a:r>
              <a:rPr sz="1300" i="0">
                <a:solidFill>
                  <a:srgbClr val="AEB6BF"/>
                </a:solidFill>
                <a:latin typeface="Consolas"/>
              </a:rPr>
              <a:t>,</a:t>
            </a:r>
            <a:r>
              <a:rPr sz="1300" i="0">
                <a:solidFill>
                  <a:srgbClr val="E8EDF2"/>
                </a:solidFill>
                <a:latin typeface="Consolas"/>
              </a:rPr>
              <a:t> </a:t>
            </a:r>
            <a:r>
              <a:rPr sz="1300" i="0">
                <a:solidFill>
                  <a:srgbClr val="5DADE2"/>
                </a:solidFill>
                <a:latin typeface="Consolas"/>
              </a:rPr>
              <a:t>None</a:t>
            </a:r>
          </a:p>
          <a:p>
            <a:pPr>
              <a:lnSpc>
                <a:spcPct val="100000"/>
              </a:lnSpc>
              <a:spcAft>
                <a:spcPts val="0"/>
              </a:spcAft>
            </a:pPr>
            <a:r>
              <a:rPr sz="1300" i="0">
                <a:solidFill>
                  <a:srgbClr val="E8EDF2"/>
                </a:solidFill>
                <a:latin typeface="Consolas"/>
              </a:rPr>
              <a:t>        </a:t>
            </a:r>
            <a:r>
              <a:rPr sz="1300" i="0">
                <a:solidFill>
                  <a:srgbClr val="5DADE2"/>
                </a:solidFill>
                <a:latin typeface="Consolas"/>
              </a:rPr>
              <a:t>for</a:t>
            </a:r>
            <a:r>
              <a:rPr sz="1300" i="0">
                <a:solidFill>
                  <a:srgbClr val="E8EDF2"/>
                </a:solidFill>
                <a:latin typeface="Consolas"/>
              </a:rPr>
              <a:t> </a:t>
            </a:r>
            <a:r>
              <a:rPr sz="1300" i="0">
                <a:solidFill>
                  <a:srgbClr val="E8EDF2"/>
                </a:solidFill>
                <a:latin typeface="Consolas"/>
              </a:rPr>
              <a:t>seed</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C39BD3"/>
                </a:solidFill>
                <a:latin typeface="Consolas"/>
              </a:rPr>
              <a:t>range</a:t>
            </a:r>
            <a:r>
              <a:rPr sz="1300" i="0">
                <a:solidFill>
                  <a:srgbClr val="AEB6BF"/>
                </a:solidFill>
                <a:latin typeface="Consolas"/>
              </a:rPr>
              <a:t>(</a:t>
            </a:r>
            <a:r>
              <a:rPr sz="1300" i="0">
                <a:solidFill>
                  <a:srgbClr val="F7DC6F"/>
                </a:solidFill>
                <a:latin typeface="Consolas"/>
              </a:rPr>
              <a:t>200</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rng</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random</a:t>
            </a:r>
            <a:r>
              <a:rPr sz="1300" i="0">
                <a:solidFill>
                  <a:srgbClr val="AEB6BF"/>
                </a:solidFill>
                <a:latin typeface="Consolas"/>
              </a:rPr>
              <a:t>.</a:t>
            </a:r>
            <a:r>
              <a:rPr sz="1300" i="0">
                <a:solidFill>
                  <a:srgbClr val="E8EDF2"/>
                </a:solidFill>
                <a:latin typeface="Consolas"/>
              </a:rPr>
              <a:t>Random</a:t>
            </a:r>
            <a:r>
              <a:rPr sz="1300" i="0">
                <a:solidFill>
                  <a:srgbClr val="AEB6BF"/>
                </a:solidFill>
                <a:latin typeface="Consolas"/>
              </a:rPr>
              <a:t>(</a:t>
            </a:r>
            <a:r>
              <a:rPr sz="1300" i="0">
                <a:solidFill>
                  <a:srgbClr val="E8EDF2"/>
                </a:solidFill>
                <a:latin typeface="Consolas"/>
              </a:rPr>
              <a:t>seed</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_</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v</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fn</a:t>
            </a:r>
            <a:r>
              <a:rPr sz="1300" i="0">
                <a:solidFill>
                  <a:srgbClr val="AEB6BF"/>
                </a:solidFill>
                <a:latin typeface="Consolas"/>
              </a:rPr>
              <a:t>(</a:t>
            </a:r>
            <a:r>
              <a:rPr sz="1300" i="0">
                <a:solidFill>
                  <a:srgbClr val="E8EDF2"/>
                </a:solidFill>
                <a:latin typeface="Consolas"/>
              </a:rPr>
              <a:t>Budget</a:t>
            </a:r>
            <a:r>
              <a:rPr sz="1300" i="0">
                <a:solidFill>
                  <a:srgbClr val="AEB6BF"/>
                </a:solidFill>
                <a:latin typeface="Consolas"/>
              </a:rPr>
              <a:t>(</a:t>
            </a:r>
            <a:r>
              <a:rPr sz="1300" i="0">
                <a:solidFill>
                  <a:srgbClr val="E8EDF2"/>
                </a:solidFill>
                <a:latin typeface="Consolas"/>
              </a:rPr>
              <a:t>BUDGET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rng</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total</a:t>
            </a:r>
            <a:r>
              <a:rPr sz="1300" i="0">
                <a:solidFill>
                  <a:srgbClr val="E8EDF2"/>
                </a:solidFill>
                <a:latin typeface="Consolas"/>
              </a:rPr>
              <a:t> </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v</a:t>
            </a:r>
          </a:p>
          <a:p>
            <a:pPr>
              <a:lnSpc>
                <a:spcPct val="100000"/>
              </a:lnSpc>
              <a:spcAft>
                <a:spcPts val="0"/>
              </a:spcAft>
            </a:pPr>
            <a:r>
              <a:rPr sz="1300" i="0">
                <a:solidFill>
                  <a:srgbClr val="E8EDF2"/>
                </a:solidFill>
                <a:latin typeface="Consolas"/>
              </a:rPr>
              <a:t>            </a:t>
            </a:r>
            <a:r>
              <a:rPr sz="1300" i="0">
                <a:solidFill>
                  <a:srgbClr val="E8EDF2"/>
                </a:solidFill>
                <a:latin typeface="Consolas"/>
              </a:rPr>
              <a:t>worst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v</a:t>
            </a:r>
            <a:r>
              <a:rPr sz="1300" i="0">
                <a:solidFill>
                  <a:srgbClr val="E8EDF2"/>
                </a:solidFill>
                <a:latin typeface="Consolas"/>
              </a:rPr>
              <a:t> </a:t>
            </a:r>
            <a:r>
              <a:rPr sz="1300" i="0">
                <a:solidFill>
                  <a:srgbClr val="5DADE2"/>
                </a:solidFill>
                <a:latin typeface="Consolas"/>
              </a:rPr>
              <a:t>if</a:t>
            </a:r>
            <a:r>
              <a:rPr sz="1300" i="0">
                <a:solidFill>
                  <a:srgbClr val="E8EDF2"/>
                </a:solidFill>
                <a:latin typeface="Consolas"/>
              </a:rPr>
              <a:t> </a:t>
            </a:r>
            <a:r>
              <a:rPr sz="1300" i="0">
                <a:solidFill>
                  <a:srgbClr val="E8EDF2"/>
                </a:solidFill>
                <a:latin typeface="Consolas"/>
              </a:rPr>
              <a:t>worst</a:t>
            </a:r>
            <a:r>
              <a:rPr sz="1300" i="0">
                <a:solidFill>
                  <a:srgbClr val="E8EDF2"/>
                </a:solidFill>
                <a:latin typeface="Consolas"/>
              </a:rPr>
              <a:t> </a:t>
            </a:r>
            <a:r>
              <a:rPr sz="1300" i="0">
                <a:solidFill>
                  <a:srgbClr val="AEB6BF"/>
                </a:solidFill>
                <a:latin typeface="Consolas"/>
              </a:rPr>
              <a:t>is</a:t>
            </a:r>
            <a:r>
              <a:rPr sz="1300" i="0">
                <a:solidFill>
                  <a:srgbClr val="E8EDF2"/>
                </a:solidFill>
                <a:latin typeface="Consolas"/>
              </a:rPr>
              <a:t> </a:t>
            </a:r>
            <a:r>
              <a:rPr sz="1300" i="0">
                <a:solidFill>
                  <a:srgbClr val="5DADE2"/>
                </a:solidFill>
                <a:latin typeface="Consolas"/>
              </a:rPr>
              <a:t>None</a:t>
            </a:r>
            <a:r>
              <a:rPr sz="1300" i="0">
                <a:solidFill>
                  <a:srgbClr val="E8EDF2"/>
                </a:solidFill>
                <a:latin typeface="Consolas"/>
              </a:rPr>
              <a:t> </a:t>
            </a:r>
            <a:r>
              <a:rPr sz="1300" i="0">
                <a:solidFill>
                  <a:srgbClr val="5DADE2"/>
                </a:solidFill>
                <a:latin typeface="Consolas"/>
              </a:rPr>
              <a:t>else</a:t>
            </a:r>
            <a:r>
              <a:rPr sz="1300" i="0">
                <a:solidFill>
                  <a:srgbClr val="E8EDF2"/>
                </a:solidFill>
                <a:latin typeface="Consolas"/>
              </a:rPr>
              <a:t> </a:t>
            </a:r>
            <a:r>
              <a:rPr sz="1300" i="0">
                <a:solidFill>
                  <a:srgbClr val="C39BD3"/>
                </a:solidFill>
                <a:latin typeface="Consolas"/>
              </a:rPr>
              <a:t>min</a:t>
            </a:r>
            <a:r>
              <a:rPr sz="1300" i="0">
                <a:solidFill>
                  <a:srgbClr val="AEB6BF"/>
                </a:solidFill>
                <a:latin typeface="Consolas"/>
              </a:rPr>
              <a:t>(</a:t>
            </a:r>
            <a:r>
              <a:rPr sz="1300" i="0">
                <a:solidFill>
                  <a:srgbClr val="E8EDF2"/>
                </a:solidFill>
                <a:latin typeface="Consolas"/>
              </a:rPr>
              <a:t>worst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v</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if</a:t>
            </a:r>
            <a:r>
              <a:rPr sz="1300" i="0">
                <a:solidFill>
                  <a:srgbClr val="E8EDF2"/>
                </a:solidFill>
                <a:latin typeface="Consolas"/>
              </a:rPr>
              <a:t> </a:t>
            </a:r>
            <a:r>
              <a:rPr sz="1300" i="0">
                <a:solidFill>
                  <a:srgbClr val="E8EDF2"/>
                </a:solidFill>
                <a:latin typeface="Consolas"/>
              </a:rPr>
              <a:t>v</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opt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hits</a:t>
            </a:r>
            <a:r>
              <a:rPr sz="1300" i="0">
                <a:solidFill>
                  <a:srgbClr val="E8EDF2"/>
                </a:solidFill>
                <a:latin typeface="Consolas"/>
              </a:rPr>
              <a:t> </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1</a:t>
            </a:r>
          </a:p>
          <a:p>
            <a:pPr>
              <a:lnSpc>
                <a:spcPct val="100000"/>
              </a:lnSpc>
              <a:spcAft>
                <a:spcPts val="0"/>
              </a:spcAft>
            </a:pPr>
            <a:r>
              <a:rPr sz="1300" i="0">
                <a:solidFill>
                  <a:srgbClr val="E8EDF2"/>
                </a:solidFill>
                <a:latin typeface="Consolas"/>
              </a:rPr>
              <a:t>        </a:t>
            </a:r>
            <a:r>
              <a:rPr sz="1300" i="0">
                <a:solidFill>
                  <a:srgbClr val="E8EDF2"/>
                </a:solidFill>
                <a:latin typeface="Consolas"/>
              </a:rPr>
              <a:t>table</a:t>
            </a:r>
            <a:r>
              <a:rPr sz="1300" i="0">
                <a:solidFill>
                  <a:srgbClr val="AEB6BF"/>
                </a:solidFill>
                <a:latin typeface="Consolas"/>
              </a:rPr>
              <a:t>[</a:t>
            </a:r>
            <a:r>
              <a:rPr sz="1300" i="0">
                <a:solidFill>
                  <a:srgbClr val="E8EDF2"/>
                </a:solidFill>
                <a:latin typeface="Consolas"/>
              </a:rPr>
              <a:t>name</a:t>
            </a:r>
            <a:r>
              <a:rPr sz="1300" i="0">
                <a:solidFill>
                  <a:srgbClr val="AEB6BF"/>
                </a:solidFill>
                <a:latin typeface="Consolas"/>
              </a:rPr>
              <a:t>.</a:t>
            </a:r>
            <a:r>
              <a:rPr sz="1300" i="0">
                <a:solidFill>
                  <a:srgbClr val="E8EDF2"/>
                </a:solidFill>
                <a:latin typeface="Consolas"/>
              </a:rPr>
              <a:t>strip</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hits</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total</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200</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worst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C39BD3"/>
                </a:solidFill>
                <a:latin typeface="Consolas"/>
              </a:rPr>
              <a:t>print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%s</a:t>
            </a:r>
            <a:r>
              <a:rPr sz="1300" i="0">
                <a:solidFill>
                  <a:srgbClr val="7DCEA0"/>
                </a:solidFill>
                <a:latin typeface="Consolas"/>
              </a:rPr>
              <a:t>  </a:t>
            </a:r>
            <a:r>
              <a:rPr sz="1300" i="0">
                <a:solidFill>
                  <a:srgbClr val="7DCEA0"/>
                </a:solidFill>
                <a:latin typeface="Consolas"/>
              </a:rPr>
              <a:t>%4d</a:t>
            </a:r>
            <a:r>
              <a:rPr sz="1300" i="0">
                <a:solidFill>
                  <a:srgbClr val="7DCEA0"/>
                </a:solidFill>
                <a:latin typeface="Consolas"/>
              </a:rPr>
              <a:t>/200 </a:t>
            </a:r>
            <a:r>
              <a:rPr sz="1300" i="0">
                <a:solidFill>
                  <a:srgbClr val="7DCEA0"/>
                </a:solidFill>
                <a:latin typeface="Consolas"/>
              </a:rPr>
              <a:t>%7.2f</a:t>
            </a:r>
            <a:r>
              <a:rPr sz="1300" i="0">
                <a:solidFill>
                  <a:srgbClr val="7DCEA0"/>
                </a:solidFill>
                <a:latin typeface="Consolas"/>
              </a:rPr>
              <a:t> </a:t>
            </a:r>
            <a:r>
              <a:rPr sz="1300" i="0">
                <a:solidFill>
                  <a:srgbClr val="7DCEA0"/>
                </a:solidFill>
                <a:latin typeface="Consolas"/>
              </a:rPr>
              <a:t>%6d</a:t>
            </a:r>
            <a:r>
              <a:rPr sz="1300" i="0">
                <a:solidFill>
                  <a:srgbClr val="7DCEA0"/>
                </a:solidFill>
                <a:latin typeface="Consolas"/>
              </a:rPr>
              <a:t>"</a:t>
            </a:r>
          </a:p>
          <a:p>
            <a:pPr>
              <a:lnSpc>
                <a:spcPct val="100000"/>
              </a:lnSpc>
              <a:spcAft>
                <a:spcPts val="0"/>
              </a:spcAft>
            </a:pP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name</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hits</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total</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200</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worst</a:t>
            </a:r>
            <a:r>
              <a:rPr sz="1300" i="0">
                <a:solidFill>
                  <a:srgbClr val="AEB6BF"/>
                </a:solidFill>
                <a:latin typeface="Consolas"/>
              </a:rPr>
              <a:t>)</a:t>
            </a:r>
            <a:r>
              <a:rPr sz="1300" i="0">
                <a:solidFill>
                  <a:srgbClr val="AEB6BF"/>
                </a:solidFill>
                <a:latin typeface="Consolas"/>
              </a:rPr>
              <a:t>)</a:t>
            </a:r>
          </a:p>
        </p:txBody>
      </p:sp>
      <p:sp>
        <p:nvSpPr>
          <p:cNvPr id="15" name="!!code-num"/>
          <p:cNvSpPr txBox="1"/>
          <p:nvPr/>
        </p:nvSpPr>
        <p:spPr>
          <a:xfrm>
            <a:off x="768096" y="2523744"/>
            <a:ext cx="393192" cy="3477767"/>
          </a:xfrm>
          <a:prstGeom prst="rect">
            <a:avLst/>
          </a:prstGeom>
          <a:noFill/>
        </p:spPr>
        <p:txBody>
          <a:bodyPr wrap="none" anchor="t" lIns="0" rIns="0" tIns="0" bIns="0">
            <a:noAutofit/>
          </a:bodyPr>
          <a:lstStyle/>
          <a:p>
            <a:pPr algn="r">
              <a:lnSpc>
                <a:spcPct val="100000"/>
              </a:lnSpc>
            </a:pPr>
            <a:r>
              <a:rPr sz="1300">
                <a:solidFill>
                  <a:srgbClr val="4F5D6A"/>
                </a:solidFill>
                <a:latin typeface="Consolas"/>
              </a:rPr>
              <a:t>188</a:t>
            </a:r>
          </a:p>
          <a:p>
            <a:pPr algn="r">
              <a:lnSpc>
                <a:spcPct val="100000"/>
              </a:lnSpc>
            </a:pPr>
            <a:r>
              <a:rPr sz="1300">
                <a:solidFill>
                  <a:srgbClr val="4F5D6A"/>
                </a:solidFill>
                <a:latin typeface="Consolas"/>
              </a:rPr>
              <a:t>189</a:t>
            </a:r>
          </a:p>
          <a:p>
            <a:pPr algn="r">
              <a:lnSpc>
                <a:spcPct val="100000"/>
              </a:lnSpc>
            </a:pPr>
            <a:r>
              <a:rPr sz="1300">
                <a:solidFill>
                  <a:srgbClr val="4F5D6A"/>
                </a:solidFill>
                <a:latin typeface="Consolas"/>
              </a:rPr>
              <a:t>190</a:t>
            </a:r>
          </a:p>
          <a:p>
            <a:pPr algn="r">
              <a:lnSpc>
                <a:spcPct val="100000"/>
              </a:lnSpc>
            </a:pPr>
            <a:r>
              <a:rPr sz="1300">
                <a:solidFill>
                  <a:srgbClr val="4F5D6A"/>
                </a:solidFill>
                <a:latin typeface="Consolas"/>
              </a:rPr>
              <a:t>191</a:t>
            </a:r>
          </a:p>
          <a:p>
            <a:pPr algn="r">
              <a:lnSpc>
                <a:spcPct val="100000"/>
              </a:lnSpc>
            </a:pPr>
            <a:r>
              <a:rPr sz="1300">
                <a:solidFill>
                  <a:srgbClr val="4F5D6A"/>
                </a:solidFill>
                <a:latin typeface="Consolas"/>
              </a:rPr>
              <a:t>192</a:t>
            </a:r>
          </a:p>
          <a:p>
            <a:pPr algn="r">
              <a:lnSpc>
                <a:spcPct val="100000"/>
              </a:lnSpc>
            </a:pPr>
            <a:r>
              <a:rPr sz="1300">
                <a:solidFill>
                  <a:srgbClr val="4F5D6A"/>
                </a:solidFill>
                <a:latin typeface="Consolas"/>
              </a:rPr>
              <a:t>193</a:t>
            </a:r>
          </a:p>
          <a:p>
            <a:pPr algn="r">
              <a:lnSpc>
                <a:spcPct val="100000"/>
              </a:lnSpc>
            </a:pPr>
            <a:r>
              <a:rPr sz="1300">
                <a:solidFill>
                  <a:srgbClr val="4F5D6A"/>
                </a:solidFill>
                <a:latin typeface="Consolas"/>
              </a:rPr>
              <a:t>194</a:t>
            </a:r>
          </a:p>
          <a:p>
            <a:pPr algn="r">
              <a:lnSpc>
                <a:spcPct val="100000"/>
              </a:lnSpc>
            </a:pPr>
            <a:r>
              <a:rPr sz="1300">
                <a:solidFill>
                  <a:srgbClr val="4F5D6A"/>
                </a:solidFill>
                <a:latin typeface="Consolas"/>
              </a:rPr>
              <a:t>195</a:t>
            </a:r>
          </a:p>
          <a:p>
            <a:pPr algn="r">
              <a:lnSpc>
                <a:spcPct val="100000"/>
              </a:lnSpc>
            </a:pPr>
            <a:r>
              <a:rPr sz="1300">
                <a:solidFill>
                  <a:srgbClr val="4F5D6A"/>
                </a:solidFill>
                <a:latin typeface="Consolas"/>
              </a:rPr>
              <a:t>196</a:t>
            </a:r>
          </a:p>
          <a:p>
            <a:pPr algn="r">
              <a:lnSpc>
                <a:spcPct val="100000"/>
              </a:lnSpc>
            </a:pPr>
            <a:r>
              <a:rPr sz="1300">
                <a:solidFill>
                  <a:srgbClr val="4F5D6A"/>
                </a:solidFill>
                <a:latin typeface="Consolas"/>
              </a:rPr>
              <a:t>197</a:t>
            </a:r>
          </a:p>
          <a:p>
            <a:pPr algn="r">
              <a:lnSpc>
                <a:spcPct val="100000"/>
              </a:lnSpc>
            </a:pPr>
            <a:r>
              <a:rPr sz="1300">
                <a:solidFill>
                  <a:srgbClr val="4F5D6A"/>
                </a:solidFill>
                <a:latin typeface="Consolas"/>
              </a:rPr>
              <a:t>198</a:t>
            </a:r>
          </a:p>
          <a:p>
            <a:pPr algn="r">
              <a:lnSpc>
                <a:spcPct val="100000"/>
              </a:lnSpc>
            </a:pPr>
            <a:r>
              <a:rPr sz="1300">
                <a:solidFill>
                  <a:srgbClr val="4F5D6A"/>
                </a:solidFill>
                <a:latin typeface="Consolas"/>
              </a:rPr>
              <a:t>199</a:t>
            </a:r>
          </a:p>
          <a:p>
            <a:pPr algn="r">
              <a:lnSpc>
                <a:spcPct val="100000"/>
              </a:lnSpc>
            </a:pPr>
            <a:r>
              <a:rPr sz="1300">
                <a:solidFill>
                  <a:srgbClr val="4F5D6A"/>
                </a:solidFill>
                <a:latin typeface="Consolas"/>
              </a:rPr>
              <a:t>200</a:t>
            </a:r>
          </a:p>
          <a:p>
            <a:pPr algn="r">
              <a:lnSpc>
                <a:spcPct val="100000"/>
              </a:lnSpc>
            </a:pPr>
            <a:r>
              <a:rPr sz="1300">
                <a:solidFill>
                  <a:srgbClr val="4F5D6A"/>
                </a:solidFill>
                <a:latin typeface="Consolas"/>
              </a:rPr>
              <a:t>201</a:t>
            </a:r>
          </a:p>
          <a:p>
            <a:pPr algn="r">
              <a:lnSpc>
                <a:spcPct val="100000"/>
              </a:lnSpc>
            </a:pPr>
            <a:r>
              <a:rPr sz="1300">
                <a:solidFill>
                  <a:srgbClr val="4F5D6A"/>
                </a:solidFill>
                <a:latin typeface="Consolas"/>
              </a:rPr>
              <a:t>202</a:t>
            </a:r>
          </a:p>
          <a:p>
            <a:pPr algn="r">
              <a:lnSpc>
                <a:spcPct val="100000"/>
              </a:lnSpc>
            </a:pPr>
            <a:r>
              <a:rPr sz="1300">
                <a:solidFill>
                  <a:srgbClr val="4F5D6A"/>
                </a:solidFill>
                <a:latin typeface="Consolas"/>
              </a:rPr>
              <a:t>203</a:t>
            </a:r>
          </a:p>
          <a:p>
            <a:pPr algn="r">
              <a:lnSpc>
                <a:spcPct val="100000"/>
              </a:lnSpc>
            </a:pPr>
            <a:r>
              <a:rPr sz="1300">
                <a:solidFill>
                  <a:srgbClr val="4F5D6A"/>
                </a:solidFill>
                <a:latin typeface="Consolas"/>
              </a:rPr>
              <a:t>204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35356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Staffing by Annealing and by Evolution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16 OF 17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6  ·  Local Search and Optimisation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§6.6.1  ·  Handout p. 59     </a:t>
            </a:r>
            <a:fld id="{53D890A6-A054-4BEB-88FE-ABF3B2E2185F}" type="slidenum">
              <a:rPr lang="en-GB" sz="1000">
                <a:solidFill>
                  <a:srgbClr val="8795A1"/>
                </a:solidFill>
                <a:latin typeface="Segoe UI"/>
              </a:rPr>
              <a:t>38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Genetic algorithm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971543"/>
          </a:xfrm>
          <a:prstGeom prst="roundRect">
            <a:avLst>
              <a:gd name="adj" fmla="val 230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code/ch06_staffing_annealing.py</a:t>
            </a:r>
          </a:p>
        </p:txBody>
      </p:sp>
      <p:sp>
        <p:nvSpPr>
          <p:cNvPr id="14" name="!!code-text" descr="hc = table[&quot;hill climbing, one start&quot;] rr = table[&quot;random restart&quot;] sa = table[&quot;simulated annealing&quot;] ga = table[&quot;genetic algorithm&quot;] escapes = (rr, sa, ga) # 1. plain hill climbing is hopeless here: the landscape is a ridge assert hc[0] &lt;= 5 # 2. every escape strategy is far better than no escape for m in escapes: assert m[1] &gt; hc[1] + 5 # 3. the gap to no-escape dwarfs the gap between the escapes spread = max(m[1] for m in escapes) - min(m[1] for m in escapes) gain = min(m[1] for m in escapes) - hc[1] assert spread &lt; gain # 4. even the winner is unreliable on any single run assert max(m[0] for m in escapes) &lt; 200"/>
          <p:cNvSpPr txBox="1"/>
          <p:nvPr/>
        </p:nvSpPr>
        <p:spPr>
          <a:xfrm>
            <a:off x="1362456" y="2523744"/>
            <a:ext cx="9987991" cy="3477767"/>
          </a:xfrm>
          <a:prstGeom prst="rect">
            <a:avLst/>
          </a:prstGeom>
          <a:noFill/>
        </p:spPr>
        <p:txBody>
          <a:bodyPr wrap="none" anchor="t" lIns="0" rIns="0" tIns="0" bIns="0">
            <a:noAutofit/>
          </a:bodyPr>
          <a:lstStyle/>
          <a:p>
            <a:pPr>
              <a:lnSpc>
                <a:spcPct val="100000"/>
              </a:lnSpc>
              <a:spcAft>
                <a:spcPts val="0"/>
              </a:spcAft>
            </a:pPr>
            <a:r>
              <a:rPr sz="1300" i="0">
                <a:solidFill>
                  <a:srgbClr val="E8EDF2"/>
                </a:solidFill>
                <a:latin typeface="Consolas"/>
              </a:rPr>
              <a:t>    </a:t>
            </a:r>
            <a:r>
              <a:rPr sz="1300" i="0">
                <a:solidFill>
                  <a:srgbClr val="E8EDF2"/>
                </a:solidFill>
                <a:latin typeface="Consolas"/>
              </a:rPr>
              <a:t>hc</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table</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hill climbing, one start</a:t>
            </a:r>
            <a:r>
              <a:rPr sz="1300" i="0">
                <a:solidFill>
                  <a:srgbClr val="7DCEA0"/>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rr</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table</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random restart</a:t>
            </a:r>
            <a:r>
              <a:rPr sz="1300" i="0">
                <a:solidFill>
                  <a:srgbClr val="7DCEA0"/>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sa</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table</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simulated annealing</a:t>
            </a:r>
            <a:r>
              <a:rPr sz="1300" i="0">
                <a:solidFill>
                  <a:srgbClr val="7DCEA0"/>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ga</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table</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genetic algorithm</a:t>
            </a:r>
            <a:r>
              <a:rPr sz="1300" i="0">
                <a:solidFill>
                  <a:srgbClr val="7DCEA0"/>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escapes</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rr</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sa</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ga</a:t>
            </a:r>
            <a:r>
              <a:rPr sz="1300" i="0">
                <a:solidFill>
                  <a:srgbClr val="AEB6BF"/>
                </a:solidFill>
                <a:latin typeface="Consolas"/>
              </a:rPr>
              <a:t>)</a:t>
            </a:r>
          </a:p>
          <a:p>
            <a:pPr>
              <a:lnSpc>
                <a:spcPct val="100000"/>
              </a:lnSpc>
              <a:spcAft>
                <a:spcPts val="0"/>
              </a:spcAft>
            </a:pPr>
            <a:r>
              <a:rPr sz="1300">
                <a:latin typeface="Consolas"/>
              </a:rPr>
              <a:t> </a:t>
            </a:r>
          </a:p>
          <a:p>
            <a:pPr>
              <a:lnSpc>
                <a:spcPct val="100000"/>
              </a:lnSpc>
              <a:spcAft>
                <a:spcPts val="0"/>
              </a:spcAft>
            </a:pPr>
            <a:r>
              <a:rPr sz="1300" i="0">
                <a:solidFill>
                  <a:srgbClr val="E8EDF2"/>
                </a:solidFill>
                <a:latin typeface="Consolas"/>
              </a:rPr>
              <a:t>    </a:t>
            </a:r>
            <a:r>
              <a:rPr sz="1300" i="1">
                <a:solidFill>
                  <a:srgbClr val="8795A1"/>
                </a:solidFill>
                <a:latin typeface="Consolas"/>
              </a:rPr>
              <a:t># 1. plain hill climbing is hopeless here: the landscape is a ridge</a:t>
            </a:r>
          </a:p>
          <a:p>
            <a:pPr>
              <a:lnSpc>
                <a:spcPct val="100000"/>
              </a:lnSpc>
              <a:spcAft>
                <a:spcPts val="0"/>
              </a:spcAft>
            </a:pPr>
            <a:r>
              <a:rPr sz="1300" i="0">
                <a:solidFill>
                  <a:srgbClr val="E8EDF2"/>
                </a:solidFill>
                <a:latin typeface="Consolas"/>
              </a:rPr>
              <a:t>    </a:t>
            </a:r>
            <a:r>
              <a:rPr sz="1300" i="0">
                <a:solidFill>
                  <a:srgbClr val="5DADE2"/>
                </a:solidFill>
                <a:latin typeface="Consolas"/>
              </a:rPr>
              <a:t>assert</a:t>
            </a:r>
            <a:r>
              <a:rPr sz="1300" i="0">
                <a:solidFill>
                  <a:srgbClr val="E8EDF2"/>
                </a:solidFill>
                <a:latin typeface="Consolas"/>
              </a:rPr>
              <a:t> </a:t>
            </a:r>
            <a:r>
              <a:rPr sz="1300" i="0">
                <a:solidFill>
                  <a:srgbClr val="E8EDF2"/>
                </a:solidFill>
                <a:latin typeface="Consolas"/>
              </a:rPr>
              <a:t>hc</a:t>
            </a:r>
            <a:r>
              <a:rPr sz="1300" i="0">
                <a:solidFill>
                  <a:srgbClr val="AEB6BF"/>
                </a:solidFill>
                <a:latin typeface="Consolas"/>
              </a:rPr>
              <a:t>[</a:t>
            </a:r>
            <a:r>
              <a:rPr sz="1300" i="0">
                <a:solidFill>
                  <a:srgbClr val="F7DC6F"/>
                </a:solidFill>
                <a:latin typeface="Consolas"/>
              </a:rPr>
              <a:t>0</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&lt;</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5</a:t>
            </a:r>
          </a:p>
          <a:p>
            <a:pPr>
              <a:lnSpc>
                <a:spcPct val="100000"/>
              </a:lnSpc>
              <a:spcAft>
                <a:spcPts val="0"/>
              </a:spcAft>
            </a:pPr>
            <a:r>
              <a:rPr sz="1300" i="0">
                <a:solidFill>
                  <a:srgbClr val="E8EDF2"/>
                </a:solidFill>
                <a:latin typeface="Consolas"/>
              </a:rPr>
              <a:t>    </a:t>
            </a:r>
            <a:r>
              <a:rPr sz="1300" i="1">
                <a:solidFill>
                  <a:srgbClr val="8795A1"/>
                </a:solidFill>
                <a:latin typeface="Consolas"/>
              </a:rPr>
              <a:t># 2. every escape strategy is far better than no escape</a:t>
            </a:r>
          </a:p>
          <a:p>
            <a:pPr>
              <a:lnSpc>
                <a:spcPct val="100000"/>
              </a:lnSpc>
              <a:spcAft>
                <a:spcPts val="0"/>
              </a:spcAft>
            </a:pPr>
            <a:r>
              <a:rPr sz="1300" i="0">
                <a:solidFill>
                  <a:srgbClr val="E8EDF2"/>
                </a:solidFill>
                <a:latin typeface="Consolas"/>
              </a:rPr>
              <a:t>    </a:t>
            </a:r>
            <a:r>
              <a:rPr sz="1300" i="0">
                <a:solidFill>
                  <a:srgbClr val="5DADE2"/>
                </a:solidFill>
                <a:latin typeface="Consolas"/>
              </a:rPr>
              <a:t>for</a:t>
            </a:r>
            <a:r>
              <a:rPr sz="1300" i="0">
                <a:solidFill>
                  <a:srgbClr val="E8EDF2"/>
                </a:solidFill>
                <a:latin typeface="Consolas"/>
              </a:rPr>
              <a:t> </a:t>
            </a:r>
            <a:r>
              <a:rPr sz="1300" i="0">
                <a:solidFill>
                  <a:srgbClr val="E8EDF2"/>
                </a:solidFill>
                <a:latin typeface="Consolas"/>
              </a:rPr>
              <a:t>m</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E8EDF2"/>
                </a:solidFill>
                <a:latin typeface="Consolas"/>
              </a:rPr>
              <a:t>escapes</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assert</a:t>
            </a:r>
            <a:r>
              <a:rPr sz="1300" i="0">
                <a:solidFill>
                  <a:srgbClr val="E8EDF2"/>
                </a:solidFill>
                <a:latin typeface="Consolas"/>
              </a:rPr>
              <a:t> </a:t>
            </a:r>
            <a:r>
              <a:rPr sz="1300" i="0">
                <a:solidFill>
                  <a:srgbClr val="E8EDF2"/>
                </a:solidFill>
                <a:latin typeface="Consolas"/>
              </a:rPr>
              <a:t>m</a:t>
            </a:r>
            <a:r>
              <a:rPr sz="1300" i="0">
                <a:solidFill>
                  <a:srgbClr val="AEB6BF"/>
                </a:solidFill>
                <a:latin typeface="Consolas"/>
              </a:rPr>
              <a:t>[</a:t>
            </a:r>
            <a:r>
              <a:rPr sz="1300" i="0">
                <a:solidFill>
                  <a:srgbClr val="F7DC6F"/>
                </a:solidFill>
                <a:latin typeface="Consolas"/>
              </a:rPr>
              <a:t>1</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&gt;</a:t>
            </a:r>
            <a:r>
              <a:rPr sz="1300" i="0">
                <a:solidFill>
                  <a:srgbClr val="E8EDF2"/>
                </a:solidFill>
                <a:latin typeface="Consolas"/>
              </a:rPr>
              <a:t> </a:t>
            </a:r>
            <a:r>
              <a:rPr sz="1300" i="0">
                <a:solidFill>
                  <a:srgbClr val="E8EDF2"/>
                </a:solidFill>
                <a:latin typeface="Consolas"/>
              </a:rPr>
              <a:t>hc</a:t>
            </a:r>
            <a:r>
              <a:rPr sz="1300" i="0">
                <a:solidFill>
                  <a:srgbClr val="AEB6BF"/>
                </a:solidFill>
                <a:latin typeface="Consolas"/>
              </a:rPr>
              <a:t>[</a:t>
            </a:r>
            <a:r>
              <a:rPr sz="1300" i="0">
                <a:solidFill>
                  <a:srgbClr val="F7DC6F"/>
                </a:solidFill>
                <a:latin typeface="Consolas"/>
              </a:rPr>
              <a:t>1</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F7DC6F"/>
                </a:solidFill>
                <a:latin typeface="Consolas"/>
              </a:rPr>
              <a:t>5</a:t>
            </a:r>
          </a:p>
          <a:p>
            <a:pPr>
              <a:lnSpc>
                <a:spcPct val="100000"/>
              </a:lnSpc>
              <a:spcAft>
                <a:spcPts val="0"/>
              </a:spcAft>
            </a:pPr>
            <a:r>
              <a:rPr sz="1300" i="0">
                <a:solidFill>
                  <a:srgbClr val="E8EDF2"/>
                </a:solidFill>
                <a:latin typeface="Consolas"/>
              </a:rPr>
              <a:t>    </a:t>
            </a:r>
            <a:r>
              <a:rPr sz="1300" i="1">
                <a:solidFill>
                  <a:srgbClr val="8795A1"/>
                </a:solidFill>
                <a:latin typeface="Consolas"/>
              </a:rPr>
              <a:t># 3. the gap to no-escape dwarfs the gap between the escapes</a:t>
            </a:r>
          </a:p>
          <a:p>
            <a:pPr>
              <a:lnSpc>
                <a:spcPct val="100000"/>
              </a:lnSpc>
              <a:spcAft>
                <a:spcPts val="0"/>
              </a:spcAft>
            </a:pPr>
            <a:r>
              <a:rPr sz="1300" i="0">
                <a:solidFill>
                  <a:srgbClr val="E8EDF2"/>
                </a:solidFill>
                <a:latin typeface="Consolas"/>
              </a:rPr>
              <a:t>    </a:t>
            </a:r>
            <a:r>
              <a:rPr sz="1300" i="0">
                <a:solidFill>
                  <a:srgbClr val="E8EDF2"/>
                </a:solidFill>
                <a:latin typeface="Consolas"/>
              </a:rPr>
              <a:t>spread</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max</a:t>
            </a:r>
            <a:r>
              <a:rPr sz="1300" i="0">
                <a:solidFill>
                  <a:srgbClr val="AEB6BF"/>
                </a:solidFill>
                <a:latin typeface="Consolas"/>
              </a:rPr>
              <a:t>(</a:t>
            </a:r>
            <a:r>
              <a:rPr sz="1300" i="0">
                <a:solidFill>
                  <a:srgbClr val="E8EDF2"/>
                </a:solidFill>
                <a:latin typeface="Consolas"/>
              </a:rPr>
              <a:t>m</a:t>
            </a:r>
            <a:r>
              <a:rPr sz="1300" i="0">
                <a:solidFill>
                  <a:srgbClr val="AEB6BF"/>
                </a:solidFill>
                <a:latin typeface="Consolas"/>
              </a:rPr>
              <a:t>[</a:t>
            </a:r>
            <a:r>
              <a:rPr sz="1300" i="0">
                <a:solidFill>
                  <a:srgbClr val="F7DC6F"/>
                </a:solidFill>
                <a:latin typeface="Consolas"/>
              </a:rPr>
              <a:t>1</a:t>
            </a:r>
            <a:r>
              <a:rPr sz="1300" i="0">
                <a:solidFill>
                  <a:srgbClr val="AEB6BF"/>
                </a:solidFill>
                <a:latin typeface="Consolas"/>
              </a:rPr>
              <a:t>]</a:t>
            </a:r>
            <a:r>
              <a:rPr sz="1300" i="0">
                <a:solidFill>
                  <a:srgbClr val="E8EDF2"/>
                </a:solidFill>
                <a:latin typeface="Consolas"/>
              </a:rPr>
              <a:t> </a:t>
            </a:r>
            <a:r>
              <a:rPr sz="1300" i="0">
                <a:solidFill>
                  <a:srgbClr val="5DADE2"/>
                </a:solidFill>
                <a:latin typeface="Consolas"/>
              </a:rPr>
              <a:t>for</a:t>
            </a:r>
            <a:r>
              <a:rPr sz="1300" i="0">
                <a:solidFill>
                  <a:srgbClr val="E8EDF2"/>
                </a:solidFill>
                <a:latin typeface="Consolas"/>
              </a:rPr>
              <a:t> </a:t>
            </a:r>
            <a:r>
              <a:rPr sz="1300" i="0">
                <a:solidFill>
                  <a:srgbClr val="E8EDF2"/>
                </a:solidFill>
                <a:latin typeface="Consolas"/>
              </a:rPr>
              <a:t>m</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E8EDF2"/>
                </a:solidFill>
                <a:latin typeface="Consolas"/>
              </a:rPr>
              <a:t>escapes</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min</a:t>
            </a:r>
            <a:r>
              <a:rPr sz="1300" i="0">
                <a:solidFill>
                  <a:srgbClr val="AEB6BF"/>
                </a:solidFill>
                <a:latin typeface="Consolas"/>
              </a:rPr>
              <a:t>(</a:t>
            </a:r>
            <a:r>
              <a:rPr sz="1300" i="0">
                <a:solidFill>
                  <a:srgbClr val="E8EDF2"/>
                </a:solidFill>
                <a:latin typeface="Consolas"/>
              </a:rPr>
              <a:t>m</a:t>
            </a:r>
            <a:r>
              <a:rPr sz="1300" i="0">
                <a:solidFill>
                  <a:srgbClr val="AEB6BF"/>
                </a:solidFill>
                <a:latin typeface="Consolas"/>
              </a:rPr>
              <a:t>[</a:t>
            </a:r>
            <a:r>
              <a:rPr sz="1300" i="0">
                <a:solidFill>
                  <a:srgbClr val="F7DC6F"/>
                </a:solidFill>
                <a:latin typeface="Consolas"/>
              </a:rPr>
              <a:t>1</a:t>
            </a:r>
            <a:r>
              <a:rPr sz="1300" i="0">
                <a:solidFill>
                  <a:srgbClr val="AEB6BF"/>
                </a:solidFill>
                <a:latin typeface="Consolas"/>
              </a:rPr>
              <a:t>]</a:t>
            </a:r>
            <a:r>
              <a:rPr sz="1300" i="0">
                <a:solidFill>
                  <a:srgbClr val="E8EDF2"/>
                </a:solidFill>
                <a:latin typeface="Consolas"/>
              </a:rPr>
              <a:t> </a:t>
            </a:r>
            <a:r>
              <a:rPr sz="1300" i="0">
                <a:solidFill>
                  <a:srgbClr val="5DADE2"/>
                </a:solidFill>
                <a:latin typeface="Consolas"/>
              </a:rPr>
              <a:t>for</a:t>
            </a:r>
            <a:r>
              <a:rPr sz="1300" i="0">
                <a:solidFill>
                  <a:srgbClr val="E8EDF2"/>
                </a:solidFill>
                <a:latin typeface="Consolas"/>
              </a:rPr>
              <a:t> </a:t>
            </a:r>
            <a:r>
              <a:rPr sz="1300" i="0">
                <a:solidFill>
                  <a:srgbClr val="E8EDF2"/>
                </a:solidFill>
                <a:latin typeface="Consolas"/>
              </a:rPr>
              <a:t>m</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E8EDF2"/>
                </a:solidFill>
                <a:latin typeface="Consolas"/>
              </a:rPr>
              <a:t>escapes</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gain</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min</a:t>
            </a:r>
            <a:r>
              <a:rPr sz="1300" i="0">
                <a:solidFill>
                  <a:srgbClr val="AEB6BF"/>
                </a:solidFill>
                <a:latin typeface="Consolas"/>
              </a:rPr>
              <a:t>(</a:t>
            </a:r>
            <a:r>
              <a:rPr sz="1300" i="0">
                <a:solidFill>
                  <a:srgbClr val="E8EDF2"/>
                </a:solidFill>
                <a:latin typeface="Consolas"/>
              </a:rPr>
              <a:t>m</a:t>
            </a:r>
            <a:r>
              <a:rPr sz="1300" i="0">
                <a:solidFill>
                  <a:srgbClr val="AEB6BF"/>
                </a:solidFill>
                <a:latin typeface="Consolas"/>
              </a:rPr>
              <a:t>[</a:t>
            </a:r>
            <a:r>
              <a:rPr sz="1300" i="0">
                <a:solidFill>
                  <a:srgbClr val="F7DC6F"/>
                </a:solidFill>
                <a:latin typeface="Consolas"/>
              </a:rPr>
              <a:t>1</a:t>
            </a:r>
            <a:r>
              <a:rPr sz="1300" i="0">
                <a:solidFill>
                  <a:srgbClr val="AEB6BF"/>
                </a:solidFill>
                <a:latin typeface="Consolas"/>
              </a:rPr>
              <a:t>]</a:t>
            </a:r>
            <a:r>
              <a:rPr sz="1300" i="0">
                <a:solidFill>
                  <a:srgbClr val="E8EDF2"/>
                </a:solidFill>
                <a:latin typeface="Consolas"/>
              </a:rPr>
              <a:t> </a:t>
            </a:r>
            <a:r>
              <a:rPr sz="1300" i="0">
                <a:solidFill>
                  <a:srgbClr val="5DADE2"/>
                </a:solidFill>
                <a:latin typeface="Consolas"/>
              </a:rPr>
              <a:t>for</a:t>
            </a:r>
            <a:r>
              <a:rPr sz="1300" i="0">
                <a:solidFill>
                  <a:srgbClr val="E8EDF2"/>
                </a:solidFill>
                <a:latin typeface="Consolas"/>
              </a:rPr>
              <a:t> </a:t>
            </a:r>
            <a:r>
              <a:rPr sz="1300" i="0">
                <a:solidFill>
                  <a:srgbClr val="E8EDF2"/>
                </a:solidFill>
                <a:latin typeface="Consolas"/>
              </a:rPr>
              <a:t>m</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E8EDF2"/>
                </a:solidFill>
                <a:latin typeface="Consolas"/>
              </a:rPr>
              <a:t>escapes</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hc</a:t>
            </a:r>
            <a:r>
              <a:rPr sz="1300" i="0">
                <a:solidFill>
                  <a:srgbClr val="AEB6BF"/>
                </a:solidFill>
                <a:latin typeface="Consolas"/>
              </a:rPr>
              <a:t>[</a:t>
            </a:r>
            <a:r>
              <a:rPr sz="1300" i="0">
                <a:solidFill>
                  <a:srgbClr val="F7DC6F"/>
                </a:solidFill>
                <a:latin typeface="Consolas"/>
              </a:rPr>
              <a:t>1</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assert</a:t>
            </a:r>
            <a:r>
              <a:rPr sz="1300" i="0">
                <a:solidFill>
                  <a:srgbClr val="E8EDF2"/>
                </a:solidFill>
                <a:latin typeface="Consolas"/>
              </a:rPr>
              <a:t> </a:t>
            </a:r>
            <a:r>
              <a:rPr sz="1300" i="0">
                <a:solidFill>
                  <a:srgbClr val="E8EDF2"/>
                </a:solidFill>
                <a:latin typeface="Consolas"/>
              </a:rPr>
              <a:t>spread</a:t>
            </a:r>
            <a:r>
              <a:rPr sz="1300" i="0">
                <a:solidFill>
                  <a:srgbClr val="E8EDF2"/>
                </a:solidFill>
                <a:latin typeface="Consolas"/>
              </a:rPr>
              <a:t> </a:t>
            </a:r>
            <a:r>
              <a:rPr sz="1300" i="0">
                <a:solidFill>
                  <a:srgbClr val="AEB6BF"/>
                </a:solidFill>
                <a:latin typeface="Consolas"/>
              </a:rPr>
              <a:t>&lt;</a:t>
            </a:r>
            <a:r>
              <a:rPr sz="1300" i="0">
                <a:solidFill>
                  <a:srgbClr val="E8EDF2"/>
                </a:solidFill>
                <a:latin typeface="Consolas"/>
              </a:rPr>
              <a:t> </a:t>
            </a:r>
            <a:r>
              <a:rPr sz="1300" i="0">
                <a:solidFill>
                  <a:srgbClr val="E8EDF2"/>
                </a:solidFill>
                <a:latin typeface="Consolas"/>
              </a:rPr>
              <a:t>gain</a:t>
            </a:r>
          </a:p>
          <a:p>
            <a:pPr>
              <a:lnSpc>
                <a:spcPct val="100000"/>
              </a:lnSpc>
              <a:spcAft>
                <a:spcPts val="0"/>
              </a:spcAft>
            </a:pPr>
            <a:r>
              <a:rPr sz="1300" i="0">
                <a:solidFill>
                  <a:srgbClr val="E8EDF2"/>
                </a:solidFill>
                <a:latin typeface="Consolas"/>
              </a:rPr>
              <a:t>    </a:t>
            </a:r>
            <a:r>
              <a:rPr sz="1300" i="1">
                <a:solidFill>
                  <a:srgbClr val="8795A1"/>
                </a:solidFill>
                <a:latin typeface="Consolas"/>
              </a:rPr>
              <a:t># 4. even the winner is unreliable on any single run</a:t>
            </a:r>
          </a:p>
          <a:p>
            <a:pPr>
              <a:lnSpc>
                <a:spcPct val="100000"/>
              </a:lnSpc>
              <a:spcAft>
                <a:spcPts val="0"/>
              </a:spcAft>
            </a:pPr>
            <a:r>
              <a:rPr sz="1300" i="0">
                <a:solidFill>
                  <a:srgbClr val="E8EDF2"/>
                </a:solidFill>
                <a:latin typeface="Consolas"/>
              </a:rPr>
              <a:t>    </a:t>
            </a:r>
            <a:r>
              <a:rPr sz="1300" i="0">
                <a:solidFill>
                  <a:srgbClr val="5DADE2"/>
                </a:solidFill>
                <a:latin typeface="Consolas"/>
              </a:rPr>
              <a:t>assert</a:t>
            </a:r>
            <a:r>
              <a:rPr sz="1300" i="0">
                <a:solidFill>
                  <a:srgbClr val="E8EDF2"/>
                </a:solidFill>
                <a:latin typeface="Consolas"/>
              </a:rPr>
              <a:t> </a:t>
            </a:r>
            <a:r>
              <a:rPr sz="1300" i="0">
                <a:solidFill>
                  <a:srgbClr val="C39BD3"/>
                </a:solidFill>
                <a:latin typeface="Consolas"/>
              </a:rPr>
              <a:t>max</a:t>
            </a:r>
            <a:r>
              <a:rPr sz="1300" i="0">
                <a:solidFill>
                  <a:srgbClr val="AEB6BF"/>
                </a:solidFill>
                <a:latin typeface="Consolas"/>
              </a:rPr>
              <a:t>(</a:t>
            </a:r>
            <a:r>
              <a:rPr sz="1300" i="0">
                <a:solidFill>
                  <a:srgbClr val="E8EDF2"/>
                </a:solidFill>
                <a:latin typeface="Consolas"/>
              </a:rPr>
              <a:t>m</a:t>
            </a:r>
            <a:r>
              <a:rPr sz="1300" i="0">
                <a:solidFill>
                  <a:srgbClr val="AEB6BF"/>
                </a:solidFill>
                <a:latin typeface="Consolas"/>
              </a:rPr>
              <a:t>[</a:t>
            </a:r>
            <a:r>
              <a:rPr sz="1300" i="0">
                <a:solidFill>
                  <a:srgbClr val="F7DC6F"/>
                </a:solidFill>
                <a:latin typeface="Consolas"/>
              </a:rPr>
              <a:t>0</a:t>
            </a:r>
            <a:r>
              <a:rPr sz="1300" i="0">
                <a:solidFill>
                  <a:srgbClr val="AEB6BF"/>
                </a:solidFill>
                <a:latin typeface="Consolas"/>
              </a:rPr>
              <a:t>]</a:t>
            </a:r>
            <a:r>
              <a:rPr sz="1300" i="0">
                <a:solidFill>
                  <a:srgbClr val="E8EDF2"/>
                </a:solidFill>
                <a:latin typeface="Consolas"/>
              </a:rPr>
              <a:t> </a:t>
            </a:r>
            <a:r>
              <a:rPr sz="1300" i="0">
                <a:solidFill>
                  <a:srgbClr val="5DADE2"/>
                </a:solidFill>
                <a:latin typeface="Consolas"/>
              </a:rPr>
              <a:t>for</a:t>
            </a:r>
            <a:r>
              <a:rPr sz="1300" i="0">
                <a:solidFill>
                  <a:srgbClr val="E8EDF2"/>
                </a:solidFill>
                <a:latin typeface="Consolas"/>
              </a:rPr>
              <a:t> </a:t>
            </a:r>
            <a:r>
              <a:rPr sz="1300" i="0">
                <a:solidFill>
                  <a:srgbClr val="E8EDF2"/>
                </a:solidFill>
                <a:latin typeface="Consolas"/>
              </a:rPr>
              <a:t>m</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E8EDF2"/>
                </a:solidFill>
                <a:latin typeface="Consolas"/>
              </a:rPr>
              <a:t>escapes</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&lt;</a:t>
            </a:r>
            <a:r>
              <a:rPr sz="1300" i="0">
                <a:solidFill>
                  <a:srgbClr val="E8EDF2"/>
                </a:solidFill>
                <a:latin typeface="Consolas"/>
              </a:rPr>
              <a:t> </a:t>
            </a:r>
            <a:r>
              <a:rPr sz="1300" i="0">
                <a:solidFill>
                  <a:srgbClr val="F7DC6F"/>
                </a:solidFill>
                <a:latin typeface="Consolas"/>
              </a:rPr>
              <a:t>200</a:t>
            </a:r>
          </a:p>
        </p:txBody>
      </p:sp>
      <p:sp>
        <p:nvSpPr>
          <p:cNvPr id="15" name="!!code-num"/>
          <p:cNvSpPr txBox="1"/>
          <p:nvPr/>
        </p:nvSpPr>
        <p:spPr>
          <a:xfrm>
            <a:off x="768096" y="2523744"/>
            <a:ext cx="393192" cy="3477767"/>
          </a:xfrm>
          <a:prstGeom prst="rect">
            <a:avLst/>
          </a:prstGeom>
          <a:noFill/>
        </p:spPr>
        <p:txBody>
          <a:bodyPr wrap="none" anchor="t" lIns="0" rIns="0" tIns="0" bIns="0">
            <a:noAutofit/>
          </a:bodyPr>
          <a:lstStyle/>
          <a:p>
            <a:pPr algn="r">
              <a:lnSpc>
                <a:spcPct val="100000"/>
              </a:lnSpc>
            </a:pPr>
            <a:r>
              <a:rPr sz="1300">
                <a:solidFill>
                  <a:srgbClr val="4F5D6A"/>
                </a:solidFill>
                <a:latin typeface="Consolas"/>
              </a:rPr>
              <a:t>206</a:t>
            </a:r>
          </a:p>
          <a:p>
            <a:pPr algn="r">
              <a:lnSpc>
                <a:spcPct val="100000"/>
              </a:lnSpc>
            </a:pPr>
            <a:r>
              <a:rPr sz="1300">
                <a:solidFill>
                  <a:srgbClr val="4F5D6A"/>
                </a:solidFill>
                <a:latin typeface="Consolas"/>
              </a:rPr>
              <a:t>207</a:t>
            </a:r>
          </a:p>
          <a:p>
            <a:pPr algn="r">
              <a:lnSpc>
                <a:spcPct val="100000"/>
              </a:lnSpc>
            </a:pPr>
            <a:r>
              <a:rPr sz="1300">
                <a:solidFill>
                  <a:srgbClr val="4F5D6A"/>
                </a:solidFill>
                <a:latin typeface="Consolas"/>
              </a:rPr>
              <a:t>208</a:t>
            </a:r>
          </a:p>
          <a:p>
            <a:pPr algn="r">
              <a:lnSpc>
                <a:spcPct val="100000"/>
              </a:lnSpc>
            </a:pPr>
            <a:r>
              <a:rPr sz="1300">
                <a:solidFill>
                  <a:srgbClr val="4F5D6A"/>
                </a:solidFill>
                <a:latin typeface="Consolas"/>
              </a:rPr>
              <a:t>209</a:t>
            </a:r>
          </a:p>
          <a:p>
            <a:pPr algn="r">
              <a:lnSpc>
                <a:spcPct val="100000"/>
              </a:lnSpc>
            </a:pPr>
            <a:r>
              <a:rPr sz="1300">
                <a:solidFill>
                  <a:srgbClr val="4F5D6A"/>
                </a:solidFill>
                <a:latin typeface="Consolas"/>
              </a:rPr>
              <a:t>210</a:t>
            </a:r>
          </a:p>
          <a:p>
            <a:pPr algn="r">
              <a:lnSpc>
                <a:spcPct val="100000"/>
              </a:lnSpc>
            </a:pPr>
            <a:r>
              <a:rPr sz="1300">
                <a:solidFill>
                  <a:srgbClr val="4F5D6A"/>
                </a:solidFill>
                <a:latin typeface="Consolas"/>
              </a:rPr>
              <a:t>211</a:t>
            </a:r>
          </a:p>
          <a:p>
            <a:pPr algn="r">
              <a:lnSpc>
                <a:spcPct val="100000"/>
              </a:lnSpc>
            </a:pPr>
            <a:r>
              <a:rPr sz="1300">
                <a:solidFill>
                  <a:srgbClr val="4F5D6A"/>
                </a:solidFill>
                <a:latin typeface="Consolas"/>
              </a:rPr>
              <a:t>212</a:t>
            </a:r>
          </a:p>
          <a:p>
            <a:pPr algn="r">
              <a:lnSpc>
                <a:spcPct val="100000"/>
              </a:lnSpc>
            </a:pPr>
            <a:r>
              <a:rPr sz="1300">
                <a:solidFill>
                  <a:srgbClr val="4F5D6A"/>
                </a:solidFill>
                <a:latin typeface="Consolas"/>
              </a:rPr>
              <a:t>213</a:t>
            </a:r>
          </a:p>
          <a:p>
            <a:pPr algn="r">
              <a:lnSpc>
                <a:spcPct val="100000"/>
              </a:lnSpc>
            </a:pPr>
            <a:r>
              <a:rPr sz="1300">
                <a:solidFill>
                  <a:srgbClr val="4F5D6A"/>
                </a:solidFill>
                <a:latin typeface="Consolas"/>
              </a:rPr>
              <a:t>214</a:t>
            </a:r>
          </a:p>
          <a:p>
            <a:pPr algn="r">
              <a:lnSpc>
                <a:spcPct val="100000"/>
              </a:lnSpc>
            </a:pPr>
            <a:r>
              <a:rPr sz="1300">
                <a:solidFill>
                  <a:srgbClr val="4F5D6A"/>
                </a:solidFill>
                <a:latin typeface="Consolas"/>
              </a:rPr>
              <a:t>215</a:t>
            </a:r>
          </a:p>
          <a:p>
            <a:pPr algn="r">
              <a:lnSpc>
                <a:spcPct val="100000"/>
              </a:lnSpc>
            </a:pPr>
            <a:r>
              <a:rPr sz="1300">
                <a:solidFill>
                  <a:srgbClr val="4F5D6A"/>
                </a:solidFill>
                <a:latin typeface="Consolas"/>
              </a:rPr>
              <a:t>216</a:t>
            </a:r>
          </a:p>
          <a:p>
            <a:pPr algn="r">
              <a:lnSpc>
                <a:spcPct val="100000"/>
              </a:lnSpc>
            </a:pPr>
            <a:r>
              <a:rPr sz="1300">
                <a:solidFill>
                  <a:srgbClr val="4F5D6A"/>
                </a:solidFill>
                <a:latin typeface="Consolas"/>
              </a:rPr>
              <a:t>217</a:t>
            </a:r>
          </a:p>
          <a:p>
            <a:pPr algn="r">
              <a:lnSpc>
                <a:spcPct val="100000"/>
              </a:lnSpc>
            </a:pPr>
            <a:r>
              <a:rPr sz="1300">
                <a:solidFill>
                  <a:srgbClr val="4F5D6A"/>
                </a:solidFill>
                <a:latin typeface="Consolas"/>
              </a:rPr>
              <a:t>218</a:t>
            </a:r>
          </a:p>
          <a:p>
            <a:pPr algn="r">
              <a:lnSpc>
                <a:spcPct val="100000"/>
              </a:lnSpc>
            </a:pPr>
            <a:r>
              <a:rPr sz="1300">
                <a:solidFill>
                  <a:srgbClr val="4F5D6A"/>
                </a:solidFill>
                <a:latin typeface="Consolas"/>
              </a:rPr>
              <a:t>219</a:t>
            </a:r>
          </a:p>
          <a:p>
            <a:pPr algn="r">
              <a:lnSpc>
                <a:spcPct val="100000"/>
              </a:lnSpc>
            </a:pPr>
            <a:r>
              <a:rPr sz="1300">
                <a:solidFill>
                  <a:srgbClr val="4F5D6A"/>
                </a:solidFill>
                <a:latin typeface="Consolas"/>
              </a:rPr>
              <a:t>220</a:t>
            </a:r>
          </a:p>
          <a:p>
            <a:pPr algn="r">
              <a:lnSpc>
                <a:spcPct val="100000"/>
              </a:lnSpc>
            </a:pPr>
            <a:r>
              <a:rPr sz="1300">
                <a:solidFill>
                  <a:srgbClr val="4F5D6A"/>
                </a:solidFill>
                <a:latin typeface="Consolas"/>
              </a:rPr>
              <a:t>221</a:t>
            </a:r>
          </a:p>
          <a:p>
            <a:pPr algn="r">
              <a:lnSpc>
                <a:spcPct val="100000"/>
              </a:lnSpc>
            </a:pPr>
            <a:r>
              <a:rPr sz="1300">
                <a:solidFill>
                  <a:srgbClr val="4F5D6A"/>
                </a:solidFill>
                <a:latin typeface="Consolas"/>
              </a:rPr>
              <a:t>222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57934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Staffing by Annealing and by Evolution</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17 OF 17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6  ·  Local Search and Optimisation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§6.6.1  ·  Handout p. 59     </a:t>
            </a:r>
            <a:fld id="{BF42B6AD-BA1A-4827-80A3-615CB6FD4871}" type="slidenum">
              <a:rPr lang="en-GB" sz="1000">
                <a:solidFill>
                  <a:srgbClr val="8795A1"/>
                </a:solidFill>
                <a:latin typeface="Segoe UI"/>
              </a:rPr>
              <a:t>39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Genetic algorithm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78223"/>
          </a:xfrm>
          <a:prstGeom prst="roundRect">
            <a:avLst>
              <a:gd name="adj" fmla="val 224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code/ch06_staffing_annealing.py</a:t>
            </a:r>
          </a:p>
        </p:txBody>
      </p:sp>
      <p:sp>
        <p:nvSpPr>
          <p:cNvPr id="14" name="!!code-text" descr="print() print(&quot;escaping local maxima is worth %.1f points of mean score;&quot; % gain) print(&quot;choosing the best escape is worth only %.1f more.&quot; % spread) print() print(&quot;random restart has no parameters at all and reaches %.2f.&quot; % rr[1]) print(&quot;measure it before reaching for anything more interesting.&quot;) print() best = max(escapes, key=lambda m: m[1]) print(&quot;the best method still missed the optimum in %d of 200 runs.&quot; % (200 - best[0]))"/>
          <p:cNvSpPr txBox="1"/>
          <p:nvPr/>
        </p:nvSpPr>
        <p:spPr>
          <a:xfrm>
            <a:off x="1362456" y="2523744"/>
            <a:ext cx="9987991" cy="3584447"/>
          </a:xfrm>
          <a:prstGeom prst="rect">
            <a:avLst/>
          </a:prstGeom>
          <a:noFill/>
        </p:spPr>
        <p:txBody>
          <a:bodyPr wrap="none" anchor="t" lIns="0" rIns="0" tIns="0" bIns="0">
            <a:noAutofit/>
          </a:bodyPr>
          <a:lstStyle/>
          <a:p>
            <a:pPr>
              <a:lnSpc>
                <a:spcPct val="100000"/>
              </a:lnSpc>
              <a:spcAft>
                <a:spcPts val="0"/>
              </a:spcAft>
            </a:pPr>
            <a:r>
              <a:rPr sz="1900" i="0">
                <a:solidFill>
                  <a:srgbClr val="E8EDF2"/>
                </a:solidFill>
                <a:latin typeface="Consolas"/>
              </a:rPr>
              <a:t>    </a:t>
            </a:r>
            <a:r>
              <a:rPr sz="1900" i="0">
                <a:solidFill>
                  <a:srgbClr val="C39BD3"/>
                </a:solidFill>
                <a:latin typeface="Consolas"/>
              </a:rPr>
              <a:t>print</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C39BD3"/>
                </a:solidFill>
                <a:latin typeface="Consolas"/>
              </a:rPr>
              <a:t>print</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escaping local maxima is worth </a:t>
            </a:r>
            <a:r>
              <a:rPr sz="1900" i="0">
                <a:solidFill>
                  <a:srgbClr val="7DCEA0"/>
                </a:solidFill>
                <a:latin typeface="Consolas"/>
              </a:rPr>
              <a:t>%.1f</a:t>
            </a:r>
            <a:r>
              <a:rPr sz="1900" i="0">
                <a:solidFill>
                  <a:srgbClr val="7DCEA0"/>
                </a:solidFill>
                <a:latin typeface="Consolas"/>
              </a:rPr>
              <a:t> points of mean score;</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gain</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C39BD3"/>
                </a:solidFill>
                <a:latin typeface="Consolas"/>
              </a:rPr>
              <a:t>print</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choosing the best escape is worth only </a:t>
            </a:r>
            <a:r>
              <a:rPr sz="1900" i="0">
                <a:solidFill>
                  <a:srgbClr val="7DCEA0"/>
                </a:solidFill>
                <a:latin typeface="Consolas"/>
              </a:rPr>
              <a:t>%.1f</a:t>
            </a:r>
            <a:r>
              <a:rPr sz="1900" i="0">
                <a:solidFill>
                  <a:srgbClr val="7DCEA0"/>
                </a:solidFill>
                <a:latin typeface="Consolas"/>
              </a:rPr>
              <a:t> more.</a:t>
            </a:r>
            <a:r>
              <a:rPr sz="1900" i="0">
                <a:solidFill>
                  <a:srgbClr val="7DCEA0"/>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spread</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C39BD3"/>
                </a:solidFill>
                <a:latin typeface="Consolas"/>
              </a:rPr>
              <a:t>print</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C39BD3"/>
                </a:solidFill>
                <a:latin typeface="Consolas"/>
              </a:rPr>
              <a:t>print</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random restart has no parameters at all and reaches </a:t>
            </a:r>
            <a:r>
              <a:rPr sz="1900" i="0">
                <a:solidFill>
                  <a:srgbClr val="7DCEA0"/>
                </a:solidFill>
                <a:latin typeface="Consolas"/>
              </a:rPr>
              <a:t>%.2f</a:t>
            </a:r>
            <a:r>
              <a:rPr sz="1900" i="0">
                <a:solidFill>
                  <a:srgbClr val="7DCEA0"/>
                </a:solidFill>
                <a:latin typeface="Consolas"/>
              </a:rPr>
              <a:t>.</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rr</a:t>
            </a:r>
            <a:r>
              <a:rPr sz="1900" i="0">
                <a:solidFill>
                  <a:srgbClr val="AEB6BF"/>
                </a:solidFill>
                <a:latin typeface="Consolas"/>
              </a:rPr>
              <a:t>[</a:t>
            </a:r>
            <a:r>
              <a:rPr sz="1900" i="0">
                <a:solidFill>
                  <a:srgbClr val="F7DC6F"/>
                </a:solidFill>
                <a:latin typeface="Consolas"/>
              </a:rPr>
              <a:t>1</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C39BD3"/>
                </a:solidFill>
                <a:latin typeface="Consolas"/>
              </a:rPr>
              <a:t>print</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measure it before reaching for anything more interesting.</a:t>
            </a:r>
            <a:r>
              <a:rPr sz="1900" i="0">
                <a:solidFill>
                  <a:srgbClr val="7DCEA0"/>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C39BD3"/>
                </a:solidFill>
                <a:latin typeface="Consolas"/>
              </a:rPr>
              <a:t>print</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best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max</a:t>
            </a:r>
            <a:r>
              <a:rPr sz="1900" i="0">
                <a:solidFill>
                  <a:srgbClr val="AEB6BF"/>
                </a:solidFill>
                <a:latin typeface="Consolas"/>
              </a:rPr>
              <a:t>(</a:t>
            </a:r>
            <a:r>
              <a:rPr sz="1900" i="0">
                <a:solidFill>
                  <a:srgbClr val="E8EDF2"/>
                </a:solidFill>
                <a:latin typeface="Consolas"/>
              </a:rPr>
              <a:t>escapes</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key</a:t>
            </a:r>
            <a:r>
              <a:rPr sz="1900" i="0">
                <a:solidFill>
                  <a:srgbClr val="AEB6BF"/>
                </a:solidFill>
                <a:latin typeface="Consolas"/>
              </a:rPr>
              <a:t>=</a:t>
            </a:r>
            <a:r>
              <a:rPr sz="1900" i="0">
                <a:solidFill>
                  <a:srgbClr val="5DADE2"/>
                </a:solidFill>
                <a:latin typeface="Consolas"/>
              </a:rPr>
              <a:t>lambda</a:t>
            </a:r>
            <a:r>
              <a:rPr sz="1900" i="0">
                <a:solidFill>
                  <a:srgbClr val="E8EDF2"/>
                </a:solidFill>
                <a:latin typeface="Consolas"/>
              </a:rPr>
              <a:t> </a:t>
            </a:r>
            <a:r>
              <a:rPr sz="1900" i="0">
                <a:solidFill>
                  <a:srgbClr val="E8EDF2"/>
                </a:solidFill>
                <a:latin typeface="Consolas"/>
              </a:rPr>
              <a:t>m</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m</a:t>
            </a:r>
            <a:r>
              <a:rPr sz="1900" i="0">
                <a:solidFill>
                  <a:srgbClr val="AEB6BF"/>
                </a:solidFill>
                <a:latin typeface="Consolas"/>
              </a:rPr>
              <a:t>[</a:t>
            </a:r>
            <a:r>
              <a:rPr sz="1900" i="0">
                <a:solidFill>
                  <a:srgbClr val="F7DC6F"/>
                </a:solidFill>
                <a:latin typeface="Consolas"/>
              </a:rPr>
              <a:t>1</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C39BD3"/>
                </a:solidFill>
                <a:latin typeface="Consolas"/>
              </a:rPr>
              <a:t>print</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the best method still missed the optimum in </a:t>
            </a:r>
            <a:r>
              <a:rPr sz="1900" i="0">
                <a:solidFill>
                  <a:srgbClr val="7DCEA0"/>
                </a:solidFill>
                <a:latin typeface="Consolas"/>
              </a:rPr>
              <a:t>%d</a:t>
            </a:r>
            <a:r>
              <a:rPr sz="1900" i="0">
                <a:solidFill>
                  <a:srgbClr val="7DCEA0"/>
                </a:solidFill>
                <a:latin typeface="Consolas"/>
              </a:rPr>
              <a:t> of 200 runs.</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F7DC6F"/>
                </a:solidFill>
                <a:latin typeface="Consolas"/>
              </a:rPr>
              <a:t>200</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best</a:t>
            </a:r>
            <a:r>
              <a:rPr sz="1900" i="0">
                <a:solidFill>
                  <a:srgbClr val="AEB6BF"/>
                </a:solidFill>
                <a:latin typeface="Consolas"/>
              </a:rPr>
              <a:t>[</a:t>
            </a:r>
            <a:r>
              <a:rPr sz="1900" i="0">
                <a:solidFill>
                  <a:srgbClr val="F7DC6F"/>
                </a:solidFill>
                <a:latin typeface="Consolas"/>
              </a:rPr>
              <a:t>0</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t>
            </a:r>
          </a:p>
        </p:txBody>
      </p:sp>
      <p:sp>
        <p:nvSpPr>
          <p:cNvPr id="15" name="!!code-num"/>
          <p:cNvSpPr txBox="1"/>
          <p:nvPr/>
        </p:nvSpPr>
        <p:spPr>
          <a:xfrm>
            <a:off x="768096" y="2523744"/>
            <a:ext cx="393192" cy="358444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224</a:t>
            </a:r>
          </a:p>
          <a:p>
            <a:pPr algn="r">
              <a:lnSpc>
                <a:spcPct val="100000"/>
              </a:lnSpc>
            </a:pPr>
            <a:r>
              <a:rPr sz="1900">
                <a:solidFill>
                  <a:srgbClr val="4F5D6A"/>
                </a:solidFill>
                <a:latin typeface="Consolas"/>
              </a:rPr>
              <a:t>225</a:t>
            </a:r>
          </a:p>
          <a:p>
            <a:pPr algn="r">
              <a:lnSpc>
                <a:spcPct val="100000"/>
              </a:lnSpc>
            </a:pPr>
            <a:r>
              <a:rPr sz="1900">
                <a:solidFill>
                  <a:srgbClr val="4F5D6A"/>
                </a:solidFill>
                <a:latin typeface="Consolas"/>
              </a:rPr>
              <a:t>226</a:t>
            </a:r>
          </a:p>
          <a:p>
            <a:pPr algn="r">
              <a:lnSpc>
                <a:spcPct val="100000"/>
              </a:lnSpc>
            </a:pPr>
            <a:r>
              <a:rPr sz="1900">
                <a:solidFill>
                  <a:srgbClr val="4F5D6A"/>
                </a:solidFill>
                <a:latin typeface="Consolas"/>
              </a:rPr>
              <a:t>227</a:t>
            </a:r>
          </a:p>
          <a:p>
            <a:pPr algn="r">
              <a:lnSpc>
                <a:spcPct val="100000"/>
              </a:lnSpc>
            </a:pPr>
            <a:r>
              <a:rPr sz="1900">
                <a:solidFill>
                  <a:srgbClr val="4F5D6A"/>
                </a:solidFill>
                <a:latin typeface="Consolas"/>
              </a:rPr>
              <a:t>228</a:t>
            </a:r>
          </a:p>
          <a:p>
            <a:pPr algn="r">
              <a:lnSpc>
                <a:spcPct val="100000"/>
              </a:lnSpc>
            </a:pPr>
            <a:r>
              <a:rPr sz="1900">
                <a:solidFill>
                  <a:srgbClr val="4F5D6A"/>
                </a:solidFill>
                <a:latin typeface="Consolas"/>
              </a:rPr>
              <a:t>229</a:t>
            </a:r>
          </a:p>
          <a:p>
            <a:pPr algn="r">
              <a:lnSpc>
                <a:spcPct val="100000"/>
              </a:lnSpc>
            </a:pPr>
            <a:r>
              <a:rPr sz="1900">
                <a:solidFill>
                  <a:srgbClr val="4F5D6A"/>
                </a:solidFill>
                <a:latin typeface="Consolas"/>
              </a:rPr>
              <a:t>230</a:t>
            </a:r>
          </a:p>
          <a:p>
            <a:pPr algn="r">
              <a:lnSpc>
                <a:spcPct val="100000"/>
              </a:lnSpc>
            </a:pPr>
            <a:r>
              <a:rPr sz="1900">
                <a:solidFill>
                  <a:srgbClr val="4F5D6A"/>
                </a:solidFill>
                <a:latin typeface="Consolas"/>
              </a:rPr>
              <a:t>231</a:t>
            </a:r>
          </a:p>
          <a:p>
            <a:pPr algn="r">
              <a:lnSpc>
                <a:spcPct val="100000"/>
              </a:lnSpc>
            </a:pPr>
            <a:r>
              <a:rPr sz="1900">
                <a:solidFill>
                  <a:srgbClr val="4F5D6A"/>
                </a:solidFill>
                <a:latin typeface="Consolas"/>
              </a:rPr>
              <a:t>232</a:t>
            </a:r>
          </a:p>
          <a:p>
            <a:pPr algn="r">
              <a:lnSpc>
                <a:spcPct val="100000"/>
              </a:lnSpc>
            </a:pPr>
            <a:r>
              <a:rPr sz="1900">
                <a:solidFill>
                  <a:srgbClr val="4F5D6A"/>
                </a:solidFill>
                <a:latin typeface="Consolas"/>
              </a:rPr>
              <a:t>233</a:t>
            </a:r>
          </a:p>
          <a:p>
            <a:pPr algn="r">
              <a:lnSpc>
                <a:spcPct val="100000"/>
              </a:lnSpc>
            </a:pPr>
            <a:r>
              <a:rPr sz="1900">
                <a:solidFill>
                  <a:srgbClr val="4F5D6A"/>
                </a:solidFill>
                <a:latin typeface="Consolas"/>
              </a:rPr>
              <a:t>234</a:t>
            </a:r>
          </a:p>
          <a:p>
            <a:pPr algn="r">
              <a:lnSpc>
                <a:spcPct val="100000"/>
              </a:lnSpc>
            </a:pPr>
            <a:r>
              <a:rPr sz="1900">
                <a:solidFill>
                  <a:srgbClr val="4F5D6A"/>
                </a:solidFill>
                <a:latin typeface="Consolas"/>
              </a:rPr>
              <a:t>235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80511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6  ·  Local Search and Optimisation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§6.6.1  ·  Handout p. 59     </a:t>
            </a:r>
            <a:fld id="{3389DBE6-62FF-48BF-B2AE-C963602256D9}" type="slidenum">
              <a:rPr lang="en-GB" sz="1000">
                <a:solidFill>
                  <a:srgbClr val="8795A1"/>
                </a:solidFill>
                <a:latin typeface="Segoe UI"/>
              </a:rPr>
              <a:t>40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809036"/>
          </a:xfrm>
          <a:prstGeom prst="roundRect">
            <a:avLst>
              <a:gd name="adj" fmla="val 3255"/>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809036"/>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23296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Two experiments to run afterwards. Set the annealing temperature </a:t>
            </a:r>
            <a:r>
              <a:rPr sz="2150" b="0" i="0">
                <a:solidFill>
                  <a:srgbClr val="1F4E79"/>
                </a:solidFill>
                <a:latin typeface="Consolas"/>
              </a:rPr>
              <a:t>t0</a:t>
            </a:r>
            <a:r>
              <a:rPr sz="2300" b="0" i="0">
                <a:solidFill>
                  <a:srgbClr val="1C252B"/>
                </a:solidFill>
                <a:latin typeface="Segoe UI"/>
              </a:rPr>
              <a:t> to </a:t>
            </a:r>
            <a:r>
              <a:rPr sz="2300" b="0" i="0">
                <a:solidFill>
                  <a:srgbClr val="1C252B"/>
                </a:solidFill>
                <a:latin typeface="Cambria"/>
              </a:rPr>
              <a:t>0.01</a:t>
            </a:r>
            <a:r>
              <a:rPr sz="2300" b="0" i="0">
                <a:solidFill>
                  <a:srgbClr val="1C252B"/>
                </a:solidFill>
                <a:latin typeface="Segoe UI"/>
              </a:rPr>
              <a:t> and confirm that it degenerates into hill climbing — the mean drops back towards </a:t>
            </a:r>
            <a:r>
              <a:rPr sz="2300" b="0" i="0">
                <a:solidFill>
                  <a:srgbClr val="1C252B"/>
                </a:solidFill>
                <a:latin typeface="Cambria"/>
              </a:rPr>
              <a:t>30</a:t>
            </a:r>
            <a:r>
              <a:rPr sz="2300" b="0" i="0">
                <a:solidFill>
                  <a:srgbClr val="1C252B"/>
                </a:solidFill>
                <a:latin typeface="Segoe UI"/>
              </a:rPr>
              <a:t>. Then raise </a:t>
            </a:r>
            <a:r>
              <a:rPr sz="2150" b="0" i="0">
                <a:solidFill>
                  <a:srgbClr val="1F4E79"/>
                </a:solidFill>
                <a:latin typeface="Consolas"/>
              </a:rPr>
              <a:t>PENALTY</a:t>
            </a:r>
            <a:r>
              <a:rPr sz="2300" b="0" i="0">
                <a:solidFill>
                  <a:srgbClr val="1C252B"/>
                </a:solidFill>
                <a:latin typeface="Segoe UI"/>
              </a:rPr>
              <a:t> from </a:t>
            </a:r>
            <a:r>
              <a:rPr sz="2300" b="0" i="0">
                <a:solidFill>
                  <a:srgbClr val="1C252B"/>
                </a:solidFill>
                <a:latin typeface="Cambria"/>
              </a:rPr>
              <a:t>4</a:t>
            </a:r>
            <a:r>
              <a:rPr sz="2300" b="0" i="0">
                <a:solidFill>
                  <a:srgbClr val="1C252B"/>
                </a:solidFill>
                <a:latin typeface="Segoe UI"/>
              </a:rPr>
              <a:t> to </a:t>
            </a:r>
            <a:r>
              <a:rPr sz="2300" b="0" i="0">
                <a:solidFill>
                  <a:srgbClr val="1C252B"/>
                </a:solidFill>
                <a:latin typeface="Cambria"/>
              </a:rPr>
              <a:t>20</a:t>
            </a:r>
            <a:r>
              <a:rPr sz="2300" b="0" i="0">
                <a:solidFill>
                  <a:srgbClr val="1C252B"/>
                </a:solidFill>
                <a:latin typeface="Segoe UI"/>
              </a:rPr>
              <a:t> and watch every method get worse together: a harder penalty makes the ridges steeper, and no amount of cleverness in the search compensates for a landscape that has been made hostile by the modelling.</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903088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Explain the difference between a plateau and a shoulder, and say what goes wrong if hill climbing (a) forbids sideways moves and (b) allows unlimited sideways moves.</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Artificial Intelligence  ·  Chapter 6  ·  Local Search and Optimisation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67  ·  answers in Appendix D     </a:t>
            </a:r>
            <a:fld id="{DAF71048-A94B-4AF3-B5AE-9EEAD5485E2A}" type="slidenum">
              <a:rPr lang="en-GB" sz="1000">
                <a:solidFill>
                  <a:srgbClr val="D5DEE5"/>
                </a:solidFill>
                <a:latin typeface="Segoe UI"/>
              </a:rPr>
              <a:t>41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Explain the difference between a plateau and a shoulder, and say what goes wrong if hill climbing (a) forbids sideways moves and (b) allows unlimited sideways moves.</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174345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 </a:t>
            </a:r>
            <a:r>
              <a:rPr sz="2200" b="1" i="0">
                <a:solidFill>
                  <a:srgbClr val="1A5276"/>
                </a:solidFill>
                <a:latin typeface="Segoe UI"/>
              </a:rPr>
              <a:t>plateau</a:t>
            </a:r>
            <a:r>
              <a:rPr sz="2200" b="0" i="0">
                <a:solidFill>
                  <a:srgbClr val="1C252B"/>
                </a:solidFill>
                <a:latin typeface="Segoe UI"/>
              </a:rPr>
              <a:t> is a flat region of the landscape; a </a:t>
            </a:r>
            <a:r>
              <a:rPr sz="2200" b="1" i="0">
                <a:solidFill>
                  <a:srgbClr val="1A5276"/>
                </a:solidFill>
                <a:latin typeface="Segoe UI"/>
              </a:rPr>
              <a:t>shoulder</a:t>
            </a:r>
            <a:r>
              <a:rPr sz="2200" b="0" i="0">
                <a:solidFill>
                  <a:srgbClr val="1C252B"/>
                </a:solidFill>
                <a:latin typeface="Segoe UI"/>
              </a:rPr>
              <a:t> is a plateau with rising ground beyond it. (a) Forbidding sideways moves means halting on every shoulder, so solutions that lie just beyond flat ground are never reached. (b) Allowing them without limit means the search can circle a genuine plateau forever. The standard compromise is a cap — allow sideways moves up to a fixed count, then stop.</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6  ·  Local Search and Optimisation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67  ·  answers in Appendix D     </a:t>
            </a:r>
            <a:fld id="{744190A4-6474-4097-B094-DECCE2FEB83A}" type="slidenum">
              <a:rPr lang="en-GB" sz="1000">
                <a:solidFill>
                  <a:srgbClr val="8795A1"/>
                </a:solidFill>
                <a:latin typeface="Segoe UI"/>
              </a:rPr>
              <a:t>42</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48242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Simulated annealing is offered a neighbour that is </a:t>
            </a:r>
            <a:r>
              <a:rPr sz="3400" b="0" i="0">
                <a:solidFill>
                  <a:srgbClr val="FFFFFF"/>
                </a:solidFill>
                <a:latin typeface="Cambria"/>
              </a:rPr>
              <a:t>6</a:t>
            </a:r>
            <a:r>
              <a:rPr sz="3400" b="0" i="0">
                <a:solidFill>
                  <a:srgbClr val="FFFFFF"/>
                </a:solidFill>
                <a:latin typeface="Segoe UI Semibold"/>
              </a:rPr>
              <a:t> points worse. Compute the acceptance probability at </a:t>
            </a:r>
            <a:r>
              <a:rPr sz="3400" b="0" i="1">
                <a:solidFill>
                  <a:srgbClr val="FFFFFF"/>
                </a:solidFill>
                <a:latin typeface="Cambria"/>
              </a:rPr>
              <a:t>T</a:t>
            </a:r>
            <a:r>
              <a:rPr sz="3400" b="0" i="0">
                <a:solidFill>
                  <a:srgbClr val="FFFFFF"/>
                </a:solidFill>
                <a:latin typeface="Cambria"/>
              </a:rPr>
              <a:t> = 8</a:t>
            </a:r>
            <a:r>
              <a:rPr sz="3400" b="0" i="0">
                <a:solidFill>
                  <a:srgbClr val="FFFFFF"/>
                </a:solidFill>
                <a:latin typeface="Segoe UI Semibold"/>
              </a:rPr>
              <a:t> and at </a:t>
            </a:r>
            <a:r>
              <a:rPr sz="3400" b="0" i="1">
                <a:solidFill>
                  <a:srgbClr val="FFFFFF"/>
                </a:solidFill>
                <a:latin typeface="Cambria"/>
              </a:rPr>
              <a:t>T</a:t>
            </a:r>
            <a:r>
              <a:rPr sz="3400" b="0" i="0">
                <a:solidFill>
                  <a:srgbClr val="FFFFFF"/>
                </a:solidFill>
                <a:latin typeface="Cambria"/>
              </a:rPr>
              <a:t> = 0.5</a:t>
            </a:r>
            <a:r>
              <a:rPr sz="3400" b="0" i="0">
                <a:solidFill>
                  <a:srgbClr val="FFFFFF"/>
                </a:solidFill>
                <a:latin typeface="Segoe UI Semibold"/>
              </a:rPr>
              <a:t>, and say what the two numbers mean for the method’s behaviour early and late in a run.</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Artificial Intelligence  ·  Chapter 6  ·  Local Search and Optimisation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67  ·  answers in Appendix D     </a:t>
            </a:r>
            <a:fld id="{D304EDBF-6974-431C-A884-54E03B45A089}" type="slidenum">
              <a:rPr lang="en-GB" sz="1000">
                <a:solidFill>
                  <a:srgbClr val="D5DEE5"/>
                </a:solidFill>
                <a:latin typeface="Segoe UI"/>
              </a:rPr>
              <a:t>43</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Simulated annealing is offered a neighbour that is </a:t>
            </a:r>
            <a:r>
              <a:rPr sz="2400" b="0" i="0">
                <a:solidFill>
                  <a:srgbClr val="1A5276"/>
                </a:solidFill>
                <a:latin typeface="Cambria"/>
              </a:rPr>
              <a:t>6</a:t>
            </a:r>
            <a:r>
              <a:rPr sz="2400" b="0" i="0">
                <a:solidFill>
                  <a:srgbClr val="1A5276"/>
                </a:solidFill>
                <a:latin typeface="Segoe UI Semibold"/>
              </a:rPr>
              <a:t> points worse. Compute the acceptance probability at </a:t>
            </a:r>
            <a:r>
              <a:rPr sz="2400" b="0" i="1">
                <a:solidFill>
                  <a:srgbClr val="1A5276"/>
                </a:solidFill>
                <a:latin typeface="Cambria"/>
              </a:rPr>
              <a:t>T</a:t>
            </a:r>
            <a:r>
              <a:rPr sz="2400" b="0" i="0">
                <a:solidFill>
                  <a:srgbClr val="1A5276"/>
                </a:solidFill>
                <a:latin typeface="Cambria"/>
              </a:rPr>
              <a:t> = 8</a:t>
            </a:r>
            <a:r>
              <a:rPr sz="2400" b="0" i="0">
                <a:solidFill>
                  <a:srgbClr val="1A5276"/>
                </a:solidFill>
                <a:latin typeface="Segoe UI Semibold"/>
              </a:rPr>
              <a:t> and at </a:t>
            </a:r>
            <a:r>
              <a:rPr sz="2400" b="0" i="1">
                <a:solidFill>
                  <a:srgbClr val="1A5276"/>
                </a:solidFill>
                <a:latin typeface="Cambria"/>
              </a:rPr>
              <a:t>T</a:t>
            </a:r>
            <a:r>
              <a:rPr sz="2400" b="0" i="0">
                <a:solidFill>
                  <a:srgbClr val="1A5276"/>
                </a:solidFill>
                <a:latin typeface="Cambria"/>
              </a:rPr>
              <a:t> = 0.5</a:t>
            </a:r>
            <a:r>
              <a:rPr sz="2400" b="0" i="0">
                <a:solidFill>
                  <a:srgbClr val="1A5276"/>
                </a:solidFill>
                <a:latin typeface="Segoe UI Semibold"/>
              </a:rPr>
              <a:t>, and say what the two numbers mean for the method’s behaviour early and late in a run.</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13947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With </a:t>
            </a:r>
            <a:r>
              <a:rPr sz="2200" b="0" i="0">
                <a:solidFill>
                  <a:srgbClr val="1C252B"/>
                </a:solidFill>
                <a:latin typeface="Cambria"/>
              </a:rPr>
              <a:t>Δ = −6</a:t>
            </a:r>
            <a:r>
              <a:rPr sz="2200" b="0" i="0">
                <a:solidFill>
                  <a:srgbClr val="1C252B"/>
                </a:solidFill>
                <a:latin typeface="Segoe UI"/>
              </a:rPr>
              <a:t>: at </a:t>
            </a:r>
            <a:r>
              <a:rPr sz="2200" b="0" i="1">
                <a:solidFill>
                  <a:srgbClr val="1C252B"/>
                </a:solidFill>
                <a:latin typeface="Cambria"/>
              </a:rPr>
              <a:t>T</a:t>
            </a:r>
            <a:r>
              <a:rPr sz="2200" b="0" i="0">
                <a:solidFill>
                  <a:srgbClr val="1C252B"/>
                </a:solidFill>
                <a:latin typeface="Cambria"/>
              </a:rPr>
              <a:t> = 8</a:t>
            </a:r>
            <a:r>
              <a:rPr sz="2200" b="0" i="0">
                <a:solidFill>
                  <a:srgbClr val="1C252B"/>
                </a:solidFill>
                <a:latin typeface="Segoe UI"/>
              </a:rPr>
              <a:t>, </a:t>
            </a:r>
            <a:r>
              <a:rPr sz="2200" b="0" i="1">
                <a:solidFill>
                  <a:srgbClr val="1C252B"/>
                </a:solidFill>
                <a:latin typeface="Cambria"/>
              </a:rPr>
              <a:t>p</a:t>
            </a:r>
            <a:r>
              <a:rPr sz="2200" b="0" i="0">
                <a:solidFill>
                  <a:srgbClr val="1C252B"/>
                </a:solidFill>
                <a:latin typeface="Cambria"/>
              </a:rPr>
              <a:t> = </a:t>
            </a:r>
            <a:r>
              <a:rPr sz="2200" b="0" i="1">
                <a:solidFill>
                  <a:srgbClr val="1C252B"/>
                </a:solidFill>
                <a:latin typeface="Cambria"/>
              </a:rPr>
              <a:t>e</a:t>
            </a:r>
            <a:r>
              <a:rPr sz="1450" b="0" i="0" baseline="30000">
                <a:solidFill>
                  <a:srgbClr val="1C252B"/>
                </a:solidFill>
                <a:latin typeface="Cambria"/>
              </a:rPr>
              <a:t>−6/8</a:t>
            </a:r>
            <a:r>
              <a:rPr sz="2200" b="0" i="0">
                <a:solidFill>
                  <a:srgbClr val="1C252B"/>
                </a:solidFill>
                <a:latin typeface="Cambria"/>
              </a:rPr>
              <a:t> = </a:t>
            </a:r>
            <a:r>
              <a:rPr sz="2200" b="0" i="1">
                <a:solidFill>
                  <a:srgbClr val="1C252B"/>
                </a:solidFill>
                <a:latin typeface="Cambria"/>
              </a:rPr>
              <a:t>e</a:t>
            </a:r>
            <a:r>
              <a:rPr sz="1450" b="0" i="0" baseline="30000">
                <a:solidFill>
                  <a:srgbClr val="1C252B"/>
                </a:solidFill>
                <a:latin typeface="Cambria"/>
              </a:rPr>
              <a:t>−0.75</a:t>
            </a:r>
            <a:r>
              <a:rPr sz="2200" b="0" i="0">
                <a:solidFill>
                  <a:srgbClr val="1C252B"/>
                </a:solidFill>
                <a:latin typeface="Cambria"/>
              </a:rPr>
              <a:t> ≈ 0.472</a:t>
            </a:r>
            <a:r>
              <a:rPr sz="2200" b="0" i="0">
                <a:solidFill>
                  <a:srgbClr val="1C252B"/>
                </a:solidFill>
                <a:latin typeface="Segoe UI"/>
              </a:rPr>
              <a:t>, so a move six points worse is accepted almost half the time. At </a:t>
            </a:r>
            <a:r>
              <a:rPr sz="2200" b="0" i="1">
                <a:solidFill>
                  <a:srgbClr val="1C252B"/>
                </a:solidFill>
                <a:latin typeface="Cambria"/>
              </a:rPr>
              <a:t>T</a:t>
            </a:r>
            <a:r>
              <a:rPr sz="2200" b="0" i="0">
                <a:solidFill>
                  <a:srgbClr val="1C252B"/>
                </a:solidFill>
                <a:latin typeface="Cambria"/>
              </a:rPr>
              <a:t> = 0.5</a:t>
            </a:r>
            <a:r>
              <a:rPr sz="2200" b="0" i="0">
                <a:solidFill>
                  <a:srgbClr val="1C252B"/>
                </a:solidFill>
                <a:latin typeface="Segoe UI"/>
              </a:rPr>
              <a:t>, </a:t>
            </a:r>
            <a:r>
              <a:rPr sz="2200" b="0" i="1">
                <a:solidFill>
                  <a:srgbClr val="1C252B"/>
                </a:solidFill>
                <a:latin typeface="Cambria"/>
              </a:rPr>
              <a:t>p</a:t>
            </a:r>
            <a:r>
              <a:rPr sz="2200" b="0" i="0">
                <a:solidFill>
                  <a:srgbClr val="1C252B"/>
                </a:solidFill>
                <a:latin typeface="Cambria"/>
              </a:rPr>
              <a:t> = </a:t>
            </a:r>
            <a:r>
              <a:rPr sz="2200" b="0" i="1">
                <a:solidFill>
                  <a:srgbClr val="1C252B"/>
                </a:solidFill>
                <a:latin typeface="Cambria"/>
              </a:rPr>
              <a:t>e</a:t>
            </a:r>
            <a:r>
              <a:rPr sz="1450" b="0" i="0" baseline="30000">
                <a:solidFill>
                  <a:srgbClr val="1C252B"/>
                </a:solidFill>
                <a:latin typeface="Cambria"/>
              </a:rPr>
              <a:t>−12</a:t>
            </a:r>
            <a:r>
              <a:rPr sz="2200" b="0" i="0">
                <a:solidFill>
                  <a:srgbClr val="1C252B"/>
                </a:solidFill>
                <a:latin typeface="Cambria"/>
              </a:rPr>
              <a:t> ≈ 6.1 × 10</a:t>
            </a:r>
            <a:r>
              <a:rPr sz="1450" b="0" i="0" baseline="30000">
                <a:solidFill>
                  <a:srgbClr val="1C252B"/>
                </a:solidFill>
                <a:latin typeface="Cambria"/>
              </a:rPr>
              <a:t>−6</a:t>
            </a:r>
            <a:r>
              <a:rPr sz="2200" b="0" i="0">
                <a:solidFill>
                  <a:srgbClr val="1C252B"/>
                </a:solidFill>
                <a:latin typeface="Segoe UI"/>
              </a:rPr>
              <a:t>, which is effectively never. Early in the run the search wanders and can cross a ridge; late in the run it is hill climbing and only consolidates.</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6  ·  Local Search and Optimisation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67  ·  answers in Appendix D     </a:t>
            </a:r>
            <a:fld id="{F7EACB67-8D8C-480B-A3DF-50B4FD563F8F}" type="slidenum">
              <a:rPr lang="en-GB" sz="1000">
                <a:solidFill>
                  <a:srgbClr val="8795A1"/>
                </a:solidFill>
                <a:latin typeface="Segoe UI"/>
              </a:rPr>
              <a:t>44</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93397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Name the assumption crossover makes about a problem, say why the staffing objective largely satisfies it, and give one change to the objective that would break it.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Artificial Intelligence  ·  Chapter 6  ·  Local Search and Optimisation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67  ·  answers in Appendix D     </a:t>
            </a:r>
            <a:fld id="{2BDCE1EE-A7FB-4D47-8240-A891361AE88B}" type="slidenum">
              <a:rPr lang="en-GB" sz="1000">
                <a:solidFill>
                  <a:srgbClr val="D5DEE5"/>
                </a:solidFill>
                <a:latin typeface="Segoe UI"/>
              </a:rPr>
              <a:t>45</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Name the assumption crossover makes about a problem, say why the staffing objective largely satisfies it, and give one change to the objective that would break it.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24408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Crossover assumes the state decomposes into </a:t>
            </a:r>
            <a:r>
              <a:rPr sz="2200" b="0" i="1">
                <a:solidFill>
                  <a:srgbClr val="1C252B"/>
                </a:solidFill>
                <a:latin typeface="Segoe UI"/>
              </a:rPr>
              <a:t>blocks that are independently good</a:t>
            </a:r>
            <a:r>
              <a:rPr sz="2200" b="0" i="0">
                <a:solidFill>
                  <a:srgbClr val="1C252B"/>
                </a:solidFill>
                <a:latin typeface="Segoe UI"/>
              </a:rPr>
              <a:t>, so that splicing part of one parent onto part of another preserves value. The staffing objective largely satisfies this: most of a developer’s contribution is her own skill score, which depends on her assignment alone. What would break it is an objective depending on </a:t>
            </a:r>
            <a:r>
              <a:rPr sz="2200" b="0" i="1">
                <a:solidFill>
                  <a:srgbClr val="1C252B"/>
                </a:solidFill>
                <a:latin typeface="Segoe UI"/>
              </a:rPr>
              <a:t>pairs</a:t>
            </a:r>
            <a:r>
              <a:rPr sz="2200" b="0" i="0">
                <a:solidFill>
                  <a:srgbClr val="1C252B"/>
                </a:solidFill>
                <a:latin typeface="Segoe UI"/>
              </a:rPr>
              <a:t> of positions — who is rostered alongside whom, or two services that must not share a host — because then a block’s value depends on the block it is spliced next to.</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6  ·  Local Search and Optimisation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67  ·  answers in Appendix D     </a:t>
            </a:r>
            <a:fld id="{192E162D-D1DF-43F6-A785-19726E66DBBF}" type="slidenum">
              <a:rPr lang="en-GB" sz="1000">
                <a:solidFill>
                  <a:srgbClr val="8795A1"/>
                </a:solidFill>
                <a:latin typeface="Segoe UI"/>
              </a:rPr>
              <a:t>46</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38551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6  ·  Local Search and Optimisation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67     </a:t>
            </a:r>
            <a:fld id="{F60DDBB7-7DE7-4081-A3A3-C7A2EE375BBB}" type="slidenum">
              <a:rPr lang="en-GB" sz="1000">
                <a:solidFill>
                  <a:srgbClr val="8795A1"/>
                </a:solidFill>
                <a:latin typeface="Segoe UI"/>
              </a:rPr>
              <a:t>47</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1A5276"/>
                </a:solidFill>
                <a:latin typeface="Segoe UI"/>
              </a:rPr>
              <a:t>Local search</a:t>
            </a:r>
            <a:r>
              <a:rPr sz="1700" b="0" i="0">
                <a:solidFill>
                  <a:srgbClr val="1C252B"/>
                </a:solidFill>
                <a:latin typeface="Segoe UI"/>
              </a:rPr>
              <a:t> keeps one current state and no path. Use it when the answer is a good final state and the route to it is of no interest — and never when you need a guarantee.</a:t>
            </a:r>
          </a:p>
        </p:txBody>
      </p:sp>
      <p:sp>
        <p:nvSpPr>
          <p:cNvPr id="10" name="!!sb1">
            <a:extLst>
              <a:ext uri="{C183D7F6-B498-43B3-948B-1728B52AA6E4}">
                <adec:decorative xmlns:adec="http://schemas.microsoft.com/office/drawing/2017/decorative" val="1"/>
              </a:ext>
            </a:extLst>
          </p:cNvPr>
          <p:cNvSpPr/>
          <p:nvPr/>
        </p:nvSpPr>
        <p:spPr>
          <a:xfrm>
            <a:off x="658368" y="246827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2313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459126"/>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The </a:t>
            </a:r>
            <a:r>
              <a:rPr sz="1700" b="1" i="0">
                <a:solidFill>
                  <a:srgbClr val="1A5276"/>
                </a:solidFill>
                <a:latin typeface="Segoe UI"/>
              </a:rPr>
              <a:t>state-space landscape</a:t>
            </a:r>
            <a:r>
              <a:rPr sz="1700" b="0" i="0">
                <a:solidFill>
                  <a:srgbClr val="1C252B"/>
                </a:solidFill>
                <a:latin typeface="Segoe UI"/>
              </a:rPr>
              <a:t> explains every failure: </a:t>
            </a:r>
            <a:r>
              <a:rPr sz="1700" b="1" i="0">
                <a:solidFill>
                  <a:srgbClr val="1A5276"/>
                </a:solidFill>
                <a:latin typeface="Segoe UI"/>
              </a:rPr>
              <a:t>local maxima</a:t>
            </a:r>
            <a:r>
              <a:rPr sz="1700" b="0" i="0">
                <a:solidFill>
                  <a:srgbClr val="1C252B"/>
                </a:solidFill>
                <a:latin typeface="Segoe UI"/>
              </a:rPr>
              <a:t>, </a:t>
            </a:r>
            <a:r>
              <a:rPr sz="1700" b="1" i="0">
                <a:solidFill>
                  <a:srgbClr val="1A5276"/>
                </a:solidFill>
                <a:latin typeface="Segoe UI"/>
              </a:rPr>
              <a:t>plateaus</a:t>
            </a:r>
            <a:r>
              <a:rPr sz="1700" b="0" i="0">
                <a:solidFill>
                  <a:srgbClr val="1C252B"/>
                </a:solidFill>
                <a:latin typeface="Segoe UI"/>
              </a:rPr>
              <a:t> (flat, possibly a </a:t>
            </a:r>
            <a:r>
              <a:rPr sz="1700" b="1" i="0">
                <a:solidFill>
                  <a:srgbClr val="1A5276"/>
                </a:solidFill>
                <a:latin typeface="Segoe UI"/>
              </a:rPr>
              <a:t>shoulder</a:t>
            </a:r>
            <a:r>
              <a:rPr sz="1700" b="0" i="0">
                <a:solidFill>
                  <a:srgbClr val="1C252B"/>
                </a:solidFill>
                <a:latin typeface="Segoe UI"/>
              </a:rPr>
              <a:t> that leads up) and </a:t>
            </a:r>
            <a:r>
              <a:rPr sz="1700" b="1" i="0">
                <a:solidFill>
                  <a:srgbClr val="1A5276"/>
                </a:solidFill>
                <a:latin typeface="Segoe UI"/>
              </a:rPr>
              <a:t>ridges</a:t>
            </a:r>
            <a:r>
              <a:rPr sz="1700" b="0" i="0">
                <a:solidFill>
                  <a:srgbClr val="1C252B"/>
                </a:solidFill>
                <a:latin typeface="Segoe UI"/>
              </a:rPr>
              <a:t> (no single move improves, though a combination would).</a:t>
            </a:r>
          </a:p>
        </p:txBody>
      </p:sp>
      <p:sp>
        <p:nvSpPr>
          <p:cNvPr id="13" name="!!sb2">
            <a:extLst>
              <a:ext uri="{C183D7F6-B498-43B3-948B-1728B52AA6E4}">
                <adec:decorative xmlns:adec="http://schemas.microsoft.com/office/drawing/2017/decorative" val="1"/>
              </a:ext>
            </a:extLst>
          </p:cNvPr>
          <p:cNvSpPr/>
          <p:nvPr/>
        </p:nvSpPr>
        <p:spPr>
          <a:xfrm>
            <a:off x="658368" y="319003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24490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180892"/>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1A5276"/>
                </a:solidFill>
                <a:latin typeface="Segoe UI"/>
              </a:rPr>
              <a:t>Hill climbing</a:t>
            </a:r>
            <a:r>
              <a:rPr sz="1700" b="0" i="0">
                <a:solidFill>
                  <a:srgbClr val="1C252B"/>
                </a:solidFill>
                <a:latin typeface="Segoe UI"/>
              </a:rPr>
              <a:t> moves to the best neighbour and stops when there is none. On the staffing problem it reaches the optimum once in </a:t>
            </a:r>
            <a:r>
              <a:rPr sz="1700" b="0" i="0">
                <a:solidFill>
                  <a:srgbClr val="1C252B"/>
                </a:solidFill>
                <a:latin typeface="Cambria"/>
              </a:rPr>
              <a:t>200</a:t>
            </a:r>
            <a:r>
              <a:rPr sz="1700" b="0" i="0">
                <a:solidFill>
                  <a:srgbClr val="1C252B"/>
                </a:solidFill>
                <a:latin typeface="Segoe UI"/>
              </a:rPr>
              <a:t> starts, because the skill match and the headcount penalty form a ridge.</a:t>
            </a:r>
          </a:p>
        </p:txBody>
      </p:sp>
      <p:sp>
        <p:nvSpPr>
          <p:cNvPr id="16" name="!!sb3">
            <a:extLst>
              <a:ext uri="{C183D7F6-B498-43B3-948B-1728B52AA6E4}">
                <adec:decorative xmlns:adec="http://schemas.microsoft.com/office/drawing/2017/decorative" val="1"/>
              </a:ext>
            </a:extLst>
          </p:cNvPr>
          <p:cNvSpPr/>
          <p:nvPr/>
        </p:nvSpPr>
        <p:spPr>
          <a:xfrm>
            <a:off x="658368" y="391180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396666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3902659"/>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1A5276"/>
                </a:solidFill>
                <a:latin typeface="Segoe UI"/>
              </a:rPr>
              <a:t>Random restart</a:t>
            </a:r>
            <a:r>
              <a:rPr sz="1700" b="0" i="0">
                <a:solidFill>
                  <a:srgbClr val="1C252B"/>
                </a:solidFill>
                <a:latin typeface="Segoe UI"/>
              </a:rPr>
              <a:t> costs three lines, has no parameters, parallelises perfectly and lifted the mean from </a:t>
            </a:r>
            <a:r>
              <a:rPr sz="1700" b="0" i="0">
                <a:solidFill>
                  <a:srgbClr val="1C252B"/>
                </a:solidFill>
                <a:latin typeface="Cambria"/>
              </a:rPr>
              <a:t>30.3</a:t>
            </a:r>
            <a:r>
              <a:rPr sz="1700" b="0" i="0">
                <a:solidFill>
                  <a:srgbClr val="1C252B"/>
                </a:solidFill>
                <a:latin typeface="Segoe UI"/>
              </a:rPr>
              <a:t> to </a:t>
            </a:r>
            <a:r>
              <a:rPr sz="1700" b="0" i="0">
                <a:solidFill>
                  <a:srgbClr val="1C252B"/>
                </a:solidFill>
                <a:latin typeface="Cambria"/>
              </a:rPr>
              <a:t>39.5</a:t>
            </a:r>
            <a:r>
              <a:rPr sz="1700" b="0" i="0">
                <a:solidFill>
                  <a:srgbClr val="1C252B"/>
                </a:solidFill>
                <a:latin typeface="Segoe UI"/>
              </a:rPr>
              <a:t>. It is the baseline every other method must beat.</a:t>
            </a:r>
          </a:p>
        </p:txBody>
      </p:sp>
      <p:sp>
        <p:nvSpPr>
          <p:cNvPr id="19" name="!!sb4">
            <a:extLst>
              <a:ext uri="{C183D7F6-B498-43B3-948B-1728B52AA6E4}">
                <adec:decorative xmlns:adec="http://schemas.microsoft.com/office/drawing/2017/decorative" val="1"/>
              </a:ext>
            </a:extLst>
          </p:cNvPr>
          <p:cNvSpPr/>
          <p:nvPr/>
        </p:nvSpPr>
        <p:spPr>
          <a:xfrm>
            <a:off x="658368" y="463356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68843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624425"/>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1A5276"/>
                </a:solidFill>
                <a:latin typeface="Segoe UI"/>
              </a:rPr>
              <a:t>Simulated annealing</a:t>
            </a:r>
            <a:r>
              <a:rPr sz="1700" b="0" i="0">
                <a:solidFill>
                  <a:srgbClr val="1C252B"/>
                </a:solidFill>
                <a:latin typeface="Segoe UI"/>
              </a:rPr>
              <a:t> accepts a worsening move with probability </a:t>
            </a:r>
            <a:r>
              <a:rPr sz="1700" b="0" i="0">
                <a:solidFill>
                  <a:srgbClr val="1C252B"/>
                </a:solidFill>
                <a:latin typeface="Cambria"/>
              </a:rPr>
              <a:t>exp(Δ/</a:t>
            </a:r>
            <a:r>
              <a:rPr sz="1700" b="0" i="1">
                <a:solidFill>
                  <a:srgbClr val="1C252B"/>
                </a:solidFill>
                <a:latin typeface="Cambria"/>
              </a:rPr>
              <a:t>T</a:t>
            </a:r>
            <a:r>
              <a:rPr sz="1700" b="0" i="0">
                <a:solidFill>
                  <a:srgbClr val="1C252B"/>
                </a:solidFill>
                <a:latin typeface="Cambria"/>
              </a:rPr>
              <a:t>)</a:t>
            </a:r>
            <a:r>
              <a:rPr sz="1700" b="0" i="0">
                <a:solidFill>
                  <a:srgbClr val="1C252B"/>
                </a:solidFill>
                <a:latin typeface="Segoe UI"/>
              </a:rPr>
              <a:t>, interpolating from a random walk at high </a:t>
            </a:r>
            <a:r>
              <a:rPr sz="1700" b="0" i="1">
                <a:solidFill>
                  <a:srgbClr val="1C252B"/>
                </a:solidFill>
                <a:latin typeface="Cambria"/>
              </a:rPr>
              <a:t>T</a:t>
            </a:r>
            <a:r>
              <a:rPr sz="1700" b="0" i="0">
                <a:solidFill>
                  <a:srgbClr val="1C252B"/>
                </a:solidFill>
                <a:latin typeface="Segoe UI"/>
              </a:rPr>
              <a:t> to hill climbing at </a:t>
            </a:r>
            <a:r>
              <a:rPr sz="1700" b="0" i="1">
                <a:solidFill>
                  <a:srgbClr val="1C252B"/>
                </a:solidFill>
                <a:latin typeface="Cambria"/>
              </a:rPr>
              <a:t>T</a:t>
            </a:r>
            <a:r>
              <a:rPr sz="1700" b="0" i="0">
                <a:solidFill>
                  <a:srgbClr val="1C252B"/>
                </a:solidFill>
                <a:latin typeface="Cambria"/>
              </a:rPr>
              <a:t> → 0</a:t>
            </a:r>
            <a:r>
              <a:rPr sz="1700" b="0" i="0">
                <a:solidFill>
                  <a:srgbClr val="1C252B"/>
                </a:solidFill>
                <a:latin typeface="Segoe UI"/>
              </a:rPr>
              <a:t>. One parameter, mean </a:t>
            </a:r>
            <a:r>
              <a:rPr sz="1700" b="0" i="0">
                <a:solidFill>
                  <a:srgbClr val="1C252B"/>
                </a:solidFill>
                <a:latin typeface="Cambria"/>
              </a:rPr>
              <a:t>40.0</a:t>
            </a:r>
            <a:r>
              <a:rPr sz="1700" b="0" i="0">
                <a:solidFill>
                  <a:srgbClr val="1C252B"/>
                </a:solidFill>
                <a:latin typeface="Segoe UI"/>
              </a:rPr>
              <a:t>, </a:t>
            </a:r>
            <a:r>
              <a:rPr sz="1700" b="0" i="0">
                <a:solidFill>
                  <a:srgbClr val="1C252B"/>
                </a:solidFill>
                <a:latin typeface="Cambria"/>
              </a:rPr>
              <a:t>51/200</a:t>
            </a:r>
            <a:r>
              <a:rPr sz="1700" b="0" i="0">
                <a:solidFill>
                  <a:srgbClr val="1C252B"/>
                </a:solidFill>
                <a:latin typeface="Segoe UI"/>
              </a:rPr>
              <a:t> optima.</a:t>
            </a:r>
          </a:p>
        </p:txBody>
      </p:sp>
      <p:sp>
        <p:nvSpPr>
          <p:cNvPr id="22" name="!!sb5">
            <a:extLst>
              <a:ext uri="{C183D7F6-B498-43B3-948B-1728B52AA6E4}">
                <adec:decorative xmlns:adec="http://schemas.microsoft.com/office/drawing/2017/decorative" val="1"/>
              </a:ext>
            </a:extLst>
          </p:cNvPr>
          <p:cNvSpPr/>
          <p:nvPr/>
        </p:nvSpPr>
        <p:spPr>
          <a:xfrm>
            <a:off x="658368" y="535533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41020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346192"/>
            <a:ext cx="10234879" cy="80832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 </a:t>
            </a:r>
            <a:r>
              <a:rPr sz="1700" b="1" i="0">
                <a:solidFill>
                  <a:srgbClr val="1A5276"/>
                </a:solidFill>
                <a:latin typeface="Segoe UI"/>
              </a:rPr>
              <a:t>genetic algorithm</a:t>
            </a:r>
            <a:r>
              <a:rPr sz="1700" b="0" i="0">
                <a:solidFill>
                  <a:srgbClr val="1C252B"/>
                </a:solidFill>
                <a:latin typeface="Segoe UI"/>
              </a:rPr>
              <a:t> adds </a:t>
            </a:r>
            <a:r>
              <a:rPr sz="1700" b="1" i="0">
                <a:solidFill>
                  <a:srgbClr val="1A5276"/>
                </a:solidFill>
                <a:latin typeface="Segoe UI"/>
              </a:rPr>
              <a:t>crossover</a:t>
            </a:r>
            <a:r>
              <a:rPr sz="1700" b="0" i="0">
                <a:solidFill>
                  <a:srgbClr val="1C252B"/>
                </a:solidFill>
                <a:latin typeface="Segoe UI"/>
              </a:rPr>
              <a:t> to stochastic beam search. Crossover assumes the state decomposes into independently good blocks; the staffing problem largely satisfies that, and the method led the table with </a:t>
            </a:r>
            <a:r>
              <a:rPr sz="1700" b="0" i="0">
                <a:solidFill>
                  <a:srgbClr val="1C252B"/>
                </a:solidFill>
                <a:latin typeface="Cambria"/>
              </a:rPr>
              <a:t>160/200</a:t>
            </a:r>
            <a:r>
              <a:rPr sz="1700" b="0" i="0">
                <a:solidFill>
                  <a:srgbClr val="1C252B"/>
                </a:solidFill>
                <a:latin typeface="Segoe UI"/>
              </a:rPr>
              <a:t> optima and a mean of </a:t>
            </a:r>
            <a:r>
              <a:rPr sz="1700" b="0" i="0">
                <a:solidFill>
                  <a:srgbClr val="1C252B"/>
                </a:solidFill>
                <a:latin typeface="Cambria"/>
              </a:rPr>
              <a:t>41.5</a:t>
            </a:r>
            <a:r>
              <a:rPr sz="1700" b="0" i="0">
                <a:solidFill>
                  <a:srgbClr val="1C252B"/>
                </a:solidFill>
                <a:latin typeface="Segoe UI"/>
              </a:rPr>
              <a:t>.</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061129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 (continued)</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6  ·  Local Search and Optimisation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67     </a:t>
            </a:r>
            <a:fld id="{00500F65-80BF-42D9-9356-FAE60AA5DDFF}" type="slidenum">
              <a:rPr lang="en-GB" sz="1000">
                <a:solidFill>
                  <a:srgbClr val="8795A1"/>
                </a:solidFill>
                <a:latin typeface="Segoe UI"/>
              </a:rPr>
              <a:t>48</a:t>
            </a:fld>
          </a:p>
        </p:txBody>
      </p:sp>
      <p:sp>
        <p:nvSpPr>
          <p:cNvPr id="7" name="!!sb6">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6"/>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7</a:t>
            </a:r>
          </a:p>
        </p:txBody>
      </p:sp>
      <p:sp>
        <p:nvSpPr>
          <p:cNvPr id="9" name="!!st6"/>
          <p:cNvSpPr txBox="1"/>
          <p:nvPr/>
        </p:nvSpPr>
        <p:spPr>
          <a:xfrm>
            <a:off x="1298448" y="1737360"/>
            <a:ext cx="10234879" cy="107777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Compare methods only at an </a:t>
            </a:r>
            <a:r>
              <a:rPr sz="1700" b="0" i="1">
                <a:solidFill>
                  <a:srgbClr val="1C252B"/>
                </a:solidFill>
                <a:latin typeface="Segoe UI"/>
              </a:rPr>
              <a:t>equal evaluation budget</a:t>
            </a:r>
            <a:r>
              <a:rPr sz="1700" b="0" i="0">
                <a:solidFill>
                  <a:srgbClr val="1C252B"/>
                </a:solidFill>
                <a:latin typeface="Segoe UI"/>
              </a:rPr>
              <a:t>, say exactly what an evaluation is, and report the mean and the worst run rather than the best. Charging the genetic algorithm per tournament comparison rather than per individual per generation moves it from first place to last on this problem without touching its code.</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1083706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4</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6  ·  Local Search and Optimisation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67     </a:t>
            </a:r>
            <a:fld id="{CA3143B3-C3CC-40DA-BF6C-176F0D24B40F}" type="slidenum">
              <a:rPr lang="en-GB" sz="1000">
                <a:solidFill>
                  <a:srgbClr val="8795A1"/>
                </a:solidFill>
                <a:latin typeface="Segoe UI"/>
              </a:rPr>
              <a:t>49</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Local search is appropriate when:</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path to the goal is the answer</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only the final state matters</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optimality must be proved</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39020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space is small enough to enumerate</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06283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4</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6  ·  Local Search and Optimisation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67     </a:t>
            </a:r>
            <a:fld id="{AC06EFA7-F5CA-4869-BB2A-DBAE953BE296}" type="slidenum">
              <a:rPr lang="en-GB" sz="1000">
                <a:solidFill>
                  <a:srgbClr val="8795A1"/>
                </a:solidFill>
                <a:latin typeface="Segoe UI"/>
              </a:rPr>
              <a:t>50</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 </a:t>
            </a:r>
            <a:r>
              <a:rPr sz="2600" b="0" i="1">
                <a:solidFill>
                  <a:srgbClr val="1C252B"/>
                </a:solidFill>
                <a:latin typeface="Segoe UI"/>
              </a:rPr>
              <a:t>ridge</a:t>
            </a:r>
            <a:r>
              <a:rPr sz="2600" b="0" i="0">
                <a:solidFill>
                  <a:srgbClr val="1C252B"/>
                </a:solidFill>
                <a:latin typeface="Segoe UI"/>
              </a:rPr>
              <a:t> defeats hill climbing because:</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all neighbours are equal</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7133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no single move improves, though a combination would</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objective is undefined</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space is continuous</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28860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3 of 4</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6  ·  Local Search and Optimisation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67     </a:t>
            </a:r>
            <a:fld id="{5DC40027-4A5F-4524-9FC0-197322AC5A5C}" type="slidenum">
              <a:rPr lang="en-GB" sz="1000">
                <a:solidFill>
                  <a:srgbClr val="8795A1"/>
                </a:solidFill>
                <a:latin typeface="Segoe UI"/>
              </a:rPr>
              <a:t>51</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In simulated annealing, as </a:t>
            </a:r>
            <a:r>
              <a:rPr sz="2600" b="0" i="1">
                <a:solidFill>
                  <a:srgbClr val="1C252B"/>
                </a:solidFill>
                <a:latin typeface="Cambria"/>
              </a:rPr>
              <a:t>T</a:t>
            </a:r>
            <a:r>
              <a:rPr sz="2600" b="0" i="0">
                <a:solidFill>
                  <a:srgbClr val="1C252B"/>
                </a:solidFill>
                <a:latin typeface="Cambria"/>
              </a:rPr>
              <a:t> → 0</a:t>
            </a:r>
            <a:r>
              <a:rPr sz="2600" b="0" i="0">
                <a:solidFill>
                  <a:srgbClr val="1C252B"/>
                </a:solidFill>
                <a:latin typeface="Segoe UI"/>
              </a:rPr>
              <a:t> the method becomes: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random walk</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breadth-first search</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hill climbing</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genetic algorithm</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51437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4 of 4</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6  ·  Local Search and Optimisation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67     </a:t>
            </a:r>
            <a:fld id="{542521E4-91BB-4EEF-BEFD-BCB59E4817EE}" type="slidenum">
              <a:rPr lang="en-GB" sz="1000">
                <a:solidFill>
                  <a:srgbClr val="8795A1"/>
                </a:solidFill>
                <a:latin typeface="Segoe UI"/>
              </a:rPr>
              <a:t>52</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assumption behind crossover is that:</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objective is linear</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7133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state decomposes into independently good blocks</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mutation is unnecessary</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population is large</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74015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6  ·  Local Search and Optimisation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67     </a:t>
            </a:r>
            <a:fld id="{A5135E65-CC5B-42D7-A3F3-75D90243FEF8}" type="slidenum">
              <a:rPr lang="en-GB" sz="1000">
                <a:solidFill>
                  <a:srgbClr val="8795A1"/>
                </a:solidFill>
                <a:latin typeface="Segoe UI"/>
              </a:rPr>
              <a:t>53</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is comparing a genetic algorithm to hill climbing without fixing the evaluation budget meaningless? Describe the comparison you would run instead.</a:t>
            </a:r>
          </a:p>
        </p:txBody>
      </p:sp>
      <p:sp>
        <p:nvSpPr>
          <p:cNvPr id="10" name="!!rt1">
            <a:extLst>
              <a:ext uri="{C183D7F6-B498-43B3-948B-1728B52AA6E4}">
                <adec:decorative xmlns:adec="http://schemas.microsoft.com/office/drawing/2017/decorative" val="1"/>
              </a:ext>
            </a:extLst>
          </p:cNvPr>
          <p:cNvSpPr/>
          <p:nvPr/>
        </p:nvSpPr>
        <p:spPr>
          <a:xfrm>
            <a:off x="658368" y="257738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61853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55910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Give the acceptance rule of simulated annealing and explain what each of its two extremes reduces to.</a:t>
            </a:r>
          </a:p>
        </p:txBody>
      </p:sp>
      <p:sp>
        <p:nvSpPr>
          <p:cNvPr id="13" name="!!rt2">
            <a:extLst>
              <a:ext uri="{C183D7F6-B498-43B3-948B-1728B52AA6E4}">
                <adec:decorative xmlns:adec="http://schemas.microsoft.com/office/drawing/2017/decorative" val="1"/>
              </a:ext>
            </a:extLst>
          </p:cNvPr>
          <p:cNvSpPr/>
          <p:nvPr/>
        </p:nvSpPr>
        <p:spPr>
          <a:xfrm>
            <a:off x="658368" y="3399129"/>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440277"/>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380841"/>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The genetic algorithm led Table 6.1 on the standard accounting and came last when each tournament comparison was charged separately. Say which accounting is correct and why, and what the episode implies about published comparisons of metaheuristics.</a:t>
            </a:r>
          </a:p>
        </p:txBody>
      </p:sp>
      <p:sp>
        <p:nvSpPr>
          <p:cNvPr id="16" name="!!rt3">
            <a:extLst>
              <a:ext uri="{C183D7F6-B498-43B3-948B-1728B52AA6E4}">
                <adec:decorative xmlns:adec="http://schemas.microsoft.com/office/drawing/2017/decorative" val="1"/>
              </a:ext>
            </a:extLst>
          </p:cNvPr>
          <p:cNvSpPr/>
          <p:nvPr/>
        </p:nvSpPr>
        <p:spPr>
          <a:xfrm>
            <a:off x="658368" y="4522012"/>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4563160"/>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4503724"/>
            <a:ext cx="9549079" cy="1204569"/>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Iqra has skill </a:t>
            </a:r>
            <a:r>
              <a:rPr sz="1900" b="0" i="0">
                <a:solidFill>
                  <a:srgbClr val="1C252B"/>
                </a:solidFill>
                <a:latin typeface="Cambria"/>
              </a:rPr>
              <a:t>3</a:t>
            </a:r>
            <a:r>
              <a:rPr sz="1900" b="0" i="0">
                <a:solidFill>
                  <a:srgbClr val="1C252B"/>
                </a:solidFill>
                <a:latin typeface="Segoe UI"/>
              </a:rPr>
              <a:t> on all four streams. Show that the optimal assignment puts her on </a:t>
            </a:r>
            <a:r>
              <a:rPr sz="1800" b="0" i="0">
                <a:solidFill>
                  <a:srgbClr val="1F4E79"/>
                </a:solidFill>
                <a:latin typeface="Consolas"/>
              </a:rPr>
              <a:t>api</a:t>
            </a:r>
            <a:r>
              <a:rPr sz="1900" b="0" i="0">
                <a:solidFill>
                  <a:srgbClr val="1C252B"/>
                </a:solidFill>
                <a:latin typeface="Segoe UI"/>
              </a:rPr>
              <a:t>, by computing the score of moving her to each of the other three streams from the optimum. Then explain what her uniform skill row contributes to the difficulty of the landscape.</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1196592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23679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5739D"/>
                </a:solidFill>
                <a:latin typeface="Segoe UI Black"/>
              </a:rPr>
              <a:t>06</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6</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Chapter 7 — Constraint Satisfaction</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6, pages 54–67</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FFFFFF"/>
                </a:solidFill>
                <a:latin typeface="Segoe UI Semibold"/>
              </a:rPr>
              <a:t>Staffing by annealing and by evolution</a:t>
            </a:r>
          </a:p>
        </p:txBody>
      </p:sp>
      <p:sp>
        <p:nvSpPr>
          <p:cNvPr id="1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Artificial Intelligence  ·  Chapter 6  ·  Local Search and Optimisation</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fld id="{59BE8EFC-6DAD-452A-949C-0F139AB564B5}" type="slidenum">
              <a:rPr lang="en-GB" sz="1000">
                <a:solidFill>
                  <a:srgbClr val="D5DEE5"/>
                </a:solidFill>
                <a:latin typeface="Segoe UI"/>
              </a:rPr>
              <a:t>54</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Artificial Intelligence Fall 2026">
  <a:themeElements>
    <a:clrScheme name="Artificial Intelligence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Artificial Intelligence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 Local Search and Optimisation</dc:title>
  <dc:subject>Artificial Intelligence — Search, Knowledge and Reasoning · BSIT · Fall 2026</dc:subject>
  <dc:creator>Dr. Mustafa Hameed</dc:creator>
  <cp:keywords>artificial intelligence;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