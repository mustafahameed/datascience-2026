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3.svg" ContentType="image/svg+xml"/>
  <Override PartName="/ppt/media/image35.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3.svg" ContentType="image/svg+xml"/>
  <Override PartName="/ppt/media/image65.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1.svg" ContentType="image/svg+xml"/>
  <Override PartName="/ppt/media/image72.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753D8E1-3E98-4053-A68B-287C28DCCB06}">
          <p14:sldIdLst>
            <p14:sldId id="256"/>
            <p14:sldId id="257"/>
            <p14:sldId id="258"/>
            <p14:sldId id="259"/>
            <p14:sldId id="260"/>
          </p14:sldIdLst>
        </p14:section>
        <p14:section name="5.1 A Sprint Where the Cost Matters" id="{21889E8F-C1B2-49F3-AF5D-C81F788E8F1B}">
          <p14:sldIdLst>
            <p14:sldId id="261"/>
            <p14:sldId id="262"/>
            <p14:sldId id="263"/>
          </p14:sldIdLst>
        </p14:section>
        <p14:section name="5.2 Heuristics: Telling the Search Where the Goal Is" id="{E30E9B2C-A2C0-4A1E-B6BB-9DA81FCA13E2}">
          <p14:sldIdLst>
            <p14:sldId id="264"/>
          </p14:sldIdLst>
        </p14:section>
        <p14:section name="5.3 Greedy Best-First Search, and Why It Is Not Enough" id="{79CBDCB2-9F1B-44F9-BD64-2E543DE79AE1}">
          <p14:sldIdLst>
            <p14:sldId id="265"/>
          </p14:sldIdLst>
        </p14:section>
        <p14:section name="5.4 A* Search" id="{0767856E-655F-4A47-98DA-C5ACC8D4575A}">
          <p14:sldIdLst>
            <p14:sldId id="266"/>
            <p14:sldId id="267"/>
            <p14:sldId id="268"/>
            <p14:sldId id="269"/>
            <p14:sldId id="270"/>
            <p14:sldId id="271"/>
          </p14:sldIdLst>
        </p14:section>
        <p14:section name="5.5 Inventing a Heuristic" id="{8ADD8A06-8175-49B9-8F5E-66E4D1FF47C0}">
          <p14:sldIdLst>
            <p14:sldId id="272"/>
            <p14:sldId id="273"/>
            <p14:sldId id="274"/>
          </p14:sldIdLst>
        </p14:section>
        <p14:section name="Pitfalls" id="{2518CFB7-A5DB-4A19-BCD2-4A7B37096F4E}">
          <p14:sldIdLst>
            <p14:sldId id="275"/>
          </p14:sldIdLst>
        </p14:section>
        <p14:section name="Lab" id="{361DE093-63A8-4200-97C4-464DFAE91055}">
          <p14:sldIdLst>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Lst>
        </p14:section>
        <p14:section name="Checkpoint" id="{0CEE1A76-40CE-4227-9E3B-9937E490F26F}">
          <p14:sldIdLst>
            <p14:sldId id="296"/>
            <p14:sldId id="297"/>
            <p14:sldId id="298"/>
            <p14:sldId id="299"/>
            <p14:sldId id="300"/>
            <p14:sldId id="301"/>
          </p14:sldIdLst>
        </p14:section>
        <p14:section name="Wrap-up" id="{8E3027E1-7DDD-4A0F-92C0-EFE3620D1AF6}">
          <p14:sldIdLst>
            <p14:sldId id="302"/>
            <p14:sldId id="303"/>
            <p14:sldId id="304"/>
            <p14:sldId id="305"/>
            <p14:sldId id="306"/>
            <p14:sldId id="307"/>
            <p14:sldId id="308"/>
            <p14:sldId id="30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5: Informed Search and Heuristics. Part 2 — Problem Solving by Search. Week 4: Informed search and heuristics. Handout pages 43–53.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4 (uniform-cost search, the explored set, goal-testing on popping, and why every uninformed strategy is exponential) and Chapter 3 (the heapq frontier with a tie-breaking counter). A∗ is uniform-cost search with one term added, so the previous chapter’s code is the starting 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heuristic function; greedy best-first search; A∗; evaluation function; path cost g; heuristic estimate h; admissibility; consistency; monotonicity; dominance; relaxed problem; critical path; effective branching factor; optimally efficient.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4 ended on an awkward note: every complete plan for the release cost the same twenty-seven days, because every task was mandatory. Cost-based search had nothing to choose between. Real sprints are not like that — there is almost always more than one way to get a thing done.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Automation wins by one day, and the whole point of this chapter is that finding out which route is cheaper is a search problem, and that a good heuristic finds it while doing a third less work. Figure 5.1 is the network.</a:t>
            </a:r>
          </a:p>
          <a:p/>
          <a:p>
            <a:r>
              <a:t>Figure 5.1 (handout p. 44): The sprint network. Ten of the eleven tasks are unavoidable; the testing step can be reached two ways, and the cheaper route is not the shorter one in number of tasks.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Uniform-cost search spreads outwards in every direction equally, because it has no idea which direction the goal is in. A heuristic gives it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heuristics for the sprint, both of which a delivery manager would recognise. Mandatory work remaining. Eight of the eleven tasks appear in every plan that reaches a release: spec, schema, api, auth, ui, docs, uat and release. Sum the durations of those not yet done. At the start this is 23 days. It is admissible because the tasks it counts genuinely must be done and it ignores the testing work entirely, so it can only under-count. Critical path remaining. The longest chain of dependencies still to be traversed, taking the cheaper branch at the choice. At the start this is 16 days. It is admissible because every task on a chain must be done in order, so the chain length is a lower bound on the total. The mandatory-work estimate is much the larger of the two at the start — 23 against 16 — but, as Section 5.4.2 shows by measurement, it is not larger everywhere, and that turns out to matter. Order the frontier by h alone: always expand whatever looks closest to the goal. This is greedy best-first search, and it is fast — on the sprint it finds a plan after expanding ten or eleven states, against uniform-cost search’s forty-six. It is also not optimal, and the sprint shows exactly how it fails. With the mandatory-work heuristic, greedy search returns the manual testing plan at 29 days instead of the automated one at 28. The reason is instructive: the harness is three days of work that reduces h by nothing at all, because the harness is not mandatory and the heuristic only counts mandatory work. Greedy search therefore sees the harness as pure delay and refuses to build it — which is a recognisable human failure mode as well as an algorithmic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the two terms: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g(n) is the cost of the path from the start to n and h(n) the estimate from n to a goal. Expand the node of lowest f. That is A∗, and it is the single most useful algorithm in this book. Read f(n) as the estimated cost of the cheapest complete solution that goes through n. Uniform-cost search is A∗ with h = 0, and greedy search is the same frontier with g = 0. Figure 5.2 shows the two routes competing on f.</a:t>
            </a:r>
          </a:p>
          <a:p/>
          <a:p>
            <a:r>
              <a:t>Figure 5.2 (handout p. 45): The two routes as cost. Only an algorithm that adds the cost already spent to the cost still expected can see that three days of harness buys four days of testing.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h2(n) ≥ h1(n) for every n, and both are admissible, then h2 dominates h1, and A∗ with h2 expands no more nodes than with h1. The reason is direct: A∗ must expand every node with f(n) &lt; C∗, and a larger h pushes more nodes over that threshold. So among admissible heuristics, bigger is better — as long as it stays admissible and stays cheap to compute. Those are competing pressures, and the balance is a judgement call: a heuristic that is perfect but takes as long to evaluate as solving the subproblem has bought nothing. Now the measurement, which is more interesting than the tidy version of this story. At the root, mandatory work is worth 23 and the critical path 16, so it is tempting to conclude that mandatory work dominates. It does not. The lab checks all 55 reachable states and finds 6 on which the critical path is the larger of the two — states late in the sprint where almost all the mandatory work is finished but the testing chain still has to be walked. For instance with spec, schema, api, auth, docs and ui done, mandatory work is 4 while the critical path is 9. So neither heuristic dominates the other, which is the ordinary situation and not a defect. It is also exactly the situation in which the maximum earns its keep: max(h1,h2) is admissible, dominates both by construction, and costs one extra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standard technique is relaxation: delete a constraint from the problem, solve the easier problem exactly, and use that as the estimate. It is admissible automatically, because any solution to the real problem is also a solution to the relaxed one, so the relaxed optimum cannot be larger.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as Section 5.4.2 argued, their maximum is admissible too and dominates both. Taking the maximum of several admissible heuristics is always safe and is the cheapest route to a stronger one.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row is worth a remark. Taking the maximum guarantees no more expansions, and here it delivers no fewer either — 33 both ways. The six states where the critical path is the stronger estimate are simply not states that A∗ had to decide about. That is the normal return on a dominance improvement: a guarantee that you will not do worse, and an empirical gain that depends on the instance. Read the last two rows together. Greedy search with the critical-path heuristic happens to find the optimal plan — and that is luck, not a property. Nothing in the algorithm tells you which of the two rows you are in on a problem whose answer you do not already know. That asymmetry is the whole case for 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Uniform-cost, A∗ and greedy search on the network of Figure 5.1, with both heuristics, plus an exhaustive admissibility check over every reachable state.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Set-up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Set-up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The two heuristics, both relaxations.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The two heuristics, both relaxations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The two heuristics, both relaxations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Best-first search; the priority decides the algorithm.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Best-first search; the priority decides the algorithm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9: Best-first search; the priority decides the algorithm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10: Best-first search; the priority decides the algorithm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11: Best-first search; the priority decides the algorithm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12: Best-first search; the priority decides the algorithm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13: Best-first search; the priority decides the algorithm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14: Best-first search; the priority decides the algorithm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15: Best-first search; the priority decides the algorithm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16: Best-first search; the priority decides the algorithm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17: Best-first search; the priority decides the algorithm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18: Best-first search; the priority decides the algorithm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Yes, it is admissible: 23 ≤ 28, and the lab verifies h(s) ≤ h∗(s) on all 55 reachable states. A heuristic returning 30 at the root would not be admissible, because it exceeds the true optimal completion cost of 28. With it, A∗ loses its optimality guarantee: the node on the optimal path can be buried behind a worse goal node in the frontier, and the search returns the worse plan with no indication that it has done so.</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greedy best-first search orders its frontier by h alone and never consults g. Building the harness costs three days — an increase in g — while reducing the mandatory-work estimate by nothing at all, since the harness is not mandatory work. So it looks like pure delay. Any decision of the form “spend more now to spend less later” is structurally invisible to greedy search.</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max(h1, h2). It is admissible, because at every state it equals one of two values that are each at most h∗; and it dominates both by construction. The average is also admissible but is dominated by the maximum — it is never larger and usually smaller, so it expands at least as many nodes for the same evaluation cost. Take the maximum, never the mean.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6 — Local Search and Optimisation. READ: Handout Chapter 5, pages 43–53. THIS WEEK'S LAB: A∗ over sprint states, two heuristics. ASSESSMENT: Assignment 1 set.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1.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5.svg"/><Relationship Id="rId4" Type="http://schemas.openxmlformats.org/officeDocument/2006/relationships/image" Target="../media/image16.png"/><Relationship Id="rId5" Type="http://schemas.openxmlformats.org/officeDocument/2006/relationships/image" Target="../media/image17.svg"/><Relationship Id="rId6" Type="http://schemas.openxmlformats.org/officeDocument/2006/relationships/image" Target="../media/image18.png"/><Relationship Id="rId7" Type="http://schemas.openxmlformats.org/officeDocument/2006/relationships/image" Target="../media/image19.sv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22.svg"/><Relationship Id="rId4" Type="http://schemas.openxmlformats.org/officeDocument/2006/relationships/image" Target="../media/image23.png"/><Relationship Id="rId5" Type="http://schemas.openxmlformats.org/officeDocument/2006/relationships/image" Target="../media/image24.sv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image" Target="../media/image29.png"/><Relationship Id="rId5" Type="http://schemas.openxmlformats.org/officeDocument/2006/relationships/image" Target="../media/image30.svg"/><Relationship Id="rId6" Type="http://schemas.openxmlformats.org/officeDocument/2006/relationships/image" Target="../media/image31.png"/><Relationship Id="rId7" Type="http://schemas.openxmlformats.org/officeDocument/2006/relationships/image" Target="../media/image32.sv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33.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5.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36.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0.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3.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4.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5.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6.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7.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8.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9.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50.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51.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52.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53.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54.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55.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56.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57.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58.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59.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60.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61.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5.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6.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7.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8.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9.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1.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2.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4.sv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5.sv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6.sv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7.sv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8.sv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9769F"/>
                </a:solidFill>
                <a:latin typeface="Segoe UI Black"/>
              </a:rPr>
              <a:t>05</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Informed Search and Heuristics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PART II  ·  PROBLEM SOLVING BY SEARCH</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CHAPTER 5  ·  WEEK 4</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3E1EA"/>
                </a:solidFill>
                <a:latin typeface="Segoe UI"/>
              </a:rPr>
              <a:t>Artificial Intelligence — Search, Knowledge and Reasoning</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94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8BA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FCC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8BA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43     </a:t>
            </a:r>
            <a:fld id="{C5B27EED-45F0-4544-B9E5-415C710BBDD2}" type="slidenum">
              <a:rPr lang="en-GB" sz="1000">
                <a:solidFill>
                  <a:srgbClr val="8795A1"/>
                </a:solidFill>
                <a:latin typeface="Segoe UI"/>
              </a:rPr>
              <a:t>2</a:t>
            </a:fld>
          </a:p>
        </p:txBody>
      </p:sp>
      <p:sp>
        <p:nvSpPr>
          <p:cNvPr id="7" name="!!rp1"/>
          <p:cNvSpPr txBox="1"/>
          <p:nvPr/>
        </p:nvSpPr>
        <p:spPr>
          <a:xfrm>
            <a:off x="777239"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80139" y="1755648"/>
            <a:ext cx="148461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80139" y="2029967"/>
            <a:ext cx="1484611" cy="4572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093935"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093935"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596834"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596834"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7509260"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7509260"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012160"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012160"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32031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2288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38981" y="2112264"/>
            <a:ext cx="566928" cy="566928"/>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738981"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9" name="!!dot6">
            <a:extLst>
              <a:ext uri="{C183D7F6-B498-43B3-948B-1728B52AA6E4}">
                <adec:decorative xmlns:adec="http://schemas.microsoft.com/office/drawing/2017/decorative" val="1"/>
              </a:ext>
            </a:extLst>
          </p:cNvPr>
          <p:cNvSpPr/>
          <p:nvPr/>
        </p:nvSpPr>
        <p:spPr>
          <a:xfrm>
            <a:off x="3450259"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3588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4134106"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4042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54363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45219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953159"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8617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63700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5455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6046532"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95509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4560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3646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86558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7741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54943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745799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958958"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8675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36848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2770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9052331"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96089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46185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3704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87138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7799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280910"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101894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65836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236794"/>
                </a:solidFill>
                <a:latin typeface="Segoe UI"/>
              </a:rPr>
              <a:t>Informed Search and Heuristics</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3">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3">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3"/>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Representations and Search in Python</a:t>
            </a:r>
          </a:p>
        </p:txBody>
      </p:sp>
      <p:sp>
        <p:nvSpPr>
          <p:cNvPr id="68" name="!!chipBU4">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4">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4"/>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4  </a:t>
            </a:r>
            <a:r>
              <a:rPr sz="1400" b="0" i="0">
                <a:solidFill>
                  <a:srgbClr val="1C252B"/>
                </a:solidFill>
                <a:latin typeface="Segoe UI"/>
              </a:rPr>
              <a:t>Problem Formulation and Uninformed Search</a:t>
            </a:r>
          </a:p>
        </p:txBody>
      </p:sp>
      <p:sp>
        <p:nvSpPr>
          <p:cNvPr id="71"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2" name="!!chipUS6">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bUS6">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tUS6"/>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6  </a:t>
            </a:r>
            <a:r>
              <a:rPr sz="1400" b="0" i="0">
                <a:solidFill>
                  <a:srgbClr val="1C252B"/>
                </a:solidFill>
                <a:latin typeface="Segoe UI"/>
              </a:rPr>
              <a:t>Local Search and Optimisation</a:t>
            </a:r>
          </a:p>
        </p:txBody>
      </p:sp>
      <p:sp>
        <p:nvSpPr>
          <p:cNvPr id="75" name="!!chipUS7">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7">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7"/>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7  </a:t>
            </a:r>
            <a:r>
              <a:rPr sz="1400" b="0" i="0">
                <a:solidFill>
                  <a:srgbClr val="1C252B"/>
                </a:solidFill>
                <a:latin typeface="Segoe UI"/>
              </a:rPr>
              <a:t>Constraint Satisfaction</a:t>
            </a:r>
          </a:p>
        </p:txBody>
      </p:sp>
      <p:sp>
        <p:nvSpPr>
          <p:cNvPr id="78" name="!!chipUS9">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bUS9">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tUS9"/>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9  </a:t>
            </a:r>
            <a:r>
              <a:rPr sz="1400" b="0" i="0">
                <a:solidFill>
                  <a:srgbClr val="1C252B"/>
                </a:solidFill>
                <a:latin typeface="Segoe UI"/>
              </a:rPr>
              <a:t>Planning</a:t>
            </a:r>
          </a:p>
        </p:txBody>
      </p:sp>
      <p:sp>
        <p:nvSpPr>
          <p:cNvPr id="81" name="!!chipUS20">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bUS20">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chiptUS20"/>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20  </a:t>
            </a:r>
            <a:r>
              <a:rPr sz="1400" b="0" i="0">
                <a:solidFill>
                  <a:srgbClr val="1C252B"/>
                </a:solidFill>
                <a:latin typeface="Segoe UI"/>
              </a:rPr>
              <a:t>Recent Trends and Applications</a:t>
            </a:r>
          </a:p>
        </p:txBody>
      </p:sp>
      <p:sp>
        <p:nvSpPr>
          <p:cNvPr id="84" name="!!chipUS21">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bUS21">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tUS21"/>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21  </a:t>
            </a:r>
            <a:r>
              <a:rPr sz="1400" b="0" i="0">
                <a:solidFill>
                  <a:srgbClr val="1C252B"/>
                </a:solidFill>
                <a:latin typeface="Segoe UI"/>
              </a:rPr>
              <a:t>Responsible AI and Its Limits</a:t>
            </a:r>
          </a:p>
        </p:txBody>
      </p:sp>
      <p:sp>
        <p:nvSpPr>
          <p:cNvPr id="8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8" name="!!pfill">
            <a:extLst>
              <a:ext uri="{C183D7F6-B498-43B3-948B-1728B52AA6E4}">
                <adec:decorative xmlns:adec="http://schemas.microsoft.com/office/drawing/2017/decorative" val="1"/>
              </a:ext>
            </a:extLst>
          </p:cNvPr>
          <p:cNvSpPr/>
          <p:nvPr/>
        </p:nvSpPr>
        <p:spPr>
          <a:xfrm>
            <a:off x="0" y="0"/>
            <a:ext cx="45154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43     </a:t>
            </a:r>
            <a:fld id="{415C4D97-190A-46E5-9C9D-379036878ACE}"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Define</a:t>
            </a:r>
            <a:r>
              <a:rPr sz="2100" b="0" i="0">
                <a:solidFill>
                  <a:srgbClr val="1C252B"/>
                </a:solidFill>
                <a:latin typeface="Segoe UI"/>
              </a:rPr>
              <a:t> a heuristic function and </a:t>
            </a:r>
            <a:r>
              <a:rPr sz="2100" b="1" i="0">
                <a:solidFill>
                  <a:srgbClr val="1C252B"/>
                </a:solidFill>
                <a:latin typeface="Segoe UI"/>
              </a:rPr>
              <a:t>distinguish</a:t>
            </a:r>
            <a:r>
              <a:rPr sz="2100" b="0" i="0">
                <a:solidFill>
                  <a:srgbClr val="1C252B"/>
                </a:solidFill>
                <a:latin typeface="Segoe UI"/>
              </a:rPr>
              <a:t> greedy best-first search from </a:t>
            </a:r>
            <a:r>
              <a:rPr sz="2100" b="0" i="1">
                <a:solidFill>
                  <a:srgbClr val="1C252B"/>
                </a:solidFill>
                <a:latin typeface="Cambria"/>
              </a:rPr>
              <a:t>A</a:t>
            </a:r>
            <a:r>
              <a:rPr sz="1400" b="0" i="0" baseline="30000">
                <a:solidFill>
                  <a:srgbClr val="1C252B"/>
                </a:solidFill>
                <a:latin typeface="Cambria"/>
              </a:rPr>
              <a:t>∗</a:t>
            </a:r>
            <a:r>
              <a:rPr sz="2100" b="0" i="0">
                <a:solidFill>
                  <a:srgbClr val="1C252B"/>
                </a:solidFill>
                <a:latin typeface="Segoe UI"/>
              </a:rPr>
              <a:t> by the term each one minimises.</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State</a:t>
            </a:r>
            <a:r>
              <a:rPr sz="2100" b="0" i="0">
                <a:solidFill>
                  <a:srgbClr val="1C252B"/>
                </a:solidFill>
                <a:latin typeface="Segoe UI"/>
              </a:rPr>
              <a:t> admissibility and consistency precisely, and </a:t>
            </a:r>
            <a:r>
              <a:rPr sz="2100" b="1" i="0">
                <a:solidFill>
                  <a:srgbClr val="1C252B"/>
                </a:solidFill>
                <a:latin typeface="Segoe UI"/>
              </a:rPr>
              <a:t>explain</a:t>
            </a:r>
            <a:r>
              <a:rPr sz="2100" b="0" i="0">
                <a:solidFill>
                  <a:srgbClr val="1C252B"/>
                </a:solidFill>
                <a:latin typeface="Segoe UI"/>
              </a:rPr>
              <a:t> which one </a:t>
            </a:r>
            <a:r>
              <a:rPr sz="2100" b="0" i="1">
                <a:solidFill>
                  <a:srgbClr val="1C252B"/>
                </a:solidFill>
                <a:latin typeface="Cambria"/>
              </a:rPr>
              <a:t>A</a:t>
            </a:r>
            <a:r>
              <a:rPr sz="1400" b="0" i="0" baseline="30000">
                <a:solidFill>
                  <a:srgbClr val="1C252B"/>
                </a:solidFill>
                <a:latin typeface="Cambria"/>
              </a:rPr>
              <a:t>∗</a:t>
            </a:r>
            <a:r>
              <a:rPr sz="2100" b="0" i="0">
                <a:solidFill>
                  <a:srgbClr val="1C252B"/>
                </a:solidFill>
                <a:latin typeface="Segoe UI"/>
              </a:rPr>
              <a:t> needs for tree search and which for graph search.</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Prove</a:t>
            </a:r>
            <a:r>
              <a:rPr sz="2100" b="0" i="0">
                <a:solidFill>
                  <a:srgbClr val="1C252B"/>
                </a:solidFill>
                <a:latin typeface="Segoe UI"/>
              </a:rPr>
              <a:t> that </a:t>
            </a:r>
            <a:r>
              <a:rPr sz="2100" b="0" i="1">
                <a:solidFill>
                  <a:srgbClr val="1C252B"/>
                </a:solidFill>
                <a:latin typeface="Cambria"/>
              </a:rPr>
              <a:t>A</a:t>
            </a:r>
            <a:r>
              <a:rPr sz="1400" b="0" i="0" baseline="30000">
                <a:solidFill>
                  <a:srgbClr val="1C252B"/>
                </a:solidFill>
                <a:latin typeface="Cambria"/>
              </a:rPr>
              <a:t>∗</a:t>
            </a:r>
            <a:r>
              <a:rPr sz="2100" b="0" i="0">
                <a:solidFill>
                  <a:srgbClr val="1C252B"/>
                </a:solidFill>
                <a:latin typeface="Segoe UI"/>
              </a:rPr>
              <a:t> with an admissible heuristic returns an optimal solution, and </a:t>
            </a:r>
            <a:r>
              <a:rPr sz="2100" b="1" i="0">
                <a:solidFill>
                  <a:srgbClr val="1C252B"/>
                </a:solidFill>
                <a:latin typeface="Segoe UI"/>
              </a:rPr>
              <a:t>identify</a:t>
            </a:r>
            <a:r>
              <a:rPr sz="2100" b="0" i="0">
                <a:solidFill>
                  <a:srgbClr val="1C252B"/>
                </a:solidFill>
                <a:latin typeface="Segoe UI"/>
              </a:rPr>
              <a:t> the step of the proof that fails when the heuristic overestimates.</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758537"/>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Invent</a:t>
            </a:r>
            <a:r>
              <a:rPr sz="2100" b="0" i="0">
                <a:solidFill>
                  <a:srgbClr val="1C252B"/>
                </a:solidFill>
                <a:latin typeface="Segoe UI"/>
              </a:rPr>
              <a:t> an admissible heuristic for a new problem by relaxing a constraint, and </a:t>
            </a:r>
            <a:r>
              <a:rPr sz="2100" b="1" i="0">
                <a:solidFill>
                  <a:srgbClr val="1C252B"/>
                </a:solidFill>
                <a:latin typeface="Segoe UI"/>
              </a:rPr>
              <a:t>compare</a:t>
            </a:r>
            <a:r>
              <a:rPr sz="2100" b="0" i="0">
                <a:solidFill>
                  <a:srgbClr val="1C252B"/>
                </a:solidFill>
                <a:latin typeface="Segoe UI"/>
              </a:rPr>
              <a:t> two heuristics by dominance.</a:t>
            </a:r>
          </a:p>
        </p:txBody>
      </p:sp>
      <p:sp>
        <p:nvSpPr>
          <p:cNvPr id="20" name="!!ob4">
            <a:extLst>
              <a:ext uri="{C183D7F6-B498-43B3-948B-1728B52AA6E4}">
                <adec:decorative xmlns:adec="http://schemas.microsoft.com/office/drawing/2017/decorative" val="1"/>
              </a:ext>
            </a:extLst>
          </p:cNvPr>
          <p:cNvSpPr/>
          <p:nvPr/>
        </p:nvSpPr>
        <p:spPr>
          <a:xfrm>
            <a:off x="658368" y="5616244"/>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67568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607100"/>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Measure</a:t>
            </a:r>
            <a:r>
              <a:rPr sz="2100" b="0" i="0">
                <a:solidFill>
                  <a:srgbClr val="1C252B"/>
                </a:solidFill>
                <a:latin typeface="Segoe UI"/>
              </a:rPr>
              <a:t> the trade-off between nodes expanded and solution quality, and </a:t>
            </a:r>
            <a:r>
              <a:rPr sz="2100" b="1" i="0">
                <a:solidFill>
                  <a:srgbClr val="1C252B"/>
                </a:solidFill>
                <a:latin typeface="Segoe UI"/>
              </a:rPr>
              <a:t>choose</a:t>
            </a:r>
            <a:r>
              <a:rPr sz="2100" b="0" i="0">
                <a:solidFill>
                  <a:srgbClr val="1C252B"/>
                </a:solidFill>
                <a:latin typeface="Segoe UI"/>
              </a:rPr>
              <a:t> greedy or </a:t>
            </a:r>
            <a:r>
              <a:rPr sz="2100" b="0" i="1">
                <a:solidFill>
                  <a:srgbClr val="1C252B"/>
                </a:solidFill>
                <a:latin typeface="Cambria"/>
              </a:rPr>
              <a:t>A</a:t>
            </a:r>
            <a:r>
              <a:rPr sz="1400" b="0" i="0" baseline="30000">
                <a:solidFill>
                  <a:srgbClr val="1C252B"/>
                </a:solidFill>
                <a:latin typeface="Cambria"/>
              </a:rPr>
              <a:t>∗</a:t>
            </a:r>
            <a:r>
              <a:rPr sz="2100" b="0" i="0">
                <a:solidFill>
                  <a:srgbClr val="1C252B"/>
                </a:solidFill>
                <a:latin typeface="Segoe UI"/>
              </a:rPr>
              <a:t> with a justification.</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7731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43     </a:t>
            </a:r>
            <a:fld id="{EFFB811F-577E-4669-94A1-C86694EA82E1}" type="slidenum">
              <a:rPr lang="en-GB" sz="1000">
                <a:solidFill>
                  <a:srgbClr val="8795A1"/>
                </a:solidFill>
                <a:latin typeface="Segoe UI"/>
              </a:rPr>
              <a:t>4</a:t>
            </a:fld>
          </a:p>
        </p:txBody>
      </p:sp>
      <p:sp>
        <p:nvSpPr>
          <p:cNvPr id="7" name="!!term-heuristic func">
            <a:extLst>
              <a:ext uri="{C183D7F6-B498-43B3-948B-1728B52AA6E4}">
                <adec:decorative xmlns:adec="http://schemas.microsoft.com/office/drawing/2017/decorative" val="1"/>
              </a:ext>
            </a:extLst>
          </p:cNvPr>
          <p:cNvSpPr/>
          <p:nvPr/>
        </p:nvSpPr>
        <p:spPr>
          <a:xfrm>
            <a:off x="658368" y="1847088"/>
            <a:ext cx="201950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heuristic func">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heuristic func"/>
          <p:cNvSpPr txBox="1"/>
          <p:nvPr/>
        </p:nvSpPr>
        <p:spPr>
          <a:xfrm>
            <a:off x="950976" y="1962911"/>
            <a:ext cx="183662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heuristic function</a:t>
            </a:r>
          </a:p>
        </p:txBody>
      </p:sp>
      <p:sp>
        <p:nvSpPr>
          <p:cNvPr id="10" name="!!term-greedy best-fi">
            <a:extLst>
              <a:ext uri="{C183D7F6-B498-43B3-948B-1728B52AA6E4}">
                <adec:decorative xmlns:adec="http://schemas.microsoft.com/office/drawing/2017/decorative" val="1"/>
              </a:ext>
            </a:extLst>
          </p:cNvPr>
          <p:cNvSpPr/>
          <p:nvPr/>
        </p:nvSpPr>
        <p:spPr>
          <a:xfrm>
            <a:off x="2824179" y="1847088"/>
            <a:ext cx="258924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greedy best-fi">
            <a:extLst>
              <a:ext uri="{C183D7F6-B498-43B3-948B-1728B52AA6E4}">
                <adec:decorative xmlns:adec="http://schemas.microsoft.com/office/drawing/2017/decorative" val="1"/>
              </a:ext>
            </a:extLst>
          </p:cNvPr>
          <p:cNvSpPr/>
          <p:nvPr/>
        </p:nvSpPr>
        <p:spPr>
          <a:xfrm>
            <a:off x="295219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greedy best-fi"/>
          <p:cNvSpPr txBox="1"/>
          <p:nvPr/>
        </p:nvSpPr>
        <p:spPr>
          <a:xfrm>
            <a:off x="3116787" y="1962911"/>
            <a:ext cx="240636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greedy best-first search</a:t>
            </a:r>
          </a:p>
        </p:txBody>
      </p:sp>
      <p:sp>
        <p:nvSpPr>
          <p:cNvPr id="13" name="!!term-A∗">
            <a:extLst>
              <a:ext uri="{C183D7F6-B498-43B3-948B-1728B52AA6E4}">
                <adec:decorative xmlns:adec="http://schemas.microsoft.com/office/drawing/2017/decorative" val="1"/>
              </a:ext>
            </a:extLst>
          </p:cNvPr>
          <p:cNvSpPr/>
          <p:nvPr/>
        </p:nvSpPr>
        <p:spPr>
          <a:xfrm>
            <a:off x="5559726" y="1847088"/>
            <a:ext cx="70648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A∗">
            <a:extLst>
              <a:ext uri="{C183D7F6-B498-43B3-948B-1728B52AA6E4}">
                <adec:decorative xmlns:adec="http://schemas.microsoft.com/office/drawing/2017/decorative" val="1"/>
              </a:ext>
            </a:extLst>
          </p:cNvPr>
          <p:cNvSpPr/>
          <p:nvPr/>
        </p:nvSpPr>
        <p:spPr>
          <a:xfrm>
            <a:off x="568774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A∗"/>
          <p:cNvSpPr txBox="1"/>
          <p:nvPr/>
        </p:nvSpPr>
        <p:spPr>
          <a:xfrm>
            <a:off x="5852334" y="1962911"/>
            <a:ext cx="52360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a:t>
            </a:r>
          </a:p>
        </p:txBody>
      </p:sp>
      <p:sp>
        <p:nvSpPr>
          <p:cNvPr id="16" name="!!term-evaluation fun">
            <a:extLst>
              <a:ext uri="{C183D7F6-B498-43B3-948B-1728B52AA6E4}">
                <adec:decorative xmlns:adec="http://schemas.microsoft.com/office/drawing/2017/decorative" val="1"/>
              </a:ext>
            </a:extLst>
          </p:cNvPr>
          <p:cNvSpPr/>
          <p:nvPr/>
        </p:nvSpPr>
        <p:spPr>
          <a:xfrm>
            <a:off x="6412520" y="1847088"/>
            <a:ext cx="219541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evaluation fun">
            <a:extLst>
              <a:ext uri="{C183D7F6-B498-43B3-948B-1728B52AA6E4}">
                <adec:decorative xmlns:adec="http://schemas.microsoft.com/office/drawing/2017/decorative" val="1"/>
              </a:ext>
            </a:extLst>
          </p:cNvPr>
          <p:cNvSpPr/>
          <p:nvPr/>
        </p:nvSpPr>
        <p:spPr>
          <a:xfrm>
            <a:off x="654053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evaluation fun"/>
          <p:cNvSpPr txBox="1"/>
          <p:nvPr/>
        </p:nvSpPr>
        <p:spPr>
          <a:xfrm>
            <a:off x="6705128" y="1962911"/>
            <a:ext cx="201253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evaluation function</a:t>
            </a:r>
          </a:p>
        </p:txBody>
      </p:sp>
      <p:sp>
        <p:nvSpPr>
          <p:cNvPr id="19" name="!!term-path cost g">
            <a:extLst>
              <a:ext uri="{C183D7F6-B498-43B3-948B-1728B52AA6E4}">
                <adec:decorative xmlns:adec="http://schemas.microsoft.com/office/drawing/2017/decorative" val="1"/>
              </a:ext>
            </a:extLst>
          </p:cNvPr>
          <p:cNvSpPr/>
          <p:nvPr/>
        </p:nvSpPr>
        <p:spPr>
          <a:xfrm>
            <a:off x="8754240" y="1847088"/>
            <a:ext cx="146482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path cost g">
            <a:extLst>
              <a:ext uri="{C183D7F6-B498-43B3-948B-1728B52AA6E4}">
                <adec:decorative xmlns:adec="http://schemas.microsoft.com/office/drawing/2017/decorative" val="1"/>
              </a:ext>
            </a:extLst>
          </p:cNvPr>
          <p:cNvSpPr/>
          <p:nvPr/>
        </p:nvSpPr>
        <p:spPr>
          <a:xfrm>
            <a:off x="888225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path cost g"/>
          <p:cNvSpPr txBox="1"/>
          <p:nvPr/>
        </p:nvSpPr>
        <p:spPr>
          <a:xfrm>
            <a:off x="9046848" y="1962911"/>
            <a:ext cx="128194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path cost g</a:t>
            </a:r>
          </a:p>
        </p:txBody>
      </p:sp>
      <p:sp>
        <p:nvSpPr>
          <p:cNvPr id="22" name="!!term-heuristic esti">
            <a:extLst>
              <a:ext uri="{C183D7F6-B498-43B3-948B-1728B52AA6E4}">
                <adec:decorative xmlns:adec="http://schemas.microsoft.com/office/drawing/2017/decorative" val="1"/>
              </a:ext>
            </a:extLst>
          </p:cNvPr>
          <p:cNvSpPr/>
          <p:nvPr/>
        </p:nvSpPr>
        <p:spPr>
          <a:xfrm>
            <a:off x="658368" y="2468880"/>
            <a:ext cx="221845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heuristic esti">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heuristic esti"/>
          <p:cNvSpPr txBox="1"/>
          <p:nvPr/>
        </p:nvSpPr>
        <p:spPr>
          <a:xfrm>
            <a:off x="950976" y="2584704"/>
            <a:ext cx="203557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heuristic estimate h</a:t>
            </a:r>
          </a:p>
        </p:txBody>
      </p:sp>
      <p:sp>
        <p:nvSpPr>
          <p:cNvPr id="25" name="!!term-admissibility">
            <a:extLst>
              <a:ext uri="{C183D7F6-B498-43B3-948B-1728B52AA6E4}">
                <adec:decorative xmlns:adec="http://schemas.microsoft.com/office/drawing/2017/decorative" val="1"/>
              </a:ext>
            </a:extLst>
          </p:cNvPr>
          <p:cNvSpPr/>
          <p:nvPr/>
        </p:nvSpPr>
        <p:spPr>
          <a:xfrm>
            <a:off x="3023126" y="2468880"/>
            <a:ext cx="156394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admissibility">
            <a:extLst>
              <a:ext uri="{C183D7F6-B498-43B3-948B-1728B52AA6E4}">
                <adec:decorative xmlns:adec="http://schemas.microsoft.com/office/drawing/2017/decorative" val="1"/>
              </a:ext>
            </a:extLst>
          </p:cNvPr>
          <p:cNvSpPr/>
          <p:nvPr/>
        </p:nvSpPr>
        <p:spPr>
          <a:xfrm>
            <a:off x="315114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admissibility"/>
          <p:cNvSpPr txBox="1"/>
          <p:nvPr/>
        </p:nvSpPr>
        <p:spPr>
          <a:xfrm>
            <a:off x="3315734" y="2584704"/>
            <a:ext cx="138106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admissibility</a:t>
            </a:r>
          </a:p>
        </p:txBody>
      </p:sp>
      <p:sp>
        <p:nvSpPr>
          <p:cNvPr id="28" name="!!term-consistency">
            <a:extLst>
              <a:ext uri="{C183D7F6-B498-43B3-948B-1728B52AA6E4}">
                <adec:decorative xmlns:adec="http://schemas.microsoft.com/office/drawing/2017/decorative" val="1"/>
              </a:ext>
            </a:extLst>
          </p:cNvPr>
          <p:cNvSpPr/>
          <p:nvPr/>
        </p:nvSpPr>
        <p:spPr>
          <a:xfrm>
            <a:off x="4733371" y="2468880"/>
            <a:ext cx="149137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consistency">
            <a:extLst>
              <a:ext uri="{C183D7F6-B498-43B3-948B-1728B52AA6E4}">
                <adec:decorative xmlns:adec="http://schemas.microsoft.com/office/drawing/2017/decorative" val="1"/>
              </a:ext>
            </a:extLst>
          </p:cNvPr>
          <p:cNvSpPr/>
          <p:nvPr/>
        </p:nvSpPr>
        <p:spPr>
          <a:xfrm>
            <a:off x="486138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consistency"/>
          <p:cNvSpPr txBox="1"/>
          <p:nvPr/>
        </p:nvSpPr>
        <p:spPr>
          <a:xfrm>
            <a:off x="5025979" y="2584704"/>
            <a:ext cx="130849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consistency</a:t>
            </a:r>
          </a:p>
        </p:txBody>
      </p:sp>
      <p:sp>
        <p:nvSpPr>
          <p:cNvPr id="31" name="!!term-monotonicity">
            <a:extLst>
              <a:ext uri="{C183D7F6-B498-43B3-948B-1728B52AA6E4}">
                <adec:decorative xmlns:adec="http://schemas.microsoft.com/office/drawing/2017/decorative" val="1"/>
              </a:ext>
            </a:extLst>
          </p:cNvPr>
          <p:cNvSpPr/>
          <p:nvPr/>
        </p:nvSpPr>
        <p:spPr>
          <a:xfrm>
            <a:off x="6371048" y="2468880"/>
            <a:ext cx="165324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monotonicity">
            <a:extLst>
              <a:ext uri="{C183D7F6-B498-43B3-948B-1728B52AA6E4}">
                <adec:decorative xmlns:adec="http://schemas.microsoft.com/office/drawing/2017/decorative" val="1"/>
              </a:ext>
            </a:extLst>
          </p:cNvPr>
          <p:cNvSpPr/>
          <p:nvPr/>
        </p:nvSpPr>
        <p:spPr>
          <a:xfrm>
            <a:off x="649906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monotonicity"/>
          <p:cNvSpPr txBox="1"/>
          <p:nvPr/>
        </p:nvSpPr>
        <p:spPr>
          <a:xfrm>
            <a:off x="6663656" y="2584704"/>
            <a:ext cx="147036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monotonicity</a:t>
            </a:r>
          </a:p>
        </p:txBody>
      </p:sp>
      <p:sp>
        <p:nvSpPr>
          <p:cNvPr id="34" name="!!term-dominance">
            <a:extLst>
              <a:ext uri="{C183D7F6-B498-43B3-948B-1728B52AA6E4}">
                <adec:decorative xmlns:adec="http://schemas.microsoft.com/office/drawing/2017/decorative" val="1"/>
              </a:ext>
            </a:extLst>
          </p:cNvPr>
          <p:cNvSpPr/>
          <p:nvPr/>
        </p:nvSpPr>
        <p:spPr>
          <a:xfrm>
            <a:off x="8170598" y="2468880"/>
            <a:ext cx="145533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dominance">
            <a:extLst>
              <a:ext uri="{C183D7F6-B498-43B3-948B-1728B52AA6E4}">
                <adec:decorative xmlns:adec="http://schemas.microsoft.com/office/drawing/2017/decorative" val="1"/>
              </a:ext>
            </a:extLst>
          </p:cNvPr>
          <p:cNvSpPr/>
          <p:nvPr/>
        </p:nvSpPr>
        <p:spPr>
          <a:xfrm>
            <a:off x="829861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dominance"/>
          <p:cNvSpPr txBox="1"/>
          <p:nvPr/>
        </p:nvSpPr>
        <p:spPr>
          <a:xfrm>
            <a:off x="8463206" y="2584704"/>
            <a:ext cx="127245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dominance</a:t>
            </a:r>
          </a:p>
        </p:txBody>
      </p:sp>
      <p:sp>
        <p:nvSpPr>
          <p:cNvPr id="37" name="!!term-relaxed proble">
            <a:extLst>
              <a:ext uri="{C183D7F6-B498-43B3-948B-1728B52AA6E4}">
                <adec:decorative xmlns:adec="http://schemas.microsoft.com/office/drawing/2017/decorative" val="1"/>
              </a:ext>
            </a:extLst>
          </p:cNvPr>
          <p:cNvSpPr/>
          <p:nvPr/>
        </p:nvSpPr>
        <p:spPr>
          <a:xfrm>
            <a:off x="658368" y="3090672"/>
            <a:ext cx="193172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relaxed proble">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relaxed proble"/>
          <p:cNvSpPr txBox="1"/>
          <p:nvPr/>
        </p:nvSpPr>
        <p:spPr>
          <a:xfrm>
            <a:off x="950976" y="3206496"/>
            <a:ext cx="174884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relaxed problem</a:t>
            </a:r>
          </a:p>
        </p:txBody>
      </p:sp>
      <p:sp>
        <p:nvSpPr>
          <p:cNvPr id="40" name="!!term-critical path">
            <a:extLst>
              <a:ext uri="{C183D7F6-B498-43B3-948B-1728B52AA6E4}">
                <adec:decorative xmlns:adec="http://schemas.microsoft.com/office/drawing/2017/decorative" val="1"/>
              </a:ext>
            </a:extLst>
          </p:cNvPr>
          <p:cNvSpPr/>
          <p:nvPr/>
        </p:nvSpPr>
        <p:spPr>
          <a:xfrm>
            <a:off x="2736396" y="3090672"/>
            <a:ext cx="150047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critical path">
            <a:extLst>
              <a:ext uri="{C183D7F6-B498-43B3-948B-1728B52AA6E4}">
                <adec:decorative xmlns:adec="http://schemas.microsoft.com/office/drawing/2017/decorative" val="1"/>
              </a:ext>
            </a:extLst>
          </p:cNvPr>
          <p:cNvSpPr/>
          <p:nvPr/>
        </p:nvSpPr>
        <p:spPr>
          <a:xfrm>
            <a:off x="2864412"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critical path"/>
          <p:cNvSpPr txBox="1"/>
          <p:nvPr/>
        </p:nvSpPr>
        <p:spPr>
          <a:xfrm>
            <a:off x="3029004" y="3206496"/>
            <a:ext cx="131759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critical path</a:t>
            </a:r>
          </a:p>
        </p:txBody>
      </p:sp>
      <p:sp>
        <p:nvSpPr>
          <p:cNvPr id="43" name="!!term-effective bran">
            <a:extLst>
              <a:ext uri="{C183D7F6-B498-43B3-948B-1728B52AA6E4}">
                <adec:decorative xmlns:adec="http://schemas.microsoft.com/office/drawing/2017/decorative" val="1"/>
              </a:ext>
            </a:extLst>
          </p:cNvPr>
          <p:cNvSpPr/>
          <p:nvPr/>
        </p:nvSpPr>
        <p:spPr>
          <a:xfrm>
            <a:off x="4383176" y="3090672"/>
            <a:ext cx="277224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effective bran">
            <a:extLst>
              <a:ext uri="{C183D7F6-B498-43B3-948B-1728B52AA6E4}">
                <adec:decorative xmlns:adec="http://schemas.microsoft.com/office/drawing/2017/decorative" val="1"/>
              </a:ext>
            </a:extLst>
          </p:cNvPr>
          <p:cNvSpPr/>
          <p:nvPr/>
        </p:nvSpPr>
        <p:spPr>
          <a:xfrm>
            <a:off x="4511192"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effective bran"/>
          <p:cNvSpPr txBox="1"/>
          <p:nvPr/>
        </p:nvSpPr>
        <p:spPr>
          <a:xfrm>
            <a:off x="4675784" y="3206496"/>
            <a:ext cx="258936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effective branching factor</a:t>
            </a:r>
          </a:p>
        </p:txBody>
      </p:sp>
      <p:sp>
        <p:nvSpPr>
          <p:cNvPr id="46" name="!!term-optimally effi">
            <a:extLst>
              <a:ext uri="{C183D7F6-B498-43B3-948B-1728B52AA6E4}">
                <adec:decorative xmlns:adec="http://schemas.microsoft.com/office/drawing/2017/decorative" val="1"/>
              </a:ext>
            </a:extLst>
          </p:cNvPr>
          <p:cNvSpPr/>
          <p:nvPr/>
        </p:nvSpPr>
        <p:spPr>
          <a:xfrm>
            <a:off x="7301725" y="3090672"/>
            <a:ext cx="207422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optimally effi">
            <a:extLst>
              <a:ext uri="{C183D7F6-B498-43B3-948B-1728B52AA6E4}">
                <adec:decorative xmlns:adec="http://schemas.microsoft.com/office/drawing/2017/decorative" val="1"/>
              </a:ext>
            </a:extLst>
          </p:cNvPr>
          <p:cNvSpPr/>
          <p:nvPr/>
        </p:nvSpPr>
        <p:spPr>
          <a:xfrm>
            <a:off x="742974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optimally effi"/>
          <p:cNvSpPr txBox="1"/>
          <p:nvPr/>
        </p:nvSpPr>
        <p:spPr>
          <a:xfrm>
            <a:off x="7594333" y="3206496"/>
            <a:ext cx="189134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optimally efficient</a:t>
            </a:r>
          </a:p>
        </p:txBody>
      </p:sp>
      <p:sp>
        <p:nvSpPr>
          <p:cNvPr id="49"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pfill">
            <a:extLst>
              <a:ext uri="{C183D7F6-B498-43B3-948B-1728B52AA6E4}">
                <adec:decorative xmlns:adec="http://schemas.microsoft.com/office/drawing/2017/decorative" val="1"/>
              </a:ext>
            </a:extLst>
          </p:cNvPr>
          <p:cNvSpPr/>
          <p:nvPr/>
        </p:nvSpPr>
        <p:spPr>
          <a:xfrm>
            <a:off x="0" y="0"/>
            <a:ext cx="90308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43–53     </a:t>
            </a:r>
            <a:fld id="{A295AD68-C863-469F-A977-22BA79602020}" type="slidenum">
              <a:rPr lang="en-GB" sz="1000">
                <a:solidFill>
                  <a:srgbClr val="8795A1"/>
                </a:solidFill>
                <a:latin typeface="Segoe UI"/>
              </a:rPr>
              <a:t>5</a:t>
            </a:fld>
          </a:p>
        </p:txBody>
      </p:sp>
      <p:sp>
        <p:nvSpPr>
          <p:cNvPr id="7" name="!!ag0" descr="Go to section 5.1 A Sprint Where the Cost Matter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5.1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 Sprint Where the Cost Matters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43  ›</a:t>
            </a:r>
          </a:p>
        </p:txBody>
      </p:sp>
      <p:sp>
        <p:nvSpPr>
          <p:cNvPr id="12" name="!!ag1" descr="Go to section 5.2 Heuristics: Telling the Search Where the Goal I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5.2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Heuristics: Telling the Search Where the Goal Is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44  ›</a:t>
            </a:r>
          </a:p>
        </p:txBody>
      </p:sp>
      <p:sp>
        <p:nvSpPr>
          <p:cNvPr id="17" name="!!ag2" descr="Go to section 5.3 Greedy Best-First Search, and Why It Is Not Enough">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5.3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Greedy Best-First Search, and Why It Is Not Enough</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45  ›</a:t>
            </a:r>
          </a:p>
        </p:txBody>
      </p:sp>
      <p:sp>
        <p:nvSpPr>
          <p:cNvPr id="22" name="!!ag3" descr="Go to section 5.4 A* Search">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5.4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 Search</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45  ›</a:t>
            </a:r>
          </a:p>
        </p:txBody>
      </p:sp>
      <p:sp>
        <p:nvSpPr>
          <p:cNvPr id="27" name="!!ag4" descr="Go to section 5.5 Inventing a Heuristic">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5.5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Inventing a Heuristic</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47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12886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A Sprint Where the Cost Matters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5.1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5.1   A Sprint Where the Cost Matters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5.2   Heuristics: Telling the Search Where the Goal Is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5.3   Greedy Best-First Search, and Why It Is Not Enough</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5.4   A* Search</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5.5   Inventing a Heuristic</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§5.1     </a:t>
            </a:r>
            <a:fld id="{7CE50825-2806-4977-9131-79D5119C03AF}"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35463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Sprint Where the Cost Matters</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§5.1  ·  Handout p. 43     </a:t>
            </a:r>
            <a:fld id="{49C086C9-495A-4A6C-8A60-67DD2E01EF8C}"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071926"/>
          </a:xfrm>
          <a:prstGeom prst="roundRect">
            <a:avLst>
              <a:gd name="adj" fmla="val 2976"/>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071926"/>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So this chapter uses a slightly larger network with one genuine choice in it. The team must get a release out, and the testing can be done either way:</a:t>
            </a:r>
          </a:p>
        </p:txBody>
      </p:sp>
      <p:sp>
        <p:nvSpPr>
          <p:cNvPr id="10" name="body-1"/>
          <p:cNvSpPr txBox="1"/>
          <p:nvPr/>
        </p:nvSpPr>
        <p:spPr>
          <a:xfrm>
            <a:off x="1060704" y="2937992"/>
            <a:ext cx="10161727" cy="1606118"/>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1A5276"/>
                </a:solidFill>
                <a:latin typeface="Segoe UI"/>
              </a:rPr>
              <a:t>•	</a:t>
            </a:r>
            <a:r>
              <a:rPr sz="2300" b="1" i="0">
                <a:solidFill>
                  <a:srgbClr val="1A5276"/>
                </a:solidFill>
                <a:latin typeface="Segoe UI"/>
              </a:rPr>
              <a:t>Manual testing</a:t>
            </a:r>
            <a:r>
              <a:rPr sz="2300" b="0" i="0">
                <a:solidFill>
                  <a:srgbClr val="1C252B"/>
                </a:solidFill>
                <a:latin typeface="Segoe UI"/>
              </a:rPr>
              <a:t> — six days, needs only the API and authentication finished.</a:t>
            </a:r>
          </a:p>
          <a:p>
            <a:pPr algn="l" marL="257176" indent="-257176">
              <a:lnSpc>
                <a:spcPct val="104000"/>
              </a:lnSpc>
              <a:spcBef>
                <a:spcPts val="0"/>
              </a:spcBef>
              <a:spcAft>
                <a:spcPts val="0"/>
              </a:spcAft>
            </a:pPr>
            <a:r>
              <a:rPr sz="2300" b="1">
                <a:solidFill>
                  <a:srgbClr val="1A5276"/>
                </a:solidFill>
                <a:latin typeface="Segoe UI"/>
              </a:rPr>
              <a:t>•	</a:t>
            </a:r>
            <a:r>
              <a:rPr sz="2300" b="1" i="0">
                <a:solidFill>
                  <a:srgbClr val="1A5276"/>
                </a:solidFill>
                <a:latin typeface="Segoe UI"/>
              </a:rPr>
              <a:t>Automated testing</a:t>
            </a:r>
            <a:r>
              <a:rPr sz="2300" b="0" i="0">
                <a:solidFill>
                  <a:srgbClr val="1C252B"/>
                </a:solidFill>
                <a:latin typeface="Segoe UI"/>
              </a:rPr>
              <a:t> — two days, but it needs a test harness built first, which is three days. Five days in total, and the harness needs the schema.</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158040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sprint network</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5.1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§5.1  ·  Handout p. 43     </a:t>
            </a:r>
            <a:fld id="{DF03DEF3-D64E-4AC9-8EDA-F4B4514D8D15}" type="slidenum">
              <a:rPr lang="en-GB" sz="1000">
                <a:solidFill>
                  <a:srgbClr val="8795A1"/>
                </a:solidFill>
                <a:latin typeface="Segoe UI"/>
              </a:rPr>
              <a:t>8</a:t>
            </a:fld>
          </a:p>
        </p:txBody>
      </p:sp>
      <p:pic>
        <p:nvPicPr>
          <p:cNvPr id="6" name="!!figure" descr="Figure 5.1. The sprint network. Ten of the eleven tasks are unavoidable; the testing step can be reached two ways, and the cheaper route is not the shorter one in number of task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34708" y="1737360"/>
            <a:ext cx="7922277"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Ten of the eleven tasks are unavoidable; the testing step can be reached two ways, and the cheaper route is not the shorter one in number of tasks.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80617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Heuristic function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§5.2  ·  Handout p. 44     </a:t>
            </a:r>
            <a:fld id="{24BC7648-9D12-492A-8645-80AC249DF06D}"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69582"/>
          </a:xfrm>
          <a:prstGeom prst="roundRect">
            <a:avLst>
              <a:gd name="adj" fmla="val 2092"/>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69582"/>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a:t>
            </a:r>
            <a:r>
              <a:rPr sz="2000" b="1" i="0">
                <a:solidFill>
                  <a:srgbClr val="1A5276"/>
                </a:solidFill>
                <a:latin typeface="Segoe UI"/>
              </a:rPr>
              <a:t>heuristic</a:t>
            </a:r>
            <a:r>
              <a:rPr sz="2000" b="0" i="0">
                <a:solidFill>
                  <a:srgbClr val="1C252B"/>
                </a:solidFill>
                <a:latin typeface="Segoe UI"/>
              </a:rPr>
              <a:t> </a:t>
            </a:r>
            <a:r>
              <a:rPr sz="2000" b="0" i="1">
                <a:solidFill>
                  <a:srgbClr val="1C252B"/>
                </a:solidFill>
                <a:latin typeface="Cambria"/>
              </a:rPr>
              <a:t>h</a:t>
            </a:r>
            <a:r>
              <a:rPr sz="2000" b="0" i="0">
                <a:solidFill>
                  <a:srgbClr val="1C252B"/>
                </a:solidFill>
                <a:latin typeface="Cambria"/>
              </a:rPr>
              <a:t>(</a:t>
            </a:r>
            <a:r>
              <a:rPr sz="2000" b="0" i="1">
                <a:solidFill>
                  <a:srgbClr val="1C252B"/>
                </a:solidFill>
                <a:latin typeface="Cambria"/>
              </a:rPr>
              <a:t>n</a:t>
            </a:r>
            <a:r>
              <a:rPr sz="2000" b="0" i="0">
                <a:solidFill>
                  <a:srgbClr val="1C252B"/>
                </a:solidFill>
                <a:latin typeface="Cambria"/>
              </a:rPr>
              <a:t>)</a:t>
            </a:r>
            <a:r>
              <a:rPr sz="2000" b="0" i="0">
                <a:solidFill>
                  <a:srgbClr val="1C252B"/>
                </a:solidFill>
                <a:latin typeface="Segoe UI"/>
              </a:rPr>
              <a:t> estimates the cheapest cost from the state at node </a:t>
            </a:r>
            <a:r>
              <a:rPr sz="2000" b="0" i="1">
                <a:solidFill>
                  <a:srgbClr val="1C252B"/>
                </a:solidFill>
                <a:latin typeface="Cambria"/>
              </a:rPr>
              <a:t>n</a:t>
            </a:r>
            <a:r>
              <a:rPr sz="2000" b="0" i="0">
                <a:solidFill>
                  <a:srgbClr val="1C252B"/>
                </a:solidFill>
                <a:latin typeface="Segoe UI"/>
              </a:rPr>
              <a:t> to a goal state. By convention </a:t>
            </a:r>
            <a:r>
              <a:rPr sz="2000" b="0" i="1">
                <a:solidFill>
                  <a:srgbClr val="1C252B"/>
                </a:solidFill>
                <a:latin typeface="Cambria"/>
              </a:rPr>
              <a:t>h</a:t>
            </a:r>
            <a:r>
              <a:rPr sz="2000" b="0" i="0">
                <a:solidFill>
                  <a:srgbClr val="1C252B"/>
                </a:solidFill>
                <a:latin typeface="Cambria"/>
              </a:rPr>
              <a:t>(</a:t>
            </a:r>
            <a:r>
              <a:rPr sz="2000" b="0" i="1">
                <a:solidFill>
                  <a:srgbClr val="1C252B"/>
                </a:solidFill>
                <a:latin typeface="Cambria"/>
              </a:rPr>
              <a:t>n</a:t>
            </a:r>
            <a:r>
              <a:rPr sz="2000" b="0" i="0">
                <a:solidFill>
                  <a:srgbClr val="1C252B"/>
                </a:solidFill>
                <a:latin typeface="Cambria"/>
              </a:rPr>
              <a:t>) = 0</a:t>
            </a:r>
            <a:r>
              <a:rPr sz="2000" b="0" i="0">
                <a:solidFill>
                  <a:srgbClr val="1C252B"/>
                </a:solidFill>
                <a:latin typeface="Segoe UI"/>
              </a:rPr>
              <a:t> for every goal state.</a:t>
            </a:r>
          </a:p>
        </p:txBody>
      </p:sp>
      <p:sp>
        <p:nvSpPr>
          <p:cNvPr id="10" name="body-1"/>
          <p:cNvSpPr txBox="1"/>
          <p:nvPr/>
        </p:nvSpPr>
        <p:spPr>
          <a:xfrm>
            <a:off x="1060704" y="2821939"/>
            <a:ext cx="10161727"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1">
                <a:solidFill>
                  <a:srgbClr val="1C252B"/>
                </a:solidFill>
                <a:latin typeface="Cambria"/>
              </a:rPr>
              <a:t>h</a:t>
            </a:r>
            <a:r>
              <a:rPr sz="2000" b="0" i="0">
                <a:solidFill>
                  <a:srgbClr val="1C252B"/>
                </a:solidFill>
                <a:latin typeface="Segoe UI"/>
              </a:rPr>
              <a:t> is </a:t>
            </a:r>
            <a:r>
              <a:rPr sz="2000" b="1" i="0">
                <a:solidFill>
                  <a:srgbClr val="1A5276"/>
                </a:solidFill>
                <a:latin typeface="Segoe UI"/>
              </a:rPr>
              <a:t>admissible</a:t>
            </a:r>
            <a:r>
              <a:rPr sz="2000" b="0" i="0">
                <a:solidFill>
                  <a:srgbClr val="1C252B"/>
                </a:solidFill>
                <a:latin typeface="Segoe UI"/>
              </a:rPr>
              <a:t> if it never overestimates:</a:t>
            </a:r>
          </a:p>
        </p:txBody>
      </p:sp>
      <p:pic>
        <p:nvPicPr>
          <p:cNvPr id="11" name="body-2" descr="0 \;\le\; h(n) \;\le\; h^{*}(n) \quad\text{for every } 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278631"/>
            <a:ext cx="10161727" cy="341619"/>
          </a:xfrm>
          <a:prstGeom prst="rect">
            <a:avLst/>
          </a:prstGeom>
        </p:spPr>
      </p:pic>
      <p:sp>
        <p:nvSpPr>
          <p:cNvPr id="12" name="body-3"/>
          <p:cNvSpPr txBox="1"/>
          <p:nvPr/>
        </p:nvSpPr>
        <p:spPr>
          <a:xfrm>
            <a:off x="1060704" y="3759951"/>
            <a:ext cx="10161727"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where </a:t>
            </a:r>
            <a:r>
              <a:rPr sz="2000" b="0" i="1">
                <a:solidFill>
                  <a:srgbClr val="1C252B"/>
                </a:solidFill>
                <a:latin typeface="Cambria"/>
              </a:rPr>
              <a:t>h</a:t>
            </a:r>
            <a:r>
              <a:rPr sz="1300" b="0" i="0" baseline="30000">
                <a:solidFill>
                  <a:srgbClr val="1C252B"/>
                </a:solidFill>
                <a:latin typeface="Cambria"/>
              </a:rPr>
              <a:t>∗</a:t>
            </a:r>
            <a:r>
              <a:rPr sz="2000" b="0" i="0">
                <a:solidFill>
                  <a:srgbClr val="1C252B"/>
                </a:solidFill>
                <a:latin typeface="Cambria"/>
              </a:rPr>
              <a:t>(</a:t>
            </a:r>
            <a:r>
              <a:rPr sz="2000" b="0" i="1">
                <a:solidFill>
                  <a:srgbClr val="1C252B"/>
                </a:solidFill>
                <a:latin typeface="Cambria"/>
              </a:rPr>
              <a:t>n</a:t>
            </a:r>
            <a:r>
              <a:rPr sz="2000" b="0" i="0">
                <a:solidFill>
                  <a:srgbClr val="1C252B"/>
                </a:solidFill>
                <a:latin typeface="Cambria"/>
              </a:rPr>
              <a:t>)</a:t>
            </a:r>
            <a:r>
              <a:rPr sz="2000" b="0" i="0">
                <a:solidFill>
                  <a:srgbClr val="1C252B"/>
                </a:solidFill>
                <a:latin typeface="Segoe UI"/>
              </a:rPr>
              <a:t> is the true cheapest completion cost from </a:t>
            </a:r>
            <a:r>
              <a:rPr sz="2000" b="0" i="1">
                <a:solidFill>
                  <a:srgbClr val="1C252B"/>
                </a:solidFill>
                <a:latin typeface="Cambria"/>
              </a:rPr>
              <a:t>n</a:t>
            </a:r>
            <a:r>
              <a:rPr sz="2000" b="0" i="0">
                <a:solidFill>
                  <a:srgbClr val="1C252B"/>
                </a:solidFill>
                <a:latin typeface="Segoe UI"/>
              </a:rPr>
              <a:t>.</a:t>
            </a:r>
          </a:p>
        </p:txBody>
      </p:sp>
      <p:sp>
        <p:nvSpPr>
          <p:cNvPr id="13" name="body-4"/>
          <p:cNvSpPr txBox="1"/>
          <p:nvPr/>
        </p:nvSpPr>
        <p:spPr>
          <a:xfrm>
            <a:off x="1060704" y="4216643"/>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1">
                <a:solidFill>
                  <a:srgbClr val="1C252B"/>
                </a:solidFill>
                <a:latin typeface="Cambria"/>
              </a:rPr>
              <a:t>h</a:t>
            </a:r>
            <a:r>
              <a:rPr sz="2000" b="0" i="0">
                <a:solidFill>
                  <a:srgbClr val="1C252B"/>
                </a:solidFill>
                <a:latin typeface="Segoe UI"/>
              </a:rPr>
              <a:t> is </a:t>
            </a:r>
            <a:r>
              <a:rPr sz="2000" b="1" i="0">
                <a:solidFill>
                  <a:srgbClr val="1A5276"/>
                </a:solidFill>
                <a:latin typeface="Segoe UI"/>
              </a:rPr>
              <a:t>consistent</a:t>
            </a:r>
            <a:r>
              <a:rPr sz="2000" b="0" i="0">
                <a:solidFill>
                  <a:srgbClr val="1C252B"/>
                </a:solidFill>
                <a:latin typeface="Segoe UI"/>
              </a:rPr>
              <a:t> (or </a:t>
            </a:r>
            <a:r>
              <a:rPr sz="2000" b="1" i="0">
                <a:solidFill>
                  <a:srgbClr val="1A5276"/>
                </a:solidFill>
                <a:latin typeface="Segoe UI"/>
              </a:rPr>
              <a:t>monotonic</a:t>
            </a:r>
            <a:r>
              <a:rPr sz="2000" b="0" i="0">
                <a:solidFill>
                  <a:srgbClr val="1C252B"/>
                </a:solidFill>
                <a:latin typeface="Segoe UI"/>
              </a:rPr>
              <a:t>) if for every node </a:t>
            </a:r>
            <a:r>
              <a:rPr sz="2000" b="0" i="1">
                <a:solidFill>
                  <a:srgbClr val="1C252B"/>
                </a:solidFill>
                <a:latin typeface="Cambria"/>
              </a:rPr>
              <a:t>n</a:t>
            </a:r>
            <a:r>
              <a:rPr sz="2000" b="0" i="0">
                <a:solidFill>
                  <a:srgbClr val="1C252B"/>
                </a:solidFill>
                <a:latin typeface="Segoe UI"/>
              </a:rPr>
              <a:t> and every successor </a:t>
            </a:r>
            <a:r>
              <a:rPr sz="2000" b="0" i="1">
                <a:solidFill>
                  <a:srgbClr val="1C252B"/>
                </a:solidFill>
                <a:latin typeface="Cambria"/>
              </a:rPr>
              <a:t>n</a:t>
            </a:r>
            <a:r>
              <a:rPr sz="2000" b="0" i="0">
                <a:solidFill>
                  <a:srgbClr val="1C252B"/>
                </a:solidFill>
                <a:latin typeface="Cambria"/>
              </a:rPr>
              <a:t>′</a:t>
            </a:r>
            <a:r>
              <a:rPr sz="2000" b="0" i="0">
                <a:solidFill>
                  <a:srgbClr val="1C252B"/>
                </a:solidFill>
                <a:latin typeface="Segoe UI"/>
              </a:rPr>
              <a:t> reached by an action of cost </a:t>
            </a:r>
            <a:r>
              <a:rPr sz="2000" b="0" i="1">
                <a:solidFill>
                  <a:srgbClr val="1C252B"/>
                </a:solidFill>
                <a:latin typeface="Cambria"/>
              </a:rPr>
              <a:t>c</a:t>
            </a:r>
            <a:r>
              <a:rPr sz="2000" b="0" i="0">
                <a:solidFill>
                  <a:srgbClr val="1C252B"/>
                </a:solidFill>
                <a:latin typeface="Cambria"/>
              </a:rPr>
              <a:t>(</a:t>
            </a:r>
            <a:r>
              <a:rPr sz="2000" b="0" i="1">
                <a:solidFill>
                  <a:srgbClr val="1C252B"/>
                </a:solidFill>
                <a:latin typeface="Cambria"/>
              </a:rPr>
              <a:t>n</a:t>
            </a:r>
            <a:r>
              <a:rPr sz="2000" b="0" i="0">
                <a:solidFill>
                  <a:srgbClr val="1C252B"/>
                </a:solidFill>
                <a:latin typeface="Cambria"/>
              </a:rPr>
              <a:t>,</a:t>
            </a:r>
            <a:r>
              <a:rPr sz="2000" b="0" i="1">
                <a:solidFill>
                  <a:srgbClr val="1C252B"/>
                </a:solidFill>
                <a:latin typeface="Cambria"/>
              </a:rPr>
              <a:t>n</a:t>
            </a:r>
            <a:r>
              <a:rPr sz="2000" b="0" i="0">
                <a:solidFill>
                  <a:srgbClr val="1C252B"/>
                </a:solidFill>
                <a:latin typeface="Cambria"/>
              </a:rPr>
              <a:t>′)</a:t>
            </a:r>
            <a:r>
              <a:rPr sz="2000" b="0" i="0">
                <a:solidFill>
                  <a:srgbClr val="1C252B"/>
                </a:solidFill>
                <a:latin typeface="Segoe UI"/>
              </a:rPr>
              <a:t>:</a:t>
            </a:r>
          </a:p>
        </p:txBody>
      </p:sp>
      <p:pic>
        <p:nvPicPr>
          <p:cNvPr id="14" name="body-5" descr="h(n) \;\le\; c(n,n') + h(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0704" y="4990327"/>
            <a:ext cx="10161727" cy="349026"/>
          </a:xfrm>
          <a:prstGeom prst="rect">
            <a:avLst/>
          </a:prstGeom>
        </p:spPr>
      </p:pic>
      <p:sp>
        <p:nvSpPr>
          <p:cNvPr id="15" name="body-6"/>
          <p:cNvSpPr txBox="1"/>
          <p:nvPr/>
        </p:nvSpPr>
        <p:spPr>
          <a:xfrm>
            <a:off x="1060704" y="5479054"/>
            <a:ext cx="10161727"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Consistency implies admissibility. The reverse does not hold.</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203194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Greedy search ignores the road already travelled</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§5.3  ·  Handout p. 45     </a:t>
            </a:r>
            <a:fld id="{5C590363-A881-4FCE-9046-5F1C7CE5C212}"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34232"/>
          </a:xfrm>
          <a:prstGeom prst="roundRect">
            <a:avLst>
              <a:gd name="adj" fmla="val 2742"/>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34232"/>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defect is structural, not a matter of a better heuristic. Greedy search minimises </a:t>
            </a:r>
            <a:r>
              <a:rPr sz="2300" b="0" i="1">
                <a:solidFill>
                  <a:srgbClr val="1C252B"/>
                </a:solidFill>
                <a:latin typeface="Cambria"/>
              </a:rPr>
              <a:t>h</a:t>
            </a:r>
            <a:r>
              <a:rPr sz="2300" b="0" i="0">
                <a:solidFill>
                  <a:srgbClr val="1C252B"/>
                </a:solidFill>
                <a:latin typeface="Segoe UI"/>
              </a:rPr>
              <a:t>, the estimated cost </a:t>
            </a:r>
            <a:r>
              <a:rPr sz="2300" b="0" i="1">
                <a:solidFill>
                  <a:srgbClr val="1C252B"/>
                </a:solidFill>
                <a:latin typeface="Segoe UI"/>
              </a:rPr>
              <a:t>remaining</a:t>
            </a:r>
            <a:r>
              <a:rPr sz="2300" b="0" i="0">
                <a:solidFill>
                  <a:srgbClr val="1C252B"/>
                </a:solidFill>
                <a:latin typeface="Segoe UI"/>
              </a:rPr>
              <a:t>. It never consults </a:t>
            </a:r>
            <a:r>
              <a:rPr sz="2300" b="0" i="1">
                <a:solidFill>
                  <a:srgbClr val="1C252B"/>
                </a:solidFill>
                <a:latin typeface="Cambria"/>
              </a:rPr>
              <a:t>g</a:t>
            </a:r>
            <a:r>
              <a:rPr sz="2300" b="0" i="0">
                <a:solidFill>
                  <a:srgbClr val="1C252B"/>
                </a:solidFill>
                <a:latin typeface="Segoe UI"/>
              </a:rPr>
              <a:t>, the cost already </a:t>
            </a:r>
            <a:r>
              <a:rPr sz="2300" b="0" i="1">
                <a:solidFill>
                  <a:srgbClr val="1C252B"/>
                </a:solidFill>
                <a:latin typeface="Segoe UI"/>
              </a:rPr>
              <a:t>incurred</a:t>
            </a:r>
            <a:r>
              <a:rPr sz="2300" b="0" i="0">
                <a:solidFill>
                  <a:srgbClr val="1C252B"/>
                </a:solidFill>
                <a:latin typeface="Segoe UI"/>
              </a:rPr>
              <a:t>. So it cannot trade a more expensive first step against a cheaper remainder — which is precisely what investing in a test harness is.</a:t>
            </a:r>
          </a:p>
        </p:txBody>
      </p:sp>
      <p:sp>
        <p:nvSpPr>
          <p:cNvPr id="10" name="body-1"/>
          <p:cNvSpPr txBox="1"/>
          <p:nvPr/>
        </p:nvSpPr>
        <p:spPr>
          <a:xfrm>
            <a:off x="1060704" y="3667074"/>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Any decision of the form “spend more now to spend less later” is invisible to greedy search. That covers tooling, automation, refactoring and nearly every technical-debt decision in software delivery.</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25772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A* Search</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5.4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5.1   A Sprint Where the Cost Matters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5.2   Heuristics: Telling the Search Where the Goal Is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5.3   Greedy Best-First Search, and Why It Is Not Enough</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5.4   A* Search</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5.5   Inventing a Heuristic</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§5.4     </a:t>
            </a:r>
            <a:fld id="{BF106358-756D-4607-AD30-EAB567650570}" type="slidenum">
              <a:rPr lang="en-GB" sz="1000">
                <a:solidFill>
                  <a:srgbClr val="8795A1"/>
                </a:solidFill>
                <a:latin typeface="Segoe UI"/>
              </a:rPr>
              <a:t>11</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48349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Search</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§5.4  ·  Handout p. 45     </a:t>
            </a:r>
            <a:fld id="{25C4B0D1-4E5A-4233-9BA8-24CF2EE434B2}"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539814"/>
          </a:xfrm>
          <a:prstGeom prst="roundRect">
            <a:avLst>
              <a:gd name="adj" fmla="val 5938"/>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53981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Add the two terms:</a:t>
            </a:r>
          </a:p>
        </p:txBody>
      </p:sp>
      <p:pic>
        <p:nvPicPr>
          <p:cNvPr id="10" name="body-1" descr="f(n) \;=\; g(n) + h(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573451"/>
            <a:ext cx="10161727" cy="392826"/>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70926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two routes as cost</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5.2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§5.4  ·  Handout p. 45     </a:t>
            </a:r>
            <a:fld id="{B4027172-49E4-4B90-B82A-2163F0CEF79F}" type="slidenum">
              <a:rPr lang="en-GB" sz="1000">
                <a:solidFill>
                  <a:srgbClr val="8795A1"/>
                </a:solidFill>
                <a:latin typeface="Segoe UI"/>
              </a:rPr>
              <a:t>13</a:t>
            </a:fld>
          </a:p>
        </p:txBody>
      </p:sp>
      <p:pic>
        <p:nvPicPr>
          <p:cNvPr id="6" name="!!figure" descr="Figure 5.2. The two routes as cost. Only an algorithm that adds the cost already spent to the cost still expected can see that three days of harness buys four days of testi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59397" y="1737360"/>
            <a:ext cx="9672899"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Only an algorithm that adds the cost already spent to the cost still expected can see that three days of harness buys four days of testing.</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93503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optimality argument, and where it breaks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§5.4.1  ·  Handout p. 46     </a:t>
            </a:r>
            <a:fld id="{80CD5B90-3BE5-4A67-82D2-44F878EF8FA2}"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70395"/>
          </a:xfrm>
          <a:prstGeom prst="roundRect">
            <a:avLst>
              <a:gd name="adj" fmla="val 214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7039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Claim.</a:t>
            </a:r>
            <a:r>
              <a:rPr sz="1900" b="0" i="0">
                <a:solidFill>
                  <a:srgbClr val="1C252B"/>
                </a:solidFill>
                <a:latin typeface="Segoe UI"/>
              </a:rPr>
              <a:t> With an admissible </a:t>
            </a:r>
            <a:r>
              <a:rPr sz="1900" b="0" i="1">
                <a:solidFill>
                  <a:srgbClr val="1C252B"/>
                </a:solidFill>
                <a:latin typeface="Cambria"/>
              </a:rPr>
              <a:t>h</a:t>
            </a:r>
            <a:r>
              <a:rPr sz="1900" b="0" i="0">
                <a:solidFill>
                  <a:srgbClr val="1C252B"/>
                </a:solidFill>
                <a:latin typeface="Segoe UI"/>
              </a:rPr>
              <a:t>, the first goal node </a:t>
            </a:r>
            <a:r>
              <a:rPr sz="1900" b="0" i="1">
                <a:solidFill>
                  <a:srgbClr val="1C252B"/>
                </a:solidFill>
                <a:latin typeface="Cambria"/>
              </a:rPr>
              <a:t>A</a:t>
            </a:r>
            <a:r>
              <a:rPr sz="1250" b="0" i="0" baseline="30000">
                <a:solidFill>
                  <a:srgbClr val="1C252B"/>
                </a:solidFill>
                <a:latin typeface="Cambria"/>
              </a:rPr>
              <a:t>∗</a:t>
            </a:r>
            <a:r>
              <a:rPr sz="1900" b="0" i="0">
                <a:solidFill>
                  <a:srgbClr val="1C252B"/>
                </a:solidFill>
                <a:latin typeface="Segoe UI"/>
              </a:rPr>
              <a:t> pops is on an optimal path.</a:t>
            </a:r>
          </a:p>
        </p:txBody>
      </p:sp>
      <p:sp>
        <p:nvSpPr>
          <p:cNvPr id="10" name="body-1"/>
          <p:cNvSpPr txBox="1"/>
          <p:nvPr/>
        </p:nvSpPr>
        <p:spPr>
          <a:xfrm>
            <a:off x="1042416" y="2445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Proof.</a:t>
            </a:r>
            <a:r>
              <a:rPr sz="1900" b="0" i="0">
                <a:solidFill>
                  <a:srgbClr val="1C252B"/>
                </a:solidFill>
                <a:latin typeface="Segoe UI"/>
              </a:rPr>
              <a:t> Let </a:t>
            </a:r>
            <a:r>
              <a:rPr sz="1900" b="0" i="1">
                <a:solidFill>
                  <a:srgbClr val="1C252B"/>
                </a:solidFill>
                <a:latin typeface="Cambria"/>
              </a:rPr>
              <a:t>G</a:t>
            </a:r>
            <a:r>
              <a:rPr sz="1900" b="0" i="0">
                <a:solidFill>
                  <a:srgbClr val="1C252B"/>
                </a:solidFill>
                <a:latin typeface="Segoe UI"/>
              </a:rPr>
              <a:t> be the goal node popped, and suppose for contradiction that its cost </a:t>
            </a:r>
            <a:r>
              <a:rPr sz="1900" b="0" i="1">
                <a:solidFill>
                  <a:srgbClr val="1C252B"/>
                </a:solidFill>
                <a:latin typeface="Cambria"/>
              </a:rPr>
              <a:t>g</a:t>
            </a:r>
            <a:r>
              <a:rPr sz="1900" b="0" i="0">
                <a:solidFill>
                  <a:srgbClr val="1C252B"/>
                </a:solidFill>
                <a:latin typeface="Cambria"/>
              </a:rPr>
              <a:t>(</a:t>
            </a:r>
            <a:r>
              <a:rPr sz="1900" b="0" i="1">
                <a:solidFill>
                  <a:srgbClr val="1C252B"/>
                </a:solidFill>
                <a:latin typeface="Cambria"/>
              </a:rPr>
              <a:t>G</a:t>
            </a:r>
            <a:r>
              <a:rPr sz="1900" b="0" i="0">
                <a:solidFill>
                  <a:srgbClr val="1C252B"/>
                </a:solidFill>
                <a:latin typeface="Cambria"/>
              </a:rPr>
              <a:t>)</a:t>
            </a:r>
            <a:r>
              <a:rPr sz="1900" b="0" i="0">
                <a:solidFill>
                  <a:srgbClr val="1C252B"/>
                </a:solidFill>
                <a:latin typeface="Segoe UI"/>
              </a:rPr>
              <a:t> exceeds the optimal cost </a:t>
            </a:r>
            <a:r>
              <a:rPr sz="1900" b="0" i="1">
                <a:solidFill>
                  <a:srgbClr val="1C252B"/>
                </a:solidFill>
                <a:latin typeface="Cambria"/>
              </a:rPr>
              <a:t>C</a:t>
            </a:r>
            <a:r>
              <a:rPr sz="1250" b="0" i="0" baseline="30000">
                <a:solidFill>
                  <a:srgbClr val="1C252B"/>
                </a:solidFill>
                <a:latin typeface="Cambria"/>
              </a:rPr>
              <a:t>∗</a:t>
            </a:r>
            <a:r>
              <a:rPr sz="1900" b="0" i="0">
                <a:solidFill>
                  <a:srgbClr val="1C252B"/>
                </a:solidFill>
                <a:latin typeface="Segoe UI"/>
              </a:rPr>
              <a:t>. Since </a:t>
            </a:r>
            <a:r>
              <a:rPr sz="1900" b="0" i="1">
                <a:solidFill>
                  <a:srgbClr val="1C252B"/>
                </a:solidFill>
                <a:latin typeface="Cambria"/>
              </a:rPr>
              <a:t>h</a:t>
            </a:r>
            <a:r>
              <a:rPr sz="1900" b="0" i="0">
                <a:solidFill>
                  <a:srgbClr val="1C252B"/>
                </a:solidFill>
                <a:latin typeface="Cambria"/>
              </a:rPr>
              <a:t>(</a:t>
            </a:r>
            <a:r>
              <a:rPr sz="1900" b="0" i="1">
                <a:solidFill>
                  <a:srgbClr val="1C252B"/>
                </a:solidFill>
                <a:latin typeface="Cambria"/>
              </a:rPr>
              <a:t>G</a:t>
            </a:r>
            <a:r>
              <a:rPr sz="1900" b="0" i="0">
                <a:solidFill>
                  <a:srgbClr val="1C252B"/>
                </a:solidFill>
                <a:latin typeface="Cambria"/>
              </a:rPr>
              <a:t>) = 0</a:t>
            </a:r>
            <a:r>
              <a:rPr sz="1900" b="0" i="0">
                <a:solidFill>
                  <a:srgbClr val="1C252B"/>
                </a:solidFill>
                <a:latin typeface="Segoe UI"/>
              </a:rPr>
              <a:t> for a goal,</a:t>
            </a:r>
          </a:p>
        </p:txBody>
      </p:sp>
      <p:pic>
        <p:nvPicPr>
          <p:cNvPr id="11" name="body-2" descr="f(G) \;=\; g(G) \;&gt;\; C^{*}."/>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180537"/>
            <a:ext cx="10234879" cy="324520"/>
          </a:xfrm>
          <a:prstGeom prst="rect">
            <a:avLst/>
          </a:prstGeom>
        </p:spPr>
      </p:pic>
      <p:sp>
        <p:nvSpPr>
          <p:cNvPr id="12" name="body-3"/>
          <p:cNvSpPr txBox="1"/>
          <p:nvPr/>
        </p:nvSpPr>
        <p:spPr>
          <a:xfrm>
            <a:off x="1042416" y="3637772"/>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Now consider any optimal solution path. At the moment </a:t>
            </a:r>
            <a:r>
              <a:rPr sz="1900" b="0" i="1">
                <a:solidFill>
                  <a:srgbClr val="1C252B"/>
                </a:solidFill>
                <a:latin typeface="Cambria"/>
              </a:rPr>
              <a:t>G</a:t>
            </a:r>
            <a:r>
              <a:rPr sz="1900" b="0" i="0">
                <a:solidFill>
                  <a:srgbClr val="1C252B"/>
                </a:solidFill>
                <a:latin typeface="Segoe UI"/>
              </a:rPr>
              <a:t> was popped, some node </a:t>
            </a:r>
            <a:r>
              <a:rPr sz="1900" b="0" i="1">
                <a:solidFill>
                  <a:srgbClr val="1C252B"/>
                </a:solidFill>
                <a:latin typeface="Cambria"/>
              </a:rPr>
              <a:t>n</a:t>
            </a:r>
            <a:r>
              <a:rPr sz="1900" b="0" i="0">
                <a:solidFill>
                  <a:srgbClr val="1C252B"/>
                </a:solidFill>
                <a:latin typeface="Segoe UI"/>
              </a:rPr>
              <a:t> on that optimal path was still in the frontier (the start is on it, and the path has not been fully expanded, so an unexpanded node on it exists). For that </a:t>
            </a:r>
            <a:r>
              <a:rPr sz="1900" b="0" i="1">
                <a:solidFill>
                  <a:srgbClr val="1C252B"/>
                </a:solidFill>
                <a:latin typeface="Cambria"/>
              </a:rPr>
              <a:t>n</a:t>
            </a:r>
            <a:r>
              <a:rPr sz="1900" b="0" i="0">
                <a:solidFill>
                  <a:srgbClr val="1C252B"/>
                </a:solidFill>
                <a:latin typeface="Segoe UI"/>
              </a:rPr>
              <a:t>, admissibility gives</a:t>
            </a:r>
          </a:p>
        </p:txBody>
      </p:sp>
      <p:pic>
        <p:nvPicPr>
          <p:cNvPr id="13" name="body-4" descr="f(n) \;=\; g(n) + h(n) \;\le\; g(n) + h^{*}(n) \;=\; C^{*}."/>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4673914"/>
            <a:ext cx="10234879" cy="324520"/>
          </a:xfrm>
          <a:prstGeom prst="rect">
            <a:avLst/>
          </a:prstGeom>
        </p:spPr>
      </p:pic>
      <p:sp>
        <p:nvSpPr>
          <p:cNvPr id="14" name="body-5"/>
          <p:cNvSpPr txBox="1"/>
          <p:nvPr/>
        </p:nvSpPr>
        <p:spPr>
          <a:xfrm>
            <a:off x="1042416" y="5131150"/>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So </a:t>
            </a:r>
            <a:r>
              <a:rPr sz="1900" b="0" i="1">
                <a:solidFill>
                  <a:srgbClr val="1C252B"/>
                </a:solidFill>
                <a:latin typeface="Cambria"/>
              </a:rPr>
              <a:t>f</a:t>
            </a:r>
            <a:r>
              <a:rPr sz="1900" b="0" i="0">
                <a:solidFill>
                  <a:srgbClr val="1C252B"/>
                </a:solidFill>
                <a:latin typeface="Cambria"/>
              </a:rPr>
              <a:t>(</a:t>
            </a:r>
            <a:r>
              <a:rPr sz="1900" b="0" i="1">
                <a:solidFill>
                  <a:srgbClr val="1C252B"/>
                </a:solidFill>
                <a:latin typeface="Cambria"/>
              </a:rPr>
              <a:t>n</a:t>
            </a:r>
            <a:r>
              <a:rPr sz="1900" b="0" i="0">
                <a:solidFill>
                  <a:srgbClr val="1C252B"/>
                </a:solidFill>
                <a:latin typeface="Cambria"/>
              </a:rPr>
              <a:t>) ≤ </a:t>
            </a:r>
            <a:r>
              <a:rPr sz="1900" b="0" i="1">
                <a:solidFill>
                  <a:srgbClr val="1C252B"/>
                </a:solidFill>
                <a:latin typeface="Cambria"/>
              </a:rPr>
              <a:t>C</a:t>
            </a:r>
            <a:r>
              <a:rPr sz="1250" b="0" i="0" baseline="30000">
                <a:solidFill>
                  <a:srgbClr val="1C252B"/>
                </a:solidFill>
                <a:latin typeface="Cambria"/>
              </a:rPr>
              <a:t>∗</a:t>
            </a:r>
            <a:r>
              <a:rPr sz="1900" b="0" i="0">
                <a:solidFill>
                  <a:srgbClr val="1C252B"/>
                </a:solidFill>
                <a:latin typeface="Cambria"/>
              </a:rPr>
              <a:t> &lt; </a:t>
            </a:r>
            <a:r>
              <a:rPr sz="1900" b="0" i="1">
                <a:solidFill>
                  <a:srgbClr val="1C252B"/>
                </a:solidFill>
                <a:latin typeface="Cambria"/>
              </a:rPr>
              <a:t>f</a:t>
            </a:r>
            <a:r>
              <a:rPr sz="1900" b="0" i="0">
                <a:solidFill>
                  <a:srgbClr val="1C252B"/>
                </a:solidFill>
                <a:latin typeface="Cambria"/>
              </a:rPr>
              <a:t>(</a:t>
            </a:r>
            <a:r>
              <a:rPr sz="1900" b="0" i="1">
                <a:solidFill>
                  <a:srgbClr val="1C252B"/>
                </a:solidFill>
                <a:latin typeface="Cambria"/>
              </a:rPr>
              <a:t>G</a:t>
            </a:r>
            <a:r>
              <a:rPr sz="1900" b="0" i="0">
                <a:solidFill>
                  <a:srgbClr val="1C252B"/>
                </a:solidFill>
                <a:latin typeface="Cambria"/>
              </a:rPr>
              <a:t>)</a:t>
            </a:r>
            <a:r>
              <a:rPr sz="1900" b="0" i="0">
                <a:solidFill>
                  <a:srgbClr val="1C252B"/>
                </a:solidFill>
                <a:latin typeface="Segoe UI"/>
              </a:rPr>
              <a:t>, and </a:t>
            </a:r>
            <a:r>
              <a:rPr sz="1900" b="0" i="1">
                <a:solidFill>
                  <a:srgbClr val="1C252B"/>
                </a:solidFill>
                <a:latin typeface="Cambria"/>
              </a:rPr>
              <a:t>n</a:t>
            </a:r>
            <a:r>
              <a:rPr sz="1900" b="0" i="0">
                <a:solidFill>
                  <a:srgbClr val="1C252B"/>
                </a:solidFill>
                <a:latin typeface="Segoe UI"/>
              </a:rPr>
              <a:t> had a strictly smaller </a:t>
            </a:r>
            <a:r>
              <a:rPr sz="1900" b="0" i="1">
                <a:solidFill>
                  <a:srgbClr val="1C252B"/>
                </a:solidFill>
                <a:latin typeface="Cambria"/>
              </a:rPr>
              <a:t>f</a:t>
            </a:r>
            <a:r>
              <a:rPr sz="1900" b="0" i="0">
                <a:solidFill>
                  <a:srgbClr val="1C252B"/>
                </a:solidFill>
                <a:latin typeface="Segoe UI"/>
              </a:rPr>
              <a:t> than </a:t>
            </a:r>
            <a:r>
              <a:rPr sz="1900" b="0" i="1">
                <a:solidFill>
                  <a:srgbClr val="1C252B"/>
                </a:solidFill>
                <a:latin typeface="Cambria"/>
              </a:rPr>
              <a:t>G</a:t>
            </a:r>
            <a:r>
              <a:rPr sz="1900" b="0" i="0">
                <a:solidFill>
                  <a:srgbClr val="1C252B"/>
                </a:solidFill>
                <a:latin typeface="Segoe UI"/>
              </a:rPr>
              <a:t>. But </a:t>
            </a:r>
            <a:r>
              <a:rPr sz="1900" b="0" i="1">
                <a:solidFill>
                  <a:srgbClr val="1C252B"/>
                </a:solidFill>
                <a:latin typeface="Cambria"/>
              </a:rPr>
              <a:t>A</a:t>
            </a:r>
            <a:r>
              <a:rPr sz="1250" b="0" i="0" baseline="30000">
                <a:solidFill>
                  <a:srgbClr val="1C252B"/>
                </a:solidFill>
                <a:latin typeface="Cambria"/>
              </a:rPr>
              <a:t>∗</a:t>
            </a:r>
            <a:r>
              <a:rPr sz="1900" b="0" i="0">
                <a:solidFill>
                  <a:srgbClr val="1C252B"/>
                </a:solidFill>
                <a:latin typeface="Segoe UI"/>
              </a:rPr>
              <a:t> pops the smallest </a:t>
            </a:r>
            <a:r>
              <a:rPr sz="1900" b="0" i="1">
                <a:solidFill>
                  <a:srgbClr val="1C252B"/>
                </a:solidFill>
                <a:latin typeface="Cambria"/>
              </a:rPr>
              <a:t>f</a:t>
            </a:r>
            <a:r>
              <a:rPr sz="1900" b="0" i="0">
                <a:solidFill>
                  <a:srgbClr val="1C252B"/>
                </a:solidFill>
                <a:latin typeface="Segoe UI"/>
              </a:rPr>
              <a:t> in the frontier, so it would have popped </a:t>
            </a:r>
            <a:r>
              <a:rPr sz="1900" b="0" i="1">
                <a:solidFill>
                  <a:srgbClr val="1C252B"/>
                </a:solidFill>
                <a:latin typeface="Cambria"/>
              </a:rPr>
              <a:t>n</a:t>
            </a:r>
            <a:r>
              <a:rPr sz="1900" b="0" i="0">
                <a:solidFill>
                  <a:srgbClr val="1C252B"/>
                </a:solidFill>
                <a:latin typeface="Segoe UI"/>
              </a:rPr>
              <a:t>, not </a:t>
            </a:r>
            <a:r>
              <a:rPr sz="1900" b="0" i="1">
                <a:solidFill>
                  <a:srgbClr val="1C252B"/>
                </a:solidFill>
                <a:latin typeface="Cambria"/>
              </a:rPr>
              <a:t>G</a:t>
            </a:r>
            <a:r>
              <a:rPr sz="1900" b="0" i="0">
                <a:solidFill>
                  <a:srgbClr val="1C252B"/>
                </a:solidFill>
                <a:latin typeface="Segoe UI"/>
              </a:rPr>
              <a:t>. Contradiction, and therefore </a:t>
            </a:r>
            <a:r>
              <a:rPr sz="1900" b="0" i="1">
                <a:solidFill>
                  <a:srgbClr val="1C252B"/>
                </a:solidFill>
                <a:latin typeface="Cambria"/>
              </a:rPr>
              <a:t>g</a:t>
            </a:r>
            <a:r>
              <a:rPr sz="1900" b="0" i="0">
                <a:solidFill>
                  <a:srgbClr val="1C252B"/>
                </a:solidFill>
                <a:latin typeface="Cambria"/>
              </a:rPr>
              <a:t>(</a:t>
            </a:r>
            <a:r>
              <a:rPr sz="1900" b="0" i="1">
                <a:solidFill>
                  <a:srgbClr val="1C252B"/>
                </a:solidFill>
                <a:latin typeface="Cambria"/>
              </a:rPr>
              <a:t>G</a:t>
            </a:r>
            <a:r>
              <a:rPr sz="1900" b="0" i="0">
                <a:solidFill>
                  <a:srgbClr val="1C252B"/>
                </a:solidFill>
                <a:latin typeface="Cambria"/>
              </a:rPr>
              <a:t>) = </a:t>
            </a:r>
            <a:r>
              <a:rPr sz="1900" b="0" i="1">
                <a:solidFill>
                  <a:srgbClr val="1C252B"/>
                </a:solidFill>
                <a:latin typeface="Cambria"/>
              </a:rPr>
              <a:t>C</a:t>
            </a:r>
            <a:r>
              <a:rPr sz="1250" b="0" i="0" baseline="30000">
                <a:solidFill>
                  <a:srgbClr val="1C252B"/>
                </a:solidFill>
                <a:latin typeface="Cambria"/>
              </a:rPr>
              <a:t>∗</a:t>
            </a:r>
            <a:r>
              <a:rPr sz="1900" b="0" i="0">
                <a:solidFill>
                  <a:srgbClr val="1C252B"/>
                </a:solidFill>
                <a:latin typeface="Segoe UI"/>
              </a:rPr>
              <a:t>. </a:t>
            </a:r>
            <a:r>
              <a:rPr sz="1900" b="0" i="0">
                <a:solidFill>
                  <a:srgbClr val="1C252B"/>
                </a:solidFill>
                <a:latin typeface="Cambria"/>
              </a:rPr>
              <a:t>■</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316080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optimality argument, and where it breaks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§5.4.1  ·  Handout p. 46     </a:t>
            </a:r>
            <a:fld id="{77941B37-D2C0-4F3F-A24A-10A610DC7198}"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93921"/>
          </a:xfrm>
          <a:prstGeom prst="roundRect">
            <a:avLst>
              <a:gd name="adj" fmla="val 2289"/>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9392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step that fails when </a:t>
            </a:r>
            <a:r>
              <a:rPr sz="1900" b="1" i="1">
                <a:solidFill>
                  <a:srgbClr val="1C252B"/>
                </a:solidFill>
                <a:latin typeface="Cambria"/>
              </a:rPr>
              <a:t>h</a:t>
            </a:r>
            <a:r>
              <a:rPr sz="1900" b="1" i="0">
                <a:solidFill>
                  <a:srgbClr val="1C252B"/>
                </a:solidFill>
                <a:latin typeface="Segoe UI"/>
              </a:rPr>
              <a:t> overestimates.</a:t>
            </a:r>
            <a:r>
              <a:rPr sz="1900" b="0" i="0">
                <a:solidFill>
                  <a:srgbClr val="1C252B"/>
                </a:solidFill>
                <a:latin typeface="Segoe UI"/>
              </a:rPr>
              <a:t> It is the inequality </a:t>
            </a:r>
            <a:r>
              <a:rPr sz="1900" b="0" i="1">
                <a:solidFill>
                  <a:srgbClr val="1C252B"/>
                </a:solidFill>
                <a:latin typeface="Cambria"/>
              </a:rPr>
              <a:t>h</a:t>
            </a:r>
            <a:r>
              <a:rPr sz="1900" b="0" i="0">
                <a:solidFill>
                  <a:srgbClr val="1C252B"/>
                </a:solidFill>
                <a:latin typeface="Cambria"/>
              </a:rPr>
              <a:t>(</a:t>
            </a:r>
            <a:r>
              <a:rPr sz="1900" b="0" i="1">
                <a:solidFill>
                  <a:srgbClr val="1C252B"/>
                </a:solidFill>
                <a:latin typeface="Cambria"/>
              </a:rPr>
              <a:t>n</a:t>
            </a:r>
            <a:r>
              <a:rPr sz="1900" b="0" i="0">
                <a:solidFill>
                  <a:srgbClr val="1C252B"/>
                </a:solidFill>
                <a:latin typeface="Cambria"/>
              </a:rPr>
              <a:t>) ≤ </a:t>
            </a:r>
            <a:r>
              <a:rPr sz="1900" b="0" i="1">
                <a:solidFill>
                  <a:srgbClr val="1C252B"/>
                </a:solidFill>
                <a:latin typeface="Cambria"/>
              </a:rPr>
              <a:t>h</a:t>
            </a:r>
            <a:r>
              <a:rPr sz="1250" b="0" i="0" baseline="30000">
                <a:solidFill>
                  <a:srgbClr val="1C252B"/>
                </a:solidFill>
                <a:latin typeface="Cambria"/>
              </a:rPr>
              <a:t>∗</a:t>
            </a:r>
            <a:r>
              <a:rPr sz="1900" b="0" i="0">
                <a:solidFill>
                  <a:srgbClr val="1C252B"/>
                </a:solidFill>
                <a:latin typeface="Cambria"/>
              </a:rPr>
              <a:t>(</a:t>
            </a:r>
            <a:r>
              <a:rPr sz="1900" b="0" i="1">
                <a:solidFill>
                  <a:srgbClr val="1C252B"/>
                </a:solidFill>
                <a:latin typeface="Cambria"/>
              </a:rPr>
              <a:t>n</a:t>
            </a:r>
            <a:r>
              <a:rPr sz="1900" b="0" i="0">
                <a:solidFill>
                  <a:srgbClr val="1C252B"/>
                </a:solidFill>
                <a:latin typeface="Cambria"/>
              </a:rPr>
              <a:t>)</a:t>
            </a:r>
            <a:r>
              <a:rPr sz="1900" b="0" i="0">
                <a:solidFill>
                  <a:srgbClr val="1C252B"/>
                </a:solidFill>
                <a:latin typeface="Segoe UI"/>
              </a:rPr>
              <a:t>. If </a:t>
            </a:r>
            <a:r>
              <a:rPr sz="1900" b="0" i="1">
                <a:solidFill>
                  <a:srgbClr val="1C252B"/>
                </a:solidFill>
                <a:latin typeface="Cambria"/>
              </a:rPr>
              <a:t>h</a:t>
            </a:r>
            <a:r>
              <a:rPr sz="1900" b="0" i="0">
                <a:solidFill>
                  <a:srgbClr val="1C252B"/>
                </a:solidFill>
                <a:latin typeface="Segoe UI"/>
              </a:rPr>
              <a:t> overestimates at </a:t>
            </a:r>
            <a:r>
              <a:rPr sz="1900" b="0" i="1">
                <a:solidFill>
                  <a:srgbClr val="1C252B"/>
                </a:solidFill>
                <a:latin typeface="Cambria"/>
              </a:rPr>
              <a:t>n</a:t>
            </a:r>
            <a:r>
              <a:rPr sz="1900" b="0" i="0">
                <a:solidFill>
                  <a:srgbClr val="1C252B"/>
                </a:solidFill>
                <a:latin typeface="Segoe UI"/>
              </a:rPr>
              <a:t>, then </a:t>
            </a:r>
            <a:r>
              <a:rPr sz="1900" b="0" i="1">
                <a:solidFill>
                  <a:srgbClr val="1C252B"/>
                </a:solidFill>
                <a:latin typeface="Cambria"/>
              </a:rPr>
              <a:t>f</a:t>
            </a:r>
            <a:r>
              <a:rPr sz="1900" b="0" i="0">
                <a:solidFill>
                  <a:srgbClr val="1C252B"/>
                </a:solidFill>
                <a:latin typeface="Cambria"/>
              </a:rPr>
              <a:t>(</a:t>
            </a:r>
            <a:r>
              <a:rPr sz="1900" b="0" i="1">
                <a:solidFill>
                  <a:srgbClr val="1C252B"/>
                </a:solidFill>
                <a:latin typeface="Cambria"/>
              </a:rPr>
              <a:t>n</a:t>
            </a:r>
            <a:r>
              <a:rPr sz="1900" b="0" i="0">
                <a:solidFill>
                  <a:srgbClr val="1C252B"/>
                </a:solidFill>
                <a:latin typeface="Cambria"/>
              </a:rPr>
              <a:t>)</a:t>
            </a:r>
            <a:r>
              <a:rPr sz="1900" b="0" i="0">
                <a:solidFill>
                  <a:srgbClr val="1C252B"/>
                </a:solidFill>
                <a:latin typeface="Segoe UI"/>
              </a:rPr>
              <a:t> can exceed </a:t>
            </a:r>
            <a:r>
              <a:rPr sz="1900" b="0" i="1">
                <a:solidFill>
                  <a:srgbClr val="1C252B"/>
                </a:solidFill>
                <a:latin typeface="Cambria"/>
              </a:rPr>
              <a:t>C</a:t>
            </a:r>
            <a:r>
              <a:rPr sz="1250" b="0" i="0" baseline="30000">
                <a:solidFill>
                  <a:srgbClr val="1C252B"/>
                </a:solidFill>
                <a:latin typeface="Cambria"/>
              </a:rPr>
              <a:t>∗</a:t>
            </a:r>
            <a:r>
              <a:rPr sz="1900" b="0" i="0">
                <a:solidFill>
                  <a:srgbClr val="1C252B"/>
                </a:solidFill>
                <a:latin typeface="Segoe UI"/>
              </a:rPr>
              <a:t>; the node on the optimal path is then buried behind </a:t>
            </a:r>
            <a:r>
              <a:rPr sz="1900" b="0" i="1">
                <a:solidFill>
                  <a:srgbClr val="1C252B"/>
                </a:solidFill>
                <a:latin typeface="Cambria"/>
              </a:rPr>
              <a:t>G</a:t>
            </a:r>
            <a:r>
              <a:rPr sz="1900" b="0" i="0">
                <a:solidFill>
                  <a:srgbClr val="1C252B"/>
                </a:solidFill>
                <a:latin typeface="Segoe UI"/>
              </a:rPr>
              <a:t> in the frontier, and </a:t>
            </a:r>
            <a:r>
              <a:rPr sz="1900" b="0" i="1">
                <a:solidFill>
                  <a:srgbClr val="1C252B"/>
                </a:solidFill>
                <a:latin typeface="Cambria"/>
              </a:rPr>
              <a:t>A</a:t>
            </a:r>
            <a:r>
              <a:rPr sz="1250" b="0" i="0" baseline="30000">
                <a:solidFill>
                  <a:srgbClr val="1C252B"/>
                </a:solidFill>
                <a:latin typeface="Cambria"/>
              </a:rPr>
              <a:t>∗</a:t>
            </a:r>
            <a:r>
              <a:rPr sz="1900" b="0" i="0">
                <a:solidFill>
                  <a:srgbClr val="1C252B"/>
                </a:solidFill>
                <a:latin typeface="Segoe UI"/>
              </a:rPr>
              <a:t> returns the worse answer without noticing. Concretely: give the harness a pessimistic estimate of </a:t>
            </a:r>
            <a:r>
              <a:rPr sz="1900" b="0" i="0">
                <a:solidFill>
                  <a:srgbClr val="1C252B"/>
                </a:solidFill>
                <a:latin typeface="Cambria"/>
              </a:rPr>
              <a:t>10</a:t>
            </a:r>
            <a:r>
              <a:rPr sz="1900" b="0" i="0">
                <a:solidFill>
                  <a:srgbClr val="1C252B"/>
                </a:solidFill>
                <a:latin typeface="Segoe UI"/>
              </a:rPr>
              <a:t> days remaining and </a:t>
            </a:r>
            <a:r>
              <a:rPr sz="1900" b="0" i="1">
                <a:solidFill>
                  <a:srgbClr val="1C252B"/>
                </a:solidFill>
                <a:latin typeface="Cambria"/>
              </a:rPr>
              <a:t>A</a:t>
            </a:r>
            <a:r>
              <a:rPr sz="1250" b="0" i="0" baseline="30000">
                <a:solidFill>
                  <a:srgbClr val="1C252B"/>
                </a:solidFill>
                <a:latin typeface="Cambria"/>
              </a:rPr>
              <a:t>∗</a:t>
            </a:r>
            <a:r>
              <a:rPr sz="1900" b="0" i="0">
                <a:solidFill>
                  <a:srgbClr val="1C252B"/>
                </a:solidFill>
                <a:latin typeface="Segoe UI"/>
              </a:rPr>
              <a:t> reproduces greedy search’s </a:t>
            </a:r>
            <a:r>
              <a:rPr sz="1900" b="0" i="0">
                <a:solidFill>
                  <a:srgbClr val="1C252B"/>
                </a:solidFill>
                <a:latin typeface="Cambria"/>
              </a:rPr>
              <a:t>29</a:t>
            </a:r>
            <a:r>
              <a:rPr sz="1900" b="0" i="0">
                <a:solidFill>
                  <a:srgbClr val="1C252B"/>
                </a:solidFill>
                <a:latin typeface="Segoe UI"/>
              </a:rPr>
              <a:t>-day plan.</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348964"/>
            <a:ext cx="10234879" cy="2153716"/>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Why graph search needs consistency as well.</a:t>
            </a:r>
            <a:r>
              <a:rPr sz="1900" b="0" i="0">
                <a:solidFill>
                  <a:srgbClr val="1C252B"/>
                </a:solidFill>
                <a:latin typeface="Segoe UI"/>
              </a:rPr>
              <a:t> The argument above assumes a node on the optimal path is available in the frontier. With an explored set, a state can be reached first by a dearer path, be marked explored, and then be reached again more cheaply — and refused. If </a:t>
            </a:r>
            <a:r>
              <a:rPr sz="1900" b="0" i="1">
                <a:solidFill>
                  <a:srgbClr val="1C252B"/>
                </a:solidFill>
                <a:latin typeface="Cambria"/>
              </a:rPr>
              <a:t>h</a:t>
            </a:r>
            <a:r>
              <a:rPr sz="1900" b="0" i="0">
                <a:solidFill>
                  <a:srgbClr val="1C252B"/>
                </a:solidFill>
                <a:latin typeface="Segoe UI"/>
              </a:rPr>
              <a:t> is merely admissible, that discards the optimal path. Consistency, </a:t>
            </a:r>
            <a:r>
              <a:rPr sz="1900" b="0" i="1">
                <a:solidFill>
                  <a:srgbClr val="1C252B"/>
                </a:solidFill>
                <a:latin typeface="Cambria"/>
              </a:rPr>
              <a:t>h</a:t>
            </a:r>
            <a:r>
              <a:rPr sz="1900" b="0" i="0">
                <a:solidFill>
                  <a:srgbClr val="1C252B"/>
                </a:solidFill>
                <a:latin typeface="Cambria"/>
              </a:rPr>
              <a:t>(</a:t>
            </a:r>
            <a:r>
              <a:rPr sz="1900" b="0" i="1">
                <a:solidFill>
                  <a:srgbClr val="1C252B"/>
                </a:solidFill>
                <a:latin typeface="Cambria"/>
              </a:rPr>
              <a:t>n</a:t>
            </a:r>
            <a:r>
              <a:rPr sz="1900" b="0" i="0">
                <a:solidFill>
                  <a:srgbClr val="1C252B"/>
                </a:solidFill>
                <a:latin typeface="Cambria"/>
              </a:rPr>
              <a:t>) ≤ </a:t>
            </a:r>
            <a:r>
              <a:rPr sz="1900" b="0" i="1">
                <a:solidFill>
                  <a:srgbClr val="1C252B"/>
                </a:solidFill>
                <a:latin typeface="Cambria"/>
              </a:rPr>
              <a:t>c</a:t>
            </a:r>
            <a:r>
              <a:rPr sz="1900" b="0" i="0">
                <a:solidFill>
                  <a:srgbClr val="1C252B"/>
                </a:solidFill>
                <a:latin typeface="Cambria"/>
              </a:rPr>
              <a:t>(</a:t>
            </a:r>
            <a:r>
              <a:rPr sz="1900" b="0" i="1">
                <a:solidFill>
                  <a:srgbClr val="1C252B"/>
                </a:solidFill>
                <a:latin typeface="Cambria"/>
              </a:rPr>
              <a:t>n</a:t>
            </a:r>
            <a:r>
              <a:rPr sz="1900" b="0" i="0">
                <a:solidFill>
                  <a:srgbClr val="1C252B"/>
                </a:solidFill>
                <a:latin typeface="Cambria"/>
              </a:rPr>
              <a:t>,</a:t>
            </a:r>
            <a:r>
              <a:rPr sz="1900" b="0" i="1">
                <a:solidFill>
                  <a:srgbClr val="1C252B"/>
                </a:solidFill>
                <a:latin typeface="Cambria"/>
              </a:rPr>
              <a:t>n</a:t>
            </a:r>
            <a:r>
              <a:rPr sz="1900" b="0" i="0">
                <a:solidFill>
                  <a:srgbClr val="1C252B"/>
                </a:solidFill>
                <a:latin typeface="Cambria"/>
              </a:rPr>
              <a:t>′) + </a:t>
            </a:r>
            <a:r>
              <a:rPr sz="1900" b="0" i="1">
                <a:solidFill>
                  <a:srgbClr val="1C252B"/>
                </a:solidFill>
                <a:latin typeface="Cambria"/>
              </a:rPr>
              <a:t>h</a:t>
            </a:r>
            <a:r>
              <a:rPr sz="1900" b="0" i="0">
                <a:solidFill>
                  <a:srgbClr val="1C252B"/>
                </a:solidFill>
                <a:latin typeface="Cambria"/>
              </a:rPr>
              <a:t>(</a:t>
            </a:r>
            <a:r>
              <a:rPr sz="1900" b="0" i="1">
                <a:solidFill>
                  <a:srgbClr val="1C252B"/>
                </a:solidFill>
                <a:latin typeface="Cambria"/>
              </a:rPr>
              <a:t>n</a:t>
            </a:r>
            <a:r>
              <a:rPr sz="1900" b="0" i="0">
                <a:solidFill>
                  <a:srgbClr val="1C252B"/>
                </a:solidFill>
                <a:latin typeface="Cambria"/>
              </a:rPr>
              <a:t>′)</a:t>
            </a:r>
            <a:r>
              <a:rPr sz="1900" b="0" i="0">
                <a:solidFill>
                  <a:srgbClr val="1C252B"/>
                </a:solidFill>
                <a:latin typeface="Segoe UI"/>
              </a:rPr>
              <a:t>, guarantees </a:t>
            </a:r>
            <a:r>
              <a:rPr sz="1900" b="0" i="1">
                <a:solidFill>
                  <a:srgbClr val="1C252B"/>
                </a:solidFill>
                <a:latin typeface="Cambria"/>
              </a:rPr>
              <a:t>f</a:t>
            </a:r>
            <a:r>
              <a:rPr sz="1900" b="0" i="0">
                <a:solidFill>
                  <a:srgbClr val="1C252B"/>
                </a:solidFill>
                <a:latin typeface="Segoe UI"/>
              </a:rPr>
              <a:t> never decreases along a path, so the first time a state is popped it is already by its cheapest path. Both heuristics in this chapter are consistent; the lab checks the weaker property, admissibility, over all </a:t>
            </a:r>
            <a:r>
              <a:rPr sz="1900" b="0" i="0">
                <a:solidFill>
                  <a:srgbClr val="1C252B"/>
                </a:solidFill>
                <a:latin typeface="Cambria"/>
              </a:rPr>
              <a:t>55</a:t>
            </a:r>
            <a:r>
              <a:rPr sz="1900" b="0" i="0">
                <a:solidFill>
                  <a:srgbClr val="1C252B"/>
                </a:solidFill>
                <a:latin typeface="Segoe UI"/>
              </a:rPr>
              <a:t> reachable states.</a:t>
            </a:r>
          </a:p>
        </p:txBody>
      </p:sp>
      <p:sp>
        <p:nvSpPr>
          <p:cNvPr id="12" name="body-1bar">
            <a:extLst>
              <a:ext uri="{C183D7F6-B498-43B3-948B-1728B52AA6E4}">
                <adec:decorative xmlns:adec="http://schemas.microsoft.com/office/drawing/2017/decorative" val="1"/>
              </a:ext>
            </a:extLst>
          </p:cNvPr>
          <p:cNvSpPr/>
          <p:nvPr/>
        </p:nvSpPr>
        <p:spPr>
          <a:xfrm>
            <a:off x="841248" y="3367252"/>
            <a:ext cx="54864" cy="208970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338658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Dominance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§5.4.2  ·  Handout p. 46     </a:t>
            </a:r>
            <a:fld id="{400BD815-6620-4668-8968-DA2686662B84}"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34232"/>
          </a:xfrm>
          <a:prstGeom prst="roundRect">
            <a:avLst>
              <a:gd name="adj" fmla="val 2742"/>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3423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Dominance is a claim about </a:t>
            </a:r>
            <a:r>
              <a:rPr sz="2300" b="0" i="1">
                <a:solidFill>
                  <a:srgbClr val="1C252B"/>
                </a:solidFill>
                <a:latin typeface="Segoe UI"/>
              </a:rPr>
              <a:t>every</a:t>
            </a:r>
            <a:r>
              <a:rPr sz="2300" b="0" i="0">
                <a:solidFill>
                  <a:srgbClr val="1C252B"/>
                </a:solidFill>
                <a:latin typeface="Segoe UI"/>
              </a:rPr>
              <a:t> state, and the root is a sample of size one. Two heuristics almost always cross somewhere, because they are usually relaxations of different constraints and each is strongest where the constraint it kept is the binding one.</a:t>
            </a:r>
          </a:p>
        </p:txBody>
      </p:sp>
      <p:sp>
        <p:nvSpPr>
          <p:cNvPr id="10" name="body-1"/>
          <p:cNvSpPr txBox="1"/>
          <p:nvPr/>
        </p:nvSpPr>
        <p:spPr>
          <a:xfrm>
            <a:off x="1060704" y="3667074"/>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practical consequence: do not choose between admissible heuristics, take their maximum. The only reason not to is evaluation cost, and a comparison is free.</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61235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Inventing a Heuristic</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5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5.5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5.1   A Sprint Where the Cost Matters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5.2   Heuristics: Telling the Search Where the Goal Is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5.3   Greedy Best-First Search, and Why It Is Not Enough</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5.4   A* Search</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5.5   Inventing a Heuristic</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§5.5     </a:t>
            </a:r>
            <a:fld id="{1F646A53-E957-4F5A-81FD-7C2CC406EB8B}" type="slidenum">
              <a:rPr lang="en-GB" sz="1000">
                <a:solidFill>
                  <a:srgbClr val="8795A1"/>
                </a:solidFill>
                <a:latin typeface="Segoe UI"/>
              </a:rPr>
              <a:t>17</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83812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Inventing a Heuristic</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ABA393E9-500E-49E5-8B12-A40C0DE9E1D4}"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436467"/>
          </a:xfrm>
          <a:prstGeom prst="roundRect">
            <a:avLst>
              <a:gd name="adj" fmla="val 2660"/>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436467"/>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Both heuristics here are relaxations:</a:t>
            </a:r>
          </a:p>
        </p:txBody>
      </p:sp>
      <p:sp>
        <p:nvSpPr>
          <p:cNvPr id="10" name="body-1"/>
          <p:cNvSpPr txBox="1"/>
          <p:nvPr/>
        </p:nvSpPr>
        <p:spPr>
          <a:xfrm>
            <a:off x="1060704" y="2573451"/>
            <a:ext cx="10161727" cy="2335199"/>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1A5276"/>
                </a:solidFill>
                <a:latin typeface="Segoe UI"/>
              </a:rPr>
              <a:t>•	</a:t>
            </a:r>
            <a:r>
              <a:rPr sz="2300" b="0" i="1">
                <a:solidFill>
                  <a:srgbClr val="1C252B"/>
                </a:solidFill>
                <a:latin typeface="Segoe UI"/>
              </a:rPr>
              <a:t>Mandatory work</a:t>
            </a:r>
            <a:r>
              <a:rPr sz="2300" b="0" i="0">
                <a:solidFill>
                  <a:srgbClr val="1C252B"/>
                </a:solidFill>
                <a:latin typeface="Segoe UI"/>
              </a:rPr>
              <a:t> relaxes away the testing requirement entirely. The relaxed problem — do the eight unavoidable tasks — is solved by adding up durations.</a:t>
            </a:r>
          </a:p>
          <a:p>
            <a:pPr algn="l" marL="257176" indent="-257176">
              <a:lnSpc>
                <a:spcPct val="104000"/>
              </a:lnSpc>
              <a:spcBef>
                <a:spcPts val="0"/>
              </a:spcBef>
              <a:spcAft>
                <a:spcPts val="0"/>
              </a:spcAft>
            </a:pPr>
            <a:r>
              <a:rPr sz="2300" b="1">
                <a:solidFill>
                  <a:srgbClr val="1A5276"/>
                </a:solidFill>
                <a:latin typeface="Segoe UI"/>
              </a:rPr>
              <a:t>•	</a:t>
            </a:r>
            <a:r>
              <a:rPr sz="2300" b="0" i="1">
                <a:solidFill>
                  <a:srgbClr val="1C252B"/>
                </a:solidFill>
                <a:latin typeface="Segoe UI"/>
              </a:rPr>
              <a:t>Critical path</a:t>
            </a:r>
            <a:r>
              <a:rPr sz="2300" b="0" i="0">
                <a:solidFill>
                  <a:srgbClr val="1C252B"/>
                </a:solidFill>
                <a:latin typeface="Segoe UI"/>
              </a:rPr>
              <a:t> relaxes away the fact that only one task happens at a time, i.e. it assumes unlimited parallelism. The relaxed problem is the longest path in a directed acyclic graph.</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Inventing a Heuristic</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6071EF64-E502-4372-90C9-6D4BD5BD513D}" type="slidenum">
              <a:rPr lang="en-GB" sz="1000">
                <a:solidFill>
                  <a:srgbClr val="8795A1"/>
                </a:solidFill>
                <a:latin typeface="Segoe UI"/>
              </a:rPr>
              <a:t>19</a:t>
            </a:fld>
          </a:p>
        </p:txBody>
      </p:sp>
      <p:graphicFrame>
        <p:nvGraphicFramePr>
          <p:cNvPr id="7" name="!!table"/>
          <p:cNvGraphicFramePr>
            <a:graphicFrameLocks noGrp="1"/>
          </p:cNvGraphicFramePr>
          <p:nvPr/>
        </p:nvGraphicFramePr>
        <p:xfrm>
          <a:off x="658368" y="1737360"/>
          <a:ext cx="9005977" cy="3243072"/>
        </p:xfrm>
        <a:graphic>
          <a:graphicData uri="http://schemas.openxmlformats.org/drawingml/2006/table">
            <a:tbl>
              <a:tblPr firstRow="0" bandRow="0" firstCol="0" lastRow="0" lastCol="0" bandCol="0">
                <a:tableStyleId>{2D5ABB26-0587-4C30-8999-92F81FD0307C}</a:tableStyleId>
              </a:tblPr>
              <a:tblGrid>
                <a:gridCol w="2648143"/>
                <a:gridCol w="912171"/>
                <a:gridCol w="1799292"/>
                <a:gridCol w="1274726"/>
                <a:gridCol w="2371645"/>
              </a:tblGrid>
              <a:tr h="405384">
                <a:tc>
                  <a:txBody>
                    <a:bodyPr wrap="square"/>
                    <a:lstStyle/>
                    <a:p>
                      <a:pPr algn="l"/>
                      <a:r>
                        <a:rPr sz="1700" b="1" i="0">
                          <a:solidFill>
                            <a:srgbClr val="1A5276"/>
                          </a:solidFill>
                          <a:latin typeface="Segoe UI"/>
                        </a:rPr>
                        <a:t>Algorithm</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Cost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Optimal?</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Expanded</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Route chosen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05384">
                <a:tc>
                  <a:txBody>
                    <a:bodyPr wrap="square"/>
                    <a:lstStyle/>
                    <a:p>
                      <a:pPr algn="l"/>
                      <a:r>
                        <a:rPr sz="1700" b="1" i="0">
                          <a:solidFill>
                            <a:srgbClr val="1C252B"/>
                          </a:solidFill>
                          <a:latin typeface="Segoe UI"/>
                        </a:rPr>
                        <a:t>Algorithm</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1" i="0">
                          <a:solidFill>
                            <a:srgbClr val="1C252B"/>
                          </a:solidFill>
                          <a:latin typeface="Segoe UI"/>
                        </a:rPr>
                        <a:t>Cost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1" i="0">
                          <a:solidFill>
                            <a:srgbClr val="1C252B"/>
                          </a:solidFill>
                          <a:latin typeface="Segoe UI"/>
                        </a:rPr>
                        <a:t>Optimal?</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1" i="0">
                          <a:solidFill>
                            <a:srgbClr val="1C252B"/>
                          </a:solidFill>
                          <a:latin typeface="Segoe UI"/>
                        </a:rPr>
                        <a:t>Expanded</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1" i="0">
                          <a:solidFill>
                            <a:srgbClr val="1C252B"/>
                          </a:solidFill>
                          <a:latin typeface="Segoe UI"/>
                        </a:rPr>
                        <a:t>Route chosen</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Uniform-cost (</a:t>
                      </a:r>
                      <a:r>
                        <a:rPr sz="1700" b="0" i="1">
                          <a:solidFill>
                            <a:srgbClr val="1C252B"/>
                          </a:solidFill>
                          <a:latin typeface="Cambria"/>
                        </a:rPr>
                        <a:t>h</a:t>
                      </a:r>
                      <a:r>
                        <a:rPr sz="1700" b="0" i="0">
                          <a:solidFill>
                            <a:srgbClr val="1C252B"/>
                          </a:solidFill>
                          <a:latin typeface="Cambria"/>
                        </a:rPr>
                        <a:t>=0</a:t>
                      </a:r>
                      <a:r>
                        <a:rPr sz="1700" b="0" i="0">
                          <a:solidFill>
                            <a:srgbClr val="1C252B"/>
                          </a:solidFill>
                          <a:latin typeface="Segoe UI"/>
                        </a:rPr>
                        <a:t>)</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28</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Yes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46</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automated</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1">
                          <a:solidFill>
                            <a:srgbClr val="1C252B"/>
                          </a:solidFill>
                          <a:latin typeface="Cambria"/>
                        </a:rPr>
                        <a:t>A</a:t>
                      </a:r>
                      <a:r>
                        <a:rPr sz="1100" b="0" i="0" baseline="30000">
                          <a:solidFill>
                            <a:srgbClr val="1C252B"/>
                          </a:solidFill>
                          <a:latin typeface="Cambria"/>
                        </a:rPr>
                        <a:t>∗</a:t>
                      </a:r>
                      <a:r>
                        <a:rPr sz="1700" b="0" i="0">
                          <a:solidFill>
                            <a:srgbClr val="1C252B"/>
                          </a:solidFill>
                          <a:latin typeface="Segoe UI"/>
                        </a:rPr>
                        <a:t>, critical path</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28</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Yes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35</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automated</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1">
                          <a:solidFill>
                            <a:srgbClr val="1C252B"/>
                          </a:solidFill>
                          <a:latin typeface="Cambria"/>
                        </a:rPr>
                        <a:t>A</a:t>
                      </a:r>
                      <a:r>
                        <a:rPr sz="1100" b="0" i="0" baseline="30000">
                          <a:solidFill>
                            <a:srgbClr val="1C252B"/>
                          </a:solidFill>
                          <a:latin typeface="Cambria"/>
                        </a:rPr>
                        <a:t>∗</a:t>
                      </a:r>
                      <a:r>
                        <a:rPr sz="1700" b="0" i="0">
                          <a:solidFill>
                            <a:srgbClr val="1C252B"/>
                          </a:solidFill>
                          <a:latin typeface="Segoe UI"/>
                        </a:rPr>
                        <a:t>, mandatory work</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28</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Yes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1" i="0">
                          <a:solidFill>
                            <a:srgbClr val="1C252B"/>
                          </a:solidFill>
                          <a:latin typeface="Segoe UI"/>
                        </a:rPr>
                        <a:t>33</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automated</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1">
                          <a:solidFill>
                            <a:srgbClr val="1C252B"/>
                          </a:solidFill>
                          <a:latin typeface="Cambria"/>
                        </a:rPr>
                        <a:t>A</a:t>
                      </a:r>
                      <a:r>
                        <a:rPr sz="1100" b="0" i="0" baseline="30000">
                          <a:solidFill>
                            <a:srgbClr val="1C252B"/>
                          </a:solidFill>
                          <a:latin typeface="Cambria"/>
                        </a:rPr>
                        <a:t>∗</a:t>
                      </a:r>
                      <a:r>
                        <a:rPr sz="1700" b="0" i="0">
                          <a:solidFill>
                            <a:srgbClr val="1C252B"/>
                          </a:solidFill>
                          <a:latin typeface="Segoe UI"/>
                        </a:rPr>
                        <a:t>, max of the two</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28</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Yes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1" i="0">
                          <a:solidFill>
                            <a:srgbClr val="1C252B"/>
                          </a:solidFill>
                          <a:latin typeface="Segoe UI"/>
                        </a:rPr>
                        <a:t>33</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automated</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Greedy, critical path</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28</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Not guaranteed</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11</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automated</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Greedy, mandatory work</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1" i="0">
                          <a:solidFill>
                            <a:srgbClr val="1C252B"/>
                          </a:solidFill>
                          <a:latin typeface="Segoe UI"/>
                        </a:rPr>
                        <a:t>29</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1" i="0">
                          <a:solidFill>
                            <a:srgbClr val="1C252B"/>
                          </a:solidFill>
                          <a:latin typeface="Segoe UI"/>
                        </a:rPr>
                        <a:t>No</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1" i="0">
                          <a:solidFill>
                            <a:srgbClr val="1C252B"/>
                          </a:solidFill>
                          <a:latin typeface="Segoe UI"/>
                        </a:rPr>
                        <a:t>10</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manual</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428967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87160BB9-B90A-43EE-A8D6-1B1598DFBEF3}" type="slidenum">
              <a:rPr lang="en-GB" sz="1000">
                <a:solidFill>
                  <a:srgbClr val="8795A1"/>
                </a:solidFill>
                <a:latin typeface="Segoe UI"/>
              </a:rPr>
              <a:t>20</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Forgetting the </a:t>
            </a:r>
            <a:r>
              <a:rPr sz="1800" b="1" i="1">
                <a:solidFill>
                  <a:srgbClr val="1C252B"/>
                </a:solidFill>
                <a:latin typeface="Cambria"/>
              </a:rPr>
              <a:t>g</a:t>
            </a:r>
            <a:r>
              <a:rPr sz="1800" b="1" i="0">
                <a:solidFill>
                  <a:srgbClr val="1C252B"/>
                </a:solidFill>
                <a:latin typeface="Segoe UI"/>
              </a:rPr>
              <a:t> term.</a:t>
            </a:r>
            <a:r>
              <a:rPr sz="1800" b="0" i="0">
                <a:solidFill>
                  <a:srgbClr val="1C252B"/>
                </a:solidFill>
                <a:latin typeface="Segoe UI"/>
              </a:rPr>
              <a:t> Ordering the frontier by </a:t>
            </a:r>
            <a:r>
              <a:rPr sz="1800" b="0" i="1">
                <a:solidFill>
                  <a:srgbClr val="1C252B"/>
                </a:solidFill>
                <a:latin typeface="Cambria"/>
              </a:rPr>
              <a:t>h</a:t>
            </a:r>
            <a:r>
              <a:rPr sz="1800" b="0" i="0">
                <a:solidFill>
                  <a:srgbClr val="1C252B"/>
                </a:solidFill>
                <a:latin typeface="Segoe UI"/>
              </a:rPr>
              <a:t> alone is greedy search, and it cannot recognise an investment. If your search refuses to build tooling, this is why.</a:t>
            </a:r>
          </a:p>
        </p:txBody>
      </p:sp>
      <p:sp>
        <p:nvSpPr>
          <p:cNvPr id="10" name="!!pb1">
            <a:extLst>
              <a:ext uri="{C183D7F6-B498-43B3-948B-1728B52AA6E4}">
                <adec:decorative xmlns:adec="http://schemas.microsoft.com/office/drawing/2017/decorative" val="1"/>
              </a:ext>
            </a:extLst>
          </p:cNvPr>
          <p:cNvSpPr/>
          <p:nvPr/>
        </p:nvSpPr>
        <p:spPr>
          <a:xfrm>
            <a:off x="658368" y="252740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5026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509113"/>
            <a:ext cx="10271455" cy="855878"/>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An inadmissible heuristic.</a:t>
            </a:r>
            <a:r>
              <a:rPr sz="1800" b="0" i="0">
                <a:solidFill>
                  <a:srgbClr val="1C252B"/>
                </a:solidFill>
                <a:latin typeface="Segoe UI"/>
              </a:rPr>
              <a:t> Anything “tuned” upward to speed the search up — multiplying a lower bound by </a:t>
            </a:r>
            <a:r>
              <a:rPr sz="1800" b="0" i="0">
                <a:solidFill>
                  <a:srgbClr val="1C252B"/>
                </a:solidFill>
                <a:latin typeface="Cambria"/>
              </a:rPr>
              <a:t>1.5</a:t>
            </a:r>
            <a:r>
              <a:rPr sz="1800" b="0" i="0">
                <a:solidFill>
                  <a:srgbClr val="1C252B"/>
                </a:solidFill>
                <a:latin typeface="Segoe UI"/>
              </a:rPr>
              <a:t>, say — forfeits optimality. That may be a reasonable trade, but make it deliberately and say so.</a:t>
            </a:r>
          </a:p>
        </p:txBody>
      </p:sp>
      <p:sp>
        <p:nvSpPr>
          <p:cNvPr id="13" name="!!pb2">
            <a:extLst>
              <a:ext uri="{C183D7F6-B498-43B3-948B-1728B52AA6E4}">
                <adec:decorative xmlns:adec="http://schemas.microsoft.com/office/drawing/2017/decorative" val="1"/>
              </a:ext>
            </a:extLst>
          </p:cNvPr>
          <p:cNvSpPr/>
          <p:nvPr/>
        </p:nvSpPr>
        <p:spPr>
          <a:xfrm>
            <a:off x="658368" y="358444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6073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566159"/>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Assuming admissibility is enough for graph search.</a:t>
            </a:r>
            <a:r>
              <a:rPr sz="1800" b="0" i="0">
                <a:solidFill>
                  <a:srgbClr val="1C252B"/>
                </a:solidFill>
                <a:latin typeface="Segoe UI"/>
              </a:rPr>
              <a:t> With an explored set you want consistency. Otherwise a state reached cheaply on the second visit is silently discarded.</a:t>
            </a:r>
          </a:p>
        </p:txBody>
      </p:sp>
      <p:sp>
        <p:nvSpPr>
          <p:cNvPr id="16" name="!!pb3">
            <a:extLst>
              <a:ext uri="{C183D7F6-B498-43B3-948B-1728B52AA6E4}">
                <adec:decorative xmlns:adec="http://schemas.microsoft.com/office/drawing/2017/decorative" val="1"/>
              </a:ext>
            </a:extLst>
          </p:cNvPr>
          <p:cNvSpPr/>
          <p:nvPr/>
        </p:nvSpPr>
        <p:spPr>
          <a:xfrm>
            <a:off x="658368" y="435620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37906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337913"/>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A heuristic that costs more than it saves.</a:t>
            </a:r>
            <a:r>
              <a:rPr sz="1800" b="0" i="0">
                <a:solidFill>
                  <a:srgbClr val="1C252B"/>
                </a:solidFill>
                <a:latin typeface="Segoe UI"/>
              </a:rPr>
              <a:t> Expanding </a:t>
            </a:r>
            <a:r>
              <a:rPr sz="1800" b="0" i="0">
                <a:solidFill>
                  <a:srgbClr val="1C252B"/>
                </a:solidFill>
                <a:latin typeface="Cambria"/>
              </a:rPr>
              <a:t>30%</a:t>
            </a:r>
            <a:r>
              <a:rPr sz="1800" b="0" i="0">
                <a:solidFill>
                  <a:srgbClr val="1C252B"/>
                </a:solidFill>
                <a:latin typeface="Segoe UI"/>
              </a:rPr>
              <a:t> fewer nodes is a loss if evaluating </a:t>
            </a:r>
            <a:r>
              <a:rPr sz="1800" b="0" i="1">
                <a:solidFill>
                  <a:srgbClr val="1C252B"/>
                </a:solidFill>
                <a:latin typeface="Cambria"/>
              </a:rPr>
              <a:t>h</a:t>
            </a:r>
            <a:r>
              <a:rPr sz="1800" b="0" i="0">
                <a:solidFill>
                  <a:srgbClr val="1C252B"/>
                </a:solidFill>
                <a:latin typeface="Segoe UI"/>
              </a:rPr>
              <a:t> takes twice as long. Measure time as well as expansions.</a:t>
            </a:r>
          </a:p>
        </p:txBody>
      </p:sp>
      <p:sp>
        <p:nvSpPr>
          <p:cNvPr id="19" name="!!pb4">
            <a:extLst>
              <a:ext uri="{C183D7F6-B498-43B3-948B-1728B52AA6E4}">
                <adec:decorative xmlns:adec="http://schemas.microsoft.com/office/drawing/2017/decorative" val="1"/>
              </a:ext>
            </a:extLst>
          </p:cNvPr>
          <p:cNvSpPr/>
          <p:nvPr/>
        </p:nvSpPr>
        <p:spPr>
          <a:xfrm>
            <a:off x="658368" y="512795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515081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5109667"/>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800" b="1" i="1">
                <a:solidFill>
                  <a:srgbClr val="A93226"/>
                </a:solidFill>
                <a:latin typeface="Cambria"/>
              </a:rPr>
              <a:t>h</a:t>
            </a:r>
            <a:r>
              <a:rPr sz="1800" b="1" i="0">
                <a:solidFill>
                  <a:srgbClr val="1C252B"/>
                </a:solidFill>
                <a:latin typeface="Cambria"/>
              </a:rPr>
              <a:t> &gt; 0</a:t>
            </a:r>
            <a:r>
              <a:rPr sz="1800" b="1" i="0">
                <a:solidFill>
                  <a:srgbClr val="1C252B"/>
                </a:solidFill>
                <a:latin typeface="Segoe UI"/>
              </a:rPr>
              <a:t> at a goal state.</a:t>
            </a:r>
            <a:r>
              <a:rPr sz="1800" b="0" i="0">
                <a:solidFill>
                  <a:srgbClr val="1C252B"/>
                </a:solidFill>
                <a:latin typeface="Segoe UI"/>
              </a:rPr>
              <a:t> Breaks the optimality proof at its first line. Always check </a:t>
            </a:r>
            <a:r>
              <a:rPr sz="1800" b="0" i="1">
                <a:solidFill>
                  <a:srgbClr val="1C252B"/>
                </a:solidFill>
                <a:latin typeface="Cambria"/>
              </a:rPr>
              <a:t>h</a:t>
            </a:r>
            <a:r>
              <a:rPr sz="1800" b="0" i="0">
                <a:solidFill>
                  <a:srgbClr val="1C252B"/>
                </a:solidFill>
                <a:latin typeface="Cambria"/>
              </a:rPr>
              <a:t>(</a:t>
            </a:r>
            <a:r>
              <a:rPr sz="1800" b="0" i="0">
                <a:solidFill>
                  <a:srgbClr val="1C252B"/>
                </a:solidFill>
                <a:latin typeface="Segoe UI"/>
              </a:rPr>
              <a:t>goal</a:t>
            </a:r>
            <a:r>
              <a:rPr sz="1800" b="0" i="0">
                <a:solidFill>
                  <a:srgbClr val="1C252B"/>
                </a:solidFill>
                <a:latin typeface="Cambria"/>
              </a:rPr>
              <a:t>) = 0</a:t>
            </a:r>
            <a:r>
              <a:rPr sz="1800" b="0" i="0">
                <a:solidFill>
                  <a:srgbClr val="1C252B"/>
                </a:solidFill>
                <a:latin typeface="Segoe UI"/>
              </a:rPr>
              <a:t>.</a:t>
            </a:r>
          </a:p>
        </p:txBody>
      </p:sp>
      <p:sp>
        <p:nvSpPr>
          <p:cNvPr id="22" name="!!pb5">
            <a:extLst>
              <a:ext uri="{C183D7F6-B498-43B3-948B-1728B52AA6E4}">
                <adec:decorative xmlns:adec="http://schemas.microsoft.com/office/drawing/2017/decorative" val="1"/>
              </a:ext>
            </a:extLst>
          </p:cNvPr>
          <p:cNvSpPr/>
          <p:nvPr/>
        </p:nvSpPr>
        <p:spPr>
          <a:xfrm>
            <a:off x="658368" y="5694883"/>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717743"/>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676595"/>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Averaging two admissible heuristics.</a:t>
            </a:r>
            <a:r>
              <a:rPr sz="1800" b="0" i="0">
                <a:solidFill>
                  <a:srgbClr val="1C252B"/>
                </a:solidFill>
                <a:latin typeface="Segoe UI"/>
              </a:rPr>
              <a:t> The average is admissible but is dominated by the maximum. Take </a:t>
            </a:r>
            <a:r>
              <a:rPr sz="1800" b="0" i="0">
                <a:solidFill>
                  <a:srgbClr val="1C252B"/>
                </a:solidFill>
                <a:latin typeface="Cambria"/>
              </a:rPr>
              <a:t>max</a:t>
            </a:r>
            <a:r>
              <a:rPr sz="1800" b="0" i="0">
                <a:solidFill>
                  <a:srgbClr val="1C252B"/>
                </a:solidFill>
                <a:latin typeface="Segoe UI"/>
              </a:rPr>
              <a:t>, never the mean.</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451544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A* Over Sprint States, Two Heuristics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BDA8B07C-591F-4CBE-A655-349018F5733C}" type="slidenum">
              <a:rPr lang="en-GB" sz="1000">
                <a:solidFill>
                  <a:srgbClr val="8795A1"/>
                </a:solidFill>
                <a:latin typeface="Segoe UI"/>
              </a:rPr>
              <a:t>21</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Uniform-cost, </a:t>
            </a:r>
            <a:r>
              <a:rPr sz="2000" b="0" i="1">
                <a:solidFill>
                  <a:srgbClr val="1C252B"/>
                </a:solidFill>
                <a:latin typeface="Cambria"/>
              </a:rPr>
              <a:t>A</a:t>
            </a:r>
            <a:r>
              <a:rPr sz="1300" b="0" i="0" baseline="30000">
                <a:solidFill>
                  <a:srgbClr val="1C252B"/>
                </a:solidFill>
                <a:latin typeface="Cambria"/>
              </a:rPr>
              <a:t>∗</a:t>
            </a:r>
            <a:r>
              <a:rPr sz="2000" b="0" i="0">
                <a:solidFill>
                  <a:srgbClr val="1C252B"/>
                </a:solidFill>
                <a:latin typeface="Segoe UI"/>
              </a:rPr>
              <a:t> and greedy search on the network of Figure 5.1, with both heuristics, plus an exhaustive admissibility check over every reachable state.</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74294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The two heuristics, both relaxations</a:t>
            </a:r>
          </a:p>
          <a:p>
            <a:pPr algn="l" marL="459473" indent="-459473">
              <a:lnSpc>
                <a:spcPct val="100000"/>
              </a:lnSpc>
              <a:spcBef>
                <a:spcPts val="0"/>
              </a:spcBef>
              <a:spcAft>
                <a:spcPts val="0"/>
              </a:spcAft>
            </a:pPr>
            <a:r>
              <a:rPr sz="1900" b="1">
                <a:solidFill>
                  <a:srgbClr val="117A65"/>
                </a:solidFill>
                <a:latin typeface="Segoe UI"/>
              </a:rPr>
              <a:t>2.	</a:t>
            </a:r>
            <a:r>
              <a:rPr sz="1900" b="0" i="0">
                <a:solidFill>
                  <a:srgbClr val="1C252B"/>
                </a:solidFill>
                <a:latin typeface="Segoe UI"/>
              </a:rPr>
              <a:t>Best-first search; the priority decides the algorithm</a:t>
            </a:r>
          </a:p>
        </p:txBody>
      </p:sp>
      <p:sp>
        <p:nvSpPr>
          <p:cNvPr id="14"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7"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4: A∗ over sprint states, two heuristics</a:t>
            </a:r>
          </a:p>
        </p:txBody>
      </p:sp>
      <p:sp>
        <p:nvSpPr>
          <p:cNvPr id="18"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1"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239 lines of Python</a:t>
            </a:r>
          </a:p>
        </p:txBody>
      </p:sp>
      <p:sp>
        <p:nvSpPr>
          <p:cNvPr id="22"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25"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code/ch05_over_sprint_states_two.py</a:t>
            </a:r>
          </a:p>
        </p:txBody>
      </p:sp>
      <p:sp>
        <p:nvSpPr>
          <p:cNvPr id="2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fill">
            <a:extLst>
              <a:ext uri="{C183D7F6-B498-43B3-948B-1728B52AA6E4}">
                <adec:decorative xmlns:adec="http://schemas.microsoft.com/office/drawing/2017/decorative" val="1"/>
              </a:ext>
            </a:extLst>
          </p:cNvPr>
          <p:cNvSpPr/>
          <p:nvPr/>
        </p:nvSpPr>
        <p:spPr>
          <a:xfrm>
            <a:off x="0" y="0"/>
            <a:ext cx="474121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Over Sprint States, Two Heuristics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EFA22FC6-83E1-41B1-9E97-61813B5F3E1E}" type="slidenum">
              <a:rPr lang="en-GB" sz="1000">
                <a:solidFill>
                  <a:srgbClr val="8795A1"/>
                </a:solidFill>
                <a:latin typeface="Segoe UI"/>
              </a:rPr>
              <a:t>22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56303"/>
          </a:xfrm>
          <a:prstGeom prst="roundRect">
            <a:avLst>
              <a:gd name="adj" fmla="val 23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code/ch05_over_sprint_states_two.py</a:t>
            </a:r>
          </a:p>
        </p:txBody>
      </p:sp>
      <p:sp>
        <p:nvSpPr>
          <p:cNvPr id="14" name="!!code-text" descr="&quot;&quot;&quot;Chapter 5 lab -- informed search on the sprint network. Reproduces Table 5.1. The headline result is the last row: greedy search with the mandatory-work heuristic returns a 29-day plan when a 28-day plan exists, because a test harness reduces its estimate by nothing at all. &quot;&quot;&quot; import heapq import itertools from collections import deque"/>
          <p:cNvSpPr txBox="1"/>
          <p:nvPr/>
        </p:nvSpPr>
        <p:spPr>
          <a:xfrm>
            <a:off x="1362456" y="2523744"/>
            <a:ext cx="9987991" cy="3462527"/>
          </a:xfrm>
          <a:prstGeom prst="rect">
            <a:avLst/>
          </a:prstGeom>
          <a:noFill/>
        </p:spPr>
        <p:txBody>
          <a:bodyPr wrap="none" anchor="t" lIns="0" rIns="0" tIns="0" bIns="0">
            <a:noAutofit/>
          </a:bodyPr>
          <a:lstStyle/>
          <a:p>
            <a:pPr>
              <a:lnSpc>
                <a:spcPct val="100000"/>
              </a:lnSpc>
              <a:spcAft>
                <a:spcPts val="0"/>
              </a:spcAft>
            </a:pPr>
            <a:r>
              <a:rPr sz="2000" i="0">
                <a:solidFill>
                  <a:srgbClr val="7DCEA0"/>
                </a:solidFill>
                <a:latin typeface="Consolas"/>
              </a:rPr>
              <a:t>"""Chapter 5 lab -- informed search on the sprint network.</a:t>
            </a:r>
          </a:p>
          <a:p>
            <a:pPr>
              <a:lnSpc>
                <a:spcPct val="100000"/>
              </a:lnSpc>
              <a:spcAft>
                <a:spcPts val="0"/>
              </a:spcAft>
            </a:pPr>
            <a:r>
              <a:rPr sz="2000">
                <a:latin typeface="Consolas"/>
              </a:rPr>
              <a:t> </a:t>
            </a:r>
          </a:p>
          <a:p>
            <a:pPr>
              <a:lnSpc>
                <a:spcPct val="100000"/>
              </a:lnSpc>
              <a:spcAft>
                <a:spcPts val="0"/>
              </a:spcAft>
            </a:pPr>
            <a:r>
              <a:rPr sz="2000" i="0">
                <a:solidFill>
                  <a:srgbClr val="7DCEA0"/>
                </a:solidFill>
                <a:latin typeface="Consolas"/>
              </a:rPr>
              <a:t>Reproduces Table 5.1. The headline result is the last row: greedy</a:t>
            </a:r>
          </a:p>
          <a:p>
            <a:pPr>
              <a:lnSpc>
                <a:spcPct val="100000"/>
              </a:lnSpc>
              <a:spcAft>
                <a:spcPts val="0"/>
              </a:spcAft>
            </a:pPr>
            <a:r>
              <a:rPr sz="2000" i="0">
                <a:solidFill>
                  <a:srgbClr val="7DCEA0"/>
                </a:solidFill>
                <a:latin typeface="Consolas"/>
              </a:rPr>
              <a:t>search with the mandatory-work heuristic returns a 29-day plan when a</a:t>
            </a:r>
          </a:p>
          <a:p>
            <a:pPr>
              <a:lnSpc>
                <a:spcPct val="100000"/>
              </a:lnSpc>
              <a:spcAft>
                <a:spcPts val="0"/>
              </a:spcAft>
            </a:pPr>
            <a:r>
              <a:rPr sz="2000" i="0">
                <a:solidFill>
                  <a:srgbClr val="7DCEA0"/>
                </a:solidFill>
                <a:latin typeface="Consolas"/>
              </a:rPr>
              <a:t>28-day plan exists, because a test harness reduces its estimate by</a:t>
            </a:r>
          </a:p>
          <a:p>
            <a:pPr>
              <a:lnSpc>
                <a:spcPct val="100000"/>
              </a:lnSpc>
              <a:spcAft>
                <a:spcPts val="0"/>
              </a:spcAft>
            </a:pPr>
            <a:r>
              <a:rPr sz="2000" i="0">
                <a:solidFill>
                  <a:srgbClr val="7DCEA0"/>
                </a:solidFill>
                <a:latin typeface="Consolas"/>
              </a:rPr>
              <a:t>nothing at all.</a:t>
            </a:r>
          </a:p>
          <a:p>
            <a:pPr>
              <a:lnSpc>
                <a:spcPct val="100000"/>
              </a:lnSpc>
              <a:spcAft>
                <a:spcPts val="0"/>
              </a:spcAft>
            </a:pPr>
            <a:r>
              <a:rPr sz="2000" i="0">
                <a:solidFill>
                  <a:srgbClr val="7DCEA0"/>
                </a:solidFill>
                <a:latin typeface="Consolas"/>
              </a:rPr>
              <a:t>"""</a:t>
            </a:r>
          </a:p>
          <a:p>
            <a:pPr>
              <a:lnSpc>
                <a:spcPct val="100000"/>
              </a:lnSpc>
              <a:spcAft>
                <a:spcPts val="0"/>
              </a:spcAft>
            </a:pPr>
            <a:r>
              <a:rPr sz="2000">
                <a:latin typeface="Consolas"/>
              </a:rPr>
              <a:t> </a:t>
            </a:r>
          </a:p>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heapq</a:t>
            </a:r>
          </a:p>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itertools</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collections</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deque</a:t>
            </a:r>
          </a:p>
        </p:txBody>
      </p:sp>
      <p:sp>
        <p:nvSpPr>
          <p:cNvPr id="15" name="!!code-num"/>
          <p:cNvSpPr txBox="1"/>
          <p:nvPr/>
        </p:nvSpPr>
        <p:spPr>
          <a:xfrm>
            <a:off x="768096" y="2523744"/>
            <a:ext cx="393192" cy="34625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a:p>
            <a:pPr algn="r">
              <a:lnSpc>
                <a:spcPct val="100000"/>
              </a:lnSpc>
            </a:pPr>
            <a:r>
              <a:rPr sz="2000">
                <a:solidFill>
                  <a:srgbClr val="4F5D6A"/>
                </a:solidFill>
                <a:latin typeface="Consolas"/>
              </a:rPr>
              <a:t>5</a:t>
            </a:r>
          </a:p>
          <a:p>
            <a:pPr algn="r">
              <a:lnSpc>
                <a:spcPct val="100000"/>
              </a:lnSpc>
            </a:pPr>
            <a:r>
              <a:rPr sz="2000">
                <a:solidFill>
                  <a:srgbClr val="4F5D6A"/>
                </a:solidFill>
                <a:latin typeface="Consolas"/>
              </a:rPr>
              <a:t>6</a:t>
            </a:r>
          </a:p>
          <a:p>
            <a:pPr algn="r">
              <a:lnSpc>
                <a:spcPct val="100000"/>
              </a:lnSpc>
            </a:pPr>
            <a:r>
              <a:rPr sz="2000">
                <a:solidFill>
                  <a:srgbClr val="4F5D6A"/>
                </a:solidFill>
                <a:latin typeface="Consolas"/>
              </a:rPr>
              <a:t>7</a:t>
            </a:r>
          </a:p>
          <a:p>
            <a:pPr algn="r">
              <a:lnSpc>
                <a:spcPct val="100000"/>
              </a:lnSpc>
            </a:pPr>
            <a:r>
              <a:rPr sz="2000">
                <a:solidFill>
                  <a:srgbClr val="4F5D6A"/>
                </a:solidFill>
                <a:latin typeface="Consolas"/>
              </a:rPr>
              <a:t>8</a:t>
            </a:r>
          </a:p>
          <a:p>
            <a:pPr algn="r">
              <a:lnSpc>
                <a:spcPct val="100000"/>
              </a:lnSpc>
            </a:pPr>
            <a:r>
              <a:rPr sz="2000">
                <a:solidFill>
                  <a:srgbClr val="4F5D6A"/>
                </a:solidFill>
                <a:latin typeface="Consolas"/>
              </a:rPr>
              <a:t>9</a:t>
            </a:r>
          </a:p>
          <a:p>
            <a:pPr algn="r">
              <a:lnSpc>
                <a:spcPct val="100000"/>
              </a:lnSpc>
            </a:pPr>
            <a:r>
              <a:rPr sz="2000">
                <a:solidFill>
                  <a:srgbClr val="4F5D6A"/>
                </a:solidFill>
                <a:latin typeface="Consolas"/>
              </a:rPr>
              <a:t>10</a:t>
            </a:r>
          </a:p>
          <a:p>
            <a:pPr algn="r">
              <a:lnSpc>
                <a:spcPct val="100000"/>
              </a:lnSpc>
            </a:pPr>
            <a:r>
              <a:rPr sz="2000">
                <a:solidFill>
                  <a:srgbClr val="4F5D6A"/>
                </a:solidFill>
                <a:latin typeface="Consolas"/>
              </a:rPr>
              <a:t>11</a:t>
            </a:r>
          </a:p>
          <a:p>
            <a:pPr algn="r">
              <a:lnSpc>
                <a:spcPct val="100000"/>
              </a:lnSpc>
            </a:pPr>
            <a:r>
              <a:rPr sz="2000">
                <a:solidFill>
                  <a:srgbClr val="4F5D6A"/>
                </a:solidFill>
                <a:latin typeface="Consolas"/>
              </a:rPr>
              <a:t>12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496698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Over Sprint States, Two Heuristics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B4C9D16E-D6FC-4508-81B4-2D8DE738B65A}" type="slidenum">
              <a:rPr lang="en-GB" sz="1000">
                <a:solidFill>
                  <a:srgbClr val="8795A1"/>
                </a:solidFill>
                <a:latin typeface="Segoe UI"/>
              </a:rPr>
              <a:t>23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code/ch05_over_sprint_states_two.py</a:t>
            </a:r>
          </a:p>
        </p:txBody>
      </p:sp>
      <p:sp>
        <p:nvSpPr>
          <p:cNvPr id="14" name="!!code-text" descr="# duration, then a conjunction of disjunctions: a task is ready when # every group has at least one member already finished. TASKS = { &quot;spec&quot;: (3, []), &quot;schema&quot;: (2, [{&quot;spec&quot;}]), &quot;api&quot;: (5, [{&quot;schema&quot;}]), &quot;ui&quot;: (4, [{&quot;spec&quot;}]), &quot;auth&quot;: (3, [{&quot;schema&quot;}]), &quot;harness&quot;: (3, [{&quot;schema&quot;}]), &quot;auto_test&quot;: (2, [{&quot;api&quot;}, {&quot;auth&quot;}, {&quot;harness&quot;}]), &quot;manual_test&quot;: (6, [{&quot;api&quot;}, {&quot;auth&quot;}]), &quot;docs&quot;: (2, [{&quot;api&quot;}]), &quot;uat&quot;: (3, [{&quot;ui&quot;}, {&quot;auto_test&quot;, &quot;manual_test&quot;}]), &quot;release&quot;: (1, [{&quot;uat&quot;}, {&quot;docs&quot;}]), } GOAL = &quot;release&quot;"/>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400" i="1">
                <a:solidFill>
                  <a:srgbClr val="8795A1"/>
                </a:solidFill>
                <a:latin typeface="Consolas"/>
              </a:rPr>
              <a:t># duration, then a conjunction of disjunctions: a task is ready when</a:t>
            </a:r>
          </a:p>
          <a:p>
            <a:pPr>
              <a:lnSpc>
                <a:spcPct val="100000"/>
              </a:lnSpc>
              <a:spcAft>
                <a:spcPts val="0"/>
              </a:spcAft>
            </a:pPr>
            <a:r>
              <a:rPr sz="1400" i="1">
                <a:solidFill>
                  <a:srgbClr val="8795A1"/>
                </a:solidFill>
                <a:latin typeface="Consolas"/>
              </a:rPr>
              <a:t># every group has at least one member already finished.</a:t>
            </a:r>
          </a:p>
          <a:p>
            <a:pPr>
              <a:lnSpc>
                <a:spcPct val="100000"/>
              </a:lnSpc>
              <a:spcAft>
                <a:spcPts val="0"/>
              </a:spcAft>
            </a:pPr>
            <a:r>
              <a:rPr sz="1400" i="0">
                <a:solidFill>
                  <a:srgbClr val="E8EDF2"/>
                </a:solidFill>
                <a:latin typeface="Consolas"/>
              </a:rPr>
              <a:t>TASKS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spec</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3</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schema</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spec</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api</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5</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schema</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ui</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4</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spec</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auth</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3</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schema</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harness</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3</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schema</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auto_test</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api</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auth</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harness</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manual_test</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6</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api</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auth</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docs</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api</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uat</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3</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ui</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auto_test</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manual_test</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release</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1</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uat</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docs</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AEB6BF"/>
                </a:solidFill>
                <a:latin typeface="Consolas"/>
              </a:rPr>
              <a:t>}</a:t>
            </a:r>
          </a:p>
          <a:p>
            <a:pPr>
              <a:lnSpc>
                <a:spcPct val="100000"/>
              </a:lnSpc>
              <a:spcAft>
                <a:spcPts val="0"/>
              </a:spcAft>
            </a:pPr>
            <a:r>
              <a:rPr sz="1400" i="0">
                <a:solidFill>
                  <a:srgbClr val="E8EDF2"/>
                </a:solidFill>
                <a:latin typeface="Consolas"/>
              </a:rPr>
              <a:t>GOAL</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release</a:t>
            </a:r>
            <a:r>
              <a:rPr sz="1400" i="0">
                <a:solidFill>
                  <a:srgbClr val="7DCEA0"/>
                </a:solidFill>
                <a:latin typeface="Consolas"/>
              </a:rPr>
              <a:t>"</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14</a:t>
            </a:r>
          </a:p>
          <a:p>
            <a:pPr algn="r">
              <a:lnSpc>
                <a:spcPct val="100000"/>
              </a:lnSpc>
            </a:pPr>
            <a:r>
              <a:rPr sz="1400">
                <a:solidFill>
                  <a:srgbClr val="4F5D6A"/>
                </a:solidFill>
                <a:latin typeface="Consolas"/>
              </a:rPr>
              <a:t>15</a:t>
            </a:r>
          </a:p>
          <a:p>
            <a:pPr algn="r">
              <a:lnSpc>
                <a:spcPct val="100000"/>
              </a:lnSpc>
            </a:pPr>
            <a:r>
              <a:rPr sz="1400">
                <a:solidFill>
                  <a:srgbClr val="4F5D6A"/>
                </a:solidFill>
                <a:latin typeface="Consolas"/>
              </a:rPr>
              <a:t>16</a:t>
            </a:r>
          </a:p>
          <a:p>
            <a:pPr algn="r">
              <a:lnSpc>
                <a:spcPct val="100000"/>
              </a:lnSpc>
            </a:pPr>
            <a:r>
              <a:rPr sz="1400">
                <a:solidFill>
                  <a:srgbClr val="4F5D6A"/>
                </a:solidFill>
                <a:latin typeface="Consolas"/>
              </a:rPr>
              <a:t>17</a:t>
            </a:r>
          </a:p>
          <a:p>
            <a:pPr algn="r">
              <a:lnSpc>
                <a:spcPct val="100000"/>
              </a:lnSpc>
            </a:pPr>
            <a:r>
              <a:rPr sz="1400">
                <a:solidFill>
                  <a:srgbClr val="4F5D6A"/>
                </a:solidFill>
                <a:latin typeface="Consolas"/>
              </a:rPr>
              <a:t>18</a:t>
            </a:r>
          </a:p>
          <a:p>
            <a:pPr algn="r">
              <a:lnSpc>
                <a:spcPct val="100000"/>
              </a:lnSpc>
            </a:pPr>
            <a:r>
              <a:rPr sz="1400">
                <a:solidFill>
                  <a:srgbClr val="4F5D6A"/>
                </a:solidFill>
                <a:latin typeface="Consolas"/>
              </a:rPr>
              <a:t>19</a:t>
            </a:r>
          </a:p>
          <a:p>
            <a:pPr algn="r">
              <a:lnSpc>
                <a:spcPct val="100000"/>
              </a:lnSpc>
            </a:pPr>
            <a:r>
              <a:rPr sz="1400">
                <a:solidFill>
                  <a:srgbClr val="4F5D6A"/>
                </a:solidFill>
                <a:latin typeface="Consolas"/>
              </a:rPr>
              <a:t>20</a:t>
            </a:r>
          </a:p>
          <a:p>
            <a:pPr algn="r">
              <a:lnSpc>
                <a:spcPct val="100000"/>
              </a:lnSpc>
            </a:pPr>
            <a:r>
              <a:rPr sz="1400">
                <a:solidFill>
                  <a:srgbClr val="4F5D6A"/>
                </a:solidFill>
                <a:latin typeface="Consolas"/>
              </a:rPr>
              <a:t>21</a:t>
            </a:r>
          </a:p>
          <a:p>
            <a:pPr algn="r">
              <a:lnSpc>
                <a:spcPct val="100000"/>
              </a:lnSpc>
            </a:pPr>
            <a:r>
              <a:rPr sz="1400">
                <a:solidFill>
                  <a:srgbClr val="4F5D6A"/>
                </a:solidFill>
                <a:latin typeface="Consolas"/>
              </a:rPr>
              <a:t>22</a:t>
            </a:r>
          </a:p>
          <a:p>
            <a:pPr algn="r">
              <a:lnSpc>
                <a:spcPct val="100000"/>
              </a:lnSpc>
            </a:pPr>
            <a:r>
              <a:rPr sz="1400">
                <a:solidFill>
                  <a:srgbClr val="4F5D6A"/>
                </a:solidFill>
                <a:latin typeface="Consolas"/>
              </a:rPr>
              <a:t>23</a:t>
            </a:r>
          </a:p>
          <a:p>
            <a:pPr algn="r">
              <a:lnSpc>
                <a:spcPct val="100000"/>
              </a:lnSpc>
            </a:pPr>
            <a:r>
              <a:rPr sz="1400">
                <a:solidFill>
                  <a:srgbClr val="4F5D6A"/>
                </a:solidFill>
                <a:latin typeface="Consolas"/>
              </a:rPr>
              <a:t>24</a:t>
            </a:r>
          </a:p>
          <a:p>
            <a:pPr algn="r">
              <a:lnSpc>
                <a:spcPct val="100000"/>
              </a:lnSpc>
            </a:pPr>
            <a:r>
              <a:rPr sz="1400">
                <a:solidFill>
                  <a:srgbClr val="4F5D6A"/>
                </a:solidFill>
                <a:latin typeface="Consolas"/>
              </a:rPr>
              <a:t>25</a:t>
            </a:r>
          </a:p>
          <a:p>
            <a:pPr algn="r">
              <a:lnSpc>
                <a:spcPct val="100000"/>
              </a:lnSpc>
            </a:pPr>
            <a:r>
              <a:rPr sz="1400">
                <a:solidFill>
                  <a:srgbClr val="4F5D6A"/>
                </a:solidFill>
                <a:latin typeface="Consolas"/>
              </a:rPr>
              <a:t>26</a:t>
            </a:r>
          </a:p>
          <a:p>
            <a:pPr algn="r">
              <a:lnSpc>
                <a:spcPct val="100000"/>
              </a:lnSpc>
            </a:pPr>
            <a:r>
              <a:rPr sz="1400">
                <a:solidFill>
                  <a:srgbClr val="4F5D6A"/>
                </a:solidFill>
                <a:latin typeface="Consolas"/>
              </a:rPr>
              <a:t>27</a:t>
            </a:r>
          </a:p>
          <a:p>
            <a:pPr algn="r">
              <a:lnSpc>
                <a:spcPct val="100000"/>
              </a:lnSpc>
            </a:pPr>
            <a:r>
              <a:rPr sz="1400">
                <a:solidFill>
                  <a:srgbClr val="4F5D6A"/>
                </a:solidFill>
                <a:latin typeface="Consolas"/>
              </a:rPr>
              <a:t>28</a:t>
            </a:r>
          </a:p>
          <a:p>
            <a:pPr algn="r">
              <a:lnSpc>
                <a:spcPct val="100000"/>
              </a:lnSpc>
            </a:pPr>
            <a:r>
              <a:rPr sz="1400">
                <a:solidFill>
                  <a:srgbClr val="4F5D6A"/>
                </a:solidFill>
                <a:latin typeface="Consolas"/>
              </a:rPr>
              <a:t>29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519275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Over Sprint States, Two Heuristics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C253078E-7FB8-463C-89D3-8825DD5F041F}"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32504"/>
          </a:xfrm>
          <a:prstGeom prst="roundRect">
            <a:avLst>
              <a:gd name="adj" fmla="val 2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code/ch05_over_sprint_states_two.py</a:t>
            </a:r>
          </a:p>
        </p:txBody>
      </p:sp>
      <p:sp>
        <p:nvSpPr>
          <p:cNvPr id="14" name="!!code-text" descr="# The eight tasks that appear in every plan. Everything except the two # testing routes and the harness that one of them needs. MANDATORY = (&quot;spec&quot;, &quot;schema&quot;, &quot;api&quot;, &quot;auth&quot;, &quot;ui&quot;, &quot;docs&quot;, &quot;uat&quot;, &quot;release&quot;) def dur(t): return TASKS[t][0] def ready(state): &quot;&quot;&quot;Legal actions: the successor function, as a generator.&quot;&quot;&quot; for t, (_, groups) in TASKS.items(): if t not in state and all(g &amp; state for g in groups): yield t"/>
          <p:cNvSpPr txBox="1"/>
          <p:nvPr/>
        </p:nvSpPr>
        <p:spPr>
          <a:xfrm>
            <a:off x="1362456" y="2523744"/>
            <a:ext cx="9987991" cy="3538727"/>
          </a:xfrm>
          <a:prstGeom prst="rect">
            <a:avLst/>
          </a:prstGeom>
          <a:noFill/>
        </p:spPr>
        <p:txBody>
          <a:bodyPr wrap="none" anchor="t" lIns="0" rIns="0" tIns="0" bIns="0">
            <a:noAutofit/>
          </a:bodyPr>
          <a:lstStyle/>
          <a:p>
            <a:pPr>
              <a:lnSpc>
                <a:spcPct val="100000"/>
              </a:lnSpc>
              <a:spcAft>
                <a:spcPts val="0"/>
              </a:spcAft>
            </a:pPr>
            <a:r>
              <a:rPr sz="1500" i="1">
                <a:solidFill>
                  <a:srgbClr val="8795A1"/>
                </a:solidFill>
                <a:latin typeface="Consolas"/>
              </a:rPr>
              <a:t># The eight tasks that appear in every plan. Everything except the two</a:t>
            </a:r>
          </a:p>
          <a:p>
            <a:pPr>
              <a:lnSpc>
                <a:spcPct val="100000"/>
              </a:lnSpc>
              <a:spcAft>
                <a:spcPts val="0"/>
              </a:spcAft>
            </a:pPr>
            <a:r>
              <a:rPr sz="1500" i="1">
                <a:solidFill>
                  <a:srgbClr val="8795A1"/>
                </a:solidFill>
                <a:latin typeface="Consolas"/>
              </a:rPr>
              <a:t># testing routes and the harness that one of them needs.</a:t>
            </a:r>
          </a:p>
          <a:p>
            <a:pPr>
              <a:lnSpc>
                <a:spcPct val="100000"/>
              </a:lnSpc>
              <a:spcAft>
                <a:spcPts val="0"/>
              </a:spcAft>
            </a:pPr>
            <a:r>
              <a:rPr sz="1500" i="0">
                <a:solidFill>
                  <a:srgbClr val="E8EDF2"/>
                </a:solidFill>
                <a:latin typeface="Consolas"/>
              </a:rPr>
              <a:t>MANDATORY</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spec</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schema</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api</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auth</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ui</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docs</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uat</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release</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a:latin typeface="Consolas"/>
              </a:rPr>
              <a:t> </a:t>
            </a:r>
          </a:p>
          <a:p>
            <a:pPr>
              <a:lnSpc>
                <a:spcPct val="100000"/>
              </a:lnSpc>
              <a:spcAft>
                <a:spcPts val="0"/>
              </a:spcAft>
            </a:pPr>
            <a:r>
              <a:rPr sz="1500" i="0">
                <a:solidFill>
                  <a:srgbClr val="5DADE2"/>
                </a:solidFill>
                <a:latin typeface="Consolas"/>
              </a:rPr>
              <a:t>def</a:t>
            </a:r>
            <a:r>
              <a:rPr sz="1500" i="0">
                <a:solidFill>
                  <a:srgbClr val="E8EDF2"/>
                </a:solidFill>
                <a:latin typeface="Consolas"/>
              </a:rPr>
              <a:t> </a:t>
            </a:r>
            <a:r>
              <a:rPr sz="1500" i="0">
                <a:solidFill>
                  <a:srgbClr val="C39BD3"/>
                </a:solidFill>
                <a:latin typeface="Consolas"/>
              </a:rPr>
              <a:t>dur</a:t>
            </a:r>
            <a:r>
              <a:rPr sz="1500" i="0">
                <a:solidFill>
                  <a:srgbClr val="AEB6BF"/>
                </a:solidFill>
                <a:latin typeface="Consolas"/>
              </a:rPr>
              <a:t>(</a:t>
            </a:r>
            <a:r>
              <a:rPr sz="1500" i="0">
                <a:solidFill>
                  <a:srgbClr val="E8EDF2"/>
                </a:solidFill>
                <a:latin typeface="Consolas"/>
              </a:rPr>
              <a:t>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E8EDF2"/>
                </a:solidFill>
                <a:latin typeface="Consolas"/>
              </a:rPr>
              <a:t>TASKS</a:t>
            </a:r>
            <a:r>
              <a:rPr sz="1500" i="0">
                <a:solidFill>
                  <a:srgbClr val="AEB6BF"/>
                </a:solidFill>
                <a:latin typeface="Consolas"/>
              </a:rPr>
              <a:t>[</a:t>
            </a:r>
            <a:r>
              <a:rPr sz="1500" i="0">
                <a:solidFill>
                  <a:srgbClr val="E8EDF2"/>
                </a:solidFill>
                <a:latin typeface="Consolas"/>
              </a:rPr>
              <a:t>t</a:t>
            </a:r>
            <a:r>
              <a:rPr sz="1500" i="0">
                <a:solidFill>
                  <a:srgbClr val="AEB6BF"/>
                </a:solidFill>
                <a:latin typeface="Consolas"/>
              </a:rPr>
              <a:t>]</a:t>
            </a:r>
            <a:r>
              <a:rPr sz="1500" i="0">
                <a:solidFill>
                  <a:srgbClr val="AEB6BF"/>
                </a:solidFill>
                <a:latin typeface="Consolas"/>
              </a:rPr>
              <a:t>[</a:t>
            </a:r>
            <a:r>
              <a:rPr sz="1500" i="0">
                <a:solidFill>
                  <a:srgbClr val="F7DC6F"/>
                </a:solidFill>
                <a:latin typeface="Consolas"/>
              </a:rPr>
              <a:t>0</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a:latin typeface="Consolas"/>
              </a:rPr>
              <a:t> </a:t>
            </a:r>
          </a:p>
          <a:p>
            <a:pPr>
              <a:lnSpc>
                <a:spcPct val="100000"/>
              </a:lnSpc>
              <a:spcAft>
                <a:spcPts val="0"/>
              </a:spcAft>
            </a:pPr>
            <a:r>
              <a:rPr sz="1500" i="0">
                <a:solidFill>
                  <a:srgbClr val="5DADE2"/>
                </a:solidFill>
                <a:latin typeface="Consolas"/>
              </a:rPr>
              <a:t>def</a:t>
            </a:r>
            <a:r>
              <a:rPr sz="1500" i="0">
                <a:solidFill>
                  <a:srgbClr val="E8EDF2"/>
                </a:solidFill>
                <a:latin typeface="Consolas"/>
              </a:rPr>
              <a:t> </a:t>
            </a:r>
            <a:r>
              <a:rPr sz="1500" i="0">
                <a:solidFill>
                  <a:srgbClr val="C39BD3"/>
                </a:solidFill>
                <a:latin typeface="Consolas"/>
              </a:rPr>
              <a:t>ready</a:t>
            </a:r>
            <a:r>
              <a:rPr sz="1500" i="0">
                <a:solidFill>
                  <a:srgbClr val="AEB6BF"/>
                </a:solidFill>
                <a:latin typeface="Consolas"/>
              </a:rPr>
              <a:t>(</a:t>
            </a:r>
            <a:r>
              <a:rPr sz="1500" i="0">
                <a:solidFill>
                  <a:srgbClr val="E8EDF2"/>
                </a:solidFill>
                <a:latin typeface="Consolas"/>
              </a:rPr>
              <a:t>state</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"""Legal actions: the successor function, as a generator."""</a:t>
            </a:r>
          </a:p>
          <a:p>
            <a:pPr>
              <a:lnSpc>
                <a:spcPct val="100000"/>
              </a:lnSpc>
              <a:spcAft>
                <a:spcPts val="0"/>
              </a:spcAft>
            </a:pP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_</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groups</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TASKS</a:t>
            </a:r>
            <a:r>
              <a:rPr sz="1500" i="0">
                <a:solidFill>
                  <a:srgbClr val="AEB6BF"/>
                </a:solidFill>
                <a:latin typeface="Consolas"/>
              </a:rPr>
              <a:t>.</a:t>
            </a:r>
            <a:r>
              <a:rPr sz="1500" i="0">
                <a:solidFill>
                  <a:srgbClr val="E8EDF2"/>
                </a:solidFill>
                <a:latin typeface="Consolas"/>
              </a:rPr>
              <a:t>items</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E8EDF2"/>
                </a:solidFill>
                <a:latin typeface="Consolas"/>
              </a:rPr>
              <a:t>t</a:t>
            </a:r>
            <a:r>
              <a:rPr sz="1500" i="0">
                <a:solidFill>
                  <a:srgbClr val="E8EDF2"/>
                </a:solidFill>
                <a:latin typeface="Consolas"/>
              </a:rPr>
              <a:t> </a:t>
            </a:r>
            <a:r>
              <a:rPr sz="1500" i="0">
                <a:solidFill>
                  <a:srgbClr val="AEB6BF"/>
                </a:solidFill>
                <a:latin typeface="Consolas"/>
              </a:rPr>
              <a:t>not</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state</a:t>
            </a:r>
            <a:r>
              <a:rPr sz="1500" i="0">
                <a:solidFill>
                  <a:srgbClr val="E8EDF2"/>
                </a:solidFill>
                <a:latin typeface="Consolas"/>
              </a:rPr>
              <a:t> </a:t>
            </a:r>
            <a:r>
              <a:rPr sz="1500" i="0">
                <a:solidFill>
                  <a:srgbClr val="AEB6BF"/>
                </a:solidFill>
                <a:latin typeface="Consolas"/>
              </a:rPr>
              <a:t>and</a:t>
            </a:r>
            <a:r>
              <a:rPr sz="1500" i="0">
                <a:solidFill>
                  <a:srgbClr val="E8EDF2"/>
                </a:solidFill>
                <a:latin typeface="Consolas"/>
              </a:rPr>
              <a:t> </a:t>
            </a:r>
            <a:r>
              <a:rPr sz="1500" i="0">
                <a:solidFill>
                  <a:srgbClr val="C39BD3"/>
                </a:solidFill>
                <a:latin typeface="Consolas"/>
              </a:rPr>
              <a:t>all</a:t>
            </a:r>
            <a:r>
              <a:rPr sz="1500" i="0">
                <a:solidFill>
                  <a:srgbClr val="AEB6BF"/>
                </a:solidFill>
                <a:latin typeface="Consolas"/>
              </a:rPr>
              <a:t>(</a:t>
            </a:r>
            <a:r>
              <a:rPr sz="1500" i="0">
                <a:solidFill>
                  <a:srgbClr val="E8EDF2"/>
                </a:solidFill>
                <a:latin typeface="Consolas"/>
              </a:rPr>
              <a:t>g</a:t>
            </a:r>
            <a:r>
              <a:rPr sz="1500" i="0">
                <a:solidFill>
                  <a:srgbClr val="E8EDF2"/>
                </a:solidFill>
                <a:latin typeface="Consolas"/>
              </a:rPr>
              <a:t> </a:t>
            </a:r>
            <a:r>
              <a:rPr sz="1500" i="0">
                <a:solidFill>
                  <a:srgbClr val="AEB6BF"/>
                </a:solidFill>
                <a:latin typeface="Consolas"/>
              </a:rPr>
              <a:t>&amp;</a:t>
            </a:r>
            <a:r>
              <a:rPr sz="1500" i="0">
                <a:solidFill>
                  <a:srgbClr val="E8EDF2"/>
                </a:solidFill>
                <a:latin typeface="Consolas"/>
              </a:rPr>
              <a:t> </a:t>
            </a:r>
            <a:r>
              <a:rPr sz="1500" i="0">
                <a:solidFill>
                  <a:srgbClr val="E8EDF2"/>
                </a:solidFill>
                <a:latin typeface="Consolas"/>
              </a:rPr>
              <a:t>state</a:t>
            </a: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g</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groups</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yield</a:t>
            </a:r>
            <a:r>
              <a:rPr sz="1500" i="0">
                <a:solidFill>
                  <a:srgbClr val="E8EDF2"/>
                </a:solidFill>
                <a:latin typeface="Consolas"/>
              </a:rPr>
              <a:t> </a:t>
            </a:r>
            <a:r>
              <a:rPr sz="1500" i="0">
                <a:solidFill>
                  <a:srgbClr val="E8EDF2"/>
                </a:solidFill>
                <a:latin typeface="Consolas"/>
              </a:rPr>
              <a:t>t</a:t>
            </a:r>
          </a:p>
        </p:txBody>
      </p:sp>
      <p:sp>
        <p:nvSpPr>
          <p:cNvPr id="15" name="!!code-num"/>
          <p:cNvSpPr txBox="1"/>
          <p:nvPr/>
        </p:nvSpPr>
        <p:spPr>
          <a:xfrm>
            <a:off x="768096" y="2523744"/>
            <a:ext cx="393192" cy="3538727"/>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31</a:t>
            </a:r>
          </a:p>
          <a:p>
            <a:pPr algn="r">
              <a:lnSpc>
                <a:spcPct val="100000"/>
              </a:lnSpc>
            </a:pPr>
            <a:r>
              <a:rPr sz="1500">
                <a:solidFill>
                  <a:srgbClr val="4F5D6A"/>
                </a:solidFill>
                <a:latin typeface="Consolas"/>
              </a:rPr>
              <a:t>32</a:t>
            </a:r>
          </a:p>
          <a:p>
            <a:pPr algn="r">
              <a:lnSpc>
                <a:spcPct val="100000"/>
              </a:lnSpc>
            </a:pPr>
            <a:r>
              <a:rPr sz="1500">
                <a:solidFill>
                  <a:srgbClr val="4F5D6A"/>
                </a:solidFill>
                <a:latin typeface="Consolas"/>
              </a:rPr>
              <a:t>33</a:t>
            </a:r>
          </a:p>
          <a:p>
            <a:pPr algn="r">
              <a:lnSpc>
                <a:spcPct val="100000"/>
              </a:lnSpc>
            </a:pPr>
            <a:r>
              <a:rPr sz="1500">
                <a:solidFill>
                  <a:srgbClr val="4F5D6A"/>
                </a:solidFill>
                <a:latin typeface="Consolas"/>
              </a:rPr>
              <a:t>34</a:t>
            </a:r>
          </a:p>
          <a:p>
            <a:pPr algn="r">
              <a:lnSpc>
                <a:spcPct val="100000"/>
              </a:lnSpc>
            </a:pPr>
            <a:r>
              <a:rPr sz="1500">
                <a:solidFill>
                  <a:srgbClr val="4F5D6A"/>
                </a:solidFill>
                <a:latin typeface="Consolas"/>
              </a:rPr>
              <a:t>35</a:t>
            </a:r>
          </a:p>
          <a:p>
            <a:pPr algn="r">
              <a:lnSpc>
                <a:spcPct val="100000"/>
              </a:lnSpc>
            </a:pPr>
            <a:r>
              <a:rPr sz="1500">
                <a:solidFill>
                  <a:srgbClr val="4F5D6A"/>
                </a:solidFill>
                <a:latin typeface="Consolas"/>
              </a:rPr>
              <a:t>36</a:t>
            </a:r>
          </a:p>
          <a:p>
            <a:pPr algn="r">
              <a:lnSpc>
                <a:spcPct val="100000"/>
              </a:lnSpc>
            </a:pPr>
            <a:r>
              <a:rPr sz="1500">
                <a:solidFill>
                  <a:srgbClr val="4F5D6A"/>
                </a:solidFill>
                <a:latin typeface="Consolas"/>
              </a:rPr>
              <a:t>37</a:t>
            </a:r>
          </a:p>
          <a:p>
            <a:pPr algn="r">
              <a:lnSpc>
                <a:spcPct val="100000"/>
              </a:lnSpc>
            </a:pPr>
            <a:r>
              <a:rPr sz="1500">
                <a:solidFill>
                  <a:srgbClr val="4F5D6A"/>
                </a:solidFill>
                <a:latin typeface="Consolas"/>
              </a:rPr>
              <a:t>38</a:t>
            </a:r>
          </a:p>
          <a:p>
            <a:pPr algn="r">
              <a:lnSpc>
                <a:spcPct val="100000"/>
              </a:lnSpc>
            </a:pPr>
            <a:r>
              <a:rPr sz="1500">
                <a:solidFill>
                  <a:srgbClr val="4F5D6A"/>
                </a:solidFill>
                <a:latin typeface="Consolas"/>
              </a:rPr>
              <a:t>39</a:t>
            </a:r>
          </a:p>
          <a:p>
            <a:pPr algn="r">
              <a:lnSpc>
                <a:spcPct val="100000"/>
              </a:lnSpc>
            </a:pPr>
            <a:r>
              <a:rPr sz="1500">
                <a:solidFill>
                  <a:srgbClr val="4F5D6A"/>
                </a:solidFill>
                <a:latin typeface="Consolas"/>
              </a:rPr>
              <a:t>40</a:t>
            </a:r>
          </a:p>
          <a:p>
            <a:pPr algn="r">
              <a:lnSpc>
                <a:spcPct val="100000"/>
              </a:lnSpc>
            </a:pPr>
            <a:r>
              <a:rPr sz="1500">
                <a:solidFill>
                  <a:srgbClr val="4F5D6A"/>
                </a:solidFill>
                <a:latin typeface="Consolas"/>
              </a:rPr>
              <a:t>41</a:t>
            </a:r>
          </a:p>
          <a:p>
            <a:pPr algn="r">
              <a:lnSpc>
                <a:spcPct val="100000"/>
              </a:lnSpc>
            </a:pPr>
            <a:r>
              <a:rPr sz="1500">
                <a:solidFill>
                  <a:srgbClr val="4F5D6A"/>
                </a:solidFill>
                <a:latin typeface="Consolas"/>
              </a:rPr>
              <a:t>42</a:t>
            </a:r>
          </a:p>
          <a:p>
            <a:pPr algn="r">
              <a:lnSpc>
                <a:spcPct val="100000"/>
              </a:lnSpc>
            </a:pPr>
            <a:r>
              <a:rPr sz="1500">
                <a:solidFill>
                  <a:srgbClr val="4F5D6A"/>
                </a:solidFill>
                <a:latin typeface="Consolas"/>
              </a:rPr>
              <a:t>43</a:t>
            </a:r>
          </a:p>
          <a:p>
            <a:pPr algn="r">
              <a:lnSpc>
                <a:spcPct val="100000"/>
              </a:lnSpc>
            </a:pPr>
            <a:r>
              <a:rPr sz="1500">
                <a:solidFill>
                  <a:srgbClr val="4F5D6A"/>
                </a:solidFill>
                <a:latin typeface="Consolas"/>
              </a:rPr>
              <a:t>44</a:t>
            </a:r>
          </a:p>
          <a:p>
            <a:pPr algn="r">
              <a:lnSpc>
                <a:spcPct val="100000"/>
              </a:lnSpc>
            </a:pPr>
            <a:r>
              <a:rPr sz="1500">
                <a:solidFill>
                  <a:srgbClr val="4F5D6A"/>
                </a:solidFill>
                <a:latin typeface="Consolas"/>
              </a:rPr>
              <a:t>45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541853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Over Sprint States, Two Heuristics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C9E21E50-975F-4D83-BDF3-63CCBC151059}"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two heuristics, both relaxations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346703"/>
          </a:xfrm>
          <a:prstGeom prst="roundRect">
            <a:avLst>
              <a:gd name="adj" fmla="val 273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code/ch05_over_sprint_states_two.py</a:t>
            </a:r>
          </a:p>
        </p:txBody>
      </p:sp>
      <p:sp>
        <p:nvSpPr>
          <p:cNvPr id="14" name="!!code-text" descr="# --- the two heuristics, both relaxations -------------------------- def h_zero(state): return 0 def h_mandatory(state): &quot;&quot;&quot;Relax away the testing requirement: just add up the work that cannot be avoided. 23 days at the root.&quot;&quot;&quot; return sum(dur(t) for t in MANDATORY if t not in state)"/>
          <p:cNvSpPr txBox="1"/>
          <p:nvPr/>
        </p:nvSpPr>
        <p:spPr>
          <a:xfrm>
            <a:off x="1362456" y="2523744"/>
            <a:ext cx="9987991" cy="2852927"/>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 the two heuristics, both relaxations --------------------------</a:t>
            </a:r>
          </a:p>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h_zero</a:t>
            </a:r>
            <a:r>
              <a:rPr sz="2000" i="0">
                <a:solidFill>
                  <a:srgbClr val="AEB6BF"/>
                </a:solidFill>
                <a:latin typeface="Consolas"/>
              </a:rPr>
              <a:t>(</a:t>
            </a:r>
            <a:r>
              <a:rPr sz="2000" i="0">
                <a:solidFill>
                  <a:srgbClr val="E8EDF2"/>
                </a:solidFill>
                <a:latin typeface="Consolas"/>
              </a:rPr>
              <a:t>state</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F7DC6F"/>
                </a:solidFill>
                <a:latin typeface="Consolas"/>
              </a:rPr>
              <a:t>0</a:t>
            </a:r>
          </a:p>
          <a:p>
            <a:pPr>
              <a:lnSpc>
                <a:spcPct val="100000"/>
              </a:lnSpc>
              <a:spcAft>
                <a:spcPts val="0"/>
              </a:spcAft>
            </a:pPr>
            <a:r>
              <a:rPr sz="2000">
                <a:latin typeface="Consolas"/>
              </a:rPr>
              <a:t> </a:t>
            </a:r>
          </a:p>
          <a:p>
            <a:pPr>
              <a:lnSpc>
                <a:spcPct val="100000"/>
              </a:lnSpc>
              <a:spcAft>
                <a:spcPts val="0"/>
              </a:spcAft>
            </a:pPr>
            <a:r>
              <a:rPr sz="2000">
                <a:latin typeface="Consolas"/>
              </a:rPr>
              <a:t> </a:t>
            </a:r>
          </a:p>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h_mandatory</a:t>
            </a:r>
            <a:r>
              <a:rPr sz="2000" i="0">
                <a:solidFill>
                  <a:srgbClr val="AEB6BF"/>
                </a:solidFill>
                <a:latin typeface="Consolas"/>
              </a:rPr>
              <a:t>(</a:t>
            </a:r>
            <a:r>
              <a:rPr sz="2000" i="0">
                <a:solidFill>
                  <a:srgbClr val="E8EDF2"/>
                </a:solidFill>
                <a:latin typeface="Consolas"/>
              </a:rPr>
              <a:t>state</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7DCEA0"/>
                </a:solidFill>
                <a:latin typeface="Consolas"/>
              </a:rPr>
              <a:t>"""Relax away the testing requirement: just add up the work that</a:t>
            </a:r>
          </a:p>
          <a:p>
            <a:pPr>
              <a:lnSpc>
                <a:spcPct val="100000"/>
              </a:lnSpc>
              <a:spcAft>
                <a:spcPts val="0"/>
              </a:spcAft>
            </a:pPr>
            <a:r>
              <a:rPr sz="2000" i="0">
                <a:solidFill>
                  <a:srgbClr val="7DCEA0"/>
                </a:solidFill>
                <a:latin typeface="Consolas"/>
              </a:rPr>
              <a:t>    cannot be avoided. 23 days at the root."""</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C39BD3"/>
                </a:solidFill>
                <a:latin typeface="Consolas"/>
              </a:rPr>
              <a:t>sum</a:t>
            </a:r>
            <a:r>
              <a:rPr sz="2000" i="0">
                <a:solidFill>
                  <a:srgbClr val="AEB6BF"/>
                </a:solidFill>
                <a:latin typeface="Consolas"/>
              </a:rPr>
              <a:t>(</a:t>
            </a:r>
            <a:r>
              <a:rPr sz="2000" i="0">
                <a:solidFill>
                  <a:srgbClr val="E8EDF2"/>
                </a:solidFill>
                <a:latin typeface="Consolas"/>
              </a:rPr>
              <a:t>dur</a:t>
            </a:r>
            <a:r>
              <a:rPr sz="2000" i="0">
                <a:solidFill>
                  <a:srgbClr val="AEB6BF"/>
                </a:solidFill>
                <a:latin typeface="Consolas"/>
              </a:rPr>
              <a:t>(</a:t>
            </a:r>
            <a:r>
              <a:rPr sz="2000" i="0">
                <a:solidFill>
                  <a:srgbClr val="E8EDF2"/>
                </a:solidFill>
                <a:latin typeface="Consolas"/>
              </a:rPr>
              <a:t>t</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t</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MANDATORY</a:t>
            </a: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t</a:t>
            </a:r>
            <a:r>
              <a:rPr sz="2000" i="0">
                <a:solidFill>
                  <a:srgbClr val="E8EDF2"/>
                </a:solidFill>
                <a:latin typeface="Consolas"/>
              </a:rPr>
              <a:t> </a:t>
            </a:r>
            <a:r>
              <a:rPr sz="2000" i="0">
                <a:solidFill>
                  <a:srgbClr val="AEB6BF"/>
                </a:solidFill>
                <a:latin typeface="Consolas"/>
              </a:rPr>
              <a:t>not</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state</a:t>
            </a:r>
            <a:r>
              <a:rPr sz="2000" i="0">
                <a:solidFill>
                  <a:srgbClr val="AEB6BF"/>
                </a:solidFill>
                <a:latin typeface="Consolas"/>
              </a:rPr>
              <a:t>)</a:t>
            </a:r>
          </a:p>
        </p:txBody>
      </p:sp>
      <p:sp>
        <p:nvSpPr>
          <p:cNvPr id="15" name="!!code-num"/>
          <p:cNvSpPr txBox="1"/>
          <p:nvPr/>
        </p:nvSpPr>
        <p:spPr>
          <a:xfrm>
            <a:off x="768096" y="2523744"/>
            <a:ext cx="393192" cy="28529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48</a:t>
            </a:r>
          </a:p>
          <a:p>
            <a:pPr algn="r">
              <a:lnSpc>
                <a:spcPct val="100000"/>
              </a:lnSpc>
            </a:pPr>
            <a:r>
              <a:rPr sz="2000">
                <a:solidFill>
                  <a:srgbClr val="4F5D6A"/>
                </a:solidFill>
                <a:latin typeface="Consolas"/>
              </a:rPr>
              <a:t>49</a:t>
            </a:r>
          </a:p>
          <a:p>
            <a:pPr algn="r">
              <a:lnSpc>
                <a:spcPct val="100000"/>
              </a:lnSpc>
            </a:pPr>
            <a:r>
              <a:rPr sz="2000">
                <a:solidFill>
                  <a:srgbClr val="4F5D6A"/>
                </a:solidFill>
                <a:latin typeface="Consolas"/>
              </a:rPr>
              <a:t>50</a:t>
            </a:r>
          </a:p>
          <a:p>
            <a:pPr algn="r">
              <a:lnSpc>
                <a:spcPct val="100000"/>
              </a:lnSpc>
            </a:pPr>
            <a:r>
              <a:rPr sz="2000">
                <a:solidFill>
                  <a:srgbClr val="4F5D6A"/>
                </a:solidFill>
                <a:latin typeface="Consolas"/>
              </a:rPr>
              <a:t>51</a:t>
            </a:r>
          </a:p>
          <a:p>
            <a:pPr algn="r">
              <a:lnSpc>
                <a:spcPct val="100000"/>
              </a:lnSpc>
            </a:pPr>
            <a:r>
              <a:rPr sz="2000">
                <a:solidFill>
                  <a:srgbClr val="4F5D6A"/>
                </a:solidFill>
                <a:latin typeface="Consolas"/>
              </a:rPr>
              <a:t>52</a:t>
            </a:r>
          </a:p>
          <a:p>
            <a:pPr algn="r">
              <a:lnSpc>
                <a:spcPct val="100000"/>
              </a:lnSpc>
            </a:pPr>
            <a:r>
              <a:rPr sz="2000">
                <a:solidFill>
                  <a:srgbClr val="4F5D6A"/>
                </a:solidFill>
                <a:latin typeface="Consolas"/>
              </a:rPr>
              <a:t>53</a:t>
            </a:r>
          </a:p>
          <a:p>
            <a:pPr algn="r">
              <a:lnSpc>
                <a:spcPct val="100000"/>
              </a:lnSpc>
            </a:pPr>
            <a:r>
              <a:rPr sz="2000">
                <a:solidFill>
                  <a:srgbClr val="4F5D6A"/>
                </a:solidFill>
                <a:latin typeface="Consolas"/>
              </a:rPr>
              <a:t>54</a:t>
            </a:r>
          </a:p>
          <a:p>
            <a:pPr algn="r">
              <a:lnSpc>
                <a:spcPct val="100000"/>
              </a:lnSpc>
            </a:pPr>
            <a:r>
              <a:rPr sz="2000">
                <a:solidFill>
                  <a:srgbClr val="4F5D6A"/>
                </a:solidFill>
                <a:latin typeface="Consolas"/>
              </a:rPr>
              <a:t>55</a:t>
            </a:r>
          </a:p>
          <a:p>
            <a:pPr algn="r">
              <a:lnSpc>
                <a:spcPct val="100000"/>
              </a:lnSpc>
            </a:pPr>
            <a:r>
              <a:rPr sz="2000">
                <a:solidFill>
                  <a:srgbClr val="4F5D6A"/>
                </a:solidFill>
                <a:latin typeface="Consolas"/>
              </a:rPr>
              <a:t>56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564430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Over Sprint States, Two Heuristics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627B043D-2B83-4140-9D1A-E1D54DE1FC0D}"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two heuristics, both relaxations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71543"/>
          </a:xfrm>
          <a:prstGeom prst="roundRect">
            <a:avLst>
              <a:gd name="adj" fmla="val 23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code/ch05_over_sprint_states_two.py</a:t>
            </a:r>
          </a:p>
        </p:txBody>
      </p:sp>
      <p:sp>
        <p:nvSpPr>
          <p:cNvPr id="14" name="!!code-text" descr="def h_chain(state): &quot;&quot;&quot;Relax away the one-task-at-a-time constraint: the longest remaining dependency chain. 16 days at the root.&quot;&quot;&quot; memo = {} def chain(t): if t in state: return 0 if t in memo: return memo[t] need = 0 for g in TASKS[t][1]: need = max(need, min(chain(x) for x in g)) memo[t] = need + dur(t) return memo[t] return chain(GOAL)"/>
          <p:cNvSpPr txBox="1"/>
          <p:nvPr/>
        </p:nvSpPr>
        <p:spPr>
          <a:xfrm>
            <a:off x="1362456" y="2523744"/>
            <a:ext cx="9987991" cy="3477767"/>
          </a:xfrm>
          <a:prstGeom prst="rect">
            <a:avLst/>
          </a:prstGeom>
          <a:noFill/>
        </p:spPr>
        <p:txBody>
          <a:bodyPr wrap="none" anchor="t" lIns="0" rIns="0" tIns="0" bIns="0">
            <a:noAutofit/>
          </a:bodyPr>
          <a:lstStyle/>
          <a:p>
            <a:pPr>
              <a:lnSpc>
                <a:spcPct val="100000"/>
              </a:lnSpc>
              <a:spcAft>
                <a:spcPts val="0"/>
              </a:spcAft>
            </a:pP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h_chain</a:t>
            </a:r>
            <a:r>
              <a:rPr sz="1300" i="0">
                <a:solidFill>
                  <a:srgbClr val="AEB6BF"/>
                </a:solidFill>
                <a:latin typeface="Consolas"/>
              </a:rPr>
              <a:t>(</a:t>
            </a:r>
            <a:r>
              <a:rPr sz="1300" i="0">
                <a:solidFill>
                  <a:srgbClr val="E8EDF2"/>
                </a:solidFill>
                <a:latin typeface="Consolas"/>
              </a:rPr>
              <a:t>state</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"""Relax away the one-task-at-a-time constraint: the longest</a:t>
            </a:r>
          </a:p>
          <a:p>
            <a:pPr>
              <a:lnSpc>
                <a:spcPct val="100000"/>
              </a:lnSpc>
              <a:spcAft>
                <a:spcPts val="0"/>
              </a:spcAft>
            </a:pPr>
            <a:r>
              <a:rPr sz="1300" i="0">
                <a:solidFill>
                  <a:srgbClr val="7DCEA0"/>
                </a:solidFill>
                <a:latin typeface="Consolas"/>
              </a:rPr>
              <a:t>    remaining dependency chain. 16 days at the root."""</a:t>
            </a:r>
          </a:p>
          <a:p>
            <a:pPr>
              <a:lnSpc>
                <a:spcPct val="100000"/>
              </a:lnSpc>
              <a:spcAft>
                <a:spcPts val="0"/>
              </a:spcAft>
            </a:pPr>
            <a:r>
              <a:rPr sz="1300" i="0">
                <a:solidFill>
                  <a:srgbClr val="E8EDF2"/>
                </a:solidFill>
                <a:latin typeface="Consolas"/>
              </a:rPr>
              <a:t>    </a:t>
            </a:r>
            <a:r>
              <a:rPr sz="1300" i="0">
                <a:solidFill>
                  <a:srgbClr val="E8EDF2"/>
                </a:solidFill>
                <a:latin typeface="Consolas"/>
              </a:rPr>
              <a:t>memo</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    </a:t>
            </a: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chain</a:t>
            </a:r>
            <a:r>
              <a:rPr sz="1300" i="0">
                <a:solidFill>
                  <a:srgbClr val="AEB6BF"/>
                </a:solidFill>
                <a:latin typeface="Consolas"/>
              </a:rPr>
              <a:t>(</a:t>
            </a:r>
            <a:r>
              <a:rPr sz="1300" i="0">
                <a:solidFill>
                  <a:srgbClr val="E8EDF2"/>
                </a:solidFill>
                <a:latin typeface="Consolas"/>
              </a:rPr>
              <a:t>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t</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state</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F7DC6F"/>
                </a:solidFill>
                <a:latin typeface="Consolas"/>
              </a:rPr>
              <a:t>0</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t</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memo</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E8EDF2"/>
                </a:solidFill>
                <a:latin typeface="Consolas"/>
              </a:rPr>
              <a:t>memo</a:t>
            </a:r>
            <a:r>
              <a:rPr sz="1300" i="0">
                <a:solidFill>
                  <a:srgbClr val="AEB6BF"/>
                </a:solidFill>
                <a:latin typeface="Consolas"/>
              </a:rPr>
              <a:t>[</a:t>
            </a:r>
            <a:r>
              <a:rPr sz="1300" i="0">
                <a:solidFill>
                  <a:srgbClr val="E8EDF2"/>
                </a:solidFill>
                <a:latin typeface="Consolas"/>
              </a:rPr>
              <a:t>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need</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g</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TASKS</a:t>
            </a:r>
            <a:r>
              <a:rPr sz="1300" i="0">
                <a:solidFill>
                  <a:srgbClr val="AEB6BF"/>
                </a:solidFill>
                <a:latin typeface="Consolas"/>
              </a:rPr>
              <a:t>[</a:t>
            </a:r>
            <a:r>
              <a:rPr sz="1300" i="0">
                <a:solidFill>
                  <a:srgbClr val="E8EDF2"/>
                </a:solidFill>
                <a:latin typeface="Consolas"/>
              </a:rPr>
              <a:t>t</a:t>
            </a:r>
            <a:r>
              <a:rPr sz="1300" i="0">
                <a:solidFill>
                  <a:srgbClr val="AEB6BF"/>
                </a:solidFill>
                <a:latin typeface="Consolas"/>
              </a:rPr>
              <a:t>]</a:t>
            </a:r>
            <a:r>
              <a:rPr sz="1300" i="0">
                <a:solidFill>
                  <a:srgbClr val="AEB6BF"/>
                </a:solidFill>
                <a:latin typeface="Consolas"/>
              </a:rPr>
              <a:t>[</a:t>
            </a:r>
            <a:r>
              <a:rPr sz="1300" i="0">
                <a:solidFill>
                  <a:srgbClr val="F7DC6F"/>
                </a:solidFill>
                <a:latin typeface="Consolas"/>
              </a:rPr>
              <a:t>1</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need</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max</a:t>
            </a:r>
            <a:r>
              <a:rPr sz="1300" i="0">
                <a:solidFill>
                  <a:srgbClr val="AEB6BF"/>
                </a:solidFill>
                <a:latin typeface="Consolas"/>
              </a:rPr>
              <a:t>(</a:t>
            </a:r>
            <a:r>
              <a:rPr sz="1300" i="0">
                <a:solidFill>
                  <a:srgbClr val="E8EDF2"/>
                </a:solidFill>
                <a:latin typeface="Consolas"/>
              </a:rPr>
              <a:t>need</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min</a:t>
            </a:r>
            <a:r>
              <a:rPr sz="1300" i="0">
                <a:solidFill>
                  <a:srgbClr val="AEB6BF"/>
                </a:solidFill>
                <a:latin typeface="Consolas"/>
              </a:rPr>
              <a:t>(</a:t>
            </a:r>
            <a:r>
              <a:rPr sz="1300" i="0">
                <a:solidFill>
                  <a:srgbClr val="E8EDF2"/>
                </a:solidFill>
                <a:latin typeface="Consolas"/>
              </a:rPr>
              <a:t>chain</a:t>
            </a:r>
            <a:r>
              <a:rPr sz="1300" i="0">
                <a:solidFill>
                  <a:srgbClr val="AEB6BF"/>
                </a:solidFill>
                <a:latin typeface="Consolas"/>
              </a:rPr>
              <a:t>(</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x</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g</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memo</a:t>
            </a:r>
            <a:r>
              <a:rPr sz="1300" i="0">
                <a:solidFill>
                  <a:srgbClr val="AEB6BF"/>
                </a:solidFill>
                <a:latin typeface="Consolas"/>
              </a:rPr>
              <a:t>[</a:t>
            </a:r>
            <a:r>
              <a:rPr sz="1300" i="0">
                <a:solidFill>
                  <a:srgbClr val="E8EDF2"/>
                </a:solidFill>
                <a:latin typeface="Consolas"/>
              </a:rPr>
              <a:t>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need</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dur</a:t>
            </a:r>
            <a:r>
              <a:rPr sz="1300" i="0">
                <a:solidFill>
                  <a:srgbClr val="AEB6BF"/>
                </a:solidFill>
                <a:latin typeface="Consolas"/>
              </a:rPr>
              <a:t>(</a:t>
            </a:r>
            <a:r>
              <a:rPr sz="1300" i="0">
                <a:solidFill>
                  <a:srgbClr val="E8EDF2"/>
                </a:solidFill>
                <a:latin typeface="Consolas"/>
              </a:rPr>
              <a:t>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E8EDF2"/>
                </a:solidFill>
                <a:latin typeface="Consolas"/>
              </a:rPr>
              <a:t>memo</a:t>
            </a:r>
            <a:r>
              <a:rPr sz="1300" i="0">
                <a:solidFill>
                  <a:srgbClr val="AEB6BF"/>
                </a:solidFill>
                <a:latin typeface="Consolas"/>
              </a:rPr>
              <a:t>[</a:t>
            </a:r>
            <a:r>
              <a:rPr sz="1300" i="0">
                <a:solidFill>
                  <a:srgbClr val="E8EDF2"/>
                </a:solidFill>
                <a:latin typeface="Consolas"/>
              </a:rPr>
              <a:t>t</a:t>
            </a:r>
            <a:r>
              <a:rPr sz="1300" i="0">
                <a:solidFill>
                  <a:srgbClr val="AEB6BF"/>
                </a:solidFill>
                <a:latin typeface="Consolas"/>
              </a:rPr>
              <a:t>]</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E8EDF2"/>
                </a:solidFill>
                <a:latin typeface="Consolas"/>
              </a:rPr>
              <a:t>chain</a:t>
            </a:r>
            <a:r>
              <a:rPr sz="1300" i="0">
                <a:solidFill>
                  <a:srgbClr val="AEB6BF"/>
                </a:solidFill>
                <a:latin typeface="Consolas"/>
              </a:rPr>
              <a:t>(</a:t>
            </a:r>
            <a:r>
              <a:rPr sz="1300" i="0">
                <a:solidFill>
                  <a:srgbClr val="E8EDF2"/>
                </a:solidFill>
                <a:latin typeface="Consolas"/>
              </a:rPr>
              <a:t>GOAL</a:t>
            </a:r>
            <a:r>
              <a:rPr sz="1300" i="0">
                <a:solidFill>
                  <a:srgbClr val="AEB6BF"/>
                </a:solidFill>
                <a:latin typeface="Consolas"/>
              </a:rPr>
              <a:t>)</a:t>
            </a:r>
          </a:p>
        </p:txBody>
      </p:sp>
      <p:sp>
        <p:nvSpPr>
          <p:cNvPr id="15" name="!!code-num"/>
          <p:cNvSpPr txBox="1"/>
          <p:nvPr/>
        </p:nvSpPr>
        <p:spPr>
          <a:xfrm>
            <a:off x="768096" y="2523744"/>
            <a:ext cx="393192" cy="347776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59</a:t>
            </a:r>
          </a:p>
          <a:p>
            <a:pPr algn="r">
              <a:lnSpc>
                <a:spcPct val="100000"/>
              </a:lnSpc>
            </a:pPr>
            <a:r>
              <a:rPr sz="1300">
                <a:solidFill>
                  <a:srgbClr val="4F5D6A"/>
                </a:solidFill>
                <a:latin typeface="Consolas"/>
              </a:rPr>
              <a:t>60</a:t>
            </a:r>
          </a:p>
          <a:p>
            <a:pPr algn="r">
              <a:lnSpc>
                <a:spcPct val="100000"/>
              </a:lnSpc>
            </a:pPr>
            <a:r>
              <a:rPr sz="1300">
                <a:solidFill>
                  <a:srgbClr val="4F5D6A"/>
                </a:solidFill>
                <a:latin typeface="Consolas"/>
              </a:rPr>
              <a:t>61</a:t>
            </a:r>
          </a:p>
          <a:p>
            <a:pPr algn="r">
              <a:lnSpc>
                <a:spcPct val="100000"/>
              </a:lnSpc>
            </a:pPr>
            <a:r>
              <a:rPr sz="1300">
                <a:solidFill>
                  <a:srgbClr val="4F5D6A"/>
                </a:solidFill>
                <a:latin typeface="Consolas"/>
              </a:rPr>
              <a:t>62</a:t>
            </a:r>
          </a:p>
          <a:p>
            <a:pPr algn="r">
              <a:lnSpc>
                <a:spcPct val="100000"/>
              </a:lnSpc>
            </a:pPr>
            <a:r>
              <a:rPr sz="1300">
                <a:solidFill>
                  <a:srgbClr val="4F5D6A"/>
                </a:solidFill>
                <a:latin typeface="Consolas"/>
              </a:rPr>
              <a:t>63</a:t>
            </a:r>
          </a:p>
          <a:p>
            <a:pPr algn="r">
              <a:lnSpc>
                <a:spcPct val="100000"/>
              </a:lnSpc>
            </a:pPr>
            <a:r>
              <a:rPr sz="1300">
                <a:solidFill>
                  <a:srgbClr val="4F5D6A"/>
                </a:solidFill>
                <a:latin typeface="Consolas"/>
              </a:rPr>
              <a:t>64</a:t>
            </a:r>
          </a:p>
          <a:p>
            <a:pPr algn="r">
              <a:lnSpc>
                <a:spcPct val="100000"/>
              </a:lnSpc>
            </a:pPr>
            <a:r>
              <a:rPr sz="1300">
                <a:solidFill>
                  <a:srgbClr val="4F5D6A"/>
                </a:solidFill>
                <a:latin typeface="Consolas"/>
              </a:rPr>
              <a:t>65</a:t>
            </a:r>
          </a:p>
          <a:p>
            <a:pPr algn="r">
              <a:lnSpc>
                <a:spcPct val="100000"/>
              </a:lnSpc>
            </a:pPr>
            <a:r>
              <a:rPr sz="1300">
                <a:solidFill>
                  <a:srgbClr val="4F5D6A"/>
                </a:solidFill>
                <a:latin typeface="Consolas"/>
              </a:rPr>
              <a:t>66</a:t>
            </a:r>
          </a:p>
          <a:p>
            <a:pPr algn="r">
              <a:lnSpc>
                <a:spcPct val="100000"/>
              </a:lnSpc>
            </a:pPr>
            <a:r>
              <a:rPr sz="1300">
                <a:solidFill>
                  <a:srgbClr val="4F5D6A"/>
                </a:solidFill>
                <a:latin typeface="Consolas"/>
              </a:rPr>
              <a:t>67</a:t>
            </a:r>
          </a:p>
          <a:p>
            <a:pPr algn="r">
              <a:lnSpc>
                <a:spcPct val="100000"/>
              </a:lnSpc>
            </a:pPr>
            <a:r>
              <a:rPr sz="1300">
                <a:solidFill>
                  <a:srgbClr val="4F5D6A"/>
                </a:solidFill>
                <a:latin typeface="Consolas"/>
              </a:rPr>
              <a:t>68</a:t>
            </a:r>
          </a:p>
          <a:p>
            <a:pPr algn="r">
              <a:lnSpc>
                <a:spcPct val="100000"/>
              </a:lnSpc>
            </a:pPr>
            <a:r>
              <a:rPr sz="1300">
                <a:solidFill>
                  <a:srgbClr val="4F5D6A"/>
                </a:solidFill>
                <a:latin typeface="Consolas"/>
              </a:rPr>
              <a:t>69</a:t>
            </a:r>
          </a:p>
          <a:p>
            <a:pPr algn="r">
              <a:lnSpc>
                <a:spcPct val="100000"/>
              </a:lnSpc>
            </a:pPr>
            <a:r>
              <a:rPr sz="1300">
                <a:solidFill>
                  <a:srgbClr val="4F5D6A"/>
                </a:solidFill>
                <a:latin typeface="Consolas"/>
              </a:rPr>
              <a:t>70</a:t>
            </a:r>
          </a:p>
          <a:p>
            <a:pPr algn="r">
              <a:lnSpc>
                <a:spcPct val="100000"/>
              </a:lnSpc>
            </a:pPr>
            <a:r>
              <a:rPr sz="1300">
                <a:solidFill>
                  <a:srgbClr val="4F5D6A"/>
                </a:solidFill>
                <a:latin typeface="Consolas"/>
              </a:rPr>
              <a:t>71</a:t>
            </a:r>
          </a:p>
          <a:p>
            <a:pPr algn="r">
              <a:lnSpc>
                <a:spcPct val="100000"/>
              </a:lnSpc>
            </a:pPr>
            <a:r>
              <a:rPr sz="1300">
                <a:solidFill>
                  <a:srgbClr val="4F5D6A"/>
                </a:solidFill>
                <a:latin typeface="Consolas"/>
              </a:rPr>
              <a:t>72</a:t>
            </a:r>
          </a:p>
          <a:p>
            <a:pPr algn="r">
              <a:lnSpc>
                <a:spcPct val="100000"/>
              </a:lnSpc>
            </a:pPr>
            <a:r>
              <a:rPr sz="1300">
                <a:solidFill>
                  <a:srgbClr val="4F5D6A"/>
                </a:solidFill>
                <a:latin typeface="Consolas"/>
              </a:rPr>
              <a:t>73</a:t>
            </a:r>
          </a:p>
          <a:p>
            <a:pPr algn="r">
              <a:lnSpc>
                <a:spcPct val="100000"/>
              </a:lnSpc>
            </a:pPr>
            <a:r>
              <a:rPr sz="1300">
                <a:solidFill>
                  <a:srgbClr val="4F5D6A"/>
                </a:solidFill>
                <a:latin typeface="Consolas"/>
              </a:rPr>
              <a:t>74</a:t>
            </a:r>
          </a:p>
          <a:p>
            <a:pPr algn="r">
              <a:lnSpc>
                <a:spcPct val="100000"/>
              </a:lnSpc>
            </a:pPr>
            <a:r>
              <a:rPr sz="1300">
                <a:solidFill>
                  <a:srgbClr val="4F5D6A"/>
                </a:solidFill>
                <a:latin typeface="Consolas"/>
              </a:rPr>
              <a:t>75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587007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Over Sprint States, Two Heuristics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0D9E2677-D63F-4CA1-A448-A296256F3812}"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two heuristics, both relaxations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517904"/>
          </a:xfrm>
          <a:prstGeom prst="roundRect">
            <a:avLst>
              <a:gd name="adj" fmla="val 602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code/ch05_over_sprint_states_two.py</a:t>
            </a:r>
          </a:p>
        </p:txBody>
      </p:sp>
      <p:sp>
        <p:nvSpPr>
          <p:cNvPr id="14" name="!!code-text" descr="def h_max(state): &quot;&quot;&quot;Admissible, and dominates both by construction.&quot;&quot;&quot; return max(h_mandatory(state), h_chain(state))"/>
          <p:cNvSpPr txBox="1"/>
          <p:nvPr/>
        </p:nvSpPr>
        <p:spPr>
          <a:xfrm>
            <a:off x="1362456" y="2523744"/>
            <a:ext cx="9987991" cy="1024127"/>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h_max</a:t>
            </a:r>
            <a:r>
              <a:rPr sz="2000" i="0">
                <a:solidFill>
                  <a:srgbClr val="AEB6BF"/>
                </a:solidFill>
                <a:latin typeface="Consolas"/>
              </a:rPr>
              <a:t>(</a:t>
            </a:r>
            <a:r>
              <a:rPr sz="2000" i="0">
                <a:solidFill>
                  <a:srgbClr val="E8EDF2"/>
                </a:solidFill>
                <a:latin typeface="Consolas"/>
              </a:rPr>
              <a:t>state</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7DCEA0"/>
                </a:solidFill>
                <a:latin typeface="Consolas"/>
              </a:rPr>
              <a:t>"""Admissible, and dominates both by construction."""</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C39BD3"/>
                </a:solidFill>
                <a:latin typeface="Consolas"/>
              </a:rPr>
              <a:t>max</a:t>
            </a:r>
            <a:r>
              <a:rPr sz="2000" i="0">
                <a:solidFill>
                  <a:srgbClr val="AEB6BF"/>
                </a:solidFill>
                <a:latin typeface="Consolas"/>
              </a:rPr>
              <a:t>(</a:t>
            </a:r>
            <a:r>
              <a:rPr sz="2000" i="0">
                <a:solidFill>
                  <a:srgbClr val="E8EDF2"/>
                </a:solidFill>
                <a:latin typeface="Consolas"/>
              </a:rPr>
              <a:t>h_mandatory</a:t>
            </a:r>
            <a:r>
              <a:rPr sz="2000" i="0">
                <a:solidFill>
                  <a:srgbClr val="AEB6BF"/>
                </a:solidFill>
                <a:latin typeface="Consolas"/>
              </a:rPr>
              <a:t>(</a:t>
            </a:r>
            <a:r>
              <a:rPr sz="2000" i="0">
                <a:solidFill>
                  <a:srgbClr val="E8EDF2"/>
                </a:solidFill>
                <a:latin typeface="Consolas"/>
              </a:rPr>
              <a:t>state</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h_chain</a:t>
            </a:r>
            <a:r>
              <a:rPr sz="2000" i="0">
                <a:solidFill>
                  <a:srgbClr val="AEB6BF"/>
                </a:solidFill>
                <a:latin typeface="Consolas"/>
              </a:rPr>
              <a:t>(</a:t>
            </a:r>
            <a:r>
              <a:rPr sz="2000" i="0">
                <a:solidFill>
                  <a:srgbClr val="E8EDF2"/>
                </a:solidFill>
                <a:latin typeface="Consolas"/>
              </a:rPr>
              <a:t>state</a:t>
            </a:r>
            <a:r>
              <a:rPr sz="2000" i="0">
                <a:solidFill>
                  <a:srgbClr val="AEB6BF"/>
                </a:solidFill>
                <a:latin typeface="Consolas"/>
              </a:rPr>
              <a:t>)</a:t>
            </a:r>
            <a:r>
              <a:rPr sz="2000" i="0">
                <a:solidFill>
                  <a:srgbClr val="AEB6BF"/>
                </a:solidFill>
                <a:latin typeface="Consolas"/>
              </a:rPr>
              <a:t>)</a:t>
            </a:r>
          </a:p>
        </p:txBody>
      </p:sp>
      <p:sp>
        <p:nvSpPr>
          <p:cNvPr id="15" name="!!code-num"/>
          <p:cNvSpPr txBox="1"/>
          <p:nvPr/>
        </p:nvSpPr>
        <p:spPr>
          <a:xfrm>
            <a:off x="768096" y="2523744"/>
            <a:ext cx="393192" cy="10241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78</a:t>
            </a:r>
          </a:p>
          <a:p>
            <a:pPr algn="r">
              <a:lnSpc>
                <a:spcPct val="100000"/>
              </a:lnSpc>
            </a:pPr>
            <a:r>
              <a:rPr sz="2000">
                <a:solidFill>
                  <a:srgbClr val="4F5D6A"/>
                </a:solidFill>
                <a:latin typeface="Consolas"/>
              </a:rPr>
              <a:t>79</a:t>
            </a:r>
          </a:p>
          <a:p>
            <a:pPr algn="r">
              <a:lnSpc>
                <a:spcPct val="100000"/>
              </a:lnSpc>
            </a:pPr>
            <a:r>
              <a:rPr sz="2000">
                <a:solidFill>
                  <a:srgbClr val="4F5D6A"/>
                </a:solidFill>
                <a:latin typeface="Consolas"/>
              </a:rPr>
              <a:t>80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Over Sprint States, Two Heuristics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8458828A-F6BB-4EC0-B6BC-72816977BA1C}"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Best-first search; the priority decides the algorithm</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822703"/>
          </a:xfrm>
          <a:prstGeom prst="roundRect">
            <a:avLst>
              <a:gd name="adj" fmla="val 501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code/ch05_over_sprint_states_two.py</a:t>
            </a:r>
          </a:p>
        </p:txBody>
      </p:sp>
      <p:sp>
        <p:nvSpPr>
          <p:cNvPr id="14" name="!!code-text" descr="# --- best-first search; the priority decides the algorithm --------- def best_first(h, use_g=True): &quot;&quot;&quot;use_g=True -&gt; A* (f = g + h) use_g=False -&gt; greedy (f = h)"/>
          <p:cNvSpPr txBox="1"/>
          <p:nvPr/>
        </p:nvSpPr>
        <p:spPr>
          <a:xfrm>
            <a:off x="1362456" y="2523744"/>
            <a:ext cx="9987991" cy="1328928"/>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 best-first search; the priority decides the algorithm ---------</a:t>
            </a:r>
          </a:p>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best_first</a:t>
            </a:r>
            <a:r>
              <a:rPr sz="2000" i="0">
                <a:solidFill>
                  <a:srgbClr val="AEB6BF"/>
                </a:solidFill>
                <a:latin typeface="Consolas"/>
              </a:rPr>
              <a:t>(</a:t>
            </a:r>
            <a:r>
              <a:rPr sz="2000" i="0">
                <a:solidFill>
                  <a:srgbClr val="E8EDF2"/>
                </a:solidFill>
                <a:latin typeface="Consolas"/>
              </a:rPr>
              <a:t>h</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use_g</a:t>
            </a:r>
            <a:r>
              <a:rPr sz="2000" i="0">
                <a:solidFill>
                  <a:srgbClr val="AEB6BF"/>
                </a:solidFill>
                <a:latin typeface="Consolas"/>
              </a:rPr>
              <a:t>=</a:t>
            </a:r>
            <a:r>
              <a:rPr sz="2000" i="0">
                <a:solidFill>
                  <a:srgbClr val="5DADE2"/>
                </a:solidFill>
                <a:latin typeface="Consolas"/>
              </a:rPr>
              <a:t>True</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use_g=True  -&gt; A*      (f = g + h)</a:t>
            </a:r>
          </a:p>
          <a:p>
            <a:pPr>
              <a:lnSpc>
                <a:spcPct val="100000"/>
              </a:lnSpc>
              <a:spcAft>
                <a:spcPts val="0"/>
              </a:spcAft>
            </a:pPr>
            <a:r>
              <a:rPr sz="2000" i="0">
                <a:solidFill>
                  <a:srgbClr val="7DCEA0"/>
                </a:solidFill>
                <a:latin typeface="Consolas"/>
              </a:rPr>
              <a:t>       use_g=False -&gt; greedy  (f = h)</a:t>
            </a:r>
          </a:p>
        </p:txBody>
      </p:sp>
      <p:sp>
        <p:nvSpPr>
          <p:cNvPr id="15" name="!!code-num"/>
          <p:cNvSpPr txBox="1"/>
          <p:nvPr/>
        </p:nvSpPr>
        <p:spPr>
          <a:xfrm>
            <a:off x="768096" y="2523744"/>
            <a:ext cx="393192" cy="13289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83</a:t>
            </a:r>
          </a:p>
          <a:p>
            <a:pPr algn="r">
              <a:lnSpc>
                <a:spcPct val="100000"/>
              </a:lnSpc>
            </a:pPr>
            <a:r>
              <a:rPr sz="2000">
                <a:solidFill>
                  <a:srgbClr val="4F5D6A"/>
                </a:solidFill>
                <a:latin typeface="Consolas"/>
              </a:rPr>
              <a:t>84</a:t>
            </a:r>
          </a:p>
          <a:p>
            <a:pPr algn="r">
              <a:lnSpc>
                <a:spcPct val="100000"/>
              </a:lnSpc>
            </a:pPr>
            <a:r>
              <a:rPr sz="2000">
                <a:solidFill>
                  <a:srgbClr val="4F5D6A"/>
                </a:solidFill>
                <a:latin typeface="Consolas"/>
              </a:rPr>
              <a:t>85</a:t>
            </a:r>
          </a:p>
          <a:p>
            <a:pPr algn="r">
              <a:lnSpc>
                <a:spcPct val="100000"/>
              </a:lnSpc>
            </a:pPr>
            <a:r>
              <a:rPr sz="2000">
                <a:solidFill>
                  <a:srgbClr val="4F5D6A"/>
                </a:solidFill>
                <a:latin typeface="Consolas"/>
              </a:rPr>
              <a:t>86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32161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Over Sprint States, Two Heuristics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C38B32AA-B70A-4CC7-8BE6-A7BF3A5BD757}"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Best-first search; the priority decides the algorithm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3"/>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code/ch05_over_sprint_states_two.py</a:t>
            </a:r>
          </a:p>
        </p:txBody>
      </p:sp>
      <p:sp>
        <p:nvSpPr>
          <p:cNvPr id="14" name="!!code-text" descr="The heap entry is (priority, counter, g, state, plan). The counter sits immediately after the priority so that ties are broken by insertion order alone. Putting g there instead would quietly let the cost leak into greedy search's ordering -- and greedy search would then find the optimal plan and the point of the lab would be lost. &quot;&quot;&quot; start = frozenset() tie = itertools.count() frontier = [(h(start), next(tie), 0, start, ())] best = {start: 0} expanded = 0"/>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900" i="0">
                <a:solidFill>
                  <a:srgbClr val="E8EDF2"/>
                </a:solidFill>
                <a:latin typeface="Consolas"/>
              </a:rPr>
              <a:t>    </a:t>
            </a:r>
            <a:r>
              <a:rPr sz="1900" i="0">
                <a:solidFill>
                  <a:srgbClr val="E8EDF2"/>
                </a:solidFill>
                <a:latin typeface="Consolas"/>
              </a:rPr>
              <a:t>The</a:t>
            </a:r>
            <a:r>
              <a:rPr sz="1900" i="0">
                <a:solidFill>
                  <a:srgbClr val="E8EDF2"/>
                </a:solidFill>
                <a:latin typeface="Consolas"/>
              </a:rPr>
              <a:t> </a:t>
            </a:r>
            <a:r>
              <a:rPr sz="1900" i="0">
                <a:solidFill>
                  <a:srgbClr val="E8EDF2"/>
                </a:solidFill>
                <a:latin typeface="Consolas"/>
              </a:rPr>
              <a:t>heap</a:t>
            </a:r>
            <a:r>
              <a:rPr sz="1900" i="0">
                <a:solidFill>
                  <a:srgbClr val="E8EDF2"/>
                </a:solidFill>
                <a:latin typeface="Consolas"/>
              </a:rPr>
              <a:t> </a:t>
            </a:r>
            <a:r>
              <a:rPr sz="1900" i="0">
                <a:solidFill>
                  <a:srgbClr val="E8EDF2"/>
                </a:solidFill>
                <a:latin typeface="Consolas"/>
              </a:rPr>
              <a:t>entry</a:t>
            </a:r>
            <a:r>
              <a:rPr sz="1900" i="0">
                <a:solidFill>
                  <a:srgbClr val="E8EDF2"/>
                </a:solidFill>
                <a:latin typeface="Consolas"/>
              </a:rPr>
              <a:t> </a:t>
            </a:r>
            <a:r>
              <a:rPr sz="1900" i="0">
                <a:solidFill>
                  <a:srgbClr val="AEB6BF"/>
                </a:solidFill>
                <a:latin typeface="Consolas"/>
              </a:rPr>
              <a:t>is</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priority</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counter</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g</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state</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plan</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The</a:t>
            </a:r>
            <a:r>
              <a:rPr sz="1900" i="0">
                <a:solidFill>
                  <a:srgbClr val="E8EDF2"/>
                </a:solidFill>
                <a:latin typeface="Consolas"/>
              </a:rPr>
              <a:t> </a:t>
            </a:r>
            <a:r>
              <a:rPr sz="1900" i="0">
                <a:solidFill>
                  <a:srgbClr val="E8EDF2"/>
                </a:solidFill>
                <a:latin typeface="Consolas"/>
              </a:rPr>
              <a:t>counter</a:t>
            </a:r>
          </a:p>
          <a:p>
            <a:pPr>
              <a:lnSpc>
                <a:spcPct val="100000"/>
              </a:lnSpc>
              <a:spcAft>
                <a:spcPts val="0"/>
              </a:spcAft>
            </a:pPr>
            <a:r>
              <a:rPr sz="1900" i="0">
                <a:solidFill>
                  <a:srgbClr val="E8EDF2"/>
                </a:solidFill>
                <a:latin typeface="Consolas"/>
              </a:rPr>
              <a:t>    </a:t>
            </a:r>
            <a:r>
              <a:rPr sz="1900" i="0">
                <a:solidFill>
                  <a:srgbClr val="E8EDF2"/>
                </a:solidFill>
                <a:latin typeface="Consolas"/>
              </a:rPr>
              <a:t>sits</a:t>
            </a:r>
            <a:r>
              <a:rPr sz="1900" i="0">
                <a:solidFill>
                  <a:srgbClr val="E8EDF2"/>
                </a:solidFill>
                <a:latin typeface="Consolas"/>
              </a:rPr>
              <a:t> </a:t>
            </a:r>
            <a:r>
              <a:rPr sz="1900" i="0">
                <a:solidFill>
                  <a:srgbClr val="E8EDF2"/>
                </a:solidFill>
                <a:latin typeface="Consolas"/>
              </a:rPr>
              <a:t>immediately</a:t>
            </a:r>
            <a:r>
              <a:rPr sz="1900" i="0">
                <a:solidFill>
                  <a:srgbClr val="E8EDF2"/>
                </a:solidFill>
                <a:latin typeface="Consolas"/>
              </a:rPr>
              <a:t> </a:t>
            </a:r>
            <a:r>
              <a:rPr sz="1900" i="0">
                <a:solidFill>
                  <a:srgbClr val="E8EDF2"/>
                </a:solidFill>
                <a:latin typeface="Consolas"/>
              </a:rPr>
              <a:t>after</a:t>
            </a:r>
            <a:r>
              <a:rPr sz="1900" i="0">
                <a:solidFill>
                  <a:srgbClr val="E8EDF2"/>
                </a:solidFill>
                <a:latin typeface="Consolas"/>
              </a:rPr>
              <a:t> </a:t>
            </a:r>
            <a:r>
              <a:rPr sz="1900" i="0">
                <a:solidFill>
                  <a:srgbClr val="E8EDF2"/>
                </a:solidFill>
                <a:latin typeface="Consolas"/>
              </a:rPr>
              <a:t>the</a:t>
            </a:r>
            <a:r>
              <a:rPr sz="1900" i="0">
                <a:solidFill>
                  <a:srgbClr val="E8EDF2"/>
                </a:solidFill>
                <a:latin typeface="Consolas"/>
              </a:rPr>
              <a:t> </a:t>
            </a:r>
            <a:r>
              <a:rPr sz="1900" i="0">
                <a:solidFill>
                  <a:srgbClr val="E8EDF2"/>
                </a:solidFill>
                <a:latin typeface="Consolas"/>
              </a:rPr>
              <a:t>priority</a:t>
            </a:r>
            <a:r>
              <a:rPr sz="1900" i="0">
                <a:solidFill>
                  <a:srgbClr val="E8EDF2"/>
                </a:solidFill>
                <a:latin typeface="Consolas"/>
              </a:rPr>
              <a:t> </a:t>
            </a:r>
            <a:r>
              <a:rPr sz="1900" i="0">
                <a:solidFill>
                  <a:srgbClr val="E8EDF2"/>
                </a:solidFill>
                <a:latin typeface="Consolas"/>
              </a:rPr>
              <a:t>so</a:t>
            </a:r>
            <a:r>
              <a:rPr sz="1900" i="0">
                <a:solidFill>
                  <a:srgbClr val="E8EDF2"/>
                </a:solidFill>
                <a:latin typeface="Consolas"/>
              </a:rPr>
              <a:t> </a:t>
            </a:r>
            <a:r>
              <a:rPr sz="1900" i="0">
                <a:solidFill>
                  <a:srgbClr val="E8EDF2"/>
                </a:solidFill>
                <a:latin typeface="Consolas"/>
              </a:rPr>
              <a:t>that</a:t>
            </a:r>
            <a:r>
              <a:rPr sz="1900" i="0">
                <a:solidFill>
                  <a:srgbClr val="E8EDF2"/>
                </a:solidFill>
                <a:latin typeface="Consolas"/>
              </a:rPr>
              <a:t> </a:t>
            </a:r>
            <a:r>
              <a:rPr sz="1900" i="0">
                <a:solidFill>
                  <a:srgbClr val="E8EDF2"/>
                </a:solidFill>
                <a:latin typeface="Consolas"/>
              </a:rPr>
              <a:t>ties</a:t>
            </a:r>
            <a:r>
              <a:rPr sz="1900" i="0">
                <a:solidFill>
                  <a:srgbClr val="E8EDF2"/>
                </a:solidFill>
                <a:latin typeface="Consolas"/>
              </a:rPr>
              <a:t> </a:t>
            </a:r>
            <a:r>
              <a:rPr sz="1900" i="0">
                <a:solidFill>
                  <a:srgbClr val="E8EDF2"/>
                </a:solidFill>
                <a:latin typeface="Consolas"/>
              </a:rPr>
              <a:t>are</a:t>
            </a:r>
            <a:r>
              <a:rPr sz="1900" i="0">
                <a:solidFill>
                  <a:srgbClr val="E8EDF2"/>
                </a:solidFill>
                <a:latin typeface="Consolas"/>
              </a:rPr>
              <a:t> </a:t>
            </a:r>
            <a:r>
              <a:rPr sz="1900" i="0">
                <a:solidFill>
                  <a:srgbClr val="E8EDF2"/>
                </a:solidFill>
                <a:latin typeface="Consolas"/>
              </a:rPr>
              <a:t>broken</a:t>
            </a:r>
            <a:r>
              <a:rPr sz="1900" i="0">
                <a:solidFill>
                  <a:srgbClr val="E8EDF2"/>
                </a:solidFill>
                <a:latin typeface="Consolas"/>
              </a:rPr>
              <a:t> </a:t>
            </a:r>
            <a:r>
              <a:rPr sz="1900" i="0">
                <a:solidFill>
                  <a:srgbClr val="E8EDF2"/>
                </a:solidFill>
                <a:latin typeface="Consolas"/>
              </a:rPr>
              <a:t>by</a:t>
            </a:r>
          </a:p>
          <a:p>
            <a:pPr>
              <a:lnSpc>
                <a:spcPct val="100000"/>
              </a:lnSpc>
              <a:spcAft>
                <a:spcPts val="0"/>
              </a:spcAft>
            </a:pPr>
            <a:r>
              <a:rPr sz="1900" i="0">
                <a:solidFill>
                  <a:srgbClr val="E8EDF2"/>
                </a:solidFill>
                <a:latin typeface="Consolas"/>
              </a:rPr>
              <a:t>    </a:t>
            </a:r>
            <a:r>
              <a:rPr sz="1900" i="0">
                <a:solidFill>
                  <a:srgbClr val="E8EDF2"/>
                </a:solidFill>
                <a:latin typeface="Consolas"/>
              </a:rPr>
              <a:t>insertion</a:t>
            </a:r>
            <a:r>
              <a:rPr sz="1900" i="0">
                <a:solidFill>
                  <a:srgbClr val="E8EDF2"/>
                </a:solidFill>
                <a:latin typeface="Consolas"/>
              </a:rPr>
              <a:t> </a:t>
            </a:r>
            <a:r>
              <a:rPr sz="1900" i="0">
                <a:solidFill>
                  <a:srgbClr val="E8EDF2"/>
                </a:solidFill>
                <a:latin typeface="Consolas"/>
              </a:rPr>
              <a:t>order</a:t>
            </a:r>
            <a:r>
              <a:rPr sz="1900" i="0">
                <a:solidFill>
                  <a:srgbClr val="E8EDF2"/>
                </a:solidFill>
                <a:latin typeface="Consolas"/>
              </a:rPr>
              <a:t> </a:t>
            </a:r>
            <a:r>
              <a:rPr sz="1900" i="0">
                <a:solidFill>
                  <a:srgbClr val="E8EDF2"/>
                </a:solidFill>
                <a:latin typeface="Consolas"/>
              </a:rPr>
              <a:t>alone</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Putting</a:t>
            </a:r>
            <a:r>
              <a:rPr sz="1900" i="0">
                <a:solidFill>
                  <a:srgbClr val="E8EDF2"/>
                </a:solidFill>
                <a:latin typeface="Consolas"/>
              </a:rPr>
              <a:t> </a:t>
            </a:r>
            <a:r>
              <a:rPr sz="1900" i="0">
                <a:solidFill>
                  <a:srgbClr val="E8EDF2"/>
                </a:solidFill>
                <a:latin typeface="Consolas"/>
              </a:rPr>
              <a:t>g</a:t>
            </a:r>
            <a:r>
              <a:rPr sz="1900" i="0">
                <a:solidFill>
                  <a:srgbClr val="E8EDF2"/>
                </a:solidFill>
                <a:latin typeface="Consolas"/>
              </a:rPr>
              <a:t> </a:t>
            </a:r>
            <a:r>
              <a:rPr sz="1900" i="0">
                <a:solidFill>
                  <a:srgbClr val="E8EDF2"/>
                </a:solidFill>
                <a:latin typeface="Consolas"/>
              </a:rPr>
              <a:t>there</a:t>
            </a:r>
            <a:r>
              <a:rPr sz="1900" i="0">
                <a:solidFill>
                  <a:srgbClr val="E8EDF2"/>
                </a:solidFill>
                <a:latin typeface="Consolas"/>
              </a:rPr>
              <a:t> </a:t>
            </a:r>
            <a:r>
              <a:rPr sz="1900" i="0">
                <a:solidFill>
                  <a:srgbClr val="E8EDF2"/>
                </a:solidFill>
                <a:latin typeface="Consolas"/>
              </a:rPr>
              <a:t>instead</a:t>
            </a:r>
            <a:r>
              <a:rPr sz="1900" i="0">
                <a:solidFill>
                  <a:srgbClr val="E8EDF2"/>
                </a:solidFill>
                <a:latin typeface="Consolas"/>
              </a:rPr>
              <a:t> </a:t>
            </a:r>
            <a:r>
              <a:rPr sz="1900" i="0">
                <a:solidFill>
                  <a:srgbClr val="E8EDF2"/>
                </a:solidFill>
                <a:latin typeface="Consolas"/>
              </a:rPr>
              <a:t>would</a:t>
            </a:r>
            <a:r>
              <a:rPr sz="1900" i="0">
                <a:solidFill>
                  <a:srgbClr val="E8EDF2"/>
                </a:solidFill>
                <a:latin typeface="Consolas"/>
              </a:rPr>
              <a:t> </a:t>
            </a:r>
            <a:r>
              <a:rPr sz="1900" i="0">
                <a:solidFill>
                  <a:srgbClr val="E8EDF2"/>
                </a:solidFill>
                <a:latin typeface="Consolas"/>
              </a:rPr>
              <a:t>quietly</a:t>
            </a:r>
            <a:r>
              <a:rPr sz="1900" i="0">
                <a:solidFill>
                  <a:srgbClr val="E8EDF2"/>
                </a:solidFill>
                <a:latin typeface="Consolas"/>
              </a:rPr>
              <a:t> </a:t>
            </a:r>
            <a:r>
              <a:rPr sz="1900" i="0">
                <a:solidFill>
                  <a:srgbClr val="E8EDF2"/>
                </a:solidFill>
                <a:latin typeface="Consolas"/>
              </a:rPr>
              <a:t>let</a:t>
            </a:r>
          </a:p>
          <a:p>
            <a:pPr>
              <a:lnSpc>
                <a:spcPct val="100000"/>
              </a:lnSpc>
              <a:spcAft>
                <a:spcPts val="0"/>
              </a:spcAft>
            </a:pPr>
            <a:r>
              <a:rPr sz="1900" i="0">
                <a:solidFill>
                  <a:srgbClr val="E8EDF2"/>
                </a:solidFill>
                <a:latin typeface="Consolas"/>
              </a:rPr>
              <a:t>    </a:t>
            </a:r>
            <a:r>
              <a:rPr sz="1900" i="0">
                <a:solidFill>
                  <a:srgbClr val="E8EDF2"/>
                </a:solidFill>
                <a:latin typeface="Consolas"/>
              </a:rPr>
              <a:t>the</a:t>
            </a:r>
            <a:r>
              <a:rPr sz="1900" i="0">
                <a:solidFill>
                  <a:srgbClr val="E8EDF2"/>
                </a:solidFill>
                <a:latin typeface="Consolas"/>
              </a:rPr>
              <a:t> </a:t>
            </a:r>
            <a:r>
              <a:rPr sz="1900" i="0">
                <a:solidFill>
                  <a:srgbClr val="E8EDF2"/>
                </a:solidFill>
                <a:latin typeface="Consolas"/>
              </a:rPr>
              <a:t>cost</a:t>
            </a:r>
            <a:r>
              <a:rPr sz="1900" i="0">
                <a:solidFill>
                  <a:srgbClr val="E8EDF2"/>
                </a:solidFill>
                <a:latin typeface="Consolas"/>
              </a:rPr>
              <a:t> </a:t>
            </a:r>
            <a:r>
              <a:rPr sz="1900" i="0">
                <a:solidFill>
                  <a:srgbClr val="E8EDF2"/>
                </a:solidFill>
                <a:latin typeface="Consolas"/>
              </a:rPr>
              <a:t>leak</a:t>
            </a:r>
            <a:r>
              <a:rPr sz="1900" i="0">
                <a:solidFill>
                  <a:srgbClr val="E8EDF2"/>
                </a:solidFill>
                <a:latin typeface="Consolas"/>
              </a:rPr>
              <a:t> </a:t>
            </a:r>
            <a:r>
              <a:rPr sz="1900" i="0">
                <a:solidFill>
                  <a:srgbClr val="E8EDF2"/>
                </a:solidFill>
                <a:latin typeface="Consolas"/>
              </a:rPr>
              <a:t>into</a:t>
            </a:r>
            <a:r>
              <a:rPr sz="1900" i="0">
                <a:solidFill>
                  <a:srgbClr val="E8EDF2"/>
                </a:solidFill>
                <a:latin typeface="Consolas"/>
              </a:rPr>
              <a:t> </a:t>
            </a:r>
            <a:r>
              <a:rPr sz="1900" i="0">
                <a:solidFill>
                  <a:srgbClr val="E8EDF2"/>
                </a:solidFill>
                <a:latin typeface="Consolas"/>
              </a:rPr>
              <a:t>greedy</a:t>
            </a:r>
            <a:r>
              <a:rPr sz="1900" i="0">
                <a:solidFill>
                  <a:srgbClr val="E8EDF2"/>
                </a:solidFill>
                <a:latin typeface="Consolas"/>
              </a:rPr>
              <a:t> </a:t>
            </a:r>
            <a:r>
              <a:rPr sz="1900" i="0">
                <a:solidFill>
                  <a:srgbClr val="E8EDF2"/>
                </a:solidFill>
                <a:latin typeface="Consolas"/>
              </a:rPr>
              <a:t>search</a:t>
            </a:r>
            <a:r>
              <a:rPr sz="1900" i="0">
                <a:solidFill>
                  <a:srgbClr val="7DCEA0"/>
                </a:solidFill>
                <a:latin typeface="Consolas"/>
              </a:rPr>
              <a:t>'</a:t>
            </a:r>
            <a:r>
              <a:rPr sz="1900" i="0">
                <a:solidFill>
                  <a:srgbClr val="7DCEA0"/>
                </a:solidFill>
                <a:latin typeface="Consolas"/>
              </a:rPr>
              <a:t>s ordering -- and greedy search</a:t>
            </a:r>
          </a:p>
          <a:p>
            <a:pPr>
              <a:lnSpc>
                <a:spcPct val="100000"/>
              </a:lnSpc>
              <a:spcAft>
                <a:spcPts val="0"/>
              </a:spcAft>
            </a:pPr>
            <a:r>
              <a:rPr sz="1900" i="0">
                <a:solidFill>
                  <a:srgbClr val="E8EDF2"/>
                </a:solidFill>
                <a:latin typeface="Consolas"/>
              </a:rPr>
              <a:t>    </a:t>
            </a:r>
            <a:r>
              <a:rPr sz="1900" i="0">
                <a:solidFill>
                  <a:srgbClr val="E8EDF2"/>
                </a:solidFill>
                <a:latin typeface="Consolas"/>
              </a:rPr>
              <a:t>would</a:t>
            </a:r>
            <a:r>
              <a:rPr sz="1900" i="0">
                <a:solidFill>
                  <a:srgbClr val="E8EDF2"/>
                </a:solidFill>
                <a:latin typeface="Consolas"/>
              </a:rPr>
              <a:t> </a:t>
            </a:r>
            <a:r>
              <a:rPr sz="1900" i="0">
                <a:solidFill>
                  <a:srgbClr val="E8EDF2"/>
                </a:solidFill>
                <a:latin typeface="Consolas"/>
              </a:rPr>
              <a:t>then</a:t>
            </a:r>
            <a:r>
              <a:rPr sz="1900" i="0">
                <a:solidFill>
                  <a:srgbClr val="E8EDF2"/>
                </a:solidFill>
                <a:latin typeface="Consolas"/>
              </a:rPr>
              <a:t> </a:t>
            </a:r>
            <a:r>
              <a:rPr sz="1900" i="0">
                <a:solidFill>
                  <a:srgbClr val="E8EDF2"/>
                </a:solidFill>
                <a:latin typeface="Consolas"/>
              </a:rPr>
              <a:t>find</a:t>
            </a:r>
            <a:r>
              <a:rPr sz="1900" i="0">
                <a:solidFill>
                  <a:srgbClr val="E8EDF2"/>
                </a:solidFill>
                <a:latin typeface="Consolas"/>
              </a:rPr>
              <a:t> </a:t>
            </a:r>
            <a:r>
              <a:rPr sz="1900" i="0">
                <a:solidFill>
                  <a:srgbClr val="E8EDF2"/>
                </a:solidFill>
                <a:latin typeface="Consolas"/>
              </a:rPr>
              <a:t>the</a:t>
            </a:r>
            <a:r>
              <a:rPr sz="1900" i="0">
                <a:solidFill>
                  <a:srgbClr val="E8EDF2"/>
                </a:solidFill>
                <a:latin typeface="Consolas"/>
              </a:rPr>
              <a:t> </a:t>
            </a:r>
            <a:r>
              <a:rPr sz="1900" i="0">
                <a:solidFill>
                  <a:srgbClr val="E8EDF2"/>
                </a:solidFill>
                <a:latin typeface="Consolas"/>
              </a:rPr>
              <a:t>optimal</a:t>
            </a:r>
            <a:r>
              <a:rPr sz="1900" i="0">
                <a:solidFill>
                  <a:srgbClr val="E8EDF2"/>
                </a:solidFill>
                <a:latin typeface="Consolas"/>
              </a:rPr>
              <a:t> </a:t>
            </a:r>
            <a:r>
              <a:rPr sz="1900" i="0">
                <a:solidFill>
                  <a:srgbClr val="E8EDF2"/>
                </a:solidFill>
                <a:latin typeface="Consolas"/>
              </a:rPr>
              <a:t>plan</a:t>
            </a:r>
            <a:r>
              <a:rPr sz="1900" i="0">
                <a:solidFill>
                  <a:srgbClr val="E8EDF2"/>
                </a:solidFill>
                <a:latin typeface="Consolas"/>
              </a:rPr>
              <a:t> </a:t>
            </a:r>
            <a:r>
              <a:rPr sz="1900" i="0">
                <a:solidFill>
                  <a:srgbClr val="AEB6BF"/>
                </a:solidFill>
                <a:latin typeface="Consolas"/>
              </a:rPr>
              <a:t>and</a:t>
            </a:r>
            <a:r>
              <a:rPr sz="1900" i="0">
                <a:solidFill>
                  <a:srgbClr val="E8EDF2"/>
                </a:solidFill>
                <a:latin typeface="Consolas"/>
              </a:rPr>
              <a:t> </a:t>
            </a:r>
            <a:r>
              <a:rPr sz="1900" i="0">
                <a:solidFill>
                  <a:srgbClr val="E8EDF2"/>
                </a:solidFill>
                <a:latin typeface="Consolas"/>
              </a:rPr>
              <a:t>the</a:t>
            </a:r>
            <a:r>
              <a:rPr sz="1900" i="0">
                <a:solidFill>
                  <a:srgbClr val="E8EDF2"/>
                </a:solidFill>
                <a:latin typeface="Consolas"/>
              </a:rPr>
              <a:t> </a:t>
            </a:r>
            <a:r>
              <a:rPr sz="1900" i="0">
                <a:solidFill>
                  <a:srgbClr val="E8EDF2"/>
                </a:solidFill>
                <a:latin typeface="Consolas"/>
              </a:rPr>
              <a:t>point</a:t>
            </a:r>
            <a:r>
              <a:rPr sz="1900" i="0">
                <a:solidFill>
                  <a:srgbClr val="E8EDF2"/>
                </a:solidFill>
                <a:latin typeface="Consolas"/>
              </a:rPr>
              <a:t> </a:t>
            </a:r>
            <a:r>
              <a:rPr sz="1900" i="0">
                <a:solidFill>
                  <a:srgbClr val="E8EDF2"/>
                </a:solidFill>
                <a:latin typeface="Consolas"/>
              </a:rPr>
              <a:t>of</a:t>
            </a:r>
            <a:r>
              <a:rPr sz="1900" i="0">
                <a:solidFill>
                  <a:srgbClr val="E8EDF2"/>
                </a:solidFill>
                <a:latin typeface="Consolas"/>
              </a:rPr>
              <a:t> </a:t>
            </a:r>
            <a:r>
              <a:rPr sz="1900" i="0">
                <a:solidFill>
                  <a:srgbClr val="E8EDF2"/>
                </a:solidFill>
                <a:latin typeface="Consolas"/>
              </a:rPr>
              <a:t>the</a:t>
            </a:r>
            <a:r>
              <a:rPr sz="1900" i="0">
                <a:solidFill>
                  <a:srgbClr val="E8EDF2"/>
                </a:solidFill>
                <a:latin typeface="Consolas"/>
              </a:rPr>
              <a:t> </a:t>
            </a:r>
            <a:r>
              <a:rPr sz="1900" i="0">
                <a:solidFill>
                  <a:srgbClr val="E8EDF2"/>
                </a:solidFill>
                <a:latin typeface="Consolas"/>
              </a:rPr>
              <a:t>lab</a:t>
            </a:r>
            <a:r>
              <a:rPr sz="1900" i="0">
                <a:solidFill>
                  <a:srgbClr val="E8EDF2"/>
                </a:solidFill>
                <a:latin typeface="Consolas"/>
              </a:rPr>
              <a:t> </a:t>
            </a:r>
            <a:r>
              <a:rPr sz="1900" i="0">
                <a:solidFill>
                  <a:srgbClr val="E8EDF2"/>
                </a:solidFill>
                <a:latin typeface="Consolas"/>
              </a:rPr>
              <a:t>would</a:t>
            </a:r>
          </a:p>
          <a:p>
            <a:pPr>
              <a:lnSpc>
                <a:spcPct val="100000"/>
              </a:lnSpc>
              <a:spcAft>
                <a:spcPts val="0"/>
              </a:spcAft>
            </a:pPr>
            <a:r>
              <a:rPr sz="1900" i="0">
                <a:solidFill>
                  <a:srgbClr val="E8EDF2"/>
                </a:solidFill>
                <a:latin typeface="Consolas"/>
              </a:rPr>
              <a:t>    </a:t>
            </a:r>
            <a:r>
              <a:rPr sz="1900" i="0">
                <a:solidFill>
                  <a:srgbClr val="E8EDF2"/>
                </a:solidFill>
                <a:latin typeface="Consolas"/>
              </a:rPr>
              <a:t>be</a:t>
            </a:r>
            <a:r>
              <a:rPr sz="1900" i="0">
                <a:solidFill>
                  <a:srgbClr val="E8EDF2"/>
                </a:solidFill>
                <a:latin typeface="Consolas"/>
              </a:rPr>
              <a:t> </a:t>
            </a:r>
            <a:r>
              <a:rPr sz="1900" i="0">
                <a:solidFill>
                  <a:srgbClr val="E8EDF2"/>
                </a:solidFill>
                <a:latin typeface="Consolas"/>
              </a:rPr>
              <a:t>lost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7DCEA0"/>
                </a:solidFill>
                <a:latin typeface="Consolas"/>
              </a:rPr>
              <a:t>    start = frozenset()</a:t>
            </a:r>
          </a:p>
          <a:p>
            <a:pPr>
              <a:lnSpc>
                <a:spcPct val="100000"/>
              </a:lnSpc>
              <a:spcAft>
                <a:spcPts val="0"/>
              </a:spcAft>
            </a:pPr>
            <a:r>
              <a:rPr sz="1900" i="0">
                <a:solidFill>
                  <a:srgbClr val="7DCEA0"/>
                </a:solidFill>
                <a:latin typeface="Consolas"/>
              </a:rPr>
              <a:t>    tie = itertools.count()</a:t>
            </a:r>
          </a:p>
          <a:p>
            <a:pPr>
              <a:lnSpc>
                <a:spcPct val="100000"/>
              </a:lnSpc>
              <a:spcAft>
                <a:spcPts val="0"/>
              </a:spcAft>
            </a:pPr>
            <a:r>
              <a:rPr sz="1900" i="0">
                <a:solidFill>
                  <a:srgbClr val="7DCEA0"/>
                </a:solidFill>
                <a:latin typeface="Consolas"/>
              </a:rPr>
              <a:t>    frontier = [(h(start), next(tie), 0, start, ())]</a:t>
            </a:r>
          </a:p>
          <a:p>
            <a:pPr>
              <a:lnSpc>
                <a:spcPct val="100000"/>
              </a:lnSpc>
              <a:spcAft>
                <a:spcPts val="0"/>
              </a:spcAft>
            </a:pPr>
            <a:r>
              <a:rPr sz="1900" i="0">
                <a:solidFill>
                  <a:srgbClr val="7DCEA0"/>
                </a:solidFill>
                <a:latin typeface="Consolas"/>
              </a:rPr>
              <a:t>    best = </a:t>
            </a:r>
            <a:r>
              <a:rPr sz="1900" i="0">
                <a:solidFill>
                  <a:srgbClr val="7DCEA0"/>
                </a:solidFill>
                <a:latin typeface="Consolas"/>
              </a:rPr>
              <a:t>{start: 0}</a:t>
            </a:r>
          </a:p>
          <a:p>
            <a:pPr>
              <a:lnSpc>
                <a:spcPct val="100000"/>
              </a:lnSpc>
              <a:spcAft>
                <a:spcPts val="0"/>
              </a:spcAft>
            </a:pPr>
            <a:r>
              <a:rPr sz="1900" i="0">
                <a:solidFill>
                  <a:srgbClr val="7DCEA0"/>
                </a:solidFill>
                <a:latin typeface="Consolas"/>
              </a:rPr>
              <a:t>    expanded = 0</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88</a:t>
            </a:r>
          </a:p>
          <a:p>
            <a:pPr algn="r">
              <a:lnSpc>
                <a:spcPct val="100000"/>
              </a:lnSpc>
            </a:pPr>
            <a:r>
              <a:rPr sz="1900">
                <a:solidFill>
                  <a:srgbClr val="4F5D6A"/>
                </a:solidFill>
                <a:latin typeface="Consolas"/>
              </a:rPr>
              <a:t>89</a:t>
            </a:r>
          </a:p>
          <a:p>
            <a:pPr algn="r">
              <a:lnSpc>
                <a:spcPct val="100000"/>
              </a:lnSpc>
            </a:pPr>
            <a:r>
              <a:rPr sz="1900">
                <a:solidFill>
                  <a:srgbClr val="4F5D6A"/>
                </a:solidFill>
                <a:latin typeface="Consolas"/>
              </a:rPr>
              <a:t>90</a:t>
            </a:r>
          </a:p>
          <a:p>
            <a:pPr algn="r">
              <a:lnSpc>
                <a:spcPct val="100000"/>
              </a:lnSpc>
            </a:pPr>
            <a:r>
              <a:rPr sz="1900">
                <a:solidFill>
                  <a:srgbClr val="4F5D6A"/>
                </a:solidFill>
                <a:latin typeface="Consolas"/>
              </a:rPr>
              <a:t>91</a:t>
            </a:r>
          </a:p>
          <a:p>
            <a:pPr algn="r">
              <a:lnSpc>
                <a:spcPct val="100000"/>
              </a:lnSpc>
            </a:pPr>
            <a:r>
              <a:rPr sz="1900">
                <a:solidFill>
                  <a:srgbClr val="4F5D6A"/>
                </a:solidFill>
                <a:latin typeface="Consolas"/>
              </a:rPr>
              <a:t>92</a:t>
            </a:r>
          </a:p>
          <a:p>
            <a:pPr algn="r">
              <a:lnSpc>
                <a:spcPct val="100000"/>
              </a:lnSpc>
            </a:pPr>
            <a:r>
              <a:rPr sz="1900">
                <a:solidFill>
                  <a:srgbClr val="4F5D6A"/>
                </a:solidFill>
                <a:latin typeface="Consolas"/>
              </a:rPr>
              <a:t>93</a:t>
            </a:r>
          </a:p>
          <a:p>
            <a:pPr algn="r">
              <a:lnSpc>
                <a:spcPct val="100000"/>
              </a:lnSpc>
            </a:pPr>
            <a:r>
              <a:rPr sz="1900">
                <a:solidFill>
                  <a:srgbClr val="4F5D6A"/>
                </a:solidFill>
                <a:latin typeface="Consolas"/>
              </a:rPr>
              <a:t>94</a:t>
            </a:r>
          </a:p>
          <a:p>
            <a:pPr algn="r">
              <a:lnSpc>
                <a:spcPct val="100000"/>
              </a:lnSpc>
            </a:pPr>
            <a:r>
              <a:rPr sz="1900">
                <a:solidFill>
                  <a:srgbClr val="4F5D6A"/>
                </a:solidFill>
                <a:latin typeface="Consolas"/>
              </a:rPr>
              <a:t>95</a:t>
            </a:r>
          </a:p>
          <a:p>
            <a:pPr algn="r">
              <a:lnSpc>
                <a:spcPct val="100000"/>
              </a:lnSpc>
            </a:pPr>
            <a:r>
              <a:rPr sz="1900">
                <a:solidFill>
                  <a:srgbClr val="4F5D6A"/>
                </a:solidFill>
                <a:latin typeface="Consolas"/>
              </a:rPr>
              <a:t>96</a:t>
            </a:r>
          </a:p>
          <a:p>
            <a:pPr algn="r">
              <a:lnSpc>
                <a:spcPct val="100000"/>
              </a:lnSpc>
            </a:pPr>
            <a:r>
              <a:rPr sz="1900">
                <a:solidFill>
                  <a:srgbClr val="4F5D6A"/>
                </a:solidFill>
                <a:latin typeface="Consolas"/>
              </a:rPr>
              <a:t>97</a:t>
            </a:r>
          </a:p>
          <a:p>
            <a:pPr algn="r">
              <a:lnSpc>
                <a:spcPct val="100000"/>
              </a:lnSpc>
            </a:pPr>
            <a:r>
              <a:rPr sz="1900">
                <a:solidFill>
                  <a:srgbClr val="4F5D6A"/>
                </a:solidFill>
                <a:latin typeface="Consolas"/>
              </a:rPr>
              <a:t>98</a:t>
            </a:r>
          </a:p>
          <a:p>
            <a:pPr algn="r">
              <a:lnSpc>
                <a:spcPct val="100000"/>
              </a:lnSpc>
            </a:pPr>
            <a:r>
              <a:rPr sz="1900">
                <a:solidFill>
                  <a:srgbClr val="4F5D6A"/>
                </a:solidFill>
                <a:latin typeface="Consolas"/>
              </a:rPr>
              <a:t>99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54739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Over Sprint States, Two Heuristics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44BFC08F-1709-4157-A393-A6142657C3BF}"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Best-first search; the priority decides the algorithm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737104"/>
          </a:xfrm>
          <a:prstGeom prst="roundRect">
            <a:avLst>
              <a:gd name="adj" fmla="val 334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code/ch05_over_sprint_states_two.py</a:t>
            </a:r>
          </a:p>
        </p:txBody>
      </p:sp>
      <p:sp>
        <p:nvSpPr>
          <p:cNvPr id="14" name="!!code-text" descr="while frontier: _, _, g, state, plan = heapq.heappop(frontier) if GOAL in state: return g, list(plan), expanded if use_g and g &gt; best.get(state, 1 &lt;&lt; 30): continue # a cheaper path already went expanded += 1"/>
          <p:cNvSpPr txBox="1"/>
          <p:nvPr/>
        </p:nvSpPr>
        <p:spPr>
          <a:xfrm>
            <a:off x="1362456" y="2523744"/>
            <a:ext cx="9987991" cy="2243328"/>
          </a:xfrm>
          <a:prstGeom prst="rect">
            <a:avLst/>
          </a:prstGeom>
          <a:noFill/>
        </p:spPr>
        <p:txBody>
          <a:bodyPr wrap="none" anchor="t" lIns="0" rIns="0" tIns="0" bIns="0">
            <a:noAutofit/>
          </a:bodyPr>
          <a:lstStyle/>
          <a:p>
            <a:pPr>
              <a:lnSpc>
                <a:spcPct val="100000"/>
              </a:lnSpc>
              <a:spcAft>
                <a:spcPts val="0"/>
              </a:spcAft>
            </a:pPr>
            <a:r>
              <a:rPr sz="2000" i="0">
                <a:solidFill>
                  <a:srgbClr val="E8EDF2"/>
                </a:solidFill>
                <a:latin typeface="Consolas"/>
              </a:rPr>
              <a:t>    </a:t>
            </a:r>
            <a:r>
              <a:rPr sz="2000" i="0">
                <a:solidFill>
                  <a:srgbClr val="5DADE2"/>
                </a:solidFill>
                <a:latin typeface="Consolas"/>
              </a:rPr>
              <a:t>while</a:t>
            </a:r>
            <a:r>
              <a:rPr sz="2000" i="0">
                <a:solidFill>
                  <a:srgbClr val="E8EDF2"/>
                </a:solidFill>
                <a:latin typeface="Consolas"/>
              </a:rPr>
              <a:t> </a:t>
            </a:r>
            <a:r>
              <a:rPr sz="2000" i="0">
                <a:solidFill>
                  <a:srgbClr val="E8EDF2"/>
                </a:solidFill>
                <a:latin typeface="Consolas"/>
              </a:rPr>
              <a:t>frontier</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_</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_</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g</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state</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plan</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heapq</a:t>
            </a:r>
            <a:r>
              <a:rPr sz="2000" i="0">
                <a:solidFill>
                  <a:srgbClr val="AEB6BF"/>
                </a:solidFill>
                <a:latin typeface="Consolas"/>
              </a:rPr>
              <a:t>.</a:t>
            </a:r>
            <a:r>
              <a:rPr sz="2000" i="0">
                <a:solidFill>
                  <a:srgbClr val="E8EDF2"/>
                </a:solidFill>
                <a:latin typeface="Consolas"/>
              </a:rPr>
              <a:t>heappop</a:t>
            </a:r>
            <a:r>
              <a:rPr sz="2000" i="0">
                <a:solidFill>
                  <a:srgbClr val="AEB6BF"/>
                </a:solidFill>
                <a:latin typeface="Consolas"/>
              </a:rPr>
              <a:t>(</a:t>
            </a:r>
            <a:r>
              <a:rPr sz="2000" i="0">
                <a:solidFill>
                  <a:srgbClr val="E8EDF2"/>
                </a:solidFill>
                <a:latin typeface="Consolas"/>
              </a:rPr>
              <a:t>frontier</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GOAL</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state</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E8EDF2"/>
                </a:solidFill>
                <a:latin typeface="Consolas"/>
              </a:rPr>
              <a:t>g</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list</a:t>
            </a:r>
            <a:r>
              <a:rPr sz="2000" i="0">
                <a:solidFill>
                  <a:srgbClr val="AEB6BF"/>
                </a:solidFill>
                <a:latin typeface="Consolas"/>
              </a:rPr>
              <a:t>(</a:t>
            </a:r>
            <a:r>
              <a:rPr sz="2000" i="0">
                <a:solidFill>
                  <a:srgbClr val="E8EDF2"/>
                </a:solidFill>
                <a:latin typeface="Consolas"/>
              </a:rPr>
              <a:t>plan</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expanded</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use_g</a:t>
            </a:r>
            <a:r>
              <a:rPr sz="2000" i="0">
                <a:solidFill>
                  <a:srgbClr val="E8EDF2"/>
                </a:solidFill>
                <a:latin typeface="Consolas"/>
              </a:rPr>
              <a:t> </a:t>
            </a:r>
            <a:r>
              <a:rPr sz="2000" i="0">
                <a:solidFill>
                  <a:srgbClr val="AEB6BF"/>
                </a:solidFill>
                <a:latin typeface="Consolas"/>
              </a:rPr>
              <a:t>and</a:t>
            </a:r>
            <a:r>
              <a:rPr sz="2000" i="0">
                <a:solidFill>
                  <a:srgbClr val="E8EDF2"/>
                </a:solidFill>
                <a:latin typeface="Consolas"/>
              </a:rPr>
              <a:t> </a:t>
            </a:r>
            <a:r>
              <a:rPr sz="2000" i="0">
                <a:solidFill>
                  <a:srgbClr val="E8EDF2"/>
                </a:solidFill>
                <a:latin typeface="Consolas"/>
              </a:rPr>
              <a:t>g</a:t>
            </a:r>
            <a:r>
              <a:rPr sz="2000" i="0">
                <a:solidFill>
                  <a:srgbClr val="E8EDF2"/>
                </a:solidFill>
                <a:latin typeface="Consolas"/>
              </a:rPr>
              <a:t> </a:t>
            </a:r>
            <a:r>
              <a:rPr sz="2000" i="0">
                <a:solidFill>
                  <a:srgbClr val="AEB6BF"/>
                </a:solidFill>
                <a:latin typeface="Consolas"/>
              </a:rPr>
              <a:t>&gt;</a:t>
            </a:r>
            <a:r>
              <a:rPr sz="2000" i="0">
                <a:solidFill>
                  <a:srgbClr val="E8EDF2"/>
                </a:solidFill>
                <a:latin typeface="Consolas"/>
              </a:rPr>
              <a:t> </a:t>
            </a:r>
            <a:r>
              <a:rPr sz="2000" i="0">
                <a:solidFill>
                  <a:srgbClr val="E8EDF2"/>
                </a:solidFill>
                <a:latin typeface="Consolas"/>
              </a:rPr>
              <a:t>best</a:t>
            </a:r>
            <a:r>
              <a:rPr sz="2000" i="0">
                <a:solidFill>
                  <a:srgbClr val="AEB6BF"/>
                </a:solidFill>
                <a:latin typeface="Consolas"/>
              </a:rPr>
              <a:t>.</a:t>
            </a:r>
            <a:r>
              <a:rPr sz="2000" i="0">
                <a:solidFill>
                  <a:srgbClr val="E8EDF2"/>
                </a:solidFill>
                <a:latin typeface="Consolas"/>
              </a:rPr>
              <a:t>get</a:t>
            </a:r>
            <a:r>
              <a:rPr sz="2000" i="0">
                <a:solidFill>
                  <a:srgbClr val="AEB6BF"/>
                </a:solidFill>
                <a:latin typeface="Consolas"/>
              </a:rPr>
              <a:t>(</a:t>
            </a:r>
            <a:r>
              <a:rPr sz="2000" i="0">
                <a:solidFill>
                  <a:srgbClr val="E8EDF2"/>
                </a:solidFill>
                <a:latin typeface="Consolas"/>
              </a:rPr>
              <a:t>state</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1</a:t>
            </a:r>
            <a:r>
              <a:rPr sz="2000" i="0">
                <a:solidFill>
                  <a:srgbClr val="E8EDF2"/>
                </a:solidFill>
                <a:latin typeface="Consolas"/>
              </a:rPr>
              <a:t> </a:t>
            </a:r>
            <a:r>
              <a:rPr sz="2000" i="0">
                <a:solidFill>
                  <a:srgbClr val="AEB6BF"/>
                </a:solidFill>
                <a:latin typeface="Consolas"/>
              </a:rPr>
              <a:t>&lt;&lt;</a:t>
            </a:r>
            <a:r>
              <a:rPr sz="2000" i="0">
                <a:solidFill>
                  <a:srgbClr val="E8EDF2"/>
                </a:solidFill>
                <a:latin typeface="Consolas"/>
              </a:rPr>
              <a:t> </a:t>
            </a:r>
            <a:r>
              <a:rPr sz="2000" i="0">
                <a:solidFill>
                  <a:srgbClr val="F7DC6F"/>
                </a:solidFill>
                <a:latin typeface="Consolas"/>
              </a:rPr>
              <a:t>30</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continue</a:t>
            </a:r>
            <a:r>
              <a:rPr sz="2000" i="0">
                <a:solidFill>
                  <a:srgbClr val="E8EDF2"/>
                </a:solidFill>
                <a:latin typeface="Consolas"/>
              </a:rPr>
              <a:t>                    </a:t>
            </a:r>
            <a:r>
              <a:rPr sz="2000" i="1">
                <a:solidFill>
                  <a:srgbClr val="8795A1"/>
                </a:solidFill>
                <a:latin typeface="Consolas"/>
              </a:rPr>
              <a:t># a cheaper path already went</a:t>
            </a:r>
          </a:p>
          <a:p>
            <a:pPr>
              <a:lnSpc>
                <a:spcPct val="100000"/>
              </a:lnSpc>
              <a:spcAft>
                <a:spcPts val="0"/>
              </a:spcAft>
            </a:pPr>
            <a:r>
              <a:rPr sz="2000" i="0">
                <a:solidFill>
                  <a:srgbClr val="E8EDF2"/>
                </a:solidFill>
                <a:latin typeface="Consolas"/>
              </a:rPr>
              <a:t>        </a:t>
            </a:r>
            <a:r>
              <a:rPr sz="2000" i="0">
                <a:solidFill>
                  <a:srgbClr val="E8EDF2"/>
                </a:solidFill>
                <a:latin typeface="Consolas"/>
              </a:rPr>
              <a:t>expanded</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1</a:t>
            </a:r>
          </a:p>
        </p:txBody>
      </p:sp>
      <p:sp>
        <p:nvSpPr>
          <p:cNvPr id="15" name="!!code-num"/>
          <p:cNvSpPr txBox="1"/>
          <p:nvPr/>
        </p:nvSpPr>
        <p:spPr>
          <a:xfrm>
            <a:off x="768096" y="2523744"/>
            <a:ext cx="393192" cy="2243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100</a:t>
            </a:r>
          </a:p>
          <a:p>
            <a:pPr algn="r">
              <a:lnSpc>
                <a:spcPct val="100000"/>
              </a:lnSpc>
            </a:pPr>
            <a:r>
              <a:rPr sz="2000">
                <a:solidFill>
                  <a:srgbClr val="4F5D6A"/>
                </a:solidFill>
                <a:latin typeface="Consolas"/>
              </a:rPr>
              <a:t>101</a:t>
            </a:r>
          </a:p>
          <a:p>
            <a:pPr algn="r">
              <a:lnSpc>
                <a:spcPct val="100000"/>
              </a:lnSpc>
            </a:pPr>
            <a:r>
              <a:rPr sz="2000">
                <a:solidFill>
                  <a:srgbClr val="4F5D6A"/>
                </a:solidFill>
                <a:latin typeface="Consolas"/>
              </a:rPr>
              <a:t>102</a:t>
            </a:r>
          </a:p>
          <a:p>
            <a:pPr algn="r">
              <a:lnSpc>
                <a:spcPct val="100000"/>
              </a:lnSpc>
            </a:pPr>
            <a:r>
              <a:rPr sz="2000">
                <a:solidFill>
                  <a:srgbClr val="4F5D6A"/>
                </a:solidFill>
                <a:latin typeface="Consolas"/>
              </a:rPr>
              <a:t>103</a:t>
            </a:r>
          </a:p>
          <a:p>
            <a:pPr algn="r">
              <a:lnSpc>
                <a:spcPct val="100000"/>
              </a:lnSpc>
            </a:pPr>
            <a:r>
              <a:rPr sz="2000">
                <a:solidFill>
                  <a:srgbClr val="4F5D6A"/>
                </a:solidFill>
                <a:latin typeface="Consolas"/>
              </a:rPr>
              <a:t>104</a:t>
            </a:r>
          </a:p>
          <a:p>
            <a:pPr algn="r">
              <a:lnSpc>
                <a:spcPct val="100000"/>
              </a:lnSpc>
            </a:pPr>
            <a:r>
              <a:rPr sz="2000">
                <a:solidFill>
                  <a:srgbClr val="4F5D6A"/>
                </a:solidFill>
                <a:latin typeface="Consolas"/>
              </a:rPr>
              <a:t>105</a:t>
            </a:r>
          </a:p>
          <a:p>
            <a:pPr algn="r">
              <a:lnSpc>
                <a:spcPct val="100000"/>
              </a:lnSpc>
            </a:pPr>
            <a:r>
              <a:rPr sz="2000">
                <a:solidFill>
                  <a:srgbClr val="4F5D6A"/>
                </a:solidFill>
                <a:latin typeface="Consolas"/>
              </a:rPr>
              <a:t>106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77316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Over Sprint States, Two Heuristics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10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6BD4405D-65CC-4D95-BA47-A038B033EB60}"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Best-first search; the priority decides the algorithm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32504"/>
          </a:xfrm>
          <a:prstGeom prst="roundRect">
            <a:avLst>
              <a:gd name="adj" fmla="val 2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code/ch05_over_sprint_states_two.py</a:t>
            </a:r>
          </a:p>
        </p:txBody>
      </p:sp>
      <p:sp>
        <p:nvSpPr>
          <p:cNvPr id="14" name="!!code-text" descr="for t in ready(state): nxt, ng = state | {t}, g + dur(t) if use_g: if ng &gt;= best.get(nxt, 1 &lt;&lt; 30): continue best[nxt] = ng pri = ng + h(nxt) else: if nxt in best: continue best[nxt] = ng pri = h(nxt) heapq.heappush(frontier, (pri, next(tie), ng, nxt, plan + (t,))) return None, None, expanded"/>
          <p:cNvSpPr txBox="1"/>
          <p:nvPr/>
        </p:nvSpPr>
        <p:spPr>
          <a:xfrm>
            <a:off x="1362456" y="2523744"/>
            <a:ext cx="9987991" cy="3538727"/>
          </a:xfrm>
          <a:prstGeom prst="rect">
            <a:avLst/>
          </a:prstGeom>
          <a:noFill/>
        </p:spPr>
        <p:txBody>
          <a:bodyPr wrap="none" anchor="t" lIns="0" rIns="0" tIns="0" bIns="0">
            <a:noAutofit/>
          </a:bodyPr>
          <a:lstStyle/>
          <a:p>
            <a:pPr>
              <a:lnSpc>
                <a:spcPct val="100000"/>
              </a:lnSpc>
              <a:spcAft>
                <a:spcPts val="0"/>
              </a:spcAft>
            </a:pP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t</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ready</a:t>
            </a:r>
            <a:r>
              <a:rPr sz="1500" i="0">
                <a:solidFill>
                  <a:srgbClr val="AEB6BF"/>
                </a:solidFill>
                <a:latin typeface="Consolas"/>
              </a:rPr>
              <a:t>(</a:t>
            </a:r>
            <a:r>
              <a:rPr sz="1500" i="0">
                <a:solidFill>
                  <a:srgbClr val="E8EDF2"/>
                </a:solidFill>
                <a:latin typeface="Consolas"/>
              </a:rPr>
              <a:t>state</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nxt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ng</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state</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g</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dur</a:t>
            </a:r>
            <a:r>
              <a:rPr sz="1500" i="0">
                <a:solidFill>
                  <a:srgbClr val="AEB6BF"/>
                </a:solidFill>
                <a:latin typeface="Consolas"/>
              </a:rPr>
              <a:t>(</a:t>
            </a:r>
            <a:r>
              <a:rPr sz="1500" i="0">
                <a:solidFill>
                  <a:srgbClr val="E8EDF2"/>
                </a:solidFill>
                <a:latin typeface="Consolas"/>
              </a:rPr>
              <a:t>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E8EDF2"/>
                </a:solidFill>
                <a:latin typeface="Consolas"/>
              </a:rPr>
              <a:t>use_g</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E8EDF2"/>
                </a:solidFill>
                <a:latin typeface="Consolas"/>
              </a:rPr>
              <a:t>ng</a:t>
            </a:r>
            <a:r>
              <a:rPr sz="1500" i="0">
                <a:solidFill>
                  <a:srgbClr val="E8EDF2"/>
                </a:solidFill>
                <a:latin typeface="Consolas"/>
              </a:rPr>
              <a:t> </a:t>
            </a:r>
            <a:r>
              <a:rPr sz="1500" i="0">
                <a:solidFill>
                  <a:srgbClr val="AEB6BF"/>
                </a:solidFill>
                <a:latin typeface="Consolas"/>
              </a:rPr>
              <a:t>&gt;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best</a:t>
            </a:r>
            <a:r>
              <a:rPr sz="1500" i="0">
                <a:solidFill>
                  <a:srgbClr val="AEB6BF"/>
                </a:solidFill>
                <a:latin typeface="Consolas"/>
              </a:rPr>
              <a:t>.</a:t>
            </a:r>
            <a:r>
              <a:rPr sz="1500" i="0">
                <a:solidFill>
                  <a:srgbClr val="E8EDF2"/>
                </a:solidFill>
                <a:latin typeface="Consolas"/>
              </a:rPr>
              <a:t>get</a:t>
            </a:r>
            <a:r>
              <a:rPr sz="1500" i="0">
                <a:solidFill>
                  <a:srgbClr val="AEB6BF"/>
                </a:solidFill>
                <a:latin typeface="Consolas"/>
              </a:rPr>
              <a:t>(</a:t>
            </a:r>
            <a:r>
              <a:rPr sz="1500" i="0">
                <a:solidFill>
                  <a:srgbClr val="E8EDF2"/>
                </a:solidFill>
                <a:latin typeface="Consolas"/>
              </a:rPr>
              <a:t>nxt</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1</a:t>
            </a:r>
            <a:r>
              <a:rPr sz="1500" i="0">
                <a:solidFill>
                  <a:srgbClr val="E8EDF2"/>
                </a:solidFill>
                <a:latin typeface="Consolas"/>
              </a:rPr>
              <a:t> </a:t>
            </a:r>
            <a:r>
              <a:rPr sz="1500" i="0">
                <a:solidFill>
                  <a:srgbClr val="AEB6BF"/>
                </a:solidFill>
                <a:latin typeface="Consolas"/>
              </a:rPr>
              <a:t>&lt;&lt;</a:t>
            </a:r>
            <a:r>
              <a:rPr sz="1500" i="0">
                <a:solidFill>
                  <a:srgbClr val="E8EDF2"/>
                </a:solidFill>
                <a:latin typeface="Consolas"/>
              </a:rPr>
              <a:t> </a:t>
            </a:r>
            <a:r>
              <a:rPr sz="1500" i="0">
                <a:solidFill>
                  <a:srgbClr val="F7DC6F"/>
                </a:solidFill>
                <a:latin typeface="Consolas"/>
              </a:rPr>
              <a:t>30</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continue</a:t>
            </a:r>
          </a:p>
          <a:p>
            <a:pPr>
              <a:lnSpc>
                <a:spcPct val="100000"/>
              </a:lnSpc>
              <a:spcAft>
                <a:spcPts val="0"/>
              </a:spcAft>
            </a:pPr>
            <a:r>
              <a:rPr sz="1500" i="0">
                <a:solidFill>
                  <a:srgbClr val="E8EDF2"/>
                </a:solidFill>
                <a:latin typeface="Consolas"/>
              </a:rPr>
              <a:t>                </a:t>
            </a:r>
            <a:r>
              <a:rPr sz="1500" i="0">
                <a:solidFill>
                  <a:srgbClr val="E8EDF2"/>
                </a:solidFill>
                <a:latin typeface="Consolas"/>
              </a:rPr>
              <a:t>best</a:t>
            </a:r>
            <a:r>
              <a:rPr sz="1500" i="0">
                <a:solidFill>
                  <a:srgbClr val="AEB6BF"/>
                </a:solidFill>
                <a:latin typeface="Consolas"/>
              </a:rPr>
              <a:t>[</a:t>
            </a:r>
            <a:r>
              <a:rPr sz="1500" i="0">
                <a:solidFill>
                  <a:srgbClr val="E8EDF2"/>
                </a:solidFill>
                <a:latin typeface="Consolas"/>
              </a:rPr>
              <a:t>nxt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ng</a:t>
            </a:r>
          </a:p>
          <a:p>
            <a:pPr>
              <a:lnSpc>
                <a:spcPct val="100000"/>
              </a:lnSpc>
              <a:spcAft>
                <a:spcPts val="0"/>
              </a:spcAft>
            </a:pPr>
            <a:r>
              <a:rPr sz="1500" i="0">
                <a:solidFill>
                  <a:srgbClr val="E8EDF2"/>
                </a:solidFill>
                <a:latin typeface="Consolas"/>
              </a:rPr>
              <a:t>                </a:t>
            </a:r>
            <a:r>
              <a:rPr sz="1500" i="0">
                <a:solidFill>
                  <a:srgbClr val="E8EDF2"/>
                </a:solidFill>
                <a:latin typeface="Consolas"/>
              </a:rPr>
              <a:t>pri</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ng</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h</a:t>
            </a:r>
            <a:r>
              <a:rPr sz="1500" i="0">
                <a:solidFill>
                  <a:srgbClr val="AEB6BF"/>
                </a:solidFill>
                <a:latin typeface="Consolas"/>
              </a:rPr>
              <a:t>(</a:t>
            </a:r>
            <a:r>
              <a:rPr sz="1500" i="0">
                <a:solidFill>
                  <a:srgbClr val="E8EDF2"/>
                </a:solidFill>
                <a:latin typeface="Consolas"/>
              </a:rPr>
              <a:t>nxt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else</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E8EDF2"/>
                </a:solidFill>
                <a:latin typeface="Consolas"/>
              </a:rPr>
              <a:t>nxt</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best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continue</a:t>
            </a:r>
          </a:p>
          <a:p>
            <a:pPr>
              <a:lnSpc>
                <a:spcPct val="100000"/>
              </a:lnSpc>
              <a:spcAft>
                <a:spcPts val="0"/>
              </a:spcAft>
            </a:pPr>
            <a:r>
              <a:rPr sz="1500" i="0">
                <a:solidFill>
                  <a:srgbClr val="E8EDF2"/>
                </a:solidFill>
                <a:latin typeface="Consolas"/>
              </a:rPr>
              <a:t>                </a:t>
            </a:r>
            <a:r>
              <a:rPr sz="1500" i="0">
                <a:solidFill>
                  <a:srgbClr val="E8EDF2"/>
                </a:solidFill>
                <a:latin typeface="Consolas"/>
              </a:rPr>
              <a:t>best</a:t>
            </a:r>
            <a:r>
              <a:rPr sz="1500" i="0">
                <a:solidFill>
                  <a:srgbClr val="AEB6BF"/>
                </a:solidFill>
                <a:latin typeface="Consolas"/>
              </a:rPr>
              <a:t>[</a:t>
            </a:r>
            <a:r>
              <a:rPr sz="1500" i="0">
                <a:solidFill>
                  <a:srgbClr val="E8EDF2"/>
                </a:solidFill>
                <a:latin typeface="Consolas"/>
              </a:rPr>
              <a:t>nxt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ng</a:t>
            </a:r>
          </a:p>
          <a:p>
            <a:pPr>
              <a:lnSpc>
                <a:spcPct val="100000"/>
              </a:lnSpc>
              <a:spcAft>
                <a:spcPts val="0"/>
              </a:spcAft>
            </a:pPr>
            <a:r>
              <a:rPr sz="1500" i="0">
                <a:solidFill>
                  <a:srgbClr val="E8EDF2"/>
                </a:solidFill>
                <a:latin typeface="Consolas"/>
              </a:rPr>
              <a:t>                </a:t>
            </a:r>
            <a:r>
              <a:rPr sz="1500" i="0">
                <a:solidFill>
                  <a:srgbClr val="E8EDF2"/>
                </a:solidFill>
                <a:latin typeface="Consolas"/>
              </a:rPr>
              <a:t>pri</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h</a:t>
            </a:r>
            <a:r>
              <a:rPr sz="1500" i="0">
                <a:solidFill>
                  <a:srgbClr val="AEB6BF"/>
                </a:solidFill>
                <a:latin typeface="Consolas"/>
              </a:rPr>
              <a:t>(</a:t>
            </a:r>
            <a:r>
              <a:rPr sz="1500" i="0">
                <a:solidFill>
                  <a:srgbClr val="E8EDF2"/>
                </a:solidFill>
                <a:latin typeface="Consolas"/>
              </a:rPr>
              <a:t>nxt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heapq</a:t>
            </a:r>
            <a:r>
              <a:rPr sz="1500" i="0">
                <a:solidFill>
                  <a:srgbClr val="AEB6BF"/>
                </a:solidFill>
                <a:latin typeface="Consolas"/>
              </a:rPr>
              <a:t>.</a:t>
            </a:r>
            <a:r>
              <a:rPr sz="1500" i="0">
                <a:solidFill>
                  <a:srgbClr val="E8EDF2"/>
                </a:solidFill>
                <a:latin typeface="Consolas"/>
              </a:rPr>
              <a:t>heappush</a:t>
            </a:r>
            <a:r>
              <a:rPr sz="1500" i="0">
                <a:solidFill>
                  <a:srgbClr val="AEB6BF"/>
                </a:solidFill>
                <a:latin typeface="Consolas"/>
              </a:rPr>
              <a:t>(</a:t>
            </a:r>
            <a:r>
              <a:rPr sz="1500" i="0">
                <a:solidFill>
                  <a:srgbClr val="E8EDF2"/>
                </a:solidFill>
                <a:latin typeface="Consolas"/>
              </a:rPr>
              <a:t>frontier</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pri</a:t>
            </a:r>
            <a:r>
              <a:rPr sz="1500" i="0">
                <a:solidFill>
                  <a:srgbClr val="AEB6BF"/>
                </a:solidFill>
                <a:latin typeface="Consolas"/>
              </a:rPr>
              <a:t>,</a:t>
            </a:r>
            <a:r>
              <a:rPr sz="1500" i="0">
                <a:solidFill>
                  <a:srgbClr val="E8EDF2"/>
                </a:solidFill>
                <a:latin typeface="Consolas"/>
              </a:rPr>
              <a:t> </a:t>
            </a:r>
            <a:r>
              <a:rPr sz="1500" i="0">
                <a:solidFill>
                  <a:srgbClr val="C39BD3"/>
                </a:solidFill>
                <a:latin typeface="Consolas"/>
              </a:rPr>
              <a:t>next</a:t>
            </a:r>
            <a:r>
              <a:rPr sz="1500" i="0">
                <a:solidFill>
                  <a:srgbClr val="AEB6BF"/>
                </a:solidFill>
                <a:latin typeface="Consolas"/>
              </a:rPr>
              <a:t>(</a:t>
            </a:r>
            <a:r>
              <a:rPr sz="1500" i="0">
                <a:solidFill>
                  <a:srgbClr val="E8EDF2"/>
                </a:solidFill>
                <a:latin typeface="Consolas"/>
              </a:rPr>
              <a:t>tie</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ng</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nxt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plan</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t</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5DADE2"/>
                </a:solidFill>
                <a:latin typeface="Consolas"/>
              </a:rPr>
              <a:t>None</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None</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expanded</a:t>
            </a:r>
          </a:p>
        </p:txBody>
      </p:sp>
      <p:sp>
        <p:nvSpPr>
          <p:cNvPr id="15" name="!!code-num"/>
          <p:cNvSpPr txBox="1"/>
          <p:nvPr/>
        </p:nvSpPr>
        <p:spPr>
          <a:xfrm>
            <a:off x="768096" y="2523744"/>
            <a:ext cx="393192" cy="3538727"/>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107</a:t>
            </a:r>
          </a:p>
          <a:p>
            <a:pPr algn="r">
              <a:lnSpc>
                <a:spcPct val="100000"/>
              </a:lnSpc>
            </a:pPr>
            <a:r>
              <a:rPr sz="1500">
                <a:solidFill>
                  <a:srgbClr val="4F5D6A"/>
                </a:solidFill>
                <a:latin typeface="Consolas"/>
              </a:rPr>
              <a:t>108</a:t>
            </a:r>
          </a:p>
          <a:p>
            <a:pPr algn="r">
              <a:lnSpc>
                <a:spcPct val="100000"/>
              </a:lnSpc>
            </a:pPr>
            <a:r>
              <a:rPr sz="1500">
                <a:solidFill>
                  <a:srgbClr val="4F5D6A"/>
                </a:solidFill>
                <a:latin typeface="Consolas"/>
              </a:rPr>
              <a:t>109</a:t>
            </a:r>
          </a:p>
          <a:p>
            <a:pPr algn="r">
              <a:lnSpc>
                <a:spcPct val="100000"/>
              </a:lnSpc>
            </a:pPr>
            <a:r>
              <a:rPr sz="1500">
                <a:solidFill>
                  <a:srgbClr val="4F5D6A"/>
                </a:solidFill>
                <a:latin typeface="Consolas"/>
              </a:rPr>
              <a:t>110</a:t>
            </a:r>
          </a:p>
          <a:p>
            <a:pPr algn="r">
              <a:lnSpc>
                <a:spcPct val="100000"/>
              </a:lnSpc>
            </a:pPr>
            <a:r>
              <a:rPr sz="1500">
                <a:solidFill>
                  <a:srgbClr val="4F5D6A"/>
                </a:solidFill>
                <a:latin typeface="Consolas"/>
              </a:rPr>
              <a:t>111</a:t>
            </a:r>
          </a:p>
          <a:p>
            <a:pPr algn="r">
              <a:lnSpc>
                <a:spcPct val="100000"/>
              </a:lnSpc>
            </a:pPr>
            <a:r>
              <a:rPr sz="1500">
                <a:solidFill>
                  <a:srgbClr val="4F5D6A"/>
                </a:solidFill>
                <a:latin typeface="Consolas"/>
              </a:rPr>
              <a:t>112</a:t>
            </a:r>
          </a:p>
          <a:p>
            <a:pPr algn="r">
              <a:lnSpc>
                <a:spcPct val="100000"/>
              </a:lnSpc>
            </a:pPr>
            <a:r>
              <a:rPr sz="1500">
                <a:solidFill>
                  <a:srgbClr val="4F5D6A"/>
                </a:solidFill>
                <a:latin typeface="Consolas"/>
              </a:rPr>
              <a:t>113</a:t>
            </a:r>
          </a:p>
          <a:p>
            <a:pPr algn="r">
              <a:lnSpc>
                <a:spcPct val="100000"/>
              </a:lnSpc>
            </a:pPr>
            <a:r>
              <a:rPr sz="1500">
                <a:solidFill>
                  <a:srgbClr val="4F5D6A"/>
                </a:solidFill>
                <a:latin typeface="Consolas"/>
              </a:rPr>
              <a:t>114</a:t>
            </a:r>
          </a:p>
          <a:p>
            <a:pPr algn="r">
              <a:lnSpc>
                <a:spcPct val="100000"/>
              </a:lnSpc>
            </a:pPr>
            <a:r>
              <a:rPr sz="1500">
                <a:solidFill>
                  <a:srgbClr val="4F5D6A"/>
                </a:solidFill>
                <a:latin typeface="Consolas"/>
              </a:rPr>
              <a:t>115</a:t>
            </a:r>
          </a:p>
          <a:p>
            <a:pPr algn="r">
              <a:lnSpc>
                <a:spcPct val="100000"/>
              </a:lnSpc>
            </a:pPr>
            <a:r>
              <a:rPr sz="1500">
                <a:solidFill>
                  <a:srgbClr val="4F5D6A"/>
                </a:solidFill>
                <a:latin typeface="Consolas"/>
              </a:rPr>
              <a:t>116</a:t>
            </a:r>
          </a:p>
          <a:p>
            <a:pPr algn="r">
              <a:lnSpc>
                <a:spcPct val="100000"/>
              </a:lnSpc>
            </a:pPr>
            <a:r>
              <a:rPr sz="1500">
                <a:solidFill>
                  <a:srgbClr val="4F5D6A"/>
                </a:solidFill>
                <a:latin typeface="Consolas"/>
              </a:rPr>
              <a:t>117</a:t>
            </a:r>
          </a:p>
          <a:p>
            <a:pPr algn="r">
              <a:lnSpc>
                <a:spcPct val="100000"/>
              </a:lnSpc>
            </a:pPr>
            <a:r>
              <a:rPr sz="1500">
                <a:solidFill>
                  <a:srgbClr val="4F5D6A"/>
                </a:solidFill>
                <a:latin typeface="Consolas"/>
              </a:rPr>
              <a:t>118</a:t>
            </a:r>
          </a:p>
          <a:p>
            <a:pPr algn="r">
              <a:lnSpc>
                <a:spcPct val="100000"/>
              </a:lnSpc>
            </a:pPr>
            <a:r>
              <a:rPr sz="1500">
                <a:solidFill>
                  <a:srgbClr val="4F5D6A"/>
                </a:solidFill>
                <a:latin typeface="Consolas"/>
              </a:rPr>
              <a:t>119</a:t>
            </a:r>
          </a:p>
          <a:p>
            <a:pPr algn="r">
              <a:lnSpc>
                <a:spcPct val="100000"/>
              </a:lnSpc>
            </a:pPr>
            <a:r>
              <a:rPr sz="1500">
                <a:solidFill>
                  <a:srgbClr val="4F5D6A"/>
                </a:solidFill>
                <a:latin typeface="Consolas"/>
              </a:rPr>
              <a:t>120</a:t>
            </a:r>
          </a:p>
          <a:p>
            <a:pPr algn="r">
              <a:lnSpc>
                <a:spcPct val="100000"/>
              </a:lnSpc>
            </a:pPr>
            <a:r>
              <a:rPr sz="1500">
                <a:solidFill>
                  <a:srgbClr val="4F5D6A"/>
                </a:solidFill>
                <a:latin typeface="Consolas"/>
              </a:rPr>
              <a:t>121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99893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Over Sprint States, Two Heuristics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11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C59D97FA-8A63-4F08-B4C8-1A8B00CFD344}"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Best-first search; the priority decides the algorithm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651504"/>
          </a:xfrm>
          <a:prstGeom prst="roundRect">
            <a:avLst>
              <a:gd name="adj" fmla="val 250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code/ch05_over_sprint_states_two.py</a:t>
            </a:r>
          </a:p>
        </p:txBody>
      </p:sp>
      <p:sp>
        <p:nvSpPr>
          <p:cNvPr id="14" name="!!code-text" descr="def reachable(): seen, q = {frozenset()}, deque([frozenset()]) while q: s = q.popleft() for t in ready(s): n = s | {t} if n not in seen: seen.add(n) q.append(n) return seen"/>
          <p:cNvSpPr txBox="1"/>
          <p:nvPr/>
        </p:nvSpPr>
        <p:spPr>
          <a:xfrm>
            <a:off x="1362456" y="2523744"/>
            <a:ext cx="9987991" cy="3157728"/>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reachable</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seen</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q</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C39BD3"/>
                </a:solidFill>
                <a:latin typeface="Consolas"/>
              </a:rPr>
              <a:t>frozenset</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deque</a:t>
            </a:r>
            <a:r>
              <a:rPr sz="2000" i="0">
                <a:solidFill>
                  <a:srgbClr val="AEB6BF"/>
                </a:solidFill>
                <a:latin typeface="Consolas"/>
              </a:rPr>
              <a:t>(</a:t>
            </a:r>
            <a:r>
              <a:rPr sz="2000" i="0">
                <a:solidFill>
                  <a:srgbClr val="AEB6BF"/>
                </a:solidFill>
                <a:latin typeface="Consolas"/>
              </a:rPr>
              <a:t>[</a:t>
            </a:r>
            <a:r>
              <a:rPr sz="2000" i="0">
                <a:solidFill>
                  <a:srgbClr val="C39BD3"/>
                </a:solidFill>
                <a:latin typeface="Consolas"/>
              </a:rPr>
              <a:t>frozenset</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while</a:t>
            </a:r>
            <a:r>
              <a:rPr sz="2000" i="0">
                <a:solidFill>
                  <a:srgbClr val="E8EDF2"/>
                </a:solidFill>
                <a:latin typeface="Consolas"/>
              </a:rPr>
              <a:t> </a:t>
            </a:r>
            <a:r>
              <a:rPr sz="2000" i="0">
                <a:solidFill>
                  <a:srgbClr val="E8EDF2"/>
                </a:solidFill>
                <a:latin typeface="Consolas"/>
              </a:rPr>
              <a:t>q</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s</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q</a:t>
            </a:r>
            <a:r>
              <a:rPr sz="2000" i="0">
                <a:solidFill>
                  <a:srgbClr val="AEB6BF"/>
                </a:solidFill>
                <a:latin typeface="Consolas"/>
              </a:rPr>
              <a:t>.</a:t>
            </a:r>
            <a:r>
              <a:rPr sz="2000" i="0">
                <a:solidFill>
                  <a:srgbClr val="E8EDF2"/>
                </a:solidFill>
                <a:latin typeface="Consolas"/>
              </a:rPr>
              <a:t>popleft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t</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ready</a:t>
            </a:r>
            <a:r>
              <a:rPr sz="2000" i="0">
                <a:solidFill>
                  <a:srgbClr val="AEB6BF"/>
                </a:solidFill>
                <a:latin typeface="Consolas"/>
              </a:rPr>
              <a:t>(</a:t>
            </a:r>
            <a:r>
              <a:rPr sz="2000" i="0">
                <a:solidFill>
                  <a:srgbClr val="E8EDF2"/>
                </a:solidFill>
                <a:latin typeface="Consolas"/>
              </a:rPr>
              <a:t>s</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n</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s</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n</a:t>
            </a:r>
            <a:r>
              <a:rPr sz="2000" i="0">
                <a:solidFill>
                  <a:srgbClr val="E8EDF2"/>
                </a:solidFill>
                <a:latin typeface="Consolas"/>
              </a:rPr>
              <a:t> </a:t>
            </a:r>
            <a:r>
              <a:rPr sz="2000" i="0">
                <a:solidFill>
                  <a:srgbClr val="AEB6BF"/>
                </a:solidFill>
                <a:latin typeface="Consolas"/>
              </a:rPr>
              <a:t>not</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seen</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seen</a:t>
            </a:r>
            <a:r>
              <a:rPr sz="2000" i="0">
                <a:solidFill>
                  <a:srgbClr val="AEB6BF"/>
                </a:solidFill>
                <a:latin typeface="Consolas"/>
              </a:rPr>
              <a:t>.</a:t>
            </a:r>
            <a:r>
              <a:rPr sz="2000" i="0">
                <a:solidFill>
                  <a:srgbClr val="E8EDF2"/>
                </a:solidFill>
                <a:latin typeface="Consolas"/>
              </a:rPr>
              <a:t>add</a:t>
            </a:r>
            <a:r>
              <a:rPr sz="2000" i="0">
                <a:solidFill>
                  <a:srgbClr val="AEB6BF"/>
                </a:solidFill>
                <a:latin typeface="Consolas"/>
              </a:rPr>
              <a:t>(</a:t>
            </a:r>
            <a:r>
              <a:rPr sz="2000" i="0">
                <a:solidFill>
                  <a:srgbClr val="E8EDF2"/>
                </a:solidFill>
                <a:latin typeface="Consolas"/>
              </a:rPr>
              <a:t>n</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q</a:t>
            </a:r>
            <a:r>
              <a:rPr sz="2000" i="0">
                <a:solidFill>
                  <a:srgbClr val="AEB6BF"/>
                </a:solidFill>
                <a:latin typeface="Consolas"/>
              </a:rPr>
              <a:t>.</a:t>
            </a:r>
            <a:r>
              <a:rPr sz="2000" i="0">
                <a:solidFill>
                  <a:srgbClr val="E8EDF2"/>
                </a:solidFill>
                <a:latin typeface="Consolas"/>
              </a:rPr>
              <a:t>append</a:t>
            </a:r>
            <a:r>
              <a:rPr sz="2000" i="0">
                <a:solidFill>
                  <a:srgbClr val="AEB6BF"/>
                </a:solidFill>
                <a:latin typeface="Consolas"/>
              </a:rPr>
              <a:t>(</a:t>
            </a:r>
            <a:r>
              <a:rPr sz="2000" i="0">
                <a:solidFill>
                  <a:srgbClr val="E8EDF2"/>
                </a:solidFill>
                <a:latin typeface="Consolas"/>
              </a:rPr>
              <a:t>n</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E8EDF2"/>
                </a:solidFill>
                <a:latin typeface="Consolas"/>
              </a:rPr>
              <a:t>seen</a:t>
            </a:r>
          </a:p>
        </p:txBody>
      </p:sp>
      <p:sp>
        <p:nvSpPr>
          <p:cNvPr id="15" name="!!code-num"/>
          <p:cNvSpPr txBox="1"/>
          <p:nvPr/>
        </p:nvSpPr>
        <p:spPr>
          <a:xfrm>
            <a:off x="768096" y="2523744"/>
            <a:ext cx="393192" cy="31577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124</a:t>
            </a:r>
          </a:p>
          <a:p>
            <a:pPr algn="r">
              <a:lnSpc>
                <a:spcPct val="100000"/>
              </a:lnSpc>
            </a:pPr>
            <a:r>
              <a:rPr sz="2000">
                <a:solidFill>
                  <a:srgbClr val="4F5D6A"/>
                </a:solidFill>
                <a:latin typeface="Consolas"/>
              </a:rPr>
              <a:t>125</a:t>
            </a:r>
          </a:p>
          <a:p>
            <a:pPr algn="r">
              <a:lnSpc>
                <a:spcPct val="100000"/>
              </a:lnSpc>
            </a:pPr>
            <a:r>
              <a:rPr sz="2000">
                <a:solidFill>
                  <a:srgbClr val="4F5D6A"/>
                </a:solidFill>
                <a:latin typeface="Consolas"/>
              </a:rPr>
              <a:t>126</a:t>
            </a:r>
          </a:p>
          <a:p>
            <a:pPr algn="r">
              <a:lnSpc>
                <a:spcPct val="100000"/>
              </a:lnSpc>
            </a:pPr>
            <a:r>
              <a:rPr sz="2000">
                <a:solidFill>
                  <a:srgbClr val="4F5D6A"/>
                </a:solidFill>
                <a:latin typeface="Consolas"/>
              </a:rPr>
              <a:t>127</a:t>
            </a:r>
          </a:p>
          <a:p>
            <a:pPr algn="r">
              <a:lnSpc>
                <a:spcPct val="100000"/>
              </a:lnSpc>
            </a:pPr>
            <a:r>
              <a:rPr sz="2000">
                <a:solidFill>
                  <a:srgbClr val="4F5D6A"/>
                </a:solidFill>
                <a:latin typeface="Consolas"/>
              </a:rPr>
              <a:t>128</a:t>
            </a:r>
          </a:p>
          <a:p>
            <a:pPr algn="r">
              <a:lnSpc>
                <a:spcPct val="100000"/>
              </a:lnSpc>
            </a:pPr>
            <a:r>
              <a:rPr sz="2000">
                <a:solidFill>
                  <a:srgbClr val="4F5D6A"/>
                </a:solidFill>
                <a:latin typeface="Consolas"/>
              </a:rPr>
              <a:t>129</a:t>
            </a:r>
          </a:p>
          <a:p>
            <a:pPr algn="r">
              <a:lnSpc>
                <a:spcPct val="100000"/>
              </a:lnSpc>
            </a:pPr>
            <a:r>
              <a:rPr sz="2000">
                <a:solidFill>
                  <a:srgbClr val="4F5D6A"/>
                </a:solidFill>
                <a:latin typeface="Consolas"/>
              </a:rPr>
              <a:t>130</a:t>
            </a:r>
          </a:p>
          <a:p>
            <a:pPr algn="r">
              <a:lnSpc>
                <a:spcPct val="100000"/>
              </a:lnSpc>
            </a:pPr>
            <a:r>
              <a:rPr sz="2000">
                <a:solidFill>
                  <a:srgbClr val="4F5D6A"/>
                </a:solidFill>
                <a:latin typeface="Consolas"/>
              </a:rPr>
              <a:t>131</a:t>
            </a:r>
          </a:p>
          <a:p>
            <a:pPr algn="r">
              <a:lnSpc>
                <a:spcPct val="100000"/>
              </a:lnSpc>
            </a:pPr>
            <a:r>
              <a:rPr sz="2000">
                <a:solidFill>
                  <a:srgbClr val="4F5D6A"/>
                </a:solidFill>
                <a:latin typeface="Consolas"/>
              </a:rPr>
              <a:t>132</a:t>
            </a:r>
          </a:p>
          <a:p>
            <a:pPr algn="r">
              <a:lnSpc>
                <a:spcPct val="100000"/>
              </a:lnSpc>
            </a:pPr>
            <a:r>
              <a:rPr sz="2000">
                <a:solidFill>
                  <a:srgbClr val="4F5D6A"/>
                </a:solidFill>
                <a:latin typeface="Consolas"/>
              </a:rPr>
              <a:t>133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22470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Over Sprint States, Two Heuristics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12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39B9B2F4-B128-40E8-A8B7-B9731A41699B}"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Best-first search; the priority decides the algorithm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71543"/>
          </a:xfrm>
          <a:prstGeom prst="roundRect">
            <a:avLst>
              <a:gd name="adj" fmla="val 23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code/ch05_over_sprint_states_two.py</a:t>
            </a:r>
          </a:p>
        </p:txBody>
      </p:sp>
      <p:sp>
        <p:nvSpPr>
          <p:cNvPr id="14" name="!!code-text" descr="def cheapest_from(state): &quot;&quot;&quot;True remaining cost h*, by uniform-cost search from state.&quot;&quot;&quot; tie = itertools.count() fr = [(0, next(tie), state)] best = {state: 0} while fr: g, _, st = heapq.heappop(fr) if GOAL in st: return g if g &gt; best.get(st, 1 &lt;&lt; 30): continue for t in ready(st): n, ng = st | {t}, g + dur(t) if ng &lt; best.get(n, 1 &lt;&lt; 30): best[n] = ng heapq.heappush(fr, (ng, next(tie), n)) return None"/>
          <p:cNvSpPr txBox="1"/>
          <p:nvPr/>
        </p:nvSpPr>
        <p:spPr>
          <a:xfrm>
            <a:off x="1362456" y="2523744"/>
            <a:ext cx="9987991" cy="3477767"/>
          </a:xfrm>
          <a:prstGeom prst="rect">
            <a:avLst/>
          </a:prstGeom>
          <a:noFill/>
        </p:spPr>
        <p:txBody>
          <a:bodyPr wrap="none" anchor="t" lIns="0" rIns="0" tIns="0" bIns="0">
            <a:noAutofit/>
          </a:bodyPr>
          <a:lstStyle/>
          <a:p>
            <a:pPr>
              <a:lnSpc>
                <a:spcPct val="100000"/>
              </a:lnSpc>
              <a:spcAft>
                <a:spcPts val="0"/>
              </a:spcAft>
            </a:pP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cheapest_from</a:t>
            </a:r>
            <a:r>
              <a:rPr sz="1300" i="0">
                <a:solidFill>
                  <a:srgbClr val="AEB6BF"/>
                </a:solidFill>
                <a:latin typeface="Consolas"/>
              </a:rPr>
              <a:t>(</a:t>
            </a:r>
            <a:r>
              <a:rPr sz="1300" i="0">
                <a:solidFill>
                  <a:srgbClr val="E8EDF2"/>
                </a:solidFill>
                <a:latin typeface="Consolas"/>
              </a:rPr>
              <a:t>state</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"""True remaining cost h*, by uniform-cost search from state."""</a:t>
            </a:r>
          </a:p>
          <a:p>
            <a:pPr>
              <a:lnSpc>
                <a:spcPct val="100000"/>
              </a:lnSpc>
              <a:spcAft>
                <a:spcPts val="0"/>
              </a:spcAft>
            </a:pPr>
            <a:r>
              <a:rPr sz="1300" i="0">
                <a:solidFill>
                  <a:srgbClr val="E8EDF2"/>
                </a:solidFill>
                <a:latin typeface="Consolas"/>
              </a:rPr>
              <a:t>    </a:t>
            </a:r>
            <a:r>
              <a:rPr sz="1300" i="0">
                <a:solidFill>
                  <a:srgbClr val="E8EDF2"/>
                </a:solidFill>
                <a:latin typeface="Consolas"/>
              </a:rPr>
              <a:t>tie</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itertools</a:t>
            </a:r>
            <a:r>
              <a:rPr sz="1300" i="0">
                <a:solidFill>
                  <a:srgbClr val="AEB6BF"/>
                </a:solidFill>
                <a:latin typeface="Consolas"/>
              </a:rPr>
              <a:t>.</a:t>
            </a:r>
            <a:r>
              <a:rPr sz="1300" i="0">
                <a:solidFill>
                  <a:srgbClr val="E8EDF2"/>
                </a:solidFill>
                <a:latin typeface="Consolas"/>
              </a:rPr>
              <a:t>count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fr</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next</a:t>
            </a:r>
            <a:r>
              <a:rPr sz="1300" i="0">
                <a:solidFill>
                  <a:srgbClr val="AEB6BF"/>
                </a:solidFill>
                <a:latin typeface="Consolas"/>
              </a:rPr>
              <a:t>(</a:t>
            </a:r>
            <a:r>
              <a:rPr sz="1300" i="0">
                <a:solidFill>
                  <a:srgbClr val="E8EDF2"/>
                </a:solidFill>
                <a:latin typeface="Consolas"/>
              </a:rPr>
              <a:t>tie</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state</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best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state</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while</a:t>
            </a:r>
            <a:r>
              <a:rPr sz="1300" i="0">
                <a:solidFill>
                  <a:srgbClr val="E8EDF2"/>
                </a:solidFill>
                <a:latin typeface="Consolas"/>
              </a:rPr>
              <a:t> </a:t>
            </a:r>
            <a:r>
              <a:rPr sz="1300" i="0">
                <a:solidFill>
                  <a:srgbClr val="E8EDF2"/>
                </a:solidFill>
                <a:latin typeface="Consolas"/>
              </a:rPr>
              <a:t>fr</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g</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_</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heapq</a:t>
            </a:r>
            <a:r>
              <a:rPr sz="1300" i="0">
                <a:solidFill>
                  <a:srgbClr val="AEB6BF"/>
                </a:solidFill>
                <a:latin typeface="Consolas"/>
              </a:rPr>
              <a:t>.</a:t>
            </a:r>
            <a:r>
              <a:rPr sz="1300" i="0">
                <a:solidFill>
                  <a:srgbClr val="E8EDF2"/>
                </a:solidFill>
                <a:latin typeface="Consolas"/>
              </a:rPr>
              <a:t>heappop</a:t>
            </a:r>
            <a:r>
              <a:rPr sz="1300" i="0">
                <a:solidFill>
                  <a:srgbClr val="AEB6BF"/>
                </a:solidFill>
                <a:latin typeface="Consolas"/>
              </a:rPr>
              <a:t>(</a:t>
            </a:r>
            <a:r>
              <a:rPr sz="1300" i="0">
                <a:solidFill>
                  <a:srgbClr val="E8EDF2"/>
                </a:solidFill>
                <a:latin typeface="Consolas"/>
              </a:rPr>
              <a:t>fr</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GOAL</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st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E8EDF2"/>
                </a:solidFill>
                <a:latin typeface="Consolas"/>
              </a:rPr>
              <a:t>g</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g</a:t>
            </a:r>
            <a:r>
              <a:rPr sz="1300" i="0">
                <a:solidFill>
                  <a:srgbClr val="E8EDF2"/>
                </a:solidFill>
                <a:latin typeface="Consolas"/>
              </a:rPr>
              <a:t> </a:t>
            </a:r>
            <a:r>
              <a:rPr sz="1300" i="0">
                <a:solidFill>
                  <a:srgbClr val="AEB6BF"/>
                </a:solidFill>
                <a:latin typeface="Consolas"/>
              </a:rPr>
              <a:t>&gt;</a:t>
            </a:r>
            <a:r>
              <a:rPr sz="1300" i="0">
                <a:solidFill>
                  <a:srgbClr val="E8EDF2"/>
                </a:solidFill>
                <a:latin typeface="Consolas"/>
              </a:rPr>
              <a:t> </a:t>
            </a:r>
            <a:r>
              <a:rPr sz="1300" i="0">
                <a:solidFill>
                  <a:srgbClr val="E8EDF2"/>
                </a:solidFill>
                <a:latin typeface="Consolas"/>
              </a:rPr>
              <a:t>best</a:t>
            </a:r>
            <a:r>
              <a:rPr sz="1300" i="0">
                <a:solidFill>
                  <a:srgbClr val="AEB6BF"/>
                </a:solidFill>
                <a:latin typeface="Consolas"/>
              </a:rPr>
              <a:t>.</a:t>
            </a:r>
            <a:r>
              <a:rPr sz="1300" i="0">
                <a:solidFill>
                  <a:srgbClr val="E8EDF2"/>
                </a:solidFill>
                <a:latin typeface="Consolas"/>
              </a:rPr>
              <a:t>get</a:t>
            </a:r>
            <a:r>
              <a:rPr sz="1300" i="0">
                <a:solidFill>
                  <a:srgbClr val="AEB6BF"/>
                </a:solidFill>
                <a:latin typeface="Consolas"/>
              </a:rPr>
              <a:t>(</a:t>
            </a:r>
            <a:r>
              <a:rPr sz="1300" i="0">
                <a:solidFill>
                  <a:srgbClr val="E8EDF2"/>
                </a:solidFill>
                <a:latin typeface="Consolas"/>
              </a:rPr>
              <a:t>st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r>
              <a:rPr sz="1300" i="0">
                <a:solidFill>
                  <a:srgbClr val="E8EDF2"/>
                </a:solidFill>
                <a:latin typeface="Consolas"/>
              </a:rPr>
              <a:t> </a:t>
            </a:r>
            <a:r>
              <a:rPr sz="1300" i="0">
                <a:solidFill>
                  <a:srgbClr val="AEB6BF"/>
                </a:solidFill>
                <a:latin typeface="Consolas"/>
              </a:rPr>
              <a:t>&lt;&lt;</a:t>
            </a:r>
            <a:r>
              <a:rPr sz="1300" i="0">
                <a:solidFill>
                  <a:srgbClr val="E8EDF2"/>
                </a:solidFill>
                <a:latin typeface="Consolas"/>
              </a:rPr>
              <a:t> </a:t>
            </a:r>
            <a:r>
              <a:rPr sz="1300" i="0">
                <a:solidFill>
                  <a:srgbClr val="F7DC6F"/>
                </a:solidFill>
                <a:latin typeface="Consolas"/>
              </a:rPr>
              <a:t>30</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continue</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t</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ready</a:t>
            </a:r>
            <a:r>
              <a:rPr sz="1300" i="0">
                <a:solidFill>
                  <a:srgbClr val="AEB6BF"/>
                </a:solidFill>
                <a:latin typeface="Consolas"/>
              </a:rPr>
              <a:t>(</a:t>
            </a:r>
            <a:r>
              <a:rPr sz="1300" i="0">
                <a:solidFill>
                  <a:srgbClr val="E8EDF2"/>
                </a:solidFill>
                <a:latin typeface="Consolas"/>
              </a:rPr>
              <a:t>st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n</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ng</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dur</a:t>
            </a:r>
            <a:r>
              <a:rPr sz="1300" i="0">
                <a:solidFill>
                  <a:srgbClr val="AEB6BF"/>
                </a:solidFill>
                <a:latin typeface="Consolas"/>
              </a:rPr>
              <a:t>(</a:t>
            </a:r>
            <a:r>
              <a:rPr sz="1300" i="0">
                <a:solidFill>
                  <a:srgbClr val="E8EDF2"/>
                </a:solidFill>
                <a:latin typeface="Consolas"/>
              </a:rPr>
              <a:t>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ng</a:t>
            </a:r>
            <a:r>
              <a:rPr sz="1300" i="0">
                <a:solidFill>
                  <a:srgbClr val="E8EDF2"/>
                </a:solidFill>
                <a:latin typeface="Consolas"/>
              </a:rPr>
              <a:t> </a:t>
            </a:r>
            <a:r>
              <a:rPr sz="1300" i="0">
                <a:solidFill>
                  <a:srgbClr val="AEB6BF"/>
                </a:solidFill>
                <a:latin typeface="Consolas"/>
              </a:rPr>
              <a:t>&lt;</a:t>
            </a:r>
            <a:r>
              <a:rPr sz="1300" i="0">
                <a:solidFill>
                  <a:srgbClr val="E8EDF2"/>
                </a:solidFill>
                <a:latin typeface="Consolas"/>
              </a:rPr>
              <a:t> </a:t>
            </a:r>
            <a:r>
              <a:rPr sz="1300" i="0">
                <a:solidFill>
                  <a:srgbClr val="E8EDF2"/>
                </a:solidFill>
                <a:latin typeface="Consolas"/>
              </a:rPr>
              <a:t>best</a:t>
            </a:r>
            <a:r>
              <a:rPr sz="1300" i="0">
                <a:solidFill>
                  <a:srgbClr val="AEB6BF"/>
                </a:solidFill>
                <a:latin typeface="Consolas"/>
              </a:rPr>
              <a:t>.</a:t>
            </a:r>
            <a:r>
              <a:rPr sz="1300" i="0">
                <a:solidFill>
                  <a:srgbClr val="E8EDF2"/>
                </a:solidFill>
                <a:latin typeface="Consolas"/>
              </a:rPr>
              <a:t>get</a:t>
            </a:r>
            <a:r>
              <a:rPr sz="1300" i="0">
                <a:solidFill>
                  <a:srgbClr val="AEB6BF"/>
                </a:solidFill>
                <a:latin typeface="Consolas"/>
              </a:rPr>
              <a:t>(</a:t>
            </a:r>
            <a:r>
              <a:rPr sz="1300" i="0">
                <a:solidFill>
                  <a:srgbClr val="E8EDF2"/>
                </a:solidFill>
                <a:latin typeface="Consolas"/>
              </a:rPr>
              <a:t>n</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r>
              <a:rPr sz="1300" i="0">
                <a:solidFill>
                  <a:srgbClr val="E8EDF2"/>
                </a:solidFill>
                <a:latin typeface="Consolas"/>
              </a:rPr>
              <a:t> </a:t>
            </a:r>
            <a:r>
              <a:rPr sz="1300" i="0">
                <a:solidFill>
                  <a:srgbClr val="AEB6BF"/>
                </a:solidFill>
                <a:latin typeface="Consolas"/>
              </a:rPr>
              <a:t>&lt;&lt;</a:t>
            </a:r>
            <a:r>
              <a:rPr sz="1300" i="0">
                <a:solidFill>
                  <a:srgbClr val="E8EDF2"/>
                </a:solidFill>
                <a:latin typeface="Consolas"/>
              </a:rPr>
              <a:t> </a:t>
            </a:r>
            <a:r>
              <a:rPr sz="1300" i="0">
                <a:solidFill>
                  <a:srgbClr val="F7DC6F"/>
                </a:solidFill>
                <a:latin typeface="Consolas"/>
              </a:rPr>
              <a:t>30</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best</a:t>
            </a:r>
            <a:r>
              <a:rPr sz="1300" i="0">
                <a:solidFill>
                  <a:srgbClr val="AEB6BF"/>
                </a:solidFill>
                <a:latin typeface="Consolas"/>
              </a:rPr>
              <a:t>[</a:t>
            </a:r>
            <a:r>
              <a:rPr sz="1300" i="0">
                <a:solidFill>
                  <a:srgbClr val="E8EDF2"/>
                </a:solidFill>
                <a:latin typeface="Consolas"/>
              </a:rPr>
              <a:t>n</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ng</a:t>
            </a:r>
          </a:p>
          <a:p>
            <a:pPr>
              <a:lnSpc>
                <a:spcPct val="100000"/>
              </a:lnSpc>
              <a:spcAft>
                <a:spcPts val="0"/>
              </a:spcAft>
            </a:pPr>
            <a:r>
              <a:rPr sz="1300" i="0">
                <a:solidFill>
                  <a:srgbClr val="E8EDF2"/>
                </a:solidFill>
                <a:latin typeface="Consolas"/>
              </a:rPr>
              <a:t>                </a:t>
            </a:r>
            <a:r>
              <a:rPr sz="1300" i="0">
                <a:solidFill>
                  <a:srgbClr val="E8EDF2"/>
                </a:solidFill>
                <a:latin typeface="Consolas"/>
              </a:rPr>
              <a:t>heapq</a:t>
            </a:r>
            <a:r>
              <a:rPr sz="1300" i="0">
                <a:solidFill>
                  <a:srgbClr val="AEB6BF"/>
                </a:solidFill>
                <a:latin typeface="Consolas"/>
              </a:rPr>
              <a:t>.</a:t>
            </a:r>
            <a:r>
              <a:rPr sz="1300" i="0">
                <a:solidFill>
                  <a:srgbClr val="E8EDF2"/>
                </a:solidFill>
                <a:latin typeface="Consolas"/>
              </a:rPr>
              <a:t>heappush</a:t>
            </a:r>
            <a:r>
              <a:rPr sz="1300" i="0">
                <a:solidFill>
                  <a:srgbClr val="AEB6BF"/>
                </a:solidFill>
                <a:latin typeface="Consolas"/>
              </a:rPr>
              <a:t>(</a:t>
            </a:r>
            <a:r>
              <a:rPr sz="1300" i="0">
                <a:solidFill>
                  <a:srgbClr val="E8EDF2"/>
                </a:solidFill>
                <a:latin typeface="Consolas"/>
              </a:rPr>
              <a:t>fr</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ng</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next</a:t>
            </a:r>
            <a:r>
              <a:rPr sz="1300" i="0">
                <a:solidFill>
                  <a:srgbClr val="AEB6BF"/>
                </a:solidFill>
                <a:latin typeface="Consolas"/>
              </a:rPr>
              <a:t>(</a:t>
            </a:r>
            <a:r>
              <a:rPr sz="1300" i="0">
                <a:solidFill>
                  <a:srgbClr val="E8EDF2"/>
                </a:solidFill>
                <a:latin typeface="Consolas"/>
              </a:rPr>
              <a:t>tie</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5DADE2"/>
                </a:solidFill>
                <a:latin typeface="Consolas"/>
              </a:rPr>
              <a:t>None</a:t>
            </a:r>
          </a:p>
        </p:txBody>
      </p:sp>
      <p:sp>
        <p:nvSpPr>
          <p:cNvPr id="15" name="!!code-num"/>
          <p:cNvSpPr txBox="1"/>
          <p:nvPr/>
        </p:nvSpPr>
        <p:spPr>
          <a:xfrm>
            <a:off x="768096" y="2523744"/>
            <a:ext cx="393192" cy="347776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136</a:t>
            </a:r>
          </a:p>
          <a:p>
            <a:pPr algn="r">
              <a:lnSpc>
                <a:spcPct val="100000"/>
              </a:lnSpc>
            </a:pPr>
            <a:r>
              <a:rPr sz="1300">
                <a:solidFill>
                  <a:srgbClr val="4F5D6A"/>
                </a:solidFill>
                <a:latin typeface="Consolas"/>
              </a:rPr>
              <a:t>137</a:t>
            </a:r>
          </a:p>
          <a:p>
            <a:pPr algn="r">
              <a:lnSpc>
                <a:spcPct val="100000"/>
              </a:lnSpc>
            </a:pPr>
            <a:r>
              <a:rPr sz="1300">
                <a:solidFill>
                  <a:srgbClr val="4F5D6A"/>
                </a:solidFill>
                <a:latin typeface="Consolas"/>
              </a:rPr>
              <a:t>138</a:t>
            </a:r>
          </a:p>
          <a:p>
            <a:pPr algn="r">
              <a:lnSpc>
                <a:spcPct val="100000"/>
              </a:lnSpc>
            </a:pPr>
            <a:r>
              <a:rPr sz="1300">
                <a:solidFill>
                  <a:srgbClr val="4F5D6A"/>
                </a:solidFill>
                <a:latin typeface="Consolas"/>
              </a:rPr>
              <a:t>139</a:t>
            </a:r>
          </a:p>
          <a:p>
            <a:pPr algn="r">
              <a:lnSpc>
                <a:spcPct val="100000"/>
              </a:lnSpc>
            </a:pPr>
            <a:r>
              <a:rPr sz="1300">
                <a:solidFill>
                  <a:srgbClr val="4F5D6A"/>
                </a:solidFill>
                <a:latin typeface="Consolas"/>
              </a:rPr>
              <a:t>140</a:t>
            </a:r>
          </a:p>
          <a:p>
            <a:pPr algn="r">
              <a:lnSpc>
                <a:spcPct val="100000"/>
              </a:lnSpc>
            </a:pPr>
            <a:r>
              <a:rPr sz="1300">
                <a:solidFill>
                  <a:srgbClr val="4F5D6A"/>
                </a:solidFill>
                <a:latin typeface="Consolas"/>
              </a:rPr>
              <a:t>141</a:t>
            </a:r>
          </a:p>
          <a:p>
            <a:pPr algn="r">
              <a:lnSpc>
                <a:spcPct val="100000"/>
              </a:lnSpc>
            </a:pPr>
            <a:r>
              <a:rPr sz="1300">
                <a:solidFill>
                  <a:srgbClr val="4F5D6A"/>
                </a:solidFill>
                <a:latin typeface="Consolas"/>
              </a:rPr>
              <a:t>142</a:t>
            </a:r>
          </a:p>
          <a:p>
            <a:pPr algn="r">
              <a:lnSpc>
                <a:spcPct val="100000"/>
              </a:lnSpc>
            </a:pPr>
            <a:r>
              <a:rPr sz="1300">
                <a:solidFill>
                  <a:srgbClr val="4F5D6A"/>
                </a:solidFill>
                <a:latin typeface="Consolas"/>
              </a:rPr>
              <a:t>143</a:t>
            </a:r>
          </a:p>
          <a:p>
            <a:pPr algn="r">
              <a:lnSpc>
                <a:spcPct val="100000"/>
              </a:lnSpc>
            </a:pPr>
            <a:r>
              <a:rPr sz="1300">
                <a:solidFill>
                  <a:srgbClr val="4F5D6A"/>
                </a:solidFill>
                <a:latin typeface="Consolas"/>
              </a:rPr>
              <a:t>144</a:t>
            </a:r>
          </a:p>
          <a:p>
            <a:pPr algn="r">
              <a:lnSpc>
                <a:spcPct val="100000"/>
              </a:lnSpc>
            </a:pPr>
            <a:r>
              <a:rPr sz="1300">
                <a:solidFill>
                  <a:srgbClr val="4F5D6A"/>
                </a:solidFill>
                <a:latin typeface="Consolas"/>
              </a:rPr>
              <a:t>145</a:t>
            </a:r>
          </a:p>
          <a:p>
            <a:pPr algn="r">
              <a:lnSpc>
                <a:spcPct val="100000"/>
              </a:lnSpc>
            </a:pPr>
            <a:r>
              <a:rPr sz="1300">
                <a:solidFill>
                  <a:srgbClr val="4F5D6A"/>
                </a:solidFill>
                <a:latin typeface="Consolas"/>
              </a:rPr>
              <a:t>146</a:t>
            </a:r>
          </a:p>
          <a:p>
            <a:pPr algn="r">
              <a:lnSpc>
                <a:spcPct val="100000"/>
              </a:lnSpc>
            </a:pPr>
            <a:r>
              <a:rPr sz="1300">
                <a:solidFill>
                  <a:srgbClr val="4F5D6A"/>
                </a:solidFill>
                <a:latin typeface="Consolas"/>
              </a:rPr>
              <a:t>147</a:t>
            </a:r>
          </a:p>
          <a:p>
            <a:pPr algn="r">
              <a:lnSpc>
                <a:spcPct val="100000"/>
              </a:lnSpc>
            </a:pPr>
            <a:r>
              <a:rPr sz="1300">
                <a:solidFill>
                  <a:srgbClr val="4F5D6A"/>
                </a:solidFill>
                <a:latin typeface="Consolas"/>
              </a:rPr>
              <a:t>148</a:t>
            </a:r>
          </a:p>
          <a:p>
            <a:pPr algn="r">
              <a:lnSpc>
                <a:spcPct val="100000"/>
              </a:lnSpc>
            </a:pPr>
            <a:r>
              <a:rPr sz="1300">
                <a:solidFill>
                  <a:srgbClr val="4F5D6A"/>
                </a:solidFill>
                <a:latin typeface="Consolas"/>
              </a:rPr>
              <a:t>149</a:t>
            </a:r>
          </a:p>
          <a:p>
            <a:pPr algn="r">
              <a:lnSpc>
                <a:spcPct val="100000"/>
              </a:lnSpc>
            </a:pPr>
            <a:r>
              <a:rPr sz="1300">
                <a:solidFill>
                  <a:srgbClr val="4F5D6A"/>
                </a:solidFill>
                <a:latin typeface="Consolas"/>
              </a:rPr>
              <a:t>150</a:t>
            </a:r>
          </a:p>
          <a:p>
            <a:pPr algn="r">
              <a:lnSpc>
                <a:spcPct val="100000"/>
              </a:lnSpc>
            </a:pPr>
            <a:r>
              <a:rPr sz="1300">
                <a:solidFill>
                  <a:srgbClr val="4F5D6A"/>
                </a:solidFill>
                <a:latin typeface="Consolas"/>
              </a:rPr>
              <a:t>151</a:t>
            </a:r>
          </a:p>
          <a:p>
            <a:pPr algn="r">
              <a:lnSpc>
                <a:spcPct val="100000"/>
              </a:lnSpc>
            </a:pPr>
            <a:r>
              <a:rPr sz="1300">
                <a:solidFill>
                  <a:srgbClr val="4F5D6A"/>
                </a:solidFill>
                <a:latin typeface="Consolas"/>
              </a:rPr>
              <a:t>152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5048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Over Sprint States, Two Heuristics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13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32B8D5B9-B988-4F48-B9FA-45F1C2DF2A77}"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Best-first search; the priority decides the algorithm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213104"/>
          </a:xfrm>
          <a:prstGeom prst="roundRect">
            <a:avLst>
              <a:gd name="adj" fmla="val 753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code/ch05_over_sprint_states_two.py</a:t>
            </a:r>
          </a:p>
        </p:txBody>
      </p:sp>
      <p:sp>
        <p:nvSpPr>
          <p:cNvPr id="14" name="!!code-text" descr="def route(plan): return &quot;automated&quot; if &quot;auto_test&quot; in plan else &quot;manual&quot;"/>
          <p:cNvSpPr txBox="1"/>
          <p:nvPr/>
        </p:nvSpPr>
        <p:spPr>
          <a:xfrm>
            <a:off x="1362456" y="2523744"/>
            <a:ext cx="9987991" cy="719328"/>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route</a:t>
            </a:r>
            <a:r>
              <a:rPr sz="2000" i="0">
                <a:solidFill>
                  <a:srgbClr val="AEB6BF"/>
                </a:solidFill>
                <a:latin typeface="Consolas"/>
              </a:rPr>
              <a:t>(</a:t>
            </a:r>
            <a:r>
              <a:rPr sz="2000" i="0">
                <a:solidFill>
                  <a:srgbClr val="E8EDF2"/>
                </a:solidFill>
                <a:latin typeface="Consolas"/>
              </a:rPr>
              <a:t>plan</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automated</a:t>
            </a:r>
            <a:r>
              <a:rPr sz="2000" i="0">
                <a:solidFill>
                  <a:srgbClr val="7DCEA0"/>
                </a:solidFill>
                <a:latin typeface="Consolas"/>
              </a:rPr>
              <a:t>"</a:t>
            </a: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auto_test</a:t>
            </a:r>
            <a:r>
              <a:rPr sz="2000" i="0">
                <a:solidFill>
                  <a:srgbClr val="7DCEA0"/>
                </a:solidFill>
                <a:latin typeface="Consolas"/>
              </a:rPr>
              <a:t>"</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plan</a:t>
            </a:r>
            <a:r>
              <a:rPr sz="2000" i="0">
                <a:solidFill>
                  <a:srgbClr val="E8EDF2"/>
                </a:solidFill>
                <a:latin typeface="Consolas"/>
              </a:rPr>
              <a:t> </a:t>
            </a:r>
            <a:r>
              <a:rPr sz="2000" i="0">
                <a:solidFill>
                  <a:srgbClr val="5DADE2"/>
                </a:solidFill>
                <a:latin typeface="Consolas"/>
              </a:rPr>
              <a:t>else</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manual</a:t>
            </a:r>
            <a:r>
              <a:rPr sz="2000" i="0">
                <a:solidFill>
                  <a:srgbClr val="7DCEA0"/>
                </a:solidFill>
                <a:latin typeface="Consolas"/>
              </a:rPr>
              <a:t>"</a:t>
            </a:r>
          </a:p>
        </p:txBody>
      </p:sp>
      <p:sp>
        <p:nvSpPr>
          <p:cNvPr id="15" name="!!code-num"/>
          <p:cNvSpPr txBox="1"/>
          <p:nvPr/>
        </p:nvSpPr>
        <p:spPr>
          <a:xfrm>
            <a:off x="768096" y="2523744"/>
            <a:ext cx="393192" cy="719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155</a:t>
            </a:r>
          </a:p>
          <a:p>
            <a:pPr algn="r">
              <a:lnSpc>
                <a:spcPct val="100000"/>
              </a:lnSpc>
            </a:pPr>
            <a:r>
              <a:rPr sz="2000">
                <a:solidFill>
                  <a:srgbClr val="4F5D6A"/>
                </a:solidFill>
                <a:latin typeface="Consolas"/>
              </a:rPr>
              <a:t>156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67625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Over Sprint States, Two Heuristics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14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3852C91B-B176-4B23-B712-97C9859A9379}"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Best-first search; the priority decides the algorithm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56303"/>
          </a:xfrm>
          <a:prstGeom prst="roundRect">
            <a:avLst>
              <a:gd name="adj" fmla="val 23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code/ch05_over_sprint_states_two.py</a:t>
            </a:r>
          </a:p>
        </p:txBody>
      </p:sp>
      <p:sp>
        <p:nvSpPr>
          <p:cNvPr id="14" name="!!code-text" descr="if __name__ == &quot;__main__&quot;: print(&quot;h at the root: zero=%d chain=%d mandatory=%d&quot; % (h_zero(frozenset()), h_chain(frozenset()), h_mandatory(frozenset()))) print() print(&quot;algorithm cost expanded route&quot;) print(&quot;-&quot; * 52) runs = [ (&quot;uniform-cost (h=0) &quot;, h_zero, True), (&quot;A* critical path &quot;, h_chain, True), (&quot;A* mandatory work &quot;, h_mandatory, True), (&quot;A* max of the two &quot;, h_max, True), (&quot;greedy critical path &quot;, h_chain, False), (&quot;greedy mandatory work&quot;, h_mandatory, False), ] results = {} for name, h, use_g in runs: c, plan, exp = best_first(h, use_g) results[name.strip()] = (c, plan, exp) print(&quot;%s %5d %9d %s&quot; % (name, c, exp, route(plan)))"/>
          <p:cNvSpPr txBox="1"/>
          <p:nvPr/>
        </p:nvSpPr>
        <p:spPr>
          <a:xfrm>
            <a:off x="1362456" y="2523744"/>
            <a:ext cx="9987991" cy="3462527"/>
          </a:xfrm>
          <a:prstGeom prst="rect">
            <a:avLst/>
          </a:prstGeom>
          <a:noFill/>
        </p:spPr>
        <p:txBody>
          <a:bodyPr wrap="none" anchor="t" lIns="0" rIns="0" tIns="0" bIns="0">
            <a:noAutofit/>
          </a:bodyPr>
          <a:lstStyle/>
          <a:p>
            <a:pPr>
              <a:lnSpc>
                <a:spcPct val="100000"/>
              </a:lnSpc>
              <a:spcAft>
                <a:spcPts val="0"/>
              </a:spcAft>
            </a:pPr>
            <a:r>
              <a:rPr sz="1100" i="0">
                <a:solidFill>
                  <a:srgbClr val="5DADE2"/>
                </a:solidFill>
                <a:latin typeface="Consolas"/>
              </a:rPr>
              <a:t>if</a:t>
            </a:r>
            <a:r>
              <a:rPr sz="1100" i="0">
                <a:solidFill>
                  <a:srgbClr val="E8EDF2"/>
                </a:solidFill>
                <a:latin typeface="Consolas"/>
              </a:rPr>
              <a:t> </a:t>
            </a:r>
            <a:r>
              <a:rPr sz="1100" i="0">
                <a:solidFill>
                  <a:srgbClr val="E8EDF2"/>
                </a:solidFill>
                <a:latin typeface="Consolas"/>
              </a:rPr>
              <a:t>__name__</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__main__</a:t>
            </a:r>
            <a:r>
              <a:rPr sz="1100" i="0">
                <a:solidFill>
                  <a:srgbClr val="7DCEA0"/>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C39BD3"/>
                </a:solidFill>
                <a:latin typeface="Consolas"/>
              </a:rPr>
              <a:t>print</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h at the root:  zero=</a:t>
            </a:r>
            <a:r>
              <a:rPr sz="1100" i="0">
                <a:solidFill>
                  <a:srgbClr val="7DCEA0"/>
                </a:solidFill>
                <a:latin typeface="Consolas"/>
              </a:rPr>
              <a:t>%d</a:t>
            </a:r>
            <a:r>
              <a:rPr sz="1100" i="0">
                <a:solidFill>
                  <a:srgbClr val="7DCEA0"/>
                </a:solidFill>
                <a:latin typeface="Consolas"/>
              </a:rPr>
              <a:t>  chain=</a:t>
            </a:r>
            <a:r>
              <a:rPr sz="1100" i="0">
                <a:solidFill>
                  <a:srgbClr val="7DCEA0"/>
                </a:solidFill>
                <a:latin typeface="Consolas"/>
              </a:rPr>
              <a:t>%d</a:t>
            </a:r>
            <a:r>
              <a:rPr sz="1100" i="0">
                <a:solidFill>
                  <a:srgbClr val="7DCEA0"/>
                </a:solidFill>
                <a:latin typeface="Consolas"/>
              </a:rPr>
              <a:t>  mandatory=</a:t>
            </a:r>
            <a:r>
              <a:rPr sz="1100" i="0">
                <a:solidFill>
                  <a:srgbClr val="7DCEA0"/>
                </a:solidFill>
                <a:latin typeface="Consolas"/>
              </a:rPr>
              <a:t>%d</a:t>
            </a:r>
            <a:r>
              <a:rPr sz="1100" i="0">
                <a:solidFill>
                  <a:srgbClr val="7DCEA0"/>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h_zero</a:t>
            </a:r>
            <a:r>
              <a:rPr sz="1100" i="0">
                <a:solidFill>
                  <a:srgbClr val="AEB6BF"/>
                </a:solidFill>
                <a:latin typeface="Consolas"/>
              </a:rPr>
              <a:t>(</a:t>
            </a:r>
            <a:r>
              <a:rPr sz="1100" i="0">
                <a:solidFill>
                  <a:srgbClr val="C39BD3"/>
                </a:solidFill>
                <a:latin typeface="Consolas"/>
              </a:rPr>
              <a:t>frozenset</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h_chain</a:t>
            </a:r>
            <a:r>
              <a:rPr sz="1100" i="0">
                <a:solidFill>
                  <a:srgbClr val="AEB6BF"/>
                </a:solidFill>
                <a:latin typeface="Consolas"/>
              </a:rPr>
              <a:t>(</a:t>
            </a:r>
            <a:r>
              <a:rPr sz="1100" i="0">
                <a:solidFill>
                  <a:srgbClr val="C39BD3"/>
                </a:solidFill>
                <a:latin typeface="Consolas"/>
              </a:rPr>
              <a:t>frozenset</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h_mandatory</a:t>
            </a:r>
            <a:r>
              <a:rPr sz="1100" i="0">
                <a:solidFill>
                  <a:srgbClr val="AEB6BF"/>
                </a:solidFill>
                <a:latin typeface="Consolas"/>
              </a:rPr>
              <a:t>(</a:t>
            </a:r>
            <a:r>
              <a:rPr sz="1100" i="0">
                <a:solidFill>
                  <a:srgbClr val="C39BD3"/>
                </a:solidFill>
                <a:latin typeface="Consolas"/>
              </a:rPr>
              <a:t>frozenset</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C39BD3"/>
                </a:solidFill>
                <a:latin typeface="Consolas"/>
              </a:rPr>
              <a:t>print</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C39BD3"/>
                </a:solidFill>
                <a:latin typeface="Consolas"/>
              </a:rPr>
              <a:t>print</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algorithm                cost  expanded  route</a:t>
            </a:r>
            <a:r>
              <a:rPr sz="1100" i="0">
                <a:solidFill>
                  <a:srgbClr val="7DCEA0"/>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C39BD3"/>
                </a:solidFill>
                <a:latin typeface="Consolas"/>
              </a:rPr>
              <a:t>print</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a:t>
            </a:r>
            <a:r>
              <a:rPr sz="1100" i="0">
                <a:solidFill>
                  <a:srgbClr val="7DCEA0"/>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52</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runs</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uniform-cost (h=0)   </a:t>
            </a:r>
            <a:r>
              <a:rPr sz="1100" i="0">
                <a:solidFill>
                  <a:srgbClr val="7DCEA0"/>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h_zero</a:t>
            </a:r>
            <a:r>
              <a:rPr sz="1100" i="0">
                <a:solidFill>
                  <a:srgbClr val="AEB6BF"/>
                </a:solidFill>
                <a:latin typeface="Consolas"/>
              </a:rPr>
              <a:t>,</a:t>
            </a:r>
            <a:r>
              <a:rPr sz="1100" i="0">
                <a:solidFill>
                  <a:srgbClr val="E8EDF2"/>
                </a:solidFill>
                <a:latin typeface="Consolas"/>
              </a:rPr>
              <a:t> </a:t>
            </a:r>
            <a:r>
              <a:rPr sz="1100" i="0">
                <a:solidFill>
                  <a:srgbClr val="5DADE2"/>
                </a:solidFill>
                <a:latin typeface="Consolas"/>
              </a:rPr>
              <a:t>True</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A* critical path     </a:t>
            </a:r>
            <a:r>
              <a:rPr sz="1100" i="0">
                <a:solidFill>
                  <a:srgbClr val="7DCEA0"/>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h_chain</a:t>
            </a:r>
            <a:r>
              <a:rPr sz="1100" i="0">
                <a:solidFill>
                  <a:srgbClr val="AEB6BF"/>
                </a:solidFill>
                <a:latin typeface="Consolas"/>
              </a:rPr>
              <a:t>,</a:t>
            </a:r>
            <a:r>
              <a:rPr sz="1100" i="0">
                <a:solidFill>
                  <a:srgbClr val="E8EDF2"/>
                </a:solidFill>
                <a:latin typeface="Consolas"/>
              </a:rPr>
              <a:t> </a:t>
            </a:r>
            <a:r>
              <a:rPr sz="1100" i="0">
                <a:solidFill>
                  <a:srgbClr val="5DADE2"/>
                </a:solidFill>
                <a:latin typeface="Consolas"/>
              </a:rPr>
              <a:t>True</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A* mandatory work    </a:t>
            </a:r>
            <a:r>
              <a:rPr sz="1100" i="0">
                <a:solidFill>
                  <a:srgbClr val="7DCEA0"/>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h_mandatory</a:t>
            </a:r>
            <a:r>
              <a:rPr sz="1100" i="0">
                <a:solidFill>
                  <a:srgbClr val="AEB6BF"/>
                </a:solidFill>
                <a:latin typeface="Consolas"/>
              </a:rPr>
              <a:t>,</a:t>
            </a:r>
            <a:r>
              <a:rPr sz="1100" i="0">
                <a:solidFill>
                  <a:srgbClr val="E8EDF2"/>
                </a:solidFill>
                <a:latin typeface="Consolas"/>
              </a:rPr>
              <a:t> </a:t>
            </a:r>
            <a:r>
              <a:rPr sz="1100" i="0">
                <a:solidFill>
                  <a:srgbClr val="5DADE2"/>
                </a:solidFill>
                <a:latin typeface="Consolas"/>
              </a:rPr>
              <a:t>True</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A* max of the two    </a:t>
            </a:r>
            <a:r>
              <a:rPr sz="1100" i="0">
                <a:solidFill>
                  <a:srgbClr val="7DCEA0"/>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h_max</a:t>
            </a:r>
            <a:r>
              <a:rPr sz="1100" i="0">
                <a:solidFill>
                  <a:srgbClr val="AEB6BF"/>
                </a:solidFill>
                <a:latin typeface="Consolas"/>
              </a:rPr>
              <a:t>,</a:t>
            </a:r>
            <a:r>
              <a:rPr sz="1100" i="0">
                <a:solidFill>
                  <a:srgbClr val="E8EDF2"/>
                </a:solidFill>
                <a:latin typeface="Consolas"/>
              </a:rPr>
              <a:t> </a:t>
            </a:r>
            <a:r>
              <a:rPr sz="1100" i="0">
                <a:solidFill>
                  <a:srgbClr val="5DADE2"/>
                </a:solidFill>
                <a:latin typeface="Consolas"/>
              </a:rPr>
              <a:t>True</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greedy critical path </a:t>
            </a:r>
            <a:r>
              <a:rPr sz="1100" i="0">
                <a:solidFill>
                  <a:srgbClr val="7DCEA0"/>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h_chain</a:t>
            </a:r>
            <a:r>
              <a:rPr sz="1100" i="0">
                <a:solidFill>
                  <a:srgbClr val="AEB6BF"/>
                </a:solidFill>
                <a:latin typeface="Consolas"/>
              </a:rPr>
              <a:t>,</a:t>
            </a:r>
            <a:r>
              <a:rPr sz="1100" i="0">
                <a:solidFill>
                  <a:srgbClr val="E8EDF2"/>
                </a:solidFill>
                <a:latin typeface="Consolas"/>
              </a:rPr>
              <a:t> </a:t>
            </a:r>
            <a:r>
              <a:rPr sz="1100" i="0">
                <a:solidFill>
                  <a:srgbClr val="5DADE2"/>
                </a:solidFill>
                <a:latin typeface="Consolas"/>
              </a:rPr>
              <a:t>False</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greedy mandatory work</a:t>
            </a:r>
            <a:r>
              <a:rPr sz="1100" i="0">
                <a:solidFill>
                  <a:srgbClr val="7DCEA0"/>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h_mandatory</a:t>
            </a:r>
            <a:r>
              <a:rPr sz="1100" i="0">
                <a:solidFill>
                  <a:srgbClr val="AEB6BF"/>
                </a:solidFill>
                <a:latin typeface="Consolas"/>
              </a:rPr>
              <a:t>,</a:t>
            </a:r>
            <a:r>
              <a:rPr sz="1100" i="0">
                <a:solidFill>
                  <a:srgbClr val="E8EDF2"/>
                </a:solidFill>
                <a:latin typeface="Consolas"/>
              </a:rPr>
              <a:t> </a:t>
            </a:r>
            <a:r>
              <a:rPr sz="1100" i="0">
                <a:solidFill>
                  <a:srgbClr val="5DADE2"/>
                </a:solidFill>
                <a:latin typeface="Consolas"/>
              </a:rPr>
              <a:t>False</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results</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for</a:t>
            </a:r>
            <a:r>
              <a:rPr sz="1100" i="0">
                <a:solidFill>
                  <a:srgbClr val="E8EDF2"/>
                </a:solidFill>
                <a:latin typeface="Consolas"/>
              </a:rPr>
              <a:t> </a:t>
            </a:r>
            <a:r>
              <a:rPr sz="1100" i="0">
                <a:solidFill>
                  <a:srgbClr val="E8EDF2"/>
                </a:solidFill>
                <a:latin typeface="Consolas"/>
              </a:rPr>
              <a:t>name</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use_g</a:t>
            </a:r>
            <a:r>
              <a:rPr sz="1100" i="0">
                <a:solidFill>
                  <a:srgbClr val="E8EDF2"/>
                </a:solidFill>
                <a:latin typeface="Consolas"/>
              </a:rPr>
              <a:t> </a:t>
            </a:r>
            <a:r>
              <a:rPr sz="1100" i="0">
                <a:solidFill>
                  <a:srgbClr val="AEB6BF"/>
                </a:solidFill>
                <a:latin typeface="Consolas"/>
              </a:rPr>
              <a:t>in</a:t>
            </a:r>
            <a:r>
              <a:rPr sz="1100" i="0">
                <a:solidFill>
                  <a:srgbClr val="E8EDF2"/>
                </a:solidFill>
                <a:latin typeface="Consolas"/>
              </a:rPr>
              <a:t> </a:t>
            </a:r>
            <a:r>
              <a:rPr sz="1100" i="0">
                <a:solidFill>
                  <a:srgbClr val="E8EDF2"/>
                </a:solidFill>
                <a:latin typeface="Consolas"/>
              </a:rPr>
              <a:t>runs</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c</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plan</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exp</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best_first</a:t>
            </a:r>
            <a:r>
              <a:rPr sz="1100" i="0">
                <a:solidFill>
                  <a:srgbClr val="AEB6BF"/>
                </a:solidFill>
                <a:latin typeface="Consolas"/>
              </a:rPr>
              <a:t>(</a:t>
            </a:r>
            <a:r>
              <a:rPr sz="1100" i="0">
                <a:solidFill>
                  <a:srgbClr val="E8EDF2"/>
                </a:solidFill>
                <a:latin typeface="Consolas"/>
              </a:rPr>
              <a:t>h</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use_g</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results</a:t>
            </a:r>
            <a:r>
              <a:rPr sz="1100" i="0">
                <a:solidFill>
                  <a:srgbClr val="AEB6BF"/>
                </a:solidFill>
                <a:latin typeface="Consolas"/>
              </a:rPr>
              <a:t>[</a:t>
            </a:r>
            <a:r>
              <a:rPr sz="1100" i="0">
                <a:solidFill>
                  <a:srgbClr val="E8EDF2"/>
                </a:solidFill>
                <a:latin typeface="Consolas"/>
              </a:rPr>
              <a:t>name</a:t>
            </a:r>
            <a:r>
              <a:rPr sz="1100" i="0">
                <a:solidFill>
                  <a:srgbClr val="AEB6BF"/>
                </a:solidFill>
                <a:latin typeface="Consolas"/>
              </a:rPr>
              <a:t>.</a:t>
            </a:r>
            <a:r>
              <a:rPr sz="1100" i="0">
                <a:solidFill>
                  <a:srgbClr val="E8EDF2"/>
                </a:solidFill>
                <a:latin typeface="Consolas"/>
              </a:rPr>
              <a:t>strip</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c</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plan</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exp</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C39BD3"/>
                </a:solidFill>
                <a:latin typeface="Consolas"/>
              </a:rPr>
              <a:t>print</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%s</a:t>
            </a:r>
            <a:r>
              <a:rPr sz="1100" i="0">
                <a:solidFill>
                  <a:srgbClr val="7DCEA0"/>
                </a:solidFill>
                <a:latin typeface="Consolas"/>
              </a:rPr>
              <a:t> </a:t>
            </a:r>
            <a:r>
              <a:rPr sz="1100" i="0">
                <a:solidFill>
                  <a:srgbClr val="7DCEA0"/>
                </a:solidFill>
                <a:latin typeface="Consolas"/>
              </a:rPr>
              <a:t>%5d</a:t>
            </a:r>
            <a:r>
              <a:rPr sz="1100" i="0">
                <a:solidFill>
                  <a:srgbClr val="7DCEA0"/>
                </a:solidFill>
                <a:latin typeface="Consolas"/>
              </a:rPr>
              <a:t> </a:t>
            </a:r>
            <a:r>
              <a:rPr sz="1100" i="0">
                <a:solidFill>
                  <a:srgbClr val="7DCEA0"/>
                </a:solidFill>
                <a:latin typeface="Consolas"/>
              </a:rPr>
              <a:t>%9d</a:t>
            </a:r>
            <a:r>
              <a:rPr sz="1100" i="0">
                <a:solidFill>
                  <a:srgbClr val="7DCEA0"/>
                </a:solidFill>
                <a:latin typeface="Consolas"/>
              </a:rPr>
              <a:t>  </a:t>
            </a:r>
            <a:r>
              <a:rPr sz="1100" i="0">
                <a:solidFill>
                  <a:srgbClr val="7DCEA0"/>
                </a:solidFill>
                <a:latin typeface="Consolas"/>
              </a:rPr>
              <a:t>%s</a:t>
            </a:r>
            <a:r>
              <a:rPr sz="1100" i="0">
                <a:solidFill>
                  <a:srgbClr val="7DCEA0"/>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name</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c</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exp</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route</a:t>
            </a:r>
            <a:r>
              <a:rPr sz="1100" i="0">
                <a:solidFill>
                  <a:srgbClr val="AEB6BF"/>
                </a:solidFill>
                <a:latin typeface="Consolas"/>
              </a:rPr>
              <a:t>(</a:t>
            </a:r>
            <a:r>
              <a:rPr sz="1100" i="0">
                <a:solidFill>
                  <a:srgbClr val="E8EDF2"/>
                </a:solidFill>
                <a:latin typeface="Consolas"/>
              </a:rPr>
              <a:t>plan</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p>
        </p:txBody>
      </p:sp>
      <p:sp>
        <p:nvSpPr>
          <p:cNvPr id="15" name="!!code-num"/>
          <p:cNvSpPr txBox="1"/>
          <p:nvPr/>
        </p:nvSpPr>
        <p:spPr>
          <a:xfrm>
            <a:off x="768096" y="2523744"/>
            <a:ext cx="393192" cy="3462527"/>
          </a:xfrm>
          <a:prstGeom prst="rect">
            <a:avLst/>
          </a:prstGeom>
          <a:noFill/>
        </p:spPr>
        <p:txBody>
          <a:bodyPr wrap="none" anchor="t" lIns="0" rIns="0" tIns="0" bIns="0">
            <a:noAutofit/>
          </a:bodyPr>
          <a:lstStyle/>
          <a:p>
            <a:pPr algn="r">
              <a:lnSpc>
                <a:spcPct val="100000"/>
              </a:lnSpc>
            </a:pPr>
            <a:r>
              <a:rPr sz="1100">
                <a:solidFill>
                  <a:srgbClr val="4F5D6A"/>
                </a:solidFill>
                <a:latin typeface="Consolas"/>
              </a:rPr>
              <a:t>159</a:t>
            </a:r>
          </a:p>
          <a:p>
            <a:pPr algn="r">
              <a:lnSpc>
                <a:spcPct val="100000"/>
              </a:lnSpc>
            </a:pPr>
            <a:r>
              <a:rPr sz="1100">
                <a:solidFill>
                  <a:srgbClr val="4F5D6A"/>
                </a:solidFill>
                <a:latin typeface="Consolas"/>
              </a:rPr>
              <a:t>160</a:t>
            </a:r>
          </a:p>
          <a:p>
            <a:pPr algn="r">
              <a:lnSpc>
                <a:spcPct val="100000"/>
              </a:lnSpc>
            </a:pPr>
            <a:r>
              <a:rPr sz="1100">
                <a:solidFill>
                  <a:srgbClr val="4F5D6A"/>
                </a:solidFill>
                <a:latin typeface="Consolas"/>
              </a:rPr>
              <a:t>161</a:t>
            </a:r>
          </a:p>
          <a:p>
            <a:pPr algn="r">
              <a:lnSpc>
                <a:spcPct val="100000"/>
              </a:lnSpc>
            </a:pPr>
            <a:r>
              <a:rPr sz="1100">
                <a:solidFill>
                  <a:srgbClr val="4F5D6A"/>
                </a:solidFill>
                <a:latin typeface="Consolas"/>
              </a:rPr>
              <a:t>162</a:t>
            </a:r>
          </a:p>
          <a:p>
            <a:pPr algn="r">
              <a:lnSpc>
                <a:spcPct val="100000"/>
              </a:lnSpc>
            </a:pPr>
            <a:r>
              <a:rPr sz="1100">
                <a:solidFill>
                  <a:srgbClr val="4F5D6A"/>
                </a:solidFill>
                <a:latin typeface="Consolas"/>
              </a:rPr>
              <a:t>163</a:t>
            </a:r>
          </a:p>
          <a:p>
            <a:pPr algn="r">
              <a:lnSpc>
                <a:spcPct val="100000"/>
              </a:lnSpc>
            </a:pPr>
            <a:r>
              <a:rPr sz="1100">
                <a:solidFill>
                  <a:srgbClr val="4F5D6A"/>
                </a:solidFill>
                <a:latin typeface="Consolas"/>
              </a:rPr>
              <a:t>164</a:t>
            </a:r>
          </a:p>
          <a:p>
            <a:pPr algn="r">
              <a:lnSpc>
                <a:spcPct val="100000"/>
              </a:lnSpc>
            </a:pPr>
            <a:r>
              <a:rPr sz="1100">
                <a:solidFill>
                  <a:srgbClr val="4F5D6A"/>
                </a:solidFill>
                <a:latin typeface="Consolas"/>
              </a:rPr>
              <a:t>165</a:t>
            </a:r>
          </a:p>
          <a:p>
            <a:pPr algn="r">
              <a:lnSpc>
                <a:spcPct val="100000"/>
              </a:lnSpc>
            </a:pPr>
            <a:r>
              <a:rPr sz="1100">
                <a:solidFill>
                  <a:srgbClr val="4F5D6A"/>
                </a:solidFill>
                <a:latin typeface="Consolas"/>
              </a:rPr>
              <a:t>166</a:t>
            </a:r>
          </a:p>
          <a:p>
            <a:pPr algn="r">
              <a:lnSpc>
                <a:spcPct val="100000"/>
              </a:lnSpc>
            </a:pPr>
            <a:r>
              <a:rPr sz="1100">
                <a:solidFill>
                  <a:srgbClr val="4F5D6A"/>
                </a:solidFill>
                <a:latin typeface="Consolas"/>
              </a:rPr>
              <a:t>167</a:t>
            </a:r>
          </a:p>
          <a:p>
            <a:pPr algn="r">
              <a:lnSpc>
                <a:spcPct val="100000"/>
              </a:lnSpc>
            </a:pPr>
            <a:r>
              <a:rPr sz="1100">
                <a:solidFill>
                  <a:srgbClr val="4F5D6A"/>
                </a:solidFill>
                <a:latin typeface="Consolas"/>
              </a:rPr>
              <a:t>168</a:t>
            </a:r>
          </a:p>
          <a:p>
            <a:pPr algn="r">
              <a:lnSpc>
                <a:spcPct val="100000"/>
              </a:lnSpc>
            </a:pPr>
            <a:r>
              <a:rPr sz="1100">
                <a:solidFill>
                  <a:srgbClr val="4F5D6A"/>
                </a:solidFill>
                <a:latin typeface="Consolas"/>
              </a:rPr>
              <a:t>169</a:t>
            </a:r>
          </a:p>
          <a:p>
            <a:pPr algn="r">
              <a:lnSpc>
                <a:spcPct val="100000"/>
              </a:lnSpc>
            </a:pPr>
            <a:r>
              <a:rPr sz="1100">
                <a:solidFill>
                  <a:srgbClr val="4F5D6A"/>
                </a:solidFill>
                <a:latin typeface="Consolas"/>
              </a:rPr>
              <a:t>170</a:t>
            </a:r>
          </a:p>
          <a:p>
            <a:pPr algn="r">
              <a:lnSpc>
                <a:spcPct val="100000"/>
              </a:lnSpc>
            </a:pPr>
            <a:r>
              <a:rPr sz="1100">
                <a:solidFill>
                  <a:srgbClr val="4F5D6A"/>
                </a:solidFill>
                <a:latin typeface="Consolas"/>
              </a:rPr>
              <a:t>171</a:t>
            </a:r>
          </a:p>
          <a:p>
            <a:pPr algn="r">
              <a:lnSpc>
                <a:spcPct val="100000"/>
              </a:lnSpc>
            </a:pPr>
            <a:r>
              <a:rPr sz="1100">
                <a:solidFill>
                  <a:srgbClr val="4F5D6A"/>
                </a:solidFill>
                <a:latin typeface="Consolas"/>
              </a:rPr>
              <a:t>172</a:t>
            </a:r>
          </a:p>
          <a:p>
            <a:pPr algn="r">
              <a:lnSpc>
                <a:spcPct val="100000"/>
              </a:lnSpc>
            </a:pPr>
            <a:r>
              <a:rPr sz="1100">
                <a:solidFill>
                  <a:srgbClr val="4F5D6A"/>
                </a:solidFill>
                <a:latin typeface="Consolas"/>
              </a:rPr>
              <a:t>173</a:t>
            </a:r>
          </a:p>
          <a:p>
            <a:pPr algn="r">
              <a:lnSpc>
                <a:spcPct val="100000"/>
              </a:lnSpc>
            </a:pPr>
            <a:r>
              <a:rPr sz="1100">
                <a:solidFill>
                  <a:srgbClr val="4F5D6A"/>
                </a:solidFill>
                <a:latin typeface="Consolas"/>
              </a:rPr>
              <a:t>174</a:t>
            </a:r>
          </a:p>
          <a:p>
            <a:pPr algn="r">
              <a:lnSpc>
                <a:spcPct val="100000"/>
              </a:lnSpc>
            </a:pPr>
            <a:r>
              <a:rPr sz="1100">
                <a:solidFill>
                  <a:srgbClr val="4F5D6A"/>
                </a:solidFill>
                <a:latin typeface="Consolas"/>
              </a:rPr>
              <a:t>175</a:t>
            </a:r>
          </a:p>
          <a:p>
            <a:pPr algn="r">
              <a:lnSpc>
                <a:spcPct val="100000"/>
              </a:lnSpc>
            </a:pPr>
            <a:r>
              <a:rPr sz="1100">
                <a:solidFill>
                  <a:srgbClr val="4F5D6A"/>
                </a:solidFill>
                <a:latin typeface="Consolas"/>
              </a:rPr>
              <a:t>176</a:t>
            </a:r>
          </a:p>
          <a:p>
            <a:pPr algn="r">
              <a:lnSpc>
                <a:spcPct val="100000"/>
              </a:lnSpc>
            </a:pPr>
            <a:r>
              <a:rPr sz="1100">
                <a:solidFill>
                  <a:srgbClr val="4F5D6A"/>
                </a:solidFill>
                <a:latin typeface="Consolas"/>
              </a:rPr>
              <a:t>177</a:t>
            </a:r>
          </a:p>
          <a:p>
            <a:pPr algn="r">
              <a:lnSpc>
                <a:spcPct val="100000"/>
              </a:lnSpc>
            </a:pPr>
            <a:r>
              <a:rPr sz="1100">
                <a:solidFill>
                  <a:srgbClr val="4F5D6A"/>
                </a:solidFill>
                <a:latin typeface="Consolas"/>
              </a:rPr>
              <a:t>178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0202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Over Sprint States, Two Heuristics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15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BA74A534-3BBC-4F52-B741-ECCF215562E5}" type="slidenum">
              <a:rPr lang="en-GB" sz="1000">
                <a:solidFill>
                  <a:srgbClr val="8795A1"/>
                </a:solidFill>
                <a:latin typeface="Segoe UI"/>
              </a:rPr>
              <a:t>36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Best-first search; the priority decides the algorithm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4"/>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code/ch05_over_sprint_states_two.py</a:t>
            </a:r>
          </a:p>
        </p:txBody>
      </p:sp>
      <p:sp>
        <p:nvSpPr>
          <p:cNvPr id="14" name="!!code-text" descr="opt = results[&quot;uniform-cost (h=0)&quot;][0] print() print(&quot;optimal cost:&quot;, opt) # 1. A* is optimal with every heuristic here astars = (&quot;A* critical path&quot;, &quot;A* mandatory work&quot;, &quot;A* max of the two&quot;) for n in astars: assert results[n][0] == opt, n # 2. and expands strictly fewer nodes than uniform-cost search ucs_exp = results[&quot;uniform-cost (h=0)&quot;][2] for n in astars: assert results[n][2] &lt; ucs_exp, n"/>
          <p:cNvSpPr txBox="1"/>
          <p:nvPr/>
        </p:nvSpPr>
        <p:spPr>
          <a:xfrm>
            <a:off x="1362456" y="2523744"/>
            <a:ext cx="9987991" cy="3675888"/>
          </a:xfrm>
          <a:prstGeom prst="rect">
            <a:avLst/>
          </a:prstGeom>
          <a:noFill/>
        </p:spPr>
        <p:txBody>
          <a:bodyPr wrap="none" anchor="t" lIns="0" rIns="0" tIns="0" bIns="0">
            <a:noAutofit/>
          </a:bodyPr>
          <a:lstStyle/>
          <a:p>
            <a:pPr>
              <a:lnSpc>
                <a:spcPct val="100000"/>
              </a:lnSpc>
              <a:spcAft>
                <a:spcPts val="0"/>
              </a:spcAft>
            </a:pPr>
            <a:r>
              <a:rPr sz="1800" i="0">
                <a:solidFill>
                  <a:srgbClr val="E8EDF2"/>
                </a:solidFill>
                <a:latin typeface="Consolas"/>
              </a:rPr>
              <a:t>    </a:t>
            </a:r>
            <a:r>
              <a:rPr sz="1800" i="0">
                <a:solidFill>
                  <a:srgbClr val="E8EDF2"/>
                </a:solidFill>
                <a:latin typeface="Consolas"/>
              </a:rPr>
              <a:t>opt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results</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uniform-cost (h=0)</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optimal cost:</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opt</a:t>
            </a:r>
            <a:r>
              <a:rPr sz="1800" i="0">
                <a:solidFill>
                  <a:srgbClr val="AEB6BF"/>
                </a:solidFill>
                <a:latin typeface="Consolas"/>
              </a:rPr>
              <a:t>)</a:t>
            </a:r>
          </a:p>
          <a:p>
            <a:pPr>
              <a:lnSpc>
                <a:spcPct val="100000"/>
              </a:lnSpc>
              <a:spcAft>
                <a:spcPts val="0"/>
              </a:spcAft>
            </a:pPr>
            <a:r>
              <a:rPr sz="1800">
                <a:latin typeface="Consolas"/>
              </a:rPr>
              <a:t> </a:t>
            </a:r>
          </a:p>
          <a:p>
            <a:pPr>
              <a:lnSpc>
                <a:spcPct val="100000"/>
              </a:lnSpc>
              <a:spcAft>
                <a:spcPts val="0"/>
              </a:spcAft>
            </a:pPr>
            <a:r>
              <a:rPr sz="1800" i="0">
                <a:solidFill>
                  <a:srgbClr val="E8EDF2"/>
                </a:solidFill>
                <a:latin typeface="Consolas"/>
              </a:rPr>
              <a:t>    </a:t>
            </a:r>
            <a:r>
              <a:rPr sz="1800" i="1">
                <a:solidFill>
                  <a:srgbClr val="8795A1"/>
                </a:solidFill>
                <a:latin typeface="Consolas"/>
              </a:rPr>
              <a:t># 1. A* is optimal with every heuristic here</a:t>
            </a:r>
          </a:p>
          <a:p>
            <a:pPr>
              <a:lnSpc>
                <a:spcPct val="100000"/>
              </a:lnSpc>
              <a:spcAft>
                <a:spcPts val="0"/>
              </a:spcAft>
            </a:pPr>
            <a:r>
              <a:rPr sz="1800" i="0">
                <a:solidFill>
                  <a:srgbClr val="E8EDF2"/>
                </a:solidFill>
                <a:latin typeface="Consolas"/>
              </a:rPr>
              <a:t>    </a:t>
            </a:r>
            <a:r>
              <a:rPr sz="1800" i="0">
                <a:solidFill>
                  <a:srgbClr val="E8EDF2"/>
                </a:solidFill>
                <a:latin typeface="Consolas"/>
              </a:rPr>
              <a:t>astars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A* critical path</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A* mandatory work</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A* max of the two</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n</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astars</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assert</a:t>
            </a:r>
            <a:r>
              <a:rPr sz="1800" i="0">
                <a:solidFill>
                  <a:srgbClr val="E8EDF2"/>
                </a:solidFill>
                <a:latin typeface="Consolas"/>
              </a:rPr>
              <a:t> </a:t>
            </a:r>
            <a:r>
              <a:rPr sz="1800" i="0">
                <a:solidFill>
                  <a:srgbClr val="E8EDF2"/>
                </a:solidFill>
                <a:latin typeface="Consolas"/>
              </a:rPr>
              <a:t>results</a:t>
            </a:r>
            <a:r>
              <a:rPr sz="1800" i="0">
                <a:solidFill>
                  <a:srgbClr val="AEB6BF"/>
                </a:solidFill>
                <a:latin typeface="Consolas"/>
              </a:rPr>
              <a:t>[</a:t>
            </a:r>
            <a:r>
              <a:rPr sz="1800" i="0">
                <a:solidFill>
                  <a:srgbClr val="E8EDF2"/>
                </a:solidFill>
                <a:latin typeface="Consolas"/>
              </a:rPr>
              <a:t>n</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opt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a:t>
            </a:r>
          </a:p>
          <a:p>
            <a:pPr>
              <a:lnSpc>
                <a:spcPct val="100000"/>
              </a:lnSpc>
              <a:spcAft>
                <a:spcPts val="0"/>
              </a:spcAft>
            </a:pPr>
            <a:r>
              <a:rPr sz="1800" i="0">
                <a:solidFill>
                  <a:srgbClr val="E8EDF2"/>
                </a:solidFill>
                <a:latin typeface="Consolas"/>
              </a:rPr>
              <a:t>    </a:t>
            </a:r>
            <a:r>
              <a:rPr sz="1800" i="1">
                <a:solidFill>
                  <a:srgbClr val="8795A1"/>
                </a:solidFill>
                <a:latin typeface="Consolas"/>
              </a:rPr>
              <a:t># 2. and expands strictly fewer nodes than uniform-cost search</a:t>
            </a:r>
          </a:p>
          <a:p>
            <a:pPr>
              <a:lnSpc>
                <a:spcPct val="100000"/>
              </a:lnSpc>
              <a:spcAft>
                <a:spcPts val="0"/>
              </a:spcAft>
            </a:pPr>
            <a:r>
              <a:rPr sz="1800" i="0">
                <a:solidFill>
                  <a:srgbClr val="E8EDF2"/>
                </a:solidFill>
                <a:latin typeface="Consolas"/>
              </a:rPr>
              <a:t>    </a:t>
            </a:r>
            <a:r>
              <a:rPr sz="1800" i="0">
                <a:solidFill>
                  <a:srgbClr val="E8EDF2"/>
                </a:solidFill>
                <a:latin typeface="Consolas"/>
              </a:rPr>
              <a:t>ucs_exp</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results</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uniform-cost (h=0)</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2</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n</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astars</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assert</a:t>
            </a:r>
            <a:r>
              <a:rPr sz="1800" i="0">
                <a:solidFill>
                  <a:srgbClr val="E8EDF2"/>
                </a:solidFill>
                <a:latin typeface="Consolas"/>
              </a:rPr>
              <a:t> </a:t>
            </a:r>
            <a:r>
              <a:rPr sz="1800" i="0">
                <a:solidFill>
                  <a:srgbClr val="E8EDF2"/>
                </a:solidFill>
                <a:latin typeface="Consolas"/>
              </a:rPr>
              <a:t>results</a:t>
            </a:r>
            <a:r>
              <a:rPr sz="1800" i="0">
                <a:solidFill>
                  <a:srgbClr val="AEB6BF"/>
                </a:solidFill>
                <a:latin typeface="Consolas"/>
              </a:rPr>
              <a:t>[</a:t>
            </a:r>
            <a:r>
              <a:rPr sz="1800" i="0">
                <a:solidFill>
                  <a:srgbClr val="E8EDF2"/>
                </a:solidFill>
                <a:latin typeface="Consolas"/>
              </a:rPr>
              <a:t>n</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2</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&lt;</a:t>
            </a:r>
            <a:r>
              <a:rPr sz="1800" i="0">
                <a:solidFill>
                  <a:srgbClr val="E8EDF2"/>
                </a:solidFill>
                <a:latin typeface="Consolas"/>
              </a:rPr>
              <a:t> </a:t>
            </a:r>
            <a:r>
              <a:rPr sz="1800" i="0">
                <a:solidFill>
                  <a:srgbClr val="E8EDF2"/>
                </a:solidFill>
                <a:latin typeface="Consolas"/>
              </a:rPr>
              <a:t>ucs_exp</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a:t>
            </a:r>
          </a:p>
        </p:txBody>
      </p:sp>
      <p:sp>
        <p:nvSpPr>
          <p:cNvPr id="15" name="!!code-num"/>
          <p:cNvSpPr txBox="1"/>
          <p:nvPr/>
        </p:nvSpPr>
        <p:spPr>
          <a:xfrm>
            <a:off x="768096" y="2523744"/>
            <a:ext cx="393192" cy="367588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180</a:t>
            </a:r>
          </a:p>
          <a:p>
            <a:pPr algn="r">
              <a:lnSpc>
                <a:spcPct val="100000"/>
              </a:lnSpc>
            </a:pPr>
            <a:r>
              <a:rPr sz="1800">
                <a:solidFill>
                  <a:srgbClr val="4F5D6A"/>
                </a:solidFill>
                <a:latin typeface="Consolas"/>
              </a:rPr>
              <a:t>181</a:t>
            </a:r>
          </a:p>
          <a:p>
            <a:pPr algn="r">
              <a:lnSpc>
                <a:spcPct val="100000"/>
              </a:lnSpc>
            </a:pPr>
            <a:r>
              <a:rPr sz="1800">
                <a:solidFill>
                  <a:srgbClr val="4F5D6A"/>
                </a:solidFill>
                <a:latin typeface="Consolas"/>
              </a:rPr>
              <a:t>182</a:t>
            </a:r>
          </a:p>
          <a:p>
            <a:pPr algn="r">
              <a:lnSpc>
                <a:spcPct val="100000"/>
              </a:lnSpc>
            </a:pPr>
            <a:r>
              <a:rPr sz="1800">
                <a:solidFill>
                  <a:srgbClr val="4F5D6A"/>
                </a:solidFill>
                <a:latin typeface="Consolas"/>
              </a:rPr>
              <a:t>183</a:t>
            </a:r>
          </a:p>
          <a:p>
            <a:pPr algn="r">
              <a:lnSpc>
                <a:spcPct val="100000"/>
              </a:lnSpc>
            </a:pPr>
            <a:r>
              <a:rPr sz="1800">
                <a:solidFill>
                  <a:srgbClr val="4F5D6A"/>
                </a:solidFill>
                <a:latin typeface="Consolas"/>
              </a:rPr>
              <a:t>184</a:t>
            </a:r>
          </a:p>
          <a:p>
            <a:pPr algn="r">
              <a:lnSpc>
                <a:spcPct val="100000"/>
              </a:lnSpc>
            </a:pPr>
            <a:r>
              <a:rPr sz="1800">
                <a:solidFill>
                  <a:srgbClr val="4F5D6A"/>
                </a:solidFill>
                <a:latin typeface="Consolas"/>
              </a:rPr>
              <a:t>185</a:t>
            </a:r>
          </a:p>
          <a:p>
            <a:pPr algn="r">
              <a:lnSpc>
                <a:spcPct val="100000"/>
              </a:lnSpc>
            </a:pPr>
            <a:r>
              <a:rPr sz="1800">
                <a:solidFill>
                  <a:srgbClr val="4F5D6A"/>
                </a:solidFill>
                <a:latin typeface="Consolas"/>
              </a:rPr>
              <a:t>186</a:t>
            </a:r>
          </a:p>
          <a:p>
            <a:pPr algn="r">
              <a:lnSpc>
                <a:spcPct val="100000"/>
              </a:lnSpc>
            </a:pPr>
            <a:r>
              <a:rPr sz="1800">
                <a:solidFill>
                  <a:srgbClr val="4F5D6A"/>
                </a:solidFill>
                <a:latin typeface="Consolas"/>
              </a:rPr>
              <a:t>187</a:t>
            </a:r>
          </a:p>
          <a:p>
            <a:pPr algn="r">
              <a:lnSpc>
                <a:spcPct val="100000"/>
              </a:lnSpc>
            </a:pPr>
            <a:r>
              <a:rPr sz="1800">
                <a:solidFill>
                  <a:srgbClr val="4F5D6A"/>
                </a:solidFill>
                <a:latin typeface="Consolas"/>
              </a:rPr>
              <a:t>188</a:t>
            </a:r>
          </a:p>
          <a:p>
            <a:pPr algn="r">
              <a:lnSpc>
                <a:spcPct val="100000"/>
              </a:lnSpc>
            </a:pPr>
            <a:r>
              <a:rPr sz="1800">
                <a:solidFill>
                  <a:srgbClr val="4F5D6A"/>
                </a:solidFill>
                <a:latin typeface="Consolas"/>
              </a:rPr>
              <a:t>189</a:t>
            </a:r>
          </a:p>
          <a:p>
            <a:pPr algn="r">
              <a:lnSpc>
                <a:spcPct val="100000"/>
              </a:lnSpc>
            </a:pPr>
            <a:r>
              <a:rPr sz="1800">
                <a:solidFill>
                  <a:srgbClr val="4F5D6A"/>
                </a:solidFill>
                <a:latin typeface="Consolas"/>
              </a:rPr>
              <a:t>190</a:t>
            </a:r>
          </a:p>
          <a:p>
            <a:pPr algn="r">
              <a:lnSpc>
                <a:spcPct val="100000"/>
              </a:lnSpc>
            </a:pPr>
            <a:r>
              <a:rPr sz="1800">
                <a:solidFill>
                  <a:srgbClr val="4F5D6A"/>
                </a:solidFill>
                <a:latin typeface="Consolas"/>
              </a:rPr>
              <a:t>191</a:t>
            </a:r>
          </a:p>
          <a:p>
            <a:pPr algn="r">
              <a:lnSpc>
                <a:spcPct val="100000"/>
              </a:lnSpc>
            </a:pPr>
            <a:r>
              <a:rPr sz="1800">
                <a:solidFill>
                  <a:srgbClr val="4F5D6A"/>
                </a:solidFill>
                <a:latin typeface="Consolas"/>
              </a:rPr>
              <a:t>192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Over Sprint States, Two Heuristics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16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1E0234FB-938B-41DD-8E00-8458D70A8465}" type="slidenum">
              <a:rPr lang="en-GB" sz="1000">
                <a:solidFill>
                  <a:srgbClr val="8795A1"/>
                </a:solidFill>
                <a:latin typeface="Segoe UI"/>
              </a:rPr>
              <a:t>37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Best-first search; the priority decides the algorithm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56303"/>
          </a:xfrm>
          <a:prstGeom prst="roundRect">
            <a:avLst>
              <a:gd name="adj" fmla="val 23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code/ch05_over_sprint_states_two.py</a:t>
            </a:r>
          </a:p>
        </p:txBody>
      </p:sp>
      <p:sp>
        <p:nvSpPr>
          <p:cNvPr id="14" name="!!code-text" descr="# 3. NEITHER heuristic dominates the other -- the interesting part states = reachable() mand_bigger = [s for s in states if h_mandatory(s) &gt; h_chain(s)] chain_bigger = [s for s in states if h_chain(s) &gt; h_mandatory(s)] print() print(&quot;reachable states: %d&quot; % len(states)) print(&quot; mandatory work is the larger estimate on %d&quot; % len(mand_bigger)) print(&quot; critical path is the larger estimate on %d&quot; % len(chain_bigger)) assert mand_bigger and chain_bigger, &quot;expected them to cross&quot; # so max dominates both, by construction assert all(h_max(s) &gt;= h_mandatory(s) for s in states) assert all(h_max(s) &gt;= h_chain(s) for s in states) assert results[&quot;A* max of the two&quot;][2] &lt;= min( results[&quot;A* critical path&quot;][2], results[&quot;A* mandatory work&quot;][2]) ex = min(chain_bigger, key=len) print(&quot; e.g. %s: mandatory=%d, critical path=%d&quot; % (&quot; &quot;.join(sorted(ex)), h_mandatory(ex), h_chain(ex)))"/>
          <p:cNvSpPr txBox="1"/>
          <p:nvPr/>
        </p:nvSpPr>
        <p:spPr>
          <a:xfrm>
            <a:off x="1362456" y="2523744"/>
            <a:ext cx="9987991" cy="3462527"/>
          </a:xfrm>
          <a:prstGeom prst="rect">
            <a:avLst/>
          </a:prstGeom>
          <a:noFill/>
        </p:spPr>
        <p:txBody>
          <a:bodyPr wrap="none" anchor="t" lIns="0" rIns="0" tIns="0" bIns="0">
            <a:noAutofit/>
          </a:bodyPr>
          <a:lstStyle/>
          <a:p>
            <a:pPr>
              <a:lnSpc>
                <a:spcPct val="100000"/>
              </a:lnSpc>
              <a:spcAft>
                <a:spcPts val="0"/>
              </a:spcAft>
            </a:pPr>
            <a:r>
              <a:rPr sz="1100" i="0">
                <a:solidFill>
                  <a:srgbClr val="E8EDF2"/>
                </a:solidFill>
                <a:latin typeface="Consolas"/>
              </a:rPr>
              <a:t>    </a:t>
            </a:r>
            <a:r>
              <a:rPr sz="1100" i="1">
                <a:solidFill>
                  <a:srgbClr val="8795A1"/>
                </a:solidFill>
                <a:latin typeface="Consolas"/>
              </a:rPr>
              <a:t># 3. NEITHER heuristic dominates the other -- the interesting part</a:t>
            </a:r>
          </a:p>
          <a:p>
            <a:pPr>
              <a:lnSpc>
                <a:spcPct val="100000"/>
              </a:lnSpc>
              <a:spcAft>
                <a:spcPts val="0"/>
              </a:spcAft>
            </a:pPr>
            <a:r>
              <a:rPr sz="1100" i="0">
                <a:solidFill>
                  <a:srgbClr val="E8EDF2"/>
                </a:solidFill>
                <a:latin typeface="Consolas"/>
              </a:rPr>
              <a:t>    </a:t>
            </a:r>
            <a:r>
              <a:rPr sz="1100" i="0">
                <a:solidFill>
                  <a:srgbClr val="E8EDF2"/>
                </a:solidFill>
                <a:latin typeface="Consolas"/>
              </a:rPr>
              <a:t>states</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reachable</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mand_bigger</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s</a:t>
            </a:r>
            <a:r>
              <a:rPr sz="1100" i="0">
                <a:solidFill>
                  <a:srgbClr val="E8EDF2"/>
                </a:solidFill>
                <a:latin typeface="Consolas"/>
              </a:rPr>
              <a:t> </a:t>
            </a:r>
            <a:r>
              <a:rPr sz="1100" i="0">
                <a:solidFill>
                  <a:srgbClr val="5DADE2"/>
                </a:solidFill>
                <a:latin typeface="Consolas"/>
              </a:rPr>
              <a:t>for</a:t>
            </a:r>
            <a:r>
              <a:rPr sz="1100" i="0">
                <a:solidFill>
                  <a:srgbClr val="E8EDF2"/>
                </a:solidFill>
                <a:latin typeface="Consolas"/>
              </a:rPr>
              <a:t> </a:t>
            </a:r>
            <a:r>
              <a:rPr sz="1100" i="0">
                <a:solidFill>
                  <a:srgbClr val="E8EDF2"/>
                </a:solidFill>
                <a:latin typeface="Consolas"/>
              </a:rPr>
              <a:t>s</a:t>
            </a:r>
            <a:r>
              <a:rPr sz="1100" i="0">
                <a:solidFill>
                  <a:srgbClr val="E8EDF2"/>
                </a:solidFill>
                <a:latin typeface="Consolas"/>
              </a:rPr>
              <a:t> </a:t>
            </a:r>
            <a:r>
              <a:rPr sz="1100" i="0">
                <a:solidFill>
                  <a:srgbClr val="AEB6BF"/>
                </a:solidFill>
                <a:latin typeface="Consolas"/>
              </a:rPr>
              <a:t>in</a:t>
            </a:r>
            <a:r>
              <a:rPr sz="1100" i="0">
                <a:solidFill>
                  <a:srgbClr val="E8EDF2"/>
                </a:solidFill>
                <a:latin typeface="Consolas"/>
              </a:rPr>
              <a:t> </a:t>
            </a:r>
            <a:r>
              <a:rPr sz="1100" i="0">
                <a:solidFill>
                  <a:srgbClr val="E8EDF2"/>
                </a:solidFill>
                <a:latin typeface="Consolas"/>
              </a:rPr>
              <a:t>states</a:t>
            </a:r>
            <a:r>
              <a:rPr sz="1100" i="0">
                <a:solidFill>
                  <a:srgbClr val="E8EDF2"/>
                </a:solidFill>
                <a:latin typeface="Consolas"/>
              </a:rPr>
              <a:t> </a:t>
            </a:r>
            <a:r>
              <a:rPr sz="1100" i="0">
                <a:solidFill>
                  <a:srgbClr val="5DADE2"/>
                </a:solidFill>
                <a:latin typeface="Consolas"/>
              </a:rPr>
              <a:t>if</a:t>
            </a:r>
            <a:r>
              <a:rPr sz="1100" i="0">
                <a:solidFill>
                  <a:srgbClr val="E8EDF2"/>
                </a:solidFill>
                <a:latin typeface="Consolas"/>
              </a:rPr>
              <a:t> </a:t>
            </a:r>
            <a:r>
              <a:rPr sz="1100" i="0">
                <a:solidFill>
                  <a:srgbClr val="E8EDF2"/>
                </a:solidFill>
                <a:latin typeface="Consolas"/>
              </a:rPr>
              <a:t>h_mandatory</a:t>
            </a:r>
            <a:r>
              <a:rPr sz="1100" i="0">
                <a:solidFill>
                  <a:srgbClr val="AEB6BF"/>
                </a:solidFill>
                <a:latin typeface="Consolas"/>
              </a:rPr>
              <a:t>(</a:t>
            </a:r>
            <a:r>
              <a:rPr sz="1100" i="0">
                <a:solidFill>
                  <a:srgbClr val="E8EDF2"/>
                </a:solidFill>
                <a:latin typeface="Consolas"/>
              </a:rPr>
              <a:t>s</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&gt;</a:t>
            </a:r>
            <a:r>
              <a:rPr sz="1100" i="0">
                <a:solidFill>
                  <a:srgbClr val="E8EDF2"/>
                </a:solidFill>
                <a:latin typeface="Consolas"/>
              </a:rPr>
              <a:t> </a:t>
            </a:r>
            <a:r>
              <a:rPr sz="1100" i="0">
                <a:solidFill>
                  <a:srgbClr val="E8EDF2"/>
                </a:solidFill>
                <a:latin typeface="Consolas"/>
              </a:rPr>
              <a:t>h_chain</a:t>
            </a:r>
            <a:r>
              <a:rPr sz="1100" i="0">
                <a:solidFill>
                  <a:srgbClr val="AEB6BF"/>
                </a:solidFill>
                <a:latin typeface="Consolas"/>
              </a:rPr>
              <a:t>(</a:t>
            </a:r>
            <a:r>
              <a:rPr sz="1100" i="0">
                <a:solidFill>
                  <a:srgbClr val="E8EDF2"/>
                </a:solidFill>
                <a:latin typeface="Consolas"/>
              </a:rPr>
              <a:t>s</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chain_bigger</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s</a:t>
            </a:r>
            <a:r>
              <a:rPr sz="1100" i="0">
                <a:solidFill>
                  <a:srgbClr val="E8EDF2"/>
                </a:solidFill>
                <a:latin typeface="Consolas"/>
              </a:rPr>
              <a:t> </a:t>
            </a:r>
            <a:r>
              <a:rPr sz="1100" i="0">
                <a:solidFill>
                  <a:srgbClr val="5DADE2"/>
                </a:solidFill>
                <a:latin typeface="Consolas"/>
              </a:rPr>
              <a:t>for</a:t>
            </a:r>
            <a:r>
              <a:rPr sz="1100" i="0">
                <a:solidFill>
                  <a:srgbClr val="E8EDF2"/>
                </a:solidFill>
                <a:latin typeface="Consolas"/>
              </a:rPr>
              <a:t> </a:t>
            </a:r>
            <a:r>
              <a:rPr sz="1100" i="0">
                <a:solidFill>
                  <a:srgbClr val="E8EDF2"/>
                </a:solidFill>
                <a:latin typeface="Consolas"/>
              </a:rPr>
              <a:t>s</a:t>
            </a:r>
            <a:r>
              <a:rPr sz="1100" i="0">
                <a:solidFill>
                  <a:srgbClr val="E8EDF2"/>
                </a:solidFill>
                <a:latin typeface="Consolas"/>
              </a:rPr>
              <a:t> </a:t>
            </a:r>
            <a:r>
              <a:rPr sz="1100" i="0">
                <a:solidFill>
                  <a:srgbClr val="AEB6BF"/>
                </a:solidFill>
                <a:latin typeface="Consolas"/>
              </a:rPr>
              <a:t>in</a:t>
            </a:r>
            <a:r>
              <a:rPr sz="1100" i="0">
                <a:solidFill>
                  <a:srgbClr val="E8EDF2"/>
                </a:solidFill>
                <a:latin typeface="Consolas"/>
              </a:rPr>
              <a:t> </a:t>
            </a:r>
            <a:r>
              <a:rPr sz="1100" i="0">
                <a:solidFill>
                  <a:srgbClr val="E8EDF2"/>
                </a:solidFill>
                <a:latin typeface="Consolas"/>
              </a:rPr>
              <a:t>states</a:t>
            </a:r>
            <a:r>
              <a:rPr sz="1100" i="0">
                <a:solidFill>
                  <a:srgbClr val="E8EDF2"/>
                </a:solidFill>
                <a:latin typeface="Consolas"/>
              </a:rPr>
              <a:t> </a:t>
            </a:r>
            <a:r>
              <a:rPr sz="1100" i="0">
                <a:solidFill>
                  <a:srgbClr val="5DADE2"/>
                </a:solidFill>
                <a:latin typeface="Consolas"/>
              </a:rPr>
              <a:t>if</a:t>
            </a:r>
            <a:r>
              <a:rPr sz="1100" i="0">
                <a:solidFill>
                  <a:srgbClr val="E8EDF2"/>
                </a:solidFill>
                <a:latin typeface="Consolas"/>
              </a:rPr>
              <a:t> </a:t>
            </a:r>
            <a:r>
              <a:rPr sz="1100" i="0">
                <a:solidFill>
                  <a:srgbClr val="E8EDF2"/>
                </a:solidFill>
                <a:latin typeface="Consolas"/>
              </a:rPr>
              <a:t>h_chain</a:t>
            </a:r>
            <a:r>
              <a:rPr sz="1100" i="0">
                <a:solidFill>
                  <a:srgbClr val="AEB6BF"/>
                </a:solidFill>
                <a:latin typeface="Consolas"/>
              </a:rPr>
              <a:t>(</a:t>
            </a:r>
            <a:r>
              <a:rPr sz="1100" i="0">
                <a:solidFill>
                  <a:srgbClr val="E8EDF2"/>
                </a:solidFill>
                <a:latin typeface="Consolas"/>
              </a:rPr>
              <a:t>s</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&gt;</a:t>
            </a:r>
            <a:r>
              <a:rPr sz="1100" i="0">
                <a:solidFill>
                  <a:srgbClr val="E8EDF2"/>
                </a:solidFill>
                <a:latin typeface="Consolas"/>
              </a:rPr>
              <a:t> </a:t>
            </a:r>
            <a:r>
              <a:rPr sz="1100" i="0">
                <a:solidFill>
                  <a:srgbClr val="E8EDF2"/>
                </a:solidFill>
                <a:latin typeface="Consolas"/>
              </a:rPr>
              <a:t>h_mandatory</a:t>
            </a:r>
            <a:r>
              <a:rPr sz="1100" i="0">
                <a:solidFill>
                  <a:srgbClr val="AEB6BF"/>
                </a:solidFill>
                <a:latin typeface="Consolas"/>
              </a:rPr>
              <a:t>(</a:t>
            </a:r>
            <a:r>
              <a:rPr sz="1100" i="0">
                <a:solidFill>
                  <a:srgbClr val="E8EDF2"/>
                </a:solidFill>
                <a:latin typeface="Consolas"/>
              </a:rPr>
              <a:t>s</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C39BD3"/>
                </a:solidFill>
                <a:latin typeface="Consolas"/>
              </a:rPr>
              <a:t>print</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C39BD3"/>
                </a:solidFill>
                <a:latin typeface="Consolas"/>
              </a:rPr>
              <a:t>print</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reachable states: </a:t>
            </a:r>
            <a:r>
              <a:rPr sz="1100" i="0">
                <a:solidFill>
                  <a:srgbClr val="7DCEA0"/>
                </a:solidFill>
                <a:latin typeface="Consolas"/>
              </a:rPr>
              <a:t>%d</a:t>
            </a:r>
            <a:r>
              <a:rPr sz="1100" i="0">
                <a:solidFill>
                  <a:srgbClr val="7DCEA0"/>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C39BD3"/>
                </a:solidFill>
                <a:latin typeface="Consolas"/>
              </a:rPr>
              <a:t>len</a:t>
            </a:r>
            <a:r>
              <a:rPr sz="1100" i="0">
                <a:solidFill>
                  <a:srgbClr val="AEB6BF"/>
                </a:solidFill>
                <a:latin typeface="Consolas"/>
              </a:rPr>
              <a:t>(</a:t>
            </a:r>
            <a:r>
              <a:rPr sz="1100" i="0">
                <a:solidFill>
                  <a:srgbClr val="E8EDF2"/>
                </a:solidFill>
                <a:latin typeface="Consolas"/>
              </a:rPr>
              <a:t>states</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C39BD3"/>
                </a:solidFill>
                <a:latin typeface="Consolas"/>
              </a:rPr>
              <a:t>print</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  mandatory work is the larger estimate on </a:t>
            </a:r>
            <a:r>
              <a:rPr sz="1100" i="0">
                <a:solidFill>
                  <a:srgbClr val="7DCEA0"/>
                </a:solidFill>
                <a:latin typeface="Consolas"/>
              </a:rPr>
              <a:t>%d</a:t>
            </a:r>
            <a:r>
              <a:rPr sz="1100" i="0">
                <a:solidFill>
                  <a:srgbClr val="7DCEA0"/>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C39BD3"/>
                </a:solidFill>
                <a:latin typeface="Consolas"/>
              </a:rPr>
              <a:t>len</a:t>
            </a:r>
            <a:r>
              <a:rPr sz="1100" i="0">
                <a:solidFill>
                  <a:srgbClr val="AEB6BF"/>
                </a:solidFill>
                <a:latin typeface="Consolas"/>
              </a:rPr>
              <a:t>(</a:t>
            </a:r>
            <a:r>
              <a:rPr sz="1100" i="0">
                <a:solidFill>
                  <a:srgbClr val="E8EDF2"/>
                </a:solidFill>
                <a:latin typeface="Consolas"/>
              </a:rPr>
              <a:t>mand_bigger</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C39BD3"/>
                </a:solidFill>
                <a:latin typeface="Consolas"/>
              </a:rPr>
              <a:t>print</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  critical path  is the larger estimate on </a:t>
            </a:r>
            <a:r>
              <a:rPr sz="1100" i="0">
                <a:solidFill>
                  <a:srgbClr val="7DCEA0"/>
                </a:solidFill>
                <a:latin typeface="Consolas"/>
              </a:rPr>
              <a:t>%d</a:t>
            </a:r>
            <a:r>
              <a:rPr sz="1100" i="0">
                <a:solidFill>
                  <a:srgbClr val="7DCEA0"/>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C39BD3"/>
                </a:solidFill>
                <a:latin typeface="Consolas"/>
              </a:rPr>
              <a:t>len</a:t>
            </a:r>
            <a:r>
              <a:rPr sz="1100" i="0">
                <a:solidFill>
                  <a:srgbClr val="AEB6BF"/>
                </a:solidFill>
                <a:latin typeface="Consolas"/>
              </a:rPr>
              <a:t>(</a:t>
            </a:r>
            <a:r>
              <a:rPr sz="1100" i="0">
                <a:solidFill>
                  <a:srgbClr val="E8EDF2"/>
                </a:solidFill>
                <a:latin typeface="Consolas"/>
              </a:rPr>
              <a:t>chain_bigger</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assert</a:t>
            </a:r>
            <a:r>
              <a:rPr sz="1100" i="0">
                <a:solidFill>
                  <a:srgbClr val="E8EDF2"/>
                </a:solidFill>
                <a:latin typeface="Consolas"/>
              </a:rPr>
              <a:t> </a:t>
            </a:r>
            <a:r>
              <a:rPr sz="1100" i="0">
                <a:solidFill>
                  <a:srgbClr val="E8EDF2"/>
                </a:solidFill>
                <a:latin typeface="Consolas"/>
              </a:rPr>
              <a:t>mand_bigger</a:t>
            </a:r>
            <a:r>
              <a:rPr sz="1100" i="0">
                <a:solidFill>
                  <a:srgbClr val="E8EDF2"/>
                </a:solidFill>
                <a:latin typeface="Consolas"/>
              </a:rPr>
              <a:t> </a:t>
            </a:r>
            <a:r>
              <a:rPr sz="1100" i="0">
                <a:solidFill>
                  <a:srgbClr val="AEB6BF"/>
                </a:solidFill>
                <a:latin typeface="Consolas"/>
              </a:rPr>
              <a:t>and</a:t>
            </a:r>
            <a:r>
              <a:rPr sz="1100" i="0">
                <a:solidFill>
                  <a:srgbClr val="E8EDF2"/>
                </a:solidFill>
                <a:latin typeface="Consolas"/>
              </a:rPr>
              <a:t> </a:t>
            </a:r>
            <a:r>
              <a:rPr sz="1100" i="0">
                <a:solidFill>
                  <a:srgbClr val="E8EDF2"/>
                </a:solidFill>
                <a:latin typeface="Consolas"/>
              </a:rPr>
              <a:t>chain_bigger</a:t>
            </a:r>
            <a:r>
              <a:rPr sz="1100" i="0">
                <a:solidFill>
                  <a:srgbClr val="AEB6BF"/>
                </a:solidFill>
                <a:latin typeface="Consolas"/>
              </a:rPr>
              <a:t>,</a:t>
            </a: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expected them to cross</a:t>
            </a:r>
            <a:r>
              <a:rPr sz="1100" i="0">
                <a:solidFill>
                  <a:srgbClr val="7DCEA0"/>
                </a:solidFill>
                <a:latin typeface="Consolas"/>
              </a:rPr>
              <a:t>"</a:t>
            </a:r>
          </a:p>
          <a:p>
            <a:pPr>
              <a:lnSpc>
                <a:spcPct val="100000"/>
              </a:lnSpc>
              <a:spcAft>
                <a:spcPts val="0"/>
              </a:spcAft>
            </a:pPr>
            <a:r>
              <a:rPr sz="1100" i="0">
                <a:solidFill>
                  <a:srgbClr val="E8EDF2"/>
                </a:solidFill>
                <a:latin typeface="Consolas"/>
              </a:rPr>
              <a:t>    </a:t>
            </a:r>
            <a:r>
              <a:rPr sz="1100" i="1">
                <a:solidFill>
                  <a:srgbClr val="8795A1"/>
                </a:solidFill>
                <a:latin typeface="Consolas"/>
              </a:rPr>
              <a:t># so max dominates both, by construction</a:t>
            </a:r>
          </a:p>
          <a:p>
            <a:pPr>
              <a:lnSpc>
                <a:spcPct val="100000"/>
              </a:lnSpc>
              <a:spcAft>
                <a:spcPts val="0"/>
              </a:spcAft>
            </a:pPr>
            <a:r>
              <a:rPr sz="1100" i="0">
                <a:solidFill>
                  <a:srgbClr val="E8EDF2"/>
                </a:solidFill>
                <a:latin typeface="Consolas"/>
              </a:rPr>
              <a:t>    </a:t>
            </a:r>
            <a:r>
              <a:rPr sz="1100" i="0">
                <a:solidFill>
                  <a:srgbClr val="5DADE2"/>
                </a:solidFill>
                <a:latin typeface="Consolas"/>
              </a:rPr>
              <a:t>assert</a:t>
            </a:r>
            <a:r>
              <a:rPr sz="1100" i="0">
                <a:solidFill>
                  <a:srgbClr val="E8EDF2"/>
                </a:solidFill>
                <a:latin typeface="Consolas"/>
              </a:rPr>
              <a:t> </a:t>
            </a:r>
            <a:r>
              <a:rPr sz="1100" i="0">
                <a:solidFill>
                  <a:srgbClr val="C39BD3"/>
                </a:solidFill>
                <a:latin typeface="Consolas"/>
              </a:rPr>
              <a:t>all</a:t>
            </a:r>
            <a:r>
              <a:rPr sz="1100" i="0">
                <a:solidFill>
                  <a:srgbClr val="AEB6BF"/>
                </a:solidFill>
                <a:latin typeface="Consolas"/>
              </a:rPr>
              <a:t>(</a:t>
            </a:r>
            <a:r>
              <a:rPr sz="1100" i="0">
                <a:solidFill>
                  <a:srgbClr val="E8EDF2"/>
                </a:solidFill>
                <a:latin typeface="Consolas"/>
              </a:rPr>
              <a:t>h_max</a:t>
            </a:r>
            <a:r>
              <a:rPr sz="1100" i="0">
                <a:solidFill>
                  <a:srgbClr val="AEB6BF"/>
                </a:solidFill>
                <a:latin typeface="Consolas"/>
              </a:rPr>
              <a:t>(</a:t>
            </a:r>
            <a:r>
              <a:rPr sz="1100" i="0">
                <a:solidFill>
                  <a:srgbClr val="E8EDF2"/>
                </a:solidFill>
                <a:latin typeface="Consolas"/>
              </a:rPr>
              <a:t>s</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&gt;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h_mandatory</a:t>
            </a:r>
            <a:r>
              <a:rPr sz="1100" i="0">
                <a:solidFill>
                  <a:srgbClr val="AEB6BF"/>
                </a:solidFill>
                <a:latin typeface="Consolas"/>
              </a:rPr>
              <a:t>(</a:t>
            </a:r>
            <a:r>
              <a:rPr sz="1100" i="0">
                <a:solidFill>
                  <a:srgbClr val="E8EDF2"/>
                </a:solidFill>
                <a:latin typeface="Consolas"/>
              </a:rPr>
              <a:t>s</a:t>
            </a:r>
            <a:r>
              <a:rPr sz="1100" i="0">
                <a:solidFill>
                  <a:srgbClr val="AEB6BF"/>
                </a:solidFill>
                <a:latin typeface="Consolas"/>
              </a:rPr>
              <a:t>)</a:t>
            </a:r>
            <a:r>
              <a:rPr sz="1100" i="0">
                <a:solidFill>
                  <a:srgbClr val="E8EDF2"/>
                </a:solidFill>
                <a:latin typeface="Consolas"/>
              </a:rPr>
              <a:t> </a:t>
            </a:r>
            <a:r>
              <a:rPr sz="1100" i="0">
                <a:solidFill>
                  <a:srgbClr val="5DADE2"/>
                </a:solidFill>
                <a:latin typeface="Consolas"/>
              </a:rPr>
              <a:t>for</a:t>
            </a:r>
            <a:r>
              <a:rPr sz="1100" i="0">
                <a:solidFill>
                  <a:srgbClr val="E8EDF2"/>
                </a:solidFill>
                <a:latin typeface="Consolas"/>
              </a:rPr>
              <a:t> </a:t>
            </a:r>
            <a:r>
              <a:rPr sz="1100" i="0">
                <a:solidFill>
                  <a:srgbClr val="E8EDF2"/>
                </a:solidFill>
                <a:latin typeface="Consolas"/>
              </a:rPr>
              <a:t>s</a:t>
            </a:r>
            <a:r>
              <a:rPr sz="1100" i="0">
                <a:solidFill>
                  <a:srgbClr val="E8EDF2"/>
                </a:solidFill>
                <a:latin typeface="Consolas"/>
              </a:rPr>
              <a:t> </a:t>
            </a:r>
            <a:r>
              <a:rPr sz="1100" i="0">
                <a:solidFill>
                  <a:srgbClr val="AEB6BF"/>
                </a:solidFill>
                <a:latin typeface="Consolas"/>
              </a:rPr>
              <a:t>in</a:t>
            </a:r>
            <a:r>
              <a:rPr sz="1100" i="0">
                <a:solidFill>
                  <a:srgbClr val="E8EDF2"/>
                </a:solidFill>
                <a:latin typeface="Consolas"/>
              </a:rPr>
              <a:t> </a:t>
            </a:r>
            <a:r>
              <a:rPr sz="1100" i="0">
                <a:solidFill>
                  <a:srgbClr val="E8EDF2"/>
                </a:solidFill>
                <a:latin typeface="Consolas"/>
              </a:rPr>
              <a:t>states</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assert</a:t>
            </a:r>
            <a:r>
              <a:rPr sz="1100" i="0">
                <a:solidFill>
                  <a:srgbClr val="E8EDF2"/>
                </a:solidFill>
                <a:latin typeface="Consolas"/>
              </a:rPr>
              <a:t> </a:t>
            </a:r>
            <a:r>
              <a:rPr sz="1100" i="0">
                <a:solidFill>
                  <a:srgbClr val="C39BD3"/>
                </a:solidFill>
                <a:latin typeface="Consolas"/>
              </a:rPr>
              <a:t>all</a:t>
            </a:r>
            <a:r>
              <a:rPr sz="1100" i="0">
                <a:solidFill>
                  <a:srgbClr val="AEB6BF"/>
                </a:solidFill>
                <a:latin typeface="Consolas"/>
              </a:rPr>
              <a:t>(</a:t>
            </a:r>
            <a:r>
              <a:rPr sz="1100" i="0">
                <a:solidFill>
                  <a:srgbClr val="E8EDF2"/>
                </a:solidFill>
                <a:latin typeface="Consolas"/>
              </a:rPr>
              <a:t>h_max</a:t>
            </a:r>
            <a:r>
              <a:rPr sz="1100" i="0">
                <a:solidFill>
                  <a:srgbClr val="AEB6BF"/>
                </a:solidFill>
                <a:latin typeface="Consolas"/>
              </a:rPr>
              <a:t>(</a:t>
            </a:r>
            <a:r>
              <a:rPr sz="1100" i="0">
                <a:solidFill>
                  <a:srgbClr val="E8EDF2"/>
                </a:solidFill>
                <a:latin typeface="Consolas"/>
              </a:rPr>
              <a:t>s</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&gt;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h_chain</a:t>
            </a:r>
            <a:r>
              <a:rPr sz="1100" i="0">
                <a:solidFill>
                  <a:srgbClr val="AEB6BF"/>
                </a:solidFill>
                <a:latin typeface="Consolas"/>
              </a:rPr>
              <a:t>(</a:t>
            </a:r>
            <a:r>
              <a:rPr sz="1100" i="0">
                <a:solidFill>
                  <a:srgbClr val="E8EDF2"/>
                </a:solidFill>
                <a:latin typeface="Consolas"/>
              </a:rPr>
              <a:t>s</a:t>
            </a:r>
            <a:r>
              <a:rPr sz="1100" i="0">
                <a:solidFill>
                  <a:srgbClr val="AEB6BF"/>
                </a:solidFill>
                <a:latin typeface="Consolas"/>
              </a:rPr>
              <a:t>)</a:t>
            </a:r>
            <a:r>
              <a:rPr sz="1100" i="0">
                <a:solidFill>
                  <a:srgbClr val="E8EDF2"/>
                </a:solidFill>
                <a:latin typeface="Consolas"/>
              </a:rPr>
              <a:t> </a:t>
            </a:r>
            <a:r>
              <a:rPr sz="1100" i="0">
                <a:solidFill>
                  <a:srgbClr val="5DADE2"/>
                </a:solidFill>
                <a:latin typeface="Consolas"/>
              </a:rPr>
              <a:t>for</a:t>
            </a:r>
            <a:r>
              <a:rPr sz="1100" i="0">
                <a:solidFill>
                  <a:srgbClr val="E8EDF2"/>
                </a:solidFill>
                <a:latin typeface="Consolas"/>
              </a:rPr>
              <a:t> </a:t>
            </a:r>
            <a:r>
              <a:rPr sz="1100" i="0">
                <a:solidFill>
                  <a:srgbClr val="E8EDF2"/>
                </a:solidFill>
                <a:latin typeface="Consolas"/>
              </a:rPr>
              <a:t>s</a:t>
            </a:r>
            <a:r>
              <a:rPr sz="1100" i="0">
                <a:solidFill>
                  <a:srgbClr val="E8EDF2"/>
                </a:solidFill>
                <a:latin typeface="Consolas"/>
              </a:rPr>
              <a:t> </a:t>
            </a:r>
            <a:r>
              <a:rPr sz="1100" i="0">
                <a:solidFill>
                  <a:srgbClr val="AEB6BF"/>
                </a:solidFill>
                <a:latin typeface="Consolas"/>
              </a:rPr>
              <a:t>in</a:t>
            </a:r>
            <a:r>
              <a:rPr sz="1100" i="0">
                <a:solidFill>
                  <a:srgbClr val="E8EDF2"/>
                </a:solidFill>
                <a:latin typeface="Consolas"/>
              </a:rPr>
              <a:t> </a:t>
            </a:r>
            <a:r>
              <a:rPr sz="1100" i="0">
                <a:solidFill>
                  <a:srgbClr val="E8EDF2"/>
                </a:solidFill>
                <a:latin typeface="Consolas"/>
              </a:rPr>
              <a:t>states</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assert</a:t>
            </a:r>
            <a:r>
              <a:rPr sz="1100" i="0">
                <a:solidFill>
                  <a:srgbClr val="E8EDF2"/>
                </a:solidFill>
                <a:latin typeface="Consolas"/>
              </a:rPr>
              <a:t> </a:t>
            </a:r>
            <a:r>
              <a:rPr sz="1100" i="0">
                <a:solidFill>
                  <a:srgbClr val="E8EDF2"/>
                </a:solidFill>
                <a:latin typeface="Consolas"/>
              </a:rPr>
              <a:t>results</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A* max of the two</a:t>
            </a:r>
            <a:r>
              <a:rPr sz="1100" i="0">
                <a:solidFill>
                  <a:srgbClr val="7DCEA0"/>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F7DC6F"/>
                </a:solidFill>
                <a:latin typeface="Consolas"/>
              </a:rPr>
              <a:t>2</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&lt;</a:t>
            </a:r>
            <a:r>
              <a:rPr sz="1100" i="0">
                <a:solidFill>
                  <a:srgbClr val="AEB6BF"/>
                </a:solidFill>
                <a:latin typeface="Consolas"/>
              </a:rPr>
              <a:t>=</a:t>
            </a:r>
            <a:r>
              <a:rPr sz="1100" i="0">
                <a:solidFill>
                  <a:srgbClr val="E8EDF2"/>
                </a:solidFill>
                <a:latin typeface="Consolas"/>
              </a:rPr>
              <a:t> </a:t>
            </a:r>
            <a:r>
              <a:rPr sz="1100" i="0">
                <a:solidFill>
                  <a:srgbClr val="C39BD3"/>
                </a:solidFill>
                <a:latin typeface="Consolas"/>
              </a:rPr>
              <a:t>min</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results</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A* critical path</a:t>
            </a:r>
            <a:r>
              <a:rPr sz="1100" i="0">
                <a:solidFill>
                  <a:srgbClr val="7DCEA0"/>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F7DC6F"/>
                </a:solidFill>
                <a:latin typeface="Consolas"/>
              </a:rPr>
              <a:t>2</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results</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A* mandatory work</a:t>
            </a:r>
            <a:r>
              <a:rPr sz="1100" i="0">
                <a:solidFill>
                  <a:srgbClr val="7DCEA0"/>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F7DC6F"/>
                </a:solidFill>
                <a:latin typeface="Consolas"/>
              </a:rPr>
              <a:t>2</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ex</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C39BD3"/>
                </a:solidFill>
                <a:latin typeface="Consolas"/>
              </a:rPr>
              <a:t>min</a:t>
            </a:r>
            <a:r>
              <a:rPr sz="1100" i="0">
                <a:solidFill>
                  <a:srgbClr val="AEB6BF"/>
                </a:solidFill>
                <a:latin typeface="Consolas"/>
              </a:rPr>
              <a:t>(</a:t>
            </a:r>
            <a:r>
              <a:rPr sz="1100" i="0">
                <a:solidFill>
                  <a:srgbClr val="E8EDF2"/>
                </a:solidFill>
                <a:latin typeface="Consolas"/>
              </a:rPr>
              <a:t>chain_bigger</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key</a:t>
            </a:r>
            <a:r>
              <a:rPr sz="1100" i="0">
                <a:solidFill>
                  <a:srgbClr val="AEB6BF"/>
                </a:solidFill>
                <a:latin typeface="Consolas"/>
              </a:rPr>
              <a:t>=</a:t>
            </a:r>
            <a:r>
              <a:rPr sz="1100" i="0">
                <a:solidFill>
                  <a:srgbClr val="C39BD3"/>
                </a:solidFill>
                <a:latin typeface="Consolas"/>
              </a:rPr>
              <a:t>len</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C39BD3"/>
                </a:solidFill>
                <a:latin typeface="Consolas"/>
              </a:rPr>
              <a:t>print</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  e.g. </a:t>
            </a:r>
            <a:r>
              <a:rPr sz="1100" i="0">
                <a:solidFill>
                  <a:srgbClr val="7DCEA0"/>
                </a:solidFill>
                <a:latin typeface="Consolas"/>
              </a:rPr>
              <a:t>%s</a:t>
            </a:r>
            <a:r>
              <a:rPr sz="1100" i="0">
                <a:solidFill>
                  <a:srgbClr val="7DCEA0"/>
                </a:solidFill>
                <a:latin typeface="Consolas"/>
              </a:rPr>
              <a:t>: mandatory=</a:t>
            </a:r>
            <a:r>
              <a:rPr sz="1100" i="0">
                <a:solidFill>
                  <a:srgbClr val="7DCEA0"/>
                </a:solidFill>
                <a:latin typeface="Consolas"/>
              </a:rPr>
              <a:t>%d</a:t>
            </a:r>
            <a:r>
              <a:rPr sz="1100" i="0">
                <a:solidFill>
                  <a:srgbClr val="7DCEA0"/>
                </a:solidFill>
                <a:latin typeface="Consolas"/>
              </a:rPr>
              <a:t>, critical path=</a:t>
            </a:r>
            <a:r>
              <a:rPr sz="1100" i="0">
                <a:solidFill>
                  <a:srgbClr val="7DCEA0"/>
                </a:solidFill>
                <a:latin typeface="Consolas"/>
              </a:rPr>
              <a:t>%d</a:t>
            </a:r>
            <a:r>
              <a:rPr sz="1100" i="0">
                <a:solidFill>
                  <a:srgbClr val="7DCEA0"/>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 </a:t>
            </a:r>
            <a:r>
              <a:rPr sz="1100" i="0">
                <a:solidFill>
                  <a:srgbClr val="7DCEA0"/>
                </a:solidFill>
                <a:latin typeface="Consolas"/>
              </a:rPr>
              <a:t>"</a:t>
            </a:r>
            <a:r>
              <a:rPr sz="1100" i="0">
                <a:solidFill>
                  <a:srgbClr val="AEB6BF"/>
                </a:solidFill>
                <a:latin typeface="Consolas"/>
              </a:rPr>
              <a:t>.</a:t>
            </a:r>
            <a:r>
              <a:rPr sz="1100" i="0">
                <a:solidFill>
                  <a:srgbClr val="E8EDF2"/>
                </a:solidFill>
                <a:latin typeface="Consolas"/>
              </a:rPr>
              <a:t>join</a:t>
            </a:r>
            <a:r>
              <a:rPr sz="1100" i="0">
                <a:solidFill>
                  <a:srgbClr val="AEB6BF"/>
                </a:solidFill>
                <a:latin typeface="Consolas"/>
              </a:rPr>
              <a:t>(</a:t>
            </a:r>
            <a:r>
              <a:rPr sz="1100" i="0">
                <a:solidFill>
                  <a:srgbClr val="C39BD3"/>
                </a:solidFill>
                <a:latin typeface="Consolas"/>
              </a:rPr>
              <a:t>sorted</a:t>
            </a:r>
            <a:r>
              <a:rPr sz="1100" i="0">
                <a:solidFill>
                  <a:srgbClr val="AEB6BF"/>
                </a:solidFill>
                <a:latin typeface="Consolas"/>
              </a:rPr>
              <a:t>(</a:t>
            </a:r>
            <a:r>
              <a:rPr sz="1100" i="0">
                <a:solidFill>
                  <a:srgbClr val="E8EDF2"/>
                </a:solidFill>
                <a:latin typeface="Consolas"/>
              </a:rPr>
              <a:t>ex</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h_mandatory</a:t>
            </a:r>
            <a:r>
              <a:rPr sz="1100" i="0">
                <a:solidFill>
                  <a:srgbClr val="AEB6BF"/>
                </a:solidFill>
                <a:latin typeface="Consolas"/>
              </a:rPr>
              <a:t>(</a:t>
            </a:r>
            <a:r>
              <a:rPr sz="1100" i="0">
                <a:solidFill>
                  <a:srgbClr val="E8EDF2"/>
                </a:solidFill>
                <a:latin typeface="Consolas"/>
              </a:rPr>
              <a:t>ex</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h_chain</a:t>
            </a:r>
            <a:r>
              <a:rPr sz="1100" i="0">
                <a:solidFill>
                  <a:srgbClr val="AEB6BF"/>
                </a:solidFill>
                <a:latin typeface="Consolas"/>
              </a:rPr>
              <a:t>(</a:t>
            </a:r>
            <a:r>
              <a:rPr sz="1100" i="0">
                <a:solidFill>
                  <a:srgbClr val="E8EDF2"/>
                </a:solidFill>
                <a:latin typeface="Consolas"/>
              </a:rPr>
              <a:t>ex</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p>
        </p:txBody>
      </p:sp>
      <p:sp>
        <p:nvSpPr>
          <p:cNvPr id="15" name="!!code-num"/>
          <p:cNvSpPr txBox="1"/>
          <p:nvPr/>
        </p:nvSpPr>
        <p:spPr>
          <a:xfrm>
            <a:off x="768096" y="2523744"/>
            <a:ext cx="393192" cy="3462527"/>
          </a:xfrm>
          <a:prstGeom prst="rect">
            <a:avLst/>
          </a:prstGeom>
          <a:noFill/>
        </p:spPr>
        <p:txBody>
          <a:bodyPr wrap="none" anchor="t" lIns="0" rIns="0" tIns="0" bIns="0">
            <a:noAutofit/>
          </a:bodyPr>
          <a:lstStyle/>
          <a:p>
            <a:pPr algn="r">
              <a:lnSpc>
                <a:spcPct val="100000"/>
              </a:lnSpc>
            </a:pPr>
            <a:r>
              <a:rPr sz="1100">
                <a:solidFill>
                  <a:srgbClr val="4F5D6A"/>
                </a:solidFill>
                <a:latin typeface="Consolas"/>
              </a:rPr>
              <a:t>194</a:t>
            </a:r>
          </a:p>
          <a:p>
            <a:pPr algn="r">
              <a:lnSpc>
                <a:spcPct val="100000"/>
              </a:lnSpc>
            </a:pPr>
            <a:r>
              <a:rPr sz="1100">
                <a:solidFill>
                  <a:srgbClr val="4F5D6A"/>
                </a:solidFill>
                <a:latin typeface="Consolas"/>
              </a:rPr>
              <a:t>195</a:t>
            </a:r>
          </a:p>
          <a:p>
            <a:pPr algn="r">
              <a:lnSpc>
                <a:spcPct val="100000"/>
              </a:lnSpc>
            </a:pPr>
            <a:r>
              <a:rPr sz="1100">
                <a:solidFill>
                  <a:srgbClr val="4F5D6A"/>
                </a:solidFill>
                <a:latin typeface="Consolas"/>
              </a:rPr>
              <a:t>196</a:t>
            </a:r>
          </a:p>
          <a:p>
            <a:pPr algn="r">
              <a:lnSpc>
                <a:spcPct val="100000"/>
              </a:lnSpc>
            </a:pPr>
            <a:r>
              <a:rPr sz="1100">
                <a:solidFill>
                  <a:srgbClr val="4F5D6A"/>
                </a:solidFill>
                <a:latin typeface="Consolas"/>
              </a:rPr>
              <a:t>197</a:t>
            </a:r>
          </a:p>
          <a:p>
            <a:pPr algn="r">
              <a:lnSpc>
                <a:spcPct val="100000"/>
              </a:lnSpc>
            </a:pPr>
            <a:r>
              <a:rPr sz="1100">
                <a:solidFill>
                  <a:srgbClr val="4F5D6A"/>
                </a:solidFill>
                <a:latin typeface="Consolas"/>
              </a:rPr>
              <a:t>198</a:t>
            </a:r>
          </a:p>
          <a:p>
            <a:pPr algn="r">
              <a:lnSpc>
                <a:spcPct val="100000"/>
              </a:lnSpc>
            </a:pPr>
            <a:r>
              <a:rPr sz="1100">
                <a:solidFill>
                  <a:srgbClr val="4F5D6A"/>
                </a:solidFill>
                <a:latin typeface="Consolas"/>
              </a:rPr>
              <a:t>199</a:t>
            </a:r>
          </a:p>
          <a:p>
            <a:pPr algn="r">
              <a:lnSpc>
                <a:spcPct val="100000"/>
              </a:lnSpc>
            </a:pPr>
            <a:r>
              <a:rPr sz="1100">
                <a:solidFill>
                  <a:srgbClr val="4F5D6A"/>
                </a:solidFill>
                <a:latin typeface="Consolas"/>
              </a:rPr>
              <a:t>200</a:t>
            </a:r>
          </a:p>
          <a:p>
            <a:pPr algn="r">
              <a:lnSpc>
                <a:spcPct val="100000"/>
              </a:lnSpc>
            </a:pPr>
            <a:r>
              <a:rPr sz="1100">
                <a:solidFill>
                  <a:srgbClr val="4F5D6A"/>
                </a:solidFill>
                <a:latin typeface="Consolas"/>
              </a:rPr>
              <a:t>201</a:t>
            </a:r>
          </a:p>
          <a:p>
            <a:pPr algn="r">
              <a:lnSpc>
                <a:spcPct val="100000"/>
              </a:lnSpc>
            </a:pPr>
            <a:r>
              <a:rPr sz="1100">
                <a:solidFill>
                  <a:srgbClr val="4F5D6A"/>
                </a:solidFill>
                <a:latin typeface="Consolas"/>
              </a:rPr>
              <a:t>202</a:t>
            </a:r>
          </a:p>
          <a:p>
            <a:pPr algn="r">
              <a:lnSpc>
                <a:spcPct val="100000"/>
              </a:lnSpc>
            </a:pPr>
            <a:r>
              <a:rPr sz="1100">
                <a:solidFill>
                  <a:srgbClr val="4F5D6A"/>
                </a:solidFill>
                <a:latin typeface="Consolas"/>
              </a:rPr>
              <a:t>203</a:t>
            </a:r>
          </a:p>
          <a:p>
            <a:pPr algn="r">
              <a:lnSpc>
                <a:spcPct val="100000"/>
              </a:lnSpc>
            </a:pPr>
            <a:r>
              <a:rPr sz="1100">
                <a:solidFill>
                  <a:srgbClr val="4F5D6A"/>
                </a:solidFill>
                <a:latin typeface="Consolas"/>
              </a:rPr>
              <a:t>204</a:t>
            </a:r>
          </a:p>
          <a:p>
            <a:pPr algn="r">
              <a:lnSpc>
                <a:spcPct val="100000"/>
              </a:lnSpc>
            </a:pPr>
            <a:r>
              <a:rPr sz="1100">
                <a:solidFill>
                  <a:srgbClr val="4F5D6A"/>
                </a:solidFill>
                <a:latin typeface="Consolas"/>
              </a:rPr>
              <a:t>205</a:t>
            </a:r>
          </a:p>
          <a:p>
            <a:pPr algn="r">
              <a:lnSpc>
                <a:spcPct val="100000"/>
              </a:lnSpc>
            </a:pPr>
            <a:r>
              <a:rPr sz="1100">
                <a:solidFill>
                  <a:srgbClr val="4F5D6A"/>
                </a:solidFill>
                <a:latin typeface="Consolas"/>
              </a:rPr>
              <a:t>206</a:t>
            </a:r>
          </a:p>
          <a:p>
            <a:pPr algn="r">
              <a:lnSpc>
                <a:spcPct val="100000"/>
              </a:lnSpc>
            </a:pPr>
            <a:r>
              <a:rPr sz="1100">
                <a:solidFill>
                  <a:srgbClr val="4F5D6A"/>
                </a:solidFill>
                <a:latin typeface="Consolas"/>
              </a:rPr>
              <a:t>207</a:t>
            </a:r>
          </a:p>
          <a:p>
            <a:pPr algn="r">
              <a:lnSpc>
                <a:spcPct val="100000"/>
              </a:lnSpc>
            </a:pPr>
            <a:r>
              <a:rPr sz="1100">
                <a:solidFill>
                  <a:srgbClr val="4F5D6A"/>
                </a:solidFill>
                <a:latin typeface="Consolas"/>
              </a:rPr>
              <a:t>208</a:t>
            </a:r>
          </a:p>
          <a:p>
            <a:pPr algn="r">
              <a:lnSpc>
                <a:spcPct val="100000"/>
              </a:lnSpc>
            </a:pPr>
            <a:r>
              <a:rPr sz="1100">
                <a:solidFill>
                  <a:srgbClr val="4F5D6A"/>
                </a:solidFill>
                <a:latin typeface="Consolas"/>
              </a:rPr>
              <a:t>209</a:t>
            </a:r>
          </a:p>
          <a:p>
            <a:pPr algn="r">
              <a:lnSpc>
                <a:spcPct val="100000"/>
              </a:lnSpc>
            </a:pPr>
            <a:r>
              <a:rPr sz="1100">
                <a:solidFill>
                  <a:srgbClr val="4F5D6A"/>
                </a:solidFill>
                <a:latin typeface="Consolas"/>
              </a:rPr>
              <a:t>210</a:t>
            </a:r>
          </a:p>
          <a:p>
            <a:pPr algn="r">
              <a:lnSpc>
                <a:spcPct val="100000"/>
              </a:lnSpc>
            </a:pPr>
            <a:r>
              <a:rPr sz="1100">
                <a:solidFill>
                  <a:srgbClr val="4F5D6A"/>
                </a:solidFill>
                <a:latin typeface="Consolas"/>
              </a:rPr>
              <a:t>211</a:t>
            </a:r>
          </a:p>
          <a:p>
            <a:pPr algn="r">
              <a:lnSpc>
                <a:spcPct val="100000"/>
              </a:lnSpc>
            </a:pPr>
            <a:r>
              <a:rPr sz="1100">
                <a:solidFill>
                  <a:srgbClr val="4F5D6A"/>
                </a:solidFill>
                <a:latin typeface="Consolas"/>
              </a:rPr>
              <a:t>212</a:t>
            </a:r>
          </a:p>
          <a:p>
            <a:pPr algn="r">
              <a:lnSpc>
                <a:spcPct val="100000"/>
              </a:lnSpc>
            </a:pPr>
            <a:r>
              <a:rPr sz="1100">
                <a:solidFill>
                  <a:srgbClr val="4F5D6A"/>
                </a:solidFill>
                <a:latin typeface="Consolas"/>
              </a:rPr>
              <a:t>213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5356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Over Sprint States, Two Heuristics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17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FCE8C356-81A5-4759-A138-F4DB4A0F8EFE}" type="slidenum">
              <a:rPr lang="en-GB" sz="1000">
                <a:solidFill>
                  <a:srgbClr val="8795A1"/>
                </a:solidFill>
                <a:latin typeface="Segoe UI"/>
              </a:rPr>
              <a:t>38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Best-first search; the priority decides the algorithm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127504"/>
          </a:xfrm>
          <a:prstGeom prst="roundRect">
            <a:avLst>
              <a:gd name="adj" fmla="val 429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code/ch05_over_sprint_states_two.py</a:t>
            </a:r>
          </a:p>
        </p:txBody>
      </p:sp>
      <p:sp>
        <p:nvSpPr>
          <p:cNvPr id="14" name="!!code-text" descr="# 4. greedy with the mandatory heuristic is NOT optimal assert results[&quot;greedy mandatory work&quot;][0] &gt; opt print() print(&quot;greedy with the mandatory heuristic returns %d, not %d&quot; % (results[&quot;greedy mandatory work&quot;][0], opt))"/>
          <p:cNvSpPr txBox="1"/>
          <p:nvPr/>
        </p:nvSpPr>
        <p:spPr>
          <a:xfrm>
            <a:off x="1362456" y="2523744"/>
            <a:ext cx="9987991" cy="1633728"/>
          </a:xfrm>
          <a:prstGeom prst="rect">
            <a:avLst/>
          </a:prstGeom>
          <a:noFill/>
        </p:spPr>
        <p:txBody>
          <a:bodyPr wrap="none" anchor="t" lIns="0" rIns="0" tIns="0" bIns="0">
            <a:noAutofit/>
          </a:bodyPr>
          <a:lstStyle/>
          <a:p>
            <a:pPr>
              <a:lnSpc>
                <a:spcPct val="100000"/>
              </a:lnSpc>
              <a:spcAft>
                <a:spcPts val="0"/>
              </a:spcAft>
            </a:pPr>
            <a:r>
              <a:rPr sz="2000" i="0">
                <a:solidFill>
                  <a:srgbClr val="E8EDF2"/>
                </a:solidFill>
                <a:latin typeface="Consolas"/>
              </a:rPr>
              <a:t>    </a:t>
            </a:r>
            <a:r>
              <a:rPr sz="2000" i="1">
                <a:solidFill>
                  <a:srgbClr val="8795A1"/>
                </a:solidFill>
                <a:latin typeface="Consolas"/>
              </a:rPr>
              <a:t># 4. greedy with the mandatory heuristic is NOT optimal</a:t>
            </a:r>
          </a:p>
          <a:p>
            <a:pPr>
              <a:lnSpc>
                <a:spcPct val="100000"/>
              </a:lnSpc>
              <a:spcAft>
                <a:spcPts val="0"/>
              </a:spcAft>
            </a:pPr>
            <a:r>
              <a:rPr sz="2000" i="0">
                <a:solidFill>
                  <a:srgbClr val="E8EDF2"/>
                </a:solidFill>
                <a:latin typeface="Consolas"/>
              </a:rPr>
              <a:t>    </a:t>
            </a:r>
            <a:r>
              <a:rPr sz="2000" i="0">
                <a:solidFill>
                  <a:srgbClr val="5DADE2"/>
                </a:solidFill>
                <a:latin typeface="Consolas"/>
              </a:rPr>
              <a:t>assert</a:t>
            </a:r>
            <a:r>
              <a:rPr sz="2000" i="0">
                <a:solidFill>
                  <a:srgbClr val="E8EDF2"/>
                </a:solidFill>
                <a:latin typeface="Consolas"/>
              </a:rPr>
              <a:t> </a:t>
            </a:r>
            <a:r>
              <a:rPr sz="2000" i="0">
                <a:solidFill>
                  <a:srgbClr val="E8EDF2"/>
                </a:solidFill>
                <a:latin typeface="Consolas"/>
              </a:rPr>
              <a:t>results</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greedy mandatory work</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F7DC6F"/>
                </a:solidFill>
                <a:latin typeface="Consolas"/>
              </a:rPr>
              <a:t>0</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&gt;</a:t>
            </a:r>
            <a:r>
              <a:rPr sz="2000" i="0">
                <a:solidFill>
                  <a:srgbClr val="E8EDF2"/>
                </a:solidFill>
                <a:latin typeface="Consolas"/>
              </a:rPr>
              <a:t> </a:t>
            </a:r>
            <a:r>
              <a:rPr sz="2000" i="0">
                <a:solidFill>
                  <a:srgbClr val="E8EDF2"/>
                </a:solidFill>
                <a:latin typeface="Consolas"/>
              </a:rPr>
              <a:t>opt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greedy with the mandatory heuristic returns </a:t>
            </a:r>
            <a:r>
              <a:rPr sz="2000" i="0">
                <a:solidFill>
                  <a:srgbClr val="7DCEA0"/>
                </a:solidFill>
                <a:latin typeface="Consolas"/>
              </a:rPr>
              <a:t>%d</a:t>
            </a:r>
            <a:r>
              <a:rPr sz="2000" i="0">
                <a:solidFill>
                  <a:srgbClr val="7DCEA0"/>
                </a:solidFill>
                <a:latin typeface="Consolas"/>
              </a:rPr>
              <a:t>, not </a:t>
            </a:r>
            <a:r>
              <a:rPr sz="2000" i="0">
                <a:solidFill>
                  <a:srgbClr val="7DCEA0"/>
                </a:solidFill>
                <a:latin typeface="Consolas"/>
              </a:rPr>
              <a:t>%d</a:t>
            </a:r>
            <a:r>
              <a:rPr sz="2000" i="0">
                <a:solidFill>
                  <a:srgbClr val="7DCEA0"/>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results</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greedy mandatory work</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F7DC6F"/>
                </a:solidFill>
                <a:latin typeface="Consolas"/>
              </a:rPr>
              <a:t>0</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opt</a:t>
            </a:r>
            <a:r>
              <a:rPr sz="2000" i="0">
                <a:solidFill>
                  <a:srgbClr val="AEB6BF"/>
                </a:solidFill>
                <a:latin typeface="Consolas"/>
              </a:rPr>
              <a:t>)</a:t>
            </a:r>
            <a:r>
              <a:rPr sz="2000" i="0">
                <a:solidFill>
                  <a:srgbClr val="AEB6BF"/>
                </a:solidFill>
                <a:latin typeface="Consolas"/>
              </a:rPr>
              <a:t>)</a:t>
            </a:r>
          </a:p>
        </p:txBody>
      </p:sp>
      <p:sp>
        <p:nvSpPr>
          <p:cNvPr id="15" name="!!code-num"/>
          <p:cNvSpPr txBox="1"/>
          <p:nvPr/>
        </p:nvSpPr>
        <p:spPr>
          <a:xfrm>
            <a:off x="768096" y="2523744"/>
            <a:ext cx="393192" cy="16337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215</a:t>
            </a:r>
          </a:p>
          <a:p>
            <a:pPr algn="r">
              <a:lnSpc>
                <a:spcPct val="100000"/>
              </a:lnSpc>
            </a:pPr>
            <a:r>
              <a:rPr sz="2000">
                <a:solidFill>
                  <a:srgbClr val="4F5D6A"/>
                </a:solidFill>
                <a:latin typeface="Consolas"/>
              </a:rPr>
              <a:t>216</a:t>
            </a:r>
          </a:p>
          <a:p>
            <a:pPr algn="r">
              <a:lnSpc>
                <a:spcPct val="100000"/>
              </a:lnSpc>
            </a:pPr>
            <a:r>
              <a:rPr sz="2000">
                <a:solidFill>
                  <a:srgbClr val="4F5D6A"/>
                </a:solidFill>
                <a:latin typeface="Consolas"/>
              </a:rPr>
              <a:t>217</a:t>
            </a:r>
          </a:p>
          <a:p>
            <a:pPr algn="r">
              <a:lnSpc>
                <a:spcPct val="100000"/>
              </a:lnSpc>
            </a:pPr>
            <a:r>
              <a:rPr sz="2000">
                <a:solidFill>
                  <a:srgbClr val="4F5D6A"/>
                </a:solidFill>
                <a:latin typeface="Consolas"/>
              </a:rPr>
              <a:t>218</a:t>
            </a:r>
          </a:p>
          <a:p>
            <a:pPr algn="r">
              <a:lnSpc>
                <a:spcPct val="100000"/>
              </a:lnSpc>
            </a:pPr>
            <a:r>
              <a:rPr sz="2000">
                <a:solidFill>
                  <a:srgbClr val="4F5D6A"/>
                </a:solidFill>
                <a:latin typeface="Consolas"/>
              </a:rPr>
              <a:t>219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7934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Over Sprint States, Two Heuristics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18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2BE44E0D-6B57-43CE-9330-508B9A41D2A3}" type="slidenum">
              <a:rPr lang="en-GB" sz="1000">
                <a:solidFill>
                  <a:srgbClr val="8795A1"/>
                </a:solidFill>
                <a:latin typeface="Segoe UI"/>
              </a:rPr>
              <a:t>39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Best-first search; the priority decides the algorithm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56303"/>
          </a:xfrm>
          <a:prstGeom prst="roundRect">
            <a:avLst>
              <a:gd name="adj" fmla="val 23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code/ch05_over_sprint_states_two.py</a:t>
            </a:r>
          </a:p>
        </p:txBody>
      </p:sp>
      <p:sp>
        <p:nvSpPr>
          <p:cNvPr id="14" name="!!code-text" descr="# 5. all three heuristics are admissible on every reachable state bad = [] for s in states: if GOAL in s: continue true = cheapest_from(s) if true is None: continue for nm, h in ((&quot;mandatory&quot;, h_mandatory), (&quot;chain&quot;, h_chain), (&quot;max&quot;, h_max)): if h(s) &gt; true: bad.append((nm, sorted(s), h(s), true)) print(&quot;admissibility violations:&quot;, len(bad)) assert not bad print() print(&quot;A* kept the guarantee and did %d%% less work than&quot; % round(100 * (ucs_exp - results[&quot;A* mandatory work&quot;][2]) / ucs_exp)) print(&quot;uniform-cost search. Greedy did a quarter of the work and&quot;) print(&quot;got the answer wrong.&quot;)"/>
          <p:cNvSpPr txBox="1"/>
          <p:nvPr/>
        </p:nvSpPr>
        <p:spPr>
          <a:xfrm>
            <a:off x="1362456" y="2523744"/>
            <a:ext cx="9987991" cy="3462527"/>
          </a:xfrm>
          <a:prstGeom prst="rect">
            <a:avLst/>
          </a:prstGeom>
          <a:noFill/>
        </p:spPr>
        <p:txBody>
          <a:bodyPr wrap="none" anchor="t" lIns="0" rIns="0" tIns="0" bIns="0">
            <a:noAutofit/>
          </a:bodyPr>
          <a:lstStyle/>
          <a:p>
            <a:pPr>
              <a:lnSpc>
                <a:spcPct val="100000"/>
              </a:lnSpc>
              <a:spcAft>
                <a:spcPts val="0"/>
              </a:spcAft>
            </a:pPr>
            <a:r>
              <a:rPr sz="1100" i="0">
                <a:solidFill>
                  <a:srgbClr val="E8EDF2"/>
                </a:solidFill>
                <a:latin typeface="Consolas"/>
              </a:rPr>
              <a:t>    </a:t>
            </a:r>
            <a:r>
              <a:rPr sz="1100" i="1">
                <a:solidFill>
                  <a:srgbClr val="8795A1"/>
                </a:solidFill>
                <a:latin typeface="Consolas"/>
              </a:rPr>
              <a:t># 5. all three heuristics are admissible on every reachable state</a:t>
            </a:r>
          </a:p>
          <a:p>
            <a:pPr>
              <a:lnSpc>
                <a:spcPct val="100000"/>
              </a:lnSpc>
              <a:spcAft>
                <a:spcPts val="0"/>
              </a:spcAft>
            </a:pPr>
            <a:r>
              <a:rPr sz="1100" i="0">
                <a:solidFill>
                  <a:srgbClr val="E8EDF2"/>
                </a:solidFill>
                <a:latin typeface="Consolas"/>
              </a:rPr>
              <a:t>    </a:t>
            </a:r>
            <a:r>
              <a:rPr sz="1100" i="0">
                <a:solidFill>
                  <a:srgbClr val="E8EDF2"/>
                </a:solidFill>
                <a:latin typeface="Consolas"/>
              </a:rPr>
              <a:t>bad</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for</a:t>
            </a:r>
            <a:r>
              <a:rPr sz="1100" i="0">
                <a:solidFill>
                  <a:srgbClr val="E8EDF2"/>
                </a:solidFill>
                <a:latin typeface="Consolas"/>
              </a:rPr>
              <a:t> </a:t>
            </a:r>
            <a:r>
              <a:rPr sz="1100" i="0">
                <a:solidFill>
                  <a:srgbClr val="E8EDF2"/>
                </a:solidFill>
                <a:latin typeface="Consolas"/>
              </a:rPr>
              <a:t>s</a:t>
            </a:r>
            <a:r>
              <a:rPr sz="1100" i="0">
                <a:solidFill>
                  <a:srgbClr val="E8EDF2"/>
                </a:solidFill>
                <a:latin typeface="Consolas"/>
              </a:rPr>
              <a:t> </a:t>
            </a:r>
            <a:r>
              <a:rPr sz="1100" i="0">
                <a:solidFill>
                  <a:srgbClr val="AEB6BF"/>
                </a:solidFill>
                <a:latin typeface="Consolas"/>
              </a:rPr>
              <a:t>in</a:t>
            </a:r>
            <a:r>
              <a:rPr sz="1100" i="0">
                <a:solidFill>
                  <a:srgbClr val="E8EDF2"/>
                </a:solidFill>
                <a:latin typeface="Consolas"/>
              </a:rPr>
              <a:t> </a:t>
            </a:r>
            <a:r>
              <a:rPr sz="1100" i="0">
                <a:solidFill>
                  <a:srgbClr val="E8EDF2"/>
                </a:solidFill>
                <a:latin typeface="Consolas"/>
              </a:rPr>
              <a:t>states</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if</a:t>
            </a:r>
            <a:r>
              <a:rPr sz="1100" i="0">
                <a:solidFill>
                  <a:srgbClr val="E8EDF2"/>
                </a:solidFill>
                <a:latin typeface="Consolas"/>
              </a:rPr>
              <a:t> </a:t>
            </a:r>
            <a:r>
              <a:rPr sz="1100" i="0">
                <a:solidFill>
                  <a:srgbClr val="E8EDF2"/>
                </a:solidFill>
                <a:latin typeface="Consolas"/>
              </a:rPr>
              <a:t>GOAL</a:t>
            </a:r>
            <a:r>
              <a:rPr sz="1100" i="0">
                <a:solidFill>
                  <a:srgbClr val="E8EDF2"/>
                </a:solidFill>
                <a:latin typeface="Consolas"/>
              </a:rPr>
              <a:t> </a:t>
            </a:r>
            <a:r>
              <a:rPr sz="1100" i="0">
                <a:solidFill>
                  <a:srgbClr val="AEB6BF"/>
                </a:solidFill>
                <a:latin typeface="Consolas"/>
              </a:rPr>
              <a:t>in</a:t>
            </a:r>
            <a:r>
              <a:rPr sz="1100" i="0">
                <a:solidFill>
                  <a:srgbClr val="E8EDF2"/>
                </a:solidFill>
                <a:latin typeface="Consolas"/>
              </a:rPr>
              <a:t> </a:t>
            </a:r>
            <a:r>
              <a:rPr sz="1100" i="0">
                <a:solidFill>
                  <a:srgbClr val="E8EDF2"/>
                </a:solidFill>
                <a:latin typeface="Consolas"/>
              </a:rPr>
              <a:t>s</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continue</a:t>
            </a:r>
          </a:p>
          <a:p>
            <a:pPr>
              <a:lnSpc>
                <a:spcPct val="100000"/>
              </a:lnSpc>
              <a:spcAft>
                <a:spcPts val="0"/>
              </a:spcAft>
            </a:pPr>
            <a:r>
              <a:rPr sz="1100" i="0">
                <a:solidFill>
                  <a:srgbClr val="E8EDF2"/>
                </a:solidFill>
                <a:latin typeface="Consolas"/>
              </a:rPr>
              <a:t>        </a:t>
            </a:r>
            <a:r>
              <a:rPr sz="1100" i="0">
                <a:solidFill>
                  <a:srgbClr val="E8EDF2"/>
                </a:solidFill>
                <a:latin typeface="Consolas"/>
              </a:rPr>
              <a:t>true</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cheapest_from</a:t>
            </a:r>
            <a:r>
              <a:rPr sz="1100" i="0">
                <a:solidFill>
                  <a:srgbClr val="AEB6BF"/>
                </a:solidFill>
                <a:latin typeface="Consolas"/>
              </a:rPr>
              <a:t>(</a:t>
            </a:r>
            <a:r>
              <a:rPr sz="1100" i="0">
                <a:solidFill>
                  <a:srgbClr val="E8EDF2"/>
                </a:solidFill>
                <a:latin typeface="Consolas"/>
              </a:rPr>
              <a:t>s</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if</a:t>
            </a:r>
            <a:r>
              <a:rPr sz="1100" i="0">
                <a:solidFill>
                  <a:srgbClr val="E8EDF2"/>
                </a:solidFill>
                <a:latin typeface="Consolas"/>
              </a:rPr>
              <a:t> </a:t>
            </a:r>
            <a:r>
              <a:rPr sz="1100" i="0">
                <a:solidFill>
                  <a:srgbClr val="E8EDF2"/>
                </a:solidFill>
                <a:latin typeface="Consolas"/>
              </a:rPr>
              <a:t>true</a:t>
            </a:r>
            <a:r>
              <a:rPr sz="1100" i="0">
                <a:solidFill>
                  <a:srgbClr val="E8EDF2"/>
                </a:solidFill>
                <a:latin typeface="Consolas"/>
              </a:rPr>
              <a:t> </a:t>
            </a:r>
            <a:r>
              <a:rPr sz="1100" i="0">
                <a:solidFill>
                  <a:srgbClr val="AEB6BF"/>
                </a:solidFill>
                <a:latin typeface="Consolas"/>
              </a:rPr>
              <a:t>is</a:t>
            </a:r>
            <a:r>
              <a:rPr sz="1100" i="0">
                <a:solidFill>
                  <a:srgbClr val="E8EDF2"/>
                </a:solidFill>
                <a:latin typeface="Consolas"/>
              </a:rPr>
              <a:t> </a:t>
            </a:r>
            <a:r>
              <a:rPr sz="1100" i="0">
                <a:solidFill>
                  <a:srgbClr val="5DADE2"/>
                </a:solidFill>
                <a:latin typeface="Consolas"/>
              </a:rPr>
              <a:t>None</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continue</a:t>
            </a:r>
          </a:p>
          <a:p>
            <a:pPr>
              <a:lnSpc>
                <a:spcPct val="100000"/>
              </a:lnSpc>
              <a:spcAft>
                <a:spcPts val="0"/>
              </a:spcAft>
            </a:pPr>
            <a:r>
              <a:rPr sz="1100" i="0">
                <a:solidFill>
                  <a:srgbClr val="E8EDF2"/>
                </a:solidFill>
                <a:latin typeface="Consolas"/>
              </a:rPr>
              <a:t>        </a:t>
            </a:r>
            <a:r>
              <a:rPr sz="1100" i="0">
                <a:solidFill>
                  <a:srgbClr val="5DADE2"/>
                </a:solidFill>
                <a:latin typeface="Consolas"/>
              </a:rPr>
              <a:t>for</a:t>
            </a:r>
            <a:r>
              <a:rPr sz="1100" i="0">
                <a:solidFill>
                  <a:srgbClr val="E8EDF2"/>
                </a:solidFill>
                <a:latin typeface="Consolas"/>
              </a:rPr>
              <a:t> </a:t>
            </a:r>
            <a:r>
              <a:rPr sz="1100" i="0">
                <a:solidFill>
                  <a:srgbClr val="E8EDF2"/>
                </a:solidFill>
                <a:latin typeface="Consolas"/>
              </a:rPr>
              <a:t>nm</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a:t>
            </a:r>
            <a:r>
              <a:rPr sz="1100" i="0">
                <a:solidFill>
                  <a:srgbClr val="E8EDF2"/>
                </a:solidFill>
                <a:latin typeface="Consolas"/>
              </a:rPr>
              <a:t> </a:t>
            </a:r>
            <a:r>
              <a:rPr sz="1100" i="0">
                <a:solidFill>
                  <a:srgbClr val="AEB6BF"/>
                </a:solidFill>
                <a:latin typeface="Consolas"/>
              </a:rPr>
              <a:t>in</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mandatory</a:t>
            </a:r>
            <a:r>
              <a:rPr sz="1100" i="0">
                <a:solidFill>
                  <a:srgbClr val="7DCEA0"/>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h_mandatory</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chain</a:t>
            </a:r>
            <a:r>
              <a:rPr sz="1100" i="0">
                <a:solidFill>
                  <a:srgbClr val="7DCEA0"/>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h_chain</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max</a:t>
            </a:r>
            <a:r>
              <a:rPr sz="1100" i="0">
                <a:solidFill>
                  <a:srgbClr val="7DCEA0"/>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h_max</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if</a:t>
            </a:r>
            <a:r>
              <a:rPr sz="1100" i="0">
                <a:solidFill>
                  <a:srgbClr val="E8EDF2"/>
                </a:solidFill>
                <a:latin typeface="Consolas"/>
              </a:rPr>
              <a:t> </a:t>
            </a:r>
            <a:r>
              <a:rPr sz="1100" i="0">
                <a:solidFill>
                  <a:srgbClr val="E8EDF2"/>
                </a:solidFill>
                <a:latin typeface="Consolas"/>
              </a:rPr>
              <a:t>h</a:t>
            </a:r>
            <a:r>
              <a:rPr sz="1100" i="0">
                <a:solidFill>
                  <a:srgbClr val="AEB6BF"/>
                </a:solidFill>
                <a:latin typeface="Consolas"/>
              </a:rPr>
              <a:t>(</a:t>
            </a:r>
            <a:r>
              <a:rPr sz="1100" i="0">
                <a:solidFill>
                  <a:srgbClr val="E8EDF2"/>
                </a:solidFill>
                <a:latin typeface="Consolas"/>
              </a:rPr>
              <a:t>s</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&gt;</a:t>
            </a:r>
            <a:r>
              <a:rPr sz="1100" i="0">
                <a:solidFill>
                  <a:srgbClr val="E8EDF2"/>
                </a:solidFill>
                <a:latin typeface="Consolas"/>
              </a:rPr>
              <a:t> </a:t>
            </a:r>
            <a:r>
              <a:rPr sz="1100" i="0">
                <a:solidFill>
                  <a:srgbClr val="E8EDF2"/>
                </a:solidFill>
                <a:latin typeface="Consolas"/>
              </a:rPr>
              <a:t>true</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bad</a:t>
            </a:r>
            <a:r>
              <a:rPr sz="1100" i="0">
                <a:solidFill>
                  <a:srgbClr val="AEB6BF"/>
                </a:solidFill>
                <a:latin typeface="Consolas"/>
              </a:rPr>
              <a:t>.</a:t>
            </a:r>
            <a:r>
              <a:rPr sz="1100" i="0">
                <a:solidFill>
                  <a:srgbClr val="E8EDF2"/>
                </a:solidFill>
                <a:latin typeface="Consolas"/>
              </a:rPr>
              <a:t>append</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nm</a:t>
            </a:r>
            <a:r>
              <a:rPr sz="1100" i="0">
                <a:solidFill>
                  <a:srgbClr val="AEB6BF"/>
                </a:solidFill>
                <a:latin typeface="Consolas"/>
              </a:rPr>
              <a:t>,</a:t>
            </a:r>
            <a:r>
              <a:rPr sz="1100" i="0">
                <a:solidFill>
                  <a:srgbClr val="E8EDF2"/>
                </a:solidFill>
                <a:latin typeface="Consolas"/>
              </a:rPr>
              <a:t> </a:t>
            </a:r>
            <a:r>
              <a:rPr sz="1100" i="0">
                <a:solidFill>
                  <a:srgbClr val="C39BD3"/>
                </a:solidFill>
                <a:latin typeface="Consolas"/>
              </a:rPr>
              <a:t>sorted</a:t>
            </a:r>
            <a:r>
              <a:rPr sz="1100" i="0">
                <a:solidFill>
                  <a:srgbClr val="AEB6BF"/>
                </a:solidFill>
                <a:latin typeface="Consolas"/>
              </a:rPr>
              <a:t>(</a:t>
            </a:r>
            <a:r>
              <a:rPr sz="1100" i="0">
                <a:solidFill>
                  <a:srgbClr val="E8EDF2"/>
                </a:solidFill>
                <a:latin typeface="Consolas"/>
              </a:rPr>
              <a:t>s</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a:t>
            </a:r>
            <a:r>
              <a:rPr sz="1100" i="0">
                <a:solidFill>
                  <a:srgbClr val="AEB6BF"/>
                </a:solidFill>
                <a:latin typeface="Consolas"/>
              </a:rPr>
              <a:t>(</a:t>
            </a:r>
            <a:r>
              <a:rPr sz="1100" i="0">
                <a:solidFill>
                  <a:srgbClr val="E8EDF2"/>
                </a:solidFill>
                <a:latin typeface="Consolas"/>
              </a:rPr>
              <a:t>s</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true</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C39BD3"/>
                </a:solidFill>
                <a:latin typeface="Consolas"/>
              </a:rPr>
              <a:t>print</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admissibility violations:</a:t>
            </a:r>
            <a:r>
              <a:rPr sz="1100" i="0">
                <a:solidFill>
                  <a:srgbClr val="7DCEA0"/>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C39BD3"/>
                </a:solidFill>
                <a:latin typeface="Consolas"/>
              </a:rPr>
              <a:t>len</a:t>
            </a:r>
            <a:r>
              <a:rPr sz="1100" i="0">
                <a:solidFill>
                  <a:srgbClr val="AEB6BF"/>
                </a:solidFill>
                <a:latin typeface="Consolas"/>
              </a:rPr>
              <a:t>(</a:t>
            </a:r>
            <a:r>
              <a:rPr sz="1100" i="0">
                <a:solidFill>
                  <a:srgbClr val="E8EDF2"/>
                </a:solidFill>
                <a:latin typeface="Consolas"/>
              </a:rPr>
              <a:t>bad</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assert</a:t>
            </a:r>
            <a:r>
              <a:rPr sz="1100" i="0">
                <a:solidFill>
                  <a:srgbClr val="E8EDF2"/>
                </a:solidFill>
                <a:latin typeface="Consolas"/>
              </a:rPr>
              <a:t> </a:t>
            </a:r>
            <a:r>
              <a:rPr sz="1100" i="0">
                <a:solidFill>
                  <a:srgbClr val="AEB6BF"/>
                </a:solidFill>
                <a:latin typeface="Consolas"/>
              </a:rPr>
              <a:t>not</a:t>
            </a:r>
            <a:r>
              <a:rPr sz="1100" i="0">
                <a:solidFill>
                  <a:srgbClr val="E8EDF2"/>
                </a:solidFill>
                <a:latin typeface="Consolas"/>
              </a:rPr>
              <a:t> </a:t>
            </a:r>
            <a:r>
              <a:rPr sz="1100" i="0">
                <a:solidFill>
                  <a:srgbClr val="E8EDF2"/>
                </a:solidFill>
                <a:latin typeface="Consolas"/>
              </a:rPr>
              <a:t>bad</a:t>
            </a:r>
          </a:p>
          <a:p>
            <a:pPr>
              <a:lnSpc>
                <a:spcPct val="100000"/>
              </a:lnSpc>
              <a:spcAft>
                <a:spcPts val="0"/>
              </a:spcAft>
            </a:pPr>
            <a:r>
              <a:rPr sz="1100" i="0">
                <a:solidFill>
                  <a:srgbClr val="E8EDF2"/>
                </a:solidFill>
                <a:latin typeface="Consolas"/>
              </a:rPr>
              <a:t>    </a:t>
            </a:r>
            <a:r>
              <a:rPr sz="1100" i="0">
                <a:solidFill>
                  <a:srgbClr val="C39BD3"/>
                </a:solidFill>
                <a:latin typeface="Consolas"/>
              </a:rPr>
              <a:t>print</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C39BD3"/>
                </a:solidFill>
                <a:latin typeface="Consolas"/>
              </a:rPr>
              <a:t>print</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A* kept the guarantee and did </a:t>
            </a:r>
            <a:r>
              <a:rPr sz="1100" i="0">
                <a:solidFill>
                  <a:srgbClr val="7DCEA0"/>
                </a:solidFill>
                <a:latin typeface="Consolas"/>
              </a:rPr>
              <a:t>%d</a:t>
            </a:r>
            <a:r>
              <a:rPr sz="1100" i="0">
                <a:solidFill>
                  <a:srgbClr val="7DCEA0"/>
                </a:solidFill>
                <a:latin typeface="Consolas"/>
              </a:rPr>
              <a:t>%%</a:t>
            </a:r>
            <a:r>
              <a:rPr sz="1100" i="0">
                <a:solidFill>
                  <a:srgbClr val="7DCEA0"/>
                </a:solidFill>
                <a:latin typeface="Consolas"/>
              </a:rPr>
              <a:t> less work than</a:t>
            </a:r>
            <a:r>
              <a:rPr sz="1100" i="0">
                <a:solidFill>
                  <a:srgbClr val="7DCEA0"/>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C39BD3"/>
                </a:solidFill>
                <a:latin typeface="Consolas"/>
              </a:rPr>
              <a:t>round</a:t>
            </a:r>
            <a:r>
              <a:rPr sz="1100" i="0">
                <a:solidFill>
                  <a:srgbClr val="AEB6BF"/>
                </a:solidFill>
                <a:latin typeface="Consolas"/>
              </a:rPr>
              <a:t>(</a:t>
            </a:r>
            <a:r>
              <a:rPr sz="1100" i="0">
                <a:solidFill>
                  <a:srgbClr val="F7DC6F"/>
                </a:solidFill>
                <a:latin typeface="Consolas"/>
              </a:rPr>
              <a:t>100</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ucs_exp</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results</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A* mandatory work</a:t>
            </a:r>
            <a:r>
              <a:rPr sz="1100" i="0">
                <a:solidFill>
                  <a:srgbClr val="7DCEA0"/>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F7DC6F"/>
                </a:solidFill>
                <a:latin typeface="Consolas"/>
              </a:rPr>
              <a:t>2</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ucs_exp</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C39BD3"/>
                </a:solidFill>
                <a:latin typeface="Consolas"/>
              </a:rPr>
              <a:t>print</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uniform-cost search. Greedy did a quarter of the work and</a:t>
            </a:r>
            <a:r>
              <a:rPr sz="1100" i="0">
                <a:solidFill>
                  <a:srgbClr val="7DCEA0"/>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C39BD3"/>
                </a:solidFill>
                <a:latin typeface="Consolas"/>
              </a:rPr>
              <a:t>print</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got the answer wrong.</a:t>
            </a:r>
            <a:r>
              <a:rPr sz="1100" i="0">
                <a:solidFill>
                  <a:srgbClr val="7DCEA0"/>
                </a:solidFill>
                <a:latin typeface="Consolas"/>
              </a:rPr>
              <a:t>"</a:t>
            </a:r>
            <a:r>
              <a:rPr sz="1100" i="0">
                <a:solidFill>
                  <a:srgbClr val="AEB6BF"/>
                </a:solidFill>
                <a:latin typeface="Consolas"/>
              </a:rPr>
              <a:t>)</a:t>
            </a:r>
          </a:p>
        </p:txBody>
      </p:sp>
      <p:sp>
        <p:nvSpPr>
          <p:cNvPr id="15" name="!!code-num"/>
          <p:cNvSpPr txBox="1"/>
          <p:nvPr/>
        </p:nvSpPr>
        <p:spPr>
          <a:xfrm>
            <a:off x="768096" y="2523744"/>
            <a:ext cx="393192" cy="3462527"/>
          </a:xfrm>
          <a:prstGeom prst="rect">
            <a:avLst/>
          </a:prstGeom>
          <a:noFill/>
        </p:spPr>
        <p:txBody>
          <a:bodyPr wrap="none" anchor="t" lIns="0" rIns="0" tIns="0" bIns="0">
            <a:noAutofit/>
          </a:bodyPr>
          <a:lstStyle/>
          <a:p>
            <a:pPr algn="r">
              <a:lnSpc>
                <a:spcPct val="100000"/>
              </a:lnSpc>
            </a:pPr>
            <a:r>
              <a:rPr sz="1100">
                <a:solidFill>
                  <a:srgbClr val="4F5D6A"/>
                </a:solidFill>
                <a:latin typeface="Consolas"/>
              </a:rPr>
              <a:t>221</a:t>
            </a:r>
          </a:p>
          <a:p>
            <a:pPr algn="r">
              <a:lnSpc>
                <a:spcPct val="100000"/>
              </a:lnSpc>
            </a:pPr>
            <a:r>
              <a:rPr sz="1100">
                <a:solidFill>
                  <a:srgbClr val="4F5D6A"/>
                </a:solidFill>
                <a:latin typeface="Consolas"/>
              </a:rPr>
              <a:t>222</a:t>
            </a:r>
          </a:p>
          <a:p>
            <a:pPr algn="r">
              <a:lnSpc>
                <a:spcPct val="100000"/>
              </a:lnSpc>
            </a:pPr>
            <a:r>
              <a:rPr sz="1100">
                <a:solidFill>
                  <a:srgbClr val="4F5D6A"/>
                </a:solidFill>
                <a:latin typeface="Consolas"/>
              </a:rPr>
              <a:t>223</a:t>
            </a:r>
          </a:p>
          <a:p>
            <a:pPr algn="r">
              <a:lnSpc>
                <a:spcPct val="100000"/>
              </a:lnSpc>
            </a:pPr>
            <a:r>
              <a:rPr sz="1100">
                <a:solidFill>
                  <a:srgbClr val="4F5D6A"/>
                </a:solidFill>
                <a:latin typeface="Consolas"/>
              </a:rPr>
              <a:t>224</a:t>
            </a:r>
          </a:p>
          <a:p>
            <a:pPr algn="r">
              <a:lnSpc>
                <a:spcPct val="100000"/>
              </a:lnSpc>
            </a:pPr>
            <a:r>
              <a:rPr sz="1100">
                <a:solidFill>
                  <a:srgbClr val="4F5D6A"/>
                </a:solidFill>
                <a:latin typeface="Consolas"/>
              </a:rPr>
              <a:t>225</a:t>
            </a:r>
          </a:p>
          <a:p>
            <a:pPr algn="r">
              <a:lnSpc>
                <a:spcPct val="100000"/>
              </a:lnSpc>
            </a:pPr>
            <a:r>
              <a:rPr sz="1100">
                <a:solidFill>
                  <a:srgbClr val="4F5D6A"/>
                </a:solidFill>
                <a:latin typeface="Consolas"/>
              </a:rPr>
              <a:t>226</a:t>
            </a:r>
          </a:p>
          <a:p>
            <a:pPr algn="r">
              <a:lnSpc>
                <a:spcPct val="100000"/>
              </a:lnSpc>
            </a:pPr>
            <a:r>
              <a:rPr sz="1100">
                <a:solidFill>
                  <a:srgbClr val="4F5D6A"/>
                </a:solidFill>
                <a:latin typeface="Consolas"/>
              </a:rPr>
              <a:t>227</a:t>
            </a:r>
          </a:p>
          <a:p>
            <a:pPr algn="r">
              <a:lnSpc>
                <a:spcPct val="100000"/>
              </a:lnSpc>
            </a:pPr>
            <a:r>
              <a:rPr sz="1100">
                <a:solidFill>
                  <a:srgbClr val="4F5D6A"/>
                </a:solidFill>
                <a:latin typeface="Consolas"/>
              </a:rPr>
              <a:t>228</a:t>
            </a:r>
          </a:p>
          <a:p>
            <a:pPr algn="r">
              <a:lnSpc>
                <a:spcPct val="100000"/>
              </a:lnSpc>
            </a:pPr>
            <a:r>
              <a:rPr sz="1100">
                <a:solidFill>
                  <a:srgbClr val="4F5D6A"/>
                </a:solidFill>
                <a:latin typeface="Consolas"/>
              </a:rPr>
              <a:t>229</a:t>
            </a:r>
          </a:p>
          <a:p>
            <a:pPr algn="r">
              <a:lnSpc>
                <a:spcPct val="100000"/>
              </a:lnSpc>
            </a:pPr>
            <a:r>
              <a:rPr sz="1100">
                <a:solidFill>
                  <a:srgbClr val="4F5D6A"/>
                </a:solidFill>
                <a:latin typeface="Consolas"/>
              </a:rPr>
              <a:t>230</a:t>
            </a:r>
          </a:p>
          <a:p>
            <a:pPr algn="r">
              <a:lnSpc>
                <a:spcPct val="100000"/>
              </a:lnSpc>
            </a:pPr>
            <a:r>
              <a:rPr sz="1100">
                <a:solidFill>
                  <a:srgbClr val="4F5D6A"/>
                </a:solidFill>
                <a:latin typeface="Consolas"/>
              </a:rPr>
              <a:t>231</a:t>
            </a:r>
          </a:p>
          <a:p>
            <a:pPr algn="r">
              <a:lnSpc>
                <a:spcPct val="100000"/>
              </a:lnSpc>
            </a:pPr>
            <a:r>
              <a:rPr sz="1100">
                <a:solidFill>
                  <a:srgbClr val="4F5D6A"/>
                </a:solidFill>
                <a:latin typeface="Consolas"/>
              </a:rPr>
              <a:t>232</a:t>
            </a:r>
          </a:p>
          <a:p>
            <a:pPr algn="r">
              <a:lnSpc>
                <a:spcPct val="100000"/>
              </a:lnSpc>
            </a:pPr>
            <a:r>
              <a:rPr sz="1100">
                <a:solidFill>
                  <a:srgbClr val="4F5D6A"/>
                </a:solidFill>
                <a:latin typeface="Consolas"/>
              </a:rPr>
              <a:t>233</a:t>
            </a:r>
          </a:p>
          <a:p>
            <a:pPr algn="r">
              <a:lnSpc>
                <a:spcPct val="100000"/>
              </a:lnSpc>
            </a:pPr>
            <a:r>
              <a:rPr sz="1100">
                <a:solidFill>
                  <a:srgbClr val="4F5D6A"/>
                </a:solidFill>
                <a:latin typeface="Consolas"/>
              </a:rPr>
              <a:t>234</a:t>
            </a:r>
          </a:p>
          <a:p>
            <a:pPr algn="r">
              <a:lnSpc>
                <a:spcPct val="100000"/>
              </a:lnSpc>
            </a:pPr>
            <a:r>
              <a:rPr sz="1100">
                <a:solidFill>
                  <a:srgbClr val="4F5D6A"/>
                </a:solidFill>
                <a:latin typeface="Consolas"/>
              </a:rPr>
              <a:t>235</a:t>
            </a:r>
          </a:p>
          <a:p>
            <a:pPr algn="r">
              <a:lnSpc>
                <a:spcPct val="100000"/>
              </a:lnSpc>
            </a:pPr>
            <a:r>
              <a:rPr sz="1100">
                <a:solidFill>
                  <a:srgbClr val="4F5D6A"/>
                </a:solidFill>
                <a:latin typeface="Consolas"/>
              </a:rPr>
              <a:t>236</a:t>
            </a:r>
          </a:p>
          <a:p>
            <a:pPr algn="r">
              <a:lnSpc>
                <a:spcPct val="100000"/>
              </a:lnSpc>
            </a:pPr>
            <a:r>
              <a:rPr sz="1100">
                <a:solidFill>
                  <a:srgbClr val="4F5D6A"/>
                </a:solidFill>
                <a:latin typeface="Consolas"/>
              </a:rPr>
              <a:t>237</a:t>
            </a:r>
          </a:p>
          <a:p>
            <a:pPr algn="r">
              <a:lnSpc>
                <a:spcPct val="100000"/>
              </a:lnSpc>
            </a:pPr>
            <a:r>
              <a:rPr sz="1100">
                <a:solidFill>
                  <a:srgbClr val="4F5D6A"/>
                </a:solidFill>
                <a:latin typeface="Consolas"/>
              </a:rPr>
              <a:t>238</a:t>
            </a:r>
          </a:p>
          <a:p>
            <a:pPr algn="r">
              <a:lnSpc>
                <a:spcPct val="100000"/>
              </a:lnSpc>
            </a:pPr>
            <a:r>
              <a:rPr sz="1100">
                <a:solidFill>
                  <a:srgbClr val="4F5D6A"/>
                </a:solidFill>
                <a:latin typeface="Consolas"/>
              </a:rPr>
              <a:t>239</a:t>
            </a:r>
          </a:p>
          <a:p>
            <a:pPr algn="r">
              <a:lnSpc>
                <a:spcPct val="100000"/>
              </a:lnSpc>
            </a:pPr>
            <a:r>
              <a:rPr sz="1100">
                <a:solidFill>
                  <a:srgbClr val="4F5D6A"/>
                </a:solidFill>
                <a:latin typeface="Consolas"/>
              </a:rPr>
              <a:t>240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80511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47     </a:t>
            </a:r>
            <a:fld id="{D6855EDB-EF9B-4747-A51F-52C880D567E8}" type="slidenum">
              <a:rPr lang="en-GB" sz="1000">
                <a:solidFill>
                  <a:srgbClr val="8795A1"/>
                </a:solidFill>
                <a:latin typeface="Segoe UI"/>
              </a:rPr>
              <a:t>40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admissibility check is the part worth keeping. It is easy to invent a heuristic that is plausible, fast and wrong, and the symptom — a sub-optimal answer on problems whose optimum you do not know — is invisible in production. Checking </a:t>
            </a:r>
            <a:r>
              <a:rPr sz="2300" b="0" i="1">
                <a:solidFill>
                  <a:srgbClr val="1C252B"/>
                </a:solidFill>
                <a:latin typeface="Cambria"/>
              </a:rPr>
              <a:t>h</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 ≤ </a:t>
            </a:r>
            <a:r>
              <a:rPr sz="2300" b="0" i="1">
                <a:solidFill>
                  <a:srgbClr val="1C252B"/>
                </a:solidFill>
                <a:latin typeface="Cambria"/>
              </a:rPr>
              <a:t>h</a:t>
            </a:r>
            <a:r>
              <a:rPr sz="1500" b="0" i="0" baseline="30000">
                <a:solidFill>
                  <a:srgbClr val="1C252B"/>
                </a:solidFill>
                <a:latin typeface="Cambria"/>
              </a:rPr>
              <a:t>∗</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a:t>
            </a:r>
            <a:r>
              <a:rPr sz="2300" b="0" i="0">
                <a:solidFill>
                  <a:srgbClr val="1C252B"/>
                </a:solidFill>
                <a:latin typeface="Segoe UI"/>
              </a:rPr>
              <a:t> exhaustively is only possible on a small instance, which is exactly why you should do it while the instance is still small.</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03088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The mandatory-work heuristic values the root at </a:t>
            </a:r>
            <a:r>
              <a:rPr sz="3400" b="0" i="0">
                <a:solidFill>
                  <a:srgbClr val="FFFFFF"/>
                </a:solidFill>
                <a:latin typeface="Cambria"/>
              </a:rPr>
              <a:t>23</a:t>
            </a:r>
            <a:r>
              <a:rPr sz="3400" b="0" i="0">
                <a:solidFill>
                  <a:srgbClr val="FFFFFF"/>
                </a:solidFill>
                <a:latin typeface="Segoe UI Semibold"/>
              </a:rPr>
              <a:t> and the true optimum is </a:t>
            </a:r>
            <a:r>
              <a:rPr sz="3400" b="0" i="0">
                <a:solidFill>
                  <a:srgbClr val="FFFFFF"/>
                </a:solidFill>
                <a:latin typeface="Cambria"/>
              </a:rPr>
              <a:t>28</a:t>
            </a:r>
            <a:r>
              <a:rPr sz="3400" b="0" i="0">
                <a:solidFill>
                  <a:srgbClr val="FFFFFF"/>
                </a:solidFill>
                <a:latin typeface="Segoe UI Semibold"/>
              </a:rPr>
              <a:t>. Is it admissible? Would a heuristic returning </a:t>
            </a:r>
            <a:r>
              <a:rPr sz="3400" b="0" i="0">
                <a:solidFill>
                  <a:srgbClr val="FFFFFF"/>
                </a:solidFill>
                <a:latin typeface="Cambria"/>
              </a:rPr>
              <a:t>30</a:t>
            </a:r>
            <a:r>
              <a:rPr sz="3400" b="0" i="0">
                <a:solidFill>
                  <a:srgbClr val="FFFFFF"/>
                </a:solidFill>
                <a:latin typeface="Segoe UI Semibold"/>
              </a:rPr>
              <a:t> at the root be admissible, and what would </a:t>
            </a:r>
            <a:r>
              <a:rPr sz="3400" b="0" i="1">
                <a:solidFill>
                  <a:srgbClr val="FFFFFF"/>
                </a:solidFill>
                <a:latin typeface="Cambria"/>
              </a:rPr>
              <a:t>A</a:t>
            </a:r>
            <a:r>
              <a:rPr sz="2250" b="0" i="0" baseline="30000">
                <a:solidFill>
                  <a:srgbClr val="FFFFFF"/>
                </a:solidFill>
                <a:latin typeface="Cambria"/>
              </a:rPr>
              <a:t>∗</a:t>
            </a:r>
            <a:r>
              <a:rPr sz="3400" b="0" i="0">
                <a:solidFill>
                  <a:srgbClr val="FFFFFF"/>
                </a:solidFill>
                <a:latin typeface="Segoe UI Semibold"/>
              </a:rPr>
              <a:t> do with it?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5  ·  Informed Search and Heuristics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53  ·  answers in Appendix D     </a:t>
            </a:r>
            <a:fld id="{0407987D-F08C-4D08-89E0-7F6FFB5F1734}"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The mandatory-work heuristic values the root at </a:t>
            </a:r>
            <a:r>
              <a:rPr sz="2400" b="0" i="0">
                <a:solidFill>
                  <a:srgbClr val="1A5276"/>
                </a:solidFill>
                <a:latin typeface="Cambria"/>
              </a:rPr>
              <a:t>23</a:t>
            </a:r>
            <a:r>
              <a:rPr sz="2400" b="0" i="0">
                <a:solidFill>
                  <a:srgbClr val="1A5276"/>
                </a:solidFill>
                <a:latin typeface="Segoe UI Semibold"/>
              </a:rPr>
              <a:t> and the true optimum is </a:t>
            </a:r>
            <a:r>
              <a:rPr sz="2400" b="0" i="0">
                <a:solidFill>
                  <a:srgbClr val="1A5276"/>
                </a:solidFill>
                <a:latin typeface="Cambria"/>
              </a:rPr>
              <a:t>28</a:t>
            </a:r>
            <a:r>
              <a:rPr sz="2400" b="0" i="0">
                <a:solidFill>
                  <a:srgbClr val="1A5276"/>
                </a:solidFill>
                <a:latin typeface="Segoe UI Semibold"/>
              </a:rPr>
              <a:t>. Is it admissible? Would a heuristic returning </a:t>
            </a:r>
            <a:r>
              <a:rPr sz="2400" b="0" i="0">
                <a:solidFill>
                  <a:srgbClr val="1A5276"/>
                </a:solidFill>
                <a:latin typeface="Cambria"/>
              </a:rPr>
              <a:t>30</a:t>
            </a:r>
            <a:r>
              <a:rPr sz="2400" b="0" i="0">
                <a:solidFill>
                  <a:srgbClr val="1A5276"/>
                </a:solidFill>
                <a:latin typeface="Segoe UI Semibold"/>
              </a:rPr>
              <a:t> at the root be admissible, and what would </a:t>
            </a:r>
            <a:r>
              <a:rPr sz="2400" b="0" i="1">
                <a:solidFill>
                  <a:srgbClr val="1A5276"/>
                </a:solidFill>
                <a:latin typeface="Cambria"/>
              </a:rPr>
              <a:t>A</a:t>
            </a:r>
            <a:r>
              <a:rPr sz="1600" b="0" i="0" baseline="30000">
                <a:solidFill>
                  <a:srgbClr val="1A5276"/>
                </a:solidFill>
                <a:latin typeface="Cambria"/>
              </a:rPr>
              <a:t>∗</a:t>
            </a:r>
            <a:r>
              <a:rPr sz="2400" b="0" i="0">
                <a:solidFill>
                  <a:srgbClr val="1A5276"/>
                </a:solidFill>
                <a:latin typeface="Segoe UI Semibold"/>
              </a:rPr>
              <a:t> do with it?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Yes, it is admissible: </a:t>
            </a:r>
            <a:r>
              <a:rPr sz="2200" b="0" i="0">
                <a:solidFill>
                  <a:srgbClr val="1C252B"/>
                </a:solidFill>
                <a:latin typeface="Cambria"/>
              </a:rPr>
              <a:t>23 ≤ 28</a:t>
            </a:r>
            <a:r>
              <a:rPr sz="2200" b="0" i="0">
                <a:solidFill>
                  <a:srgbClr val="1C252B"/>
                </a:solidFill>
                <a:latin typeface="Segoe UI"/>
              </a:rPr>
              <a:t>, and the lab verifies </a:t>
            </a:r>
            <a:r>
              <a:rPr sz="2200" b="0" i="1">
                <a:solidFill>
                  <a:srgbClr val="1C252B"/>
                </a:solidFill>
                <a:latin typeface="Cambria"/>
              </a:rPr>
              <a:t>h</a:t>
            </a:r>
            <a:r>
              <a:rPr sz="2200" b="0" i="0">
                <a:solidFill>
                  <a:srgbClr val="1C252B"/>
                </a:solidFill>
                <a:latin typeface="Cambria"/>
              </a:rPr>
              <a:t>(</a:t>
            </a:r>
            <a:r>
              <a:rPr sz="2200" b="0" i="1">
                <a:solidFill>
                  <a:srgbClr val="1C252B"/>
                </a:solidFill>
                <a:latin typeface="Cambria"/>
              </a:rPr>
              <a:t>s</a:t>
            </a:r>
            <a:r>
              <a:rPr sz="2200" b="0" i="0">
                <a:solidFill>
                  <a:srgbClr val="1C252B"/>
                </a:solidFill>
                <a:latin typeface="Cambria"/>
              </a:rPr>
              <a:t>) ≤ </a:t>
            </a:r>
            <a:r>
              <a:rPr sz="2200" b="0" i="1">
                <a:solidFill>
                  <a:srgbClr val="1C252B"/>
                </a:solidFill>
                <a:latin typeface="Cambria"/>
              </a:rPr>
              <a:t>h</a:t>
            </a:r>
            <a:r>
              <a:rPr sz="1450" b="0" i="0" baseline="30000">
                <a:solidFill>
                  <a:srgbClr val="1C252B"/>
                </a:solidFill>
                <a:latin typeface="Cambria"/>
              </a:rPr>
              <a:t>∗</a:t>
            </a:r>
            <a:r>
              <a:rPr sz="2200" b="0" i="0">
                <a:solidFill>
                  <a:srgbClr val="1C252B"/>
                </a:solidFill>
                <a:latin typeface="Cambria"/>
              </a:rPr>
              <a:t>(</a:t>
            </a:r>
            <a:r>
              <a:rPr sz="2200" b="0" i="1">
                <a:solidFill>
                  <a:srgbClr val="1C252B"/>
                </a:solidFill>
                <a:latin typeface="Cambria"/>
              </a:rPr>
              <a:t>s</a:t>
            </a:r>
            <a:r>
              <a:rPr sz="2200" b="0" i="0">
                <a:solidFill>
                  <a:srgbClr val="1C252B"/>
                </a:solidFill>
                <a:latin typeface="Cambria"/>
              </a:rPr>
              <a:t>)</a:t>
            </a:r>
            <a:r>
              <a:rPr sz="2200" b="0" i="0">
                <a:solidFill>
                  <a:srgbClr val="1C252B"/>
                </a:solidFill>
                <a:latin typeface="Segoe UI"/>
              </a:rPr>
              <a:t> on all </a:t>
            </a:r>
            <a:r>
              <a:rPr sz="2200" b="0" i="0">
                <a:solidFill>
                  <a:srgbClr val="1C252B"/>
                </a:solidFill>
                <a:latin typeface="Cambria"/>
              </a:rPr>
              <a:t>55</a:t>
            </a:r>
            <a:r>
              <a:rPr sz="2200" b="0" i="0">
                <a:solidFill>
                  <a:srgbClr val="1C252B"/>
                </a:solidFill>
                <a:latin typeface="Segoe UI"/>
              </a:rPr>
              <a:t> reachable states. A heuristic returning </a:t>
            </a:r>
            <a:r>
              <a:rPr sz="2200" b="0" i="0">
                <a:solidFill>
                  <a:srgbClr val="1C252B"/>
                </a:solidFill>
                <a:latin typeface="Cambria"/>
              </a:rPr>
              <a:t>30</a:t>
            </a:r>
            <a:r>
              <a:rPr sz="2200" b="0" i="0">
                <a:solidFill>
                  <a:srgbClr val="1C252B"/>
                </a:solidFill>
                <a:latin typeface="Segoe UI"/>
              </a:rPr>
              <a:t> at the root would </a:t>
            </a:r>
            <a:r>
              <a:rPr sz="2200" b="0" i="1">
                <a:solidFill>
                  <a:srgbClr val="1C252B"/>
                </a:solidFill>
                <a:latin typeface="Segoe UI"/>
              </a:rPr>
              <a:t>not</a:t>
            </a:r>
            <a:r>
              <a:rPr sz="2200" b="0" i="0">
                <a:solidFill>
                  <a:srgbClr val="1C252B"/>
                </a:solidFill>
                <a:latin typeface="Segoe UI"/>
              </a:rPr>
              <a:t> be admissible, because it exceeds the true optimal completion cost of </a:t>
            </a:r>
            <a:r>
              <a:rPr sz="2200" b="0" i="0">
                <a:solidFill>
                  <a:srgbClr val="1C252B"/>
                </a:solidFill>
                <a:latin typeface="Cambria"/>
              </a:rPr>
              <a:t>28</a:t>
            </a:r>
            <a:r>
              <a:rPr sz="2200" b="0" i="0">
                <a:solidFill>
                  <a:srgbClr val="1C252B"/>
                </a:solidFill>
                <a:latin typeface="Segoe UI"/>
              </a:rPr>
              <a:t>. With it, </a:t>
            </a:r>
            <a:r>
              <a:rPr sz="2200" b="0" i="1">
                <a:solidFill>
                  <a:srgbClr val="1C252B"/>
                </a:solidFill>
                <a:latin typeface="Cambria"/>
              </a:rPr>
              <a:t>A</a:t>
            </a:r>
            <a:r>
              <a:rPr sz="1450" b="0" i="0" baseline="30000">
                <a:solidFill>
                  <a:srgbClr val="1C252B"/>
                </a:solidFill>
                <a:latin typeface="Cambria"/>
              </a:rPr>
              <a:t>∗</a:t>
            </a:r>
            <a:r>
              <a:rPr sz="2200" b="0" i="0">
                <a:solidFill>
                  <a:srgbClr val="1C252B"/>
                </a:solidFill>
                <a:latin typeface="Segoe UI"/>
              </a:rPr>
              <a:t> loses its optimality guarantee: the node on the optimal path can be buried behind a worse goal node in the frontier, and the search returns the worse plan with no indication that it has done so.</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53  ·  answers in Appendix D     </a:t>
            </a:r>
            <a:fld id="{8D096EF5-E252-493A-B8A1-B9E4D664F798}" type="slidenum">
              <a:rPr lang="en-GB" sz="1000">
                <a:solidFill>
                  <a:srgbClr val="8795A1"/>
                </a:solidFill>
                <a:latin typeface="Segoe UI"/>
              </a:rPr>
              <a:t>42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48242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Explain in one sentence why greedy best-first search will never choose to build a test harness, however good the harness is.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5  ·  Informed Search and Heuristics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53  ·  answers in Appendix D     </a:t>
            </a:r>
            <a:fld id="{779F761F-3D90-45FA-A712-EB1F257472A5}" type="slidenum">
              <a:rPr lang="en-GB" sz="1000">
                <a:solidFill>
                  <a:srgbClr val="D5DEE5"/>
                </a:solidFill>
                <a:latin typeface="Segoe UI"/>
              </a:rPr>
              <a:t>43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Explain in one sentence why greedy best-first search will never choose to build a test harness, however good the harness is.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greedy best-first search orders its frontier by </a:t>
            </a:r>
            <a:r>
              <a:rPr sz="2200" b="0" i="1">
                <a:solidFill>
                  <a:srgbClr val="1C252B"/>
                </a:solidFill>
                <a:latin typeface="Cambria"/>
              </a:rPr>
              <a:t>h</a:t>
            </a:r>
            <a:r>
              <a:rPr sz="2200" b="0" i="0">
                <a:solidFill>
                  <a:srgbClr val="1C252B"/>
                </a:solidFill>
                <a:latin typeface="Segoe UI"/>
              </a:rPr>
              <a:t> alone and never consults </a:t>
            </a:r>
            <a:r>
              <a:rPr sz="2200" b="0" i="1">
                <a:solidFill>
                  <a:srgbClr val="1C252B"/>
                </a:solidFill>
                <a:latin typeface="Cambria"/>
              </a:rPr>
              <a:t>g</a:t>
            </a:r>
            <a:r>
              <a:rPr sz="2200" b="0" i="0">
                <a:solidFill>
                  <a:srgbClr val="1C252B"/>
                </a:solidFill>
                <a:latin typeface="Segoe UI"/>
              </a:rPr>
              <a:t>. Building the harness costs three days — an increase in </a:t>
            </a:r>
            <a:r>
              <a:rPr sz="2200" b="0" i="1">
                <a:solidFill>
                  <a:srgbClr val="1C252B"/>
                </a:solidFill>
                <a:latin typeface="Cambria"/>
              </a:rPr>
              <a:t>g</a:t>
            </a:r>
            <a:r>
              <a:rPr sz="2200" b="0" i="0">
                <a:solidFill>
                  <a:srgbClr val="1C252B"/>
                </a:solidFill>
                <a:latin typeface="Segoe UI"/>
              </a:rPr>
              <a:t> — while reducing the mandatory-work estimate by nothing at all, since the harness is not mandatory work. So it looks like pure delay. Any decision of the form “spend more now to spend less later” is structurally invisible to greedy search.</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53  ·  answers in Appendix D     </a:t>
            </a:r>
            <a:fld id="{5E2EC6CE-CBC8-41E3-9D9F-25AB3591ED52}" type="slidenum">
              <a:rPr lang="en-GB" sz="1000">
                <a:solidFill>
                  <a:srgbClr val="8795A1"/>
                </a:solidFill>
                <a:latin typeface="Segoe UI"/>
              </a:rPr>
              <a:t>44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93397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 have two admissible heuristics, </a:t>
            </a:r>
            <a:r>
              <a:rPr sz="3400" b="0" i="1">
                <a:solidFill>
                  <a:srgbClr val="FFFFFF"/>
                </a:solidFill>
                <a:latin typeface="Cambria"/>
              </a:rPr>
              <a:t>h</a:t>
            </a:r>
            <a:r>
              <a:rPr sz="2250" b="0" i="0" baseline="-25000">
                <a:solidFill>
                  <a:srgbClr val="FFFFFF"/>
                </a:solidFill>
                <a:latin typeface="Cambria"/>
              </a:rPr>
              <a:t>1</a:t>
            </a:r>
            <a:r>
              <a:rPr sz="3400" b="0" i="0">
                <a:solidFill>
                  <a:srgbClr val="FFFFFF"/>
                </a:solidFill>
                <a:latin typeface="Segoe UI Semibold"/>
              </a:rPr>
              <a:t> and </a:t>
            </a:r>
            <a:r>
              <a:rPr sz="3400" b="0" i="1">
                <a:solidFill>
                  <a:srgbClr val="FFFFFF"/>
                </a:solidFill>
                <a:latin typeface="Cambria"/>
              </a:rPr>
              <a:t>h</a:t>
            </a:r>
            <a:r>
              <a:rPr sz="2250" b="0" i="0" baseline="-25000">
                <a:solidFill>
                  <a:srgbClr val="FFFFFF"/>
                </a:solidFill>
                <a:latin typeface="Cambria"/>
              </a:rPr>
              <a:t>2</a:t>
            </a:r>
            <a:r>
              <a:rPr sz="3400" b="0" i="0">
                <a:solidFill>
                  <a:srgbClr val="FFFFFF"/>
                </a:solidFill>
                <a:latin typeface="Segoe UI Semibold"/>
              </a:rPr>
              <a:t>, neither dominating the other. Give a third admissible heuristic that dominates both, and say why the average of the two would be a worse choice.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5  ·  Informed Search and Heuristics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53  ·  answers in Appendix D     </a:t>
            </a:r>
            <a:fld id="{CCD0B2C6-77F9-47C8-9E9A-48A078B87BE5}" type="slidenum">
              <a:rPr lang="en-GB" sz="1000">
                <a:solidFill>
                  <a:srgbClr val="D5DEE5"/>
                </a:solidFill>
                <a:latin typeface="Segoe UI"/>
              </a:rPr>
              <a:t>45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You have two admissible heuristics, </a:t>
            </a:r>
            <a:r>
              <a:rPr sz="2400" b="0" i="1">
                <a:solidFill>
                  <a:srgbClr val="1A5276"/>
                </a:solidFill>
                <a:latin typeface="Cambria"/>
              </a:rPr>
              <a:t>h</a:t>
            </a:r>
            <a:r>
              <a:rPr sz="1600" b="0" i="0" baseline="-25000">
                <a:solidFill>
                  <a:srgbClr val="1A5276"/>
                </a:solidFill>
                <a:latin typeface="Cambria"/>
              </a:rPr>
              <a:t>1</a:t>
            </a:r>
            <a:r>
              <a:rPr sz="2400" b="0" i="0">
                <a:solidFill>
                  <a:srgbClr val="1A5276"/>
                </a:solidFill>
                <a:latin typeface="Segoe UI Semibold"/>
              </a:rPr>
              <a:t> and </a:t>
            </a:r>
            <a:r>
              <a:rPr sz="2400" b="0" i="1">
                <a:solidFill>
                  <a:srgbClr val="1A5276"/>
                </a:solidFill>
                <a:latin typeface="Cambria"/>
              </a:rPr>
              <a:t>h</a:t>
            </a:r>
            <a:r>
              <a:rPr sz="1600" b="0" i="0" baseline="-25000">
                <a:solidFill>
                  <a:srgbClr val="1A5276"/>
                </a:solidFill>
                <a:latin typeface="Cambria"/>
              </a:rPr>
              <a:t>2</a:t>
            </a:r>
            <a:r>
              <a:rPr sz="2400" b="0" i="0">
                <a:solidFill>
                  <a:srgbClr val="1A5276"/>
                </a:solidFill>
                <a:latin typeface="Segoe UI Semibold"/>
              </a:rPr>
              <a:t>, neither dominating the other. Give a third admissible heuristic that dominates both, and say why the average of the two would be a worse choice.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max(</a:t>
            </a:r>
            <a:r>
              <a:rPr sz="2200" b="0" i="1">
                <a:solidFill>
                  <a:srgbClr val="1C252B"/>
                </a:solidFill>
                <a:latin typeface="Cambria"/>
              </a:rPr>
              <a:t>h</a:t>
            </a:r>
            <a:r>
              <a:rPr sz="1450" b="0" i="0" baseline="-25000">
                <a:solidFill>
                  <a:srgbClr val="1C252B"/>
                </a:solidFill>
                <a:latin typeface="Cambria"/>
              </a:rPr>
              <a:t>1</a:t>
            </a:r>
            <a:r>
              <a:rPr sz="2200" b="0" i="0">
                <a:solidFill>
                  <a:srgbClr val="1C252B"/>
                </a:solidFill>
                <a:latin typeface="Cambria"/>
              </a:rPr>
              <a:t>, </a:t>
            </a:r>
            <a:r>
              <a:rPr sz="2200" b="0" i="1">
                <a:solidFill>
                  <a:srgbClr val="1C252B"/>
                </a:solidFill>
                <a:latin typeface="Cambria"/>
              </a:rPr>
              <a:t>h</a:t>
            </a:r>
            <a:r>
              <a:rPr sz="1450" b="0" i="0" baseline="-25000">
                <a:solidFill>
                  <a:srgbClr val="1C252B"/>
                </a:solidFill>
                <a:latin typeface="Cambria"/>
              </a:rPr>
              <a:t>2</a:t>
            </a:r>
            <a:r>
              <a:rPr sz="2200" b="0" i="0">
                <a:solidFill>
                  <a:srgbClr val="1C252B"/>
                </a:solidFill>
                <a:latin typeface="Cambria"/>
              </a:rPr>
              <a:t>)</a:t>
            </a:r>
            <a:r>
              <a:rPr sz="2200" b="0" i="0">
                <a:solidFill>
                  <a:srgbClr val="1C252B"/>
                </a:solidFill>
                <a:latin typeface="Segoe UI"/>
              </a:rPr>
              <a:t>. It is admissible, because at every state it equals one of two values that are each at most </a:t>
            </a:r>
            <a:r>
              <a:rPr sz="2200" b="0" i="1">
                <a:solidFill>
                  <a:srgbClr val="1C252B"/>
                </a:solidFill>
                <a:latin typeface="Cambria"/>
              </a:rPr>
              <a:t>h</a:t>
            </a:r>
            <a:r>
              <a:rPr sz="1450" b="0" i="0" baseline="30000">
                <a:solidFill>
                  <a:srgbClr val="1C252B"/>
                </a:solidFill>
                <a:latin typeface="Cambria"/>
              </a:rPr>
              <a:t>∗</a:t>
            </a:r>
            <a:r>
              <a:rPr sz="2200" b="0" i="0">
                <a:solidFill>
                  <a:srgbClr val="1C252B"/>
                </a:solidFill>
                <a:latin typeface="Segoe UI"/>
              </a:rPr>
              <a:t>; and it dominates both by construction. The </a:t>
            </a:r>
            <a:r>
              <a:rPr sz="2200" b="0" i="1">
                <a:solidFill>
                  <a:srgbClr val="1C252B"/>
                </a:solidFill>
                <a:latin typeface="Segoe UI"/>
              </a:rPr>
              <a:t>average</a:t>
            </a:r>
            <a:r>
              <a:rPr sz="2200" b="0" i="0">
                <a:solidFill>
                  <a:srgbClr val="1C252B"/>
                </a:solidFill>
                <a:latin typeface="Segoe UI"/>
              </a:rPr>
              <a:t> is also admissible but is dominated by the maximum — it is never larger and usually smaller, so it expands at least as many nodes for the same evaluation cost. Take the maximum, never the mean.</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53  ·  answers in Appendix D     </a:t>
            </a:r>
            <a:fld id="{E5803D87-50D4-4EE1-941E-7B63C98B8D42}" type="slidenum">
              <a:rPr lang="en-GB" sz="1000">
                <a:solidFill>
                  <a:srgbClr val="8795A1"/>
                </a:solidFill>
                <a:latin typeface="Segoe UI"/>
              </a:rPr>
              <a:t>46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38551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53     </a:t>
            </a:r>
            <a:fld id="{FEA8DF34-3799-4540-BAAA-EAB5E45B837D}" type="slidenum">
              <a:rPr lang="en-GB" sz="1000">
                <a:solidFill>
                  <a:srgbClr val="8795A1"/>
                </a:solidFill>
                <a:latin typeface="Segoe UI"/>
              </a:rPr>
              <a:t>47</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a:t>
            </a:r>
            <a:r>
              <a:rPr sz="1700" b="1" i="0">
                <a:solidFill>
                  <a:srgbClr val="1A5276"/>
                </a:solidFill>
                <a:latin typeface="Segoe UI"/>
              </a:rPr>
              <a:t>heuristic</a:t>
            </a:r>
            <a:r>
              <a:rPr sz="1700" b="0" i="0">
                <a:solidFill>
                  <a:srgbClr val="1C252B"/>
                </a:solidFill>
                <a:latin typeface="Segoe UI"/>
              </a:rPr>
              <a:t> </a:t>
            </a:r>
            <a:r>
              <a:rPr sz="1700" b="0" i="1">
                <a:solidFill>
                  <a:srgbClr val="1C252B"/>
                </a:solidFill>
                <a:latin typeface="Cambria"/>
              </a:rPr>
              <a:t>h</a:t>
            </a:r>
            <a:r>
              <a:rPr sz="1700" b="0" i="0">
                <a:solidFill>
                  <a:srgbClr val="1C252B"/>
                </a:solidFill>
                <a:latin typeface="Cambria"/>
              </a:rPr>
              <a:t>(</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estimates the remaining cost. It is </a:t>
            </a:r>
            <a:r>
              <a:rPr sz="1700" b="1" i="0">
                <a:solidFill>
                  <a:srgbClr val="1A5276"/>
                </a:solidFill>
                <a:latin typeface="Segoe UI"/>
              </a:rPr>
              <a:t>admissible</a:t>
            </a:r>
            <a:r>
              <a:rPr sz="1700" b="0" i="0">
                <a:solidFill>
                  <a:srgbClr val="1C252B"/>
                </a:solidFill>
                <a:latin typeface="Segoe UI"/>
              </a:rPr>
              <a:t> if it never overestimates and </a:t>
            </a:r>
            <a:r>
              <a:rPr sz="1700" b="1" i="0">
                <a:solidFill>
                  <a:srgbClr val="1A5276"/>
                </a:solidFill>
                <a:latin typeface="Segoe UI"/>
              </a:rPr>
              <a:t>consistent</a:t>
            </a:r>
            <a:r>
              <a:rPr sz="1700" b="0" i="0">
                <a:solidFill>
                  <a:srgbClr val="1C252B"/>
                </a:solidFill>
                <a:latin typeface="Segoe UI"/>
              </a:rPr>
              <a:t> if </a:t>
            </a:r>
            <a:r>
              <a:rPr sz="1700" b="0" i="1">
                <a:solidFill>
                  <a:srgbClr val="1C252B"/>
                </a:solidFill>
                <a:latin typeface="Cambria"/>
              </a:rPr>
              <a:t>h</a:t>
            </a:r>
            <a:r>
              <a:rPr sz="1700" b="0" i="0">
                <a:solidFill>
                  <a:srgbClr val="1C252B"/>
                </a:solidFill>
                <a:latin typeface="Cambria"/>
              </a:rPr>
              <a:t>(</a:t>
            </a:r>
            <a:r>
              <a:rPr sz="1700" b="0" i="1">
                <a:solidFill>
                  <a:srgbClr val="1C252B"/>
                </a:solidFill>
                <a:latin typeface="Cambria"/>
              </a:rPr>
              <a:t>n</a:t>
            </a:r>
            <a:r>
              <a:rPr sz="1700" b="0" i="0">
                <a:solidFill>
                  <a:srgbClr val="1C252B"/>
                </a:solidFill>
                <a:latin typeface="Cambria"/>
              </a:rPr>
              <a:t>) ≤ </a:t>
            </a:r>
            <a:r>
              <a:rPr sz="1700" b="0" i="1">
                <a:solidFill>
                  <a:srgbClr val="1C252B"/>
                </a:solidFill>
                <a:latin typeface="Cambria"/>
              </a:rPr>
              <a:t>c</a:t>
            </a:r>
            <a:r>
              <a:rPr sz="1700" b="0" i="0">
                <a:solidFill>
                  <a:srgbClr val="1C252B"/>
                </a:solidFill>
                <a:latin typeface="Cambria"/>
              </a:rPr>
              <a:t>(</a:t>
            </a:r>
            <a:r>
              <a:rPr sz="1700" b="0" i="1">
                <a:solidFill>
                  <a:srgbClr val="1C252B"/>
                </a:solidFill>
                <a:latin typeface="Cambria"/>
              </a:rPr>
              <a:t>n</a:t>
            </a:r>
            <a:r>
              <a:rPr sz="1700" b="0" i="0">
                <a:solidFill>
                  <a:srgbClr val="1C252B"/>
                </a:solidFill>
                <a:latin typeface="Cambria"/>
              </a:rPr>
              <a:t>,</a:t>
            </a:r>
            <a:r>
              <a:rPr sz="1700" b="0" i="1">
                <a:solidFill>
                  <a:srgbClr val="1C252B"/>
                </a:solidFill>
                <a:latin typeface="Cambria"/>
              </a:rPr>
              <a:t>n</a:t>
            </a:r>
            <a:r>
              <a:rPr sz="1700" b="0" i="0">
                <a:solidFill>
                  <a:srgbClr val="1C252B"/>
                </a:solidFill>
                <a:latin typeface="Cambria"/>
              </a:rPr>
              <a:t>′) + </a:t>
            </a:r>
            <a:r>
              <a:rPr sz="1700" b="0" i="1">
                <a:solidFill>
                  <a:srgbClr val="1C252B"/>
                </a:solidFill>
                <a:latin typeface="Cambria"/>
              </a:rPr>
              <a:t>h</a:t>
            </a:r>
            <a:r>
              <a:rPr sz="1700" b="0" i="0">
                <a:solidFill>
                  <a:srgbClr val="1C252B"/>
                </a:solidFill>
                <a:latin typeface="Cambria"/>
              </a:rPr>
              <a:t>(</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consistency implies admissibility and is what graph search with an explored set needs.</a:t>
            </a:r>
          </a:p>
        </p:txBody>
      </p:sp>
      <p:sp>
        <p:nvSpPr>
          <p:cNvPr id="10" name="!!sb1">
            <a:extLst>
              <a:ext uri="{C183D7F6-B498-43B3-948B-1728B52AA6E4}">
                <adec:decorative xmlns:adec="http://schemas.microsoft.com/office/drawing/2017/decorative" val="1"/>
              </a:ext>
            </a:extLst>
          </p:cNvPr>
          <p:cNvSpPr/>
          <p:nvPr/>
        </p:nvSpPr>
        <p:spPr>
          <a:xfrm>
            <a:off x="658368" y="273771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79257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72856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A5276"/>
                </a:solidFill>
                <a:latin typeface="Segoe UI"/>
              </a:rPr>
              <a:t>Greedy best-first search</a:t>
            </a:r>
            <a:r>
              <a:rPr sz="1700" b="0" i="0">
                <a:solidFill>
                  <a:srgbClr val="1C252B"/>
                </a:solidFill>
                <a:latin typeface="Segoe UI"/>
              </a:rPr>
              <a:t> orders the frontier by </a:t>
            </a:r>
            <a:r>
              <a:rPr sz="1700" b="0" i="1">
                <a:solidFill>
                  <a:srgbClr val="1C252B"/>
                </a:solidFill>
                <a:latin typeface="Cambria"/>
              </a:rPr>
              <a:t>h</a:t>
            </a:r>
            <a:r>
              <a:rPr sz="1700" b="0" i="0">
                <a:solidFill>
                  <a:srgbClr val="1C252B"/>
                </a:solidFill>
                <a:latin typeface="Segoe UI"/>
              </a:rPr>
              <a:t> alone. It is fast and not optimal, and its structural blind spot is any investment — it cannot trade a dearer step now against a cheaper remainder.</a:t>
            </a:r>
          </a:p>
        </p:txBody>
      </p:sp>
      <p:sp>
        <p:nvSpPr>
          <p:cNvPr id="13" name="!!sb2">
            <a:extLst>
              <a:ext uri="{C183D7F6-B498-43B3-948B-1728B52AA6E4}">
                <adec:decorative xmlns:adec="http://schemas.microsoft.com/office/drawing/2017/decorative" val="1"/>
              </a:ext>
            </a:extLst>
          </p:cNvPr>
          <p:cNvSpPr/>
          <p:nvPr/>
        </p:nvSpPr>
        <p:spPr>
          <a:xfrm>
            <a:off x="658368" y="345948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51434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45033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1">
                <a:solidFill>
                  <a:srgbClr val="1C252B"/>
                </a:solidFill>
                <a:latin typeface="Cambria"/>
              </a:rPr>
              <a:t>A</a:t>
            </a:r>
            <a:r>
              <a:rPr sz="1100" b="1" i="0" baseline="30000">
                <a:solidFill>
                  <a:srgbClr val="1C252B"/>
                </a:solidFill>
                <a:latin typeface="Cambria"/>
              </a:rPr>
              <a:t>∗</a:t>
            </a:r>
            <a:r>
              <a:rPr sz="1700" b="0" i="0">
                <a:solidFill>
                  <a:srgbClr val="1C252B"/>
                </a:solidFill>
                <a:latin typeface="Segoe UI"/>
              </a:rPr>
              <a:t> orders by </a:t>
            </a:r>
            <a:r>
              <a:rPr sz="1700" b="0" i="1">
                <a:solidFill>
                  <a:srgbClr val="1C252B"/>
                </a:solidFill>
                <a:latin typeface="Cambria"/>
              </a:rPr>
              <a:t>f</a:t>
            </a:r>
            <a:r>
              <a:rPr sz="1700" b="0" i="0">
                <a:solidFill>
                  <a:srgbClr val="1C252B"/>
                </a:solidFill>
                <a:latin typeface="Cambria"/>
              </a:rPr>
              <a:t>(</a:t>
            </a:r>
            <a:r>
              <a:rPr sz="1700" b="0" i="1">
                <a:solidFill>
                  <a:srgbClr val="1C252B"/>
                </a:solidFill>
                <a:latin typeface="Cambria"/>
              </a:rPr>
              <a:t>n</a:t>
            </a:r>
            <a:r>
              <a:rPr sz="1700" b="0" i="0">
                <a:solidFill>
                  <a:srgbClr val="1C252B"/>
                </a:solidFill>
                <a:latin typeface="Cambria"/>
              </a:rPr>
              <a:t>) = </a:t>
            </a:r>
            <a:r>
              <a:rPr sz="1700" b="0" i="1">
                <a:solidFill>
                  <a:srgbClr val="1C252B"/>
                </a:solidFill>
                <a:latin typeface="Cambria"/>
              </a:rPr>
              <a:t>g</a:t>
            </a:r>
            <a:r>
              <a:rPr sz="1700" b="0" i="0">
                <a:solidFill>
                  <a:srgbClr val="1C252B"/>
                </a:solidFill>
                <a:latin typeface="Cambria"/>
              </a:rPr>
              <a:t>(</a:t>
            </a:r>
            <a:r>
              <a:rPr sz="1700" b="0" i="1">
                <a:solidFill>
                  <a:srgbClr val="1C252B"/>
                </a:solidFill>
                <a:latin typeface="Cambria"/>
              </a:rPr>
              <a:t>n</a:t>
            </a:r>
            <a:r>
              <a:rPr sz="1700" b="0" i="0">
                <a:solidFill>
                  <a:srgbClr val="1C252B"/>
                </a:solidFill>
                <a:latin typeface="Cambria"/>
              </a:rPr>
              <a:t>) + </a:t>
            </a:r>
            <a:r>
              <a:rPr sz="1700" b="0" i="1">
                <a:solidFill>
                  <a:srgbClr val="1C252B"/>
                </a:solidFill>
                <a:latin typeface="Cambria"/>
              </a:rPr>
              <a:t>h</a:t>
            </a:r>
            <a:r>
              <a:rPr sz="1700" b="0" i="0">
                <a:solidFill>
                  <a:srgbClr val="1C252B"/>
                </a:solidFill>
                <a:latin typeface="Cambria"/>
              </a:rPr>
              <a:t>(</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and returns an optimal solution whenever </a:t>
            </a:r>
            <a:r>
              <a:rPr sz="1700" b="0" i="1">
                <a:solidFill>
                  <a:srgbClr val="1C252B"/>
                </a:solidFill>
                <a:latin typeface="Cambria"/>
              </a:rPr>
              <a:t>h</a:t>
            </a:r>
            <a:r>
              <a:rPr sz="1700" b="0" i="0">
                <a:solidFill>
                  <a:srgbClr val="1C252B"/>
                </a:solidFill>
                <a:latin typeface="Segoe UI"/>
              </a:rPr>
              <a:t> is admissible. Uniform-cost search is </a:t>
            </a:r>
            <a:r>
              <a:rPr sz="1700" b="0" i="1">
                <a:solidFill>
                  <a:srgbClr val="1C252B"/>
                </a:solidFill>
                <a:latin typeface="Cambria"/>
              </a:rPr>
              <a:t>A</a:t>
            </a:r>
            <a:r>
              <a:rPr sz="1100" b="0" i="0" baseline="30000">
                <a:solidFill>
                  <a:srgbClr val="1C252B"/>
                </a:solidFill>
                <a:latin typeface="Cambria"/>
              </a:rPr>
              <a:t>∗</a:t>
            </a:r>
            <a:r>
              <a:rPr sz="1700" b="0" i="0">
                <a:solidFill>
                  <a:srgbClr val="1C252B"/>
                </a:solidFill>
                <a:latin typeface="Segoe UI"/>
              </a:rPr>
              <a:t> with </a:t>
            </a:r>
            <a:r>
              <a:rPr sz="1700" b="0" i="1">
                <a:solidFill>
                  <a:srgbClr val="1C252B"/>
                </a:solidFill>
                <a:latin typeface="Cambria"/>
              </a:rPr>
              <a:t>h</a:t>
            </a:r>
            <a:r>
              <a:rPr sz="1700" b="0" i="0">
                <a:solidFill>
                  <a:srgbClr val="1C252B"/>
                </a:solidFill>
                <a:latin typeface="Cambria"/>
              </a:rPr>
              <a:t>=0</a:t>
            </a:r>
            <a:r>
              <a:rPr sz="1700" b="0" i="0">
                <a:solidFill>
                  <a:srgbClr val="1C252B"/>
                </a:solidFill>
                <a:latin typeface="Segoe UI"/>
              </a:rPr>
              <a:t>.</a:t>
            </a:r>
          </a:p>
        </p:txBody>
      </p:sp>
      <p:sp>
        <p:nvSpPr>
          <p:cNvPr id="16" name="!!sb3">
            <a:extLst>
              <a:ext uri="{C183D7F6-B498-43B3-948B-1728B52AA6E4}">
                <adec:decorative xmlns:adec="http://schemas.microsoft.com/office/drawing/2017/decorative" val="1"/>
              </a:ext>
            </a:extLst>
          </p:cNvPr>
          <p:cNvSpPr/>
          <p:nvPr/>
        </p:nvSpPr>
        <p:spPr>
          <a:xfrm>
            <a:off x="658368" y="418124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23611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17210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optimality proof turns on </a:t>
            </a:r>
            <a:r>
              <a:rPr sz="1700" b="0" i="1">
                <a:solidFill>
                  <a:srgbClr val="1C252B"/>
                </a:solidFill>
                <a:latin typeface="Cambria"/>
              </a:rPr>
              <a:t>h</a:t>
            </a:r>
            <a:r>
              <a:rPr sz="1700" b="0" i="0">
                <a:solidFill>
                  <a:srgbClr val="1C252B"/>
                </a:solidFill>
                <a:latin typeface="Cambria"/>
              </a:rPr>
              <a:t>(</a:t>
            </a:r>
            <a:r>
              <a:rPr sz="1700" b="0" i="1">
                <a:solidFill>
                  <a:srgbClr val="1C252B"/>
                </a:solidFill>
                <a:latin typeface="Cambria"/>
              </a:rPr>
              <a:t>n</a:t>
            </a:r>
            <a:r>
              <a:rPr sz="1700" b="0" i="0">
                <a:solidFill>
                  <a:srgbClr val="1C252B"/>
                </a:solidFill>
                <a:latin typeface="Cambria"/>
              </a:rPr>
              <a:t>) ≤ </a:t>
            </a:r>
            <a:r>
              <a:rPr sz="1700" b="0" i="1">
                <a:solidFill>
                  <a:srgbClr val="1C252B"/>
                </a:solidFill>
                <a:latin typeface="Cambria"/>
              </a:rPr>
              <a:t>h</a:t>
            </a:r>
            <a:r>
              <a:rPr sz="1100" b="0" i="0" baseline="30000">
                <a:solidFill>
                  <a:srgbClr val="1C252B"/>
                </a:solidFill>
                <a:latin typeface="Cambria"/>
              </a:rPr>
              <a:t>∗</a:t>
            </a:r>
            <a:r>
              <a:rPr sz="1700" b="0" i="0">
                <a:solidFill>
                  <a:srgbClr val="1C252B"/>
                </a:solidFill>
                <a:latin typeface="Cambria"/>
              </a:rPr>
              <a:t>(</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an overestimate buries the optimal path behind a worse goal node, and </a:t>
            </a:r>
            <a:r>
              <a:rPr sz="1700" b="0" i="1">
                <a:solidFill>
                  <a:srgbClr val="1C252B"/>
                </a:solidFill>
                <a:latin typeface="Cambria"/>
              </a:rPr>
              <a:t>A</a:t>
            </a:r>
            <a:r>
              <a:rPr sz="1100" b="0" i="0" baseline="30000">
                <a:solidFill>
                  <a:srgbClr val="1C252B"/>
                </a:solidFill>
                <a:latin typeface="Cambria"/>
              </a:rPr>
              <a:t>∗</a:t>
            </a:r>
            <a:r>
              <a:rPr sz="1700" b="0" i="0">
                <a:solidFill>
                  <a:srgbClr val="1C252B"/>
                </a:solidFill>
                <a:latin typeface="Segoe UI"/>
              </a:rPr>
              <a:t> returns the worse answer without any sign that it has done so.</a:t>
            </a:r>
          </a:p>
        </p:txBody>
      </p:sp>
      <p:sp>
        <p:nvSpPr>
          <p:cNvPr id="19" name="!!sb4">
            <a:extLst>
              <a:ext uri="{C183D7F6-B498-43B3-948B-1728B52AA6E4}">
                <adec:decorative xmlns:adec="http://schemas.microsoft.com/office/drawing/2017/decorative" val="1"/>
              </a:ext>
            </a:extLst>
          </p:cNvPr>
          <p:cNvSpPr/>
          <p:nvPr/>
        </p:nvSpPr>
        <p:spPr>
          <a:xfrm>
            <a:off x="658368" y="490301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5787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93868"/>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Among admissible heuristics, larger is better — </a:t>
            </a:r>
            <a:r>
              <a:rPr sz="1700" b="0" i="1">
                <a:solidFill>
                  <a:srgbClr val="1C252B"/>
                </a:solidFill>
                <a:latin typeface="Cambria"/>
              </a:rPr>
              <a:t>h</a:t>
            </a:r>
            <a:r>
              <a:rPr sz="1100" b="0" i="0" baseline="-25000">
                <a:solidFill>
                  <a:srgbClr val="1C252B"/>
                </a:solidFill>
                <a:latin typeface="Cambria"/>
              </a:rPr>
              <a:t>2</a:t>
            </a:r>
            <a:r>
              <a:rPr sz="1700" b="0" i="0">
                <a:solidFill>
                  <a:srgbClr val="1C252B"/>
                </a:solidFill>
                <a:latin typeface="Cambria"/>
              </a:rPr>
              <a:t> ≥ </a:t>
            </a:r>
            <a:r>
              <a:rPr sz="1700" b="0" i="1">
                <a:solidFill>
                  <a:srgbClr val="1C252B"/>
                </a:solidFill>
                <a:latin typeface="Cambria"/>
              </a:rPr>
              <a:t>h</a:t>
            </a:r>
            <a:r>
              <a:rPr sz="1100" b="0" i="0" baseline="-25000">
                <a:solidFill>
                  <a:srgbClr val="1C252B"/>
                </a:solidFill>
                <a:latin typeface="Cambria"/>
              </a:rPr>
              <a:t>1</a:t>
            </a:r>
            <a:r>
              <a:rPr sz="1700" b="0" i="0">
                <a:solidFill>
                  <a:srgbClr val="1C252B"/>
                </a:solidFill>
                <a:latin typeface="Segoe UI"/>
              </a:rPr>
              <a:t> everywhere means no more expansions — provided it stays cheap to compute. The maximum of several admissible heuristics is admissible and dominates each.</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61129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53     </a:t>
            </a:r>
            <a:fld id="{B79FAC23-CFB8-4A9A-BCC4-C6F7D1B9F961}" type="slidenum">
              <a:rPr lang="en-GB" sz="1000">
                <a:solidFill>
                  <a:srgbClr val="8795A1"/>
                </a:solidFill>
                <a:latin typeface="Segoe UI"/>
              </a:rPr>
              <a:t>48</a:t>
            </a:fld>
          </a:p>
        </p:txBody>
      </p:sp>
      <p:sp>
        <p:nvSpPr>
          <p:cNvPr id="7" name="!!sb5">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5"/>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9" name="!!st5"/>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A5276"/>
                </a:solidFill>
                <a:latin typeface="Segoe UI"/>
              </a:rPr>
              <a:t>Relaxation</a:t>
            </a:r>
            <a:r>
              <a:rPr sz="1700" b="0" i="0">
                <a:solidFill>
                  <a:srgbClr val="1C252B"/>
                </a:solidFill>
                <a:latin typeface="Segoe UI"/>
              </a:rPr>
              <a:t> is the way to invent one: drop a constraint, solve the easier problem exactly. Dropping the testing requirement gives mandatory work; dropping the one-task-at-a-time rule gives the critical path.</a:t>
            </a:r>
          </a:p>
        </p:txBody>
      </p:sp>
      <p:sp>
        <p:nvSpPr>
          <p:cNvPr id="10" name="!!sb6">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6"/>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12" name="!!st6"/>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on the sprint: </a:t>
            </a:r>
            <a:r>
              <a:rPr sz="1700" b="0" i="1">
                <a:solidFill>
                  <a:srgbClr val="1C252B"/>
                </a:solidFill>
                <a:latin typeface="Cambria"/>
              </a:rPr>
              <a:t>A</a:t>
            </a:r>
            <a:r>
              <a:rPr sz="1100" b="0" i="0" baseline="30000">
                <a:solidFill>
                  <a:srgbClr val="1C252B"/>
                </a:solidFill>
                <a:latin typeface="Cambria"/>
              </a:rPr>
              <a:t>∗</a:t>
            </a:r>
            <a:r>
              <a:rPr sz="1700" b="0" i="0">
                <a:solidFill>
                  <a:srgbClr val="1C252B"/>
                </a:solidFill>
                <a:latin typeface="Segoe UI"/>
              </a:rPr>
              <a:t> matched uniform-cost search’s </a:t>
            </a:r>
            <a:r>
              <a:rPr sz="1700" b="0" i="0">
                <a:solidFill>
                  <a:srgbClr val="1C252B"/>
                </a:solidFill>
                <a:latin typeface="Cambria"/>
              </a:rPr>
              <a:t>28</a:t>
            </a:r>
            <a:r>
              <a:rPr sz="1700" b="0" i="0">
                <a:solidFill>
                  <a:srgbClr val="1C252B"/>
                </a:solidFill>
                <a:latin typeface="Segoe UI"/>
              </a:rPr>
              <a:t>-day optimum while expanding </a:t>
            </a:r>
            <a:r>
              <a:rPr sz="1700" b="0" i="0">
                <a:solidFill>
                  <a:srgbClr val="1C252B"/>
                </a:solidFill>
                <a:latin typeface="Cambria"/>
              </a:rPr>
              <a:t>33</a:t>
            </a:r>
            <a:r>
              <a:rPr sz="1700" b="0" i="0">
                <a:solidFill>
                  <a:srgbClr val="1C252B"/>
                </a:solidFill>
                <a:latin typeface="Segoe UI"/>
              </a:rPr>
              <a:t> states instead of </a:t>
            </a:r>
            <a:r>
              <a:rPr sz="1700" b="0" i="0">
                <a:solidFill>
                  <a:srgbClr val="1C252B"/>
                </a:solidFill>
                <a:latin typeface="Cambria"/>
              </a:rPr>
              <a:t>46</a:t>
            </a:r>
            <a:r>
              <a:rPr sz="1700" b="0" i="0">
                <a:solidFill>
                  <a:srgbClr val="1C252B"/>
                </a:solidFill>
                <a:latin typeface="Segoe UI"/>
              </a:rPr>
              <a:t>; greedy search expanded </a:t>
            </a:r>
            <a:r>
              <a:rPr sz="1700" b="0" i="0">
                <a:solidFill>
                  <a:srgbClr val="1C252B"/>
                </a:solidFill>
                <a:latin typeface="Cambria"/>
              </a:rPr>
              <a:t>10</a:t>
            </a:r>
            <a:r>
              <a:rPr sz="1700" b="0" i="0">
                <a:solidFill>
                  <a:srgbClr val="1C252B"/>
                </a:solidFill>
                <a:latin typeface="Segoe UI"/>
              </a:rPr>
              <a:t> and returned a </a:t>
            </a:r>
            <a:r>
              <a:rPr sz="1700" b="0" i="0">
                <a:solidFill>
                  <a:srgbClr val="1C252B"/>
                </a:solidFill>
                <a:latin typeface="Cambria"/>
              </a:rPr>
              <a:t>29</a:t>
            </a:r>
            <a:r>
              <a:rPr sz="1700" b="0" i="0">
                <a:solidFill>
                  <a:srgbClr val="1C252B"/>
                </a:solidFill>
                <a:latin typeface="Segoe UI"/>
              </a:rPr>
              <a:t>-day plan.</a:t>
            </a:r>
          </a:p>
        </p:txBody>
      </p:sp>
      <p:sp>
        <p:nvSpPr>
          <p:cNvPr id="2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fill">
            <a:extLst>
              <a:ext uri="{C183D7F6-B498-43B3-948B-1728B52AA6E4}">
                <adec:decorative xmlns:adec="http://schemas.microsoft.com/office/drawing/2017/decorative" val="1"/>
              </a:ext>
            </a:extLst>
          </p:cNvPr>
          <p:cNvSpPr/>
          <p:nvPr/>
        </p:nvSpPr>
        <p:spPr>
          <a:xfrm>
            <a:off x="0" y="0"/>
            <a:ext cx="1083706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53     </a:t>
            </a:r>
            <a:fld id="{CCE3926D-CC87-4793-B575-3524C4CD611E}" type="slidenum">
              <a:rPr lang="en-GB" sz="1000">
                <a:solidFill>
                  <a:srgbClr val="8795A1"/>
                </a:solidFill>
                <a:latin typeface="Segoe UI"/>
              </a:rPr>
              <a:t>49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1">
                <a:solidFill>
                  <a:srgbClr val="1C252B"/>
                </a:solidFill>
                <a:latin typeface="Cambria"/>
              </a:rPr>
              <a:t>A</a:t>
            </a:r>
            <a:r>
              <a:rPr sz="1700" b="0" i="0" baseline="30000">
                <a:solidFill>
                  <a:srgbClr val="1C252B"/>
                </a:solidFill>
                <a:latin typeface="Cambria"/>
              </a:rPr>
              <a:t>∗</a:t>
            </a:r>
            <a:r>
              <a:rPr sz="2600" b="0" i="0">
                <a:solidFill>
                  <a:srgbClr val="1C252B"/>
                </a:solidFill>
                <a:latin typeface="Segoe UI"/>
              </a:rPr>
              <a:t> orders its frontier by:</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h</a:t>
            </a:r>
            <a:r>
              <a:rPr sz="2000" b="0" i="0">
                <a:solidFill>
                  <a:srgbClr val="1C252B"/>
                </a:solidFill>
                <a:latin typeface="Cambria"/>
              </a:rPr>
              <a:t>(</a:t>
            </a:r>
            <a:r>
              <a:rPr sz="2000" b="0" i="1">
                <a:solidFill>
                  <a:srgbClr val="1C252B"/>
                </a:solidFill>
                <a:latin typeface="Cambria"/>
              </a:rPr>
              <a:t>n</a:t>
            </a:r>
            <a:r>
              <a:rPr sz="2000" b="0" i="0">
                <a:solidFill>
                  <a:srgbClr val="1C252B"/>
                </a:solidFill>
                <a:latin typeface="Cambria"/>
              </a:rPr>
              <a:t>)</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g</a:t>
            </a:r>
            <a:r>
              <a:rPr sz="2000" b="0" i="0">
                <a:solidFill>
                  <a:srgbClr val="1C252B"/>
                </a:solidFill>
                <a:latin typeface="Cambria"/>
              </a:rPr>
              <a:t>(</a:t>
            </a:r>
            <a:r>
              <a:rPr sz="2000" b="0" i="1">
                <a:solidFill>
                  <a:srgbClr val="1C252B"/>
                </a:solidFill>
                <a:latin typeface="Cambria"/>
              </a:rPr>
              <a:t>n</a:t>
            </a:r>
            <a:r>
              <a:rPr sz="2000" b="0" i="0">
                <a:solidFill>
                  <a:srgbClr val="1C252B"/>
                </a:solidFill>
                <a:latin typeface="Cambria"/>
              </a:rPr>
              <a: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g</a:t>
            </a:r>
            <a:r>
              <a:rPr sz="2000" b="0" i="0">
                <a:solidFill>
                  <a:srgbClr val="1C252B"/>
                </a:solidFill>
                <a:latin typeface="Cambria"/>
              </a:rPr>
              <a:t>(</a:t>
            </a:r>
            <a:r>
              <a:rPr sz="2000" b="0" i="1">
                <a:solidFill>
                  <a:srgbClr val="1C252B"/>
                </a:solidFill>
                <a:latin typeface="Cambria"/>
              </a:rPr>
              <a:t>n</a:t>
            </a:r>
            <a:r>
              <a:rPr sz="2000" b="0" i="0">
                <a:solidFill>
                  <a:srgbClr val="1C252B"/>
                </a:solidFill>
                <a:latin typeface="Cambria"/>
              </a:rPr>
              <a:t>)+</a:t>
            </a:r>
            <a:r>
              <a:rPr sz="2000" b="0" i="1">
                <a:solidFill>
                  <a:srgbClr val="1C252B"/>
                </a:solidFill>
                <a:latin typeface="Cambria"/>
              </a:rPr>
              <a:t>h</a:t>
            </a:r>
            <a:r>
              <a:rPr sz="2000" b="0" i="0">
                <a:solidFill>
                  <a:srgbClr val="1C252B"/>
                </a:solidFill>
                <a:latin typeface="Cambria"/>
              </a:rPr>
              <a:t>(</a:t>
            </a:r>
            <a:r>
              <a:rPr sz="2000" b="0" i="1">
                <a:solidFill>
                  <a:srgbClr val="1C252B"/>
                </a:solidFill>
                <a:latin typeface="Cambria"/>
              </a:rPr>
              <a:t>n</a:t>
            </a:r>
            <a:r>
              <a:rPr sz="2000" b="0" i="0">
                <a:solidFill>
                  <a:srgbClr val="1C252B"/>
                </a:solidFill>
                <a:latin typeface="Cambria"/>
              </a:rPr>
              <a: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depth</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06283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53     </a:t>
            </a:r>
            <a:fld id="{5223D8A1-B14A-454D-83A5-3E7CD24964C4}" type="slidenum">
              <a:rPr lang="en-GB" sz="1000">
                <a:solidFill>
                  <a:srgbClr val="8795A1"/>
                </a:solidFill>
                <a:latin typeface="Segoe UI"/>
              </a:rPr>
              <a:t>50</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heuristic is admissible if it:</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never underestimates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never overestimates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is always zero at the root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is consistent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8860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53     </a:t>
            </a:r>
            <a:fld id="{3C1DDD26-765C-4EAA-AD8D-726633886911}" type="slidenum">
              <a:rPr lang="en-GB" sz="1000">
                <a:solidFill>
                  <a:srgbClr val="8795A1"/>
                </a:solidFill>
                <a:latin typeface="Segoe UI"/>
              </a:rPr>
              <a:t>51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Uniform-cost search is </a:t>
            </a:r>
            <a:r>
              <a:rPr sz="2600" b="0" i="1">
                <a:solidFill>
                  <a:srgbClr val="1C252B"/>
                </a:solidFill>
                <a:latin typeface="Cambria"/>
              </a:rPr>
              <a:t>A</a:t>
            </a:r>
            <a:r>
              <a:rPr sz="1700" b="0" i="0" baseline="30000">
                <a:solidFill>
                  <a:srgbClr val="1C252B"/>
                </a:solidFill>
                <a:latin typeface="Cambria"/>
              </a:rPr>
              <a:t>∗</a:t>
            </a:r>
            <a:r>
              <a:rPr sz="2600" b="0" i="0">
                <a:solidFill>
                  <a:srgbClr val="1C252B"/>
                </a:solidFill>
                <a:latin typeface="Segoe UI"/>
              </a:rPr>
              <a:t> with:</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h</a:t>
            </a:r>
            <a:r>
              <a:rPr sz="2000" b="0" i="0">
                <a:solidFill>
                  <a:srgbClr val="1C252B"/>
                </a:solidFill>
                <a:latin typeface="Cambria"/>
              </a:rPr>
              <a:t>=0</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g</a:t>
            </a:r>
            <a:r>
              <a:rPr sz="2000" b="0" i="0">
                <a:solidFill>
                  <a:srgbClr val="1C252B"/>
                </a:solidFill>
                <a:latin typeface="Cambria"/>
              </a:rPr>
              <a:t>=0</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h</a:t>
            </a:r>
            <a:r>
              <a:rPr sz="2000" b="0" i="0">
                <a:solidFill>
                  <a:srgbClr val="1C252B"/>
                </a:solidFill>
                <a:latin typeface="Cambria"/>
              </a:rPr>
              <a:t>=</a:t>
            </a:r>
            <a:r>
              <a:rPr sz="2000" b="0" i="1">
                <a:solidFill>
                  <a:srgbClr val="1C252B"/>
                </a:solidFill>
                <a:latin typeface="Cambria"/>
              </a:rPr>
              <a:t>h</a:t>
            </a:r>
            <a:r>
              <a:rPr sz="1300" b="0" i="0" baseline="30000">
                <a:solidFill>
                  <a:srgbClr val="1C252B"/>
                </a:solidFill>
                <a:latin typeface="Cambria"/>
              </a:rPr>
              <a: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depth limit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1437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4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53     </a:t>
            </a:r>
            <a:fld id="{151C034C-BD90-4363-9CCD-DAD93E949F7E}" type="slidenum">
              <a:rPr lang="en-GB" sz="1000">
                <a:solidFill>
                  <a:srgbClr val="8795A1"/>
                </a:solidFill>
                <a:latin typeface="Segoe UI"/>
              </a:rPr>
              <a:t>52</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Given admissible </a:t>
            </a:r>
            <a:r>
              <a:rPr sz="2600" b="0" i="1">
                <a:solidFill>
                  <a:srgbClr val="1C252B"/>
                </a:solidFill>
                <a:latin typeface="Cambria"/>
              </a:rPr>
              <a:t>h</a:t>
            </a:r>
            <a:r>
              <a:rPr sz="1700" b="0" i="0" baseline="-25000">
                <a:solidFill>
                  <a:srgbClr val="1C252B"/>
                </a:solidFill>
                <a:latin typeface="Cambria"/>
              </a:rPr>
              <a:t>1</a:t>
            </a:r>
            <a:r>
              <a:rPr sz="2600" b="0" i="0">
                <a:solidFill>
                  <a:srgbClr val="1C252B"/>
                </a:solidFill>
                <a:latin typeface="Segoe UI"/>
              </a:rPr>
              <a:t> and </a:t>
            </a:r>
            <a:r>
              <a:rPr sz="2600" b="0" i="1">
                <a:solidFill>
                  <a:srgbClr val="1C252B"/>
                </a:solidFill>
                <a:latin typeface="Cambria"/>
              </a:rPr>
              <a:t>h</a:t>
            </a:r>
            <a:r>
              <a:rPr sz="1700" b="0" i="0" baseline="-25000">
                <a:solidFill>
                  <a:srgbClr val="1C252B"/>
                </a:solidFill>
                <a:latin typeface="Cambria"/>
              </a:rPr>
              <a:t>2</a:t>
            </a:r>
            <a:r>
              <a:rPr sz="2600" b="0" i="0">
                <a:solidFill>
                  <a:srgbClr val="1C252B"/>
                </a:solidFill>
                <a:latin typeface="Segoe UI"/>
              </a:rPr>
              <a:t>, which is guaranteed admissible and at least as strong as both?</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h</a:t>
            </a:r>
            <a:r>
              <a:rPr sz="1300" b="0" i="0" baseline="-25000">
                <a:solidFill>
                  <a:srgbClr val="1C252B"/>
                </a:solidFill>
                <a:latin typeface="Cambria"/>
              </a:rPr>
              <a:t>1</a:t>
            </a:r>
            <a:r>
              <a:rPr sz="2000" b="0" i="0">
                <a:solidFill>
                  <a:srgbClr val="1C252B"/>
                </a:solidFill>
                <a:latin typeface="Cambria"/>
              </a:rPr>
              <a:t>+</a:t>
            </a:r>
            <a:r>
              <a:rPr sz="2000" b="0" i="1">
                <a:solidFill>
                  <a:srgbClr val="1C252B"/>
                </a:solidFill>
                <a:latin typeface="Cambria"/>
              </a:rPr>
              <a:t>h</a:t>
            </a:r>
            <a:r>
              <a:rPr sz="1300" b="0" i="0" baseline="-25000">
                <a:solidFill>
                  <a:srgbClr val="1C252B"/>
                </a:solidFill>
                <a:latin typeface="Cambria"/>
              </a:rPr>
              <a:t>2</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a:t>
            </a:r>
            <a:r>
              <a:rPr sz="2000" b="0" i="1">
                <a:solidFill>
                  <a:srgbClr val="1C252B"/>
                </a:solidFill>
                <a:latin typeface="Cambria"/>
              </a:rPr>
              <a:t>h</a:t>
            </a:r>
            <a:r>
              <a:rPr sz="1300" b="0" i="0" baseline="-25000">
                <a:solidFill>
                  <a:srgbClr val="1C252B"/>
                </a:solidFill>
                <a:latin typeface="Cambria"/>
              </a:rPr>
              <a:t>1</a:t>
            </a:r>
            <a:r>
              <a:rPr sz="2000" b="0" i="0">
                <a:solidFill>
                  <a:srgbClr val="1C252B"/>
                </a:solidFill>
                <a:latin typeface="Cambria"/>
              </a:rPr>
              <a:t>+</a:t>
            </a:r>
            <a:r>
              <a:rPr sz="2000" b="0" i="1">
                <a:solidFill>
                  <a:srgbClr val="1C252B"/>
                </a:solidFill>
                <a:latin typeface="Cambria"/>
              </a:rPr>
              <a:t>h</a:t>
            </a:r>
            <a:r>
              <a:rPr sz="1300" b="0" i="0" baseline="-25000">
                <a:solidFill>
                  <a:srgbClr val="1C252B"/>
                </a:solidFill>
                <a:latin typeface="Cambria"/>
              </a:rPr>
              <a:t>2</a:t>
            </a:r>
            <a:r>
              <a:rPr sz="2000" b="0" i="0">
                <a:solidFill>
                  <a:srgbClr val="1C252B"/>
                </a:solidFill>
                <a:latin typeface="Cambria"/>
              </a:rPr>
              <a:t>)/2</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max(</a:t>
            </a:r>
            <a:r>
              <a:rPr sz="2000" b="0" i="1">
                <a:solidFill>
                  <a:srgbClr val="1C252B"/>
                </a:solidFill>
                <a:latin typeface="Cambria"/>
              </a:rPr>
              <a:t>h</a:t>
            </a:r>
            <a:r>
              <a:rPr sz="1300" b="0" i="0" baseline="-25000">
                <a:solidFill>
                  <a:srgbClr val="1C252B"/>
                </a:solidFill>
                <a:latin typeface="Cambria"/>
              </a:rPr>
              <a:t>1</a:t>
            </a:r>
            <a:r>
              <a:rPr sz="2000" b="0" i="0">
                <a:solidFill>
                  <a:srgbClr val="1C252B"/>
                </a:solidFill>
                <a:latin typeface="Cambria"/>
              </a:rPr>
              <a:t>,</a:t>
            </a:r>
            <a:r>
              <a:rPr sz="2000" b="0" i="1">
                <a:solidFill>
                  <a:srgbClr val="1C252B"/>
                </a:solidFill>
                <a:latin typeface="Cambria"/>
              </a:rPr>
              <a:t>h</a:t>
            </a:r>
            <a:r>
              <a:rPr sz="1300" b="0" i="0" baseline="-25000">
                <a:solidFill>
                  <a:srgbClr val="1C252B"/>
                </a:solidFill>
                <a:latin typeface="Cambria"/>
              </a:rPr>
              <a:t>2</a:t>
            </a:r>
            <a:r>
              <a:rPr sz="2000" b="0" i="0">
                <a:solidFill>
                  <a:srgbClr val="1C252B"/>
                </a:solidFill>
                <a:latin typeface="Cambria"/>
              </a:rPr>
              <a:t>)</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min(</a:t>
            </a:r>
            <a:r>
              <a:rPr sz="2000" b="0" i="1">
                <a:solidFill>
                  <a:srgbClr val="1C252B"/>
                </a:solidFill>
                <a:latin typeface="Cambria"/>
              </a:rPr>
              <a:t>h</a:t>
            </a:r>
            <a:r>
              <a:rPr sz="1300" b="0" i="0" baseline="-25000">
                <a:solidFill>
                  <a:srgbClr val="1C252B"/>
                </a:solidFill>
                <a:latin typeface="Cambria"/>
              </a:rPr>
              <a:t>1</a:t>
            </a:r>
            <a:r>
              <a:rPr sz="2000" b="0" i="0">
                <a:solidFill>
                  <a:srgbClr val="1C252B"/>
                </a:solidFill>
                <a:latin typeface="Cambria"/>
              </a:rPr>
              <a:t>,</a:t>
            </a:r>
            <a:r>
              <a:rPr sz="2000" b="0" i="1">
                <a:solidFill>
                  <a:srgbClr val="1C252B"/>
                </a:solidFill>
                <a:latin typeface="Cambria"/>
              </a:rPr>
              <a:t>h</a:t>
            </a:r>
            <a:r>
              <a:rPr sz="1300" b="0" i="0" baseline="-25000">
                <a:solidFill>
                  <a:srgbClr val="1C252B"/>
                </a:solidFill>
                <a:latin typeface="Cambria"/>
              </a:rPr>
              <a:t>2</a:t>
            </a:r>
            <a:r>
              <a:rPr sz="2000" b="0" i="0">
                <a:solidFill>
                  <a:srgbClr val="1C252B"/>
                </a:solidFill>
                <a:latin typeface="Cambria"/>
              </a:rPr>
              <a:t>)</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74015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5  ·  Informed Search and Heuristics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53     </a:t>
            </a:r>
            <a:fld id="{721AEFE7-3F21-4455-A430-22539B24B483}" type="slidenum">
              <a:rPr lang="en-GB" sz="1000">
                <a:solidFill>
                  <a:srgbClr val="8795A1"/>
                </a:solidFill>
                <a:latin typeface="Segoe UI"/>
              </a:rPr>
              <a:t>53</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the step of the </a:t>
            </a:r>
            <a:r>
              <a:rPr sz="1900" b="0" i="1">
                <a:solidFill>
                  <a:srgbClr val="1C252B"/>
                </a:solidFill>
                <a:latin typeface="Cambria"/>
              </a:rPr>
              <a:t>A</a:t>
            </a:r>
            <a:r>
              <a:rPr sz="1250" b="0" i="0" baseline="30000">
                <a:solidFill>
                  <a:srgbClr val="1C252B"/>
                </a:solidFill>
                <a:latin typeface="Cambria"/>
              </a:rPr>
              <a:t>∗</a:t>
            </a:r>
            <a:r>
              <a:rPr sz="1900" b="0" i="0">
                <a:solidFill>
                  <a:srgbClr val="1C252B"/>
                </a:solidFill>
                <a:latin typeface="Segoe UI"/>
              </a:rPr>
              <a:t> optimality proof that fails when </a:t>
            </a:r>
            <a:r>
              <a:rPr sz="1900" b="0" i="1">
                <a:solidFill>
                  <a:srgbClr val="1C252B"/>
                </a:solidFill>
                <a:latin typeface="Cambria"/>
              </a:rPr>
              <a:t>h</a:t>
            </a:r>
            <a:r>
              <a:rPr sz="1900" b="0" i="0">
                <a:solidFill>
                  <a:srgbClr val="1C252B"/>
                </a:solidFill>
                <a:latin typeface="Segoe UI"/>
              </a:rPr>
              <a:t> overestimates, and describe the observable symptom.</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does graph search with an explored set want consistency rather than mere admissibility?</a:t>
            </a:r>
          </a:p>
        </p:txBody>
      </p:sp>
      <p:sp>
        <p:nvSpPr>
          <p:cNvPr id="13" name="!!rt2">
            <a:extLst>
              <a:ext uri="{C183D7F6-B498-43B3-948B-1728B52AA6E4}">
                <adec:decorative xmlns:adec="http://schemas.microsoft.com/office/drawing/2017/decorative" val="1"/>
              </a:ext>
            </a:extLst>
          </p:cNvPr>
          <p:cNvSpPr/>
          <p:nvPr/>
        </p:nvSpPr>
        <p:spPr>
          <a:xfrm>
            <a:off x="658368" y="339912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44027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80841"/>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relaxation as a technique, and use it to invent an admissible heuristic for the problem of assigning nine developers to four workstreams.</a:t>
            </a:r>
          </a:p>
        </p:txBody>
      </p:sp>
      <p:sp>
        <p:nvSpPr>
          <p:cNvPr id="16" name="!!rt3">
            <a:extLst>
              <a:ext uri="{C183D7F6-B498-43B3-948B-1728B52AA6E4}">
                <adec:decorative xmlns:adec="http://schemas.microsoft.com/office/drawing/2017/decorative" val="1"/>
              </a:ext>
            </a:extLst>
          </p:cNvPr>
          <p:cNvSpPr/>
          <p:nvPr/>
        </p:nvSpPr>
        <p:spPr>
          <a:xfrm>
            <a:off x="658368" y="4220870"/>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426201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4202582"/>
            <a:ext cx="9549079" cy="120456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Suppose the harness took </a:t>
            </a:r>
            <a:r>
              <a:rPr sz="1900" b="0" i="0">
                <a:solidFill>
                  <a:srgbClr val="1C252B"/>
                </a:solidFill>
                <a:latin typeface="Cambria"/>
              </a:rPr>
              <a:t>6</a:t>
            </a:r>
            <a:r>
              <a:rPr sz="1900" b="0" i="0">
                <a:solidFill>
                  <a:srgbClr val="1C252B"/>
                </a:solidFill>
                <a:latin typeface="Segoe UI"/>
              </a:rPr>
              <a:t> days instead of </a:t>
            </a:r>
            <a:r>
              <a:rPr sz="1900" b="0" i="0">
                <a:solidFill>
                  <a:srgbClr val="1C252B"/>
                </a:solidFill>
                <a:latin typeface="Cambria"/>
              </a:rPr>
              <a:t>3</a:t>
            </a:r>
            <a:r>
              <a:rPr sz="1900" b="0" i="0">
                <a:solidFill>
                  <a:srgbClr val="1C252B"/>
                </a:solidFill>
                <a:latin typeface="Segoe UI"/>
              </a:rPr>
              <a:t>. By hand, compute the cost of both routes, say which is now optimal, and predict whether greedy search with the mandatory-work heuristic would now be </a:t>
            </a:r>
            <a:r>
              <a:rPr sz="1900" b="0" i="1">
                <a:solidFill>
                  <a:srgbClr val="1C252B"/>
                </a:solidFill>
                <a:latin typeface="Segoe UI"/>
              </a:rPr>
              <a:t>right</a:t>
            </a:r>
            <a:r>
              <a:rPr sz="1900" b="0" i="0">
                <a:solidFill>
                  <a:srgbClr val="1C252B"/>
                </a:solidFill>
                <a:latin typeface="Segoe UI"/>
              </a:rPr>
              <a:t> by accident. Then state what that tells you about relying on greedy search.</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1196592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5739D"/>
                </a:solidFill>
                <a:latin typeface="Segoe UI Black"/>
              </a:rPr>
              <a:t>05</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5</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6 — Local Search and Optimisation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5, pages 43–53</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 over sprint states, two heuristics</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Assignment 1 set</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5  ·  Informed Search and Heuristics</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F167E834-4F2C-42F9-98B3-635D62E783A7}" type="slidenum">
              <a:rPr lang="en-GB" sz="1000">
                <a:solidFill>
                  <a:srgbClr val="D5DEE5"/>
                </a:solidFill>
                <a:latin typeface="Segoe UI"/>
              </a:rPr>
              <a:t>54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rtificial Intelligence Fall 2026">
  <a:themeElements>
    <a:clrScheme name="Artificial Intellig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rtificial Intellig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Informed Search and Heuristics</dc:title>
  <dc:subject>Artificial Intelligence — Search, Knowledge and Reasoning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