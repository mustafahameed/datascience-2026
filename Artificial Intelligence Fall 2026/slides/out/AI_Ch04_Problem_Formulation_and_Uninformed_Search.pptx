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1.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1.svg" ContentType="image/svg+xml"/>
  <Override PartName="/ppt/media/image32.svg" ContentType="image/svg+xml"/>
  <Override PartName="/ppt/media/image34.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9.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7.svg" ContentType="image/svg+xml"/>
  <Override PartName="/ppt/media/image58.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63.svg" ContentType="image/svg+xml"/>
  <Override PartName="/ppt/media/image64.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8F22853-CF51-47E4-AE83-95713B9A1523}">
          <p14:sldIdLst>
            <p14:sldId id="256"/>
            <p14:sldId id="257"/>
            <p14:sldId id="258"/>
            <p14:sldId id="259"/>
            <p14:sldId id="260"/>
          </p14:sldIdLst>
        </p14:section>
        <p14:section name="4.1 From a Task to a State Space" id="{A48F3FF7-0768-4370-A084-1A5C2C49CC57}">
          <p14:sldIdLst>
            <p14:sldId id="261"/>
            <p14:sldId id="262"/>
            <p14:sldId id="263"/>
          </p14:sldIdLst>
        </p14:section>
        <p14:section name="4.2 The State Space and the Search Tree" id="{7F6FFA9E-936F-4DA4-899B-EE96BF989342}">
          <p14:sldIdLst>
            <p14:sldId id="264"/>
            <p14:sldId id="265"/>
            <p14:sldId id="266"/>
          </p14:sldIdLst>
        </p14:section>
        <p14:section name="4.3 Breadth-First Search" id="{23DD3C73-3C22-40BB-9E6E-4B0070116B3B}">
          <p14:sldIdLst>
            <p14:sldId id="267"/>
          </p14:sldIdLst>
        </p14:section>
        <p14:section name="4.4 Depth-First and Depth-Limited Search" id="{4767A7A6-C102-409D-ADC2-31ABC8FDACBF}">
          <p14:sldIdLst>
            <p14:sldId id="268"/>
          </p14:sldIdLst>
        </p14:section>
        <p14:section name="4.5 Iterative Deepening" id="{A5AB5D78-421D-4374-8562-BDE438F329F9}">
          <p14:sldIdLst>
            <p14:sldId id="269"/>
            <p14:sldId id="270"/>
          </p14:sldIdLst>
        </p14:section>
        <p14:section name="4.6 Uniform-Cost Search" id="{4848BA77-9109-45BE-B075-712539A730CC}">
          <p14:sldIdLst>
            <p14:sldId id="271"/>
          </p14:sldIdLst>
        </p14:section>
        <p14:section name="4.7 Why Uninformed Search Cannot Scale" id="{33BDF26F-8A35-4CC6-833B-CD964F80EDEC}">
          <p14:sldIdLst>
            <p14:sldId id="272"/>
            <p14:sldId id="273"/>
            <p14:sldId id="274"/>
          </p14:sldIdLst>
        </p14:section>
        <p14:section name="Pitfalls" id="{66B405BE-D45E-4BB4-B2DA-33077A484F81}">
          <p14:sldIdLst>
            <p14:sldId id="275"/>
          </p14:sldIdLst>
        </p14:section>
        <p14:section name="Lab" id="{337DB466-2283-4DB1-B68D-F43EDB552375}">
          <p14:sldIdLst>
            <p14:sldId id="276"/>
            <p14:sldId id="277"/>
            <p14:sldId id="278"/>
            <p14:sldId id="279"/>
            <p14:sldId id="280"/>
            <p14:sldId id="281"/>
            <p14:sldId id="282"/>
            <p14:sldId id="283"/>
            <p14:sldId id="284"/>
            <p14:sldId id="285"/>
            <p14:sldId id="286"/>
            <p14:sldId id="287"/>
          </p14:sldIdLst>
        </p14:section>
        <p14:section name="Checkpoint" id="{718989B0-CF99-4FAE-AE9E-6FC01014D1E1}">
          <p14:sldIdLst>
            <p14:sldId id="288"/>
            <p14:sldId id="289"/>
            <p14:sldId id="290"/>
            <p14:sldId id="291"/>
            <p14:sldId id="292"/>
            <p14:sldId id="293"/>
          </p14:sldIdLst>
        </p14:section>
        <p14:section name="Wrap-up" id="{EE8E6BEF-1203-44B3-9519-07D32DC6888C}">
          <p14:sldIdLst>
            <p14:sldId id="294"/>
            <p14:sldId id="295"/>
            <p14:sldId id="296"/>
            <p14:sldId id="297"/>
            <p14:sldId id="298"/>
            <p14:sldId id="299"/>
            <p14:sldId id="300"/>
            <p14:sldId id="30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4: Problem Formulation and Uninformed Search. Part 2 — Problem Solving by Search. Week 3: Problem formulation and uninformed search. Handout pages 34–42.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3 (the Problem interface, nodes, the three frontiers, frozenset states) and Chapter 2 (the goal-based agent, whose deliberation is exactly the search of this chapter). Every algorithm here is the same twelve-line body with a different frontier.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problem formulation; state space; search tree; node expansion; frontier; explored set; redundant path; branching factor; depth; completeness; optimality; breadth-first search; depth-first search; depth-limited search; iterative deepening; uniform-cost search; combinatorial explosion.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delivery manager says: get the release out, and don’t start anything before the things it depends on are finished. That is a task, not a problem. Turning it into a problem means deciding five things — the five of Chapter 3 — and the decisions are not mechanical.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Notice what the formulation throws away: who does each task, the calendar, holidays, the fact that two tasks by the same person cannot overlap. Each omission is a modelling decision that makes the problem solvable and the answer less directly useful. Chapter 7 puts the people back in, and it costs a different algorithm to do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two different objects and confusing them causes both of the classic bugs. The state space is a graph: nodes are states, edges are actions. It is a property of the problem. For this project it has 22 reachable states. The search tree is what the algorithm builds as it explores. Its root is the initial state, and its branches are paths. The same state appears in it once for every distinct path that reaches it — so the tree has 184 nodes where the graph has 22. Figure 4.1 shows both for a three-task fragment.</a:t>
            </a:r>
          </a:p>
          <a:p/>
          <a:p>
            <a:r>
              <a:t>Figure 4.1 (handout p. 35): The state space and the search tree for a three-task fragment where c depends on both a and b. The tree repeats every state once per path that reaches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 first; the slide is the handout's wording.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 first; the slide is the handout's wording.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depth-limited search with = 0, then 1, then 2, and so on until a solution is found. This sounds wasteful and is the standard answer for large uninformed problems, because it has breadth-first search’s completeness and shallowest-solution guarantee with depth-first search’s memory. The apparent waste is small. The work is dominated by the deepest level, because the levels grow geometrically: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for b = 10, d = 5 this is 123,456 nodes against breadth-first search’s 111,111 — about 11% more work, in exchange for storing 50 nodes instead of 100,000. Figure 4.2 shows why the ratio improves as b grows.</a:t>
            </a:r>
          </a:p>
          <a:p/>
          <a:p>
            <a:r>
              <a:t>Figure 4.2 (handout p. 36): Iterative deepening against breadth-first search at solution depth d=5. The repeated work is a modest overhead that shrinks as the tree widens — 91% extra at b=2, 11% at b=10, 9% at b=12 — while the memory requirement falls from exponential to linear.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Expand the node with the lowest path cost g(n), not the shallowest: a priority-queue frontier, so heapq. This is the first algorithm in the book that is genuinely optimal in cost, and it is optimal for a reason worth stating precisely: when a node is popped, every remaining path to it costs at least as much, because the frontier is ordered by cost and costs are non-negative. So the first time the goal is popped, it is popped by its cheapest path. That argument is exactly why the goal test must happen on popping and not on generating, and why every edge cost must be non-negative. Break either condition and uniform-cost search quietly returns sub-optimal answers. Uniform-cost search is breadth-first search when all costs are equal, and it is Dijkstra’s algorithm. In Chapter 5 it becomes A∗ by adding one term.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entry in the time column of Table 4.1 is exponential, and no choice of frontier changes that. The reason is arithmetic: at branching factor 10, depth 10 is 1010 nodes. At a million nodes per second that is about three hours, and depth 12 is twelve days. This is the combinatorial explosion that ended the first wave of AI research (Chapter 1), and it is not an implementation problem. These algorithms are uninformed: they know nothing about the problem except how to generate successors and recognise a goal, so they cannot prefer a promising branch. The only escape is to give the search a way to estimate how far a state is from the goal, which is Chapter 5.</a:t>
            </a:r>
          </a:p>
          <a:p/>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problem, four strategies, one table. The search body is the one from Chapter 3; only the frontier changes. The lab also measures the cost of dropping the explored set.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They are repeated states: the same set of finished tasks reached by different orderings. The search tree contains one node per path, the state graph one node per situation. An explored set — a set of states already generated, tested before pushing — removes them, and on a space containing a cycle it is also what makes the search terminate at all.</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Because when a node is generated, a cheaper path to the same state may still be sitting unexpanded in the frontier; only when a node is popped does the frontier ordering guarantee that nothing cheaper remains. The smallest graph showing it: start S, goal G, and one intermediate A, with S → G costing 10, S → A costing 1 and A → G costing 2. Testing on generation returns the direct path at cost 10; testing on popping returns S,A,G at cost 3.</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Because the number of nodes grows geometrically with depth, so the deepest level dominates the total: the nodes above it sum to roughly 1/(b−1) of it. At b=10, d=5 the repetition costs about 11% extra work. What it buys is memory: O(bd) instead of O(bd) — 50 nodes rather than 100,000 — while keeping completeness and the shallowest-solution guarantee.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5 — Informed Search and Heuristics. READ: Handout Chapter 4, pages 34–42. THIS WEEK'S LAB: Task ordering four ways. ASSESSMENT: Quiz 1 (Ch 1–3).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9.xml"/><Relationship Id="rId7" Type="http://schemas.openxmlformats.org/officeDocument/2006/relationships/slide" Target="slide12.xml"/><Relationship Id="rId8" Type="http://schemas.openxmlformats.org/officeDocument/2006/relationships/slide" Target="slide13.xml"/><Relationship Id="rId9" Type="http://schemas.openxmlformats.org/officeDocument/2006/relationships/slide" Target="slide15.xml"/><Relationship Id="rId10" Type="http://schemas.openxmlformats.org/officeDocument/2006/relationships/slide" Target="slide16.xml"/><Relationship Id="rId11" Type="http://schemas.openxmlformats.org/officeDocument/2006/relationships/slide" Target="slide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1.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22.svg"/><Relationship Id="rId4" Type="http://schemas.openxmlformats.org/officeDocument/2006/relationships/image" Target="../media/image23.png"/><Relationship Id="rId5" Type="http://schemas.openxmlformats.org/officeDocument/2006/relationships/image" Target="../media/image24.svg"/><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image" Target="../media/image26.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28.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0.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1.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2.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34.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6.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7.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8.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9.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0.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1.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2.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3.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4.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5.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6.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7.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image" Target="../media/image49.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1.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image" Target="../media/image52.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3.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image" Target="../media/image54.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5.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57.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58.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0.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1.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2.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3.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4.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679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9769F"/>
                </a:solidFill>
                <a:latin typeface="Segoe UI Black"/>
              </a:rPr>
              <a:t>04</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Problem Formulation and Uninformed Search</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C1D4E1"/>
                </a:solidFill>
                <a:latin typeface="Segoe UI"/>
              </a:rPr>
              <a:t>PART II  ·  PROBLEM SOLVING BY SEARCH</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C1D4E1"/>
                </a:solidFill>
                <a:latin typeface="Segoe UI"/>
              </a:rPr>
              <a:t>CHAPTER 4  ·  WEEK 3</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3E1EA"/>
                </a:solidFill>
                <a:latin typeface="Segoe UI"/>
              </a:rPr>
              <a:t>Artificial Intelligence — Search, Knowledge and Reasoning</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94A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8BAC7"/>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FCCD6"/>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8BAC7"/>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  ·  Problem Formulation and Uninformed Search</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34     </a:t>
            </a:r>
            <a:fld id="{D944E09C-69CA-4500-9734-DC91E4645E69}" type="slidenum">
              <a:rPr lang="en-GB" sz="1000">
                <a:solidFill>
                  <a:srgbClr val="8795A1"/>
                </a:solidFill>
                <a:latin typeface="Segoe UI"/>
              </a:rPr>
              <a:t>2</a:t>
            </a:fld>
          </a:p>
        </p:txBody>
      </p:sp>
      <p:sp>
        <p:nvSpPr>
          <p:cNvPr id="7" name="!!rp1"/>
          <p:cNvSpPr txBox="1"/>
          <p:nvPr/>
        </p:nvSpPr>
        <p:spPr>
          <a:xfrm>
            <a:off x="777239"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39"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435587" y="1755648"/>
            <a:ext cx="132916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435587" y="2029967"/>
            <a:ext cx="1329163" cy="4572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093935"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093935"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5596834"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5596834"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7509260"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7509260"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012160" y="1755648"/>
            <a:ext cx="240229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012160" y="2029967"/>
            <a:ext cx="240229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1741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2597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26937"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354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636464"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450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329454" y="2112264"/>
            <a:ext cx="566928" cy="566928"/>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329454"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27" name="!!dot5">
            <a:extLst>
              <a:ext uri="{C183D7F6-B498-43B3-948B-1728B52AA6E4}">
                <adec:decorative xmlns:adec="http://schemas.microsoft.com/office/drawing/2017/decorative" val="1"/>
              </a:ext>
            </a:extLst>
          </p:cNvPr>
          <p:cNvSpPr/>
          <p:nvPr/>
        </p:nvSpPr>
        <p:spPr>
          <a:xfrm>
            <a:off x="3040733"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9492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450259"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35881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4134106"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404266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54363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45219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953159"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86171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637005"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554556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6046532"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95509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645605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63646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865585"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7741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549431"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745799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958958"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8675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368484"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27704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9052331"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96089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946185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937041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87138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77994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10280910"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1018947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69043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5989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109996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10085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label"/>
          <p:cNvSpPr txBox="1"/>
          <p:nvPr/>
        </p:nvSpPr>
        <p:spPr>
          <a:xfrm>
            <a:off x="658368"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236794"/>
                </a:solidFill>
                <a:latin typeface="Segoe UI"/>
              </a:rPr>
              <a:t>Problem Formulation and Uninformed Search</a:t>
            </a:r>
          </a:p>
        </p:txBody>
      </p:sp>
      <p:sp>
        <p:nvSpPr>
          <p:cNvPr id="6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5" name="!!chipBU2">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chipbBU2">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7" name="!!chiptBU2"/>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2  </a:t>
            </a:r>
            <a:r>
              <a:rPr sz="1400" b="0" i="0">
                <a:solidFill>
                  <a:srgbClr val="1C252B"/>
                </a:solidFill>
                <a:latin typeface="Segoe UI"/>
              </a:rPr>
              <a:t>Intelligent Agents and Task Environments</a:t>
            </a:r>
          </a:p>
        </p:txBody>
      </p:sp>
      <p:sp>
        <p:nvSpPr>
          <p:cNvPr id="68" name="!!chipBU3">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bBU3">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chiptBU3"/>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3  </a:t>
            </a:r>
            <a:r>
              <a:rPr sz="1400" b="0" i="0">
                <a:solidFill>
                  <a:srgbClr val="1C252B"/>
                </a:solidFill>
                <a:latin typeface="Segoe UI"/>
              </a:rPr>
              <a:t>Representations and Search in Python</a:t>
            </a:r>
          </a:p>
        </p:txBody>
      </p:sp>
      <p:sp>
        <p:nvSpPr>
          <p:cNvPr id="71"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2" name="!!chipUS5">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chipbUS5">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chiptUS5"/>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5  </a:t>
            </a:r>
            <a:r>
              <a:rPr sz="1400" b="0" i="0">
                <a:solidFill>
                  <a:srgbClr val="1C252B"/>
                </a:solidFill>
                <a:latin typeface="Segoe UI"/>
              </a:rPr>
              <a:t>Informed Search and Heuristics</a:t>
            </a:r>
          </a:p>
        </p:txBody>
      </p:sp>
      <p:sp>
        <p:nvSpPr>
          <p:cNvPr id="75" name="!!chipUS6">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bUS6">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7" name="!!chiptUS6"/>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6  </a:t>
            </a:r>
            <a:r>
              <a:rPr sz="1400" b="0" i="0">
                <a:solidFill>
                  <a:srgbClr val="1C252B"/>
                </a:solidFill>
                <a:latin typeface="Segoe UI"/>
              </a:rPr>
              <a:t>Local Search and Optimisation</a:t>
            </a:r>
          </a:p>
        </p:txBody>
      </p:sp>
      <p:sp>
        <p:nvSpPr>
          <p:cNvPr id="78" name="!!chipUS7">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bUS7">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chiptUS7"/>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7  </a:t>
            </a:r>
            <a:r>
              <a:rPr sz="1400" b="0" i="0">
                <a:solidFill>
                  <a:srgbClr val="1C252B"/>
                </a:solidFill>
                <a:latin typeface="Segoe UI"/>
              </a:rPr>
              <a:t>Constraint Satisfaction</a:t>
            </a:r>
          </a:p>
        </p:txBody>
      </p:sp>
      <p:sp>
        <p:nvSpPr>
          <p:cNvPr id="81" name="!!chipUS8">
            <a:extLst>
              <a:ext uri="{C183D7F6-B498-43B3-948B-1728B52AA6E4}">
                <adec:decorative xmlns:adec="http://schemas.microsoft.com/office/drawing/2017/decorative" val="1"/>
              </a:ext>
            </a:extLst>
          </p:cNvPr>
          <p:cNvSpPr/>
          <p:nvPr/>
        </p:nvSpPr>
        <p:spPr>
          <a:xfrm>
            <a:off x="6324447" y="5321808"/>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chipbUS8">
            <a:extLst>
              <a:ext uri="{C183D7F6-B498-43B3-948B-1728B52AA6E4}">
                <adec:decorative xmlns:adec="http://schemas.microsoft.com/office/drawing/2017/decorative" val="1"/>
              </a:ext>
            </a:extLst>
          </p:cNvPr>
          <p:cNvSpPr/>
          <p:nvPr/>
        </p:nvSpPr>
        <p:spPr>
          <a:xfrm>
            <a:off x="6324447" y="5321808"/>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3" name="!!chiptUS8"/>
          <p:cNvSpPr txBox="1"/>
          <p:nvPr/>
        </p:nvSpPr>
        <p:spPr>
          <a:xfrm>
            <a:off x="6525615"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8  </a:t>
            </a:r>
            <a:r>
              <a:rPr sz="1400" b="0" i="0">
                <a:solidFill>
                  <a:srgbClr val="1C252B"/>
                </a:solidFill>
                <a:latin typeface="Segoe UI"/>
              </a:rPr>
              <a:t>Adversarial Search and Game Playing</a:t>
            </a:r>
          </a:p>
        </p:txBody>
      </p:sp>
      <p:sp>
        <p:nvSpPr>
          <p:cNvPr id="84" name="!!chipUS9">
            <a:extLst>
              <a:ext uri="{C183D7F6-B498-43B3-948B-1728B52AA6E4}">
                <adec:decorative xmlns:adec="http://schemas.microsoft.com/office/drawing/2017/decorative" val="1"/>
              </a:ext>
            </a:extLst>
          </p:cNvPr>
          <p:cNvSpPr/>
          <p:nvPr/>
        </p:nvSpPr>
        <p:spPr>
          <a:xfrm>
            <a:off x="6324447" y="5833872"/>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5" name="!!chipbUS9">
            <a:extLst>
              <a:ext uri="{C183D7F6-B498-43B3-948B-1728B52AA6E4}">
                <adec:decorative xmlns:adec="http://schemas.microsoft.com/office/drawing/2017/decorative" val="1"/>
              </a:ext>
            </a:extLst>
          </p:cNvPr>
          <p:cNvSpPr/>
          <p:nvPr/>
        </p:nvSpPr>
        <p:spPr>
          <a:xfrm>
            <a:off x="6324447" y="5833872"/>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6" name="!!chiptUS9"/>
          <p:cNvSpPr txBox="1"/>
          <p:nvPr/>
        </p:nvSpPr>
        <p:spPr>
          <a:xfrm>
            <a:off x="6525615" y="5925312"/>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9  </a:t>
            </a:r>
            <a:r>
              <a:rPr sz="1400" b="0" i="0">
                <a:solidFill>
                  <a:srgbClr val="1C252B"/>
                </a:solidFill>
                <a:latin typeface="Segoe UI"/>
              </a:rPr>
              <a:t>Planning</a:t>
            </a:r>
          </a:p>
        </p:txBody>
      </p:sp>
      <p:sp>
        <p:nvSpPr>
          <p:cNvPr id="8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8" name="!!pfill">
            <a:extLst>
              <a:ext uri="{C183D7F6-B498-43B3-948B-1728B52AA6E4}">
                <adec:decorative xmlns:adec="http://schemas.microsoft.com/office/drawing/2017/decorative" val="1"/>
              </a:ext>
            </a:extLst>
          </p:cNvPr>
          <p:cNvSpPr/>
          <p:nvPr/>
        </p:nvSpPr>
        <p:spPr>
          <a:xfrm>
            <a:off x="0" y="0"/>
            <a:ext cx="53007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  ·  Problem Formulation and Uninformed Search</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34     </a:t>
            </a:r>
            <a:fld id="{D20BA260-2B12-4A67-8E2E-2CB7E34FD486}"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Formulate</a:t>
            </a:r>
            <a:r>
              <a:rPr sz="2100" b="0" i="0">
                <a:solidFill>
                  <a:srgbClr val="1C252B"/>
                </a:solidFill>
                <a:latin typeface="Segoe UI"/>
              </a:rPr>
              <a:t> an informal task as a search problem, choosing a state representation and </a:t>
            </a:r>
            <a:r>
              <a:rPr sz="2100" b="1" i="0">
                <a:solidFill>
                  <a:srgbClr val="1C252B"/>
                </a:solidFill>
                <a:latin typeface="Segoe UI"/>
              </a:rPr>
              <a:t>justifying</a:t>
            </a:r>
            <a:r>
              <a:rPr sz="2100" b="0" i="0">
                <a:solidFill>
                  <a:srgbClr val="1C252B"/>
                </a:solidFill>
                <a:latin typeface="Segoe UI"/>
              </a:rPr>
              <a:t> what it leaves out.</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Distinguish</a:t>
            </a:r>
            <a:r>
              <a:rPr sz="2100" b="0" i="0">
                <a:solidFill>
                  <a:srgbClr val="1C252B"/>
                </a:solidFill>
                <a:latin typeface="Segoe UI"/>
              </a:rPr>
              <a:t> the state space from the search tree, and </a:t>
            </a:r>
            <a:r>
              <a:rPr sz="2100" b="1" i="0">
                <a:solidFill>
                  <a:srgbClr val="1C252B"/>
                </a:solidFill>
                <a:latin typeface="Segoe UI"/>
              </a:rPr>
              <a:t>explain</a:t>
            </a:r>
            <a:r>
              <a:rPr sz="2100" b="0" i="0">
                <a:solidFill>
                  <a:srgbClr val="1C252B"/>
                </a:solidFill>
                <a:latin typeface="Segoe UI"/>
              </a:rPr>
              <a:t> why the tree can be infinite when the space is finite.</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09974"/>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Trace</a:t>
            </a:r>
            <a:r>
              <a:rPr sz="2100" b="0" i="0">
                <a:solidFill>
                  <a:srgbClr val="1C252B"/>
                </a:solidFill>
                <a:latin typeface="Segoe UI"/>
              </a:rPr>
              <a:t> breadth-first, depth-first, depth-limited, iterative deepening and uniform-cost search by hand on a small graph.</a:t>
            </a:r>
          </a:p>
        </p:txBody>
      </p:sp>
      <p:sp>
        <p:nvSpPr>
          <p:cNvPr id="17" name="!!ob3">
            <a:extLst>
              <a:ext uri="{C183D7F6-B498-43B3-948B-1728B52AA6E4}">
                <adec:decorative xmlns:adec="http://schemas.microsoft.com/office/drawing/2017/decorative" val="1"/>
              </a:ext>
            </a:extLst>
          </p:cNvPr>
          <p:cNvSpPr/>
          <p:nvPr/>
        </p:nvSpPr>
        <p:spPr>
          <a:xfrm>
            <a:off x="658368" y="4767681"/>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827117"/>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758537"/>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Compare</a:t>
            </a:r>
            <a:r>
              <a:rPr sz="2100" b="0" i="0">
                <a:solidFill>
                  <a:srgbClr val="1C252B"/>
                </a:solidFill>
                <a:latin typeface="Segoe UI"/>
              </a:rPr>
              <a:t> the five strategies on completeness, optimality, time and space, and </a:t>
            </a:r>
            <a:r>
              <a:rPr sz="2100" b="1" i="0">
                <a:solidFill>
                  <a:srgbClr val="1C252B"/>
                </a:solidFill>
                <a:latin typeface="Segoe UI"/>
              </a:rPr>
              <a:t>choose</a:t>
            </a:r>
            <a:r>
              <a:rPr sz="2100" b="0" i="0">
                <a:solidFill>
                  <a:srgbClr val="1C252B"/>
                </a:solidFill>
                <a:latin typeface="Segoe UI"/>
              </a:rPr>
              <a:t> one for a given problem with a reason.</a:t>
            </a:r>
          </a:p>
        </p:txBody>
      </p:sp>
      <p:sp>
        <p:nvSpPr>
          <p:cNvPr id="20" name="!!ob4">
            <a:extLst>
              <a:ext uri="{C183D7F6-B498-43B3-948B-1728B52AA6E4}">
                <adec:decorative xmlns:adec="http://schemas.microsoft.com/office/drawing/2017/decorative" val="1"/>
              </a:ext>
            </a:extLst>
          </p:cNvPr>
          <p:cNvSpPr/>
          <p:nvPr/>
        </p:nvSpPr>
        <p:spPr>
          <a:xfrm>
            <a:off x="658368" y="5616244"/>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675680"/>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607100"/>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Explain</a:t>
            </a:r>
            <a:r>
              <a:rPr sz="2100" b="0" i="0">
                <a:solidFill>
                  <a:srgbClr val="1C252B"/>
                </a:solidFill>
                <a:latin typeface="Segoe UI"/>
              </a:rPr>
              <a:t> why uninformed search cannot scale, and </a:t>
            </a:r>
            <a:r>
              <a:rPr sz="2100" b="1" i="0">
                <a:solidFill>
                  <a:srgbClr val="1C252B"/>
                </a:solidFill>
                <a:latin typeface="Segoe UI"/>
              </a:rPr>
              <a:t>quantify</a:t>
            </a:r>
            <a:r>
              <a:rPr sz="2100" b="0" i="0">
                <a:solidFill>
                  <a:srgbClr val="1C252B"/>
                </a:solidFill>
                <a:latin typeface="Segoe UI"/>
              </a:rPr>
              <a:t> the growth that defeats it.</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9511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  ·  Problem Formulation and Uninformed Search</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34     </a:t>
            </a:r>
            <a:fld id="{66BA50BB-7821-4368-ABC3-BF699887CA5C}" type="slidenum">
              <a:rPr lang="en-GB" sz="1000">
                <a:solidFill>
                  <a:srgbClr val="8795A1"/>
                </a:solidFill>
                <a:latin typeface="Segoe UI"/>
              </a:rPr>
              <a:t>4</a:t>
            </a:fld>
          </a:p>
        </p:txBody>
      </p:sp>
      <p:sp>
        <p:nvSpPr>
          <p:cNvPr id="7" name="!!term-problem formul">
            <a:extLst>
              <a:ext uri="{C183D7F6-B498-43B3-948B-1728B52AA6E4}">
                <adec:decorative xmlns:adec="http://schemas.microsoft.com/office/drawing/2017/decorative" val="1"/>
              </a:ext>
            </a:extLst>
          </p:cNvPr>
          <p:cNvSpPr/>
          <p:nvPr/>
        </p:nvSpPr>
        <p:spPr>
          <a:xfrm>
            <a:off x="658368" y="1847088"/>
            <a:ext cx="222030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problem formul">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problem formul"/>
          <p:cNvSpPr txBox="1"/>
          <p:nvPr/>
        </p:nvSpPr>
        <p:spPr>
          <a:xfrm>
            <a:off x="950976" y="1970532"/>
            <a:ext cx="203742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problem formulation</a:t>
            </a:r>
          </a:p>
        </p:txBody>
      </p:sp>
      <p:sp>
        <p:nvSpPr>
          <p:cNvPr id="10" name="!!term-state space">
            <a:extLst>
              <a:ext uri="{C183D7F6-B498-43B3-948B-1728B52AA6E4}">
                <adec:decorative xmlns:adec="http://schemas.microsoft.com/office/drawing/2017/decorative" val="1"/>
              </a:ext>
            </a:extLst>
          </p:cNvPr>
          <p:cNvSpPr/>
          <p:nvPr/>
        </p:nvSpPr>
        <p:spPr>
          <a:xfrm>
            <a:off x="3024972" y="1847088"/>
            <a:ext cx="139368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state space">
            <a:extLst>
              <a:ext uri="{C183D7F6-B498-43B3-948B-1728B52AA6E4}">
                <adec:decorative xmlns:adec="http://schemas.microsoft.com/office/drawing/2017/decorative" val="1"/>
              </a:ext>
            </a:extLst>
          </p:cNvPr>
          <p:cNvSpPr/>
          <p:nvPr/>
        </p:nvSpPr>
        <p:spPr>
          <a:xfrm>
            <a:off x="315298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state space"/>
          <p:cNvSpPr txBox="1"/>
          <p:nvPr/>
        </p:nvSpPr>
        <p:spPr>
          <a:xfrm>
            <a:off x="3317580" y="1970532"/>
            <a:ext cx="121080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state space</a:t>
            </a:r>
          </a:p>
        </p:txBody>
      </p:sp>
      <p:sp>
        <p:nvSpPr>
          <p:cNvPr id="13" name="!!term-search tree">
            <a:extLst>
              <a:ext uri="{C183D7F6-B498-43B3-948B-1728B52AA6E4}">
                <adec:decorative xmlns:adec="http://schemas.microsoft.com/office/drawing/2017/decorative" val="1"/>
              </a:ext>
            </a:extLst>
          </p:cNvPr>
          <p:cNvSpPr/>
          <p:nvPr/>
        </p:nvSpPr>
        <p:spPr>
          <a:xfrm>
            <a:off x="4564964" y="1847088"/>
            <a:ext cx="137909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search tree">
            <a:extLst>
              <a:ext uri="{C183D7F6-B498-43B3-948B-1728B52AA6E4}">
                <adec:decorative xmlns:adec="http://schemas.microsoft.com/office/drawing/2017/decorative" val="1"/>
              </a:ext>
            </a:extLst>
          </p:cNvPr>
          <p:cNvSpPr/>
          <p:nvPr/>
        </p:nvSpPr>
        <p:spPr>
          <a:xfrm>
            <a:off x="4692980"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search tree"/>
          <p:cNvSpPr txBox="1"/>
          <p:nvPr/>
        </p:nvSpPr>
        <p:spPr>
          <a:xfrm>
            <a:off x="4857572" y="1970532"/>
            <a:ext cx="119621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search tree</a:t>
            </a:r>
          </a:p>
        </p:txBody>
      </p:sp>
      <p:sp>
        <p:nvSpPr>
          <p:cNvPr id="16" name="!!term-node expansion">
            <a:extLst>
              <a:ext uri="{C183D7F6-B498-43B3-948B-1728B52AA6E4}">
                <adec:decorative xmlns:adec="http://schemas.microsoft.com/office/drawing/2017/decorative" val="1"/>
              </a:ext>
            </a:extLst>
          </p:cNvPr>
          <p:cNvSpPr/>
          <p:nvPr/>
        </p:nvSpPr>
        <p:spPr>
          <a:xfrm>
            <a:off x="6090367" y="1847088"/>
            <a:ext cx="179923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node expansion">
            <a:extLst>
              <a:ext uri="{C183D7F6-B498-43B3-948B-1728B52AA6E4}">
                <adec:decorative xmlns:adec="http://schemas.microsoft.com/office/drawing/2017/decorative" val="1"/>
              </a:ext>
            </a:extLst>
          </p:cNvPr>
          <p:cNvSpPr/>
          <p:nvPr/>
        </p:nvSpPr>
        <p:spPr>
          <a:xfrm>
            <a:off x="621838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node expansion"/>
          <p:cNvSpPr txBox="1"/>
          <p:nvPr/>
        </p:nvSpPr>
        <p:spPr>
          <a:xfrm>
            <a:off x="6382975" y="1970532"/>
            <a:ext cx="161635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node expansion</a:t>
            </a:r>
          </a:p>
        </p:txBody>
      </p:sp>
      <p:sp>
        <p:nvSpPr>
          <p:cNvPr id="19" name="!!term-frontier">
            <a:extLst>
              <a:ext uri="{C183D7F6-B498-43B3-948B-1728B52AA6E4}">
                <adec:decorative xmlns:adec="http://schemas.microsoft.com/office/drawing/2017/decorative" val="1"/>
              </a:ext>
            </a:extLst>
          </p:cNvPr>
          <p:cNvSpPr/>
          <p:nvPr/>
        </p:nvSpPr>
        <p:spPr>
          <a:xfrm>
            <a:off x="8035908" y="1847088"/>
            <a:ext cx="107329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frontier">
            <a:extLst>
              <a:ext uri="{C183D7F6-B498-43B3-948B-1728B52AA6E4}">
                <adec:decorative xmlns:adec="http://schemas.microsoft.com/office/drawing/2017/decorative" val="1"/>
              </a:ext>
            </a:extLst>
          </p:cNvPr>
          <p:cNvSpPr/>
          <p:nvPr/>
        </p:nvSpPr>
        <p:spPr>
          <a:xfrm>
            <a:off x="816392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frontier"/>
          <p:cNvSpPr txBox="1"/>
          <p:nvPr/>
        </p:nvSpPr>
        <p:spPr>
          <a:xfrm>
            <a:off x="8328516" y="1970532"/>
            <a:ext cx="89041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frontier</a:t>
            </a:r>
          </a:p>
        </p:txBody>
      </p:sp>
      <p:sp>
        <p:nvSpPr>
          <p:cNvPr id="22" name="!!term-explored set">
            <a:extLst>
              <a:ext uri="{C183D7F6-B498-43B3-948B-1728B52AA6E4}">
                <adec:decorative xmlns:adec="http://schemas.microsoft.com/office/drawing/2017/decorative" val="1"/>
              </a:ext>
            </a:extLst>
          </p:cNvPr>
          <p:cNvSpPr/>
          <p:nvPr/>
        </p:nvSpPr>
        <p:spPr>
          <a:xfrm>
            <a:off x="9255506" y="1847088"/>
            <a:ext cx="149164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explored set">
            <a:extLst>
              <a:ext uri="{C183D7F6-B498-43B3-948B-1728B52AA6E4}">
                <adec:decorative xmlns:adec="http://schemas.microsoft.com/office/drawing/2017/decorative" val="1"/>
              </a:ext>
            </a:extLst>
          </p:cNvPr>
          <p:cNvSpPr/>
          <p:nvPr/>
        </p:nvSpPr>
        <p:spPr>
          <a:xfrm>
            <a:off x="938352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explored set"/>
          <p:cNvSpPr txBox="1"/>
          <p:nvPr/>
        </p:nvSpPr>
        <p:spPr>
          <a:xfrm>
            <a:off x="9548114" y="1970532"/>
            <a:ext cx="130876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explored set</a:t>
            </a:r>
          </a:p>
        </p:txBody>
      </p:sp>
      <p:sp>
        <p:nvSpPr>
          <p:cNvPr id="25" name="!!term-redundant path">
            <a:extLst>
              <a:ext uri="{C183D7F6-B498-43B3-948B-1728B52AA6E4}">
                <adec:decorative xmlns:adec="http://schemas.microsoft.com/office/drawing/2017/decorative" val="1"/>
              </a:ext>
            </a:extLst>
          </p:cNvPr>
          <p:cNvSpPr/>
          <p:nvPr/>
        </p:nvSpPr>
        <p:spPr>
          <a:xfrm>
            <a:off x="658368" y="2468880"/>
            <a:ext cx="177393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redundant path">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redundant path"/>
          <p:cNvSpPr txBox="1"/>
          <p:nvPr/>
        </p:nvSpPr>
        <p:spPr>
          <a:xfrm>
            <a:off x="950976" y="2592324"/>
            <a:ext cx="159105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redundant path</a:t>
            </a:r>
          </a:p>
        </p:txBody>
      </p:sp>
      <p:sp>
        <p:nvSpPr>
          <p:cNvPr id="28" name="!!term-branching fact">
            <a:extLst>
              <a:ext uri="{C183D7F6-B498-43B3-948B-1728B52AA6E4}">
                <adec:decorative xmlns:adec="http://schemas.microsoft.com/office/drawing/2017/decorative" val="1"/>
              </a:ext>
            </a:extLst>
          </p:cNvPr>
          <p:cNvSpPr/>
          <p:nvPr/>
        </p:nvSpPr>
        <p:spPr>
          <a:xfrm>
            <a:off x="2578609" y="2468880"/>
            <a:ext cx="185093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branching fact">
            <a:extLst>
              <a:ext uri="{C183D7F6-B498-43B3-948B-1728B52AA6E4}">
                <adec:decorative xmlns:adec="http://schemas.microsoft.com/office/drawing/2017/decorative" val="1"/>
              </a:ext>
            </a:extLst>
          </p:cNvPr>
          <p:cNvSpPr/>
          <p:nvPr/>
        </p:nvSpPr>
        <p:spPr>
          <a:xfrm>
            <a:off x="270662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branching fact"/>
          <p:cNvSpPr txBox="1"/>
          <p:nvPr/>
        </p:nvSpPr>
        <p:spPr>
          <a:xfrm>
            <a:off x="2871217" y="2592324"/>
            <a:ext cx="166805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branching factor</a:t>
            </a:r>
          </a:p>
        </p:txBody>
      </p:sp>
      <p:sp>
        <p:nvSpPr>
          <p:cNvPr id="31" name="!!term-depth">
            <a:extLst>
              <a:ext uri="{C183D7F6-B498-43B3-948B-1728B52AA6E4}">
                <adec:decorative xmlns:adec="http://schemas.microsoft.com/office/drawing/2017/decorative" val="1"/>
              </a:ext>
            </a:extLst>
          </p:cNvPr>
          <p:cNvSpPr/>
          <p:nvPr/>
        </p:nvSpPr>
        <p:spPr>
          <a:xfrm>
            <a:off x="4575851" y="2468880"/>
            <a:ext cx="94508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depth">
            <a:extLst>
              <a:ext uri="{C183D7F6-B498-43B3-948B-1728B52AA6E4}">
                <adec:decorative xmlns:adec="http://schemas.microsoft.com/office/drawing/2017/decorative" val="1"/>
              </a:ext>
            </a:extLst>
          </p:cNvPr>
          <p:cNvSpPr/>
          <p:nvPr/>
        </p:nvSpPr>
        <p:spPr>
          <a:xfrm>
            <a:off x="4703867"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depth"/>
          <p:cNvSpPr txBox="1"/>
          <p:nvPr/>
        </p:nvSpPr>
        <p:spPr>
          <a:xfrm>
            <a:off x="4868459" y="2592324"/>
            <a:ext cx="76220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depth</a:t>
            </a:r>
          </a:p>
        </p:txBody>
      </p:sp>
      <p:sp>
        <p:nvSpPr>
          <p:cNvPr id="34" name="!!term-completeness">
            <a:extLst>
              <a:ext uri="{C183D7F6-B498-43B3-948B-1728B52AA6E4}">
                <adec:decorative xmlns:adec="http://schemas.microsoft.com/office/drawing/2017/decorative" val="1"/>
              </a:ext>
            </a:extLst>
          </p:cNvPr>
          <p:cNvSpPr/>
          <p:nvPr/>
        </p:nvSpPr>
        <p:spPr>
          <a:xfrm>
            <a:off x="5667245" y="2468880"/>
            <a:ext cx="161660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completeness">
            <a:extLst>
              <a:ext uri="{C183D7F6-B498-43B3-948B-1728B52AA6E4}">
                <adec:decorative xmlns:adec="http://schemas.microsoft.com/office/drawing/2017/decorative" val="1"/>
              </a:ext>
            </a:extLst>
          </p:cNvPr>
          <p:cNvSpPr/>
          <p:nvPr/>
        </p:nvSpPr>
        <p:spPr>
          <a:xfrm>
            <a:off x="5795261"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completeness"/>
          <p:cNvSpPr txBox="1"/>
          <p:nvPr/>
        </p:nvSpPr>
        <p:spPr>
          <a:xfrm>
            <a:off x="5959853" y="2592324"/>
            <a:ext cx="143372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completeness</a:t>
            </a:r>
          </a:p>
        </p:txBody>
      </p:sp>
      <p:sp>
        <p:nvSpPr>
          <p:cNvPr id="37" name="!!term-optimality">
            <a:extLst>
              <a:ext uri="{C183D7F6-B498-43B3-948B-1728B52AA6E4}">
                <adec:decorative xmlns:adec="http://schemas.microsoft.com/office/drawing/2017/decorative" val="1"/>
              </a:ext>
            </a:extLst>
          </p:cNvPr>
          <p:cNvSpPr/>
          <p:nvPr/>
        </p:nvSpPr>
        <p:spPr>
          <a:xfrm>
            <a:off x="7430149" y="2468880"/>
            <a:ext cx="130009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optimality">
            <a:extLst>
              <a:ext uri="{C183D7F6-B498-43B3-948B-1728B52AA6E4}">
                <adec:decorative xmlns:adec="http://schemas.microsoft.com/office/drawing/2017/decorative" val="1"/>
              </a:ext>
            </a:extLst>
          </p:cNvPr>
          <p:cNvSpPr/>
          <p:nvPr/>
        </p:nvSpPr>
        <p:spPr>
          <a:xfrm>
            <a:off x="755816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optimality"/>
          <p:cNvSpPr txBox="1"/>
          <p:nvPr/>
        </p:nvSpPr>
        <p:spPr>
          <a:xfrm>
            <a:off x="7722757" y="2592324"/>
            <a:ext cx="111721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optimality</a:t>
            </a:r>
          </a:p>
        </p:txBody>
      </p:sp>
      <p:sp>
        <p:nvSpPr>
          <p:cNvPr id="40" name="!!term-breadth-first ">
            <a:extLst>
              <a:ext uri="{C183D7F6-B498-43B3-948B-1728B52AA6E4}">
                <adec:decorative xmlns:adec="http://schemas.microsoft.com/office/drawing/2017/decorative" val="1"/>
              </a:ext>
            </a:extLst>
          </p:cNvPr>
          <p:cNvSpPr/>
          <p:nvPr/>
        </p:nvSpPr>
        <p:spPr>
          <a:xfrm>
            <a:off x="8876547" y="2468880"/>
            <a:ext cx="211652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breadth-first ">
            <a:extLst>
              <a:ext uri="{C183D7F6-B498-43B3-948B-1728B52AA6E4}">
                <adec:decorative xmlns:adec="http://schemas.microsoft.com/office/drawing/2017/decorative" val="1"/>
              </a:ext>
            </a:extLst>
          </p:cNvPr>
          <p:cNvSpPr/>
          <p:nvPr/>
        </p:nvSpPr>
        <p:spPr>
          <a:xfrm>
            <a:off x="900456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breadth-first "/>
          <p:cNvSpPr txBox="1"/>
          <p:nvPr/>
        </p:nvSpPr>
        <p:spPr>
          <a:xfrm>
            <a:off x="9169155" y="2592324"/>
            <a:ext cx="193364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breadth-first search</a:t>
            </a:r>
          </a:p>
        </p:txBody>
      </p:sp>
      <p:sp>
        <p:nvSpPr>
          <p:cNvPr id="43" name="!!term-depth-first se">
            <a:extLst>
              <a:ext uri="{C183D7F6-B498-43B3-948B-1728B52AA6E4}">
                <adec:decorative xmlns:adec="http://schemas.microsoft.com/office/drawing/2017/decorative" val="1"/>
              </a:ext>
            </a:extLst>
          </p:cNvPr>
          <p:cNvSpPr/>
          <p:nvPr/>
        </p:nvSpPr>
        <p:spPr>
          <a:xfrm>
            <a:off x="658368" y="3090672"/>
            <a:ext cx="195004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depth-first se">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depth-first se"/>
          <p:cNvSpPr txBox="1"/>
          <p:nvPr/>
        </p:nvSpPr>
        <p:spPr>
          <a:xfrm>
            <a:off x="950976" y="3214116"/>
            <a:ext cx="176716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depth-first search</a:t>
            </a:r>
          </a:p>
        </p:txBody>
      </p:sp>
      <p:sp>
        <p:nvSpPr>
          <p:cNvPr id="46" name="!!term-depth-limited ">
            <a:extLst>
              <a:ext uri="{C183D7F6-B498-43B3-948B-1728B52AA6E4}">
                <adec:decorative xmlns:adec="http://schemas.microsoft.com/office/drawing/2017/decorative" val="1"/>
              </a:ext>
            </a:extLst>
          </p:cNvPr>
          <p:cNvSpPr/>
          <p:nvPr/>
        </p:nvSpPr>
        <p:spPr>
          <a:xfrm>
            <a:off x="2754714" y="3090672"/>
            <a:ext cx="221659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depth-limited ">
            <a:extLst>
              <a:ext uri="{C183D7F6-B498-43B3-948B-1728B52AA6E4}">
                <adec:decorative xmlns:adec="http://schemas.microsoft.com/office/drawing/2017/decorative" val="1"/>
              </a:ext>
            </a:extLst>
          </p:cNvPr>
          <p:cNvSpPr/>
          <p:nvPr/>
        </p:nvSpPr>
        <p:spPr>
          <a:xfrm>
            <a:off x="2882730"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depth-limited "/>
          <p:cNvSpPr txBox="1"/>
          <p:nvPr/>
        </p:nvSpPr>
        <p:spPr>
          <a:xfrm>
            <a:off x="3047322" y="3214116"/>
            <a:ext cx="203371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depth-limited search</a:t>
            </a:r>
          </a:p>
        </p:txBody>
      </p:sp>
      <p:sp>
        <p:nvSpPr>
          <p:cNvPr id="49" name="!!term-iterative deep">
            <a:extLst>
              <a:ext uri="{C183D7F6-B498-43B3-948B-1728B52AA6E4}">
                <adec:decorative xmlns:adec="http://schemas.microsoft.com/office/drawing/2017/decorative" val="1"/>
              </a:ext>
            </a:extLst>
          </p:cNvPr>
          <p:cNvSpPr/>
          <p:nvPr/>
        </p:nvSpPr>
        <p:spPr>
          <a:xfrm>
            <a:off x="5117609" y="3090672"/>
            <a:ext cx="209575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iterative deep">
            <a:extLst>
              <a:ext uri="{C183D7F6-B498-43B3-948B-1728B52AA6E4}">
                <adec:decorative xmlns:adec="http://schemas.microsoft.com/office/drawing/2017/decorative" val="1"/>
              </a:ext>
            </a:extLst>
          </p:cNvPr>
          <p:cNvSpPr/>
          <p:nvPr/>
        </p:nvSpPr>
        <p:spPr>
          <a:xfrm>
            <a:off x="5245625"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iterative deep"/>
          <p:cNvSpPr txBox="1"/>
          <p:nvPr/>
        </p:nvSpPr>
        <p:spPr>
          <a:xfrm>
            <a:off x="5410217" y="3214116"/>
            <a:ext cx="191287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iterative deepening</a:t>
            </a:r>
          </a:p>
        </p:txBody>
      </p:sp>
      <p:sp>
        <p:nvSpPr>
          <p:cNvPr id="52" name="!!term-uniform-cost s">
            <a:extLst>
              <a:ext uri="{C183D7F6-B498-43B3-948B-1728B52AA6E4}">
                <adec:decorative xmlns:adec="http://schemas.microsoft.com/office/drawing/2017/decorative" val="1"/>
              </a:ext>
            </a:extLst>
          </p:cNvPr>
          <p:cNvSpPr/>
          <p:nvPr/>
        </p:nvSpPr>
        <p:spPr>
          <a:xfrm>
            <a:off x="7359663" y="3090672"/>
            <a:ext cx="214860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uniform-cost s">
            <a:extLst>
              <a:ext uri="{C183D7F6-B498-43B3-948B-1728B52AA6E4}">
                <adec:decorative xmlns:adec="http://schemas.microsoft.com/office/drawing/2017/decorative" val="1"/>
              </a:ext>
            </a:extLst>
          </p:cNvPr>
          <p:cNvSpPr/>
          <p:nvPr/>
        </p:nvSpPr>
        <p:spPr>
          <a:xfrm>
            <a:off x="7487679"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uniform-cost s"/>
          <p:cNvSpPr txBox="1"/>
          <p:nvPr/>
        </p:nvSpPr>
        <p:spPr>
          <a:xfrm>
            <a:off x="7652271" y="3214116"/>
            <a:ext cx="196572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uniform-cost search</a:t>
            </a:r>
          </a:p>
        </p:txBody>
      </p:sp>
      <p:sp>
        <p:nvSpPr>
          <p:cNvPr id="55" name="!!term-combinatorial ">
            <a:extLst>
              <a:ext uri="{C183D7F6-B498-43B3-948B-1728B52AA6E4}">
                <adec:decorative xmlns:adec="http://schemas.microsoft.com/office/drawing/2017/decorative" val="1"/>
              </a:ext>
            </a:extLst>
          </p:cNvPr>
          <p:cNvSpPr/>
          <p:nvPr/>
        </p:nvSpPr>
        <p:spPr>
          <a:xfrm>
            <a:off x="658368" y="3712464"/>
            <a:ext cx="249274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rmd-combinatorial ">
            <a:extLst>
              <a:ext uri="{C183D7F6-B498-43B3-948B-1728B52AA6E4}">
                <adec:decorative xmlns:adec="http://schemas.microsoft.com/office/drawing/2017/decorative" val="1"/>
              </a:ext>
            </a:extLst>
          </p:cNvPr>
          <p:cNvSpPr/>
          <p:nvPr/>
        </p:nvSpPr>
        <p:spPr>
          <a:xfrm>
            <a:off x="78638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rmt-combinatorial "/>
          <p:cNvSpPr txBox="1"/>
          <p:nvPr/>
        </p:nvSpPr>
        <p:spPr>
          <a:xfrm>
            <a:off x="950976" y="3835908"/>
            <a:ext cx="230986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combinatorial explosion</a:t>
            </a:r>
          </a:p>
        </p:txBody>
      </p:sp>
      <p:sp>
        <p:nvSpPr>
          <p:cNvPr id="58" name="!!termnote"/>
          <p:cNvSpPr txBox="1"/>
          <p:nvPr/>
        </p:nvSpPr>
        <p:spPr>
          <a:xfrm>
            <a:off x="658368" y="4535424"/>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106014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  ·  Problem Formulation and Uninformed Search</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34–42     </a:t>
            </a:r>
            <a:fld id="{B899D0B0-326B-4B0C-9DA3-38F22FFE2019}" type="slidenum">
              <a:rPr lang="en-GB" sz="1000">
                <a:solidFill>
                  <a:srgbClr val="8795A1"/>
                </a:solidFill>
                <a:latin typeface="Segoe UI"/>
              </a:rPr>
              <a:t>5</a:t>
            </a:fld>
          </a:p>
        </p:txBody>
      </p:sp>
      <p:sp>
        <p:nvSpPr>
          <p:cNvPr id="7" name="!!ag0" descr="Go to section 4.1 From a Task to a State Space">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4.1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From a Task to a State Space</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34  ›</a:t>
            </a:r>
          </a:p>
        </p:txBody>
      </p:sp>
      <p:sp>
        <p:nvSpPr>
          <p:cNvPr id="12" name="!!ag1" descr="Go to section 4.2 The State Space and the Search Tree">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4.2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State Space and the Search Tree</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35  ›</a:t>
            </a:r>
          </a:p>
        </p:txBody>
      </p:sp>
      <p:sp>
        <p:nvSpPr>
          <p:cNvPr id="17" name="!!ag2" descr="Go to section 4.3 Breadth-First Search">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4.3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Breadth-First Search</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36  ›</a:t>
            </a:r>
          </a:p>
        </p:txBody>
      </p:sp>
      <p:sp>
        <p:nvSpPr>
          <p:cNvPr id="22" name="!!ag3" descr="Go to section 4.4 Depth-First and Depth-Limited Search">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4.4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Depth-First and Depth-Limited Search</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36  ›</a:t>
            </a:r>
          </a:p>
        </p:txBody>
      </p:sp>
      <p:sp>
        <p:nvSpPr>
          <p:cNvPr id="27" name="!!ag4" descr="Go to section 4.5 Iterative Deepening">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4.5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Iterative Deepening</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36  ›</a:t>
            </a:r>
          </a:p>
        </p:txBody>
      </p:sp>
      <p:sp>
        <p:nvSpPr>
          <p:cNvPr id="32" name="!!ag5" descr="Go to section 4.6 Uniform-Cost Search">
            <a:hlinkClick action="ppaction://hlinksldjump" r:id="rId10"/>
          </p:cNvPr>
          <p:cNvSpPr/>
          <p:nvPr/>
        </p:nvSpPr>
        <p:spPr>
          <a:xfrm>
            <a:off x="658368" y="49743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agb5">
            <a:extLst>
              <a:ext uri="{C183D7F6-B498-43B3-948B-1728B52AA6E4}">
                <adec:decorative xmlns:adec="http://schemas.microsoft.com/office/drawing/2017/decorative" val="1"/>
              </a:ext>
            </a:extLst>
          </p:cNvPr>
          <p:cNvSpPr/>
          <p:nvPr/>
        </p:nvSpPr>
        <p:spPr>
          <a:xfrm>
            <a:off x="658368" y="497433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agn5"/>
          <p:cNvSpPr txBox="1"/>
          <p:nvPr/>
        </p:nvSpPr>
        <p:spPr>
          <a:xfrm>
            <a:off x="932688" y="51206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4.6</a:t>
            </a:r>
          </a:p>
        </p:txBody>
      </p:sp>
      <p:sp>
        <p:nvSpPr>
          <p:cNvPr id="35" name="!!agt5"/>
          <p:cNvSpPr txBox="1"/>
          <p:nvPr/>
        </p:nvSpPr>
        <p:spPr>
          <a:xfrm>
            <a:off x="1847088" y="51206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Uniform-Cost Search</a:t>
            </a:r>
          </a:p>
        </p:txBody>
      </p:sp>
      <p:sp>
        <p:nvSpPr>
          <p:cNvPr id="36" name="!!agp5"/>
          <p:cNvSpPr txBox="1"/>
          <p:nvPr/>
        </p:nvSpPr>
        <p:spPr>
          <a:xfrm>
            <a:off x="9795967" y="51480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37  ›</a:t>
            </a:r>
          </a:p>
        </p:txBody>
      </p:sp>
      <p:sp>
        <p:nvSpPr>
          <p:cNvPr id="37" name="!!ag6" descr="Go to section 4.7 Why Uninformed Search Cannot Scale">
            <a:hlinkClick action="ppaction://hlinksldjump" r:id="rId11"/>
          </p:cNvPr>
          <p:cNvSpPr/>
          <p:nvPr/>
        </p:nvSpPr>
        <p:spPr>
          <a:xfrm>
            <a:off x="658368" y="561441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agb6">
            <a:extLst>
              <a:ext uri="{C183D7F6-B498-43B3-948B-1728B52AA6E4}">
                <adec:decorative xmlns:adec="http://schemas.microsoft.com/office/drawing/2017/decorative" val="1"/>
              </a:ext>
            </a:extLst>
          </p:cNvPr>
          <p:cNvSpPr/>
          <p:nvPr/>
        </p:nvSpPr>
        <p:spPr>
          <a:xfrm>
            <a:off x="658368" y="561441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agn6"/>
          <p:cNvSpPr txBox="1"/>
          <p:nvPr/>
        </p:nvSpPr>
        <p:spPr>
          <a:xfrm>
            <a:off x="932688" y="57607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4.7</a:t>
            </a:r>
          </a:p>
        </p:txBody>
      </p:sp>
      <p:sp>
        <p:nvSpPr>
          <p:cNvPr id="40" name="!!agt6"/>
          <p:cNvSpPr txBox="1"/>
          <p:nvPr/>
        </p:nvSpPr>
        <p:spPr>
          <a:xfrm>
            <a:off x="1847088" y="57607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Why Uninformed Search Cannot Scale</a:t>
            </a:r>
          </a:p>
        </p:txBody>
      </p:sp>
      <p:sp>
        <p:nvSpPr>
          <p:cNvPr id="41" name="!!agp6"/>
          <p:cNvSpPr txBox="1"/>
          <p:nvPr/>
        </p:nvSpPr>
        <p:spPr>
          <a:xfrm>
            <a:off x="9795967" y="578815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37  ›</a:t>
            </a:r>
          </a:p>
        </p:txBody>
      </p:sp>
      <p:sp>
        <p:nvSpPr>
          <p:cNvPr id="4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pfill">
            <a:extLst>
              <a:ext uri="{C183D7F6-B498-43B3-948B-1728B52AA6E4}">
                <adec:decorative xmlns:adec="http://schemas.microsoft.com/office/drawing/2017/decorative" val="1"/>
              </a:ext>
            </a:extLst>
          </p:cNvPr>
          <p:cNvSpPr/>
          <p:nvPr/>
        </p:nvSpPr>
        <p:spPr>
          <a:xfrm>
            <a:off x="0" y="0"/>
            <a:ext cx="132518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From a Task to a State Space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1 OF 7</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4.1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4.1   From a Task to a State Space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4.2   The State Space and the Search Tree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4.3   Breadth-First Search</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4.4   Depth-First and Depth-Limited Search</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4.5   Iterative Deepening</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4.6   Uniform-Cost Search</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4.7   Why Uninformed Search Cannot Scale</a:t>
            </a:r>
          </a:p>
        </p:txBody>
      </p:sp>
      <p:sp>
        <p:nvSpPr>
          <p:cNvPr id="13"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a:t>
            </a:r>
          </a:p>
        </p:txBody>
      </p:sp>
      <p:sp>
        <p:nvSpPr>
          <p:cNvPr id="14"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§4.1     </a:t>
            </a:r>
            <a:fld id="{28D0BD2D-B092-447D-BA7B-385EA6CF01AB}" type="slidenum">
              <a:rPr lang="en-GB" sz="1000">
                <a:solidFill>
                  <a:srgbClr val="8795A1"/>
                </a:solidFill>
                <a:latin typeface="Segoe UI"/>
              </a:rPr>
              <a:t>6</a:t>
            </a:fld>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159022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Formulating the release-ordering task</a:t>
            </a:r>
          </a:p>
        </p:txBody>
      </p:sp>
      <p:pic>
        <p:nvPicPr>
          <p:cNvPr id="3" name="!!kicker-icon" descr="code-27AE6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7AE60"/>
                </a:solidFill>
                <a:latin typeface="Segoe UI"/>
              </a:rPr>
              <a:t>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  ·  Problem Formulation and Uninformed Search</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§4.1  ·  Handout p. 34     </a:t>
            </a:r>
            <a:fld id="{8462B95D-910B-4A07-B0B1-42DCC94F0748}"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49293"/>
          </a:xfrm>
          <a:prstGeom prst="roundRect">
            <a:avLst>
              <a:gd name="adj" fmla="val 2258"/>
            </a:avLst>
          </a:prstGeom>
          <a:solidFill>
            <a:srgbClr val="EAF7EF"/>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4929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473221"/>
          </a:xfrm>
          <a:prstGeom prst="rect">
            <a:avLst/>
          </a:prstGeom>
          <a:noFill/>
        </p:spPr>
        <p:txBody>
          <a:bodyPr wrap="square" anchor="t" lIns="0" rIns="0" tIns="0" bIns="0">
            <a:noAutofit/>
          </a:bodyPr>
          <a:lstStyle/>
          <a:p>
            <a:pPr algn="l" marL="257176" indent="-257176">
              <a:lnSpc>
                <a:spcPct val="104000"/>
              </a:lnSpc>
              <a:spcBef>
                <a:spcPts val="0"/>
              </a:spcBef>
              <a:spcAft>
                <a:spcPts val="804"/>
              </a:spcAft>
            </a:pPr>
            <a:r>
              <a:rPr sz="2300" b="1">
                <a:solidFill>
                  <a:srgbClr val="1E8449"/>
                </a:solidFill>
                <a:latin typeface="Segoe UI"/>
              </a:rPr>
              <a:t>•	</a:t>
            </a:r>
            <a:r>
              <a:rPr sz="2300" b="0" i="1">
                <a:solidFill>
                  <a:srgbClr val="1C252B"/>
                </a:solidFill>
                <a:latin typeface="Segoe UI"/>
              </a:rPr>
              <a:t>States.</a:t>
            </a:r>
            <a:r>
              <a:rPr sz="2300" b="0" i="0">
                <a:solidFill>
                  <a:srgbClr val="1C252B"/>
                </a:solidFill>
                <a:latin typeface="Segoe UI"/>
              </a:rPr>
              <a:t> The set of finished tasks. A </a:t>
            </a:r>
            <a:r>
              <a:rPr sz="2150" b="0" i="0">
                <a:solidFill>
                  <a:srgbClr val="1F4E79"/>
                </a:solidFill>
                <a:latin typeface="Consolas"/>
              </a:rPr>
              <a:t>frozenset</a:t>
            </a:r>
            <a:r>
              <a:rPr sz="2300" b="0" i="0">
                <a:solidFill>
                  <a:srgbClr val="1C252B"/>
                </a:solidFill>
                <a:latin typeface="Segoe UI"/>
              </a:rPr>
              <a:t>, so that two routes that finished the same work collapse to one state.</a:t>
            </a:r>
          </a:p>
          <a:p>
            <a:pPr algn="l" marL="257176" indent="-257176">
              <a:lnSpc>
                <a:spcPct val="104000"/>
              </a:lnSpc>
              <a:spcBef>
                <a:spcPts val="0"/>
              </a:spcBef>
              <a:spcAft>
                <a:spcPts val="804"/>
              </a:spcAft>
            </a:pPr>
            <a:r>
              <a:rPr sz="2300" b="1">
                <a:solidFill>
                  <a:srgbClr val="1E8449"/>
                </a:solidFill>
                <a:latin typeface="Segoe UI"/>
              </a:rPr>
              <a:t>•	</a:t>
            </a:r>
            <a:r>
              <a:rPr sz="2300" b="0" i="1">
                <a:solidFill>
                  <a:srgbClr val="1C252B"/>
                </a:solidFill>
                <a:latin typeface="Segoe UI"/>
              </a:rPr>
              <a:t>Initial state.</a:t>
            </a:r>
            <a:r>
              <a:rPr sz="2300" b="0" i="0">
                <a:solidFill>
                  <a:srgbClr val="1C252B"/>
                </a:solidFill>
                <a:latin typeface="Segoe UI"/>
              </a:rPr>
              <a:t> The empty set.</a:t>
            </a:r>
          </a:p>
          <a:p>
            <a:pPr algn="l" marL="257176" indent="-257176">
              <a:lnSpc>
                <a:spcPct val="104000"/>
              </a:lnSpc>
              <a:spcBef>
                <a:spcPts val="0"/>
              </a:spcBef>
              <a:spcAft>
                <a:spcPts val="804"/>
              </a:spcAft>
            </a:pPr>
            <a:r>
              <a:rPr sz="2300" b="1">
                <a:solidFill>
                  <a:srgbClr val="1E8449"/>
                </a:solidFill>
                <a:latin typeface="Segoe UI"/>
              </a:rPr>
              <a:t>•	</a:t>
            </a:r>
            <a:r>
              <a:rPr sz="2300" b="0" i="1">
                <a:solidFill>
                  <a:srgbClr val="1C252B"/>
                </a:solidFill>
                <a:latin typeface="Segoe UI"/>
              </a:rPr>
              <a:t>Actions.</a:t>
            </a:r>
            <a:r>
              <a:rPr sz="2300" b="0" i="0">
                <a:solidFill>
                  <a:srgbClr val="1C252B"/>
                </a:solidFill>
                <a:latin typeface="Segoe UI"/>
              </a:rPr>
              <a:t> In state </a:t>
            </a:r>
            <a:r>
              <a:rPr sz="2300" b="0" i="1">
                <a:solidFill>
                  <a:srgbClr val="1C252B"/>
                </a:solidFill>
                <a:latin typeface="Cambria"/>
              </a:rPr>
              <a:t>s</a:t>
            </a:r>
            <a:r>
              <a:rPr sz="2300" b="0" i="0">
                <a:solidFill>
                  <a:srgbClr val="1C252B"/>
                </a:solidFill>
                <a:latin typeface="Segoe UI"/>
              </a:rPr>
              <a:t>, the tasks not yet done whose dependencies are all in </a:t>
            </a:r>
            <a:r>
              <a:rPr sz="2300" b="0" i="1">
                <a:solidFill>
                  <a:srgbClr val="1C252B"/>
                </a:solidFill>
                <a:latin typeface="Cambria"/>
              </a:rPr>
              <a:t>s</a:t>
            </a:r>
            <a:r>
              <a:rPr sz="2300" b="0" i="0">
                <a:solidFill>
                  <a:srgbClr val="1C252B"/>
                </a:solidFill>
                <a:latin typeface="Segoe UI"/>
              </a:rPr>
              <a:t> — the </a:t>
            </a:r>
            <a:r>
              <a:rPr sz="2150" b="0" i="0">
                <a:solidFill>
                  <a:srgbClr val="1F4E79"/>
                </a:solidFill>
                <a:latin typeface="Consolas"/>
              </a:rPr>
              <a:t>ready</a:t>
            </a:r>
            <a:r>
              <a:rPr sz="2300" b="0" i="0">
                <a:solidFill>
                  <a:srgbClr val="1C252B"/>
                </a:solidFill>
                <a:latin typeface="Segoe UI"/>
              </a:rPr>
              <a:t> function of Chapter 3.</a:t>
            </a:r>
          </a:p>
          <a:p>
            <a:pPr algn="l" marL="257176" indent="-257176">
              <a:lnSpc>
                <a:spcPct val="104000"/>
              </a:lnSpc>
              <a:spcBef>
                <a:spcPts val="0"/>
              </a:spcBef>
              <a:spcAft>
                <a:spcPts val="804"/>
              </a:spcAft>
            </a:pPr>
            <a:r>
              <a:rPr sz="2300" b="1">
                <a:solidFill>
                  <a:srgbClr val="1E8449"/>
                </a:solidFill>
                <a:latin typeface="Segoe UI"/>
              </a:rPr>
              <a:t>•	</a:t>
            </a:r>
            <a:r>
              <a:rPr sz="2300" b="0" i="1">
                <a:solidFill>
                  <a:srgbClr val="1C252B"/>
                </a:solidFill>
                <a:latin typeface="Segoe UI"/>
              </a:rPr>
              <a:t>Result.</a:t>
            </a:r>
            <a:r>
              <a:rPr sz="2300" b="0" i="0">
                <a:solidFill>
                  <a:srgbClr val="1C252B"/>
                </a:solidFill>
                <a:latin typeface="Segoe UI"/>
              </a:rPr>
              <a:t> </a:t>
            </a:r>
            <a:r>
              <a:rPr sz="2300" b="0" i="1">
                <a:solidFill>
                  <a:srgbClr val="1C252B"/>
                </a:solidFill>
                <a:latin typeface="Cambria"/>
              </a:rPr>
              <a:t>s</a:t>
            </a:r>
            <a:r>
              <a:rPr sz="2300" b="0" i="0">
                <a:solidFill>
                  <a:srgbClr val="1C252B"/>
                </a:solidFill>
                <a:latin typeface="Cambria"/>
              </a:rPr>
              <a:t> ∪ {</a:t>
            </a:r>
            <a:r>
              <a:rPr sz="2300" b="0" i="1">
                <a:solidFill>
                  <a:srgbClr val="1C252B"/>
                </a:solidFill>
                <a:latin typeface="Cambria"/>
              </a:rPr>
              <a:t>t</a:t>
            </a:r>
            <a:r>
              <a:rPr sz="2300" b="0" i="0">
                <a:solidFill>
                  <a:srgbClr val="1C252B"/>
                </a:solidFill>
                <a:latin typeface="Cambria"/>
              </a:rPr>
              <a:t>}</a:t>
            </a:r>
            <a:r>
              <a:rPr sz="2300" b="0" i="0">
                <a:solidFill>
                  <a:srgbClr val="1C252B"/>
                </a:solidFill>
                <a:latin typeface="Segoe UI"/>
              </a:rPr>
              <a:t>. A new set; the old one is never touched.</a:t>
            </a:r>
          </a:p>
          <a:p>
            <a:pPr algn="l" marL="257176" indent="-257176">
              <a:lnSpc>
                <a:spcPct val="104000"/>
              </a:lnSpc>
              <a:spcBef>
                <a:spcPts val="0"/>
              </a:spcBef>
              <a:spcAft>
                <a:spcPts val="804"/>
              </a:spcAft>
            </a:pPr>
            <a:r>
              <a:rPr sz="2300" b="1">
                <a:solidFill>
                  <a:srgbClr val="1E8449"/>
                </a:solidFill>
                <a:latin typeface="Segoe UI"/>
              </a:rPr>
              <a:t>•	</a:t>
            </a:r>
            <a:r>
              <a:rPr sz="2300" b="0" i="1">
                <a:solidFill>
                  <a:srgbClr val="1C252B"/>
                </a:solidFill>
                <a:latin typeface="Segoe UI"/>
              </a:rPr>
              <a:t>Goal test.</a:t>
            </a:r>
            <a:r>
              <a:rPr sz="2300" b="0" i="0">
                <a:solidFill>
                  <a:srgbClr val="1C252B"/>
                </a:solidFill>
                <a:latin typeface="Segoe UI"/>
              </a:rPr>
              <a:t> Is every task in </a:t>
            </a:r>
            <a:r>
              <a:rPr sz="2300" b="0" i="1">
                <a:solidFill>
                  <a:srgbClr val="1C252B"/>
                </a:solidFill>
                <a:latin typeface="Cambria"/>
              </a:rPr>
              <a:t>s</a:t>
            </a:r>
            <a:r>
              <a:rPr sz="2300" b="0" i="0">
                <a:solidFill>
                  <a:srgbClr val="1C252B"/>
                </a:solidFill>
                <a:latin typeface="Segoe UI"/>
              </a:rPr>
              <a:t>?</a:t>
            </a:r>
          </a:p>
          <a:p>
            <a:pPr algn="l" marL="257176" indent="-257176">
              <a:lnSpc>
                <a:spcPct val="104000"/>
              </a:lnSpc>
              <a:spcBef>
                <a:spcPts val="0"/>
              </a:spcBef>
              <a:spcAft>
                <a:spcPts val="0"/>
              </a:spcAft>
            </a:pPr>
            <a:r>
              <a:rPr sz="2300" b="1">
                <a:solidFill>
                  <a:srgbClr val="1E8449"/>
                </a:solidFill>
                <a:latin typeface="Segoe UI"/>
              </a:rPr>
              <a:t>•	</a:t>
            </a:r>
            <a:r>
              <a:rPr sz="2300" b="0" i="1">
                <a:solidFill>
                  <a:srgbClr val="1C252B"/>
                </a:solidFill>
                <a:latin typeface="Segoe UI"/>
              </a:rPr>
              <a:t>Step cost.</a:t>
            </a:r>
            <a:r>
              <a:rPr sz="2300" b="0" i="0">
                <a:solidFill>
                  <a:srgbClr val="1C252B"/>
                </a:solidFill>
                <a:latin typeface="Segoe UI"/>
              </a:rPr>
              <a:t> The task’s duration in days.</a:t>
            </a:r>
          </a:p>
        </p:txBody>
      </p:sp>
      <p:sp>
        <p:nvSpPr>
          <p:cNvPr id="3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pfill">
            <a:extLst>
              <a:ext uri="{C183D7F6-B498-43B3-948B-1728B52AA6E4}">
                <adec:decorative xmlns:adec="http://schemas.microsoft.com/office/drawing/2017/decorative" val="1"/>
              </a:ext>
            </a:extLst>
          </p:cNvPr>
          <p:cNvSpPr/>
          <p:nvPr/>
        </p:nvSpPr>
        <p:spPr>
          <a:xfrm>
            <a:off x="0" y="0"/>
            <a:ext cx="185525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8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8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8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8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80"/>
                                        <p:tgtEl>
                                          <p:spTgt spid="9">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animEffect transition="in" filter="fade">
                                      <p:cBhvr>
                                        <p:cTn id="33" dur="380"/>
                                        <p:tgtEl>
                                          <p:spTgt spid="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From a Task to a State Space</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  ·  Problem Formulation and Uninformed Search</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§4.1  ·  Handout p. 34     </a:t>
            </a:r>
            <a:fld id="{C23A8FB8-69F7-46C7-8D0F-00A51D8955C1}"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98773"/>
          </a:xfrm>
          <a:prstGeom prst="roundRect">
            <a:avLst>
              <a:gd name="adj" fmla="val 2472"/>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98773"/>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single most valuable habit in this part of the course: </a:t>
            </a:r>
            <a:r>
              <a:rPr sz="2300" b="0" i="1">
                <a:solidFill>
                  <a:srgbClr val="1C252B"/>
                </a:solidFill>
                <a:latin typeface="Segoe UI"/>
              </a:rPr>
              <a:t>write the formulation down before writing the search</a:t>
            </a:r>
            <a:r>
              <a:rPr sz="2300" b="0" i="0">
                <a:solidFill>
                  <a:srgbClr val="1C252B"/>
                </a:solidFill>
                <a:latin typeface="Segoe UI"/>
              </a:rPr>
              <a:t>, and beside each state component write why the goal test needs it. Anything the goal test cannot see is a candidate for deletion, and every deletion shrinks the space multiplicatively.</a:t>
            </a:r>
          </a:p>
        </p:txBody>
      </p:sp>
      <p:sp>
        <p:nvSpPr>
          <p:cNvPr id="10" name="body-1"/>
          <p:cNvSpPr txBox="1"/>
          <p:nvPr/>
        </p:nvSpPr>
        <p:spPr>
          <a:xfrm>
            <a:off x="1060704" y="3667074"/>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Beginners reach for a cleverer algorithm when a search is too slow. Professionals reach for the formulation first, because that is where the factors of a hundred are. Chapter 3’s worked example measured one such factor; this chapter’s lab measures another.</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212029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State Space and the Search Tree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2 OF 7</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4.2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4.1   From a Task to a State Space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4.2   The State Space and the Search Tree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4.3   Breadth-First Search</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4.4   Depth-First and Depth-Limited Search</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4.5   Iterative Deepening</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4.6   Uniform-Cost Search</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4.7   Why Uninformed Search Cannot Scale</a:t>
            </a:r>
          </a:p>
        </p:txBody>
      </p:sp>
      <p:sp>
        <p:nvSpPr>
          <p:cNvPr id="13"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a:t>
            </a:r>
          </a:p>
        </p:txBody>
      </p:sp>
      <p:sp>
        <p:nvSpPr>
          <p:cNvPr id="14"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§4.2     </a:t>
            </a:r>
            <a:fld id="{020C20DF-D31D-4EB0-AA21-82A5C3DFC8AF}" type="slidenum">
              <a:rPr lang="en-GB" sz="1000">
                <a:solidFill>
                  <a:srgbClr val="8795A1"/>
                </a:solidFill>
                <a:latin typeface="Segoe UI"/>
              </a:rPr>
              <a:t>9</a:t>
            </a:fld>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238533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State Space and the Search Tree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4.1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  ·  Problem Formulation and Uninformed Search</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§4.2  ·  Handout p. 35     </a:t>
            </a:r>
            <a:fld id="{4BCC681B-F821-4A4D-8382-FC0E59F4911E}" type="slidenum">
              <a:rPr lang="en-GB" sz="1000">
                <a:solidFill>
                  <a:srgbClr val="8795A1"/>
                </a:solidFill>
                <a:latin typeface="Segoe UI"/>
              </a:rPr>
              <a:t>10</a:t>
            </a:fld>
          </a:p>
        </p:txBody>
      </p:sp>
      <p:pic>
        <p:nvPicPr>
          <p:cNvPr id="6" name="!!figure" descr="Figure 4.1. The state space and the search tree for a three-task fragment where c depends on both a and b. The tree repeats every state once per path that reaches it."/>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64279" y="1737360"/>
            <a:ext cx="7463135"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state space and the search tree for a three-task fragment where c depends on both a and b. The tree repeats every state once per path that reaches it.</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65036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two classic bugs, and their symptoms</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  ·  Problem Formulation and Uninformed Search</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§4.2  ·  Handout p. 35     </a:t>
            </a:r>
            <a:fld id="{32730E6A-1C00-4BB7-8DCF-F4109BF03382}"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27855"/>
          </a:xfrm>
          <a:prstGeom prst="roundRect">
            <a:avLst>
              <a:gd name="adj" fmla="val 2065"/>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27855"/>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A93226"/>
                </a:solidFill>
                <a:latin typeface="Segoe UI"/>
              </a:rPr>
              <a:t>No explored set.</a:t>
            </a:r>
            <a:r>
              <a:rPr sz="2300" b="0" i="0">
                <a:solidFill>
                  <a:srgbClr val="1C252B"/>
                </a:solidFill>
                <a:latin typeface="Segoe UI"/>
              </a:rPr>
              <a:t> Symptom: the search never terminates, or returns a path that revisits a state. Cause: the search tree of a cyclic space is infinite. Fix: a </a:t>
            </a:r>
            <a:r>
              <a:rPr sz="2150" b="0" i="0">
                <a:solidFill>
                  <a:srgbClr val="1F4E79"/>
                </a:solidFill>
                <a:latin typeface="Consolas"/>
              </a:rPr>
              <a:t>set</a:t>
            </a:r>
            <a:r>
              <a:rPr sz="2300" b="0" i="0">
                <a:solidFill>
                  <a:srgbClr val="1C252B"/>
                </a:solidFill>
                <a:latin typeface="Segoe UI"/>
              </a:rPr>
              <a:t> of states, tested before pushing.</a:t>
            </a:r>
          </a:p>
        </p:txBody>
      </p:sp>
      <p:sp>
        <p:nvSpPr>
          <p:cNvPr id="10" name="body-1"/>
          <p:cNvSpPr txBox="1"/>
          <p:nvPr/>
        </p:nvSpPr>
        <p:spPr>
          <a:xfrm>
            <a:off x="1060704" y="3302533"/>
            <a:ext cx="10161727" cy="2597505"/>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A93226"/>
                </a:solidFill>
                <a:latin typeface="Segoe UI"/>
              </a:rPr>
              <a:t>Goal-testing on generation instead of on expansion.</a:t>
            </a:r>
            <a:r>
              <a:rPr sz="2300" b="0" i="0">
                <a:solidFill>
                  <a:srgbClr val="1C252B"/>
                </a:solidFill>
                <a:latin typeface="Segoe UI"/>
              </a:rPr>
              <a:t> Symptom: breadth-first search returns a correct shallowest path (fine), but uniform-cost search returns a </a:t>
            </a:r>
            <a:r>
              <a:rPr sz="2300" b="0" i="1">
                <a:solidFill>
                  <a:srgbClr val="1C252B"/>
                </a:solidFill>
                <a:latin typeface="Segoe UI"/>
              </a:rPr>
              <a:t>sub-optimal</a:t>
            </a:r>
            <a:r>
              <a:rPr sz="2300" b="0" i="0">
                <a:solidFill>
                  <a:srgbClr val="1C252B"/>
                </a:solidFill>
                <a:latin typeface="Segoe UI"/>
              </a:rPr>
              <a:t> one. Cause: when a node is generated, a cheaper path to the same state may still be in the frontier. Breadth-first search may test on generation because all edges cost the same; uniform-cost search must test when the node is </a:t>
            </a:r>
            <a:r>
              <a:rPr sz="2300" b="0" i="1">
                <a:solidFill>
                  <a:srgbClr val="1C252B"/>
                </a:solidFill>
                <a:latin typeface="Segoe UI"/>
              </a:rPr>
              <a:t>popped</a:t>
            </a:r>
            <a:r>
              <a:rPr sz="2300" b="0" i="0">
                <a:solidFill>
                  <a:srgbClr val="1C252B"/>
                </a:solidFill>
                <a:latin typeface="Segoe UI"/>
              </a:rPr>
              <a:t>. This is the subtlest distinction in the chapter and Section 4.6 returns to it.</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291540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Breadth-First Search</a:t>
            </a:r>
          </a:p>
        </p:txBody>
      </p:sp>
      <p:pic>
        <p:nvPicPr>
          <p:cNvPr id="3" name="!!kicker-icon" descr="quote-left-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KEY IDEA</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  ·  Problem Formulation and Uninformed Search</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§4.3  ·  Handout p. 36     </a:t>
            </a:r>
            <a:fld id="{FA15DCF5-0A5D-4270-9D27-2EB33920DC35}" type="slidenum">
              <a:rPr lang="en-GB" sz="1000">
                <a:solidFill>
                  <a:srgbClr val="8795A1"/>
                </a:solidFill>
                <a:latin typeface="Segoe UI"/>
              </a:rPr>
              <a:t>12</a:t>
            </a:fld>
          </a:p>
        </p:txBody>
      </p:sp>
      <p:sp>
        <p:nvSpPr>
          <p:cNvPr id="7" name="!!stbar">
            <a:extLst>
              <a:ext uri="{C183D7F6-B498-43B3-948B-1728B52AA6E4}">
                <adec:decorative xmlns:adec="http://schemas.microsoft.com/office/drawing/2017/decorative" val="1"/>
              </a:ext>
            </a:extLst>
          </p:cNvPr>
          <p:cNvSpPr/>
          <p:nvPr/>
        </p:nvSpPr>
        <p:spPr>
          <a:xfrm>
            <a:off x="658368" y="1810512"/>
            <a:ext cx="73152" cy="427507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body-0"/>
          <p:cNvSpPr txBox="1"/>
          <p:nvPr/>
        </p:nvSpPr>
        <p:spPr>
          <a:xfrm>
            <a:off x="1042415" y="1792224"/>
            <a:ext cx="10417759" cy="838200"/>
          </a:xfrm>
          <a:prstGeom prst="rect">
            <a:avLst/>
          </a:prstGeom>
          <a:noFill/>
        </p:spPr>
        <p:txBody>
          <a:bodyPr wrap="square" anchor="t" lIns="0" rIns="0" tIns="0" bIns="0">
            <a:noAutofit/>
          </a:bodyPr>
          <a:lstStyle/>
          <a:p>
            <a:pPr algn="l">
              <a:lnSpc>
                <a:spcPct val="104000"/>
              </a:lnSpc>
              <a:spcBef>
                <a:spcPts val="0"/>
              </a:spcBef>
              <a:spcAft>
                <a:spcPts val="0"/>
              </a:spcAft>
            </a:pPr>
            <a:r>
              <a:rPr sz="2500" b="0" i="0">
                <a:solidFill>
                  <a:srgbClr val="1C252B"/>
                </a:solidFill>
                <a:latin typeface="Segoe UI"/>
              </a:rPr>
              <a:t>Expand the shallowest unexpanded node: a first-in first-out frontier, so </a:t>
            </a:r>
            <a:r>
              <a:rPr sz="2350" b="0" i="0">
                <a:solidFill>
                  <a:srgbClr val="1F4E79"/>
                </a:solidFill>
                <a:latin typeface="Consolas"/>
              </a:rPr>
              <a:t>deque.popleft()</a:t>
            </a:r>
            <a:r>
              <a:rPr sz="2500" b="0" i="0">
                <a:solidFill>
                  <a:srgbClr val="1C252B"/>
                </a:solidFill>
                <a:latin typeface="Segoe UI"/>
              </a:rPr>
              <a:t>.</a:t>
            </a:r>
          </a:p>
        </p:txBody>
      </p:sp>
      <p:sp>
        <p:nvSpPr>
          <p:cNvPr id="9" name="body-1"/>
          <p:cNvSpPr txBox="1"/>
          <p:nvPr/>
        </p:nvSpPr>
        <p:spPr>
          <a:xfrm>
            <a:off x="1042415" y="2759329"/>
            <a:ext cx="10417759" cy="2026919"/>
          </a:xfrm>
          <a:prstGeom prst="rect">
            <a:avLst/>
          </a:prstGeom>
          <a:noFill/>
        </p:spPr>
        <p:txBody>
          <a:bodyPr wrap="square" anchor="t" lIns="0" rIns="0" tIns="0" bIns="0">
            <a:noAutofit/>
          </a:bodyPr>
          <a:lstStyle/>
          <a:p>
            <a:pPr algn="l">
              <a:lnSpc>
                <a:spcPct val="104000"/>
              </a:lnSpc>
              <a:spcBef>
                <a:spcPts val="0"/>
              </a:spcBef>
              <a:spcAft>
                <a:spcPts val="0"/>
              </a:spcAft>
            </a:pPr>
            <a:r>
              <a:rPr sz="2500" b="0" i="0">
                <a:solidFill>
                  <a:srgbClr val="1C252B"/>
                </a:solidFill>
                <a:latin typeface="Segoe UI"/>
              </a:rPr>
              <a:t>Breadth-first search is </a:t>
            </a:r>
            <a:r>
              <a:rPr sz="2500" b="1" i="0">
                <a:solidFill>
                  <a:srgbClr val="1A5276"/>
                </a:solidFill>
                <a:latin typeface="Segoe UI"/>
              </a:rPr>
              <a:t>complete</a:t>
            </a:r>
            <a:r>
              <a:rPr sz="2500" b="0" i="0">
                <a:solidFill>
                  <a:srgbClr val="1C252B"/>
                </a:solidFill>
                <a:latin typeface="Segoe UI"/>
              </a:rPr>
              <a:t> — if a solution exists at finite depth it will be found — and it returns the </a:t>
            </a:r>
            <a:r>
              <a:rPr sz="2500" b="0" i="1">
                <a:solidFill>
                  <a:srgbClr val="1C252B"/>
                </a:solidFill>
                <a:latin typeface="Segoe UI"/>
              </a:rPr>
              <a:t>shallowest</a:t>
            </a:r>
            <a:r>
              <a:rPr sz="2500" b="0" i="0">
                <a:solidFill>
                  <a:srgbClr val="1C252B"/>
                </a:solidFill>
                <a:latin typeface="Segoe UI"/>
              </a:rPr>
              <a:t> solution. That is an optimal solution only when every action costs the same. With durations of </a:t>
            </a:r>
            <a:r>
              <a:rPr sz="2500" b="0" i="0">
                <a:solidFill>
                  <a:srgbClr val="1C252B"/>
                </a:solidFill>
                <a:latin typeface="Cambria"/>
              </a:rPr>
              <a:t>1</a:t>
            </a:r>
            <a:r>
              <a:rPr sz="2500" b="0" i="0">
                <a:solidFill>
                  <a:srgbClr val="1C252B"/>
                </a:solidFill>
                <a:latin typeface="Segoe UI"/>
              </a:rPr>
              <a:t> to </a:t>
            </a:r>
            <a:r>
              <a:rPr sz="2500" b="0" i="0">
                <a:solidFill>
                  <a:srgbClr val="1C252B"/>
                </a:solidFill>
                <a:latin typeface="Cambria"/>
              </a:rPr>
              <a:t>5</a:t>
            </a:r>
            <a:r>
              <a:rPr sz="2500" b="0" i="0">
                <a:solidFill>
                  <a:srgbClr val="1C252B"/>
                </a:solidFill>
                <a:latin typeface="Segoe UI"/>
              </a:rPr>
              <a:t> days, the shallowest plan is not the cheapest, and it is a mistake to call breadth-first search optimal without that qualification.</a:t>
            </a:r>
          </a:p>
        </p:txBody>
      </p:sp>
      <p:sp>
        <p:nvSpPr>
          <p:cNvPr id="10" name="body-2"/>
          <p:cNvSpPr txBox="1"/>
          <p:nvPr/>
        </p:nvSpPr>
        <p:spPr>
          <a:xfrm>
            <a:off x="1042415" y="4915154"/>
            <a:ext cx="10417759" cy="1234439"/>
          </a:xfrm>
          <a:prstGeom prst="rect">
            <a:avLst/>
          </a:prstGeom>
          <a:noFill/>
        </p:spPr>
        <p:txBody>
          <a:bodyPr wrap="square" anchor="t" lIns="0" rIns="0" tIns="0" bIns="0">
            <a:noAutofit/>
          </a:bodyPr>
          <a:lstStyle/>
          <a:p>
            <a:pPr algn="l">
              <a:lnSpc>
                <a:spcPct val="104000"/>
              </a:lnSpc>
              <a:spcBef>
                <a:spcPts val="0"/>
              </a:spcBef>
              <a:spcAft>
                <a:spcPts val="0"/>
              </a:spcAft>
            </a:pPr>
            <a:r>
              <a:rPr sz="2500" b="0" i="0">
                <a:solidFill>
                  <a:srgbClr val="1C252B"/>
                </a:solidFill>
                <a:latin typeface="Segoe UI"/>
              </a:rPr>
              <a:t>Its cost is the problem. With branching factor </a:t>
            </a:r>
            <a:r>
              <a:rPr sz="2500" b="0" i="1">
                <a:solidFill>
                  <a:srgbClr val="1C252B"/>
                </a:solidFill>
                <a:latin typeface="Cambria"/>
              </a:rPr>
              <a:t>b</a:t>
            </a:r>
            <a:r>
              <a:rPr sz="2500" b="0" i="0">
                <a:solidFill>
                  <a:srgbClr val="1C252B"/>
                </a:solidFill>
                <a:latin typeface="Segoe UI"/>
              </a:rPr>
              <a:t> and solution depth </a:t>
            </a:r>
            <a:r>
              <a:rPr sz="2500" b="0" i="1">
                <a:solidFill>
                  <a:srgbClr val="1C252B"/>
                </a:solidFill>
                <a:latin typeface="Cambria"/>
              </a:rPr>
              <a:t>d</a:t>
            </a:r>
            <a:r>
              <a:rPr sz="2500" b="0" i="0">
                <a:solidFill>
                  <a:srgbClr val="1C252B"/>
                </a:solidFill>
                <a:latin typeface="Segoe UI"/>
              </a:rPr>
              <a:t>, it generates </a:t>
            </a:r>
            <a:r>
              <a:rPr sz="2500" b="0" i="1">
                <a:solidFill>
                  <a:srgbClr val="1C252B"/>
                </a:solidFill>
                <a:latin typeface="Cambria"/>
              </a:rPr>
              <a:t>O</a:t>
            </a:r>
            <a:r>
              <a:rPr sz="2500" b="0" i="0">
                <a:solidFill>
                  <a:srgbClr val="1C252B"/>
                </a:solidFill>
                <a:latin typeface="Cambria"/>
              </a:rPr>
              <a:t>(</a:t>
            </a:r>
            <a:r>
              <a:rPr sz="2500" b="0" i="1">
                <a:solidFill>
                  <a:srgbClr val="1C252B"/>
                </a:solidFill>
                <a:latin typeface="Cambria"/>
              </a:rPr>
              <a:t>b</a:t>
            </a:r>
            <a:r>
              <a:rPr sz="2500" b="0" i="1" baseline="30000">
                <a:solidFill>
                  <a:srgbClr val="1C252B"/>
                </a:solidFill>
                <a:latin typeface="Cambria"/>
              </a:rPr>
              <a:t>d</a:t>
            </a:r>
            <a:r>
              <a:rPr sz="2500" b="0" i="0">
                <a:solidFill>
                  <a:srgbClr val="1C252B"/>
                </a:solidFill>
                <a:latin typeface="Cambria"/>
              </a:rPr>
              <a:t>)</a:t>
            </a:r>
            <a:r>
              <a:rPr sz="2500" b="0" i="0">
                <a:solidFill>
                  <a:srgbClr val="1C252B"/>
                </a:solidFill>
                <a:latin typeface="Segoe UI"/>
              </a:rPr>
              <a:t> nodes and — fatally — must </a:t>
            </a:r>
            <a:r>
              <a:rPr sz="2500" b="0" i="1">
                <a:solidFill>
                  <a:srgbClr val="1C252B"/>
                </a:solidFill>
                <a:latin typeface="Segoe UI"/>
              </a:rPr>
              <a:t>store</a:t>
            </a:r>
            <a:r>
              <a:rPr sz="2500" b="0" i="0">
                <a:solidFill>
                  <a:srgbClr val="1C252B"/>
                </a:solidFill>
                <a:latin typeface="Segoe UI"/>
              </a:rPr>
              <a:t> </a:t>
            </a:r>
            <a:r>
              <a:rPr sz="2500" b="0" i="1">
                <a:solidFill>
                  <a:srgbClr val="1C252B"/>
                </a:solidFill>
                <a:latin typeface="Cambria"/>
              </a:rPr>
              <a:t>O</a:t>
            </a:r>
            <a:r>
              <a:rPr sz="2500" b="0" i="0">
                <a:solidFill>
                  <a:srgbClr val="1C252B"/>
                </a:solidFill>
                <a:latin typeface="Cambria"/>
              </a:rPr>
              <a:t>(</a:t>
            </a:r>
            <a:r>
              <a:rPr sz="2500" b="0" i="1">
                <a:solidFill>
                  <a:srgbClr val="1C252B"/>
                </a:solidFill>
                <a:latin typeface="Cambria"/>
              </a:rPr>
              <a:t>b</a:t>
            </a:r>
            <a:r>
              <a:rPr sz="2500" b="0" i="1" baseline="30000">
                <a:solidFill>
                  <a:srgbClr val="1C252B"/>
                </a:solidFill>
                <a:latin typeface="Cambria"/>
              </a:rPr>
              <a:t>d</a:t>
            </a:r>
            <a:r>
              <a:rPr sz="2500" b="0" i="0">
                <a:solidFill>
                  <a:srgbClr val="1C252B"/>
                </a:solidFill>
                <a:latin typeface="Cambria"/>
              </a:rPr>
              <a:t>)</a:t>
            </a:r>
            <a:r>
              <a:rPr sz="2500" b="0" i="0">
                <a:solidFill>
                  <a:srgbClr val="1C252B"/>
                </a:solidFill>
                <a:latin typeface="Segoe UI"/>
              </a:rPr>
              <a:t> of them, because the whole frontier is one level wide.</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318044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5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Depth-First and Depth-Limited Search</a:t>
            </a:r>
          </a:p>
        </p:txBody>
      </p:sp>
      <p:pic>
        <p:nvPicPr>
          <p:cNvPr id="3" name="!!kicker-icon" descr="quote-left-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KEY IDEA</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  ·  Problem Formulation and Uninformed Search</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§4.4  ·  Handout p. 36     </a:t>
            </a:r>
            <a:fld id="{B2C9C81F-3D03-4B7F-8E11-7A9DB26A1F8A}" type="slidenum">
              <a:rPr lang="en-GB" sz="1000">
                <a:solidFill>
                  <a:srgbClr val="8795A1"/>
                </a:solidFill>
                <a:latin typeface="Segoe UI"/>
              </a:rPr>
              <a:t>13</a:t>
            </a:fld>
          </a:p>
        </p:txBody>
      </p:sp>
      <p:sp>
        <p:nvSpPr>
          <p:cNvPr id="7" name="!!stbar">
            <a:extLst>
              <a:ext uri="{C183D7F6-B498-43B3-948B-1728B52AA6E4}">
                <adec:decorative xmlns:adec="http://schemas.microsoft.com/office/drawing/2017/decorative" val="1"/>
              </a:ext>
            </a:extLst>
          </p:cNvPr>
          <p:cNvSpPr/>
          <p:nvPr/>
        </p:nvSpPr>
        <p:spPr>
          <a:xfrm>
            <a:off x="658368" y="1810512"/>
            <a:ext cx="73152" cy="427507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body-0"/>
          <p:cNvSpPr txBox="1"/>
          <p:nvPr/>
        </p:nvSpPr>
        <p:spPr>
          <a:xfrm>
            <a:off x="1042415" y="1792224"/>
            <a:ext cx="10417759" cy="838200"/>
          </a:xfrm>
          <a:prstGeom prst="rect">
            <a:avLst/>
          </a:prstGeom>
          <a:noFill/>
        </p:spPr>
        <p:txBody>
          <a:bodyPr wrap="square" anchor="t" lIns="0" rIns="0" tIns="0" bIns="0">
            <a:noAutofit/>
          </a:bodyPr>
          <a:lstStyle/>
          <a:p>
            <a:pPr algn="l">
              <a:lnSpc>
                <a:spcPct val="104000"/>
              </a:lnSpc>
              <a:spcBef>
                <a:spcPts val="0"/>
              </a:spcBef>
              <a:spcAft>
                <a:spcPts val="0"/>
              </a:spcAft>
            </a:pPr>
            <a:r>
              <a:rPr sz="2500" b="0" i="0">
                <a:solidFill>
                  <a:srgbClr val="1C252B"/>
                </a:solidFill>
                <a:latin typeface="Segoe UI"/>
              </a:rPr>
              <a:t>Expand the deepest unexpanded node: a last-in first-out frontier, so </a:t>
            </a:r>
            <a:r>
              <a:rPr sz="2350" b="0" i="0">
                <a:solidFill>
                  <a:srgbClr val="1F4E79"/>
                </a:solidFill>
                <a:latin typeface="Consolas"/>
              </a:rPr>
              <a:t>list.pop()</a:t>
            </a:r>
            <a:r>
              <a:rPr sz="2500" b="0" i="0">
                <a:solidFill>
                  <a:srgbClr val="1C252B"/>
                </a:solidFill>
                <a:latin typeface="Segoe UI"/>
              </a:rPr>
              <a:t>, or simple recursion.</a:t>
            </a:r>
          </a:p>
        </p:txBody>
      </p:sp>
      <p:sp>
        <p:nvSpPr>
          <p:cNvPr id="9" name="body-1"/>
          <p:cNvSpPr txBox="1"/>
          <p:nvPr/>
        </p:nvSpPr>
        <p:spPr>
          <a:xfrm>
            <a:off x="1042415" y="2759329"/>
            <a:ext cx="10417759" cy="1630680"/>
          </a:xfrm>
          <a:prstGeom prst="rect">
            <a:avLst/>
          </a:prstGeom>
          <a:noFill/>
        </p:spPr>
        <p:txBody>
          <a:bodyPr wrap="square" anchor="t" lIns="0" rIns="0" tIns="0" bIns="0">
            <a:noAutofit/>
          </a:bodyPr>
          <a:lstStyle/>
          <a:p>
            <a:pPr algn="l">
              <a:lnSpc>
                <a:spcPct val="104000"/>
              </a:lnSpc>
              <a:spcBef>
                <a:spcPts val="0"/>
              </a:spcBef>
              <a:spcAft>
                <a:spcPts val="0"/>
              </a:spcAft>
            </a:pPr>
            <a:r>
              <a:rPr sz="2500" b="0" i="0">
                <a:solidFill>
                  <a:srgbClr val="1C252B"/>
                </a:solidFill>
                <a:latin typeface="Segoe UI"/>
              </a:rPr>
              <a:t>The gain is memory: only the current path and its siblings need to be held, which is </a:t>
            </a:r>
            <a:r>
              <a:rPr sz="2500" b="0" i="1">
                <a:solidFill>
                  <a:srgbClr val="1C252B"/>
                </a:solidFill>
                <a:latin typeface="Cambria"/>
              </a:rPr>
              <a:t>O</a:t>
            </a:r>
            <a:r>
              <a:rPr sz="2500" b="0" i="0">
                <a:solidFill>
                  <a:srgbClr val="1C252B"/>
                </a:solidFill>
                <a:latin typeface="Cambria"/>
              </a:rPr>
              <a:t>(</a:t>
            </a:r>
            <a:r>
              <a:rPr sz="2500" b="0" i="1">
                <a:solidFill>
                  <a:srgbClr val="1C252B"/>
                </a:solidFill>
                <a:latin typeface="Cambria"/>
              </a:rPr>
              <a:t>bm</a:t>
            </a:r>
            <a:r>
              <a:rPr sz="2500" b="0" i="0">
                <a:solidFill>
                  <a:srgbClr val="1C252B"/>
                </a:solidFill>
                <a:latin typeface="Cambria"/>
              </a:rPr>
              <a:t>)</a:t>
            </a:r>
            <a:r>
              <a:rPr sz="2500" b="0" i="0">
                <a:solidFill>
                  <a:srgbClr val="1C252B"/>
                </a:solidFill>
                <a:latin typeface="Segoe UI"/>
              </a:rPr>
              <a:t> for maximum depth </a:t>
            </a:r>
            <a:r>
              <a:rPr sz="2500" b="0" i="1">
                <a:solidFill>
                  <a:srgbClr val="1C252B"/>
                </a:solidFill>
                <a:latin typeface="Cambria"/>
              </a:rPr>
              <a:t>m</a:t>
            </a:r>
            <a:r>
              <a:rPr sz="2500" b="0" i="0">
                <a:solidFill>
                  <a:srgbClr val="1C252B"/>
                </a:solidFill>
                <a:latin typeface="Segoe UI"/>
              </a:rPr>
              <a:t> rather than </a:t>
            </a:r>
            <a:r>
              <a:rPr sz="2500" b="0" i="1">
                <a:solidFill>
                  <a:srgbClr val="1C252B"/>
                </a:solidFill>
                <a:latin typeface="Cambria"/>
              </a:rPr>
              <a:t>O</a:t>
            </a:r>
            <a:r>
              <a:rPr sz="2500" b="0" i="0">
                <a:solidFill>
                  <a:srgbClr val="1C252B"/>
                </a:solidFill>
                <a:latin typeface="Cambria"/>
              </a:rPr>
              <a:t>(</a:t>
            </a:r>
            <a:r>
              <a:rPr sz="2500" b="0" i="1">
                <a:solidFill>
                  <a:srgbClr val="1C252B"/>
                </a:solidFill>
                <a:latin typeface="Cambria"/>
              </a:rPr>
              <a:t>b</a:t>
            </a:r>
            <a:r>
              <a:rPr sz="2500" b="0" i="1" baseline="30000">
                <a:solidFill>
                  <a:srgbClr val="1C252B"/>
                </a:solidFill>
                <a:latin typeface="Cambria"/>
              </a:rPr>
              <a:t>d</a:t>
            </a:r>
            <a:r>
              <a:rPr sz="2500" b="0" i="0">
                <a:solidFill>
                  <a:srgbClr val="1C252B"/>
                </a:solidFill>
                <a:latin typeface="Cambria"/>
              </a:rPr>
              <a:t>)</a:t>
            </a:r>
            <a:r>
              <a:rPr sz="2500" b="0" i="0">
                <a:solidFill>
                  <a:srgbClr val="1C252B"/>
                </a:solidFill>
                <a:latin typeface="Segoe UI"/>
              </a:rPr>
              <a:t>. The loss is both completeness and optimality — in a space with cycles and no explored set, depth-first search follows one branch forever.</a:t>
            </a:r>
          </a:p>
        </p:txBody>
      </p:sp>
      <p:sp>
        <p:nvSpPr>
          <p:cNvPr id="10" name="body-2"/>
          <p:cNvSpPr txBox="1"/>
          <p:nvPr/>
        </p:nvSpPr>
        <p:spPr>
          <a:xfrm>
            <a:off x="1042415" y="4518914"/>
            <a:ext cx="10417759" cy="1630680"/>
          </a:xfrm>
          <a:prstGeom prst="rect">
            <a:avLst/>
          </a:prstGeom>
          <a:noFill/>
        </p:spPr>
        <p:txBody>
          <a:bodyPr wrap="square" anchor="t" lIns="0" rIns="0" tIns="0" bIns="0">
            <a:noAutofit/>
          </a:bodyPr>
          <a:lstStyle/>
          <a:p>
            <a:pPr algn="l">
              <a:lnSpc>
                <a:spcPct val="104000"/>
              </a:lnSpc>
              <a:spcBef>
                <a:spcPts val="0"/>
              </a:spcBef>
              <a:spcAft>
                <a:spcPts val="0"/>
              </a:spcAft>
            </a:pPr>
            <a:r>
              <a:rPr sz="2500" b="1" i="0">
                <a:solidFill>
                  <a:srgbClr val="1A5276"/>
                </a:solidFill>
                <a:latin typeface="Segoe UI"/>
              </a:rPr>
              <a:t>Depth-limited search</a:t>
            </a:r>
            <a:r>
              <a:rPr sz="2500" b="0" i="0">
                <a:solidFill>
                  <a:srgbClr val="1C252B"/>
                </a:solidFill>
                <a:latin typeface="Segoe UI"/>
              </a:rPr>
              <a:t> fixes the infinite descent by refusing to go below depth . Now it terminates, but it is incomplete in a new way: if the shallowest solution is deeper than  it reports failure on a solvable problem, which is the worst possible answer.</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344547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5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Iterative Deepening</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  ·  Problem Formulation and Uninformed Search</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§4.5  ·  Handout p. 36     </a:t>
            </a:r>
            <a:fld id="{58269900-A4BC-4750-ADC3-BA99AABF411F}"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904354"/>
          </a:xfrm>
          <a:prstGeom prst="roundRect">
            <a:avLst>
              <a:gd name="adj" fmla="val 4801"/>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90435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apparent waste is small. The work is dominated by the deepest level, because the levels grow geometrically:</a:t>
            </a:r>
          </a:p>
        </p:txBody>
      </p:sp>
      <p:pic>
        <p:nvPicPr>
          <p:cNvPr id="10" name="body-1" descr="N(\text{IDS}) = (d+1)b^{0} + d\,b^{1} + (d-1)b^{2} + \cdots + 1\cdot b^{d}"/>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937992"/>
            <a:ext cx="10161727" cy="392826"/>
          </a:xfrm>
          <a:prstGeom prst="rect">
            <a:avLst/>
          </a:prstGeom>
        </p:spPr>
      </p:pic>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371051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Iterative deepening against breadth-first search at solution depth d=5</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4.2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  ·  Problem Formulation and Uninformed Search</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§4.5  ·  Handout p. 36     </a:t>
            </a:r>
            <a:fld id="{48BD7009-D2F0-43F2-90F5-1B50838131A0}" type="slidenum">
              <a:rPr lang="en-GB" sz="1000">
                <a:solidFill>
                  <a:srgbClr val="8795A1"/>
                </a:solidFill>
                <a:latin typeface="Segoe UI"/>
              </a:rPr>
              <a:t>15</a:t>
            </a:fld>
          </a:p>
        </p:txBody>
      </p:sp>
      <p:pic>
        <p:nvPicPr>
          <p:cNvPr id="6" name="!!figure" descr="Figure 4.2. Iterative deepening against breadth-first search at solution depth d=5. The repeated work is a modest overhead that shrinks as the tree widens — 91% extra at b=2, 11% at b=10, 9% at b=12 — while the memory requirement falls from exponential to linea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160284" y="1737360"/>
            <a:ext cx="7871125"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repeated work is a modest overhead that shrinks as the tree widens — 91% extra at b=2, 11% at b=10, 9% at b=12 — while the memory requirement falls from exponential to linear.</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97555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Uniform-Cost Search</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  ·  Problem Formulation and Uninformed Search</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§4.6  ·  Handout p. 37     </a:t>
            </a:r>
            <a:fld id="{08ED036D-D143-43DE-B5E9-B91D8B1CE621}" type="slidenum">
              <a:rPr lang="en-GB" sz="1000">
                <a:solidFill>
                  <a:srgbClr val="8795A1"/>
                </a:solidFill>
                <a:latin typeface="Segoe UI"/>
              </a:rPr>
              <a:t>16</a:t>
            </a:fld>
          </a:p>
        </p:txBody>
      </p:sp>
      <p:graphicFrame>
        <p:nvGraphicFramePr>
          <p:cNvPr id="7" name="!!table"/>
          <p:cNvGraphicFramePr>
            <a:graphicFrameLocks noGrp="1"/>
          </p:cNvGraphicFramePr>
          <p:nvPr/>
        </p:nvGraphicFramePr>
        <p:xfrm>
          <a:off x="658368" y="1737360"/>
          <a:ext cx="10874957" cy="4340352"/>
        </p:xfrm>
        <a:graphic>
          <a:graphicData uri="http://schemas.openxmlformats.org/drawingml/2006/table">
            <a:tbl>
              <a:tblPr firstRow="0" bandRow="0" firstCol="0" lastRow="0" lastCol="0" bandCol="0">
                <a:tableStyleId>{2D5ABB26-0587-4C30-8999-92F81FD0307C}</a:tableStyleId>
              </a:tblPr>
              <a:tblGrid>
                <a:gridCol w="2208976"/>
                <a:gridCol w="1741692"/>
                <a:gridCol w="1656732"/>
                <a:gridCol w="2124015"/>
                <a:gridCol w="1571771"/>
                <a:gridCol w="1571771"/>
              </a:tblGrid>
              <a:tr h="344424">
                <a:tc>
                  <a:txBody>
                    <a:bodyPr wrap="square"/>
                    <a:lstStyle/>
                    <a:p>
                      <a:pPr algn="l"/>
                      <a:r>
                        <a:rPr sz="1300" b="1" i="0">
                          <a:solidFill>
                            <a:srgbClr val="1A5276"/>
                          </a:solidFill>
                          <a:latin typeface="Segoe UI"/>
                        </a:rPr>
                        <a:t>Strategy</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300" b="1" i="0">
                          <a:solidFill>
                            <a:srgbClr val="1A5276"/>
                          </a:solidFill>
                          <a:latin typeface="Segoe UI"/>
                        </a:rPr>
                        <a:t>Complete?</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300" b="1" i="0">
                          <a:solidFill>
                            <a:srgbClr val="1A5276"/>
                          </a:solidFill>
                          <a:latin typeface="Segoe UI"/>
                        </a:rPr>
                        <a:t>Cheapest?</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300" b="1" i="0">
                          <a:solidFill>
                            <a:srgbClr val="1A5276"/>
                          </a:solidFill>
                          <a:latin typeface="Segoe UI"/>
                        </a:rPr>
                        <a:t>Time</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300" b="1" i="0">
                          <a:solidFill>
                            <a:srgbClr val="1A5276"/>
                          </a:solidFill>
                          <a:latin typeface="Segoe UI"/>
                        </a:rPr>
                        <a:t>Space</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300" b="1" i="0">
                          <a:solidFill>
                            <a:srgbClr val="1A5276"/>
                          </a:solidFill>
                          <a:latin typeface="Segoe UI"/>
                        </a:rPr>
                        <a:t>Frontier</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44424">
                <a:tc>
                  <a:txBody>
                    <a:bodyPr wrap="square"/>
                    <a:lstStyle/>
                    <a:p>
                      <a:pPr algn="l"/>
                      <a:r>
                        <a:rPr sz="1300" b="1" i="0">
                          <a:solidFill>
                            <a:srgbClr val="1C252B"/>
                          </a:solidFill>
                          <a:latin typeface="Segoe UI"/>
                        </a:rPr>
                        <a:t>Strategy</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1" i="0">
                          <a:solidFill>
                            <a:srgbClr val="1C252B"/>
                          </a:solidFill>
                          <a:latin typeface="Segoe UI"/>
                        </a:rPr>
                        <a:t>Complete?</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1" i="0">
                          <a:solidFill>
                            <a:srgbClr val="1C252B"/>
                          </a:solidFill>
                          <a:latin typeface="Segoe UI"/>
                        </a:rPr>
                        <a:t>Cheapest?</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1" i="0">
                          <a:solidFill>
                            <a:srgbClr val="1C252B"/>
                          </a:solidFill>
                          <a:latin typeface="Segoe UI"/>
                        </a:rPr>
                        <a:t>Time</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1" i="0">
                          <a:solidFill>
                            <a:srgbClr val="1C252B"/>
                          </a:solidFill>
                          <a:latin typeface="Segoe UI"/>
                        </a:rPr>
                        <a:t>Space</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1" i="0">
                          <a:solidFill>
                            <a:srgbClr val="1C252B"/>
                          </a:solidFill>
                          <a:latin typeface="Segoe UI"/>
                        </a:rPr>
                        <a:t>Frontier</a:t>
                      </a:r>
                      <a:endParaRPr sz="1300"/>
                    </a:p>
                  </a:txBody>
                  <a:tcPr marL="109728" marR="109728" marT="64008" marB="45720" anchor="t">
                    <a:lnL w="0" cmpd="sng">
                      <a:noFill/>
                    </a:lnL>
                    <a:lnR w="0" cmpd="sng">
                      <a:noFill/>
                    </a:lnR>
                    <a:lnT w="9525" cmpd="sng">
                      <a:noFill/>
                    </a:lnT>
                    <a:lnB w="9525" cmpd="sng">
                      <a:noFill/>
                    </a:lnB>
                    <a:solidFill>
                      <a:srgbClr val="FFFFFF"/>
                    </a:solidFill>
                  </a:tcPr>
                </a:tc>
              </a:tr>
              <a:tr h="344424">
                <a:tc>
                  <a:txBody>
                    <a:bodyPr wrap="square"/>
                    <a:lstStyle/>
                    <a:p>
                      <a:pPr algn="l"/>
                      <a:r>
                        <a:rPr sz="1300" b="0" i="0">
                          <a:solidFill>
                            <a:srgbClr val="1C252B"/>
                          </a:solidFill>
                          <a:latin typeface="Segoe UI"/>
                        </a:rPr>
                        <a:t>Breadth-first</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Yes</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Only if costs equal</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1">
                          <a:solidFill>
                            <a:srgbClr val="1C252B"/>
                          </a:solidFill>
                          <a:latin typeface="Cambria"/>
                        </a:rPr>
                        <a:t>O</a:t>
                      </a:r>
                      <a:r>
                        <a:rPr sz="1300" b="0" i="0">
                          <a:solidFill>
                            <a:srgbClr val="1C252B"/>
                          </a:solidFill>
                          <a:latin typeface="Cambria"/>
                        </a:rPr>
                        <a:t>(</a:t>
                      </a:r>
                      <a:r>
                        <a:rPr sz="1300" b="0" i="1">
                          <a:solidFill>
                            <a:srgbClr val="1C252B"/>
                          </a:solidFill>
                          <a:latin typeface="Cambria"/>
                        </a:rPr>
                        <a:t>b</a:t>
                      </a:r>
                      <a:r>
                        <a:rPr sz="1300" b="0" i="1" baseline="30000">
                          <a:solidFill>
                            <a:srgbClr val="1C252B"/>
                          </a:solidFill>
                          <a:latin typeface="Cambria"/>
                        </a:rPr>
                        <a:t>d</a:t>
                      </a:r>
                      <a:r>
                        <a:rPr sz="1300" b="0" i="0">
                          <a:solidFill>
                            <a:srgbClr val="1C252B"/>
                          </a:solidFill>
                          <a:latin typeface="Cambria"/>
                        </a:rPr>
                        <a:t>)</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1">
                          <a:solidFill>
                            <a:srgbClr val="1C252B"/>
                          </a:solidFill>
                          <a:latin typeface="Cambria"/>
                        </a:rPr>
                        <a:t>O</a:t>
                      </a:r>
                      <a:r>
                        <a:rPr sz="1300" b="0" i="0">
                          <a:solidFill>
                            <a:srgbClr val="1C252B"/>
                          </a:solidFill>
                          <a:latin typeface="Cambria"/>
                        </a:rPr>
                        <a:t>(</a:t>
                      </a:r>
                      <a:r>
                        <a:rPr sz="1300" b="0" i="1">
                          <a:solidFill>
                            <a:srgbClr val="1C252B"/>
                          </a:solidFill>
                          <a:latin typeface="Cambria"/>
                        </a:rPr>
                        <a:t>b</a:t>
                      </a:r>
                      <a:r>
                        <a:rPr sz="1300" b="0" i="1" baseline="30000">
                          <a:solidFill>
                            <a:srgbClr val="1C252B"/>
                          </a:solidFill>
                          <a:latin typeface="Cambria"/>
                        </a:rPr>
                        <a:t>d</a:t>
                      </a:r>
                      <a:r>
                        <a:rPr sz="1300" b="0" i="0">
                          <a:solidFill>
                            <a:srgbClr val="1C252B"/>
                          </a:solidFill>
                          <a:latin typeface="Cambria"/>
                        </a:rPr>
                        <a:t>)</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F4E79"/>
                          </a:solidFill>
                          <a:latin typeface="Consolas"/>
                        </a:rPr>
                        <a:t>deque</a:t>
                      </a:r>
                      <a:endParaRPr sz="1300"/>
                    </a:p>
                  </a:txBody>
                  <a:tcPr marL="109728" marR="109728" marT="64008" marB="45720" anchor="t">
                    <a:lnL w="0" cmpd="sng">
                      <a:noFill/>
                    </a:lnL>
                    <a:lnR w="0" cmpd="sng">
                      <a:noFill/>
                    </a:lnR>
                    <a:lnT w="9525" cmpd="sng">
                      <a:noFill/>
                    </a:lnT>
                    <a:lnB w="9525" cmpd="sng">
                      <a:noFill/>
                    </a:lnB>
                    <a:solidFill>
                      <a:srgbClr val="F2F8FC"/>
                    </a:solidFill>
                  </a:tcPr>
                </a:tc>
              </a:tr>
              <a:tr h="344424">
                <a:tc>
                  <a:txBody>
                    <a:bodyPr wrap="square"/>
                    <a:lstStyle/>
                    <a:p>
                      <a:pPr algn="l"/>
                      <a:r>
                        <a:rPr sz="1300" b="0" i="0">
                          <a:solidFill>
                            <a:srgbClr val="1C252B"/>
                          </a:solidFill>
                          <a:latin typeface="Segoe UI"/>
                        </a:rPr>
                        <a:t>Depth-first</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No (cycles)</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No</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1">
                          <a:solidFill>
                            <a:srgbClr val="1C252B"/>
                          </a:solidFill>
                          <a:latin typeface="Cambria"/>
                        </a:rPr>
                        <a:t>O</a:t>
                      </a:r>
                      <a:r>
                        <a:rPr sz="1300" b="0" i="0">
                          <a:solidFill>
                            <a:srgbClr val="1C252B"/>
                          </a:solidFill>
                          <a:latin typeface="Cambria"/>
                        </a:rPr>
                        <a:t>(</a:t>
                      </a:r>
                      <a:r>
                        <a:rPr sz="1300" b="0" i="1">
                          <a:solidFill>
                            <a:srgbClr val="1C252B"/>
                          </a:solidFill>
                          <a:latin typeface="Cambria"/>
                        </a:rPr>
                        <a:t>b</a:t>
                      </a:r>
                      <a:r>
                        <a:rPr sz="1300" b="0" i="1" baseline="30000">
                          <a:solidFill>
                            <a:srgbClr val="1C252B"/>
                          </a:solidFill>
                          <a:latin typeface="Cambria"/>
                        </a:rPr>
                        <a:t>m</a:t>
                      </a:r>
                      <a:r>
                        <a:rPr sz="1300" b="0" i="0">
                          <a:solidFill>
                            <a:srgbClr val="1C252B"/>
                          </a:solidFill>
                          <a:latin typeface="Cambria"/>
                        </a:rPr>
                        <a:t>)</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1">
                          <a:solidFill>
                            <a:srgbClr val="1C252B"/>
                          </a:solidFill>
                          <a:latin typeface="Cambria"/>
                        </a:rPr>
                        <a:t>O</a:t>
                      </a:r>
                      <a:r>
                        <a:rPr sz="1300" b="0" i="0">
                          <a:solidFill>
                            <a:srgbClr val="1C252B"/>
                          </a:solidFill>
                          <a:latin typeface="Cambria"/>
                        </a:rPr>
                        <a:t>(</a:t>
                      </a:r>
                      <a:r>
                        <a:rPr sz="1300" b="0" i="1">
                          <a:solidFill>
                            <a:srgbClr val="1C252B"/>
                          </a:solidFill>
                          <a:latin typeface="Cambria"/>
                        </a:rPr>
                        <a:t>bm</a:t>
                      </a:r>
                      <a:r>
                        <a:rPr sz="1300" b="0" i="0">
                          <a:solidFill>
                            <a:srgbClr val="1C252B"/>
                          </a:solidFill>
                          <a:latin typeface="Cambria"/>
                        </a:rPr>
                        <a:t>)</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F4E79"/>
                          </a:solidFill>
                          <a:latin typeface="Consolas"/>
                        </a:rPr>
                        <a:t>list</a:t>
                      </a:r>
                      <a:endParaRPr sz="1300"/>
                    </a:p>
                  </a:txBody>
                  <a:tcPr marL="109728" marR="109728" marT="64008" marB="45720" anchor="t">
                    <a:lnL w="0" cmpd="sng">
                      <a:noFill/>
                    </a:lnL>
                    <a:lnR w="0" cmpd="sng">
                      <a:noFill/>
                    </a:lnR>
                    <a:lnT w="9525" cmpd="sng">
                      <a:noFill/>
                    </a:lnT>
                    <a:lnB w="9525" cmpd="sng">
                      <a:noFill/>
                    </a:lnB>
                    <a:solidFill>
                      <a:srgbClr val="FFFFFF"/>
                    </a:solidFill>
                  </a:tcPr>
                </a:tc>
              </a:tr>
              <a:tr h="344424">
                <a:tc>
                  <a:txBody>
                    <a:bodyPr wrap="square"/>
                    <a:lstStyle/>
                    <a:p>
                      <a:pPr algn="l"/>
                      <a:r>
                        <a:rPr sz="1300" b="0" i="0">
                          <a:solidFill>
                            <a:srgbClr val="1C252B"/>
                          </a:solidFill>
                          <a:latin typeface="Segoe UI"/>
                        </a:rPr>
                        <a:t>Depth-limited</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No (if </a:t>
                      </a:r>
                      <a:r>
                        <a:rPr sz="1300" b="0" i="0">
                          <a:solidFill>
                            <a:srgbClr val="1C252B"/>
                          </a:solidFill>
                          <a:latin typeface="Cambria"/>
                        </a:rPr>
                        <a:t>&lt;</a:t>
                      </a:r>
                      <a:r>
                        <a:rPr sz="1300" b="0" i="1">
                          <a:solidFill>
                            <a:srgbClr val="1C252B"/>
                          </a:solidFill>
                          <a:latin typeface="Cambria"/>
                        </a:rPr>
                        <a:t>d</a:t>
                      </a:r>
                      <a:r>
                        <a:rPr sz="1300" b="0" i="0">
                          <a:solidFill>
                            <a:srgbClr val="1C252B"/>
                          </a:solidFill>
                          <a:latin typeface="Segoe UI"/>
                        </a:rPr>
                        <a:t>)</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No</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1">
                          <a:solidFill>
                            <a:srgbClr val="1C252B"/>
                          </a:solidFill>
                          <a:latin typeface="Cambria"/>
                        </a:rPr>
                        <a:t>O</a:t>
                      </a:r>
                      <a:r>
                        <a:rPr sz="1300" b="0" i="0">
                          <a:solidFill>
                            <a:srgbClr val="1C252B"/>
                          </a:solidFill>
                          <a:latin typeface="Cambria"/>
                        </a:rPr>
                        <a:t>(</a:t>
                      </a:r>
                      <a:r>
                        <a:rPr sz="1300" b="0" i="1">
                          <a:solidFill>
                            <a:srgbClr val="1C252B"/>
                          </a:solidFill>
                          <a:latin typeface="Cambria"/>
                        </a:rPr>
                        <a:t>b</a:t>
                      </a:r>
                      <a:r>
                        <a:rPr sz="1300" b="0" i="0">
                          <a:solidFill>
                            <a:srgbClr val="1C252B"/>
                          </a:solidFill>
                          <a:latin typeface="Cambria"/>
                        </a:rPr>
                        <a:t>)</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1">
                          <a:solidFill>
                            <a:srgbClr val="1C252B"/>
                          </a:solidFill>
                          <a:latin typeface="Cambria"/>
                        </a:rPr>
                        <a:t>O</a:t>
                      </a:r>
                      <a:r>
                        <a:rPr sz="1300" b="0" i="0">
                          <a:solidFill>
                            <a:srgbClr val="1C252B"/>
                          </a:solidFill>
                          <a:latin typeface="Cambria"/>
                        </a:rPr>
                        <a:t>(</a:t>
                      </a:r>
                      <a:r>
                        <a:rPr sz="1300" b="0" i="1">
                          <a:solidFill>
                            <a:srgbClr val="1C252B"/>
                          </a:solidFill>
                          <a:latin typeface="Cambria"/>
                        </a:rPr>
                        <a:t>b</a:t>
                      </a:r>
                      <a:r>
                        <a:rPr sz="1300" b="0" i="0">
                          <a:solidFill>
                            <a:srgbClr val="1C252B"/>
                          </a:solidFill>
                          <a:latin typeface="Cambria"/>
                        </a:rPr>
                        <a:t>)</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F4E79"/>
                          </a:solidFill>
                          <a:latin typeface="Consolas"/>
                        </a:rPr>
                        <a:t>list</a:t>
                      </a:r>
                      <a:endParaRPr sz="1300"/>
                    </a:p>
                  </a:txBody>
                  <a:tcPr marL="109728" marR="109728" marT="64008" marB="45720" anchor="t">
                    <a:lnL w="0" cmpd="sng">
                      <a:noFill/>
                    </a:lnL>
                    <a:lnR w="0" cmpd="sng">
                      <a:noFill/>
                    </a:lnR>
                    <a:lnT w="9525" cmpd="sng">
                      <a:noFill/>
                    </a:lnT>
                    <a:lnB w="9525" cmpd="sng">
                      <a:noFill/>
                    </a:lnB>
                    <a:solidFill>
                      <a:srgbClr val="F2F8FC"/>
                    </a:solidFill>
                  </a:tcPr>
                </a:tc>
              </a:tr>
              <a:tr h="344424">
                <a:tc>
                  <a:txBody>
                    <a:bodyPr wrap="square"/>
                    <a:lstStyle/>
                    <a:p>
                      <a:pPr algn="l"/>
                      <a:r>
                        <a:rPr sz="1300" b="0" i="0">
                          <a:solidFill>
                            <a:srgbClr val="1C252B"/>
                          </a:solidFill>
                          <a:latin typeface="Segoe UI"/>
                        </a:rPr>
                        <a:t>Iterative deepening</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Yes</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Only if costs equal</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1">
                          <a:solidFill>
                            <a:srgbClr val="1C252B"/>
                          </a:solidFill>
                          <a:latin typeface="Cambria"/>
                        </a:rPr>
                        <a:t>O</a:t>
                      </a:r>
                      <a:r>
                        <a:rPr sz="1300" b="0" i="0">
                          <a:solidFill>
                            <a:srgbClr val="1C252B"/>
                          </a:solidFill>
                          <a:latin typeface="Cambria"/>
                        </a:rPr>
                        <a:t>(</a:t>
                      </a:r>
                      <a:r>
                        <a:rPr sz="1300" b="0" i="1">
                          <a:solidFill>
                            <a:srgbClr val="1C252B"/>
                          </a:solidFill>
                          <a:latin typeface="Cambria"/>
                        </a:rPr>
                        <a:t>b</a:t>
                      </a:r>
                      <a:r>
                        <a:rPr sz="1300" b="0" i="1" baseline="30000">
                          <a:solidFill>
                            <a:srgbClr val="1C252B"/>
                          </a:solidFill>
                          <a:latin typeface="Cambria"/>
                        </a:rPr>
                        <a:t>d</a:t>
                      </a:r>
                      <a:r>
                        <a:rPr sz="1300" b="0" i="0">
                          <a:solidFill>
                            <a:srgbClr val="1C252B"/>
                          </a:solidFill>
                          <a:latin typeface="Cambria"/>
                        </a:rPr>
                        <a:t>)</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1">
                          <a:solidFill>
                            <a:srgbClr val="1C252B"/>
                          </a:solidFill>
                          <a:latin typeface="Cambria"/>
                        </a:rPr>
                        <a:t>O</a:t>
                      </a:r>
                      <a:r>
                        <a:rPr sz="1300" b="0" i="0">
                          <a:solidFill>
                            <a:srgbClr val="1C252B"/>
                          </a:solidFill>
                          <a:latin typeface="Cambria"/>
                        </a:rPr>
                        <a:t>(</a:t>
                      </a:r>
                      <a:r>
                        <a:rPr sz="1300" b="0" i="1">
                          <a:solidFill>
                            <a:srgbClr val="1C252B"/>
                          </a:solidFill>
                          <a:latin typeface="Cambria"/>
                        </a:rPr>
                        <a:t>bd</a:t>
                      </a:r>
                      <a:r>
                        <a:rPr sz="1300" b="0" i="0">
                          <a:solidFill>
                            <a:srgbClr val="1C252B"/>
                          </a:solidFill>
                          <a:latin typeface="Cambria"/>
                        </a:rPr>
                        <a:t>)</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F4E79"/>
                          </a:solidFill>
                          <a:latin typeface="Consolas"/>
                        </a:rPr>
                        <a:t>list</a:t>
                      </a:r>
                      <a:endParaRPr sz="1300"/>
                    </a:p>
                  </a:txBody>
                  <a:tcPr marL="109728" marR="109728" marT="64008" marB="45720" anchor="t">
                    <a:lnL w="0" cmpd="sng">
                      <a:noFill/>
                    </a:lnL>
                    <a:lnR w="0" cmpd="sng">
                      <a:noFill/>
                    </a:lnR>
                    <a:lnT w="9525" cmpd="sng">
                      <a:noFill/>
                    </a:lnT>
                    <a:lnB w="9525" cmpd="sng">
                      <a:noFill/>
                    </a:lnB>
                    <a:solidFill>
                      <a:srgbClr val="FFFFFF"/>
                    </a:solidFill>
                  </a:tcPr>
                </a:tc>
              </a:tr>
              <a:tr h="344424">
                <a:tc>
                  <a:txBody>
                    <a:bodyPr wrap="square"/>
                    <a:lstStyle/>
                    <a:p>
                      <a:pPr algn="l"/>
                      <a:r>
                        <a:rPr sz="1300" b="0" i="0">
                          <a:solidFill>
                            <a:srgbClr val="1C252B"/>
                          </a:solidFill>
                          <a:latin typeface="Segoe UI"/>
                        </a:rPr>
                        <a:t>Uniform-cost</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Yes</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1" i="0">
                          <a:solidFill>
                            <a:srgbClr val="1C252B"/>
                          </a:solidFill>
                          <a:latin typeface="Segoe UI"/>
                        </a:rPr>
                        <a:t>Yes</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1">
                          <a:solidFill>
                            <a:srgbClr val="1C252B"/>
                          </a:solidFill>
                          <a:latin typeface="Cambria"/>
                        </a:rPr>
                        <a:t>O</a:t>
                      </a:r>
                      <a:r>
                        <a:rPr sz="1300" b="0" i="0">
                          <a:solidFill>
                            <a:srgbClr val="1C252B"/>
                          </a:solidFill>
                          <a:latin typeface="Cambria"/>
                        </a:rPr>
                        <a:t>(</a:t>
                      </a:r>
                      <a:r>
                        <a:rPr sz="1300" b="0" i="1">
                          <a:solidFill>
                            <a:srgbClr val="1C252B"/>
                          </a:solidFill>
                          <a:latin typeface="Cambria"/>
                        </a:rPr>
                        <a:t>b</a:t>
                      </a:r>
                      <a:r>
                        <a:rPr sz="1300" b="0" i="0" baseline="30000">
                          <a:solidFill>
                            <a:srgbClr val="1C252B"/>
                          </a:solidFill>
                          <a:latin typeface="Cambria"/>
                        </a:rPr>
                        <a:t>1+</a:t>
                      </a:r>
                      <a:r>
                        <a:rPr sz="1300" b="0" i="1" baseline="30000">
                          <a:solidFill>
                            <a:srgbClr val="1C252B"/>
                          </a:solidFill>
                          <a:latin typeface="Cambria"/>
                        </a:rPr>
                        <a:t>C</a:t>
                      </a:r>
                      <a:r>
                        <a:rPr sz="1300" b="0" i="0" baseline="30000">
                          <a:solidFill>
                            <a:srgbClr val="1C252B"/>
                          </a:solidFill>
                          <a:latin typeface="Cambria"/>
                        </a:rPr>
                        <a:t>∗/ε</a:t>
                      </a:r>
                      <a:r>
                        <a:rPr sz="1300" b="0" i="0">
                          <a:solidFill>
                            <a:srgbClr val="1C252B"/>
                          </a:solidFill>
                          <a:latin typeface="Cambria"/>
                        </a:rPr>
                        <a:t>)</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same as time</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F4E79"/>
                          </a:solidFill>
                          <a:latin typeface="Consolas"/>
                        </a:rPr>
                        <a:t>heapq</a:t>
                      </a:r>
                      <a:endParaRPr sz="1300"/>
                    </a:p>
                  </a:txBody>
                  <a:tcPr marL="109728" marR="109728" marT="64008" marB="45720" anchor="t">
                    <a:lnL w="0" cmpd="sng">
                      <a:noFill/>
                    </a:lnL>
                    <a:lnR w="0" cmpd="sng">
                      <a:noFill/>
                    </a:lnR>
                    <a:lnT w="9525" cmpd="sng">
                      <a:noFill/>
                    </a:lnT>
                    <a:lnB w="9525" cmpd="sng">
                      <a:noFill/>
                    </a:lnB>
                    <a:solidFill>
                      <a:srgbClr val="F2F8FC"/>
                    </a:solidFill>
                  </a:tcPr>
                </a:tc>
              </a:tr>
              <a:tr h="1929384">
                <a:tc>
                  <a:txBody>
                    <a:bodyPr wrap="square"/>
                    <a:lstStyle/>
                    <a:p>
                      <a:pPr algn="l"/>
                      <a:r>
                        <a:rPr sz="1300" b="0" i="0">
                          <a:solidFill>
                            <a:srgbClr val="1C252B"/>
                          </a:solidFill>
                          <a:latin typeface="Segoe UI"/>
                        </a:rPr>
                        <a:t>The five uninformed strategies. </a:t>
                      </a:r>
                      <a:r>
                        <a:rPr sz="1300" b="0" i="1">
                          <a:solidFill>
                            <a:srgbClr val="1C252B"/>
                          </a:solidFill>
                          <a:latin typeface="Cambria"/>
                        </a:rPr>
                        <a:t>b</a:t>
                      </a:r>
                      <a:r>
                        <a:rPr sz="1300" b="0" i="0">
                          <a:solidFill>
                            <a:srgbClr val="1C252B"/>
                          </a:solidFill>
                          <a:latin typeface="Segoe UI"/>
                        </a:rPr>
                        <a:t> is the branching factor, </a:t>
                      </a:r>
                      <a:r>
                        <a:rPr sz="1300" b="0" i="1">
                          <a:solidFill>
                            <a:srgbClr val="1C252B"/>
                          </a:solidFill>
                          <a:latin typeface="Cambria"/>
                        </a:rPr>
                        <a:t>d</a:t>
                      </a:r>
                      <a:r>
                        <a:rPr sz="1300" b="0" i="0">
                          <a:solidFill>
                            <a:srgbClr val="1C252B"/>
                          </a:solidFill>
                          <a:latin typeface="Segoe UI"/>
                        </a:rPr>
                        <a:t> the solution depth, </a:t>
                      </a:r>
                      <a:r>
                        <a:rPr sz="1300" b="0" i="1">
                          <a:solidFill>
                            <a:srgbClr val="1C252B"/>
                          </a:solidFill>
                          <a:latin typeface="Cambria"/>
                        </a:rPr>
                        <a:t>m</a:t>
                      </a:r>
                      <a:r>
                        <a:rPr sz="1300" b="0" i="0">
                          <a:solidFill>
                            <a:srgbClr val="1C252B"/>
                          </a:solidFill>
                          <a:latin typeface="Segoe UI"/>
                        </a:rPr>
                        <a:t> the maximum depth, </a:t>
                      </a:r>
                      <a:r>
                        <a:rPr sz="1300" b="0" i="1">
                          <a:solidFill>
                            <a:srgbClr val="1C252B"/>
                          </a:solidFill>
                          <a:latin typeface="Cambria"/>
                        </a:rPr>
                        <a:t>C</a:t>
                      </a:r>
                      <a:r>
                        <a:rPr sz="1300" b="0" i="0" baseline="30000">
                          <a:solidFill>
                            <a:srgbClr val="1C252B"/>
                          </a:solidFill>
                          <a:latin typeface="Cambria"/>
                        </a:rPr>
                        <a:t>∗</a:t>
                      </a:r>
                      <a:r>
                        <a:rPr sz="1300" b="0" i="0">
                          <a:solidFill>
                            <a:srgbClr val="1C252B"/>
                          </a:solidFill>
                          <a:latin typeface="Segoe UI"/>
                        </a:rPr>
                        <a:t> the optimal cost and </a:t>
                      </a:r>
                      <a:r>
                        <a:rPr sz="1300" b="0" i="0">
                          <a:solidFill>
                            <a:srgbClr val="1C252B"/>
                          </a:solidFill>
                          <a:latin typeface="Cambria"/>
                        </a:rPr>
                        <a:t>ε</a:t>
                      </a:r>
                      <a:r>
                        <a:rPr sz="1300" b="0" i="0">
                          <a:solidFill>
                            <a:srgbClr val="1C252B"/>
                          </a:solidFill>
                          <a:latin typeface="Segoe UI"/>
                        </a:rPr>
                        <a:t> the smallest edge cost. Note that only uniform-cost search is optimal in cost.</a:t>
                      </a:r>
                      <a:endParaRPr sz="13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endParaRPr sz="13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endParaRPr sz="13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endParaRPr sz="13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endParaRPr sz="13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endParaRPr sz="13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424058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Tracing all four strategies on one small graph</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  ·  Problem Formulation and Uninformed Search</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§4.7  ·  Handout p. 37     </a:t>
            </a:r>
            <a:fld id="{994D0889-381B-41A5-8AFB-19747F0003D4}"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96028"/>
          </a:xfrm>
          <a:prstGeom prst="roundRect">
            <a:avLst>
              <a:gd name="adj" fmla="val 212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960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three-task fragment of Figure 4.1, with costs: </a:t>
            </a:r>
            <a:r>
              <a:rPr sz="1800" b="0" i="0">
                <a:solidFill>
                  <a:srgbClr val="1F4E79"/>
                </a:solidFill>
                <a:latin typeface="Consolas"/>
              </a:rPr>
              <a:t>a</a:t>
            </a:r>
            <a:r>
              <a:rPr sz="1900" b="0" i="0">
                <a:solidFill>
                  <a:srgbClr val="1C252B"/>
                </a:solidFill>
                <a:latin typeface="Segoe UI"/>
              </a:rPr>
              <a:t> costs </a:t>
            </a:r>
            <a:r>
              <a:rPr sz="1900" b="0" i="0">
                <a:solidFill>
                  <a:srgbClr val="1C252B"/>
                </a:solidFill>
                <a:latin typeface="Cambria"/>
              </a:rPr>
              <a:t>3</a:t>
            </a:r>
            <a:r>
              <a:rPr sz="1900" b="0" i="0">
                <a:solidFill>
                  <a:srgbClr val="1C252B"/>
                </a:solidFill>
                <a:latin typeface="Segoe UI"/>
              </a:rPr>
              <a:t>, </a:t>
            </a:r>
            <a:r>
              <a:rPr sz="1800" b="0" i="0">
                <a:solidFill>
                  <a:srgbClr val="1F4E79"/>
                </a:solidFill>
                <a:latin typeface="Consolas"/>
              </a:rPr>
              <a:t>b</a:t>
            </a:r>
            <a:r>
              <a:rPr sz="1900" b="0" i="0">
                <a:solidFill>
                  <a:srgbClr val="1C252B"/>
                </a:solidFill>
                <a:latin typeface="Segoe UI"/>
              </a:rPr>
              <a:t> costs </a:t>
            </a:r>
            <a:r>
              <a:rPr sz="1900" b="0" i="0">
                <a:solidFill>
                  <a:srgbClr val="1C252B"/>
                </a:solidFill>
                <a:latin typeface="Cambria"/>
              </a:rPr>
              <a:t>1</a:t>
            </a:r>
            <a:r>
              <a:rPr sz="1900" b="0" i="0">
                <a:solidFill>
                  <a:srgbClr val="1C252B"/>
                </a:solidFill>
                <a:latin typeface="Segoe UI"/>
              </a:rPr>
              <a:t>, </a:t>
            </a:r>
            <a:r>
              <a:rPr sz="1800" b="0" i="0">
                <a:solidFill>
                  <a:srgbClr val="1F4E79"/>
                </a:solidFill>
                <a:latin typeface="Consolas"/>
              </a:rPr>
              <a:t>c</a:t>
            </a:r>
            <a:r>
              <a:rPr sz="1900" b="0" i="0">
                <a:solidFill>
                  <a:srgbClr val="1C252B"/>
                </a:solidFill>
                <a:latin typeface="Segoe UI"/>
              </a:rPr>
              <a:t> costs </a:t>
            </a:r>
            <a:r>
              <a:rPr sz="1900" b="0" i="0">
                <a:solidFill>
                  <a:srgbClr val="1C252B"/>
                </a:solidFill>
                <a:latin typeface="Cambria"/>
              </a:rPr>
              <a:t>2</a:t>
            </a:r>
            <a:r>
              <a:rPr sz="1900" b="0" i="0">
                <a:solidFill>
                  <a:srgbClr val="1C252B"/>
                </a:solidFill>
                <a:latin typeface="Segoe UI"/>
              </a:rPr>
              <a:t>, and </a:t>
            </a:r>
            <a:r>
              <a:rPr sz="1800" b="0" i="0">
                <a:solidFill>
                  <a:srgbClr val="1F4E79"/>
                </a:solidFill>
                <a:latin typeface="Consolas"/>
              </a:rPr>
              <a:t>c</a:t>
            </a:r>
            <a:r>
              <a:rPr sz="1900" b="0" i="0">
                <a:solidFill>
                  <a:srgbClr val="1C252B"/>
                </a:solidFill>
                <a:latin typeface="Segoe UI"/>
              </a:rPr>
              <a:t> requires both. Goal: </a:t>
            </a:r>
            <a:r>
              <a:rPr sz="1800" b="0" i="0">
                <a:solidFill>
                  <a:srgbClr val="1F4E79"/>
                </a:solidFill>
                <a:latin typeface="Consolas"/>
              </a:rPr>
              <a:t>abc</a:t>
            </a:r>
            <a:r>
              <a:rPr sz="1900" b="0" i="0">
                <a:solidFill>
                  <a:srgbClr val="1C252B"/>
                </a:solidFill>
                <a:latin typeface="Segoe UI"/>
              </a:rPr>
              <a:t>. Expansion order, with the frontier shown after each step.</a:t>
            </a:r>
          </a:p>
        </p:txBody>
      </p:sp>
      <p:sp>
        <p:nvSpPr>
          <p:cNvPr id="10" name="body-1"/>
          <p:cNvSpPr txBox="1"/>
          <p:nvPr/>
        </p:nvSpPr>
        <p:spPr>
          <a:xfrm>
            <a:off x="1042416" y="2746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Breadth-first</a:t>
            </a:r>
            <a:r>
              <a:rPr sz="1900" b="0" i="0">
                <a:solidFill>
                  <a:srgbClr val="1C252B"/>
                </a:solidFill>
                <a:latin typeface="Segoe UI"/>
              </a:rPr>
              <a:t> (first-in first-out, explored set on).</a:t>
            </a:r>
          </a:p>
        </p:txBody>
      </p:sp>
      <p:sp>
        <p:nvSpPr>
          <p:cNvPr id="11" name="body-2"/>
          <p:cNvSpPr txBox="1"/>
          <p:nvPr/>
        </p:nvSpPr>
        <p:spPr>
          <a:xfrm>
            <a:off x="1042416" y="3180537"/>
            <a:ext cx="10234879" cy="1889251"/>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Pop </a:t>
            </a:r>
            <a:r>
              <a:rPr sz="1900" b="0" i="0">
                <a:solidFill>
                  <a:srgbClr val="1C252B"/>
                </a:solidFill>
                <a:latin typeface="Cambria"/>
              </a:rPr>
              <a:t>∅</a:t>
            </a:r>
            <a:r>
              <a:rPr sz="1900" b="0" i="0">
                <a:solidFill>
                  <a:srgbClr val="1C252B"/>
                </a:solidFill>
                <a:latin typeface="Segoe UI"/>
              </a:rPr>
              <a:t>. Push </a:t>
            </a:r>
            <a:r>
              <a:rPr sz="1800" b="0" i="0">
                <a:solidFill>
                  <a:srgbClr val="1F4E79"/>
                </a:solidFill>
                <a:latin typeface="Consolas"/>
              </a:rPr>
              <a:t>a</a:t>
            </a:r>
            <a:r>
              <a:rPr sz="1900" b="0" i="0">
                <a:solidFill>
                  <a:srgbClr val="1C252B"/>
                </a:solidFill>
                <a:latin typeface="Segoe UI"/>
              </a:rPr>
              <a:t>, </a:t>
            </a:r>
            <a:r>
              <a:rPr sz="1800" b="0" i="0">
                <a:solidFill>
                  <a:srgbClr val="1F4E79"/>
                </a:solidFill>
                <a:latin typeface="Consolas"/>
              </a:rPr>
              <a:t>b</a:t>
            </a:r>
            <a:r>
              <a:rPr sz="1900" b="0" i="0">
                <a:solidFill>
                  <a:srgbClr val="1C252B"/>
                </a:solidFill>
                <a:latin typeface="Segoe UI"/>
              </a:rPr>
              <a:t>. Frontier: [</a:t>
            </a:r>
            <a:r>
              <a:rPr sz="1800" b="0" i="0">
                <a:solidFill>
                  <a:srgbClr val="1F4E79"/>
                </a:solidFill>
                <a:latin typeface="Consolas"/>
              </a:rPr>
              <a:t>a</a:t>
            </a:r>
            <a:r>
              <a:rPr sz="1900" b="0" i="0">
                <a:solidFill>
                  <a:srgbClr val="1C252B"/>
                </a:solidFill>
                <a:latin typeface="Segoe UI"/>
              </a:rPr>
              <a:t>, </a:t>
            </a:r>
            <a:r>
              <a:rPr sz="1800" b="0" i="0">
                <a:solidFill>
                  <a:srgbClr val="1F4E79"/>
                </a:solidFill>
                <a:latin typeface="Consolas"/>
              </a:rPr>
              <a:t>b</a:t>
            </a:r>
            <a:r>
              <a:rPr sz="1900" b="0" i="0">
                <a:solidFill>
                  <a:srgbClr val="1C252B"/>
                </a:solidFill>
                <a:latin typeface="Segoe UI"/>
              </a:rPr>
              <a:t>].</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Pop </a:t>
            </a:r>
            <a:r>
              <a:rPr sz="1800" b="0" i="0">
                <a:solidFill>
                  <a:srgbClr val="1F4E79"/>
                </a:solidFill>
                <a:latin typeface="Consolas"/>
              </a:rPr>
              <a:t>a</a:t>
            </a:r>
            <a:r>
              <a:rPr sz="1900" b="0" i="0">
                <a:solidFill>
                  <a:srgbClr val="1C252B"/>
                </a:solidFill>
                <a:latin typeface="Segoe UI"/>
              </a:rPr>
              <a:t>. Push </a:t>
            </a:r>
            <a:r>
              <a:rPr sz="1800" b="0" i="0">
                <a:solidFill>
                  <a:srgbClr val="1F4E79"/>
                </a:solidFill>
                <a:latin typeface="Consolas"/>
              </a:rPr>
              <a:t>ab</a:t>
            </a:r>
            <a:r>
              <a:rPr sz="1900" b="0" i="0">
                <a:solidFill>
                  <a:srgbClr val="1C252B"/>
                </a:solidFill>
                <a:latin typeface="Segoe UI"/>
              </a:rPr>
              <a:t>. Frontier: [</a:t>
            </a:r>
            <a:r>
              <a:rPr sz="1800" b="0" i="0">
                <a:solidFill>
                  <a:srgbClr val="1F4E79"/>
                </a:solidFill>
                <a:latin typeface="Consolas"/>
              </a:rPr>
              <a:t>b</a:t>
            </a:r>
            <a:r>
              <a:rPr sz="1900" b="0" i="0">
                <a:solidFill>
                  <a:srgbClr val="1C252B"/>
                </a:solidFill>
                <a:latin typeface="Segoe UI"/>
              </a:rPr>
              <a:t>, </a:t>
            </a:r>
            <a:r>
              <a:rPr sz="1800" b="0" i="0">
                <a:solidFill>
                  <a:srgbClr val="1F4E79"/>
                </a:solidFill>
                <a:latin typeface="Consolas"/>
              </a:rPr>
              <a:t>ab</a:t>
            </a:r>
            <a:r>
              <a:rPr sz="1900" b="0" i="0">
                <a:solidFill>
                  <a:srgbClr val="1C252B"/>
                </a:solidFill>
                <a:latin typeface="Segoe UI"/>
              </a:rPr>
              <a:t>].</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Pop </a:t>
            </a:r>
            <a:r>
              <a:rPr sz="1800" b="0" i="0">
                <a:solidFill>
                  <a:srgbClr val="1F4E79"/>
                </a:solidFill>
                <a:latin typeface="Consolas"/>
              </a:rPr>
              <a:t>b</a:t>
            </a:r>
            <a:r>
              <a:rPr sz="1900" b="0" i="0">
                <a:solidFill>
                  <a:srgbClr val="1C252B"/>
                </a:solidFill>
                <a:latin typeface="Segoe UI"/>
              </a:rPr>
              <a:t>. Its only successor is </a:t>
            </a:r>
            <a:r>
              <a:rPr sz="1800" b="0" i="0">
                <a:solidFill>
                  <a:srgbClr val="1F4E79"/>
                </a:solidFill>
                <a:latin typeface="Consolas"/>
              </a:rPr>
              <a:t>ab</a:t>
            </a:r>
            <a:r>
              <a:rPr sz="1900" b="0" i="0">
                <a:solidFill>
                  <a:srgbClr val="1C252B"/>
                </a:solidFill>
                <a:latin typeface="Segoe UI"/>
              </a:rPr>
              <a:t>, already in the explored set — </a:t>
            </a:r>
            <a:r>
              <a:rPr sz="1900" b="0" i="1">
                <a:solidFill>
                  <a:srgbClr val="1C252B"/>
                </a:solidFill>
                <a:latin typeface="Segoe UI"/>
              </a:rPr>
              <a:t>not</a:t>
            </a:r>
            <a:r>
              <a:rPr sz="1900" b="0" i="0">
                <a:solidFill>
                  <a:srgbClr val="1C252B"/>
                </a:solidFill>
                <a:latin typeface="Segoe UI"/>
              </a:rPr>
              <a:t> pushed. Frontier: [</a:t>
            </a:r>
            <a:r>
              <a:rPr sz="1800" b="0" i="0">
                <a:solidFill>
                  <a:srgbClr val="1F4E79"/>
                </a:solidFill>
                <a:latin typeface="Consolas"/>
              </a:rPr>
              <a:t>ab</a:t>
            </a:r>
            <a:r>
              <a:rPr sz="1900" b="0" i="0">
                <a:solidFill>
                  <a:srgbClr val="1C252B"/>
                </a:solidFill>
                <a:latin typeface="Segoe UI"/>
              </a:rPr>
              <a:t>].</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Pop </a:t>
            </a:r>
            <a:r>
              <a:rPr sz="1800" b="0" i="0">
                <a:solidFill>
                  <a:srgbClr val="1F4E79"/>
                </a:solidFill>
                <a:latin typeface="Consolas"/>
              </a:rPr>
              <a:t>ab</a:t>
            </a:r>
            <a:r>
              <a:rPr sz="1900" b="0" i="0">
                <a:solidFill>
                  <a:srgbClr val="1C252B"/>
                </a:solidFill>
                <a:latin typeface="Segoe UI"/>
              </a:rPr>
              <a:t>. Push </a:t>
            </a:r>
            <a:r>
              <a:rPr sz="1800" b="0" i="0">
                <a:solidFill>
                  <a:srgbClr val="1F4E79"/>
                </a:solidFill>
                <a:latin typeface="Consolas"/>
              </a:rPr>
              <a:t>abc</a:t>
            </a:r>
            <a:r>
              <a:rPr sz="1900" b="0" i="0">
                <a:solidFill>
                  <a:srgbClr val="1C252B"/>
                </a:solidFill>
                <a:latin typeface="Segoe UI"/>
              </a:rPr>
              <a:t>. Frontier: [</a:t>
            </a:r>
            <a:r>
              <a:rPr sz="1800" b="0" i="0">
                <a:solidFill>
                  <a:srgbClr val="1F4E79"/>
                </a:solidFill>
                <a:latin typeface="Consolas"/>
              </a:rPr>
              <a:t>abc</a:t>
            </a:r>
            <a:r>
              <a:rPr sz="1900" b="0" i="0">
                <a:solidFill>
                  <a:srgbClr val="1C252B"/>
                </a:solidFill>
                <a:latin typeface="Segoe UI"/>
              </a:rPr>
              <a:t>].</a:t>
            </a:r>
          </a:p>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Pop </a:t>
            </a:r>
            <a:r>
              <a:rPr sz="1800" b="0" i="0">
                <a:solidFill>
                  <a:srgbClr val="1F4E79"/>
                </a:solidFill>
                <a:latin typeface="Consolas"/>
              </a:rPr>
              <a:t>abc</a:t>
            </a:r>
            <a:r>
              <a:rPr sz="1900" b="0" i="0">
                <a:solidFill>
                  <a:srgbClr val="1C252B"/>
                </a:solidFill>
                <a:latin typeface="Segoe UI"/>
              </a:rPr>
              <a:t>. Goal. Path </a:t>
            </a:r>
            <a:r>
              <a:rPr sz="1800" b="0" i="0">
                <a:solidFill>
                  <a:srgbClr val="1F4E79"/>
                </a:solidFill>
                <a:latin typeface="Consolas"/>
              </a:rPr>
              <a:t>a</a:t>
            </a:r>
            <a:r>
              <a:rPr sz="1900" b="0" i="0">
                <a:solidFill>
                  <a:srgbClr val="1C252B"/>
                </a:solidFill>
                <a:latin typeface="Segoe UI"/>
              </a:rPr>
              <a:t>,</a:t>
            </a:r>
            <a:r>
              <a:rPr sz="1800" b="0" i="0">
                <a:solidFill>
                  <a:srgbClr val="1F4E79"/>
                </a:solidFill>
                <a:latin typeface="Consolas"/>
              </a:rPr>
              <a:t>b</a:t>
            </a:r>
            <a:r>
              <a:rPr sz="1900" b="0" i="0">
                <a:solidFill>
                  <a:srgbClr val="1C252B"/>
                </a:solidFill>
                <a:latin typeface="Segoe UI"/>
              </a:rPr>
              <a:t>,</a:t>
            </a:r>
            <a:r>
              <a:rPr sz="1800" b="0" i="0">
                <a:solidFill>
                  <a:srgbClr val="1F4E79"/>
                </a:solidFill>
                <a:latin typeface="Consolas"/>
              </a:rPr>
              <a:t>c</a:t>
            </a:r>
            <a:r>
              <a:rPr sz="1900" b="0" i="0">
                <a:solidFill>
                  <a:srgbClr val="1C252B"/>
                </a:solidFill>
                <a:latin typeface="Segoe UI"/>
              </a:rPr>
              <a:t>, depth </a:t>
            </a:r>
            <a:r>
              <a:rPr sz="1900" b="0" i="0">
                <a:solidFill>
                  <a:srgbClr val="1C252B"/>
                </a:solidFill>
                <a:latin typeface="Cambria"/>
              </a:rPr>
              <a:t>3</a:t>
            </a:r>
            <a:r>
              <a:rPr sz="1900" b="0" i="0">
                <a:solidFill>
                  <a:srgbClr val="1C252B"/>
                </a:solidFill>
                <a:latin typeface="Segoe UI"/>
              </a:rPr>
              <a:t>, cost </a:t>
            </a:r>
            <a:r>
              <a:rPr sz="1900" b="0" i="0">
                <a:solidFill>
                  <a:srgbClr val="1C252B"/>
                </a:solidFill>
                <a:latin typeface="Cambria"/>
              </a:rPr>
              <a:t>3+1+2=6</a:t>
            </a:r>
            <a:r>
              <a:rPr sz="1900" b="0" i="0">
                <a:solidFill>
                  <a:srgbClr val="1C252B"/>
                </a:solidFill>
                <a:latin typeface="Segoe UI"/>
              </a:rPr>
              <a:t>.</a:t>
            </a:r>
          </a:p>
        </p:txBody>
      </p:sp>
      <p:sp>
        <p:nvSpPr>
          <p:cNvPr id="12" name="body-3"/>
          <p:cNvSpPr txBox="1"/>
          <p:nvPr/>
        </p:nvSpPr>
        <p:spPr>
          <a:xfrm>
            <a:off x="1042416" y="5156784"/>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Nodes expanded: </a:t>
            </a:r>
            <a:r>
              <a:rPr sz="1900" b="0" i="0">
                <a:solidFill>
                  <a:srgbClr val="1C252B"/>
                </a:solidFill>
                <a:latin typeface="Cambria"/>
              </a:rPr>
              <a:t>4</a:t>
            </a:r>
            <a:r>
              <a:rPr sz="1900" b="0" i="0">
                <a:solidFill>
                  <a:srgbClr val="1C252B"/>
                </a:solidFill>
                <a:latin typeface="Segoe UI"/>
              </a:rPr>
              <a:t>. Without the explored set, step 3 would have pushed a second </a:t>
            </a:r>
            <a:r>
              <a:rPr sz="1800" b="0" i="0">
                <a:solidFill>
                  <a:srgbClr val="1F4E79"/>
                </a:solidFill>
                <a:latin typeface="Consolas"/>
              </a:rPr>
              <a:t>ab</a:t>
            </a:r>
            <a:r>
              <a:rPr sz="1900" b="0" i="0">
                <a:solidFill>
                  <a:srgbClr val="1C252B"/>
                </a:solidFill>
                <a:latin typeface="Segoe UI"/>
              </a:rPr>
              <a:t> and everything below it would be built twice.</a:t>
            </a:r>
          </a:p>
        </p:txBody>
      </p:sp>
      <p:sp>
        <p:nvSpPr>
          <p:cNvPr id="3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pfill">
            <a:extLst>
              <a:ext uri="{C183D7F6-B498-43B3-948B-1728B52AA6E4}">
                <adec:decorative xmlns:adec="http://schemas.microsoft.com/office/drawing/2017/decorative" val="1"/>
              </a:ext>
            </a:extLst>
          </p:cNvPr>
          <p:cNvSpPr/>
          <p:nvPr/>
        </p:nvSpPr>
        <p:spPr>
          <a:xfrm>
            <a:off x="0" y="0"/>
            <a:ext cx="450562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xEl>
                                              <p:pRg st="0" end="0"/>
                                            </p:txEl>
                                          </p:spTgt>
                                        </p:tgtEl>
                                        <p:attrNameLst>
                                          <p:attrName>style.visibility</p:attrName>
                                        </p:attrNameLst>
                                      </p:cBhvr>
                                      <p:to>
                                        <p:strVal val="visible"/>
                                      </p:to>
                                    </p:set>
                                    <p:animEffect transition="in" filter="fade">
                                      <p:cBhvr>
                                        <p:cTn id="13" dur="350"/>
                                        <p:tgtEl>
                                          <p:spTgt spid="11">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xEl>
                                              <p:pRg st="1" end="1"/>
                                            </p:txEl>
                                          </p:spTgt>
                                        </p:tgtEl>
                                        <p:attrNameLst>
                                          <p:attrName>style.visibility</p:attrName>
                                        </p:attrNameLst>
                                      </p:cBhvr>
                                      <p:to>
                                        <p:strVal val="visible"/>
                                      </p:to>
                                    </p:set>
                                    <p:animEffect transition="in" filter="fade">
                                      <p:cBhvr>
                                        <p:cTn id="18" dur="350"/>
                                        <p:tgtEl>
                                          <p:spTgt spid="11">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xEl>
                                              <p:pRg st="2" end="2"/>
                                            </p:txEl>
                                          </p:spTgt>
                                        </p:tgtEl>
                                        <p:attrNameLst>
                                          <p:attrName>style.visibility</p:attrName>
                                        </p:attrNameLst>
                                      </p:cBhvr>
                                      <p:to>
                                        <p:strVal val="visible"/>
                                      </p:to>
                                    </p:set>
                                    <p:animEffect transition="in" filter="fade">
                                      <p:cBhvr>
                                        <p:cTn id="23" dur="350"/>
                                        <p:tgtEl>
                                          <p:spTgt spid="11">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1">
                                            <p:txEl>
                                              <p:pRg st="3" end="3"/>
                                            </p:txEl>
                                          </p:spTgt>
                                        </p:tgtEl>
                                        <p:attrNameLst>
                                          <p:attrName>style.visibility</p:attrName>
                                        </p:attrNameLst>
                                      </p:cBhvr>
                                      <p:to>
                                        <p:strVal val="visible"/>
                                      </p:to>
                                    </p:set>
                                    <p:animEffect transition="in" filter="fade">
                                      <p:cBhvr>
                                        <p:cTn id="28" dur="350"/>
                                        <p:tgtEl>
                                          <p:spTgt spid="11">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1">
                                            <p:txEl>
                                              <p:pRg st="4" end="4"/>
                                            </p:txEl>
                                          </p:spTgt>
                                        </p:tgtEl>
                                        <p:attrNameLst>
                                          <p:attrName>style.visibility</p:attrName>
                                        </p:attrNameLst>
                                      </p:cBhvr>
                                      <p:to>
                                        <p:strVal val="visible"/>
                                      </p:to>
                                    </p:set>
                                    <p:animEffect transition="in" filter="fade">
                                      <p:cBhvr>
                                        <p:cTn id="33" dur="350"/>
                                        <p:tgtEl>
                                          <p:spTgt spid="11">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right)">
                                      <p:cBhvr>
                                        <p:cTn id="38" dur="4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Tracing all four strategies on one small graph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  ·  Problem Formulation and Uninformed Search</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§4.7  ·  Handout p. 37     </a:t>
            </a:r>
            <a:fld id="{99DD3076-C74A-4B0D-9991-CE9FE25276BE}"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28261"/>
          </a:xfrm>
          <a:prstGeom prst="roundRect">
            <a:avLst>
              <a:gd name="adj" fmla="val 206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2826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Depth-first</a:t>
            </a:r>
            <a:r>
              <a:rPr sz="1900" b="0" i="0">
                <a:solidFill>
                  <a:srgbClr val="1C252B"/>
                </a:solidFill>
                <a:latin typeface="Segoe UI"/>
              </a:rPr>
              <a:t> (last-in first-out). Pop </a:t>
            </a:r>
            <a:r>
              <a:rPr sz="1900" b="0" i="0">
                <a:solidFill>
                  <a:srgbClr val="1C252B"/>
                </a:solidFill>
                <a:latin typeface="Cambria"/>
              </a:rPr>
              <a:t>∅</a:t>
            </a:r>
            <a:r>
              <a:rPr sz="1900" b="0" i="0">
                <a:solidFill>
                  <a:srgbClr val="1C252B"/>
                </a:solidFill>
                <a:latin typeface="Segoe UI"/>
              </a:rPr>
              <a:t>, push </a:t>
            </a:r>
            <a:r>
              <a:rPr sz="1800" b="0" i="0">
                <a:solidFill>
                  <a:srgbClr val="1F4E79"/>
                </a:solidFill>
                <a:latin typeface="Consolas"/>
              </a:rPr>
              <a:t>a</a:t>
            </a:r>
            <a:r>
              <a:rPr sz="1900" b="0" i="0">
                <a:solidFill>
                  <a:srgbClr val="1C252B"/>
                </a:solidFill>
                <a:latin typeface="Segoe UI"/>
              </a:rPr>
              <a:t>, </a:t>
            </a:r>
            <a:r>
              <a:rPr sz="1800" b="0" i="0">
                <a:solidFill>
                  <a:srgbClr val="1F4E79"/>
                </a:solidFill>
                <a:latin typeface="Consolas"/>
              </a:rPr>
              <a:t>b</a:t>
            </a:r>
            <a:r>
              <a:rPr sz="1900" b="0" i="0">
                <a:solidFill>
                  <a:srgbClr val="1C252B"/>
                </a:solidFill>
                <a:latin typeface="Segoe UI"/>
              </a:rPr>
              <a:t>; pop </a:t>
            </a:r>
            <a:r>
              <a:rPr sz="1800" b="0" i="0">
                <a:solidFill>
                  <a:srgbClr val="1F4E79"/>
                </a:solidFill>
                <a:latin typeface="Consolas"/>
              </a:rPr>
              <a:t>b</a:t>
            </a:r>
            <a:r>
              <a:rPr sz="1900" b="0" i="0">
                <a:solidFill>
                  <a:srgbClr val="1C252B"/>
                </a:solidFill>
                <a:latin typeface="Segoe UI"/>
              </a:rPr>
              <a:t> (the newest); push </a:t>
            </a:r>
            <a:r>
              <a:rPr sz="1800" b="0" i="0">
                <a:solidFill>
                  <a:srgbClr val="1F4E79"/>
                </a:solidFill>
                <a:latin typeface="Consolas"/>
              </a:rPr>
              <a:t>ab</a:t>
            </a:r>
            <a:r>
              <a:rPr sz="1900" b="0" i="0">
                <a:solidFill>
                  <a:srgbClr val="1C252B"/>
                </a:solidFill>
                <a:latin typeface="Segoe UI"/>
              </a:rPr>
              <a:t>; pop </a:t>
            </a:r>
            <a:r>
              <a:rPr sz="1800" b="0" i="0">
                <a:solidFill>
                  <a:srgbClr val="1F4E79"/>
                </a:solidFill>
                <a:latin typeface="Consolas"/>
              </a:rPr>
              <a:t>ab</a:t>
            </a:r>
            <a:r>
              <a:rPr sz="1900" b="0" i="0">
                <a:solidFill>
                  <a:srgbClr val="1C252B"/>
                </a:solidFill>
                <a:latin typeface="Segoe UI"/>
              </a:rPr>
              <a:t>; push </a:t>
            </a:r>
            <a:r>
              <a:rPr sz="1800" b="0" i="0">
                <a:solidFill>
                  <a:srgbClr val="1F4E79"/>
                </a:solidFill>
                <a:latin typeface="Consolas"/>
              </a:rPr>
              <a:t>abc</a:t>
            </a:r>
            <a:r>
              <a:rPr sz="1900" b="0" i="0">
                <a:solidFill>
                  <a:srgbClr val="1C252B"/>
                </a:solidFill>
                <a:latin typeface="Segoe UI"/>
              </a:rPr>
              <a:t>; pop </a:t>
            </a:r>
            <a:r>
              <a:rPr sz="1800" b="0" i="0">
                <a:solidFill>
                  <a:srgbClr val="1F4E79"/>
                </a:solidFill>
                <a:latin typeface="Consolas"/>
              </a:rPr>
              <a:t>abc</a:t>
            </a:r>
            <a:r>
              <a:rPr sz="1900" b="0" i="0">
                <a:solidFill>
                  <a:srgbClr val="1C252B"/>
                </a:solidFill>
                <a:latin typeface="Segoe UI"/>
              </a:rPr>
              <a:t>. Goal in </a:t>
            </a:r>
            <a:r>
              <a:rPr sz="1900" b="0" i="0">
                <a:solidFill>
                  <a:srgbClr val="1C252B"/>
                </a:solidFill>
                <a:latin typeface="Cambria"/>
              </a:rPr>
              <a:t>4</a:t>
            </a:r>
            <a:r>
              <a:rPr sz="1900" b="0" i="0">
                <a:solidFill>
                  <a:srgbClr val="1C252B"/>
                </a:solidFill>
                <a:latin typeface="Segoe UI"/>
              </a:rPr>
              <a:t> expansions, path </a:t>
            </a:r>
            <a:r>
              <a:rPr sz="1800" b="0" i="0">
                <a:solidFill>
                  <a:srgbClr val="1F4E79"/>
                </a:solidFill>
                <a:latin typeface="Consolas"/>
              </a:rPr>
              <a:t>b</a:t>
            </a:r>
            <a:r>
              <a:rPr sz="1900" b="0" i="0">
                <a:solidFill>
                  <a:srgbClr val="1C252B"/>
                </a:solidFill>
                <a:latin typeface="Segoe UI"/>
              </a:rPr>
              <a:t>,</a:t>
            </a:r>
            <a:r>
              <a:rPr sz="1800" b="0" i="0">
                <a:solidFill>
                  <a:srgbClr val="1F4E79"/>
                </a:solidFill>
                <a:latin typeface="Consolas"/>
              </a:rPr>
              <a:t>a</a:t>
            </a:r>
            <a:r>
              <a:rPr sz="1900" b="0" i="0">
                <a:solidFill>
                  <a:srgbClr val="1C252B"/>
                </a:solidFill>
                <a:latin typeface="Segoe UI"/>
              </a:rPr>
              <a:t>,</a:t>
            </a:r>
            <a:r>
              <a:rPr sz="1800" b="0" i="0">
                <a:solidFill>
                  <a:srgbClr val="1F4E79"/>
                </a:solidFill>
                <a:latin typeface="Consolas"/>
              </a:rPr>
              <a:t>c</a:t>
            </a:r>
            <a:r>
              <a:rPr sz="1900" b="0" i="0">
                <a:solidFill>
                  <a:srgbClr val="1C252B"/>
                </a:solidFill>
                <a:latin typeface="Segoe UI"/>
              </a:rPr>
              <a:t>. Same cost here by coincidence; on the full project it is worse.</a:t>
            </a:r>
          </a:p>
        </p:txBody>
      </p:sp>
      <p:sp>
        <p:nvSpPr>
          <p:cNvPr id="10" name="body-0bar">
            <a:extLst>
              <a:ext uri="{C183D7F6-B498-43B3-948B-1728B52AA6E4}">
                <adec:decorative xmlns:adec="http://schemas.microsoft.com/office/drawing/2017/decorative" val="1"/>
              </a:ext>
            </a:extLst>
          </p:cNvPr>
          <p:cNvSpPr/>
          <p:nvPr/>
        </p:nvSpPr>
        <p:spPr>
          <a:xfrm>
            <a:off x="841248" y="2029967"/>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3047822"/>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Iterative deepening.</a:t>
            </a:r>
            <a:r>
              <a:rPr sz="1900" b="0" i="0">
                <a:solidFill>
                  <a:srgbClr val="1C252B"/>
                </a:solidFill>
                <a:latin typeface="Segoe UI"/>
              </a:rPr>
              <a:t> </a:t>
            </a:r>
            <a:r>
              <a:rPr sz="1900" b="0" i="0">
                <a:solidFill>
                  <a:srgbClr val="1C252B"/>
                </a:solidFill>
                <a:latin typeface="Cambria"/>
              </a:rPr>
              <a:t>=0</a:t>
            </a:r>
            <a:r>
              <a:rPr sz="1900" b="0" i="0">
                <a:solidFill>
                  <a:srgbClr val="1C252B"/>
                </a:solidFill>
                <a:latin typeface="Segoe UI"/>
              </a:rPr>
              <a:t>: expand </a:t>
            </a:r>
            <a:r>
              <a:rPr sz="1900" b="0" i="0">
                <a:solidFill>
                  <a:srgbClr val="1C252B"/>
                </a:solidFill>
                <a:latin typeface="Cambria"/>
              </a:rPr>
              <a:t>∅</a:t>
            </a:r>
            <a:r>
              <a:rPr sz="1900" b="0" i="0">
                <a:solidFill>
                  <a:srgbClr val="1C252B"/>
                </a:solidFill>
                <a:latin typeface="Segoe UI"/>
              </a:rPr>
              <a:t>, fail (</a:t>
            </a:r>
            <a:r>
              <a:rPr sz="1900" b="0" i="0">
                <a:solidFill>
                  <a:srgbClr val="1C252B"/>
                </a:solidFill>
                <a:latin typeface="Cambria"/>
              </a:rPr>
              <a:t>1</a:t>
            </a:r>
            <a:r>
              <a:rPr sz="1900" b="0" i="0">
                <a:solidFill>
                  <a:srgbClr val="1C252B"/>
                </a:solidFill>
                <a:latin typeface="Segoe UI"/>
              </a:rPr>
              <a:t> node). </a:t>
            </a:r>
            <a:r>
              <a:rPr sz="1900" b="0" i="0">
                <a:solidFill>
                  <a:srgbClr val="1C252B"/>
                </a:solidFill>
                <a:latin typeface="Cambria"/>
              </a:rPr>
              <a:t>=1</a:t>
            </a:r>
            <a:r>
              <a:rPr sz="1900" b="0" i="0">
                <a:solidFill>
                  <a:srgbClr val="1C252B"/>
                </a:solidFill>
                <a:latin typeface="Segoe UI"/>
              </a:rPr>
              <a:t>: </a:t>
            </a:r>
            <a:r>
              <a:rPr sz="1900" b="0" i="0">
                <a:solidFill>
                  <a:srgbClr val="1C252B"/>
                </a:solidFill>
                <a:latin typeface="Cambria"/>
              </a:rPr>
              <a:t>∅</a:t>
            </a:r>
            <a:r>
              <a:rPr sz="1900" b="0" i="0">
                <a:solidFill>
                  <a:srgbClr val="1C252B"/>
                </a:solidFill>
                <a:latin typeface="Segoe UI"/>
              </a:rPr>
              <a:t>, </a:t>
            </a:r>
            <a:r>
              <a:rPr sz="1800" b="0" i="0">
                <a:solidFill>
                  <a:srgbClr val="1F4E79"/>
                </a:solidFill>
                <a:latin typeface="Consolas"/>
              </a:rPr>
              <a:t>a</a:t>
            </a:r>
            <a:r>
              <a:rPr sz="1900" b="0" i="0">
                <a:solidFill>
                  <a:srgbClr val="1C252B"/>
                </a:solidFill>
                <a:latin typeface="Segoe UI"/>
              </a:rPr>
              <a:t>, </a:t>
            </a:r>
            <a:r>
              <a:rPr sz="1800" b="0" i="0">
                <a:solidFill>
                  <a:srgbClr val="1F4E79"/>
                </a:solidFill>
                <a:latin typeface="Consolas"/>
              </a:rPr>
              <a:t>b</a:t>
            </a:r>
            <a:r>
              <a:rPr sz="1900" b="0" i="0">
                <a:solidFill>
                  <a:srgbClr val="1C252B"/>
                </a:solidFill>
                <a:latin typeface="Segoe UI"/>
              </a:rPr>
              <a:t>, fail (</a:t>
            </a:r>
            <a:r>
              <a:rPr sz="1900" b="0" i="0">
                <a:solidFill>
                  <a:srgbClr val="1C252B"/>
                </a:solidFill>
                <a:latin typeface="Cambria"/>
              </a:rPr>
              <a:t>3</a:t>
            </a:r>
            <a:r>
              <a:rPr sz="1900" b="0" i="0">
                <a:solidFill>
                  <a:srgbClr val="1C252B"/>
                </a:solidFill>
                <a:latin typeface="Segoe UI"/>
              </a:rPr>
              <a:t>). </a:t>
            </a:r>
            <a:r>
              <a:rPr sz="1900" b="0" i="0">
                <a:solidFill>
                  <a:srgbClr val="1C252B"/>
                </a:solidFill>
                <a:latin typeface="Cambria"/>
              </a:rPr>
              <a:t>=2</a:t>
            </a:r>
            <a:r>
              <a:rPr sz="1900" b="0" i="0">
                <a:solidFill>
                  <a:srgbClr val="1C252B"/>
                </a:solidFill>
                <a:latin typeface="Segoe UI"/>
              </a:rPr>
              <a:t>: </a:t>
            </a:r>
            <a:r>
              <a:rPr sz="1900" b="0" i="0">
                <a:solidFill>
                  <a:srgbClr val="1C252B"/>
                </a:solidFill>
                <a:latin typeface="Cambria"/>
              </a:rPr>
              <a:t>∅</a:t>
            </a:r>
            <a:r>
              <a:rPr sz="1900" b="0" i="0">
                <a:solidFill>
                  <a:srgbClr val="1C252B"/>
                </a:solidFill>
                <a:latin typeface="Segoe UI"/>
              </a:rPr>
              <a:t>, </a:t>
            </a:r>
            <a:r>
              <a:rPr sz="1800" b="0" i="0">
                <a:solidFill>
                  <a:srgbClr val="1F4E79"/>
                </a:solidFill>
                <a:latin typeface="Consolas"/>
              </a:rPr>
              <a:t>a</a:t>
            </a:r>
            <a:r>
              <a:rPr sz="1900" b="0" i="0">
                <a:solidFill>
                  <a:srgbClr val="1C252B"/>
                </a:solidFill>
                <a:latin typeface="Segoe UI"/>
              </a:rPr>
              <a:t>, </a:t>
            </a:r>
            <a:r>
              <a:rPr sz="1800" b="0" i="0">
                <a:solidFill>
                  <a:srgbClr val="1F4E79"/>
                </a:solidFill>
                <a:latin typeface="Consolas"/>
              </a:rPr>
              <a:t>ab</a:t>
            </a:r>
            <a:r>
              <a:rPr sz="1900" b="0" i="0">
                <a:solidFill>
                  <a:srgbClr val="1C252B"/>
                </a:solidFill>
                <a:latin typeface="Segoe UI"/>
              </a:rPr>
              <a:t>, </a:t>
            </a:r>
            <a:r>
              <a:rPr sz="1800" b="0" i="0">
                <a:solidFill>
                  <a:srgbClr val="1F4E79"/>
                </a:solidFill>
                <a:latin typeface="Consolas"/>
              </a:rPr>
              <a:t>b</a:t>
            </a:r>
            <a:r>
              <a:rPr sz="1900" b="0" i="0">
                <a:solidFill>
                  <a:srgbClr val="1C252B"/>
                </a:solidFill>
                <a:latin typeface="Segoe UI"/>
              </a:rPr>
              <a:t>, fail (</a:t>
            </a:r>
            <a:r>
              <a:rPr sz="1900" b="0" i="0">
                <a:solidFill>
                  <a:srgbClr val="1C252B"/>
                </a:solidFill>
                <a:latin typeface="Cambria"/>
              </a:rPr>
              <a:t>4</a:t>
            </a:r>
            <a:r>
              <a:rPr sz="1900" b="0" i="0">
                <a:solidFill>
                  <a:srgbClr val="1C252B"/>
                </a:solidFill>
                <a:latin typeface="Segoe UI"/>
              </a:rPr>
              <a:t>). </a:t>
            </a:r>
            <a:r>
              <a:rPr sz="1900" b="0" i="0">
                <a:solidFill>
                  <a:srgbClr val="1C252B"/>
                </a:solidFill>
                <a:latin typeface="Cambria"/>
              </a:rPr>
              <a:t>=3</a:t>
            </a:r>
            <a:r>
              <a:rPr sz="1900" b="0" i="0">
                <a:solidFill>
                  <a:srgbClr val="1C252B"/>
                </a:solidFill>
                <a:latin typeface="Segoe UI"/>
              </a:rPr>
              <a:t>: reaches </a:t>
            </a:r>
            <a:r>
              <a:rPr sz="1800" b="0" i="0">
                <a:solidFill>
                  <a:srgbClr val="1F4E79"/>
                </a:solidFill>
                <a:latin typeface="Consolas"/>
              </a:rPr>
              <a:t>abc</a:t>
            </a:r>
            <a:r>
              <a:rPr sz="1900" b="0" i="0">
                <a:solidFill>
                  <a:srgbClr val="1C252B"/>
                </a:solidFill>
                <a:latin typeface="Segoe UI"/>
              </a:rPr>
              <a:t>. Total about </a:t>
            </a:r>
            <a:r>
              <a:rPr sz="1900" b="0" i="0">
                <a:solidFill>
                  <a:srgbClr val="1C252B"/>
                </a:solidFill>
                <a:latin typeface="Cambria"/>
              </a:rPr>
              <a:t>12</a:t>
            </a:r>
            <a:r>
              <a:rPr sz="1900" b="0" i="0">
                <a:solidFill>
                  <a:srgbClr val="1C252B"/>
                </a:solidFill>
                <a:latin typeface="Segoe UI"/>
              </a:rPr>
              <a:t> node generations against breadth-first search’s </a:t>
            </a:r>
            <a:r>
              <a:rPr sz="1900" b="0" i="0">
                <a:solidFill>
                  <a:srgbClr val="1C252B"/>
                </a:solidFill>
                <a:latin typeface="Cambria"/>
              </a:rPr>
              <a:t>5</a:t>
            </a:r>
            <a:r>
              <a:rPr sz="1900" b="0" i="0">
                <a:solidFill>
                  <a:srgbClr val="1C252B"/>
                </a:solidFill>
                <a:latin typeface="Segoe UI"/>
              </a:rPr>
              <a:t> — but the deepest frontier ever held is </a:t>
            </a:r>
            <a:r>
              <a:rPr sz="1900" b="0" i="0">
                <a:solidFill>
                  <a:srgbClr val="1C252B"/>
                </a:solidFill>
                <a:latin typeface="Cambria"/>
              </a:rPr>
              <a:t>2</a:t>
            </a:r>
            <a:r>
              <a:rPr sz="1900" b="0" i="0">
                <a:solidFill>
                  <a:srgbClr val="1C252B"/>
                </a:solidFill>
                <a:latin typeface="Segoe UI"/>
              </a:rPr>
              <a:t> nodes, not </a:t>
            </a:r>
            <a:r>
              <a:rPr sz="1900" b="0" i="0">
                <a:solidFill>
                  <a:srgbClr val="1C252B"/>
                </a:solidFill>
                <a:latin typeface="Cambria"/>
              </a:rPr>
              <a:t>2</a:t>
            </a:r>
            <a:r>
              <a:rPr sz="1900" b="0" i="0">
                <a:solidFill>
                  <a:srgbClr val="1C252B"/>
                </a:solidFill>
                <a:latin typeface="Segoe UI"/>
              </a:rPr>
              <a:t> levels.</a:t>
            </a:r>
          </a:p>
        </p:txBody>
      </p:sp>
      <p:sp>
        <p:nvSpPr>
          <p:cNvPr id="12" name="body-1bar">
            <a:extLst>
              <a:ext uri="{C183D7F6-B498-43B3-948B-1728B52AA6E4}">
                <adec:decorative xmlns:adec="http://schemas.microsoft.com/office/drawing/2017/decorative" val="1"/>
              </a:ext>
            </a:extLst>
          </p:cNvPr>
          <p:cNvSpPr/>
          <p:nvPr/>
        </p:nvSpPr>
        <p:spPr>
          <a:xfrm>
            <a:off x="841248" y="3066110"/>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body-2"/>
          <p:cNvSpPr txBox="1"/>
          <p:nvPr/>
        </p:nvSpPr>
        <p:spPr>
          <a:xfrm>
            <a:off x="1042416" y="4083964"/>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Uniform-cost</a:t>
            </a:r>
            <a:r>
              <a:rPr sz="1900" b="0" i="0">
                <a:solidFill>
                  <a:srgbClr val="1C252B"/>
                </a:solidFill>
                <a:latin typeface="Segoe UI"/>
              </a:rPr>
              <a:t> (cheapest first). Frontier as </a:t>
            </a:r>
            <a:r>
              <a:rPr sz="1900" b="0" i="0">
                <a:solidFill>
                  <a:srgbClr val="1C252B"/>
                </a:solidFill>
                <a:latin typeface="Cambria"/>
              </a:rPr>
              <a:t>(</a:t>
            </a:r>
            <a:r>
              <a:rPr sz="1900" b="0" i="0">
                <a:solidFill>
                  <a:srgbClr val="1C252B"/>
                </a:solidFill>
                <a:latin typeface="Segoe UI"/>
              </a:rPr>
              <a:t>cost</a:t>
            </a:r>
            <a:r>
              <a:rPr sz="1900" b="0" i="0">
                <a:solidFill>
                  <a:srgbClr val="1C252B"/>
                </a:solidFill>
                <a:latin typeface="Cambria"/>
              </a:rPr>
              <a:t>,</a:t>
            </a:r>
            <a:r>
              <a:rPr sz="1900" b="0" i="0">
                <a:solidFill>
                  <a:srgbClr val="1C252B"/>
                </a:solidFill>
                <a:latin typeface="Segoe UI"/>
              </a:rPr>
              <a:t>state</a:t>
            </a:r>
            <a:r>
              <a:rPr sz="1900" b="0" i="0">
                <a:solidFill>
                  <a:srgbClr val="1C252B"/>
                </a:solidFill>
                <a:latin typeface="Cambria"/>
              </a:rPr>
              <a:t>)</a:t>
            </a:r>
            <a:r>
              <a:rPr sz="1900" b="0" i="0">
                <a:solidFill>
                  <a:srgbClr val="1C252B"/>
                </a:solidFill>
                <a:latin typeface="Segoe UI"/>
              </a:rPr>
              <a:t>.</a:t>
            </a:r>
          </a:p>
        </p:txBody>
      </p:sp>
      <p:sp>
        <p:nvSpPr>
          <p:cNvPr id="14" name="body-2bar">
            <a:extLst>
              <a:ext uri="{C183D7F6-B498-43B3-948B-1728B52AA6E4}">
                <adec:decorative xmlns:adec="http://schemas.microsoft.com/office/drawing/2017/decorative" val="1"/>
              </a:ext>
            </a:extLst>
          </p:cNvPr>
          <p:cNvSpPr/>
          <p:nvPr/>
        </p:nvSpPr>
        <p:spPr>
          <a:xfrm>
            <a:off x="841248" y="4102252"/>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body-3"/>
          <p:cNvSpPr txBox="1"/>
          <p:nvPr/>
        </p:nvSpPr>
        <p:spPr>
          <a:xfrm>
            <a:off x="1042416" y="4517821"/>
            <a:ext cx="10234879" cy="1419199"/>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Pop </a:t>
            </a:r>
            <a:r>
              <a:rPr sz="1900" b="0" i="0">
                <a:solidFill>
                  <a:srgbClr val="1C252B"/>
                </a:solidFill>
                <a:latin typeface="Cambria"/>
              </a:rPr>
              <a:t>(0,∅)</a:t>
            </a:r>
            <a:r>
              <a:rPr sz="1900" b="0" i="0">
                <a:solidFill>
                  <a:srgbClr val="1C252B"/>
                </a:solidFill>
                <a:latin typeface="Segoe UI"/>
              </a:rPr>
              <a:t>. Push </a:t>
            </a:r>
            <a:r>
              <a:rPr sz="1900" b="0" i="0">
                <a:solidFill>
                  <a:srgbClr val="1C252B"/>
                </a:solidFill>
                <a:latin typeface="Cambria"/>
              </a:rPr>
              <a:t>(3,</a:t>
            </a:r>
            <a:r>
              <a:rPr sz="1900" b="0" i="1">
                <a:solidFill>
                  <a:srgbClr val="1C252B"/>
                </a:solidFill>
                <a:latin typeface="Cambria"/>
              </a:rPr>
              <a:t>a</a:t>
            </a:r>
            <a:r>
              <a:rPr sz="1900" b="0" i="0">
                <a:solidFill>
                  <a:srgbClr val="1C252B"/>
                </a:solidFill>
                <a:latin typeface="Cambria"/>
              </a:rPr>
              <a:t>)</a:t>
            </a:r>
            <a:r>
              <a:rPr sz="1900" b="0" i="0">
                <a:solidFill>
                  <a:srgbClr val="1C252B"/>
                </a:solidFill>
                <a:latin typeface="Segoe UI"/>
              </a:rPr>
              <a:t>, </a:t>
            </a:r>
            <a:r>
              <a:rPr sz="1900" b="0" i="0">
                <a:solidFill>
                  <a:srgbClr val="1C252B"/>
                </a:solidFill>
                <a:latin typeface="Cambria"/>
              </a:rPr>
              <a:t>(1,</a:t>
            </a:r>
            <a:r>
              <a:rPr sz="1900" b="0" i="1">
                <a:solidFill>
                  <a:srgbClr val="1C252B"/>
                </a:solidFill>
                <a:latin typeface="Cambria"/>
              </a:rPr>
              <a:t>b</a:t>
            </a:r>
            <a:r>
              <a:rPr sz="1900" b="0" i="0">
                <a:solidFill>
                  <a:srgbClr val="1C252B"/>
                </a:solidFill>
                <a:latin typeface="Cambria"/>
              </a:rPr>
              <a:t>)</a:t>
            </a:r>
            <a:r>
              <a:rPr sz="1900" b="0" i="0">
                <a:solidFill>
                  <a:srgbClr val="1C252B"/>
                </a:solidFill>
                <a:latin typeface="Segoe UI"/>
              </a:rPr>
              <a:t>.</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Pop </a:t>
            </a:r>
            <a:r>
              <a:rPr sz="1900" b="0" i="0">
                <a:solidFill>
                  <a:srgbClr val="1C252B"/>
                </a:solidFill>
                <a:latin typeface="Cambria"/>
              </a:rPr>
              <a:t>(1,</a:t>
            </a:r>
            <a:r>
              <a:rPr sz="1900" b="0" i="1">
                <a:solidFill>
                  <a:srgbClr val="1C252B"/>
                </a:solidFill>
                <a:latin typeface="Cambria"/>
              </a:rPr>
              <a:t>b</a:t>
            </a:r>
            <a:r>
              <a:rPr sz="1900" b="0" i="0">
                <a:solidFill>
                  <a:srgbClr val="1C252B"/>
                </a:solidFill>
                <a:latin typeface="Cambria"/>
              </a:rPr>
              <a:t>)</a:t>
            </a:r>
            <a:r>
              <a:rPr sz="1900" b="0" i="0">
                <a:solidFill>
                  <a:srgbClr val="1C252B"/>
                </a:solidFill>
                <a:latin typeface="Segoe UI"/>
              </a:rPr>
              <a:t> — cheaper than </a:t>
            </a:r>
            <a:r>
              <a:rPr sz="1800" b="0" i="0">
                <a:solidFill>
                  <a:srgbClr val="1F4E79"/>
                </a:solidFill>
                <a:latin typeface="Consolas"/>
              </a:rPr>
              <a:t>a</a:t>
            </a:r>
            <a:r>
              <a:rPr sz="1900" b="0" i="0">
                <a:solidFill>
                  <a:srgbClr val="1C252B"/>
                </a:solidFill>
                <a:latin typeface="Segoe UI"/>
              </a:rPr>
              <a:t>, so the order differs from breadth-first search. Push </a:t>
            </a:r>
            <a:r>
              <a:rPr sz="1900" b="0" i="0">
                <a:solidFill>
                  <a:srgbClr val="1C252B"/>
                </a:solidFill>
                <a:latin typeface="Cambria"/>
              </a:rPr>
              <a:t>(4,</a:t>
            </a:r>
            <a:r>
              <a:rPr sz="1900" b="0" i="1">
                <a:solidFill>
                  <a:srgbClr val="1C252B"/>
                </a:solidFill>
                <a:latin typeface="Cambria"/>
              </a:rPr>
              <a:t>ab</a:t>
            </a:r>
            <a:r>
              <a:rPr sz="1900" b="0" i="0">
                <a:solidFill>
                  <a:srgbClr val="1C252B"/>
                </a:solidFill>
                <a:latin typeface="Cambria"/>
              </a:rPr>
              <a:t>)</a:t>
            </a:r>
            <a:r>
              <a:rPr sz="1900" b="0" i="0">
                <a:solidFill>
                  <a:srgbClr val="1C252B"/>
                </a:solidFill>
                <a:latin typeface="Segoe UI"/>
              </a:rPr>
              <a:t>.</a:t>
            </a:r>
          </a:p>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Pop </a:t>
            </a:r>
            <a:r>
              <a:rPr sz="1900" b="0" i="0">
                <a:solidFill>
                  <a:srgbClr val="1C252B"/>
                </a:solidFill>
                <a:latin typeface="Cambria"/>
              </a:rPr>
              <a:t>(3,</a:t>
            </a:r>
            <a:r>
              <a:rPr sz="1900" b="0" i="1">
                <a:solidFill>
                  <a:srgbClr val="1C252B"/>
                </a:solidFill>
                <a:latin typeface="Cambria"/>
              </a:rPr>
              <a:t>a</a:t>
            </a:r>
            <a:r>
              <a:rPr sz="1900" b="0" i="0">
                <a:solidFill>
                  <a:srgbClr val="1C252B"/>
                </a:solidFill>
                <a:latin typeface="Cambria"/>
              </a:rPr>
              <a:t>)</a:t>
            </a:r>
            <a:r>
              <a:rPr sz="1900" b="0" i="0">
                <a:solidFill>
                  <a:srgbClr val="1C252B"/>
                </a:solidFill>
                <a:latin typeface="Segoe UI"/>
              </a:rPr>
              <a:t>. Successor </a:t>
            </a:r>
            <a:r>
              <a:rPr sz="1800" b="0" i="0">
                <a:solidFill>
                  <a:srgbClr val="1F4E79"/>
                </a:solidFill>
                <a:latin typeface="Consolas"/>
              </a:rPr>
              <a:t>ab</a:t>
            </a:r>
            <a:r>
              <a:rPr sz="1900" b="0" i="0">
                <a:solidFill>
                  <a:srgbClr val="1C252B"/>
                </a:solidFill>
                <a:latin typeface="Segoe UI"/>
              </a:rPr>
              <a:t> at cost </a:t>
            </a:r>
            <a:r>
              <a:rPr sz="1900" b="0" i="0">
                <a:solidFill>
                  <a:srgbClr val="1C252B"/>
                </a:solidFill>
                <a:latin typeface="Cambria"/>
              </a:rPr>
              <a:t>3+1=4</a:t>
            </a:r>
            <a:r>
              <a:rPr sz="1900" b="0" i="0">
                <a:solidFill>
                  <a:srgbClr val="1C252B"/>
                </a:solidFill>
                <a:latin typeface="Segoe UI"/>
              </a:rPr>
              <a:t>, no better than the </a:t>
            </a:r>
            <a:r>
              <a:rPr sz="1900" b="0" i="0">
                <a:solidFill>
                  <a:srgbClr val="1C252B"/>
                </a:solidFill>
                <a:latin typeface="Cambria"/>
              </a:rPr>
              <a:t>4</a:t>
            </a:r>
            <a:r>
              <a:rPr sz="1900" b="0" i="0">
                <a:solidFill>
                  <a:srgbClr val="1C252B"/>
                </a:solidFill>
                <a:latin typeface="Segoe UI"/>
              </a:rPr>
              <a:t> already in the frontier, so nothing improves.</a:t>
            </a:r>
          </a:p>
        </p:txBody>
      </p:sp>
      <p:sp>
        <p:nvSpPr>
          <p:cNvPr id="4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pfill">
            <a:extLst>
              <a:ext uri="{C183D7F6-B498-43B3-948B-1728B52AA6E4}">
                <adec:decorative xmlns:adec="http://schemas.microsoft.com/office/drawing/2017/decorative" val="1"/>
              </a:ext>
            </a:extLst>
          </p:cNvPr>
          <p:cNvSpPr/>
          <p:nvPr/>
        </p:nvSpPr>
        <p:spPr>
          <a:xfrm>
            <a:off x="0" y="0"/>
            <a:ext cx="477066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right)">
                                      <p:cBhvr>
                                        <p:cTn id="24" dur="42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2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xEl>
                                              <p:pRg st="0" end="0"/>
                                            </p:txEl>
                                          </p:spTgt>
                                        </p:tgtEl>
                                        <p:attrNameLst>
                                          <p:attrName>style.visibility</p:attrName>
                                        </p:attrNameLst>
                                      </p:cBhvr>
                                      <p:to>
                                        <p:strVal val="visible"/>
                                      </p:to>
                                    </p:set>
                                    <p:animEffect transition="in" filter="fade">
                                      <p:cBhvr>
                                        <p:cTn id="32" dur="350"/>
                                        <p:tgtEl>
                                          <p:spTgt spid="15">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5">
                                            <p:txEl>
                                              <p:pRg st="1" end="1"/>
                                            </p:txEl>
                                          </p:spTgt>
                                        </p:tgtEl>
                                        <p:attrNameLst>
                                          <p:attrName>style.visibility</p:attrName>
                                        </p:attrNameLst>
                                      </p:cBhvr>
                                      <p:to>
                                        <p:strVal val="visible"/>
                                      </p:to>
                                    </p:set>
                                    <p:animEffect transition="in" filter="fade">
                                      <p:cBhvr>
                                        <p:cTn id="37" dur="350"/>
                                        <p:tgtEl>
                                          <p:spTgt spid="15">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5">
                                            <p:txEl>
                                              <p:pRg st="2" end="2"/>
                                            </p:txEl>
                                          </p:spTgt>
                                        </p:tgtEl>
                                        <p:attrNameLst>
                                          <p:attrName>style.visibility</p:attrName>
                                        </p:attrNameLst>
                                      </p:cBhvr>
                                      <p:to>
                                        <p:strVal val="visible"/>
                                      </p:to>
                                    </p:set>
                                    <p:animEffect transition="in" filter="fade">
                                      <p:cBhvr>
                                        <p:cTn id="42" dur="350"/>
                                        <p:tgtEl>
                                          <p:spTgt spid="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Tracing all four strategies on one small graph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  ·  Problem Formulation and Uninformed Search</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§4.7  ·  Handout p. 37     </a:t>
            </a:r>
            <a:fld id="{965A9474-1F0C-4DAC-BC2D-DDCE353DD2BC}"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572664"/>
          </a:xfrm>
          <a:prstGeom prst="roundRect">
            <a:avLst>
              <a:gd name="adj" fmla="val 355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5726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732459"/>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Pop </a:t>
            </a:r>
            <a:r>
              <a:rPr sz="1900" b="0" i="0">
                <a:solidFill>
                  <a:srgbClr val="1C252B"/>
                </a:solidFill>
                <a:latin typeface="Cambria"/>
              </a:rPr>
              <a:t>(4,</a:t>
            </a:r>
            <a:r>
              <a:rPr sz="1900" b="0" i="1">
                <a:solidFill>
                  <a:srgbClr val="1C252B"/>
                </a:solidFill>
                <a:latin typeface="Cambria"/>
              </a:rPr>
              <a:t>ab</a:t>
            </a:r>
            <a:r>
              <a:rPr sz="1900" b="0" i="0">
                <a:solidFill>
                  <a:srgbClr val="1C252B"/>
                </a:solidFill>
                <a:latin typeface="Cambria"/>
              </a:rPr>
              <a:t>)</a:t>
            </a:r>
            <a:r>
              <a:rPr sz="1900" b="0" i="0">
                <a:solidFill>
                  <a:srgbClr val="1C252B"/>
                </a:solidFill>
                <a:latin typeface="Segoe UI"/>
              </a:rPr>
              <a:t>. Push </a:t>
            </a:r>
            <a:r>
              <a:rPr sz="1900" b="0" i="0">
                <a:solidFill>
                  <a:srgbClr val="1C252B"/>
                </a:solidFill>
                <a:latin typeface="Cambria"/>
              </a:rPr>
              <a:t>(6,</a:t>
            </a:r>
            <a:r>
              <a:rPr sz="1900" b="0" i="1">
                <a:solidFill>
                  <a:srgbClr val="1C252B"/>
                </a:solidFill>
                <a:latin typeface="Cambria"/>
              </a:rPr>
              <a:t>abc</a:t>
            </a:r>
            <a:r>
              <a:rPr sz="1900" b="0" i="0">
                <a:solidFill>
                  <a:srgbClr val="1C252B"/>
                </a:solidFill>
                <a:latin typeface="Cambria"/>
              </a:rPr>
              <a:t>)</a:t>
            </a:r>
            <a:r>
              <a:rPr sz="1900" b="0" i="0">
                <a:solidFill>
                  <a:srgbClr val="1C252B"/>
                </a:solidFill>
                <a:latin typeface="Segoe UI"/>
              </a:rPr>
              <a:t>.</a:t>
            </a:r>
          </a:p>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Pop </a:t>
            </a:r>
            <a:r>
              <a:rPr sz="1900" b="0" i="0">
                <a:solidFill>
                  <a:srgbClr val="1C252B"/>
                </a:solidFill>
                <a:latin typeface="Cambria"/>
              </a:rPr>
              <a:t>(6,</a:t>
            </a:r>
            <a:r>
              <a:rPr sz="1900" b="0" i="1">
                <a:solidFill>
                  <a:srgbClr val="1C252B"/>
                </a:solidFill>
                <a:latin typeface="Cambria"/>
              </a:rPr>
              <a:t>abc</a:t>
            </a:r>
            <a:r>
              <a:rPr sz="1900" b="0" i="0">
                <a:solidFill>
                  <a:srgbClr val="1C252B"/>
                </a:solidFill>
                <a:latin typeface="Cambria"/>
              </a:rPr>
              <a:t>)</a:t>
            </a:r>
            <a:r>
              <a:rPr sz="1900" b="0" i="0">
                <a:solidFill>
                  <a:srgbClr val="1C252B"/>
                </a:solidFill>
                <a:latin typeface="Segoe UI"/>
              </a:rPr>
              <a:t>. Goal, cost </a:t>
            </a:r>
            <a:r>
              <a:rPr sz="1900" b="0" i="0">
                <a:solidFill>
                  <a:srgbClr val="1C252B"/>
                </a:solidFill>
                <a:latin typeface="Cambria"/>
              </a:rPr>
              <a:t>6</a:t>
            </a:r>
            <a:r>
              <a:rPr sz="1900" b="0" i="0">
                <a:solidFill>
                  <a:srgbClr val="1C252B"/>
                </a:solidFill>
                <a:latin typeface="Segoe UI"/>
              </a:rPr>
              <a:t>, and now </a:t>
            </a:r>
            <a:r>
              <a:rPr sz="1900" b="0" i="1">
                <a:solidFill>
                  <a:srgbClr val="1C252B"/>
                </a:solidFill>
                <a:latin typeface="Segoe UI"/>
              </a:rPr>
              <a:t>provably</a:t>
            </a:r>
            <a:r>
              <a:rPr sz="1900" b="0" i="0">
                <a:solidFill>
                  <a:srgbClr val="1C252B"/>
                </a:solidFill>
                <a:latin typeface="Segoe UI"/>
              </a:rPr>
              <a:t> cheapest.</a:t>
            </a:r>
          </a:p>
        </p:txBody>
      </p:sp>
      <p:sp>
        <p:nvSpPr>
          <p:cNvPr id="10" name="body-1"/>
          <p:cNvSpPr txBox="1"/>
          <p:nvPr/>
        </p:nvSpPr>
        <p:spPr>
          <a:xfrm>
            <a:off x="1042416" y="2831134"/>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point of the trace.</a:t>
            </a:r>
            <a:r>
              <a:rPr sz="1900" b="0" i="0">
                <a:solidFill>
                  <a:srgbClr val="1C252B"/>
                </a:solidFill>
                <a:latin typeface="Segoe UI"/>
              </a:rPr>
              <a:t> All four found a solution; only uniform-cost search knows its answer is the cheapest. And notice step 3: had the goal been tested when </a:t>
            </a:r>
            <a:r>
              <a:rPr sz="1800" b="0" i="0">
                <a:solidFill>
                  <a:srgbClr val="1F4E79"/>
                </a:solidFill>
                <a:latin typeface="Consolas"/>
              </a:rPr>
              <a:t>ab</a:t>
            </a:r>
            <a:r>
              <a:rPr sz="1900" b="0" i="0">
                <a:solidFill>
                  <a:srgbClr val="1C252B"/>
                </a:solidFill>
                <a:latin typeface="Segoe UI"/>
              </a:rPr>
              <a:t> was </a:t>
            </a:r>
            <a:r>
              <a:rPr sz="1900" b="0" i="1">
                <a:solidFill>
                  <a:srgbClr val="1C252B"/>
                </a:solidFill>
                <a:latin typeface="Segoe UI"/>
              </a:rPr>
              <a:t>generated</a:t>
            </a:r>
            <a:r>
              <a:rPr sz="1900" b="0" i="0">
                <a:solidFill>
                  <a:srgbClr val="1C252B"/>
                </a:solidFill>
                <a:latin typeface="Segoe UI"/>
              </a:rPr>
              <a:t> rather than when it was popped, the search would have committed to whichever path reached it first, which is the bug the alertbox warns about.</a:t>
            </a:r>
          </a:p>
        </p:txBody>
      </p:sp>
      <p:sp>
        <p:nvSpPr>
          <p:cNvPr id="11" name="body-1bar">
            <a:extLst>
              <a:ext uri="{C183D7F6-B498-43B3-948B-1728B52AA6E4}">
                <adec:decorative xmlns:adec="http://schemas.microsoft.com/office/drawing/2017/decorative" val="1"/>
              </a:ext>
            </a:extLst>
          </p:cNvPr>
          <p:cNvSpPr/>
          <p:nvPr/>
        </p:nvSpPr>
        <p:spPr>
          <a:xfrm>
            <a:off x="841248" y="2849422"/>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503570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5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5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right)">
                                      <p:cBhvr>
                                        <p:cTn id="18" dur="42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2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  ·  Problem Formulation and Uninformed Search</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§4.7  ·  Handout p. 37     </a:t>
            </a:r>
            <a:fld id="{0AD61D5D-6D48-4776-BB44-4A73EA8A6294}" type="slidenum">
              <a:rPr lang="en-GB" sz="1000">
                <a:solidFill>
                  <a:srgbClr val="8795A1"/>
                </a:solidFill>
                <a:latin typeface="Segoe UI"/>
              </a:rPr>
              <a:t>20</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Omitting the explored set.</a:t>
            </a:r>
            <a:r>
              <a:rPr sz="1700" b="0" i="0">
                <a:solidFill>
                  <a:srgbClr val="1C252B"/>
                </a:solidFill>
                <a:latin typeface="Segoe UI"/>
              </a:rPr>
              <a:t> An infinite search tree on a finite space. The symptom is a hang, and the cause is two lines away.</a:t>
            </a:r>
          </a:p>
        </p:txBody>
      </p:sp>
      <p:sp>
        <p:nvSpPr>
          <p:cNvPr id="10" name="!!pb1">
            <a:extLst>
              <a:ext uri="{C183D7F6-B498-43B3-948B-1728B52AA6E4}">
                <adec:decorative xmlns:adec="http://schemas.microsoft.com/office/drawing/2017/decorative" val="1"/>
              </a:ext>
            </a:extLst>
          </p:cNvPr>
          <p:cNvSpPr/>
          <p:nvPr/>
        </p:nvSpPr>
        <p:spPr>
          <a:xfrm>
            <a:off x="658368" y="249570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51856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477414"/>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Calling breadth-first search optimal.</a:t>
            </a:r>
            <a:r>
              <a:rPr sz="1700" b="0" i="0">
                <a:solidFill>
                  <a:srgbClr val="1C252B"/>
                </a:solidFill>
                <a:latin typeface="Segoe UI"/>
              </a:rPr>
              <a:t> It returns the </a:t>
            </a:r>
            <a:r>
              <a:rPr sz="1700" b="0" i="1">
                <a:solidFill>
                  <a:srgbClr val="1C252B"/>
                </a:solidFill>
                <a:latin typeface="Segoe UI"/>
              </a:rPr>
              <a:t>shallowest</a:t>
            </a:r>
            <a:r>
              <a:rPr sz="1700" b="0" i="0">
                <a:solidFill>
                  <a:srgbClr val="1C252B"/>
                </a:solidFill>
                <a:latin typeface="Segoe UI"/>
              </a:rPr>
              <a:t> solution. That is the cheapest only when every action costs the same — which, with task durations, it does not.</a:t>
            </a:r>
          </a:p>
        </p:txBody>
      </p:sp>
      <p:sp>
        <p:nvSpPr>
          <p:cNvPr id="13" name="!!pb2">
            <a:extLst>
              <a:ext uri="{C183D7F6-B498-43B3-948B-1728B52AA6E4}">
                <adec:decorative xmlns:adec="http://schemas.microsoft.com/office/drawing/2017/decorative" val="1"/>
              </a:ext>
            </a:extLst>
          </p:cNvPr>
          <p:cNvSpPr/>
          <p:nvPr/>
        </p:nvSpPr>
        <p:spPr>
          <a:xfrm>
            <a:off x="658368" y="323575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25861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217468"/>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Goal-testing on generation in uniform-cost search.</a:t>
            </a:r>
            <a:r>
              <a:rPr sz="1700" b="0" i="0">
                <a:solidFill>
                  <a:srgbClr val="1C252B"/>
                </a:solidFill>
                <a:latin typeface="Segoe UI"/>
              </a:rPr>
              <a:t> Silently sub-optimal answers, and the tests pass because the answer is still </a:t>
            </a:r>
            <a:r>
              <a:rPr sz="1700" b="0" i="1">
                <a:solidFill>
                  <a:srgbClr val="1C252B"/>
                </a:solidFill>
                <a:latin typeface="Segoe UI"/>
              </a:rPr>
              <a:t>a</a:t>
            </a:r>
            <a:r>
              <a:rPr sz="1700" b="0" i="0">
                <a:solidFill>
                  <a:srgbClr val="1C252B"/>
                </a:solidFill>
                <a:latin typeface="Segoe UI"/>
              </a:rPr>
              <a:t> solution.</a:t>
            </a:r>
          </a:p>
        </p:txBody>
      </p:sp>
      <p:sp>
        <p:nvSpPr>
          <p:cNvPr id="16" name="!!pb3">
            <a:extLst>
              <a:ext uri="{C183D7F6-B498-43B3-948B-1728B52AA6E4}">
                <adec:decorative xmlns:adec="http://schemas.microsoft.com/office/drawing/2017/decorative" val="1"/>
              </a:ext>
            </a:extLst>
          </p:cNvPr>
          <p:cNvSpPr/>
          <p:nvPr/>
        </p:nvSpPr>
        <p:spPr>
          <a:xfrm>
            <a:off x="658368" y="3975811"/>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998671"/>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957523"/>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Negative step costs.</a:t>
            </a:r>
            <a:r>
              <a:rPr sz="1700" b="0" i="0">
                <a:solidFill>
                  <a:srgbClr val="1C252B"/>
                </a:solidFill>
                <a:latin typeface="Segoe UI"/>
              </a:rPr>
              <a:t> Uniform-cost search’s optimality proof needs non-negative costs. “Refactoring saves two days” modelled as a negative cost breaks the algorithm, not just the estimate.</a:t>
            </a:r>
          </a:p>
        </p:txBody>
      </p:sp>
      <p:sp>
        <p:nvSpPr>
          <p:cNvPr id="19" name="!!pb4">
            <a:extLst>
              <a:ext uri="{C183D7F6-B498-43B3-948B-1728B52AA6E4}">
                <adec:decorative xmlns:adec="http://schemas.microsoft.com/office/drawing/2017/decorative" val="1"/>
              </a:ext>
            </a:extLst>
          </p:cNvPr>
          <p:cNvSpPr/>
          <p:nvPr/>
        </p:nvSpPr>
        <p:spPr>
          <a:xfrm>
            <a:off x="658368" y="4715865"/>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738725"/>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697577"/>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Depth-limited search reporting failure as impossibility.</a:t>
            </a:r>
            <a:r>
              <a:rPr sz="1700" b="0" i="0">
                <a:solidFill>
                  <a:srgbClr val="1C252B"/>
                </a:solidFill>
                <a:latin typeface="Segoe UI"/>
              </a:rPr>
              <a:t> It means “no solution within ”. Treating that as “no solution” is a reporting bug with real consequences.</a:t>
            </a:r>
          </a:p>
        </p:txBody>
      </p:sp>
      <p:sp>
        <p:nvSpPr>
          <p:cNvPr id="22" name="!!pb5">
            <a:extLst>
              <a:ext uri="{C183D7F6-B498-43B3-948B-1728B52AA6E4}">
                <adec:decorative xmlns:adec="http://schemas.microsoft.com/office/drawing/2017/decorative" val="1"/>
              </a:ext>
            </a:extLst>
          </p:cNvPr>
          <p:cNvSpPr/>
          <p:nvPr/>
        </p:nvSpPr>
        <p:spPr>
          <a:xfrm>
            <a:off x="658368" y="545591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x5"/>
          <p:cNvSpPr txBox="1"/>
          <p:nvPr/>
        </p:nvSpPr>
        <p:spPr>
          <a:xfrm>
            <a:off x="658368" y="547877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4" name="!!pt5"/>
          <p:cNvSpPr txBox="1"/>
          <p:nvPr/>
        </p:nvSpPr>
        <p:spPr>
          <a:xfrm>
            <a:off x="1261872" y="5437631"/>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Believing a faster language will fix </a:t>
            </a:r>
            <a:r>
              <a:rPr sz="1700" b="1" i="1">
                <a:solidFill>
                  <a:srgbClr val="1C252B"/>
                </a:solidFill>
                <a:latin typeface="Cambria"/>
              </a:rPr>
              <a:t>b</a:t>
            </a:r>
            <a:r>
              <a:rPr sz="1700" b="1" i="1" baseline="30000">
                <a:solidFill>
                  <a:srgbClr val="1C252B"/>
                </a:solidFill>
                <a:latin typeface="Cambria"/>
              </a:rPr>
              <a:t>d</a:t>
            </a:r>
            <a:r>
              <a:rPr sz="1700" b="1" i="0">
                <a:solidFill>
                  <a:srgbClr val="1C252B"/>
                </a:solidFill>
                <a:latin typeface="Segoe UI"/>
              </a:rPr>
              <a:t>.</a:t>
            </a:r>
            <a:r>
              <a:rPr sz="1700" b="0" i="0">
                <a:solidFill>
                  <a:srgbClr val="1C252B"/>
                </a:solidFill>
                <a:latin typeface="Segoe UI"/>
              </a:rPr>
              <a:t> A hundredfold speedup buys two more levels of depth at </a:t>
            </a:r>
            <a:r>
              <a:rPr sz="1700" b="0" i="1">
                <a:solidFill>
                  <a:srgbClr val="1C252B"/>
                </a:solidFill>
                <a:latin typeface="Cambria"/>
              </a:rPr>
              <a:t>b</a:t>
            </a:r>
            <a:r>
              <a:rPr sz="1700" b="0" i="0">
                <a:solidFill>
                  <a:srgbClr val="1C252B"/>
                </a:solidFill>
                <a:latin typeface="Cambria"/>
              </a:rPr>
              <a:t>=10</a:t>
            </a:r>
            <a:r>
              <a:rPr sz="1700" b="0" i="0">
                <a:solidFill>
                  <a:srgbClr val="1C252B"/>
                </a:solidFill>
                <a:latin typeface="Segoe UI"/>
              </a:rPr>
              <a:t>. Change the formulation or add a heuristic.</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530073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Task Ordering Four Ways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  ·  Problem Formulation and Uninformed Search</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§4.7  ·  Handout p. 37     </a:t>
            </a:r>
            <a:fld id="{F003ACD2-8060-4A13-8477-AD4171766E6A}" type="slidenum">
              <a:rPr lang="en-GB" sz="1000">
                <a:solidFill>
                  <a:srgbClr val="8795A1"/>
                </a:solidFill>
                <a:latin typeface="Segoe UI"/>
              </a:rPr>
              <a:t>21</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One problem, four strategies, one table. The search body is the one from Chapter 3; only the frontier changes. The lab also measures the cost of dropping the explored set.</a:t>
            </a:r>
          </a:p>
        </p:txBody>
      </p:sp>
      <p:sp>
        <p:nvSpPr>
          <p:cNvPr id="8" name="!!lfTHIS">
            <a:extLst>
              <a:ext uri="{C183D7F6-B498-43B3-948B-1728B52AA6E4}">
                <adec:decorative xmlns:adec="http://schemas.microsoft.com/office/drawing/2017/decorative" val="1"/>
              </a:ext>
            </a:extLst>
          </p:cNvPr>
          <p:cNvSpPr/>
          <p:nvPr/>
        </p:nvSpPr>
        <p:spPr>
          <a:xfrm>
            <a:off x="658368" y="268224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fbTHIS">
            <a:extLst>
              <a:ext uri="{C183D7F6-B498-43B3-948B-1728B52AA6E4}">
                <adec:decorative xmlns:adec="http://schemas.microsoft.com/office/drawing/2017/decorative" val="1"/>
              </a:ext>
            </a:extLst>
          </p:cNvPr>
          <p:cNvSpPr/>
          <p:nvPr/>
        </p:nvSpPr>
        <p:spPr>
          <a:xfrm>
            <a:off x="658368" y="268224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lflTHIS"/>
          <p:cNvSpPr txBox="1"/>
          <p:nvPr/>
        </p:nvSpPr>
        <p:spPr>
          <a:xfrm>
            <a:off x="932688" y="284683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11" name="!!lfvTHIS"/>
          <p:cNvSpPr txBox="1"/>
          <p:nvPr/>
        </p:nvSpPr>
        <p:spPr>
          <a:xfrm>
            <a:off x="932688" y="313944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3: Task ordering four ways</a:t>
            </a:r>
          </a:p>
        </p:txBody>
      </p:sp>
      <p:sp>
        <p:nvSpPr>
          <p:cNvPr id="12" name="!!lfWHAT">
            <a:extLst>
              <a:ext uri="{C183D7F6-B498-43B3-948B-1728B52AA6E4}">
                <adec:decorative xmlns:adec="http://schemas.microsoft.com/office/drawing/2017/decorative" val="1"/>
              </a:ext>
            </a:extLst>
          </p:cNvPr>
          <p:cNvSpPr/>
          <p:nvPr/>
        </p:nvSpPr>
        <p:spPr>
          <a:xfrm>
            <a:off x="4374794" y="268224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lfbWHAT">
            <a:extLst>
              <a:ext uri="{C183D7F6-B498-43B3-948B-1728B52AA6E4}">
                <adec:decorative xmlns:adec="http://schemas.microsoft.com/office/drawing/2017/decorative" val="1"/>
              </a:ext>
            </a:extLst>
          </p:cNvPr>
          <p:cNvSpPr/>
          <p:nvPr/>
        </p:nvSpPr>
        <p:spPr>
          <a:xfrm>
            <a:off x="4374794" y="268224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flWHAT"/>
          <p:cNvSpPr txBox="1"/>
          <p:nvPr/>
        </p:nvSpPr>
        <p:spPr>
          <a:xfrm>
            <a:off x="4649114" y="284683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15" name="!!lfvWHAT"/>
          <p:cNvSpPr txBox="1"/>
          <p:nvPr/>
        </p:nvSpPr>
        <p:spPr>
          <a:xfrm>
            <a:off x="4649114" y="313944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168 lines of Python</a:t>
            </a:r>
          </a:p>
        </p:txBody>
      </p:sp>
      <p:sp>
        <p:nvSpPr>
          <p:cNvPr id="16" name="!!lfRUNN">
            <a:extLst>
              <a:ext uri="{C183D7F6-B498-43B3-948B-1728B52AA6E4}">
                <adec:decorative xmlns:adec="http://schemas.microsoft.com/office/drawing/2017/decorative" val="1"/>
              </a:ext>
            </a:extLst>
          </p:cNvPr>
          <p:cNvSpPr/>
          <p:nvPr/>
        </p:nvSpPr>
        <p:spPr>
          <a:xfrm>
            <a:off x="8091220" y="268224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lfbRUNN">
            <a:extLst>
              <a:ext uri="{C183D7F6-B498-43B3-948B-1728B52AA6E4}">
                <adec:decorative xmlns:adec="http://schemas.microsoft.com/office/drawing/2017/decorative" val="1"/>
              </a:ext>
            </a:extLst>
          </p:cNvPr>
          <p:cNvSpPr/>
          <p:nvPr/>
        </p:nvSpPr>
        <p:spPr>
          <a:xfrm>
            <a:off x="8091220" y="268224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lflRUNN"/>
          <p:cNvSpPr txBox="1"/>
          <p:nvPr/>
        </p:nvSpPr>
        <p:spPr>
          <a:xfrm>
            <a:off x="8365540" y="284683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19" name="!!lfvRUNN"/>
          <p:cNvSpPr txBox="1"/>
          <p:nvPr/>
        </p:nvSpPr>
        <p:spPr>
          <a:xfrm>
            <a:off x="8365540" y="313944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code/ch04_task_ordering_four.py</a:t>
            </a:r>
          </a:p>
        </p:txBody>
      </p:sp>
      <p:sp>
        <p:nvSpPr>
          <p:cNvPr id="2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pfill">
            <a:extLst>
              <a:ext uri="{C183D7F6-B498-43B3-948B-1728B52AA6E4}">
                <adec:decorative xmlns:adec="http://schemas.microsoft.com/office/drawing/2017/decorative" val="1"/>
              </a:ext>
            </a:extLst>
          </p:cNvPr>
          <p:cNvSpPr/>
          <p:nvPr/>
        </p:nvSpPr>
        <p:spPr>
          <a:xfrm>
            <a:off x="0" y="0"/>
            <a:ext cx="556577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Task Ordering Four Ways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  ·  Problem Formulation and Uninformed Search</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§4.7  ·  Handout p. 37     </a:t>
            </a:r>
            <a:fld id="{67EA9505-C9CC-4C49-AB97-472FBC735D16}" type="slidenum">
              <a:rPr lang="en-GB" sz="1000">
                <a:solidFill>
                  <a:srgbClr val="8795A1"/>
                </a:solidFill>
                <a:latin typeface="Segoe UI"/>
              </a:rPr>
              <a:t>22</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3651504"/>
          </a:xfrm>
          <a:prstGeom prst="roundRect">
            <a:avLst>
              <a:gd name="adj" fmla="val 2504"/>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code/ch04_task_ordering_four.py</a:t>
            </a:r>
          </a:p>
        </p:txBody>
      </p:sp>
      <p:sp>
        <p:nvSpPr>
          <p:cNvPr id="13" name="!!code-text" descr="&quot;&quot;&quot;Chapter 4 lab -- uninformed search on the project graph. Breadth-first, depth-first, iterative deepening and uniform-cost over the same task-ordering problem. The search body never changes: the frontier decides the strategy, exactly as Chapter 3 claimed. &quot;&quot;&quot; import heapq import itertools from collections import deque, namedtuple"/>
          <p:cNvSpPr txBox="1"/>
          <p:nvPr/>
        </p:nvSpPr>
        <p:spPr>
          <a:xfrm>
            <a:off x="1362456" y="2066543"/>
            <a:ext cx="9987991" cy="3157728"/>
          </a:xfrm>
          <a:prstGeom prst="rect">
            <a:avLst/>
          </a:prstGeom>
          <a:noFill/>
        </p:spPr>
        <p:txBody>
          <a:bodyPr wrap="none" anchor="t" lIns="0" rIns="0" tIns="0" bIns="0">
            <a:noAutofit/>
          </a:bodyPr>
          <a:lstStyle/>
          <a:p>
            <a:pPr>
              <a:lnSpc>
                <a:spcPct val="100000"/>
              </a:lnSpc>
              <a:spcAft>
                <a:spcPts val="0"/>
              </a:spcAft>
            </a:pPr>
            <a:r>
              <a:rPr sz="2000" i="0">
                <a:solidFill>
                  <a:srgbClr val="7DCEA0"/>
                </a:solidFill>
                <a:latin typeface="Consolas"/>
              </a:rPr>
              <a:t>"""Chapter 4 lab -- uninformed search on the project graph.</a:t>
            </a:r>
          </a:p>
          <a:p>
            <a:pPr>
              <a:lnSpc>
                <a:spcPct val="100000"/>
              </a:lnSpc>
              <a:spcAft>
                <a:spcPts val="0"/>
              </a:spcAft>
            </a:pPr>
            <a:r>
              <a:rPr sz="2000">
                <a:latin typeface="Consolas"/>
              </a:rPr>
              <a:t> </a:t>
            </a:r>
          </a:p>
          <a:p>
            <a:pPr>
              <a:lnSpc>
                <a:spcPct val="100000"/>
              </a:lnSpc>
              <a:spcAft>
                <a:spcPts val="0"/>
              </a:spcAft>
            </a:pPr>
            <a:r>
              <a:rPr sz="2000" i="0">
                <a:solidFill>
                  <a:srgbClr val="7DCEA0"/>
                </a:solidFill>
                <a:latin typeface="Consolas"/>
              </a:rPr>
              <a:t>Breadth-first, depth-first, iterative deepening and uniform-cost over</a:t>
            </a:r>
          </a:p>
          <a:p>
            <a:pPr>
              <a:lnSpc>
                <a:spcPct val="100000"/>
              </a:lnSpc>
              <a:spcAft>
                <a:spcPts val="0"/>
              </a:spcAft>
            </a:pPr>
            <a:r>
              <a:rPr sz="2000" i="0">
                <a:solidFill>
                  <a:srgbClr val="7DCEA0"/>
                </a:solidFill>
                <a:latin typeface="Consolas"/>
              </a:rPr>
              <a:t>the same task-ordering problem. The search body never changes: the</a:t>
            </a:r>
          </a:p>
          <a:p>
            <a:pPr>
              <a:lnSpc>
                <a:spcPct val="100000"/>
              </a:lnSpc>
              <a:spcAft>
                <a:spcPts val="0"/>
              </a:spcAft>
            </a:pPr>
            <a:r>
              <a:rPr sz="2000" i="0">
                <a:solidFill>
                  <a:srgbClr val="7DCEA0"/>
                </a:solidFill>
                <a:latin typeface="Consolas"/>
              </a:rPr>
              <a:t>frontier decides the strategy, exactly as Chapter 3 claimed.</a:t>
            </a:r>
          </a:p>
          <a:p>
            <a:pPr>
              <a:lnSpc>
                <a:spcPct val="100000"/>
              </a:lnSpc>
              <a:spcAft>
                <a:spcPts val="0"/>
              </a:spcAft>
            </a:pPr>
            <a:r>
              <a:rPr sz="2000" i="0">
                <a:solidFill>
                  <a:srgbClr val="7DCEA0"/>
                </a:solidFill>
                <a:latin typeface="Consolas"/>
              </a:rPr>
              <a:t>"""</a:t>
            </a:r>
          </a:p>
          <a:p>
            <a:pPr>
              <a:lnSpc>
                <a:spcPct val="100000"/>
              </a:lnSpc>
              <a:spcAft>
                <a:spcPts val="0"/>
              </a:spcAft>
            </a:pPr>
            <a:r>
              <a:rPr sz="2000">
                <a:latin typeface="Consolas"/>
              </a:rPr>
              <a:t> </a:t>
            </a:r>
          </a:p>
          <a:p>
            <a:pPr>
              <a:lnSpc>
                <a:spcPct val="100000"/>
              </a:lnSpc>
              <a:spcAft>
                <a:spcPts val="0"/>
              </a:spcAft>
            </a:pPr>
            <a:r>
              <a:rPr sz="2000" i="0">
                <a:solidFill>
                  <a:srgbClr val="5DADE2"/>
                </a:solidFill>
                <a:latin typeface="Consolas"/>
              </a:rPr>
              <a:t>import</a:t>
            </a:r>
            <a:r>
              <a:rPr sz="2000" i="0">
                <a:solidFill>
                  <a:srgbClr val="E8EDF2"/>
                </a:solidFill>
                <a:latin typeface="Consolas"/>
              </a:rPr>
              <a:t> </a:t>
            </a:r>
            <a:r>
              <a:rPr sz="2000" i="0">
                <a:solidFill>
                  <a:srgbClr val="76D7C4"/>
                </a:solidFill>
                <a:latin typeface="Consolas"/>
              </a:rPr>
              <a:t>heapq</a:t>
            </a:r>
          </a:p>
          <a:p>
            <a:pPr>
              <a:lnSpc>
                <a:spcPct val="100000"/>
              </a:lnSpc>
              <a:spcAft>
                <a:spcPts val="0"/>
              </a:spcAft>
            </a:pPr>
            <a:r>
              <a:rPr sz="2000" i="0">
                <a:solidFill>
                  <a:srgbClr val="5DADE2"/>
                </a:solidFill>
                <a:latin typeface="Consolas"/>
              </a:rPr>
              <a:t>import</a:t>
            </a:r>
            <a:r>
              <a:rPr sz="2000" i="0">
                <a:solidFill>
                  <a:srgbClr val="E8EDF2"/>
                </a:solidFill>
                <a:latin typeface="Consolas"/>
              </a:rPr>
              <a:t> </a:t>
            </a:r>
            <a:r>
              <a:rPr sz="2000" i="0">
                <a:solidFill>
                  <a:srgbClr val="76D7C4"/>
                </a:solidFill>
                <a:latin typeface="Consolas"/>
              </a:rPr>
              <a:t>itertools</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collections</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deque</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namedtuple</a:t>
            </a:r>
          </a:p>
        </p:txBody>
      </p:sp>
      <p:sp>
        <p:nvSpPr>
          <p:cNvPr id="14" name="!!code-num"/>
          <p:cNvSpPr txBox="1"/>
          <p:nvPr/>
        </p:nvSpPr>
        <p:spPr>
          <a:xfrm>
            <a:off x="768096" y="2066543"/>
            <a:ext cx="393192" cy="31577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2</a:t>
            </a:r>
          </a:p>
          <a:p>
            <a:pPr algn="r">
              <a:lnSpc>
                <a:spcPct val="100000"/>
              </a:lnSpc>
            </a:pPr>
            <a:r>
              <a:rPr sz="2000">
                <a:solidFill>
                  <a:srgbClr val="4F5D6A"/>
                </a:solidFill>
                <a:latin typeface="Consolas"/>
              </a:rPr>
              <a:t>3</a:t>
            </a:r>
          </a:p>
          <a:p>
            <a:pPr algn="r">
              <a:lnSpc>
                <a:spcPct val="100000"/>
              </a:lnSpc>
            </a:pPr>
            <a:r>
              <a:rPr sz="2000">
                <a:solidFill>
                  <a:srgbClr val="4F5D6A"/>
                </a:solidFill>
                <a:latin typeface="Consolas"/>
              </a:rPr>
              <a:t>4</a:t>
            </a:r>
          </a:p>
          <a:p>
            <a:pPr algn="r">
              <a:lnSpc>
                <a:spcPct val="100000"/>
              </a:lnSpc>
            </a:pPr>
            <a:r>
              <a:rPr sz="2000">
                <a:solidFill>
                  <a:srgbClr val="4F5D6A"/>
                </a:solidFill>
                <a:latin typeface="Consolas"/>
              </a:rPr>
              <a:t>5</a:t>
            </a:r>
          </a:p>
          <a:p>
            <a:pPr algn="r">
              <a:lnSpc>
                <a:spcPct val="100000"/>
              </a:lnSpc>
            </a:pPr>
            <a:r>
              <a:rPr sz="2000">
                <a:solidFill>
                  <a:srgbClr val="4F5D6A"/>
                </a:solidFill>
                <a:latin typeface="Consolas"/>
              </a:rPr>
              <a:t>6</a:t>
            </a:r>
          </a:p>
          <a:p>
            <a:pPr algn="r">
              <a:lnSpc>
                <a:spcPct val="100000"/>
              </a:lnSpc>
            </a:pPr>
            <a:r>
              <a:rPr sz="2000">
                <a:solidFill>
                  <a:srgbClr val="4F5D6A"/>
                </a:solidFill>
                <a:latin typeface="Consolas"/>
              </a:rPr>
              <a:t>7</a:t>
            </a:r>
          </a:p>
          <a:p>
            <a:pPr algn="r">
              <a:lnSpc>
                <a:spcPct val="100000"/>
              </a:lnSpc>
            </a:pPr>
            <a:r>
              <a:rPr sz="2000">
                <a:solidFill>
                  <a:srgbClr val="4F5D6A"/>
                </a:solidFill>
                <a:latin typeface="Consolas"/>
              </a:rPr>
              <a:t>8</a:t>
            </a:r>
          </a:p>
          <a:p>
            <a:pPr algn="r">
              <a:lnSpc>
                <a:spcPct val="100000"/>
              </a:lnSpc>
            </a:pPr>
            <a:r>
              <a:rPr sz="2000">
                <a:solidFill>
                  <a:srgbClr val="4F5D6A"/>
                </a:solidFill>
                <a:latin typeface="Consolas"/>
              </a:rPr>
              <a:t>9</a:t>
            </a:r>
          </a:p>
          <a:p>
            <a:pPr algn="r">
              <a:lnSpc>
                <a:spcPct val="100000"/>
              </a:lnSpc>
            </a:pPr>
            <a:r>
              <a:rPr sz="2000">
                <a:solidFill>
                  <a:srgbClr val="4F5D6A"/>
                </a:solidFill>
                <a:latin typeface="Consolas"/>
              </a:rPr>
              <a:t>10</a:t>
            </a:r>
          </a:p>
          <a:p>
            <a:pPr algn="r">
              <a:lnSpc>
                <a:spcPct val="100000"/>
              </a:lnSpc>
            </a:pPr>
            <a:r>
              <a:rPr sz="2000">
                <a:solidFill>
                  <a:srgbClr val="4F5D6A"/>
                </a:solidFill>
                <a:latin typeface="Consolas"/>
              </a:rPr>
              <a:t>11</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583081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Task Ordering Four Ways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  ·  Problem Formulation and Uninformed Search</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§4.7  ·  Handout p. 37     </a:t>
            </a:r>
            <a:fld id="{82CDC1EB-641B-4485-B527-65047E8F8E1E}" type="slidenum">
              <a:rPr lang="en-GB" sz="1000">
                <a:solidFill>
                  <a:srgbClr val="8795A1"/>
                </a:solidFill>
                <a:latin typeface="Segoe UI"/>
              </a:rPr>
              <a:t>23</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565904"/>
          </a:xfrm>
          <a:prstGeom prst="roundRect">
            <a:avLst>
              <a:gd name="adj" fmla="val 200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code/ch04_task_ordering_four.py</a:t>
            </a:r>
          </a:p>
        </p:txBody>
      </p:sp>
      <p:sp>
        <p:nvSpPr>
          <p:cNvPr id="13" name="!!code-text" descr="# duration in days, and the tasks that must finish first TASKS = { &quot;spec&quot;: (3, set()), &quot;schema&quot;: (2, {&quot;spec&quot;}), &quot;api&quot;: (5, {&quot;schema&quot;}), &quot;ui&quot;: (4, {&quot;spec&quot;}), &quot;auth&quot;: (3, {&quot;schema&quot;}), &quot;tests&quot;: (4, {&quot;api&quot;, &quot;auth&quot;}), &quot;docs&quot;: (2, {&quot;api&quot;}), &quot;uat&quot;: (3, {&quot;tests&quot;, &quot;ui&quot;}), &quot;release&quot;: (1, {&quot;uat&quot;, &quot;docs&quot;}), } ALL = frozenset(TASKS) Node = namedtuple(&quot;Node&quot;, &quot;state parent action cost depth&quot;) def actions(state): for t, (_, deps) in TASKS.items(): if t not in state and deps &lt;= state: yield t"/>
          <p:cNvSpPr txBox="1"/>
          <p:nvPr/>
        </p:nvSpPr>
        <p:spPr>
          <a:xfrm>
            <a:off x="1362456" y="2066543"/>
            <a:ext cx="9987991" cy="4072128"/>
          </a:xfrm>
          <a:prstGeom prst="rect">
            <a:avLst/>
          </a:prstGeom>
          <a:noFill/>
        </p:spPr>
        <p:txBody>
          <a:bodyPr wrap="none" anchor="t" lIns="0" rIns="0" tIns="0" bIns="0">
            <a:noAutofit/>
          </a:bodyPr>
          <a:lstStyle/>
          <a:p>
            <a:pPr>
              <a:lnSpc>
                <a:spcPct val="100000"/>
              </a:lnSpc>
              <a:spcAft>
                <a:spcPts val="0"/>
              </a:spcAft>
            </a:pPr>
            <a:r>
              <a:rPr sz="1300" i="1">
                <a:solidFill>
                  <a:srgbClr val="8795A1"/>
                </a:solidFill>
                <a:latin typeface="Consolas"/>
              </a:rPr>
              <a:t># duration in days, and the tasks that must finish first</a:t>
            </a:r>
          </a:p>
          <a:p>
            <a:pPr>
              <a:lnSpc>
                <a:spcPct val="100000"/>
              </a:lnSpc>
              <a:spcAft>
                <a:spcPts val="0"/>
              </a:spcAft>
            </a:pPr>
            <a:r>
              <a:rPr sz="1300" i="0">
                <a:solidFill>
                  <a:srgbClr val="E8EDF2"/>
                </a:solidFill>
                <a:latin typeface="Consolas"/>
              </a:rPr>
              <a:t>TASKS</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spec</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F7DC6F"/>
                </a:solidFill>
                <a:latin typeface="Consolas"/>
              </a:rPr>
              <a:t>3</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set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schema</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F7DC6F"/>
                </a:solidFill>
                <a:latin typeface="Consolas"/>
              </a:rPr>
              <a:t>2</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spec</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api</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F7DC6F"/>
                </a:solidFill>
                <a:latin typeface="Consolas"/>
              </a:rPr>
              <a:t>5</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schema</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ui</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F7DC6F"/>
                </a:solidFill>
                <a:latin typeface="Consolas"/>
              </a:rPr>
              <a:t>4</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spec</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auth</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F7DC6F"/>
                </a:solidFill>
                <a:latin typeface="Consolas"/>
              </a:rPr>
              <a:t>3</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schema</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tests</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F7DC6F"/>
                </a:solidFill>
                <a:latin typeface="Consolas"/>
              </a:rPr>
              <a:t>4</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api</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auth</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docs</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F7DC6F"/>
                </a:solidFill>
                <a:latin typeface="Consolas"/>
              </a:rPr>
              <a:t>2</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api</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uat</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F7DC6F"/>
                </a:solidFill>
                <a:latin typeface="Consolas"/>
              </a:rPr>
              <a:t>3</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tests</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ui</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release</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F7DC6F"/>
                </a:solidFill>
                <a:latin typeface="Consolas"/>
              </a:rPr>
              <a:t>1</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uat</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docs</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AEB6BF"/>
                </a:solidFill>
                <a:latin typeface="Consolas"/>
              </a:rPr>
              <a:t>}</a:t>
            </a:r>
          </a:p>
          <a:p>
            <a:pPr>
              <a:lnSpc>
                <a:spcPct val="100000"/>
              </a:lnSpc>
              <a:spcAft>
                <a:spcPts val="0"/>
              </a:spcAft>
            </a:pPr>
            <a:r>
              <a:rPr sz="1300" i="0">
                <a:solidFill>
                  <a:srgbClr val="E8EDF2"/>
                </a:solidFill>
                <a:latin typeface="Consolas"/>
              </a:rPr>
              <a:t>ALL</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frozenset</a:t>
            </a:r>
            <a:r>
              <a:rPr sz="1300" i="0">
                <a:solidFill>
                  <a:srgbClr val="AEB6BF"/>
                </a:solidFill>
                <a:latin typeface="Consolas"/>
              </a:rPr>
              <a:t>(</a:t>
            </a:r>
            <a:r>
              <a:rPr sz="1300" i="0">
                <a:solidFill>
                  <a:srgbClr val="E8EDF2"/>
                </a:solidFill>
                <a:latin typeface="Consolas"/>
              </a:rPr>
              <a:t>TASKS</a:t>
            </a:r>
            <a:r>
              <a:rPr sz="1300" i="0">
                <a:solidFill>
                  <a:srgbClr val="AEB6BF"/>
                </a:solidFill>
                <a:latin typeface="Consolas"/>
              </a:rPr>
              <a:t>)</a:t>
            </a:r>
          </a:p>
          <a:p>
            <a:pPr>
              <a:lnSpc>
                <a:spcPct val="100000"/>
              </a:lnSpc>
              <a:spcAft>
                <a:spcPts val="0"/>
              </a:spcAft>
            </a:pPr>
            <a:r>
              <a:rPr sz="1300" i="0">
                <a:solidFill>
                  <a:srgbClr val="E8EDF2"/>
                </a:solidFill>
                <a:latin typeface="Consolas"/>
              </a:rPr>
              <a:t>Node</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namedtuple</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Node</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state parent action cost depth</a:t>
            </a:r>
            <a:r>
              <a:rPr sz="1300" i="0">
                <a:solidFill>
                  <a:srgbClr val="7DCEA0"/>
                </a:solidFill>
                <a:latin typeface="Consolas"/>
              </a:rPr>
              <a:t>"</a:t>
            </a:r>
            <a:r>
              <a:rPr sz="1300" i="0">
                <a:solidFill>
                  <a:srgbClr val="AEB6BF"/>
                </a:solidFill>
                <a:latin typeface="Consolas"/>
              </a:rPr>
              <a:t>)</a:t>
            </a:r>
          </a:p>
          <a:p>
            <a:pPr>
              <a:lnSpc>
                <a:spcPct val="100000"/>
              </a:lnSpc>
              <a:spcAft>
                <a:spcPts val="0"/>
              </a:spcAft>
            </a:pPr>
            <a:r>
              <a:rPr sz="1300">
                <a:latin typeface="Consolas"/>
              </a:rPr>
              <a:t> </a:t>
            </a:r>
          </a:p>
          <a:p>
            <a:pPr>
              <a:lnSpc>
                <a:spcPct val="100000"/>
              </a:lnSpc>
              <a:spcAft>
                <a:spcPts val="0"/>
              </a:spcAft>
            </a:pPr>
            <a:r>
              <a:rPr sz="1300">
                <a:latin typeface="Consolas"/>
              </a:rPr>
              <a:t> </a:t>
            </a:r>
          </a:p>
          <a:p>
            <a:pPr>
              <a:lnSpc>
                <a:spcPct val="100000"/>
              </a:lnSpc>
              <a:spcAft>
                <a:spcPts val="0"/>
              </a:spcAft>
            </a:pPr>
            <a:r>
              <a:rPr sz="1300" i="0">
                <a:solidFill>
                  <a:srgbClr val="5DADE2"/>
                </a:solidFill>
                <a:latin typeface="Consolas"/>
              </a:rPr>
              <a:t>def</a:t>
            </a:r>
            <a:r>
              <a:rPr sz="1300" i="0">
                <a:solidFill>
                  <a:srgbClr val="E8EDF2"/>
                </a:solidFill>
                <a:latin typeface="Consolas"/>
              </a:rPr>
              <a:t> </a:t>
            </a:r>
            <a:r>
              <a:rPr sz="1300" i="0">
                <a:solidFill>
                  <a:srgbClr val="C39BD3"/>
                </a:solidFill>
                <a:latin typeface="Consolas"/>
              </a:rPr>
              <a:t>actions</a:t>
            </a:r>
            <a:r>
              <a:rPr sz="1300" i="0">
                <a:solidFill>
                  <a:srgbClr val="AEB6BF"/>
                </a:solidFill>
                <a:latin typeface="Consolas"/>
              </a:rPr>
              <a:t>(</a:t>
            </a:r>
            <a:r>
              <a:rPr sz="1300" i="0">
                <a:solidFill>
                  <a:srgbClr val="E8EDF2"/>
                </a:solidFill>
                <a:latin typeface="Consolas"/>
              </a:rPr>
              <a:t>state</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_</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deps</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E8EDF2"/>
                </a:solidFill>
                <a:latin typeface="Consolas"/>
              </a:rPr>
              <a:t>TASKS</a:t>
            </a:r>
            <a:r>
              <a:rPr sz="1300" i="0">
                <a:solidFill>
                  <a:srgbClr val="AEB6BF"/>
                </a:solidFill>
                <a:latin typeface="Consolas"/>
              </a:rPr>
              <a:t>.</a:t>
            </a:r>
            <a:r>
              <a:rPr sz="1300" i="0">
                <a:solidFill>
                  <a:srgbClr val="E8EDF2"/>
                </a:solidFill>
                <a:latin typeface="Consolas"/>
              </a:rPr>
              <a:t>items</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if</a:t>
            </a:r>
            <a:r>
              <a:rPr sz="1300" i="0">
                <a:solidFill>
                  <a:srgbClr val="E8EDF2"/>
                </a:solidFill>
                <a:latin typeface="Consolas"/>
              </a:rPr>
              <a:t> </a:t>
            </a:r>
            <a:r>
              <a:rPr sz="1300" i="0">
                <a:solidFill>
                  <a:srgbClr val="E8EDF2"/>
                </a:solidFill>
                <a:latin typeface="Consolas"/>
              </a:rPr>
              <a:t>t</a:t>
            </a:r>
            <a:r>
              <a:rPr sz="1300" i="0">
                <a:solidFill>
                  <a:srgbClr val="E8EDF2"/>
                </a:solidFill>
                <a:latin typeface="Consolas"/>
              </a:rPr>
              <a:t> </a:t>
            </a:r>
            <a:r>
              <a:rPr sz="1300" i="0">
                <a:solidFill>
                  <a:srgbClr val="AEB6BF"/>
                </a:solidFill>
                <a:latin typeface="Consolas"/>
              </a:rPr>
              <a:t>not</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E8EDF2"/>
                </a:solidFill>
                <a:latin typeface="Consolas"/>
              </a:rPr>
              <a:t>state</a:t>
            </a:r>
            <a:r>
              <a:rPr sz="1300" i="0">
                <a:solidFill>
                  <a:srgbClr val="E8EDF2"/>
                </a:solidFill>
                <a:latin typeface="Consolas"/>
              </a:rPr>
              <a:t> </a:t>
            </a:r>
            <a:r>
              <a:rPr sz="1300" i="0">
                <a:solidFill>
                  <a:srgbClr val="AEB6BF"/>
                </a:solidFill>
                <a:latin typeface="Consolas"/>
              </a:rPr>
              <a:t>and</a:t>
            </a:r>
            <a:r>
              <a:rPr sz="1300" i="0">
                <a:solidFill>
                  <a:srgbClr val="E8EDF2"/>
                </a:solidFill>
                <a:latin typeface="Consolas"/>
              </a:rPr>
              <a:t> </a:t>
            </a:r>
            <a:r>
              <a:rPr sz="1300" i="0">
                <a:solidFill>
                  <a:srgbClr val="E8EDF2"/>
                </a:solidFill>
                <a:latin typeface="Consolas"/>
              </a:rPr>
              <a:t>deps</a:t>
            </a:r>
            <a:r>
              <a:rPr sz="1300" i="0">
                <a:solidFill>
                  <a:srgbClr val="E8EDF2"/>
                </a:solidFill>
                <a:latin typeface="Consolas"/>
              </a:rPr>
              <a:t> </a:t>
            </a:r>
            <a:r>
              <a:rPr sz="1300" i="0">
                <a:solidFill>
                  <a:srgbClr val="AEB6BF"/>
                </a:solidFill>
                <a:latin typeface="Consolas"/>
              </a:rPr>
              <a:t>&lt;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state</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yield</a:t>
            </a:r>
            <a:r>
              <a:rPr sz="1300" i="0">
                <a:solidFill>
                  <a:srgbClr val="E8EDF2"/>
                </a:solidFill>
                <a:latin typeface="Consolas"/>
              </a:rPr>
              <a:t> </a:t>
            </a:r>
            <a:r>
              <a:rPr sz="1300" i="0">
                <a:solidFill>
                  <a:srgbClr val="E8EDF2"/>
                </a:solidFill>
                <a:latin typeface="Consolas"/>
              </a:rPr>
              <a:t>t</a:t>
            </a:r>
          </a:p>
        </p:txBody>
      </p:sp>
      <p:sp>
        <p:nvSpPr>
          <p:cNvPr id="14" name="!!code-num"/>
          <p:cNvSpPr txBox="1"/>
          <p:nvPr/>
        </p:nvSpPr>
        <p:spPr>
          <a:xfrm>
            <a:off x="768096" y="2066543"/>
            <a:ext cx="393192" cy="4072128"/>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13</a:t>
            </a:r>
          </a:p>
          <a:p>
            <a:pPr algn="r">
              <a:lnSpc>
                <a:spcPct val="100000"/>
              </a:lnSpc>
            </a:pPr>
            <a:r>
              <a:rPr sz="1300">
                <a:solidFill>
                  <a:srgbClr val="4F5D6A"/>
                </a:solidFill>
                <a:latin typeface="Consolas"/>
              </a:rPr>
              <a:t>14</a:t>
            </a:r>
          </a:p>
          <a:p>
            <a:pPr algn="r">
              <a:lnSpc>
                <a:spcPct val="100000"/>
              </a:lnSpc>
            </a:pPr>
            <a:r>
              <a:rPr sz="1300">
                <a:solidFill>
                  <a:srgbClr val="4F5D6A"/>
                </a:solidFill>
                <a:latin typeface="Consolas"/>
              </a:rPr>
              <a:t>15</a:t>
            </a:r>
          </a:p>
          <a:p>
            <a:pPr algn="r">
              <a:lnSpc>
                <a:spcPct val="100000"/>
              </a:lnSpc>
            </a:pPr>
            <a:r>
              <a:rPr sz="1300">
                <a:solidFill>
                  <a:srgbClr val="4F5D6A"/>
                </a:solidFill>
                <a:latin typeface="Consolas"/>
              </a:rPr>
              <a:t>16</a:t>
            </a:r>
          </a:p>
          <a:p>
            <a:pPr algn="r">
              <a:lnSpc>
                <a:spcPct val="100000"/>
              </a:lnSpc>
            </a:pPr>
            <a:r>
              <a:rPr sz="1300">
                <a:solidFill>
                  <a:srgbClr val="4F5D6A"/>
                </a:solidFill>
                <a:latin typeface="Consolas"/>
              </a:rPr>
              <a:t>17</a:t>
            </a:r>
          </a:p>
          <a:p>
            <a:pPr algn="r">
              <a:lnSpc>
                <a:spcPct val="100000"/>
              </a:lnSpc>
            </a:pPr>
            <a:r>
              <a:rPr sz="1300">
                <a:solidFill>
                  <a:srgbClr val="4F5D6A"/>
                </a:solidFill>
                <a:latin typeface="Consolas"/>
              </a:rPr>
              <a:t>18</a:t>
            </a:r>
          </a:p>
          <a:p>
            <a:pPr algn="r">
              <a:lnSpc>
                <a:spcPct val="100000"/>
              </a:lnSpc>
            </a:pPr>
            <a:r>
              <a:rPr sz="1300">
                <a:solidFill>
                  <a:srgbClr val="4F5D6A"/>
                </a:solidFill>
                <a:latin typeface="Consolas"/>
              </a:rPr>
              <a:t>19</a:t>
            </a:r>
          </a:p>
          <a:p>
            <a:pPr algn="r">
              <a:lnSpc>
                <a:spcPct val="100000"/>
              </a:lnSpc>
            </a:pPr>
            <a:r>
              <a:rPr sz="1300">
                <a:solidFill>
                  <a:srgbClr val="4F5D6A"/>
                </a:solidFill>
                <a:latin typeface="Consolas"/>
              </a:rPr>
              <a:t>20</a:t>
            </a:r>
          </a:p>
          <a:p>
            <a:pPr algn="r">
              <a:lnSpc>
                <a:spcPct val="100000"/>
              </a:lnSpc>
            </a:pPr>
            <a:r>
              <a:rPr sz="1300">
                <a:solidFill>
                  <a:srgbClr val="4F5D6A"/>
                </a:solidFill>
                <a:latin typeface="Consolas"/>
              </a:rPr>
              <a:t>21</a:t>
            </a:r>
          </a:p>
          <a:p>
            <a:pPr algn="r">
              <a:lnSpc>
                <a:spcPct val="100000"/>
              </a:lnSpc>
            </a:pPr>
            <a:r>
              <a:rPr sz="1300">
                <a:solidFill>
                  <a:srgbClr val="4F5D6A"/>
                </a:solidFill>
                <a:latin typeface="Consolas"/>
              </a:rPr>
              <a:t>22</a:t>
            </a:r>
          </a:p>
          <a:p>
            <a:pPr algn="r">
              <a:lnSpc>
                <a:spcPct val="100000"/>
              </a:lnSpc>
            </a:pPr>
            <a:r>
              <a:rPr sz="1300">
                <a:solidFill>
                  <a:srgbClr val="4F5D6A"/>
                </a:solidFill>
                <a:latin typeface="Consolas"/>
              </a:rPr>
              <a:t>23</a:t>
            </a:r>
          </a:p>
          <a:p>
            <a:pPr algn="r">
              <a:lnSpc>
                <a:spcPct val="100000"/>
              </a:lnSpc>
            </a:pPr>
            <a:r>
              <a:rPr sz="1300">
                <a:solidFill>
                  <a:srgbClr val="4F5D6A"/>
                </a:solidFill>
                <a:latin typeface="Consolas"/>
              </a:rPr>
              <a:t>24</a:t>
            </a:r>
          </a:p>
          <a:p>
            <a:pPr algn="r">
              <a:lnSpc>
                <a:spcPct val="100000"/>
              </a:lnSpc>
            </a:pPr>
            <a:r>
              <a:rPr sz="1300">
                <a:solidFill>
                  <a:srgbClr val="4F5D6A"/>
                </a:solidFill>
                <a:latin typeface="Consolas"/>
              </a:rPr>
              <a:t>25</a:t>
            </a:r>
          </a:p>
          <a:p>
            <a:pPr algn="r">
              <a:lnSpc>
                <a:spcPct val="100000"/>
              </a:lnSpc>
            </a:pPr>
            <a:r>
              <a:rPr sz="1300">
                <a:solidFill>
                  <a:srgbClr val="4F5D6A"/>
                </a:solidFill>
                <a:latin typeface="Consolas"/>
              </a:rPr>
              <a:t>26</a:t>
            </a:r>
          </a:p>
          <a:p>
            <a:pPr algn="r">
              <a:lnSpc>
                <a:spcPct val="100000"/>
              </a:lnSpc>
            </a:pPr>
            <a:r>
              <a:rPr sz="1300">
                <a:solidFill>
                  <a:srgbClr val="4F5D6A"/>
                </a:solidFill>
                <a:latin typeface="Consolas"/>
              </a:rPr>
              <a:t>27</a:t>
            </a:r>
          </a:p>
          <a:p>
            <a:pPr algn="r">
              <a:lnSpc>
                <a:spcPct val="100000"/>
              </a:lnSpc>
            </a:pPr>
            <a:r>
              <a:rPr sz="1300">
                <a:solidFill>
                  <a:srgbClr val="4F5D6A"/>
                </a:solidFill>
                <a:latin typeface="Consolas"/>
              </a:rPr>
              <a:t>28</a:t>
            </a:r>
          </a:p>
          <a:p>
            <a:pPr algn="r">
              <a:lnSpc>
                <a:spcPct val="100000"/>
              </a:lnSpc>
            </a:pPr>
            <a:r>
              <a:rPr sz="1300">
                <a:solidFill>
                  <a:srgbClr val="4F5D6A"/>
                </a:solidFill>
                <a:latin typeface="Consolas"/>
              </a:rPr>
              <a:t>29</a:t>
            </a:r>
          </a:p>
          <a:p>
            <a:pPr algn="r">
              <a:lnSpc>
                <a:spcPct val="100000"/>
              </a:lnSpc>
            </a:pPr>
            <a:r>
              <a:rPr sz="1300">
                <a:solidFill>
                  <a:srgbClr val="4F5D6A"/>
                </a:solidFill>
                <a:latin typeface="Consolas"/>
              </a:rPr>
              <a:t>30</a:t>
            </a:r>
          </a:p>
          <a:p>
            <a:pPr algn="r">
              <a:lnSpc>
                <a:spcPct val="100000"/>
              </a:lnSpc>
            </a:pPr>
            <a:r>
              <a:rPr sz="1300">
                <a:solidFill>
                  <a:srgbClr val="4F5D6A"/>
                </a:solidFill>
                <a:latin typeface="Consolas"/>
              </a:rPr>
              <a:t>31</a:t>
            </a:r>
          </a:p>
          <a:p>
            <a:pPr algn="r">
              <a:lnSpc>
                <a:spcPct val="100000"/>
              </a:lnSpc>
            </a:pPr>
            <a:r>
              <a:rPr sz="1300">
                <a:solidFill>
                  <a:srgbClr val="4F5D6A"/>
                </a:solidFill>
                <a:latin typeface="Consolas"/>
              </a:rPr>
              <a:t>32</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Task Ordering Four Ways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  ·  Problem Formulation and Uninformed Search</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§4.7  ·  Handout p. 37     </a:t>
            </a:r>
            <a:fld id="{6BAD55BE-F7A2-4622-A55D-D5CCB30CA398}" type="slidenum">
              <a:rPr lang="en-GB" sz="1000">
                <a:solidFill>
                  <a:srgbClr val="8795A1"/>
                </a:solidFill>
                <a:latin typeface="Segoe UI"/>
              </a:rPr>
              <a:t>24</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657344"/>
          </a:xfrm>
          <a:prstGeom prst="roundRect">
            <a:avLst>
              <a:gd name="adj" fmla="val 196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code/ch04_task_ordering_four.py</a:t>
            </a:r>
          </a:p>
        </p:txBody>
      </p:sp>
      <p:sp>
        <p:nvSpPr>
          <p:cNvPr id="13" name="!!code-text" descr="def result(state, action): return state | {action} def cost_of(action): return TASKS[action][0] def path(node): out = [] while node.parent is not None: out.append(node.action) node = node.parent return list(reversed(out))"/>
          <p:cNvSpPr txBox="1"/>
          <p:nvPr/>
        </p:nvSpPr>
        <p:spPr>
          <a:xfrm>
            <a:off x="1362456" y="2066543"/>
            <a:ext cx="9987991" cy="4163568"/>
          </a:xfrm>
          <a:prstGeom prst="rect">
            <a:avLst/>
          </a:prstGeom>
          <a:noFill/>
        </p:spPr>
        <p:txBody>
          <a:bodyPr wrap="none" anchor="t" lIns="0" rIns="0" tIns="0" bIns="0">
            <a:noAutofit/>
          </a:bodyPr>
          <a:lstStyle/>
          <a:p>
            <a:pPr>
              <a:lnSpc>
                <a:spcPct val="100000"/>
              </a:lnSpc>
              <a:spcAft>
                <a:spcPts val="0"/>
              </a:spcAft>
            </a:pPr>
            <a:r>
              <a:rPr sz="1900" i="0">
                <a:solidFill>
                  <a:srgbClr val="5DADE2"/>
                </a:solidFill>
                <a:latin typeface="Consolas"/>
              </a:rPr>
              <a:t>def</a:t>
            </a:r>
            <a:r>
              <a:rPr sz="1900" i="0">
                <a:solidFill>
                  <a:srgbClr val="E8EDF2"/>
                </a:solidFill>
                <a:latin typeface="Consolas"/>
              </a:rPr>
              <a:t> </a:t>
            </a:r>
            <a:r>
              <a:rPr sz="1900" i="0">
                <a:solidFill>
                  <a:srgbClr val="C39BD3"/>
                </a:solidFill>
                <a:latin typeface="Consolas"/>
              </a:rPr>
              <a:t>result</a:t>
            </a:r>
            <a:r>
              <a:rPr sz="1900" i="0">
                <a:solidFill>
                  <a:srgbClr val="AEB6BF"/>
                </a:solidFill>
                <a:latin typeface="Consolas"/>
              </a:rPr>
              <a:t>(</a:t>
            </a:r>
            <a:r>
              <a:rPr sz="1900" i="0">
                <a:solidFill>
                  <a:srgbClr val="E8EDF2"/>
                </a:solidFill>
                <a:latin typeface="Consolas"/>
              </a:rPr>
              <a:t>state</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action</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return</a:t>
            </a:r>
            <a:r>
              <a:rPr sz="1900" i="0">
                <a:solidFill>
                  <a:srgbClr val="E8EDF2"/>
                </a:solidFill>
                <a:latin typeface="Consolas"/>
              </a:rPr>
              <a:t> </a:t>
            </a:r>
            <a:r>
              <a:rPr sz="1900" i="0">
                <a:solidFill>
                  <a:srgbClr val="E8EDF2"/>
                </a:solidFill>
                <a:latin typeface="Consolas"/>
              </a:rPr>
              <a:t>state</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action</a:t>
            </a:r>
            <a:r>
              <a:rPr sz="1900" i="0">
                <a:solidFill>
                  <a:srgbClr val="AEB6BF"/>
                </a:solidFill>
                <a:latin typeface="Consolas"/>
              </a:rPr>
              <a:t>}</a:t>
            </a:r>
          </a:p>
          <a:p>
            <a:pPr>
              <a:lnSpc>
                <a:spcPct val="100000"/>
              </a:lnSpc>
              <a:spcAft>
                <a:spcPts val="0"/>
              </a:spcAft>
            </a:pPr>
            <a:r>
              <a:rPr sz="1900">
                <a:latin typeface="Consolas"/>
              </a:rPr>
              <a:t> </a:t>
            </a:r>
          </a:p>
          <a:p>
            <a:pPr>
              <a:lnSpc>
                <a:spcPct val="100000"/>
              </a:lnSpc>
              <a:spcAft>
                <a:spcPts val="0"/>
              </a:spcAft>
            </a:pPr>
            <a:r>
              <a:rPr sz="1900">
                <a:latin typeface="Consolas"/>
              </a:rPr>
              <a:t> </a:t>
            </a:r>
          </a:p>
          <a:p>
            <a:pPr>
              <a:lnSpc>
                <a:spcPct val="100000"/>
              </a:lnSpc>
              <a:spcAft>
                <a:spcPts val="0"/>
              </a:spcAft>
            </a:pPr>
            <a:r>
              <a:rPr sz="1900" i="0">
                <a:solidFill>
                  <a:srgbClr val="5DADE2"/>
                </a:solidFill>
                <a:latin typeface="Consolas"/>
              </a:rPr>
              <a:t>def</a:t>
            </a:r>
            <a:r>
              <a:rPr sz="1900" i="0">
                <a:solidFill>
                  <a:srgbClr val="E8EDF2"/>
                </a:solidFill>
                <a:latin typeface="Consolas"/>
              </a:rPr>
              <a:t> </a:t>
            </a:r>
            <a:r>
              <a:rPr sz="1900" i="0">
                <a:solidFill>
                  <a:srgbClr val="C39BD3"/>
                </a:solidFill>
                <a:latin typeface="Consolas"/>
              </a:rPr>
              <a:t>cost_of</a:t>
            </a:r>
            <a:r>
              <a:rPr sz="1900" i="0">
                <a:solidFill>
                  <a:srgbClr val="AEB6BF"/>
                </a:solidFill>
                <a:latin typeface="Consolas"/>
              </a:rPr>
              <a:t>(</a:t>
            </a:r>
            <a:r>
              <a:rPr sz="1900" i="0">
                <a:solidFill>
                  <a:srgbClr val="E8EDF2"/>
                </a:solidFill>
                <a:latin typeface="Consolas"/>
              </a:rPr>
              <a:t>action</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return</a:t>
            </a:r>
            <a:r>
              <a:rPr sz="1900" i="0">
                <a:solidFill>
                  <a:srgbClr val="E8EDF2"/>
                </a:solidFill>
                <a:latin typeface="Consolas"/>
              </a:rPr>
              <a:t> </a:t>
            </a:r>
            <a:r>
              <a:rPr sz="1900" i="0">
                <a:solidFill>
                  <a:srgbClr val="E8EDF2"/>
                </a:solidFill>
                <a:latin typeface="Consolas"/>
              </a:rPr>
              <a:t>TASKS</a:t>
            </a:r>
            <a:r>
              <a:rPr sz="1900" i="0">
                <a:solidFill>
                  <a:srgbClr val="AEB6BF"/>
                </a:solidFill>
                <a:latin typeface="Consolas"/>
              </a:rPr>
              <a:t>[</a:t>
            </a:r>
            <a:r>
              <a:rPr sz="1900" i="0">
                <a:solidFill>
                  <a:srgbClr val="E8EDF2"/>
                </a:solidFill>
                <a:latin typeface="Consolas"/>
              </a:rPr>
              <a:t>action</a:t>
            </a:r>
            <a:r>
              <a:rPr sz="1900" i="0">
                <a:solidFill>
                  <a:srgbClr val="AEB6BF"/>
                </a:solidFill>
                <a:latin typeface="Consolas"/>
              </a:rPr>
              <a:t>]</a:t>
            </a:r>
            <a:r>
              <a:rPr sz="1900" i="0">
                <a:solidFill>
                  <a:srgbClr val="AEB6BF"/>
                </a:solidFill>
                <a:latin typeface="Consolas"/>
              </a:rPr>
              <a:t>[</a:t>
            </a:r>
            <a:r>
              <a:rPr sz="1900" i="0">
                <a:solidFill>
                  <a:srgbClr val="F7DC6F"/>
                </a:solidFill>
                <a:latin typeface="Consolas"/>
              </a:rPr>
              <a:t>0</a:t>
            </a:r>
            <a:r>
              <a:rPr sz="1900" i="0">
                <a:solidFill>
                  <a:srgbClr val="AEB6BF"/>
                </a:solidFill>
                <a:latin typeface="Consolas"/>
              </a:rPr>
              <a:t>]</a:t>
            </a:r>
          </a:p>
          <a:p>
            <a:pPr>
              <a:lnSpc>
                <a:spcPct val="100000"/>
              </a:lnSpc>
              <a:spcAft>
                <a:spcPts val="0"/>
              </a:spcAft>
            </a:pPr>
            <a:r>
              <a:rPr sz="1900">
                <a:latin typeface="Consolas"/>
              </a:rPr>
              <a:t> </a:t>
            </a:r>
          </a:p>
          <a:p>
            <a:pPr>
              <a:lnSpc>
                <a:spcPct val="100000"/>
              </a:lnSpc>
              <a:spcAft>
                <a:spcPts val="0"/>
              </a:spcAft>
            </a:pPr>
            <a:r>
              <a:rPr sz="1900">
                <a:latin typeface="Consolas"/>
              </a:rPr>
              <a:t> </a:t>
            </a:r>
          </a:p>
          <a:p>
            <a:pPr>
              <a:lnSpc>
                <a:spcPct val="100000"/>
              </a:lnSpc>
              <a:spcAft>
                <a:spcPts val="0"/>
              </a:spcAft>
            </a:pPr>
            <a:r>
              <a:rPr sz="1900" i="0">
                <a:solidFill>
                  <a:srgbClr val="5DADE2"/>
                </a:solidFill>
                <a:latin typeface="Consolas"/>
              </a:rPr>
              <a:t>def</a:t>
            </a:r>
            <a:r>
              <a:rPr sz="1900" i="0">
                <a:solidFill>
                  <a:srgbClr val="E8EDF2"/>
                </a:solidFill>
                <a:latin typeface="Consolas"/>
              </a:rPr>
              <a:t> </a:t>
            </a:r>
            <a:r>
              <a:rPr sz="1900" i="0">
                <a:solidFill>
                  <a:srgbClr val="C39BD3"/>
                </a:solidFill>
                <a:latin typeface="Consolas"/>
              </a:rPr>
              <a:t>path</a:t>
            </a:r>
            <a:r>
              <a:rPr sz="1900" i="0">
                <a:solidFill>
                  <a:srgbClr val="AEB6BF"/>
                </a:solidFill>
                <a:latin typeface="Consolas"/>
              </a:rPr>
              <a:t>(</a:t>
            </a:r>
            <a:r>
              <a:rPr sz="1900" i="0">
                <a:solidFill>
                  <a:srgbClr val="E8EDF2"/>
                </a:solidFill>
                <a:latin typeface="Consolas"/>
              </a:rPr>
              <a:t>node</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out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while</a:t>
            </a:r>
            <a:r>
              <a:rPr sz="1900" i="0">
                <a:solidFill>
                  <a:srgbClr val="E8EDF2"/>
                </a:solidFill>
                <a:latin typeface="Consolas"/>
              </a:rPr>
              <a:t> </a:t>
            </a:r>
            <a:r>
              <a:rPr sz="1900" i="0">
                <a:solidFill>
                  <a:srgbClr val="E8EDF2"/>
                </a:solidFill>
                <a:latin typeface="Consolas"/>
              </a:rPr>
              <a:t>node</a:t>
            </a:r>
            <a:r>
              <a:rPr sz="1900" i="0">
                <a:solidFill>
                  <a:srgbClr val="AEB6BF"/>
                </a:solidFill>
                <a:latin typeface="Consolas"/>
              </a:rPr>
              <a:t>.</a:t>
            </a:r>
            <a:r>
              <a:rPr sz="1900" i="0">
                <a:solidFill>
                  <a:srgbClr val="E8EDF2"/>
                </a:solidFill>
                <a:latin typeface="Consolas"/>
              </a:rPr>
              <a:t>parent</a:t>
            </a:r>
            <a:r>
              <a:rPr sz="1900" i="0">
                <a:solidFill>
                  <a:srgbClr val="E8EDF2"/>
                </a:solidFill>
                <a:latin typeface="Consolas"/>
              </a:rPr>
              <a:t> </a:t>
            </a:r>
            <a:r>
              <a:rPr sz="1900" i="0">
                <a:solidFill>
                  <a:srgbClr val="AEB6BF"/>
                </a:solidFill>
                <a:latin typeface="Consolas"/>
              </a:rPr>
              <a:t>is</a:t>
            </a:r>
            <a:r>
              <a:rPr sz="1900" i="0">
                <a:solidFill>
                  <a:srgbClr val="E8EDF2"/>
                </a:solidFill>
                <a:latin typeface="Consolas"/>
              </a:rPr>
              <a:t> </a:t>
            </a:r>
            <a:r>
              <a:rPr sz="1900" i="0">
                <a:solidFill>
                  <a:srgbClr val="AEB6BF"/>
                </a:solidFill>
                <a:latin typeface="Consolas"/>
              </a:rPr>
              <a:t>not</a:t>
            </a:r>
            <a:r>
              <a:rPr sz="1900" i="0">
                <a:solidFill>
                  <a:srgbClr val="E8EDF2"/>
                </a:solidFill>
                <a:latin typeface="Consolas"/>
              </a:rPr>
              <a:t> </a:t>
            </a:r>
            <a:r>
              <a:rPr sz="1900" i="0">
                <a:solidFill>
                  <a:srgbClr val="5DADE2"/>
                </a:solidFill>
                <a:latin typeface="Consolas"/>
              </a:rPr>
              <a:t>None</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out</a:t>
            </a:r>
            <a:r>
              <a:rPr sz="1900" i="0">
                <a:solidFill>
                  <a:srgbClr val="AEB6BF"/>
                </a:solidFill>
                <a:latin typeface="Consolas"/>
              </a:rPr>
              <a:t>.</a:t>
            </a:r>
            <a:r>
              <a:rPr sz="1900" i="0">
                <a:solidFill>
                  <a:srgbClr val="E8EDF2"/>
                </a:solidFill>
                <a:latin typeface="Consolas"/>
              </a:rPr>
              <a:t>append</a:t>
            </a:r>
            <a:r>
              <a:rPr sz="1900" i="0">
                <a:solidFill>
                  <a:srgbClr val="AEB6BF"/>
                </a:solidFill>
                <a:latin typeface="Consolas"/>
              </a:rPr>
              <a:t>(</a:t>
            </a:r>
            <a:r>
              <a:rPr sz="1900" i="0">
                <a:solidFill>
                  <a:srgbClr val="E8EDF2"/>
                </a:solidFill>
                <a:latin typeface="Consolas"/>
              </a:rPr>
              <a:t>node</a:t>
            </a:r>
            <a:r>
              <a:rPr sz="1900" i="0">
                <a:solidFill>
                  <a:srgbClr val="AEB6BF"/>
                </a:solidFill>
                <a:latin typeface="Consolas"/>
              </a:rPr>
              <a:t>.</a:t>
            </a:r>
            <a:r>
              <a:rPr sz="1900" i="0">
                <a:solidFill>
                  <a:srgbClr val="E8EDF2"/>
                </a:solidFill>
                <a:latin typeface="Consolas"/>
              </a:rPr>
              <a:t>action</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node</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node</a:t>
            </a:r>
            <a:r>
              <a:rPr sz="1900" i="0">
                <a:solidFill>
                  <a:srgbClr val="AEB6BF"/>
                </a:solidFill>
                <a:latin typeface="Consolas"/>
              </a:rPr>
              <a:t>.</a:t>
            </a:r>
            <a:r>
              <a:rPr sz="1900" i="0">
                <a:solidFill>
                  <a:srgbClr val="E8EDF2"/>
                </a:solidFill>
                <a:latin typeface="Consolas"/>
              </a:rPr>
              <a:t>parent</a:t>
            </a:r>
          </a:p>
          <a:p>
            <a:pPr>
              <a:lnSpc>
                <a:spcPct val="100000"/>
              </a:lnSpc>
              <a:spcAft>
                <a:spcPts val="0"/>
              </a:spcAft>
            </a:pPr>
            <a:r>
              <a:rPr sz="1900" i="0">
                <a:solidFill>
                  <a:srgbClr val="E8EDF2"/>
                </a:solidFill>
                <a:latin typeface="Consolas"/>
              </a:rPr>
              <a:t>    </a:t>
            </a:r>
            <a:r>
              <a:rPr sz="1900" i="0">
                <a:solidFill>
                  <a:srgbClr val="5DADE2"/>
                </a:solidFill>
                <a:latin typeface="Consolas"/>
              </a:rPr>
              <a:t>return</a:t>
            </a:r>
            <a:r>
              <a:rPr sz="1900" i="0">
                <a:solidFill>
                  <a:srgbClr val="E8EDF2"/>
                </a:solidFill>
                <a:latin typeface="Consolas"/>
              </a:rPr>
              <a:t> </a:t>
            </a:r>
            <a:r>
              <a:rPr sz="1900" i="0">
                <a:solidFill>
                  <a:srgbClr val="C39BD3"/>
                </a:solidFill>
                <a:latin typeface="Consolas"/>
              </a:rPr>
              <a:t>list</a:t>
            </a:r>
            <a:r>
              <a:rPr sz="1900" i="0">
                <a:solidFill>
                  <a:srgbClr val="AEB6BF"/>
                </a:solidFill>
                <a:latin typeface="Consolas"/>
              </a:rPr>
              <a:t>(</a:t>
            </a:r>
            <a:r>
              <a:rPr sz="1900" i="0">
                <a:solidFill>
                  <a:srgbClr val="C39BD3"/>
                </a:solidFill>
                <a:latin typeface="Consolas"/>
              </a:rPr>
              <a:t>reversed</a:t>
            </a:r>
            <a:r>
              <a:rPr sz="1900" i="0">
                <a:solidFill>
                  <a:srgbClr val="AEB6BF"/>
                </a:solidFill>
                <a:latin typeface="Consolas"/>
              </a:rPr>
              <a:t>(</a:t>
            </a:r>
            <a:r>
              <a:rPr sz="1900" i="0">
                <a:solidFill>
                  <a:srgbClr val="E8EDF2"/>
                </a:solidFill>
                <a:latin typeface="Consolas"/>
              </a:rPr>
              <a:t>out</a:t>
            </a:r>
            <a:r>
              <a:rPr sz="1900" i="0">
                <a:solidFill>
                  <a:srgbClr val="AEB6BF"/>
                </a:solidFill>
                <a:latin typeface="Consolas"/>
              </a:rPr>
              <a:t>)</a:t>
            </a:r>
            <a:r>
              <a:rPr sz="1900" i="0">
                <a:solidFill>
                  <a:srgbClr val="AEB6BF"/>
                </a:solidFill>
                <a:latin typeface="Consolas"/>
              </a:rPr>
              <a:t>)</a:t>
            </a:r>
          </a:p>
        </p:txBody>
      </p:sp>
      <p:sp>
        <p:nvSpPr>
          <p:cNvPr id="14" name="!!code-num"/>
          <p:cNvSpPr txBox="1"/>
          <p:nvPr/>
        </p:nvSpPr>
        <p:spPr>
          <a:xfrm>
            <a:off x="768096" y="2066543"/>
            <a:ext cx="393192" cy="416356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35</a:t>
            </a:r>
          </a:p>
          <a:p>
            <a:pPr algn="r">
              <a:lnSpc>
                <a:spcPct val="100000"/>
              </a:lnSpc>
            </a:pPr>
            <a:r>
              <a:rPr sz="1900">
                <a:solidFill>
                  <a:srgbClr val="4F5D6A"/>
                </a:solidFill>
                <a:latin typeface="Consolas"/>
              </a:rPr>
              <a:t>36</a:t>
            </a:r>
          </a:p>
          <a:p>
            <a:pPr algn="r">
              <a:lnSpc>
                <a:spcPct val="100000"/>
              </a:lnSpc>
            </a:pPr>
            <a:r>
              <a:rPr sz="1900">
                <a:solidFill>
                  <a:srgbClr val="4F5D6A"/>
                </a:solidFill>
                <a:latin typeface="Consolas"/>
              </a:rPr>
              <a:t>37</a:t>
            </a:r>
          </a:p>
          <a:p>
            <a:pPr algn="r">
              <a:lnSpc>
                <a:spcPct val="100000"/>
              </a:lnSpc>
            </a:pPr>
            <a:r>
              <a:rPr sz="1900">
                <a:solidFill>
                  <a:srgbClr val="4F5D6A"/>
                </a:solidFill>
                <a:latin typeface="Consolas"/>
              </a:rPr>
              <a:t>38</a:t>
            </a:r>
          </a:p>
          <a:p>
            <a:pPr algn="r">
              <a:lnSpc>
                <a:spcPct val="100000"/>
              </a:lnSpc>
            </a:pPr>
            <a:r>
              <a:rPr sz="1900">
                <a:solidFill>
                  <a:srgbClr val="4F5D6A"/>
                </a:solidFill>
                <a:latin typeface="Consolas"/>
              </a:rPr>
              <a:t>39</a:t>
            </a:r>
          </a:p>
          <a:p>
            <a:pPr algn="r">
              <a:lnSpc>
                <a:spcPct val="100000"/>
              </a:lnSpc>
            </a:pPr>
            <a:r>
              <a:rPr sz="1900">
                <a:solidFill>
                  <a:srgbClr val="4F5D6A"/>
                </a:solidFill>
                <a:latin typeface="Consolas"/>
              </a:rPr>
              <a:t>40</a:t>
            </a:r>
          </a:p>
          <a:p>
            <a:pPr algn="r">
              <a:lnSpc>
                <a:spcPct val="100000"/>
              </a:lnSpc>
            </a:pPr>
            <a:r>
              <a:rPr sz="1900">
                <a:solidFill>
                  <a:srgbClr val="4F5D6A"/>
                </a:solidFill>
                <a:latin typeface="Consolas"/>
              </a:rPr>
              <a:t>41</a:t>
            </a:r>
          </a:p>
          <a:p>
            <a:pPr algn="r">
              <a:lnSpc>
                <a:spcPct val="100000"/>
              </a:lnSpc>
            </a:pPr>
            <a:r>
              <a:rPr sz="1900">
                <a:solidFill>
                  <a:srgbClr val="4F5D6A"/>
                </a:solidFill>
                <a:latin typeface="Consolas"/>
              </a:rPr>
              <a:t>42</a:t>
            </a:r>
          </a:p>
          <a:p>
            <a:pPr algn="r">
              <a:lnSpc>
                <a:spcPct val="100000"/>
              </a:lnSpc>
            </a:pPr>
            <a:r>
              <a:rPr sz="1900">
                <a:solidFill>
                  <a:srgbClr val="4F5D6A"/>
                </a:solidFill>
                <a:latin typeface="Consolas"/>
              </a:rPr>
              <a:t>43</a:t>
            </a:r>
          </a:p>
          <a:p>
            <a:pPr algn="r">
              <a:lnSpc>
                <a:spcPct val="100000"/>
              </a:lnSpc>
            </a:pPr>
            <a:r>
              <a:rPr sz="1900">
                <a:solidFill>
                  <a:srgbClr val="4F5D6A"/>
                </a:solidFill>
                <a:latin typeface="Consolas"/>
              </a:rPr>
              <a:t>44</a:t>
            </a:r>
          </a:p>
          <a:p>
            <a:pPr algn="r">
              <a:lnSpc>
                <a:spcPct val="100000"/>
              </a:lnSpc>
            </a:pPr>
            <a:r>
              <a:rPr sz="1900">
                <a:solidFill>
                  <a:srgbClr val="4F5D6A"/>
                </a:solidFill>
                <a:latin typeface="Consolas"/>
              </a:rPr>
              <a:t>45</a:t>
            </a:r>
          </a:p>
          <a:p>
            <a:pPr algn="r">
              <a:lnSpc>
                <a:spcPct val="100000"/>
              </a:lnSpc>
            </a:pPr>
            <a:r>
              <a:rPr sz="1900">
                <a:solidFill>
                  <a:srgbClr val="4F5D6A"/>
                </a:solidFill>
                <a:latin typeface="Consolas"/>
              </a:rPr>
              <a:t>46</a:t>
            </a:r>
          </a:p>
          <a:p>
            <a:pPr algn="r">
              <a:lnSpc>
                <a:spcPct val="100000"/>
              </a:lnSpc>
            </a:pPr>
            <a:r>
              <a:rPr sz="1900">
                <a:solidFill>
                  <a:srgbClr val="4F5D6A"/>
                </a:solidFill>
                <a:latin typeface="Consolas"/>
              </a:rPr>
              <a:t>47</a:t>
            </a:r>
          </a:p>
          <a:p>
            <a:pPr algn="r">
              <a:lnSpc>
                <a:spcPct val="100000"/>
              </a:lnSpc>
            </a:pPr>
            <a:r>
              <a:rPr sz="1900">
                <a:solidFill>
                  <a:srgbClr val="4F5D6A"/>
                </a:solidFill>
                <a:latin typeface="Consolas"/>
              </a:rPr>
              <a:t>48</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636088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Task Ordering Four Ways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  ·  Problem Formulation and Uninformed Search</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§4.7  ·  Handout p. 37     </a:t>
            </a:r>
            <a:fld id="{A90D863F-6BCE-481C-9435-E2AEAF1B968E}" type="slidenum">
              <a:rPr lang="en-GB" sz="1000">
                <a:solidFill>
                  <a:srgbClr val="8795A1"/>
                </a:solidFill>
                <a:latin typeface="Segoe UI"/>
              </a:rPr>
              <a:t>25</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489704"/>
          </a:xfrm>
          <a:prstGeom prst="roundRect">
            <a:avLst>
              <a:gd name="adj" fmla="val 203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code/ch04_task_ordering_four.py</a:t>
            </a:r>
          </a:p>
        </p:txBody>
      </p:sp>
      <p:sp>
        <p:nvSpPr>
          <p:cNvPr id="13" name="!!code-text" descr="def graph_search(pop_which, explored=True): &quot;&quot;&quot;One body. pop_which selects the strategy. 'fifo' -&gt; breadth-first 'lifo' -&gt; depth-first 'cheap' -&gt; uniform-cost &quot;&quot;&quot; start = Node(frozenset(), None, None, 0, 0) tie = itertools.count() if pop_which == &quot;cheap&quot;: frontier = [(0, next(tie), start)] else: frontier = deque([start]) seen = {start.state} if explored else None expanded = 0 peak = 1"/>
          <p:cNvSpPr txBox="1"/>
          <p:nvPr/>
        </p:nvSpPr>
        <p:spPr>
          <a:xfrm>
            <a:off x="1362456" y="2066543"/>
            <a:ext cx="9987991" cy="3995928"/>
          </a:xfrm>
          <a:prstGeom prst="rect">
            <a:avLst/>
          </a:prstGeom>
          <a:noFill/>
        </p:spPr>
        <p:txBody>
          <a:bodyPr wrap="none" anchor="t" lIns="0" rIns="0" tIns="0" bIns="0">
            <a:noAutofit/>
          </a:bodyPr>
          <a:lstStyle/>
          <a:p>
            <a:pPr>
              <a:lnSpc>
                <a:spcPct val="100000"/>
              </a:lnSpc>
              <a:spcAft>
                <a:spcPts val="0"/>
              </a:spcAft>
            </a:pPr>
            <a:r>
              <a:rPr sz="1700" i="0">
                <a:solidFill>
                  <a:srgbClr val="5DADE2"/>
                </a:solidFill>
                <a:latin typeface="Consolas"/>
              </a:rPr>
              <a:t>def</a:t>
            </a:r>
            <a:r>
              <a:rPr sz="1700" i="0">
                <a:solidFill>
                  <a:srgbClr val="E8EDF2"/>
                </a:solidFill>
                <a:latin typeface="Consolas"/>
              </a:rPr>
              <a:t> </a:t>
            </a:r>
            <a:r>
              <a:rPr sz="1700" i="0">
                <a:solidFill>
                  <a:srgbClr val="C39BD3"/>
                </a:solidFill>
                <a:latin typeface="Consolas"/>
              </a:rPr>
              <a:t>graph_search</a:t>
            </a:r>
            <a:r>
              <a:rPr sz="1700" i="0">
                <a:solidFill>
                  <a:srgbClr val="AEB6BF"/>
                </a:solidFill>
                <a:latin typeface="Consolas"/>
              </a:rPr>
              <a:t>(</a:t>
            </a:r>
            <a:r>
              <a:rPr sz="1700" i="0">
                <a:solidFill>
                  <a:srgbClr val="E8EDF2"/>
                </a:solidFill>
                <a:latin typeface="Consolas"/>
              </a:rPr>
              <a:t>pop_which</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explored</a:t>
            </a:r>
            <a:r>
              <a:rPr sz="1700" i="0">
                <a:solidFill>
                  <a:srgbClr val="AEB6BF"/>
                </a:solidFill>
                <a:latin typeface="Consolas"/>
              </a:rPr>
              <a:t>=</a:t>
            </a:r>
            <a:r>
              <a:rPr sz="1700" i="0">
                <a:solidFill>
                  <a:srgbClr val="5DADE2"/>
                </a:solidFill>
                <a:latin typeface="Consolas"/>
              </a:rPr>
              <a:t>True</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7DCEA0"/>
                </a:solidFill>
                <a:latin typeface="Consolas"/>
              </a:rPr>
              <a:t>"""One body. pop_which selects the strategy.</a:t>
            </a:r>
          </a:p>
          <a:p>
            <a:pPr>
              <a:lnSpc>
                <a:spcPct val="100000"/>
              </a:lnSpc>
              <a:spcAft>
                <a:spcPts val="0"/>
              </a:spcAft>
            </a:pPr>
            <a:r>
              <a:rPr sz="1700">
                <a:latin typeface="Consolas"/>
              </a:rPr>
              <a:t> </a:t>
            </a:r>
          </a:p>
          <a:p>
            <a:pPr>
              <a:lnSpc>
                <a:spcPct val="100000"/>
              </a:lnSpc>
              <a:spcAft>
                <a:spcPts val="0"/>
              </a:spcAft>
            </a:pPr>
            <a:r>
              <a:rPr sz="1700" i="0">
                <a:solidFill>
                  <a:srgbClr val="7DCEA0"/>
                </a:solidFill>
                <a:latin typeface="Consolas"/>
              </a:rPr>
              <a:t>    'fifo'  -&gt; breadth-first      'lifo' -&gt; depth-first</a:t>
            </a:r>
          </a:p>
          <a:p>
            <a:pPr>
              <a:lnSpc>
                <a:spcPct val="100000"/>
              </a:lnSpc>
              <a:spcAft>
                <a:spcPts val="0"/>
              </a:spcAft>
            </a:pPr>
            <a:r>
              <a:rPr sz="1700" i="0">
                <a:solidFill>
                  <a:srgbClr val="7DCEA0"/>
                </a:solidFill>
                <a:latin typeface="Consolas"/>
              </a:rPr>
              <a:t>    'cheap' -&gt; uniform-cost</a:t>
            </a:r>
          </a:p>
          <a:p>
            <a:pPr>
              <a:lnSpc>
                <a:spcPct val="100000"/>
              </a:lnSpc>
              <a:spcAft>
                <a:spcPts val="0"/>
              </a:spcAft>
            </a:pPr>
            <a:r>
              <a:rPr sz="1700" i="0">
                <a:solidFill>
                  <a:srgbClr val="7DCEA0"/>
                </a:solidFill>
                <a:latin typeface="Consolas"/>
              </a:rPr>
              <a:t>    """</a:t>
            </a:r>
          </a:p>
          <a:p>
            <a:pPr>
              <a:lnSpc>
                <a:spcPct val="100000"/>
              </a:lnSpc>
              <a:spcAft>
                <a:spcPts val="0"/>
              </a:spcAft>
            </a:pPr>
            <a:r>
              <a:rPr sz="1700" i="0">
                <a:solidFill>
                  <a:srgbClr val="E8EDF2"/>
                </a:solidFill>
                <a:latin typeface="Consolas"/>
              </a:rPr>
              <a:t>    </a:t>
            </a:r>
            <a:r>
              <a:rPr sz="1700" i="0">
                <a:solidFill>
                  <a:srgbClr val="E8EDF2"/>
                </a:solidFill>
                <a:latin typeface="Consolas"/>
              </a:rPr>
              <a:t>start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Node</a:t>
            </a:r>
            <a:r>
              <a:rPr sz="1700" i="0">
                <a:solidFill>
                  <a:srgbClr val="AEB6BF"/>
                </a:solidFill>
                <a:latin typeface="Consolas"/>
              </a:rPr>
              <a:t>(</a:t>
            </a:r>
            <a:r>
              <a:rPr sz="1700" i="0">
                <a:solidFill>
                  <a:srgbClr val="C39BD3"/>
                </a:solidFill>
                <a:latin typeface="Consolas"/>
              </a:rPr>
              <a:t>frozenset</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5DADE2"/>
                </a:solidFill>
                <a:latin typeface="Consolas"/>
              </a:rPr>
              <a:t>None</a:t>
            </a:r>
            <a:r>
              <a:rPr sz="1700" i="0">
                <a:solidFill>
                  <a:srgbClr val="AEB6BF"/>
                </a:solidFill>
                <a:latin typeface="Consolas"/>
              </a:rPr>
              <a:t>,</a:t>
            </a:r>
            <a:r>
              <a:rPr sz="1700" i="0">
                <a:solidFill>
                  <a:srgbClr val="E8EDF2"/>
                </a:solidFill>
                <a:latin typeface="Consolas"/>
              </a:rPr>
              <a:t> </a:t>
            </a:r>
            <a:r>
              <a:rPr sz="1700" i="0">
                <a:solidFill>
                  <a:srgbClr val="5DADE2"/>
                </a:solidFill>
                <a:latin typeface="Consolas"/>
              </a:rPr>
              <a:t>None</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0</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0</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tie</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itertools</a:t>
            </a:r>
            <a:r>
              <a:rPr sz="1700" i="0">
                <a:solidFill>
                  <a:srgbClr val="AEB6BF"/>
                </a:solidFill>
                <a:latin typeface="Consolas"/>
              </a:rPr>
              <a:t>.</a:t>
            </a:r>
            <a:r>
              <a:rPr sz="1700" i="0">
                <a:solidFill>
                  <a:srgbClr val="E8EDF2"/>
                </a:solidFill>
                <a:latin typeface="Consolas"/>
              </a:rPr>
              <a:t>count</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5DADE2"/>
                </a:solidFill>
                <a:latin typeface="Consolas"/>
              </a:rPr>
              <a:t>if</a:t>
            </a:r>
            <a:r>
              <a:rPr sz="1700" i="0">
                <a:solidFill>
                  <a:srgbClr val="E8EDF2"/>
                </a:solidFill>
                <a:latin typeface="Consolas"/>
              </a:rPr>
              <a:t> </a:t>
            </a:r>
            <a:r>
              <a:rPr sz="1700" i="0">
                <a:solidFill>
                  <a:srgbClr val="E8EDF2"/>
                </a:solidFill>
                <a:latin typeface="Consolas"/>
              </a:rPr>
              <a:t>pop_which</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7DCEA0"/>
                </a:solidFill>
                <a:latin typeface="Consolas"/>
              </a:rPr>
              <a:t>"</a:t>
            </a:r>
            <a:r>
              <a:rPr sz="1700" i="0">
                <a:solidFill>
                  <a:srgbClr val="7DCEA0"/>
                </a:solidFill>
                <a:latin typeface="Consolas"/>
              </a:rPr>
              <a:t>cheap</a:t>
            </a:r>
            <a:r>
              <a:rPr sz="1700" i="0">
                <a:solidFill>
                  <a:srgbClr val="7DCEA0"/>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frontier</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AEB6BF"/>
                </a:solidFill>
                <a:latin typeface="Consolas"/>
              </a:rPr>
              <a:t>(</a:t>
            </a:r>
            <a:r>
              <a:rPr sz="1700" i="0">
                <a:solidFill>
                  <a:srgbClr val="F7DC6F"/>
                </a:solidFill>
                <a:latin typeface="Consolas"/>
              </a:rPr>
              <a:t>0</a:t>
            </a:r>
            <a:r>
              <a:rPr sz="1700" i="0">
                <a:solidFill>
                  <a:srgbClr val="AEB6BF"/>
                </a:solidFill>
                <a:latin typeface="Consolas"/>
              </a:rPr>
              <a:t>,</a:t>
            </a:r>
            <a:r>
              <a:rPr sz="1700" i="0">
                <a:solidFill>
                  <a:srgbClr val="E8EDF2"/>
                </a:solidFill>
                <a:latin typeface="Consolas"/>
              </a:rPr>
              <a:t> </a:t>
            </a:r>
            <a:r>
              <a:rPr sz="1700" i="0">
                <a:solidFill>
                  <a:srgbClr val="C39BD3"/>
                </a:solidFill>
                <a:latin typeface="Consolas"/>
              </a:rPr>
              <a:t>next</a:t>
            </a:r>
            <a:r>
              <a:rPr sz="1700" i="0">
                <a:solidFill>
                  <a:srgbClr val="AEB6BF"/>
                </a:solidFill>
                <a:latin typeface="Consolas"/>
              </a:rPr>
              <a:t>(</a:t>
            </a:r>
            <a:r>
              <a:rPr sz="1700" i="0">
                <a:solidFill>
                  <a:srgbClr val="E8EDF2"/>
                </a:solidFill>
                <a:latin typeface="Consolas"/>
              </a:rPr>
              <a:t>tie</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start</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5DADE2"/>
                </a:solidFill>
                <a:latin typeface="Consolas"/>
              </a:rPr>
              <a:t>else</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frontier</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deque</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start</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seen</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start</a:t>
            </a:r>
            <a:r>
              <a:rPr sz="1700" i="0">
                <a:solidFill>
                  <a:srgbClr val="AEB6BF"/>
                </a:solidFill>
                <a:latin typeface="Consolas"/>
              </a:rPr>
              <a:t>.</a:t>
            </a:r>
            <a:r>
              <a:rPr sz="1700" i="0">
                <a:solidFill>
                  <a:srgbClr val="E8EDF2"/>
                </a:solidFill>
                <a:latin typeface="Consolas"/>
              </a:rPr>
              <a:t>state</a:t>
            </a:r>
            <a:r>
              <a:rPr sz="1700" i="0">
                <a:solidFill>
                  <a:srgbClr val="AEB6BF"/>
                </a:solidFill>
                <a:latin typeface="Consolas"/>
              </a:rPr>
              <a:t>}</a:t>
            </a:r>
            <a:r>
              <a:rPr sz="1700" i="0">
                <a:solidFill>
                  <a:srgbClr val="E8EDF2"/>
                </a:solidFill>
                <a:latin typeface="Consolas"/>
              </a:rPr>
              <a:t> </a:t>
            </a:r>
            <a:r>
              <a:rPr sz="1700" i="0">
                <a:solidFill>
                  <a:srgbClr val="5DADE2"/>
                </a:solidFill>
                <a:latin typeface="Consolas"/>
              </a:rPr>
              <a:t>if</a:t>
            </a:r>
            <a:r>
              <a:rPr sz="1700" i="0">
                <a:solidFill>
                  <a:srgbClr val="E8EDF2"/>
                </a:solidFill>
                <a:latin typeface="Consolas"/>
              </a:rPr>
              <a:t> </a:t>
            </a:r>
            <a:r>
              <a:rPr sz="1700" i="0">
                <a:solidFill>
                  <a:srgbClr val="E8EDF2"/>
                </a:solidFill>
                <a:latin typeface="Consolas"/>
              </a:rPr>
              <a:t>explored</a:t>
            </a:r>
            <a:r>
              <a:rPr sz="1700" i="0">
                <a:solidFill>
                  <a:srgbClr val="E8EDF2"/>
                </a:solidFill>
                <a:latin typeface="Consolas"/>
              </a:rPr>
              <a:t> </a:t>
            </a:r>
            <a:r>
              <a:rPr sz="1700" i="0">
                <a:solidFill>
                  <a:srgbClr val="5DADE2"/>
                </a:solidFill>
                <a:latin typeface="Consolas"/>
              </a:rPr>
              <a:t>else</a:t>
            </a:r>
            <a:r>
              <a:rPr sz="1700" i="0">
                <a:solidFill>
                  <a:srgbClr val="E8EDF2"/>
                </a:solidFill>
                <a:latin typeface="Consolas"/>
              </a:rPr>
              <a:t> </a:t>
            </a:r>
            <a:r>
              <a:rPr sz="1700" i="0">
                <a:solidFill>
                  <a:srgbClr val="5DADE2"/>
                </a:solidFill>
                <a:latin typeface="Consolas"/>
              </a:rPr>
              <a:t>None</a:t>
            </a:r>
          </a:p>
          <a:p>
            <a:pPr>
              <a:lnSpc>
                <a:spcPct val="100000"/>
              </a:lnSpc>
              <a:spcAft>
                <a:spcPts val="0"/>
              </a:spcAft>
            </a:pPr>
            <a:r>
              <a:rPr sz="1700" i="0">
                <a:solidFill>
                  <a:srgbClr val="E8EDF2"/>
                </a:solidFill>
                <a:latin typeface="Consolas"/>
              </a:rPr>
              <a:t>    </a:t>
            </a:r>
            <a:r>
              <a:rPr sz="1700" i="0">
                <a:solidFill>
                  <a:srgbClr val="E8EDF2"/>
                </a:solidFill>
                <a:latin typeface="Consolas"/>
              </a:rPr>
              <a:t>expanded</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0</a:t>
            </a:r>
          </a:p>
          <a:p>
            <a:pPr>
              <a:lnSpc>
                <a:spcPct val="100000"/>
              </a:lnSpc>
              <a:spcAft>
                <a:spcPts val="0"/>
              </a:spcAft>
            </a:pPr>
            <a:r>
              <a:rPr sz="1700" i="0">
                <a:solidFill>
                  <a:srgbClr val="E8EDF2"/>
                </a:solidFill>
                <a:latin typeface="Consolas"/>
              </a:rPr>
              <a:t>    </a:t>
            </a:r>
            <a:r>
              <a:rPr sz="1700" i="0">
                <a:solidFill>
                  <a:srgbClr val="E8EDF2"/>
                </a:solidFill>
                <a:latin typeface="Consolas"/>
              </a:rPr>
              <a:t>peak</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1</a:t>
            </a:r>
          </a:p>
        </p:txBody>
      </p:sp>
      <p:sp>
        <p:nvSpPr>
          <p:cNvPr id="14" name="!!code-num"/>
          <p:cNvSpPr txBox="1"/>
          <p:nvPr/>
        </p:nvSpPr>
        <p:spPr>
          <a:xfrm>
            <a:off x="768096" y="2066543"/>
            <a:ext cx="393192" cy="3995928"/>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51</a:t>
            </a:r>
          </a:p>
          <a:p>
            <a:pPr algn="r">
              <a:lnSpc>
                <a:spcPct val="100000"/>
              </a:lnSpc>
            </a:pPr>
            <a:r>
              <a:rPr sz="1700">
                <a:solidFill>
                  <a:srgbClr val="4F5D6A"/>
                </a:solidFill>
                <a:latin typeface="Consolas"/>
              </a:rPr>
              <a:t>52</a:t>
            </a:r>
          </a:p>
          <a:p>
            <a:pPr algn="r">
              <a:lnSpc>
                <a:spcPct val="100000"/>
              </a:lnSpc>
            </a:pPr>
            <a:r>
              <a:rPr sz="1700">
                <a:solidFill>
                  <a:srgbClr val="4F5D6A"/>
                </a:solidFill>
                <a:latin typeface="Consolas"/>
              </a:rPr>
              <a:t>53</a:t>
            </a:r>
          </a:p>
          <a:p>
            <a:pPr algn="r">
              <a:lnSpc>
                <a:spcPct val="100000"/>
              </a:lnSpc>
            </a:pPr>
            <a:r>
              <a:rPr sz="1700">
                <a:solidFill>
                  <a:srgbClr val="4F5D6A"/>
                </a:solidFill>
                <a:latin typeface="Consolas"/>
              </a:rPr>
              <a:t>54</a:t>
            </a:r>
          </a:p>
          <a:p>
            <a:pPr algn="r">
              <a:lnSpc>
                <a:spcPct val="100000"/>
              </a:lnSpc>
            </a:pPr>
            <a:r>
              <a:rPr sz="1700">
                <a:solidFill>
                  <a:srgbClr val="4F5D6A"/>
                </a:solidFill>
                <a:latin typeface="Consolas"/>
              </a:rPr>
              <a:t>55</a:t>
            </a:r>
          </a:p>
          <a:p>
            <a:pPr algn="r">
              <a:lnSpc>
                <a:spcPct val="100000"/>
              </a:lnSpc>
            </a:pPr>
            <a:r>
              <a:rPr sz="1700">
                <a:solidFill>
                  <a:srgbClr val="4F5D6A"/>
                </a:solidFill>
                <a:latin typeface="Consolas"/>
              </a:rPr>
              <a:t>56</a:t>
            </a:r>
          </a:p>
          <a:p>
            <a:pPr algn="r">
              <a:lnSpc>
                <a:spcPct val="100000"/>
              </a:lnSpc>
            </a:pPr>
            <a:r>
              <a:rPr sz="1700">
                <a:solidFill>
                  <a:srgbClr val="4F5D6A"/>
                </a:solidFill>
                <a:latin typeface="Consolas"/>
              </a:rPr>
              <a:t>57</a:t>
            </a:r>
          </a:p>
          <a:p>
            <a:pPr algn="r">
              <a:lnSpc>
                <a:spcPct val="100000"/>
              </a:lnSpc>
            </a:pPr>
            <a:r>
              <a:rPr sz="1700">
                <a:solidFill>
                  <a:srgbClr val="4F5D6A"/>
                </a:solidFill>
                <a:latin typeface="Consolas"/>
              </a:rPr>
              <a:t>58</a:t>
            </a:r>
          </a:p>
          <a:p>
            <a:pPr algn="r">
              <a:lnSpc>
                <a:spcPct val="100000"/>
              </a:lnSpc>
            </a:pPr>
            <a:r>
              <a:rPr sz="1700">
                <a:solidFill>
                  <a:srgbClr val="4F5D6A"/>
                </a:solidFill>
                <a:latin typeface="Consolas"/>
              </a:rPr>
              <a:t>59</a:t>
            </a:r>
          </a:p>
          <a:p>
            <a:pPr algn="r">
              <a:lnSpc>
                <a:spcPct val="100000"/>
              </a:lnSpc>
            </a:pPr>
            <a:r>
              <a:rPr sz="1700">
                <a:solidFill>
                  <a:srgbClr val="4F5D6A"/>
                </a:solidFill>
                <a:latin typeface="Consolas"/>
              </a:rPr>
              <a:t>60</a:t>
            </a:r>
          </a:p>
          <a:p>
            <a:pPr algn="r">
              <a:lnSpc>
                <a:spcPct val="100000"/>
              </a:lnSpc>
            </a:pPr>
            <a:r>
              <a:rPr sz="1700">
                <a:solidFill>
                  <a:srgbClr val="4F5D6A"/>
                </a:solidFill>
                <a:latin typeface="Consolas"/>
              </a:rPr>
              <a:t>61</a:t>
            </a:r>
          </a:p>
          <a:p>
            <a:pPr algn="r">
              <a:lnSpc>
                <a:spcPct val="100000"/>
              </a:lnSpc>
            </a:pPr>
            <a:r>
              <a:rPr sz="1700">
                <a:solidFill>
                  <a:srgbClr val="4F5D6A"/>
                </a:solidFill>
                <a:latin typeface="Consolas"/>
              </a:rPr>
              <a:t>62</a:t>
            </a:r>
          </a:p>
          <a:p>
            <a:pPr algn="r">
              <a:lnSpc>
                <a:spcPct val="100000"/>
              </a:lnSpc>
            </a:pPr>
            <a:r>
              <a:rPr sz="1700">
                <a:solidFill>
                  <a:srgbClr val="4F5D6A"/>
                </a:solidFill>
                <a:latin typeface="Consolas"/>
              </a:rPr>
              <a:t>63</a:t>
            </a:r>
          </a:p>
          <a:p>
            <a:pPr algn="r">
              <a:lnSpc>
                <a:spcPct val="100000"/>
              </a:lnSpc>
            </a:pPr>
            <a:r>
              <a:rPr sz="1700">
                <a:solidFill>
                  <a:srgbClr val="4F5D6A"/>
                </a:solidFill>
                <a:latin typeface="Consolas"/>
              </a:rPr>
              <a:t>64</a:t>
            </a:r>
          </a:p>
          <a:p>
            <a:pPr algn="r">
              <a:lnSpc>
                <a:spcPct val="100000"/>
              </a:lnSpc>
            </a:pPr>
            <a:r>
              <a:rPr sz="1700">
                <a:solidFill>
                  <a:srgbClr val="4F5D6A"/>
                </a:solidFill>
                <a:latin typeface="Consolas"/>
              </a:rPr>
              <a:t>65</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662592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Task Ordering Four Ways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  ·  Problem Formulation and Uninformed Search</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§4.7  ·  Handout p. 37     </a:t>
            </a:r>
            <a:fld id="{398A9EAE-CBDB-470F-B30E-FCF79F1C408F}" type="slidenum">
              <a:rPr lang="en-GB" sz="1000">
                <a:solidFill>
                  <a:srgbClr val="8795A1"/>
                </a:solidFill>
                <a:latin typeface="Segoe UI"/>
              </a:rPr>
              <a:t>26</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2737104"/>
          </a:xfrm>
          <a:prstGeom prst="roundRect">
            <a:avLst>
              <a:gd name="adj" fmla="val 334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code/ch04_task_ordering_four.py</a:t>
            </a:r>
          </a:p>
        </p:txBody>
      </p:sp>
      <p:sp>
        <p:nvSpPr>
          <p:cNvPr id="13" name="!!code-text" descr="while frontier: if pop_which == &quot;cheap&quot;: node = heapq.heappop(frontier)[2] elif pop_which == &quot;fifo&quot;: node = frontier.popleft() else: node = frontier.pop()"/>
          <p:cNvSpPr txBox="1"/>
          <p:nvPr/>
        </p:nvSpPr>
        <p:spPr>
          <a:xfrm>
            <a:off x="1362456" y="2066543"/>
            <a:ext cx="9987991" cy="2243328"/>
          </a:xfrm>
          <a:prstGeom prst="rect">
            <a:avLst/>
          </a:prstGeom>
          <a:noFill/>
        </p:spPr>
        <p:txBody>
          <a:bodyPr wrap="none" anchor="t" lIns="0" rIns="0" tIns="0" bIns="0">
            <a:noAutofit/>
          </a:bodyPr>
          <a:lstStyle/>
          <a:p>
            <a:pPr>
              <a:lnSpc>
                <a:spcPct val="100000"/>
              </a:lnSpc>
              <a:spcAft>
                <a:spcPts val="0"/>
              </a:spcAft>
            </a:pPr>
            <a:r>
              <a:rPr sz="2000" i="0">
                <a:solidFill>
                  <a:srgbClr val="E8EDF2"/>
                </a:solidFill>
                <a:latin typeface="Consolas"/>
              </a:rPr>
              <a:t>    </a:t>
            </a:r>
            <a:r>
              <a:rPr sz="2000" i="0">
                <a:solidFill>
                  <a:srgbClr val="5DADE2"/>
                </a:solidFill>
                <a:latin typeface="Consolas"/>
              </a:rPr>
              <a:t>while</a:t>
            </a:r>
            <a:r>
              <a:rPr sz="2000" i="0">
                <a:solidFill>
                  <a:srgbClr val="E8EDF2"/>
                </a:solidFill>
                <a:latin typeface="Consolas"/>
              </a:rPr>
              <a:t> </a:t>
            </a:r>
            <a:r>
              <a:rPr sz="2000" i="0">
                <a:solidFill>
                  <a:srgbClr val="E8EDF2"/>
                </a:solidFill>
                <a:latin typeface="Consolas"/>
              </a:rPr>
              <a:t>frontier</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if</a:t>
            </a:r>
            <a:r>
              <a:rPr sz="2000" i="0">
                <a:solidFill>
                  <a:srgbClr val="E8EDF2"/>
                </a:solidFill>
                <a:latin typeface="Consolas"/>
              </a:rPr>
              <a:t> </a:t>
            </a:r>
            <a:r>
              <a:rPr sz="2000" i="0">
                <a:solidFill>
                  <a:srgbClr val="E8EDF2"/>
                </a:solidFill>
                <a:latin typeface="Consolas"/>
              </a:rPr>
              <a:t>pop_which</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cheap</a:t>
            </a:r>
            <a:r>
              <a:rPr sz="2000" i="0">
                <a:solidFill>
                  <a:srgbClr val="7DCEA0"/>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node</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heapq</a:t>
            </a:r>
            <a:r>
              <a:rPr sz="2000" i="0">
                <a:solidFill>
                  <a:srgbClr val="AEB6BF"/>
                </a:solidFill>
                <a:latin typeface="Consolas"/>
              </a:rPr>
              <a:t>.</a:t>
            </a:r>
            <a:r>
              <a:rPr sz="2000" i="0">
                <a:solidFill>
                  <a:srgbClr val="E8EDF2"/>
                </a:solidFill>
                <a:latin typeface="Consolas"/>
              </a:rPr>
              <a:t>heappop</a:t>
            </a:r>
            <a:r>
              <a:rPr sz="2000" i="0">
                <a:solidFill>
                  <a:srgbClr val="AEB6BF"/>
                </a:solidFill>
                <a:latin typeface="Consolas"/>
              </a:rPr>
              <a:t>(</a:t>
            </a:r>
            <a:r>
              <a:rPr sz="2000" i="0">
                <a:solidFill>
                  <a:srgbClr val="E8EDF2"/>
                </a:solidFill>
                <a:latin typeface="Consolas"/>
              </a:rPr>
              <a:t>frontier</a:t>
            </a:r>
            <a:r>
              <a:rPr sz="2000" i="0">
                <a:solidFill>
                  <a:srgbClr val="AEB6BF"/>
                </a:solidFill>
                <a:latin typeface="Consolas"/>
              </a:rPr>
              <a:t>)</a:t>
            </a:r>
            <a:r>
              <a:rPr sz="2000" i="0">
                <a:solidFill>
                  <a:srgbClr val="AEB6BF"/>
                </a:solidFill>
                <a:latin typeface="Consolas"/>
              </a:rPr>
              <a:t>[</a:t>
            </a:r>
            <a:r>
              <a:rPr sz="2000" i="0">
                <a:solidFill>
                  <a:srgbClr val="F7DC6F"/>
                </a:solidFill>
                <a:latin typeface="Consolas"/>
              </a:rPr>
              <a:t>2</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elif</a:t>
            </a:r>
            <a:r>
              <a:rPr sz="2000" i="0">
                <a:solidFill>
                  <a:srgbClr val="E8EDF2"/>
                </a:solidFill>
                <a:latin typeface="Consolas"/>
              </a:rPr>
              <a:t> </a:t>
            </a:r>
            <a:r>
              <a:rPr sz="2000" i="0">
                <a:solidFill>
                  <a:srgbClr val="E8EDF2"/>
                </a:solidFill>
                <a:latin typeface="Consolas"/>
              </a:rPr>
              <a:t>pop_which</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fifo</a:t>
            </a:r>
            <a:r>
              <a:rPr sz="2000" i="0">
                <a:solidFill>
                  <a:srgbClr val="7DCEA0"/>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node</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frontier</a:t>
            </a:r>
            <a:r>
              <a:rPr sz="2000" i="0">
                <a:solidFill>
                  <a:srgbClr val="AEB6BF"/>
                </a:solidFill>
                <a:latin typeface="Consolas"/>
              </a:rPr>
              <a:t>.</a:t>
            </a:r>
            <a:r>
              <a:rPr sz="2000" i="0">
                <a:solidFill>
                  <a:srgbClr val="E8EDF2"/>
                </a:solidFill>
                <a:latin typeface="Consolas"/>
              </a:rPr>
              <a:t>popleft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else</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node</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frontier</a:t>
            </a:r>
            <a:r>
              <a:rPr sz="2000" i="0">
                <a:solidFill>
                  <a:srgbClr val="AEB6BF"/>
                </a:solidFill>
                <a:latin typeface="Consolas"/>
              </a:rPr>
              <a:t>.</a:t>
            </a:r>
            <a:r>
              <a:rPr sz="2000" i="0">
                <a:solidFill>
                  <a:srgbClr val="E8EDF2"/>
                </a:solidFill>
                <a:latin typeface="Consolas"/>
              </a:rPr>
              <a:t>pop</a:t>
            </a:r>
            <a:r>
              <a:rPr sz="2000" i="0">
                <a:solidFill>
                  <a:srgbClr val="AEB6BF"/>
                </a:solidFill>
                <a:latin typeface="Consolas"/>
              </a:rPr>
              <a:t>(</a:t>
            </a:r>
            <a:r>
              <a:rPr sz="2000" i="0">
                <a:solidFill>
                  <a:srgbClr val="AEB6BF"/>
                </a:solidFill>
                <a:latin typeface="Consolas"/>
              </a:rPr>
              <a:t>)</a:t>
            </a:r>
          </a:p>
        </p:txBody>
      </p:sp>
      <p:sp>
        <p:nvSpPr>
          <p:cNvPr id="14" name="!!code-num"/>
          <p:cNvSpPr txBox="1"/>
          <p:nvPr/>
        </p:nvSpPr>
        <p:spPr>
          <a:xfrm>
            <a:off x="768096" y="2066543"/>
            <a:ext cx="393192" cy="22433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66</a:t>
            </a:r>
          </a:p>
          <a:p>
            <a:pPr algn="r">
              <a:lnSpc>
                <a:spcPct val="100000"/>
              </a:lnSpc>
            </a:pPr>
            <a:r>
              <a:rPr sz="2000">
                <a:solidFill>
                  <a:srgbClr val="4F5D6A"/>
                </a:solidFill>
                <a:latin typeface="Consolas"/>
              </a:rPr>
              <a:t>67</a:t>
            </a:r>
          </a:p>
          <a:p>
            <a:pPr algn="r">
              <a:lnSpc>
                <a:spcPct val="100000"/>
              </a:lnSpc>
            </a:pPr>
            <a:r>
              <a:rPr sz="2000">
                <a:solidFill>
                  <a:srgbClr val="4F5D6A"/>
                </a:solidFill>
                <a:latin typeface="Consolas"/>
              </a:rPr>
              <a:t>68</a:t>
            </a:r>
          </a:p>
          <a:p>
            <a:pPr algn="r">
              <a:lnSpc>
                <a:spcPct val="100000"/>
              </a:lnSpc>
            </a:pPr>
            <a:r>
              <a:rPr sz="2000">
                <a:solidFill>
                  <a:srgbClr val="4F5D6A"/>
                </a:solidFill>
                <a:latin typeface="Consolas"/>
              </a:rPr>
              <a:t>69</a:t>
            </a:r>
          </a:p>
          <a:p>
            <a:pPr algn="r">
              <a:lnSpc>
                <a:spcPct val="100000"/>
              </a:lnSpc>
            </a:pPr>
            <a:r>
              <a:rPr sz="2000">
                <a:solidFill>
                  <a:srgbClr val="4F5D6A"/>
                </a:solidFill>
                <a:latin typeface="Consolas"/>
              </a:rPr>
              <a:t>70</a:t>
            </a:r>
          </a:p>
          <a:p>
            <a:pPr algn="r">
              <a:lnSpc>
                <a:spcPct val="100000"/>
              </a:lnSpc>
            </a:pPr>
            <a:r>
              <a:rPr sz="2000">
                <a:solidFill>
                  <a:srgbClr val="4F5D6A"/>
                </a:solidFill>
                <a:latin typeface="Consolas"/>
              </a:rPr>
              <a:t>71</a:t>
            </a:r>
          </a:p>
          <a:p>
            <a:pPr algn="r">
              <a:lnSpc>
                <a:spcPct val="100000"/>
              </a:lnSpc>
            </a:pPr>
            <a:r>
              <a:rPr sz="2000">
                <a:solidFill>
                  <a:srgbClr val="4F5D6A"/>
                </a:solidFill>
                <a:latin typeface="Consolas"/>
              </a:rPr>
              <a:t>72</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689095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Task Ordering Four Ways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  ·  Problem Formulation and Uninformed Search</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§4.7  ·  Handout p. 37     </a:t>
            </a:r>
            <a:fld id="{982A1D1E-F91E-4BC7-8F82-629643B04D9A}" type="slidenum">
              <a:rPr lang="en-GB" sz="1000">
                <a:solidFill>
                  <a:srgbClr val="8795A1"/>
                </a:solidFill>
                <a:latin typeface="Segoe UI"/>
              </a:rPr>
              <a:t>27</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489704"/>
          </a:xfrm>
          <a:prstGeom prst="roundRect">
            <a:avLst>
              <a:gd name="adj" fmla="val 203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code/ch04_task_ordering_four.py</a:t>
            </a:r>
          </a:p>
        </p:txBody>
      </p:sp>
      <p:sp>
        <p:nvSpPr>
          <p:cNvPr id="13" name="!!code-text" descr="if node.state == ALL: # goal test on POPPING return path(node), node.cost, expanded, peak expanded += 1 for a in actions(node.state): nxt = result(node.state, a) if explored: if nxt in seen: continue seen.add(nxt) child = Node(nxt, node, a, node.cost + cost_of(a), node.depth + 1) if pop_which == &quot;cheap&quot;: heapq.heappush(frontier, (child.cost, next(tie), child)) else: frontier.append(child) peak = max(peak, len(frontier)) return None, None, expanded, peak"/>
          <p:cNvSpPr txBox="1"/>
          <p:nvPr/>
        </p:nvSpPr>
        <p:spPr>
          <a:xfrm>
            <a:off x="1362456" y="2066543"/>
            <a:ext cx="9987991" cy="3995928"/>
          </a:xfrm>
          <a:prstGeom prst="rect">
            <a:avLst/>
          </a:prstGeom>
          <a:noFill/>
        </p:spPr>
        <p:txBody>
          <a:bodyPr wrap="none" anchor="t" lIns="0" rIns="0" tIns="0" bIns="0">
            <a:noAutofit/>
          </a:bodyPr>
          <a:lstStyle/>
          <a:p>
            <a:pPr>
              <a:lnSpc>
                <a:spcPct val="100000"/>
              </a:lnSpc>
              <a:spcAft>
                <a:spcPts val="0"/>
              </a:spcAft>
            </a:pPr>
            <a:r>
              <a:rPr sz="1500" i="0">
                <a:solidFill>
                  <a:srgbClr val="E8EDF2"/>
                </a:solidFill>
                <a:latin typeface="Consolas"/>
              </a:rPr>
              <a:t>        </a:t>
            </a:r>
            <a:r>
              <a:rPr sz="1500" i="0">
                <a:solidFill>
                  <a:srgbClr val="5DADE2"/>
                </a:solidFill>
                <a:latin typeface="Consolas"/>
              </a:rPr>
              <a:t>if</a:t>
            </a:r>
            <a:r>
              <a:rPr sz="1500" i="0">
                <a:solidFill>
                  <a:srgbClr val="E8EDF2"/>
                </a:solidFill>
                <a:latin typeface="Consolas"/>
              </a:rPr>
              <a:t> </a:t>
            </a:r>
            <a:r>
              <a:rPr sz="1500" i="0">
                <a:solidFill>
                  <a:srgbClr val="E8EDF2"/>
                </a:solidFill>
                <a:latin typeface="Consolas"/>
              </a:rPr>
              <a:t>node</a:t>
            </a:r>
            <a:r>
              <a:rPr sz="1500" i="0">
                <a:solidFill>
                  <a:srgbClr val="AEB6BF"/>
                </a:solidFill>
                <a:latin typeface="Consolas"/>
              </a:rPr>
              <a:t>.</a:t>
            </a:r>
            <a:r>
              <a:rPr sz="1500" i="0">
                <a:solidFill>
                  <a:srgbClr val="E8EDF2"/>
                </a:solidFill>
                <a:latin typeface="Consolas"/>
              </a:rPr>
              <a:t>state</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ALL</a:t>
            </a:r>
            <a:r>
              <a:rPr sz="1500" i="0">
                <a:solidFill>
                  <a:srgbClr val="AEB6BF"/>
                </a:solidFill>
                <a:latin typeface="Consolas"/>
              </a:rPr>
              <a:t>:</a:t>
            </a:r>
            <a:r>
              <a:rPr sz="1500" i="0">
                <a:solidFill>
                  <a:srgbClr val="E8EDF2"/>
                </a:solidFill>
                <a:latin typeface="Consolas"/>
              </a:rPr>
              <a:t>           </a:t>
            </a:r>
            <a:r>
              <a:rPr sz="1500" i="1">
                <a:solidFill>
                  <a:srgbClr val="8795A1"/>
                </a:solidFill>
                <a:latin typeface="Consolas"/>
              </a:rPr>
              <a:t># goal test on POPPING</a:t>
            </a:r>
          </a:p>
          <a:p>
            <a:pPr>
              <a:lnSpc>
                <a:spcPct val="100000"/>
              </a:lnSpc>
              <a:spcAft>
                <a:spcPts val="0"/>
              </a:spcAft>
            </a:pPr>
            <a:r>
              <a:rPr sz="1500" i="0">
                <a:solidFill>
                  <a:srgbClr val="E8EDF2"/>
                </a:solidFill>
                <a:latin typeface="Consolas"/>
              </a:rPr>
              <a:t>            </a:t>
            </a:r>
            <a:r>
              <a:rPr sz="1500" i="0">
                <a:solidFill>
                  <a:srgbClr val="5DADE2"/>
                </a:solidFill>
                <a:latin typeface="Consolas"/>
              </a:rPr>
              <a:t>return</a:t>
            </a:r>
            <a:r>
              <a:rPr sz="1500" i="0">
                <a:solidFill>
                  <a:srgbClr val="E8EDF2"/>
                </a:solidFill>
                <a:latin typeface="Consolas"/>
              </a:rPr>
              <a:t> </a:t>
            </a:r>
            <a:r>
              <a:rPr sz="1500" i="0">
                <a:solidFill>
                  <a:srgbClr val="E8EDF2"/>
                </a:solidFill>
                <a:latin typeface="Consolas"/>
              </a:rPr>
              <a:t>path</a:t>
            </a:r>
            <a:r>
              <a:rPr sz="1500" i="0">
                <a:solidFill>
                  <a:srgbClr val="AEB6BF"/>
                </a:solidFill>
                <a:latin typeface="Consolas"/>
              </a:rPr>
              <a:t>(</a:t>
            </a:r>
            <a:r>
              <a:rPr sz="1500" i="0">
                <a:solidFill>
                  <a:srgbClr val="E8EDF2"/>
                </a:solidFill>
                <a:latin typeface="Consolas"/>
              </a:rPr>
              <a:t>node</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node</a:t>
            </a:r>
            <a:r>
              <a:rPr sz="1500" i="0">
                <a:solidFill>
                  <a:srgbClr val="AEB6BF"/>
                </a:solidFill>
                <a:latin typeface="Consolas"/>
              </a:rPr>
              <a:t>.</a:t>
            </a:r>
            <a:r>
              <a:rPr sz="1500" i="0">
                <a:solidFill>
                  <a:srgbClr val="E8EDF2"/>
                </a:solidFill>
                <a:latin typeface="Consolas"/>
              </a:rPr>
              <a:t>cost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expanded</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peak</a:t>
            </a:r>
          </a:p>
          <a:p>
            <a:pPr>
              <a:lnSpc>
                <a:spcPct val="100000"/>
              </a:lnSpc>
              <a:spcAft>
                <a:spcPts val="0"/>
              </a:spcAft>
            </a:pPr>
            <a:r>
              <a:rPr sz="1500" i="0">
                <a:solidFill>
                  <a:srgbClr val="E8EDF2"/>
                </a:solidFill>
                <a:latin typeface="Consolas"/>
              </a:rPr>
              <a:t>        </a:t>
            </a:r>
            <a:r>
              <a:rPr sz="1500" i="0">
                <a:solidFill>
                  <a:srgbClr val="E8EDF2"/>
                </a:solidFill>
                <a:latin typeface="Consolas"/>
              </a:rPr>
              <a:t>expanded</a:t>
            </a:r>
            <a:r>
              <a:rPr sz="1500" i="0">
                <a:solidFill>
                  <a:srgbClr val="E8EDF2"/>
                </a:solidFill>
                <a:latin typeface="Consolas"/>
              </a:rPr>
              <a:t> </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1</a:t>
            </a:r>
          </a:p>
          <a:p>
            <a:pPr>
              <a:lnSpc>
                <a:spcPct val="100000"/>
              </a:lnSpc>
              <a:spcAft>
                <a:spcPts val="0"/>
              </a:spcAft>
            </a:pPr>
            <a:r>
              <a:rPr sz="1500" i="0">
                <a:solidFill>
                  <a:srgbClr val="E8EDF2"/>
                </a:solidFill>
                <a:latin typeface="Consolas"/>
              </a:rPr>
              <a:t>        </a:t>
            </a:r>
            <a:r>
              <a:rPr sz="1500" i="0">
                <a:solidFill>
                  <a:srgbClr val="5DADE2"/>
                </a:solidFill>
                <a:latin typeface="Consolas"/>
              </a:rPr>
              <a:t>for</a:t>
            </a:r>
            <a:r>
              <a:rPr sz="1500" i="0">
                <a:solidFill>
                  <a:srgbClr val="E8EDF2"/>
                </a:solidFill>
                <a:latin typeface="Consolas"/>
              </a:rPr>
              <a:t> </a:t>
            </a:r>
            <a:r>
              <a:rPr sz="1500" i="0">
                <a:solidFill>
                  <a:srgbClr val="E8EDF2"/>
                </a:solidFill>
                <a:latin typeface="Consolas"/>
              </a:rPr>
              <a:t>a</a:t>
            </a:r>
            <a:r>
              <a:rPr sz="1500" i="0">
                <a:solidFill>
                  <a:srgbClr val="E8EDF2"/>
                </a:solidFill>
                <a:latin typeface="Consolas"/>
              </a:rPr>
              <a:t> </a:t>
            </a:r>
            <a:r>
              <a:rPr sz="1500" i="0">
                <a:solidFill>
                  <a:srgbClr val="AEB6BF"/>
                </a:solidFill>
                <a:latin typeface="Consolas"/>
              </a:rPr>
              <a:t>in</a:t>
            </a:r>
            <a:r>
              <a:rPr sz="1500" i="0">
                <a:solidFill>
                  <a:srgbClr val="E8EDF2"/>
                </a:solidFill>
                <a:latin typeface="Consolas"/>
              </a:rPr>
              <a:t> </a:t>
            </a:r>
            <a:r>
              <a:rPr sz="1500" i="0">
                <a:solidFill>
                  <a:srgbClr val="E8EDF2"/>
                </a:solidFill>
                <a:latin typeface="Consolas"/>
              </a:rPr>
              <a:t>actions</a:t>
            </a:r>
            <a:r>
              <a:rPr sz="1500" i="0">
                <a:solidFill>
                  <a:srgbClr val="AEB6BF"/>
                </a:solidFill>
                <a:latin typeface="Consolas"/>
              </a:rPr>
              <a:t>(</a:t>
            </a:r>
            <a:r>
              <a:rPr sz="1500" i="0">
                <a:solidFill>
                  <a:srgbClr val="E8EDF2"/>
                </a:solidFill>
                <a:latin typeface="Consolas"/>
              </a:rPr>
              <a:t>node</a:t>
            </a:r>
            <a:r>
              <a:rPr sz="1500" i="0">
                <a:solidFill>
                  <a:srgbClr val="AEB6BF"/>
                </a:solidFill>
                <a:latin typeface="Consolas"/>
              </a:rPr>
              <a:t>.</a:t>
            </a:r>
            <a:r>
              <a:rPr sz="1500" i="0">
                <a:solidFill>
                  <a:srgbClr val="E8EDF2"/>
                </a:solidFill>
                <a:latin typeface="Consolas"/>
              </a:rPr>
              <a:t>state</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nxt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result</a:t>
            </a:r>
            <a:r>
              <a:rPr sz="1500" i="0">
                <a:solidFill>
                  <a:srgbClr val="AEB6BF"/>
                </a:solidFill>
                <a:latin typeface="Consolas"/>
              </a:rPr>
              <a:t>(</a:t>
            </a:r>
            <a:r>
              <a:rPr sz="1500" i="0">
                <a:solidFill>
                  <a:srgbClr val="E8EDF2"/>
                </a:solidFill>
                <a:latin typeface="Consolas"/>
              </a:rPr>
              <a:t>node</a:t>
            </a:r>
            <a:r>
              <a:rPr sz="1500" i="0">
                <a:solidFill>
                  <a:srgbClr val="AEB6BF"/>
                </a:solidFill>
                <a:latin typeface="Consolas"/>
              </a:rPr>
              <a:t>.</a:t>
            </a:r>
            <a:r>
              <a:rPr sz="1500" i="0">
                <a:solidFill>
                  <a:srgbClr val="E8EDF2"/>
                </a:solidFill>
                <a:latin typeface="Consolas"/>
              </a:rPr>
              <a:t>state</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a</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if</a:t>
            </a:r>
            <a:r>
              <a:rPr sz="1500" i="0">
                <a:solidFill>
                  <a:srgbClr val="E8EDF2"/>
                </a:solidFill>
                <a:latin typeface="Consolas"/>
              </a:rPr>
              <a:t> </a:t>
            </a:r>
            <a:r>
              <a:rPr sz="1500" i="0">
                <a:solidFill>
                  <a:srgbClr val="E8EDF2"/>
                </a:solidFill>
                <a:latin typeface="Consolas"/>
              </a:rPr>
              <a:t>explored</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if</a:t>
            </a:r>
            <a:r>
              <a:rPr sz="1500" i="0">
                <a:solidFill>
                  <a:srgbClr val="E8EDF2"/>
                </a:solidFill>
                <a:latin typeface="Consolas"/>
              </a:rPr>
              <a:t> </a:t>
            </a:r>
            <a:r>
              <a:rPr sz="1500" i="0">
                <a:solidFill>
                  <a:srgbClr val="E8EDF2"/>
                </a:solidFill>
                <a:latin typeface="Consolas"/>
              </a:rPr>
              <a:t>nxt</a:t>
            </a:r>
            <a:r>
              <a:rPr sz="1500" i="0">
                <a:solidFill>
                  <a:srgbClr val="E8EDF2"/>
                </a:solidFill>
                <a:latin typeface="Consolas"/>
              </a:rPr>
              <a:t> </a:t>
            </a:r>
            <a:r>
              <a:rPr sz="1500" i="0">
                <a:solidFill>
                  <a:srgbClr val="AEB6BF"/>
                </a:solidFill>
                <a:latin typeface="Consolas"/>
              </a:rPr>
              <a:t>in</a:t>
            </a:r>
            <a:r>
              <a:rPr sz="1500" i="0">
                <a:solidFill>
                  <a:srgbClr val="E8EDF2"/>
                </a:solidFill>
                <a:latin typeface="Consolas"/>
              </a:rPr>
              <a:t> </a:t>
            </a:r>
            <a:r>
              <a:rPr sz="1500" i="0">
                <a:solidFill>
                  <a:srgbClr val="E8EDF2"/>
                </a:solidFill>
                <a:latin typeface="Consolas"/>
              </a:rPr>
              <a:t>seen</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continue</a:t>
            </a:r>
          </a:p>
          <a:p>
            <a:pPr>
              <a:lnSpc>
                <a:spcPct val="100000"/>
              </a:lnSpc>
              <a:spcAft>
                <a:spcPts val="0"/>
              </a:spcAft>
            </a:pPr>
            <a:r>
              <a:rPr sz="1500" i="0">
                <a:solidFill>
                  <a:srgbClr val="E8EDF2"/>
                </a:solidFill>
                <a:latin typeface="Consolas"/>
              </a:rPr>
              <a:t>                </a:t>
            </a:r>
            <a:r>
              <a:rPr sz="1500" i="0">
                <a:solidFill>
                  <a:srgbClr val="E8EDF2"/>
                </a:solidFill>
                <a:latin typeface="Consolas"/>
              </a:rPr>
              <a:t>seen</a:t>
            </a:r>
            <a:r>
              <a:rPr sz="1500" i="0">
                <a:solidFill>
                  <a:srgbClr val="AEB6BF"/>
                </a:solidFill>
                <a:latin typeface="Consolas"/>
              </a:rPr>
              <a:t>.</a:t>
            </a:r>
            <a:r>
              <a:rPr sz="1500" i="0">
                <a:solidFill>
                  <a:srgbClr val="E8EDF2"/>
                </a:solidFill>
                <a:latin typeface="Consolas"/>
              </a:rPr>
              <a:t>add</a:t>
            </a:r>
            <a:r>
              <a:rPr sz="1500" i="0">
                <a:solidFill>
                  <a:srgbClr val="AEB6BF"/>
                </a:solidFill>
                <a:latin typeface="Consolas"/>
              </a:rPr>
              <a:t>(</a:t>
            </a:r>
            <a:r>
              <a:rPr sz="1500" i="0">
                <a:solidFill>
                  <a:srgbClr val="E8EDF2"/>
                </a:solidFill>
                <a:latin typeface="Consolas"/>
              </a:rPr>
              <a:t>nxt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child</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Node</a:t>
            </a:r>
            <a:r>
              <a:rPr sz="1500" i="0">
                <a:solidFill>
                  <a:srgbClr val="AEB6BF"/>
                </a:solidFill>
                <a:latin typeface="Consolas"/>
              </a:rPr>
              <a:t>(</a:t>
            </a:r>
            <a:r>
              <a:rPr sz="1500" i="0">
                <a:solidFill>
                  <a:srgbClr val="E8EDF2"/>
                </a:solidFill>
                <a:latin typeface="Consolas"/>
              </a:rPr>
              <a:t>nxt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node</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a</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node</a:t>
            </a:r>
            <a:r>
              <a:rPr sz="1500" i="0">
                <a:solidFill>
                  <a:srgbClr val="AEB6BF"/>
                </a:solidFill>
                <a:latin typeface="Consolas"/>
              </a:rPr>
              <a:t>.</a:t>
            </a:r>
            <a:r>
              <a:rPr sz="1500" i="0">
                <a:solidFill>
                  <a:srgbClr val="E8EDF2"/>
                </a:solidFill>
                <a:latin typeface="Consolas"/>
              </a:rPr>
              <a:t>cost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cost_of</a:t>
            </a:r>
            <a:r>
              <a:rPr sz="1500" i="0">
                <a:solidFill>
                  <a:srgbClr val="AEB6BF"/>
                </a:solidFill>
                <a:latin typeface="Consolas"/>
              </a:rPr>
              <a:t>(</a:t>
            </a:r>
            <a:r>
              <a:rPr sz="1500" i="0">
                <a:solidFill>
                  <a:srgbClr val="E8EDF2"/>
                </a:solidFill>
                <a:latin typeface="Consolas"/>
              </a:rPr>
              <a:t>a</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node</a:t>
            </a:r>
            <a:r>
              <a:rPr sz="1500" i="0">
                <a:solidFill>
                  <a:srgbClr val="AEB6BF"/>
                </a:solidFill>
                <a:latin typeface="Consolas"/>
              </a:rPr>
              <a:t>.</a:t>
            </a:r>
            <a:r>
              <a:rPr sz="1500" i="0">
                <a:solidFill>
                  <a:srgbClr val="E8EDF2"/>
                </a:solidFill>
                <a:latin typeface="Consolas"/>
              </a:rPr>
              <a:t>depth</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1</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if</a:t>
            </a:r>
            <a:r>
              <a:rPr sz="1500" i="0">
                <a:solidFill>
                  <a:srgbClr val="E8EDF2"/>
                </a:solidFill>
                <a:latin typeface="Consolas"/>
              </a:rPr>
              <a:t> </a:t>
            </a:r>
            <a:r>
              <a:rPr sz="1500" i="0">
                <a:solidFill>
                  <a:srgbClr val="E8EDF2"/>
                </a:solidFill>
                <a:latin typeface="Consolas"/>
              </a:rPr>
              <a:t>pop_which</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cheap</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heapq</a:t>
            </a:r>
            <a:r>
              <a:rPr sz="1500" i="0">
                <a:solidFill>
                  <a:srgbClr val="AEB6BF"/>
                </a:solidFill>
                <a:latin typeface="Consolas"/>
              </a:rPr>
              <a:t>.</a:t>
            </a:r>
            <a:r>
              <a:rPr sz="1500" i="0">
                <a:solidFill>
                  <a:srgbClr val="E8EDF2"/>
                </a:solidFill>
                <a:latin typeface="Consolas"/>
              </a:rPr>
              <a:t>heappush</a:t>
            </a:r>
            <a:r>
              <a:rPr sz="1500" i="0">
                <a:solidFill>
                  <a:srgbClr val="AEB6BF"/>
                </a:solidFill>
                <a:latin typeface="Consolas"/>
              </a:rPr>
              <a:t>(</a:t>
            </a:r>
            <a:r>
              <a:rPr sz="1500" i="0">
                <a:solidFill>
                  <a:srgbClr val="E8EDF2"/>
                </a:solidFill>
                <a:latin typeface="Consolas"/>
              </a:rPr>
              <a:t>frontier</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child</a:t>
            </a:r>
            <a:r>
              <a:rPr sz="1500" i="0">
                <a:solidFill>
                  <a:srgbClr val="AEB6BF"/>
                </a:solidFill>
                <a:latin typeface="Consolas"/>
              </a:rPr>
              <a:t>.</a:t>
            </a:r>
            <a:r>
              <a:rPr sz="1500" i="0">
                <a:solidFill>
                  <a:srgbClr val="E8EDF2"/>
                </a:solidFill>
                <a:latin typeface="Consolas"/>
              </a:rPr>
              <a:t>cost</a:t>
            </a:r>
            <a:r>
              <a:rPr sz="1500" i="0">
                <a:solidFill>
                  <a:srgbClr val="AEB6BF"/>
                </a:solidFill>
                <a:latin typeface="Consolas"/>
              </a:rPr>
              <a:t>,</a:t>
            </a:r>
            <a:r>
              <a:rPr sz="1500" i="0">
                <a:solidFill>
                  <a:srgbClr val="E8EDF2"/>
                </a:solidFill>
                <a:latin typeface="Consolas"/>
              </a:rPr>
              <a:t> </a:t>
            </a:r>
            <a:r>
              <a:rPr sz="1500" i="0">
                <a:solidFill>
                  <a:srgbClr val="C39BD3"/>
                </a:solidFill>
                <a:latin typeface="Consolas"/>
              </a:rPr>
              <a:t>next</a:t>
            </a:r>
            <a:r>
              <a:rPr sz="1500" i="0">
                <a:solidFill>
                  <a:srgbClr val="AEB6BF"/>
                </a:solidFill>
                <a:latin typeface="Consolas"/>
              </a:rPr>
              <a:t>(</a:t>
            </a:r>
            <a:r>
              <a:rPr sz="1500" i="0">
                <a:solidFill>
                  <a:srgbClr val="E8EDF2"/>
                </a:solidFill>
                <a:latin typeface="Consolas"/>
              </a:rPr>
              <a:t>tie</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child</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else</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frontier</a:t>
            </a:r>
            <a:r>
              <a:rPr sz="1500" i="0">
                <a:solidFill>
                  <a:srgbClr val="AEB6BF"/>
                </a:solidFill>
                <a:latin typeface="Consolas"/>
              </a:rPr>
              <a:t>.</a:t>
            </a:r>
            <a:r>
              <a:rPr sz="1500" i="0">
                <a:solidFill>
                  <a:srgbClr val="E8EDF2"/>
                </a:solidFill>
                <a:latin typeface="Consolas"/>
              </a:rPr>
              <a:t>append</a:t>
            </a:r>
            <a:r>
              <a:rPr sz="1500" i="0">
                <a:solidFill>
                  <a:srgbClr val="AEB6BF"/>
                </a:solidFill>
                <a:latin typeface="Consolas"/>
              </a:rPr>
              <a:t>(</a:t>
            </a:r>
            <a:r>
              <a:rPr sz="1500" i="0">
                <a:solidFill>
                  <a:srgbClr val="E8EDF2"/>
                </a:solidFill>
                <a:latin typeface="Consolas"/>
              </a:rPr>
              <a:t>child</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peak</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C39BD3"/>
                </a:solidFill>
                <a:latin typeface="Consolas"/>
              </a:rPr>
              <a:t>max</a:t>
            </a:r>
            <a:r>
              <a:rPr sz="1500" i="0">
                <a:solidFill>
                  <a:srgbClr val="AEB6BF"/>
                </a:solidFill>
                <a:latin typeface="Consolas"/>
              </a:rPr>
              <a:t>(</a:t>
            </a:r>
            <a:r>
              <a:rPr sz="1500" i="0">
                <a:solidFill>
                  <a:srgbClr val="E8EDF2"/>
                </a:solidFill>
                <a:latin typeface="Consolas"/>
              </a:rPr>
              <a:t>peak</a:t>
            </a:r>
            <a:r>
              <a:rPr sz="1500" i="0">
                <a:solidFill>
                  <a:srgbClr val="AEB6BF"/>
                </a:solidFill>
                <a:latin typeface="Consolas"/>
              </a:rPr>
              <a:t>,</a:t>
            </a:r>
            <a:r>
              <a:rPr sz="1500" i="0">
                <a:solidFill>
                  <a:srgbClr val="E8EDF2"/>
                </a:solidFill>
                <a:latin typeface="Consolas"/>
              </a:rPr>
              <a:t> </a:t>
            </a:r>
            <a:r>
              <a:rPr sz="1500" i="0">
                <a:solidFill>
                  <a:srgbClr val="C39BD3"/>
                </a:solidFill>
                <a:latin typeface="Consolas"/>
              </a:rPr>
              <a:t>len</a:t>
            </a:r>
            <a:r>
              <a:rPr sz="1500" i="0">
                <a:solidFill>
                  <a:srgbClr val="AEB6BF"/>
                </a:solidFill>
                <a:latin typeface="Consolas"/>
              </a:rPr>
              <a:t>(</a:t>
            </a:r>
            <a:r>
              <a:rPr sz="1500" i="0">
                <a:solidFill>
                  <a:srgbClr val="E8EDF2"/>
                </a:solidFill>
                <a:latin typeface="Consolas"/>
              </a:rPr>
              <a:t>frontier</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return</a:t>
            </a:r>
            <a:r>
              <a:rPr sz="1500" i="0">
                <a:solidFill>
                  <a:srgbClr val="E8EDF2"/>
                </a:solidFill>
                <a:latin typeface="Consolas"/>
              </a:rPr>
              <a:t> </a:t>
            </a:r>
            <a:r>
              <a:rPr sz="1500" i="0">
                <a:solidFill>
                  <a:srgbClr val="5DADE2"/>
                </a:solidFill>
                <a:latin typeface="Consolas"/>
              </a:rPr>
              <a:t>None</a:t>
            </a:r>
            <a:r>
              <a:rPr sz="1500" i="0">
                <a:solidFill>
                  <a:srgbClr val="AEB6BF"/>
                </a:solidFill>
                <a:latin typeface="Consolas"/>
              </a:rPr>
              <a:t>,</a:t>
            </a:r>
            <a:r>
              <a:rPr sz="1500" i="0">
                <a:solidFill>
                  <a:srgbClr val="E8EDF2"/>
                </a:solidFill>
                <a:latin typeface="Consolas"/>
              </a:rPr>
              <a:t> </a:t>
            </a:r>
            <a:r>
              <a:rPr sz="1500" i="0">
                <a:solidFill>
                  <a:srgbClr val="5DADE2"/>
                </a:solidFill>
                <a:latin typeface="Consolas"/>
              </a:rPr>
              <a:t>None</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expanded</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peak</a:t>
            </a:r>
          </a:p>
        </p:txBody>
      </p:sp>
      <p:sp>
        <p:nvSpPr>
          <p:cNvPr id="14" name="!!code-num"/>
          <p:cNvSpPr txBox="1"/>
          <p:nvPr/>
        </p:nvSpPr>
        <p:spPr>
          <a:xfrm>
            <a:off x="768096" y="2066543"/>
            <a:ext cx="393192" cy="3995928"/>
          </a:xfrm>
          <a:prstGeom prst="rect">
            <a:avLst/>
          </a:prstGeom>
          <a:noFill/>
        </p:spPr>
        <p:txBody>
          <a:bodyPr wrap="none" anchor="t" lIns="0" rIns="0" tIns="0" bIns="0">
            <a:noAutofit/>
          </a:bodyPr>
          <a:lstStyle/>
          <a:p>
            <a:pPr algn="r">
              <a:lnSpc>
                <a:spcPct val="100000"/>
              </a:lnSpc>
            </a:pPr>
            <a:r>
              <a:rPr sz="1500">
                <a:solidFill>
                  <a:srgbClr val="4F5D6A"/>
                </a:solidFill>
                <a:latin typeface="Consolas"/>
              </a:rPr>
              <a:t>74</a:t>
            </a:r>
          </a:p>
          <a:p>
            <a:pPr algn="r">
              <a:lnSpc>
                <a:spcPct val="100000"/>
              </a:lnSpc>
            </a:pPr>
            <a:r>
              <a:rPr sz="1500">
                <a:solidFill>
                  <a:srgbClr val="4F5D6A"/>
                </a:solidFill>
                <a:latin typeface="Consolas"/>
              </a:rPr>
              <a:t>75</a:t>
            </a:r>
          </a:p>
          <a:p>
            <a:pPr algn="r">
              <a:lnSpc>
                <a:spcPct val="100000"/>
              </a:lnSpc>
            </a:pPr>
            <a:r>
              <a:rPr sz="1500">
                <a:solidFill>
                  <a:srgbClr val="4F5D6A"/>
                </a:solidFill>
                <a:latin typeface="Consolas"/>
              </a:rPr>
              <a:t>76</a:t>
            </a:r>
          </a:p>
          <a:p>
            <a:pPr algn="r">
              <a:lnSpc>
                <a:spcPct val="100000"/>
              </a:lnSpc>
            </a:pPr>
            <a:r>
              <a:rPr sz="1500">
                <a:solidFill>
                  <a:srgbClr val="4F5D6A"/>
                </a:solidFill>
                <a:latin typeface="Consolas"/>
              </a:rPr>
              <a:t>77</a:t>
            </a:r>
          </a:p>
          <a:p>
            <a:pPr algn="r">
              <a:lnSpc>
                <a:spcPct val="100000"/>
              </a:lnSpc>
            </a:pPr>
            <a:r>
              <a:rPr sz="1500">
                <a:solidFill>
                  <a:srgbClr val="4F5D6A"/>
                </a:solidFill>
                <a:latin typeface="Consolas"/>
              </a:rPr>
              <a:t>78</a:t>
            </a:r>
          </a:p>
          <a:p>
            <a:pPr algn="r">
              <a:lnSpc>
                <a:spcPct val="100000"/>
              </a:lnSpc>
            </a:pPr>
            <a:r>
              <a:rPr sz="1500">
                <a:solidFill>
                  <a:srgbClr val="4F5D6A"/>
                </a:solidFill>
                <a:latin typeface="Consolas"/>
              </a:rPr>
              <a:t>79</a:t>
            </a:r>
          </a:p>
          <a:p>
            <a:pPr algn="r">
              <a:lnSpc>
                <a:spcPct val="100000"/>
              </a:lnSpc>
            </a:pPr>
            <a:r>
              <a:rPr sz="1500">
                <a:solidFill>
                  <a:srgbClr val="4F5D6A"/>
                </a:solidFill>
                <a:latin typeface="Consolas"/>
              </a:rPr>
              <a:t>80</a:t>
            </a:r>
          </a:p>
          <a:p>
            <a:pPr algn="r">
              <a:lnSpc>
                <a:spcPct val="100000"/>
              </a:lnSpc>
            </a:pPr>
            <a:r>
              <a:rPr sz="1500">
                <a:solidFill>
                  <a:srgbClr val="4F5D6A"/>
                </a:solidFill>
                <a:latin typeface="Consolas"/>
              </a:rPr>
              <a:t>81</a:t>
            </a:r>
          </a:p>
          <a:p>
            <a:pPr algn="r">
              <a:lnSpc>
                <a:spcPct val="100000"/>
              </a:lnSpc>
            </a:pPr>
            <a:r>
              <a:rPr sz="1500">
                <a:solidFill>
                  <a:srgbClr val="4F5D6A"/>
                </a:solidFill>
                <a:latin typeface="Consolas"/>
              </a:rPr>
              <a:t>82</a:t>
            </a:r>
          </a:p>
          <a:p>
            <a:pPr algn="r">
              <a:lnSpc>
                <a:spcPct val="100000"/>
              </a:lnSpc>
            </a:pPr>
            <a:r>
              <a:rPr sz="1500">
                <a:solidFill>
                  <a:srgbClr val="4F5D6A"/>
                </a:solidFill>
                <a:latin typeface="Consolas"/>
              </a:rPr>
              <a:t>83</a:t>
            </a:r>
          </a:p>
          <a:p>
            <a:pPr algn="r">
              <a:lnSpc>
                <a:spcPct val="100000"/>
              </a:lnSpc>
            </a:pPr>
            <a:r>
              <a:rPr sz="1500">
                <a:solidFill>
                  <a:srgbClr val="4F5D6A"/>
                </a:solidFill>
                <a:latin typeface="Consolas"/>
              </a:rPr>
              <a:t>84</a:t>
            </a:r>
          </a:p>
          <a:p>
            <a:pPr algn="r">
              <a:lnSpc>
                <a:spcPct val="100000"/>
              </a:lnSpc>
            </a:pPr>
            <a:r>
              <a:rPr sz="1500">
                <a:solidFill>
                  <a:srgbClr val="4F5D6A"/>
                </a:solidFill>
                <a:latin typeface="Consolas"/>
              </a:rPr>
              <a:t>85</a:t>
            </a:r>
          </a:p>
          <a:p>
            <a:pPr algn="r">
              <a:lnSpc>
                <a:spcPct val="100000"/>
              </a:lnSpc>
            </a:pPr>
            <a:r>
              <a:rPr sz="1500">
                <a:solidFill>
                  <a:srgbClr val="4F5D6A"/>
                </a:solidFill>
                <a:latin typeface="Consolas"/>
              </a:rPr>
              <a:t>86</a:t>
            </a:r>
          </a:p>
          <a:p>
            <a:pPr algn="r">
              <a:lnSpc>
                <a:spcPct val="100000"/>
              </a:lnSpc>
            </a:pPr>
            <a:r>
              <a:rPr sz="1500">
                <a:solidFill>
                  <a:srgbClr val="4F5D6A"/>
                </a:solidFill>
                <a:latin typeface="Consolas"/>
              </a:rPr>
              <a:t>87</a:t>
            </a:r>
          </a:p>
          <a:p>
            <a:pPr algn="r">
              <a:lnSpc>
                <a:spcPct val="100000"/>
              </a:lnSpc>
            </a:pPr>
            <a:r>
              <a:rPr sz="1500">
                <a:solidFill>
                  <a:srgbClr val="4F5D6A"/>
                </a:solidFill>
                <a:latin typeface="Consolas"/>
              </a:rPr>
              <a:t>88</a:t>
            </a:r>
          </a:p>
          <a:p>
            <a:pPr algn="r">
              <a:lnSpc>
                <a:spcPct val="100000"/>
              </a:lnSpc>
            </a:pPr>
            <a:r>
              <a:rPr sz="1500">
                <a:solidFill>
                  <a:srgbClr val="4F5D6A"/>
                </a:solidFill>
                <a:latin typeface="Consolas"/>
              </a:rPr>
              <a:t>89</a:t>
            </a:r>
          </a:p>
          <a:p>
            <a:pPr algn="r">
              <a:lnSpc>
                <a:spcPct val="100000"/>
              </a:lnSpc>
            </a:pPr>
            <a:r>
              <a:rPr sz="1500">
                <a:solidFill>
                  <a:srgbClr val="4F5D6A"/>
                </a:solidFill>
                <a:latin typeface="Consolas"/>
              </a:rPr>
              <a:t>90</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715599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Task Ordering Four Ways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  ·  Problem Formulation and Uninformed Search</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§4.7  ·  Handout p. 37     </a:t>
            </a:r>
            <a:fld id="{898D29DF-F6B6-4E95-AECE-2003FFCA65E8}" type="slidenum">
              <a:rPr lang="en-GB" sz="1000">
                <a:solidFill>
                  <a:srgbClr val="8795A1"/>
                </a:solidFill>
                <a:latin typeface="Segoe UI"/>
              </a:rPr>
              <a:t>28</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657344"/>
          </a:xfrm>
          <a:prstGeom prst="roundRect">
            <a:avLst>
              <a:gd name="adj" fmla="val 196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code/ch04_task_ordering_four.py</a:t>
            </a:r>
          </a:p>
        </p:txBody>
      </p:sp>
      <p:sp>
        <p:nvSpPr>
          <p:cNvPr id="13" name="!!code-text" descr="def depth_limited(node, limit, seen, stats): &quot;&quot;&quot;Recursive depth-limited search. Returns a node or None.&quot;&quot;&quot; if node.state == ALL: return node if node.depth &gt;= limit: return None stats[&quot;expanded&quot;] += 1 for a in actions(node.state): nxt = result(node.state, a) if nxt in seen: continue seen.add(nxt) child = Node(nxt, node, a, node.cost + cost_of(a), node.depth + 1) found = depth_limited(child, limit, seen, stats) if found is not None: return found seen.discard(nxt) # allow other branches to reuse it return None"/>
          <p:cNvSpPr txBox="1"/>
          <p:nvPr/>
        </p:nvSpPr>
        <p:spPr>
          <a:xfrm>
            <a:off x="1362456" y="2066543"/>
            <a:ext cx="9987991" cy="4163568"/>
          </a:xfrm>
          <a:prstGeom prst="rect">
            <a:avLst/>
          </a:prstGeom>
          <a:noFill/>
        </p:spPr>
        <p:txBody>
          <a:bodyPr wrap="none" anchor="t" lIns="0" rIns="0" tIns="0" bIns="0">
            <a:noAutofit/>
          </a:bodyPr>
          <a:lstStyle/>
          <a:p>
            <a:pPr>
              <a:lnSpc>
                <a:spcPct val="100000"/>
              </a:lnSpc>
              <a:spcAft>
                <a:spcPts val="0"/>
              </a:spcAft>
            </a:pPr>
            <a:r>
              <a:rPr sz="1400" i="0">
                <a:solidFill>
                  <a:srgbClr val="5DADE2"/>
                </a:solidFill>
                <a:latin typeface="Consolas"/>
              </a:rPr>
              <a:t>def</a:t>
            </a:r>
            <a:r>
              <a:rPr sz="1400" i="0">
                <a:solidFill>
                  <a:srgbClr val="E8EDF2"/>
                </a:solidFill>
                <a:latin typeface="Consolas"/>
              </a:rPr>
              <a:t> </a:t>
            </a:r>
            <a:r>
              <a:rPr sz="1400" i="0">
                <a:solidFill>
                  <a:srgbClr val="C39BD3"/>
                </a:solidFill>
                <a:latin typeface="Consolas"/>
              </a:rPr>
              <a:t>depth_limited</a:t>
            </a:r>
            <a:r>
              <a:rPr sz="1400" i="0">
                <a:solidFill>
                  <a:srgbClr val="AEB6BF"/>
                </a:solidFill>
                <a:latin typeface="Consolas"/>
              </a:rPr>
              <a:t>(</a:t>
            </a:r>
            <a:r>
              <a:rPr sz="1400" i="0">
                <a:solidFill>
                  <a:srgbClr val="E8EDF2"/>
                </a:solidFill>
                <a:latin typeface="Consolas"/>
              </a:rPr>
              <a:t>node</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limit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seen</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stats</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"""Recursive depth-limited search. Returns a node or None."""</a:t>
            </a:r>
          </a:p>
          <a:p>
            <a:pPr>
              <a:lnSpc>
                <a:spcPct val="100000"/>
              </a:lnSpc>
              <a:spcAft>
                <a:spcPts val="0"/>
              </a:spcAft>
            </a:pP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E8EDF2"/>
                </a:solidFill>
                <a:latin typeface="Consolas"/>
              </a:rPr>
              <a:t>node</a:t>
            </a:r>
            <a:r>
              <a:rPr sz="1400" i="0">
                <a:solidFill>
                  <a:srgbClr val="AEB6BF"/>
                </a:solidFill>
                <a:latin typeface="Consolas"/>
              </a:rPr>
              <a:t>.</a:t>
            </a:r>
            <a:r>
              <a:rPr sz="1400" i="0">
                <a:solidFill>
                  <a:srgbClr val="E8EDF2"/>
                </a:solidFill>
                <a:latin typeface="Consolas"/>
              </a:rPr>
              <a:t>state</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ALL</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E8EDF2"/>
                </a:solidFill>
                <a:latin typeface="Consolas"/>
              </a:rPr>
              <a:t>node</a:t>
            </a:r>
          </a:p>
          <a:p>
            <a:pPr>
              <a:lnSpc>
                <a:spcPct val="100000"/>
              </a:lnSpc>
              <a:spcAft>
                <a:spcPts val="0"/>
              </a:spcAft>
            </a:pP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E8EDF2"/>
                </a:solidFill>
                <a:latin typeface="Consolas"/>
              </a:rPr>
              <a:t>node</a:t>
            </a:r>
            <a:r>
              <a:rPr sz="1400" i="0">
                <a:solidFill>
                  <a:srgbClr val="AEB6BF"/>
                </a:solidFill>
                <a:latin typeface="Consolas"/>
              </a:rPr>
              <a:t>.</a:t>
            </a:r>
            <a:r>
              <a:rPr sz="1400" i="0">
                <a:solidFill>
                  <a:srgbClr val="E8EDF2"/>
                </a:solidFill>
                <a:latin typeface="Consolas"/>
              </a:rPr>
              <a:t>depth</a:t>
            </a:r>
            <a:r>
              <a:rPr sz="1400" i="0">
                <a:solidFill>
                  <a:srgbClr val="E8EDF2"/>
                </a:solidFill>
                <a:latin typeface="Consolas"/>
              </a:rPr>
              <a:t> </a:t>
            </a:r>
            <a:r>
              <a:rPr sz="1400" i="0">
                <a:solidFill>
                  <a:srgbClr val="AEB6BF"/>
                </a:solidFill>
                <a:latin typeface="Consolas"/>
              </a:rPr>
              <a:t>&gt;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limit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5DADE2"/>
                </a:solidFill>
                <a:latin typeface="Consolas"/>
              </a:rPr>
              <a:t>None</a:t>
            </a:r>
          </a:p>
          <a:p>
            <a:pPr>
              <a:lnSpc>
                <a:spcPct val="100000"/>
              </a:lnSpc>
              <a:spcAft>
                <a:spcPts val="0"/>
              </a:spcAft>
            </a:pPr>
            <a:r>
              <a:rPr sz="1400" i="0">
                <a:solidFill>
                  <a:srgbClr val="E8EDF2"/>
                </a:solidFill>
                <a:latin typeface="Consolas"/>
              </a:rPr>
              <a:t>    </a:t>
            </a:r>
            <a:r>
              <a:rPr sz="1400" i="0">
                <a:solidFill>
                  <a:srgbClr val="E8EDF2"/>
                </a:solidFill>
                <a:latin typeface="Consolas"/>
              </a:rPr>
              <a:t>stats</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expanded</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a:t>
            </a:r>
          </a:p>
          <a:p>
            <a:pPr>
              <a:lnSpc>
                <a:spcPct val="100000"/>
              </a:lnSpc>
              <a:spcAft>
                <a:spcPts val="0"/>
              </a:spcAft>
            </a:pP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a</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actions</a:t>
            </a:r>
            <a:r>
              <a:rPr sz="1400" i="0">
                <a:solidFill>
                  <a:srgbClr val="AEB6BF"/>
                </a:solidFill>
                <a:latin typeface="Consolas"/>
              </a:rPr>
              <a:t>(</a:t>
            </a:r>
            <a:r>
              <a:rPr sz="1400" i="0">
                <a:solidFill>
                  <a:srgbClr val="E8EDF2"/>
                </a:solidFill>
                <a:latin typeface="Consolas"/>
              </a:rPr>
              <a:t>node</a:t>
            </a:r>
            <a:r>
              <a:rPr sz="1400" i="0">
                <a:solidFill>
                  <a:srgbClr val="AEB6BF"/>
                </a:solidFill>
                <a:latin typeface="Consolas"/>
              </a:rPr>
              <a:t>.</a:t>
            </a:r>
            <a:r>
              <a:rPr sz="1400" i="0">
                <a:solidFill>
                  <a:srgbClr val="E8EDF2"/>
                </a:solidFill>
                <a:latin typeface="Consolas"/>
              </a:rPr>
              <a:t>state</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nxt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result</a:t>
            </a:r>
            <a:r>
              <a:rPr sz="1400" i="0">
                <a:solidFill>
                  <a:srgbClr val="AEB6BF"/>
                </a:solidFill>
                <a:latin typeface="Consolas"/>
              </a:rPr>
              <a:t>(</a:t>
            </a:r>
            <a:r>
              <a:rPr sz="1400" i="0">
                <a:solidFill>
                  <a:srgbClr val="E8EDF2"/>
                </a:solidFill>
                <a:latin typeface="Consolas"/>
              </a:rPr>
              <a:t>node</a:t>
            </a:r>
            <a:r>
              <a:rPr sz="1400" i="0">
                <a:solidFill>
                  <a:srgbClr val="AEB6BF"/>
                </a:solidFill>
                <a:latin typeface="Consolas"/>
              </a:rPr>
              <a:t>.</a:t>
            </a:r>
            <a:r>
              <a:rPr sz="1400" i="0">
                <a:solidFill>
                  <a:srgbClr val="E8EDF2"/>
                </a:solidFill>
                <a:latin typeface="Consolas"/>
              </a:rPr>
              <a:t>state</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a</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E8EDF2"/>
                </a:solidFill>
                <a:latin typeface="Consolas"/>
              </a:rPr>
              <a:t>nxt</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seen</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continue</a:t>
            </a:r>
          </a:p>
          <a:p>
            <a:pPr>
              <a:lnSpc>
                <a:spcPct val="100000"/>
              </a:lnSpc>
              <a:spcAft>
                <a:spcPts val="0"/>
              </a:spcAft>
            </a:pPr>
            <a:r>
              <a:rPr sz="1400" i="0">
                <a:solidFill>
                  <a:srgbClr val="E8EDF2"/>
                </a:solidFill>
                <a:latin typeface="Consolas"/>
              </a:rPr>
              <a:t>        </a:t>
            </a:r>
            <a:r>
              <a:rPr sz="1400" i="0">
                <a:solidFill>
                  <a:srgbClr val="E8EDF2"/>
                </a:solidFill>
                <a:latin typeface="Consolas"/>
              </a:rPr>
              <a:t>seen</a:t>
            </a:r>
            <a:r>
              <a:rPr sz="1400" i="0">
                <a:solidFill>
                  <a:srgbClr val="AEB6BF"/>
                </a:solidFill>
                <a:latin typeface="Consolas"/>
              </a:rPr>
              <a:t>.</a:t>
            </a:r>
            <a:r>
              <a:rPr sz="1400" i="0">
                <a:solidFill>
                  <a:srgbClr val="E8EDF2"/>
                </a:solidFill>
                <a:latin typeface="Consolas"/>
              </a:rPr>
              <a:t>add</a:t>
            </a:r>
            <a:r>
              <a:rPr sz="1400" i="0">
                <a:solidFill>
                  <a:srgbClr val="AEB6BF"/>
                </a:solidFill>
                <a:latin typeface="Consolas"/>
              </a:rPr>
              <a:t>(</a:t>
            </a:r>
            <a:r>
              <a:rPr sz="1400" i="0">
                <a:solidFill>
                  <a:srgbClr val="E8EDF2"/>
                </a:solidFill>
                <a:latin typeface="Consolas"/>
              </a:rPr>
              <a:t>nxt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child</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Node</a:t>
            </a:r>
            <a:r>
              <a:rPr sz="1400" i="0">
                <a:solidFill>
                  <a:srgbClr val="AEB6BF"/>
                </a:solidFill>
                <a:latin typeface="Consolas"/>
              </a:rPr>
              <a:t>(</a:t>
            </a:r>
            <a:r>
              <a:rPr sz="1400" i="0">
                <a:solidFill>
                  <a:srgbClr val="E8EDF2"/>
                </a:solidFill>
                <a:latin typeface="Consolas"/>
              </a:rPr>
              <a:t>nxt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node</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a</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node</a:t>
            </a:r>
            <a:r>
              <a:rPr sz="1400" i="0">
                <a:solidFill>
                  <a:srgbClr val="AEB6BF"/>
                </a:solidFill>
                <a:latin typeface="Consolas"/>
              </a:rPr>
              <a:t>.</a:t>
            </a:r>
            <a:r>
              <a:rPr sz="1400" i="0">
                <a:solidFill>
                  <a:srgbClr val="E8EDF2"/>
                </a:solidFill>
                <a:latin typeface="Consolas"/>
              </a:rPr>
              <a:t>cost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cost_of</a:t>
            </a:r>
            <a:r>
              <a:rPr sz="1400" i="0">
                <a:solidFill>
                  <a:srgbClr val="AEB6BF"/>
                </a:solidFill>
                <a:latin typeface="Consolas"/>
              </a:rPr>
              <a:t>(</a:t>
            </a:r>
            <a:r>
              <a:rPr sz="1400" i="0">
                <a:solidFill>
                  <a:srgbClr val="E8EDF2"/>
                </a:solidFill>
                <a:latin typeface="Consolas"/>
              </a:rPr>
              <a:t>a</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node</a:t>
            </a:r>
            <a:r>
              <a:rPr sz="1400" i="0">
                <a:solidFill>
                  <a:srgbClr val="AEB6BF"/>
                </a:solidFill>
                <a:latin typeface="Consolas"/>
              </a:rPr>
              <a:t>.</a:t>
            </a:r>
            <a:r>
              <a:rPr sz="1400" i="0">
                <a:solidFill>
                  <a:srgbClr val="E8EDF2"/>
                </a:solidFill>
                <a:latin typeface="Consolas"/>
              </a:rPr>
              <a:t>depth</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found</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depth_limited</a:t>
            </a:r>
            <a:r>
              <a:rPr sz="1400" i="0">
                <a:solidFill>
                  <a:srgbClr val="AEB6BF"/>
                </a:solidFill>
                <a:latin typeface="Consolas"/>
              </a:rPr>
              <a:t>(</a:t>
            </a:r>
            <a:r>
              <a:rPr sz="1400" i="0">
                <a:solidFill>
                  <a:srgbClr val="E8EDF2"/>
                </a:solidFill>
                <a:latin typeface="Consolas"/>
              </a:rPr>
              <a:t>child</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limit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seen</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stats</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E8EDF2"/>
                </a:solidFill>
                <a:latin typeface="Consolas"/>
              </a:rPr>
              <a:t>found</a:t>
            </a:r>
            <a:r>
              <a:rPr sz="1400" i="0">
                <a:solidFill>
                  <a:srgbClr val="E8EDF2"/>
                </a:solidFill>
                <a:latin typeface="Consolas"/>
              </a:rPr>
              <a:t> </a:t>
            </a:r>
            <a:r>
              <a:rPr sz="1400" i="0">
                <a:solidFill>
                  <a:srgbClr val="AEB6BF"/>
                </a:solidFill>
                <a:latin typeface="Consolas"/>
              </a:rPr>
              <a:t>is</a:t>
            </a:r>
            <a:r>
              <a:rPr sz="1400" i="0">
                <a:solidFill>
                  <a:srgbClr val="E8EDF2"/>
                </a:solidFill>
                <a:latin typeface="Consolas"/>
              </a:rPr>
              <a:t> </a:t>
            </a:r>
            <a:r>
              <a:rPr sz="1400" i="0">
                <a:solidFill>
                  <a:srgbClr val="AEB6BF"/>
                </a:solidFill>
                <a:latin typeface="Consolas"/>
              </a:rPr>
              <a:t>not</a:t>
            </a:r>
            <a:r>
              <a:rPr sz="1400" i="0">
                <a:solidFill>
                  <a:srgbClr val="E8EDF2"/>
                </a:solidFill>
                <a:latin typeface="Consolas"/>
              </a:rPr>
              <a:t> </a:t>
            </a:r>
            <a:r>
              <a:rPr sz="1400" i="0">
                <a:solidFill>
                  <a:srgbClr val="5DADE2"/>
                </a:solidFill>
                <a:latin typeface="Consolas"/>
              </a:rPr>
              <a:t>None</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E8EDF2"/>
                </a:solidFill>
                <a:latin typeface="Consolas"/>
              </a:rPr>
              <a:t>found</a:t>
            </a:r>
          </a:p>
          <a:p>
            <a:pPr>
              <a:lnSpc>
                <a:spcPct val="100000"/>
              </a:lnSpc>
              <a:spcAft>
                <a:spcPts val="0"/>
              </a:spcAft>
            </a:pPr>
            <a:r>
              <a:rPr sz="1400" i="0">
                <a:solidFill>
                  <a:srgbClr val="E8EDF2"/>
                </a:solidFill>
                <a:latin typeface="Consolas"/>
              </a:rPr>
              <a:t>        </a:t>
            </a:r>
            <a:r>
              <a:rPr sz="1400" i="0">
                <a:solidFill>
                  <a:srgbClr val="E8EDF2"/>
                </a:solidFill>
                <a:latin typeface="Consolas"/>
              </a:rPr>
              <a:t>seen</a:t>
            </a:r>
            <a:r>
              <a:rPr sz="1400" i="0">
                <a:solidFill>
                  <a:srgbClr val="AEB6BF"/>
                </a:solidFill>
                <a:latin typeface="Consolas"/>
              </a:rPr>
              <a:t>.</a:t>
            </a:r>
            <a:r>
              <a:rPr sz="1400" i="0">
                <a:solidFill>
                  <a:srgbClr val="E8EDF2"/>
                </a:solidFill>
                <a:latin typeface="Consolas"/>
              </a:rPr>
              <a:t>discard</a:t>
            </a:r>
            <a:r>
              <a:rPr sz="1400" i="0">
                <a:solidFill>
                  <a:srgbClr val="AEB6BF"/>
                </a:solidFill>
                <a:latin typeface="Consolas"/>
              </a:rPr>
              <a:t>(</a:t>
            </a:r>
            <a:r>
              <a:rPr sz="1400" i="0">
                <a:solidFill>
                  <a:srgbClr val="E8EDF2"/>
                </a:solidFill>
                <a:latin typeface="Consolas"/>
              </a:rPr>
              <a:t>nxt</a:t>
            </a:r>
            <a:r>
              <a:rPr sz="1400" i="0">
                <a:solidFill>
                  <a:srgbClr val="AEB6BF"/>
                </a:solidFill>
                <a:latin typeface="Consolas"/>
              </a:rPr>
              <a:t>)</a:t>
            </a:r>
            <a:r>
              <a:rPr sz="1400" i="0">
                <a:solidFill>
                  <a:srgbClr val="E8EDF2"/>
                </a:solidFill>
                <a:latin typeface="Consolas"/>
              </a:rPr>
              <a:t>          </a:t>
            </a:r>
            <a:r>
              <a:rPr sz="1400" i="1">
                <a:solidFill>
                  <a:srgbClr val="8795A1"/>
                </a:solidFill>
                <a:latin typeface="Consolas"/>
              </a:rPr>
              <a:t># allow other branches to reuse it</a:t>
            </a:r>
          </a:p>
          <a:p>
            <a:pPr>
              <a:lnSpc>
                <a:spcPct val="100000"/>
              </a:lnSpc>
              <a:spcAft>
                <a:spcPts val="0"/>
              </a:spcAft>
            </a:pP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5DADE2"/>
                </a:solidFill>
                <a:latin typeface="Consolas"/>
              </a:rPr>
              <a:t>None</a:t>
            </a:r>
          </a:p>
        </p:txBody>
      </p:sp>
      <p:sp>
        <p:nvSpPr>
          <p:cNvPr id="14" name="!!code-num"/>
          <p:cNvSpPr txBox="1"/>
          <p:nvPr/>
        </p:nvSpPr>
        <p:spPr>
          <a:xfrm>
            <a:off x="768096" y="2066543"/>
            <a:ext cx="393192" cy="4163568"/>
          </a:xfrm>
          <a:prstGeom prst="rect">
            <a:avLst/>
          </a:prstGeom>
          <a:noFill/>
        </p:spPr>
        <p:txBody>
          <a:bodyPr wrap="none" anchor="t" lIns="0" rIns="0" tIns="0" bIns="0">
            <a:noAutofit/>
          </a:bodyPr>
          <a:lstStyle/>
          <a:p>
            <a:pPr algn="r">
              <a:lnSpc>
                <a:spcPct val="100000"/>
              </a:lnSpc>
            </a:pPr>
            <a:r>
              <a:rPr sz="1400">
                <a:solidFill>
                  <a:srgbClr val="4F5D6A"/>
                </a:solidFill>
                <a:latin typeface="Consolas"/>
              </a:rPr>
              <a:t>93</a:t>
            </a:r>
          </a:p>
          <a:p>
            <a:pPr algn="r">
              <a:lnSpc>
                <a:spcPct val="100000"/>
              </a:lnSpc>
            </a:pPr>
            <a:r>
              <a:rPr sz="1400">
                <a:solidFill>
                  <a:srgbClr val="4F5D6A"/>
                </a:solidFill>
                <a:latin typeface="Consolas"/>
              </a:rPr>
              <a:t>94</a:t>
            </a:r>
          </a:p>
          <a:p>
            <a:pPr algn="r">
              <a:lnSpc>
                <a:spcPct val="100000"/>
              </a:lnSpc>
            </a:pPr>
            <a:r>
              <a:rPr sz="1400">
                <a:solidFill>
                  <a:srgbClr val="4F5D6A"/>
                </a:solidFill>
                <a:latin typeface="Consolas"/>
              </a:rPr>
              <a:t>95</a:t>
            </a:r>
          </a:p>
          <a:p>
            <a:pPr algn="r">
              <a:lnSpc>
                <a:spcPct val="100000"/>
              </a:lnSpc>
            </a:pPr>
            <a:r>
              <a:rPr sz="1400">
                <a:solidFill>
                  <a:srgbClr val="4F5D6A"/>
                </a:solidFill>
                <a:latin typeface="Consolas"/>
              </a:rPr>
              <a:t>96</a:t>
            </a:r>
          </a:p>
          <a:p>
            <a:pPr algn="r">
              <a:lnSpc>
                <a:spcPct val="100000"/>
              </a:lnSpc>
            </a:pPr>
            <a:r>
              <a:rPr sz="1400">
                <a:solidFill>
                  <a:srgbClr val="4F5D6A"/>
                </a:solidFill>
                <a:latin typeface="Consolas"/>
              </a:rPr>
              <a:t>97</a:t>
            </a:r>
          </a:p>
          <a:p>
            <a:pPr algn="r">
              <a:lnSpc>
                <a:spcPct val="100000"/>
              </a:lnSpc>
            </a:pPr>
            <a:r>
              <a:rPr sz="1400">
                <a:solidFill>
                  <a:srgbClr val="4F5D6A"/>
                </a:solidFill>
                <a:latin typeface="Consolas"/>
              </a:rPr>
              <a:t>98</a:t>
            </a:r>
          </a:p>
          <a:p>
            <a:pPr algn="r">
              <a:lnSpc>
                <a:spcPct val="100000"/>
              </a:lnSpc>
            </a:pPr>
            <a:r>
              <a:rPr sz="1400">
                <a:solidFill>
                  <a:srgbClr val="4F5D6A"/>
                </a:solidFill>
                <a:latin typeface="Consolas"/>
              </a:rPr>
              <a:t>99</a:t>
            </a:r>
          </a:p>
          <a:p>
            <a:pPr algn="r">
              <a:lnSpc>
                <a:spcPct val="100000"/>
              </a:lnSpc>
            </a:pPr>
            <a:r>
              <a:rPr sz="1400">
                <a:solidFill>
                  <a:srgbClr val="4F5D6A"/>
                </a:solidFill>
                <a:latin typeface="Consolas"/>
              </a:rPr>
              <a:t>100</a:t>
            </a:r>
          </a:p>
          <a:p>
            <a:pPr algn="r">
              <a:lnSpc>
                <a:spcPct val="100000"/>
              </a:lnSpc>
            </a:pPr>
            <a:r>
              <a:rPr sz="1400">
                <a:solidFill>
                  <a:srgbClr val="4F5D6A"/>
                </a:solidFill>
                <a:latin typeface="Consolas"/>
              </a:rPr>
              <a:t>101</a:t>
            </a:r>
          </a:p>
          <a:p>
            <a:pPr algn="r">
              <a:lnSpc>
                <a:spcPct val="100000"/>
              </a:lnSpc>
            </a:pPr>
            <a:r>
              <a:rPr sz="1400">
                <a:solidFill>
                  <a:srgbClr val="4F5D6A"/>
                </a:solidFill>
                <a:latin typeface="Consolas"/>
              </a:rPr>
              <a:t>102</a:t>
            </a:r>
          </a:p>
          <a:p>
            <a:pPr algn="r">
              <a:lnSpc>
                <a:spcPct val="100000"/>
              </a:lnSpc>
            </a:pPr>
            <a:r>
              <a:rPr sz="1400">
                <a:solidFill>
                  <a:srgbClr val="4F5D6A"/>
                </a:solidFill>
                <a:latin typeface="Consolas"/>
              </a:rPr>
              <a:t>103</a:t>
            </a:r>
          </a:p>
          <a:p>
            <a:pPr algn="r">
              <a:lnSpc>
                <a:spcPct val="100000"/>
              </a:lnSpc>
            </a:pPr>
            <a:r>
              <a:rPr sz="1400">
                <a:solidFill>
                  <a:srgbClr val="4F5D6A"/>
                </a:solidFill>
                <a:latin typeface="Consolas"/>
              </a:rPr>
              <a:t>104</a:t>
            </a:r>
          </a:p>
          <a:p>
            <a:pPr algn="r">
              <a:lnSpc>
                <a:spcPct val="100000"/>
              </a:lnSpc>
            </a:pPr>
            <a:r>
              <a:rPr sz="1400">
                <a:solidFill>
                  <a:srgbClr val="4F5D6A"/>
                </a:solidFill>
                <a:latin typeface="Consolas"/>
              </a:rPr>
              <a:t>105</a:t>
            </a:r>
          </a:p>
          <a:p>
            <a:pPr algn="r">
              <a:lnSpc>
                <a:spcPct val="100000"/>
              </a:lnSpc>
            </a:pPr>
            <a:r>
              <a:rPr sz="1400">
                <a:solidFill>
                  <a:srgbClr val="4F5D6A"/>
                </a:solidFill>
                <a:latin typeface="Consolas"/>
              </a:rPr>
              <a:t>106</a:t>
            </a:r>
          </a:p>
          <a:p>
            <a:pPr algn="r">
              <a:lnSpc>
                <a:spcPct val="100000"/>
              </a:lnSpc>
            </a:pPr>
            <a:r>
              <a:rPr sz="1400">
                <a:solidFill>
                  <a:srgbClr val="4F5D6A"/>
                </a:solidFill>
                <a:latin typeface="Consolas"/>
              </a:rPr>
              <a:t>107</a:t>
            </a:r>
          </a:p>
          <a:p>
            <a:pPr algn="r">
              <a:lnSpc>
                <a:spcPct val="100000"/>
              </a:lnSpc>
            </a:pPr>
            <a:r>
              <a:rPr sz="1400">
                <a:solidFill>
                  <a:srgbClr val="4F5D6A"/>
                </a:solidFill>
                <a:latin typeface="Consolas"/>
              </a:rPr>
              <a:t>108</a:t>
            </a:r>
          </a:p>
          <a:p>
            <a:pPr algn="r">
              <a:lnSpc>
                <a:spcPct val="100000"/>
              </a:lnSpc>
            </a:pPr>
            <a:r>
              <a:rPr sz="1400">
                <a:solidFill>
                  <a:srgbClr val="4F5D6A"/>
                </a:solidFill>
                <a:latin typeface="Consolas"/>
              </a:rPr>
              <a:t>109</a:t>
            </a:r>
          </a:p>
          <a:p>
            <a:pPr algn="r">
              <a:lnSpc>
                <a:spcPct val="100000"/>
              </a:lnSpc>
            </a:pPr>
            <a:r>
              <a:rPr sz="1400">
                <a:solidFill>
                  <a:srgbClr val="4F5D6A"/>
                </a:solidFill>
                <a:latin typeface="Consolas"/>
              </a:rPr>
              <a:t>110</a:t>
            </a:r>
          </a:p>
          <a:p>
            <a:pPr algn="r">
              <a:lnSpc>
                <a:spcPct val="100000"/>
              </a:lnSpc>
            </a:pPr>
            <a:r>
              <a:rPr sz="1400">
                <a:solidFill>
                  <a:srgbClr val="4F5D6A"/>
                </a:solidFill>
                <a:latin typeface="Consolas"/>
              </a:rPr>
              <a:t>111</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742103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Task Ordering Four Ways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8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  ·  Problem Formulation and Uninformed Search</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§4.7  ·  Handout p. 37     </a:t>
            </a:r>
            <a:fld id="{0E295BDA-67EC-4CA8-9396-CFA62B58876A}" type="slidenum">
              <a:rPr lang="en-GB" sz="1000">
                <a:solidFill>
                  <a:srgbClr val="8795A1"/>
                </a:solidFill>
                <a:latin typeface="Segoe UI"/>
              </a:rPr>
              <a:t>29</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489704"/>
          </a:xfrm>
          <a:prstGeom prst="roundRect">
            <a:avLst>
              <a:gd name="adj" fmla="val 203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code/ch04_task_ordering_four.py</a:t>
            </a:r>
          </a:p>
        </p:txBody>
      </p:sp>
      <p:sp>
        <p:nvSpPr>
          <p:cNvPr id="13" name="!!code-text" descr="def iterative_deepening(): stats = {&quot;expanded&quot;: 0} for limit in range(1, len(TASKS) + 2): start = Node(frozenset(), None, None, 0, 0) found = depth_limited(start, limit, {start.state}, stats) if found is not None: return path(found), found.cost, stats[&quot;expanded&quot;], limit return None, None, stats[&quot;expanded&quot;], None def legal(plan): done = set() for t in plan: if not TASKS[t][1] &lt;= done: return False done.add(t) return done == set(TASKS)"/>
          <p:cNvSpPr txBox="1"/>
          <p:nvPr/>
        </p:nvSpPr>
        <p:spPr>
          <a:xfrm>
            <a:off x="1362456" y="2066543"/>
            <a:ext cx="9987991" cy="3995928"/>
          </a:xfrm>
          <a:prstGeom prst="rect">
            <a:avLst/>
          </a:prstGeom>
          <a:noFill/>
        </p:spPr>
        <p:txBody>
          <a:bodyPr wrap="none" anchor="t" lIns="0" rIns="0" tIns="0" bIns="0">
            <a:noAutofit/>
          </a:bodyPr>
          <a:lstStyle/>
          <a:p>
            <a:pPr>
              <a:lnSpc>
                <a:spcPct val="100000"/>
              </a:lnSpc>
              <a:spcAft>
                <a:spcPts val="0"/>
              </a:spcAft>
            </a:pPr>
            <a:r>
              <a:rPr sz="1500" i="0">
                <a:solidFill>
                  <a:srgbClr val="5DADE2"/>
                </a:solidFill>
                <a:latin typeface="Consolas"/>
              </a:rPr>
              <a:t>def</a:t>
            </a:r>
            <a:r>
              <a:rPr sz="1500" i="0">
                <a:solidFill>
                  <a:srgbClr val="E8EDF2"/>
                </a:solidFill>
                <a:latin typeface="Consolas"/>
              </a:rPr>
              <a:t> </a:t>
            </a:r>
            <a:r>
              <a:rPr sz="1500" i="0">
                <a:solidFill>
                  <a:srgbClr val="C39BD3"/>
                </a:solidFill>
                <a:latin typeface="Consolas"/>
              </a:rPr>
              <a:t>iterative_deepening</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stats</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expanded</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0</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for</a:t>
            </a:r>
            <a:r>
              <a:rPr sz="1500" i="0">
                <a:solidFill>
                  <a:srgbClr val="E8EDF2"/>
                </a:solidFill>
                <a:latin typeface="Consolas"/>
              </a:rPr>
              <a:t> </a:t>
            </a:r>
            <a:r>
              <a:rPr sz="1500" i="0">
                <a:solidFill>
                  <a:srgbClr val="E8EDF2"/>
                </a:solidFill>
                <a:latin typeface="Consolas"/>
              </a:rPr>
              <a:t>limit</a:t>
            </a:r>
            <a:r>
              <a:rPr sz="1500" i="0">
                <a:solidFill>
                  <a:srgbClr val="E8EDF2"/>
                </a:solidFill>
                <a:latin typeface="Consolas"/>
              </a:rPr>
              <a:t> </a:t>
            </a:r>
            <a:r>
              <a:rPr sz="1500" i="0">
                <a:solidFill>
                  <a:srgbClr val="AEB6BF"/>
                </a:solidFill>
                <a:latin typeface="Consolas"/>
              </a:rPr>
              <a:t>in</a:t>
            </a:r>
            <a:r>
              <a:rPr sz="1500" i="0">
                <a:solidFill>
                  <a:srgbClr val="E8EDF2"/>
                </a:solidFill>
                <a:latin typeface="Consolas"/>
              </a:rPr>
              <a:t> </a:t>
            </a:r>
            <a:r>
              <a:rPr sz="1500" i="0">
                <a:solidFill>
                  <a:srgbClr val="C39BD3"/>
                </a:solidFill>
                <a:latin typeface="Consolas"/>
              </a:rPr>
              <a:t>range</a:t>
            </a:r>
            <a:r>
              <a:rPr sz="1500" i="0">
                <a:solidFill>
                  <a:srgbClr val="AEB6BF"/>
                </a:solidFill>
                <a:latin typeface="Consolas"/>
              </a:rPr>
              <a:t>(</a:t>
            </a:r>
            <a:r>
              <a:rPr sz="1500" i="0">
                <a:solidFill>
                  <a:srgbClr val="F7DC6F"/>
                </a:solidFill>
                <a:latin typeface="Consolas"/>
              </a:rPr>
              <a:t>1</a:t>
            </a:r>
            <a:r>
              <a:rPr sz="1500" i="0">
                <a:solidFill>
                  <a:srgbClr val="AEB6BF"/>
                </a:solidFill>
                <a:latin typeface="Consolas"/>
              </a:rPr>
              <a:t>,</a:t>
            </a:r>
            <a:r>
              <a:rPr sz="1500" i="0">
                <a:solidFill>
                  <a:srgbClr val="E8EDF2"/>
                </a:solidFill>
                <a:latin typeface="Consolas"/>
              </a:rPr>
              <a:t> </a:t>
            </a:r>
            <a:r>
              <a:rPr sz="1500" i="0">
                <a:solidFill>
                  <a:srgbClr val="C39BD3"/>
                </a:solidFill>
                <a:latin typeface="Consolas"/>
              </a:rPr>
              <a:t>len</a:t>
            </a:r>
            <a:r>
              <a:rPr sz="1500" i="0">
                <a:solidFill>
                  <a:srgbClr val="AEB6BF"/>
                </a:solidFill>
                <a:latin typeface="Consolas"/>
              </a:rPr>
              <a:t>(</a:t>
            </a:r>
            <a:r>
              <a:rPr sz="1500" i="0">
                <a:solidFill>
                  <a:srgbClr val="E8EDF2"/>
                </a:solidFill>
                <a:latin typeface="Consolas"/>
              </a:rPr>
              <a:t>TASKS</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2</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start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Node</a:t>
            </a:r>
            <a:r>
              <a:rPr sz="1500" i="0">
                <a:solidFill>
                  <a:srgbClr val="AEB6BF"/>
                </a:solidFill>
                <a:latin typeface="Consolas"/>
              </a:rPr>
              <a:t>(</a:t>
            </a:r>
            <a:r>
              <a:rPr sz="1500" i="0">
                <a:solidFill>
                  <a:srgbClr val="C39BD3"/>
                </a:solidFill>
                <a:latin typeface="Consolas"/>
              </a:rPr>
              <a:t>frozenset</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5DADE2"/>
                </a:solidFill>
                <a:latin typeface="Consolas"/>
              </a:rPr>
              <a:t>None</a:t>
            </a:r>
            <a:r>
              <a:rPr sz="1500" i="0">
                <a:solidFill>
                  <a:srgbClr val="AEB6BF"/>
                </a:solidFill>
                <a:latin typeface="Consolas"/>
              </a:rPr>
              <a:t>,</a:t>
            </a:r>
            <a:r>
              <a:rPr sz="1500" i="0">
                <a:solidFill>
                  <a:srgbClr val="E8EDF2"/>
                </a:solidFill>
                <a:latin typeface="Consolas"/>
              </a:rPr>
              <a:t> </a:t>
            </a:r>
            <a:r>
              <a:rPr sz="1500" i="0">
                <a:solidFill>
                  <a:srgbClr val="5DADE2"/>
                </a:solidFill>
                <a:latin typeface="Consolas"/>
              </a:rPr>
              <a:t>None</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0</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0</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found</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depth_limited</a:t>
            </a:r>
            <a:r>
              <a:rPr sz="1500" i="0">
                <a:solidFill>
                  <a:srgbClr val="AEB6BF"/>
                </a:solidFill>
                <a:latin typeface="Consolas"/>
              </a:rPr>
              <a:t>(</a:t>
            </a:r>
            <a:r>
              <a:rPr sz="1500" i="0">
                <a:solidFill>
                  <a:srgbClr val="E8EDF2"/>
                </a:solidFill>
                <a:latin typeface="Consolas"/>
              </a:rPr>
              <a:t>start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limit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start</a:t>
            </a:r>
            <a:r>
              <a:rPr sz="1500" i="0">
                <a:solidFill>
                  <a:srgbClr val="AEB6BF"/>
                </a:solidFill>
                <a:latin typeface="Consolas"/>
              </a:rPr>
              <a:t>.</a:t>
            </a:r>
            <a:r>
              <a:rPr sz="1500" i="0">
                <a:solidFill>
                  <a:srgbClr val="E8EDF2"/>
                </a:solidFill>
                <a:latin typeface="Consolas"/>
              </a:rPr>
              <a:t>state</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stats</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if</a:t>
            </a:r>
            <a:r>
              <a:rPr sz="1500" i="0">
                <a:solidFill>
                  <a:srgbClr val="E8EDF2"/>
                </a:solidFill>
                <a:latin typeface="Consolas"/>
              </a:rPr>
              <a:t> </a:t>
            </a:r>
            <a:r>
              <a:rPr sz="1500" i="0">
                <a:solidFill>
                  <a:srgbClr val="E8EDF2"/>
                </a:solidFill>
                <a:latin typeface="Consolas"/>
              </a:rPr>
              <a:t>found</a:t>
            </a:r>
            <a:r>
              <a:rPr sz="1500" i="0">
                <a:solidFill>
                  <a:srgbClr val="E8EDF2"/>
                </a:solidFill>
                <a:latin typeface="Consolas"/>
              </a:rPr>
              <a:t> </a:t>
            </a:r>
            <a:r>
              <a:rPr sz="1500" i="0">
                <a:solidFill>
                  <a:srgbClr val="AEB6BF"/>
                </a:solidFill>
                <a:latin typeface="Consolas"/>
              </a:rPr>
              <a:t>is</a:t>
            </a:r>
            <a:r>
              <a:rPr sz="1500" i="0">
                <a:solidFill>
                  <a:srgbClr val="E8EDF2"/>
                </a:solidFill>
                <a:latin typeface="Consolas"/>
              </a:rPr>
              <a:t> </a:t>
            </a:r>
            <a:r>
              <a:rPr sz="1500" i="0">
                <a:solidFill>
                  <a:srgbClr val="AEB6BF"/>
                </a:solidFill>
                <a:latin typeface="Consolas"/>
              </a:rPr>
              <a:t>not</a:t>
            </a:r>
            <a:r>
              <a:rPr sz="1500" i="0">
                <a:solidFill>
                  <a:srgbClr val="E8EDF2"/>
                </a:solidFill>
                <a:latin typeface="Consolas"/>
              </a:rPr>
              <a:t> </a:t>
            </a:r>
            <a:r>
              <a:rPr sz="1500" i="0">
                <a:solidFill>
                  <a:srgbClr val="5DADE2"/>
                </a:solidFill>
                <a:latin typeface="Consolas"/>
              </a:rPr>
              <a:t>None</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return</a:t>
            </a:r>
            <a:r>
              <a:rPr sz="1500" i="0">
                <a:solidFill>
                  <a:srgbClr val="E8EDF2"/>
                </a:solidFill>
                <a:latin typeface="Consolas"/>
              </a:rPr>
              <a:t> </a:t>
            </a:r>
            <a:r>
              <a:rPr sz="1500" i="0">
                <a:solidFill>
                  <a:srgbClr val="E8EDF2"/>
                </a:solidFill>
                <a:latin typeface="Consolas"/>
              </a:rPr>
              <a:t>path</a:t>
            </a:r>
            <a:r>
              <a:rPr sz="1500" i="0">
                <a:solidFill>
                  <a:srgbClr val="AEB6BF"/>
                </a:solidFill>
                <a:latin typeface="Consolas"/>
              </a:rPr>
              <a:t>(</a:t>
            </a:r>
            <a:r>
              <a:rPr sz="1500" i="0">
                <a:solidFill>
                  <a:srgbClr val="E8EDF2"/>
                </a:solidFill>
                <a:latin typeface="Consolas"/>
              </a:rPr>
              <a:t>found</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found</a:t>
            </a:r>
            <a:r>
              <a:rPr sz="1500" i="0">
                <a:solidFill>
                  <a:srgbClr val="AEB6BF"/>
                </a:solidFill>
                <a:latin typeface="Consolas"/>
              </a:rPr>
              <a:t>.</a:t>
            </a:r>
            <a:r>
              <a:rPr sz="1500" i="0">
                <a:solidFill>
                  <a:srgbClr val="E8EDF2"/>
                </a:solidFill>
                <a:latin typeface="Consolas"/>
              </a:rPr>
              <a:t>cost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stats</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expanded</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limit</a:t>
            </a:r>
          </a:p>
          <a:p>
            <a:pPr>
              <a:lnSpc>
                <a:spcPct val="100000"/>
              </a:lnSpc>
              <a:spcAft>
                <a:spcPts val="0"/>
              </a:spcAft>
            </a:pPr>
            <a:r>
              <a:rPr sz="1500" i="0">
                <a:solidFill>
                  <a:srgbClr val="E8EDF2"/>
                </a:solidFill>
                <a:latin typeface="Consolas"/>
              </a:rPr>
              <a:t>    </a:t>
            </a:r>
            <a:r>
              <a:rPr sz="1500" i="0">
                <a:solidFill>
                  <a:srgbClr val="5DADE2"/>
                </a:solidFill>
                <a:latin typeface="Consolas"/>
              </a:rPr>
              <a:t>return</a:t>
            </a:r>
            <a:r>
              <a:rPr sz="1500" i="0">
                <a:solidFill>
                  <a:srgbClr val="E8EDF2"/>
                </a:solidFill>
                <a:latin typeface="Consolas"/>
              </a:rPr>
              <a:t> </a:t>
            </a:r>
            <a:r>
              <a:rPr sz="1500" i="0">
                <a:solidFill>
                  <a:srgbClr val="5DADE2"/>
                </a:solidFill>
                <a:latin typeface="Consolas"/>
              </a:rPr>
              <a:t>None</a:t>
            </a:r>
            <a:r>
              <a:rPr sz="1500" i="0">
                <a:solidFill>
                  <a:srgbClr val="AEB6BF"/>
                </a:solidFill>
                <a:latin typeface="Consolas"/>
              </a:rPr>
              <a:t>,</a:t>
            </a:r>
            <a:r>
              <a:rPr sz="1500" i="0">
                <a:solidFill>
                  <a:srgbClr val="E8EDF2"/>
                </a:solidFill>
                <a:latin typeface="Consolas"/>
              </a:rPr>
              <a:t> </a:t>
            </a:r>
            <a:r>
              <a:rPr sz="1500" i="0">
                <a:solidFill>
                  <a:srgbClr val="5DADE2"/>
                </a:solidFill>
                <a:latin typeface="Consolas"/>
              </a:rPr>
              <a:t>None</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stats</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expanded</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5DADE2"/>
                </a:solidFill>
                <a:latin typeface="Consolas"/>
              </a:rPr>
              <a:t>None</a:t>
            </a:r>
          </a:p>
          <a:p>
            <a:pPr>
              <a:lnSpc>
                <a:spcPct val="100000"/>
              </a:lnSpc>
              <a:spcAft>
                <a:spcPts val="0"/>
              </a:spcAft>
            </a:pPr>
            <a:r>
              <a:rPr sz="1500">
                <a:latin typeface="Consolas"/>
              </a:rPr>
              <a:t> </a:t>
            </a:r>
          </a:p>
          <a:p>
            <a:pPr>
              <a:lnSpc>
                <a:spcPct val="100000"/>
              </a:lnSpc>
              <a:spcAft>
                <a:spcPts val="0"/>
              </a:spcAft>
            </a:pPr>
            <a:r>
              <a:rPr sz="1500">
                <a:latin typeface="Consolas"/>
              </a:rPr>
              <a:t> </a:t>
            </a:r>
          </a:p>
          <a:p>
            <a:pPr>
              <a:lnSpc>
                <a:spcPct val="100000"/>
              </a:lnSpc>
              <a:spcAft>
                <a:spcPts val="0"/>
              </a:spcAft>
            </a:pPr>
            <a:r>
              <a:rPr sz="1500" i="0">
                <a:solidFill>
                  <a:srgbClr val="5DADE2"/>
                </a:solidFill>
                <a:latin typeface="Consolas"/>
              </a:rPr>
              <a:t>def</a:t>
            </a:r>
            <a:r>
              <a:rPr sz="1500" i="0">
                <a:solidFill>
                  <a:srgbClr val="E8EDF2"/>
                </a:solidFill>
                <a:latin typeface="Consolas"/>
              </a:rPr>
              <a:t> </a:t>
            </a:r>
            <a:r>
              <a:rPr sz="1500" i="0">
                <a:solidFill>
                  <a:srgbClr val="C39BD3"/>
                </a:solidFill>
                <a:latin typeface="Consolas"/>
              </a:rPr>
              <a:t>legal</a:t>
            </a:r>
            <a:r>
              <a:rPr sz="1500" i="0">
                <a:solidFill>
                  <a:srgbClr val="AEB6BF"/>
                </a:solidFill>
                <a:latin typeface="Consolas"/>
              </a:rPr>
              <a:t>(</a:t>
            </a:r>
            <a:r>
              <a:rPr sz="1500" i="0">
                <a:solidFill>
                  <a:srgbClr val="E8EDF2"/>
                </a:solidFill>
                <a:latin typeface="Consolas"/>
              </a:rPr>
              <a:t>plan</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done</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C39BD3"/>
                </a:solidFill>
                <a:latin typeface="Consolas"/>
              </a:rPr>
              <a:t>set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for</a:t>
            </a:r>
            <a:r>
              <a:rPr sz="1500" i="0">
                <a:solidFill>
                  <a:srgbClr val="E8EDF2"/>
                </a:solidFill>
                <a:latin typeface="Consolas"/>
              </a:rPr>
              <a:t> </a:t>
            </a:r>
            <a:r>
              <a:rPr sz="1500" i="0">
                <a:solidFill>
                  <a:srgbClr val="E8EDF2"/>
                </a:solidFill>
                <a:latin typeface="Consolas"/>
              </a:rPr>
              <a:t>t</a:t>
            </a:r>
            <a:r>
              <a:rPr sz="1500" i="0">
                <a:solidFill>
                  <a:srgbClr val="E8EDF2"/>
                </a:solidFill>
                <a:latin typeface="Consolas"/>
              </a:rPr>
              <a:t> </a:t>
            </a:r>
            <a:r>
              <a:rPr sz="1500" i="0">
                <a:solidFill>
                  <a:srgbClr val="AEB6BF"/>
                </a:solidFill>
                <a:latin typeface="Consolas"/>
              </a:rPr>
              <a:t>in</a:t>
            </a:r>
            <a:r>
              <a:rPr sz="1500" i="0">
                <a:solidFill>
                  <a:srgbClr val="E8EDF2"/>
                </a:solidFill>
                <a:latin typeface="Consolas"/>
              </a:rPr>
              <a:t> </a:t>
            </a:r>
            <a:r>
              <a:rPr sz="1500" i="0">
                <a:solidFill>
                  <a:srgbClr val="E8EDF2"/>
                </a:solidFill>
                <a:latin typeface="Consolas"/>
              </a:rPr>
              <a:t>plan</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if</a:t>
            </a:r>
            <a:r>
              <a:rPr sz="1500" i="0">
                <a:solidFill>
                  <a:srgbClr val="E8EDF2"/>
                </a:solidFill>
                <a:latin typeface="Consolas"/>
              </a:rPr>
              <a:t> </a:t>
            </a:r>
            <a:r>
              <a:rPr sz="1500" i="0">
                <a:solidFill>
                  <a:srgbClr val="AEB6BF"/>
                </a:solidFill>
                <a:latin typeface="Consolas"/>
              </a:rPr>
              <a:t>not</a:t>
            </a:r>
            <a:r>
              <a:rPr sz="1500" i="0">
                <a:solidFill>
                  <a:srgbClr val="E8EDF2"/>
                </a:solidFill>
                <a:latin typeface="Consolas"/>
              </a:rPr>
              <a:t> </a:t>
            </a:r>
            <a:r>
              <a:rPr sz="1500" i="0">
                <a:solidFill>
                  <a:srgbClr val="E8EDF2"/>
                </a:solidFill>
                <a:latin typeface="Consolas"/>
              </a:rPr>
              <a:t>TASKS</a:t>
            </a:r>
            <a:r>
              <a:rPr sz="1500" i="0">
                <a:solidFill>
                  <a:srgbClr val="AEB6BF"/>
                </a:solidFill>
                <a:latin typeface="Consolas"/>
              </a:rPr>
              <a:t>[</a:t>
            </a:r>
            <a:r>
              <a:rPr sz="1500" i="0">
                <a:solidFill>
                  <a:srgbClr val="E8EDF2"/>
                </a:solidFill>
                <a:latin typeface="Consolas"/>
              </a:rPr>
              <a:t>t</a:t>
            </a:r>
            <a:r>
              <a:rPr sz="1500" i="0">
                <a:solidFill>
                  <a:srgbClr val="AEB6BF"/>
                </a:solidFill>
                <a:latin typeface="Consolas"/>
              </a:rPr>
              <a:t>]</a:t>
            </a:r>
            <a:r>
              <a:rPr sz="1500" i="0">
                <a:solidFill>
                  <a:srgbClr val="AEB6BF"/>
                </a:solidFill>
                <a:latin typeface="Consolas"/>
              </a:rPr>
              <a:t>[</a:t>
            </a:r>
            <a:r>
              <a:rPr sz="1500" i="0">
                <a:solidFill>
                  <a:srgbClr val="F7DC6F"/>
                </a:solidFill>
                <a:latin typeface="Consolas"/>
              </a:rPr>
              <a:t>1</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&lt;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done</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return</a:t>
            </a:r>
            <a:r>
              <a:rPr sz="1500" i="0">
                <a:solidFill>
                  <a:srgbClr val="E8EDF2"/>
                </a:solidFill>
                <a:latin typeface="Consolas"/>
              </a:rPr>
              <a:t> </a:t>
            </a:r>
            <a:r>
              <a:rPr sz="1500" i="0">
                <a:solidFill>
                  <a:srgbClr val="5DADE2"/>
                </a:solidFill>
                <a:latin typeface="Consolas"/>
              </a:rPr>
              <a:t>False</a:t>
            </a:r>
          </a:p>
          <a:p>
            <a:pPr>
              <a:lnSpc>
                <a:spcPct val="100000"/>
              </a:lnSpc>
              <a:spcAft>
                <a:spcPts val="0"/>
              </a:spcAft>
            </a:pPr>
            <a:r>
              <a:rPr sz="1500" i="0">
                <a:solidFill>
                  <a:srgbClr val="E8EDF2"/>
                </a:solidFill>
                <a:latin typeface="Consolas"/>
              </a:rPr>
              <a:t>        </a:t>
            </a:r>
            <a:r>
              <a:rPr sz="1500" i="0">
                <a:solidFill>
                  <a:srgbClr val="E8EDF2"/>
                </a:solidFill>
                <a:latin typeface="Consolas"/>
              </a:rPr>
              <a:t>done</a:t>
            </a:r>
            <a:r>
              <a:rPr sz="1500" i="0">
                <a:solidFill>
                  <a:srgbClr val="AEB6BF"/>
                </a:solidFill>
                <a:latin typeface="Consolas"/>
              </a:rPr>
              <a:t>.</a:t>
            </a:r>
            <a:r>
              <a:rPr sz="1500" i="0">
                <a:solidFill>
                  <a:srgbClr val="E8EDF2"/>
                </a:solidFill>
                <a:latin typeface="Consolas"/>
              </a:rPr>
              <a:t>add</a:t>
            </a:r>
            <a:r>
              <a:rPr sz="1500" i="0">
                <a:solidFill>
                  <a:srgbClr val="AEB6BF"/>
                </a:solidFill>
                <a:latin typeface="Consolas"/>
              </a:rPr>
              <a:t>(</a:t>
            </a:r>
            <a:r>
              <a:rPr sz="1500" i="0">
                <a:solidFill>
                  <a:srgbClr val="E8EDF2"/>
                </a:solidFill>
                <a:latin typeface="Consolas"/>
              </a:rPr>
              <a:t>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return</a:t>
            </a:r>
            <a:r>
              <a:rPr sz="1500" i="0">
                <a:solidFill>
                  <a:srgbClr val="E8EDF2"/>
                </a:solidFill>
                <a:latin typeface="Consolas"/>
              </a:rPr>
              <a:t> </a:t>
            </a:r>
            <a:r>
              <a:rPr sz="1500" i="0">
                <a:solidFill>
                  <a:srgbClr val="E8EDF2"/>
                </a:solidFill>
                <a:latin typeface="Consolas"/>
              </a:rPr>
              <a:t>done</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C39BD3"/>
                </a:solidFill>
                <a:latin typeface="Consolas"/>
              </a:rPr>
              <a:t>set</a:t>
            </a:r>
            <a:r>
              <a:rPr sz="1500" i="0">
                <a:solidFill>
                  <a:srgbClr val="AEB6BF"/>
                </a:solidFill>
                <a:latin typeface="Consolas"/>
              </a:rPr>
              <a:t>(</a:t>
            </a:r>
            <a:r>
              <a:rPr sz="1500" i="0">
                <a:solidFill>
                  <a:srgbClr val="E8EDF2"/>
                </a:solidFill>
                <a:latin typeface="Consolas"/>
              </a:rPr>
              <a:t>TASKS</a:t>
            </a:r>
            <a:r>
              <a:rPr sz="1500" i="0">
                <a:solidFill>
                  <a:srgbClr val="AEB6BF"/>
                </a:solidFill>
                <a:latin typeface="Consolas"/>
              </a:rPr>
              <a:t>)</a:t>
            </a:r>
          </a:p>
        </p:txBody>
      </p:sp>
      <p:sp>
        <p:nvSpPr>
          <p:cNvPr id="14" name="!!code-num"/>
          <p:cNvSpPr txBox="1"/>
          <p:nvPr/>
        </p:nvSpPr>
        <p:spPr>
          <a:xfrm>
            <a:off x="768096" y="2066543"/>
            <a:ext cx="393192" cy="3995928"/>
          </a:xfrm>
          <a:prstGeom prst="rect">
            <a:avLst/>
          </a:prstGeom>
          <a:noFill/>
        </p:spPr>
        <p:txBody>
          <a:bodyPr wrap="none" anchor="t" lIns="0" rIns="0" tIns="0" bIns="0">
            <a:noAutofit/>
          </a:bodyPr>
          <a:lstStyle/>
          <a:p>
            <a:pPr algn="r">
              <a:lnSpc>
                <a:spcPct val="100000"/>
              </a:lnSpc>
            </a:pPr>
            <a:r>
              <a:rPr sz="1500">
                <a:solidFill>
                  <a:srgbClr val="4F5D6A"/>
                </a:solidFill>
                <a:latin typeface="Consolas"/>
              </a:rPr>
              <a:t>114</a:t>
            </a:r>
          </a:p>
          <a:p>
            <a:pPr algn="r">
              <a:lnSpc>
                <a:spcPct val="100000"/>
              </a:lnSpc>
            </a:pPr>
            <a:r>
              <a:rPr sz="1500">
                <a:solidFill>
                  <a:srgbClr val="4F5D6A"/>
                </a:solidFill>
                <a:latin typeface="Consolas"/>
              </a:rPr>
              <a:t>115</a:t>
            </a:r>
          </a:p>
          <a:p>
            <a:pPr algn="r">
              <a:lnSpc>
                <a:spcPct val="100000"/>
              </a:lnSpc>
            </a:pPr>
            <a:r>
              <a:rPr sz="1500">
                <a:solidFill>
                  <a:srgbClr val="4F5D6A"/>
                </a:solidFill>
                <a:latin typeface="Consolas"/>
              </a:rPr>
              <a:t>116</a:t>
            </a:r>
          </a:p>
          <a:p>
            <a:pPr algn="r">
              <a:lnSpc>
                <a:spcPct val="100000"/>
              </a:lnSpc>
            </a:pPr>
            <a:r>
              <a:rPr sz="1500">
                <a:solidFill>
                  <a:srgbClr val="4F5D6A"/>
                </a:solidFill>
                <a:latin typeface="Consolas"/>
              </a:rPr>
              <a:t>117</a:t>
            </a:r>
          </a:p>
          <a:p>
            <a:pPr algn="r">
              <a:lnSpc>
                <a:spcPct val="100000"/>
              </a:lnSpc>
            </a:pPr>
            <a:r>
              <a:rPr sz="1500">
                <a:solidFill>
                  <a:srgbClr val="4F5D6A"/>
                </a:solidFill>
                <a:latin typeface="Consolas"/>
              </a:rPr>
              <a:t>118</a:t>
            </a:r>
          </a:p>
          <a:p>
            <a:pPr algn="r">
              <a:lnSpc>
                <a:spcPct val="100000"/>
              </a:lnSpc>
            </a:pPr>
            <a:r>
              <a:rPr sz="1500">
                <a:solidFill>
                  <a:srgbClr val="4F5D6A"/>
                </a:solidFill>
                <a:latin typeface="Consolas"/>
              </a:rPr>
              <a:t>119</a:t>
            </a:r>
          </a:p>
          <a:p>
            <a:pPr algn="r">
              <a:lnSpc>
                <a:spcPct val="100000"/>
              </a:lnSpc>
            </a:pPr>
            <a:r>
              <a:rPr sz="1500">
                <a:solidFill>
                  <a:srgbClr val="4F5D6A"/>
                </a:solidFill>
                <a:latin typeface="Consolas"/>
              </a:rPr>
              <a:t>120</a:t>
            </a:r>
          </a:p>
          <a:p>
            <a:pPr algn="r">
              <a:lnSpc>
                <a:spcPct val="100000"/>
              </a:lnSpc>
            </a:pPr>
            <a:r>
              <a:rPr sz="1500">
                <a:solidFill>
                  <a:srgbClr val="4F5D6A"/>
                </a:solidFill>
                <a:latin typeface="Consolas"/>
              </a:rPr>
              <a:t>121</a:t>
            </a:r>
          </a:p>
          <a:p>
            <a:pPr algn="r">
              <a:lnSpc>
                <a:spcPct val="100000"/>
              </a:lnSpc>
            </a:pPr>
            <a:r>
              <a:rPr sz="1500">
                <a:solidFill>
                  <a:srgbClr val="4F5D6A"/>
                </a:solidFill>
                <a:latin typeface="Consolas"/>
              </a:rPr>
              <a:t>122</a:t>
            </a:r>
          </a:p>
          <a:p>
            <a:pPr algn="r">
              <a:lnSpc>
                <a:spcPct val="100000"/>
              </a:lnSpc>
            </a:pPr>
            <a:r>
              <a:rPr sz="1500">
                <a:solidFill>
                  <a:srgbClr val="4F5D6A"/>
                </a:solidFill>
                <a:latin typeface="Consolas"/>
              </a:rPr>
              <a:t>123</a:t>
            </a:r>
          </a:p>
          <a:p>
            <a:pPr algn="r">
              <a:lnSpc>
                <a:spcPct val="100000"/>
              </a:lnSpc>
            </a:pPr>
            <a:r>
              <a:rPr sz="1500">
                <a:solidFill>
                  <a:srgbClr val="4F5D6A"/>
                </a:solidFill>
                <a:latin typeface="Consolas"/>
              </a:rPr>
              <a:t>124</a:t>
            </a:r>
          </a:p>
          <a:p>
            <a:pPr algn="r">
              <a:lnSpc>
                <a:spcPct val="100000"/>
              </a:lnSpc>
            </a:pPr>
            <a:r>
              <a:rPr sz="1500">
                <a:solidFill>
                  <a:srgbClr val="4F5D6A"/>
                </a:solidFill>
                <a:latin typeface="Consolas"/>
              </a:rPr>
              <a:t>125</a:t>
            </a:r>
          </a:p>
          <a:p>
            <a:pPr algn="r">
              <a:lnSpc>
                <a:spcPct val="100000"/>
              </a:lnSpc>
            </a:pPr>
            <a:r>
              <a:rPr sz="1500">
                <a:solidFill>
                  <a:srgbClr val="4F5D6A"/>
                </a:solidFill>
                <a:latin typeface="Consolas"/>
              </a:rPr>
              <a:t>126</a:t>
            </a:r>
          </a:p>
          <a:p>
            <a:pPr algn="r">
              <a:lnSpc>
                <a:spcPct val="100000"/>
              </a:lnSpc>
            </a:pPr>
            <a:r>
              <a:rPr sz="1500">
                <a:solidFill>
                  <a:srgbClr val="4F5D6A"/>
                </a:solidFill>
                <a:latin typeface="Consolas"/>
              </a:rPr>
              <a:t>127</a:t>
            </a:r>
          </a:p>
          <a:p>
            <a:pPr algn="r">
              <a:lnSpc>
                <a:spcPct val="100000"/>
              </a:lnSpc>
            </a:pPr>
            <a:r>
              <a:rPr sz="1500">
                <a:solidFill>
                  <a:srgbClr val="4F5D6A"/>
                </a:solidFill>
                <a:latin typeface="Consolas"/>
              </a:rPr>
              <a:t>128</a:t>
            </a:r>
          </a:p>
          <a:p>
            <a:pPr algn="r">
              <a:lnSpc>
                <a:spcPct val="100000"/>
              </a:lnSpc>
            </a:pPr>
            <a:r>
              <a:rPr sz="1500">
                <a:solidFill>
                  <a:srgbClr val="4F5D6A"/>
                </a:solidFill>
                <a:latin typeface="Consolas"/>
              </a:rPr>
              <a:t>129</a:t>
            </a:r>
          </a:p>
          <a:p>
            <a:pPr algn="r">
              <a:lnSpc>
                <a:spcPct val="100000"/>
              </a:lnSpc>
            </a:pPr>
            <a:r>
              <a:rPr sz="1500">
                <a:solidFill>
                  <a:srgbClr val="4F5D6A"/>
                </a:solidFill>
                <a:latin typeface="Consolas"/>
              </a:rPr>
              <a:t>130</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768606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Task Ordering Four Ways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9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  ·  Problem Formulation and Uninformed Search</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§4.7  ·  Handout p. 37     </a:t>
            </a:r>
            <a:fld id="{AEFE57AB-58A9-4126-A5D1-CD1327227C25}" type="slidenum">
              <a:rPr lang="en-GB" sz="1000">
                <a:solidFill>
                  <a:srgbClr val="8795A1"/>
                </a:solidFill>
                <a:latin typeface="Segoe UI"/>
              </a:rPr>
              <a:t>30</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657344"/>
          </a:xfrm>
          <a:prstGeom prst="roundRect">
            <a:avLst>
              <a:gd name="adj" fmla="val 196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code/ch04_task_ordering_four.py</a:t>
            </a:r>
          </a:p>
        </p:txBody>
      </p:sp>
      <p:sp>
        <p:nvSpPr>
          <p:cNvPr id="13" name="!!code-text" descr="if __name__ == &quot;__main__&quot;: print(&quot;tasks: %d total duration: %d days&quot; % (len(TASKS), sum(d for d, _ in TASKS.values()))) print() print(&quot;strategy len days expanded peak&quot;) print(&quot;-&quot; * 49) rows = {} for name, key in ((&quot;breadth-first &quot;, &quot;fifo&quot;), (&quot;depth-first &quot;, &quot;lifo&quot;), (&quot;uniform-cost &quot;, &quot;cheap&quot;)): plan, cost, exp, peak = graph_search(key) rows[name.strip()] = (plan, cost, exp, peak) assert legal(plan), name print(&quot;%s %6d %5d %9d %5d&quot; % (name, len(plan), cost, exp, peak)) plan, cost, exp, depth = iterative_deepening() assert legal(plan) print(&quot;%s %6d %5d %9d %5s&quot; % (&quot;iter. deepening&quot;, len(plan), cost, exp, &quot;-&quot;))"/>
          <p:cNvSpPr txBox="1"/>
          <p:nvPr/>
        </p:nvSpPr>
        <p:spPr>
          <a:xfrm>
            <a:off x="1362456" y="2066543"/>
            <a:ext cx="9987991" cy="4163568"/>
          </a:xfrm>
          <a:prstGeom prst="rect">
            <a:avLst/>
          </a:prstGeom>
          <a:noFill/>
        </p:spPr>
        <p:txBody>
          <a:bodyPr wrap="none" anchor="t" lIns="0" rIns="0" tIns="0" bIns="0">
            <a:noAutofit/>
          </a:bodyPr>
          <a:lstStyle/>
          <a:p>
            <a:pPr>
              <a:lnSpc>
                <a:spcPct val="100000"/>
              </a:lnSpc>
              <a:spcAft>
                <a:spcPts val="0"/>
              </a:spcAft>
            </a:pPr>
            <a:r>
              <a:rPr sz="1400" i="0">
                <a:solidFill>
                  <a:srgbClr val="5DADE2"/>
                </a:solidFill>
                <a:latin typeface="Consolas"/>
              </a:rPr>
              <a:t>if</a:t>
            </a:r>
            <a:r>
              <a:rPr sz="1400" i="0">
                <a:solidFill>
                  <a:srgbClr val="E8EDF2"/>
                </a:solidFill>
                <a:latin typeface="Consolas"/>
              </a:rPr>
              <a:t> </a:t>
            </a:r>
            <a:r>
              <a:rPr sz="1400" i="0">
                <a:solidFill>
                  <a:srgbClr val="E8EDF2"/>
                </a:solidFill>
                <a:latin typeface="Consolas"/>
              </a:rPr>
              <a:t>__name__</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__main__</a:t>
            </a:r>
            <a:r>
              <a:rPr sz="1400" i="0">
                <a:solidFill>
                  <a:srgbClr val="7DCEA0"/>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tasks: </a:t>
            </a:r>
            <a:r>
              <a:rPr sz="1400" i="0">
                <a:solidFill>
                  <a:srgbClr val="7DCEA0"/>
                </a:solidFill>
                <a:latin typeface="Consolas"/>
              </a:rPr>
              <a:t>%d</a:t>
            </a:r>
            <a:r>
              <a:rPr sz="1400" i="0">
                <a:solidFill>
                  <a:srgbClr val="7DCEA0"/>
                </a:solidFill>
                <a:latin typeface="Consolas"/>
              </a:rPr>
              <a:t>   total duration: </a:t>
            </a:r>
            <a:r>
              <a:rPr sz="1400" i="0">
                <a:solidFill>
                  <a:srgbClr val="7DCEA0"/>
                </a:solidFill>
                <a:latin typeface="Consolas"/>
              </a:rPr>
              <a:t>%d</a:t>
            </a:r>
            <a:r>
              <a:rPr sz="1400" i="0">
                <a:solidFill>
                  <a:srgbClr val="7DCEA0"/>
                </a:solidFill>
                <a:latin typeface="Consolas"/>
              </a:rPr>
              <a:t> days</a:t>
            </a:r>
            <a:r>
              <a:rPr sz="1400" i="0">
                <a:solidFill>
                  <a:srgbClr val="7DCEA0"/>
                </a:solidFill>
                <a:latin typeface="Consolas"/>
              </a:rPr>
              <a:t>"</a:t>
            </a:r>
          </a:p>
          <a:p>
            <a:pPr>
              <a:lnSpc>
                <a:spcPct val="100000"/>
              </a:lnSpc>
              <a:spcAft>
                <a:spcPts val="0"/>
              </a:spcAft>
            </a:pP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C39BD3"/>
                </a:solidFill>
                <a:latin typeface="Consolas"/>
              </a:rPr>
              <a:t>len</a:t>
            </a:r>
            <a:r>
              <a:rPr sz="1400" i="0">
                <a:solidFill>
                  <a:srgbClr val="AEB6BF"/>
                </a:solidFill>
                <a:latin typeface="Consolas"/>
              </a:rPr>
              <a:t>(</a:t>
            </a:r>
            <a:r>
              <a:rPr sz="1400" i="0">
                <a:solidFill>
                  <a:srgbClr val="E8EDF2"/>
                </a:solidFill>
                <a:latin typeface="Consolas"/>
              </a:rPr>
              <a:t>TASKS</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C39BD3"/>
                </a:solidFill>
                <a:latin typeface="Consolas"/>
              </a:rPr>
              <a:t>sum</a:t>
            </a:r>
            <a:r>
              <a:rPr sz="1400" i="0">
                <a:solidFill>
                  <a:srgbClr val="AEB6BF"/>
                </a:solidFill>
                <a:latin typeface="Consolas"/>
              </a:rPr>
              <a:t>(</a:t>
            </a:r>
            <a:r>
              <a:rPr sz="1400" i="0">
                <a:solidFill>
                  <a:srgbClr val="E8EDF2"/>
                </a:solidFill>
                <a:latin typeface="Consolas"/>
              </a:rPr>
              <a:t>d</a:t>
            </a: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d</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_</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TASKS</a:t>
            </a:r>
            <a:r>
              <a:rPr sz="1400" i="0">
                <a:solidFill>
                  <a:srgbClr val="AEB6BF"/>
                </a:solidFill>
                <a:latin typeface="Consolas"/>
              </a:rPr>
              <a:t>.</a:t>
            </a:r>
            <a:r>
              <a:rPr sz="1400" i="0">
                <a:solidFill>
                  <a:srgbClr val="E8EDF2"/>
                </a:solidFill>
                <a:latin typeface="Consolas"/>
              </a:rPr>
              <a:t>values</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strategy             len  days  expanded  peak</a:t>
            </a:r>
            <a:r>
              <a:rPr sz="1400" i="0">
                <a:solidFill>
                  <a:srgbClr val="7DCEA0"/>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a:t>
            </a:r>
            <a:r>
              <a:rPr sz="1400" i="0">
                <a:solidFill>
                  <a:srgbClr val="7DCEA0"/>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49</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rows</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name</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key</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breadth-first </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fifo</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depth-first   </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lifo</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uniform-cost  </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cheap</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plan</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cost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exp</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peak</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graph_search</a:t>
            </a:r>
            <a:r>
              <a:rPr sz="1400" i="0">
                <a:solidFill>
                  <a:srgbClr val="AEB6BF"/>
                </a:solidFill>
                <a:latin typeface="Consolas"/>
              </a:rPr>
              <a:t>(</a:t>
            </a:r>
            <a:r>
              <a:rPr sz="1400" i="0">
                <a:solidFill>
                  <a:srgbClr val="E8EDF2"/>
                </a:solidFill>
                <a:latin typeface="Consolas"/>
              </a:rPr>
              <a:t>key</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rows</a:t>
            </a:r>
            <a:r>
              <a:rPr sz="1400" i="0">
                <a:solidFill>
                  <a:srgbClr val="AEB6BF"/>
                </a:solidFill>
                <a:latin typeface="Consolas"/>
              </a:rPr>
              <a:t>[</a:t>
            </a:r>
            <a:r>
              <a:rPr sz="1400" i="0">
                <a:solidFill>
                  <a:srgbClr val="E8EDF2"/>
                </a:solidFill>
                <a:latin typeface="Consolas"/>
              </a:rPr>
              <a:t>name</a:t>
            </a:r>
            <a:r>
              <a:rPr sz="1400" i="0">
                <a:solidFill>
                  <a:srgbClr val="AEB6BF"/>
                </a:solidFill>
                <a:latin typeface="Consolas"/>
              </a:rPr>
              <a:t>.</a:t>
            </a:r>
            <a:r>
              <a:rPr sz="1400" i="0">
                <a:solidFill>
                  <a:srgbClr val="E8EDF2"/>
                </a:solidFill>
                <a:latin typeface="Consolas"/>
              </a:rPr>
              <a:t>strip</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plan</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cost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exp</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peak</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assert</a:t>
            </a:r>
            <a:r>
              <a:rPr sz="1400" i="0">
                <a:solidFill>
                  <a:srgbClr val="E8EDF2"/>
                </a:solidFill>
                <a:latin typeface="Consolas"/>
              </a:rPr>
              <a:t> </a:t>
            </a:r>
            <a:r>
              <a:rPr sz="1400" i="0">
                <a:solidFill>
                  <a:srgbClr val="E8EDF2"/>
                </a:solidFill>
                <a:latin typeface="Consolas"/>
              </a:rPr>
              <a:t>legal</a:t>
            </a:r>
            <a:r>
              <a:rPr sz="1400" i="0">
                <a:solidFill>
                  <a:srgbClr val="AEB6BF"/>
                </a:solidFill>
                <a:latin typeface="Consolas"/>
              </a:rPr>
              <a:t>(</a:t>
            </a:r>
            <a:r>
              <a:rPr sz="1400" i="0">
                <a:solidFill>
                  <a:srgbClr val="E8EDF2"/>
                </a:solidFill>
                <a:latin typeface="Consolas"/>
              </a:rPr>
              <a:t>plan</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name</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%s</a:t>
            </a:r>
            <a:r>
              <a:rPr sz="1400" i="0">
                <a:solidFill>
                  <a:srgbClr val="7DCEA0"/>
                </a:solidFill>
                <a:latin typeface="Consolas"/>
              </a:rPr>
              <a:t> </a:t>
            </a:r>
            <a:r>
              <a:rPr sz="1400" i="0">
                <a:solidFill>
                  <a:srgbClr val="7DCEA0"/>
                </a:solidFill>
                <a:latin typeface="Consolas"/>
              </a:rPr>
              <a:t>%6d</a:t>
            </a:r>
            <a:r>
              <a:rPr sz="1400" i="0">
                <a:solidFill>
                  <a:srgbClr val="7DCEA0"/>
                </a:solidFill>
                <a:latin typeface="Consolas"/>
              </a:rPr>
              <a:t> </a:t>
            </a:r>
            <a:r>
              <a:rPr sz="1400" i="0">
                <a:solidFill>
                  <a:srgbClr val="7DCEA0"/>
                </a:solidFill>
                <a:latin typeface="Consolas"/>
              </a:rPr>
              <a:t>%5d</a:t>
            </a:r>
            <a:r>
              <a:rPr sz="1400" i="0">
                <a:solidFill>
                  <a:srgbClr val="7DCEA0"/>
                </a:solidFill>
                <a:latin typeface="Consolas"/>
              </a:rPr>
              <a:t> </a:t>
            </a:r>
            <a:r>
              <a:rPr sz="1400" i="0">
                <a:solidFill>
                  <a:srgbClr val="7DCEA0"/>
                </a:solidFill>
                <a:latin typeface="Consolas"/>
              </a:rPr>
              <a:t>%9d</a:t>
            </a:r>
            <a:r>
              <a:rPr sz="1400" i="0">
                <a:solidFill>
                  <a:srgbClr val="7DCEA0"/>
                </a:solidFill>
                <a:latin typeface="Consolas"/>
              </a:rPr>
              <a:t> </a:t>
            </a:r>
            <a:r>
              <a:rPr sz="1400" i="0">
                <a:solidFill>
                  <a:srgbClr val="7DCEA0"/>
                </a:solidFill>
                <a:latin typeface="Consolas"/>
              </a:rPr>
              <a:t>%5d</a:t>
            </a:r>
            <a:r>
              <a:rPr sz="1400" i="0">
                <a:solidFill>
                  <a:srgbClr val="7DCEA0"/>
                </a:solidFill>
                <a:latin typeface="Consolas"/>
              </a:rPr>
              <a:t>"</a:t>
            </a:r>
          </a:p>
          <a:p>
            <a:pPr>
              <a:lnSpc>
                <a:spcPct val="100000"/>
              </a:lnSpc>
              <a:spcAft>
                <a:spcPts val="0"/>
              </a:spcAft>
            </a:pP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name</a:t>
            </a:r>
            <a:r>
              <a:rPr sz="1400" i="0">
                <a:solidFill>
                  <a:srgbClr val="AEB6BF"/>
                </a:solidFill>
                <a:latin typeface="Consolas"/>
              </a:rPr>
              <a:t>,</a:t>
            </a:r>
            <a:r>
              <a:rPr sz="1400" i="0">
                <a:solidFill>
                  <a:srgbClr val="E8EDF2"/>
                </a:solidFill>
                <a:latin typeface="Consolas"/>
              </a:rPr>
              <a:t> </a:t>
            </a:r>
            <a:r>
              <a:rPr sz="1400" i="0">
                <a:solidFill>
                  <a:srgbClr val="C39BD3"/>
                </a:solidFill>
                <a:latin typeface="Consolas"/>
              </a:rPr>
              <a:t>len</a:t>
            </a:r>
            <a:r>
              <a:rPr sz="1400" i="0">
                <a:solidFill>
                  <a:srgbClr val="AEB6BF"/>
                </a:solidFill>
                <a:latin typeface="Consolas"/>
              </a:rPr>
              <a:t>(</a:t>
            </a:r>
            <a:r>
              <a:rPr sz="1400" i="0">
                <a:solidFill>
                  <a:srgbClr val="E8EDF2"/>
                </a:solidFill>
                <a:latin typeface="Consolas"/>
              </a:rPr>
              <a:t>plan</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cost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exp</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peak</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plan</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cost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exp</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depth</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iterative_deepening</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assert</a:t>
            </a:r>
            <a:r>
              <a:rPr sz="1400" i="0">
                <a:solidFill>
                  <a:srgbClr val="E8EDF2"/>
                </a:solidFill>
                <a:latin typeface="Consolas"/>
              </a:rPr>
              <a:t> </a:t>
            </a:r>
            <a:r>
              <a:rPr sz="1400" i="0">
                <a:solidFill>
                  <a:srgbClr val="E8EDF2"/>
                </a:solidFill>
                <a:latin typeface="Consolas"/>
              </a:rPr>
              <a:t>legal</a:t>
            </a:r>
            <a:r>
              <a:rPr sz="1400" i="0">
                <a:solidFill>
                  <a:srgbClr val="AEB6BF"/>
                </a:solidFill>
                <a:latin typeface="Consolas"/>
              </a:rPr>
              <a:t>(</a:t>
            </a:r>
            <a:r>
              <a:rPr sz="1400" i="0">
                <a:solidFill>
                  <a:srgbClr val="E8EDF2"/>
                </a:solidFill>
                <a:latin typeface="Consolas"/>
              </a:rPr>
              <a:t>plan</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%s</a:t>
            </a:r>
            <a:r>
              <a:rPr sz="1400" i="0">
                <a:solidFill>
                  <a:srgbClr val="7DCEA0"/>
                </a:solidFill>
                <a:latin typeface="Consolas"/>
              </a:rPr>
              <a:t> </a:t>
            </a:r>
            <a:r>
              <a:rPr sz="1400" i="0">
                <a:solidFill>
                  <a:srgbClr val="7DCEA0"/>
                </a:solidFill>
                <a:latin typeface="Consolas"/>
              </a:rPr>
              <a:t>%6d</a:t>
            </a:r>
            <a:r>
              <a:rPr sz="1400" i="0">
                <a:solidFill>
                  <a:srgbClr val="7DCEA0"/>
                </a:solidFill>
                <a:latin typeface="Consolas"/>
              </a:rPr>
              <a:t> </a:t>
            </a:r>
            <a:r>
              <a:rPr sz="1400" i="0">
                <a:solidFill>
                  <a:srgbClr val="7DCEA0"/>
                </a:solidFill>
                <a:latin typeface="Consolas"/>
              </a:rPr>
              <a:t>%5d</a:t>
            </a:r>
            <a:r>
              <a:rPr sz="1400" i="0">
                <a:solidFill>
                  <a:srgbClr val="7DCEA0"/>
                </a:solidFill>
                <a:latin typeface="Consolas"/>
              </a:rPr>
              <a:t> </a:t>
            </a:r>
            <a:r>
              <a:rPr sz="1400" i="0">
                <a:solidFill>
                  <a:srgbClr val="7DCEA0"/>
                </a:solidFill>
                <a:latin typeface="Consolas"/>
              </a:rPr>
              <a:t>%9d</a:t>
            </a:r>
            <a:r>
              <a:rPr sz="1400" i="0">
                <a:solidFill>
                  <a:srgbClr val="7DCEA0"/>
                </a:solidFill>
                <a:latin typeface="Consolas"/>
              </a:rPr>
              <a:t> </a:t>
            </a:r>
            <a:r>
              <a:rPr sz="1400" i="0">
                <a:solidFill>
                  <a:srgbClr val="7DCEA0"/>
                </a:solidFill>
                <a:latin typeface="Consolas"/>
              </a:rPr>
              <a:t>%5s</a:t>
            </a:r>
            <a:r>
              <a:rPr sz="1400" i="0">
                <a:solidFill>
                  <a:srgbClr val="7DCEA0"/>
                </a:solidFill>
                <a:latin typeface="Consolas"/>
              </a:rPr>
              <a:t>"</a:t>
            </a:r>
          </a:p>
          <a:p>
            <a:pPr>
              <a:lnSpc>
                <a:spcPct val="100000"/>
              </a:lnSpc>
              <a:spcAft>
                <a:spcPts val="0"/>
              </a:spcAft>
            </a:pP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iter. deepening</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C39BD3"/>
                </a:solidFill>
                <a:latin typeface="Consolas"/>
              </a:rPr>
              <a:t>len</a:t>
            </a:r>
            <a:r>
              <a:rPr sz="1400" i="0">
                <a:solidFill>
                  <a:srgbClr val="AEB6BF"/>
                </a:solidFill>
                <a:latin typeface="Consolas"/>
              </a:rPr>
              <a:t>(</a:t>
            </a:r>
            <a:r>
              <a:rPr sz="1400" i="0">
                <a:solidFill>
                  <a:srgbClr val="E8EDF2"/>
                </a:solidFill>
                <a:latin typeface="Consolas"/>
              </a:rPr>
              <a:t>plan</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cost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exp</a:t>
            </a:r>
            <a:r>
              <a:rPr sz="1400" i="0">
                <a:solidFill>
                  <a:srgbClr val="AEB6BF"/>
                </a:solidFill>
                <a:latin typeface="Consolas"/>
              </a:rPr>
              <a:t>,</a:t>
            </a: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p>
        </p:txBody>
      </p:sp>
      <p:sp>
        <p:nvSpPr>
          <p:cNvPr id="14" name="!!code-num"/>
          <p:cNvSpPr txBox="1"/>
          <p:nvPr/>
        </p:nvSpPr>
        <p:spPr>
          <a:xfrm>
            <a:off x="768096" y="2066543"/>
            <a:ext cx="393192" cy="4163568"/>
          </a:xfrm>
          <a:prstGeom prst="rect">
            <a:avLst/>
          </a:prstGeom>
          <a:noFill/>
        </p:spPr>
        <p:txBody>
          <a:bodyPr wrap="none" anchor="t" lIns="0" rIns="0" tIns="0" bIns="0">
            <a:noAutofit/>
          </a:bodyPr>
          <a:lstStyle/>
          <a:p>
            <a:pPr algn="r">
              <a:lnSpc>
                <a:spcPct val="100000"/>
              </a:lnSpc>
            </a:pPr>
            <a:r>
              <a:rPr sz="1400">
                <a:solidFill>
                  <a:srgbClr val="4F5D6A"/>
                </a:solidFill>
                <a:latin typeface="Consolas"/>
              </a:rPr>
              <a:t>133</a:t>
            </a:r>
          </a:p>
          <a:p>
            <a:pPr algn="r">
              <a:lnSpc>
                <a:spcPct val="100000"/>
              </a:lnSpc>
            </a:pPr>
            <a:r>
              <a:rPr sz="1400">
                <a:solidFill>
                  <a:srgbClr val="4F5D6A"/>
                </a:solidFill>
                <a:latin typeface="Consolas"/>
              </a:rPr>
              <a:t>134</a:t>
            </a:r>
          </a:p>
          <a:p>
            <a:pPr algn="r">
              <a:lnSpc>
                <a:spcPct val="100000"/>
              </a:lnSpc>
            </a:pPr>
            <a:r>
              <a:rPr sz="1400">
                <a:solidFill>
                  <a:srgbClr val="4F5D6A"/>
                </a:solidFill>
                <a:latin typeface="Consolas"/>
              </a:rPr>
              <a:t>135</a:t>
            </a:r>
          </a:p>
          <a:p>
            <a:pPr algn="r">
              <a:lnSpc>
                <a:spcPct val="100000"/>
              </a:lnSpc>
            </a:pPr>
            <a:r>
              <a:rPr sz="1400">
                <a:solidFill>
                  <a:srgbClr val="4F5D6A"/>
                </a:solidFill>
                <a:latin typeface="Consolas"/>
              </a:rPr>
              <a:t>136</a:t>
            </a:r>
          </a:p>
          <a:p>
            <a:pPr algn="r">
              <a:lnSpc>
                <a:spcPct val="100000"/>
              </a:lnSpc>
            </a:pPr>
            <a:r>
              <a:rPr sz="1400">
                <a:solidFill>
                  <a:srgbClr val="4F5D6A"/>
                </a:solidFill>
                <a:latin typeface="Consolas"/>
              </a:rPr>
              <a:t>137</a:t>
            </a:r>
          </a:p>
          <a:p>
            <a:pPr algn="r">
              <a:lnSpc>
                <a:spcPct val="100000"/>
              </a:lnSpc>
            </a:pPr>
            <a:r>
              <a:rPr sz="1400">
                <a:solidFill>
                  <a:srgbClr val="4F5D6A"/>
                </a:solidFill>
                <a:latin typeface="Consolas"/>
              </a:rPr>
              <a:t>138</a:t>
            </a:r>
          </a:p>
          <a:p>
            <a:pPr algn="r">
              <a:lnSpc>
                <a:spcPct val="100000"/>
              </a:lnSpc>
            </a:pPr>
            <a:r>
              <a:rPr sz="1400">
                <a:solidFill>
                  <a:srgbClr val="4F5D6A"/>
                </a:solidFill>
                <a:latin typeface="Consolas"/>
              </a:rPr>
              <a:t>139</a:t>
            </a:r>
          </a:p>
          <a:p>
            <a:pPr algn="r">
              <a:lnSpc>
                <a:spcPct val="100000"/>
              </a:lnSpc>
            </a:pPr>
            <a:r>
              <a:rPr sz="1400">
                <a:solidFill>
                  <a:srgbClr val="4F5D6A"/>
                </a:solidFill>
                <a:latin typeface="Consolas"/>
              </a:rPr>
              <a:t>140</a:t>
            </a:r>
          </a:p>
          <a:p>
            <a:pPr algn="r">
              <a:lnSpc>
                <a:spcPct val="100000"/>
              </a:lnSpc>
            </a:pPr>
            <a:r>
              <a:rPr sz="1400">
                <a:solidFill>
                  <a:srgbClr val="4F5D6A"/>
                </a:solidFill>
                <a:latin typeface="Consolas"/>
              </a:rPr>
              <a:t>141</a:t>
            </a:r>
          </a:p>
          <a:p>
            <a:pPr algn="r">
              <a:lnSpc>
                <a:spcPct val="100000"/>
              </a:lnSpc>
            </a:pPr>
            <a:r>
              <a:rPr sz="1400">
                <a:solidFill>
                  <a:srgbClr val="4F5D6A"/>
                </a:solidFill>
                <a:latin typeface="Consolas"/>
              </a:rPr>
              <a:t>142</a:t>
            </a:r>
          </a:p>
          <a:p>
            <a:pPr algn="r">
              <a:lnSpc>
                <a:spcPct val="100000"/>
              </a:lnSpc>
            </a:pPr>
            <a:r>
              <a:rPr sz="1400">
                <a:solidFill>
                  <a:srgbClr val="4F5D6A"/>
                </a:solidFill>
                <a:latin typeface="Consolas"/>
              </a:rPr>
              <a:t>143</a:t>
            </a:r>
          </a:p>
          <a:p>
            <a:pPr algn="r">
              <a:lnSpc>
                <a:spcPct val="100000"/>
              </a:lnSpc>
            </a:pPr>
            <a:r>
              <a:rPr sz="1400">
                <a:solidFill>
                  <a:srgbClr val="4F5D6A"/>
                </a:solidFill>
                <a:latin typeface="Consolas"/>
              </a:rPr>
              <a:t>144</a:t>
            </a:r>
          </a:p>
          <a:p>
            <a:pPr algn="r">
              <a:lnSpc>
                <a:spcPct val="100000"/>
              </a:lnSpc>
            </a:pPr>
            <a:r>
              <a:rPr sz="1400">
                <a:solidFill>
                  <a:srgbClr val="4F5D6A"/>
                </a:solidFill>
                <a:latin typeface="Consolas"/>
              </a:rPr>
              <a:t>145</a:t>
            </a:r>
          </a:p>
          <a:p>
            <a:pPr algn="r">
              <a:lnSpc>
                <a:spcPct val="100000"/>
              </a:lnSpc>
            </a:pPr>
            <a:r>
              <a:rPr sz="1400">
                <a:solidFill>
                  <a:srgbClr val="4F5D6A"/>
                </a:solidFill>
                <a:latin typeface="Consolas"/>
              </a:rPr>
              <a:t>146</a:t>
            </a:r>
          </a:p>
          <a:p>
            <a:pPr algn="r">
              <a:lnSpc>
                <a:spcPct val="100000"/>
              </a:lnSpc>
            </a:pPr>
            <a:r>
              <a:rPr sz="1400">
                <a:solidFill>
                  <a:srgbClr val="4F5D6A"/>
                </a:solidFill>
                <a:latin typeface="Consolas"/>
              </a:rPr>
              <a:t>147</a:t>
            </a:r>
          </a:p>
          <a:p>
            <a:pPr algn="r">
              <a:lnSpc>
                <a:spcPct val="100000"/>
              </a:lnSpc>
            </a:pPr>
            <a:r>
              <a:rPr sz="1400">
                <a:solidFill>
                  <a:srgbClr val="4F5D6A"/>
                </a:solidFill>
                <a:latin typeface="Consolas"/>
              </a:rPr>
              <a:t>148</a:t>
            </a:r>
          </a:p>
          <a:p>
            <a:pPr algn="r">
              <a:lnSpc>
                <a:spcPct val="100000"/>
              </a:lnSpc>
            </a:pPr>
            <a:r>
              <a:rPr sz="1400">
                <a:solidFill>
                  <a:srgbClr val="4F5D6A"/>
                </a:solidFill>
                <a:latin typeface="Consolas"/>
              </a:rPr>
              <a:t>149</a:t>
            </a:r>
          </a:p>
          <a:p>
            <a:pPr algn="r">
              <a:lnSpc>
                <a:spcPct val="100000"/>
              </a:lnSpc>
            </a:pPr>
            <a:r>
              <a:rPr sz="1400">
                <a:solidFill>
                  <a:srgbClr val="4F5D6A"/>
                </a:solidFill>
                <a:latin typeface="Consolas"/>
              </a:rPr>
              <a:t>150</a:t>
            </a:r>
          </a:p>
          <a:p>
            <a:pPr algn="r">
              <a:lnSpc>
                <a:spcPct val="100000"/>
              </a:lnSpc>
            </a:pPr>
            <a:r>
              <a:rPr sz="1400">
                <a:solidFill>
                  <a:srgbClr val="4F5D6A"/>
                </a:solidFill>
                <a:latin typeface="Consolas"/>
              </a:rPr>
              <a:t>151</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795110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Task Ordering Four Ways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10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  ·  Problem Formulation and Uninformed Search</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§4.7  ·  Handout p. 37     </a:t>
            </a:r>
            <a:fld id="{24021CE5-6B07-43C2-8AE3-C94E87E53DE6}" type="slidenum">
              <a:rPr lang="en-GB" sz="1000">
                <a:solidFill>
                  <a:srgbClr val="8795A1"/>
                </a:solidFill>
                <a:latin typeface="Segoe UI"/>
              </a:rPr>
              <a:t>31</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489704"/>
          </a:xfrm>
          <a:prstGeom prst="roundRect">
            <a:avLst>
              <a:gd name="adj" fmla="val 203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code/ch04_task_ordering_four.py</a:t>
            </a:r>
          </a:p>
        </p:txBody>
      </p:sp>
      <p:sp>
        <p:nvSpPr>
          <p:cNvPr id="13" name="!!code-text" descr="# every task must be done, so every complete plan costs the same costs = {c for (_, c, _, _) in rows.values()} assert costs == {sum(d for d, _ in TASKS.values())} print() print(&quot;Every plan costs %d days: all nine tasks are mandatory, so&quot; % costs.pop()) print(&quot;cost cannot discriminate. Chapter 5 gives it something to&quot;) print(&quot;discriminate on.&quot;) # what the explored set is worth _, _, with_set, _ = graph_search(&quot;fifo&quot;, explored=True) _, _, without, _ = graph_search(&quot;fifo&quot;, explored=False) print() print(&quot;breadth-first expansions with explored set: %d&quot; % with_set) print(&quot;breadth-first expansions without explored set: %d&quot; % without) print(&quot;factor: %.1fx more work&quot; % (without / with_set)) assert without &gt; with_set"/>
          <p:cNvSpPr txBox="1"/>
          <p:nvPr/>
        </p:nvSpPr>
        <p:spPr>
          <a:xfrm>
            <a:off x="1362456" y="2066543"/>
            <a:ext cx="9987991" cy="3995928"/>
          </a:xfrm>
          <a:prstGeom prst="rect">
            <a:avLst/>
          </a:prstGeom>
          <a:noFill/>
        </p:spPr>
        <p:txBody>
          <a:bodyPr wrap="none" anchor="t" lIns="0" rIns="0" tIns="0" bIns="0">
            <a:noAutofit/>
          </a:bodyPr>
          <a:lstStyle/>
          <a:p>
            <a:pPr>
              <a:lnSpc>
                <a:spcPct val="100000"/>
              </a:lnSpc>
              <a:spcAft>
                <a:spcPts val="0"/>
              </a:spcAft>
            </a:pPr>
            <a:r>
              <a:rPr sz="1500" i="0">
                <a:solidFill>
                  <a:srgbClr val="E8EDF2"/>
                </a:solidFill>
                <a:latin typeface="Consolas"/>
              </a:rPr>
              <a:t>    </a:t>
            </a:r>
            <a:r>
              <a:rPr sz="1500" i="1">
                <a:solidFill>
                  <a:srgbClr val="8795A1"/>
                </a:solidFill>
                <a:latin typeface="Consolas"/>
              </a:rPr>
              <a:t># every task must be done, so every complete plan costs the same</a:t>
            </a:r>
          </a:p>
          <a:p>
            <a:pPr>
              <a:lnSpc>
                <a:spcPct val="100000"/>
              </a:lnSpc>
              <a:spcAft>
                <a:spcPts val="0"/>
              </a:spcAft>
            </a:pPr>
            <a:r>
              <a:rPr sz="1500" i="0">
                <a:solidFill>
                  <a:srgbClr val="E8EDF2"/>
                </a:solidFill>
                <a:latin typeface="Consolas"/>
              </a:rPr>
              <a:t>    </a:t>
            </a:r>
            <a:r>
              <a:rPr sz="1500" i="0">
                <a:solidFill>
                  <a:srgbClr val="E8EDF2"/>
                </a:solidFill>
                <a:latin typeface="Consolas"/>
              </a:rPr>
              <a:t>costs</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c</a:t>
            </a:r>
            <a:r>
              <a:rPr sz="1500" i="0">
                <a:solidFill>
                  <a:srgbClr val="E8EDF2"/>
                </a:solidFill>
                <a:latin typeface="Consolas"/>
              </a:rPr>
              <a:t> </a:t>
            </a:r>
            <a:r>
              <a:rPr sz="1500" i="0">
                <a:solidFill>
                  <a:srgbClr val="5DADE2"/>
                </a:solidFill>
                <a:latin typeface="Consolas"/>
              </a:rPr>
              <a:t>for</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_</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c</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_</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_</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in</a:t>
            </a:r>
            <a:r>
              <a:rPr sz="1500" i="0">
                <a:solidFill>
                  <a:srgbClr val="E8EDF2"/>
                </a:solidFill>
                <a:latin typeface="Consolas"/>
              </a:rPr>
              <a:t> </a:t>
            </a:r>
            <a:r>
              <a:rPr sz="1500" i="0">
                <a:solidFill>
                  <a:srgbClr val="E8EDF2"/>
                </a:solidFill>
                <a:latin typeface="Consolas"/>
              </a:rPr>
              <a:t>rows</a:t>
            </a:r>
            <a:r>
              <a:rPr sz="1500" i="0">
                <a:solidFill>
                  <a:srgbClr val="AEB6BF"/>
                </a:solidFill>
                <a:latin typeface="Consolas"/>
              </a:rPr>
              <a:t>.</a:t>
            </a:r>
            <a:r>
              <a:rPr sz="1500" i="0">
                <a:solidFill>
                  <a:srgbClr val="E8EDF2"/>
                </a:solidFill>
                <a:latin typeface="Consolas"/>
              </a:rPr>
              <a:t>values</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assert</a:t>
            </a:r>
            <a:r>
              <a:rPr sz="1500" i="0">
                <a:solidFill>
                  <a:srgbClr val="E8EDF2"/>
                </a:solidFill>
                <a:latin typeface="Consolas"/>
              </a:rPr>
              <a:t> </a:t>
            </a:r>
            <a:r>
              <a:rPr sz="1500" i="0">
                <a:solidFill>
                  <a:srgbClr val="E8EDF2"/>
                </a:solidFill>
                <a:latin typeface="Consolas"/>
              </a:rPr>
              <a:t>costs</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C39BD3"/>
                </a:solidFill>
                <a:latin typeface="Consolas"/>
              </a:rPr>
              <a:t>sum</a:t>
            </a:r>
            <a:r>
              <a:rPr sz="1500" i="0">
                <a:solidFill>
                  <a:srgbClr val="AEB6BF"/>
                </a:solidFill>
                <a:latin typeface="Consolas"/>
              </a:rPr>
              <a:t>(</a:t>
            </a:r>
            <a:r>
              <a:rPr sz="1500" i="0">
                <a:solidFill>
                  <a:srgbClr val="E8EDF2"/>
                </a:solidFill>
                <a:latin typeface="Consolas"/>
              </a:rPr>
              <a:t>d</a:t>
            </a:r>
            <a:r>
              <a:rPr sz="1500" i="0">
                <a:solidFill>
                  <a:srgbClr val="E8EDF2"/>
                </a:solidFill>
                <a:latin typeface="Consolas"/>
              </a:rPr>
              <a:t> </a:t>
            </a:r>
            <a:r>
              <a:rPr sz="1500" i="0">
                <a:solidFill>
                  <a:srgbClr val="5DADE2"/>
                </a:solidFill>
                <a:latin typeface="Consolas"/>
              </a:rPr>
              <a:t>for</a:t>
            </a:r>
            <a:r>
              <a:rPr sz="1500" i="0">
                <a:solidFill>
                  <a:srgbClr val="E8EDF2"/>
                </a:solidFill>
                <a:latin typeface="Consolas"/>
              </a:rPr>
              <a:t> </a:t>
            </a:r>
            <a:r>
              <a:rPr sz="1500" i="0">
                <a:solidFill>
                  <a:srgbClr val="E8EDF2"/>
                </a:solidFill>
                <a:latin typeface="Consolas"/>
              </a:rPr>
              <a:t>d</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_</a:t>
            </a:r>
            <a:r>
              <a:rPr sz="1500" i="0">
                <a:solidFill>
                  <a:srgbClr val="E8EDF2"/>
                </a:solidFill>
                <a:latin typeface="Consolas"/>
              </a:rPr>
              <a:t> </a:t>
            </a:r>
            <a:r>
              <a:rPr sz="1500" i="0">
                <a:solidFill>
                  <a:srgbClr val="AEB6BF"/>
                </a:solidFill>
                <a:latin typeface="Consolas"/>
              </a:rPr>
              <a:t>in</a:t>
            </a:r>
            <a:r>
              <a:rPr sz="1500" i="0">
                <a:solidFill>
                  <a:srgbClr val="E8EDF2"/>
                </a:solidFill>
                <a:latin typeface="Consolas"/>
              </a:rPr>
              <a:t> </a:t>
            </a:r>
            <a:r>
              <a:rPr sz="1500" i="0">
                <a:solidFill>
                  <a:srgbClr val="E8EDF2"/>
                </a:solidFill>
                <a:latin typeface="Consolas"/>
              </a:rPr>
              <a:t>TASKS</a:t>
            </a:r>
            <a:r>
              <a:rPr sz="1500" i="0">
                <a:solidFill>
                  <a:srgbClr val="AEB6BF"/>
                </a:solidFill>
                <a:latin typeface="Consolas"/>
              </a:rPr>
              <a:t>.</a:t>
            </a:r>
            <a:r>
              <a:rPr sz="1500" i="0">
                <a:solidFill>
                  <a:srgbClr val="E8EDF2"/>
                </a:solidFill>
                <a:latin typeface="Consolas"/>
              </a:rPr>
              <a:t>values</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Every plan costs </a:t>
            </a:r>
            <a:r>
              <a:rPr sz="1500" i="0">
                <a:solidFill>
                  <a:srgbClr val="7DCEA0"/>
                </a:solidFill>
                <a:latin typeface="Consolas"/>
              </a:rPr>
              <a:t>%d</a:t>
            </a:r>
            <a:r>
              <a:rPr sz="1500" i="0">
                <a:solidFill>
                  <a:srgbClr val="7DCEA0"/>
                </a:solidFill>
                <a:latin typeface="Consolas"/>
              </a:rPr>
              <a:t> days: all nine tasks are mandatory, so</a:t>
            </a:r>
            <a:r>
              <a:rPr sz="1500" i="0">
                <a:solidFill>
                  <a:srgbClr val="7DCEA0"/>
                </a:solidFill>
                <a:latin typeface="Consolas"/>
              </a:rPr>
              <a:t>"</a:t>
            </a:r>
          </a:p>
          <a:p>
            <a:pPr>
              <a:lnSpc>
                <a:spcPct val="100000"/>
              </a:lnSpc>
              <a:spcAft>
                <a:spcPts val="0"/>
              </a:spcAft>
            </a:pP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costs</a:t>
            </a:r>
            <a:r>
              <a:rPr sz="1500" i="0">
                <a:solidFill>
                  <a:srgbClr val="AEB6BF"/>
                </a:solidFill>
                <a:latin typeface="Consolas"/>
              </a:rPr>
              <a:t>.</a:t>
            </a:r>
            <a:r>
              <a:rPr sz="1500" i="0">
                <a:solidFill>
                  <a:srgbClr val="E8EDF2"/>
                </a:solidFill>
                <a:latin typeface="Consolas"/>
              </a:rPr>
              <a:t>pop</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cost cannot discriminate. Chapter 5 gives it something to</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discriminate on.</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a:latin typeface="Consolas"/>
              </a:rPr>
              <a:t> </a:t>
            </a:r>
          </a:p>
          <a:p>
            <a:pPr>
              <a:lnSpc>
                <a:spcPct val="100000"/>
              </a:lnSpc>
              <a:spcAft>
                <a:spcPts val="0"/>
              </a:spcAft>
            </a:pPr>
            <a:r>
              <a:rPr sz="1500" i="0">
                <a:solidFill>
                  <a:srgbClr val="E8EDF2"/>
                </a:solidFill>
                <a:latin typeface="Consolas"/>
              </a:rPr>
              <a:t>    </a:t>
            </a:r>
            <a:r>
              <a:rPr sz="1500" i="1">
                <a:solidFill>
                  <a:srgbClr val="8795A1"/>
                </a:solidFill>
                <a:latin typeface="Consolas"/>
              </a:rPr>
              <a:t># what the explored set is worth</a:t>
            </a:r>
          </a:p>
          <a:p>
            <a:pPr>
              <a:lnSpc>
                <a:spcPct val="100000"/>
              </a:lnSpc>
              <a:spcAft>
                <a:spcPts val="0"/>
              </a:spcAft>
            </a:pPr>
            <a:r>
              <a:rPr sz="1500" i="0">
                <a:solidFill>
                  <a:srgbClr val="E8EDF2"/>
                </a:solidFill>
                <a:latin typeface="Consolas"/>
              </a:rPr>
              <a:t>    </a:t>
            </a:r>
            <a:r>
              <a:rPr sz="1500" i="0">
                <a:solidFill>
                  <a:srgbClr val="E8EDF2"/>
                </a:solidFill>
                <a:latin typeface="Consolas"/>
              </a:rPr>
              <a:t>_</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_</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with_set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_</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graph_search</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fifo</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explored</a:t>
            </a:r>
            <a:r>
              <a:rPr sz="1500" i="0">
                <a:solidFill>
                  <a:srgbClr val="AEB6BF"/>
                </a:solidFill>
                <a:latin typeface="Consolas"/>
              </a:rPr>
              <a:t>=</a:t>
            </a:r>
            <a:r>
              <a:rPr sz="1500" i="0">
                <a:solidFill>
                  <a:srgbClr val="5DADE2"/>
                </a:solidFill>
                <a:latin typeface="Consolas"/>
              </a:rPr>
              <a:t>True</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_</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_</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without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_</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graph_search</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fifo</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explored</a:t>
            </a:r>
            <a:r>
              <a:rPr sz="1500" i="0">
                <a:solidFill>
                  <a:srgbClr val="AEB6BF"/>
                </a:solidFill>
                <a:latin typeface="Consolas"/>
              </a:rPr>
              <a:t>=</a:t>
            </a:r>
            <a:r>
              <a:rPr sz="1500" i="0">
                <a:solidFill>
                  <a:srgbClr val="5DADE2"/>
                </a:solidFill>
                <a:latin typeface="Consolas"/>
              </a:rPr>
              <a:t>False</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breadth-first expansions with explored set:    </a:t>
            </a:r>
            <a:r>
              <a:rPr sz="1500" i="0">
                <a:solidFill>
                  <a:srgbClr val="7DCEA0"/>
                </a:solidFill>
                <a:latin typeface="Consolas"/>
              </a:rPr>
              <a:t>%d</a:t>
            </a:r>
            <a:r>
              <a:rPr sz="1500" i="0">
                <a:solidFill>
                  <a:srgbClr val="7DCEA0"/>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with_set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breadth-first expansions without explored set: </a:t>
            </a:r>
            <a:r>
              <a:rPr sz="1500" i="0">
                <a:solidFill>
                  <a:srgbClr val="7DCEA0"/>
                </a:solidFill>
                <a:latin typeface="Consolas"/>
              </a:rPr>
              <a:t>%d</a:t>
            </a:r>
            <a:r>
              <a:rPr sz="1500" i="0">
                <a:solidFill>
                  <a:srgbClr val="7DCEA0"/>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without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factor: </a:t>
            </a:r>
            <a:r>
              <a:rPr sz="1500" i="0">
                <a:solidFill>
                  <a:srgbClr val="7DCEA0"/>
                </a:solidFill>
                <a:latin typeface="Consolas"/>
              </a:rPr>
              <a:t>%.1f</a:t>
            </a:r>
            <a:r>
              <a:rPr sz="1500" i="0">
                <a:solidFill>
                  <a:srgbClr val="7DCEA0"/>
                </a:solidFill>
                <a:latin typeface="Consolas"/>
              </a:rPr>
              <a:t>x more work</a:t>
            </a:r>
            <a:r>
              <a:rPr sz="1500" i="0">
                <a:solidFill>
                  <a:srgbClr val="7DCEA0"/>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without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with_set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assert</a:t>
            </a:r>
            <a:r>
              <a:rPr sz="1500" i="0">
                <a:solidFill>
                  <a:srgbClr val="E8EDF2"/>
                </a:solidFill>
                <a:latin typeface="Consolas"/>
              </a:rPr>
              <a:t> </a:t>
            </a:r>
            <a:r>
              <a:rPr sz="1500" i="0">
                <a:solidFill>
                  <a:srgbClr val="E8EDF2"/>
                </a:solidFill>
                <a:latin typeface="Consolas"/>
              </a:rPr>
              <a:t>without</a:t>
            </a:r>
            <a:r>
              <a:rPr sz="1500" i="0">
                <a:solidFill>
                  <a:srgbClr val="E8EDF2"/>
                </a:solidFill>
                <a:latin typeface="Consolas"/>
              </a:rPr>
              <a:t> </a:t>
            </a:r>
            <a:r>
              <a:rPr sz="1500" i="0">
                <a:solidFill>
                  <a:srgbClr val="AEB6BF"/>
                </a:solidFill>
                <a:latin typeface="Consolas"/>
              </a:rPr>
              <a:t>&gt;</a:t>
            </a:r>
            <a:r>
              <a:rPr sz="1500" i="0">
                <a:solidFill>
                  <a:srgbClr val="E8EDF2"/>
                </a:solidFill>
                <a:latin typeface="Consolas"/>
              </a:rPr>
              <a:t> </a:t>
            </a:r>
            <a:r>
              <a:rPr sz="1500" i="0">
                <a:solidFill>
                  <a:srgbClr val="E8EDF2"/>
                </a:solidFill>
                <a:latin typeface="Consolas"/>
              </a:rPr>
              <a:t>with_set</a:t>
            </a:r>
          </a:p>
        </p:txBody>
      </p:sp>
      <p:sp>
        <p:nvSpPr>
          <p:cNvPr id="14" name="!!code-num"/>
          <p:cNvSpPr txBox="1"/>
          <p:nvPr/>
        </p:nvSpPr>
        <p:spPr>
          <a:xfrm>
            <a:off x="768096" y="2066543"/>
            <a:ext cx="393192" cy="3995928"/>
          </a:xfrm>
          <a:prstGeom prst="rect">
            <a:avLst/>
          </a:prstGeom>
          <a:noFill/>
        </p:spPr>
        <p:txBody>
          <a:bodyPr wrap="none" anchor="t" lIns="0" rIns="0" tIns="0" bIns="0">
            <a:noAutofit/>
          </a:bodyPr>
          <a:lstStyle/>
          <a:p>
            <a:pPr algn="r">
              <a:lnSpc>
                <a:spcPct val="100000"/>
              </a:lnSpc>
            </a:pPr>
            <a:r>
              <a:rPr sz="1500">
                <a:solidFill>
                  <a:srgbClr val="4F5D6A"/>
                </a:solidFill>
                <a:latin typeface="Consolas"/>
              </a:rPr>
              <a:t>153</a:t>
            </a:r>
          </a:p>
          <a:p>
            <a:pPr algn="r">
              <a:lnSpc>
                <a:spcPct val="100000"/>
              </a:lnSpc>
            </a:pPr>
            <a:r>
              <a:rPr sz="1500">
                <a:solidFill>
                  <a:srgbClr val="4F5D6A"/>
                </a:solidFill>
                <a:latin typeface="Consolas"/>
              </a:rPr>
              <a:t>154</a:t>
            </a:r>
          </a:p>
          <a:p>
            <a:pPr algn="r">
              <a:lnSpc>
                <a:spcPct val="100000"/>
              </a:lnSpc>
            </a:pPr>
            <a:r>
              <a:rPr sz="1500">
                <a:solidFill>
                  <a:srgbClr val="4F5D6A"/>
                </a:solidFill>
                <a:latin typeface="Consolas"/>
              </a:rPr>
              <a:t>155</a:t>
            </a:r>
          </a:p>
          <a:p>
            <a:pPr algn="r">
              <a:lnSpc>
                <a:spcPct val="100000"/>
              </a:lnSpc>
            </a:pPr>
            <a:r>
              <a:rPr sz="1500">
                <a:solidFill>
                  <a:srgbClr val="4F5D6A"/>
                </a:solidFill>
                <a:latin typeface="Consolas"/>
              </a:rPr>
              <a:t>156</a:t>
            </a:r>
          </a:p>
          <a:p>
            <a:pPr algn="r">
              <a:lnSpc>
                <a:spcPct val="100000"/>
              </a:lnSpc>
            </a:pPr>
            <a:r>
              <a:rPr sz="1500">
                <a:solidFill>
                  <a:srgbClr val="4F5D6A"/>
                </a:solidFill>
                <a:latin typeface="Consolas"/>
              </a:rPr>
              <a:t>157</a:t>
            </a:r>
          </a:p>
          <a:p>
            <a:pPr algn="r">
              <a:lnSpc>
                <a:spcPct val="100000"/>
              </a:lnSpc>
            </a:pPr>
            <a:r>
              <a:rPr sz="1500">
                <a:solidFill>
                  <a:srgbClr val="4F5D6A"/>
                </a:solidFill>
                <a:latin typeface="Consolas"/>
              </a:rPr>
              <a:t>158</a:t>
            </a:r>
          </a:p>
          <a:p>
            <a:pPr algn="r">
              <a:lnSpc>
                <a:spcPct val="100000"/>
              </a:lnSpc>
            </a:pPr>
            <a:r>
              <a:rPr sz="1500">
                <a:solidFill>
                  <a:srgbClr val="4F5D6A"/>
                </a:solidFill>
                <a:latin typeface="Consolas"/>
              </a:rPr>
              <a:t>159</a:t>
            </a:r>
          </a:p>
          <a:p>
            <a:pPr algn="r">
              <a:lnSpc>
                <a:spcPct val="100000"/>
              </a:lnSpc>
            </a:pPr>
            <a:r>
              <a:rPr sz="1500">
                <a:solidFill>
                  <a:srgbClr val="4F5D6A"/>
                </a:solidFill>
                <a:latin typeface="Consolas"/>
              </a:rPr>
              <a:t>160</a:t>
            </a:r>
          </a:p>
          <a:p>
            <a:pPr algn="r">
              <a:lnSpc>
                <a:spcPct val="100000"/>
              </a:lnSpc>
            </a:pPr>
            <a:r>
              <a:rPr sz="1500">
                <a:solidFill>
                  <a:srgbClr val="4F5D6A"/>
                </a:solidFill>
                <a:latin typeface="Consolas"/>
              </a:rPr>
              <a:t>161</a:t>
            </a:r>
          </a:p>
          <a:p>
            <a:pPr algn="r">
              <a:lnSpc>
                <a:spcPct val="100000"/>
              </a:lnSpc>
            </a:pPr>
            <a:r>
              <a:rPr sz="1500">
                <a:solidFill>
                  <a:srgbClr val="4F5D6A"/>
                </a:solidFill>
                <a:latin typeface="Consolas"/>
              </a:rPr>
              <a:t>162</a:t>
            </a:r>
          </a:p>
          <a:p>
            <a:pPr algn="r">
              <a:lnSpc>
                <a:spcPct val="100000"/>
              </a:lnSpc>
            </a:pPr>
            <a:r>
              <a:rPr sz="1500">
                <a:solidFill>
                  <a:srgbClr val="4F5D6A"/>
                </a:solidFill>
                <a:latin typeface="Consolas"/>
              </a:rPr>
              <a:t>163</a:t>
            </a:r>
          </a:p>
          <a:p>
            <a:pPr algn="r">
              <a:lnSpc>
                <a:spcPct val="100000"/>
              </a:lnSpc>
            </a:pPr>
            <a:r>
              <a:rPr sz="1500">
                <a:solidFill>
                  <a:srgbClr val="4F5D6A"/>
                </a:solidFill>
                <a:latin typeface="Consolas"/>
              </a:rPr>
              <a:t>164</a:t>
            </a:r>
          </a:p>
          <a:p>
            <a:pPr algn="r">
              <a:lnSpc>
                <a:spcPct val="100000"/>
              </a:lnSpc>
            </a:pPr>
            <a:r>
              <a:rPr sz="1500">
                <a:solidFill>
                  <a:srgbClr val="4F5D6A"/>
                </a:solidFill>
                <a:latin typeface="Consolas"/>
              </a:rPr>
              <a:t>165</a:t>
            </a:r>
          </a:p>
          <a:p>
            <a:pPr algn="r">
              <a:lnSpc>
                <a:spcPct val="100000"/>
              </a:lnSpc>
            </a:pPr>
            <a:r>
              <a:rPr sz="1500">
                <a:solidFill>
                  <a:srgbClr val="4F5D6A"/>
                </a:solidFill>
                <a:latin typeface="Consolas"/>
              </a:rPr>
              <a:t>166</a:t>
            </a:r>
          </a:p>
          <a:p>
            <a:pPr algn="r">
              <a:lnSpc>
                <a:spcPct val="100000"/>
              </a:lnSpc>
            </a:pPr>
            <a:r>
              <a:rPr sz="1500">
                <a:solidFill>
                  <a:srgbClr val="4F5D6A"/>
                </a:solidFill>
                <a:latin typeface="Consolas"/>
              </a:rPr>
              <a:t>167</a:t>
            </a:r>
          </a:p>
          <a:p>
            <a:pPr algn="r">
              <a:lnSpc>
                <a:spcPct val="100000"/>
              </a:lnSpc>
            </a:pPr>
            <a:r>
              <a:rPr sz="1500">
                <a:solidFill>
                  <a:srgbClr val="4F5D6A"/>
                </a:solidFill>
                <a:latin typeface="Consolas"/>
              </a:rPr>
              <a:t>168</a:t>
            </a:r>
          </a:p>
          <a:p>
            <a:pPr algn="r">
              <a:lnSpc>
                <a:spcPct val="100000"/>
              </a:lnSpc>
            </a:pPr>
            <a:r>
              <a:rPr sz="1500">
                <a:solidFill>
                  <a:srgbClr val="4F5D6A"/>
                </a:solidFill>
                <a:latin typeface="Consolas"/>
              </a:rPr>
              <a:t>169</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821614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  ·  Problem Formulation and Uninformed Search</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§4.7  ·  Handout p. 37     </a:t>
            </a:r>
            <a:fld id="{D187252F-C35A-4742-AC3B-1C890B7A8DAB}" type="slidenum">
              <a:rPr lang="en-GB" sz="1000">
                <a:solidFill>
                  <a:srgbClr val="8795A1"/>
                </a:solidFill>
                <a:latin typeface="Segoe UI"/>
              </a:rPr>
              <a:t>32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Read the output against Table 4.1: depth-first search holds the smallest frontier and breadth-first search the largest, every complete plan costs the same </a:t>
            </a:r>
            <a:r>
              <a:rPr sz="2300" b="0" i="0">
                <a:solidFill>
                  <a:srgbClr val="1C252B"/>
                </a:solidFill>
                <a:latin typeface="Cambria"/>
              </a:rPr>
              <a:t>27</a:t>
            </a:r>
            <a:r>
              <a:rPr sz="2300" b="0" i="0">
                <a:solidFill>
                  <a:srgbClr val="1C252B"/>
                </a:solidFill>
                <a:latin typeface="Segoe UI"/>
              </a:rPr>
              <a:t> days, and removing the explored set multiplies the work. The last number is the one to remember — it is the whole argument of Figure 4.1, measured.</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48117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state space has </a:t>
            </a:r>
            <a:r>
              <a:rPr sz="3400" b="0" i="0">
                <a:solidFill>
                  <a:srgbClr val="FFFFFF"/>
                </a:solidFill>
                <a:latin typeface="Cambria"/>
              </a:rPr>
              <a:t>22</a:t>
            </a:r>
            <a:r>
              <a:rPr sz="3400" b="0" i="0">
                <a:solidFill>
                  <a:srgbClr val="FFFFFF"/>
                </a:solidFill>
                <a:latin typeface="Segoe UI Semibold"/>
              </a:rPr>
              <a:t> states and its search tree has </a:t>
            </a:r>
            <a:r>
              <a:rPr sz="3400" b="0" i="0">
                <a:solidFill>
                  <a:srgbClr val="FFFFFF"/>
                </a:solidFill>
                <a:latin typeface="Cambria"/>
              </a:rPr>
              <a:t>184</a:t>
            </a:r>
            <a:r>
              <a:rPr sz="3400" b="0" i="0">
                <a:solidFill>
                  <a:srgbClr val="FFFFFF"/>
                </a:solidFill>
                <a:latin typeface="Segoe UI Semibold"/>
              </a:rPr>
              <a:t> nodes. Explain in one sentence where the other </a:t>
            </a:r>
            <a:r>
              <a:rPr sz="3400" b="0" i="0">
                <a:solidFill>
                  <a:srgbClr val="FFFFFF"/>
                </a:solidFill>
                <a:latin typeface="Cambria"/>
              </a:rPr>
              <a:t>162</a:t>
            </a:r>
            <a:r>
              <a:rPr sz="3400" b="0" i="0">
                <a:solidFill>
                  <a:srgbClr val="FFFFFF"/>
                </a:solidFill>
                <a:latin typeface="Segoe UI Semibold"/>
              </a:rPr>
              <a:t> come from, and what single data structure removes them.</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4  ·  Problem Formulation and Uninformed Search</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42  ·  answers in Appendix D     </a:t>
            </a:r>
            <a:fld id="{C06136E9-8583-490A-82D9-881AB96748DD}" type="slidenum">
              <a:rPr lang="en-GB" sz="1000">
                <a:solidFill>
                  <a:srgbClr val="D5DEE5"/>
                </a:solidFill>
                <a:latin typeface="Segoe UI"/>
              </a:rPr>
              <a:t>33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state space has </a:t>
            </a:r>
            <a:r>
              <a:rPr sz="2400" b="0" i="0">
                <a:solidFill>
                  <a:srgbClr val="1A5276"/>
                </a:solidFill>
                <a:latin typeface="Cambria"/>
              </a:rPr>
              <a:t>22</a:t>
            </a:r>
            <a:r>
              <a:rPr sz="2400" b="0" i="0">
                <a:solidFill>
                  <a:srgbClr val="1A5276"/>
                </a:solidFill>
                <a:latin typeface="Segoe UI Semibold"/>
              </a:rPr>
              <a:t> states and its search tree has </a:t>
            </a:r>
            <a:r>
              <a:rPr sz="2400" b="0" i="0">
                <a:solidFill>
                  <a:srgbClr val="1A5276"/>
                </a:solidFill>
                <a:latin typeface="Cambria"/>
              </a:rPr>
              <a:t>184</a:t>
            </a:r>
            <a:r>
              <a:rPr sz="2400" b="0" i="0">
                <a:solidFill>
                  <a:srgbClr val="1A5276"/>
                </a:solidFill>
                <a:latin typeface="Segoe UI Semibold"/>
              </a:rPr>
              <a:t> nodes. Explain in one sentence where the other </a:t>
            </a:r>
            <a:r>
              <a:rPr sz="2400" b="0" i="0">
                <a:solidFill>
                  <a:srgbClr val="1A5276"/>
                </a:solidFill>
                <a:latin typeface="Cambria"/>
              </a:rPr>
              <a:t>162</a:t>
            </a:r>
            <a:r>
              <a:rPr sz="2400" b="0" i="0">
                <a:solidFill>
                  <a:srgbClr val="1A5276"/>
                </a:solidFill>
                <a:latin typeface="Segoe UI Semibold"/>
              </a:rPr>
              <a:t> come from, and what single data structure removes them.</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They are repeated states: the same set of finished tasks reached by different orderings. The search tree contains one node per </a:t>
            </a:r>
            <a:r>
              <a:rPr sz="2200" b="0" i="1">
                <a:solidFill>
                  <a:srgbClr val="1C252B"/>
                </a:solidFill>
                <a:latin typeface="Segoe UI"/>
              </a:rPr>
              <a:t>path</a:t>
            </a:r>
            <a:r>
              <a:rPr sz="2200" b="0" i="0">
                <a:solidFill>
                  <a:srgbClr val="1C252B"/>
                </a:solidFill>
                <a:latin typeface="Segoe UI"/>
              </a:rPr>
              <a:t>, the state graph one node per </a:t>
            </a:r>
            <a:r>
              <a:rPr sz="2200" b="0" i="1">
                <a:solidFill>
                  <a:srgbClr val="1C252B"/>
                </a:solidFill>
                <a:latin typeface="Segoe UI"/>
              </a:rPr>
              <a:t>situation</a:t>
            </a:r>
            <a:r>
              <a:rPr sz="2200" b="0" i="0">
                <a:solidFill>
                  <a:srgbClr val="1C252B"/>
                </a:solidFill>
                <a:latin typeface="Segoe UI"/>
              </a:rPr>
              <a:t>. An </a:t>
            </a:r>
            <a:r>
              <a:rPr sz="2200" b="1" i="0">
                <a:solidFill>
                  <a:srgbClr val="1A5276"/>
                </a:solidFill>
                <a:latin typeface="Segoe UI"/>
              </a:rPr>
              <a:t>explored set</a:t>
            </a:r>
            <a:r>
              <a:rPr sz="2200" b="0" i="0">
                <a:solidFill>
                  <a:srgbClr val="1C252B"/>
                </a:solidFill>
                <a:latin typeface="Segoe UI"/>
              </a:rPr>
              <a:t> — a set of states already generated, tested before pushing — removes them, and on a space containing a cycle it is also what makes the search terminate at all.</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  ·  Problem Formulation and Uninformed Search</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42  ·  answers in Appendix D     </a:t>
            </a:r>
            <a:fld id="{75E434A8-12FA-497B-98D9-163B3DF59DEC}" type="slidenum">
              <a:rPr lang="en-GB" sz="1000">
                <a:solidFill>
                  <a:srgbClr val="8795A1"/>
                </a:solidFill>
                <a:latin typeface="Segoe UI"/>
              </a:rPr>
              <a:t>34</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01125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must uniform-cost search test for the goal when a node is popped rather than when it is generated? Give the smallest graph on which the difference shows.</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4  ·  Problem Formulation and Uninformed Search</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42  ·  answers in Appendix D     </a:t>
            </a:r>
            <a:fld id="{E9D34B0B-AE4B-4E0C-944F-E1965577B253}" type="slidenum">
              <a:rPr lang="en-GB" sz="1000">
                <a:solidFill>
                  <a:srgbClr val="D5DEE5"/>
                </a:solidFill>
                <a:latin typeface="Segoe UI"/>
              </a:rPr>
              <a:t>35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Why must uniform-cost search test for the goal when a node is popped rather than when it is generated? Give the smallest graph on which the difference shows.</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Because when a node is </a:t>
            </a:r>
            <a:r>
              <a:rPr sz="2200" b="0" i="1">
                <a:solidFill>
                  <a:srgbClr val="1C252B"/>
                </a:solidFill>
                <a:latin typeface="Segoe UI"/>
              </a:rPr>
              <a:t>generated</a:t>
            </a:r>
            <a:r>
              <a:rPr sz="2200" b="0" i="0">
                <a:solidFill>
                  <a:srgbClr val="1C252B"/>
                </a:solidFill>
                <a:latin typeface="Segoe UI"/>
              </a:rPr>
              <a:t>, a cheaper path to the same state may still be sitting unexpanded in the frontier; only when a node is </a:t>
            </a:r>
            <a:r>
              <a:rPr sz="2200" b="0" i="1">
                <a:solidFill>
                  <a:srgbClr val="1C252B"/>
                </a:solidFill>
                <a:latin typeface="Segoe UI"/>
              </a:rPr>
              <a:t>popped</a:t>
            </a:r>
            <a:r>
              <a:rPr sz="2200" b="0" i="0">
                <a:solidFill>
                  <a:srgbClr val="1C252B"/>
                </a:solidFill>
                <a:latin typeface="Segoe UI"/>
              </a:rPr>
              <a:t> does the frontier ordering guarantee that nothing cheaper remains. The smallest graph showing it: start </a:t>
            </a:r>
            <a:r>
              <a:rPr sz="2200" b="0" i="1">
                <a:solidFill>
                  <a:srgbClr val="1C252B"/>
                </a:solidFill>
                <a:latin typeface="Cambria"/>
              </a:rPr>
              <a:t>S</a:t>
            </a:r>
            <a:r>
              <a:rPr sz="2200" b="0" i="0">
                <a:solidFill>
                  <a:srgbClr val="1C252B"/>
                </a:solidFill>
                <a:latin typeface="Segoe UI"/>
              </a:rPr>
              <a:t>, goal </a:t>
            </a:r>
            <a:r>
              <a:rPr sz="2200" b="0" i="1">
                <a:solidFill>
                  <a:srgbClr val="1C252B"/>
                </a:solidFill>
                <a:latin typeface="Cambria"/>
              </a:rPr>
              <a:t>G</a:t>
            </a:r>
            <a:r>
              <a:rPr sz="2200" b="0" i="0">
                <a:solidFill>
                  <a:srgbClr val="1C252B"/>
                </a:solidFill>
                <a:latin typeface="Segoe UI"/>
              </a:rPr>
              <a:t>, and one intermediate </a:t>
            </a:r>
            <a:r>
              <a:rPr sz="2200" b="0" i="1">
                <a:solidFill>
                  <a:srgbClr val="1C252B"/>
                </a:solidFill>
                <a:latin typeface="Cambria"/>
              </a:rPr>
              <a:t>A</a:t>
            </a:r>
            <a:r>
              <a:rPr sz="2200" b="0" i="0">
                <a:solidFill>
                  <a:srgbClr val="1C252B"/>
                </a:solidFill>
                <a:latin typeface="Segoe UI"/>
              </a:rPr>
              <a:t>, with </a:t>
            </a:r>
            <a:r>
              <a:rPr sz="2200" b="0" i="1">
                <a:solidFill>
                  <a:srgbClr val="1C252B"/>
                </a:solidFill>
                <a:latin typeface="Cambria"/>
              </a:rPr>
              <a:t>S</a:t>
            </a:r>
            <a:r>
              <a:rPr sz="2200" b="0" i="0">
                <a:solidFill>
                  <a:srgbClr val="1C252B"/>
                </a:solidFill>
                <a:latin typeface="Cambria"/>
              </a:rPr>
              <a:t> → </a:t>
            </a:r>
            <a:r>
              <a:rPr sz="2200" b="0" i="1">
                <a:solidFill>
                  <a:srgbClr val="1C252B"/>
                </a:solidFill>
                <a:latin typeface="Cambria"/>
              </a:rPr>
              <a:t>G</a:t>
            </a:r>
            <a:r>
              <a:rPr sz="2200" b="0" i="0">
                <a:solidFill>
                  <a:srgbClr val="1C252B"/>
                </a:solidFill>
                <a:latin typeface="Segoe UI"/>
              </a:rPr>
              <a:t> costing </a:t>
            </a:r>
            <a:r>
              <a:rPr sz="2200" b="0" i="0">
                <a:solidFill>
                  <a:srgbClr val="1C252B"/>
                </a:solidFill>
                <a:latin typeface="Cambria"/>
              </a:rPr>
              <a:t>10</a:t>
            </a:r>
            <a:r>
              <a:rPr sz="2200" b="0" i="0">
                <a:solidFill>
                  <a:srgbClr val="1C252B"/>
                </a:solidFill>
                <a:latin typeface="Segoe UI"/>
              </a:rPr>
              <a:t>, </a:t>
            </a:r>
            <a:r>
              <a:rPr sz="2200" b="0" i="1">
                <a:solidFill>
                  <a:srgbClr val="1C252B"/>
                </a:solidFill>
                <a:latin typeface="Cambria"/>
              </a:rPr>
              <a:t>S</a:t>
            </a:r>
            <a:r>
              <a:rPr sz="2200" b="0" i="0">
                <a:solidFill>
                  <a:srgbClr val="1C252B"/>
                </a:solidFill>
                <a:latin typeface="Cambria"/>
              </a:rPr>
              <a:t> → </a:t>
            </a:r>
            <a:r>
              <a:rPr sz="2200" b="0" i="1">
                <a:solidFill>
                  <a:srgbClr val="1C252B"/>
                </a:solidFill>
                <a:latin typeface="Cambria"/>
              </a:rPr>
              <a:t>A</a:t>
            </a:r>
            <a:r>
              <a:rPr sz="2200" b="0" i="0">
                <a:solidFill>
                  <a:srgbClr val="1C252B"/>
                </a:solidFill>
                <a:latin typeface="Segoe UI"/>
              </a:rPr>
              <a:t> costing </a:t>
            </a:r>
            <a:r>
              <a:rPr sz="2200" b="0" i="0">
                <a:solidFill>
                  <a:srgbClr val="1C252B"/>
                </a:solidFill>
                <a:latin typeface="Cambria"/>
              </a:rPr>
              <a:t>1</a:t>
            </a:r>
            <a:r>
              <a:rPr sz="2200" b="0" i="0">
                <a:solidFill>
                  <a:srgbClr val="1C252B"/>
                </a:solidFill>
                <a:latin typeface="Segoe UI"/>
              </a:rPr>
              <a:t> and </a:t>
            </a:r>
            <a:r>
              <a:rPr sz="2200" b="0" i="1">
                <a:solidFill>
                  <a:srgbClr val="1C252B"/>
                </a:solidFill>
                <a:latin typeface="Cambria"/>
              </a:rPr>
              <a:t>A</a:t>
            </a:r>
            <a:r>
              <a:rPr sz="2200" b="0" i="0">
                <a:solidFill>
                  <a:srgbClr val="1C252B"/>
                </a:solidFill>
                <a:latin typeface="Cambria"/>
              </a:rPr>
              <a:t> → </a:t>
            </a:r>
            <a:r>
              <a:rPr sz="2200" b="0" i="1">
                <a:solidFill>
                  <a:srgbClr val="1C252B"/>
                </a:solidFill>
                <a:latin typeface="Cambria"/>
              </a:rPr>
              <a:t>G</a:t>
            </a:r>
            <a:r>
              <a:rPr sz="2200" b="0" i="0">
                <a:solidFill>
                  <a:srgbClr val="1C252B"/>
                </a:solidFill>
                <a:latin typeface="Segoe UI"/>
              </a:rPr>
              <a:t> costing </a:t>
            </a:r>
            <a:r>
              <a:rPr sz="2200" b="0" i="0">
                <a:solidFill>
                  <a:srgbClr val="1C252B"/>
                </a:solidFill>
                <a:latin typeface="Cambria"/>
              </a:rPr>
              <a:t>2</a:t>
            </a:r>
            <a:r>
              <a:rPr sz="2200" b="0" i="0">
                <a:solidFill>
                  <a:srgbClr val="1C252B"/>
                </a:solidFill>
                <a:latin typeface="Segoe UI"/>
              </a:rPr>
              <a:t>. Testing on generation returns the direct path at cost </a:t>
            </a:r>
            <a:r>
              <a:rPr sz="2200" b="0" i="0">
                <a:solidFill>
                  <a:srgbClr val="1C252B"/>
                </a:solidFill>
                <a:latin typeface="Cambria"/>
              </a:rPr>
              <a:t>10</a:t>
            </a:r>
            <a:r>
              <a:rPr sz="2200" b="0" i="0">
                <a:solidFill>
                  <a:srgbClr val="1C252B"/>
                </a:solidFill>
                <a:latin typeface="Segoe UI"/>
              </a:rPr>
              <a:t>; testing on popping returns </a:t>
            </a:r>
            <a:r>
              <a:rPr sz="2200" b="0" i="1">
                <a:solidFill>
                  <a:srgbClr val="1C252B"/>
                </a:solidFill>
                <a:latin typeface="Cambria"/>
              </a:rPr>
              <a:t>S</a:t>
            </a:r>
            <a:r>
              <a:rPr sz="2200" b="0" i="0">
                <a:solidFill>
                  <a:srgbClr val="1C252B"/>
                </a:solidFill>
                <a:latin typeface="Cambria"/>
              </a:rPr>
              <a:t>,</a:t>
            </a:r>
            <a:r>
              <a:rPr sz="2200" b="0" i="1">
                <a:solidFill>
                  <a:srgbClr val="1C252B"/>
                </a:solidFill>
                <a:latin typeface="Cambria"/>
              </a:rPr>
              <a:t>A</a:t>
            </a:r>
            <a:r>
              <a:rPr sz="2200" b="0" i="0">
                <a:solidFill>
                  <a:srgbClr val="1C252B"/>
                </a:solidFill>
                <a:latin typeface="Cambria"/>
              </a:rPr>
              <a:t>,</a:t>
            </a:r>
            <a:r>
              <a:rPr sz="2200" b="0" i="1">
                <a:solidFill>
                  <a:srgbClr val="1C252B"/>
                </a:solidFill>
                <a:latin typeface="Cambria"/>
              </a:rPr>
              <a:t>G</a:t>
            </a:r>
            <a:r>
              <a:rPr sz="2200" b="0" i="0">
                <a:solidFill>
                  <a:srgbClr val="1C252B"/>
                </a:solidFill>
                <a:latin typeface="Segoe UI"/>
              </a:rPr>
              <a:t> at cost </a:t>
            </a:r>
            <a:r>
              <a:rPr sz="2200" b="0" i="0">
                <a:solidFill>
                  <a:srgbClr val="1C252B"/>
                </a:solidFill>
                <a:latin typeface="Cambria"/>
              </a:rPr>
              <a:t>3</a:t>
            </a:r>
            <a:r>
              <a:rPr sz="2200" b="0" i="0">
                <a:solidFill>
                  <a:srgbClr val="1C252B"/>
                </a:solidFill>
                <a:latin typeface="Segoe UI"/>
              </a:rPr>
              <a: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  ·  Problem Formulation and Uninformed Search</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42  ·  answers in Appendix D     </a:t>
            </a:r>
            <a:fld id="{6D03D0AD-21ED-482D-98FE-348FB94044A6}" type="slidenum">
              <a:rPr lang="en-GB" sz="1000">
                <a:solidFill>
                  <a:srgbClr val="8795A1"/>
                </a:solidFill>
                <a:latin typeface="Segoe UI"/>
              </a:rPr>
              <a:t>36</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54132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Iterative deepening re-expands the top of the tree on every iteration. Why is the total work still the same order as breadth-first search, and what is bought with the repetition?</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4  ·  Problem Formulation and Uninformed Search</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42  ·  answers in Appendix D     </a:t>
            </a:r>
            <a:fld id="{FB99646B-306E-4A13-B960-D4A4BD2BB13A}" type="slidenum">
              <a:rPr lang="en-GB" sz="1000">
                <a:solidFill>
                  <a:srgbClr val="D5DEE5"/>
                </a:solidFill>
                <a:latin typeface="Segoe UI"/>
              </a:rPr>
              <a:t>37</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Iterative deepening re-expands the top of the tree on every iteration. Why is the total work still the same order as breadth-first search, and what is bought with the repetition?</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Because the number of nodes grows geometrically with depth, so the deepest level dominates the total: the nodes above it sum to roughly </a:t>
            </a:r>
            <a:r>
              <a:rPr sz="2200" b="0" i="0">
                <a:solidFill>
                  <a:srgbClr val="1C252B"/>
                </a:solidFill>
                <a:latin typeface="Cambria"/>
              </a:rPr>
              <a:t>1/(</a:t>
            </a:r>
            <a:r>
              <a:rPr sz="2200" b="0" i="1">
                <a:solidFill>
                  <a:srgbClr val="1C252B"/>
                </a:solidFill>
                <a:latin typeface="Cambria"/>
              </a:rPr>
              <a:t>b</a:t>
            </a:r>
            <a:r>
              <a:rPr sz="2200" b="0" i="0">
                <a:solidFill>
                  <a:srgbClr val="1C252B"/>
                </a:solidFill>
                <a:latin typeface="Cambria"/>
              </a:rPr>
              <a:t>−1)</a:t>
            </a:r>
            <a:r>
              <a:rPr sz="2200" b="0" i="0">
                <a:solidFill>
                  <a:srgbClr val="1C252B"/>
                </a:solidFill>
                <a:latin typeface="Segoe UI"/>
              </a:rPr>
              <a:t> of it. At </a:t>
            </a:r>
            <a:r>
              <a:rPr sz="2200" b="0" i="1">
                <a:solidFill>
                  <a:srgbClr val="1C252B"/>
                </a:solidFill>
                <a:latin typeface="Cambria"/>
              </a:rPr>
              <a:t>b</a:t>
            </a:r>
            <a:r>
              <a:rPr sz="2200" b="0" i="0">
                <a:solidFill>
                  <a:srgbClr val="1C252B"/>
                </a:solidFill>
                <a:latin typeface="Cambria"/>
              </a:rPr>
              <a:t>=10</a:t>
            </a:r>
            <a:r>
              <a:rPr sz="2200" b="0" i="0">
                <a:solidFill>
                  <a:srgbClr val="1C252B"/>
                </a:solidFill>
                <a:latin typeface="Segoe UI"/>
              </a:rPr>
              <a:t>, </a:t>
            </a:r>
            <a:r>
              <a:rPr sz="2200" b="0" i="1">
                <a:solidFill>
                  <a:srgbClr val="1C252B"/>
                </a:solidFill>
                <a:latin typeface="Cambria"/>
              </a:rPr>
              <a:t>d</a:t>
            </a:r>
            <a:r>
              <a:rPr sz="2200" b="0" i="0">
                <a:solidFill>
                  <a:srgbClr val="1C252B"/>
                </a:solidFill>
                <a:latin typeface="Cambria"/>
              </a:rPr>
              <a:t>=5</a:t>
            </a:r>
            <a:r>
              <a:rPr sz="2200" b="0" i="0">
                <a:solidFill>
                  <a:srgbClr val="1C252B"/>
                </a:solidFill>
                <a:latin typeface="Segoe UI"/>
              </a:rPr>
              <a:t> the repetition costs about 11% extra work. What it buys is memory: </a:t>
            </a:r>
            <a:r>
              <a:rPr sz="2200" b="0" i="1">
                <a:solidFill>
                  <a:srgbClr val="1C252B"/>
                </a:solidFill>
                <a:latin typeface="Cambria"/>
              </a:rPr>
              <a:t>O</a:t>
            </a:r>
            <a:r>
              <a:rPr sz="2200" b="0" i="0">
                <a:solidFill>
                  <a:srgbClr val="1C252B"/>
                </a:solidFill>
                <a:latin typeface="Cambria"/>
              </a:rPr>
              <a:t>(</a:t>
            </a:r>
            <a:r>
              <a:rPr sz="2200" b="0" i="1">
                <a:solidFill>
                  <a:srgbClr val="1C252B"/>
                </a:solidFill>
                <a:latin typeface="Cambria"/>
              </a:rPr>
              <a:t>bd</a:t>
            </a:r>
            <a:r>
              <a:rPr sz="2200" b="0" i="0">
                <a:solidFill>
                  <a:srgbClr val="1C252B"/>
                </a:solidFill>
                <a:latin typeface="Cambria"/>
              </a:rPr>
              <a:t>)</a:t>
            </a:r>
            <a:r>
              <a:rPr sz="2200" b="0" i="0">
                <a:solidFill>
                  <a:srgbClr val="1C252B"/>
                </a:solidFill>
                <a:latin typeface="Segoe UI"/>
              </a:rPr>
              <a:t> instead of </a:t>
            </a:r>
            <a:r>
              <a:rPr sz="2200" b="0" i="1">
                <a:solidFill>
                  <a:srgbClr val="1C252B"/>
                </a:solidFill>
                <a:latin typeface="Cambria"/>
              </a:rPr>
              <a:t>O</a:t>
            </a:r>
            <a:r>
              <a:rPr sz="2200" b="0" i="0">
                <a:solidFill>
                  <a:srgbClr val="1C252B"/>
                </a:solidFill>
                <a:latin typeface="Cambria"/>
              </a:rPr>
              <a:t>(</a:t>
            </a:r>
            <a:r>
              <a:rPr sz="2200" b="0" i="1">
                <a:solidFill>
                  <a:srgbClr val="1C252B"/>
                </a:solidFill>
                <a:latin typeface="Cambria"/>
              </a:rPr>
              <a:t>b</a:t>
            </a:r>
            <a:r>
              <a:rPr sz="2200" b="0" i="1" baseline="30000">
                <a:solidFill>
                  <a:srgbClr val="1C252B"/>
                </a:solidFill>
                <a:latin typeface="Cambria"/>
              </a:rPr>
              <a:t>d</a:t>
            </a:r>
            <a:r>
              <a:rPr sz="2200" b="0" i="0">
                <a:solidFill>
                  <a:srgbClr val="1C252B"/>
                </a:solidFill>
                <a:latin typeface="Cambria"/>
              </a:rPr>
              <a:t>)</a:t>
            </a:r>
            <a:r>
              <a:rPr sz="2200" b="0" i="0">
                <a:solidFill>
                  <a:srgbClr val="1C252B"/>
                </a:solidFill>
                <a:latin typeface="Segoe UI"/>
              </a:rPr>
              <a:t> — </a:t>
            </a:r>
            <a:r>
              <a:rPr sz="2200" b="0" i="0">
                <a:solidFill>
                  <a:srgbClr val="1C252B"/>
                </a:solidFill>
                <a:latin typeface="Cambria"/>
              </a:rPr>
              <a:t>50</a:t>
            </a:r>
            <a:r>
              <a:rPr sz="2200" b="0" i="0">
                <a:solidFill>
                  <a:srgbClr val="1C252B"/>
                </a:solidFill>
                <a:latin typeface="Segoe UI"/>
              </a:rPr>
              <a:t> nodes rather than </a:t>
            </a:r>
            <a:r>
              <a:rPr sz="2200" b="0" i="0">
                <a:solidFill>
                  <a:srgbClr val="1C252B"/>
                </a:solidFill>
                <a:latin typeface="Cambria"/>
              </a:rPr>
              <a:t>100,000</a:t>
            </a:r>
            <a:r>
              <a:rPr sz="2200" b="0" i="0">
                <a:solidFill>
                  <a:srgbClr val="1C252B"/>
                </a:solidFill>
                <a:latin typeface="Segoe UI"/>
              </a:rPr>
              <a:t> — while keeping completeness and the shallowest-solution guarantee.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  ·  Problem Formulation and Uninformed Search</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42  ·  answers in Appendix D     </a:t>
            </a:r>
            <a:fld id="{A2A53AF2-4775-4AE5-8011-DC419457B9A1}" type="slidenum">
              <a:rPr lang="en-GB" sz="1000">
                <a:solidFill>
                  <a:srgbClr val="8795A1"/>
                </a:solidFill>
                <a:latin typeface="Segoe UI"/>
              </a:rPr>
              <a:t>38</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07140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  ·  Problem Formulation and Uninformed Search</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42     </a:t>
            </a:r>
            <a:fld id="{67E7E63C-51B0-43E9-B6EE-324C7730BE85}" type="slidenum">
              <a:rPr lang="en-GB" sz="1000">
                <a:solidFill>
                  <a:srgbClr val="8795A1"/>
                </a:solidFill>
                <a:latin typeface="Segoe UI"/>
              </a:rPr>
              <a:t>39</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Formulating a problem means choosing states, initial state, actions, result, goal test and step cost — and deciding what to leave out. The omissions are where the factors of a hundred live.</a:t>
            </a:r>
          </a:p>
        </p:txBody>
      </p:sp>
      <p:sp>
        <p:nvSpPr>
          <p:cNvPr id="10" name="!!sb1">
            <a:extLst>
              <a:ext uri="{C183D7F6-B498-43B3-948B-1728B52AA6E4}">
                <adec:decorative xmlns:adec="http://schemas.microsoft.com/office/drawing/2017/decorative" val="1"/>
              </a:ext>
            </a:extLst>
          </p:cNvPr>
          <p:cNvSpPr/>
          <p:nvPr/>
        </p:nvSpPr>
        <p:spPr>
          <a:xfrm>
            <a:off x="658368" y="246827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2313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59126"/>
            <a:ext cx="10234879" cy="80832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The </a:t>
            </a:r>
            <a:r>
              <a:rPr sz="1700" b="1" i="0">
                <a:solidFill>
                  <a:srgbClr val="1A5276"/>
                </a:solidFill>
                <a:latin typeface="Segoe UI"/>
              </a:rPr>
              <a:t>state space</a:t>
            </a:r>
            <a:r>
              <a:rPr sz="1700" b="0" i="0">
                <a:solidFill>
                  <a:srgbClr val="1C252B"/>
                </a:solidFill>
                <a:latin typeface="Segoe UI"/>
              </a:rPr>
              <a:t> is a graph and belongs to the problem; the </a:t>
            </a:r>
            <a:r>
              <a:rPr sz="1700" b="1" i="0">
                <a:solidFill>
                  <a:srgbClr val="1A5276"/>
                </a:solidFill>
                <a:latin typeface="Segoe UI"/>
              </a:rPr>
              <a:t>search tree</a:t>
            </a:r>
            <a:r>
              <a:rPr sz="1700" b="0" i="0">
                <a:solidFill>
                  <a:srgbClr val="1C252B"/>
                </a:solidFill>
                <a:latin typeface="Segoe UI"/>
              </a:rPr>
              <a:t> is built by the algorithm and repeats each state once per path. An </a:t>
            </a:r>
            <a:r>
              <a:rPr sz="1700" b="1" i="0">
                <a:solidFill>
                  <a:srgbClr val="1A5276"/>
                </a:solidFill>
                <a:latin typeface="Segoe UI"/>
              </a:rPr>
              <a:t>explored set</a:t>
            </a:r>
            <a:r>
              <a:rPr sz="1700" b="0" i="0">
                <a:solidFill>
                  <a:srgbClr val="1C252B"/>
                </a:solidFill>
                <a:latin typeface="Segoe UI"/>
              </a:rPr>
              <a:t> turns the tree back into the graph and is what makes search on a cyclic space terminate.</a:t>
            </a:r>
          </a:p>
        </p:txBody>
      </p:sp>
      <p:sp>
        <p:nvSpPr>
          <p:cNvPr id="13" name="!!sb2">
            <a:extLst>
              <a:ext uri="{C183D7F6-B498-43B3-948B-1728B52AA6E4}">
                <adec:decorative xmlns:adec="http://schemas.microsoft.com/office/drawing/2017/decorative" val="1"/>
              </a:ext>
            </a:extLst>
          </p:cNvPr>
          <p:cNvSpPr/>
          <p:nvPr/>
        </p:nvSpPr>
        <p:spPr>
          <a:xfrm>
            <a:off x="658368" y="345947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51434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450335"/>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Breadth-first search is complete and returns the shallowest solution — cheapest only when all actions cost the same. It needs </a:t>
            </a:r>
            <a:r>
              <a:rPr sz="1700" b="0" i="1">
                <a:solidFill>
                  <a:srgbClr val="1C252B"/>
                </a:solidFill>
                <a:latin typeface="Cambria"/>
              </a:rPr>
              <a:t>O</a:t>
            </a:r>
            <a:r>
              <a:rPr sz="1700" b="0" i="0">
                <a:solidFill>
                  <a:srgbClr val="1C252B"/>
                </a:solidFill>
                <a:latin typeface="Cambria"/>
              </a:rPr>
              <a:t>(</a:t>
            </a:r>
            <a:r>
              <a:rPr sz="1700" b="0" i="1">
                <a:solidFill>
                  <a:srgbClr val="1C252B"/>
                </a:solidFill>
                <a:latin typeface="Cambria"/>
              </a:rPr>
              <a:t>b</a:t>
            </a:r>
            <a:r>
              <a:rPr sz="1700" b="0" i="1" baseline="30000">
                <a:solidFill>
                  <a:srgbClr val="1C252B"/>
                </a:solidFill>
                <a:latin typeface="Cambria"/>
              </a:rPr>
              <a:t>d</a:t>
            </a:r>
            <a:r>
              <a:rPr sz="1700" b="0" i="0">
                <a:solidFill>
                  <a:srgbClr val="1C252B"/>
                </a:solidFill>
                <a:latin typeface="Cambria"/>
              </a:rPr>
              <a:t>)</a:t>
            </a:r>
            <a:r>
              <a:rPr sz="1700" b="0" i="0">
                <a:solidFill>
                  <a:srgbClr val="1C252B"/>
                </a:solidFill>
                <a:latin typeface="Segoe UI"/>
              </a:rPr>
              <a:t> memory, which is what defeats it.</a:t>
            </a:r>
          </a:p>
        </p:txBody>
      </p:sp>
      <p:sp>
        <p:nvSpPr>
          <p:cNvPr id="16" name="!!sb3">
            <a:extLst>
              <a:ext uri="{C183D7F6-B498-43B3-948B-1728B52AA6E4}">
                <adec:decorative xmlns:adec="http://schemas.microsoft.com/office/drawing/2017/decorative" val="1"/>
              </a:ext>
            </a:extLst>
          </p:cNvPr>
          <p:cNvSpPr/>
          <p:nvPr/>
        </p:nvSpPr>
        <p:spPr>
          <a:xfrm>
            <a:off x="658368" y="418124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23611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17210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Depth-first search needs only </a:t>
            </a:r>
            <a:r>
              <a:rPr sz="1700" b="0" i="1">
                <a:solidFill>
                  <a:srgbClr val="1C252B"/>
                </a:solidFill>
                <a:latin typeface="Cambria"/>
              </a:rPr>
              <a:t>O</a:t>
            </a:r>
            <a:r>
              <a:rPr sz="1700" b="0" i="0">
                <a:solidFill>
                  <a:srgbClr val="1C252B"/>
                </a:solidFill>
                <a:latin typeface="Cambria"/>
              </a:rPr>
              <a:t>(</a:t>
            </a:r>
            <a:r>
              <a:rPr sz="1700" b="0" i="1">
                <a:solidFill>
                  <a:srgbClr val="1C252B"/>
                </a:solidFill>
                <a:latin typeface="Cambria"/>
              </a:rPr>
              <a:t>bm</a:t>
            </a:r>
            <a:r>
              <a:rPr sz="1700" b="0" i="0">
                <a:solidFill>
                  <a:srgbClr val="1C252B"/>
                </a:solidFill>
                <a:latin typeface="Cambria"/>
              </a:rPr>
              <a:t>)</a:t>
            </a:r>
            <a:r>
              <a:rPr sz="1700" b="0" i="0">
                <a:solidFill>
                  <a:srgbClr val="1C252B"/>
                </a:solidFill>
                <a:latin typeface="Segoe UI"/>
              </a:rPr>
              <a:t> memory but is neither complete nor optimal. Depth-limited search terminates but reports failure on solvable problems.</a:t>
            </a:r>
          </a:p>
        </p:txBody>
      </p:sp>
      <p:sp>
        <p:nvSpPr>
          <p:cNvPr id="19" name="!!sb4">
            <a:extLst>
              <a:ext uri="{C183D7F6-B498-43B3-948B-1728B52AA6E4}">
                <adec:decorative xmlns:adec="http://schemas.microsoft.com/office/drawing/2017/decorative" val="1"/>
              </a:ext>
            </a:extLst>
          </p:cNvPr>
          <p:cNvSpPr/>
          <p:nvPr/>
        </p:nvSpPr>
        <p:spPr>
          <a:xfrm>
            <a:off x="658368" y="4903012"/>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95787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893868"/>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Iterative deepening has breadth-first search’s guarantees with depth-first search’s memory, for about 11% more work at </a:t>
            </a:r>
            <a:r>
              <a:rPr sz="1700" b="0" i="1">
                <a:solidFill>
                  <a:srgbClr val="1C252B"/>
                </a:solidFill>
                <a:latin typeface="Cambria"/>
              </a:rPr>
              <a:t>b</a:t>
            </a:r>
            <a:r>
              <a:rPr sz="1700" b="0" i="0">
                <a:solidFill>
                  <a:srgbClr val="1C252B"/>
                </a:solidFill>
                <a:latin typeface="Cambria"/>
              </a:rPr>
              <a:t>=10</a:t>
            </a:r>
            <a:r>
              <a:rPr sz="1700" b="0" i="0">
                <a:solidFill>
                  <a:srgbClr val="1C252B"/>
                </a:solidFill>
                <a:latin typeface="Segoe UI"/>
              </a:rPr>
              <a:t>, </a:t>
            </a:r>
            <a:r>
              <a:rPr sz="1700" b="0" i="1">
                <a:solidFill>
                  <a:srgbClr val="1C252B"/>
                </a:solidFill>
                <a:latin typeface="Cambria"/>
              </a:rPr>
              <a:t>d</a:t>
            </a:r>
            <a:r>
              <a:rPr sz="1700" b="0" i="0">
                <a:solidFill>
                  <a:srgbClr val="1C252B"/>
                </a:solidFill>
                <a:latin typeface="Cambria"/>
              </a:rPr>
              <a:t>=5</a:t>
            </a:r>
            <a:r>
              <a:rPr sz="1700" b="0" i="0">
                <a:solidFill>
                  <a:srgbClr val="1C252B"/>
                </a:solidFill>
                <a:latin typeface="Segoe UI"/>
              </a:rPr>
              <a:t>.</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1033643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 (continued)</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  ·  Problem Formulation and Uninformed Search</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42     </a:t>
            </a:r>
            <a:fld id="{41AD5C5D-CC18-4E35-BBA6-79B5469FA360}" type="slidenum">
              <a:rPr lang="en-GB" sz="1000">
                <a:solidFill>
                  <a:srgbClr val="8795A1"/>
                </a:solidFill>
                <a:latin typeface="Segoe UI"/>
              </a:rPr>
              <a:t>40</a:t>
            </a:fld>
          </a:p>
        </p:txBody>
      </p:sp>
      <p:sp>
        <p:nvSpPr>
          <p:cNvPr id="7" name="!!sb5">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5"/>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9" name="!!st5"/>
          <p:cNvSpPr txBox="1"/>
          <p:nvPr/>
        </p:nvSpPr>
        <p:spPr>
          <a:xfrm>
            <a:off x="1298448" y="1737360"/>
            <a:ext cx="10234879" cy="80832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Uniform-cost search expands the cheapest path first and is genuinely cost-optimal, provided the goal test happens on popping and every step cost is non-negative. It is Dijkstra’s algorithm, and Chapter 5 turns it into </a:t>
            </a:r>
            <a:r>
              <a:rPr sz="1700" b="0" i="1">
                <a:solidFill>
                  <a:srgbClr val="1C252B"/>
                </a:solidFill>
                <a:latin typeface="Cambria"/>
              </a:rPr>
              <a:t>A</a:t>
            </a:r>
            <a:r>
              <a:rPr sz="1700" b="0" i="0" baseline="30000">
                <a:solidFill>
                  <a:srgbClr val="1C252B"/>
                </a:solidFill>
                <a:latin typeface="Cambria"/>
              </a:rPr>
              <a:t>∗</a:t>
            </a:r>
            <a:r>
              <a:rPr sz="1700" b="0" i="0">
                <a:solidFill>
                  <a:srgbClr val="1C252B"/>
                </a:solidFill>
                <a:latin typeface="Segoe UI"/>
              </a:rPr>
              <a:t>.</a:t>
            </a:r>
          </a:p>
        </p:txBody>
      </p:sp>
      <p:sp>
        <p:nvSpPr>
          <p:cNvPr id="10" name="!!sb6">
            <a:extLst>
              <a:ext uri="{C183D7F6-B498-43B3-948B-1728B52AA6E4}">
                <adec:decorative xmlns:adec="http://schemas.microsoft.com/office/drawing/2017/decorative" val="1"/>
              </a:ext>
            </a:extLst>
          </p:cNvPr>
          <p:cNvSpPr/>
          <p:nvPr/>
        </p:nvSpPr>
        <p:spPr>
          <a:xfrm>
            <a:off x="658368" y="273771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6"/>
          <p:cNvSpPr txBox="1"/>
          <p:nvPr/>
        </p:nvSpPr>
        <p:spPr>
          <a:xfrm>
            <a:off x="658368" y="279257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12" name="!!st6"/>
          <p:cNvSpPr txBox="1"/>
          <p:nvPr/>
        </p:nvSpPr>
        <p:spPr>
          <a:xfrm>
            <a:off x="1298448" y="2728569"/>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All five are exponential in time, because none of them knows anything about the problem beyond generating successors. That is what “uninformed” means, and why the next chapter exists.</a:t>
            </a:r>
          </a:p>
        </p:txBody>
      </p:sp>
      <p:sp>
        <p:nvSpPr>
          <p:cNvPr id="2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pfill">
            <a:extLst>
              <a:ext uri="{C183D7F6-B498-43B3-948B-1728B52AA6E4}">
                <adec:decorative xmlns:adec="http://schemas.microsoft.com/office/drawing/2017/decorative" val="1"/>
              </a:ext>
            </a:extLst>
          </p:cNvPr>
          <p:cNvSpPr/>
          <p:nvPr/>
        </p:nvSpPr>
        <p:spPr>
          <a:xfrm>
            <a:off x="0" y="0"/>
            <a:ext cx="1060147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  ·  Problem Formulation and Uninformed Search</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42     </a:t>
            </a:r>
            <a:fld id="{3F9024E5-49F6-4276-9CB7-2D6CE8CEFC69}" type="slidenum">
              <a:rPr lang="en-GB" sz="1000">
                <a:solidFill>
                  <a:srgbClr val="8795A1"/>
                </a:solidFill>
                <a:latin typeface="Segoe UI"/>
              </a:rPr>
              <a:t>41</a:t>
            </a:fld>
          </a:p>
        </p:txBody>
      </p:sp>
      <p:sp>
        <p:nvSpPr>
          <p:cNvPr id="7" name="!!mstem"/>
          <p:cNvSpPr txBox="1"/>
          <p:nvPr/>
        </p:nvSpPr>
        <p:spPr>
          <a:xfrm>
            <a:off x="658368" y="1737360"/>
            <a:ext cx="10874959" cy="86989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Which strategy is guaranteed to return the cheapest solution when action costs differ?</a:t>
            </a:r>
          </a:p>
        </p:txBody>
      </p:sp>
      <p:sp>
        <p:nvSpPr>
          <p:cNvPr id="8" name="!!mo0">
            <a:extLst>
              <a:ext uri="{C183D7F6-B498-43B3-948B-1728B52AA6E4}">
                <adec:decorative xmlns:adec="http://schemas.microsoft.com/office/drawing/2017/decorative" val="1"/>
              </a:ext>
            </a:extLst>
          </p:cNvPr>
          <p:cNvSpPr/>
          <p:nvPr/>
        </p:nvSpPr>
        <p:spPr>
          <a:xfrm>
            <a:off x="658368"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320161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breadth-first</a:t>
            </a:r>
          </a:p>
        </p:txBody>
      </p:sp>
      <p:sp>
        <p:nvSpPr>
          <p:cNvPr id="12" name="!!mo1">
            <a:extLst>
              <a:ext uri="{C183D7F6-B498-43B3-948B-1728B52AA6E4}">
                <adec:decorative xmlns:adec="http://schemas.microsoft.com/office/drawing/2017/decorative" val="1"/>
              </a:ext>
            </a:extLst>
          </p:cNvPr>
          <p:cNvSpPr/>
          <p:nvPr/>
        </p:nvSpPr>
        <p:spPr>
          <a:xfrm>
            <a:off x="6214719"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320161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depth-first</a:t>
            </a:r>
          </a:p>
        </p:txBody>
      </p:sp>
      <p:sp>
        <p:nvSpPr>
          <p:cNvPr id="16" name="!!mo2">
            <a:extLst>
              <a:ext uri="{C183D7F6-B498-43B3-948B-1728B52AA6E4}">
                <adec:decorative xmlns:adec="http://schemas.microsoft.com/office/drawing/2017/decorative" val="1"/>
              </a:ext>
            </a:extLst>
          </p:cNvPr>
          <p:cNvSpPr/>
          <p:nvPr/>
        </p:nvSpPr>
        <p:spPr>
          <a:xfrm>
            <a:off x="658368"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439033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iterative deepening</a:t>
            </a:r>
          </a:p>
        </p:txBody>
      </p:sp>
      <p:sp>
        <p:nvSpPr>
          <p:cNvPr id="20" name="!!mo3">
            <a:extLst>
              <a:ext uri="{C183D7F6-B498-43B3-948B-1728B52AA6E4}">
                <adec:decorative xmlns:adec="http://schemas.microsoft.com/office/drawing/2017/decorative" val="1"/>
              </a:ext>
            </a:extLst>
          </p:cNvPr>
          <p:cNvSpPr/>
          <p:nvPr/>
        </p:nvSpPr>
        <p:spPr>
          <a:xfrm>
            <a:off x="6214719"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439033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uniform-cost</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086651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  ·  Problem Formulation and Uninformed Search</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42     </a:t>
            </a:r>
            <a:fld id="{B0068909-366C-42F7-91A3-BD757B29FE70}" type="slidenum">
              <a:rPr lang="en-GB" sz="1000">
                <a:solidFill>
                  <a:srgbClr val="8795A1"/>
                </a:solidFill>
                <a:latin typeface="Segoe UI"/>
              </a:rPr>
              <a:t>42</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Depth-first search’s space complexity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O</a:t>
            </a:r>
            <a:r>
              <a:rPr sz="2000" b="0" i="0">
                <a:solidFill>
                  <a:srgbClr val="1C252B"/>
                </a:solidFill>
                <a:latin typeface="Cambria"/>
              </a:rPr>
              <a:t>(</a:t>
            </a:r>
            <a:r>
              <a:rPr sz="2000" b="0" i="1">
                <a:solidFill>
                  <a:srgbClr val="1C252B"/>
                </a:solidFill>
                <a:latin typeface="Cambria"/>
              </a:rPr>
              <a:t>b</a:t>
            </a:r>
            <a:r>
              <a:rPr sz="2000" b="0" i="1" baseline="30000">
                <a:solidFill>
                  <a:srgbClr val="1C252B"/>
                </a:solidFill>
                <a:latin typeface="Cambria"/>
              </a:rPr>
              <a:t>d</a:t>
            </a:r>
            <a:r>
              <a:rPr sz="2000" b="0" i="0">
                <a:solidFill>
                  <a:srgbClr val="1C252B"/>
                </a:solidFill>
                <a:latin typeface="Cambria"/>
              </a:rPr>
              <a:t>)</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O</a:t>
            </a:r>
            <a:r>
              <a:rPr sz="2000" b="0" i="0">
                <a:solidFill>
                  <a:srgbClr val="1C252B"/>
                </a:solidFill>
                <a:latin typeface="Cambria"/>
              </a:rPr>
              <a:t>(</a:t>
            </a:r>
            <a:r>
              <a:rPr sz="2000" b="0" i="1">
                <a:solidFill>
                  <a:srgbClr val="1C252B"/>
                </a:solidFill>
                <a:latin typeface="Cambria"/>
              </a:rPr>
              <a:t>bm</a:t>
            </a:r>
            <a:r>
              <a:rPr sz="2000" b="0" i="0">
                <a:solidFill>
                  <a:srgbClr val="1C252B"/>
                </a:solidFill>
                <a:latin typeface="Cambria"/>
              </a:rPr>
              <a:t>)</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O</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13154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3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  ·  Problem Formulation and Uninformed Search</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42     </a:t>
            </a:r>
            <a:fld id="{932C7C6B-3F22-46E3-ADAD-8ED4DEF4A79B}" type="slidenum">
              <a:rPr lang="en-GB" sz="1000">
                <a:solidFill>
                  <a:srgbClr val="8795A1"/>
                </a:solidFill>
                <a:latin typeface="Segoe UI"/>
              </a:rPr>
              <a:t>43</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Omitting the explored set on a state space with cycles makes the search:</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slower but still correct</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non-optimal only</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potentially non-terminating</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unable to find shallow solutions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39658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4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  ·  Problem Formulation and Uninformed Search</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42     </a:t>
            </a:r>
            <a:fld id="{9E71A1D1-DF6F-4EBB-8DF6-0AC2EC4D28BF}" type="slidenum">
              <a:rPr lang="en-GB" sz="1000">
                <a:solidFill>
                  <a:srgbClr val="8795A1"/>
                </a:solidFill>
                <a:latin typeface="Segoe UI"/>
              </a:rPr>
              <a:t>44</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Uniform-cost search is equivalent to breadth-first search when:</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graph is a tree</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all step costs are equal</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heuristic is zero</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goal is unique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6162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4  ·  Problem Formulation and Uninformed Search</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42     </a:t>
            </a:r>
            <a:fld id="{8F7BE25F-8B20-480A-8D8F-1E483ABD553A}" type="slidenum">
              <a:rPr lang="en-GB" sz="1000">
                <a:solidFill>
                  <a:srgbClr val="8795A1"/>
                </a:solidFill>
                <a:latin typeface="Segoe UI"/>
              </a:rPr>
              <a:t>45</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State the difference between the state space and the search tree, and give the size of each for the three-task fragment of Figure 4.1.</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why iterative deepening is preferred to breadth-first search on large problems despite doing more work.</a:t>
            </a:r>
          </a:p>
        </p:txBody>
      </p:sp>
      <p:sp>
        <p:nvSpPr>
          <p:cNvPr id="13" name="!!rt2">
            <a:extLst>
              <a:ext uri="{C183D7F6-B498-43B3-948B-1728B52AA6E4}">
                <adec:decorative xmlns:adec="http://schemas.microsoft.com/office/drawing/2017/decorative" val="1"/>
              </a:ext>
            </a:extLst>
          </p:cNvPr>
          <p:cNvSpPr/>
          <p:nvPr/>
        </p:nvSpPr>
        <p:spPr>
          <a:xfrm>
            <a:off x="658368" y="3399129"/>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440277"/>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380841"/>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does uniform-cost search require non-negative step costs? Describe what goes wrong with a negative edge.</a:t>
            </a:r>
          </a:p>
        </p:txBody>
      </p:sp>
      <p:sp>
        <p:nvSpPr>
          <p:cNvPr id="16" name="!!rt3">
            <a:extLst>
              <a:ext uri="{C183D7F6-B498-43B3-948B-1728B52AA6E4}">
                <adec:decorative xmlns:adec="http://schemas.microsoft.com/office/drawing/2017/decorative" val="1"/>
              </a:ext>
            </a:extLst>
          </p:cNvPr>
          <p:cNvSpPr/>
          <p:nvPr/>
        </p:nvSpPr>
        <p:spPr>
          <a:xfrm>
            <a:off x="658368" y="4220870"/>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4262018"/>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4202582"/>
            <a:ext cx="9549079" cy="1204569"/>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On the project graph, add a task </a:t>
            </a:r>
            <a:r>
              <a:rPr sz="1800" b="0" i="0">
                <a:solidFill>
                  <a:srgbClr val="1F4E79"/>
                </a:solidFill>
                <a:latin typeface="Consolas"/>
              </a:rPr>
              <a:t>perf</a:t>
            </a:r>
            <a:r>
              <a:rPr sz="1900" b="0" i="0">
                <a:solidFill>
                  <a:srgbClr val="1C252B"/>
                </a:solidFill>
                <a:latin typeface="Segoe UI"/>
              </a:rPr>
              <a:t> of duration </a:t>
            </a:r>
            <a:r>
              <a:rPr sz="1900" b="0" i="0">
                <a:solidFill>
                  <a:srgbClr val="1C252B"/>
                </a:solidFill>
                <a:latin typeface="Cambria"/>
              </a:rPr>
              <a:t>2</a:t>
            </a:r>
            <a:r>
              <a:rPr sz="1900" b="0" i="0">
                <a:solidFill>
                  <a:srgbClr val="1C252B"/>
                </a:solidFill>
                <a:latin typeface="Segoe UI"/>
              </a:rPr>
              <a:t> depending on </a:t>
            </a:r>
            <a:r>
              <a:rPr sz="1800" b="0" i="0">
                <a:solidFill>
                  <a:srgbClr val="1F4E79"/>
                </a:solidFill>
                <a:latin typeface="Consolas"/>
              </a:rPr>
              <a:t>api</a:t>
            </a:r>
            <a:r>
              <a:rPr sz="1900" b="0" i="0">
                <a:solidFill>
                  <a:srgbClr val="1C252B"/>
                </a:solidFill>
                <a:latin typeface="Segoe UI"/>
              </a:rPr>
              <a:t> and </a:t>
            </a:r>
            <a:r>
              <a:rPr sz="1800" b="0" i="0">
                <a:solidFill>
                  <a:srgbClr val="1F4E79"/>
                </a:solidFill>
                <a:latin typeface="Consolas"/>
              </a:rPr>
              <a:t>ui</a:t>
            </a:r>
            <a:r>
              <a:rPr sz="1900" b="0" i="0">
                <a:solidFill>
                  <a:srgbClr val="1C252B"/>
                </a:solidFill>
                <a:latin typeface="Segoe UI"/>
              </a:rPr>
              <a:t>, required before </a:t>
            </a:r>
            <a:r>
              <a:rPr sz="1800" b="0" i="0">
                <a:solidFill>
                  <a:srgbClr val="1F4E79"/>
                </a:solidFill>
                <a:latin typeface="Consolas"/>
              </a:rPr>
              <a:t>release</a:t>
            </a:r>
            <a:r>
              <a:rPr sz="1900" b="0" i="0">
                <a:solidFill>
                  <a:srgbClr val="1C252B"/>
                </a:solidFill>
                <a:latin typeface="Segoe UI"/>
              </a:rPr>
              <a:t>. By hand, give the depth of the shallowest complete plan and the total cost of every complete plan. Then say which of the five strategies would now be the right choice, and why cost-based search is still not useful on this problem.</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1192665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23679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5739D"/>
                </a:solidFill>
                <a:latin typeface="Segoe UI Black"/>
              </a:rPr>
              <a:t>04</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4</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5 — Informed Search and Heuristics</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4, pages 34–42</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Task ordering four ways</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Quiz 1 (Ch 1–3)</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4  ·  Problem Formulation and Uninformed Search</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D5B84EAF-D3C5-4A27-ACB9-9E4EE746DAA8}" type="slidenum">
              <a:rPr lang="en-GB" sz="1000">
                <a:solidFill>
                  <a:srgbClr val="D5DEE5"/>
                </a:solidFill>
                <a:latin typeface="Segoe UI"/>
              </a:rPr>
              <a:t>46</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Artificial Intelligence Fall 2026">
  <a:themeElements>
    <a:clrScheme name="Artificial Intellig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Artificial Intellig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Problem Formulation and Uninformed Search</dc:title>
  <dc:subject>Artificial Intelligence — Search, Knowledge and Reasoning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