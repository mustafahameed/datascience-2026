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1944E2-D38B-4290-99B5-7BD54977ED24}">
          <p14:sldIdLst>
            <p14:sldId id="256"/>
            <p14:sldId id="257"/>
            <p14:sldId id="258"/>
            <p14:sldId id="259"/>
            <p14:sldId id="260"/>
          </p14:sldIdLst>
        </p14:section>
        <p14:section name="2.1 Agent, Environment, Percept, Action" id="{8C8383CB-ACC0-421C-AAB3-5890758CD753}">
          <p14:sldIdLst>
            <p14:sldId id="261"/>
            <p14:sldId id="262"/>
            <p14:sldId id="263"/>
            <p14:sldId id="264"/>
          </p14:sldIdLst>
        </p14:section>
        <p14:section name="2.2 PEAS: Specify the Task Before You Build the Agent" id="{E3FB71C3-A01C-428E-BDFE-BD24512556F3}">
          <p14:sldIdLst>
            <p14:sldId id="265"/>
            <p14:sldId id="266"/>
            <p14:sldId id="267"/>
          </p14:sldIdLst>
        </p14:section>
        <p14:section name="2.3 Six Properties of a Task Environment" id="{7EC579F2-A0C7-4CF3-9487-1B7F8FBE13FD}">
          <p14:sldIdLst>
            <p14:sldId id="268"/>
            <p14:sldId id="269"/>
            <p14:sldId id="270"/>
            <p14:sldId id="271"/>
          </p14:sldIdLst>
        </p14:section>
        <p14:section name="2.4 Five Kinds of Agent Program" id="{504C5676-454A-44A9-B131-D3811F7C3C19}">
          <p14:sldIdLst>
            <p14:sldId id="272"/>
          </p14:sldIdLst>
        </p14:section>
        <p14:section name="2.5 Rationality Is Not Omniscience" id="{4003055C-3B6F-4A53-888F-2ECDC39040BB}">
          <p14:sldIdLst>
            <p14:sldId id="273"/>
            <p14:sldId id="274"/>
            <p14:sldId id="275"/>
          </p14:sldIdLst>
        </p14:section>
        <p14:section name="Pitfalls" id="{36A25134-EBDE-4548-9B18-D82BD0192C11}">
          <p14:sldIdLst>
            <p14:sldId id="276"/>
          </p14:sldIdLst>
        </p14:section>
        <p14:section name="Lab" id="{59BC348D-A422-4C46-9D11-1E3A6A6DFC65}">
          <p14:sldIdLst>
            <p14:sldId id="277"/>
            <p14:sldId id="278"/>
            <p14:sldId id="279"/>
            <p14:sldId id="280"/>
            <p14:sldId id="281"/>
            <p14:sldId id="282"/>
            <p14:sldId id="283"/>
            <p14:sldId id="284"/>
            <p14:sldId id="285"/>
          </p14:sldIdLst>
        </p14:section>
        <p14:section name="Checkpoint" id="{0A73D0F4-581D-4F32-BD93-26ECBA51E943}">
          <p14:sldIdLst>
            <p14:sldId id="286"/>
            <p14:sldId id="287"/>
            <p14:sldId id="288"/>
            <p14:sldId id="289"/>
            <p14:sldId id="290"/>
            <p14:sldId id="291"/>
          </p14:sldIdLst>
        </p14:section>
        <p14:section name="Wrap-up" id="{6B6F8C39-FED0-4FB5-A403-6AD02F093D76}">
          <p14:sldIdLst>
            <p14:sldId id="292"/>
            <p14:sldId id="293"/>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Intelligent Agents and Task Environments. Part 1 — Foundations of Intelligent Systems. Week 1: What AI is; intelligent agents and task environments. Handout pages 13–21.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(the definition of an agent, the acting-rationally quadrant, the five-point checklist). The agent vocabulary set up here is used by every later chapter: search is what a goal-based agent does to choose its action (Chapter 4), and utility appears again as expected utility in Chapter 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agent; percept; percept sequence; actuator; sensor; agent function; agent program; PEAS; performance measure; rational agent; fully and partially observable; deterministic and stochastic; episodic and sequential; static and dynamic; discrete and continuous; single- and multi-agent; simple reflex agent; model-based reflex agent; goal-based agent; utility-based agent; state estimation.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this course is an agent doing one thing: taking in what it can see and choosing what to do. Figure 2.1 is the picture, and it is worth looking at carefully, because four of its labels are technical terms that get used precisely from here on.</a:t>
            </a:r>
          </a:p>
          <a:p/>
          <a:p>
            <a:r>
              <a:t>Figure 2.1 (handout p. 14): The agent and its environment. The agent function is the mathematical object — what the agent ought to do in every situation it could ever be in. The agent program is the code that runs on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looks pedantic and is not. The agent function for the escalation problem could be written as an enormous table: every possible state of the queue in the left column, the right set of escalations in the right column. That table would be a complete, correct specification — and with three hundred tickets it has more rows than there are atoms in the observable universe. So the interesting work of AI is never “what is the right answer in every case”; it is “what program computes a good enough answer in the time available”. Every method in this book is an answer to that second question.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code, write down four things. The mnemonic is PEAS.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performance measure comes first and is the one people get wrong. It must be a measure of the environment’s state, not of the agent’s behaviour. An escalation adviser scored on “number of escalations made” will escalate everything. Scored on “breached service level agreements, plus a penalty for each escalation that turned out to be unnecessary”, it has to make a judgement — and now the problem is interesting.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task is specified, classify the environment. The classification is not academic bookkeeping: each property rules some architectures in and others out, and getting it wrong is how projects fail in month four.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2.2 shows the five architectures in increasing order of what they keep inside. The professional skill is to choose the simplest one that can do the job, because each step up costs code, state and ways to be wrong.</a:t>
            </a:r>
          </a:p>
          <a:p/>
          <a:p>
            <a:r>
              <a:t>Figure 2.2 (handout p. 17): Five agent architectures. Each keeps more state than the one before it. Choose the leftmost one that can do the job.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rational agent, for every percept sequence, selects the action expected to maximise its performance measure, given the evidence the percept sequence provides and whatever built-in knowledge it has. Three things this definition deliberately excludes. It does not require omniscience. An agent that escalates ticket 114 on excellent evidence, and turns out to have been wrong because the customer had already withdrawn the complaint by e-mail that nobody had read, was rational and unlucky. Rationality is a property of the decision procedure, judged against the information available, not a property of the outcome. This distinction is what lets you review a bad night fairly. It does not require perfection. Perfection maximises actual performance; rationality maximises expected performance. Only the second is achievable, and demanding the first produces agents that stall. And it does not forbid information gathering. If the agent can act to improve its own percepts — run a test, ask the customer, look at the log — then doing so is often the rational action. Chapter 14 puts a number on exactly how much such an act is worth.</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tickets arrive over one night. Two agents see exactly the same percepts: a simple reflex agent, and a model-based agent that remembers what it has already done. The performance measure is the one from the worked example. The point of the lab is that the second agent wins on identical information, purely because it keeps state.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reasonable answer: Performance measure — total time pull requests spend waiting, weighted by urgency, plus a penalty for defects that reach the main branch. Note that this describes the state of the repository. Measures such as “number of reviews performed” describe the agent and would be gamed by skimming. Environment — the open pull requests, their size, age and author, the reviewers and their load, the build status. Actuators — assign a pull request to a reviewer, defer it, request changes. Sensors — the repository API: diffs, timestamps, build results, reviewer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Fully observable (the coins inserted are the whole relevant state), deterministic, episodic (each sale is independent), static, discrete, and single-agent. All six are the easy case, which is why a simple reflex agent is sufficient — and why a vending machine is not usually described as intelligent.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Yes, it was rational. Rationality is maximising expected performance given the percept sequence available at the time, not achieving the best outcome. The agent acted on strong evidence; the outcome was unlucky. This distinction is what makes a blameless incident review possible: you judge the decision procedure against what was knowable, and you change the procedure only if the evidence was misread.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 — Representations and Search in Python. READ: Handout Chapter 2, pages 13–21. THIS WEEK'S LAB: Is it AI? a five-point audit; a reflex agent on a ticket queue.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17.xml"/><Relationship Id="rId9"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31.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9.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Intelligent Agents and Task Environments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INTELLIGENT SYSTEMS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2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     </a:t>
            </a:r>
            <a:fld id="{1F9A82F2-0487-4815-8F78-7EA79F227705}" type="slidenum">
              <a:rPr lang="en-GB" sz="1000">
                <a:solidFill>
                  <a:srgbClr val="8795A1"/>
                </a:solidFill>
                <a:latin typeface="Segoe UI"/>
              </a:rPr>
              <a:t>2</a:t>
            </a:fld>
          </a:p>
        </p:txBody>
      </p:sp>
      <p:sp>
        <p:nvSpPr>
          <p:cNvPr id="7" name="!!rp1"/>
          <p:cNvSpPr txBox="1"/>
          <p:nvPr/>
        </p:nvSpPr>
        <p:spPr>
          <a:xfrm>
            <a:off x="777239" y="1755648"/>
            <a:ext cx="148461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484611"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5910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5910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939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939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36081"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23608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23" name="!!dot3">
            <a:extLst>
              <a:ext uri="{C183D7F6-B498-43B3-948B-1728B52AA6E4}">
                <adec:decorative xmlns:adec="http://schemas.microsoft.com/office/drawing/2017/decorative" val="1"/>
              </a:ext>
            </a:extLst>
          </p:cNvPr>
          <p:cNvSpPr/>
          <p:nvPr/>
        </p:nvSpPr>
        <p:spPr>
          <a:xfrm>
            <a:off x="1947360"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5592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63120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5397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413410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4042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Intelligent Agents and Task Environments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Artificial Intelligence Is</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72" name="!!chipUS4">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4">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4"/>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5" name="!!chipUS8">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8">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8"/>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Adversarial Search and Game Playing</a:t>
            </a:r>
          </a:p>
        </p:txBody>
      </p:sp>
      <p:sp>
        <p:nvSpPr>
          <p:cNvPr id="78" name="!!chipUS14">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4">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4"/>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14  </a:t>
            </a:r>
            <a:r>
              <a:rPr sz="1400" b="0" i="0">
                <a:solidFill>
                  <a:srgbClr val="1C252B"/>
                </a:solidFill>
                <a:latin typeface="Segoe UI"/>
              </a:rPr>
              <a:t>Uncertainty and Decision Making</a:t>
            </a:r>
          </a:p>
        </p:txBody>
      </p:sp>
      <p:sp>
        <p:nvSpPr>
          <p:cNvPr id="81" name="!!chipUS20">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0">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0"/>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20  </a:t>
            </a:r>
            <a:r>
              <a:rPr sz="1400" b="0" i="0">
                <a:solidFill>
                  <a:srgbClr val="1C252B"/>
                </a:solidFill>
                <a:latin typeface="Segoe UI"/>
              </a:rPr>
              <a:t>Recent Trends and Applications</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     </a:t>
            </a:r>
            <a:fld id="{B6FD7F29-1E67-4E78-B0CD-3807E7FA3149}"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Define</a:t>
            </a:r>
            <a:r>
              <a:rPr sz="2100" b="0" i="0">
                <a:solidFill>
                  <a:srgbClr val="1C252B"/>
                </a:solidFill>
                <a:latin typeface="Segoe UI"/>
              </a:rPr>
              <a:t> an agent in terms of percepts, actions, an agent function and an agent program, and </a:t>
            </a:r>
            <a:r>
              <a:rPr sz="2100" b="1" i="0">
                <a:solidFill>
                  <a:srgbClr val="1C252B"/>
                </a:solidFill>
                <a:latin typeface="Segoe UI"/>
              </a:rPr>
              <a:t>explain</a:t>
            </a:r>
            <a:r>
              <a:rPr sz="2100" b="0" i="0">
                <a:solidFill>
                  <a:srgbClr val="1C252B"/>
                </a:solidFill>
                <a:latin typeface="Segoe UI"/>
              </a:rPr>
              <a:t> why the distinction between the last two matters.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Specify</a:t>
            </a:r>
            <a:r>
              <a:rPr sz="2100" b="0" i="0">
                <a:solidFill>
                  <a:srgbClr val="1C252B"/>
                </a:solidFill>
                <a:latin typeface="Segoe UI"/>
              </a:rPr>
              <a:t> any task for an agent as a </a:t>
            </a:r>
            <a:r>
              <a:rPr sz="2100" b="1" i="0">
                <a:solidFill>
                  <a:srgbClr val="1C252B"/>
                </a:solidFill>
                <a:latin typeface="Segoe UI"/>
              </a:rPr>
              <a:t>PEAS</a:t>
            </a:r>
            <a:r>
              <a:rPr sz="2100" b="0" i="0">
                <a:solidFill>
                  <a:srgbClr val="1C252B"/>
                </a:solidFill>
                <a:latin typeface="Segoe UI"/>
              </a:rPr>
              <a:t> description — performance measure, environment, actuators, sensors — before writing a line of code.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Classify</a:t>
            </a:r>
            <a:r>
              <a:rPr sz="2100" b="0" i="0">
                <a:solidFill>
                  <a:srgbClr val="1C252B"/>
                </a:solidFill>
                <a:latin typeface="Segoe UI"/>
              </a:rPr>
              <a:t> a task environment on the six standard properties, and </a:t>
            </a:r>
            <a:r>
              <a:rPr sz="2100" b="1" i="0">
                <a:solidFill>
                  <a:srgbClr val="1C252B"/>
                </a:solidFill>
                <a:latin typeface="Segoe UI"/>
              </a:rPr>
              <a:t>predict</a:t>
            </a:r>
            <a:r>
              <a:rPr sz="2100" b="0" i="0">
                <a:solidFill>
                  <a:srgbClr val="1C252B"/>
                </a:solidFill>
                <a:latin typeface="Segoe UI"/>
              </a:rPr>
              <a:t> which agent architectures the classification rules out.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Distinguish</a:t>
            </a:r>
            <a:r>
              <a:rPr sz="2100" b="0" i="0">
                <a:solidFill>
                  <a:srgbClr val="1C252B"/>
                </a:solidFill>
                <a:latin typeface="Segoe UI"/>
              </a:rPr>
              <a:t> the five kinds of agent program and </a:t>
            </a:r>
            <a:r>
              <a:rPr sz="2100" b="1" i="0">
                <a:solidFill>
                  <a:srgbClr val="1C252B"/>
                </a:solidFill>
                <a:latin typeface="Segoe UI"/>
              </a:rPr>
              <a:t>choose</a:t>
            </a:r>
            <a:r>
              <a:rPr sz="2100" b="0" i="0">
                <a:solidFill>
                  <a:srgbClr val="1C252B"/>
                </a:solidFill>
                <a:latin typeface="Segoe UI"/>
              </a:rPr>
              <a:t> the simplest one that can do a given job.</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rationality as doing the best that can be expected given the percepts so far, and </a:t>
            </a:r>
            <a:r>
              <a:rPr sz="2100" b="1" i="0">
                <a:solidFill>
                  <a:srgbClr val="1C252B"/>
                </a:solidFill>
                <a:latin typeface="Segoe UI"/>
              </a:rPr>
              <a:t>separate</a:t>
            </a:r>
            <a:r>
              <a:rPr sz="2100" b="0" i="0">
                <a:solidFill>
                  <a:srgbClr val="1C252B"/>
                </a:solidFill>
                <a:latin typeface="Segoe UI"/>
              </a:rPr>
              <a:t> it from omniscience and from perfection.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     </a:t>
            </a:r>
            <a:fld id="{FF12CC10-FDFD-41E8-BAC5-B722E7C7BF15}" type="slidenum">
              <a:rPr lang="en-GB" sz="1000">
                <a:solidFill>
                  <a:srgbClr val="8795A1"/>
                </a:solidFill>
                <a:latin typeface="Segoe UI"/>
              </a:rPr>
              <a:t>4</a:t>
            </a:fld>
          </a:p>
        </p:txBody>
      </p:sp>
      <p:sp>
        <p:nvSpPr>
          <p:cNvPr id="7" name="!!term-agent">
            <a:extLst>
              <a:ext uri="{C183D7F6-B498-43B3-948B-1728B52AA6E4}">
                <adec:decorative xmlns:adec="http://schemas.microsoft.com/office/drawing/2017/decorative" val="1"/>
              </a:ext>
            </a:extLst>
          </p:cNvPr>
          <p:cNvSpPr/>
          <p:nvPr/>
        </p:nvSpPr>
        <p:spPr>
          <a:xfrm>
            <a:off x="658368" y="1847088"/>
            <a:ext cx="9297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gen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gent"/>
          <p:cNvSpPr txBox="1"/>
          <p:nvPr/>
        </p:nvSpPr>
        <p:spPr>
          <a:xfrm>
            <a:off x="950976" y="1970532"/>
            <a:ext cx="7468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agent</a:t>
            </a:r>
          </a:p>
        </p:txBody>
      </p:sp>
      <p:sp>
        <p:nvSpPr>
          <p:cNvPr id="10" name="!!term-percept">
            <a:extLst>
              <a:ext uri="{C183D7F6-B498-43B3-948B-1728B52AA6E4}">
                <adec:decorative xmlns:adec="http://schemas.microsoft.com/office/drawing/2017/decorative" val="1"/>
              </a:ext>
            </a:extLst>
          </p:cNvPr>
          <p:cNvSpPr/>
          <p:nvPr/>
        </p:nvSpPr>
        <p:spPr>
          <a:xfrm>
            <a:off x="1734411" y="1847088"/>
            <a:ext cx="10938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ercept">
            <a:extLst>
              <a:ext uri="{C183D7F6-B498-43B3-948B-1728B52AA6E4}">
                <adec:decorative xmlns:adec="http://schemas.microsoft.com/office/drawing/2017/decorative" val="1"/>
              </a:ext>
            </a:extLst>
          </p:cNvPr>
          <p:cNvSpPr/>
          <p:nvPr/>
        </p:nvSpPr>
        <p:spPr>
          <a:xfrm>
            <a:off x="18624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ercept"/>
          <p:cNvSpPr txBox="1"/>
          <p:nvPr/>
        </p:nvSpPr>
        <p:spPr>
          <a:xfrm>
            <a:off x="2027019" y="1970532"/>
            <a:ext cx="9110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percept</a:t>
            </a:r>
          </a:p>
        </p:txBody>
      </p:sp>
      <p:sp>
        <p:nvSpPr>
          <p:cNvPr id="13" name="!!term-percept sequen">
            <a:extLst>
              <a:ext uri="{C183D7F6-B498-43B3-948B-1728B52AA6E4}">
                <adec:decorative xmlns:adec="http://schemas.microsoft.com/office/drawing/2017/decorative" val="1"/>
              </a:ext>
            </a:extLst>
          </p:cNvPr>
          <p:cNvSpPr/>
          <p:nvPr/>
        </p:nvSpPr>
        <p:spPr>
          <a:xfrm>
            <a:off x="2974606" y="1847088"/>
            <a:ext cx="19585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ercept sequen">
            <a:extLst>
              <a:ext uri="{C183D7F6-B498-43B3-948B-1728B52AA6E4}">
                <adec:decorative xmlns:adec="http://schemas.microsoft.com/office/drawing/2017/decorative" val="1"/>
              </a:ext>
            </a:extLst>
          </p:cNvPr>
          <p:cNvSpPr/>
          <p:nvPr/>
        </p:nvSpPr>
        <p:spPr>
          <a:xfrm>
            <a:off x="310262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ercept sequen"/>
          <p:cNvSpPr txBox="1"/>
          <p:nvPr/>
        </p:nvSpPr>
        <p:spPr>
          <a:xfrm>
            <a:off x="3267214" y="1970532"/>
            <a:ext cx="17756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percept sequence</a:t>
            </a:r>
          </a:p>
        </p:txBody>
      </p:sp>
      <p:sp>
        <p:nvSpPr>
          <p:cNvPr id="16" name="!!term-actuator">
            <a:extLst>
              <a:ext uri="{C183D7F6-B498-43B3-948B-1728B52AA6E4}">
                <adec:decorative xmlns:adec="http://schemas.microsoft.com/office/drawing/2017/decorative" val="1"/>
              </a:ext>
            </a:extLst>
          </p:cNvPr>
          <p:cNvSpPr/>
          <p:nvPr/>
        </p:nvSpPr>
        <p:spPr>
          <a:xfrm>
            <a:off x="5079481" y="1847088"/>
            <a:ext cx="11496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actuator">
            <a:extLst>
              <a:ext uri="{C183D7F6-B498-43B3-948B-1728B52AA6E4}">
                <adec:decorative xmlns:adec="http://schemas.microsoft.com/office/drawing/2017/decorative" val="1"/>
              </a:ext>
            </a:extLst>
          </p:cNvPr>
          <p:cNvSpPr/>
          <p:nvPr/>
        </p:nvSpPr>
        <p:spPr>
          <a:xfrm>
            <a:off x="520749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actuator"/>
          <p:cNvSpPr txBox="1"/>
          <p:nvPr/>
        </p:nvSpPr>
        <p:spPr>
          <a:xfrm>
            <a:off x="5372089" y="1970532"/>
            <a:ext cx="9667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actuator</a:t>
            </a:r>
          </a:p>
        </p:txBody>
      </p:sp>
      <p:sp>
        <p:nvSpPr>
          <p:cNvPr id="19" name="!!term-sensor">
            <a:extLst>
              <a:ext uri="{C183D7F6-B498-43B3-948B-1728B52AA6E4}">
                <adec:decorative xmlns:adec="http://schemas.microsoft.com/office/drawing/2017/decorative" val="1"/>
              </a:ext>
            </a:extLst>
          </p:cNvPr>
          <p:cNvSpPr/>
          <p:nvPr/>
        </p:nvSpPr>
        <p:spPr>
          <a:xfrm>
            <a:off x="6375459" y="1847088"/>
            <a:ext cx="9967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ensor">
            <a:extLst>
              <a:ext uri="{C183D7F6-B498-43B3-948B-1728B52AA6E4}">
                <adec:decorative xmlns:adec="http://schemas.microsoft.com/office/drawing/2017/decorative" val="1"/>
              </a:ext>
            </a:extLst>
          </p:cNvPr>
          <p:cNvSpPr/>
          <p:nvPr/>
        </p:nvSpPr>
        <p:spPr>
          <a:xfrm>
            <a:off x="650347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ensor"/>
          <p:cNvSpPr txBox="1"/>
          <p:nvPr/>
        </p:nvSpPr>
        <p:spPr>
          <a:xfrm>
            <a:off x="6668067" y="1970532"/>
            <a:ext cx="8138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sensor</a:t>
            </a:r>
          </a:p>
        </p:txBody>
      </p:sp>
      <p:sp>
        <p:nvSpPr>
          <p:cNvPr id="22" name="!!term-agent function">
            <a:extLst>
              <a:ext uri="{C183D7F6-B498-43B3-948B-1728B52AA6E4}">
                <adec:decorative xmlns:adec="http://schemas.microsoft.com/office/drawing/2017/decorative" val="1"/>
              </a:ext>
            </a:extLst>
          </p:cNvPr>
          <p:cNvSpPr/>
          <p:nvPr/>
        </p:nvSpPr>
        <p:spPr>
          <a:xfrm>
            <a:off x="7518539" y="1847088"/>
            <a:ext cx="16902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agent function">
            <a:extLst>
              <a:ext uri="{C183D7F6-B498-43B3-948B-1728B52AA6E4}">
                <adec:decorative xmlns:adec="http://schemas.microsoft.com/office/drawing/2017/decorative" val="1"/>
              </a:ext>
            </a:extLst>
          </p:cNvPr>
          <p:cNvSpPr/>
          <p:nvPr/>
        </p:nvSpPr>
        <p:spPr>
          <a:xfrm>
            <a:off x="764655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agent function"/>
          <p:cNvSpPr txBox="1"/>
          <p:nvPr/>
        </p:nvSpPr>
        <p:spPr>
          <a:xfrm>
            <a:off x="7811147" y="1970532"/>
            <a:ext cx="15073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agent function</a:t>
            </a:r>
          </a:p>
        </p:txBody>
      </p:sp>
      <p:sp>
        <p:nvSpPr>
          <p:cNvPr id="25" name="!!term-agent program">
            <a:extLst>
              <a:ext uri="{C183D7F6-B498-43B3-948B-1728B52AA6E4}">
                <adec:decorative xmlns:adec="http://schemas.microsoft.com/office/drawing/2017/decorative" val="1"/>
              </a:ext>
            </a:extLst>
          </p:cNvPr>
          <p:cNvSpPr/>
          <p:nvPr/>
        </p:nvSpPr>
        <p:spPr>
          <a:xfrm>
            <a:off x="9355111" y="1847088"/>
            <a:ext cx="17269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agent program">
            <a:extLst>
              <a:ext uri="{C183D7F6-B498-43B3-948B-1728B52AA6E4}">
                <adec:decorative xmlns:adec="http://schemas.microsoft.com/office/drawing/2017/decorative" val="1"/>
              </a:ext>
            </a:extLst>
          </p:cNvPr>
          <p:cNvSpPr/>
          <p:nvPr/>
        </p:nvSpPr>
        <p:spPr>
          <a:xfrm>
            <a:off x="94831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agent program"/>
          <p:cNvSpPr txBox="1"/>
          <p:nvPr/>
        </p:nvSpPr>
        <p:spPr>
          <a:xfrm>
            <a:off x="9647719" y="1970532"/>
            <a:ext cx="154407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agent program</a:t>
            </a:r>
          </a:p>
        </p:txBody>
      </p:sp>
      <p:sp>
        <p:nvSpPr>
          <p:cNvPr id="28" name="!!term-PEAS">
            <a:extLst>
              <a:ext uri="{C183D7F6-B498-43B3-948B-1728B52AA6E4}">
                <adec:decorative xmlns:adec="http://schemas.microsoft.com/office/drawing/2017/decorative" val="1"/>
              </a:ext>
            </a:extLst>
          </p:cNvPr>
          <p:cNvSpPr/>
          <p:nvPr/>
        </p:nvSpPr>
        <p:spPr>
          <a:xfrm>
            <a:off x="658368" y="2468880"/>
            <a:ext cx="8745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EAS">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EAS"/>
          <p:cNvSpPr txBox="1"/>
          <p:nvPr/>
        </p:nvSpPr>
        <p:spPr>
          <a:xfrm>
            <a:off x="950976" y="2592324"/>
            <a:ext cx="6916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PEAS</a:t>
            </a:r>
          </a:p>
        </p:txBody>
      </p:sp>
      <p:sp>
        <p:nvSpPr>
          <p:cNvPr id="31" name="!!term-performance me">
            <a:extLst>
              <a:ext uri="{C183D7F6-B498-43B3-948B-1728B52AA6E4}">
                <adec:decorative xmlns:adec="http://schemas.microsoft.com/office/drawing/2017/decorative" val="1"/>
              </a:ext>
            </a:extLst>
          </p:cNvPr>
          <p:cNvSpPr/>
          <p:nvPr/>
        </p:nvSpPr>
        <p:spPr>
          <a:xfrm>
            <a:off x="1679242" y="2468880"/>
            <a:ext cx="23149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erformance me">
            <a:extLst>
              <a:ext uri="{C183D7F6-B498-43B3-948B-1728B52AA6E4}">
                <adec:decorative xmlns:adec="http://schemas.microsoft.com/office/drawing/2017/decorative" val="1"/>
              </a:ext>
            </a:extLst>
          </p:cNvPr>
          <p:cNvSpPr/>
          <p:nvPr/>
        </p:nvSpPr>
        <p:spPr>
          <a:xfrm>
            <a:off x="18072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erformance me"/>
          <p:cNvSpPr txBox="1"/>
          <p:nvPr/>
        </p:nvSpPr>
        <p:spPr>
          <a:xfrm>
            <a:off x="1971850" y="2592324"/>
            <a:ext cx="21321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performance measure</a:t>
            </a:r>
          </a:p>
        </p:txBody>
      </p:sp>
      <p:sp>
        <p:nvSpPr>
          <p:cNvPr id="34" name="!!term-rational agent">
            <a:extLst>
              <a:ext uri="{C183D7F6-B498-43B3-948B-1728B52AA6E4}">
                <adec:decorative xmlns:adec="http://schemas.microsoft.com/office/drawing/2017/decorative" val="1"/>
              </a:ext>
            </a:extLst>
          </p:cNvPr>
          <p:cNvSpPr/>
          <p:nvPr/>
        </p:nvSpPr>
        <p:spPr>
          <a:xfrm>
            <a:off x="4140533" y="2468880"/>
            <a:ext cx="16321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rational agent">
            <a:extLst>
              <a:ext uri="{C183D7F6-B498-43B3-948B-1728B52AA6E4}">
                <adec:decorative xmlns:adec="http://schemas.microsoft.com/office/drawing/2017/decorative" val="1"/>
              </a:ext>
            </a:extLst>
          </p:cNvPr>
          <p:cNvSpPr/>
          <p:nvPr/>
        </p:nvSpPr>
        <p:spPr>
          <a:xfrm>
            <a:off x="426854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rational agent"/>
          <p:cNvSpPr txBox="1"/>
          <p:nvPr/>
        </p:nvSpPr>
        <p:spPr>
          <a:xfrm>
            <a:off x="4433141" y="2592324"/>
            <a:ext cx="144928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rational agent</a:t>
            </a:r>
          </a:p>
        </p:txBody>
      </p:sp>
      <p:sp>
        <p:nvSpPr>
          <p:cNvPr id="37" name="!!term-fully and part">
            <a:extLst>
              <a:ext uri="{C183D7F6-B498-43B3-948B-1728B52AA6E4}">
                <adec:decorative xmlns:adec="http://schemas.microsoft.com/office/drawing/2017/decorative" val="1"/>
              </a:ext>
            </a:extLst>
          </p:cNvPr>
          <p:cNvSpPr/>
          <p:nvPr/>
        </p:nvSpPr>
        <p:spPr>
          <a:xfrm>
            <a:off x="5919007" y="2468880"/>
            <a:ext cx="28962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fully and part">
            <a:extLst>
              <a:ext uri="{C183D7F6-B498-43B3-948B-1728B52AA6E4}">
                <adec:decorative xmlns:adec="http://schemas.microsoft.com/office/drawing/2017/decorative" val="1"/>
              </a:ext>
            </a:extLst>
          </p:cNvPr>
          <p:cNvSpPr/>
          <p:nvPr/>
        </p:nvSpPr>
        <p:spPr>
          <a:xfrm>
            <a:off x="60470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fully and part"/>
          <p:cNvSpPr txBox="1"/>
          <p:nvPr/>
        </p:nvSpPr>
        <p:spPr>
          <a:xfrm>
            <a:off x="6211615" y="2592324"/>
            <a:ext cx="27133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fully and partially observable</a:t>
            </a:r>
          </a:p>
        </p:txBody>
      </p:sp>
      <p:sp>
        <p:nvSpPr>
          <p:cNvPr id="40" name="!!term-deterministic ">
            <a:extLst>
              <a:ext uri="{C183D7F6-B498-43B3-948B-1728B52AA6E4}">
                <adec:decorative xmlns:adec="http://schemas.microsoft.com/office/drawing/2017/decorative" val="1"/>
              </a:ext>
            </a:extLst>
          </p:cNvPr>
          <p:cNvSpPr/>
          <p:nvPr/>
        </p:nvSpPr>
        <p:spPr>
          <a:xfrm>
            <a:off x="658368" y="3090672"/>
            <a:ext cx="28220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deterministic ">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deterministic "/>
          <p:cNvSpPr txBox="1"/>
          <p:nvPr/>
        </p:nvSpPr>
        <p:spPr>
          <a:xfrm>
            <a:off x="950976" y="3214116"/>
            <a:ext cx="263918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deterministic and stochastic</a:t>
            </a:r>
          </a:p>
        </p:txBody>
      </p:sp>
      <p:sp>
        <p:nvSpPr>
          <p:cNvPr id="43" name="!!term-episodic and s">
            <a:extLst>
              <a:ext uri="{C183D7F6-B498-43B3-948B-1728B52AA6E4}">
                <adec:decorative xmlns:adec="http://schemas.microsoft.com/office/drawing/2017/decorative" val="1"/>
              </a:ext>
            </a:extLst>
          </p:cNvPr>
          <p:cNvSpPr/>
          <p:nvPr/>
        </p:nvSpPr>
        <p:spPr>
          <a:xfrm>
            <a:off x="3626741" y="3090672"/>
            <a:ext cx="24579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episodic and s">
            <a:extLst>
              <a:ext uri="{C183D7F6-B498-43B3-948B-1728B52AA6E4}">
                <adec:decorative xmlns:adec="http://schemas.microsoft.com/office/drawing/2017/decorative" val="1"/>
              </a:ext>
            </a:extLst>
          </p:cNvPr>
          <p:cNvSpPr/>
          <p:nvPr/>
        </p:nvSpPr>
        <p:spPr>
          <a:xfrm>
            <a:off x="375475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episodic and s"/>
          <p:cNvSpPr txBox="1"/>
          <p:nvPr/>
        </p:nvSpPr>
        <p:spPr>
          <a:xfrm>
            <a:off x="3919349" y="3214116"/>
            <a:ext cx="22751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episodic and sequential</a:t>
            </a:r>
          </a:p>
        </p:txBody>
      </p:sp>
      <p:sp>
        <p:nvSpPr>
          <p:cNvPr id="46" name="!!term-static and dyn">
            <a:extLst>
              <a:ext uri="{C183D7F6-B498-43B3-948B-1728B52AA6E4}">
                <adec:decorative xmlns:adec="http://schemas.microsoft.com/office/drawing/2017/decorative" val="1"/>
              </a:ext>
            </a:extLst>
          </p:cNvPr>
          <p:cNvSpPr/>
          <p:nvPr/>
        </p:nvSpPr>
        <p:spPr>
          <a:xfrm>
            <a:off x="6231032" y="3090672"/>
            <a:ext cx="20400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static and dyn">
            <a:extLst>
              <a:ext uri="{C183D7F6-B498-43B3-948B-1728B52AA6E4}">
                <adec:decorative xmlns:adec="http://schemas.microsoft.com/office/drawing/2017/decorative" val="1"/>
              </a:ext>
            </a:extLst>
          </p:cNvPr>
          <p:cNvSpPr/>
          <p:nvPr/>
        </p:nvSpPr>
        <p:spPr>
          <a:xfrm>
            <a:off x="635904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static and dyn"/>
          <p:cNvSpPr txBox="1"/>
          <p:nvPr/>
        </p:nvSpPr>
        <p:spPr>
          <a:xfrm>
            <a:off x="6523640" y="3214116"/>
            <a:ext cx="18571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static and dynamic</a:t>
            </a:r>
          </a:p>
        </p:txBody>
      </p:sp>
      <p:sp>
        <p:nvSpPr>
          <p:cNvPr id="49" name="!!term-discrete and c">
            <a:extLst>
              <a:ext uri="{C183D7F6-B498-43B3-948B-1728B52AA6E4}">
                <adec:decorative xmlns:adec="http://schemas.microsoft.com/office/drawing/2017/decorative" val="1"/>
              </a:ext>
            </a:extLst>
          </p:cNvPr>
          <p:cNvSpPr/>
          <p:nvPr/>
        </p:nvSpPr>
        <p:spPr>
          <a:xfrm>
            <a:off x="8417363" y="3090672"/>
            <a:ext cx="24917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discrete and c">
            <a:extLst>
              <a:ext uri="{C183D7F6-B498-43B3-948B-1728B52AA6E4}">
                <adec:decorative xmlns:adec="http://schemas.microsoft.com/office/drawing/2017/decorative" val="1"/>
              </a:ext>
            </a:extLst>
          </p:cNvPr>
          <p:cNvSpPr/>
          <p:nvPr/>
        </p:nvSpPr>
        <p:spPr>
          <a:xfrm>
            <a:off x="854537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discrete and c"/>
          <p:cNvSpPr txBox="1"/>
          <p:nvPr/>
        </p:nvSpPr>
        <p:spPr>
          <a:xfrm>
            <a:off x="8709971" y="3214116"/>
            <a:ext cx="23088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discrete and continuous</a:t>
            </a:r>
          </a:p>
        </p:txBody>
      </p:sp>
      <p:sp>
        <p:nvSpPr>
          <p:cNvPr id="52" name="!!term-single- and mu">
            <a:extLst>
              <a:ext uri="{C183D7F6-B498-43B3-948B-1728B52AA6E4}">
                <adec:decorative xmlns:adec="http://schemas.microsoft.com/office/drawing/2017/decorative" val="1"/>
              </a:ext>
            </a:extLst>
          </p:cNvPr>
          <p:cNvSpPr/>
          <p:nvPr/>
        </p:nvSpPr>
        <p:spPr>
          <a:xfrm>
            <a:off x="658368" y="3712464"/>
            <a:ext cx="24546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single- and mu">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single- and mu"/>
          <p:cNvSpPr txBox="1"/>
          <p:nvPr/>
        </p:nvSpPr>
        <p:spPr>
          <a:xfrm>
            <a:off x="950976" y="3835908"/>
            <a:ext cx="227180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single- and multi-agent</a:t>
            </a:r>
          </a:p>
        </p:txBody>
      </p:sp>
      <p:sp>
        <p:nvSpPr>
          <p:cNvPr id="55" name="!!term-simple reflex ">
            <a:extLst>
              <a:ext uri="{C183D7F6-B498-43B3-948B-1728B52AA6E4}">
                <adec:decorative xmlns:adec="http://schemas.microsoft.com/office/drawing/2017/decorative" val="1"/>
              </a:ext>
            </a:extLst>
          </p:cNvPr>
          <p:cNvSpPr/>
          <p:nvPr/>
        </p:nvSpPr>
        <p:spPr>
          <a:xfrm>
            <a:off x="3259355" y="3712464"/>
            <a:ext cx="20636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simple reflex ">
            <a:extLst>
              <a:ext uri="{C183D7F6-B498-43B3-948B-1728B52AA6E4}">
                <adec:decorative xmlns:adec="http://schemas.microsoft.com/office/drawing/2017/decorative" val="1"/>
              </a:ext>
            </a:extLst>
          </p:cNvPr>
          <p:cNvSpPr/>
          <p:nvPr/>
        </p:nvSpPr>
        <p:spPr>
          <a:xfrm>
            <a:off x="3387371"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simple reflex "/>
          <p:cNvSpPr txBox="1"/>
          <p:nvPr/>
        </p:nvSpPr>
        <p:spPr>
          <a:xfrm>
            <a:off x="3551963" y="3835908"/>
            <a:ext cx="18808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simple reflex agent</a:t>
            </a:r>
          </a:p>
        </p:txBody>
      </p:sp>
      <p:sp>
        <p:nvSpPr>
          <p:cNvPr id="58" name="!!term-model-based re">
            <a:extLst>
              <a:ext uri="{C183D7F6-B498-43B3-948B-1728B52AA6E4}">
                <adec:decorative xmlns:adec="http://schemas.microsoft.com/office/drawing/2017/decorative" val="1"/>
              </a:ext>
            </a:extLst>
          </p:cNvPr>
          <p:cNvSpPr/>
          <p:nvPr/>
        </p:nvSpPr>
        <p:spPr>
          <a:xfrm>
            <a:off x="5469352" y="3712464"/>
            <a:ext cx="26376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model-based re">
            <a:extLst>
              <a:ext uri="{C183D7F6-B498-43B3-948B-1728B52AA6E4}">
                <adec:decorative xmlns:adec="http://schemas.microsoft.com/office/drawing/2017/decorative" val="1"/>
              </a:ext>
            </a:extLst>
          </p:cNvPr>
          <p:cNvSpPr/>
          <p:nvPr/>
        </p:nvSpPr>
        <p:spPr>
          <a:xfrm>
            <a:off x="559736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model-based re"/>
          <p:cNvSpPr txBox="1"/>
          <p:nvPr/>
        </p:nvSpPr>
        <p:spPr>
          <a:xfrm>
            <a:off x="5761960" y="3835908"/>
            <a:ext cx="24547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model-based reflex agent</a:t>
            </a:r>
          </a:p>
        </p:txBody>
      </p:sp>
      <p:sp>
        <p:nvSpPr>
          <p:cNvPr id="61" name="!!term-goal-based age">
            <a:extLst>
              <a:ext uri="{C183D7F6-B498-43B3-948B-1728B52AA6E4}">
                <adec:decorative xmlns:adec="http://schemas.microsoft.com/office/drawing/2017/decorative" val="1"/>
              </a:ext>
            </a:extLst>
          </p:cNvPr>
          <p:cNvSpPr/>
          <p:nvPr/>
        </p:nvSpPr>
        <p:spPr>
          <a:xfrm>
            <a:off x="8253301" y="3712464"/>
            <a:ext cx="19464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goal-based age">
            <a:extLst>
              <a:ext uri="{C183D7F6-B498-43B3-948B-1728B52AA6E4}">
                <adec:decorative xmlns:adec="http://schemas.microsoft.com/office/drawing/2017/decorative" val="1"/>
              </a:ext>
            </a:extLst>
          </p:cNvPr>
          <p:cNvSpPr/>
          <p:nvPr/>
        </p:nvSpPr>
        <p:spPr>
          <a:xfrm>
            <a:off x="8381317"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goal-based age"/>
          <p:cNvSpPr txBox="1"/>
          <p:nvPr/>
        </p:nvSpPr>
        <p:spPr>
          <a:xfrm>
            <a:off x="8545909" y="3835908"/>
            <a:ext cx="17636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goal-based agent</a:t>
            </a:r>
          </a:p>
        </p:txBody>
      </p:sp>
      <p:sp>
        <p:nvSpPr>
          <p:cNvPr id="64" name="!!term-utility-based ">
            <a:extLst>
              <a:ext uri="{C183D7F6-B498-43B3-948B-1728B52AA6E4}">
                <adec:decorative xmlns:adec="http://schemas.microsoft.com/office/drawing/2017/decorative" val="1"/>
              </a:ext>
            </a:extLst>
          </p:cNvPr>
          <p:cNvSpPr/>
          <p:nvPr/>
        </p:nvSpPr>
        <p:spPr>
          <a:xfrm>
            <a:off x="658368" y="4334256"/>
            <a:ext cx="20491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utility-based ">
            <a:extLst>
              <a:ext uri="{C183D7F6-B498-43B3-948B-1728B52AA6E4}">
                <adec:decorative xmlns:adec="http://schemas.microsoft.com/office/drawing/2017/decorative" val="1"/>
              </a:ext>
            </a:extLst>
          </p:cNvPr>
          <p:cNvSpPr/>
          <p:nvPr/>
        </p:nvSpPr>
        <p:spPr>
          <a:xfrm>
            <a:off x="786384" y="4526280"/>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utility-based "/>
          <p:cNvSpPr txBox="1"/>
          <p:nvPr/>
        </p:nvSpPr>
        <p:spPr>
          <a:xfrm>
            <a:off x="950976" y="4457700"/>
            <a:ext cx="18662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utility-based agent</a:t>
            </a:r>
          </a:p>
        </p:txBody>
      </p:sp>
      <p:sp>
        <p:nvSpPr>
          <p:cNvPr id="67" name="!!term-state estimati">
            <a:extLst>
              <a:ext uri="{C183D7F6-B498-43B3-948B-1728B52AA6E4}">
                <adec:decorative xmlns:adec="http://schemas.microsoft.com/office/drawing/2017/decorative" val="1"/>
              </a:ext>
            </a:extLst>
          </p:cNvPr>
          <p:cNvSpPr/>
          <p:nvPr/>
        </p:nvSpPr>
        <p:spPr>
          <a:xfrm>
            <a:off x="2853791" y="4334256"/>
            <a:ext cx="18066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state estimati">
            <a:extLst>
              <a:ext uri="{C183D7F6-B498-43B3-948B-1728B52AA6E4}">
                <adec:decorative xmlns:adec="http://schemas.microsoft.com/office/drawing/2017/decorative" val="1"/>
              </a:ext>
            </a:extLst>
          </p:cNvPr>
          <p:cNvSpPr/>
          <p:nvPr/>
        </p:nvSpPr>
        <p:spPr>
          <a:xfrm>
            <a:off x="2981807" y="4526280"/>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state estimati"/>
          <p:cNvSpPr txBox="1"/>
          <p:nvPr/>
        </p:nvSpPr>
        <p:spPr>
          <a:xfrm>
            <a:off x="3146399" y="4457700"/>
            <a:ext cx="16237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 estimation</a:t>
            </a:r>
          </a:p>
        </p:txBody>
      </p:sp>
      <p:sp>
        <p:nvSpPr>
          <p:cNvPr id="70" name="!!termnote"/>
          <p:cNvSpPr txBox="1"/>
          <p:nvPr/>
        </p:nvSpPr>
        <p:spPr>
          <a:xfrm>
            <a:off x="658368" y="5157216"/>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13–21     </a:t>
            </a:r>
            <a:fld id="{83FA3104-6D8B-413D-B37A-C999E65BB358}" type="slidenum">
              <a:rPr lang="en-GB" sz="1000">
                <a:solidFill>
                  <a:srgbClr val="8795A1"/>
                </a:solidFill>
                <a:latin typeface="Segoe UI"/>
              </a:rPr>
              <a:t>5</a:t>
            </a:fld>
          </a:p>
        </p:txBody>
      </p:sp>
      <p:sp>
        <p:nvSpPr>
          <p:cNvPr id="7" name="!!ag0" descr="Go to section 2.1 Agent, Environment, Percept, Act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Agent, Environment, Percept, Action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  ›</a:t>
            </a:r>
          </a:p>
        </p:txBody>
      </p:sp>
      <p:sp>
        <p:nvSpPr>
          <p:cNvPr id="12" name="!!ag1" descr="Go to section 2.2 PEAS: Specify the Task Before You Build the Agent">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PEAS: Specify the Task Before You Build the Agent</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  ›</a:t>
            </a:r>
          </a:p>
        </p:txBody>
      </p:sp>
      <p:sp>
        <p:nvSpPr>
          <p:cNvPr id="17" name="!!ag2" descr="Go to section 2.3 Six Properties of a Task Environmen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Six Properties of a Task Environment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  ›</a:t>
            </a:r>
          </a:p>
        </p:txBody>
      </p:sp>
      <p:sp>
        <p:nvSpPr>
          <p:cNvPr id="22" name="!!ag3" descr="Go to section 2.4 Five Kinds of Agent Progra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Five Kinds of Agent Program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  ›</a:t>
            </a:r>
          </a:p>
        </p:txBody>
      </p:sp>
      <p:sp>
        <p:nvSpPr>
          <p:cNvPr id="27" name="!!ag4" descr="Go to section 2.5 Rationality Is Not Omniscienc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Rationality Is Not Omniscience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Agent, Environment, Percept, Action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2.1   Agent, Environment, Percept, Action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PEAS: Specify the Task Before You Build the Agent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Six Properties of a Task Environment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Five Kinds of Agent Program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Rationality Is Not Omniscience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     </a:t>
            </a:r>
            <a:fld id="{E3CE4A73-34C6-494A-A03D-E2CB7AC2BB00}"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agent and its environment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13     </a:t>
            </a:r>
            <a:fld id="{796F12AA-CD00-4993-A82F-C99DFD2BBD4E}" type="slidenum">
              <a:rPr lang="en-GB" sz="1000">
                <a:solidFill>
                  <a:srgbClr val="8795A1"/>
                </a:solidFill>
                <a:latin typeface="Segoe UI"/>
              </a:rPr>
              <a:t>7</a:t>
            </a:fld>
          </a:p>
        </p:txBody>
      </p:sp>
      <p:pic>
        <p:nvPicPr>
          <p:cNvPr id="6" name="!!figure" descr="Figure 2.1. The agent and its environment. The agent function is the mathematical object — what the agent ought to do in every situation it could ever be in. The agent program is the code that runs on the machi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87172" y="1737360"/>
            <a:ext cx="841735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agent function is the mathematical object — what the agent ought to do in every situation it could ever be in. The agent program is the code that runs on the machine.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Agent function and agent program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13     </a:t>
            </a:r>
            <a:fld id="{BB01DCE0-47FF-43EA-9552-626425989F00}"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83828"/>
          </a:xfrm>
          <a:prstGeom prst="roundRect">
            <a:avLst>
              <a:gd name="adj" fmla="val 248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8382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agent function</a:t>
            </a:r>
            <a:r>
              <a:rPr sz="2300" b="0" i="0">
                <a:solidFill>
                  <a:srgbClr val="1C252B"/>
                </a:solidFill>
                <a:latin typeface="Segoe UI"/>
              </a:rPr>
              <a:t> maps every possible </a:t>
            </a:r>
            <a:r>
              <a:rPr sz="2300" b="1" i="0">
                <a:solidFill>
                  <a:srgbClr val="1A5276"/>
                </a:solidFill>
                <a:latin typeface="Segoe UI"/>
              </a:rPr>
              <a:t>percept sequence</a:t>
            </a:r>
            <a:r>
              <a:rPr sz="2300" b="0" i="0">
                <a:solidFill>
                  <a:srgbClr val="1C252B"/>
                </a:solidFill>
                <a:latin typeface="Segoe UI"/>
              </a:rPr>
              <a:t> to an action:</a:t>
            </a:r>
          </a:p>
        </p:txBody>
      </p:sp>
      <p:pic>
        <p:nvPicPr>
          <p:cNvPr id="10" name="body-1" descr="f:\; \mathcal{P}^{*} \longrightarrow \mathcal{A}"/>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392826"/>
          </a:xfrm>
          <a:prstGeom prst="rect">
            <a:avLst/>
          </a:prstGeom>
        </p:spPr>
      </p:pic>
      <p:sp>
        <p:nvSpPr>
          <p:cNvPr id="11" name="body-2"/>
          <p:cNvSpPr txBox="1"/>
          <p:nvPr/>
        </p:nvSpPr>
        <p:spPr>
          <a:xfrm>
            <a:off x="1060704" y="312693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where </a:t>
            </a:r>
            <a:r>
              <a:rPr sz="2300" b="0" i="1">
                <a:solidFill>
                  <a:srgbClr val="1C252B"/>
                </a:solidFill>
                <a:latin typeface="Cambria"/>
              </a:rPr>
              <a:t>P</a:t>
            </a:r>
            <a:r>
              <a:rPr sz="1500" b="0" i="0" baseline="30000">
                <a:solidFill>
                  <a:srgbClr val="1C252B"/>
                </a:solidFill>
                <a:latin typeface="Cambria"/>
              </a:rPr>
              <a:t>∗</a:t>
            </a:r>
            <a:r>
              <a:rPr sz="2300" b="0" i="0">
                <a:solidFill>
                  <a:srgbClr val="1C252B"/>
                </a:solidFill>
                <a:latin typeface="Segoe UI"/>
              </a:rPr>
              <a:t> is the set of all finite sequences of percepts and </a:t>
            </a:r>
            <a:r>
              <a:rPr sz="2300" b="0" i="1">
                <a:solidFill>
                  <a:srgbClr val="1C252B"/>
                </a:solidFill>
                <a:latin typeface="Cambria"/>
              </a:rPr>
              <a:t>A</a:t>
            </a:r>
            <a:r>
              <a:rPr sz="2300" b="0" i="0">
                <a:solidFill>
                  <a:srgbClr val="1C252B"/>
                </a:solidFill>
                <a:latin typeface="Segoe UI"/>
              </a:rPr>
              <a:t> the set of available actions. It is an abstract object, usually infinite, and it is what we are trying to specify.</a:t>
            </a:r>
          </a:p>
        </p:txBody>
      </p:sp>
      <p:sp>
        <p:nvSpPr>
          <p:cNvPr id="12" name="body-3"/>
          <p:cNvSpPr txBox="1"/>
          <p:nvPr/>
        </p:nvSpPr>
        <p:spPr>
          <a:xfrm>
            <a:off x="1060704" y="438121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agent program</a:t>
            </a:r>
            <a:r>
              <a:rPr sz="2300" b="0" i="0">
                <a:solidFill>
                  <a:srgbClr val="1C252B"/>
                </a:solidFill>
                <a:latin typeface="Segoe UI"/>
              </a:rPr>
              <a:t> is a concrete implementation of </a:t>
            </a:r>
            <a:r>
              <a:rPr sz="2300" b="0" i="1">
                <a:solidFill>
                  <a:srgbClr val="1C252B"/>
                </a:solidFill>
                <a:latin typeface="Cambria"/>
              </a:rPr>
              <a:t>f</a:t>
            </a:r>
            <a:r>
              <a:rPr sz="2300" b="0" i="0">
                <a:solidFill>
                  <a:srgbClr val="1C252B"/>
                </a:solidFill>
                <a:latin typeface="Segoe UI"/>
              </a:rPr>
              <a:t> that runs inside the agent, with finite memory and a deadline.</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Agent, Environment, Percept, Action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13     </a:t>
            </a:r>
            <a:fld id="{BD20D0EF-645A-4B09-AFEC-E5122152C075}"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Notice also that the agent function takes the whole percept </a:t>
            </a:r>
            <a:r>
              <a:rPr sz="2300" b="0" i="1">
                <a:solidFill>
                  <a:srgbClr val="1C252B"/>
                </a:solidFill>
                <a:latin typeface="Segoe UI"/>
              </a:rPr>
              <a:t>sequence</a:t>
            </a:r>
            <a:r>
              <a:rPr sz="2300" b="0" i="0">
                <a:solidFill>
                  <a:srgbClr val="1C252B"/>
                </a:solidFill>
                <a:latin typeface="Segoe UI"/>
              </a:rPr>
              <a:t>, not the latest percept. That single choice is the difference between the first two agent architectures in Section 2.4. An agent that reacts only to what it can see right now cannot escalate “the ticket that has been quiet suspiciously long”, because quietness is not visible in a snapshot — it is a property of the history.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PEAS: Specify the Task Before You Build the Agent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Agent, Environment, Percept, Action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2.2   PEAS: Specify the Task Before You Build the Agent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Six Properties of a Task Environment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Five Kinds of Agent Program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Rationality Is Not Omniscience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     </a:t>
            </a:r>
            <a:fld id="{2F2B079B-1B06-4F3E-8CED-9765DE29C3BF}"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PEAS: Specify the Task Before You Build the Agent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14     </a:t>
            </a:r>
            <a:fld id="{F97275B8-2B4E-42AC-B7A9-3847A0700F28}"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15741"/>
          </a:xfrm>
          <a:prstGeom prst="roundRect">
            <a:avLst>
              <a:gd name="adj" fmla="val 2934"/>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1574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39669"/>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P</a:t>
            </a:r>
            <a:r>
              <a:rPr sz="2300" b="0" i="0">
                <a:solidFill>
                  <a:srgbClr val="1C252B"/>
                </a:solidFill>
                <a:latin typeface="Segoe UI"/>
              </a:rPr>
              <a:t>erformance measure — what counts as success, stated so that two people would score the same run identically.</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E</a:t>
            </a:r>
            <a:r>
              <a:rPr sz="2300" b="0" i="0">
                <a:solidFill>
                  <a:srgbClr val="1C252B"/>
                </a:solidFill>
                <a:latin typeface="Segoe UI"/>
              </a:rPr>
              <a:t>nvironment — what the agent operates in, including the parts it cannot see.</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A</a:t>
            </a:r>
            <a:r>
              <a:rPr sz="2300" b="0" i="0">
                <a:solidFill>
                  <a:srgbClr val="1C252B"/>
                </a:solidFill>
                <a:latin typeface="Segoe UI"/>
              </a:rPr>
              <a:t>ctuators — what the agent can do.</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S</a:t>
            </a:r>
            <a:r>
              <a:rPr sz="2300" b="0" i="0">
                <a:solidFill>
                  <a:srgbClr val="1C252B"/>
                </a:solidFill>
                <a:latin typeface="Segoe UI"/>
              </a:rPr>
              <a:t>ensors — what the agent can perceive.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PEAS: Specify the Task Before You Build the Agent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14     </a:t>
            </a:r>
            <a:fld id="{681E6AE1-7D46-49FA-9E47-74E0AFC19112}" type="slidenum">
              <a:rPr lang="en-GB" sz="1000">
                <a:solidFill>
                  <a:srgbClr val="8795A1"/>
                </a:solidFill>
                <a:latin typeface="Segoe UI"/>
              </a:rPr>
              <a:t>12</a:t>
            </a:fld>
          </a:p>
        </p:txBody>
      </p:sp>
      <p:graphicFrame>
        <p:nvGraphicFramePr>
          <p:cNvPr id="7" name="!!table"/>
          <p:cNvGraphicFramePr>
            <a:graphicFrameLocks noGrp="1"/>
          </p:cNvGraphicFramePr>
          <p:nvPr/>
        </p:nvGraphicFramePr>
        <p:xfrm>
          <a:off x="658368" y="1737360"/>
          <a:ext cx="10874957" cy="3767326"/>
        </p:xfrm>
        <a:graphic>
          <a:graphicData uri="http://schemas.openxmlformats.org/drawingml/2006/table">
            <a:tbl>
              <a:tblPr firstRow="0" bandRow="0" firstCol="0" lastRow="0" lastCol="0" bandCol="0">
                <a:tableStyleId>{2D5ABB26-0587-4C30-8999-92F81FD0307C}</a:tableStyleId>
              </a:tblPr>
              <a:tblGrid>
                <a:gridCol w="2252670"/>
                <a:gridCol w="2718739"/>
                <a:gridCol w="2718739"/>
                <a:gridCol w="3184809"/>
              </a:tblGrid>
              <a:tr h="329184">
                <a:tc>
                  <a:txBody>
                    <a:bodyPr wrap="square"/>
                    <a:lstStyle/>
                    <a:p>
                      <a:pPr algn="l"/>
                      <a:r>
                        <a:rPr sz="1200" b="1" i="0">
                          <a:solidFill>
                            <a:srgbClr val="1A5276"/>
                          </a:solidFill>
                          <a:latin typeface="Segoe UI"/>
                        </a:rPr>
                        <a:t>Task</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Performance measure</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Environment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Actuators / Sensors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1" i="0">
                          <a:solidFill>
                            <a:srgbClr val="1C252B"/>
                          </a:solidFill>
                          <a:latin typeface="Segoe UI"/>
                        </a:rPr>
                        <a:t>Task</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Performance measure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Environment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Actuators / Sensors</a:t>
                      </a:r>
                      <a:endParaRPr sz="12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200" b="0" i="0">
                          <a:solidFill>
                            <a:srgbClr val="1C252B"/>
                          </a:solidFill>
                          <a:latin typeface="Segoe UI"/>
                        </a:rPr>
                        <a:t>Escalation adviser </a:t>
                      </a:r>
                      <a:r>
                        <a:rPr sz="1200" b="0" i="1">
                          <a:solidFill>
                            <a:srgbClr val="1C252B"/>
                          </a:solidFill>
                          <a:latin typeface="Segoe UI"/>
                        </a:rPr>
                        <a:t>(Ch. 13)</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Breached service level agreements; penalty per unnecessary escalation; on-call hours consumed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Ticket queue, shift roster, the clock; other engineers acting independently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1">
                          <a:solidFill>
                            <a:srgbClr val="1C252B"/>
                          </a:solidFill>
                          <a:latin typeface="Segoe UI"/>
                        </a:rPr>
                        <a:t>Act:</a:t>
                      </a:r>
                      <a:r>
                        <a:rPr sz="1200" b="0" i="0">
                          <a:solidFill>
                            <a:srgbClr val="1C252B"/>
                          </a:solidFill>
                          <a:latin typeface="Segoe UI"/>
                        </a:rPr>
                        <a:t> escalate to a named engineer, defer, close as duplicate. </a:t>
                      </a:r>
                      <a:r>
                        <a:rPr sz="1200" b="0" i="1">
                          <a:solidFill>
                            <a:srgbClr val="1C252B"/>
                          </a:solidFill>
                          <a:latin typeface="Segoe UI"/>
                        </a:rPr>
                        <a:t>Sense:</a:t>
                      </a:r>
                      <a:r>
                        <a:rPr sz="1200" b="0" i="0">
                          <a:solidFill>
                            <a:srgbClr val="1C252B"/>
                          </a:solidFill>
                          <a:latin typeface="Segoe UI"/>
                        </a:rPr>
                        <a:t> ticket fields, roster, current loads</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Sprint scheduler </a:t>
                      </a:r>
                      <a:r>
                        <a:rPr sz="1200" b="0" i="1">
                          <a:solidFill>
                            <a:srgbClr val="1C252B"/>
                          </a:solidFill>
                          <a:latin typeface="Segoe UI"/>
                        </a:rPr>
                        <a:t>(Ch. 7)</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Stories placed; zero constraint violations; developer load balance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The backlog, three sprint slots, capacity and precedence rules</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1">
                          <a:solidFill>
                            <a:srgbClr val="1C252B"/>
                          </a:solidFill>
                          <a:latin typeface="Segoe UI"/>
                        </a:rPr>
                        <a:t>Act:</a:t>
                      </a:r>
                      <a:r>
                        <a:rPr sz="1200" b="0" i="0">
                          <a:solidFill>
                            <a:srgbClr val="1C252B"/>
                          </a:solidFill>
                          <a:latin typeface="Segoe UI"/>
                        </a:rPr>
                        <a:t> assign a story to a slot, unassign. </a:t>
                      </a:r>
                      <a:r>
                        <a:rPr sz="1200" b="0" i="1">
                          <a:solidFill>
                            <a:srgbClr val="1C252B"/>
                          </a:solidFill>
                          <a:latin typeface="Segoe UI"/>
                        </a:rPr>
                        <a:t>Sense:</a:t>
                      </a:r>
                      <a:r>
                        <a:rPr sz="1200" b="0" i="0">
                          <a:solidFill>
                            <a:srgbClr val="1C252B"/>
                          </a:solidFill>
                          <a:latin typeface="Segoe UI"/>
                        </a:rPr>
                        <a:t> the full backlog and all constraints</a:t>
                      </a:r>
                      <a:endParaRPr sz="12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200" b="0" i="0">
                          <a:solidFill>
                            <a:srgbClr val="1C252B"/>
                          </a:solidFill>
                          <a:latin typeface="Segoe UI"/>
                        </a:rPr>
                        <a:t>Release planner </a:t>
                      </a:r>
                      <a:r>
                        <a:rPr sz="1200" b="0" i="1">
                          <a:solidFill>
                            <a:srgbClr val="1C252B"/>
                          </a:solidFill>
                          <a:latin typeface="Segoe UI"/>
                        </a:rPr>
                        <a:t>(Ch. 9)</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Plan length; whether the goal state is actually reached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Code, review, test and deploy states of each component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1">
                          <a:solidFill>
                            <a:srgbClr val="1C252B"/>
                          </a:solidFill>
                          <a:latin typeface="Segoe UI"/>
                        </a:rPr>
                        <a:t>Act:</a:t>
                      </a:r>
                      <a:r>
                        <a:rPr sz="1200" b="0" i="0">
                          <a:solidFill>
                            <a:srgbClr val="1C252B"/>
                          </a:solidFill>
                          <a:latin typeface="Segoe UI"/>
                        </a:rPr>
                        <a:t> apply an operator (code, review, test, deploy, roll back). </a:t>
                      </a:r>
                      <a:r>
                        <a:rPr sz="1200" b="0" i="1">
                          <a:solidFill>
                            <a:srgbClr val="1C252B"/>
                          </a:solidFill>
                          <a:latin typeface="Segoe UI"/>
                        </a:rPr>
                        <a:t>Sense:</a:t>
                      </a:r>
                      <a:r>
                        <a:rPr sz="1200" b="0" i="0">
                          <a:solidFill>
                            <a:srgbClr val="1C252B"/>
                          </a:solidFill>
                          <a:latin typeface="Segoe UI"/>
                        </a:rPr>
                        <a:t> the current state of every component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Contract negotiator </a:t>
                      </a:r>
                      <a:r>
                        <a:rPr sz="1200" b="0" i="1">
                          <a:solidFill>
                            <a:srgbClr val="1C252B"/>
                          </a:solidFill>
                          <a:latin typeface="Segoe UI"/>
                        </a:rPr>
                        <a:t>(Ch. 8)</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Value of the agreed slot to us, given that they are maximising theirs</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Two parties, alternating offers, a deadline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1">
                          <a:solidFill>
                            <a:srgbClr val="1C252B"/>
                          </a:solidFill>
                          <a:latin typeface="Segoe UI"/>
                        </a:rPr>
                        <a:t>Act:</a:t>
                      </a:r>
                      <a:r>
                        <a:rPr sz="1200" b="0" i="0">
                          <a:solidFill>
                            <a:srgbClr val="1C252B"/>
                          </a:solidFill>
                          <a:latin typeface="Segoe UI"/>
                        </a:rPr>
                        <a:t> offer, accept, walk away. </a:t>
                      </a:r>
                      <a:r>
                        <a:rPr sz="1200" b="0" i="1">
                          <a:solidFill>
                            <a:srgbClr val="1C252B"/>
                          </a:solidFill>
                          <a:latin typeface="Segoe UI"/>
                        </a:rPr>
                        <a:t>Sense:</a:t>
                      </a:r>
                      <a:r>
                        <a:rPr sz="1200" b="0" i="0">
                          <a:solidFill>
                            <a:srgbClr val="1C252B"/>
                          </a:solidFill>
                          <a:latin typeface="Segoe UI"/>
                        </a:rPr>
                        <a:t> their last offer and the history</a:t>
                      </a:r>
                      <a:endParaRPr sz="12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200" b="0" i="0">
                          <a:solidFill>
                            <a:srgbClr val="1C252B"/>
                          </a:solidFill>
                          <a:latin typeface="Segoe UI"/>
                        </a:rPr>
                        <a:t>Defect diagnoser </a:t>
                      </a:r>
                      <a:r>
                        <a:rPr sz="1200" b="0" i="1">
                          <a:solidFill>
                            <a:srgbClr val="1C252B"/>
                          </a:solidFill>
                          <a:latin typeface="Segoe UI"/>
                        </a:rPr>
                        <a:t>(Ch. 15)</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Probability mass placed on the true cause; cost of wrong remediation</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A live system; causes not directly observable</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1">
                          <a:solidFill>
                            <a:srgbClr val="1C252B"/>
                          </a:solidFill>
                          <a:latin typeface="Segoe UI"/>
                        </a:rPr>
                        <a:t>Act:</a:t>
                      </a:r>
                      <a:r>
                        <a:rPr sz="1200" b="0" i="0">
                          <a:solidFill>
                            <a:srgbClr val="1C252B"/>
                          </a:solidFill>
                          <a:latin typeface="Segoe UI"/>
                        </a:rPr>
                        <a:t> report a posterior over causes, order one test. </a:t>
                      </a:r>
                      <a:r>
                        <a:rPr sz="1200" b="0" i="1">
                          <a:solidFill>
                            <a:srgbClr val="1C252B"/>
                          </a:solidFill>
                          <a:latin typeface="Segoe UI"/>
                        </a:rPr>
                        <a:t>Sense:</a:t>
                      </a:r>
                      <a:r>
                        <a:rPr sz="1200" b="0" i="0">
                          <a:solidFill>
                            <a:srgbClr val="1C252B"/>
                          </a:solidFill>
                          <a:latin typeface="Segoe UI"/>
                        </a:rPr>
                        <a:t> symptoms, logs, test outcomes</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Six Properties of a Task Environment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Agent, Environment, Percept, Action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PEAS: Specify the Task Before You Build the Agent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2.3   Six Properties of a Task Environment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Five Kinds of Agent Program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Rationality Is Not Omniscience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     </a:t>
            </a:r>
            <a:fld id="{B0F12EAD-C995-4BD1-B003-B5AC8AB3160D}"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 Properties of a Task Environment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BD504FEF-F5CA-497B-8FB1-AA4C3BBA8DEE}"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9" cy="4133087"/>
        </p:xfrm>
        <a:graphic>
          <a:graphicData uri="http://schemas.openxmlformats.org/drawingml/2006/table">
            <a:tbl>
              <a:tblPr firstRow="0" bandRow="0" firstCol="0" lastRow="0" lastCol="0" bandCol="0">
                <a:tableStyleId>{2D5ABB26-0587-4C30-8999-92F81FD0307C}</a:tableStyleId>
              </a:tblPr>
              <a:tblGrid>
                <a:gridCol w="2392491"/>
                <a:gridCol w="3987485"/>
                <a:gridCol w="4494983"/>
              </a:tblGrid>
              <a:tr h="329184">
                <a:tc>
                  <a:txBody>
                    <a:bodyPr wrap="square"/>
                    <a:lstStyle/>
                    <a:p>
                      <a:pPr algn="l"/>
                      <a:r>
                        <a:rPr sz="1200" b="1" i="0">
                          <a:solidFill>
                            <a:srgbClr val="1A5276"/>
                          </a:solidFill>
                          <a:latin typeface="Segoe UI"/>
                        </a:rPr>
                        <a:t>Property</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The question</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Where it bites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1" i="0">
                          <a:solidFill>
                            <a:srgbClr val="1C252B"/>
                          </a:solidFill>
                          <a:latin typeface="Segoe UI"/>
                        </a:rPr>
                        <a:t>Property</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The question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Where it bites</a:t>
                      </a:r>
                      <a:endParaRPr sz="1200"/>
                    </a:p>
                  </a:txBody>
                  <a:tcPr marL="109728" marR="109728" marT="64008" marB="45720" anchor="t">
                    <a:lnL w="0" cmpd="sng">
                      <a:noFill/>
                    </a:lnL>
                    <a:lnR w="0" cmpd="sng">
                      <a:noFill/>
                    </a:lnR>
                    <a:lnT w="9525" cmpd="sng">
                      <a:noFill/>
                    </a:lnT>
                    <a:lnB w="9525" cmpd="sng">
                      <a:noFill/>
                    </a:lnB>
                    <a:solidFill>
                      <a:srgbClr val="FFFFFF"/>
                    </a:solidFill>
                  </a:tcPr>
                </a:tc>
              </a:tr>
              <a:tr h="877824">
                <a:tc>
                  <a:txBody>
                    <a:bodyPr wrap="square"/>
                    <a:lstStyle/>
                    <a:p>
                      <a:pPr algn="l"/>
                      <a:r>
                        <a:rPr sz="1200" b="0" i="0">
                          <a:solidFill>
                            <a:srgbClr val="1C252B"/>
                          </a:solidFill>
                          <a:latin typeface="Segoe UI"/>
                        </a:rPr>
                        <a:t>Fully </a:t>
                      </a:r>
                      <a:r>
                        <a:rPr sz="1200" b="0" i="1">
                          <a:solidFill>
                            <a:srgbClr val="1C252B"/>
                          </a:solidFill>
                          <a:latin typeface="Segoe UI"/>
                        </a:rPr>
                        <a:t>vs.</a:t>
                      </a:r>
                      <a:r>
                        <a:rPr sz="1200" b="0" i="0">
                          <a:solidFill>
                            <a:srgbClr val="1C252B"/>
                          </a:solidFill>
                          <a:latin typeface="Segoe UI"/>
                        </a:rPr>
                        <a:t> partially observable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Do the sensors give the complete state relevant to the choice?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Partially observable means the agent must </a:t>
                      </a:r>
                      <a:r>
                        <a:rPr sz="1200" b="0" i="1">
                          <a:solidFill>
                            <a:srgbClr val="1C252B"/>
                          </a:solidFill>
                          <a:latin typeface="Segoe UI"/>
                        </a:rPr>
                        <a:t>maintain</a:t>
                      </a:r>
                      <a:r>
                        <a:rPr sz="1200" b="0" i="0">
                          <a:solidFill>
                            <a:srgbClr val="1C252B"/>
                          </a:solidFill>
                          <a:latin typeface="Segoe UI"/>
                        </a:rPr>
                        <a:t> state — an internal model updated over time. This is the single most consequential property: it is the whole difference between the two reflex agents of Section 2.4.</a:t>
                      </a:r>
                      <a:endParaRPr sz="12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200" b="0" i="0">
                          <a:solidFill>
                            <a:srgbClr val="1C252B"/>
                          </a:solidFill>
                          <a:latin typeface="Segoe UI"/>
                        </a:rPr>
                        <a:t>Deterministic </a:t>
                      </a:r>
                      <a:r>
                        <a:rPr sz="1200" b="0" i="1">
                          <a:solidFill>
                            <a:srgbClr val="1C252B"/>
                          </a:solidFill>
                          <a:latin typeface="Segoe UI"/>
                        </a:rPr>
                        <a:t>vs.</a:t>
                      </a:r>
                      <a:r>
                        <a:rPr sz="1200" b="0" i="0">
                          <a:solidFill>
                            <a:srgbClr val="1C252B"/>
                          </a:solidFill>
                          <a:latin typeface="Segoe UI"/>
                        </a:rPr>
                        <a:t> stochastic</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Does the current state plus the action fix the next state?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Deterministic lets you search for a plan once and execute it (Chapter 9). Stochastic forces probability (Chapter 14) or re-planning after every step.</a:t>
                      </a:r>
                      <a:endParaRPr sz="12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200" b="0" i="0">
                          <a:solidFill>
                            <a:srgbClr val="1C252B"/>
                          </a:solidFill>
                          <a:latin typeface="Segoe UI"/>
                        </a:rPr>
                        <a:t>Episodic </a:t>
                      </a:r>
                      <a:r>
                        <a:rPr sz="1200" b="0" i="1">
                          <a:solidFill>
                            <a:srgbClr val="1C252B"/>
                          </a:solidFill>
                          <a:latin typeface="Segoe UI"/>
                        </a:rPr>
                        <a:t>vs.</a:t>
                      </a:r>
                      <a:r>
                        <a:rPr sz="1200" b="0" i="0">
                          <a:solidFill>
                            <a:srgbClr val="1C252B"/>
                          </a:solidFill>
                          <a:latin typeface="Segoe UI"/>
                        </a:rPr>
                        <a:t> sequential</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Is each decision independent, or does it constrain later ones?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Episodic problems can be handled one case at a time. Sequential ones need lookahead: escalating your only free engineer at 21:00 is what makes the 23:00 decision hard.</a:t>
                      </a:r>
                      <a:endParaRPr sz="12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200" b="0" i="0">
                          <a:solidFill>
                            <a:srgbClr val="1C252B"/>
                          </a:solidFill>
                          <a:latin typeface="Segoe UI"/>
                        </a:rPr>
                        <a:t>Static </a:t>
                      </a:r>
                      <a:r>
                        <a:rPr sz="1200" b="0" i="1">
                          <a:solidFill>
                            <a:srgbClr val="1C252B"/>
                          </a:solidFill>
                          <a:latin typeface="Segoe UI"/>
                        </a:rPr>
                        <a:t>vs.</a:t>
                      </a:r>
                      <a:r>
                        <a:rPr sz="1200" b="0" i="0">
                          <a:solidFill>
                            <a:srgbClr val="1C252B"/>
                          </a:solidFill>
                          <a:latin typeface="Segoe UI"/>
                        </a:rPr>
                        <a:t> dynamic</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Can the world change while the agent is deliberating?</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Dynamic environments put a deadline on thinking, which is why Chapter 8 spends as much effort on cutting search off as on searching.</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Discrete </a:t>
                      </a:r>
                      <a:r>
                        <a:rPr sz="1200" b="0" i="1">
                          <a:solidFill>
                            <a:srgbClr val="1C252B"/>
                          </a:solidFill>
                          <a:latin typeface="Segoe UI"/>
                        </a:rPr>
                        <a:t>vs.</a:t>
                      </a:r>
                      <a:r>
                        <a:rPr sz="1200" b="0" i="0">
                          <a:solidFill>
                            <a:srgbClr val="1C252B"/>
                          </a:solidFill>
                          <a:latin typeface="Segoe UI"/>
                        </a:rPr>
                        <a:t> continuous</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Are states, time and actions countable or real-valued?</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Discrete gives you the graph of Chapter 4. Continuous needs the local search of Chapter 6.</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 Properties of a Task Environment (continued)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B2E5A200-A571-4B78-9569-B6396DF1B4B9}" type="slidenum">
              <a:rPr lang="en-GB" sz="1000">
                <a:solidFill>
                  <a:srgbClr val="8795A1"/>
                </a:solidFill>
                <a:latin typeface="Segoe UI"/>
              </a:rPr>
              <a:t>15</a:t>
            </a:fld>
          </a:p>
        </p:txBody>
      </p:sp>
      <p:graphicFrame>
        <p:nvGraphicFramePr>
          <p:cNvPr id="7" name="!!table"/>
          <p:cNvGraphicFramePr>
            <a:graphicFrameLocks noGrp="1"/>
          </p:cNvGraphicFramePr>
          <p:nvPr/>
        </p:nvGraphicFramePr>
        <p:xfrm>
          <a:off x="658368" y="1737360"/>
          <a:ext cx="10874959" cy="841247"/>
        </p:xfrm>
        <a:graphic>
          <a:graphicData uri="http://schemas.openxmlformats.org/drawingml/2006/table">
            <a:tbl>
              <a:tblPr firstRow="0" bandRow="0" firstCol="0" lastRow="0" lastCol="0" bandCol="0">
                <a:tableStyleId>{2D5ABB26-0587-4C30-8999-92F81FD0307C}</a:tableStyleId>
              </a:tblPr>
              <a:tblGrid>
                <a:gridCol w="2392491"/>
                <a:gridCol w="3987485"/>
                <a:gridCol w="4494983"/>
              </a:tblGrid>
              <a:tr h="329184">
                <a:tc>
                  <a:txBody>
                    <a:bodyPr wrap="square"/>
                    <a:lstStyle/>
                    <a:p>
                      <a:pPr algn="l"/>
                      <a:r>
                        <a:rPr sz="1200" b="1" i="0">
                          <a:solidFill>
                            <a:srgbClr val="1A5276"/>
                          </a:solidFill>
                          <a:latin typeface="Segoe UI"/>
                        </a:rPr>
                        <a:t>Property</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The question</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Where it bites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12063">
                <a:tc>
                  <a:txBody>
                    <a:bodyPr wrap="square"/>
                    <a:lstStyle/>
                    <a:p>
                      <a:pPr algn="l"/>
                      <a:r>
                        <a:rPr sz="1200" b="0" i="0">
                          <a:solidFill>
                            <a:srgbClr val="1C252B"/>
                          </a:solidFill>
                          <a:latin typeface="Segoe UI"/>
                        </a:rPr>
                        <a:t>Single- </a:t>
                      </a:r>
                      <a:r>
                        <a:rPr sz="1200" b="0" i="1">
                          <a:solidFill>
                            <a:srgbClr val="1C252B"/>
                          </a:solidFill>
                          <a:latin typeface="Segoe UI"/>
                        </a:rPr>
                        <a:t>vs.</a:t>
                      </a:r>
                      <a:r>
                        <a:rPr sz="1200" b="0" i="0">
                          <a:solidFill>
                            <a:srgbClr val="1C252B"/>
                          </a:solidFill>
                          <a:latin typeface="Segoe UI"/>
                        </a:rPr>
                        <a:t> multi-agent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Is anything else in the environment choosing its actions?</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If another party’s best move depends on yours, you need Chapter 8; treating a negotiator as weather is the classic error.</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Classify honestly, not conveniently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F4D0132F-34B5-41C4-AC33-683B2A0F08D0}"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9734"/>
          </a:xfrm>
          <a:prstGeom prst="roundRect">
            <a:avLst>
              <a:gd name="adj" fmla="val 206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973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escalation problem is </a:t>
            </a:r>
            <a:r>
              <a:rPr sz="2100" b="0" i="1">
                <a:solidFill>
                  <a:srgbClr val="1C252B"/>
                </a:solidFill>
                <a:latin typeface="Segoe UI"/>
              </a:rPr>
              <a:t>partially observable</a:t>
            </a:r>
            <a:r>
              <a:rPr sz="2100" b="0" i="0">
                <a:solidFill>
                  <a:srgbClr val="1C252B"/>
                </a:solidFill>
                <a:latin typeface="Segoe UI"/>
              </a:rPr>
              <a:t> (you cannot see which tickets are about to become urgent), </a:t>
            </a:r>
            <a:r>
              <a:rPr sz="2100" b="0" i="1">
                <a:solidFill>
                  <a:srgbClr val="1C252B"/>
                </a:solidFill>
                <a:latin typeface="Segoe UI"/>
              </a:rPr>
              <a:t>stochastic</a:t>
            </a:r>
            <a:r>
              <a:rPr sz="2100" b="0" i="0">
                <a:solidFill>
                  <a:srgbClr val="1C252B"/>
                </a:solidFill>
                <a:latin typeface="Segoe UI"/>
              </a:rPr>
              <a:t> (whether an escalation helps depends on the engineer), </a:t>
            </a:r>
            <a:r>
              <a:rPr sz="2100" b="0" i="1">
                <a:solidFill>
                  <a:srgbClr val="1C252B"/>
                </a:solidFill>
                <a:latin typeface="Segoe UI"/>
              </a:rPr>
              <a:t>sequential</a:t>
            </a:r>
            <a:r>
              <a:rPr sz="2100" b="0" i="0">
                <a:solidFill>
                  <a:srgbClr val="1C252B"/>
                </a:solidFill>
                <a:latin typeface="Segoe UI"/>
              </a:rPr>
              <a:t>, </a:t>
            </a:r>
            <a:r>
              <a:rPr sz="2100" b="0" i="1">
                <a:solidFill>
                  <a:srgbClr val="1C252B"/>
                </a:solidFill>
                <a:latin typeface="Segoe UI"/>
              </a:rPr>
              <a:t>dynamic</a:t>
            </a:r>
            <a:r>
              <a:rPr sz="2100" b="0" i="0">
                <a:solidFill>
                  <a:srgbClr val="1C252B"/>
                </a:solidFill>
                <a:latin typeface="Segoe UI"/>
              </a:rPr>
              <a:t> (tickets arrive while you think), </a:t>
            </a:r>
            <a:r>
              <a:rPr sz="2100" b="0" i="1">
                <a:solidFill>
                  <a:srgbClr val="1C252B"/>
                </a:solidFill>
                <a:latin typeface="Segoe UI"/>
              </a:rPr>
              <a:t>discrete</a:t>
            </a:r>
            <a:r>
              <a:rPr sz="2100" b="0" i="0">
                <a:solidFill>
                  <a:srgbClr val="1C252B"/>
                </a:solidFill>
                <a:latin typeface="Segoe UI"/>
              </a:rPr>
              <a:t> and </a:t>
            </a:r>
            <a:r>
              <a:rPr sz="2100" b="0" i="1">
                <a:solidFill>
                  <a:srgbClr val="1C252B"/>
                </a:solidFill>
                <a:latin typeface="Segoe UI"/>
              </a:rPr>
              <a:t>multi-agent</a:t>
            </a:r>
            <a:r>
              <a:rPr sz="2100" b="0" i="0">
                <a:solidFill>
                  <a:srgbClr val="1C252B"/>
                </a:solidFill>
                <a:latin typeface="Segoe UI"/>
              </a:rPr>
              <a:t> (engineers make their own choices). That is the hard corner of every one of the six.</a:t>
            </a:r>
          </a:p>
        </p:txBody>
      </p:sp>
      <p:sp>
        <p:nvSpPr>
          <p:cNvPr id="10" name="body-1"/>
          <p:cNvSpPr txBox="1"/>
          <p:nvPr/>
        </p:nvSpPr>
        <p:spPr>
          <a:xfrm>
            <a:off x="1060704" y="3859148"/>
            <a:ext cx="10161727" cy="2042769"/>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standard mistake is to notice this, find it discouraging, and quietly build for the easy corner anyway — a fully observable, deterministic, episodic model — because that is what the tutorial did. The resulting system works in demonstrations and fails on a Friday night. The honest response is to </a:t>
            </a:r>
            <a:r>
              <a:rPr sz="2100" b="0" i="1">
                <a:solidFill>
                  <a:srgbClr val="1C252B"/>
                </a:solidFill>
                <a:latin typeface="Segoe UI"/>
              </a:rPr>
              <a:t>simplify deliberately and write the simplification down</a:t>
            </a:r>
            <a:r>
              <a:rPr sz="2100" b="0" i="0">
                <a:solidFill>
                  <a:srgbClr val="1C252B"/>
                </a:solidFill>
                <a:latin typeface="Segoe UI"/>
              </a:rPr>
              <a:t>: this is exactly what Chapter 7 does when it treats a sprint as static for the duration of the solve, and says so.</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 agent architectures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57E8E32D-BBEB-41BC-AEF0-BE336329D884}" type="slidenum">
              <a:rPr lang="en-GB" sz="1000">
                <a:solidFill>
                  <a:srgbClr val="8795A1"/>
                </a:solidFill>
                <a:latin typeface="Segoe UI"/>
              </a:rPr>
              <a:t>17</a:t>
            </a:fld>
          </a:p>
        </p:txBody>
      </p:sp>
      <p:pic>
        <p:nvPicPr>
          <p:cNvPr id="6" name="!!figure" descr="Figure 2.2. Five agent architectures. Each keeps more state than the one before it. Choose the leftmost one that can do the job."/>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20829"/>
            <a:ext cx="10874959" cy="353298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keeps more state than the one before it. Choose the leftmost one that can do the job.</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PEAS and a full classification for one night’s triage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8059E7B2-545A-4570-87BF-535A5B301046}"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94404"/>
          </a:xfrm>
          <a:prstGeom prst="roundRect">
            <a:avLst>
              <a:gd name="adj" fmla="val 228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944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task.</a:t>
            </a:r>
            <a:r>
              <a:rPr sz="1900" b="0" i="0">
                <a:solidFill>
                  <a:srgbClr val="1C252B"/>
                </a:solidFill>
                <a:latin typeface="Segoe UI"/>
              </a:rPr>
              <a:t> At 21:00 the queue holds three hundred open tickets. One engineer, Ayesha, is on call until 07:00. Tickets breach at different times. Escalating wakes Ayesha, which costs something, and there is a limit to how often it can be done in a night.</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PEAS.</a:t>
            </a:r>
          </a:p>
        </p:txBody>
      </p:sp>
      <p:sp>
        <p:nvSpPr>
          <p:cNvPr id="11" name="body-2"/>
          <p:cNvSpPr txBox="1"/>
          <p:nvPr/>
        </p:nvSpPr>
        <p:spPr>
          <a:xfrm>
            <a:off x="1042416" y="3481679"/>
            <a:ext cx="10234879" cy="202148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Segoe UI"/>
              </a:rPr>
              <a:t>Performance measure:</a:t>
            </a:r>
            <a:r>
              <a:rPr sz="1900" b="0" i="0">
                <a:solidFill>
                  <a:srgbClr val="1C252B"/>
                </a:solidFill>
                <a:latin typeface="Segoe UI"/>
              </a:rPr>
              <a:t> </a:t>
            </a:r>
            <a:r>
              <a:rPr sz="1900" b="0" i="0">
                <a:solidFill>
                  <a:srgbClr val="1C252B"/>
                </a:solidFill>
                <a:latin typeface="Cambria"/>
              </a:rPr>
              <a:t>−10</a:t>
            </a:r>
            <a:r>
              <a:rPr sz="1900" b="0" i="0">
                <a:solidFill>
                  <a:srgbClr val="1C252B"/>
                </a:solidFill>
                <a:latin typeface="Segoe UI"/>
              </a:rPr>
              <a:t> per breached major service level agreement, </a:t>
            </a:r>
            <a:r>
              <a:rPr sz="1900" b="0" i="0">
                <a:solidFill>
                  <a:srgbClr val="1C252B"/>
                </a:solidFill>
                <a:latin typeface="Cambria"/>
              </a:rPr>
              <a:t>−3</a:t>
            </a:r>
            <a:r>
              <a:rPr sz="1900" b="0" i="0">
                <a:solidFill>
                  <a:srgbClr val="1C252B"/>
                </a:solidFill>
                <a:latin typeface="Segoe UI"/>
              </a:rPr>
              <a:t> per breached minor one, </a:t>
            </a:r>
            <a:r>
              <a:rPr sz="1900" b="0" i="0">
                <a:solidFill>
                  <a:srgbClr val="1C252B"/>
                </a:solidFill>
                <a:latin typeface="Cambria"/>
              </a:rPr>
              <a:t>−1</a:t>
            </a:r>
            <a:r>
              <a:rPr sz="1900" b="0" i="0">
                <a:solidFill>
                  <a:srgbClr val="1C252B"/>
                </a:solidFill>
                <a:latin typeface="Segoe UI"/>
              </a:rPr>
              <a:t> per escalation that turned out unnecessary, </a:t>
            </a:r>
            <a:r>
              <a:rPr sz="1900" b="0" i="0">
                <a:solidFill>
                  <a:srgbClr val="1C252B"/>
                </a:solidFill>
                <a:latin typeface="Cambria"/>
              </a:rPr>
              <a:t>−4</a:t>
            </a:r>
            <a:r>
              <a:rPr sz="1900" b="0" i="0">
                <a:solidFill>
                  <a:srgbClr val="1C252B"/>
                </a:solidFill>
                <a:latin typeface="Segoe UI"/>
              </a:rPr>
              <a:t> per hour of Ayesha’s sleep lost. Note it is a measure of the world’s state at 07:00, not of how busy the agent was.</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Segoe UI"/>
              </a:rPr>
              <a:t>Environment:</a:t>
            </a:r>
            <a:r>
              <a:rPr sz="1900" b="0" i="0">
                <a:solidFill>
                  <a:srgbClr val="1C252B"/>
                </a:solidFill>
                <a:latin typeface="Segoe UI"/>
              </a:rPr>
              <a:t> the queue, the roster, the clock, the customers (who are also acting), Ayesha (who is also acting).</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Segoe UI"/>
              </a:rPr>
              <a:t>Actuators:</a:t>
            </a:r>
            <a:r>
              <a:rPr sz="1900" b="0" i="0">
                <a:solidFill>
                  <a:srgbClr val="1C252B"/>
                </a:solidFill>
                <a:latin typeface="Segoe UI"/>
              </a:rPr>
              <a:t> escalate ticket </a:t>
            </a:r>
            <a:r>
              <a:rPr sz="1900" b="0" i="1">
                <a:solidFill>
                  <a:srgbClr val="1C252B"/>
                </a:solidFill>
                <a:latin typeface="Cambria"/>
              </a:rPr>
              <a:t>t</a:t>
            </a:r>
            <a:r>
              <a:rPr sz="1900" b="0" i="0">
                <a:solidFill>
                  <a:srgbClr val="1C252B"/>
                </a:solidFill>
                <a:latin typeface="Segoe UI"/>
              </a:rPr>
              <a:t> to Ayesha; defer </a:t>
            </a:r>
            <a:r>
              <a:rPr sz="1900" b="0" i="1">
                <a:solidFill>
                  <a:srgbClr val="1C252B"/>
                </a:solidFill>
                <a:latin typeface="Cambria"/>
              </a:rPr>
              <a:t>t</a:t>
            </a:r>
            <a:r>
              <a:rPr sz="1900" b="0" i="0">
                <a:solidFill>
                  <a:srgbClr val="1C252B"/>
                </a:solidFill>
                <a:latin typeface="Segoe UI"/>
              </a:rPr>
              <a:t> to the morning; merge </a:t>
            </a:r>
            <a:r>
              <a:rPr sz="1900" b="0" i="1">
                <a:solidFill>
                  <a:srgbClr val="1C252B"/>
                </a:solidFill>
                <a:latin typeface="Cambria"/>
              </a:rPr>
              <a:t>t</a:t>
            </a:r>
            <a:r>
              <a:rPr sz="1900" b="0" i="0">
                <a:solidFill>
                  <a:srgbClr val="1C252B"/>
                </a:solidFill>
                <a:latin typeface="Segoe UI"/>
              </a:rPr>
              <a:t> into another ticket.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PEAS and a full classification for one night’s triage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403DB9E0-66A4-4022-8FE0-65C99F83E11F}"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351"/>
          </a:xfrm>
          <a:prstGeom prst="roundRect">
            <a:avLst>
              <a:gd name="adj" fmla="val 25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Segoe UI"/>
              </a:rPr>
              <a:t>Sensors:</a:t>
            </a:r>
            <a:r>
              <a:rPr sz="1900" b="0" i="0">
                <a:solidFill>
                  <a:srgbClr val="1C252B"/>
                </a:solidFill>
                <a:latin typeface="Segoe UI"/>
              </a:rPr>
              <a:t> every ticket’s fields; Ayesha’s current task; the clock. </a:t>
            </a:r>
            <a:r>
              <a:rPr sz="1900" b="0" i="1">
                <a:solidFill>
                  <a:srgbClr val="1C252B"/>
                </a:solidFill>
                <a:latin typeface="Segoe UI"/>
              </a:rPr>
              <a:t>Not</a:t>
            </a:r>
            <a:r>
              <a:rPr sz="1900" b="0" i="0">
                <a:solidFill>
                  <a:srgbClr val="1C252B"/>
                </a:solidFill>
                <a:latin typeface="Segoe UI"/>
              </a:rPr>
              <a:t> sensed: which quiet ticket is about to escalate itself into a major incident.</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Classification.</a:t>
            </a:r>
            <a:r>
              <a:rPr sz="1900" b="0" i="0">
                <a:solidFill>
                  <a:srgbClr val="1C252B"/>
                </a:solidFill>
                <a:latin typeface="Segoe UI"/>
              </a:rPr>
              <a:t> Partially observable (that last point), stochastic, sequential (waking Ayesha at 21:00 changes what is possible at 03:00), dynamic, discrete, multi-agent.</a:t>
            </a:r>
          </a:p>
        </p:txBody>
      </p:sp>
      <p:sp>
        <p:nvSpPr>
          <p:cNvPr id="11"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48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the classification rules out.</a:t>
            </a:r>
            <a:r>
              <a:rPr sz="1900" b="0" i="0">
                <a:solidFill>
                  <a:srgbClr val="1C252B"/>
                </a:solidFill>
                <a:latin typeface="Segoe UI"/>
              </a:rPr>
              <a:t> Partially observable kills agent 1 — a simple reflex agent cannot represent “Ayesha has already been woken twice”. Sequential kills the purely episodic treatment: you cannot score each ticket independently and take the top five. Stochastic and multi-agent together mean the plan will be wrong by 23:00, so any plan must be cheap enough to recompute.</a:t>
            </a:r>
          </a:p>
        </p:txBody>
      </p:sp>
      <p:sp>
        <p:nvSpPr>
          <p:cNvPr id="13" name="body-2bar">
            <a:extLst>
              <a:ext uri="{C183D7F6-B498-43B3-948B-1728B52AA6E4}">
                <adec:decorative xmlns:adec="http://schemas.microsoft.com/office/drawing/2017/decorative" val="1"/>
              </a:ext>
            </a:extLst>
          </p:cNvPr>
          <p:cNvSpPr/>
          <p:nvPr/>
        </p:nvSpPr>
        <p:spPr>
          <a:xfrm>
            <a:off x="841248" y="349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PEAS and a full classification for one night’s triage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28EE65C8-DFDD-49F4-BB8C-07C3655EB52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design that follows.</a:t>
            </a:r>
            <a:r>
              <a:rPr sz="1900" b="0" i="0">
                <a:solidFill>
                  <a:srgbClr val="1C252B"/>
                </a:solidFill>
                <a:latin typeface="Segoe UI"/>
              </a:rPr>
              <a:t> A model-based agent that maintains Ayesha’s accumulated cost, using a goal-based search over the next few hours (Chapter 5), with the utility trade-off of Chapter 14 to weigh a major breach against lost sleep, recomputed every fifteen minutes. </a:t>
            </a:r>
            <a:r>
              <a:rPr sz="1900" b="0" i="1">
                <a:solidFill>
                  <a:srgbClr val="1C252B"/>
                </a:solidFill>
                <a:latin typeface="Segoe UI"/>
              </a:rPr>
              <a:t>Every one of those four choices was forced by a line of the classification</a:t>
            </a:r>
            <a:r>
              <a:rPr sz="1900" b="0" i="0">
                <a:solidFill>
                  <a:srgbClr val="1C252B"/>
                </a:solidFill>
                <a:latin typeface="Segoe UI"/>
              </a:rPr>
              <a:t>, which is why the classification is done before the code.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C5160E59-3C99-463C-B35E-72F2BC5D8E43}"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90342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A performance measure that scores the agent instead of the world.</a:t>
            </a:r>
            <a:r>
              <a:rPr sz="1900" b="0" i="0">
                <a:solidFill>
                  <a:srgbClr val="1C252B"/>
                </a:solidFill>
                <a:latin typeface="Segoe UI"/>
              </a:rPr>
              <a:t> “Number of escalations” rewards noise; “tickets processed” rewards haste. Score the state of the environment at the end.</a:t>
            </a:r>
          </a:p>
        </p:txBody>
      </p:sp>
      <p:sp>
        <p:nvSpPr>
          <p:cNvPr id="10" name="!!pb1">
            <a:extLst>
              <a:ext uri="{C183D7F6-B498-43B3-948B-1728B52AA6E4}">
                <adec:decorative xmlns:adec="http://schemas.microsoft.com/office/drawing/2017/decorative" val="1"/>
              </a:ext>
            </a:extLst>
          </p:cNvPr>
          <p:cNvSpPr/>
          <p:nvPr/>
        </p:nvSpPr>
        <p:spPr>
          <a:xfrm>
            <a:off x="658368" y="286024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88310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841955"/>
            <a:ext cx="10271455" cy="90342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Confusing the agent function with the agent program.</a:t>
            </a:r>
            <a:r>
              <a:rPr sz="1900" b="0" i="0">
                <a:solidFill>
                  <a:srgbClr val="1C252B"/>
                </a:solidFill>
                <a:latin typeface="Segoe UI"/>
              </a:rPr>
              <a:t> The function can be an infinite table; the program has a deadline. Interview questions about “the optimal policy” are usually about the function, and implementation questions are always about the program.</a:t>
            </a:r>
          </a:p>
        </p:txBody>
      </p:sp>
      <p:sp>
        <p:nvSpPr>
          <p:cNvPr id="13" name="!!pb2">
            <a:extLst>
              <a:ext uri="{C183D7F6-B498-43B3-948B-1728B52AA6E4}">
                <adec:decorative xmlns:adec="http://schemas.microsoft.com/office/drawing/2017/decorative" val="1"/>
              </a:ext>
            </a:extLst>
          </p:cNvPr>
          <p:cNvSpPr/>
          <p:nvPr/>
        </p:nvSpPr>
        <p:spPr>
          <a:xfrm>
            <a:off x="658368" y="396483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98769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946550"/>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Building a simple reflex agent for a partially observable world.</a:t>
            </a:r>
            <a:r>
              <a:rPr sz="1900" b="0" i="0">
                <a:solidFill>
                  <a:srgbClr val="1C252B"/>
                </a:solidFill>
                <a:latin typeface="Segoe UI"/>
              </a:rPr>
              <a:t> It will work on every test case you can construct by hand, because you can see the state that it cannot.</a:t>
            </a:r>
          </a:p>
        </p:txBody>
      </p:sp>
      <p:sp>
        <p:nvSpPr>
          <p:cNvPr id="16" name="!!pb3">
            <a:extLst>
              <a:ext uri="{C183D7F6-B498-43B3-948B-1728B52AA6E4}">
                <adec:decorative xmlns:adec="http://schemas.microsoft.com/office/drawing/2017/decorative" val="1"/>
              </a:ext>
            </a:extLst>
          </p:cNvPr>
          <p:cNvSpPr/>
          <p:nvPr/>
        </p:nvSpPr>
        <p:spPr>
          <a:xfrm>
            <a:off x="658368" y="476829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79115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750003"/>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Treating another agent as weather.</a:t>
            </a:r>
            <a:r>
              <a:rPr sz="1900" b="0" i="0">
                <a:solidFill>
                  <a:srgbClr val="1C252B"/>
                </a:solidFill>
                <a:latin typeface="Segoe UI"/>
              </a:rPr>
              <a:t> If the other party’s choice depends on yours, a stochastic model of them is not merely inaccurate — it is exploitable. Chapter 8 is the fix.</a:t>
            </a:r>
          </a:p>
        </p:txBody>
      </p:sp>
      <p:sp>
        <p:nvSpPr>
          <p:cNvPr id="19" name="!!pb4">
            <a:extLst>
              <a:ext uri="{C183D7F6-B498-43B3-948B-1728B52AA6E4}">
                <adec:decorative xmlns:adec="http://schemas.microsoft.com/office/drawing/2017/decorative" val="1"/>
              </a:ext>
            </a:extLst>
          </p:cNvPr>
          <p:cNvSpPr/>
          <p:nvPr/>
        </p:nvSpPr>
        <p:spPr>
          <a:xfrm>
            <a:off x="658368" y="557174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59460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553456"/>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Calling an agent irrational because the outcome was bad.</a:t>
            </a:r>
            <a:r>
              <a:rPr sz="1900" b="0" i="0">
                <a:solidFill>
                  <a:srgbClr val="1C252B"/>
                </a:solidFill>
                <a:latin typeface="Segoe UI"/>
              </a:rPr>
              <a:t> Judge the decision against the percepts available at the time. This is also how to run a blameless incident review.</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3A6B47E3-B66E-46D5-AF82-9EFAF87D1024}" type="slidenum">
              <a:rPr lang="en-GB" sz="1000">
                <a:solidFill>
                  <a:srgbClr val="8795A1"/>
                </a:solidFill>
                <a:latin typeface="Segoe UI"/>
              </a:rPr>
              <a:t>22</a:t>
            </a:fld>
          </a:p>
        </p:txBody>
      </p:sp>
      <p:sp>
        <p:nvSpPr>
          <p:cNvPr id="7" name="body-0"/>
          <p:cNvSpPr txBox="1"/>
          <p:nvPr/>
        </p:nvSpPr>
        <p:spPr>
          <a:xfrm>
            <a:off x="658368" y="1737360"/>
            <a:ext cx="10874959"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Forty tickets arrive over one night. Two agents see exactly the same percepts: a simple reflex agent, and a model-based agent that remembers what it has already done. The performance measure is the one from the worked example. The point of the lab is that the second agent wins </a:t>
            </a:r>
            <a:r>
              <a:rPr sz="2000" b="0" i="1">
                <a:solidFill>
                  <a:srgbClr val="1C252B"/>
                </a:solidFill>
                <a:latin typeface="Segoe UI"/>
              </a:rPr>
              <a:t>on identical information</a:t>
            </a:r>
            <a:r>
              <a:rPr sz="2000" b="0" i="0">
                <a:solidFill>
                  <a:srgbClr val="1C252B"/>
                </a:solidFill>
                <a:latin typeface="Segoe UI"/>
              </a:rPr>
              <a:t>, purely because it keeps state.</a:t>
            </a:r>
          </a:p>
        </p:txBody>
      </p:sp>
      <p:sp>
        <p:nvSpPr>
          <p:cNvPr id="8" name="!!lfTHIS">
            <a:extLst>
              <a:ext uri="{C183D7F6-B498-43B3-948B-1728B52AA6E4}">
                <adec:decorative xmlns:adec="http://schemas.microsoft.com/office/drawing/2017/decorative" val="1"/>
              </a:ext>
            </a:extLst>
          </p:cNvPr>
          <p:cNvSpPr/>
          <p:nvPr/>
        </p:nvSpPr>
        <p:spPr>
          <a:xfrm>
            <a:off x="658368" y="3316224"/>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3316224"/>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3480816"/>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773424"/>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500" b="0" i="0">
                <a:solidFill>
                  <a:srgbClr val="1C252B"/>
                </a:solidFill>
                <a:latin typeface="Segoe UI"/>
              </a:rPr>
              <a:t>Week 1: Is it AI? a five-point audit; a reflex agent on a ticket queue</a:t>
            </a:r>
          </a:p>
        </p:txBody>
      </p:sp>
      <p:sp>
        <p:nvSpPr>
          <p:cNvPr id="12" name="!!lfWHAT">
            <a:extLst>
              <a:ext uri="{C183D7F6-B498-43B3-948B-1728B52AA6E4}">
                <adec:decorative xmlns:adec="http://schemas.microsoft.com/office/drawing/2017/decorative" val="1"/>
              </a:ext>
            </a:extLst>
          </p:cNvPr>
          <p:cNvSpPr/>
          <p:nvPr/>
        </p:nvSpPr>
        <p:spPr>
          <a:xfrm>
            <a:off x="4374794" y="3316224"/>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3316224"/>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3480816"/>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3773424"/>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103 lines of Python</a:t>
            </a:r>
          </a:p>
        </p:txBody>
      </p:sp>
      <p:sp>
        <p:nvSpPr>
          <p:cNvPr id="16" name="!!lfRUNN">
            <a:extLst>
              <a:ext uri="{C183D7F6-B498-43B3-948B-1728B52AA6E4}">
                <adec:decorative xmlns:adec="http://schemas.microsoft.com/office/drawing/2017/decorative" val="1"/>
              </a:ext>
            </a:extLst>
          </p:cNvPr>
          <p:cNvSpPr/>
          <p:nvPr/>
        </p:nvSpPr>
        <p:spPr>
          <a:xfrm>
            <a:off x="8091220" y="3316224"/>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3316224"/>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3480816"/>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3773424"/>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code/ch02_reflex_agent_ticket.py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CE8D8638-2FF3-4FB6-BEA3-61511F21254D}" type="slidenum">
              <a:rPr lang="en-GB" sz="1000">
                <a:solidFill>
                  <a:srgbClr val="8795A1"/>
                </a:solidFill>
                <a:latin typeface="Segoe UI"/>
              </a:rPr>
              <a:t>23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quot;&quot;&quot;Chapter 2 lab -- a reflex agent and a model-based agent. Two agent programs, the same percepts, the same performance measure. The simple reflex agent cannot represent how often it has already woken the on-call engineer, because no percept reports it. That single missing piece of state is the whole difference. &quot;&quot;&quot; import random from collections import namedtuple random.seed(0) # PEAS, as code. A percept is one ticket as the agent sees it. Ticket = namedtuple(&quot;Ticket&quot;, &quot;tid hour severity hours_to_breach&quot;) WAKE_LIMIT = 3 # more than this and Ayesha is useless tomorrow COST = {&quot;major&quot;: 10, &quot;minor&quot;: 3} UNNECESSARY = 1 SLEEP = 4"/>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7DCEA0"/>
                </a:solidFill>
                <a:latin typeface="Consolas"/>
              </a:rPr>
              <a:t>"""Chapter 2 lab -- a reflex agent and a model-based agent.</a:t>
            </a:r>
          </a:p>
          <a:p>
            <a:pPr>
              <a:lnSpc>
                <a:spcPct val="100000"/>
              </a:lnSpc>
              <a:spcAft>
                <a:spcPts val="0"/>
              </a:spcAft>
            </a:pPr>
            <a:r>
              <a:rPr sz="1300">
                <a:latin typeface="Consolas"/>
              </a:rPr>
              <a:t> </a:t>
            </a:r>
          </a:p>
          <a:p>
            <a:pPr>
              <a:lnSpc>
                <a:spcPct val="100000"/>
              </a:lnSpc>
              <a:spcAft>
                <a:spcPts val="0"/>
              </a:spcAft>
            </a:pPr>
            <a:r>
              <a:rPr sz="1300" i="0">
                <a:solidFill>
                  <a:srgbClr val="7DCEA0"/>
                </a:solidFill>
                <a:latin typeface="Consolas"/>
              </a:rPr>
              <a:t>Two agent programs, the same percepts, the same performance measure.</a:t>
            </a:r>
          </a:p>
          <a:p>
            <a:pPr>
              <a:lnSpc>
                <a:spcPct val="100000"/>
              </a:lnSpc>
              <a:spcAft>
                <a:spcPts val="0"/>
              </a:spcAft>
            </a:pPr>
            <a:r>
              <a:rPr sz="1300" i="0">
                <a:solidFill>
                  <a:srgbClr val="7DCEA0"/>
                </a:solidFill>
                <a:latin typeface="Consolas"/>
              </a:rPr>
              <a:t>The simple reflex agent cannot represent how often it has already woken</a:t>
            </a:r>
          </a:p>
          <a:p>
            <a:pPr>
              <a:lnSpc>
                <a:spcPct val="100000"/>
              </a:lnSpc>
              <a:spcAft>
                <a:spcPts val="0"/>
              </a:spcAft>
            </a:pPr>
            <a:r>
              <a:rPr sz="1300" i="0">
                <a:solidFill>
                  <a:srgbClr val="7DCEA0"/>
                </a:solidFill>
                <a:latin typeface="Consolas"/>
              </a:rPr>
              <a:t>the on-call engineer, because no percept reports it. That single</a:t>
            </a:r>
          </a:p>
          <a:p>
            <a:pPr>
              <a:lnSpc>
                <a:spcPct val="100000"/>
              </a:lnSpc>
              <a:spcAft>
                <a:spcPts val="0"/>
              </a:spcAft>
            </a:pPr>
            <a:r>
              <a:rPr sz="1300" i="0">
                <a:solidFill>
                  <a:srgbClr val="7DCEA0"/>
                </a:solidFill>
                <a:latin typeface="Consolas"/>
              </a:rPr>
              <a:t>missing piece of state is the whole difference.</a:t>
            </a:r>
          </a:p>
          <a:p>
            <a:pPr>
              <a:lnSpc>
                <a:spcPct val="100000"/>
              </a:lnSpc>
              <a:spcAft>
                <a:spcPts val="0"/>
              </a:spcAft>
            </a:pP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import</a:t>
            </a:r>
            <a:r>
              <a:rPr sz="1300" i="0">
                <a:solidFill>
                  <a:srgbClr val="E8EDF2"/>
                </a:solidFill>
                <a:latin typeface="Consolas"/>
              </a:rPr>
              <a:t> </a:t>
            </a:r>
            <a:r>
              <a:rPr sz="1300" i="0">
                <a:solidFill>
                  <a:srgbClr val="76D7C4"/>
                </a:solidFill>
                <a:latin typeface="Consolas"/>
              </a:rPr>
              <a:t>random</a:t>
            </a:r>
          </a:p>
          <a:p>
            <a:pPr>
              <a:lnSpc>
                <a:spcPct val="100000"/>
              </a:lnSpc>
              <a:spcAft>
                <a:spcPts val="0"/>
              </a:spcAft>
            </a:pPr>
            <a:r>
              <a:rPr sz="1300" i="0">
                <a:solidFill>
                  <a:srgbClr val="5DADE2"/>
                </a:solidFill>
                <a:latin typeface="Consolas"/>
              </a:rPr>
              <a:t>from</a:t>
            </a:r>
            <a:r>
              <a:rPr sz="1300" i="0">
                <a:solidFill>
                  <a:srgbClr val="E8EDF2"/>
                </a:solidFill>
                <a:latin typeface="Consolas"/>
              </a:rPr>
              <a:t> </a:t>
            </a:r>
            <a:r>
              <a:rPr sz="1300" i="0">
                <a:solidFill>
                  <a:srgbClr val="76D7C4"/>
                </a:solidFill>
                <a:latin typeface="Consolas"/>
              </a:rPr>
              <a:t>collections</a:t>
            </a:r>
            <a:r>
              <a:rPr sz="1300" i="0">
                <a:solidFill>
                  <a:srgbClr val="E8EDF2"/>
                </a:solidFill>
                <a:latin typeface="Consolas"/>
              </a:rPr>
              <a:t> </a:t>
            </a:r>
            <a:r>
              <a:rPr sz="1300" i="0">
                <a:solidFill>
                  <a:srgbClr val="5DADE2"/>
                </a:solidFill>
                <a:latin typeface="Consolas"/>
              </a:rPr>
              <a:t>import</a:t>
            </a:r>
            <a:r>
              <a:rPr sz="1300" i="0">
                <a:solidFill>
                  <a:srgbClr val="E8EDF2"/>
                </a:solidFill>
                <a:latin typeface="Consolas"/>
              </a:rPr>
              <a:t> </a:t>
            </a:r>
            <a:r>
              <a:rPr sz="1300" i="0">
                <a:solidFill>
                  <a:srgbClr val="E8EDF2"/>
                </a:solidFill>
                <a:latin typeface="Consolas"/>
              </a:rPr>
              <a:t>namedtuple</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seed</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1">
                <a:solidFill>
                  <a:srgbClr val="8795A1"/>
                </a:solidFill>
                <a:latin typeface="Consolas"/>
              </a:rPr>
              <a:t># PEAS, as code. A percept is one ticket as the agent sees it.</a:t>
            </a:r>
          </a:p>
          <a:p>
            <a:pPr>
              <a:lnSpc>
                <a:spcPct val="100000"/>
              </a:lnSpc>
              <a:spcAft>
                <a:spcPts val="0"/>
              </a:spcAft>
            </a:pPr>
            <a:r>
              <a:rPr sz="1300" i="0">
                <a:solidFill>
                  <a:srgbClr val="E8EDF2"/>
                </a:solidFill>
                <a:latin typeface="Consolas"/>
              </a:rPr>
              <a:t>Ticket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namedtuple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Ticket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tid hour severity hours_to_breach</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WAKE_LIMIT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E8EDF2"/>
                </a:solidFill>
                <a:latin typeface="Consolas"/>
              </a:rPr>
              <a:t>          </a:t>
            </a:r>
            <a:r>
              <a:rPr sz="1300" i="1">
                <a:solidFill>
                  <a:srgbClr val="8795A1"/>
                </a:solidFill>
                <a:latin typeface="Consolas"/>
              </a:rPr>
              <a:t># more than this and Ayesha is useless tomorrow</a:t>
            </a:r>
          </a:p>
          <a:p>
            <a:pPr>
              <a:lnSpc>
                <a:spcPct val="100000"/>
              </a:lnSpc>
              <a:spcAft>
                <a:spcPts val="0"/>
              </a:spcAft>
            </a:pPr>
            <a:r>
              <a:rPr sz="1300" i="0">
                <a:solidFill>
                  <a:srgbClr val="E8EDF2"/>
                </a:solidFill>
                <a:latin typeface="Consolas"/>
              </a:rPr>
              <a:t>COST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major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minor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p>
          <a:p>
            <a:pPr>
              <a:lnSpc>
                <a:spcPct val="100000"/>
              </a:lnSpc>
              <a:spcAft>
                <a:spcPts val="0"/>
              </a:spcAft>
            </a:pPr>
            <a:r>
              <a:rPr sz="1300" i="0">
                <a:solidFill>
                  <a:srgbClr val="E8EDF2"/>
                </a:solidFill>
                <a:latin typeface="Consolas"/>
              </a:rPr>
              <a:t>UNNECESSARY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SLEEP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4</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a:t>
            </a:r>
          </a:p>
          <a:p>
            <a:pPr algn="r">
              <a:lnSpc>
                <a:spcPct val="100000"/>
              </a:lnSpc>
            </a:pPr>
            <a:r>
              <a:rPr sz="1300">
                <a:solidFill>
                  <a:srgbClr val="4F5D6A"/>
                </a:solidFill>
                <a:latin typeface="Consolas"/>
              </a:rPr>
              <a:t>3</a:t>
            </a:r>
          </a:p>
          <a:p>
            <a:pPr algn="r">
              <a:lnSpc>
                <a:spcPct val="100000"/>
              </a:lnSpc>
            </a:pPr>
            <a:r>
              <a:rPr sz="1300">
                <a:solidFill>
                  <a:srgbClr val="4F5D6A"/>
                </a:solidFill>
                <a:latin typeface="Consolas"/>
              </a:rPr>
              <a:t>4</a:t>
            </a:r>
          </a:p>
          <a:p>
            <a:pPr algn="r">
              <a:lnSpc>
                <a:spcPct val="100000"/>
              </a:lnSpc>
            </a:pPr>
            <a:r>
              <a:rPr sz="1300">
                <a:solidFill>
                  <a:srgbClr val="4F5D6A"/>
                </a:solidFill>
                <a:latin typeface="Consolas"/>
              </a:rPr>
              <a:t>5</a:t>
            </a:r>
          </a:p>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EEE995F1-F27E-44A5-A874-9620A3765E77}" type="slidenum">
              <a:rPr lang="en-GB" sz="1000">
                <a:solidFill>
                  <a:srgbClr val="8795A1"/>
                </a:solidFill>
                <a:latin typeface="Segoe UI"/>
              </a:rPr>
              <a:t>24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04944"/>
          </a:xfrm>
          <a:prstGeom prst="roundRect">
            <a:avLst>
              <a:gd name="adj" fmla="val 20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def night(n=40): &quot;&quot;&quot;One night's percept sequence: n tickets, 21:00 to 07:00.&quot;&quot;&quot; out = [] for tid in range(1, n + 1): out.append(Ticket( tid=tid, hour=21 + (tid * 10) // n, severity=random.choice([&quot;major&quot;, &quot;minor&quot;, &quot;minor&quot;]), hours_to_breach=random.choice([1, 2, 4, 8, 12]), )) return out def simple_reflex(t, state): &quot;&quot;&quot;Condition-action rules on the current percept only.&quot;&quot;&quot; return t.hours_to_breach &lt;= 4 or t.severity == &quot;major&quot;"/>
          <p:cNvSpPr txBox="1"/>
          <p:nvPr/>
        </p:nvSpPr>
        <p:spPr>
          <a:xfrm>
            <a:off x="1362456" y="2066543"/>
            <a:ext cx="9987991" cy="4011168"/>
          </a:xfrm>
          <a:prstGeom prst="rect">
            <a:avLst/>
          </a:prstGeom>
          <a:noFill/>
        </p:spPr>
        <p:txBody>
          <a:bodyPr wrap="none" anchor="t" lIns="0" rIns="0" tIns="0" bIns="0">
            <a:noAutofit/>
          </a:bodyPr>
          <a:lstStyle/>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night</a:t>
            </a:r>
            <a:r>
              <a:rPr sz="1600" i="0">
                <a:solidFill>
                  <a:srgbClr val="AEB6BF"/>
                </a:solidFill>
                <a:latin typeface="Consolas"/>
              </a:rPr>
              <a:t>(</a:t>
            </a:r>
            <a:r>
              <a:rPr sz="1600" i="0">
                <a:solidFill>
                  <a:srgbClr val="E8EDF2"/>
                </a:solidFill>
                <a:latin typeface="Consolas"/>
              </a:rPr>
              <a:t>n</a:t>
            </a:r>
            <a:r>
              <a:rPr sz="1600" i="0">
                <a:solidFill>
                  <a:srgbClr val="AEB6BF"/>
                </a:solidFill>
                <a:latin typeface="Consolas"/>
              </a:rPr>
              <a:t>=</a:t>
            </a:r>
            <a:r>
              <a:rPr sz="1600" i="0">
                <a:solidFill>
                  <a:srgbClr val="F7DC6F"/>
                </a:solidFill>
                <a:latin typeface="Consolas"/>
              </a:rPr>
              <a:t>40</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"""One night's percept sequence: n tickets, 21:00 to 07:00."""</a:t>
            </a:r>
          </a:p>
          <a:p>
            <a:pPr>
              <a:lnSpc>
                <a:spcPct val="100000"/>
              </a:lnSpc>
              <a:spcAft>
                <a:spcPts val="0"/>
              </a:spcAft>
            </a:pPr>
            <a:r>
              <a:rPr sz="1600" i="0">
                <a:solidFill>
                  <a:srgbClr val="E8EDF2"/>
                </a:solidFill>
                <a:latin typeface="Consolas"/>
              </a:rPr>
              <a:t>    </a:t>
            </a:r>
            <a:r>
              <a:rPr sz="1600" i="0">
                <a:solidFill>
                  <a:srgbClr val="E8EDF2"/>
                </a:solidFill>
                <a:latin typeface="Consolas"/>
              </a:rPr>
              <a:t>out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tid</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C39BD3"/>
                </a:solidFill>
                <a:latin typeface="Consolas"/>
              </a:rPr>
              <a:t>range</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out</a:t>
            </a:r>
            <a:r>
              <a:rPr sz="1600" i="0">
                <a:solidFill>
                  <a:srgbClr val="AEB6BF"/>
                </a:solidFill>
                <a:latin typeface="Consolas"/>
              </a:rPr>
              <a:t>.</a:t>
            </a:r>
            <a:r>
              <a:rPr sz="1600" i="0">
                <a:solidFill>
                  <a:srgbClr val="E8EDF2"/>
                </a:solidFill>
                <a:latin typeface="Consolas"/>
              </a:rPr>
              <a:t>append</a:t>
            </a:r>
            <a:r>
              <a:rPr sz="1600" i="0">
                <a:solidFill>
                  <a:srgbClr val="AEB6BF"/>
                </a:solidFill>
                <a:latin typeface="Consolas"/>
              </a:rPr>
              <a:t>(</a:t>
            </a:r>
            <a:r>
              <a:rPr sz="1600" i="0">
                <a:solidFill>
                  <a:srgbClr val="E8EDF2"/>
                </a:solidFill>
                <a:latin typeface="Consolas"/>
              </a:rPr>
              <a:t>Ticket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tid</a:t>
            </a:r>
            <a:r>
              <a:rPr sz="1600" i="0">
                <a:solidFill>
                  <a:srgbClr val="AEB6BF"/>
                </a:solidFill>
                <a:latin typeface="Consolas"/>
              </a:rPr>
              <a:t>=</a:t>
            </a:r>
            <a:r>
              <a:rPr sz="1600" i="0">
                <a:solidFill>
                  <a:srgbClr val="E8EDF2"/>
                </a:solidFill>
                <a:latin typeface="Consolas"/>
              </a:rPr>
              <a:t>tid</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hour</a:t>
            </a:r>
            <a:r>
              <a:rPr sz="1600" i="0">
                <a:solidFill>
                  <a:srgbClr val="AEB6BF"/>
                </a:solidFill>
                <a:latin typeface="Consolas"/>
              </a:rPr>
              <a:t>=</a:t>
            </a:r>
            <a:r>
              <a:rPr sz="1600" i="0">
                <a:solidFill>
                  <a:srgbClr val="F7DC6F"/>
                </a:solidFill>
                <a:latin typeface="Consolas"/>
              </a:rPr>
              <a:t>21</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tid</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10</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severity</a:t>
            </a:r>
            <a:r>
              <a:rPr sz="1600" i="0">
                <a:solidFill>
                  <a:srgbClr val="AEB6BF"/>
                </a:solidFill>
                <a:latin typeface="Consolas"/>
              </a:rPr>
              <a:t>=</a:t>
            </a:r>
            <a:r>
              <a:rPr sz="1600" i="0">
                <a:solidFill>
                  <a:srgbClr val="E8EDF2"/>
                </a:solidFill>
                <a:latin typeface="Consolas"/>
              </a:rPr>
              <a:t>random</a:t>
            </a:r>
            <a:r>
              <a:rPr sz="1600" i="0">
                <a:solidFill>
                  <a:srgbClr val="AEB6BF"/>
                </a:solidFill>
                <a:latin typeface="Consolas"/>
              </a:rPr>
              <a:t>.</a:t>
            </a:r>
            <a:r>
              <a:rPr sz="1600" i="0">
                <a:solidFill>
                  <a:srgbClr val="E8EDF2"/>
                </a:solidFill>
                <a:latin typeface="Consolas"/>
              </a:rPr>
              <a:t>choice</a:t>
            </a:r>
            <a:r>
              <a:rPr sz="1600" i="0">
                <a:solidFill>
                  <a:srgbClr val="AEB6BF"/>
                </a:solidFill>
                <a:latin typeface="Consolas"/>
              </a:rPr>
              <a: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major</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minor</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minor</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hours_to_breach</a:t>
            </a:r>
            <a:r>
              <a:rPr sz="1600" i="0">
                <a:solidFill>
                  <a:srgbClr val="AEB6BF"/>
                </a:solidFill>
                <a:latin typeface="Consolas"/>
              </a:rPr>
              <a:t>=</a:t>
            </a:r>
            <a:r>
              <a:rPr sz="1600" i="0">
                <a:solidFill>
                  <a:srgbClr val="E8EDF2"/>
                </a:solidFill>
                <a:latin typeface="Consolas"/>
              </a:rPr>
              <a:t>random</a:t>
            </a:r>
            <a:r>
              <a:rPr sz="1600" i="0">
                <a:solidFill>
                  <a:srgbClr val="AEB6BF"/>
                </a:solidFill>
                <a:latin typeface="Consolas"/>
              </a:rPr>
              <a:t>.</a:t>
            </a:r>
            <a:r>
              <a:rPr sz="1600" i="0">
                <a:solidFill>
                  <a:srgbClr val="E8EDF2"/>
                </a:solidFill>
                <a:latin typeface="Consolas"/>
              </a:rPr>
              <a:t>choice</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2</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4</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8</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12</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out</a:t>
            </a:r>
          </a:p>
          <a:p>
            <a:pPr>
              <a:lnSpc>
                <a:spcPct val="100000"/>
              </a:lnSpc>
              <a:spcAft>
                <a:spcPts val="0"/>
              </a:spcAft>
            </a:pPr>
            <a:r>
              <a:rPr sz="1600">
                <a:latin typeface="Consolas"/>
              </a:rPr>
              <a:t> </a:t>
            </a:r>
          </a:p>
          <a:p>
            <a:pPr>
              <a:lnSpc>
                <a:spcPct val="100000"/>
              </a:lnSpc>
              <a:spcAft>
                <a:spcPts val="0"/>
              </a:spcAft>
            </a:pPr>
            <a:r>
              <a:rPr sz="1600">
                <a:latin typeface="Consolas"/>
              </a:rPr>
              <a:t> </a:t>
            </a:r>
          </a:p>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simple_reflex</a:t>
            </a:r>
            <a:r>
              <a:rPr sz="1600" i="0">
                <a:solidFill>
                  <a:srgbClr val="AEB6BF"/>
                </a:solidFill>
                <a:latin typeface="Consolas"/>
              </a:rPr>
              <a:t>(</a:t>
            </a:r>
            <a:r>
              <a:rPr sz="1600" i="0">
                <a:solidFill>
                  <a:srgbClr val="E8EDF2"/>
                </a:solidFill>
                <a:latin typeface="Consolas"/>
              </a:rPr>
              <a:t>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state</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"""Condition-action rules on the current percept only."""</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t</a:t>
            </a:r>
            <a:r>
              <a:rPr sz="1600" i="0">
                <a:solidFill>
                  <a:srgbClr val="AEB6BF"/>
                </a:solidFill>
                <a:latin typeface="Consolas"/>
              </a:rPr>
              <a:t>.</a:t>
            </a:r>
            <a:r>
              <a:rPr sz="1600" i="0">
                <a:solidFill>
                  <a:srgbClr val="E8EDF2"/>
                </a:solidFill>
                <a:latin typeface="Consolas"/>
              </a:rPr>
              <a:t>hours_to_breach</a:t>
            </a:r>
            <a:r>
              <a:rPr sz="1600" i="0">
                <a:solidFill>
                  <a:srgbClr val="E8EDF2"/>
                </a:solidFill>
                <a:latin typeface="Consolas"/>
              </a:rPr>
              <a:t> </a:t>
            </a:r>
            <a:r>
              <a:rPr sz="1600" i="0">
                <a:solidFill>
                  <a:srgbClr val="AEB6BF"/>
                </a:solidFill>
                <a:latin typeface="Consolas"/>
              </a:rPr>
              <a:t>&lt;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4</a:t>
            </a:r>
            <a:r>
              <a:rPr sz="1600" i="0">
                <a:solidFill>
                  <a:srgbClr val="E8EDF2"/>
                </a:solidFill>
                <a:latin typeface="Consolas"/>
              </a:rPr>
              <a:t> </a:t>
            </a:r>
            <a:r>
              <a:rPr sz="1600" i="0">
                <a:solidFill>
                  <a:srgbClr val="AEB6BF"/>
                </a:solidFill>
                <a:latin typeface="Consolas"/>
              </a:rPr>
              <a:t>or</a:t>
            </a:r>
            <a:r>
              <a:rPr sz="1600" i="0">
                <a:solidFill>
                  <a:srgbClr val="E8EDF2"/>
                </a:solidFill>
                <a:latin typeface="Consolas"/>
              </a:rPr>
              <a:t> </a:t>
            </a:r>
            <a:r>
              <a:rPr sz="1600" i="0">
                <a:solidFill>
                  <a:srgbClr val="E8EDF2"/>
                </a:solidFill>
                <a:latin typeface="Consolas"/>
              </a:rPr>
              <a:t>t</a:t>
            </a:r>
            <a:r>
              <a:rPr sz="1600" i="0">
                <a:solidFill>
                  <a:srgbClr val="AEB6BF"/>
                </a:solidFill>
                <a:latin typeface="Consolas"/>
              </a:rPr>
              <a:t>.</a:t>
            </a:r>
            <a:r>
              <a:rPr sz="1600" i="0">
                <a:solidFill>
                  <a:srgbClr val="E8EDF2"/>
                </a:solidFill>
                <a:latin typeface="Consolas"/>
              </a:rPr>
              <a:t>severity</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major</a:t>
            </a:r>
            <a:r>
              <a:rPr sz="1600" i="0">
                <a:solidFill>
                  <a:srgbClr val="7DCEA0"/>
                </a:solidFill>
                <a:latin typeface="Consolas"/>
              </a:rPr>
              <a:t>"</a:t>
            </a:r>
          </a:p>
        </p:txBody>
      </p:sp>
      <p:sp>
        <p:nvSpPr>
          <p:cNvPr id="14" name="!!code-num"/>
          <p:cNvSpPr txBox="1"/>
          <p:nvPr/>
        </p:nvSpPr>
        <p:spPr>
          <a:xfrm>
            <a:off x="768096" y="2066543"/>
            <a:ext cx="393192" cy="401116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24</a:t>
            </a:r>
          </a:p>
          <a:p>
            <a:pPr algn="r">
              <a:lnSpc>
                <a:spcPct val="100000"/>
              </a:lnSpc>
            </a:pPr>
            <a:r>
              <a:rPr sz="1600">
                <a:solidFill>
                  <a:srgbClr val="4F5D6A"/>
                </a:solidFill>
                <a:latin typeface="Consolas"/>
              </a:rPr>
              <a:t>25</a:t>
            </a:r>
          </a:p>
          <a:p>
            <a:pPr algn="r">
              <a:lnSpc>
                <a:spcPct val="100000"/>
              </a:lnSpc>
            </a:pPr>
            <a:r>
              <a:rPr sz="1600">
                <a:solidFill>
                  <a:srgbClr val="4F5D6A"/>
                </a:solidFill>
                <a:latin typeface="Consolas"/>
              </a:rPr>
              <a:t>26</a:t>
            </a:r>
          </a:p>
          <a:p>
            <a:pPr algn="r">
              <a:lnSpc>
                <a:spcPct val="100000"/>
              </a:lnSpc>
            </a:pPr>
            <a:r>
              <a:rPr sz="1600">
                <a:solidFill>
                  <a:srgbClr val="4F5D6A"/>
                </a:solidFill>
                <a:latin typeface="Consolas"/>
              </a:rPr>
              <a:t>27</a:t>
            </a:r>
          </a:p>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a:p>
            <a:pPr algn="r">
              <a:lnSpc>
                <a:spcPct val="100000"/>
              </a:lnSpc>
            </a:pPr>
            <a:r>
              <a:rPr sz="1600">
                <a:solidFill>
                  <a:srgbClr val="4F5D6A"/>
                </a:solidFill>
                <a:latin typeface="Consolas"/>
              </a:rPr>
              <a:t>30</a:t>
            </a:r>
          </a:p>
          <a:p>
            <a:pPr algn="r">
              <a:lnSpc>
                <a:spcPct val="100000"/>
              </a:lnSpc>
            </a:pPr>
            <a:r>
              <a:rPr sz="1600">
                <a:solidFill>
                  <a:srgbClr val="4F5D6A"/>
                </a:solidFill>
                <a:latin typeface="Consolas"/>
              </a:rPr>
              <a:t>31</a:t>
            </a:r>
          </a:p>
          <a:p>
            <a:pPr algn="r">
              <a:lnSpc>
                <a:spcPct val="100000"/>
              </a:lnSpc>
            </a:pPr>
            <a:r>
              <a:rPr sz="1600">
                <a:solidFill>
                  <a:srgbClr val="4F5D6A"/>
                </a:solidFill>
                <a:latin typeface="Consolas"/>
              </a:rPr>
              <a:t>32</a:t>
            </a:r>
          </a:p>
          <a:p>
            <a:pPr algn="r">
              <a:lnSpc>
                <a:spcPct val="100000"/>
              </a:lnSpc>
            </a:pPr>
            <a:r>
              <a:rPr sz="1600">
                <a:solidFill>
                  <a:srgbClr val="4F5D6A"/>
                </a:solidFill>
                <a:latin typeface="Consolas"/>
              </a:rPr>
              <a:t>33</a:t>
            </a:r>
          </a:p>
          <a:p>
            <a:pPr algn="r">
              <a:lnSpc>
                <a:spcPct val="100000"/>
              </a:lnSpc>
            </a:pPr>
            <a:r>
              <a:rPr sz="1600">
                <a:solidFill>
                  <a:srgbClr val="4F5D6A"/>
                </a:solidFill>
                <a:latin typeface="Consolas"/>
              </a:rPr>
              <a:t>34</a:t>
            </a:r>
          </a:p>
          <a:p>
            <a:pPr algn="r">
              <a:lnSpc>
                <a:spcPct val="100000"/>
              </a:lnSpc>
            </a:pPr>
            <a:r>
              <a:rPr sz="1600">
                <a:solidFill>
                  <a:srgbClr val="4F5D6A"/>
                </a:solidFill>
                <a:latin typeface="Consolas"/>
              </a:rPr>
              <a:t>35</a:t>
            </a:r>
          </a:p>
          <a:p>
            <a:pPr algn="r">
              <a:lnSpc>
                <a:spcPct val="100000"/>
              </a:lnSpc>
            </a:pPr>
            <a:r>
              <a:rPr sz="1600">
                <a:solidFill>
                  <a:srgbClr val="4F5D6A"/>
                </a:solidFill>
                <a:latin typeface="Consolas"/>
              </a:rPr>
              <a:t>36</a:t>
            </a:r>
          </a:p>
          <a:p>
            <a:pPr algn="r">
              <a:lnSpc>
                <a:spcPct val="100000"/>
              </a:lnSpc>
            </a:pPr>
            <a:r>
              <a:rPr sz="1600">
                <a:solidFill>
                  <a:srgbClr val="4F5D6A"/>
                </a:solidFill>
                <a:latin typeface="Consolas"/>
              </a:rPr>
              <a:t>37</a:t>
            </a:r>
          </a:p>
          <a:p>
            <a:pPr algn="r">
              <a:lnSpc>
                <a:spcPct val="100000"/>
              </a:lnSpc>
            </a:pPr>
            <a:r>
              <a:rPr sz="1600">
                <a:solidFill>
                  <a:srgbClr val="4F5D6A"/>
                </a:solidFill>
                <a:latin typeface="Consolas"/>
              </a:rPr>
              <a:t>38</a:t>
            </a:r>
          </a:p>
          <a:p>
            <a:pPr algn="r">
              <a:lnSpc>
                <a:spcPct val="100000"/>
              </a:lnSpc>
            </a:pPr>
            <a:r>
              <a:rPr sz="1600">
                <a:solidFill>
                  <a:srgbClr val="4F5D6A"/>
                </a:solidFill>
                <a:latin typeface="Consolas"/>
              </a:rPr>
              <a:t>39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8CD72182-D53E-429D-8EFC-6D062904555F}" type="slidenum">
              <a:rPr lang="en-GB" sz="1000">
                <a:solidFill>
                  <a:srgbClr val="8795A1"/>
                </a:solidFill>
                <a:latin typeface="Segoe UI"/>
              </a:rPr>
              <a:t>25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def model_based(t, state): &quot;&quot;&quot;Same rules, plus a model of what has already been spent. state[&quot;wakes&quot;] is not in any percept: the agent maintains it. &quot;&quot;&quot; if state[&quot;wakes&quot;] &gt;= WAKE_LIMIT: # budget gone: escalate only what will certainly breach badly return t.severity == &quot;major&quot; and t.hours_to_breach &lt;= 2 if t.hours_to_breach &gt; 10: return False # cannot breach tonight; defer return t.hours_to_breach &lt;= 4 or t.severity == &quot;major&quot;"/>
          <p:cNvSpPr txBox="1"/>
          <p:nvPr/>
        </p:nvSpPr>
        <p:spPr>
          <a:xfrm>
            <a:off x="1362456" y="2066543"/>
            <a:ext cx="9987991" cy="329488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model_based</a:t>
            </a:r>
            <a:r>
              <a:rPr sz="1900" i="0">
                <a:solidFill>
                  <a:srgbClr val="AEB6BF"/>
                </a:solidFill>
                <a:latin typeface="Consolas"/>
              </a:rPr>
              <a:t>(</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state</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"""Same rules, plus a model of what has already been spent.</a:t>
            </a:r>
          </a:p>
          <a:p>
            <a:pPr>
              <a:lnSpc>
                <a:spcPct val="100000"/>
              </a:lnSpc>
              <a:spcAft>
                <a:spcPts val="0"/>
              </a:spcAft>
            </a:pPr>
            <a:r>
              <a:rPr sz="1900">
                <a:latin typeface="Consolas"/>
              </a:rPr>
              <a:t> </a:t>
            </a:r>
          </a:p>
          <a:p>
            <a:pPr>
              <a:lnSpc>
                <a:spcPct val="100000"/>
              </a:lnSpc>
              <a:spcAft>
                <a:spcPts val="0"/>
              </a:spcAft>
            </a:pPr>
            <a:r>
              <a:rPr sz="1900" i="0">
                <a:solidFill>
                  <a:srgbClr val="7DCEA0"/>
                </a:solidFill>
                <a:latin typeface="Consolas"/>
              </a:rPr>
              <a:t>    state["wakes"] is not in any percept: the agent maintains it.</a:t>
            </a:r>
          </a:p>
          <a:p>
            <a:pPr>
              <a:lnSpc>
                <a:spcPct val="100000"/>
              </a:lnSpc>
              <a:spcAft>
                <a:spcPts val="0"/>
              </a:spcAft>
            </a:pPr>
            <a:r>
              <a:rPr sz="1900" i="0">
                <a:solidFill>
                  <a:srgbClr val="7DCEA0"/>
                </a:solidFill>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state</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wakes</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&gt;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WAKE_LIMIT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1">
                <a:solidFill>
                  <a:srgbClr val="8795A1"/>
                </a:solidFill>
                <a:latin typeface="Consolas"/>
              </a:rPr>
              <a:t># budget gone: escalate only what will certainly breach badly</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severity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major</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hours_to_breach</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hours_to_breach</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F7DC6F"/>
                </a:solidFill>
                <a:latin typeface="Consolas"/>
              </a:rPr>
              <a:t>10</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5DADE2"/>
                </a:solidFill>
                <a:latin typeface="Consolas"/>
              </a:rPr>
              <a:t>False</a:t>
            </a:r>
            <a:r>
              <a:rPr sz="1900" i="0">
                <a:solidFill>
                  <a:srgbClr val="E8EDF2"/>
                </a:solidFill>
                <a:latin typeface="Consolas"/>
              </a:rPr>
              <a:t>                    </a:t>
            </a:r>
            <a:r>
              <a:rPr sz="1900" i="1">
                <a:solidFill>
                  <a:srgbClr val="8795A1"/>
                </a:solidFill>
                <a:latin typeface="Consolas"/>
              </a:rPr>
              <a:t># cannot breach tonight; defer</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hours_to_breach</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4</a:t>
            </a:r>
            <a:r>
              <a:rPr sz="1900" i="0">
                <a:solidFill>
                  <a:srgbClr val="E8EDF2"/>
                </a:solidFill>
                <a:latin typeface="Consolas"/>
              </a:rPr>
              <a:t> </a:t>
            </a:r>
            <a:r>
              <a:rPr sz="1900" i="0">
                <a:solidFill>
                  <a:srgbClr val="AEB6BF"/>
                </a:solidFill>
                <a:latin typeface="Consolas"/>
              </a:rPr>
              <a:t>or</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severity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major</a:t>
            </a:r>
            <a:r>
              <a:rPr sz="1900" i="0">
                <a:solidFill>
                  <a:srgbClr val="7DCEA0"/>
                </a:solidFill>
                <a:latin typeface="Consolas"/>
              </a:rPr>
              <a:t>"</a:t>
            </a:r>
          </a:p>
        </p:txBody>
      </p:sp>
      <p:sp>
        <p:nvSpPr>
          <p:cNvPr id="14" name="!!code-num"/>
          <p:cNvSpPr txBox="1"/>
          <p:nvPr/>
        </p:nvSpPr>
        <p:spPr>
          <a:xfrm>
            <a:off x="768096" y="2066543"/>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5E26A93F-AF88-41EE-8C7C-BAD2A2E8B0BF}"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def run(agent, tickets): &quot;&quot;&quot;One night. The environment, not the agent, decides what an escalation achieves: past WAKE_LIMIT the engineer is too tired to fix anything, but the sleep is lost all the same. &quot;&quot;&quot; state = {&quot;wakes&quot;: 0} breach = sleep = waste = woke = 0 for t in tickets: act = agent(t, state) fixed = False if act: state[&quot;wakes&quot;] += 1 woke += 1 sleep += SLEEP if state[&quot;wakes&quot;] &lt;= WAKE_LIMIT: fixed = True # still sharp enough to help if t.hours_to_breach &gt; 10: waste += UNNECESSARY # would not have breached tonight if not fixed and t.hours_to_breach &lt;= 10: breach += COST[t.severity]"/>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run</a:t>
            </a:r>
            <a:r>
              <a:rPr sz="1300" i="0">
                <a:solidFill>
                  <a:srgbClr val="AEB6BF"/>
                </a:solidFill>
                <a:latin typeface="Consolas"/>
              </a:rPr>
              <a:t>(</a:t>
            </a:r>
            <a:r>
              <a:rPr sz="1300" i="0">
                <a:solidFill>
                  <a:srgbClr val="E8EDF2"/>
                </a:solidFill>
                <a:latin typeface="Consolas"/>
              </a:rPr>
              <a:t>agent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tickets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"""One night. The environment, not the agent, decides what an</a:t>
            </a:r>
          </a:p>
          <a:p>
            <a:pPr>
              <a:lnSpc>
                <a:spcPct val="100000"/>
              </a:lnSpc>
              <a:spcAft>
                <a:spcPts val="0"/>
              </a:spcAft>
            </a:pPr>
            <a:r>
              <a:rPr sz="1300" i="0">
                <a:solidFill>
                  <a:srgbClr val="7DCEA0"/>
                </a:solidFill>
                <a:latin typeface="Consolas"/>
              </a:rPr>
              <a:t>    escalation achieves: past WAKE_LIMIT the engineer is too tired to</a:t>
            </a:r>
          </a:p>
          <a:p>
            <a:pPr>
              <a:lnSpc>
                <a:spcPct val="100000"/>
              </a:lnSpc>
              <a:spcAft>
                <a:spcPts val="0"/>
              </a:spcAft>
            </a:pPr>
            <a:r>
              <a:rPr sz="1300" i="0">
                <a:solidFill>
                  <a:srgbClr val="7DCEA0"/>
                </a:solidFill>
                <a:latin typeface="Consolas"/>
              </a:rPr>
              <a:t>    fix anything, but the sleep is lost all the same.</a:t>
            </a:r>
          </a:p>
          <a:p>
            <a:pPr>
              <a:lnSpc>
                <a:spcPct val="100000"/>
              </a:lnSpc>
              <a:spcAft>
                <a:spcPts val="0"/>
              </a:spcAft>
            </a:pPr>
            <a:r>
              <a:rPr sz="1300" i="0">
                <a:solidFill>
                  <a:srgbClr val="7DCEA0"/>
                </a:solidFill>
                <a:latin typeface="Consolas"/>
              </a:rPr>
              <a:t>    """</a:t>
            </a:r>
          </a:p>
          <a:p>
            <a:pPr>
              <a:lnSpc>
                <a:spcPct val="100000"/>
              </a:lnSpc>
              <a:spcAft>
                <a:spcPts val="0"/>
              </a:spcAft>
            </a:pPr>
            <a:r>
              <a:rPr sz="1300" i="0">
                <a:solidFill>
                  <a:srgbClr val="E8EDF2"/>
                </a:solidFill>
                <a:latin typeface="Consolas"/>
              </a:rPr>
              <a:t>    </a:t>
            </a:r>
            <a:r>
              <a:rPr sz="1300" i="0">
                <a:solidFill>
                  <a:srgbClr val="E8EDF2"/>
                </a:solidFill>
                <a:latin typeface="Consolas"/>
              </a:rPr>
              <a:t>state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wakes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breach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sleep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waste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woke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tickets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act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agent</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fixed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False</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act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wakes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E8EDF2"/>
                </a:solidFill>
                <a:latin typeface="Consolas"/>
              </a:rPr>
              <a:t>woke</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E8EDF2"/>
                </a:solidFill>
                <a:latin typeface="Consolas"/>
              </a:rPr>
              <a:t>sleep</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SLEEP</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wakes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WAKE_LIMIT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fixed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True</a:t>
            </a:r>
            <a:r>
              <a:rPr sz="1300" i="0">
                <a:solidFill>
                  <a:srgbClr val="E8EDF2"/>
                </a:solidFill>
                <a:latin typeface="Consolas"/>
              </a:rPr>
              <a:t>            </a:t>
            </a:r>
            <a:r>
              <a:rPr sz="1300" i="1">
                <a:solidFill>
                  <a:srgbClr val="8795A1"/>
                </a:solidFill>
                <a:latin typeface="Consolas"/>
              </a:rPr>
              <a:t># still sharp enough to help</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t</a:t>
            </a:r>
            <a:r>
              <a:rPr sz="1300" i="0">
                <a:solidFill>
                  <a:srgbClr val="AEB6BF"/>
                </a:solidFill>
                <a:latin typeface="Consolas"/>
              </a:rPr>
              <a:t>.</a:t>
            </a:r>
            <a:r>
              <a:rPr sz="1300" i="0">
                <a:solidFill>
                  <a:srgbClr val="E8EDF2"/>
                </a:solidFill>
                <a:latin typeface="Consolas"/>
              </a:rPr>
              <a:t>hours_to_breach</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10</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waste</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UNNECESSARY</a:t>
            </a:r>
            <a:r>
              <a:rPr sz="1300" i="0">
                <a:solidFill>
                  <a:srgbClr val="E8EDF2"/>
                </a:solidFill>
                <a:latin typeface="Consolas"/>
              </a:rPr>
              <a:t>    </a:t>
            </a:r>
            <a:r>
              <a:rPr sz="1300" i="1">
                <a:solidFill>
                  <a:srgbClr val="8795A1"/>
                </a:solidFill>
                <a:latin typeface="Consolas"/>
              </a:rPr>
              <a:t># would not have breached tonight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E8EDF2"/>
                </a:solidFill>
                <a:latin typeface="Consolas"/>
              </a:rPr>
              <a:t>fixed</a:t>
            </a:r>
            <a:r>
              <a:rPr sz="1300" i="0">
                <a:solidFill>
                  <a:srgbClr val="E8EDF2"/>
                </a:solidFill>
                <a:latin typeface="Consolas"/>
              </a:rPr>
              <a:t> </a:t>
            </a:r>
            <a:r>
              <a:rPr sz="1300" i="0">
                <a:solidFill>
                  <a:srgbClr val="AEB6BF"/>
                </a:solidFill>
                <a:latin typeface="Consolas"/>
              </a:rPr>
              <a:t>and</a:t>
            </a:r>
            <a:r>
              <a:rPr sz="1300" i="0">
                <a:solidFill>
                  <a:srgbClr val="E8EDF2"/>
                </a:solidFill>
                <a:latin typeface="Consolas"/>
              </a:rPr>
              <a:t> </a:t>
            </a:r>
            <a:r>
              <a:rPr sz="1300" i="0">
                <a:solidFill>
                  <a:srgbClr val="E8EDF2"/>
                </a:solidFill>
                <a:latin typeface="Consolas"/>
              </a:rPr>
              <a:t>t</a:t>
            </a:r>
            <a:r>
              <a:rPr sz="1300" i="0">
                <a:solidFill>
                  <a:srgbClr val="AEB6BF"/>
                </a:solidFill>
                <a:latin typeface="Consolas"/>
              </a:rPr>
              <a:t>.</a:t>
            </a:r>
            <a:r>
              <a:rPr sz="1300" i="0">
                <a:solidFill>
                  <a:srgbClr val="E8EDF2"/>
                </a:solidFill>
                <a:latin typeface="Consolas"/>
              </a:rPr>
              <a:t>hours_to_breach</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breach</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COST</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E8EDF2"/>
                </a:solidFill>
                <a:latin typeface="Consolas"/>
              </a:rPr>
              <a:t>severity</a:t>
            </a:r>
            <a:r>
              <a:rPr sz="1300" i="0">
                <a:solidFill>
                  <a:srgbClr val="AEB6BF"/>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55</a:t>
            </a:r>
          </a:p>
          <a:p>
            <a:pPr algn="r">
              <a:lnSpc>
                <a:spcPct val="100000"/>
              </a:lnSpc>
            </a:pPr>
            <a:r>
              <a:rPr sz="1300">
                <a:solidFill>
                  <a:srgbClr val="4F5D6A"/>
                </a:solidFill>
                <a:latin typeface="Consolas"/>
              </a:rPr>
              <a:t>56</a:t>
            </a:r>
          </a:p>
          <a:p>
            <a:pPr algn="r">
              <a:lnSpc>
                <a:spcPct val="100000"/>
              </a:lnSpc>
            </a:pPr>
            <a:r>
              <a:rPr sz="1300">
                <a:solidFill>
                  <a:srgbClr val="4F5D6A"/>
                </a:solidFill>
                <a:latin typeface="Consolas"/>
              </a:rPr>
              <a:t>57</a:t>
            </a:r>
          </a:p>
          <a:p>
            <a:pPr algn="r">
              <a:lnSpc>
                <a:spcPct val="100000"/>
              </a:lnSpc>
            </a:pPr>
            <a:r>
              <a:rPr sz="1300">
                <a:solidFill>
                  <a:srgbClr val="4F5D6A"/>
                </a:solidFill>
                <a:latin typeface="Consolas"/>
              </a:rPr>
              <a:t>58</a:t>
            </a:r>
          </a:p>
          <a:p>
            <a:pPr algn="r">
              <a:lnSpc>
                <a:spcPct val="100000"/>
              </a:lnSpc>
            </a:pPr>
            <a:r>
              <a:rPr sz="1300">
                <a:solidFill>
                  <a:srgbClr val="4F5D6A"/>
                </a:solidFill>
                <a:latin typeface="Consolas"/>
              </a:rPr>
              <a:t>59</a:t>
            </a:r>
          </a:p>
          <a:p>
            <a:pPr algn="r">
              <a:lnSpc>
                <a:spcPct val="100000"/>
              </a:lnSpc>
            </a:pPr>
            <a:r>
              <a:rPr sz="1300">
                <a:solidFill>
                  <a:srgbClr val="4F5D6A"/>
                </a:solidFill>
                <a:latin typeface="Consolas"/>
              </a:rPr>
              <a:t>60</a:t>
            </a:r>
          </a:p>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a:p>
            <a:pPr algn="r">
              <a:lnSpc>
                <a:spcPct val="100000"/>
              </a:lnSpc>
            </a:pPr>
            <a:r>
              <a:rPr sz="1300">
                <a:solidFill>
                  <a:srgbClr val="4F5D6A"/>
                </a:solidFill>
                <a:latin typeface="Consolas"/>
              </a:rPr>
              <a:t>71</a:t>
            </a:r>
          </a:p>
          <a:p>
            <a:pPr algn="r">
              <a:lnSpc>
                <a:spcPct val="100000"/>
              </a:lnSpc>
            </a:pPr>
            <a:r>
              <a:rPr sz="1300">
                <a:solidFill>
                  <a:srgbClr val="4F5D6A"/>
                </a:solidFill>
                <a:latin typeface="Consolas"/>
              </a:rPr>
              <a:t>72</a:t>
            </a:r>
          </a:p>
          <a:p>
            <a:pPr algn="r">
              <a:lnSpc>
                <a:spcPct val="100000"/>
              </a:lnSpc>
            </a:pPr>
            <a:r>
              <a:rPr sz="1300">
                <a:solidFill>
                  <a:srgbClr val="4F5D6A"/>
                </a:solidFill>
                <a:latin typeface="Consolas"/>
              </a:rPr>
              <a:t>73</a:t>
            </a:r>
          </a:p>
          <a:p>
            <a:pPr algn="r">
              <a:lnSpc>
                <a:spcPct val="100000"/>
              </a:lnSpc>
            </a:pPr>
            <a:r>
              <a:rPr sz="1300">
                <a:solidFill>
                  <a:srgbClr val="4F5D6A"/>
                </a:solidFill>
                <a:latin typeface="Consolas"/>
              </a:rPr>
              <a:t>74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4846A58B-C378-4824-A33C-0E22661D2C1A}"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908303"/>
          </a:xfrm>
          <a:prstGeom prst="roundRect">
            <a:avLst>
              <a:gd name="adj" fmla="val 100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return breach + sleep + waste, breach, sleep + waste, woke"/>
          <p:cNvSpPr txBox="1"/>
          <p:nvPr/>
        </p:nvSpPr>
        <p:spPr>
          <a:xfrm>
            <a:off x="1362456" y="2066543"/>
            <a:ext cx="9987991" cy="4145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breach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sleep</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waste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breach</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sleep</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waste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woke</a:t>
            </a:r>
          </a:p>
        </p:txBody>
      </p:sp>
      <p:sp>
        <p:nvSpPr>
          <p:cNvPr id="14" name="!!code-num"/>
          <p:cNvSpPr txBox="1"/>
          <p:nvPr/>
        </p:nvSpPr>
        <p:spPr>
          <a:xfrm>
            <a:off x="768096" y="2066543"/>
            <a:ext cx="393192" cy="414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75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5996D568-B180-4E81-81DD-46241472A3DE}"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657344"/>
          </a:xfrm>
          <a:prstGeom prst="roundRect">
            <a:avLst>
              <a:gd name="adj" fmla="val 19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if __name__ == &quot;__main__&quot;: tickets = night() print(&quot;tickets:&quot;, len(tickets), &quot; major:&quot;, sum(1 for t in tickets if t.severity == &quot;major&quot;), &quot; wake limit:&quot;, WAKE_LIMIT) print() print(&quot;agent total breaches on-call escalations&quot;) print(&quot;-&quot; * 58) rows = {} for name, agent in ((&quot;simple reflex&quot;, simple_reflex), (&quot;model-based &quot;, model_based)): rows[name.strip()] = run(agent, tickets) tot, br, oc, woke = rows[name.strip()] print(&quot;%-16s %6d %10d %9d %13d&quot; % (name, tot, br, oc, woke))"/>
          <p:cNvSpPr txBox="1"/>
          <p:nvPr/>
        </p:nvSpPr>
        <p:spPr>
          <a:xfrm>
            <a:off x="1362456" y="2066543"/>
            <a:ext cx="9987991" cy="4163568"/>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__name__</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__main__</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tickets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night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tickets:</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tickets</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 major:</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sum</a:t>
            </a:r>
            <a:r>
              <a:rPr sz="1900" i="0">
                <a:solidFill>
                  <a:srgbClr val="AEB6BF"/>
                </a:solidFill>
                <a:latin typeface="Consolas"/>
              </a:rPr>
              <a:t>(</a:t>
            </a:r>
            <a:r>
              <a:rPr sz="1900" i="0">
                <a:solidFill>
                  <a:srgbClr val="F7DC6F"/>
                </a:solidFill>
                <a:latin typeface="Consolas"/>
              </a:rPr>
              <a:t>1</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tickets</a:t>
            </a: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severity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major</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 wake limit:</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WAKE_LIMIT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agent             total   breaches   on-call   escalations</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58</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rows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name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agent</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simple reflex</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simple_reflex</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model-based  </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model_based</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rows</a:t>
            </a:r>
            <a:r>
              <a:rPr sz="1900" i="0">
                <a:solidFill>
                  <a:srgbClr val="AEB6BF"/>
                </a:solidFill>
                <a:latin typeface="Consolas"/>
              </a:rPr>
              <a:t>[</a:t>
            </a:r>
            <a:r>
              <a:rPr sz="1900" i="0">
                <a:solidFill>
                  <a:srgbClr val="E8EDF2"/>
                </a:solidFill>
                <a:latin typeface="Consolas"/>
              </a:rPr>
              <a:t>name</a:t>
            </a:r>
            <a:r>
              <a:rPr sz="1900" i="0">
                <a:solidFill>
                  <a:srgbClr val="AEB6BF"/>
                </a:solidFill>
                <a:latin typeface="Consolas"/>
              </a:rPr>
              <a:t>.</a:t>
            </a:r>
            <a:r>
              <a:rPr sz="1900" i="0">
                <a:solidFill>
                  <a:srgbClr val="E8EDF2"/>
                </a:solidFill>
                <a:latin typeface="Consolas"/>
              </a:rPr>
              <a:t>strip</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run</a:t>
            </a:r>
            <a:r>
              <a:rPr sz="1900" i="0">
                <a:solidFill>
                  <a:srgbClr val="AEB6BF"/>
                </a:solidFill>
                <a:latin typeface="Consolas"/>
              </a:rPr>
              <a:t>(</a:t>
            </a:r>
            <a:r>
              <a:rPr sz="1900" i="0">
                <a:solidFill>
                  <a:srgbClr val="E8EDF2"/>
                </a:solidFill>
                <a:latin typeface="Consolas"/>
              </a:rPr>
              <a:t>agent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tickets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tot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br</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oc</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woke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rows</a:t>
            </a:r>
            <a:r>
              <a:rPr sz="1900" i="0">
                <a:solidFill>
                  <a:srgbClr val="AEB6BF"/>
                </a:solidFill>
                <a:latin typeface="Consolas"/>
              </a:rPr>
              <a:t>[</a:t>
            </a:r>
            <a:r>
              <a:rPr sz="1900" i="0">
                <a:solidFill>
                  <a:srgbClr val="E8EDF2"/>
                </a:solidFill>
                <a:latin typeface="Consolas"/>
              </a:rPr>
              <a:t>name</a:t>
            </a:r>
            <a:r>
              <a:rPr sz="1900" i="0">
                <a:solidFill>
                  <a:srgbClr val="AEB6BF"/>
                </a:solidFill>
                <a:latin typeface="Consolas"/>
              </a:rPr>
              <a:t>.</a:t>
            </a:r>
            <a:r>
              <a:rPr sz="1900" i="0">
                <a:solidFill>
                  <a:srgbClr val="E8EDF2"/>
                </a:solidFill>
                <a:latin typeface="Consolas"/>
              </a:rPr>
              <a:t>strip</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%-16s</a:t>
            </a:r>
            <a:r>
              <a:rPr sz="1900" i="0">
                <a:solidFill>
                  <a:srgbClr val="7DCEA0"/>
                </a:solidFill>
                <a:latin typeface="Consolas"/>
              </a:rPr>
              <a:t> </a:t>
            </a:r>
            <a:r>
              <a:rPr sz="1900" i="0">
                <a:solidFill>
                  <a:srgbClr val="7DCEA0"/>
                </a:solidFill>
                <a:latin typeface="Consolas"/>
              </a:rPr>
              <a:t>%6d</a:t>
            </a:r>
            <a:r>
              <a:rPr sz="1900" i="0">
                <a:solidFill>
                  <a:srgbClr val="7DCEA0"/>
                </a:solidFill>
                <a:latin typeface="Consolas"/>
              </a:rPr>
              <a:t> </a:t>
            </a:r>
            <a:r>
              <a:rPr sz="1900" i="0">
                <a:solidFill>
                  <a:srgbClr val="7DCEA0"/>
                </a:solidFill>
                <a:latin typeface="Consolas"/>
              </a:rPr>
              <a:t>%10d</a:t>
            </a:r>
            <a:r>
              <a:rPr sz="1900" i="0">
                <a:solidFill>
                  <a:srgbClr val="7DCEA0"/>
                </a:solidFill>
                <a:latin typeface="Consolas"/>
              </a:rPr>
              <a:t> </a:t>
            </a:r>
            <a:r>
              <a:rPr sz="1900" i="0">
                <a:solidFill>
                  <a:srgbClr val="7DCEA0"/>
                </a:solidFill>
                <a:latin typeface="Consolas"/>
              </a:rPr>
              <a:t>%9d</a:t>
            </a:r>
            <a:r>
              <a:rPr sz="1900" i="0">
                <a:solidFill>
                  <a:srgbClr val="7DCEA0"/>
                </a:solidFill>
                <a:latin typeface="Consolas"/>
              </a:rPr>
              <a:t> </a:t>
            </a:r>
            <a:r>
              <a:rPr sz="1900" i="0">
                <a:solidFill>
                  <a:srgbClr val="7DCEA0"/>
                </a:solidFill>
                <a:latin typeface="Consolas"/>
              </a:rPr>
              <a:t>%13d</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name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tot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br</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oc</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woke</a:t>
            </a:r>
            <a:r>
              <a:rPr sz="1900" i="0">
                <a:solidFill>
                  <a:srgbClr val="AEB6BF"/>
                </a:solidFill>
                <a:latin typeface="Consolas"/>
              </a:rPr>
              <a:t>)</a:t>
            </a:r>
            <a:r>
              <a:rPr sz="1900" i="0">
                <a:solidFill>
                  <a:srgbClr val="AEB6BF"/>
                </a:solidFill>
                <a:latin typeface="Consolas"/>
              </a:rPr>
              <a:t>)</a:t>
            </a:r>
          </a:p>
        </p:txBody>
      </p:sp>
      <p:sp>
        <p:nvSpPr>
          <p:cNvPr id="14" name="!!code-num"/>
          <p:cNvSpPr txBox="1"/>
          <p:nvPr/>
        </p:nvSpPr>
        <p:spPr>
          <a:xfrm>
            <a:off x="768096" y="2066543"/>
            <a:ext cx="393192" cy="41635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78</a:t>
            </a:r>
          </a:p>
          <a:p>
            <a:pPr algn="r">
              <a:lnSpc>
                <a:spcPct val="100000"/>
              </a:lnSpc>
            </a:pPr>
            <a:r>
              <a:rPr sz="1900">
                <a:solidFill>
                  <a:srgbClr val="4F5D6A"/>
                </a:solidFill>
                <a:latin typeface="Consolas"/>
              </a:rPr>
              <a:t>79</a:t>
            </a:r>
          </a:p>
          <a:p>
            <a:pPr algn="r">
              <a:lnSpc>
                <a:spcPct val="100000"/>
              </a:lnSpc>
            </a:pPr>
            <a:r>
              <a:rPr sz="1900">
                <a:solidFill>
                  <a:srgbClr val="4F5D6A"/>
                </a:solidFill>
                <a:latin typeface="Consolas"/>
              </a:rPr>
              <a:t>80</a:t>
            </a:r>
          </a:p>
          <a:p>
            <a:pPr algn="r">
              <a:lnSpc>
                <a:spcPct val="100000"/>
              </a:lnSpc>
            </a:pPr>
            <a:r>
              <a:rPr sz="1900">
                <a:solidFill>
                  <a:srgbClr val="4F5D6A"/>
                </a:solidFill>
                <a:latin typeface="Consolas"/>
              </a:rPr>
              <a:t>81</a:t>
            </a:r>
          </a:p>
          <a:p>
            <a:pPr algn="r">
              <a:lnSpc>
                <a:spcPct val="100000"/>
              </a:lnSpc>
            </a:pPr>
            <a:r>
              <a:rPr sz="1900">
                <a:solidFill>
                  <a:srgbClr val="4F5D6A"/>
                </a:solidFill>
                <a:latin typeface="Consolas"/>
              </a:rPr>
              <a:t>82</a:t>
            </a:r>
          </a:p>
          <a:p>
            <a:pPr algn="r">
              <a:lnSpc>
                <a:spcPct val="100000"/>
              </a:lnSpc>
            </a:pPr>
            <a:r>
              <a:rPr sz="1900">
                <a:solidFill>
                  <a:srgbClr val="4F5D6A"/>
                </a:solidFill>
                <a:latin typeface="Consolas"/>
              </a:rPr>
              <a:t>83</a:t>
            </a:r>
          </a:p>
          <a:p>
            <a:pPr algn="r">
              <a:lnSpc>
                <a:spcPct val="100000"/>
              </a:lnSpc>
            </a:pPr>
            <a:r>
              <a:rPr sz="1900">
                <a:solidFill>
                  <a:srgbClr val="4F5D6A"/>
                </a:solidFill>
                <a:latin typeface="Consolas"/>
              </a:rPr>
              <a:t>84</a:t>
            </a:r>
          </a:p>
          <a:p>
            <a:pPr algn="r">
              <a:lnSpc>
                <a:spcPct val="100000"/>
              </a:lnSpc>
            </a:pPr>
            <a:r>
              <a:rPr sz="1900">
                <a:solidFill>
                  <a:srgbClr val="4F5D6A"/>
                </a:solidFill>
                <a:latin typeface="Consolas"/>
              </a:rPr>
              <a:t>85</a:t>
            </a:r>
          </a:p>
          <a:p>
            <a:pPr algn="r">
              <a:lnSpc>
                <a:spcPct val="100000"/>
              </a:lnSpc>
            </a:pPr>
            <a:r>
              <a:rPr sz="1900">
                <a:solidFill>
                  <a:srgbClr val="4F5D6A"/>
                </a:solidFill>
                <a:latin typeface="Consolas"/>
              </a:rPr>
              <a:t>86</a:t>
            </a:r>
          </a:p>
          <a:p>
            <a:pPr algn="r">
              <a:lnSpc>
                <a:spcPct val="100000"/>
              </a:lnSpc>
            </a:pPr>
            <a:r>
              <a:rPr sz="1900">
                <a:solidFill>
                  <a:srgbClr val="4F5D6A"/>
                </a:solidFill>
                <a:latin typeface="Consolas"/>
              </a:rPr>
              <a:t>87</a:t>
            </a:r>
          </a:p>
          <a:p>
            <a:pPr algn="r">
              <a:lnSpc>
                <a:spcPct val="100000"/>
              </a:lnSpc>
            </a:pPr>
            <a:r>
              <a:rPr sz="1900">
                <a:solidFill>
                  <a:srgbClr val="4F5D6A"/>
                </a:solidFill>
                <a:latin typeface="Consolas"/>
              </a:rPr>
              <a:t>88</a:t>
            </a:r>
          </a:p>
          <a:p>
            <a:pPr algn="r">
              <a:lnSpc>
                <a:spcPct val="100000"/>
              </a:lnSpc>
            </a:pPr>
            <a:r>
              <a:rPr sz="1900">
                <a:solidFill>
                  <a:srgbClr val="4F5D6A"/>
                </a:solidFill>
                <a:latin typeface="Consolas"/>
              </a:rPr>
              <a:t>89</a:t>
            </a:r>
          </a:p>
          <a:p>
            <a:pPr algn="r">
              <a:lnSpc>
                <a:spcPct val="100000"/>
              </a:lnSpc>
            </a:pPr>
            <a:r>
              <a:rPr sz="1900">
                <a:solidFill>
                  <a:srgbClr val="4F5D6A"/>
                </a:solidFill>
                <a:latin typeface="Consolas"/>
              </a:rPr>
              <a:t>90</a:t>
            </a:r>
          </a:p>
          <a:p>
            <a:pPr algn="r">
              <a:lnSpc>
                <a:spcPct val="100000"/>
              </a:lnSpc>
            </a:pPr>
            <a:r>
              <a:rPr sz="1900">
                <a:solidFill>
                  <a:srgbClr val="4F5D6A"/>
                </a:solidFill>
                <a:latin typeface="Consolas"/>
              </a:rPr>
              <a:t>91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Reflex Agent on a Ticket Queue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9127E400-EA83-4D59-BBE9-F01958B8D21E}" type="slidenum">
              <a:rPr lang="en-GB" sz="1000">
                <a:solidFill>
                  <a:srgbClr val="8795A1"/>
                </a:solidFill>
                <a:latin typeface="Segoe UI"/>
              </a:rPr>
              <a:t>29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261104"/>
          </a:xfrm>
          <a:prstGeom prst="roundRect">
            <a:avLst>
              <a:gd name="adj" fmla="val 214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code/ch02_reflex_agent_ticket.py</a:t>
            </a:r>
          </a:p>
        </p:txBody>
      </p:sp>
      <p:sp>
        <p:nvSpPr>
          <p:cNvPr id="13" name="!!code-text" descr="t1, b1, o1, w1 = rows[&quot;simple reflex&quot;] t2, b2, o2, w2 = rows[&quot;model-based&quot;] assert t2 &lt; t1, &quot;the model-based agent should cost less&quot; assert w2 &lt; w1, &quot;and should wake the engineer less often&quot; print() print(&quot;total cost %d -&gt; %d (%.0f%% lower)&quot; % (t1, t2, 100 * (t1 - t2) / t1)) print(&quot;escalations %d -&gt; %d (%.1fx fewer)&quot; % (w1, w2, w1 / w2)) print() print(&quot;The model-based agent saw no extra percepts. It kept one&quot;) print(&quot;number -- how often it had already woken her -- that no&quot;) print(&quot;percept reports and the simple agent cannot represent.&quot;)"/>
          <p:cNvSpPr txBox="1"/>
          <p:nvPr/>
        </p:nvSpPr>
        <p:spPr>
          <a:xfrm>
            <a:off x="1362456" y="2066543"/>
            <a:ext cx="9987991" cy="37673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E8EDF2"/>
                </a:solidFill>
                <a:latin typeface="Consolas"/>
              </a:rPr>
              <a:t>t1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w1</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rows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simple reflex</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t2</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b2</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o2</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w2</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rows</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model-based</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t2</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t1</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the model-based agent should cost less</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w2</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w1</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and should wake the engineer less often</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total cost  </a:t>
            </a:r>
            <a:r>
              <a:rPr sz="2000" i="0">
                <a:solidFill>
                  <a:srgbClr val="7DCEA0"/>
                </a:solidFill>
                <a:latin typeface="Consolas"/>
              </a:rPr>
              <a:t>%d</a:t>
            </a:r>
            <a:r>
              <a:rPr sz="2000" i="0">
                <a:solidFill>
                  <a:srgbClr val="7DCEA0"/>
                </a:solidFill>
                <a:latin typeface="Consolas"/>
              </a:rPr>
              <a:t> -&gt; </a:t>
            </a:r>
            <a:r>
              <a:rPr sz="2000" i="0">
                <a:solidFill>
                  <a:srgbClr val="7DCEA0"/>
                </a:solidFill>
                <a:latin typeface="Consolas"/>
              </a:rPr>
              <a:t>%d</a:t>
            </a:r>
            <a:r>
              <a:rPr sz="2000" i="0">
                <a:solidFill>
                  <a:srgbClr val="7DCEA0"/>
                </a:solidFill>
                <a:latin typeface="Consolas"/>
              </a:rPr>
              <a:t>  (</a:t>
            </a:r>
            <a:r>
              <a:rPr sz="2000" i="0">
                <a:solidFill>
                  <a:srgbClr val="7DCEA0"/>
                </a:solidFill>
                <a:latin typeface="Consolas"/>
              </a:rPr>
              <a:t>%.0f</a:t>
            </a:r>
            <a:r>
              <a:rPr sz="2000" i="0">
                <a:solidFill>
                  <a:srgbClr val="7DCEA0"/>
                </a:solidFill>
                <a:latin typeface="Consolas"/>
              </a:rPr>
              <a:t>%%</a:t>
            </a:r>
            <a:r>
              <a:rPr sz="2000" i="0">
                <a:solidFill>
                  <a:srgbClr val="7DCEA0"/>
                </a:solidFill>
                <a:latin typeface="Consolas"/>
              </a:rPr>
              <a:t> lower)</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t1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t2</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100</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t1</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t2</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t1</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escalations </a:t>
            </a:r>
            <a:r>
              <a:rPr sz="2000" i="0">
                <a:solidFill>
                  <a:srgbClr val="7DCEA0"/>
                </a:solidFill>
                <a:latin typeface="Consolas"/>
              </a:rPr>
              <a:t>%d</a:t>
            </a:r>
            <a:r>
              <a:rPr sz="2000" i="0">
                <a:solidFill>
                  <a:srgbClr val="7DCEA0"/>
                </a:solidFill>
                <a:latin typeface="Consolas"/>
              </a:rPr>
              <a:t> -&gt; </a:t>
            </a:r>
            <a:r>
              <a:rPr sz="2000" i="0">
                <a:solidFill>
                  <a:srgbClr val="7DCEA0"/>
                </a:solidFill>
                <a:latin typeface="Consolas"/>
              </a:rPr>
              <a:t>%d</a:t>
            </a:r>
            <a:r>
              <a:rPr sz="2000" i="0">
                <a:solidFill>
                  <a:srgbClr val="7DCEA0"/>
                </a:solidFill>
                <a:latin typeface="Consolas"/>
              </a:rPr>
              <a:t>  (</a:t>
            </a:r>
            <a:r>
              <a:rPr sz="2000" i="0">
                <a:solidFill>
                  <a:srgbClr val="7DCEA0"/>
                </a:solidFill>
                <a:latin typeface="Consolas"/>
              </a:rPr>
              <a:t>%.1f</a:t>
            </a:r>
            <a:r>
              <a:rPr sz="2000" i="0">
                <a:solidFill>
                  <a:srgbClr val="7DCEA0"/>
                </a:solidFill>
                <a:latin typeface="Consolas"/>
              </a:rPr>
              <a:t>x fewer)</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w1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w2</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w1</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w2</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The model-based agent saw no extra percepts. It kept one</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number -- how often it had already woken her -- that no</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percept reports and the simple agent cannot represent.</a:t>
            </a:r>
            <a:r>
              <a:rPr sz="2000" i="0">
                <a:solidFill>
                  <a:srgbClr val="7DCEA0"/>
                </a:solidFill>
                <a:latin typeface="Consolas"/>
              </a:rPr>
              <a:t>"</a:t>
            </a:r>
            <a:r>
              <a:rPr sz="2000" i="0">
                <a:solidFill>
                  <a:srgbClr val="AEB6BF"/>
                </a:solidFill>
                <a:latin typeface="Consolas"/>
              </a:rPr>
              <a:t>)</a:t>
            </a:r>
          </a:p>
        </p:txBody>
      </p:sp>
      <p:sp>
        <p:nvSpPr>
          <p:cNvPr id="14" name="!!code-num"/>
          <p:cNvSpPr txBox="1"/>
          <p:nvPr/>
        </p:nvSpPr>
        <p:spPr>
          <a:xfrm>
            <a:off x="768096" y="2066543"/>
            <a:ext cx="393192" cy="3767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93</a:t>
            </a:r>
          </a:p>
          <a:p>
            <a:pPr algn="r">
              <a:lnSpc>
                <a:spcPct val="100000"/>
              </a:lnSpc>
            </a:pPr>
            <a:r>
              <a:rPr sz="2000">
                <a:solidFill>
                  <a:srgbClr val="4F5D6A"/>
                </a:solidFill>
                <a:latin typeface="Consolas"/>
              </a:rPr>
              <a:t>94</a:t>
            </a:r>
          </a:p>
          <a:p>
            <a:pPr algn="r">
              <a:lnSpc>
                <a:spcPct val="100000"/>
              </a:lnSpc>
            </a:pPr>
            <a:r>
              <a:rPr sz="2000">
                <a:solidFill>
                  <a:srgbClr val="4F5D6A"/>
                </a:solidFill>
                <a:latin typeface="Consolas"/>
              </a:rPr>
              <a:t>95</a:t>
            </a:r>
          </a:p>
          <a:p>
            <a:pPr algn="r">
              <a:lnSpc>
                <a:spcPct val="100000"/>
              </a:lnSpc>
            </a:pPr>
            <a:r>
              <a:rPr sz="2000">
                <a:solidFill>
                  <a:srgbClr val="4F5D6A"/>
                </a:solidFill>
                <a:latin typeface="Consolas"/>
              </a:rPr>
              <a:t>96</a:t>
            </a:r>
          </a:p>
          <a:p>
            <a:pPr algn="r">
              <a:lnSpc>
                <a:spcPct val="100000"/>
              </a:lnSpc>
            </a:pPr>
            <a:r>
              <a:rPr sz="2000">
                <a:solidFill>
                  <a:srgbClr val="4F5D6A"/>
                </a:solidFill>
                <a:latin typeface="Consolas"/>
              </a:rPr>
              <a:t>97</a:t>
            </a:r>
          </a:p>
          <a:p>
            <a:pPr algn="r">
              <a:lnSpc>
                <a:spcPct val="100000"/>
              </a:lnSpc>
            </a:pPr>
            <a:r>
              <a:rPr sz="2000">
                <a:solidFill>
                  <a:srgbClr val="4F5D6A"/>
                </a:solidFill>
                <a:latin typeface="Consolas"/>
              </a:rPr>
              <a:t>98</a:t>
            </a:r>
          </a:p>
          <a:p>
            <a:pPr algn="r">
              <a:lnSpc>
                <a:spcPct val="100000"/>
              </a:lnSpc>
            </a:pPr>
            <a:r>
              <a:rPr sz="2000">
                <a:solidFill>
                  <a:srgbClr val="4F5D6A"/>
                </a:solidFill>
                <a:latin typeface="Consolas"/>
              </a:rPr>
              <a:t>99</a:t>
            </a:r>
          </a:p>
          <a:p>
            <a:pPr algn="r">
              <a:lnSpc>
                <a:spcPct val="100000"/>
              </a:lnSpc>
            </a:pPr>
            <a:r>
              <a:rPr sz="2000">
                <a:solidFill>
                  <a:srgbClr val="4F5D6A"/>
                </a:solidFill>
                <a:latin typeface="Consolas"/>
              </a:rPr>
              <a:t>100</a:t>
            </a:r>
          </a:p>
          <a:p>
            <a:pPr algn="r">
              <a:lnSpc>
                <a:spcPct val="100000"/>
              </a:lnSpc>
            </a:pPr>
            <a:r>
              <a:rPr sz="2000">
                <a:solidFill>
                  <a:srgbClr val="4F5D6A"/>
                </a:solidFill>
                <a:latin typeface="Consolas"/>
              </a:rPr>
              <a:t>101</a:t>
            </a:r>
          </a:p>
          <a:p>
            <a:pPr algn="r">
              <a:lnSpc>
                <a:spcPct val="100000"/>
              </a:lnSpc>
            </a:pPr>
            <a:r>
              <a:rPr sz="2000">
                <a:solidFill>
                  <a:srgbClr val="4F5D6A"/>
                </a:solidFill>
                <a:latin typeface="Consolas"/>
              </a:rPr>
              <a:t>102</a:t>
            </a:r>
          </a:p>
          <a:p>
            <a:pPr algn="r">
              <a:lnSpc>
                <a:spcPct val="100000"/>
              </a:lnSpc>
            </a:pPr>
            <a:r>
              <a:rPr sz="2000">
                <a:solidFill>
                  <a:srgbClr val="4F5D6A"/>
                </a:solidFill>
                <a:latin typeface="Consolas"/>
              </a:rPr>
              <a:t>103</a:t>
            </a:r>
          </a:p>
          <a:p>
            <a:pPr algn="r">
              <a:lnSpc>
                <a:spcPct val="100000"/>
              </a:lnSpc>
            </a:pPr>
            <a:r>
              <a:rPr sz="2000">
                <a:solidFill>
                  <a:srgbClr val="4F5D6A"/>
                </a:solidFill>
                <a:latin typeface="Consolas"/>
              </a:rPr>
              <a:t>104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17     </a:t>
            </a:r>
            <a:fld id="{92E14BA4-37A9-4E82-AF4B-629CE721B468}"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2007"/>
          </a:xfrm>
          <a:prstGeom prst="roundRect">
            <a:avLst>
              <a:gd name="adj" fmla="val 20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2007"/>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output is worth reading carefully, because the interesting column is the one that does </a:t>
            </a:r>
            <a:r>
              <a:rPr sz="1700" b="0" i="1">
                <a:solidFill>
                  <a:srgbClr val="1C252B"/>
                </a:solidFill>
                <a:latin typeface="Segoe UI"/>
              </a:rPr>
              <a:t>not</a:t>
            </a:r>
            <a:r>
              <a:rPr sz="1700" b="0" i="0">
                <a:solidFill>
                  <a:srgbClr val="1C252B"/>
                </a:solidFill>
                <a:latin typeface="Segoe UI"/>
              </a:rPr>
              <a:t> change:</a:t>
            </a:r>
          </a:p>
        </p:txBody>
      </p:sp>
      <p:graphicFrame>
        <p:nvGraphicFramePr>
          <p:cNvPr id="10" name="body-1"/>
          <p:cNvGraphicFramePr>
            <a:graphicFrameLocks noGrp="1"/>
          </p:cNvGraphicFramePr>
          <p:nvPr/>
        </p:nvGraphicFramePr>
        <p:xfrm>
          <a:off x="1060704" y="2436444"/>
          <a:ext cx="5079989" cy="1078992"/>
        </p:xfrm>
        <a:graphic>
          <a:graphicData uri="http://schemas.openxmlformats.org/drawingml/2006/table">
            <a:tbl>
              <a:tblPr firstRow="0" bandRow="0" firstCol="0" lastRow="0" lastCol="0" bandCol="0">
                <a:tableStyleId>{2D5ABB26-0587-4C30-8999-92F81FD0307C}</a:tableStyleId>
              </a:tblPr>
              <a:tblGrid>
                <a:gridCol w="1320736"/>
                <a:gridCol w="692482"/>
                <a:gridCol w="1014270"/>
                <a:gridCol w="864118"/>
                <a:gridCol w="1188383"/>
              </a:tblGrid>
              <a:tr h="359664">
                <a:tc>
                  <a:txBody>
                    <a:bodyPr wrap="square"/>
                    <a:lstStyle/>
                    <a:p>
                      <a:pPr algn="l"/>
                      <a:r>
                        <a:rPr sz="1400" b="1" i="0">
                          <a:solidFill>
                            <a:srgbClr val="1A5276"/>
                          </a:solidFill>
                          <a:latin typeface="Segoe UI"/>
                        </a:rPr>
                        <a:t>Agent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400" b="1" i="0">
                          <a:solidFill>
                            <a:srgbClr val="1A5276"/>
                          </a:solidFill>
                          <a:latin typeface="Segoe UI"/>
                        </a:rPr>
                        <a:t>Total</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400" b="1" i="0">
                          <a:solidFill>
                            <a:srgbClr val="1A5276"/>
                          </a:solidFill>
                          <a:latin typeface="Segoe UI"/>
                        </a:rPr>
                        <a:t>Breaches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400" b="1" i="0">
                          <a:solidFill>
                            <a:srgbClr val="1A5276"/>
                          </a:solidFill>
                          <a:latin typeface="Segoe UI"/>
                        </a:rPr>
                        <a:t>On-call</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400" b="1" i="0">
                          <a:solidFill>
                            <a:srgbClr val="1A5276"/>
                          </a:solidFill>
                          <a:latin typeface="Segoe UI"/>
                        </a:rPr>
                        <a:t>Escalations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Simple reflex</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400" b="0" i="0">
                          <a:solidFill>
                            <a:srgbClr val="1C252B"/>
                          </a:solidFill>
                          <a:latin typeface="Segoe UI"/>
                        </a:rPr>
                        <a:t>259</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400" b="0" i="0">
                          <a:solidFill>
                            <a:srgbClr val="1C252B"/>
                          </a:solidFill>
                          <a:latin typeface="Segoe UI"/>
                        </a:rPr>
                        <a:t>136</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400" b="0" i="0">
                          <a:solidFill>
                            <a:srgbClr val="1C252B"/>
                          </a:solidFill>
                          <a:latin typeface="Segoe UI"/>
                        </a:rPr>
                        <a:t>123</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400" b="0" i="0">
                          <a:solidFill>
                            <a:srgbClr val="1C252B"/>
                          </a:solidFill>
                          <a:latin typeface="Segoe UI"/>
                        </a:rPr>
                        <a:t>30</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Model-based</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400" b="0" i="0">
                          <a:solidFill>
                            <a:srgbClr val="1C252B"/>
                          </a:solidFill>
                          <a:latin typeface="Segoe UI"/>
                        </a:rPr>
                        <a:t>156</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400" b="0" i="0">
                          <a:solidFill>
                            <a:srgbClr val="1C252B"/>
                          </a:solidFill>
                          <a:latin typeface="Segoe UI"/>
                        </a:rPr>
                        <a:t>136</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400" b="0" i="0">
                          <a:solidFill>
                            <a:srgbClr val="1C252B"/>
                          </a:solidFill>
                          <a:latin typeface="Segoe UI"/>
                        </a:rPr>
                        <a:t>20</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400" b="0" i="0">
                          <a:solidFill>
                            <a:srgbClr val="1C252B"/>
                          </a:solidFill>
                          <a:latin typeface="Segoe UI"/>
                        </a:rPr>
                        <a:t>5</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60704" y="3634181"/>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breach cost is </a:t>
            </a:r>
            <a:r>
              <a:rPr sz="1700" b="0" i="1">
                <a:solidFill>
                  <a:srgbClr val="1C252B"/>
                </a:solidFill>
                <a:latin typeface="Segoe UI"/>
              </a:rPr>
              <a:t>identical</a:t>
            </a:r>
            <a:r>
              <a:rPr sz="1700" b="0" i="0">
                <a:solidFill>
                  <a:srgbClr val="1C252B"/>
                </a:solidFill>
                <a:latin typeface="Segoe UI"/>
              </a:rPr>
              <a:t>: </a:t>
            </a:r>
            <a:r>
              <a:rPr sz="1700" b="0" i="0">
                <a:solidFill>
                  <a:srgbClr val="1C252B"/>
                </a:solidFill>
                <a:latin typeface="Cambria"/>
              </a:rPr>
              <a:t>136</a:t>
            </a:r>
            <a:r>
              <a:rPr sz="1700" b="0" i="0">
                <a:solidFill>
                  <a:srgbClr val="1C252B"/>
                </a:solidFill>
                <a:latin typeface="Segoe UI"/>
              </a:rPr>
              <a:t> either way. The simple reflex agent’s extra twenty-five escalations bought nothing at all, because past the third one Ayesha was too tired to fix anything — and the sleep was lost regardless. The total falls by 40% purely by not doing the useless work, and the escalations fall sixfold.</a:t>
            </a:r>
          </a:p>
        </p:txBody>
      </p:sp>
      <p:sp>
        <p:nvSpPr>
          <p:cNvPr id="12" name="body-3"/>
          <p:cNvSpPr txBox="1"/>
          <p:nvPr/>
        </p:nvSpPr>
        <p:spPr>
          <a:xfrm>
            <a:off x="1060704" y="4830698"/>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Now change </a:t>
            </a:r>
            <a:r>
              <a:rPr sz="1600" b="0" i="0">
                <a:solidFill>
                  <a:srgbClr val="1F4E79"/>
                </a:solidFill>
                <a:latin typeface="Consolas"/>
              </a:rPr>
              <a:t>WAKE_LIMIT</a:t>
            </a:r>
            <a:r>
              <a:rPr sz="1700" b="0" i="0">
                <a:solidFill>
                  <a:srgbClr val="1C252B"/>
                </a:solidFill>
                <a:latin typeface="Segoe UI"/>
              </a:rPr>
              <a:t> to </a:t>
            </a:r>
            <a:r>
              <a:rPr sz="1700" b="0" i="0">
                <a:solidFill>
                  <a:srgbClr val="1C252B"/>
                </a:solidFill>
                <a:latin typeface="Cambria"/>
              </a:rPr>
              <a:t>40</a:t>
            </a:r>
            <a:r>
              <a:rPr sz="1700" b="0" i="0">
                <a:solidFill>
                  <a:srgbClr val="1C252B"/>
                </a:solidFill>
                <a:latin typeface="Segoe UI"/>
              </a:rPr>
              <a:t> and re-run. The two agents converge, because with an unlimited budget the number being tracked no longer constrains anything. That is the test of whether internal state is earning its keep: state is worth maintaining exactly when it represents a limit the environment imposes and the percepts do not report.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85058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Write a PEAS description for an agent that decides which of a day’s pull requests to review first. Make sure the performance measure describes the state of the repository, not the activity of the agent.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  ·  Intelligent Agents and Task Environments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21  ·  answers in Appendix D     </a:t>
            </a:r>
            <a:fld id="{CAB072D7-8C0D-416D-928E-01F6EAEE8C8C}"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Write a PEAS description for an agent that decides which of a day’s pull requests to review first. Make sure the performance measure describes the state of the repository, not the activity of the agent.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reasonable answer: </a:t>
            </a:r>
            <a:r>
              <a:rPr sz="2200" b="0" i="1">
                <a:solidFill>
                  <a:srgbClr val="1C252B"/>
                </a:solidFill>
                <a:latin typeface="Segoe UI"/>
              </a:rPr>
              <a:t>Performance measure</a:t>
            </a:r>
            <a:r>
              <a:rPr sz="2200" b="0" i="0">
                <a:solidFill>
                  <a:srgbClr val="1C252B"/>
                </a:solidFill>
                <a:latin typeface="Segoe UI"/>
              </a:rPr>
              <a:t> — total time pull requests spend waiting, weighted by urgency, plus a penalty for defects that reach the main branch. Note that this describes the state of the repository. Measures such as “number of reviews performed” describe the agent and would be gamed by skimming. </a:t>
            </a:r>
            <a:r>
              <a:rPr sz="2200" b="0" i="1">
                <a:solidFill>
                  <a:srgbClr val="1C252B"/>
                </a:solidFill>
                <a:latin typeface="Segoe UI"/>
              </a:rPr>
              <a:t>Environment</a:t>
            </a:r>
            <a:r>
              <a:rPr sz="2200" b="0" i="0">
                <a:solidFill>
                  <a:srgbClr val="1C252B"/>
                </a:solidFill>
                <a:latin typeface="Segoe UI"/>
              </a:rPr>
              <a:t> — the open pull requests, their size, age and author, the reviewers and their load, the build status. </a:t>
            </a:r>
            <a:r>
              <a:rPr sz="2200" b="0" i="1">
                <a:solidFill>
                  <a:srgbClr val="1C252B"/>
                </a:solidFill>
                <a:latin typeface="Segoe UI"/>
              </a:rPr>
              <a:t>Actuators</a:t>
            </a:r>
            <a:r>
              <a:rPr sz="2200" b="0" i="0">
                <a:solidFill>
                  <a:srgbClr val="1C252B"/>
                </a:solidFill>
                <a:latin typeface="Segoe UI"/>
              </a:rPr>
              <a:t> — assign a pull request to a reviewer, defer it, request changes. </a:t>
            </a:r>
            <a:r>
              <a:rPr sz="2200" b="0" i="1">
                <a:solidFill>
                  <a:srgbClr val="1C252B"/>
                </a:solidFill>
                <a:latin typeface="Segoe UI"/>
              </a:rPr>
              <a:t>Sensors</a:t>
            </a:r>
            <a:r>
              <a:rPr sz="2200" b="0" i="0">
                <a:solidFill>
                  <a:srgbClr val="1C252B"/>
                </a:solidFill>
                <a:latin typeface="Segoe UI"/>
              </a:rPr>
              <a:t> — the repository API: diffs, timestamps, build results, reviewer availability.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  answers in Appendix D     </a:t>
            </a:r>
            <a:fld id="{CEFE5D73-D210-4371-8D99-D12B0B0DF6DD}"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0728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vending machine dispenses a drink when the right coins are inserted. Classify its environment on all six properties, and say which of the five agent architectures it needs.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  ·  Intelligent Agents and Task Environments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21  ·  answers in Appendix D     </a:t>
            </a:r>
            <a:fld id="{04B19EC8-7E84-428F-A1EF-64202C1A3447}"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vending machine dispenses a drink when the right coins are inserted. Classify its environment on all six properties, and say which of the five agent architectures it needs.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Fully observable (the coins inserted are the whole relevant state), deterministic, episodic (each sale is independent), static, discrete, and single-agent. All six are the easy case, which is why a </a:t>
            </a:r>
            <a:r>
              <a:rPr sz="2200" b="1" i="0">
                <a:solidFill>
                  <a:srgbClr val="1C252B"/>
                </a:solidFill>
                <a:latin typeface="Segoe UI"/>
              </a:rPr>
              <a:t>simple reflex agent</a:t>
            </a:r>
            <a:r>
              <a:rPr sz="2200" b="0" i="0">
                <a:solidFill>
                  <a:srgbClr val="1C252B"/>
                </a:solidFill>
                <a:latin typeface="Segoe UI"/>
              </a:rPr>
              <a:t> is sufficient — and why a vending machine is not usually described as intelligent.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  answers in Appendix D     </a:t>
            </a:r>
            <a:fld id="{C2310B33-8738-4DC8-AC4E-EFDFC65B31E6}"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399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agent escalates a ticket on strong evidence and the escalation turns out to have been unnecessary. Was it rational? Justify your answer in one sentence using the definition in this chapter.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  ·  Intelligent Agents and Task Environments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21  ·  answers in Appendix D     </a:t>
            </a:r>
            <a:fld id="{300063C5-7675-46AA-9B25-C56EE6D8C37A}"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An agent escalates a ticket on strong evidence and the escalation turns out to have been unnecessary. Was it rational? Justify your answer in one sentence using the definition in this chapter.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Yes, it was rational. Rationality is maximising </a:t>
            </a:r>
            <a:r>
              <a:rPr sz="2200" b="0" i="1">
                <a:solidFill>
                  <a:srgbClr val="1C252B"/>
                </a:solidFill>
                <a:latin typeface="Segoe UI"/>
              </a:rPr>
              <a:t>expected</a:t>
            </a:r>
            <a:r>
              <a:rPr sz="2200" b="0" i="0">
                <a:solidFill>
                  <a:srgbClr val="1C252B"/>
                </a:solidFill>
                <a:latin typeface="Segoe UI"/>
              </a:rPr>
              <a:t> performance given the percept sequence available at the time, not achieving the best outcome. The agent acted on strong evidence; the outcome was unlucky. This distinction is what makes a blameless incident review possible: you judge the decision procedure against what was knowable, and you change the procedure only if the evidence was misread.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  answers in Appendix D     </a:t>
            </a:r>
            <a:fld id="{D34FAD67-74ED-418E-918C-8485F6254F71}"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070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a:t>
            </a:r>
            <a:fld id="{BA86DC1D-C5CE-4D60-A63D-3A45E1F0B949}"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 agent perceives through sensors and acts through actuators. The </a:t>
            </a:r>
            <a:r>
              <a:rPr sz="1700" b="1" i="0">
                <a:solidFill>
                  <a:srgbClr val="1A5276"/>
                </a:solidFill>
                <a:latin typeface="Segoe UI"/>
              </a:rPr>
              <a:t>agent function</a:t>
            </a:r>
            <a:r>
              <a:rPr sz="1700" b="0" i="0">
                <a:solidFill>
                  <a:srgbClr val="1C252B"/>
                </a:solidFill>
                <a:latin typeface="Segoe UI"/>
              </a:rPr>
              <a:t> maps every percept sequence to an action; the </a:t>
            </a:r>
            <a:r>
              <a:rPr sz="1700" b="1" i="0">
                <a:solidFill>
                  <a:srgbClr val="1A5276"/>
                </a:solidFill>
                <a:latin typeface="Segoe UI"/>
              </a:rPr>
              <a:t>agent program</a:t>
            </a:r>
            <a:r>
              <a:rPr sz="1700" b="0" i="0">
                <a:solidFill>
                  <a:srgbClr val="1C252B"/>
                </a:solidFill>
                <a:latin typeface="Segoe UI"/>
              </a:rPr>
              <a:t> is a bounded implementation of it. AI is the search for good programs, because the functions are too large to tabulate.</a:t>
            </a:r>
          </a:p>
        </p:txBody>
      </p:sp>
      <p:sp>
        <p:nvSpPr>
          <p:cNvPr id="10" name="!!sb1">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Specify every task as </a:t>
            </a:r>
            <a:r>
              <a:rPr sz="1700" b="1" i="0">
                <a:solidFill>
                  <a:srgbClr val="1A5276"/>
                </a:solidFill>
                <a:latin typeface="Segoe UI"/>
              </a:rPr>
              <a:t>PEAS</a:t>
            </a:r>
            <a:r>
              <a:rPr sz="1700" b="0" i="0">
                <a:solidFill>
                  <a:srgbClr val="1C252B"/>
                </a:solidFill>
                <a:latin typeface="Segoe UI"/>
              </a:rPr>
              <a:t> before building anything. The performance measure must describe the state of the environment, and must be written so that two people would score the same run identically.</a:t>
            </a:r>
          </a:p>
        </p:txBody>
      </p:sp>
      <p:sp>
        <p:nvSpPr>
          <p:cNvPr id="13" name="!!sb2">
            <a:extLst>
              <a:ext uri="{C183D7F6-B498-43B3-948B-1728B52AA6E4}">
                <adec:decorative xmlns:adec="http://schemas.microsoft.com/office/drawing/2017/decorative" val="1"/>
              </a:ext>
            </a:extLst>
          </p:cNvPr>
          <p:cNvSpPr/>
          <p:nvPr/>
        </p:nvSpPr>
        <p:spPr>
          <a:xfrm>
            <a:off x="658368" y="345948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6"/>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Classify the environment on six properties: observable, deterministic, episodic, static, discrete, single-agent. Each one forces a design decision, and partial observability is the most consequential — it is what makes internal state necessary.</a:t>
            </a:r>
          </a:p>
        </p:txBody>
      </p:sp>
      <p:sp>
        <p:nvSpPr>
          <p:cNvPr id="16" name="!!sb3">
            <a:extLst>
              <a:ext uri="{C183D7F6-B498-43B3-948B-1728B52AA6E4}">
                <adec:decorative xmlns:adec="http://schemas.microsoft.com/office/drawing/2017/decorative" val="1"/>
              </a:ext>
            </a:extLst>
          </p:cNvPr>
          <p:cNvSpPr/>
          <p:nvPr/>
        </p:nvSpPr>
        <p:spPr>
          <a:xfrm>
            <a:off x="658368" y="445068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50555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441545"/>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There are five agent architectures: simple reflex, model-based reflex, goal-based, utility-based and learning. Use the simplest that can do the job. This course builds the middle three; Chapter 17 signposts the fifth.</a:t>
            </a:r>
          </a:p>
        </p:txBody>
      </p:sp>
      <p:sp>
        <p:nvSpPr>
          <p:cNvPr id="19" name="!!sb4">
            <a:extLst>
              <a:ext uri="{C183D7F6-B498-43B3-948B-1728B52AA6E4}">
                <adec:decorative xmlns:adec="http://schemas.microsoft.com/office/drawing/2017/decorative" val="1"/>
              </a:ext>
            </a:extLst>
          </p:cNvPr>
          <p:cNvSpPr/>
          <p:nvPr/>
        </p:nvSpPr>
        <p:spPr>
          <a:xfrm>
            <a:off x="658368" y="544189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49676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3275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Rationality is maximising </a:t>
            </a:r>
            <a:r>
              <a:rPr sz="1700" b="0" i="1">
                <a:solidFill>
                  <a:srgbClr val="1C252B"/>
                </a:solidFill>
                <a:latin typeface="Segoe UI"/>
              </a:rPr>
              <a:t>expected</a:t>
            </a:r>
            <a:r>
              <a:rPr sz="1700" b="0" i="0">
                <a:solidFill>
                  <a:srgbClr val="1C252B"/>
                </a:solidFill>
                <a:latin typeface="Segoe UI"/>
              </a:rPr>
              <a:t> performance given the percepts so far. It is not omniscience, not perfection, and it positively recommends gathering information when information is cheap.</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4905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a:t>
            </a:r>
            <a:fld id="{3FDA9E99-9C6D-4455-990F-B713F7E6C17A}"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agent function maps: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states to actions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percept sequences to actions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actions to utilities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percepts to goals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a:t>
            </a:r>
            <a:fld id="{968DC5CF-3409-4995-8B8E-32F1FBD6B483}"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An agent must keep internal state principally because the environment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stochastic</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dynamic</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partially observable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multi-agent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a:t>
            </a:r>
            <a:fld id="{357B793C-63B7-4595-83DE-A77FE9B9F212}"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is </a:t>
            </a:r>
            <a:r>
              <a:rPr sz="2600" b="0" i="1">
                <a:solidFill>
                  <a:srgbClr val="1C252B"/>
                </a:solidFill>
                <a:latin typeface="Segoe UI"/>
              </a:rPr>
              <a:t>not</a:t>
            </a:r>
            <a:r>
              <a:rPr sz="2600" b="0" i="0">
                <a:solidFill>
                  <a:srgbClr val="1C252B"/>
                </a:solidFill>
                <a:latin typeface="Segoe UI"/>
              </a:rPr>
              <a:t> part of a PEAS description?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performance measure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environment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algorithm</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sensors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a:t>
            </a:r>
            <a:fld id="{BE9A36BB-537B-4B0D-B8F6-F401BE9FBB62}"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Chess played against a clock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fully observable, deterministic, static</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fully observable, deterministic, dynamic</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partially observable, stochastic, dynamic</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fully observable, stochastic, static</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  ·  Intelligent Agents and Task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     </a:t>
            </a:r>
            <a:fld id="{A0F313A4-D1E7-4F42-87F4-8EF425355AF2}"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difference between rationality and omniscience, and say why the distinction matters when reviewing an incident.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one task for which a simple reflex agent is the right choice, and one superficially similar task for which it is not.</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the performance measure describe the environment rather than the agent? Give a measure that fails this test and say how it would be exploited.</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the sprint scheduler of Table 2.1. Write its full PEAS description, classify the environment on all six properties, and state which agent architecture the classification forces. Then name the single simplification that Chapter 7 makes in order to solve it at all, and what is lost by making it.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 — Representations and Search in Python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 pages 13–21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Is it AI? a five-point audit; a reflex agent on a ticket queue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  ·  Intelligent Agents and Task Environments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0FBA2857-C822-4CFC-AE32-2DD8B0393E66}"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Intelligent Agents and Task Environments</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