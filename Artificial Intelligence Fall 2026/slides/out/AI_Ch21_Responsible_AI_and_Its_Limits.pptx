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7.svg" ContentType="image/svg+xml"/>
  <Override PartName="/ppt/media/image19.svg" ContentType="image/svg+xml"/>
  <Override PartName="/ppt/media/image20.svg" ContentType="image/svg+xml"/>
  <Override PartName="/ppt/media/image22.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6.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4.svg" ContentType="image/svg+xml"/>
  <Override PartName="/ppt/media/image65.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596402-E87C-42B2-A3EA-43803C3DF092}">
          <p14:sldIdLst>
            <p14:sldId id="256"/>
            <p14:sldId id="257"/>
            <p14:sldId id="258"/>
            <p14:sldId id="259"/>
            <p14:sldId id="260"/>
          </p14:sldIdLst>
        </p14:section>
        <p14:section name="21.1 Nobody Intended It" id="{E1F90A8D-0159-4303-9EE1-6CB6377AC6D5}">
          <p14:sldIdLst>
            <p14:sldId id="261"/>
          </p14:sldIdLst>
        </p14:section>
        <p14:section name="21.2 Where Bias Enters a Rule Base" id="{C09D1E6B-5257-436F-B15C-44199DD7491E}">
          <p14:sldIdLst>
            <p14:sldId id="262"/>
            <p14:sldId id="263"/>
            <p14:sldId id="264"/>
          </p14:sldIdLst>
        </p14:section>
        <p14:section name="21.3 Auditing a Deployed Rule Set" id="{4D09E873-EBA0-4395-9F61-0FE24C180A5C}">
          <p14:sldIdLst>
            <p14:sldId id="265"/>
            <p14:sldId id="266"/>
            <p14:sldId id="267"/>
            <p14:sldId id="268"/>
            <p14:sldId id="269"/>
          </p14:sldIdLst>
        </p14:section>
        <p14:section name="21.4 Explanation as Accountability" id="{E92AB7EC-1553-4524-9F49-FF25DC841CD3}">
          <p14:sldIdLst>
            <p14:sldId id="270"/>
            <p14:sldId id="271"/>
            <p14:sldId id="272"/>
          </p14:sldIdLst>
        </p14:section>
        <p14:section name="21.5 Brittleness and the Edge of Competence" id="{E9AAB35E-94D2-4BF4-9231-00309F9C33E0}">
          <p14:sldIdLst>
            <p14:sldId id="273"/>
          </p14:sldIdLst>
        </p14:section>
        <p14:section name="21.6 Computational Limits" id="{3ECEFD02-0B4E-4BF1-9D11-19193E785BC2}">
          <p14:sldIdLst>
            <p14:sldId id="274"/>
            <p14:sldId id="275"/>
            <p14:sldId id="276"/>
            <p14:sldId id="277"/>
            <p14:sldId id="278"/>
          </p14:sldIdLst>
        </p14:section>
        <p14:section name="Pitfalls" id="{075812E4-6EEE-49A5-B047-D162BC81141D}">
          <p14:sldIdLst>
            <p14:sldId id="279"/>
          </p14:sldIdLst>
        </p14:section>
        <p14:section name="Lab" id="{AD27B973-26E9-45EE-84F6-57DC594CF0FE}">
          <p14:sldIdLst>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Checkpoint" id="{D67AAD11-4DB9-4C18-842E-2CFBC9B85EFE}">
          <p14:sldIdLst>
            <p14:sldId id="300"/>
            <p14:sldId id="301"/>
            <p14:sldId id="302"/>
            <p14:sldId id="303"/>
            <p14:sldId id="304"/>
            <p14:sldId id="305"/>
          </p14:sldIdLst>
        </p14:section>
        <p14:section name="Wrap-up" id="{15B4D188-299A-4592-A2E0-0FB2E6CBEB4B}">
          <p14:sldIdLst>
            <p14:sldId id="306"/>
            <p14:sldId id="307"/>
            <p14:sldId id="308"/>
            <p14:sldId id="309"/>
            <p14:sldId id="310"/>
            <p14:sldId id="311"/>
            <p14:sldId id="312"/>
            <p14:sldId id="31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21: Responsible AI and Its Limits. Part 6 — Learning, Language and Responsible AI. Week 16: Recent trends; responsible AI and its limits. Handout pages 217–227.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13 (the rule engine audited here), Chapter 4 (the branching factor that sets the computational limit) and Chapter 20 (the contrast with learned systems). This chapter takes the systems you built and asks what they owe the people they are used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bias; proxy variable; differential treatment; disparate impact; audit; explainability; accountability; contestability; automation bias; brittleness; graceful degradation; intractability; the limits of competence.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21.1 (handout p. 218): Four ways bias enters a system whose rules mention nothing sensitive. The first — a proxy variable — is the one that survives every attempt to fix the problem by deleting columns.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audit is three steps and about thirty lines of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13 produced an explanation chain and called it the deliverable. Here is the argument for that claim. An explanation is not primarily for the user’s comfort. It is the artefact that makes a decision contestable: it tells a person exactly which facts and which rules produced an outcome, so they can dispute a specific step rather than the conclusion in general. “The system says no” cannot be argued with; “R7 fired because workaround was recorded as yes” can, and the argument is about something checkable.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13 named brittleness as one of the two causes of the expert-system collapse. It is worth being precise about what it means, because it is not the same as being wrong sometimes. A person with expertise, asked something outside it, says so. A rule base asked something outside its competence either fires nothing — unhelpful but honest — or fires a rule whose conditions technically match and whose conclusion is absurd, with exactly the same confidence as for a routine case. There is no representation of its own boundary, so there is no signal. Graceful degradation is the property it lacks: performance that falls off smoothly as inputs move away from the familiar, and — more importantly — a measure that falls with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limit is arithmetic, and it applies to every method in Parts II to 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consequence is not despair. Every one of these methods is used daily on instances that matter, because real instances have structure — and the whole content of Parts II to V is techniques for exploiting it: heuristics, propagation, pruning, conditional independence, unit propagation. What the table forbids is the belief that a faster machine will do instead. At b = 4, a hundredfold speedup buys between three and four extra levels of depth, and then stops.</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base of Chapter 13, run over two hundred synthetic tickets, measured by group, attributed by ablation, and explained. Then the competence boundary and the computational limit.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Chapter 13's rule base, unchanged.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Chapter 13's rule base, unchanged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Chapter 13's rule base, unchanged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Chapter 13's rule base, unchanged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Two hundred tickets from two teams.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Two hundred tickets from two teams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Two hundred tickets from two teams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Two hundred tickets from two teams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Step 2: which rule carries the gap?.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Step 2: which rule carries the gap?.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Step 2: which rule carries the gap?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Step 2: which rule carries the gap?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Step 3: read the chain for an affected ticket.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The competence boundary.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16: The competence boundary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17: The computational limit.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18: The computational limit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Through a proxy: workaround is recorded for about 80% of one team’s tickets and 15% of the other’s, because the first team has mature runbooks to cite. R3 makes those tickets P2 and R7 then decides a P2 with a workaround needs no owner, so that team’s tickets are systematically not escalated. Deleting an attribute would not have prevented it, and could not have: the team name was never an input. The correlation lives in the world rather than in a column, which is why fairness through unawareness is the one approach that reliably fails.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established what produced the gap — a difference in documentation practice being read by the rules as a difference in operational need — and that no rule is individually wrong. It explicitly did not establish whether the gap is acceptable. If the first team really does need fewer escalations because its runbooks work, the gap is the system functioning correctly; if the second team is being under-served because nobody has written its runbooks, it is not. That is a management decision, and the audit’s contribution is to put it in front of somebody who can make it, with evidence attached, instead of leaving it to be made silently two hundred times a week.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alternative explanation is automation bias: the reviewer has stopped reviewing and is deferring to the system, which produces a near-zero override rate whether the system is right or not. The measurement that distinguishes them is to sample decisions for genuine independent review — have a second person decide without seeing the recommendation — and compare. If the independent decisions disagree materially more often than the override rate suggests, the low rate was deference rather than agreement.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22 — The Artificial Intelligence Project. READ: Handout Chapter 21, pages 217–227. THIS WEEK'S LAB: A tool-using agent, offline; auditing the escalation rules. ASSESSMENT: Project report and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5.xml"/><Relationship Id="rId9" Type="http://schemas.openxmlformats.org/officeDocument/2006/relationships/slide" Target="slide18.xml"/><Relationship Id="rId10"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7.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0.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5.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0.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1.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6.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7.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8.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9.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0.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1.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2.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3.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4.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5.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7.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8.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9.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0.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1.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3.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4.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9.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0.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61.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2.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5.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7.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8.sv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9.sv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70.sv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71.sv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21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Responsible AI and Its Limits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LEARNING, LANGUAGE AND RESPONSIBLE AI</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21  ·  WEEK 16</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217     </a:t>
            </a:r>
            <a:fld id="{D1D9FC4D-1896-42B4-9CA9-69CAF9FA84CA}"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8701264"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8701264" y="2029967"/>
            <a:ext cx="2713191"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48062"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566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5758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9661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741435"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6499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50961"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5952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60488"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4690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970014"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87857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88685"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38868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Responsible AI and Its Limits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4">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4">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4"/>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68" name="!!chipBU1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13  </a:t>
            </a:r>
            <a:r>
              <a:rPr sz="1400" b="0" i="0">
                <a:solidFill>
                  <a:srgbClr val="1C252B"/>
                </a:solidFill>
                <a:latin typeface="Segoe UI"/>
              </a:rPr>
              <a:t>Rule-Based Expert Systems</a:t>
            </a:r>
          </a:p>
        </p:txBody>
      </p:sp>
      <p:sp>
        <p:nvSpPr>
          <p:cNvPr id="71" name="!!chipBU20">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20">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20"/>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2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2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2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Artificial Intelligence Project</a:t>
            </a:r>
          </a:p>
        </p:txBody>
      </p:sp>
      <p:sp>
        <p:nvSpPr>
          <p:cNvPr id="7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pfill">
            <a:extLst>
              <a:ext uri="{C183D7F6-B498-43B3-948B-1728B52AA6E4}">
                <adec:decorative xmlns:adec="http://schemas.microsoft.com/office/drawing/2017/decorative" val="1"/>
              </a:ext>
            </a:extLst>
          </p:cNvPr>
          <p:cNvSpPr/>
          <p:nvPr/>
        </p:nvSpPr>
        <p:spPr>
          <a:xfrm>
            <a:off x="0" y="0"/>
            <a:ext cx="42040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217     </a:t>
            </a:r>
            <a:fld id="{0E815ADE-ED97-47A9-9F11-A18AB5520C6B}"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Identify</a:t>
            </a:r>
            <a:r>
              <a:rPr sz="2100" b="0" i="0">
                <a:solidFill>
                  <a:srgbClr val="1C252B"/>
                </a:solidFill>
                <a:latin typeface="Segoe UI"/>
              </a:rPr>
              <a:t> the points at which bias enters a rule-based system, none of which require anyone to intend it.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Audit</a:t>
            </a:r>
            <a:r>
              <a:rPr sz="2100" b="0" i="0">
                <a:solidFill>
                  <a:srgbClr val="1C252B"/>
                </a:solidFill>
                <a:latin typeface="Segoe UI"/>
              </a:rPr>
              <a:t> a deployed rule set for differential treatment, and </a:t>
            </a:r>
            <a:r>
              <a:rPr sz="2100" b="1" i="0">
                <a:solidFill>
                  <a:srgbClr val="1C252B"/>
                </a:solidFill>
                <a:latin typeface="Segoe UI"/>
              </a:rPr>
              <a:t>present</a:t>
            </a:r>
            <a:r>
              <a:rPr sz="2100" b="0" i="0">
                <a:solidFill>
                  <a:srgbClr val="1C252B"/>
                </a:solidFill>
                <a:latin typeface="Segoe UI"/>
              </a:rPr>
              <a:t> the evidence.</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Argue</a:t>
            </a:r>
            <a:r>
              <a:rPr sz="2100" b="0" i="0">
                <a:solidFill>
                  <a:srgbClr val="1C252B"/>
                </a:solidFill>
                <a:latin typeface="Segoe UI"/>
              </a:rPr>
              <a:t> why an explanation is an accountability artefact rather than a convenience.</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318711"/>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State</a:t>
            </a:r>
            <a:r>
              <a:rPr sz="2100" b="0" i="0">
                <a:solidFill>
                  <a:srgbClr val="1C252B"/>
                </a:solidFill>
                <a:latin typeface="Segoe UI"/>
              </a:rPr>
              <a:t> the computational limits of the methods in this book, with numbers.</a:t>
            </a:r>
          </a:p>
        </p:txBody>
      </p:sp>
      <p:sp>
        <p:nvSpPr>
          <p:cNvPr id="20" name="!!ob4">
            <a:extLst>
              <a:ext uri="{C183D7F6-B498-43B3-948B-1728B52AA6E4}">
                <adec:decorative xmlns:adec="http://schemas.microsoft.com/office/drawing/2017/decorative" val="1"/>
              </a:ext>
            </a:extLst>
          </p:cNvPr>
          <p:cNvSpPr/>
          <p:nvPr/>
        </p:nvSpPr>
        <p:spPr>
          <a:xfrm>
            <a:off x="658368" y="4881067"/>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4940503"/>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4871923"/>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Recognise</a:t>
            </a:r>
            <a:r>
              <a:rPr sz="2100" b="0" i="0">
                <a:solidFill>
                  <a:srgbClr val="1C252B"/>
                </a:solidFill>
                <a:latin typeface="Segoe UI"/>
              </a:rPr>
              <a:t> brittleness at the edge of competence, and </a:t>
            </a:r>
            <a:r>
              <a:rPr sz="2100" b="1" i="0">
                <a:solidFill>
                  <a:srgbClr val="1C252B"/>
                </a:solidFill>
                <a:latin typeface="Segoe UI"/>
              </a:rPr>
              <a:t>distinguish</a:t>
            </a:r>
            <a:r>
              <a:rPr sz="2100" b="0" i="0">
                <a:solidFill>
                  <a:srgbClr val="1C252B"/>
                </a:solidFill>
                <a:latin typeface="Segoe UI"/>
              </a:rPr>
              <a:t> it from ordinary error.</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306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217     </a:t>
            </a:r>
            <a:fld id="{0DD91F4E-4E9B-4732-AFA8-BB2F36A4A91B}" type="slidenum">
              <a:rPr lang="en-GB" sz="1000">
                <a:solidFill>
                  <a:srgbClr val="8795A1"/>
                </a:solidFill>
                <a:latin typeface="Segoe UI"/>
              </a:rPr>
              <a:t>4</a:t>
            </a:fld>
          </a:p>
        </p:txBody>
      </p:sp>
      <p:sp>
        <p:nvSpPr>
          <p:cNvPr id="7" name="!!term-bias">
            <a:extLst>
              <a:ext uri="{C183D7F6-B498-43B3-948B-1728B52AA6E4}">
                <adec:decorative xmlns:adec="http://schemas.microsoft.com/office/drawing/2017/decorative" val="1"/>
              </a:ext>
            </a:extLst>
          </p:cNvPr>
          <p:cNvSpPr/>
          <p:nvPr/>
        </p:nvSpPr>
        <p:spPr>
          <a:xfrm>
            <a:off x="658368" y="1847088"/>
            <a:ext cx="80431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bias">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bias"/>
          <p:cNvSpPr txBox="1"/>
          <p:nvPr/>
        </p:nvSpPr>
        <p:spPr>
          <a:xfrm>
            <a:off x="950976" y="1962911"/>
            <a:ext cx="62143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bias</a:t>
            </a:r>
          </a:p>
        </p:txBody>
      </p:sp>
      <p:sp>
        <p:nvSpPr>
          <p:cNvPr id="10" name="!!term-proxy variable">
            <a:extLst>
              <a:ext uri="{C183D7F6-B498-43B3-948B-1728B52AA6E4}">
                <adec:decorative xmlns:adec="http://schemas.microsoft.com/office/drawing/2017/decorative" val="1"/>
              </a:ext>
            </a:extLst>
          </p:cNvPr>
          <p:cNvSpPr/>
          <p:nvPr/>
        </p:nvSpPr>
        <p:spPr>
          <a:xfrm>
            <a:off x="1608990" y="1847088"/>
            <a:ext cx="17194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roxy variable">
            <a:extLst>
              <a:ext uri="{C183D7F6-B498-43B3-948B-1728B52AA6E4}">
                <adec:decorative xmlns:adec="http://schemas.microsoft.com/office/drawing/2017/decorative" val="1"/>
              </a:ext>
            </a:extLst>
          </p:cNvPr>
          <p:cNvSpPr/>
          <p:nvPr/>
        </p:nvSpPr>
        <p:spPr>
          <a:xfrm>
            <a:off x="173700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roxy variable"/>
          <p:cNvSpPr txBox="1"/>
          <p:nvPr/>
        </p:nvSpPr>
        <p:spPr>
          <a:xfrm>
            <a:off x="1901598" y="1962911"/>
            <a:ext cx="153657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proxy variable</a:t>
            </a:r>
          </a:p>
        </p:txBody>
      </p:sp>
      <p:sp>
        <p:nvSpPr>
          <p:cNvPr id="13" name="!!term-differential t">
            <a:extLst>
              <a:ext uri="{C183D7F6-B498-43B3-948B-1728B52AA6E4}">
                <adec:decorative xmlns:adec="http://schemas.microsoft.com/office/drawing/2017/decorative" val="1"/>
              </a:ext>
            </a:extLst>
          </p:cNvPr>
          <p:cNvSpPr/>
          <p:nvPr/>
        </p:nvSpPr>
        <p:spPr>
          <a:xfrm>
            <a:off x="3474751" y="1847088"/>
            <a:ext cx="23808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differential t">
            <a:extLst>
              <a:ext uri="{C183D7F6-B498-43B3-948B-1728B52AA6E4}">
                <adec:decorative xmlns:adec="http://schemas.microsoft.com/office/drawing/2017/decorative" val="1"/>
              </a:ext>
            </a:extLst>
          </p:cNvPr>
          <p:cNvSpPr/>
          <p:nvPr/>
        </p:nvSpPr>
        <p:spPr>
          <a:xfrm>
            <a:off x="360276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differential t"/>
          <p:cNvSpPr txBox="1"/>
          <p:nvPr/>
        </p:nvSpPr>
        <p:spPr>
          <a:xfrm>
            <a:off x="3767359" y="1962911"/>
            <a:ext cx="21980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differential treatment</a:t>
            </a:r>
          </a:p>
        </p:txBody>
      </p:sp>
      <p:sp>
        <p:nvSpPr>
          <p:cNvPr id="16" name="!!term-disparate impa">
            <a:extLst>
              <a:ext uri="{C183D7F6-B498-43B3-948B-1728B52AA6E4}">
                <adec:decorative xmlns:adec="http://schemas.microsoft.com/office/drawing/2017/decorative" val="1"/>
              </a:ext>
            </a:extLst>
          </p:cNvPr>
          <p:cNvSpPr/>
          <p:nvPr/>
        </p:nvSpPr>
        <p:spPr>
          <a:xfrm>
            <a:off x="6001946" y="1847088"/>
            <a:ext cx="196136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disparate impa">
            <a:extLst>
              <a:ext uri="{C183D7F6-B498-43B3-948B-1728B52AA6E4}">
                <adec:decorative xmlns:adec="http://schemas.microsoft.com/office/drawing/2017/decorative" val="1"/>
              </a:ext>
            </a:extLst>
          </p:cNvPr>
          <p:cNvSpPr/>
          <p:nvPr/>
        </p:nvSpPr>
        <p:spPr>
          <a:xfrm>
            <a:off x="612996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disparate impa"/>
          <p:cNvSpPr txBox="1"/>
          <p:nvPr/>
        </p:nvSpPr>
        <p:spPr>
          <a:xfrm>
            <a:off x="6294554" y="1962911"/>
            <a:ext cx="177848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disparate impact</a:t>
            </a:r>
          </a:p>
        </p:txBody>
      </p:sp>
      <p:sp>
        <p:nvSpPr>
          <p:cNvPr id="19" name="!!term-audit">
            <a:extLst>
              <a:ext uri="{C183D7F6-B498-43B3-948B-1728B52AA6E4}">
                <adec:decorative xmlns:adec="http://schemas.microsoft.com/office/drawing/2017/decorative" val="1"/>
              </a:ext>
            </a:extLst>
          </p:cNvPr>
          <p:cNvSpPr/>
          <p:nvPr/>
        </p:nvSpPr>
        <p:spPr>
          <a:xfrm>
            <a:off x="8109614" y="1847088"/>
            <a:ext cx="9042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audit">
            <a:extLst>
              <a:ext uri="{C183D7F6-B498-43B3-948B-1728B52AA6E4}">
                <adec:decorative xmlns:adec="http://schemas.microsoft.com/office/drawing/2017/decorative" val="1"/>
              </a:ext>
            </a:extLst>
          </p:cNvPr>
          <p:cNvSpPr/>
          <p:nvPr/>
        </p:nvSpPr>
        <p:spPr>
          <a:xfrm>
            <a:off x="823763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audit"/>
          <p:cNvSpPr txBox="1"/>
          <p:nvPr/>
        </p:nvSpPr>
        <p:spPr>
          <a:xfrm>
            <a:off x="8402222" y="1962911"/>
            <a:ext cx="72133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audit</a:t>
            </a:r>
          </a:p>
        </p:txBody>
      </p:sp>
      <p:sp>
        <p:nvSpPr>
          <p:cNvPr id="22" name="!!term-explainability">
            <a:extLst>
              <a:ext uri="{C183D7F6-B498-43B3-948B-1728B52AA6E4}">
                <adec:decorative xmlns:adec="http://schemas.microsoft.com/office/drawing/2017/decorative" val="1"/>
              </a:ext>
            </a:extLst>
          </p:cNvPr>
          <p:cNvSpPr/>
          <p:nvPr/>
        </p:nvSpPr>
        <p:spPr>
          <a:xfrm>
            <a:off x="9160137" y="1847088"/>
            <a:ext cx="163586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xplainability">
            <a:extLst>
              <a:ext uri="{C183D7F6-B498-43B3-948B-1728B52AA6E4}">
                <adec:decorative xmlns:adec="http://schemas.microsoft.com/office/drawing/2017/decorative" val="1"/>
              </a:ext>
            </a:extLst>
          </p:cNvPr>
          <p:cNvSpPr/>
          <p:nvPr/>
        </p:nvSpPr>
        <p:spPr>
          <a:xfrm>
            <a:off x="928815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xplainability"/>
          <p:cNvSpPr txBox="1"/>
          <p:nvPr/>
        </p:nvSpPr>
        <p:spPr>
          <a:xfrm>
            <a:off x="9452745" y="1962911"/>
            <a:ext cx="145298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explainability</a:t>
            </a:r>
          </a:p>
        </p:txBody>
      </p:sp>
      <p:sp>
        <p:nvSpPr>
          <p:cNvPr id="25" name="!!term-accountability">
            <a:extLst>
              <a:ext uri="{C183D7F6-B498-43B3-948B-1728B52AA6E4}">
                <adec:decorative xmlns:adec="http://schemas.microsoft.com/office/drawing/2017/decorative" val="1"/>
              </a:ext>
            </a:extLst>
          </p:cNvPr>
          <p:cNvSpPr/>
          <p:nvPr/>
        </p:nvSpPr>
        <p:spPr>
          <a:xfrm>
            <a:off x="658368" y="2468880"/>
            <a:ext cx="171068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accountability">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accountability"/>
          <p:cNvSpPr txBox="1"/>
          <p:nvPr/>
        </p:nvSpPr>
        <p:spPr>
          <a:xfrm>
            <a:off x="950976" y="2584704"/>
            <a:ext cx="152780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accountability</a:t>
            </a:r>
          </a:p>
        </p:txBody>
      </p:sp>
      <p:sp>
        <p:nvSpPr>
          <p:cNvPr id="28" name="!!term-contestability">
            <a:extLst>
              <a:ext uri="{C183D7F6-B498-43B3-948B-1728B52AA6E4}">
                <adec:decorative xmlns:adec="http://schemas.microsoft.com/office/drawing/2017/decorative" val="1"/>
              </a:ext>
            </a:extLst>
          </p:cNvPr>
          <p:cNvSpPr/>
          <p:nvPr/>
        </p:nvSpPr>
        <p:spPr>
          <a:xfrm>
            <a:off x="2515355" y="2468880"/>
            <a:ext cx="165863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ontestability">
            <a:extLst>
              <a:ext uri="{C183D7F6-B498-43B3-948B-1728B52AA6E4}">
                <adec:decorative xmlns:adec="http://schemas.microsoft.com/office/drawing/2017/decorative" val="1"/>
              </a:ext>
            </a:extLst>
          </p:cNvPr>
          <p:cNvSpPr/>
          <p:nvPr/>
        </p:nvSpPr>
        <p:spPr>
          <a:xfrm>
            <a:off x="264337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ontestability"/>
          <p:cNvSpPr txBox="1"/>
          <p:nvPr/>
        </p:nvSpPr>
        <p:spPr>
          <a:xfrm>
            <a:off x="2807963" y="2584704"/>
            <a:ext cx="147575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contestability</a:t>
            </a:r>
          </a:p>
        </p:txBody>
      </p:sp>
      <p:sp>
        <p:nvSpPr>
          <p:cNvPr id="31" name="!!term-automation bia">
            <a:extLst>
              <a:ext uri="{C183D7F6-B498-43B3-948B-1728B52AA6E4}">
                <adec:decorative xmlns:adec="http://schemas.microsoft.com/office/drawing/2017/decorative" val="1"/>
              </a:ext>
            </a:extLst>
          </p:cNvPr>
          <p:cNvSpPr/>
          <p:nvPr/>
        </p:nvSpPr>
        <p:spPr>
          <a:xfrm>
            <a:off x="4320294" y="2468880"/>
            <a:ext cx="19187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automation bia">
            <a:extLst>
              <a:ext uri="{C183D7F6-B498-43B3-948B-1728B52AA6E4}">
                <adec:decorative xmlns:adec="http://schemas.microsoft.com/office/drawing/2017/decorative" val="1"/>
              </a:ext>
            </a:extLst>
          </p:cNvPr>
          <p:cNvSpPr/>
          <p:nvPr/>
        </p:nvSpPr>
        <p:spPr>
          <a:xfrm>
            <a:off x="444831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automation bia"/>
          <p:cNvSpPr txBox="1"/>
          <p:nvPr/>
        </p:nvSpPr>
        <p:spPr>
          <a:xfrm>
            <a:off x="4612902" y="2584704"/>
            <a:ext cx="173587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automation bias</a:t>
            </a:r>
          </a:p>
        </p:txBody>
      </p:sp>
      <p:sp>
        <p:nvSpPr>
          <p:cNvPr id="34" name="!!term-brittleness">
            <a:extLst>
              <a:ext uri="{C183D7F6-B498-43B3-948B-1728B52AA6E4}">
                <adec:decorative xmlns:adec="http://schemas.microsoft.com/office/drawing/2017/decorative" val="1"/>
              </a:ext>
            </a:extLst>
          </p:cNvPr>
          <p:cNvSpPr/>
          <p:nvPr/>
        </p:nvSpPr>
        <p:spPr>
          <a:xfrm>
            <a:off x="6385349" y="2468880"/>
            <a:ext cx="138362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brittleness">
            <a:extLst>
              <a:ext uri="{C183D7F6-B498-43B3-948B-1728B52AA6E4}">
                <adec:decorative xmlns:adec="http://schemas.microsoft.com/office/drawing/2017/decorative" val="1"/>
              </a:ext>
            </a:extLst>
          </p:cNvPr>
          <p:cNvSpPr/>
          <p:nvPr/>
        </p:nvSpPr>
        <p:spPr>
          <a:xfrm>
            <a:off x="651336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brittleness"/>
          <p:cNvSpPr txBox="1"/>
          <p:nvPr/>
        </p:nvSpPr>
        <p:spPr>
          <a:xfrm>
            <a:off x="6677957" y="2584704"/>
            <a:ext cx="120074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brittleness</a:t>
            </a:r>
          </a:p>
        </p:txBody>
      </p:sp>
      <p:sp>
        <p:nvSpPr>
          <p:cNvPr id="37" name="!!term-graceful degra">
            <a:extLst>
              <a:ext uri="{C183D7F6-B498-43B3-948B-1728B52AA6E4}">
                <adec:decorative xmlns:adec="http://schemas.microsoft.com/office/drawing/2017/decorative" val="1"/>
              </a:ext>
            </a:extLst>
          </p:cNvPr>
          <p:cNvSpPr/>
          <p:nvPr/>
        </p:nvSpPr>
        <p:spPr>
          <a:xfrm>
            <a:off x="7915275" y="2468880"/>
            <a:ext cx="234884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graceful degra">
            <a:extLst>
              <a:ext uri="{C183D7F6-B498-43B3-948B-1728B52AA6E4}">
                <adec:decorative xmlns:adec="http://schemas.microsoft.com/office/drawing/2017/decorative" val="1"/>
              </a:ext>
            </a:extLst>
          </p:cNvPr>
          <p:cNvSpPr/>
          <p:nvPr/>
        </p:nvSpPr>
        <p:spPr>
          <a:xfrm>
            <a:off x="804329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graceful degra"/>
          <p:cNvSpPr txBox="1"/>
          <p:nvPr/>
        </p:nvSpPr>
        <p:spPr>
          <a:xfrm>
            <a:off x="8207882" y="2584704"/>
            <a:ext cx="216596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graceful degradation</a:t>
            </a:r>
          </a:p>
        </p:txBody>
      </p:sp>
      <p:sp>
        <p:nvSpPr>
          <p:cNvPr id="40" name="!!term-intractability">
            <a:extLst>
              <a:ext uri="{C183D7F6-B498-43B3-948B-1728B52AA6E4}">
                <adec:decorative xmlns:adec="http://schemas.microsoft.com/office/drawing/2017/decorative" val="1"/>
              </a:ext>
            </a:extLst>
          </p:cNvPr>
          <p:cNvSpPr/>
          <p:nvPr/>
        </p:nvSpPr>
        <p:spPr>
          <a:xfrm>
            <a:off x="658368" y="3090672"/>
            <a:ext cx="15687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intractability">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intractability"/>
          <p:cNvSpPr txBox="1"/>
          <p:nvPr/>
        </p:nvSpPr>
        <p:spPr>
          <a:xfrm>
            <a:off x="950976" y="3206496"/>
            <a:ext cx="13858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intractability</a:t>
            </a:r>
          </a:p>
        </p:txBody>
      </p:sp>
      <p:sp>
        <p:nvSpPr>
          <p:cNvPr id="43" name="!!term-the limits of ">
            <a:extLst>
              <a:ext uri="{C183D7F6-B498-43B3-948B-1728B52AA6E4}">
                <adec:decorative xmlns:adec="http://schemas.microsoft.com/office/drawing/2017/decorative" val="1"/>
              </a:ext>
            </a:extLst>
          </p:cNvPr>
          <p:cNvSpPr/>
          <p:nvPr/>
        </p:nvSpPr>
        <p:spPr>
          <a:xfrm>
            <a:off x="2373380" y="3090672"/>
            <a:ext cx="27046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the limits of ">
            <a:extLst>
              <a:ext uri="{C183D7F6-B498-43B3-948B-1728B52AA6E4}">
                <adec:decorative xmlns:adec="http://schemas.microsoft.com/office/drawing/2017/decorative" val="1"/>
              </a:ext>
            </a:extLst>
          </p:cNvPr>
          <p:cNvSpPr/>
          <p:nvPr/>
        </p:nvSpPr>
        <p:spPr>
          <a:xfrm>
            <a:off x="250139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the limits of "/>
          <p:cNvSpPr txBox="1"/>
          <p:nvPr/>
        </p:nvSpPr>
        <p:spPr>
          <a:xfrm>
            <a:off x="2665988" y="3206496"/>
            <a:ext cx="25217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the limits of competence</a:t>
            </a:r>
          </a:p>
        </p:txBody>
      </p:sp>
      <p:sp>
        <p:nvSpPr>
          <p:cNvPr id="46"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8408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217–227     </a:t>
            </a:r>
            <a:fld id="{5847793F-DD18-4286-964F-D8E6EE6360D2}" type="slidenum">
              <a:rPr lang="en-GB" sz="1000">
                <a:solidFill>
                  <a:srgbClr val="8795A1"/>
                </a:solidFill>
                <a:latin typeface="Segoe UI"/>
              </a:rPr>
              <a:t>5</a:t>
            </a:fld>
          </a:p>
        </p:txBody>
      </p:sp>
      <p:sp>
        <p:nvSpPr>
          <p:cNvPr id="7" name="!!ag0" descr="Go to section 21.1 Nobody Intended It">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Nobody Intended It</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217  ›</a:t>
            </a:r>
          </a:p>
        </p:txBody>
      </p:sp>
      <p:sp>
        <p:nvSpPr>
          <p:cNvPr id="12" name="!!ag1" descr="Go to section 21.2 Where Bias Enters a Rule Bas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Where Bias Enters a Rule Base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217  ›</a:t>
            </a:r>
          </a:p>
        </p:txBody>
      </p:sp>
      <p:sp>
        <p:nvSpPr>
          <p:cNvPr id="17" name="!!ag2" descr="Go to section 21.3 Auditing a Deployed Rule Set">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Auditing a Deployed Rule Set</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218  ›</a:t>
            </a:r>
          </a:p>
        </p:txBody>
      </p:sp>
      <p:sp>
        <p:nvSpPr>
          <p:cNvPr id="22" name="!!ag3" descr="Go to section 21.4 Explanation as Accountability">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Explanation as Accountability</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219  ›</a:t>
            </a:r>
          </a:p>
        </p:txBody>
      </p:sp>
      <p:sp>
        <p:nvSpPr>
          <p:cNvPr id="27" name="!!ag4" descr="Go to section 21.5 Brittleness and the Edge of Competenc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Brittleness and the Edge of Competence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220  ›</a:t>
            </a:r>
          </a:p>
        </p:txBody>
      </p:sp>
      <p:sp>
        <p:nvSpPr>
          <p:cNvPr id="32" name="!!ag5" descr="Go to section 21.6 Computational Limit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Computational Limits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220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5100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Nobody Intended It</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§21.1  ·  Handout p. 217     </a:t>
            </a:r>
            <a:fld id="{461E0EA0-3E97-412C-A1CC-FE0D7ABA84D8}"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27507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Chapter 13’s escalation adviser is twenty rules about severity, customer tier, workarounds and on-call budgets. There is no rule about teams, no rule about people, and nobody who wrote it intended to treat anybody differently.</a:t>
            </a:r>
          </a:p>
        </p:txBody>
      </p:sp>
      <p:sp>
        <p:nvSpPr>
          <p:cNvPr id="9" name="body-1"/>
          <p:cNvSpPr txBox="1"/>
          <p:nvPr/>
        </p:nvSpPr>
        <p:spPr>
          <a:xfrm>
            <a:off x="1042415" y="3551809"/>
            <a:ext cx="10417759" cy="83820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Run it over two hundred tickets and it escalates </a:t>
            </a:r>
            <a:r>
              <a:rPr sz="2500" b="0" i="0">
                <a:solidFill>
                  <a:srgbClr val="1C252B"/>
                </a:solidFill>
                <a:latin typeface="Cambria"/>
              </a:rPr>
              <a:t>43%</a:t>
            </a:r>
            <a:r>
              <a:rPr sz="2500" b="0" i="0">
                <a:solidFill>
                  <a:srgbClr val="1C252B"/>
                </a:solidFill>
                <a:latin typeface="Segoe UI"/>
              </a:rPr>
              <a:t> of the ones reported by one team and </a:t>
            </a:r>
            <a:r>
              <a:rPr sz="2500" b="0" i="0">
                <a:solidFill>
                  <a:srgbClr val="1C252B"/>
                </a:solidFill>
                <a:latin typeface="Cambria"/>
              </a:rPr>
              <a:t>21%</a:t>
            </a:r>
            <a:r>
              <a:rPr sz="2500" b="0" i="0">
                <a:solidFill>
                  <a:srgbClr val="1C252B"/>
                </a:solidFill>
                <a:latin typeface="Segoe UI"/>
              </a:rPr>
              <a:t> of those reported by another.</a:t>
            </a:r>
          </a:p>
        </p:txBody>
      </p:sp>
      <p:sp>
        <p:nvSpPr>
          <p:cNvPr id="10" name="body-2"/>
          <p:cNvSpPr txBox="1"/>
          <p:nvPr/>
        </p:nvSpPr>
        <p:spPr>
          <a:xfrm>
            <a:off x="1042415" y="4518914"/>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That is this chapter. Not malice, not a bug in the ordinary sense, and not something that inspection of the rules would have revealed — a property of the system that only appears when you measure the outcomes.</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26120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Where Bias Enters a Rule Base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Nobody Intended It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21.2   Where Bias Enters a Rule Base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21.3   Auditing a Deployed Rule Set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21.4   Explanation as Accountability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21.5   Brittleness and the Edge of Competence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21.6   Computational Limits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§21.2     </a:t>
            </a:r>
            <a:fld id="{B395AA6A-4000-49D0-89B9-05B92240BF66}"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47141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ways bias enters a system whose rules mention nothing sensitive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21.1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§21.2  ·  Handout p. 217     </a:t>
            </a:r>
            <a:fld id="{49769383-B0DD-4DA1-8DA1-6CF68F3A4699}" type="slidenum">
              <a:rPr lang="en-GB" sz="1000">
                <a:solidFill>
                  <a:srgbClr val="8795A1"/>
                </a:solidFill>
                <a:latin typeface="Segoe UI"/>
              </a:rPr>
              <a:t>8</a:t>
            </a:fld>
          </a:p>
        </p:txBody>
      </p:sp>
      <p:pic>
        <p:nvPicPr>
          <p:cNvPr id="6" name="!!figure" descr="Figure 21.1. Four ways bias enters a system whose rules mention nothing sensitive. The first — a proxy variable — is the one that survives every attempt to fix the problem by deleting column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15162"/>
            <a:ext cx="10874959" cy="3565364"/>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first — a proxy variable — is the one that survives every attempt to fix the problem by deleting columns.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8161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Deleting the sensitive attribute does not work</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§21.2  ·  Handout p. 217     </a:t>
            </a:r>
            <a:fld id="{ECF01D40-C7B8-4250-9CA6-C121E5269CC3}"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6044"/>
          </a:xfrm>
          <a:prstGeom prst="roundRect">
            <a:avLst>
              <a:gd name="adj" fmla="val 207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604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instinctive fix is to remove the team name from the inputs. The escalation adviser never had it.</a:t>
            </a:r>
          </a:p>
        </p:txBody>
      </p:sp>
      <p:sp>
        <p:nvSpPr>
          <p:cNvPr id="10" name="body-1"/>
          <p:cNvSpPr txBox="1"/>
          <p:nvPr/>
        </p:nvSpPr>
        <p:spPr>
          <a:xfrm>
            <a:off x="1060704" y="2899308"/>
            <a:ext cx="10161727"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Proxies are the reason. </a:t>
            </a:r>
            <a:r>
              <a:rPr sz="2050" b="0" i="0">
                <a:solidFill>
                  <a:srgbClr val="1F4E79"/>
                </a:solidFill>
                <a:latin typeface="Consolas"/>
              </a:rPr>
              <a:t>workaround = yes</a:t>
            </a:r>
            <a:r>
              <a:rPr sz="2200" b="0" i="0">
                <a:solidFill>
                  <a:srgbClr val="1C252B"/>
                </a:solidFill>
                <a:latin typeface="Segoe UI"/>
              </a:rPr>
              <a:t> correlates with team maturity; severity correlates with reporter experience; both are legitimate operational facts that a rule ought to use. Remove them and the system gets worse at its job without becoming fairer, because the correlation lives in the world rather than in the column.</a:t>
            </a:r>
          </a:p>
        </p:txBody>
      </p:sp>
      <p:sp>
        <p:nvSpPr>
          <p:cNvPr id="11" name="body-2"/>
          <p:cNvSpPr txBox="1"/>
          <p:nvPr/>
        </p:nvSpPr>
        <p:spPr>
          <a:xfrm>
            <a:off x="1060704" y="4796434"/>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This is why </a:t>
            </a:r>
            <a:r>
              <a:rPr sz="2200" b="0" i="1">
                <a:solidFill>
                  <a:srgbClr val="1C252B"/>
                </a:solidFill>
                <a:latin typeface="Segoe UI"/>
              </a:rPr>
              <a:t>fairness through unawareness</a:t>
            </a:r>
            <a:r>
              <a:rPr sz="2200" b="0" i="0">
                <a:solidFill>
                  <a:srgbClr val="1C252B"/>
                </a:solidFill>
                <a:latin typeface="Segoe UI"/>
              </a:rPr>
              <a:t> — not looking — is the one approach that reliably fails. The alternative is not to look less but to measure more: keep the sensitive attribute </a:t>
            </a:r>
            <a:r>
              <a:rPr sz="2200" b="0" i="1">
                <a:solidFill>
                  <a:srgbClr val="1C252B"/>
                </a:solidFill>
                <a:latin typeface="Segoe UI"/>
              </a:rPr>
              <a:t>for the audit</a:t>
            </a:r>
            <a:r>
              <a:rPr sz="2200" b="0" i="0">
                <a:solidFill>
                  <a:srgbClr val="1C252B"/>
                </a:solidFill>
                <a:latin typeface="Segoe UI"/>
              </a:rPr>
              <a:t>, and never for the decision.</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189181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Auditing a Deployed Rule Set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Nobody Intended It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21.2   Where Bias Enters a Rule Base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21.3   Auditing a Deployed Rule Set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21.4   Explanation as Accountability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21.5   Brittleness and the Edge of Competence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21.6   Computational Limits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§21.3     </a:t>
            </a:r>
            <a:fld id="{CEFE6017-F0EE-4EBC-B1A0-10FD4FA66B66}"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10201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a Deployed Rule Set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218     </a:t>
            </a:r>
            <a:fld id="{52C23A37-8492-4D25-B985-A7443918457C}"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42588"/>
          </a:xfrm>
          <a:prstGeom prst="roundRect">
            <a:avLst>
              <a:gd name="adj" fmla="val 2443"/>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425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166516"/>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1A5276"/>
                </a:solidFill>
                <a:latin typeface="Segoe UI"/>
              </a:rPr>
              <a:t>1.	</a:t>
            </a:r>
            <a:r>
              <a:rPr sz="2300" b="1" i="0">
                <a:solidFill>
                  <a:srgbClr val="1A5276"/>
                </a:solidFill>
                <a:latin typeface="Segoe UI"/>
              </a:rPr>
              <a:t>Measure the outcome rate per group.</a:t>
            </a:r>
            <a:r>
              <a:rPr sz="2300" b="0" i="0">
                <a:solidFill>
                  <a:srgbClr val="1C252B"/>
                </a:solidFill>
                <a:latin typeface="Segoe UI"/>
              </a:rPr>
              <a:t> Run the deployed system over a representative population and count.</a:t>
            </a:r>
          </a:p>
          <a:p>
            <a:pPr algn="l" marL="554820" indent="-554820">
              <a:lnSpc>
                <a:spcPct val="104000"/>
              </a:lnSpc>
              <a:spcBef>
                <a:spcPts val="0"/>
              </a:spcBef>
              <a:spcAft>
                <a:spcPts val="804"/>
              </a:spcAft>
            </a:pPr>
            <a:r>
              <a:rPr sz="2300" b="1">
                <a:solidFill>
                  <a:srgbClr val="1A5276"/>
                </a:solidFill>
                <a:latin typeface="Segoe UI"/>
              </a:rPr>
              <a:t>2.	</a:t>
            </a:r>
            <a:r>
              <a:rPr sz="2300" b="1" i="0">
                <a:solidFill>
                  <a:srgbClr val="1A5276"/>
                </a:solidFill>
                <a:latin typeface="Segoe UI"/>
              </a:rPr>
              <a:t>Find the rule responsible.</a:t>
            </a:r>
            <a:r>
              <a:rPr sz="2300" b="0" i="0">
                <a:solidFill>
                  <a:srgbClr val="1C252B"/>
                </a:solidFill>
                <a:latin typeface="Segoe UI"/>
              </a:rPr>
              <a:t> For each rule, ask what the gap would be if that rule were removed. The one whose removal closes the gap most is the one to examine.</a:t>
            </a:r>
          </a:p>
          <a:p>
            <a:pPr algn="l" marL="554820" indent="-554820">
              <a:lnSpc>
                <a:spcPct val="104000"/>
              </a:lnSpc>
              <a:spcBef>
                <a:spcPts val="0"/>
              </a:spcBef>
              <a:spcAft>
                <a:spcPts val="0"/>
              </a:spcAft>
            </a:pPr>
            <a:r>
              <a:rPr sz="2300" b="1">
                <a:solidFill>
                  <a:srgbClr val="1A5276"/>
                </a:solidFill>
                <a:latin typeface="Segoe UI"/>
              </a:rPr>
              <a:t>3.	</a:t>
            </a:r>
            <a:r>
              <a:rPr sz="2300" b="1" i="0">
                <a:solidFill>
                  <a:srgbClr val="1A5276"/>
                </a:solidFill>
                <a:latin typeface="Segoe UI"/>
              </a:rPr>
              <a:t>Read that rule’s explanation chain for an affected case</a:t>
            </a:r>
            <a:r>
              <a:rPr sz="2300" b="0" i="0">
                <a:solidFill>
                  <a:srgbClr val="1C252B"/>
                </a:solidFill>
                <a:latin typeface="Segoe UI"/>
              </a:rPr>
              <a:t>, and decide whether the reasoning is defensible. This is a human judgement and the chain is what makes it possible.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31221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audit, on two hundred tickets</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218     </a:t>
            </a:r>
            <a:fld id="{8C93B866-873E-4E1D-B814-ACD7D2129E11}"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09566"/>
          </a:xfrm>
          <a:prstGeom prst="roundRect">
            <a:avLst>
              <a:gd name="adj" fmla="val 2073"/>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0956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9461604" cy="1804412"/>
        </p:xfrm>
        <a:graphic>
          <a:graphicData uri="http://schemas.openxmlformats.org/drawingml/2006/table">
            <a:tbl>
              <a:tblPr firstRow="0" bandRow="0" firstCol="0" lastRow="0" lastCol="0" bandCol="0">
                <a:tableStyleId>{2D5ABB26-0587-4C30-8999-92F81FD0307C}</a:tableStyleId>
              </a:tblPr>
              <a:tblGrid>
                <a:gridCol w="3421151"/>
                <a:gridCol w="1413723"/>
                <a:gridCol w="1542243"/>
                <a:gridCol w="3084487"/>
              </a:tblGrid>
              <a:tr h="451103">
                <a:tc>
                  <a:txBody>
                    <a:bodyPr wrap="square"/>
                    <a:lstStyle/>
                    <a:p>
                      <a:pPr algn="l"/>
                      <a:r>
                        <a:rPr sz="2000" b="1" i="0">
                          <a:solidFill>
                            <a:srgbClr val="1A5276"/>
                          </a:solidFill>
                          <a:latin typeface="Segoe UI"/>
                        </a:rPr>
                        <a:t>Reporting team</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Tickets</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Escalated</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Rate</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51103">
                <a:tc>
                  <a:txBody>
                    <a:bodyPr wrap="square"/>
                    <a:lstStyle/>
                    <a:p>
                      <a:pPr algn="l"/>
                      <a:r>
                        <a:rPr sz="2000" b="0" i="0">
                          <a:solidFill>
                            <a:srgbClr val="1C252B"/>
                          </a:solidFill>
                          <a:latin typeface="Segoe UI"/>
                        </a:rPr>
                        <a:t>Platform (mature runbooks)</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100</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21</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Cambria"/>
                        </a:rPr>
                        <a:t>21%</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2000" b="0" i="0">
                          <a:solidFill>
                            <a:srgbClr val="1C252B"/>
                          </a:solidFill>
                          <a:latin typeface="Segoe UI"/>
                        </a:rPr>
                        <a:t>Payments (newer team)</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100</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43</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Cambria"/>
                        </a:rPr>
                        <a:t>43%</a:t>
                      </a:r>
                      <a:endParaRPr sz="2000"/>
                    </a:p>
                  </a:txBody>
                  <a:tcPr marL="109728" marR="109728" marT="64008" marB="45720" anchor="t">
                    <a:lnL w="0" cmpd="sng">
                      <a:noFill/>
                    </a:lnL>
                    <a:lnR w="0" cmpd="sng">
                      <a:noFill/>
                    </a:lnR>
                    <a:lnT w="9525" cmpd="sng">
                      <a:noFill/>
                    </a:lnT>
                    <a:lnB w="9525" cmpd="sng">
                      <a:noFill/>
                    </a:lnB>
                    <a:solidFill>
                      <a:srgbClr val="F2F8FC"/>
                    </a:solidFill>
                  </a:tcPr>
                </a:tc>
              </a:tr>
              <a:tr h="451103">
                <a:tc>
                  <a:txBody>
                    <a:bodyPr wrap="square"/>
                    <a:lstStyle/>
                    <a:p>
                      <a:pPr algn="l"/>
                      <a:r>
                        <a:rPr sz="2000" b="1" i="0">
                          <a:solidFill>
                            <a:srgbClr val="1C252B"/>
                          </a:solidFill>
                          <a:latin typeface="Segoe UI"/>
                        </a:rPr>
                        <a:t>Gap</a:t>
                      </a:r>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2000" b="1" i="0">
                          <a:solidFill>
                            <a:srgbClr val="1C252B"/>
                          </a:solidFill>
                          <a:latin typeface="Segoe UI"/>
                        </a:rPr>
                        <a:t>22 percentage points</a:t>
                      </a:r>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body-1"/>
          <p:cNvSpPr txBox="1"/>
          <p:nvPr/>
        </p:nvSpPr>
        <p:spPr>
          <a:xfrm>
            <a:off x="1060704" y="4013326"/>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Step 2 points at the pathway </a:t>
            </a:r>
            <a:r>
              <a:rPr sz="2300" b="1" i="0">
                <a:solidFill>
                  <a:srgbClr val="1C252B"/>
                </a:solidFill>
                <a:latin typeface="Segoe UI"/>
              </a:rPr>
              <a:t>R3</a:t>
            </a:r>
            <a:r>
              <a:rPr sz="2300" b="0" i="0">
                <a:solidFill>
                  <a:srgbClr val="1C252B"/>
                </a:solidFill>
                <a:latin typeface="Segoe UI"/>
              </a:rPr>
              <a:t> </a:t>
            </a:r>
            <a:r>
              <a:rPr sz="2300" b="0" i="0">
                <a:solidFill>
                  <a:srgbClr val="1C252B"/>
                </a:solidFill>
                <a:latin typeface="Cambria"/>
              </a:rPr>
              <a:t>→</a:t>
            </a:r>
            <a:r>
              <a:rPr sz="2300" b="0" i="0">
                <a:solidFill>
                  <a:srgbClr val="1C252B"/>
                </a:solidFill>
                <a:latin typeface="Segoe UI"/>
              </a:rPr>
              <a:t> </a:t>
            </a:r>
            <a:r>
              <a:rPr sz="2300" b="1" i="0">
                <a:solidFill>
                  <a:srgbClr val="1C252B"/>
                </a:solidFill>
                <a:latin typeface="Segoe UI"/>
              </a:rPr>
              <a:t>R7</a:t>
            </a:r>
            <a:r>
              <a:rPr sz="2300" b="0" i="0">
                <a:solidFill>
                  <a:srgbClr val="1C252B"/>
                </a:solidFill>
                <a:latin typeface="Segoe UI"/>
              </a:rPr>
              <a:t>: a major ticket from a standard-tier customer becomes P2 (R3), and a P2 with a workaround needs no owner (R7), so it is never escalated. Neither rule is wrong; both are entirely sensible. The disparity is that </a:t>
            </a:r>
            <a:r>
              <a:rPr sz="2150" b="0" i="0">
                <a:solidFill>
                  <a:srgbClr val="1F4E79"/>
                </a:solidFill>
                <a:latin typeface="Consolas"/>
              </a:rPr>
              <a:t>workaround</a:t>
            </a:r>
            <a:r>
              <a:rPr sz="2300" b="0" i="0">
                <a:solidFill>
                  <a:srgbClr val="1C252B"/>
                </a:solidFill>
                <a:latin typeface="Segoe UI"/>
              </a:rPr>
              <a:t> is recorded far more often by the team with mature runbooks, so that pathway fires overwhelmingly for one group.</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52241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Ablation has a trap, and the lab walks into it deliberately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218     </a:t>
            </a:r>
            <a:fld id="{F7F6308D-6BC8-42D8-AD7D-EF1565BB359A}"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6044"/>
          </a:xfrm>
          <a:prstGeom prst="roundRect">
            <a:avLst>
              <a:gd name="adj" fmla="val 207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604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Asked simply “which removal closes the gap most?”, the ablation answers </a:t>
            </a:r>
            <a:r>
              <a:rPr sz="2200" b="1" i="0">
                <a:solidFill>
                  <a:srgbClr val="1C252B"/>
                </a:solidFill>
                <a:latin typeface="Segoe UI"/>
              </a:rPr>
              <a:t>R9</a:t>
            </a:r>
            <a:r>
              <a:rPr sz="2200" b="0" i="0">
                <a:solidFill>
                  <a:srgbClr val="1C252B"/>
                </a:solidFill>
                <a:latin typeface="Segoe UI"/>
              </a:rPr>
              <a:t> — and closes the gap completely, to zero points.</a:t>
            </a:r>
          </a:p>
        </p:txBody>
      </p:sp>
      <p:sp>
        <p:nvSpPr>
          <p:cNvPr id="10" name="body-1"/>
          <p:cNvSpPr txBox="1"/>
          <p:nvPr/>
        </p:nvSpPr>
        <p:spPr>
          <a:xfrm>
            <a:off x="1060704" y="2899308"/>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R9 is the only rule that concludes </a:t>
            </a:r>
            <a:r>
              <a:rPr sz="2050" b="0" i="0">
                <a:solidFill>
                  <a:srgbClr val="1F4E79"/>
                </a:solidFill>
                <a:latin typeface="Consolas"/>
              </a:rPr>
              <a:t>escalate = yes</a:t>
            </a:r>
            <a:r>
              <a:rPr sz="2200" b="0" i="0">
                <a:solidFill>
                  <a:srgbClr val="1C252B"/>
                </a:solidFill>
                <a:latin typeface="Segoe UI"/>
              </a:rPr>
              <a:t>. Removing it means nothing is ever escalated, by anyone, so the rates are </a:t>
            </a:r>
            <a:r>
              <a:rPr sz="2200" b="0" i="0">
                <a:solidFill>
                  <a:srgbClr val="1C252B"/>
                </a:solidFill>
                <a:latin typeface="Cambria"/>
              </a:rPr>
              <a:t>0%</a:t>
            </a:r>
            <a:r>
              <a:rPr sz="2200" b="0" i="0">
                <a:solidFill>
                  <a:srgbClr val="1C252B"/>
                </a:solidFill>
                <a:latin typeface="Segoe UI"/>
              </a:rPr>
              <a:t> and </a:t>
            </a:r>
            <a:r>
              <a:rPr sz="2200" b="0" i="0">
                <a:solidFill>
                  <a:srgbClr val="1C252B"/>
                </a:solidFill>
                <a:latin typeface="Cambria"/>
              </a:rPr>
              <a:t>0%</a:t>
            </a:r>
            <a:r>
              <a:rPr sz="2200" b="0" i="0">
                <a:solidFill>
                  <a:srgbClr val="1C252B"/>
                </a:solidFill>
                <a:latin typeface="Segoe UI"/>
              </a:rPr>
              <a:t> and the disparity is perfect equality. The same happens with R5, which is upstream of it.</a:t>
            </a:r>
          </a:p>
        </p:txBody>
      </p:sp>
      <p:sp>
        <p:nvSpPr>
          <p:cNvPr id="11" name="body-2"/>
          <p:cNvSpPr txBox="1"/>
          <p:nvPr/>
        </p:nvSpPr>
        <p:spPr>
          <a:xfrm>
            <a:off x="1060704" y="4099052"/>
            <a:ext cx="10161727"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measure was satisfied by destroying the outcome. That is a general hazard of optimising a fairness metric rather than understanding a system, and the guard is simple: </a:t>
            </a:r>
            <a:r>
              <a:rPr sz="2200" b="0" i="1">
                <a:solidFill>
                  <a:srgbClr val="1C252B"/>
                </a:solidFill>
                <a:latin typeface="Segoe UI"/>
              </a:rPr>
              <a:t>report the overall rate alongside the gap</a:t>
            </a:r>
            <a:r>
              <a:rPr sz="2200" b="0" i="0">
                <a:solidFill>
                  <a:srgbClr val="1C252B"/>
                </a:solidFill>
                <a:latin typeface="Segoe UI"/>
              </a:rPr>
              <a:t>, and discard any ablation that collapses it. Among the rules that leave the outcome intact, R3 carries the gap — </a:t>
            </a:r>
            <a:r>
              <a:rPr sz="2200" b="0" i="0">
                <a:solidFill>
                  <a:srgbClr val="1C252B"/>
                </a:solidFill>
                <a:latin typeface="Cambria"/>
              </a:rPr>
              <a:t>22</a:t>
            </a:r>
            <a:r>
              <a:rPr sz="2200" b="0" i="0">
                <a:solidFill>
                  <a:srgbClr val="1C252B"/>
                </a:solidFill>
                <a:latin typeface="Segoe UI"/>
              </a:rPr>
              <a:t> points down to </a:t>
            </a:r>
            <a:r>
              <a:rPr sz="2200" b="0" i="0">
                <a:solidFill>
                  <a:srgbClr val="1C252B"/>
                </a:solidFill>
                <a:latin typeface="Cambria"/>
              </a:rPr>
              <a:t>9</a:t>
            </a:r>
            <a:r>
              <a:rPr sz="22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73262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a Deployed Rule Set</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218     </a:t>
            </a:r>
            <a:fld id="{4DC30953-797E-47C7-9E1E-91941CAB3662}"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104"/>
          </a:xfrm>
          <a:prstGeom prst="roundRect">
            <a:avLst>
              <a:gd name="adj" fmla="val 2083"/>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10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What should be done about it is not a technical question, and the audit’s value is that it makes the choice explicit rather than making it by default.</a:t>
            </a:r>
          </a:p>
        </p:txBody>
      </p:sp>
      <p:sp>
        <p:nvSpPr>
          <p:cNvPr id="10" name="body-1"/>
          <p:cNvSpPr txBox="1"/>
          <p:nvPr/>
        </p:nvSpPr>
        <p:spPr>
          <a:xfrm>
            <a:off x="1060704" y="2821939"/>
            <a:ext cx="10161727" cy="194767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Three defensible responses. </a:t>
            </a:r>
            <a:r>
              <a:rPr sz="2000" b="0" i="1">
                <a:solidFill>
                  <a:srgbClr val="1C252B"/>
                </a:solidFill>
                <a:latin typeface="Segoe UI"/>
              </a:rPr>
              <a:t>Accept it</a:t>
            </a:r>
            <a:r>
              <a:rPr sz="2000" b="0" i="0">
                <a:solidFill>
                  <a:srgbClr val="1C252B"/>
                </a:solidFill>
                <a:latin typeface="Segoe UI"/>
              </a:rPr>
              <a:t>: the teams genuinely differ in maturity, the escalations reflect real need, and the gap is the system working. Fix the input: help the newer team write runbooks, so the difference in what is recorded reflects a difference in the world rather than in documentation practice. Or </a:t>
            </a:r>
            <a:r>
              <a:rPr sz="2000" b="0" i="1">
                <a:solidFill>
                  <a:srgbClr val="1C252B"/>
                </a:solidFill>
                <a:latin typeface="Segoe UI"/>
              </a:rPr>
              <a:t>change the rule</a:t>
            </a:r>
            <a:r>
              <a:rPr sz="2000" b="0" i="0">
                <a:solidFill>
                  <a:srgbClr val="1C252B"/>
                </a:solidFill>
                <a:latin typeface="Segoe UI"/>
              </a:rPr>
              <a:t>: require an owner for P2 tickets from teams without an established runbook, regardless of the workaround field.</a:t>
            </a:r>
          </a:p>
        </p:txBody>
      </p:sp>
      <p:sp>
        <p:nvSpPr>
          <p:cNvPr id="11" name="body-2"/>
          <p:cNvSpPr txBox="1"/>
          <p:nvPr/>
        </p:nvSpPr>
        <p:spPr>
          <a:xfrm>
            <a:off x="1060704" y="4863592"/>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All three are reasonable. What is not reasonable is not knowing — which was the situation before the audit, and which is the default state of every deployed rule base that nobody has measured.</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94282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Explanation as Accountability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Nobody Intended It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21.2   Where Bias Enters a Rule Base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21.3   Auditing a Deployed Rule Set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21.4   Explanation as Accountability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21.5   Brittleness and the Edge of Competence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21.6   Computational Limits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§21.4     </a:t>
            </a:r>
            <a:fld id="{ECDB7FBF-CD5E-4A2F-A065-E28A110D7F59}" type="slidenum">
              <a:rPr lang="en-GB" sz="1000">
                <a:solidFill>
                  <a:srgbClr val="8795A1"/>
                </a:solidFill>
                <a:latin typeface="Segoe UI"/>
              </a:rPr>
              <a:t>15</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1530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Explanation as Accountability</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§21.4  ·  Handout p. 219     </a:t>
            </a:r>
            <a:fld id="{5FDCF108-7FD8-4C38-9D64-D34F8CA8459D}"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8" cy="3209544"/>
        </p:xfrm>
        <a:graphic>
          <a:graphicData uri="http://schemas.openxmlformats.org/drawingml/2006/table">
            <a:tbl>
              <a:tblPr firstRow="0" bandRow="0" firstCol="0" lastRow="0" lastCol="0" bandCol="0">
                <a:tableStyleId>{2D5ABB26-0587-4C30-8999-92F81FD0307C}</a:tableStyleId>
              </a:tblPr>
              <a:tblGrid>
                <a:gridCol w="2549990"/>
                <a:gridCol w="4124984"/>
                <a:gridCol w="4199984"/>
              </a:tblGrid>
              <a:tr h="405384">
                <a:tc>
                  <a:txBody>
                    <a:bodyPr wrap="square"/>
                    <a:lstStyle/>
                    <a:p>
                      <a:pPr algn="l"/>
                      <a:r>
                        <a:rPr sz="1700" b="1" i="0">
                          <a:solidFill>
                            <a:srgbClr val="1A5276"/>
                          </a:solidFill>
                          <a:latin typeface="Segoe UI"/>
                        </a:rPr>
                        <a:t>Question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Rule engine (Chapter 13)</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Learned model (Chapter 20)</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Why this outcome?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chain of rules and facts, checkable line by line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post-hoc rationale, generated the same way as the decision</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What would change it?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Read the chain: change any fact in it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Unclear without probing the model</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Who is responsible?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Whoever wrote the rule that fired — a named person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Diffuse: the data, the objective, the training</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Can a subject contest it?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Yes, on a specific step</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Only in general</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Can it be corrected?</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Edit one rule</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Retrain, and hope</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36322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Automation bias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§21.4  ·  Handout p. 219     </a:t>
            </a:r>
            <a:fld id="{F8C13C0C-FFAA-4998-B15C-2536ABB89A88}"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104"/>
          </a:xfrm>
          <a:prstGeom prst="roundRect">
            <a:avLst>
              <a:gd name="adj" fmla="val 2083"/>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10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There is a failure that belongs to the people rather than the system.</a:t>
            </a:r>
          </a:p>
        </p:txBody>
      </p:sp>
      <p:sp>
        <p:nvSpPr>
          <p:cNvPr id="10" name="body-1"/>
          <p:cNvSpPr txBox="1"/>
          <p:nvPr/>
        </p:nvSpPr>
        <p:spPr>
          <a:xfrm>
            <a:off x="1060704" y="2504947"/>
            <a:ext cx="10161727"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Given a system that is usually right, human reviewers stop reviewing. They accept the recommendation, including in the cases where they would have known better — and the effect is strongest exactly where the system is most often correct, because that is where the habit of deferring forms.</a:t>
            </a:r>
          </a:p>
        </p:txBody>
      </p:sp>
      <p:sp>
        <p:nvSpPr>
          <p:cNvPr id="11" name="body-2"/>
          <p:cNvSpPr txBox="1"/>
          <p:nvPr/>
        </p:nvSpPr>
        <p:spPr>
          <a:xfrm>
            <a:off x="1060704" y="3912615"/>
            <a:ext cx="10161727" cy="194767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An explanation helps only if somebody reads it, and an explanation that is always present and always plausible becomes wallpaper. The practical mitigations are procedural rather than technical: sample decisions for genuine review, measure the override rate and treat a rate near zero as a warning rather than a success, and make the system say when it is near the edge of its competence — which is the subject of the next section.</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57342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Brittleness and the Edge of Competence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§21.5  ·  Handout p. 220     </a:t>
            </a:r>
            <a:fld id="{1C42C7BF-DF2B-4B35-A861-8D0919B16AC5}"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Learned systems degrade more smoothly and </a:t>
            </a:r>
            <a:r>
              <a:rPr sz="2300" b="0" i="1">
                <a:solidFill>
                  <a:srgbClr val="1C252B"/>
                </a:solidFill>
                <a:latin typeface="Segoe UI"/>
              </a:rPr>
              <a:t>also</a:t>
            </a:r>
            <a:r>
              <a:rPr sz="2300" b="0" i="0">
                <a:solidFill>
                  <a:srgbClr val="1C252B"/>
                </a:solidFill>
                <a:latin typeface="Segoe UI"/>
              </a:rPr>
              <a:t> give no reliable signal: a language model is as fluent about things it has no basis for as about things it does. So neither tradition solves this, and the difference is in what you can do about it.</a:t>
            </a:r>
          </a:p>
        </p:txBody>
      </p:sp>
      <p:sp>
        <p:nvSpPr>
          <p:cNvPr id="10" name="body-1"/>
          <p:cNvSpPr txBox="1"/>
          <p:nvPr/>
        </p:nvSpPr>
        <p:spPr>
          <a:xfrm>
            <a:off x="1060704" y="3667074"/>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 rule base you can at least </a:t>
            </a:r>
            <a:r>
              <a:rPr sz="2300" b="0" i="1">
                <a:solidFill>
                  <a:srgbClr val="1C252B"/>
                </a:solidFill>
                <a:latin typeface="Segoe UI"/>
              </a:rPr>
              <a:t>characterise</a:t>
            </a:r>
            <a:r>
              <a:rPr sz="2300" b="0" i="0">
                <a:solidFill>
                  <a:srgbClr val="1C252B"/>
                </a:solidFill>
                <a:latin typeface="Segoe UI"/>
              </a:rPr>
              <a:t> the boundary, because the knowledge is explicit: enumerate the situations no rule covers, and say so. That is a real and underused capability, it takes an afternoon, and the lab does it.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78362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Computational Limits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Nobody Intended It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21.2   Where Bias Enters a Rule Base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21.3   Auditing a Deployed Rule Set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21.4   Explanation as Accountability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21.5   Brittleness and the Edge of Competence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21.6   Computational Limits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§21.6     </a:t>
            </a:r>
            <a:fld id="{7EE54B7B-D118-4D6B-BFBA-02EADCD5D7C9}" type="slidenum">
              <a:rPr lang="en-GB" sz="1000">
                <a:solidFill>
                  <a:srgbClr val="8795A1"/>
                </a:solidFill>
                <a:latin typeface="Segoe UI"/>
              </a:rPr>
              <a:t>19</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99383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Computational Limits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70AFBE71-0B7A-463B-A643-420B5603D1CE}" type="slidenum">
              <a:rPr lang="en-GB" sz="1000">
                <a:solidFill>
                  <a:srgbClr val="8795A1"/>
                </a:solidFill>
                <a:latin typeface="Segoe UI"/>
              </a:rPr>
              <a:t>20</a:t>
            </a:fld>
          </a:p>
        </p:txBody>
      </p:sp>
      <p:graphicFrame>
        <p:nvGraphicFramePr>
          <p:cNvPr id="7" name="!!table"/>
          <p:cNvGraphicFramePr>
            <a:graphicFrameLocks noGrp="1"/>
          </p:cNvGraphicFramePr>
          <p:nvPr/>
        </p:nvGraphicFramePr>
        <p:xfrm>
          <a:off x="658368" y="1737360"/>
          <a:ext cx="10874958" cy="3944112"/>
        </p:xfrm>
        <a:graphic>
          <a:graphicData uri="http://schemas.openxmlformats.org/drawingml/2006/table">
            <a:tbl>
              <a:tblPr firstRow="0" bandRow="0" firstCol="0" lastRow="0" lastCol="0" bandCol="0">
                <a:tableStyleId>{2D5ABB26-0587-4C30-8999-92F81FD0307C}</a:tableStyleId>
              </a:tblPr>
              <a:tblGrid>
                <a:gridCol w="3149988"/>
                <a:gridCol w="3449987"/>
                <a:gridCol w="4274983"/>
              </a:tblGrid>
              <a:tr h="359664">
                <a:tc>
                  <a:txBody>
                    <a:bodyPr wrap="square"/>
                    <a:lstStyle/>
                    <a:p>
                      <a:pPr algn="l"/>
                      <a:r>
                        <a:rPr sz="1400" b="1" i="0">
                          <a:solidFill>
                            <a:srgbClr val="1A5276"/>
                          </a:solidFill>
                          <a:latin typeface="Segoe UI"/>
                        </a:rPr>
                        <a:t>Method</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Cost</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What that means in practice</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573024">
                <a:tc>
                  <a:txBody>
                    <a:bodyPr wrap="square"/>
                    <a:lstStyle/>
                    <a:p>
                      <a:pPr algn="l"/>
                      <a:r>
                        <a:rPr sz="1400" b="0" i="0">
                          <a:solidFill>
                            <a:srgbClr val="1C252B"/>
                          </a:solidFill>
                          <a:latin typeface="Segoe UI"/>
                        </a:rPr>
                        <a:t>Uninformed search (Chapter 4)</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1">
                          <a:solidFill>
                            <a:srgbClr val="1C252B"/>
                          </a:solidFill>
                          <a:latin typeface="Cambria"/>
                        </a:rPr>
                        <a:t>O</a:t>
                      </a:r>
                      <a:r>
                        <a:rPr sz="1400" b="0" i="0">
                          <a:solidFill>
                            <a:srgbClr val="1C252B"/>
                          </a:solidFill>
                          <a:latin typeface="Cambria"/>
                        </a:rPr>
                        <a:t>(</a:t>
                      </a:r>
                      <a:r>
                        <a:rPr sz="1400" b="0" i="1">
                          <a:solidFill>
                            <a:srgbClr val="1C252B"/>
                          </a:solidFill>
                          <a:latin typeface="Cambria"/>
                        </a:rPr>
                        <a:t>b</a:t>
                      </a:r>
                      <a:r>
                        <a:rPr sz="900" b="0" i="1" baseline="30000">
                          <a:solidFill>
                            <a:srgbClr val="1C252B"/>
                          </a:solidFill>
                          <a:latin typeface="Cambria"/>
                        </a:rPr>
                        <a:t>d</a:t>
                      </a:r>
                      <a:r>
                        <a:rPr sz="1400" b="0" i="0">
                          <a:solidFill>
                            <a:srgbClr val="1C252B"/>
                          </a:solidFill>
                          <a:latin typeface="Cambria"/>
                        </a:rPr>
                        <a: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At </a:t>
                      </a:r>
                      <a:r>
                        <a:rPr sz="1400" b="0" i="1">
                          <a:solidFill>
                            <a:srgbClr val="1C252B"/>
                          </a:solidFill>
                          <a:latin typeface="Cambria"/>
                        </a:rPr>
                        <a:t>b</a:t>
                      </a:r>
                      <a:r>
                        <a:rPr sz="1400" b="0" i="0">
                          <a:solidFill>
                            <a:srgbClr val="1C252B"/>
                          </a:solidFill>
                          <a:latin typeface="Cambria"/>
                        </a:rPr>
                        <a:t>=4</a:t>
                      </a:r>
                      <a:r>
                        <a:rPr sz="1400" b="0" i="0">
                          <a:solidFill>
                            <a:srgbClr val="1C252B"/>
                          </a:solidFill>
                          <a:latin typeface="Segoe UI"/>
                        </a:rPr>
                        <a:t>, depth </a:t>
                      </a:r>
                      <a:r>
                        <a:rPr sz="1400" b="0" i="0">
                          <a:solidFill>
                            <a:srgbClr val="1C252B"/>
                          </a:solidFill>
                          <a:latin typeface="Cambria"/>
                        </a:rPr>
                        <a:t>10</a:t>
                      </a:r>
                      <a:r>
                        <a:rPr sz="1400" b="0" i="0">
                          <a:solidFill>
                            <a:srgbClr val="1C252B"/>
                          </a:solidFill>
                          <a:latin typeface="Segoe UI"/>
                        </a:rPr>
                        <a:t> is a million nodes and depth </a:t>
                      </a:r>
                      <a:r>
                        <a:rPr sz="1400" b="0" i="0">
                          <a:solidFill>
                            <a:srgbClr val="1C252B"/>
                          </a:solidFill>
                          <a:latin typeface="Cambria"/>
                        </a:rPr>
                        <a:t>20</a:t>
                      </a:r>
                      <a:r>
                        <a:rPr sz="1400" b="0" i="0">
                          <a:solidFill>
                            <a:srgbClr val="1C252B"/>
                          </a:solidFill>
                          <a:latin typeface="Segoe UI"/>
                        </a:rPr>
                        <a:t> is </a:t>
                      </a:r>
                      <a:r>
                        <a:rPr sz="1400" b="0" i="0">
                          <a:solidFill>
                            <a:srgbClr val="1C252B"/>
                          </a:solidFill>
                          <a:latin typeface="Cambria"/>
                        </a:rPr>
                        <a:t>10</a:t>
                      </a:r>
                      <a:r>
                        <a:rPr sz="900" b="0" i="0" baseline="30000">
                          <a:solidFill>
                            <a:srgbClr val="1C252B"/>
                          </a:solidFill>
                          <a:latin typeface="Cambria"/>
                        </a:rPr>
                        <a:t>12</a:t>
                      </a:r>
                      <a:endParaRPr sz="1400"/>
                    </a:p>
                  </a:txBody>
                  <a:tcPr marL="109728" marR="109728" marT="64008" marB="45720" anchor="t">
                    <a:lnL w="0" cmpd="sng">
                      <a:noFill/>
                    </a:lnL>
                    <a:lnR w="0" cmpd="sng">
                      <a:noFill/>
                    </a:lnR>
                    <a:lnT w="9525" cmpd="sng">
                      <a:noFill/>
                    </a:lnT>
                    <a:lnB w="9525" cmpd="sng">
                      <a:noFill/>
                    </a:lnB>
                    <a:solidFill>
                      <a:srgbClr val="FFFFFF"/>
                    </a:solidFill>
                  </a:tcPr>
                </a:tc>
              </a:tr>
              <a:tr h="573024">
                <a:tc>
                  <a:txBody>
                    <a:bodyPr wrap="square"/>
                    <a:lstStyle/>
                    <a:p>
                      <a:pPr algn="l"/>
                      <a:r>
                        <a:rPr sz="1400" b="0" i="1">
                          <a:solidFill>
                            <a:srgbClr val="1C252B"/>
                          </a:solidFill>
                          <a:latin typeface="Cambria"/>
                        </a:rPr>
                        <a:t>A</a:t>
                      </a:r>
                      <a:r>
                        <a:rPr sz="900" b="0" i="0" baseline="30000">
                          <a:solidFill>
                            <a:srgbClr val="1C252B"/>
                          </a:solidFill>
                          <a:latin typeface="Cambria"/>
                        </a:rPr>
                        <a:t>∗</a:t>
                      </a:r>
                      <a:r>
                        <a:rPr sz="1400" b="0" i="0">
                          <a:solidFill>
                            <a:srgbClr val="1C252B"/>
                          </a:solidFill>
                          <a:latin typeface="Segoe UI"/>
                        </a:rPr>
                        <a:t> (Chapter 5)</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Exponential in general</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A good heuristic moves the constant, not the exponent</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Constraint satisfaction (Chapter 7)</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NP-complete</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Solvable in practice by propagation; no guarantee</a:t>
                      </a:r>
                      <a:endParaRPr sz="1400"/>
                    </a:p>
                  </a:txBody>
                  <a:tcPr marL="109728" marR="109728" marT="64008" marB="45720" anchor="t">
                    <a:lnL w="0" cmpd="sng">
                      <a:noFill/>
                    </a:lnL>
                    <a:lnR w="0" cmpd="sng">
                      <a:noFill/>
                    </a:lnR>
                    <a:lnT w="9525" cmpd="sng">
                      <a:noFill/>
                    </a:lnT>
                    <a:lnB w="9525" cmpd="sng">
                      <a:noFill/>
                    </a:lnB>
                    <a:solidFill>
                      <a:srgbClr val="FFFFFF"/>
                    </a:solidFill>
                  </a:tcPr>
                </a:tc>
              </a:tr>
              <a:tr h="573024">
                <a:tc>
                  <a:txBody>
                    <a:bodyPr wrap="square"/>
                    <a:lstStyle/>
                    <a:p>
                      <a:pPr algn="l"/>
                      <a:r>
                        <a:rPr sz="1400" b="0" i="0">
                          <a:solidFill>
                            <a:srgbClr val="1C252B"/>
                          </a:solidFill>
                          <a:latin typeface="Segoe UI"/>
                        </a:rPr>
                        <a:t>Adversarial search (Chapter 8)</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1">
                          <a:solidFill>
                            <a:srgbClr val="1C252B"/>
                          </a:solidFill>
                          <a:latin typeface="Cambria"/>
                        </a:rPr>
                        <a:t>O</a:t>
                      </a:r>
                      <a:r>
                        <a:rPr sz="1400" b="0" i="0">
                          <a:solidFill>
                            <a:srgbClr val="1C252B"/>
                          </a:solidFill>
                          <a:latin typeface="Cambria"/>
                        </a:rPr>
                        <a:t>(</a:t>
                      </a:r>
                      <a:r>
                        <a:rPr sz="1400" b="0" i="1">
                          <a:solidFill>
                            <a:srgbClr val="1C252B"/>
                          </a:solidFill>
                          <a:latin typeface="Cambria"/>
                        </a:rPr>
                        <a:t>b</a:t>
                      </a:r>
                      <a:r>
                        <a:rPr sz="900" b="0" i="1" baseline="30000">
                          <a:solidFill>
                            <a:srgbClr val="1C252B"/>
                          </a:solidFill>
                          <a:latin typeface="Cambria"/>
                        </a:rPr>
                        <a:t>d</a:t>
                      </a:r>
                      <a:r>
                        <a:rPr sz="1400" b="0" i="0">
                          <a:solidFill>
                            <a:srgbClr val="1C252B"/>
                          </a:solidFill>
                          <a:latin typeface="Cambria"/>
                        </a:rPr>
                        <a:t>)</a:t>
                      </a:r>
                      <a:r>
                        <a:rPr sz="1400" b="0" i="0">
                          <a:solidFill>
                            <a:srgbClr val="1C252B"/>
                          </a:solidFill>
                          <a:latin typeface="Segoe UI"/>
                        </a:rPr>
                        <a:t>, </a:t>
                      </a:r>
                      <a:r>
                        <a:rPr sz="1400" b="0" i="1">
                          <a:solidFill>
                            <a:srgbClr val="1C252B"/>
                          </a:solidFill>
                          <a:latin typeface="Cambria"/>
                        </a:rPr>
                        <a:t>O</a:t>
                      </a:r>
                      <a:r>
                        <a:rPr sz="1400" b="0" i="0">
                          <a:solidFill>
                            <a:srgbClr val="1C252B"/>
                          </a:solidFill>
                          <a:latin typeface="Cambria"/>
                        </a:rPr>
                        <a:t>(</a:t>
                      </a:r>
                      <a:r>
                        <a:rPr sz="1400" b="0" i="1">
                          <a:solidFill>
                            <a:srgbClr val="1C252B"/>
                          </a:solidFill>
                          <a:latin typeface="Cambria"/>
                        </a:rPr>
                        <a:t>b</a:t>
                      </a:r>
                      <a:r>
                        <a:rPr sz="900" b="0" i="1" baseline="30000">
                          <a:solidFill>
                            <a:srgbClr val="1C252B"/>
                          </a:solidFill>
                          <a:latin typeface="Cambria"/>
                        </a:rPr>
                        <a:t>d</a:t>
                      </a:r>
                      <a:r>
                        <a:rPr sz="900" b="0" i="0" baseline="30000">
                          <a:solidFill>
                            <a:srgbClr val="1C252B"/>
                          </a:solidFill>
                          <a:latin typeface="Cambria"/>
                        </a:rPr>
                        <a:t>/2</a:t>
                      </a:r>
                      <a:r>
                        <a:rPr sz="1400" b="0" i="0">
                          <a:solidFill>
                            <a:srgbClr val="1C252B"/>
                          </a:solidFill>
                          <a:latin typeface="Cambria"/>
                        </a:rPr>
                        <a:t>)</a:t>
                      </a:r>
                      <a:r>
                        <a:rPr sz="1400" b="0" i="0">
                          <a:solidFill>
                            <a:srgbClr val="1C252B"/>
                          </a:solidFill>
                          <a:latin typeface="Segoe UI"/>
                        </a:rPr>
                        <a:t> with perfect ordering</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Twice the depth for the same time, and still exponential</a:t>
                      </a:r>
                      <a:endParaRPr sz="1400"/>
                    </a:p>
                  </a:txBody>
                  <a:tcPr marL="109728" marR="109728" marT="64008" marB="45720" anchor="t">
                    <a:lnL w="0" cmpd="sng">
                      <a:noFill/>
                    </a:lnL>
                    <a:lnR w="0" cmpd="sng">
                      <a:noFill/>
                    </a:lnR>
                    <a:lnT w="9525" cmpd="sng">
                      <a:noFill/>
                    </a:lnT>
                    <a:lnB w="9525" cmpd="sng">
                      <a:noFill/>
                    </a:lnB>
                    <a:solidFill>
                      <a:srgbClr val="F2F8FC"/>
                    </a:solidFill>
                  </a:tcPr>
                </a:tc>
              </a:tr>
              <a:tr h="573024">
                <a:tc>
                  <a:txBody>
                    <a:bodyPr wrap="square"/>
                    <a:lstStyle/>
                    <a:p>
                      <a:pPr algn="l"/>
                      <a:r>
                        <a:rPr sz="1400" b="0" i="0">
                          <a:solidFill>
                            <a:srgbClr val="1C252B"/>
                          </a:solidFill>
                          <a:latin typeface="Segoe UI"/>
                        </a:rPr>
                        <a:t>Propositional entailment (Chapter 11)</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co-NP-complete</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Cambria"/>
                        </a:rPr>
                        <a:t>2</a:t>
                      </a:r>
                      <a:r>
                        <a:rPr sz="900" b="0" i="1" baseline="30000">
                          <a:solidFill>
                            <a:srgbClr val="1C252B"/>
                          </a:solidFill>
                          <a:latin typeface="Cambria"/>
                        </a:rPr>
                        <a:t>n</a:t>
                      </a:r>
                      <a:r>
                        <a:rPr sz="1400" b="0" i="0">
                          <a:solidFill>
                            <a:srgbClr val="1C252B"/>
                          </a:solidFill>
                          <a:latin typeface="Segoe UI"/>
                        </a:rPr>
                        <a:t> models; DPLL is fast on structured instances</a:t>
                      </a:r>
                      <a:endParaRPr sz="1400"/>
                    </a:p>
                  </a:txBody>
                  <a:tcPr marL="109728" marR="109728" marT="64008" marB="45720" anchor="t">
                    <a:lnL w="0" cmpd="sng">
                      <a:noFill/>
                    </a:lnL>
                    <a:lnR w="0" cmpd="sng">
                      <a:noFill/>
                    </a:lnR>
                    <a:lnT w="9525" cmpd="sng">
                      <a:noFill/>
                    </a:lnT>
                    <a:lnB w="9525" cmpd="sng">
                      <a:noFill/>
                    </a:lnB>
                    <a:solidFill>
                      <a:srgbClr val="FFFFFF"/>
                    </a:solidFill>
                  </a:tcPr>
                </a:tc>
              </a:tr>
              <a:tr h="573024">
                <a:tc>
                  <a:txBody>
                    <a:bodyPr wrap="square"/>
                    <a:lstStyle/>
                    <a:p>
                      <a:pPr algn="l"/>
                      <a:r>
                        <a:rPr sz="1400" b="0" i="0">
                          <a:solidFill>
                            <a:srgbClr val="1C252B"/>
                          </a:solidFill>
                          <a:latin typeface="Segoe UI"/>
                        </a:rPr>
                        <a:t>First-order entailment (Chapter 12)</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Semi-decidable</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No proof may mean no proof exists, or may mean not yet</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Bayesian inference (Chapter 15)</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400" b="0" i="0">
                          <a:solidFill>
                            <a:srgbClr val="1C252B"/>
                          </a:solidFill>
                          <a:latin typeface="Segoe UI"/>
                        </a:rPr>
                        <a:t>NP-hard in general</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400" b="0" i="0">
                          <a:solidFill>
                            <a:srgbClr val="1C252B"/>
                          </a:solidFill>
                          <a:latin typeface="Segoe UI"/>
                        </a:rPr>
                        <a:t>Linear on a chain, exponential on a dense graph</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20403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the escalation adviser</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76472BF3-025B-4E93-A65A-4DDCFBE574F1}"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3806"/>
          </a:xfrm>
          <a:prstGeom prst="roundRect">
            <a:avLst>
              <a:gd name="adj" fmla="val 210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380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Two hundred tickets, evenly split between two reporting teams. The rule base is Chapter 13’s, unchanged, and it mentions no team.</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1: measure.</a:t>
            </a:r>
            <a:r>
              <a:rPr sz="1900" b="0" i="0">
                <a:solidFill>
                  <a:srgbClr val="1C252B"/>
                </a:solidFill>
                <a:latin typeface="Segoe UI"/>
              </a:rPr>
              <a:t> Escalation rates are </a:t>
            </a:r>
            <a:r>
              <a:rPr sz="1900" b="0" i="0">
                <a:solidFill>
                  <a:srgbClr val="1C252B"/>
                </a:solidFill>
                <a:latin typeface="Cambria"/>
              </a:rPr>
              <a:t>21%</a:t>
            </a:r>
            <a:r>
              <a:rPr sz="1900" b="0" i="0">
                <a:solidFill>
                  <a:srgbClr val="1C252B"/>
                </a:solidFill>
                <a:latin typeface="Segoe UI"/>
              </a:rPr>
              <a:t> for Platform and </a:t>
            </a:r>
            <a:r>
              <a:rPr sz="1900" b="0" i="0">
                <a:solidFill>
                  <a:srgbClr val="1C252B"/>
                </a:solidFill>
                <a:latin typeface="Cambria"/>
              </a:rPr>
              <a:t>43%</a:t>
            </a:r>
            <a:r>
              <a:rPr sz="1900" b="0" i="0">
                <a:solidFill>
                  <a:srgbClr val="1C252B"/>
                </a:solidFill>
                <a:latin typeface="Segoe UI"/>
              </a:rPr>
              <a:t> for Payments — a gap of </a:t>
            </a:r>
            <a:r>
              <a:rPr sz="1900" b="0" i="0">
                <a:solidFill>
                  <a:srgbClr val="1C252B"/>
                </a:solidFill>
                <a:latin typeface="Cambria"/>
              </a:rPr>
              <a:t>22</a:t>
            </a:r>
            <a:r>
              <a:rPr sz="1900" b="0" i="0">
                <a:solidFill>
                  <a:srgbClr val="1C252B"/>
                </a:solidFill>
                <a:latin typeface="Segoe UI"/>
              </a:rPr>
              <a:t> points, against an overall rate of </a:t>
            </a:r>
            <a:r>
              <a:rPr sz="1900" b="0" i="0">
                <a:solidFill>
                  <a:srgbClr val="1C252B"/>
                </a:solidFill>
                <a:latin typeface="Cambria"/>
              </a:rPr>
              <a:t>32%</a:t>
            </a:r>
            <a:r>
              <a:rPr sz="1900" b="0" i="0">
                <a:solidFill>
                  <a:srgbClr val="1C252B"/>
                </a:solidFill>
                <a:latin typeface="Segoe UI"/>
              </a:rPr>
              <a:t>. Nothing in the rules explains it.</a:t>
            </a:r>
          </a:p>
        </p:txBody>
      </p:sp>
      <p:sp>
        <p:nvSpPr>
          <p:cNvPr id="11" name="body-2"/>
          <p:cNvSpPr txBox="1"/>
          <p:nvPr/>
        </p:nvSpPr>
        <p:spPr>
          <a:xfrm>
            <a:off x="1042416" y="348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 attribute.</a:t>
            </a:r>
            <a:r>
              <a:rPr sz="1900" b="0" i="0">
                <a:solidFill>
                  <a:srgbClr val="1C252B"/>
                </a:solidFill>
                <a:latin typeface="Segoe UI"/>
              </a:rPr>
              <a:t> Remove one rule at a time and re-measure both the gap </a:t>
            </a:r>
            <a:r>
              <a:rPr sz="1900" b="0" i="1">
                <a:solidFill>
                  <a:srgbClr val="1C252B"/>
                </a:solidFill>
                <a:latin typeface="Segoe UI"/>
              </a:rPr>
              <a:t>and</a:t>
            </a:r>
            <a:r>
              <a:rPr sz="1900" b="0" i="0">
                <a:solidFill>
                  <a:srgbClr val="1C252B"/>
                </a:solidFill>
                <a:latin typeface="Segoe UI"/>
              </a:rPr>
              <a:t> the overall rate:</a:t>
            </a:r>
          </a:p>
        </p:txBody>
      </p:sp>
      <p:sp>
        <p:nvSpPr>
          <p:cNvPr id="12" name="body-3"/>
          <p:cNvSpPr txBox="1"/>
          <p:nvPr/>
        </p:nvSpPr>
        <p:spPr>
          <a:xfrm>
            <a:off x="1042416" y="4216679"/>
            <a:ext cx="10234879" cy="163588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Without R9: the gap is </a:t>
            </a:r>
            <a:r>
              <a:rPr sz="1900" b="0" i="0">
                <a:solidFill>
                  <a:srgbClr val="1C252B"/>
                </a:solidFill>
                <a:latin typeface="Cambria"/>
              </a:rPr>
              <a:t>0</a:t>
            </a:r>
            <a:r>
              <a:rPr sz="1900" b="0" i="0">
                <a:solidFill>
                  <a:srgbClr val="1C252B"/>
                </a:solidFill>
                <a:latin typeface="Segoe UI"/>
              </a:rPr>
              <a:t> — and so is the escalation rate. R9 is the only rule concluding </a:t>
            </a:r>
            <a:r>
              <a:rPr sz="1800" b="0" i="0">
                <a:solidFill>
                  <a:srgbClr val="1F4E79"/>
                </a:solidFill>
                <a:latin typeface="Consolas"/>
              </a:rPr>
              <a:t>escalate = yes</a:t>
            </a:r>
            <a:r>
              <a:rPr sz="1900" b="0" i="0">
                <a:solidFill>
                  <a:srgbClr val="1C252B"/>
                </a:solidFill>
                <a:latin typeface="Segoe UI"/>
              </a:rPr>
              <a:t>, so its removal achieves equality by abolishing the outcome. Discard it, and R5 with it.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Without R3 (</a:t>
            </a:r>
            <a:r>
              <a:rPr sz="1900" b="0" i="1">
                <a:solidFill>
                  <a:srgbClr val="1C252B"/>
                </a:solidFill>
                <a:latin typeface="Segoe UI"/>
              </a:rPr>
              <a:t>major and standard tier gives P2</a:t>
            </a:r>
            <a:r>
              <a:rPr sz="1900" b="0" i="0">
                <a:solidFill>
                  <a:srgbClr val="1C252B"/>
                </a:solidFill>
                <a:latin typeface="Segoe UI"/>
              </a:rPr>
              <a:t>): the gap falls from </a:t>
            </a:r>
            <a:r>
              <a:rPr sz="1900" b="0" i="0">
                <a:solidFill>
                  <a:srgbClr val="1C252B"/>
                </a:solidFill>
                <a:latin typeface="Cambria"/>
              </a:rPr>
              <a:t>22</a:t>
            </a:r>
            <a:r>
              <a:rPr sz="1900" b="0" i="0">
                <a:solidFill>
                  <a:srgbClr val="1C252B"/>
                </a:solidFill>
                <a:latin typeface="Segoe UI"/>
              </a:rPr>
              <a:t> to </a:t>
            </a:r>
            <a:r>
              <a:rPr sz="1900" b="0" i="0">
                <a:solidFill>
                  <a:srgbClr val="1C252B"/>
                </a:solidFill>
                <a:latin typeface="Cambria"/>
              </a:rPr>
              <a:t>9</a:t>
            </a:r>
            <a:r>
              <a:rPr sz="1900" b="0" i="0">
                <a:solidFill>
                  <a:srgbClr val="1C252B"/>
                </a:solidFill>
                <a:latin typeface="Segoe UI"/>
              </a:rPr>
              <a:t> points, and the overall rate stays near </a:t>
            </a:r>
            <a:r>
              <a:rPr sz="1900" b="0" i="0">
                <a:solidFill>
                  <a:srgbClr val="1C252B"/>
                </a:solidFill>
                <a:latin typeface="Cambria"/>
              </a:rPr>
              <a:t>32%</a:t>
            </a:r>
            <a:r>
              <a:rPr sz="1900" b="0" i="0">
                <a:solidFill>
                  <a:srgbClr val="1C252B"/>
                </a:solidFill>
                <a:latin typeface="Segoe UI"/>
              </a:rPr>
              <a:t>. This is the real answer.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441423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the escalation adviser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276CAC9F-0F57-4858-9C0D-54D03C315924}"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57066"/>
          </a:xfrm>
          <a:prstGeom prst="roundRect">
            <a:avLst>
              <a:gd name="adj" fmla="val 250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5706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Without any other single rule: the gap barely moves.</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So the R3 </a:t>
            </a:r>
            <a:r>
              <a:rPr sz="1900" b="0" i="0">
                <a:solidFill>
                  <a:srgbClr val="1C252B"/>
                </a:solidFill>
                <a:latin typeface="Cambria"/>
              </a:rPr>
              <a:t>→</a:t>
            </a:r>
            <a:r>
              <a:rPr sz="1900" b="0" i="0">
                <a:solidFill>
                  <a:srgbClr val="1C252B"/>
                </a:solidFill>
                <a:latin typeface="Segoe UI"/>
              </a:rPr>
              <a:t> R7 pathway carries most of it. The technique is </a:t>
            </a:r>
            <a:r>
              <a:rPr sz="1900" b="0" i="1">
                <a:solidFill>
                  <a:srgbClr val="1C252B"/>
                </a:solidFill>
                <a:latin typeface="Segoe UI"/>
              </a:rPr>
              <a:t>ablation</a:t>
            </a:r>
            <a:r>
              <a:rPr sz="1900" b="0" i="0">
                <a:solidFill>
                  <a:srgbClr val="1C252B"/>
                </a:solidFill>
                <a:latin typeface="Segoe UI"/>
              </a:rPr>
              <a:t>; it required no insight, only the discipline to try each rule and to report the overall rate beside the gap.</a:t>
            </a:r>
          </a:p>
        </p:txBody>
      </p:sp>
      <p:sp>
        <p:nvSpPr>
          <p:cNvPr id="11" name="body-2"/>
          <p:cNvSpPr txBox="1"/>
          <p:nvPr/>
        </p:nvSpPr>
        <p:spPr>
          <a:xfrm>
            <a:off x="1042416" y="3180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 examine.</a:t>
            </a:r>
            <a:r>
              <a:rPr sz="1900" b="0" i="0">
                <a:solidFill>
                  <a:srgbClr val="1C252B"/>
                </a:solidFill>
                <a:latin typeface="Segoe UI"/>
              </a:rPr>
              <a:t> Take a Platform ticket that R7 kept out of the queue and read its chain: </a:t>
            </a:r>
            <a:r>
              <a:rPr sz="1800" b="0" i="0">
                <a:solidFill>
                  <a:srgbClr val="1F4E79"/>
                </a:solidFill>
                <a:latin typeface="Consolas"/>
              </a:rPr>
              <a:t>escalate = no</a:t>
            </a:r>
            <a:r>
              <a:rPr sz="1900" b="0" i="0">
                <a:solidFill>
                  <a:srgbClr val="1C252B"/>
                </a:solidFill>
                <a:latin typeface="Segoe UI"/>
              </a:rPr>
              <a:t> by R11, because </a:t>
            </a:r>
            <a:r>
              <a:rPr sz="1800" b="0" i="0">
                <a:solidFill>
                  <a:srgbClr val="1F4E79"/>
                </a:solidFill>
                <a:latin typeface="Consolas"/>
              </a:rPr>
              <a:t>needs_owner = no</a:t>
            </a:r>
            <a:r>
              <a:rPr sz="1900" b="0" i="0">
                <a:solidFill>
                  <a:srgbClr val="1C252B"/>
                </a:solidFill>
                <a:latin typeface="Segoe UI"/>
              </a:rPr>
              <a:t> by R7, because the priority was P2 and </a:t>
            </a:r>
            <a:r>
              <a:rPr sz="1800" b="0" i="0">
                <a:solidFill>
                  <a:srgbClr val="1F4E79"/>
                </a:solidFill>
                <a:latin typeface="Consolas"/>
              </a:rPr>
              <a:t>workaround = yes</a:t>
            </a:r>
            <a:r>
              <a:rPr sz="1900" b="0" i="0">
                <a:solidFill>
                  <a:srgbClr val="1C252B"/>
                </a:solidFill>
                <a:latin typeface="Segoe UI"/>
              </a:rPr>
              <a:t>.</a:t>
            </a:r>
          </a:p>
        </p:txBody>
      </p:sp>
      <p:sp>
        <p:nvSpPr>
          <p:cNvPr id="12" name="body-2bar">
            <a:extLst>
              <a:ext uri="{C183D7F6-B498-43B3-948B-1728B52AA6E4}">
                <adec:decorative xmlns:adec="http://schemas.microsoft.com/office/drawing/2017/decorative" val="1"/>
              </a:ext>
            </a:extLst>
          </p:cNvPr>
          <p:cNvSpPr/>
          <p:nvPr/>
        </p:nvSpPr>
        <p:spPr>
          <a:xfrm>
            <a:off x="841248" y="3198825"/>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3"/>
          <p:cNvSpPr txBox="1"/>
          <p:nvPr/>
        </p:nvSpPr>
        <p:spPr>
          <a:xfrm>
            <a:off x="1042416" y="4216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Now ask the operational question: </a:t>
            </a:r>
            <a:r>
              <a:rPr sz="1900" b="0" i="1">
                <a:solidFill>
                  <a:srgbClr val="1C252B"/>
                </a:solidFill>
                <a:latin typeface="Segoe UI"/>
              </a:rPr>
              <a:t>why is </a:t>
            </a:r>
            <a:r>
              <a:rPr sz="1800" b="0" i="1">
                <a:solidFill>
                  <a:srgbClr val="1F4E79"/>
                </a:solidFill>
                <a:latin typeface="Consolas"/>
              </a:rPr>
              <a:t>workaround</a:t>
            </a:r>
            <a:r>
              <a:rPr sz="1900" b="0" i="1">
                <a:solidFill>
                  <a:srgbClr val="1C252B"/>
                </a:solidFill>
                <a:latin typeface="Segoe UI"/>
              </a:rPr>
              <a:t> recorded more often for Platform?</a:t>
            </a:r>
            <a:r>
              <a:rPr sz="1900" b="0" i="0">
                <a:solidFill>
                  <a:srgbClr val="1C252B"/>
                </a:solidFill>
                <a:latin typeface="Segoe UI"/>
              </a:rPr>
              <a:t> The answer is that Platform has runbooks and Payments does not, so Platform’s reporters have a documented workaround to cite and Payments’ reporters leave the field empty.</a:t>
            </a:r>
          </a:p>
        </p:txBody>
      </p:sp>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462443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2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right)">
                                      <p:cBhvr>
                                        <p:cTn id="26"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the escalation adviser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D960B97D-8998-438B-A91A-B912E3B4D9F1}"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91636"/>
          </a:xfrm>
          <a:prstGeom prst="roundRect">
            <a:avLst>
              <a:gd name="adj" fmla="val 269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916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the audit established.</a:t>
            </a:r>
            <a:r>
              <a:rPr sz="1900" b="0" i="0">
                <a:solidFill>
                  <a:srgbClr val="1C252B"/>
                </a:solidFill>
                <a:latin typeface="Segoe UI"/>
              </a:rPr>
              <a:t> The system is doing exactly what it was told. R7 is a good rule. The disparity comes from a difference in </a:t>
            </a:r>
            <a:r>
              <a:rPr sz="1900" b="0" i="1">
                <a:solidFill>
                  <a:srgbClr val="1C252B"/>
                </a:solidFill>
                <a:latin typeface="Segoe UI"/>
              </a:rPr>
              <a:t>documentation practice</a:t>
            </a:r>
            <a:r>
              <a:rPr sz="1900" b="0" i="0">
                <a:solidFill>
                  <a:srgbClr val="1C252B"/>
                </a:solidFill>
                <a:latin typeface="Segoe UI"/>
              </a:rPr>
              <a:t> being read as a difference in </a:t>
            </a:r>
            <a:r>
              <a:rPr sz="1900" b="0" i="1">
                <a:solidFill>
                  <a:srgbClr val="1C252B"/>
                </a:solidFill>
                <a:latin typeface="Segoe UI"/>
              </a:rPr>
              <a:t>operational need</a:t>
            </a:r>
            <a:r>
              <a:rPr sz="1900" b="0"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185257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what it did not establish.</a:t>
            </a:r>
            <a:r>
              <a:rPr sz="1900" b="0" i="0">
                <a:solidFill>
                  <a:srgbClr val="1C252B"/>
                </a:solidFill>
                <a:latin typeface="Segoe UI"/>
              </a:rPr>
              <a:t> Whether that is acceptable. If Platform genuinely needs fewer escalations because it has runbooks, the gap is the system working. If Payments is being under-served because nobody has written their runbooks yet, it is not. </a:t>
            </a:r>
            <a:r>
              <a:rPr sz="1900" b="0" i="1">
                <a:solidFill>
                  <a:srgbClr val="1C252B"/>
                </a:solidFill>
                <a:latin typeface="Segoe UI"/>
              </a:rPr>
              <a:t>That is a management decision</a:t>
            </a:r>
            <a:r>
              <a:rPr sz="1900" b="0" i="0">
                <a:solidFill>
                  <a:srgbClr val="1C252B"/>
                </a:solidFill>
                <a:latin typeface="Segoe UI"/>
              </a:rPr>
              <a:t>, and the audit’s contribution is to place it in front of a person who can make it, with the evidence attached — rather than leaving it to be made silently, by a rule nobody re-read, on two hundred tickets a week.</a:t>
            </a:r>
          </a:p>
        </p:txBody>
      </p:sp>
      <p:sp>
        <p:nvSpPr>
          <p:cNvPr id="12" name="body-1bar">
            <a:extLst>
              <a:ext uri="{C183D7F6-B498-43B3-948B-1728B52AA6E4}">
                <adec:decorative xmlns:adec="http://schemas.microsoft.com/office/drawing/2017/decorative" val="1"/>
              </a:ext>
            </a:extLst>
          </p:cNvPr>
          <p:cNvSpPr/>
          <p:nvPr/>
        </p:nvSpPr>
        <p:spPr>
          <a:xfrm>
            <a:off x="841248" y="3066110"/>
            <a:ext cx="54864" cy="178856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483463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E9178A96-D84A-4A0F-BAD0-0093A769089B}" type="slidenum">
              <a:rPr lang="en-GB" sz="1000">
                <a:solidFill>
                  <a:srgbClr val="8795A1"/>
                </a:solidFill>
                <a:latin typeface="Segoe UI"/>
              </a:rPr>
              <a:t>24</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Fairness through unawareness.</a:t>
            </a:r>
            <a:r>
              <a:rPr sz="1800" b="0" i="0">
                <a:solidFill>
                  <a:srgbClr val="1C252B"/>
                </a:solidFill>
                <a:latin typeface="Segoe UI"/>
              </a:rPr>
              <a:t> Deleting the sensitive attribute leaves the proxies. The escalation adviser never had the team name and the gap was </a:t>
            </a:r>
            <a:r>
              <a:rPr sz="1800" b="0" i="0">
                <a:solidFill>
                  <a:srgbClr val="1C252B"/>
                </a:solidFill>
                <a:latin typeface="Cambria"/>
              </a:rPr>
              <a:t>22</a:t>
            </a:r>
            <a:r>
              <a:rPr sz="1800" b="0" i="0">
                <a:solidFill>
                  <a:srgbClr val="1C252B"/>
                </a:solidFill>
                <a:latin typeface="Segoe UI"/>
              </a:rPr>
              <a:t> points.</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Auditing the rules instead of the outcomes.</a:t>
            </a:r>
            <a:r>
              <a:rPr sz="1800" b="0" i="0">
                <a:solidFill>
                  <a:srgbClr val="1C252B"/>
                </a:solidFill>
                <a:latin typeface="Segoe UI"/>
              </a:rPr>
              <a:t> Every rule here is defensible in isolation. Only measurement across groups finds the problem.</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Treating an explanation as a user-experience feature.</a:t>
            </a:r>
            <a:r>
              <a:rPr sz="1800" b="0" i="0">
                <a:solidFill>
                  <a:srgbClr val="1C252B"/>
                </a:solidFill>
                <a:latin typeface="Segoe UI"/>
              </a:rPr>
              <a:t> It is what makes a decision contestable and correctable, and those are properties an affected person needs, not a designer.</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Reading a low override rate as success.</a:t>
            </a:r>
            <a:r>
              <a:rPr sz="1800" b="0" i="0">
                <a:solidFill>
                  <a:srgbClr val="1C252B"/>
                </a:solidFill>
                <a:latin typeface="Segoe UI"/>
              </a:rPr>
              <a:t> It is the signature of automation bias. Sample for genuine review and watch the rate.</a:t>
            </a:r>
          </a:p>
        </p:txBody>
      </p:sp>
      <p:sp>
        <p:nvSpPr>
          <p:cNvPr id="19" name="!!pb4">
            <a:extLst>
              <a:ext uri="{C183D7F6-B498-43B3-948B-1728B52AA6E4}">
                <adec:decorative xmlns:adec="http://schemas.microsoft.com/office/drawing/2017/decorative" val="1"/>
              </a:ext>
            </a:extLst>
          </p:cNvPr>
          <p:cNvSpPr/>
          <p:nvPr/>
        </p:nvSpPr>
        <p:spPr>
          <a:xfrm>
            <a:off x="658368" y="484266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6552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824374"/>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Confusing brittleness with ordinary error.</a:t>
            </a:r>
            <a:r>
              <a:rPr sz="1800" b="0" i="0">
                <a:solidFill>
                  <a:srgbClr val="1C252B"/>
                </a:solidFill>
                <a:latin typeface="Segoe UI"/>
              </a:rPr>
              <a:t> Ordinary error is being wrong sometimes; brittleness is being wrong with undiminished confidence just outside the region of competence, with no signal.</a:t>
            </a:r>
          </a:p>
        </p:txBody>
      </p:sp>
      <p:sp>
        <p:nvSpPr>
          <p:cNvPr id="22" name="!!pb5">
            <a:extLst>
              <a:ext uri="{C183D7F6-B498-43B3-948B-1728B52AA6E4}">
                <adec:decorative xmlns:adec="http://schemas.microsoft.com/office/drawing/2017/decorative" val="1"/>
              </a:ext>
            </a:extLst>
          </p:cNvPr>
          <p:cNvSpPr/>
          <p:nvPr/>
        </p:nvSpPr>
        <p:spPr>
          <a:xfrm>
            <a:off x="658368" y="561441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63727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9612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Believing hardware solves intractability.</a:t>
            </a:r>
            <a:r>
              <a:rPr sz="1800" b="0" i="0">
                <a:solidFill>
                  <a:srgbClr val="1C252B"/>
                </a:solidFill>
                <a:latin typeface="Segoe UI"/>
              </a:rPr>
              <a:t> At </a:t>
            </a:r>
            <a:r>
              <a:rPr sz="1800" b="0" i="1">
                <a:solidFill>
                  <a:srgbClr val="1C252B"/>
                </a:solidFill>
                <a:latin typeface="Cambria"/>
              </a:rPr>
              <a:t>b</a:t>
            </a:r>
            <a:r>
              <a:rPr sz="1800" b="0" i="0">
                <a:solidFill>
                  <a:srgbClr val="1C252B"/>
                </a:solidFill>
                <a:latin typeface="Cambria"/>
              </a:rPr>
              <a:t>=4</a:t>
            </a:r>
            <a:r>
              <a:rPr sz="1800" b="0" i="0">
                <a:solidFill>
                  <a:srgbClr val="1C252B"/>
                </a:solidFill>
                <a:latin typeface="Segoe UI"/>
              </a:rPr>
              <a:t> a hundredfold speedup buys three or four levels of depth. Structure is the only real answer, which is what Parts II to V were about.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504483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E10C42E7-5FED-4618-B40F-F5EB5FE12892}" type="slidenum">
              <a:rPr lang="en-GB" sz="1000">
                <a:solidFill>
                  <a:srgbClr val="8795A1"/>
                </a:solidFill>
                <a:latin typeface="Segoe UI"/>
              </a:rPr>
              <a:t>25</a:t>
            </a:fld>
          </a:p>
        </p:txBody>
      </p:sp>
      <p:sp>
        <p:nvSpPr>
          <p:cNvPr id="7" name="body-0"/>
          <p:cNvSpPr txBox="1"/>
          <p:nvPr/>
        </p:nvSpPr>
        <p:spPr>
          <a:xfrm>
            <a:off x="658368" y="1737360"/>
            <a:ext cx="108749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rule base of Chapter 13, run over two hundred synthetic tickets, measured by group, attributed by ablation, and explained. Then the competence boundary and the computational limit.</a:t>
            </a:r>
          </a:p>
        </p:txBody>
      </p:sp>
      <p:sp>
        <p:nvSpPr>
          <p:cNvPr id="8" name="!!labsteps-h"/>
          <p:cNvSpPr txBox="1"/>
          <p:nvPr/>
        </p:nvSpPr>
        <p:spPr>
          <a:xfrm>
            <a:off x="658368" y="29992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383280"/>
            <a:ext cx="10874959" cy="1638300"/>
          </a:xfrm>
          <a:prstGeom prst="rect">
            <a:avLst/>
          </a:prstGeom>
          <a:noFill/>
        </p:spPr>
        <p:txBody>
          <a:bodyPr wrap="square" anchor="t" lIns="0" rIns="0" tIns="0" bIns="0">
            <a:noAutofit/>
          </a:bodyPr>
          <a:lstStyle/>
          <a:p>
            <a:pPr algn="l" marL="367434" indent="-367434">
              <a:lnSpc>
                <a:spcPct val="100000"/>
              </a:lnSpc>
              <a:spcBef>
                <a:spcPts val="0"/>
              </a:spcBef>
              <a:spcAft>
                <a:spcPts val="420"/>
              </a:spcAft>
            </a:pPr>
            <a:r>
              <a:rPr sz="1400" b="1">
                <a:solidFill>
                  <a:srgbClr val="117A65"/>
                </a:solidFill>
                <a:latin typeface="Segoe UI"/>
              </a:rPr>
              <a:t>1.	</a:t>
            </a:r>
            <a:r>
              <a:rPr sz="1400" b="0" i="0">
                <a:solidFill>
                  <a:srgbClr val="1C252B"/>
                </a:solidFill>
                <a:latin typeface="Segoe UI"/>
              </a:rPr>
              <a:t>Chapter 13's rule base, unchanged</a:t>
            </a:r>
          </a:p>
          <a:p>
            <a:pPr algn="l" marL="367434" indent="-367434">
              <a:lnSpc>
                <a:spcPct val="100000"/>
              </a:lnSpc>
              <a:spcBef>
                <a:spcPts val="0"/>
              </a:spcBef>
              <a:spcAft>
                <a:spcPts val="420"/>
              </a:spcAft>
            </a:pPr>
            <a:r>
              <a:rPr sz="1400" b="1">
                <a:solidFill>
                  <a:srgbClr val="117A65"/>
                </a:solidFill>
                <a:latin typeface="Segoe UI"/>
              </a:rPr>
              <a:t>2.	</a:t>
            </a:r>
            <a:r>
              <a:rPr sz="1400" b="0" i="0">
                <a:solidFill>
                  <a:srgbClr val="1C252B"/>
                </a:solidFill>
                <a:latin typeface="Segoe UI"/>
              </a:rPr>
              <a:t>Two hundred tickets from two teams</a:t>
            </a:r>
          </a:p>
          <a:p>
            <a:pPr algn="l" marL="367434" indent="-367434">
              <a:lnSpc>
                <a:spcPct val="100000"/>
              </a:lnSpc>
              <a:spcBef>
                <a:spcPts val="0"/>
              </a:spcBef>
              <a:spcAft>
                <a:spcPts val="420"/>
              </a:spcAft>
            </a:pPr>
            <a:r>
              <a:rPr sz="1400" b="1">
                <a:solidFill>
                  <a:srgbClr val="117A65"/>
                </a:solidFill>
                <a:latin typeface="Segoe UI"/>
              </a:rPr>
              <a:t>3.	</a:t>
            </a:r>
            <a:r>
              <a:rPr sz="1400" b="0" i="0">
                <a:solidFill>
                  <a:srgbClr val="1C252B"/>
                </a:solidFill>
                <a:latin typeface="Segoe UI"/>
              </a:rPr>
              <a:t>Step 2: which rule carries the gap?</a:t>
            </a:r>
          </a:p>
          <a:p>
            <a:pPr algn="l" marL="367434" indent="-367434">
              <a:lnSpc>
                <a:spcPct val="100000"/>
              </a:lnSpc>
              <a:spcBef>
                <a:spcPts val="0"/>
              </a:spcBef>
              <a:spcAft>
                <a:spcPts val="420"/>
              </a:spcAft>
            </a:pPr>
            <a:r>
              <a:rPr sz="1400" b="1">
                <a:solidFill>
                  <a:srgbClr val="117A65"/>
                </a:solidFill>
                <a:latin typeface="Segoe UI"/>
              </a:rPr>
              <a:t>4.	</a:t>
            </a:r>
            <a:r>
              <a:rPr sz="1400" b="0" i="0">
                <a:solidFill>
                  <a:srgbClr val="1C252B"/>
                </a:solidFill>
                <a:latin typeface="Segoe UI"/>
              </a:rPr>
              <a:t>Step 3: read the chain for an affected ticket</a:t>
            </a:r>
          </a:p>
          <a:p>
            <a:pPr algn="l" marL="367434" indent="-367434">
              <a:lnSpc>
                <a:spcPct val="100000"/>
              </a:lnSpc>
              <a:spcBef>
                <a:spcPts val="0"/>
              </a:spcBef>
              <a:spcAft>
                <a:spcPts val="420"/>
              </a:spcAft>
            </a:pPr>
            <a:r>
              <a:rPr sz="1400" b="1">
                <a:solidFill>
                  <a:srgbClr val="117A65"/>
                </a:solidFill>
                <a:latin typeface="Segoe UI"/>
              </a:rPr>
              <a:t>5.	</a:t>
            </a:r>
            <a:r>
              <a:rPr sz="1400" b="0" i="0">
                <a:solidFill>
                  <a:srgbClr val="1C252B"/>
                </a:solidFill>
                <a:latin typeface="Segoe UI"/>
              </a:rPr>
              <a:t>The competence boundary</a:t>
            </a:r>
          </a:p>
          <a:p>
            <a:pPr algn="l" marL="367434" indent="-367434">
              <a:lnSpc>
                <a:spcPct val="100000"/>
              </a:lnSpc>
              <a:spcBef>
                <a:spcPts val="0"/>
              </a:spcBef>
              <a:spcAft>
                <a:spcPts val="0"/>
              </a:spcAft>
            </a:pPr>
            <a:r>
              <a:rPr sz="1400" b="1">
                <a:solidFill>
                  <a:srgbClr val="117A65"/>
                </a:solidFill>
                <a:latin typeface="Segoe UI"/>
              </a:rPr>
              <a:t>6.	</a:t>
            </a:r>
            <a:r>
              <a:rPr sz="1400" b="0" i="0">
                <a:solidFill>
                  <a:srgbClr val="1C252B"/>
                </a:solidFill>
                <a:latin typeface="Segoe UI"/>
              </a:rPr>
              <a:t>The computational limit</a:t>
            </a:r>
          </a:p>
        </p:txBody>
      </p:sp>
      <p:sp>
        <p:nvSpPr>
          <p:cNvPr id="34" name="!!lfTHIS">
            <a:extLst>
              <a:ext uri="{C183D7F6-B498-43B3-948B-1728B52AA6E4}">
                <adec:decorative xmlns:adec="http://schemas.microsoft.com/office/drawing/2017/decorative" val="1"/>
              </a:ext>
            </a:extLst>
          </p:cNvPr>
          <p:cNvSpPr/>
          <p:nvPr/>
        </p:nvSpPr>
        <p:spPr>
          <a:xfrm>
            <a:off x="658368"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bTHIS">
            <a:extLst>
              <a:ext uri="{C183D7F6-B498-43B3-948B-1728B52AA6E4}">
                <adec:decorative xmlns:adec="http://schemas.microsoft.com/office/drawing/2017/decorative" val="1"/>
              </a:ext>
            </a:extLst>
          </p:cNvPr>
          <p:cNvSpPr/>
          <p:nvPr/>
        </p:nvSpPr>
        <p:spPr>
          <a:xfrm>
            <a:off x="658368"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lflTHIS"/>
          <p:cNvSpPr txBox="1"/>
          <p:nvPr/>
        </p:nvSpPr>
        <p:spPr>
          <a:xfrm>
            <a:off x="932688"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7" name="!!lfvTHIS"/>
          <p:cNvSpPr txBox="1"/>
          <p:nvPr/>
        </p:nvSpPr>
        <p:spPr>
          <a:xfrm>
            <a:off x="932688"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1C252B"/>
                </a:solidFill>
                <a:latin typeface="Segoe UI"/>
              </a:rPr>
              <a:t>Week 16: A tool-using agent, offline; auditing the escalation rules</a:t>
            </a:r>
          </a:p>
        </p:txBody>
      </p:sp>
      <p:sp>
        <p:nvSpPr>
          <p:cNvPr id="38" name="!!lfWHAT">
            <a:extLst>
              <a:ext uri="{C183D7F6-B498-43B3-948B-1728B52AA6E4}">
                <adec:decorative xmlns:adec="http://schemas.microsoft.com/office/drawing/2017/decorative" val="1"/>
              </a:ext>
            </a:extLst>
          </p:cNvPr>
          <p:cNvSpPr/>
          <p:nvPr/>
        </p:nvSpPr>
        <p:spPr>
          <a:xfrm>
            <a:off x="4374794"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bWHAT">
            <a:extLst>
              <a:ext uri="{C183D7F6-B498-43B3-948B-1728B52AA6E4}">
                <adec:decorative xmlns:adec="http://schemas.microsoft.com/office/drawing/2017/decorative" val="1"/>
              </a:ext>
            </a:extLst>
          </p:cNvPr>
          <p:cNvSpPr/>
          <p:nvPr/>
        </p:nvSpPr>
        <p:spPr>
          <a:xfrm>
            <a:off x="4374794"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lflWHAT"/>
          <p:cNvSpPr txBox="1"/>
          <p:nvPr/>
        </p:nvSpPr>
        <p:spPr>
          <a:xfrm>
            <a:off x="4649114"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41" name="!!lfvWHAT"/>
          <p:cNvSpPr txBox="1"/>
          <p:nvPr/>
        </p:nvSpPr>
        <p:spPr>
          <a:xfrm>
            <a:off x="4649114"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238 lines of Python</a:t>
            </a:r>
          </a:p>
        </p:txBody>
      </p:sp>
      <p:sp>
        <p:nvSpPr>
          <p:cNvPr id="42" name="!!lfRUNN">
            <a:extLst>
              <a:ext uri="{C183D7F6-B498-43B3-948B-1728B52AA6E4}">
                <adec:decorative xmlns:adec="http://schemas.microsoft.com/office/drawing/2017/decorative" val="1"/>
              </a:ext>
            </a:extLst>
          </p:cNvPr>
          <p:cNvSpPr/>
          <p:nvPr/>
        </p:nvSpPr>
        <p:spPr>
          <a:xfrm>
            <a:off x="8091220"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lfbRUNN">
            <a:extLst>
              <a:ext uri="{C183D7F6-B498-43B3-948B-1728B52AA6E4}">
                <adec:decorative xmlns:adec="http://schemas.microsoft.com/office/drawing/2017/decorative" val="1"/>
              </a:ext>
            </a:extLst>
          </p:cNvPr>
          <p:cNvSpPr/>
          <p:nvPr/>
        </p:nvSpPr>
        <p:spPr>
          <a:xfrm>
            <a:off x="8091220"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lflRUNN"/>
          <p:cNvSpPr txBox="1"/>
          <p:nvPr/>
        </p:nvSpPr>
        <p:spPr>
          <a:xfrm>
            <a:off x="8365540"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5" name="!!lfvRUNN"/>
          <p:cNvSpPr txBox="1"/>
          <p:nvPr/>
        </p:nvSpPr>
        <p:spPr>
          <a:xfrm>
            <a:off x="8365540"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code/ch21_auditing_escalation.py</a:t>
            </a:r>
          </a:p>
        </p:txBody>
      </p:sp>
      <p:sp>
        <p:nvSpPr>
          <p:cNvPr id="4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fill">
            <a:extLst>
              <a:ext uri="{C183D7F6-B498-43B3-948B-1728B52AA6E4}">
                <adec:decorative xmlns:adec="http://schemas.microsoft.com/office/drawing/2017/decorative" val="1"/>
              </a:ext>
            </a:extLst>
          </p:cNvPr>
          <p:cNvSpPr/>
          <p:nvPr/>
        </p:nvSpPr>
        <p:spPr>
          <a:xfrm>
            <a:off x="0" y="0"/>
            <a:ext cx="525504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F38E4FA8-439B-4651-8FD8-B19932E061C2}"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quot;&quot;&quot;Chapter 21 lab -- auditing a rule base nobody wrote badly. The rules mention no team. The escalation rate differs by 38 percentage points between two teams. Everything here is measurement: the disparity is invisible in the rule base and obvious in the outcomes. &quot;&quot;&quot; import random"/>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21 lab -- auditing a rule base nobody wrote badly.</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The rules mention no team. The escalation rate differs by 38</a:t>
            </a:r>
          </a:p>
          <a:p>
            <a:pPr>
              <a:lnSpc>
                <a:spcPct val="100000"/>
              </a:lnSpc>
              <a:spcAft>
                <a:spcPts val="0"/>
              </a:spcAft>
            </a:pPr>
            <a:r>
              <a:rPr sz="2000" i="0">
                <a:solidFill>
                  <a:srgbClr val="7DCEA0"/>
                </a:solidFill>
                <a:latin typeface="Consolas"/>
              </a:rPr>
              <a:t>percentage points between two teams. Everything here is measurement:</a:t>
            </a:r>
          </a:p>
          <a:p>
            <a:pPr>
              <a:lnSpc>
                <a:spcPct val="100000"/>
              </a:lnSpc>
              <a:spcAft>
                <a:spcPts val="0"/>
              </a:spcAft>
            </a:pPr>
            <a:r>
              <a:rPr sz="2000" i="0">
                <a:solidFill>
                  <a:srgbClr val="7DCEA0"/>
                </a:solidFill>
                <a:latin typeface="Consolas"/>
              </a:rPr>
              <a:t>the disparity is invisible in the rule base and obvious in the</a:t>
            </a:r>
          </a:p>
          <a:p>
            <a:pPr>
              <a:lnSpc>
                <a:spcPct val="100000"/>
              </a:lnSpc>
              <a:spcAft>
                <a:spcPts val="0"/>
              </a:spcAft>
            </a:pPr>
            <a:r>
              <a:rPr sz="2000" i="0">
                <a:solidFill>
                  <a:srgbClr val="7DCEA0"/>
                </a:solidFill>
                <a:latin typeface="Consolas"/>
              </a:rPr>
              <a:t>outcomes.</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random</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6524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A34829B3-D41F-45C5-ABEB-1624D3B40DA7}"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Chapter 13's rule base, unchanged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Chapter 13's rule base, unchanged ---------------------------- RULES = [ (&quot;R1&quot;, [(&quot;severity&quot;, &quot;critical&quot;)], (&quot;priority&quot;, &quot;P1&quot;)), (&quot;R2&quot;, [(&quot;severity&quot;, &quot;major&quot;), (&quot;tier&quot;, &quot;platinum&quot;)], (&quot;priority&quot;, &quot;P1&quot;)), (&quot;R3&quot;, [(&quot;severity&quot;, &quot;major&quot;), (&quot;tier&quot;, &quot;standard&quot;)], (&quot;priority&quot;, &quot;P2&quot;)), (&quot;R4&quot;, [(&quot;severity&quot;, &quot;minor&quot;)], (&quot;priority&quot;, &quot;P3&quot;)), (&quot;R5&quot;, [(&quot;priority&quot;, &quot;P1&quot;)], (&quot;needs_owner&quot;, &quot;yes&quot;)), (&quot;R6&quot;, [(&quot;priority&quot;, &quot;P2&quot;), (&quot;workaround&quot;, &quot;no&quot;)], (&quot;needs_owner&quot;, &quot;yes&quot;)), (&quot;R7&quot;, [(&quot;priority&quot;, &quot;P2&quot;), (&quot;workaround&quot;, &quot;yes&quot;)], (&quot;needs_owner&quot;, &quot;no&quot;)), (&quot;R8&quot;, [(&quot;priority&quot;, &quot;P3&quot;)], (&quot;needs_owner&quot;, &quot;no&quot;)), (&quot;R9&quot;, [(&quot;needs_owner&quot;, &quot;yes&quot;), (&quot;owner_available&quot;, &quot;no&quot;)], (&quot;escalate&quot;, &quot;yes&quot;)), (&quot;R11&quot;, [(&quot;needs_owner&quot;, &quot;no&quot;)], (&quot;escalate&quot;, &quot;no&quot;)), ]"/>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Chapter 13's rule base, unchanged ----------------------------</a:t>
            </a:r>
          </a:p>
          <a:p>
            <a:pPr>
              <a:lnSpc>
                <a:spcPct val="100000"/>
              </a:lnSpc>
              <a:spcAft>
                <a:spcPts val="0"/>
              </a:spcAft>
            </a:pPr>
            <a:r>
              <a:rPr sz="1300" i="0">
                <a:solidFill>
                  <a:srgbClr val="E8EDF2"/>
                </a:solidFill>
                <a:latin typeface="Consolas"/>
              </a:rPr>
              <a:t>RULES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R1</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severity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critical</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P1</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R2</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severity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major</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tier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platinum</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P1</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R3</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severity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major</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tier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standard</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P2</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R4</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severity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minor</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P3</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R5</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P1</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yes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R6</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P2</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workaround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yes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R7</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P2</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workaround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yes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R8</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priority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P3</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R9</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yes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owner_available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escalate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yes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R11</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needs_owner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escalate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7544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36150ADD-C4BD-4CB9-87C1-98406B64C585}"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Chapter 13's rule base, unchanged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def forward_chain(facts, rules=RULES): wm, fired = dict(facts), set() while True: applicable = [r for r in rules if r[0] not in fired and all(wm.get(a) == v for (a, v) in r[1]) and r[2][0] not in wm] if not applicable: return wm, fired applicable.sort(key=lambda r: (-len(r[1]), rules.index(r))) r = applicable[0] wm[r[2][0]] = r[2][1] fired.add(r[0])"/>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forward_chain</a:t>
            </a:r>
            <a:r>
              <a:rPr sz="1800" i="0">
                <a:solidFill>
                  <a:srgbClr val="AEB6BF"/>
                </a:solidFill>
                <a:latin typeface="Consolas"/>
              </a:rPr>
              <a:t>(</a:t>
            </a:r>
            <a:r>
              <a:rPr sz="1800" i="0">
                <a:solidFill>
                  <a:srgbClr val="E8EDF2"/>
                </a:solidFill>
                <a:latin typeface="Consolas"/>
              </a:rPr>
              <a:t>facts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rules</a:t>
            </a:r>
            <a:r>
              <a:rPr sz="1800" i="0">
                <a:solidFill>
                  <a:srgbClr val="AEB6BF"/>
                </a:solidFill>
                <a:latin typeface="Consolas"/>
              </a:rPr>
              <a:t>=</a:t>
            </a:r>
            <a:r>
              <a:rPr sz="1800" i="0">
                <a:solidFill>
                  <a:srgbClr val="E8EDF2"/>
                </a:solidFill>
                <a:latin typeface="Consolas"/>
              </a:rPr>
              <a:t>RULES</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fired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dict</a:t>
            </a:r>
            <a:r>
              <a:rPr sz="1800" i="0">
                <a:solidFill>
                  <a:srgbClr val="AEB6BF"/>
                </a:solidFill>
                <a:latin typeface="Consolas"/>
              </a:rPr>
              <a:t>(</a:t>
            </a:r>
            <a:r>
              <a:rPr sz="1800" i="0">
                <a:solidFill>
                  <a:srgbClr val="E8EDF2"/>
                </a:solidFill>
                <a:latin typeface="Consolas"/>
              </a:rPr>
              <a:t>facts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set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while</a:t>
            </a:r>
            <a:r>
              <a:rPr sz="1800" i="0">
                <a:solidFill>
                  <a:srgbClr val="E8EDF2"/>
                </a:solidFill>
                <a:latin typeface="Consolas"/>
              </a:rPr>
              <a:t> </a:t>
            </a:r>
            <a:r>
              <a:rPr sz="1800" i="0">
                <a:solidFill>
                  <a:srgbClr val="5DADE2"/>
                </a:solidFill>
                <a:latin typeface="Consolas"/>
              </a:rPr>
              <a:t>True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applicable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r</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rules</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fired</a:t>
            </a:r>
          </a:p>
          <a:p>
            <a:pPr>
              <a:lnSpc>
                <a:spcPct val="100000"/>
              </a:lnSpc>
              <a:spcAft>
                <a:spcPts val="0"/>
              </a:spcAft>
            </a:pP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C39BD3"/>
                </a:solidFill>
                <a:latin typeface="Consolas"/>
              </a:rPr>
              <a:t>all</a:t>
            </a:r>
            <a:r>
              <a:rPr sz="1800" i="0">
                <a:solidFill>
                  <a:srgbClr val="AEB6BF"/>
                </a:solidFill>
                <a:latin typeface="Consolas"/>
              </a:rPr>
              <a:t>(</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get</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applicable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fired</a:t>
            </a:r>
          </a:p>
          <a:p>
            <a:pPr>
              <a:lnSpc>
                <a:spcPct val="100000"/>
              </a:lnSpc>
              <a:spcAft>
                <a:spcPts val="0"/>
              </a:spcAft>
            </a:pPr>
            <a:r>
              <a:rPr sz="1800" i="0">
                <a:solidFill>
                  <a:srgbClr val="E8EDF2"/>
                </a:solidFill>
                <a:latin typeface="Consolas"/>
              </a:rPr>
              <a:t>        </a:t>
            </a:r>
            <a:r>
              <a:rPr sz="1800" i="0">
                <a:solidFill>
                  <a:srgbClr val="E8EDF2"/>
                </a:solidFill>
                <a:latin typeface="Consolas"/>
              </a:rPr>
              <a:t>applicable</a:t>
            </a:r>
            <a:r>
              <a:rPr sz="1800" i="0">
                <a:solidFill>
                  <a:srgbClr val="AEB6BF"/>
                </a:solidFill>
                <a:latin typeface="Consolas"/>
              </a:rPr>
              <a:t>.</a:t>
            </a:r>
            <a:r>
              <a:rPr sz="1800" i="0">
                <a:solidFill>
                  <a:srgbClr val="E8EDF2"/>
                </a:solidFill>
                <a:latin typeface="Consolas"/>
              </a:rPr>
              <a:t>sort</a:t>
            </a:r>
            <a:r>
              <a:rPr sz="1800" i="0">
                <a:solidFill>
                  <a:srgbClr val="AEB6BF"/>
                </a:solidFill>
                <a:latin typeface="Consolas"/>
              </a:rPr>
              <a:t>(</a:t>
            </a:r>
            <a:r>
              <a:rPr sz="1800" i="0">
                <a:solidFill>
                  <a:srgbClr val="E8EDF2"/>
                </a:solidFill>
                <a:latin typeface="Consolas"/>
              </a:rPr>
              <a:t>key</a:t>
            </a:r>
            <a:r>
              <a:rPr sz="1800" i="0">
                <a:solidFill>
                  <a:srgbClr val="AEB6BF"/>
                </a:solidFill>
                <a:latin typeface="Consolas"/>
              </a:rPr>
              <a:t>=</a:t>
            </a:r>
            <a:r>
              <a:rPr sz="1800" i="0">
                <a:solidFill>
                  <a:srgbClr val="5DADE2"/>
                </a:solidFill>
                <a:latin typeface="Consolas"/>
              </a:rPr>
              <a:t>lambda</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rules</a:t>
            </a:r>
            <a:r>
              <a:rPr sz="1800" i="0">
                <a:solidFill>
                  <a:srgbClr val="AEB6BF"/>
                </a:solidFill>
                <a:latin typeface="Consolas"/>
              </a:rPr>
              <a:t>.</a:t>
            </a:r>
            <a:r>
              <a:rPr sz="1800" i="0">
                <a:solidFill>
                  <a:srgbClr val="E8EDF2"/>
                </a:solidFill>
                <a:latin typeface="Consolas"/>
              </a:rPr>
              <a:t>index</a:t>
            </a:r>
            <a:r>
              <a:rPr sz="1800" i="0">
                <a:solidFill>
                  <a:srgbClr val="AEB6BF"/>
                </a:solidFill>
                <a:latin typeface="Consolas"/>
              </a:rPr>
              <a:t>(</a:t>
            </a:r>
            <a:r>
              <a:rPr sz="1800" i="0">
                <a:solidFill>
                  <a:srgbClr val="E8EDF2"/>
                </a:solidFill>
                <a:latin typeface="Consolas"/>
              </a:rPr>
              <a:t>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applicable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fired</a:t>
            </a:r>
            <a:r>
              <a:rPr sz="1800" i="0">
                <a:solidFill>
                  <a:srgbClr val="AEB6BF"/>
                </a:solidFill>
                <a:latin typeface="Consolas"/>
              </a:rPr>
              <a:t>.</a:t>
            </a:r>
            <a:r>
              <a:rPr sz="1800" i="0">
                <a:solidFill>
                  <a:srgbClr val="E8EDF2"/>
                </a:solidFill>
                <a:latin typeface="Consolas"/>
              </a:rPr>
              <a:t>add</a:t>
            </a:r>
            <a:r>
              <a:rPr sz="1800" i="0">
                <a:solidFill>
                  <a:srgbClr val="AEB6BF"/>
                </a:solidFill>
                <a:latin typeface="Consolas"/>
              </a:rPr>
              <a:t>(</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a:p>
            <a:pPr algn="r">
              <a:lnSpc>
                <a:spcPct val="100000"/>
              </a:lnSpc>
            </a:pPr>
            <a:r>
              <a:rPr sz="1800">
                <a:solidFill>
                  <a:srgbClr val="4F5D6A"/>
                </a:solidFill>
                <a:latin typeface="Consolas"/>
              </a:rPr>
              <a:t>36</a:t>
            </a:r>
          </a:p>
          <a:p>
            <a:pPr algn="r">
              <a:lnSpc>
                <a:spcPct val="100000"/>
              </a:lnSpc>
            </a:pPr>
            <a:r>
              <a:rPr sz="1800">
                <a:solidFill>
                  <a:srgbClr val="4F5D6A"/>
                </a:solidFill>
                <a:latin typeface="Consolas"/>
              </a:rPr>
              <a:t>37</a:t>
            </a:r>
          </a:p>
          <a:p>
            <a:pPr algn="r">
              <a:lnSpc>
                <a:spcPct val="100000"/>
              </a:lnSpc>
            </a:pPr>
            <a:r>
              <a:rPr sz="1800">
                <a:solidFill>
                  <a:srgbClr val="4F5D6A"/>
                </a:solidFill>
                <a:latin typeface="Consolas"/>
              </a:rPr>
              <a:t>38</a:t>
            </a:r>
          </a:p>
          <a:p>
            <a:pPr algn="r">
              <a:lnSpc>
                <a:spcPct val="100000"/>
              </a:lnSpc>
            </a:pPr>
            <a:r>
              <a:rPr sz="1800">
                <a:solidFill>
                  <a:srgbClr val="4F5D6A"/>
                </a:solidFill>
                <a:latin typeface="Consolas"/>
              </a:rPr>
              <a:t>39</a:t>
            </a:r>
          </a:p>
          <a:p>
            <a:pPr algn="r">
              <a:lnSpc>
                <a:spcPct val="100000"/>
              </a:lnSpc>
            </a:pPr>
            <a:r>
              <a:rPr sz="1800">
                <a:solidFill>
                  <a:srgbClr val="4F5D6A"/>
                </a:solidFill>
                <a:latin typeface="Consolas"/>
              </a:rPr>
              <a:t>40</a:t>
            </a:r>
          </a:p>
          <a:p>
            <a:pPr algn="r">
              <a:lnSpc>
                <a:spcPct val="100000"/>
              </a:lnSpc>
            </a:pPr>
            <a:r>
              <a:rPr sz="1800">
                <a:solidFill>
                  <a:srgbClr val="4F5D6A"/>
                </a:solidFill>
                <a:latin typeface="Consolas"/>
              </a:rPr>
              <a:t>41</a:t>
            </a:r>
          </a:p>
          <a:p>
            <a:pPr algn="r">
              <a:lnSpc>
                <a:spcPct val="100000"/>
              </a:lnSpc>
            </a:pPr>
            <a:r>
              <a:rPr sz="1800">
                <a:solidFill>
                  <a:srgbClr val="4F5D6A"/>
                </a:solidFill>
                <a:latin typeface="Consolas"/>
              </a:rPr>
              <a:t>42</a:t>
            </a:r>
          </a:p>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8564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B3EFB667-7357-4AAE-B3E1-7124A086F235}"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Chapter 13's rule base, unchanged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def explain(goal, facts, rules=RULES, seen=None): &quot;&quot;&quot;Backward chaining, for the chain an auditor reads.&quot;&quot;&quot; seen = seen or set() if facts.get(goal[0]) == goal[1]: return (&quot;fact&quot;, goal) if goal in seen: return None for r in rules: if r[2] != goal: continue subs = [] for c in r[1]: got = explain(c, facts, rules, seen | {goal}) if got is None: subs = None break subs.append(got) if subs is not None: return (&quot;rule&quot;, r[0], goal, subs) return None"/>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explain</a:t>
            </a:r>
            <a:r>
              <a:rPr sz="1100" i="0">
                <a:solidFill>
                  <a:srgbClr val="AEB6BF"/>
                </a:solidFill>
                <a:latin typeface="Consolas"/>
              </a:rPr>
              <a:t>(</a:t>
            </a:r>
            <a:r>
              <a:rPr sz="1100" i="0">
                <a:solidFill>
                  <a:srgbClr val="E8EDF2"/>
                </a:solidFill>
                <a:latin typeface="Consolas"/>
              </a:rPr>
              <a:t>goal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facts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rules</a:t>
            </a:r>
            <a:r>
              <a:rPr sz="1100" i="0">
                <a:solidFill>
                  <a:srgbClr val="AEB6BF"/>
                </a:solidFill>
                <a:latin typeface="Consolas"/>
              </a:rPr>
              <a:t>=</a:t>
            </a:r>
            <a:r>
              <a:rPr sz="1100" i="0">
                <a:solidFill>
                  <a:srgbClr val="E8EDF2"/>
                </a:solidFill>
                <a:latin typeface="Consolas"/>
              </a:rPr>
              <a:t>RULES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seen</a:t>
            </a:r>
            <a:r>
              <a:rPr sz="1100" i="0">
                <a:solidFill>
                  <a:srgbClr val="AEB6BF"/>
                </a:solidFill>
                <a:latin typeface="Consolas"/>
              </a:rPr>
              <a:t>=</a:t>
            </a:r>
            <a:r>
              <a:rPr sz="1100" i="0">
                <a:solidFill>
                  <a:srgbClr val="5DADE2"/>
                </a:solidFill>
                <a:latin typeface="Consolas"/>
              </a:rPr>
              <a:t>None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"""Backward chaining, for the chain an auditor reads."""</a:t>
            </a:r>
          </a:p>
          <a:p>
            <a:pPr>
              <a:lnSpc>
                <a:spcPct val="100000"/>
              </a:lnSpc>
              <a:spcAft>
                <a:spcPts val="0"/>
              </a:spcAft>
            </a:pPr>
            <a:r>
              <a:rPr sz="1100" i="0">
                <a:solidFill>
                  <a:srgbClr val="E8EDF2"/>
                </a:solidFill>
                <a:latin typeface="Consolas"/>
              </a:rPr>
              <a:t>    </a:t>
            </a:r>
            <a:r>
              <a:rPr sz="1100" i="0">
                <a:solidFill>
                  <a:srgbClr val="E8EDF2"/>
                </a:solidFill>
                <a:latin typeface="Consolas"/>
              </a:rPr>
              <a:t>seen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seen</a:t>
            </a:r>
            <a:r>
              <a:rPr sz="1100" i="0">
                <a:solidFill>
                  <a:srgbClr val="E8EDF2"/>
                </a:solidFill>
                <a:latin typeface="Consolas"/>
              </a:rPr>
              <a:t> </a:t>
            </a:r>
            <a:r>
              <a:rPr sz="1100" i="0">
                <a:solidFill>
                  <a:srgbClr val="AEB6BF"/>
                </a:solidFill>
                <a:latin typeface="Consolas"/>
              </a:rPr>
              <a:t>or</a:t>
            </a:r>
            <a:r>
              <a:rPr sz="1100" i="0">
                <a:solidFill>
                  <a:srgbClr val="E8EDF2"/>
                </a:solidFill>
                <a:latin typeface="Consolas"/>
              </a:rPr>
              <a:t> </a:t>
            </a:r>
            <a:r>
              <a:rPr sz="1100" i="0">
                <a:solidFill>
                  <a:srgbClr val="C39BD3"/>
                </a:solidFill>
                <a:latin typeface="Consolas"/>
              </a:rPr>
              <a:t>set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facts</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goal</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goal</a:t>
            </a:r>
            <a:r>
              <a:rPr sz="1100" i="0">
                <a:solidFill>
                  <a:srgbClr val="AEB6BF"/>
                </a:solidFill>
                <a:latin typeface="Consolas"/>
              </a:rPr>
              <a:t>[</a:t>
            </a:r>
            <a:r>
              <a:rPr sz="1100" i="0">
                <a:solidFill>
                  <a:srgbClr val="F7DC6F"/>
                </a:solidFill>
                <a:latin typeface="Consolas"/>
              </a:rPr>
              <a:t>1</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fact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goal</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goal</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seen</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5DADE2"/>
                </a:solidFill>
                <a:latin typeface="Consolas"/>
              </a:rPr>
              <a:t>None</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r</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rules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r</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goal</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continue</a:t>
            </a:r>
          </a:p>
          <a:p>
            <a:pPr>
              <a:lnSpc>
                <a:spcPct val="100000"/>
              </a:lnSpc>
              <a:spcAft>
                <a:spcPts val="0"/>
              </a:spcAft>
            </a:pPr>
            <a:r>
              <a:rPr sz="1100" i="0">
                <a:solidFill>
                  <a:srgbClr val="E8EDF2"/>
                </a:solidFill>
                <a:latin typeface="Consolas"/>
              </a:rPr>
              <a:t>        </a:t>
            </a:r>
            <a:r>
              <a:rPr sz="1100" i="0">
                <a:solidFill>
                  <a:srgbClr val="E8EDF2"/>
                </a:solidFill>
                <a:latin typeface="Consolas"/>
              </a:rPr>
              <a:t>subs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c</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r</a:t>
            </a:r>
            <a:r>
              <a:rPr sz="1100" i="0">
                <a:solidFill>
                  <a:srgbClr val="AEB6BF"/>
                </a:solidFill>
                <a:latin typeface="Consolas"/>
              </a:rPr>
              <a:t>[</a:t>
            </a:r>
            <a:r>
              <a:rPr sz="1100" i="0">
                <a:solidFill>
                  <a:srgbClr val="F7DC6F"/>
                </a:solidFill>
                <a:latin typeface="Consolas"/>
              </a:rPr>
              <a:t>1</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got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explain</a:t>
            </a:r>
            <a:r>
              <a:rPr sz="1100" i="0">
                <a:solidFill>
                  <a:srgbClr val="AEB6BF"/>
                </a:solidFill>
                <a:latin typeface="Consolas"/>
              </a:rPr>
              <a:t>(</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facts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rules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seen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goal</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got</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subs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None</a:t>
            </a:r>
          </a:p>
          <a:p>
            <a:pPr>
              <a:lnSpc>
                <a:spcPct val="100000"/>
              </a:lnSpc>
              <a:spcAft>
                <a:spcPts val="0"/>
              </a:spcAft>
            </a:pPr>
            <a:r>
              <a:rPr sz="1100" i="0">
                <a:solidFill>
                  <a:srgbClr val="E8EDF2"/>
                </a:solidFill>
                <a:latin typeface="Consolas"/>
              </a:rPr>
              <a:t>                </a:t>
            </a:r>
            <a:r>
              <a:rPr sz="1100" i="0">
                <a:solidFill>
                  <a:srgbClr val="5DADE2"/>
                </a:solidFill>
                <a:latin typeface="Consolas"/>
              </a:rPr>
              <a:t>break</a:t>
            </a:r>
          </a:p>
          <a:p>
            <a:pPr>
              <a:lnSpc>
                <a:spcPct val="100000"/>
              </a:lnSpc>
              <a:spcAft>
                <a:spcPts val="0"/>
              </a:spcAft>
            </a:pPr>
            <a:r>
              <a:rPr sz="1100" i="0">
                <a:solidFill>
                  <a:srgbClr val="E8EDF2"/>
                </a:solidFill>
                <a:latin typeface="Consolas"/>
              </a:rPr>
              <a:t>            </a:t>
            </a:r>
            <a:r>
              <a:rPr sz="1100" i="0">
                <a:solidFill>
                  <a:srgbClr val="E8EDF2"/>
                </a:solidFill>
                <a:latin typeface="Consolas"/>
              </a:rPr>
              <a:t>subs</a:t>
            </a:r>
            <a:r>
              <a:rPr sz="1100" i="0">
                <a:solidFill>
                  <a:srgbClr val="AEB6BF"/>
                </a:solidFill>
                <a:latin typeface="Consolas"/>
              </a:rPr>
              <a:t>.</a:t>
            </a:r>
            <a:r>
              <a:rPr sz="1100" i="0">
                <a:solidFill>
                  <a:srgbClr val="E8EDF2"/>
                </a:solidFill>
                <a:latin typeface="Consolas"/>
              </a:rPr>
              <a:t>append</a:t>
            </a:r>
            <a:r>
              <a:rPr sz="1100" i="0">
                <a:solidFill>
                  <a:srgbClr val="AEB6BF"/>
                </a:solidFill>
                <a:latin typeface="Consolas"/>
              </a:rPr>
              <a:t>(</a:t>
            </a:r>
            <a:r>
              <a:rPr sz="1100" i="0">
                <a:solidFill>
                  <a:srgbClr val="E8EDF2"/>
                </a:solidFill>
                <a:latin typeface="Consolas"/>
              </a:rPr>
              <a:t>got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subs</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rule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goal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subs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5DADE2"/>
                </a:solidFill>
                <a:latin typeface="Consolas"/>
              </a:rPr>
              <a:t>None</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47</a:t>
            </a:r>
          </a:p>
          <a:p>
            <a:pPr algn="r">
              <a:lnSpc>
                <a:spcPct val="100000"/>
              </a:lnSpc>
            </a:pPr>
            <a:r>
              <a:rPr sz="1100">
                <a:solidFill>
                  <a:srgbClr val="4F5D6A"/>
                </a:solidFill>
                <a:latin typeface="Consolas"/>
              </a:rPr>
              <a:t>48</a:t>
            </a:r>
          </a:p>
          <a:p>
            <a:pPr algn="r">
              <a:lnSpc>
                <a:spcPct val="100000"/>
              </a:lnSpc>
            </a:pPr>
            <a:r>
              <a:rPr sz="1100">
                <a:solidFill>
                  <a:srgbClr val="4F5D6A"/>
                </a:solidFill>
                <a:latin typeface="Consolas"/>
              </a:rPr>
              <a:t>49</a:t>
            </a:r>
          </a:p>
          <a:p>
            <a:pPr algn="r">
              <a:lnSpc>
                <a:spcPct val="100000"/>
              </a:lnSpc>
            </a:pPr>
            <a:r>
              <a:rPr sz="1100">
                <a:solidFill>
                  <a:srgbClr val="4F5D6A"/>
                </a:solidFill>
                <a:latin typeface="Consolas"/>
              </a:rPr>
              <a:t>50</a:t>
            </a:r>
          </a:p>
          <a:p>
            <a:pPr algn="r">
              <a:lnSpc>
                <a:spcPct val="100000"/>
              </a:lnSpc>
            </a:pPr>
            <a:r>
              <a:rPr sz="1100">
                <a:solidFill>
                  <a:srgbClr val="4F5D6A"/>
                </a:solidFill>
                <a:latin typeface="Consolas"/>
              </a:rPr>
              <a:t>51</a:t>
            </a:r>
          </a:p>
          <a:p>
            <a:pPr algn="r">
              <a:lnSpc>
                <a:spcPct val="100000"/>
              </a:lnSpc>
            </a:pPr>
            <a:r>
              <a:rPr sz="1100">
                <a:solidFill>
                  <a:srgbClr val="4F5D6A"/>
                </a:solidFill>
                <a:latin typeface="Consolas"/>
              </a:rPr>
              <a:t>52</a:t>
            </a:r>
          </a:p>
          <a:p>
            <a:pPr algn="r">
              <a:lnSpc>
                <a:spcPct val="100000"/>
              </a:lnSpc>
            </a:pPr>
            <a:r>
              <a:rPr sz="1100">
                <a:solidFill>
                  <a:srgbClr val="4F5D6A"/>
                </a:solidFill>
                <a:latin typeface="Consolas"/>
              </a:rPr>
              <a:t>53</a:t>
            </a:r>
          </a:p>
          <a:p>
            <a:pPr algn="r">
              <a:lnSpc>
                <a:spcPct val="100000"/>
              </a:lnSpc>
            </a:pPr>
            <a:r>
              <a:rPr sz="1100">
                <a:solidFill>
                  <a:srgbClr val="4F5D6A"/>
                </a:solidFill>
                <a:latin typeface="Consolas"/>
              </a:rPr>
              <a:t>54</a:t>
            </a:r>
          </a:p>
          <a:p>
            <a:pPr algn="r">
              <a:lnSpc>
                <a:spcPct val="100000"/>
              </a:lnSpc>
            </a:pPr>
            <a:r>
              <a:rPr sz="1100">
                <a:solidFill>
                  <a:srgbClr val="4F5D6A"/>
                </a:solidFill>
                <a:latin typeface="Consolas"/>
              </a:rPr>
              <a:t>55</a:t>
            </a:r>
          </a:p>
          <a:p>
            <a:pPr algn="r">
              <a:lnSpc>
                <a:spcPct val="100000"/>
              </a:lnSpc>
            </a:pPr>
            <a:r>
              <a:rPr sz="1100">
                <a:solidFill>
                  <a:srgbClr val="4F5D6A"/>
                </a:solidFill>
                <a:latin typeface="Consolas"/>
              </a:rPr>
              <a:t>56</a:t>
            </a:r>
          </a:p>
          <a:p>
            <a:pPr algn="r">
              <a:lnSpc>
                <a:spcPct val="100000"/>
              </a:lnSpc>
            </a:pPr>
            <a:r>
              <a:rPr sz="1100">
                <a:solidFill>
                  <a:srgbClr val="4F5D6A"/>
                </a:solidFill>
                <a:latin typeface="Consolas"/>
              </a:rPr>
              <a:t>57</a:t>
            </a:r>
          </a:p>
          <a:p>
            <a:pPr algn="r">
              <a:lnSpc>
                <a:spcPct val="100000"/>
              </a:lnSpc>
            </a:pPr>
            <a:r>
              <a:rPr sz="1100">
                <a:solidFill>
                  <a:srgbClr val="4F5D6A"/>
                </a:solidFill>
                <a:latin typeface="Consolas"/>
              </a:rPr>
              <a:t>58</a:t>
            </a:r>
          </a:p>
          <a:p>
            <a:pPr algn="r">
              <a:lnSpc>
                <a:spcPct val="100000"/>
              </a:lnSpc>
            </a:pPr>
            <a:r>
              <a:rPr sz="1100">
                <a:solidFill>
                  <a:srgbClr val="4F5D6A"/>
                </a:solidFill>
                <a:latin typeface="Consolas"/>
              </a:rPr>
              <a:t>59</a:t>
            </a:r>
          </a:p>
          <a:p>
            <a:pPr algn="r">
              <a:lnSpc>
                <a:spcPct val="100000"/>
              </a:lnSpc>
            </a:pPr>
            <a:r>
              <a:rPr sz="1100">
                <a:solidFill>
                  <a:srgbClr val="4F5D6A"/>
                </a:solidFill>
                <a:latin typeface="Consolas"/>
              </a:rPr>
              <a:t>60</a:t>
            </a:r>
          </a:p>
          <a:p>
            <a:pPr algn="r">
              <a:lnSpc>
                <a:spcPct val="100000"/>
              </a:lnSpc>
            </a:pPr>
            <a:r>
              <a:rPr sz="1100">
                <a:solidFill>
                  <a:srgbClr val="4F5D6A"/>
                </a:solidFill>
                <a:latin typeface="Consolas"/>
              </a:rPr>
              <a:t>61</a:t>
            </a:r>
          </a:p>
          <a:p>
            <a:pPr algn="r">
              <a:lnSpc>
                <a:spcPct val="100000"/>
              </a:lnSpc>
            </a:pPr>
            <a:r>
              <a:rPr sz="1100">
                <a:solidFill>
                  <a:srgbClr val="4F5D6A"/>
                </a:solidFill>
                <a:latin typeface="Consolas"/>
              </a:rPr>
              <a:t>62</a:t>
            </a:r>
          </a:p>
          <a:p>
            <a:pPr algn="r">
              <a:lnSpc>
                <a:spcPct val="100000"/>
              </a:lnSpc>
            </a:pPr>
            <a:r>
              <a:rPr sz="1100">
                <a:solidFill>
                  <a:srgbClr val="4F5D6A"/>
                </a:solidFill>
                <a:latin typeface="Consolas"/>
              </a:rPr>
              <a:t>63</a:t>
            </a:r>
          </a:p>
          <a:p>
            <a:pPr algn="r">
              <a:lnSpc>
                <a:spcPct val="100000"/>
              </a:lnSpc>
            </a:pPr>
            <a:r>
              <a:rPr sz="1100">
                <a:solidFill>
                  <a:srgbClr val="4F5D6A"/>
                </a:solidFill>
                <a:latin typeface="Consolas"/>
              </a:rPr>
              <a:t>64</a:t>
            </a:r>
          </a:p>
          <a:p>
            <a:pPr algn="r">
              <a:lnSpc>
                <a:spcPct val="100000"/>
              </a:lnSpc>
            </a:pPr>
            <a:r>
              <a:rPr sz="1100">
                <a:solidFill>
                  <a:srgbClr val="4F5D6A"/>
                </a:solidFill>
                <a:latin typeface="Consolas"/>
              </a:rPr>
              <a:t>65</a:t>
            </a:r>
          </a:p>
          <a:p>
            <a:pPr algn="r">
              <a:lnSpc>
                <a:spcPct val="100000"/>
              </a:lnSpc>
            </a:pPr>
            <a:r>
              <a:rPr sz="1100">
                <a:solidFill>
                  <a:srgbClr val="4F5D6A"/>
                </a:solidFill>
                <a:latin typeface="Consolas"/>
              </a:rPr>
              <a:t>66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661BD540-216B-40B3-AF84-65B3A6EA1ED7}"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Chapter 13's rule base, unchanged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def render(tree, indent=0): pad = &quot; &quot; * indent if tree[0] == &quot;fact&quot;: return [&quot;%s%s = %s (given)&quot; % (pad, tree[1][0], tree[1][1])] _, name, goal, subs = tree out = [&quot;%s%s = %s (by %s, because)&quot; % (pad, goal[0], goal[1], name)] for s in subs: out += render(s, indent + 1) return out"/>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render</a:t>
            </a:r>
            <a:r>
              <a:rPr sz="1800" i="0">
                <a:solidFill>
                  <a:srgbClr val="AEB6BF"/>
                </a:solidFill>
                <a:latin typeface="Consolas"/>
              </a:rPr>
              <a:t>(</a:t>
            </a:r>
            <a:r>
              <a:rPr sz="1800" i="0">
                <a:solidFill>
                  <a:srgbClr val="E8EDF2"/>
                </a:solidFill>
                <a:latin typeface="Consolas"/>
              </a:rPr>
              <a:t>tree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pad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fact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a:t>
            </a:r>
            <a:r>
              <a:rPr sz="1800" i="0">
                <a:solidFill>
                  <a:srgbClr val="7DCEA0"/>
                </a:solidFill>
                <a:latin typeface="Consolas"/>
              </a:rPr>
              <a:t>%s</a:t>
            </a:r>
            <a:r>
              <a:rPr sz="1800" i="0">
                <a:solidFill>
                  <a:srgbClr val="7DCEA0"/>
                </a:solidFill>
                <a:latin typeface="Consolas"/>
              </a:rPr>
              <a:t> = </a:t>
            </a:r>
            <a:r>
              <a:rPr sz="1800" i="0">
                <a:solidFill>
                  <a:srgbClr val="7DCEA0"/>
                </a:solidFill>
                <a:latin typeface="Consolas"/>
              </a:rPr>
              <a:t>%s</a:t>
            </a:r>
            <a:r>
              <a:rPr sz="1800" i="0">
                <a:solidFill>
                  <a:srgbClr val="7DCEA0"/>
                </a:solidFill>
                <a:latin typeface="Consolas"/>
              </a:rPr>
              <a:t>  (given)</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name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subs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a:t>
            </a:r>
            <a:r>
              <a:rPr sz="1800" i="0">
                <a:solidFill>
                  <a:srgbClr val="7DCEA0"/>
                </a:solidFill>
                <a:latin typeface="Consolas"/>
              </a:rPr>
              <a:t>%s</a:t>
            </a:r>
            <a:r>
              <a:rPr sz="1800" i="0">
                <a:solidFill>
                  <a:srgbClr val="7DCEA0"/>
                </a:solidFill>
                <a:latin typeface="Consolas"/>
              </a:rPr>
              <a:t> = </a:t>
            </a:r>
            <a:r>
              <a:rPr sz="1800" i="0">
                <a:solidFill>
                  <a:srgbClr val="7DCEA0"/>
                </a:solidFill>
                <a:latin typeface="Consolas"/>
              </a:rPr>
              <a:t>%s</a:t>
            </a:r>
            <a:r>
              <a:rPr sz="1800" i="0">
                <a:solidFill>
                  <a:srgbClr val="7DCEA0"/>
                </a:solidFill>
                <a:latin typeface="Consolas"/>
              </a:rPr>
              <a:t>  (by </a:t>
            </a:r>
            <a:r>
              <a:rPr sz="1800" i="0">
                <a:solidFill>
                  <a:srgbClr val="7DCEA0"/>
                </a:solidFill>
                <a:latin typeface="Consolas"/>
              </a:rPr>
              <a:t>%s</a:t>
            </a:r>
            <a:r>
              <a:rPr sz="1800" i="0">
                <a:solidFill>
                  <a:srgbClr val="7DCEA0"/>
                </a:solidFill>
                <a:latin typeface="Consolas"/>
              </a:rPr>
              <a:t>, because)</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name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subs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render</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E8EDF2"/>
                </a:solidFill>
                <a:latin typeface="Consolas"/>
              </a:rPr>
              <a:t>out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69</a:t>
            </a:r>
          </a:p>
          <a:p>
            <a:pPr algn="r">
              <a:lnSpc>
                <a:spcPct val="100000"/>
              </a:lnSpc>
            </a:pPr>
            <a:r>
              <a:rPr sz="1800">
                <a:solidFill>
                  <a:srgbClr val="4F5D6A"/>
                </a:solidFill>
                <a:latin typeface="Consolas"/>
              </a:rPr>
              <a:t>70</a:t>
            </a:r>
          </a:p>
          <a:p>
            <a:pPr algn="r">
              <a:lnSpc>
                <a:spcPct val="100000"/>
              </a:lnSpc>
            </a:pPr>
            <a:r>
              <a:rPr sz="1800">
                <a:solidFill>
                  <a:srgbClr val="4F5D6A"/>
                </a:solidFill>
                <a:latin typeface="Consolas"/>
              </a:rPr>
              <a:t>71</a:t>
            </a:r>
          </a:p>
          <a:p>
            <a:pPr algn="r">
              <a:lnSpc>
                <a:spcPct val="100000"/>
              </a:lnSpc>
            </a:pPr>
            <a:r>
              <a:rPr sz="1800">
                <a:solidFill>
                  <a:srgbClr val="4F5D6A"/>
                </a:solidFill>
                <a:latin typeface="Consolas"/>
              </a:rPr>
              <a:t>72</a:t>
            </a:r>
          </a:p>
          <a:p>
            <a:pPr algn="r">
              <a:lnSpc>
                <a:spcPct val="100000"/>
              </a:lnSpc>
            </a:pPr>
            <a:r>
              <a:rPr sz="1800">
                <a:solidFill>
                  <a:srgbClr val="4F5D6A"/>
                </a:solidFill>
                <a:latin typeface="Consolas"/>
              </a:rPr>
              <a:t>73</a:t>
            </a:r>
          </a:p>
          <a:p>
            <a:pPr algn="r">
              <a:lnSpc>
                <a:spcPct val="100000"/>
              </a:lnSpc>
            </a:pPr>
            <a:r>
              <a:rPr sz="1800">
                <a:solidFill>
                  <a:srgbClr val="4F5D6A"/>
                </a:solidFill>
                <a:latin typeface="Consolas"/>
              </a:rPr>
              <a:t>74</a:t>
            </a:r>
          </a:p>
          <a:p>
            <a:pPr algn="r">
              <a:lnSpc>
                <a:spcPct val="100000"/>
              </a:lnSpc>
            </a:pPr>
            <a:r>
              <a:rPr sz="1800">
                <a:solidFill>
                  <a:srgbClr val="4F5D6A"/>
                </a:solidFill>
                <a:latin typeface="Consolas"/>
              </a:rPr>
              <a:t>75</a:t>
            </a:r>
          </a:p>
          <a:p>
            <a:pPr algn="r">
              <a:lnSpc>
                <a:spcPct val="100000"/>
              </a:lnSpc>
            </a:pPr>
            <a:r>
              <a:rPr sz="1800">
                <a:solidFill>
                  <a:srgbClr val="4F5D6A"/>
                </a:solidFill>
                <a:latin typeface="Consolas"/>
              </a:rPr>
              <a:t>76</a:t>
            </a:r>
          </a:p>
          <a:p>
            <a:pPr algn="r">
              <a:lnSpc>
                <a:spcPct val="100000"/>
              </a:lnSpc>
            </a:pPr>
            <a:r>
              <a:rPr sz="1800">
                <a:solidFill>
                  <a:srgbClr val="4F5D6A"/>
                </a:solidFill>
                <a:latin typeface="Consolas"/>
              </a:rPr>
              <a:t>77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0604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DBB9C72E-E399-4F8D-8280-4125B6C98FA7}"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Two hundred tickets from two teams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two hundred tickets from two teams --------------------------- def population(n=200, seed=0): &quot;&quot;&quot;The ONLY difference between the teams is how often a workaround is documented. Nothing else, and no rule sees the team name.&quot;&quot;&quot; rng = random.Random(seed) out = []"/>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two hundred tickets from two teams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population</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r>
              <a:rPr sz="2000" i="0">
                <a:solidFill>
                  <a:srgbClr val="F7DC6F"/>
                </a:solidFill>
                <a:latin typeface="Consolas"/>
              </a:rPr>
              <a:t>200</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seed</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"""The ONLY difference between the teams is how often a</a:t>
            </a:r>
          </a:p>
          <a:p>
            <a:pPr>
              <a:lnSpc>
                <a:spcPct val="100000"/>
              </a:lnSpc>
              <a:spcAft>
                <a:spcPts val="0"/>
              </a:spcAft>
            </a:pPr>
            <a:r>
              <a:rPr sz="2000" i="0">
                <a:solidFill>
                  <a:srgbClr val="7DCEA0"/>
                </a:solidFill>
                <a:latin typeface="Consolas"/>
              </a:rPr>
              <a:t>    workaround is documented. Nothing else, and no rule sees the</a:t>
            </a:r>
          </a:p>
          <a:p>
            <a:pPr>
              <a:lnSpc>
                <a:spcPct val="100000"/>
              </a:lnSpc>
              <a:spcAft>
                <a:spcPts val="0"/>
              </a:spcAft>
            </a:pPr>
            <a:r>
              <a:rPr sz="2000" i="0">
                <a:solidFill>
                  <a:srgbClr val="7DCEA0"/>
                </a:solidFill>
                <a:latin typeface="Consolas"/>
              </a:rPr>
              <a:t>    team name."""</a:t>
            </a:r>
          </a:p>
          <a:p>
            <a:pPr>
              <a:lnSpc>
                <a:spcPct val="100000"/>
              </a:lnSpc>
              <a:spcAft>
                <a:spcPts val="0"/>
              </a:spcAft>
            </a:pPr>
            <a:r>
              <a:rPr sz="2000" i="0">
                <a:solidFill>
                  <a:srgbClr val="E8EDF2"/>
                </a:solidFill>
                <a:latin typeface="Consolas"/>
              </a:rPr>
              <a:t>    </a:t>
            </a:r>
            <a:r>
              <a:rPr sz="2000" i="0">
                <a:solidFill>
                  <a:srgbClr val="E8EDF2"/>
                </a:solidFill>
                <a:latin typeface="Consolas"/>
              </a:rPr>
              <a:t>rng</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random</a:t>
            </a:r>
            <a:r>
              <a:rPr sz="2000" i="0">
                <a:solidFill>
                  <a:srgbClr val="AEB6BF"/>
                </a:solidFill>
                <a:latin typeface="Consolas"/>
              </a:rPr>
              <a:t>.</a:t>
            </a:r>
            <a:r>
              <a:rPr sz="2000" i="0">
                <a:solidFill>
                  <a:srgbClr val="E8EDF2"/>
                </a:solidFill>
                <a:latin typeface="Consolas"/>
              </a:rPr>
              <a:t>Random</a:t>
            </a:r>
            <a:r>
              <a:rPr sz="2000" i="0">
                <a:solidFill>
                  <a:srgbClr val="AEB6BF"/>
                </a:solidFill>
                <a:latin typeface="Consolas"/>
              </a:rPr>
              <a:t>(</a:t>
            </a:r>
            <a:r>
              <a:rPr sz="2000" i="0">
                <a:solidFill>
                  <a:srgbClr val="E8EDF2"/>
                </a:solidFill>
                <a:latin typeface="Consolas"/>
              </a:rPr>
              <a:t>seed</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out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80</a:t>
            </a:r>
          </a:p>
          <a:p>
            <a:pPr algn="r">
              <a:lnSpc>
                <a:spcPct val="100000"/>
              </a:lnSpc>
            </a:pPr>
            <a:r>
              <a:rPr sz="2000">
                <a:solidFill>
                  <a:srgbClr val="4F5D6A"/>
                </a:solidFill>
                <a:latin typeface="Consolas"/>
              </a:rPr>
              <a:t>81</a:t>
            </a:r>
          </a:p>
          <a:p>
            <a:pPr algn="r">
              <a:lnSpc>
                <a:spcPct val="100000"/>
              </a:lnSpc>
            </a:pPr>
            <a:r>
              <a:rPr sz="2000">
                <a:solidFill>
                  <a:srgbClr val="4F5D6A"/>
                </a:solidFill>
                <a:latin typeface="Consolas"/>
              </a:rPr>
              <a:t>82</a:t>
            </a:r>
          </a:p>
          <a:p>
            <a:pPr algn="r">
              <a:lnSpc>
                <a:spcPct val="100000"/>
              </a:lnSpc>
            </a:pPr>
            <a:r>
              <a:rPr sz="2000">
                <a:solidFill>
                  <a:srgbClr val="4F5D6A"/>
                </a:solidFill>
                <a:latin typeface="Consolas"/>
              </a:rPr>
              <a:t>83</a:t>
            </a:r>
          </a:p>
          <a:p>
            <a:pPr algn="r">
              <a:lnSpc>
                <a:spcPct val="100000"/>
              </a:lnSpc>
            </a:pPr>
            <a:r>
              <a:rPr sz="2000">
                <a:solidFill>
                  <a:srgbClr val="4F5D6A"/>
                </a:solidFill>
                <a:latin typeface="Consolas"/>
              </a:rPr>
              <a:t>84</a:t>
            </a:r>
          </a:p>
          <a:p>
            <a:pPr algn="r">
              <a:lnSpc>
                <a:spcPct val="100000"/>
              </a:lnSpc>
            </a:pPr>
            <a:r>
              <a:rPr sz="2000">
                <a:solidFill>
                  <a:srgbClr val="4F5D6A"/>
                </a:solidFill>
                <a:latin typeface="Consolas"/>
              </a:rPr>
              <a:t>85</a:t>
            </a:r>
          </a:p>
          <a:p>
            <a:pPr algn="r">
              <a:lnSpc>
                <a:spcPct val="100000"/>
              </a:lnSpc>
            </a:pPr>
            <a:r>
              <a:rPr sz="2000">
                <a:solidFill>
                  <a:srgbClr val="4F5D6A"/>
                </a:solidFill>
                <a:latin typeface="Consolas"/>
              </a:rPr>
              <a:t>86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1625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59530967-2084-4B14-931B-ABAE179F9050}"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Two hundred tickets from two teams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for i in range(n): team = &quot;Platform&quot; if i % 2 == 0 else &quot;Payments&quot; # Platform has mature runbooks, so a workaround is usually # recorded; Payments is a newer team and usually has none p_workaround = 0.80 if team == &quot;Platform&quot; else 0.15 out.append({ &quot;id&quot;: &quot;T-%04d&quot; % (4000 + i), &quot;team&quot;: team, # for the AUDIT only &quot;severity&quot;: rng.choice([&quot;critical&quot;, &quot;major&quot;, &quot;major&quot;, &quot;minor&quot;]), &quot;tier&quot;: rng.choice([&quot;platinum&quot;, &quot;standard&quot;, &quot;standard&quot;]), &quot;workaround&quot;: &quot;yes&quot; if rng.random() &lt; p_workaround else &quot;no&quot;, &quot;owner_available&quot;: rng.choice([&quot;yes&quot;, &quot;no&quot;, &quot;no&quot;]), }) return ou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i</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team</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Platform</a:t>
            </a:r>
            <a:r>
              <a:rPr sz="1500" i="0">
                <a:solidFill>
                  <a:srgbClr val="7DCEA0"/>
                </a:solidFill>
                <a:latin typeface="Consolas"/>
              </a:rPr>
              <a:t>"</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i</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E8EDF2"/>
                </a:solidFill>
                <a:latin typeface="Consolas"/>
              </a:rPr>
              <a:t> </a:t>
            </a:r>
            <a:r>
              <a:rPr sz="1500" i="0">
                <a:solidFill>
                  <a:srgbClr val="5DADE2"/>
                </a:solidFill>
                <a:latin typeface="Consolas"/>
              </a:rPr>
              <a:t>else</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Payments</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1">
                <a:solidFill>
                  <a:srgbClr val="8795A1"/>
                </a:solidFill>
                <a:latin typeface="Consolas"/>
              </a:rPr>
              <a:t># Platform has mature runbooks, so a workaround is usually</a:t>
            </a:r>
          </a:p>
          <a:p>
            <a:pPr>
              <a:lnSpc>
                <a:spcPct val="100000"/>
              </a:lnSpc>
              <a:spcAft>
                <a:spcPts val="0"/>
              </a:spcAft>
            </a:pPr>
            <a:r>
              <a:rPr sz="1500" i="0">
                <a:solidFill>
                  <a:srgbClr val="E8EDF2"/>
                </a:solidFill>
                <a:latin typeface="Consolas"/>
              </a:rPr>
              <a:t>        </a:t>
            </a:r>
            <a:r>
              <a:rPr sz="1500" i="1">
                <a:solidFill>
                  <a:srgbClr val="8795A1"/>
                </a:solidFill>
                <a:latin typeface="Consolas"/>
              </a:rPr>
              <a:t># recorded; Payments is a newer team and usually has none</a:t>
            </a:r>
          </a:p>
          <a:p>
            <a:pPr>
              <a:lnSpc>
                <a:spcPct val="100000"/>
              </a:lnSpc>
              <a:spcAft>
                <a:spcPts val="0"/>
              </a:spcAft>
            </a:pPr>
            <a:r>
              <a:rPr sz="1500" i="0">
                <a:solidFill>
                  <a:srgbClr val="E8EDF2"/>
                </a:solidFill>
                <a:latin typeface="Consolas"/>
              </a:rPr>
              <a:t>        </a:t>
            </a:r>
            <a:r>
              <a:rPr sz="1500" i="0">
                <a:solidFill>
                  <a:srgbClr val="E8EDF2"/>
                </a:solidFill>
                <a:latin typeface="Consolas"/>
              </a:rPr>
              <a:t>p_workaround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0.80</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team</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Platform</a:t>
            </a:r>
            <a:r>
              <a:rPr sz="1500" i="0">
                <a:solidFill>
                  <a:srgbClr val="7DCEA0"/>
                </a:solidFill>
                <a:latin typeface="Consolas"/>
              </a:rPr>
              <a:t>"</a:t>
            </a:r>
            <a:r>
              <a:rPr sz="1500" i="0">
                <a:solidFill>
                  <a:srgbClr val="E8EDF2"/>
                </a:solidFill>
                <a:latin typeface="Consolas"/>
              </a:rPr>
              <a:t> </a:t>
            </a:r>
            <a:r>
              <a:rPr sz="1500" i="0">
                <a:solidFill>
                  <a:srgbClr val="5DADE2"/>
                </a:solidFill>
                <a:latin typeface="Consolas"/>
              </a:rPr>
              <a:t>else</a:t>
            </a:r>
            <a:r>
              <a:rPr sz="1500" i="0">
                <a:solidFill>
                  <a:srgbClr val="E8EDF2"/>
                </a:solidFill>
                <a:latin typeface="Consolas"/>
              </a:rPr>
              <a:t> </a:t>
            </a:r>
            <a:r>
              <a:rPr sz="1500" i="0">
                <a:solidFill>
                  <a:srgbClr val="F7DC6F"/>
                </a:solidFill>
                <a:latin typeface="Consolas"/>
              </a:rPr>
              <a:t>0.15</a:t>
            </a:r>
          </a:p>
          <a:p>
            <a:pPr>
              <a:lnSpc>
                <a:spcPct val="100000"/>
              </a:lnSpc>
              <a:spcAft>
                <a:spcPts val="0"/>
              </a:spcAft>
            </a:pPr>
            <a:r>
              <a:rPr sz="1500" i="0">
                <a:solidFill>
                  <a:srgbClr val="E8EDF2"/>
                </a:solidFill>
                <a:latin typeface="Consolas"/>
              </a:rPr>
              <a:t>        </a:t>
            </a:r>
            <a:r>
              <a:rPr sz="1500" i="0">
                <a:solidFill>
                  <a:srgbClr val="E8EDF2"/>
                </a:solidFill>
                <a:latin typeface="Consolas"/>
              </a:rPr>
              <a:t>out</a:t>
            </a:r>
            <a:r>
              <a:rPr sz="1500" i="0">
                <a:solidFill>
                  <a:srgbClr val="AEB6BF"/>
                </a:solidFill>
                <a:latin typeface="Consolas"/>
              </a:rPr>
              <a:t>.</a:t>
            </a:r>
            <a:r>
              <a:rPr sz="1500" i="0">
                <a:solidFill>
                  <a:srgbClr val="E8EDF2"/>
                </a:solidFill>
                <a:latin typeface="Consolas"/>
              </a:rPr>
              <a:t>append</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id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T-</a:t>
            </a:r>
            <a:r>
              <a:rPr sz="1500" i="0">
                <a:solidFill>
                  <a:srgbClr val="7DCEA0"/>
                </a:solidFill>
                <a:latin typeface="Consolas"/>
              </a:rPr>
              <a:t>%04d</a:t>
            </a:r>
            <a:r>
              <a:rPr sz="1500" i="0">
                <a:solidFill>
                  <a:srgbClr val="7DCEA0"/>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F7DC6F"/>
                </a:solidFill>
                <a:latin typeface="Consolas"/>
              </a:rPr>
              <a:t>4000</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i</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team</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team</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for the AUDIT only</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severity</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choice</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critical</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major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major</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minor</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tier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choice</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platinum</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standard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standard</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workaround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yes</a:t>
            </a:r>
            <a:r>
              <a:rPr sz="1500" i="0">
                <a:solidFill>
                  <a:srgbClr val="7DCEA0"/>
                </a:solidFill>
                <a:latin typeface="Consolas"/>
              </a:rPr>
              <a:t>"</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E8EDF2"/>
                </a:solidFill>
                <a:latin typeface="Consolas"/>
              </a:rPr>
              <a:t>p_workaround</a:t>
            </a:r>
            <a:r>
              <a:rPr sz="1500" i="0">
                <a:solidFill>
                  <a:srgbClr val="E8EDF2"/>
                </a:solidFill>
                <a:latin typeface="Consolas"/>
              </a:rPr>
              <a:t> </a:t>
            </a:r>
            <a:r>
              <a:rPr sz="1500" i="0">
                <a:solidFill>
                  <a:srgbClr val="5DADE2"/>
                </a:solidFill>
                <a:latin typeface="Consolas"/>
              </a:rPr>
              <a:t>else</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no</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owner_available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choice</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yes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no</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no</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out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87</a:t>
            </a:r>
          </a:p>
          <a:p>
            <a:pPr algn="r">
              <a:lnSpc>
                <a:spcPct val="100000"/>
              </a:lnSpc>
            </a:pPr>
            <a:r>
              <a:rPr sz="1500">
                <a:solidFill>
                  <a:srgbClr val="4F5D6A"/>
                </a:solidFill>
                <a:latin typeface="Consolas"/>
              </a:rPr>
              <a:t>88</a:t>
            </a:r>
          </a:p>
          <a:p>
            <a:pPr algn="r">
              <a:lnSpc>
                <a:spcPct val="100000"/>
              </a:lnSpc>
            </a:pPr>
            <a:r>
              <a:rPr sz="1500">
                <a:solidFill>
                  <a:srgbClr val="4F5D6A"/>
                </a:solidFill>
                <a:latin typeface="Consolas"/>
              </a:rPr>
              <a:t>89</a:t>
            </a:r>
          </a:p>
          <a:p>
            <a:pPr algn="r">
              <a:lnSpc>
                <a:spcPct val="100000"/>
              </a:lnSpc>
            </a:pPr>
            <a:r>
              <a:rPr sz="1500">
                <a:solidFill>
                  <a:srgbClr val="4F5D6A"/>
                </a:solidFill>
                <a:latin typeface="Consolas"/>
              </a:rPr>
              <a:t>90</a:t>
            </a:r>
          </a:p>
          <a:p>
            <a:pPr algn="r">
              <a:lnSpc>
                <a:spcPct val="100000"/>
              </a:lnSpc>
            </a:pPr>
            <a:r>
              <a:rPr sz="1500">
                <a:solidFill>
                  <a:srgbClr val="4F5D6A"/>
                </a:solidFill>
                <a:latin typeface="Consolas"/>
              </a:rPr>
              <a:t>91</a:t>
            </a:r>
          </a:p>
          <a:p>
            <a:pPr algn="r">
              <a:lnSpc>
                <a:spcPct val="100000"/>
              </a:lnSpc>
            </a:pPr>
            <a:r>
              <a:rPr sz="1500">
                <a:solidFill>
                  <a:srgbClr val="4F5D6A"/>
                </a:solidFill>
                <a:latin typeface="Consolas"/>
              </a:rPr>
              <a:t>92</a:t>
            </a:r>
          </a:p>
          <a:p>
            <a:pPr algn="r">
              <a:lnSpc>
                <a:spcPct val="100000"/>
              </a:lnSpc>
            </a:pPr>
            <a:r>
              <a:rPr sz="1500">
                <a:solidFill>
                  <a:srgbClr val="4F5D6A"/>
                </a:solidFill>
                <a:latin typeface="Consolas"/>
              </a:rPr>
              <a:t>93</a:t>
            </a:r>
          </a:p>
          <a:p>
            <a:pPr algn="r">
              <a:lnSpc>
                <a:spcPct val="100000"/>
              </a:lnSpc>
            </a:pPr>
            <a:r>
              <a:rPr sz="1500">
                <a:solidFill>
                  <a:srgbClr val="4F5D6A"/>
                </a:solidFill>
                <a:latin typeface="Consolas"/>
              </a:rPr>
              <a:t>94</a:t>
            </a:r>
          </a:p>
          <a:p>
            <a:pPr algn="r">
              <a:lnSpc>
                <a:spcPct val="100000"/>
              </a:lnSpc>
            </a:pPr>
            <a:r>
              <a:rPr sz="1500">
                <a:solidFill>
                  <a:srgbClr val="4F5D6A"/>
                </a:solidFill>
                <a:latin typeface="Consolas"/>
              </a:rPr>
              <a:t>95</a:t>
            </a:r>
          </a:p>
          <a:p>
            <a:pPr algn="r">
              <a:lnSpc>
                <a:spcPct val="100000"/>
              </a:lnSpc>
            </a:pPr>
            <a:r>
              <a:rPr sz="1500">
                <a:solidFill>
                  <a:srgbClr val="4F5D6A"/>
                </a:solidFill>
                <a:latin typeface="Consolas"/>
              </a:rPr>
              <a:t>96</a:t>
            </a:r>
          </a:p>
          <a:p>
            <a:pPr algn="r">
              <a:lnSpc>
                <a:spcPct val="100000"/>
              </a:lnSpc>
            </a:pPr>
            <a:r>
              <a:rPr sz="1500">
                <a:solidFill>
                  <a:srgbClr val="4F5D6A"/>
                </a:solidFill>
                <a:latin typeface="Consolas"/>
              </a:rPr>
              <a:t>97</a:t>
            </a:r>
          </a:p>
          <a:p>
            <a:pPr algn="r">
              <a:lnSpc>
                <a:spcPct val="100000"/>
              </a:lnSpc>
            </a:pPr>
            <a:r>
              <a:rPr sz="1500">
                <a:solidFill>
                  <a:srgbClr val="4F5D6A"/>
                </a:solidFill>
                <a:latin typeface="Consolas"/>
              </a:rPr>
              <a:t>98</a:t>
            </a:r>
          </a:p>
          <a:p>
            <a:pPr algn="r">
              <a:lnSpc>
                <a:spcPct val="100000"/>
              </a:lnSpc>
            </a:pPr>
            <a:r>
              <a:rPr sz="1500">
                <a:solidFill>
                  <a:srgbClr val="4F5D6A"/>
                </a:solidFill>
                <a:latin typeface="Consolas"/>
              </a:rPr>
              <a:t>99</a:t>
            </a:r>
          </a:p>
          <a:p>
            <a:pPr algn="r">
              <a:lnSpc>
                <a:spcPct val="100000"/>
              </a:lnSpc>
            </a:pPr>
            <a:r>
              <a:rPr sz="1500">
                <a:solidFill>
                  <a:srgbClr val="4F5D6A"/>
                </a:solidFill>
                <a:latin typeface="Consolas"/>
              </a:rPr>
              <a:t>100</a:t>
            </a:r>
          </a:p>
          <a:p>
            <a:pPr algn="r">
              <a:lnSpc>
                <a:spcPct val="100000"/>
              </a:lnSpc>
            </a:pPr>
            <a:r>
              <a:rPr sz="1500">
                <a:solidFill>
                  <a:srgbClr val="4F5D6A"/>
                </a:solidFill>
                <a:latin typeface="Consolas"/>
              </a:rPr>
              <a:t>101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2645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2FDC8E7A-E9CA-477A-9EC0-ED3AD650F0D5}"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Two hundred tickets from two teams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def decide(ticket, rules=RULES): facts = {k: v for k, v in ticket.items() if k not in (&quot;id&quot;, &quot;team&quot;)} # the team is NOT input wm, fired = forward_chain(facts, rules) return wm.get(&quot;escalate&quot;, &quot;no&quot;), fired, facts def rates(tickets, rules=RULES): counts = {} for t in tickets: esc, _, _ = decide(t, rules) a, b = counts.get(t[&quot;team&quot;], (0, 0)) counts[t[&quot;team&quot;]] = (a + (esc == &quot;yes&quot;), b + 1) return {k: (a, b, 100.0 * a / b) for k, (a, b) in counts.items()}"/>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decide</a:t>
            </a:r>
            <a:r>
              <a:rPr sz="1600" i="0">
                <a:solidFill>
                  <a:srgbClr val="AEB6BF"/>
                </a:solidFill>
                <a:latin typeface="Consolas"/>
              </a:rPr>
              <a:t>(</a:t>
            </a:r>
            <a:r>
              <a:rPr sz="1600" i="0">
                <a:solidFill>
                  <a:srgbClr val="E8EDF2"/>
                </a:solidFill>
                <a:latin typeface="Consolas"/>
              </a:rPr>
              <a:t>ticket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rules</a:t>
            </a:r>
            <a:r>
              <a:rPr sz="1600" i="0">
                <a:solidFill>
                  <a:srgbClr val="AEB6BF"/>
                </a:solidFill>
                <a:latin typeface="Consolas"/>
              </a:rPr>
              <a:t>=</a:t>
            </a:r>
            <a:r>
              <a:rPr sz="1600" i="0">
                <a:solidFill>
                  <a:srgbClr val="E8EDF2"/>
                </a:solidFill>
                <a:latin typeface="Consolas"/>
              </a:rPr>
              <a:t>RULES</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facts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k</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v</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k</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v</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ticket</a:t>
            </a:r>
            <a:r>
              <a:rPr sz="1600" i="0">
                <a:solidFill>
                  <a:srgbClr val="AEB6BF"/>
                </a:solidFill>
                <a:latin typeface="Consolas"/>
              </a:rPr>
              <a:t>.</a:t>
            </a:r>
            <a:r>
              <a:rPr sz="1600" i="0">
                <a:solidFill>
                  <a:srgbClr val="E8EDF2"/>
                </a:solidFill>
                <a:latin typeface="Consolas"/>
              </a:rPr>
              <a:t>items</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k</a:t>
            </a:r>
            <a:r>
              <a:rPr sz="1600" i="0">
                <a:solidFill>
                  <a:srgbClr val="E8EDF2"/>
                </a:solidFill>
                <a:latin typeface="Consolas"/>
              </a:rPr>
              <a:t> </a:t>
            </a:r>
            <a:r>
              <a:rPr sz="1600" i="0">
                <a:solidFill>
                  <a:srgbClr val="AEB6BF"/>
                </a:solidFill>
                <a:latin typeface="Consolas"/>
              </a:rPr>
              <a:t>not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id</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team</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1">
                <a:solidFill>
                  <a:srgbClr val="8795A1"/>
                </a:solidFill>
                <a:latin typeface="Consolas"/>
              </a:rPr>
              <a:t># the team is NOT input</a:t>
            </a:r>
          </a:p>
          <a:p>
            <a:pPr>
              <a:lnSpc>
                <a:spcPct val="100000"/>
              </a:lnSpc>
              <a:spcAft>
                <a:spcPts val="0"/>
              </a:spcAft>
            </a:pPr>
            <a:r>
              <a:rPr sz="1600" i="0">
                <a:solidFill>
                  <a:srgbClr val="E8EDF2"/>
                </a:solidFill>
                <a:latin typeface="Consolas"/>
              </a:rPr>
              <a:t>    </a:t>
            </a:r>
            <a:r>
              <a:rPr sz="1600" i="0">
                <a:solidFill>
                  <a:srgbClr val="E8EDF2"/>
                </a:solidFill>
                <a:latin typeface="Consolas"/>
              </a:rPr>
              <a:t>wm</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fired</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forward_chain</a:t>
            </a:r>
            <a:r>
              <a:rPr sz="1600" i="0">
                <a:solidFill>
                  <a:srgbClr val="AEB6BF"/>
                </a:solidFill>
                <a:latin typeface="Consolas"/>
              </a:rPr>
              <a:t>(</a:t>
            </a:r>
            <a:r>
              <a:rPr sz="1600" i="0">
                <a:solidFill>
                  <a:srgbClr val="E8EDF2"/>
                </a:solidFill>
                <a:latin typeface="Consolas"/>
              </a:rPr>
              <a:t>facts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wm</a:t>
            </a:r>
            <a:r>
              <a:rPr sz="1600" i="0">
                <a:solidFill>
                  <a:srgbClr val="AEB6BF"/>
                </a:solidFill>
                <a:latin typeface="Consolas"/>
              </a:rPr>
              <a:t>.</a:t>
            </a:r>
            <a:r>
              <a:rPr sz="1600" i="0">
                <a:solidFill>
                  <a:srgbClr val="E8EDF2"/>
                </a:solidFill>
                <a:latin typeface="Consolas"/>
              </a:rPr>
              <a:t>get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escalate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fired</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facts</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rates</a:t>
            </a:r>
            <a:r>
              <a:rPr sz="1600" i="0">
                <a:solidFill>
                  <a:srgbClr val="AEB6BF"/>
                </a:solidFill>
                <a:latin typeface="Consolas"/>
              </a:rPr>
              <a:t>(</a:t>
            </a:r>
            <a:r>
              <a:rPr sz="1600" i="0">
                <a:solidFill>
                  <a:srgbClr val="E8EDF2"/>
                </a:solidFill>
                <a:latin typeface="Consolas"/>
              </a:rPr>
              <a:t>tickets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rules</a:t>
            </a:r>
            <a:r>
              <a:rPr sz="1600" i="0">
                <a:solidFill>
                  <a:srgbClr val="AEB6BF"/>
                </a:solidFill>
                <a:latin typeface="Consolas"/>
              </a:rPr>
              <a:t>=</a:t>
            </a:r>
            <a:r>
              <a:rPr sz="1600" i="0">
                <a:solidFill>
                  <a:srgbClr val="E8EDF2"/>
                </a:solidFill>
                <a:latin typeface="Consolas"/>
              </a:rPr>
              <a:t>RULES</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counts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tickets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esc</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_</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_</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decide</a:t>
            </a:r>
            <a:r>
              <a:rPr sz="1600" i="0">
                <a:solidFill>
                  <a:srgbClr val="AEB6BF"/>
                </a:solidFill>
                <a:latin typeface="Consolas"/>
              </a:rPr>
              <a:t>(</a:t>
            </a:r>
            <a:r>
              <a:rPr sz="1600" i="0">
                <a:solidFill>
                  <a:srgbClr val="E8EDF2"/>
                </a:solidFill>
                <a:latin typeface="Consolas"/>
              </a:rPr>
              <a:t>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a</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counts</a:t>
            </a:r>
            <a:r>
              <a:rPr sz="1600" i="0">
                <a:solidFill>
                  <a:srgbClr val="AEB6BF"/>
                </a:solidFill>
                <a:latin typeface="Consolas"/>
              </a:rPr>
              <a:t>.</a:t>
            </a:r>
            <a:r>
              <a:rPr sz="1600" i="0">
                <a:solidFill>
                  <a:srgbClr val="E8EDF2"/>
                </a:solidFill>
                <a:latin typeface="Consolas"/>
              </a:rPr>
              <a:t>get</a:t>
            </a:r>
            <a:r>
              <a:rPr sz="1600" i="0">
                <a:solidFill>
                  <a:srgbClr val="AEB6BF"/>
                </a:solidFill>
                <a:latin typeface="Consolas"/>
              </a:rPr>
              <a:t>(</a:t>
            </a:r>
            <a:r>
              <a:rPr sz="1600" i="0">
                <a:solidFill>
                  <a:srgbClr val="E8EDF2"/>
                </a:solidFill>
                <a:latin typeface="Consolas"/>
              </a:rPr>
              <a:t>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team</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0</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counts</a:t>
            </a:r>
            <a:r>
              <a:rPr sz="1600" i="0">
                <a:solidFill>
                  <a:srgbClr val="AEB6BF"/>
                </a:solidFill>
                <a:latin typeface="Consolas"/>
              </a:rPr>
              <a:t>[</a:t>
            </a:r>
            <a:r>
              <a:rPr sz="1600" i="0">
                <a:solidFill>
                  <a:srgbClr val="E8EDF2"/>
                </a:solidFill>
                <a:latin typeface="Consolas"/>
              </a:rPr>
              <a:t>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team</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a</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esc</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yes</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k</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a</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100.0</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k</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a</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counts</a:t>
            </a:r>
            <a:r>
              <a:rPr sz="1600" i="0">
                <a:solidFill>
                  <a:srgbClr val="AEB6BF"/>
                </a:solidFill>
                <a:latin typeface="Consolas"/>
              </a:rPr>
              <a:t>.</a:t>
            </a:r>
            <a:r>
              <a:rPr sz="1600" i="0">
                <a:solidFill>
                  <a:srgbClr val="E8EDF2"/>
                </a:solidFill>
                <a:latin typeface="Consolas"/>
              </a:rPr>
              <a:t>items</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104</a:t>
            </a:r>
          </a:p>
          <a:p>
            <a:pPr algn="r">
              <a:lnSpc>
                <a:spcPct val="100000"/>
              </a:lnSpc>
            </a:pPr>
            <a:r>
              <a:rPr sz="1600">
                <a:solidFill>
                  <a:srgbClr val="4F5D6A"/>
                </a:solidFill>
                <a:latin typeface="Consolas"/>
              </a:rPr>
              <a:t>105</a:t>
            </a:r>
          </a:p>
          <a:p>
            <a:pPr algn="r">
              <a:lnSpc>
                <a:spcPct val="100000"/>
              </a:lnSpc>
            </a:pPr>
            <a:r>
              <a:rPr sz="1600">
                <a:solidFill>
                  <a:srgbClr val="4F5D6A"/>
                </a:solidFill>
                <a:latin typeface="Consolas"/>
              </a:rPr>
              <a:t>106</a:t>
            </a:r>
          </a:p>
          <a:p>
            <a:pPr algn="r">
              <a:lnSpc>
                <a:spcPct val="100000"/>
              </a:lnSpc>
            </a:pPr>
            <a:r>
              <a:rPr sz="1600">
                <a:solidFill>
                  <a:srgbClr val="4F5D6A"/>
                </a:solidFill>
                <a:latin typeface="Consolas"/>
              </a:rPr>
              <a:t>107</a:t>
            </a:r>
          </a:p>
          <a:p>
            <a:pPr algn="r">
              <a:lnSpc>
                <a:spcPct val="100000"/>
              </a:lnSpc>
            </a:pPr>
            <a:r>
              <a:rPr sz="1600">
                <a:solidFill>
                  <a:srgbClr val="4F5D6A"/>
                </a:solidFill>
                <a:latin typeface="Consolas"/>
              </a:rPr>
              <a:t>108</a:t>
            </a:r>
          </a:p>
          <a:p>
            <a:pPr algn="r">
              <a:lnSpc>
                <a:spcPct val="100000"/>
              </a:lnSpc>
            </a:pPr>
            <a:r>
              <a:rPr sz="1600">
                <a:solidFill>
                  <a:srgbClr val="4F5D6A"/>
                </a:solidFill>
                <a:latin typeface="Consolas"/>
              </a:rPr>
              <a:t>109</a:t>
            </a:r>
          </a:p>
          <a:p>
            <a:pPr algn="r">
              <a:lnSpc>
                <a:spcPct val="100000"/>
              </a:lnSpc>
            </a:pPr>
            <a:r>
              <a:rPr sz="1600">
                <a:solidFill>
                  <a:srgbClr val="4F5D6A"/>
                </a:solidFill>
                <a:latin typeface="Consolas"/>
              </a:rPr>
              <a:t>110</a:t>
            </a:r>
          </a:p>
          <a:p>
            <a:pPr algn="r">
              <a:lnSpc>
                <a:spcPct val="100000"/>
              </a:lnSpc>
            </a:pPr>
            <a:r>
              <a:rPr sz="1600">
                <a:solidFill>
                  <a:srgbClr val="4F5D6A"/>
                </a:solidFill>
                <a:latin typeface="Consolas"/>
              </a:rPr>
              <a:t>111</a:t>
            </a:r>
          </a:p>
          <a:p>
            <a:pPr algn="r">
              <a:lnSpc>
                <a:spcPct val="100000"/>
              </a:lnSpc>
            </a:pPr>
            <a:r>
              <a:rPr sz="1600">
                <a:solidFill>
                  <a:srgbClr val="4F5D6A"/>
                </a:solidFill>
                <a:latin typeface="Consolas"/>
              </a:rPr>
              <a:t>112</a:t>
            </a:r>
          </a:p>
          <a:p>
            <a:pPr algn="r">
              <a:lnSpc>
                <a:spcPct val="100000"/>
              </a:lnSpc>
            </a:pPr>
            <a:r>
              <a:rPr sz="1600">
                <a:solidFill>
                  <a:srgbClr val="4F5D6A"/>
                </a:solidFill>
                <a:latin typeface="Consolas"/>
              </a:rPr>
              <a:t>113</a:t>
            </a:r>
          </a:p>
          <a:p>
            <a:pPr algn="r">
              <a:lnSpc>
                <a:spcPct val="100000"/>
              </a:lnSpc>
            </a:pPr>
            <a:r>
              <a:rPr sz="1600">
                <a:solidFill>
                  <a:srgbClr val="4F5D6A"/>
                </a:solidFill>
                <a:latin typeface="Consolas"/>
              </a:rPr>
              <a:t>114</a:t>
            </a:r>
          </a:p>
          <a:p>
            <a:pPr algn="r">
              <a:lnSpc>
                <a:spcPct val="100000"/>
              </a:lnSpc>
            </a:pPr>
            <a:r>
              <a:rPr sz="1600">
                <a:solidFill>
                  <a:srgbClr val="4F5D6A"/>
                </a:solidFill>
                <a:latin typeface="Consolas"/>
              </a:rPr>
              <a:t>115</a:t>
            </a:r>
          </a:p>
          <a:p>
            <a:pPr algn="r">
              <a:lnSpc>
                <a:spcPct val="100000"/>
              </a:lnSpc>
            </a:pPr>
            <a:r>
              <a:rPr sz="1600">
                <a:solidFill>
                  <a:srgbClr val="4F5D6A"/>
                </a:solidFill>
                <a:latin typeface="Consolas"/>
              </a:rPr>
              <a:t>116</a:t>
            </a:r>
          </a:p>
          <a:p>
            <a:pPr algn="r">
              <a:lnSpc>
                <a:spcPct val="100000"/>
              </a:lnSpc>
            </a:pPr>
            <a:r>
              <a:rPr sz="1600">
                <a:solidFill>
                  <a:srgbClr val="4F5D6A"/>
                </a:solidFill>
                <a:latin typeface="Consolas"/>
              </a:rPr>
              <a:t>117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3665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893CC562-CBD6-4464-A7A4-B87022C1A52C}"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Two hundred tickets from two teams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if __name__ == &quot;__main__&quot;: tickets = population() print(&quot;no rule mentions the reporting team. Rule attributes used:&quot;) print(&quot; &quot;, sorted({a for r in RULES for (a, _) in r[1]})) print() r = rates(tickets) print(&quot;=== step 1: measure the outcomes ===&quot;) print(&quot; team tickets escalated rate&quot;) print(&quot; &quot; + &quot;-&quot; * 40) for team in sorted(r): esc, tot, pct = r[team] print(&quot; %-10s %8d %10d %6.0f%%&quot; % (team, tot, esc, pct)) gap = abs(r[&quot;Payments&quot;][2] - r[&quot;Platform&quot;][2]) print(&quot; gap: %.0f percentage points&quot; % gap) assert gap &gt; 15"/>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__name__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__main__</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tickets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population</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no rule mentions the reporting team. Rule attributes used:</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sorted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a</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RULES</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r</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rates</a:t>
            </a:r>
            <a:r>
              <a:rPr sz="1400" i="0">
                <a:solidFill>
                  <a:srgbClr val="AEB6BF"/>
                </a:solidFill>
                <a:latin typeface="Consolas"/>
              </a:rPr>
              <a:t>(</a:t>
            </a:r>
            <a:r>
              <a:rPr sz="1400" i="0">
                <a:solidFill>
                  <a:srgbClr val="E8EDF2"/>
                </a:solidFill>
                <a:latin typeface="Consolas"/>
              </a:rPr>
              <a:t>tickets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step 1: measure the outcomes ===</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team        tickets  escalated   rate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team</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sorted</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esc</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tot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pct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team</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%-10s</a:t>
            </a:r>
            <a:r>
              <a:rPr sz="1400" i="0">
                <a:solidFill>
                  <a:srgbClr val="7DCEA0"/>
                </a:solidFill>
                <a:latin typeface="Consolas"/>
              </a:rPr>
              <a:t> </a:t>
            </a:r>
            <a:r>
              <a:rPr sz="1400" i="0">
                <a:solidFill>
                  <a:srgbClr val="7DCEA0"/>
                </a:solidFill>
                <a:latin typeface="Consolas"/>
              </a:rPr>
              <a:t>%8d</a:t>
            </a:r>
            <a:r>
              <a:rPr sz="1400" i="0">
                <a:solidFill>
                  <a:srgbClr val="7DCEA0"/>
                </a:solidFill>
                <a:latin typeface="Consolas"/>
              </a:rPr>
              <a:t> </a:t>
            </a:r>
            <a:r>
              <a:rPr sz="1400" i="0">
                <a:solidFill>
                  <a:srgbClr val="7DCEA0"/>
                </a:solidFill>
                <a:latin typeface="Consolas"/>
              </a:rPr>
              <a:t>%10d</a:t>
            </a:r>
            <a:r>
              <a:rPr sz="1400" i="0">
                <a:solidFill>
                  <a:srgbClr val="7DCEA0"/>
                </a:solidFill>
                <a:latin typeface="Consolas"/>
              </a:rPr>
              <a:t> </a:t>
            </a:r>
            <a:r>
              <a:rPr sz="1400" i="0">
                <a:solidFill>
                  <a:srgbClr val="7DCEA0"/>
                </a:solidFill>
                <a:latin typeface="Consolas"/>
              </a:rPr>
              <a:t>%6.0f</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team</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tot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esc</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pct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gap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abs</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Payments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Platform</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gap: </a:t>
            </a:r>
            <a:r>
              <a:rPr sz="1400" i="0">
                <a:solidFill>
                  <a:srgbClr val="7DCEA0"/>
                </a:solidFill>
                <a:latin typeface="Consolas"/>
              </a:rPr>
              <a:t>%.0f</a:t>
            </a:r>
            <a:r>
              <a:rPr sz="1400" i="0">
                <a:solidFill>
                  <a:srgbClr val="7DCEA0"/>
                </a:solidFill>
                <a:latin typeface="Consolas"/>
              </a:rPr>
              <a:t> percentage points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gap</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gap</a:t>
            </a:r>
            <a:r>
              <a:rPr sz="1400" i="0">
                <a:solidFill>
                  <a:srgbClr val="E8EDF2"/>
                </a:solidFill>
                <a:latin typeface="Consolas"/>
              </a:rPr>
              <a:t> </a:t>
            </a:r>
            <a:r>
              <a:rPr sz="1400" i="0">
                <a:solidFill>
                  <a:srgbClr val="AEB6BF"/>
                </a:solidFill>
                <a:latin typeface="Consolas"/>
              </a:rPr>
              <a:t>&gt;</a:t>
            </a:r>
            <a:r>
              <a:rPr sz="1400" i="0">
                <a:solidFill>
                  <a:srgbClr val="E8EDF2"/>
                </a:solidFill>
                <a:latin typeface="Consolas"/>
              </a:rPr>
              <a:t> </a:t>
            </a:r>
            <a:r>
              <a:rPr sz="1400" i="0">
                <a:solidFill>
                  <a:srgbClr val="F7DC6F"/>
                </a:solidFill>
                <a:latin typeface="Consolas"/>
              </a:rPr>
              <a:t>15</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120</a:t>
            </a:r>
          </a:p>
          <a:p>
            <a:pPr algn="r">
              <a:lnSpc>
                <a:spcPct val="100000"/>
              </a:lnSpc>
            </a:pPr>
            <a:r>
              <a:rPr sz="1400">
                <a:solidFill>
                  <a:srgbClr val="4F5D6A"/>
                </a:solidFill>
                <a:latin typeface="Consolas"/>
              </a:rPr>
              <a:t>121</a:t>
            </a:r>
          </a:p>
          <a:p>
            <a:pPr algn="r">
              <a:lnSpc>
                <a:spcPct val="100000"/>
              </a:lnSpc>
            </a:pPr>
            <a:r>
              <a:rPr sz="1400">
                <a:solidFill>
                  <a:srgbClr val="4F5D6A"/>
                </a:solidFill>
                <a:latin typeface="Consolas"/>
              </a:rPr>
              <a:t>122</a:t>
            </a:r>
          </a:p>
          <a:p>
            <a:pPr algn="r">
              <a:lnSpc>
                <a:spcPct val="100000"/>
              </a:lnSpc>
            </a:pPr>
            <a:r>
              <a:rPr sz="1400">
                <a:solidFill>
                  <a:srgbClr val="4F5D6A"/>
                </a:solidFill>
                <a:latin typeface="Consolas"/>
              </a:rPr>
              <a:t>123</a:t>
            </a:r>
          </a:p>
          <a:p>
            <a:pPr algn="r">
              <a:lnSpc>
                <a:spcPct val="100000"/>
              </a:lnSpc>
            </a:pPr>
            <a:r>
              <a:rPr sz="1400">
                <a:solidFill>
                  <a:srgbClr val="4F5D6A"/>
                </a:solidFill>
                <a:latin typeface="Consolas"/>
              </a:rPr>
              <a:t>124</a:t>
            </a:r>
          </a:p>
          <a:p>
            <a:pPr algn="r">
              <a:lnSpc>
                <a:spcPct val="100000"/>
              </a:lnSpc>
            </a:pPr>
            <a:r>
              <a:rPr sz="1400">
                <a:solidFill>
                  <a:srgbClr val="4F5D6A"/>
                </a:solidFill>
                <a:latin typeface="Consolas"/>
              </a:rPr>
              <a:t>125</a:t>
            </a:r>
          </a:p>
          <a:p>
            <a:pPr algn="r">
              <a:lnSpc>
                <a:spcPct val="100000"/>
              </a:lnSpc>
            </a:pPr>
            <a:r>
              <a:rPr sz="1400">
                <a:solidFill>
                  <a:srgbClr val="4F5D6A"/>
                </a:solidFill>
                <a:latin typeface="Consolas"/>
              </a:rPr>
              <a:t>126</a:t>
            </a:r>
          </a:p>
          <a:p>
            <a:pPr algn="r">
              <a:lnSpc>
                <a:spcPct val="100000"/>
              </a:lnSpc>
            </a:pPr>
            <a:r>
              <a:rPr sz="1400">
                <a:solidFill>
                  <a:srgbClr val="4F5D6A"/>
                </a:solidFill>
                <a:latin typeface="Consolas"/>
              </a:rPr>
              <a:t>127</a:t>
            </a:r>
          </a:p>
          <a:p>
            <a:pPr algn="r">
              <a:lnSpc>
                <a:spcPct val="100000"/>
              </a:lnSpc>
            </a:pPr>
            <a:r>
              <a:rPr sz="1400">
                <a:solidFill>
                  <a:srgbClr val="4F5D6A"/>
                </a:solidFill>
                <a:latin typeface="Consolas"/>
              </a:rPr>
              <a:t>128</a:t>
            </a:r>
          </a:p>
          <a:p>
            <a:pPr algn="r">
              <a:lnSpc>
                <a:spcPct val="100000"/>
              </a:lnSpc>
            </a:pPr>
            <a:r>
              <a:rPr sz="1400">
                <a:solidFill>
                  <a:srgbClr val="4F5D6A"/>
                </a:solidFill>
                <a:latin typeface="Consolas"/>
              </a:rPr>
              <a:t>129</a:t>
            </a:r>
          </a:p>
          <a:p>
            <a:pPr algn="r">
              <a:lnSpc>
                <a:spcPct val="100000"/>
              </a:lnSpc>
            </a:pPr>
            <a:r>
              <a:rPr sz="1400">
                <a:solidFill>
                  <a:srgbClr val="4F5D6A"/>
                </a:solidFill>
                <a:latin typeface="Consolas"/>
              </a:rPr>
              <a:t>130</a:t>
            </a:r>
          </a:p>
          <a:p>
            <a:pPr algn="r">
              <a:lnSpc>
                <a:spcPct val="100000"/>
              </a:lnSpc>
            </a:pPr>
            <a:r>
              <a:rPr sz="1400">
                <a:solidFill>
                  <a:srgbClr val="4F5D6A"/>
                </a:solidFill>
                <a:latin typeface="Consolas"/>
              </a:rPr>
              <a:t>131</a:t>
            </a:r>
          </a:p>
          <a:p>
            <a:pPr algn="r">
              <a:lnSpc>
                <a:spcPct val="100000"/>
              </a:lnSpc>
            </a:pPr>
            <a:r>
              <a:rPr sz="1400">
                <a:solidFill>
                  <a:srgbClr val="4F5D6A"/>
                </a:solidFill>
                <a:latin typeface="Consolas"/>
              </a:rPr>
              <a:t>132</a:t>
            </a:r>
          </a:p>
          <a:p>
            <a:pPr algn="r">
              <a:lnSpc>
                <a:spcPct val="100000"/>
              </a:lnSpc>
            </a:pPr>
            <a:r>
              <a:rPr sz="1400">
                <a:solidFill>
                  <a:srgbClr val="4F5D6A"/>
                </a:solidFill>
                <a:latin typeface="Consolas"/>
              </a:rPr>
              <a:t>133</a:t>
            </a:r>
          </a:p>
          <a:p>
            <a:pPr algn="r">
              <a:lnSpc>
                <a:spcPct val="100000"/>
              </a:lnSpc>
            </a:pPr>
            <a:r>
              <a:rPr sz="1400">
                <a:solidFill>
                  <a:srgbClr val="4F5D6A"/>
                </a:solidFill>
                <a:latin typeface="Consolas"/>
              </a:rPr>
              <a:t>134</a:t>
            </a:r>
          </a:p>
          <a:p>
            <a:pPr algn="r">
              <a:lnSpc>
                <a:spcPct val="100000"/>
              </a:lnSpc>
            </a:pPr>
            <a:r>
              <a:rPr sz="1400">
                <a:solidFill>
                  <a:srgbClr val="4F5D6A"/>
                </a:solidFill>
                <a:latin typeface="Consolas"/>
              </a:rPr>
              <a:t>135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4685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DB4690A3-26C0-4F3B-8EA7-9992588ED59E}"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Step 2: which rule carries the gap?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step 2: which rule carries the gap? ----------------------- overall = sum(x[0] for x in r.values()) / sum(x[1] for x in r.values()) print(&quot; overall escalation rate: %.0f%%&quot; % (100 * overall))"/>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1">
                <a:solidFill>
                  <a:srgbClr val="8795A1"/>
                </a:solidFill>
                <a:latin typeface="Consolas"/>
              </a:rPr>
              <a:t># --- step 2: which rule carries the gap? -----------------------</a:t>
            </a:r>
          </a:p>
          <a:p>
            <a:pPr>
              <a:lnSpc>
                <a:spcPct val="100000"/>
              </a:lnSpc>
              <a:spcAft>
                <a:spcPts val="0"/>
              </a:spcAft>
            </a:pPr>
            <a:r>
              <a:rPr sz="1800" i="0">
                <a:solidFill>
                  <a:srgbClr val="E8EDF2"/>
                </a:solidFill>
                <a:latin typeface="Consolas"/>
              </a:rPr>
              <a:t>    </a:t>
            </a:r>
            <a:r>
              <a:rPr sz="1800" i="0">
                <a:solidFill>
                  <a:srgbClr val="E8EDF2"/>
                </a:solidFill>
                <a:latin typeface="Consolas"/>
              </a:rPr>
              <a:t>overall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sum</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E8EDF2"/>
                </a:solidFill>
                <a:latin typeface="Consolas"/>
              </a:rPr>
              <a:t>values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sum</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E8EDF2"/>
                </a:solidFill>
                <a:latin typeface="Consolas"/>
              </a:rPr>
              <a:t>values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overall escalation rate: </a:t>
            </a:r>
            <a:r>
              <a:rPr sz="1800" i="0">
                <a:solidFill>
                  <a:srgbClr val="7DCEA0"/>
                </a:solidFill>
                <a:latin typeface="Consolas"/>
              </a:rPr>
              <a:t>%.0f</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100</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overall</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137</a:t>
            </a:r>
          </a:p>
          <a:p>
            <a:pPr algn="r">
              <a:lnSpc>
                <a:spcPct val="100000"/>
              </a:lnSpc>
            </a:pPr>
            <a:r>
              <a:rPr sz="1800">
                <a:solidFill>
                  <a:srgbClr val="4F5D6A"/>
                </a:solidFill>
                <a:latin typeface="Consolas"/>
              </a:rPr>
              <a:t>138</a:t>
            </a:r>
          </a:p>
          <a:p>
            <a:pPr algn="r">
              <a:lnSpc>
                <a:spcPct val="100000"/>
              </a:lnSpc>
            </a:pPr>
            <a:r>
              <a:rPr sz="1800">
                <a:solidFill>
                  <a:srgbClr val="4F5D6A"/>
                </a:solidFill>
                <a:latin typeface="Consolas"/>
              </a:rPr>
              <a:t>139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5705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A3E741C3-C34B-41E4-B105-4AB59980807E}"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Step 2: which rule carries the gap?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99103"/>
          </a:xfrm>
          <a:prstGeom prst="roundRect">
            <a:avLst>
              <a:gd name="adj" fmla="val 26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step 2: which rule carries the gap? ----------------------- print() print(&quot;=== step 2: ablation -- remove one rule at a time ===&quot;) print(&quot; Report the OVERALL rate as well as the gap. A rule whose&quot;) print(&quot; removal closes the gap by destroying the outcome has&quot;) print(&quot; told you nothing.&quot;) print() print(&quot; rule removed gap overall rate&quot;) print(&quot; &quot; + &quot;-&quot; * 38) scores = {}"/>
          <p:cNvSpPr txBox="1"/>
          <p:nvPr/>
        </p:nvSpPr>
        <p:spPr>
          <a:xfrm>
            <a:off x="1362456" y="2523744"/>
            <a:ext cx="9987991" cy="300532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 step 2: which rule carries the gap? -----------------------</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step 2: ablation -- remove one rule at a time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Report the OVERALL rate as well as the gap. A rule whose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removal closes the gap by destroying the outcome has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told you nothing.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rule removed    gap   overall rate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38</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scores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300532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141</a:t>
            </a:r>
          </a:p>
          <a:p>
            <a:pPr algn="r">
              <a:lnSpc>
                <a:spcPct val="100000"/>
              </a:lnSpc>
            </a:pPr>
            <a:r>
              <a:rPr sz="1900">
                <a:solidFill>
                  <a:srgbClr val="4F5D6A"/>
                </a:solidFill>
                <a:latin typeface="Consolas"/>
              </a:rPr>
              <a:t>142</a:t>
            </a:r>
          </a:p>
          <a:p>
            <a:pPr algn="r">
              <a:lnSpc>
                <a:spcPct val="100000"/>
              </a:lnSpc>
            </a:pPr>
            <a:r>
              <a:rPr sz="1900">
                <a:solidFill>
                  <a:srgbClr val="4F5D6A"/>
                </a:solidFill>
                <a:latin typeface="Consolas"/>
              </a:rPr>
              <a:t>143</a:t>
            </a:r>
          </a:p>
          <a:p>
            <a:pPr algn="r">
              <a:lnSpc>
                <a:spcPct val="100000"/>
              </a:lnSpc>
            </a:pPr>
            <a:r>
              <a:rPr sz="1900">
                <a:solidFill>
                  <a:srgbClr val="4F5D6A"/>
                </a:solidFill>
                <a:latin typeface="Consolas"/>
              </a:rPr>
              <a:t>144</a:t>
            </a:r>
          </a:p>
          <a:p>
            <a:pPr algn="r">
              <a:lnSpc>
                <a:spcPct val="100000"/>
              </a:lnSpc>
            </a:pPr>
            <a:r>
              <a:rPr sz="1900">
                <a:solidFill>
                  <a:srgbClr val="4F5D6A"/>
                </a:solidFill>
                <a:latin typeface="Consolas"/>
              </a:rPr>
              <a:t>145</a:t>
            </a:r>
          </a:p>
          <a:p>
            <a:pPr algn="r">
              <a:lnSpc>
                <a:spcPct val="100000"/>
              </a:lnSpc>
            </a:pPr>
            <a:r>
              <a:rPr sz="1900">
                <a:solidFill>
                  <a:srgbClr val="4F5D6A"/>
                </a:solidFill>
                <a:latin typeface="Consolas"/>
              </a:rPr>
              <a:t>146</a:t>
            </a:r>
          </a:p>
          <a:p>
            <a:pPr algn="r">
              <a:lnSpc>
                <a:spcPct val="100000"/>
              </a:lnSpc>
            </a:pPr>
            <a:r>
              <a:rPr sz="1900">
                <a:solidFill>
                  <a:srgbClr val="4F5D6A"/>
                </a:solidFill>
                <a:latin typeface="Consolas"/>
              </a:rPr>
              <a:t>147</a:t>
            </a:r>
          </a:p>
          <a:p>
            <a:pPr algn="r">
              <a:lnSpc>
                <a:spcPct val="100000"/>
              </a:lnSpc>
            </a:pPr>
            <a:r>
              <a:rPr sz="1900">
                <a:solidFill>
                  <a:srgbClr val="4F5D6A"/>
                </a:solidFill>
                <a:latin typeface="Consolas"/>
              </a:rPr>
              <a:t>148</a:t>
            </a:r>
          </a:p>
          <a:p>
            <a:pPr algn="r">
              <a:lnSpc>
                <a:spcPct val="100000"/>
              </a:lnSpc>
            </a:pPr>
            <a:r>
              <a:rPr sz="1900">
                <a:solidFill>
                  <a:srgbClr val="4F5D6A"/>
                </a:solidFill>
                <a:latin typeface="Consolas"/>
              </a:rPr>
              <a:t>149</a:t>
            </a:r>
          </a:p>
          <a:p>
            <a:pPr algn="r">
              <a:lnSpc>
                <a:spcPct val="100000"/>
              </a:lnSpc>
            </a:pPr>
            <a:r>
              <a:rPr sz="1900">
                <a:solidFill>
                  <a:srgbClr val="4F5D6A"/>
                </a:solidFill>
                <a:latin typeface="Consolas"/>
              </a:rPr>
              <a:t>150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6725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0B552D41-5EA9-4003-B6ED-4492BC4E97D7}"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Step 2: which rule carries the gap?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for victim in [x[0] for x in RULES]: reduced = [x for x in RULES if x[0] != victim] rr = rates(tickets, reduced) g = abs(rr[&quot;Payments&quot;][2] - rr[&quot;Platform&quot;][2]) ov = (sum(x[0] for x in rr.values()) / sum(x[1] for x in rr.values())) scores[victim] = (g, ov) flag = &quot;&quot; if ov &lt; 0.5 * overall: flag = &quot; &lt;- outcome collapsed; tells us nothing&quot; print(&quot; %-14s %5.0f %11.0f%%%s&quot; % (victim, g, 100 * ov, flag)) # R9 is the only rule concluding escalate=yes, so removing it # sets every rate to zero and the gap to zero. That is the trap. assert scores[&quot;R9&quot;][0] == 0 and scores[&quot;R9&quot;][1] == 0"/>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victim</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x</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x</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RULES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reduced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x</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x</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RULES</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x</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victim</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rr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rates</a:t>
            </a:r>
            <a:r>
              <a:rPr sz="1500" i="0">
                <a:solidFill>
                  <a:srgbClr val="AEB6BF"/>
                </a:solidFill>
                <a:latin typeface="Consolas"/>
              </a:rPr>
              <a:t>(</a:t>
            </a:r>
            <a:r>
              <a:rPr sz="1500" i="0">
                <a:solidFill>
                  <a:srgbClr val="E8EDF2"/>
                </a:solidFill>
                <a:latin typeface="Consolas"/>
              </a:rPr>
              <a:t>tickets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reduced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abs</a:t>
            </a:r>
            <a:r>
              <a:rPr sz="1500" i="0">
                <a:solidFill>
                  <a:srgbClr val="AEB6BF"/>
                </a:solidFill>
                <a:latin typeface="Consolas"/>
              </a:rPr>
              <a:t>(</a:t>
            </a:r>
            <a:r>
              <a:rPr sz="1500" i="0">
                <a:solidFill>
                  <a:srgbClr val="E8EDF2"/>
                </a:solidFill>
                <a:latin typeface="Consolas"/>
              </a:rPr>
              <a:t>rr</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Payments</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2</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rr</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Platform</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2</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ov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C39BD3"/>
                </a:solidFill>
                <a:latin typeface="Consolas"/>
              </a:rPr>
              <a:t>sum</a:t>
            </a:r>
            <a:r>
              <a:rPr sz="1500" i="0">
                <a:solidFill>
                  <a:srgbClr val="AEB6BF"/>
                </a:solidFill>
                <a:latin typeface="Consolas"/>
              </a:rPr>
              <a:t>(</a:t>
            </a:r>
            <a:r>
              <a:rPr sz="1500" i="0">
                <a:solidFill>
                  <a:srgbClr val="E8EDF2"/>
                </a:solidFill>
                <a:latin typeface="Consolas"/>
              </a:rPr>
              <a:t>x</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x</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rr</a:t>
            </a:r>
            <a:r>
              <a:rPr sz="1500" i="0">
                <a:solidFill>
                  <a:srgbClr val="AEB6BF"/>
                </a:solidFill>
                <a:latin typeface="Consolas"/>
              </a:rPr>
              <a:t>.</a:t>
            </a:r>
            <a:r>
              <a:rPr sz="1500" i="0">
                <a:solidFill>
                  <a:srgbClr val="E8EDF2"/>
                </a:solidFill>
                <a:latin typeface="Consolas"/>
              </a:rPr>
              <a:t>values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sum</a:t>
            </a:r>
            <a:r>
              <a:rPr sz="1500" i="0">
                <a:solidFill>
                  <a:srgbClr val="AEB6BF"/>
                </a:solidFill>
                <a:latin typeface="Consolas"/>
              </a:rPr>
              <a:t>(</a:t>
            </a:r>
            <a:r>
              <a:rPr sz="1500" i="0">
                <a:solidFill>
                  <a:srgbClr val="E8EDF2"/>
                </a:solidFill>
                <a:latin typeface="Consolas"/>
              </a:rPr>
              <a:t>x</a:t>
            </a:r>
            <a:r>
              <a:rPr sz="1500" i="0">
                <a:solidFill>
                  <a:srgbClr val="AEB6BF"/>
                </a:solidFill>
                <a:latin typeface="Consolas"/>
              </a:rPr>
              <a:t>[</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x</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rr</a:t>
            </a:r>
            <a:r>
              <a:rPr sz="1500" i="0">
                <a:solidFill>
                  <a:srgbClr val="AEB6BF"/>
                </a:solidFill>
                <a:latin typeface="Consolas"/>
              </a:rPr>
              <a:t>.</a:t>
            </a:r>
            <a:r>
              <a:rPr sz="1500" i="0">
                <a:solidFill>
                  <a:srgbClr val="E8EDF2"/>
                </a:solidFill>
                <a:latin typeface="Consolas"/>
              </a:rPr>
              <a:t>values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scores</a:t>
            </a:r>
            <a:r>
              <a:rPr sz="1500" i="0">
                <a:solidFill>
                  <a:srgbClr val="AEB6BF"/>
                </a:solidFill>
                <a:latin typeface="Consolas"/>
              </a:rPr>
              <a:t>[</a:t>
            </a:r>
            <a:r>
              <a:rPr sz="1500" i="0">
                <a:solidFill>
                  <a:srgbClr val="E8EDF2"/>
                </a:solidFill>
                <a:latin typeface="Consolas"/>
              </a:rPr>
              <a:t>victim</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g</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ov</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flag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ov</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F7DC6F"/>
                </a:solidFill>
                <a:latin typeface="Consolas"/>
              </a:rPr>
              <a:t>0.5</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overall</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flag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  &lt;- outcome collapsed; tells us nothing</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a:t>
            </a:r>
            <a:r>
              <a:rPr sz="1500" i="0">
                <a:solidFill>
                  <a:srgbClr val="7DCEA0"/>
                </a:solidFill>
                <a:latin typeface="Consolas"/>
              </a:rPr>
              <a:t>%-14s</a:t>
            </a:r>
            <a:r>
              <a:rPr sz="1500" i="0">
                <a:solidFill>
                  <a:srgbClr val="7DCEA0"/>
                </a:solidFill>
                <a:latin typeface="Consolas"/>
              </a:rPr>
              <a:t> </a:t>
            </a:r>
            <a:r>
              <a:rPr sz="1500" i="0">
                <a:solidFill>
                  <a:srgbClr val="7DCEA0"/>
                </a:solidFill>
                <a:latin typeface="Consolas"/>
              </a:rPr>
              <a:t>%5.0f</a:t>
            </a:r>
            <a:r>
              <a:rPr sz="1500" i="0">
                <a:solidFill>
                  <a:srgbClr val="7DCEA0"/>
                </a:solidFill>
                <a:latin typeface="Consolas"/>
              </a:rPr>
              <a:t> </a:t>
            </a:r>
            <a:r>
              <a:rPr sz="1500" i="0">
                <a:solidFill>
                  <a:srgbClr val="7DCEA0"/>
                </a:solidFill>
                <a:latin typeface="Consolas"/>
              </a:rPr>
              <a:t>%11.0f</a:t>
            </a:r>
            <a:r>
              <a:rPr sz="1500" i="0">
                <a:solidFill>
                  <a:srgbClr val="7DCEA0"/>
                </a:solidFill>
                <a:latin typeface="Consolas"/>
              </a:rPr>
              <a:t>%%</a:t>
            </a:r>
            <a:r>
              <a:rPr sz="1500" i="0">
                <a:solidFill>
                  <a:srgbClr val="7DCEA0"/>
                </a:solidFill>
                <a:latin typeface="Consolas"/>
              </a:rPr>
              <a:t>%s</a:t>
            </a:r>
            <a:r>
              <a:rPr sz="1500" i="0">
                <a:solidFill>
                  <a:srgbClr val="7DCEA0"/>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victim</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g</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100</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ov</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flag</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1">
                <a:solidFill>
                  <a:srgbClr val="8795A1"/>
                </a:solidFill>
                <a:latin typeface="Consolas"/>
              </a:rPr>
              <a:t># R9 is the only rule concluding escalate=yes, so removing it</a:t>
            </a:r>
          </a:p>
          <a:p>
            <a:pPr>
              <a:lnSpc>
                <a:spcPct val="100000"/>
              </a:lnSpc>
              <a:spcAft>
                <a:spcPts val="0"/>
              </a:spcAft>
            </a:pPr>
            <a:r>
              <a:rPr sz="1500" i="0">
                <a:solidFill>
                  <a:srgbClr val="E8EDF2"/>
                </a:solidFill>
                <a:latin typeface="Consolas"/>
              </a:rPr>
              <a:t>    </a:t>
            </a:r>
            <a:r>
              <a:rPr sz="1500" i="1">
                <a:solidFill>
                  <a:srgbClr val="8795A1"/>
                </a:solidFill>
                <a:latin typeface="Consolas"/>
              </a:rPr>
              <a:t># sets every rate to zero and the gap to zero. That is the trap.</a:t>
            </a:r>
          </a:p>
          <a:p>
            <a:pPr>
              <a:lnSpc>
                <a:spcPct val="100000"/>
              </a:lnSpc>
              <a:spcAft>
                <a:spcPts val="0"/>
              </a:spcAft>
            </a:pPr>
            <a:r>
              <a:rPr sz="1500" i="0">
                <a:solidFill>
                  <a:srgbClr val="E8EDF2"/>
                </a:solidFill>
                <a:latin typeface="Consolas"/>
              </a:rPr>
              <a:t>    </a:t>
            </a:r>
            <a:r>
              <a:rPr sz="1500" i="0">
                <a:solidFill>
                  <a:srgbClr val="5DADE2"/>
                </a:solidFill>
                <a:latin typeface="Consolas"/>
              </a:rPr>
              <a:t>assert</a:t>
            </a:r>
            <a:r>
              <a:rPr sz="1500" i="0">
                <a:solidFill>
                  <a:srgbClr val="E8EDF2"/>
                </a:solidFill>
                <a:latin typeface="Consolas"/>
              </a:rPr>
              <a:t> </a:t>
            </a:r>
            <a:r>
              <a:rPr sz="1500" i="0">
                <a:solidFill>
                  <a:srgbClr val="E8EDF2"/>
                </a:solidFill>
                <a:latin typeface="Consolas"/>
              </a:rPr>
              <a:t>scores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R9</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E8EDF2"/>
                </a:solidFill>
                <a:latin typeface="Consolas"/>
              </a:rPr>
              <a:t> </a:t>
            </a:r>
            <a:r>
              <a:rPr sz="1500" i="0">
                <a:solidFill>
                  <a:srgbClr val="AEB6BF"/>
                </a:solidFill>
                <a:latin typeface="Consolas"/>
              </a:rPr>
              <a:t>and</a:t>
            </a:r>
            <a:r>
              <a:rPr sz="1500" i="0">
                <a:solidFill>
                  <a:srgbClr val="E8EDF2"/>
                </a:solidFill>
                <a:latin typeface="Consolas"/>
              </a:rPr>
              <a:t> </a:t>
            </a:r>
            <a:r>
              <a:rPr sz="1500" i="0">
                <a:solidFill>
                  <a:srgbClr val="E8EDF2"/>
                </a:solidFill>
                <a:latin typeface="Consolas"/>
              </a:rPr>
              <a:t>scores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R9</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151</a:t>
            </a:r>
          </a:p>
          <a:p>
            <a:pPr algn="r">
              <a:lnSpc>
                <a:spcPct val="100000"/>
              </a:lnSpc>
            </a:pPr>
            <a:r>
              <a:rPr sz="1500">
                <a:solidFill>
                  <a:srgbClr val="4F5D6A"/>
                </a:solidFill>
                <a:latin typeface="Consolas"/>
              </a:rPr>
              <a:t>152</a:t>
            </a:r>
          </a:p>
          <a:p>
            <a:pPr algn="r">
              <a:lnSpc>
                <a:spcPct val="100000"/>
              </a:lnSpc>
            </a:pPr>
            <a:r>
              <a:rPr sz="1500">
                <a:solidFill>
                  <a:srgbClr val="4F5D6A"/>
                </a:solidFill>
                <a:latin typeface="Consolas"/>
              </a:rPr>
              <a:t>153</a:t>
            </a:r>
          </a:p>
          <a:p>
            <a:pPr algn="r">
              <a:lnSpc>
                <a:spcPct val="100000"/>
              </a:lnSpc>
            </a:pPr>
            <a:r>
              <a:rPr sz="1500">
                <a:solidFill>
                  <a:srgbClr val="4F5D6A"/>
                </a:solidFill>
                <a:latin typeface="Consolas"/>
              </a:rPr>
              <a:t>154</a:t>
            </a:r>
          </a:p>
          <a:p>
            <a:pPr algn="r">
              <a:lnSpc>
                <a:spcPct val="100000"/>
              </a:lnSpc>
            </a:pPr>
            <a:r>
              <a:rPr sz="1500">
                <a:solidFill>
                  <a:srgbClr val="4F5D6A"/>
                </a:solidFill>
                <a:latin typeface="Consolas"/>
              </a:rPr>
              <a:t>155</a:t>
            </a:r>
          </a:p>
          <a:p>
            <a:pPr algn="r">
              <a:lnSpc>
                <a:spcPct val="100000"/>
              </a:lnSpc>
            </a:pPr>
            <a:r>
              <a:rPr sz="1500">
                <a:solidFill>
                  <a:srgbClr val="4F5D6A"/>
                </a:solidFill>
                <a:latin typeface="Consolas"/>
              </a:rPr>
              <a:t>156</a:t>
            </a:r>
          </a:p>
          <a:p>
            <a:pPr algn="r">
              <a:lnSpc>
                <a:spcPct val="100000"/>
              </a:lnSpc>
            </a:pPr>
            <a:r>
              <a:rPr sz="1500">
                <a:solidFill>
                  <a:srgbClr val="4F5D6A"/>
                </a:solidFill>
                <a:latin typeface="Consolas"/>
              </a:rPr>
              <a:t>157</a:t>
            </a:r>
          </a:p>
          <a:p>
            <a:pPr algn="r">
              <a:lnSpc>
                <a:spcPct val="100000"/>
              </a:lnSpc>
            </a:pPr>
            <a:r>
              <a:rPr sz="1500">
                <a:solidFill>
                  <a:srgbClr val="4F5D6A"/>
                </a:solidFill>
                <a:latin typeface="Consolas"/>
              </a:rPr>
              <a:t>158</a:t>
            </a:r>
          </a:p>
          <a:p>
            <a:pPr algn="r">
              <a:lnSpc>
                <a:spcPct val="100000"/>
              </a:lnSpc>
            </a:pPr>
            <a:r>
              <a:rPr sz="1500">
                <a:solidFill>
                  <a:srgbClr val="4F5D6A"/>
                </a:solidFill>
                <a:latin typeface="Consolas"/>
              </a:rPr>
              <a:t>159</a:t>
            </a:r>
          </a:p>
          <a:p>
            <a:pPr algn="r">
              <a:lnSpc>
                <a:spcPct val="100000"/>
              </a:lnSpc>
            </a:pPr>
            <a:r>
              <a:rPr sz="1500">
                <a:solidFill>
                  <a:srgbClr val="4F5D6A"/>
                </a:solidFill>
                <a:latin typeface="Consolas"/>
              </a:rPr>
              <a:t>160</a:t>
            </a:r>
          </a:p>
          <a:p>
            <a:pPr algn="r">
              <a:lnSpc>
                <a:spcPct val="100000"/>
              </a:lnSpc>
            </a:pPr>
            <a:r>
              <a:rPr sz="1500">
                <a:solidFill>
                  <a:srgbClr val="4F5D6A"/>
                </a:solidFill>
                <a:latin typeface="Consolas"/>
              </a:rPr>
              <a:t>161</a:t>
            </a:r>
          </a:p>
          <a:p>
            <a:pPr algn="r">
              <a:lnSpc>
                <a:spcPct val="100000"/>
              </a:lnSpc>
            </a:pPr>
            <a:r>
              <a:rPr sz="1500">
                <a:solidFill>
                  <a:srgbClr val="4F5D6A"/>
                </a:solidFill>
                <a:latin typeface="Consolas"/>
              </a:rPr>
              <a:t>162</a:t>
            </a:r>
          </a:p>
          <a:p>
            <a:pPr algn="r">
              <a:lnSpc>
                <a:spcPct val="100000"/>
              </a:lnSpc>
            </a:pPr>
            <a:r>
              <a:rPr sz="1500">
                <a:solidFill>
                  <a:srgbClr val="4F5D6A"/>
                </a:solidFill>
                <a:latin typeface="Consolas"/>
              </a:rPr>
              <a:t>163</a:t>
            </a:r>
          </a:p>
          <a:p>
            <a:pPr algn="r">
              <a:lnSpc>
                <a:spcPct val="100000"/>
              </a:lnSpc>
            </a:pPr>
            <a:r>
              <a:rPr sz="1500">
                <a:solidFill>
                  <a:srgbClr val="4F5D6A"/>
                </a:solidFill>
                <a:latin typeface="Consolas"/>
              </a:rPr>
              <a:t>164</a:t>
            </a:r>
          </a:p>
          <a:p>
            <a:pPr algn="r">
              <a:lnSpc>
                <a:spcPct val="100000"/>
              </a:lnSpc>
            </a:pPr>
            <a:r>
              <a:rPr sz="1500">
                <a:solidFill>
                  <a:srgbClr val="4F5D6A"/>
                </a:solidFill>
                <a:latin typeface="Consolas"/>
              </a:rPr>
              <a:t>165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7746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7D413CFC-07BD-4709-9947-F0BA2E6BD672}"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Step 2: which rule carries the gap?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the honest question: among rules that leave the outcome intact, # which one carries the gap? intact = {k: v for k, v in scores.items() if v[1] &gt;= 0.5 * overall} worst = min(intact, key=lambda k: intact[k][0]) print() print(&quot; Among rules that leave the outcome intact, removing %s&quot; % worst) print(&quot; closes the gap most: %.0f -&gt; %.0f points.&quot; % (gap, intact[worst][0])) assert worst in (&quot;R3&quot;, &quot;R6&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the honest question: among rules that leave the outcome intact,</a:t>
            </a:r>
          </a:p>
          <a:p>
            <a:pPr>
              <a:lnSpc>
                <a:spcPct val="100000"/>
              </a:lnSpc>
              <a:spcAft>
                <a:spcPts val="0"/>
              </a:spcAft>
            </a:pPr>
            <a:r>
              <a:rPr sz="2000" i="0">
                <a:solidFill>
                  <a:srgbClr val="E8EDF2"/>
                </a:solidFill>
                <a:latin typeface="Consolas"/>
              </a:rPr>
              <a:t>    </a:t>
            </a:r>
            <a:r>
              <a:rPr sz="2000" i="1">
                <a:solidFill>
                  <a:srgbClr val="8795A1"/>
                </a:solidFill>
                <a:latin typeface="Consolas"/>
              </a:rPr>
              <a:t># which one carries the gap?</a:t>
            </a:r>
          </a:p>
          <a:p>
            <a:pPr>
              <a:lnSpc>
                <a:spcPct val="100000"/>
              </a:lnSpc>
              <a:spcAft>
                <a:spcPts val="0"/>
              </a:spcAft>
            </a:pPr>
            <a:r>
              <a:rPr sz="2000" i="0">
                <a:solidFill>
                  <a:srgbClr val="E8EDF2"/>
                </a:solidFill>
                <a:latin typeface="Consolas"/>
              </a:rPr>
              <a:t>    </a:t>
            </a:r>
            <a:r>
              <a:rPr sz="2000" i="0">
                <a:solidFill>
                  <a:srgbClr val="E8EDF2"/>
                </a:solidFill>
                <a:latin typeface="Consolas"/>
              </a:rPr>
              <a:t>intact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scores</a:t>
            </a:r>
            <a:r>
              <a:rPr sz="2000" i="0">
                <a:solidFill>
                  <a:srgbClr val="AEB6BF"/>
                </a:solidFill>
                <a:latin typeface="Consolas"/>
              </a:rPr>
              <a:t>.</a:t>
            </a:r>
            <a:r>
              <a:rPr sz="2000" i="0">
                <a:solidFill>
                  <a:srgbClr val="E8EDF2"/>
                </a:solidFill>
                <a:latin typeface="Consolas"/>
              </a:rPr>
              <a:t>items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v</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&gt;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0.5</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overall</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worst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min</a:t>
            </a:r>
            <a:r>
              <a:rPr sz="2000" i="0">
                <a:solidFill>
                  <a:srgbClr val="AEB6BF"/>
                </a:solidFill>
                <a:latin typeface="Consolas"/>
              </a:rPr>
              <a:t>(</a:t>
            </a:r>
            <a:r>
              <a:rPr sz="2000" i="0">
                <a:solidFill>
                  <a:srgbClr val="E8EDF2"/>
                </a:solidFill>
                <a:latin typeface="Consolas"/>
              </a:rPr>
              <a:t>intact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key</a:t>
            </a:r>
            <a:r>
              <a:rPr sz="2000" i="0">
                <a:solidFill>
                  <a:srgbClr val="AEB6BF"/>
                </a:solidFill>
                <a:latin typeface="Consolas"/>
              </a:rPr>
              <a:t>=</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intact</a:t>
            </a:r>
            <a:r>
              <a:rPr sz="2000" i="0">
                <a:solidFill>
                  <a:srgbClr val="AEB6BF"/>
                </a:solidFill>
                <a:latin typeface="Consolas"/>
              </a:rPr>
              <a:t>[</a:t>
            </a:r>
            <a:r>
              <a:rPr sz="2000" i="0">
                <a:solidFill>
                  <a:srgbClr val="E8EDF2"/>
                </a:solidFill>
                <a:latin typeface="Consolas"/>
              </a:rPr>
              <a:t>k</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Among rules that leave the outcome intact, removing </a:t>
            </a:r>
            <a:r>
              <a:rPr sz="2000" i="0">
                <a:solidFill>
                  <a:srgbClr val="7DCEA0"/>
                </a:solidFill>
                <a:latin typeface="Consolas"/>
              </a:rPr>
              <a:t>%s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worst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closes the gap most: </a:t>
            </a:r>
            <a:r>
              <a:rPr sz="2000" i="0">
                <a:solidFill>
                  <a:srgbClr val="7DCEA0"/>
                </a:solidFill>
                <a:latin typeface="Consolas"/>
              </a:rPr>
              <a:t>%.0f</a:t>
            </a:r>
            <a:r>
              <a:rPr sz="2000" i="0">
                <a:solidFill>
                  <a:srgbClr val="7DCEA0"/>
                </a:solidFill>
                <a:latin typeface="Consolas"/>
              </a:rPr>
              <a:t> -&gt; </a:t>
            </a:r>
            <a:r>
              <a:rPr sz="2000" i="0">
                <a:solidFill>
                  <a:srgbClr val="7DCEA0"/>
                </a:solidFill>
                <a:latin typeface="Consolas"/>
              </a:rPr>
              <a:t>%.0f</a:t>
            </a:r>
            <a:r>
              <a:rPr sz="2000" i="0">
                <a:solidFill>
                  <a:srgbClr val="7DCEA0"/>
                </a:solidFill>
                <a:latin typeface="Consolas"/>
              </a:rPr>
              <a:t> points.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gap</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intact</a:t>
            </a:r>
            <a:r>
              <a:rPr sz="2000" i="0">
                <a:solidFill>
                  <a:srgbClr val="AEB6BF"/>
                </a:solidFill>
                <a:latin typeface="Consolas"/>
              </a:rPr>
              <a:t>[</a:t>
            </a:r>
            <a:r>
              <a:rPr sz="2000" i="0">
                <a:solidFill>
                  <a:srgbClr val="E8EDF2"/>
                </a:solidFill>
                <a:latin typeface="Consolas"/>
              </a:rPr>
              <a:t>worst</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worst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R3</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R6</a:t>
            </a:r>
            <a:r>
              <a:rPr sz="2000" i="0">
                <a:solidFill>
                  <a:srgbClr val="7DCEA0"/>
                </a:solidFill>
                <a:latin typeface="Consolas"/>
              </a:rPr>
              <a:t>"</a:t>
            </a:r>
            <a:r>
              <a:rPr sz="20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167</a:t>
            </a:r>
          </a:p>
          <a:p>
            <a:pPr algn="r">
              <a:lnSpc>
                <a:spcPct val="100000"/>
              </a:lnSpc>
            </a:pPr>
            <a:r>
              <a:rPr sz="2000">
                <a:solidFill>
                  <a:srgbClr val="4F5D6A"/>
                </a:solidFill>
                <a:latin typeface="Consolas"/>
              </a:rPr>
              <a:t>168</a:t>
            </a:r>
          </a:p>
          <a:p>
            <a:pPr algn="r">
              <a:lnSpc>
                <a:spcPct val="100000"/>
              </a:lnSpc>
            </a:pPr>
            <a:r>
              <a:rPr sz="2000">
                <a:solidFill>
                  <a:srgbClr val="4F5D6A"/>
                </a:solidFill>
                <a:latin typeface="Consolas"/>
              </a:rPr>
              <a:t>169</a:t>
            </a:r>
          </a:p>
          <a:p>
            <a:pPr algn="r">
              <a:lnSpc>
                <a:spcPct val="100000"/>
              </a:lnSpc>
            </a:pPr>
            <a:r>
              <a:rPr sz="2000">
                <a:solidFill>
                  <a:srgbClr val="4F5D6A"/>
                </a:solidFill>
                <a:latin typeface="Consolas"/>
              </a:rPr>
              <a:t>170</a:t>
            </a:r>
          </a:p>
          <a:p>
            <a:pPr algn="r">
              <a:lnSpc>
                <a:spcPct val="100000"/>
              </a:lnSpc>
            </a:pPr>
            <a:r>
              <a:rPr sz="2000">
                <a:solidFill>
                  <a:srgbClr val="4F5D6A"/>
                </a:solidFill>
                <a:latin typeface="Consolas"/>
              </a:rPr>
              <a:t>171</a:t>
            </a:r>
          </a:p>
          <a:p>
            <a:pPr algn="r">
              <a:lnSpc>
                <a:spcPct val="100000"/>
              </a:lnSpc>
            </a:pPr>
            <a:r>
              <a:rPr sz="2000">
                <a:solidFill>
                  <a:srgbClr val="4F5D6A"/>
                </a:solidFill>
                <a:latin typeface="Consolas"/>
              </a:rPr>
              <a:t>172</a:t>
            </a:r>
          </a:p>
          <a:p>
            <a:pPr algn="r">
              <a:lnSpc>
                <a:spcPct val="100000"/>
              </a:lnSpc>
            </a:pPr>
            <a:r>
              <a:rPr sz="2000">
                <a:solidFill>
                  <a:srgbClr val="4F5D6A"/>
                </a:solidFill>
                <a:latin typeface="Consolas"/>
              </a:rPr>
              <a:t>173</a:t>
            </a:r>
          </a:p>
          <a:p>
            <a:pPr algn="r">
              <a:lnSpc>
                <a:spcPct val="100000"/>
              </a:lnSpc>
            </a:pPr>
            <a:r>
              <a:rPr sz="2000">
                <a:solidFill>
                  <a:srgbClr val="4F5D6A"/>
                </a:solidFill>
                <a:latin typeface="Consolas"/>
              </a:rPr>
              <a:t>174</a:t>
            </a:r>
          </a:p>
          <a:p>
            <a:pPr algn="r">
              <a:lnSpc>
                <a:spcPct val="100000"/>
              </a:lnSpc>
            </a:pPr>
            <a:r>
              <a:rPr sz="2000">
                <a:solidFill>
                  <a:srgbClr val="4F5D6A"/>
                </a:solidFill>
                <a:latin typeface="Consolas"/>
              </a:rPr>
              <a:t>175</a:t>
            </a:r>
          </a:p>
          <a:p>
            <a:pPr algn="r">
              <a:lnSpc>
                <a:spcPct val="100000"/>
              </a:lnSpc>
            </a:pPr>
            <a:r>
              <a:rPr sz="2000">
                <a:solidFill>
                  <a:srgbClr val="4F5D6A"/>
                </a:solidFill>
                <a:latin typeface="Consolas"/>
              </a:rPr>
              <a:t>176</a:t>
            </a:r>
          </a:p>
          <a:p>
            <a:pPr algn="r">
              <a:lnSpc>
                <a:spcPct val="100000"/>
              </a:lnSpc>
            </a:pPr>
            <a:r>
              <a:rPr sz="2000">
                <a:solidFill>
                  <a:srgbClr val="4F5D6A"/>
                </a:solidFill>
                <a:latin typeface="Consolas"/>
              </a:rPr>
              <a:t>177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8766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A52987CA-FBCD-4397-A95D-FA3D60883875}"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Step 3: read the chain for an affected ticket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step 3: read the chain for an affected ticket ------------- print() print(&quot;=== step 3: read the explanation ===&quot;) for t in tickets: esc, fired, facts = decide(t) if t[&quot;team&quot;] == &quot;Platform&quot; and esc == &quot;no&quot; and &quot;R7&quot; in fired: print(&quot; ticket %s (%s), not escalated:&quot; % (t[&quot;id&quot;], t[&quot;team&quot;])) tree = explain((&quot;escalate&quot;, &quot;no&quot;), facts) for line in render(tree): print(&quot; &quot; + line) break print() print(&quot; R7 is a good rule. 'workaround' is recorded for 80% of&quot;) print(&quot; Platform tickets and 15% of Payments tickets, because&quot;) print(&quot; Platform has runbooks. A difference in DOCUMENTATION is&quot;) print(&quot; being read as a difference in OPERATIONAL NEED.&quot;)"/>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1">
                <a:solidFill>
                  <a:srgbClr val="8795A1"/>
                </a:solidFill>
                <a:latin typeface="Consolas"/>
              </a:rPr>
              <a:t># --- step 3: read the chain for an affected ticket -------------</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step 3: read the explanation ===</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tickets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esc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fired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facts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decide</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team</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Platform</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esc</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R7</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fired</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ticket </a:t>
            </a:r>
            <a:r>
              <a:rPr sz="1300" i="0">
                <a:solidFill>
                  <a:srgbClr val="7DCEA0"/>
                </a:solidFill>
                <a:latin typeface="Consolas"/>
              </a:rPr>
              <a:t>%s</a:t>
            </a:r>
            <a:r>
              <a:rPr sz="1300" i="0">
                <a:solidFill>
                  <a:srgbClr val="7DCEA0"/>
                </a:solidFill>
                <a:latin typeface="Consolas"/>
              </a:rPr>
              <a:t> (</a:t>
            </a:r>
            <a:r>
              <a:rPr sz="1300" i="0">
                <a:solidFill>
                  <a:srgbClr val="7DCEA0"/>
                </a:solidFill>
                <a:latin typeface="Consolas"/>
              </a:rPr>
              <a:t>%s</a:t>
            </a:r>
            <a:r>
              <a:rPr sz="1300" i="0">
                <a:solidFill>
                  <a:srgbClr val="7DCEA0"/>
                </a:solidFill>
                <a:latin typeface="Consolas"/>
              </a:rPr>
              <a:t>), not escalated: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id</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team</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tree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explain</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escalate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facts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line</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render</a:t>
            </a:r>
            <a:r>
              <a:rPr sz="1300" i="0">
                <a:solidFill>
                  <a:srgbClr val="AEB6BF"/>
                </a:solidFill>
                <a:latin typeface="Consolas"/>
              </a:rPr>
              <a:t>(</a:t>
            </a:r>
            <a:r>
              <a:rPr sz="1300" i="0">
                <a:solidFill>
                  <a:srgbClr val="E8EDF2"/>
                </a:solidFill>
                <a:latin typeface="Consolas"/>
              </a:rPr>
              <a:t>tree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line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R7 is a good rule. </a:t>
            </a:r>
            <a:r>
              <a:rPr sz="1300" i="0">
                <a:solidFill>
                  <a:srgbClr val="7DCEA0"/>
                </a:solidFill>
                <a:latin typeface="Consolas"/>
              </a:rPr>
              <a:t>'</a:t>
            </a:r>
            <a:r>
              <a:rPr sz="1300" i="0">
                <a:solidFill>
                  <a:srgbClr val="7DCEA0"/>
                </a:solidFill>
                <a:latin typeface="Consolas"/>
              </a:rPr>
              <a:t>workaround</a:t>
            </a:r>
            <a:r>
              <a:rPr sz="1300" i="0">
                <a:solidFill>
                  <a:srgbClr val="7DCEA0"/>
                </a:solidFill>
                <a:latin typeface="Consolas"/>
              </a:rPr>
              <a:t>'</a:t>
            </a:r>
            <a:r>
              <a:rPr sz="1300" i="0">
                <a:solidFill>
                  <a:srgbClr val="7DCEA0"/>
                </a:solidFill>
                <a:latin typeface="Consolas"/>
              </a:rPr>
              <a:t> is recorded for 80</a:t>
            </a:r>
            <a:r>
              <a:rPr sz="1300" i="0">
                <a:solidFill>
                  <a:srgbClr val="7DCEA0"/>
                </a:solidFill>
                <a:latin typeface="Consolas"/>
              </a:rPr>
              <a:t>% o</a:t>
            </a:r>
            <a:r>
              <a:rPr sz="1300" i="0">
                <a:solidFill>
                  <a:srgbClr val="7DCEA0"/>
                </a:solidFill>
                <a:latin typeface="Consolas"/>
              </a:rPr>
              <a:t>f</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Platform tickets and 15</a:t>
            </a:r>
            <a:r>
              <a:rPr sz="1300" i="0">
                <a:solidFill>
                  <a:srgbClr val="7DCEA0"/>
                </a:solidFill>
                <a:latin typeface="Consolas"/>
              </a:rPr>
              <a:t>% o</a:t>
            </a:r>
            <a:r>
              <a:rPr sz="1300" i="0">
                <a:solidFill>
                  <a:srgbClr val="7DCEA0"/>
                </a:solidFill>
                <a:latin typeface="Consolas"/>
              </a:rPr>
              <a:t>f Payments tickets, because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Platform has runbooks. A difference in DOCUMENTATION is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being read as a difference in OPERATIONAL NEED.</a:t>
            </a:r>
            <a:r>
              <a:rPr sz="1300" i="0">
                <a:solidFill>
                  <a:srgbClr val="7DCEA0"/>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179</a:t>
            </a:r>
          </a:p>
          <a:p>
            <a:pPr algn="r">
              <a:lnSpc>
                <a:spcPct val="100000"/>
              </a:lnSpc>
            </a:pPr>
            <a:r>
              <a:rPr sz="1300">
                <a:solidFill>
                  <a:srgbClr val="4F5D6A"/>
                </a:solidFill>
                <a:latin typeface="Consolas"/>
              </a:rPr>
              <a:t>180</a:t>
            </a:r>
          </a:p>
          <a:p>
            <a:pPr algn="r">
              <a:lnSpc>
                <a:spcPct val="100000"/>
              </a:lnSpc>
            </a:pPr>
            <a:r>
              <a:rPr sz="1300">
                <a:solidFill>
                  <a:srgbClr val="4F5D6A"/>
                </a:solidFill>
                <a:latin typeface="Consolas"/>
              </a:rPr>
              <a:t>181</a:t>
            </a:r>
          </a:p>
          <a:p>
            <a:pPr algn="r">
              <a:lnSpc>
                <a:spcPct val="100000"/>
              </a:lnSpc>
            </a:pPr>
            <a:r>
              <a:rPr sz="1300">
                <a:solidFill>
                  <a:srgbClr val="4F5D6A"/>
                </a:solidFill>
                <a:latin typeface="Consolas"/>
              </a:rPr>
              <a:t>182</a:t>
            </a:r>
          </a:p>
          <a:p>
            <a:pPr algn="r">
              <a:lnSpc>
                <a:spcPct val="100000"/>
              </a:lnSpc>
            </a:pPr>
            <a:r>
              <a:rPr sz="1300">
                <a:solidFill>
                  <a:srgbClr val="4F5D6A"/>
                </a:solidFill>
                <a:latin typeface="Consolas"/>
              </a:rPr>
              <a:t>183</a:t>
            </a:r>
          </a:p>
          <a:p>
            <a:pPr algn="r">
              <a:lnSpc>
                <a:spcPct val="100000"/>
              </a:lnSpc>
            </a:pPr>
            <a:r>
              <a:rPr sz="1300">
                <a:solidFill>
                  <a:srgbClr val="4F5D6A"/>
                </a:solidFill>
                <a:latin typeface="Consolas"/>
              </a:rPr>
              <a:t>184</a:t>
            </a:r>
          </a:p>
          <a:p>
            <a:pPr algn="r">
              <a:lnSpc>
                <a:spcPct val="100000"/>
              </a:lnSpc>
            </a:pPr>
            <a:r>
              <a:rPr sz="1300">
                <a:solidFill>
                  <a:srgbClr val="4F5D6A"/>
                </a:solidFill>
                <a:latin typeface="Consolas"/>
              </a:rPr>
              <a:t>185</a:t>
            </a:r>
          </a:p>
          <a:p>
            <a:pPr algn="r">
              <a:lnSpc>
                <a:spcPct val="100000"/>
              </a:lnSpc>
            </a:pPr>
            <a:r>
              <a:rPr sz="1300">
                <a:solidFill>
                  <a:srgbClr val="4F5D6A"/>
                </a:solidFill>
                <a:latin typeface="Consolas"/>
              </a:rPr>
              <a:t>186</a:t>
            </a:r>
          </a:p>
          <a:p>
            <a:pPr algn="r">
              <a:lnSpc>
                <a:spcPct val="100000"/>
              </a:lnSpc>
            </a:pPr>
            <a:r>
              <a:rPr sz="1300">
                <a:solidFill>
                  <a:srgbClr val="4F5D6A"/>
                </a:solidFill>
                <a:latin typeface="Consolas"/>
              </a:rPr>
              <a:t>187</a:t>
            </a:r>
          </a:p>
          <a:p>
            <a:pPr algn="r">
              <a:lnSpc>
                <a:spcPct val="100000"/>
              </a:lnSpc>
            </a:pPr>
            <a:r>
              <a:rPr sz="1300">
                <a:solidFill>
                  <a:srgbClr val="4F5D6A"/>
                </a:solidFill>
                <a:latin typeface="Consolas"/>
              </a:rPr>
              <a:t>188</a:t>
            </a:r>
          </a:p>
          <a:p>
            <a:pPr algn="r">
              <a:lnSpc>
                <a:spcPct val="100000"/>
              </a:lnSpc>
            </a:pPr>
            <a:r>
              <a:rPr sz="1300">
                <a:solidFill>
                  <a:srgbClr val="4F5D6A"/>
                </a:solidFill>
                <a:latin typeface="Consolas"/>
              </a:rPr>
              <a:t>189</a:t>
            </a:r>
          </a:p>
          <a:p>
            <a:pPr algn="r">
              <a:lnSpc>
                <a:spcPct val="100000"/>
              </a:lnSpc>
            </a:pPr>
            <a:r>
              <a:rPr sz="1300">
                <a:solidFill>
                  <a:srgbClr val="4F5D6A"/>
                </a:solidFill>
                <a:latin typeface="Consolas"/>
              </a:rPr>
              <a:t>190</a:t>
            </a:r>
          </a:p>
          <a:p>
            <a:pPr algn="r">
              <a:lnSpc>
                <a:spcPct val="100000"/>
              </a:lnSpc>
            </a:pPr>
            <a:r>
              <a:rPr sz="1300">
                <a:solidFill>
                  <a:srgbClr val="4F5D6A"/>
                </a:solidFill>
                <a:latin typeface="Consolas"/>
              </a:rPr>
              <a:t>191</a:t>
            </a:r>
          </a:p>
          <a:p>
            <a:pPr algn="r">
              <a:lnSpc>
                <a:spcPct val="100000"/>
              </a:lnSpc>
            </a:pPr>
            <a:r>
              <a:rPr sz="1300">
                <a:solidFill>
                  <a:srgbClr val="4F5D6A"/>
                </a:solidFill>
                <a:latin typeface="Consolas"/>
              </a:rPr>
              <a:t>192</a:t>
            </a:r>
          </a:p>
          <a:p>
            <a:pPr algn="r">
              <a:lnSpc>
                <a:spcPct val="100000"/>
              </a:lnSpc>
            </a:pPr>
            <a:r>
              <a:rPr sz="1300">
                <a:solidFill>
                  <a:srgbClr val="4F5D6A"/>
                </a:solidFill>
                <a:latin typeface="Consolas"/>
              </a:rPr>
              <a:t>193</a:t>
            </a:r>
          </a:p>
          <a:p>
            <a:pPr algn="r">
              <a:lnSpc>
                <a:spcPct val="100000"/>
              </a:lnSpc>
            </a:pPr>
            <a:r>
              <a:rPr sz="1300">
                <a:solidFill>
                  <a:srgbClr val="4F5D6A"/>
                </a:solidFill>
                <a:latin typeface="Consolas"/>
              </a:rPr>
              <a:t>194</a:t>
            </a:r>
          </a:p>
          <a:p>
            <a:pPr algn="r">
              <a:lnSpc>
                <a:spcPct val="100000"/>
              </a:lnSpc>
            </a:pPr>
            <a:r>
              <a:rPr sz="1300">
                <a:solidFill>
                  <a:srgbClr val="4F5D6A"/>
                </a:solidFill>
                <a:latin typeface="Consolas"/>
              </a:rPr>
              <a:t>195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9786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443D1C96-CDDD-4EB4-9146-B469C8335E4D}" type="slidenum">
              <a:rPr lang="en-GB" sz="1000">
                <a:solidFill>
                  <a:srgbClr val="8795A1"/>
                </a:solidFill>
                <a:latin typeface="Segoe UI"/>
              </a:rPr>
              <a:t>40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competence boundary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the competence boundary ----------------------------------- print() print(&quot;=== what the rule base does NOT cover ===&quot;) import itertools attrs = {&quot;severity&quot;: [&quot;critical&quot;, &quot;major&quot;, &quot;minor&quot;], &quot;tier&quot;: [&quot;platinum&quot;, &quot;standard&quot;], &quot;workaround&quot;: [&quot;yes&quot;, &quot;no&quot;], &quot;owner_available&quot;: [&quot;yes&quot;, &quot;no&quot;]} uncovered = []"/>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 the competence boundary -----------------------------------</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what the rule base does NOT cover ===</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i="0">
                <a:solidFill>
                  <a:srgbClr val="E8EDF2"/>
                </a:solidFill>
                <a:latin typeface="Consolas"/>
              </a:rPr>
              <a:t>    </a:t>
            </a:r>
            <a:r>
              <a:rPr sz="2000" i="0">
                <a:solidFill>
                  <a:srgbClr val="E8EDF2"/>
                </a:solidFill>
                <a:latin typeface="Consolas"/>
              </a:rPr>
              <a:t>attrs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severity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critical</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major</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minor</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tier</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platinum</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standard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workaround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yes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no</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owner_available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yes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no</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uncovered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197</a:t>
            </a:r>
          </a:p>
          <a:p>
            <a:pPr algn="r">
              <a:lnSpc>
                <a:spcPct val="100000"/>
              </a:lnSpc>
            </a:pPr>
            <a:r>
              <a:rPr sz="2000">
                <a:solidFill>
                  <a:srgbClr val="4F5D6A"/>
                </a:solidFill>
                <a:latin typeface="Consolas"/>
              </a:rPr>
              <a:t>198</a:t>
            </a:r>
          </a:p>
          <a:p>
            <a:pPr algn="r">
              <a:lnSpc>
                <a:spcPct val="100000"/>
              </a:lnSpc>
            </a:pPr>
            <a:r>
              <a:rPr sz="2000">
                <a:solidFill>
                  <a:srgbClr val="4F5D6A"/>
                </a:solidFill>
                <a:latin typeface="Consolas"/>
              </a:rPr>
              <a:t>199</a:t>
            </a:r>
          </a:p>
          <a:p>
            <a:pPr algn="r">
              <a:lnSpc>
                <a:spcPct val="100000"/>
              </a:lnSpc>
            </a:pPr>
            <a:r>
              <a:rPr sz="2000">
                <a:solidFill>
                  <a:srgbClr val="4F5D6A"/>
                </a:solidFill>
                <a:latin typeface="Consolas"/>
              </a:rPr>
              <a:t>200</a:t>
            </a:r>
          </a:p>
          <a:p>
            <a:pPr algn="r">
              <a:lnSpc>
                <a:spcPct val="100000"/>
              </a:lnSpc>
            </a:pPr>
            <a:r>
              <a:rPr sz="2000">
                <a:solidFill>
                  <a:srgbClr val="4F5D6A"/>
                </a:solidFill>
                <a:latin typeface="Consolas"/>
              </a:rPr>
              <a:t>201</a:t>
            </a:r>
          </a:p>
          <a:p>
            <a:pPr algn="r">
              <a:lnSpc>
                <a:spcPct val="100000"/>
              </a:lnSpc>
            </a:pPr>
            <a:r>
              <a:rPr sz="2000">
                <a:solidFill>
                  <a:srgbClr val="4F5D6A"/>
                </a:solidFill>
                <a:latin typeface="Consolas"/>
              </a:rPr>
              <a:t>202</a:t>
            </a:r>
          </a:p>
          <a:p>
            <a:pPr algn="r">
              <a:lnSpc>
                <a:spcPct val="100000"/>
              </a:lnSpc>
            </a:pPr>
            <a:r>
              <a:rPr sz="2000">
                <a:solidFill>
                  <a:srgbClr val="4F5D6A"/>
                </a:solidFill>
                <a:latin typeface="Consolas"/>
              </a:rPr>
              <a:t>203</a:t>
            </a:r>
          </a:p>
          <a:p>
            <a:pPr algn="r">
              <a:lnSpc>
                <a:spcPct val="100000"/>
              </a:lnSpc>
            </a:pPr>
            <a:r>
              <a:rPr sz="2000">
                <a:solidFill>
                  <a:srgbClr val="4F5D6A"/>
                </a:solidFill>
                <a:latin typeface="Consolas"/>
              </a:rPr>
              <a:t>204</a:t>
            </a:r>
          </a:p>
          <a:p>
            <a:pPr algn="r">
              <a:lnSpc>
                <a:spcPct val="100000"/>
              </a:lnSpc>
            </a:pPr>
            <a:r>
              <a:rPr sz="2000">
                <a:solidFill>
                  <a:srgbClr val="4F5D6A"/>
                </a:solidFill>
                <a:latin typeface="Consolas"/>
              </a:rPr>
              <a:t>205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0806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9010DDA3-6344-4C4C-9235-D75A37D8AA5F}" type="slidenum">
              <a:rPr lang="en-GB" sz="1000">
                <a:solidFill>
                  <a:srgbClr val="8795A1"/>
                </a:solidFill>
                <a:latin typeface="Segoe UI"/>
              </a:rPr>
              <a:t>41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competence boundary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for combo in itertools.product(*attrs.values()): facts = dict(zip(attrs.keys(), combo)) wm, _ = forward_chain(facts) if &quot;escalate&quot; not in wm: uncovered.append(facts) print(&quot; %d of %d possible situations reach no escalate decision&quot; % (len(uncovered), 3 * 2 * 2 * 2)) for u in uncovered[:3]: print(&quot; &quot;, u) print(&quot; A rule base can be asked this. Enumerate the inputs,&quot;) print(&quot; find the gaps, and SAY SO -- that is a boundary the&quot;) print(&quot; system can describe, and it takes an afternoon.&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combo</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itertools</a:t>
            </a:r>
            <a:r>
              <a:rPr sz="1900" i="0">
                <a:solidFill>
                  <a:srgbClr val="AEB6BF"/>
                </a:solidFill>
                <a:latin typeface="Consolas"/>
              </a:rPr>
              <a:t>.</a:t>
            </a:r>
            <a:r>
              <a:rPr sz="1900" i="0">
                <a:solidFill>
                  <a:srgbClr val="E8EDF2"/>
                </a:solidFill>
                <a:latin typeface="Consolas"/>
              </a:rPr>
              <a:t>product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attrs</a:t>
            </a:r>
            <a:r>
              <a:rPr sz="1900" i="0">
                <a:solidFill>
                  <a:srgbClr val="AEB6BF"/>
                </a:solidFill>
                <a:latin typeface="Consolas"/>
              </a:rPr>
              <a:t>.</a:t>
            </a:r>
            <a:r>
              <a:rPr sz="1900" i="0">
                <a:solidFill>
                  <a:srgbClr val="E8EDF2"/>
                </a:solidFill>
                <a:latin typeface="Consolas"/>
              </a:rPr>
              <a:t>values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facts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dict</a:t>
            </a:r>
            <a:r>
              <a:rPr sz="1900" i="0">
                <a:solidFill>
                  <a:srgbClr val="AEB6BF"/>
                </a:solidFill>
                <a:latin typeface="Consolas"/>
              </a:rPr>
              <a:t>(</a:t>
            </a:r>
            <a:r>
              <a:rPr sz="1900" i="0">
                <a:solidFill>
                  <a:srgbClr val="C39BD3"/>
                </a:solidFill>
                <a:latin typeface="Consolas"/>
              </a:rPr>
              <a:t>zip</a:t>
            </a:r>
            <a:r>
              <a:rPr sz="1900" i="0">
                <a:solidFill>
                  <a:srgbClr val="AEB6BF"/>
                </a:solidFill>
                <a:latin typeface="Consolas"/>
              </a:rPr>
              <a:t>(</a:t>
            </a:r>
            <a:r>
              <a:rPr sz="1900" i="0">
                <a:solidFill>
                  <a:srgbClr val="E8EDF2"/>
                </a:solidFill>
                <a:latin typeface="Consolas"/>
              </a:rPr>
              <a:t>attrs</a:t>
            </a:r>
            <a:r>
              <a:rPr sz="1900" i="0">
                <a:solidFill>
                  <a:srgbClr val="AEB6BF"/>
                </a:solidFill>
                <a:latin typeface="Consolas"/>
              </a:rPr>
              <a:t>.</a:t>
            </a:r>
            <a:r>
              <a:rPr sz="1900" i="0">
                <a:solidFill>
                  <a:srgbClr val="E8EDF2"/>
                </a:solidFill>
                <a:latin typeface="Consolas"/>
              </a:rPr>
              <a:t>keys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combo</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wm</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forward_chain</a:t>
            </a:r>
            <a:r>
              <a:rPr sz="1900" i="0">
                <a:solidFill>
                  <a:srgbClr val="AEB6BF"/>
                </a:solidFill>
                <a:latin typeface="Consolas"/>
              </a:rPr>
              <a:t>(</a:t>
            </a:r>
            <a:r>
              <a:rPr sz="1900" i="0">
                <a:solidFill>
                  <a:srgbClr val="E8EDF2"/>
                </a:solidFill>
                <a:latin typeface="Consolas"/>
              </a:rPr>
              <a:t>facts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escalate</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not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wm</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uncovered</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facts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%d</a:t>
            </a:r>
            <a:r>
              <a:rPr sz="1900" i="0">
                <a:solidFill>
                  <a:srgbClr val="7DCEA0"/>
                </a:solidFill>
                <a:latin typeface="Consolas"/>
              </a:rPr>
              <a:t> of </a:t>
            </a:r>
            <a:r>
              <a:rPr sz="1900" i="0">
                <a:solidFill>
                  <a:srgbClr val="7DCEA0"/>
                </a:solidFill>
                <a:latin typeface="Consolas"/>
              </a:rPr>
              <a:t>%d</a:t>
            </a:r>
            <a:r>
              <a:rPr sz="1900" i="0">
                <a:solidFill>
                  <a:srgbClr val="7DCEA0"/>
                </a:solidFill>
                <a:latin typeface="Consolas"/>
              </a:rPr>
              <a:t> possible situations reach no escalate decision</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uncovered</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u</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uncovered</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u</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 rule base can be asked this. Enumerate the inputs,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find the gaps, and SAY SO -- that is a boundary the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system can describe, and it takes an afternoon.</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206</a:t>
            </a:r>
          </a:p>
          <a:p>
            <a:pPr algn="r">
              <a:lnSpc>
                <a:spcPct val="100000"/>
              </a:lnSpc>
            </a:pPr>
            <a:r>
              <a:rPr sz="1900">
                <a:solidFill>
                  <a:srgbClr val="4F5D6A"/>
                </a:solidFill>
                <a:latin typeface="Consolas"/>
              </a:rPr>
              <a:t>207</a:t>
            </a:r>
          </a:p>
          <a:p>
            <a:pPr algn="r">
              <a:lnSpc>
                <a:spcPct val="100000"/>
              </a:lnSpc>
            </a:pPr>
            <a:r>
              <a:rPr sz="1900">
                <a:solidFill>
                  <a:srgbClr val="4F5D6A"/>
                </a:solidFill>
                <a:latin typeface="Consolas"/>
              </a:rPr>
              <a:t>208</a:t>
            </a:r>
          </a:p>
          <a:p>
            <a:pPr algn="r">
              <a:lnSpc>
                <a:spcPct val="100000"/>
              </a:lnSpc>
            </a:pPr>
            <a:r>
              <a:rPr sz="1900">
                <a:solidFill>
                  <a:srgbClr val="4F5D6A"/>
                </a:solidFill>
                <a:latin typeface="Consolas"/>
              </a:rPr>
              <a:t>209</a:t>
            </a:r>
          </a:p>
          <a:p>
            <a:pPr algn="r">
              <a:lnSpc>
                <a:spcPct val="100000"/>
              </a:lnSpc>
            </a:pPr>
            <a:r>
              <a:rPr sz="1900">
                <a:solidFill>
                  <a:srgbClr val="4F5D6A"/>
                </a:solidFill>
                <a:latin typeface="Consolas"/>
              </a:rPr>
              <a:t>210</a:t>
            </a:r>
          </a:p>
          <a:p>
            <a:pPr algn="r">
              <a:lnSpc>
                <a:spcPct val="100000"/>
              </a:lnSpc>
            </a:pPr>
            <a:r>
              <a:rPr sz="1900">
                <a:solidFill>
                  <a:srgbClr val="4F5D6A"/>
                </a:solidFill>
                <a:latin typeface="Consolas"/>
              </a:rPr>
              <a:t>211</a:t>
            </a:r>
          </a:p>
          <a:p>
            <a:pPr algn="r">
              <a:lnSpc>
                <a:spcPct val="100000"/>
              </a:lnSpc>
            </a:pPr>
            <a:r>
              <a:rPr sz="1900">
                <a:solidFill>
                  <a:srgbClr val="4F5D6A"/>
                </a:solidFill>
                <a:latin typeface="Consolas"/>
              </a:rPr>
              <a:t>212</a:t>
            </a:r>
          </a:p>
          <a:p>
            <a:pPr algn="r">
              <a:lnSpc>
                <a:spcPct val="100000"/>
              </a:lnSpc>
            </a:pPr>
            <a:r>
              <a:rPr sz="1900">
                <a:solidFill>
                  <a:srgbClr val="4F5D6A"/>
                </a:solidFill>
                <a:latin typeface="Consolas"/>
              </a:rPr>
              <a:t>213</a:t>
            </a:r>
          </a:p>
          <a:p>
            <a:pPr algn="r">
              <a:lnSpc>
                <a:spcPct val="100000"/>
              </a:lnSpc>
            </a:pPr>
            <a:r>
              <a:rPr sz="1900">
                <a:solidFill>
                  <a:srgbClr val="4F5D6A"/>
                </a:solidFill>
                <a:latin typeface="Consolas"/>
              </a:rPr>
              <a:t>214</a:t>
            </a:r>
          </a:p>
          <a:p>
            <a:pPr algn="r">
              <a:lnSpc>
                <a:spcPct val="100000"/>
              </a:lnSpc>
            </a:pPr>
            <a:r>
              <a:rPr sz="1900">
                <a:solidFill>
                  <a:srgbClr val="4F5D6A"/>
                </a:solidFill>
                <a:latin typeface="Consolas"/>
              </a:rPr>
              <a:t>215</a:t>
            </a:r>
          </a:p>
          <a:p>
            <a:pPr algn="r">
              <a:lnSpc>
                <a:spcPct val="100000"/>
              </a:lnSpc>
            </a:pPr>
            <a:r>
              <a:rPr sz="1900">
                <a:solidFill>
                  <a:srgbClr val="4F5D6A"/>
                </a:solidFill>
                <a:latin typeface="Consolas"/>
              </a:rPr>
              <a:t>216</a:t>
            </a:r>
          </a:p>
          <a:p>
            <a:pPr algn="r">
              <a:lnSpc>
                <a:spcPct val="100000"/>
              </a:lnSpc>
            </a:pPr>
            <a:r>
              <a:rPr sz="1900">
                <a:solidFill>
                  <a:srgbClr val="4F5D6A"/>
                </a:solidFill>
                <a:latin typeface="Consolas"/>
              </a:rPr>
              <a:t>217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1826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833236FD-8EBC-4BEC-BE3A-4E3F3B8E4D2D}" type="slidenum">
              <a:rPr lang="en-GB" sz="1000">
                <a:solidFill>
                  <a:srgbClr val="8795A1"/>
                </a:solidFill>
                <a:latin typeface="Segoe UI"/>
              </a:rPr>
              <a:t>42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computational limit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 --- the computational limit ----------------------------------- print() print(&quot;=== and the limit no engineering removes ===&quot;) print(&quot; b=4: depth nodes at 1e6 nodes/sec&quot;) print(&quot; &quot; + &quot;-&quot; * 46)"/>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 the computational limit -----------------------------------</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and the limit no engineering removes ===</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b=4:  depth   nodes          at 1e6 nodes/sec</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46</a:t>
            </a:r>
            <a:r>
              <a:rPr sz="2000" i="0">
                <a:solidFill>
                  <a:srgbClr val="AEB6BF"/>
                </a:solidFill>
                <a:latin typeface="Consolas"/>
              </a:rPr>
              <a:t>)</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219</a:t>
            </a:r>
          </a:p>
          <a:p>
            <a:pPr algn="r">
              <a:lnSpc>
                <a:spcPct val="100000"/>
              </a:lnSpc>
            </a:pPr>
            <a:r>
              <a:rPr sz="2000">
                <a:solidFill>
                  <a:srgbClr val="4F5D6A"/>
                </a:solidFill>
                <a:latin typeface="Consolas"/>
              </a:rPr>
              <a:t>220</a:t>
            </a:r>
          </a:p>
          <a:p>
            <a:pPr algn="r">
              <a:lnSpc>
                <a:spcPct val="100000"/>
              </a:lnSpc>
            </a:pPr>
            <a:r>
              <a:rPr sz="2000">
                <a:solidFill>
                  <a:srgbClr val="4F5D6A"/>
                </a:solidFill>
                <a:latin typeface="Consolas"/>
              </a:rPr>
              <a:t>221</a:t>
            </a:r>
          </a:p>
          <a:p>
            <a:pPr algn="r">
              <a:lnSpc>
                <a:spcPct val="100000"/>
              </a:lnSpc>
            </a:pPr>
            <a:r>
              <a:rPr sz="2000">
                <a:solidFill>
                  <a:srgbClr val="4F5D6A"/>
                </a:solidFill>
                <a:latin typeface="Consolas"/>
              </a:rPr>
              <a:t>222</a:t>
            </a:r>
          </a:p>
          <a:p>
            <a:pPr algn="r">
              <a:lnSpc>
                <a:spcPct val="100000"/>
              </a:lnSpc>
            </a:pPr>
            <a:r>
              <a:rPr sz="2000">
                <a:solidFill>
                  <a:srgbClr val="4F5D6A"/>
                </a:solidFill>
                <a:latin typeface="Consolas"/>
              </a:rPr>
              <a:t>223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284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the Escalation Rules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18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F1E443E6-C14B-4493-9338-AC87BF959DEF}" type="slidenum">
              <a:rPr lang="en-GB" sz="1000">
                <a:solidFill>
                  <a:srgbClr val="8795A1"/>
                </a:solidFill>
                <a:latin typeface="Segoe UI"/>
              </a:rPr>
              <a:t>43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computational limit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code/ch21_auditing_escalation.py</a:t>
            </a:r>
          </a:p>
        </p:txBody>
      </p:sp>
      <p:sp>
        <p:nvSpPr>
          <p:cNvPr id="14" name="!!code-text" descr="for d in (10, 15, 20, 25): n = 4 ** d secs = n / 1e6 if secs &lt; 90: t = &quot;%.1f seconds&quot; % secs elif secs &lt; 5400: t = &quot;%.1f minutes&quot; % (secs / 60) elif secs &lt; 86400 * 2: t = &quot;%.1f hours&quot; % (secs / 3600) else: t = &quot;%.0f days&quot; % (secs / 86400) print(&quot; %11d %14d %s&quot; % (d, n, t)) print() print(&quot; A 100x faster machine buys three or four levels of&quot;) print(&quot; depth and then stops. Structure is the only real&quot;) print(&quot; answer, which is what Parts II to V were about.&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d</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25</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a:t>
            </a:r>
          </a:p>
          <a:p>
            <a:pPr>
              <a:lnSpc>
                <a:spcPct val="100000"/>
              </a:lnSpc>
              <a:spcAft>
                <a:spcPts val="0"/>
              </a:spcAft>
            </a:pPr>
            <a:r>
              <a:rPr sz="1400" i="0">
                <a:solidFill>
                  <a:srgbClr val="E8EDF2"/>
                </a:solidFill>
                <a:latin typeface="Consolas"/>
              </a:rPr>
              <a:t>        </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1e6</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F7DC6F"/>
                </a:solidFill>
                <a:latin typeface="Consolas"/>
              </a:rPr>
              <a:t>90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%.1f</a:t>
            </a:r>
            <a:r>
              <a:rPr sz="1400" i="0">
                <a:solidFill>
                  <a:srgbClr val="7DCEA0"/>
                </a:solidFill>
                <a:latin typeface="Consolas"/>
              </a:rPr>
              <a:t> seconds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secs</a:t>
            </a:r>
          </a:p>
          <a:p>
            <a:pPr>
              <a:lnSpc>
                <a:spcPct val="100000"/>
              </a:lnSpc>
              <a:spcAft>
                <a:spcPts val="0"/>
              </a:spcAft>
            </a:pPr>
            <a:r>
              <a:rPr sz="1400" i="0">
                <a:solidFill>
                  <a:srgbClr val="E8EDF2"/>
                </a:solidFill>
                <a:latin typeface="Consolas"/>
              </a:rPr>
              <a:t>        </a:t>
            </a:r>
            <a:r>
              <a:rPr sz="1400" i="0">
                <a:solidFill>
                  <a:srgbClr val="5DADE2"/>
                </a:solidFill>
                <a:latin typeface="Consolas"/>
              </a:rPr>
              <a:t>elif</a:t>
            </a:r>
            <a:r>
              <a:rPr sz="1400" i="0">
                <a:solidFill>
                  <a:srgbClr val="E8EDF2"/>
                </a:solidFill>
                <a:latin typeface="Consolas"/>
              </a:rPr>
              <a:t> </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F7DC6F"/>
                </a:solidFill>
                <a:latin typeface="Consolas"/>
              </a:rPr>
              <a:t>5400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%.1f</a:t>
            </a:r>
            <a:r>
              <a:rPr sz="1400" i="0">
                <a:solidFill>
                  <a:srgbClr val="7DCEA0"/>
                </a:solidFill>
                <a:latin typeface="Consolas"/>
              </a:rPr>
              <a:t> minutes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60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elif</a:t>
            </a:r>
            <a:r>
              <a:rPr sz="1400" i="0">
                <a:solidFill>
                  <a:srgbClr val="E8EDF2"/>
                </a:solidFill>
                <a:latin typeface="Consolas"/>
              </a:rPr>
              <a:t> </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F7DC6F"/>
                </a:solidFill>
                <a:latin typeface="Consolas"/>
              </a:rPr>
              <a:t>86400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%.1f</a:t>
            </a:r>
            <a:r>
              <a:rPr sz="1400" i="0">
                <a:solidFill>
                  <a:srgbClr val="7DCEA0"/>
                </a:solidFill>
                <a:latin typeface="Consolas"/>
              </a:rPr>
              <a:t> hours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3600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else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%.0f</a:t>
            </a:r>
            <a:r>
              <a:rPr sz="1400" i="0">
                <a:solidFill>
                  <a:srgbClr val="7DCEA0"/>
                </a:solidFill>
                <a:latin typeface="Consolas"/>
              </a:rPr>
              <a:t> days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secs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86400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%11d</a:t>
            </a:r>
            <a:r>
              <a:rPr sz="1400" i="0">
                <a:solidFill>
                  <a:srgbClr val="7DCEA0"/>
                </a:solidFill>
                <a:latin typeface="Consolas"/>
              </a:rPr>
              <a:t> </a:t>
            </a:r>
            <a:r>
              <a:rPr sz="1400" i="0">
                <a:solidFill>
                  <a:srgbClr val="7DCEA0"/>
                </a:solidFill>
                <a:latin typeface="Consolas"/>
              </a:rPr>
              <a:t>%14d</a:t>
            </a:r>
            <a:r>
              <a:rPr sz="1400" i="0">
                <a:solidFill>
                  <a:srgbClr val="7DCEA0"/>
                </a:solidFill>
                <a:latin typeface="Consolas"/>
              </a:rPr>
              <a:t>   </a:t>
            </a:r>
            <a:r>
              <a:rPr sz="1400" i="0">
                <a:solidFill>
                  <a:srgbClr val="7DCEA0"/>
                </a:solidFill>
                <a:latin typeface="Consolas"/>
              </a:rPr>
              <a: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d</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 100x faster machine buys three or four levels of</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depth and then stops. Structure is the only real</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answer, which is what Parts II to V were about.</a:t>
            </a:r>
            <a:r>
              <a:rPr sz="1400" i="0">
                <a:solidFill>
                  <a:srgbClr val="7DCEA0"/>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224</a:t>
            </a:r>
          </a:p>
          <a:p>
            <a:pPr algn="r">
              <a:lnSpc>
                <a:spcPct val="100000"/>
              </a:lnSpc>
            </a:pPr>
            <a:r>
              <a:rPr sz="1400">
                <a:solidFill>
                  <a:srgbClr val="4F5D6A"/>
                </a:solidFill>
                <a:latin typeface="Consolas"/>
              </a:rPr>
              <a:t>225</a:t>
            </a:r>
          </a:p>
          <a:p>
            <a:pPr algn="r">
              <a:lnSpc>
                <a:spcPct val="100000"/>
              </a:lnSpc>
            </a:pPr>
            <a:r>
              <a:rPr sz="1400">
                <a:solidFill>
                  <a:srgbClr val="4F5D6A"/>
                </a:solidFill>
                <a:latin typeface="Consolas"/>
              </a:rPr>
              <a:t>226</a:t>
            </a:r>
          </a:p>
          <a:p>
            <a:pPr algn="r">
              <a:lnSpc>
                <a:spcPct val="100000"/>
              </a:lnSpc>
            </a:pPr>
            <a:r>
              <a:rPr sz="1400">
                <a:solidFill>
                  <a:srgbClr val="4F5D6A"/>
                </a:solidFill>
                <a:latin typeface="Consolas"/>
              </a:rPr>
              <a:t>227</a:t>
            </a:r>
          </a:p>
          <a:p>
            <a:pPr algn="r">
              <a:lnSpc>
                <a:spcPct val="100000"/>
              </a:lnSpc>
            </a:pPr>
            <a:r>
              <a:rPr sz="1400">
                <a:solidFill>
                  <a:srgbClr val="4F5D6A"/>
                </a:solidFill>
                <a:latin typeface="Consolas"/>
              </a:rPr>
              <a:t>228</a:t>
            </a:r>
          </a:p>
          <a:p>
            <a:pPr algn="r">
              <a:lnSpc>
                <a:spcPct val="100000"/>
              </a:lnSpc>
            </a:pPr>
            <a:r>
              <a:rPr sz="1400">
                <a:solidFill>
                  <a:srgbClr val="4F5D6A"/>
                </a:solidFill>
                <a:latin typeface="Consolas"/>
              </a:rPr>
              <a:t>229</a:t>
            </a:r>
          </a:p>
          <a:p>
            <a:pPr algn="r">
              <a:lnSpc>
                <a:spcPct val="100000"/>
              </a:lnSpc>
            </a:pPr>
            <a:r>
              <a:rPr sz="1400">
                <a:solidFill>
                  <a:srgbClr val="4F5D6A"/>
                </a:solidFill>
                <a:latin typeface="Consolas"/>
              </a:rPr>
              <a:t>230</a:t>
            </a:r>
          </a:p>
          <a:p>
            <a:pPr algn="r">
              <a:lnSpc>
                <a:spcPct val="100000"/>
              </a:lnSpc>
            </a:pPr>
            <a:r>
              <a:rPr sz="1400">
                <a:solidFill>
                  <a:srgbClr val="4F5D6A"/>
                </a:solidFill>
                <a:latin typeface="Consolas"/>
              </a:rPr>
              <a:t>231</a:t>
            </a:r>
          </a:p>
          <a:p>
            <a:pPr algn="r">
              <a:lnSpc>
                <a:spcPct val="100000"/>
              </a:lnSpc>
            </a:pPr>
            <a:r>
              <a:rPr sz="1400">
                <a:solidFill>
                  <a:srgbClr val="4F5D6A"/>
                </a:solidFill>
                <a:latin typeface="Consolas"/>
              </a:rPr>
              <a:t>232</a:t>
            </a:r>
          </a:p>
          <a:p>
            <a:pPr algn="r">
              <a:lnSpc>
                <a:spcPct val="100000"/>
              </a:lnSpc>
            </a:pPr>
            <a:r>
              <a:rPr sz="1400">
                <a:solidFill>
                  <a:srgbClr val="4F5D6A"/>
                </a:solidFill>
                <a:latin typeface="Consolas"/>
              </a:rPr>
              <a:t>233</a:t>
            </a:r>
          </a:p>
          <a:p>
            <a:pPr algn="r">
              <a:lnSpc>
                <a:spcPct val="100000"/>
              </a:lnSpc>
            </a:pPr>
            <a:r>
              <a:rPr sz="1400">
                <a:solidFill>
                  <a:srgbClr val="4F5D6A"/>
                </a:solidFill>
                <a:latin typeface="Consolas"/>
              </a:rPr>
              <a:t>234</a:t>
            </a:r>
          </a:p>
          <a:p>
            <a:pPr algn="r">
              <a:lnSpc>
                <a:spcPct val="100000"/>
              </a:lnSpc>
            </a:pPr>
            <a:r>
              <a:rPr sz="1400">
                <a:solidFill>
                  <a:srgbClr val="4F5D6A"/>
                </a:solidFill>
                <a:latin typeface="Consolas"/>
              </a:rPr>
              <a:t>235</a:t>
            </a:r>
          </a:p>
          <a:p>
            <a:pPr algn="r">
              <a:lnSpc>
                <a:spcPct val="100000"/>
              </a:lnSpc>
            </a:pPr>
            <a:r>
              <a:rPr sz="1400">
                <a:solidFill>
                  <a:srgbClr val="4F5D6A"/>
                </a:solidFill>
                <a:latin typeface="Consolas"/>
              </a:rPr>
              <a:t>236</a:t>
            </a:r>
          </a:p>
          <a:p>
            <a:pPr algn="r">
              <a:lnSpc>
                <a:spcPct val="100000"/>
              </a:lnSpc>
            </a:pPr>
            <a:r>
              <a:rPr sz="1400">
                <a:solidFill>
                  <a:srgbClr val="4F5D6A"/>
                </a:solidFill>
                <a:latin typeface="Consolas"/>
              </a:rPr>
              <a:t>237</a:t>
            </a:r>
          </a:p>
          <a:p>
            <a:pPr algn="r">
              <a:lnSpc>
                <a:spcPct val="100000"/>
              </a:lnSpc>
            </a:pPr>
            <a:r>
              <a:rPr sz="1400">
                <a:solidFill>
                  <a:srgbClr val="4F5D6A"/>
                </a:solidFill>
                <a:latin typeface="Consolas"/>
              </a:rPr>
              <a:t>238</a:t>
            </a:r>
          </a:p>
          <a:p>
            <a:pPr algn="r">
              <a:lnSpc>
                <a:spcPct val="100000"/>
              </a:lnSpc>
            </a:pPr>
            <a:r>
              <a:rPr sz="1400">
                <a:solidFill>
                  <a:srgbClr val="4F5D6A"/>
                </a:solidFill>
                <a:latin typeface="Consolas"/>
              </a:rPr>
              <a:t>239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0386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220     </a:t>
            </a:r>
            <a:fld id="{BC0D38F0-B542-428A-8AF9-92693B53814F}" type="slidenum">
              <a:rPr lang="en-GB" sz="1000">
                <a:solidFill>
                  <a:srgbClr val="8795A1"/>
                </a:solidFill>
                <a:latin typeface="Segoe UI"/>
              </a:rPr>
              <a:t>44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change </a:t>
            </a:r>
            <a:r>
              <a:rPr sz="2150" b="0" i="0">
                <a:solidFill>
                  <a:srgbClr val="1F4E79"/>
                </a:solidFill>
                <a:latin typeface="Consolas"/>
              </a:rPr>
              <a:t>p_workaround</a:t>
            </a:r>
            <a:r>
              <a:rPr sz="2300" b="0" i="0">
                <a:solidFill>
                  <a:srgbClr val="1C252B"/>
                </a:solidFill>
                <a:latin typeface="Segoe UI"/>
              </a:rPr>
              <a:t> so both teams document at the same rate, and re-run. The gap collapses, and no rule changed — which is the cleanest possible demonstration that the disparity was never in the rule base at all.</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24887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escalation adviser’s rules never mention the reporting team, and the escalation rates differ by </a:t>
            </a:r>
            <a:r>
              <a:rPr sz="3400" b="0" i="0">
                <a:solidFill>
                  <a:srgbClr val="FFFFFF"/>
                </a:solidFill>
                <a:latin typeface="Cambria"/>
              </a:rPr>
              <a:t>22</a:t>
            </a:r>
            <a:r>
              <a:rPr sz="3400" b="0" i="0">
                <a:solidFill>
                  <a:srgbClr val="FFFFFF"/>
                </a:solidFill>
                <a:latin typeface="Segoe UI Semibold"/>
              </a:rPr>
              <a:t> percentage points. Explain how, and say why deleting an attribute would not have prevented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21  ·  Responsible AI and Its Limits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227  ·  answers in Appendix D     </a:t>
            </a:r>
            <a:fld id="{FF10E139-58C9-45B2-8B6D-471A277284A4}"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escalation adviser’s rules never mention the reporting team, and the escalation rates differ by </a:t>
            </a:r>
            <a:r>
              <a:rPr sz="2400" b="0" i="0">
                <a:solidFill>
                  <a:srgbClr val="1A5276"/>
                </a:solidFill>
                <a:latin typeface="Cambria"/>
              </a:rPr>
              <a:t>22</a:t>
            </a:r>
            <a:r>
              <a:rPr sz="2400" b="0" i="0">
                <a:solidFill>
                  <a:srgbClr val="1A5276"/>
                </a:solidFill>
                <a:latin typeface="Segoe UI Semibold"/>
              </a:rPr>
              <a:t> percentage points. Explain how, and say why deleting an attribute would not have prevented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Through a </a:t>
            </a:r>
            <a:r>
              <a:rPr sz="2200" b="1" i="0">
                <a:solidFill>
                  <a:srgbClr val="1A5276"/>
                </a:solidFill>
                <a:latin typeface="Segoe UI"/>
              </a:rPr>
              <a:t>proxy</a:t>
            </a:r>
            <a:r>
              <a:rPr sz="2200" b="0" i="0">
                <a:solidFill>
                  <a:srgbClr val="1C252B"/>
                </a:solidFill>
                <a:latin typeface="Segoe UI"/>
              </a:rPr>
              <a:t>: </a:t>
            </a:r>
            <a:r>
              <a:rPr sz="2050" b="0" i="0">
                <a:solidFill>
                  <a:srgbClr val="1F4E79"/>
                </a:solidFill>
                <a:latin typeface="Consolas"/>
              </a:rPr>
              <a:t>workaround</a:t>
            </a:r>
            <a:r>
              <a:rPr sz="2200" b="0" i="0">
                <a:solidFill>
                  <a:srgbClr val="1C252B"/>
                </a:solidFill>
                <a:latin typeface="Segoe UI"/>
              </a:rPr>
              <a:t> is recorded for about </a:t>
            </a:r>
            <a:r>
              <a:rPr sz="2200" b="0" i="0">
                <a:solidFill>
                  <a:srgbClr val="1C252B"/>
                </a:solidFill>
                <a:latin typeface="Cambria"/>
              </a:rPr>
              <a:t>80%</a:t>
            </a:r>
            <a:r>
              <a:rPr sz="2200" b="0" i="0">
                <a:solidFill>
                  <a:srgbClr val="1C252B"/>
                </a:solidFill>
                <a:latin typeface="Segoe UI"/>
              </a:rPr>
              <a:t> of one team’s tickets and </a:t>
            </a:r>
            <a:r>
              <a:rPr sz="2200" b="0" i="0">
                <a:solidFill>
                  <a:srgbClr val="1C252B"/>
                </a:solidFill>
                <a:latin typeface="Cambria"/>
              </a:rPr>
              <a:t>15%</a:t>
            </a:r>
            <a:r>
              <a:rPr sz="2200" b="0" i="0">
                <a:solidFill>
                  <a:srgbClr val="1C252B"/>
                </a:solidFill>
                <a:latin typeface="Segoe UI"/>
              </a:rPr>
              <a:t> of the other’s, because the first team has mature runbooks to cite. R3 makes those tickets P2 and R7 then decides a P2 with a workaround needs no owner, so that team’s tickets are systematically not escalated. Deleting an attribute would not have prevented it, and could not have: the team name was never an input. The correlation lives in the world rather than in a column, which is why </a:t>
            </a:r>
            <a:r>
              <a:rPr sz="2200" b="0" i="1">
                <a:solidFill>
                  <a:srgbClr val="1C252B"/>
                </a:solidFill>
                <a:latin typeface="Segoe UI"/>
              </a:rPr>
              <a:t>fairness through unawareness</a:t>
            </a:r>
            <a:r>
              <a:rPr sz="2200" b="0" i="0">
                <a:solidFill>
                  <a:srgbClr val="1C252B"/>
                </a:solidFill>
                <a:latin typeface="Segoe UI"/>
              </a:rPr>
              <a:t> is the one approach that reliably fails.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  answers in Appendix D     </a:t>
            </a:r>
            <a:fld id="{0FD43101-DAEF-4260-891E-569335674F86}"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6927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R3–R7 pathway was identified as carrying most of the gap, and both rules are sensible. State what the audit established and what it explicitly did not, and say whose decision the remainder is.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21  ·  Responsible AI and Its Limits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227  ·  answers in Appendix D     </a:t>
            </a:r>
            <a:fld id="{AA9A341A-EEA4-4B52-8BE4-A1CBC3F2794D}"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R3–R7 pathway was identified as carrying most of the gap, and both rules are sensible. State what the audit established and what it explicitly did not, and say whose decision the remainder is.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313822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3183940"/>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established </a:t>
            </a:r>
            <a:r>
              <a:rPr sz="2200" b="0" i="1">
                <a:solidFill>
                  <a:srgbClr val="1C252B"/>
                </a:solidFill>
                <a:latin typeface="Segoe UI"/>
              </a:rPr>
              <a:t>what</a:t>
            </a:r>
            <a:r>
              <a:rPr sz="2200" b="0" i="0">
                <a:solidFill>
                  <a:srgbClr val="1C252B"/>
                </a:solidFill>
                <a:latin typeface="Segoe UI"/>
              </a:rPr>
              <a:t> produced the gap — a difference in documentation practice being read by the rules as a difference in operational need — and that no rule is individually wrong. It explicitly did not establish whether the gap is acceptable. If the first team really does need fewer escalations because its runbooks work, the gap is the system functioning correctly; if the second team is being under-served because nobody has written its runbooks, it is not. That is a management decision, and the audit’s contribution is to put it in front of somebody who can make it, with evidence attached, instead of leaving it to be made silently two hundred times a week.</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  answers in Appendix D     </a:t>
            </a:r>
            <a:fld id="{93F16311-83C9-48BE-98CA-5ABA162E59CE}" type="slidenum">
              <a:rPr lang="en-GB" sz="1000">
                <a:solidFill>
                  <a:srgbClr val="8795A1"/>
                </a:solidFill>
                <a:latin typeface="Segoe UI"/>
              </a:rPr>
              <a:t>48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8967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reviewer overrides the system’s recommendation in </a:t>
            </a:r>
            <a:r>
              <a:rPr sz="3400" b="0" i="0">
                <a:solidFill>
                  <a:srgbClr val="FFFFFF"/>
                </a:solidFill>
                <a:latin typeface="Cambria"/>
              </a:rPr>
              <a:t>0.5%</a:t>
            </a:r>
            <a:r>
              <a:rPr sz="3400" b="0" i="0">
                <a:solidFill>
                  <a:srgbClr val="FFFFFF"/>
                </a:solidFill>
                <a:latin typeface="Segoe UI Semibold"/>
              </a:rPr>
              <a:t> of cases and reports this as evidence the system is working well. Give the alternative explanation and the measurement that distinguishes them.</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21  ·  Responsible AI and Its Limits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227  ·  answers in Appendix D     </a:t>
            </a:r>
            <a:fld id="{E170B2C2-762C-4E09-992A-BFA88DFF3D92}" type="slidenum">
              <a:rPr lang="en-GB" sz="1000">
                <a:solidFill>
                  <a:srgbClr val="D5DEE5"/>
                </a:solidFill>
                <a:latin typeface="Segoe UI"/>
              </a:rPr>
              <a:t>49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reviewer overrides the system’s recommendation in </a:t>
            </a:r>
            <a:r>
              <a:rPr sz="2400" b="0" i="0">
                <a:solidFill>
                  <a:srgbClr val="1A5276"/>
                </a:solidFill>
                <a:latin typeface="Cambria"/>
              </a:rPr>
              <a:t>0.5%</a:t>
            </a:r>
            <a:r>
              <a:rPr sz="2400" b="0" i="0">
                <a:solidFill>
                  <a:srgbClr val="1A5276"/>
                </a:solidFill>
                <a:latin typeface="Segoe UI Semibold"/>
              </a:rPr>
              <a:t> of cases and reports this as evidence the system is working well. Give the alternative explanation and the measurement that distinguishes them.</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alternative explanation is </a:t>
            </a:r>
            <a:r>
              <a:rPr sz="2200" b="1" i="0">
                <a:solidFill>
                  <a:srgbClr val="1A5276"/>
                </a:solidFill>
                <a:latin typeface="Segoe UI"/>
              </a:rPr>
              <a:t>automation bias</a:t>
            </a:r>
            <a:r>
              <a:rPr sz="2200" b="0" i="0">
                <a:solidFill>
                  <a:srgbClr val="1C252B"/>
                </a:solidFill>
                <a:latin typeface="Segoe UI"/>
              </a:rPr>
              <a:t>: the reviewer has stopped reviewing and is deferring to the system, which produces a near-zero override rate whether the system is right or not. The measurement that distinguishes them is to sample decisions for genuine independent review — have a second person decide without seeing the recommendation — and compare. If the independent decisions disagree materially more often than the override rate suggests, the low rate was deference rather than agreement.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  answers in Appendix D     </a:t>
            </a:r>
            <a:fld id="{D3C0D628-13AC-48E6-A5BD-BA12C148CE17}" type="slidenum">
              <a:rPr lang="en-GB" sz="1000">
                <a:solidFill>
                  <a:srgbClr val="8795A1"/>
                </a:solidFill>
                <a:latin typeface="Segoe UI"/>
              </a:rPr>
              <a:t>50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1008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59820B22-A805-4DC1-AA76-8C50381FE7A0}" type="slidenum">
              <a:rPr lang="en-GB" sz="1000">
                <a:solidFill>
                  <a:srgbClr val="8795A1"/>
                </a:solidFill>
                <a:latin typeface="Segoe UI"/>
              </a:rPr>
              <a:t>51</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Bias enters through </a:t>
            </a:r>
            <a:r>
              <a:rPr sz="1700" b="1" i="0">
                <a:solidFill>
                  <a:srgbClr val="1A5276"/>
                </a:solidFill>
                <a:latin typeface="Segoe UI"/>
              </a:rPr>
              <a:t>proxy variables</a:t>
            </a:r>
            <a:r>
              <a:rPr sz="1700" b="0" i="0">
                <a:solidFill>
                  <a:srgbClr val="1C252B"/>
                </a:solidFill>
                <a:latin typeface="Segoe UI"/>
              </a:rPr>
              <a:t>, uneven inputs, rule </a:t>
            </a:r>
            <a:r>
              <a:rPr sz="1700" b="1" i="0">
                <a:solidFill>
                  <a:srgbClr val="1A5276"/>
                </a:solidFill>
                <a:latin typeface="Segoe UI"/>
              </a:rPr>
              <a:t>interactions</a:t>
            </a:r>
            <a:r>
              <a:rPr sz="1700" b="0" i="0">
                <a:solidFill>
                  <a:srgbClr val="1C252B"/>
                </a:solidFill>
                <a:latin typeface="Segoe UI"/>
              </a:rPr>
              <a:t> and the choice of </a:t>
            </a:r>
            <a:r>
              <a:rPr sz="1700" b="1" i="0">
                <a:solidFill>
                  <a:srgbClr val="1A5276"/>
                </a:solidFill>
                <a:latin typeface="Segoe UI"/>
              </a:rPr>
              <a:t>measure</a:t>
            </a:r>
            <a:r>
              <a:rPr sz="1700" b="0" i="0">
                <a:solidFill>
                  <a:srgbClr val="1C252B"/>
                </a:solidFill>
                <a:latin typeface="Segoe UI"/>
              </a:rPr>
              <a:t>. None requires intent, and none is visible by reading the rules.</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Segoe UI"/>
              </a:rPr>
              <a:t>Fairness through unawareness fails.</a:t>
            </a:r>
            <a:r>
              <a:rPr sz="1700" b="0" i="0">
                <a:solidFill>
                  <a:srgbClr val="1C252B"/>
                </a:solidFill>
                <a:latin typeface="Segoe UI"/>
              </a:rPr>
              <a:t> The escalation adviser never saw the team name and produced a </a:t>
            </a:r>
            <a:r>
              <a:rPr sz="1700" b="0" i="0">
                <a:solidFill>
                  <a:srgbClr val="1C252B"/>
                </a:solidFill>
                <a:latin typeface="Cambria"/>
              </a:rPr>
              <a:t>22</a:t>
            </a:r>
            <a:r>
              <a:rPr sz="1700" b="0" i="0">
                <a:solidFill>
                  <a:srgbClr val="1C252B"/>
                </a:solidFill>
                <a:latin typeface="Segoe UI"/>
              </a:rPr>
              <a:t>-point gap, because </a:t>
            </a:r>
            <a:r>
              <a:rPr sz="1600" b="0" i="0">
                <a:solidFill>
                  <a:srgbClr val="1F4E79"/>
                </a:solidFill>
                <a:latin typeface="Consolas"/>
              </a:rPr>
              <a:t>workaround</a:t>
            </a:r>
            <a:r>
              <a:rPr sz="1700" b="0" i="0">
                <a:solidFill>
                  <a:srgbClr val="1C252B"/>
                </a:solidFill>
                <a:latin typeface="Segoe UI"/>
              </a:rPr>
              <a:t> is a proxy for having runbooks.</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t>
            </a:r>
            <a:r>
              <a:rPr sz="1700" b="1" i="0">
                <a:solidFill>
                  <a:srgbClr val="1A5276"/>
                </a:solidFill>
                <a:latin typeface="Segoe UI"/>
              </a:rPr>
              <a:t>audit</a:t>
            </a:r>
            <a:r>
              <a:rPr sz="1700" b="0" i="0">
                <a:solidFill>
                  <a:srgbClr val="1C252B"/>
                </a:solidFill>
                <a:latin typeface="Segoe UI"/>
              </a:rPr>
              <a:t> is three steps: measure outcomes by group, attribute the gap by </a:t>
            </a:r>
            <a:r>
              <a:rPr sz="1700" b="1" i="0">
                <a:solidFill>
                  <a:srgbClr val="1A5276"/>
                </a:solidFill>
                <a:latin typeface="Segoe UI"/>
              </a:rPr>
              <a:t>ablation</a:t>
            </a:r>
            <a:r>
              <a:rPr sz="1700" b="0" i="0">
                <a:solidFill>
                  <a:srgbClr val="1C252B"/>
                </a:solidFill>
                <a:latin typeface="Segoe UI"/>
              </a:rPr>
              <a:t>, and read the explanation chain for an affected case. Keep the sensitive attribute </a:t>
            </a:r>
            <a:r>
              <a:rPr sz="1700" b="0" i="1">
                <a:solidFill>
                  <a:srgbClr val="1C252B"/>
                </a:solidFill>
                <a:latin typeface="Segoe UI"/>
              </a:rPr>
              <a:t>for the audit</a:t>
            </a:r>
            <a:r>
              <a:rPr sz="1700" b="0" i="0">
                <a:solidFill>
                  <a:srgbClr val="1C252B"/>
                </a:solidFill>
                <a:latin typeface="Segoe UI"/>
              </a:rPr>
              <a:t> and never for the decision.</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107777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Ablation has a trap: the rule whose removal closes the gap completely was the one that produced the outcome at all, and equality by abolition is not fairness. </a:t>
            </a:r>
            <a:r>
              <a:rPr sz="1700" b="0" i="1">
                <a:solidFill>
                  <a:srgbClr val="1C252B"/>
                </a:solidFill>
                <a:latin typeface="Segoe UI"/>
              </a:rPr>
              <a:t>Report the overall rate beside the gap</a:t>
            </a:r>
            <a:r>
              <a:rPr sz="1700" b="0" i="0">
                <a:solidFill>
                  <a:srgbClr val="1C252B"/>
                </a:solidFill>
                <a:latin typeface="Segoe UI"/>
              </a:rPr>
              <a:t> and discard any ablation that collapses it — a specific instance of the general hazard of optimising a fairness metric instead of understanding a system.</a:t>
            </a:r>
          </a:p>
        </p:txBody>
      </p:sp>
      <p:sp>
        <p:nvSpPr>
          <p:cNvPr id="19" name="!!sb4">
            <a:extLst>
              <a:ext uri="{C183D7F6-B498-43B3-948B-1728B52AA6E4}">
                <adec:decorative xmlns:adec="http://schemas.microsoft.com/office/drawing/2017/decorative" val="1"/>
              </a:ext>
            </a:extLst>
          </p:cNvPr>
          <p:cNvSpPr/>
          <p:nvPr/>
        </p:nvSpPr>
        <p:spPr>
          <a:xfrm>
            <a:off x="658368" y="544189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49676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3275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t>
            </a:r>
            <a:r>
              <a:rPr sz="1700" b="1" i="0">
                <a:solidFill>
                  <a:srgbClr val="1A5276"/>
                </a:solidFill>
                <a:latin typeface="Segoe UI"/>
              </a:rPr>
              <a:t>explanation</a:t>
            </a:r>
            <a:r>
              <a:rPr sz="1700" b="0" i="0">
                <a:solidFill>
                  <a:srgbClr val="1C252B"/>
                </a:solidFill>
                <a:latin typeface="Segoe UI"/>
              </a:rPr>
              <a:t> is an accountability artefact: it makes a decision </a:t>
            </a:r>
            <a:r>
              <a:rPr sz="1700" b="1" i="0">
                <a:solidFill>
                  <a:srgbClr val="1A5276"/>
                </a:solidFill>
                <a:latin typeface="Segoe UI"/>
              </a:rPr>
              <a:t>contestable</a:t>
            </a:r>
            <a:r>
              <a:rPr sz="1700" b="0" i="0">
                <a:solidFill>
                  <a:srgbClr val="1C252B"/>
                </a:solidFill>
                <a:latin typeface="Segoe UI"/>
              </a:rPr>
              <a:t> on a specific step and correctable by editing one rule. Those are properties the affected person needs.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72028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057B24B9-606D-413E-B51E-93C9698FC0AE}" type="slidenum">
              <a:rPr lang="en-GB" sz="1000">
                <a:solidFill>
                  <a:srgbClr val="8795A1"/>
                </a:solidFill>
                <a:latin typeface="Segoe UI"/>
              </a:rPr>
              <a:t>52</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Automation bias</a:t>
            </a:r>
            <a:r>
              <a:rPr sz="1700" b="0" i="0">
                <a:solidFill>
                  <a:srgbClr val="1C252B"/>
                </a:solidFill>
                <a:latin typeface="Segoe UI"/>
              </a:rPr>
              <a:t> makes reviewers stop reviewing, most strongly where the system is most often right. A near-zero override rate is a warning, not a success.</a:t>
            </a:r>
          </a:p>
        </p:txBody>
      </p:sp>
      <p:sp>
        <p:nvSpPr>
          <p:cNvPr id="10" name="!!sb6">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459126"/>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Brittleness</a:t>
            </a:r>
            <a:r>
              <a:rPr sz="1700" b="0" i="0">
                <a:solidFill>
                  <a:srgbClr val="1C252B"/>
                </a:solidFill>
                <a:latin typeface="Segoe UI"/>
              </a:rPr>
              <a:t> is being wrong with undiminished confidence just outside the region of competence, with no signal. A rule base cannot degrade gracefully — but it </a:t>
            </a:r>
            <a:r>
              <a:rPr sz="1700" b="0" i="1">
                <a:solidFill>
                  <a:srgbClr val="1C252B"/>
                </a:solidFill>
                <a:latin typeface="Segoe UI"/>
              </a:rPr>
              <a:t>can</a:t>
            </a:r>
            <a:r>
              <a:rPr sz="1700" b="0" i="0">
                <a:solidFill>
                  <a:srgbClr val="1C252B"/>
                </a:solidFill>
                <a:latin typeface="Segoe UI"/>
              </a:rPr>
              <a:t> enumerate the situations it does not cover and say so, which is a real and underused capability.</a:t>
            </a:r>
          </a:p>
        </p:txBody>
      </p:sp>
      <p:sp>
        <p:nvSpPr>
          <p:cNvPr id="13" name="!!sb7">
            <a:extLst>
              <a:ext uri="{C183D7F6-B498-43B3-948B-1728B52AA6E4}">
                <adec:decorative xmlns:adec="http://schemas.microsoft.com/office/drawing/2017/decorative" val="1"/>
              </a:ext>
            </a:extLst>
          </p:cNvPr>
          <p:cNvSpPr/>
          <p:nvPr/>
        </p:nvSpPr>
        <p:spPr>
          <a:xfrm>
            <a:off x="658368" y="34594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7"/>
          <p:cNvSpPr txBox="1"/>
          <p:nvPr/>
        </p:nvSpPr>
        <p:spPr>
          <a:xfrm>
            <a:off x="658368" y="35143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8</a:t>
            </a:r>
          </a:p>
        </p:txBody>
      </p:sp>
      <p:sp>
        <p:nvSpPr>
          <p:cNvPr id="15" name="!!st7"/>
          <p:cNvSpPr txBox="1"/>
          <p:nvPr/>
        </p:nvSpPr>
        <p:spPr>
          <a:xfrm>
            <a:off x="1298448" y="3450335"/>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Every method in Parts II to V is exponential, NP-hard or undecidable. Structure — heuristics, propagation, pruning, conditional independence — is the only answer; hardware buys three or four levels of depth and stops.</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93048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8B9417A9-16B9-43CF-880C-F475F29DDC6A}" type="slidenum">
              <a:rPr lang="en-GB" sz="1000">
                <a:solidFill>
                  <a:srgbClr val="8795A1"/>
                </a:solidFill>
                <a:latin typeface="Segoe UI"/>
              </a:rPr>
              <a:t>53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Fairness through unawareness fails because of: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measurement error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proxy variables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automation bias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intractability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4068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D0CFD246-1A82-4B4D-9790-508CEB99412B}" type="slidenum">
              <a:rPr lang="en-GB" sz="1000">
                <a:solidFill>
                  <a:srgbClr val="8795A1"/>
                </a:solidFill>
                <a:latin typeface="Segoe UI"/>
              </a:rPr>
              <a:t>54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Ablation, in an audit, means: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deleting sensitive attributes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removing one rule at a time and re-measuring</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retraining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sampling for review</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5088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A093DE49-5665-4EAF-BDFE-CF109061623C}" type="slidenum">
              <a:rPr lang="en-GB" sz="1000">
                <a:solidFill>
                  <a:srgbClr val="8795A1"/>
                </a:solidFill>
                <a:latin typeface="Segoe UI"/>
              </a:rPr>
              <a:t>55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near-zero override rate on a decision-support system is best read as: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system is accurate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possible sign of automation bias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evidence of good explanations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sign of brittleness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6109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B73246CC-6E31-48DF-885E-EDB248499BB9}" type="slidenum">
              <a:rPr lang="en-GB" sz="1000">
                <a:solidFill>
                  <a:srgbClr val="8795A1"/>
                </a:solidFill>
                <a:latin typeface="Segoe UI"/>
              </a:rPr>
              <a:t>56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Brittleness means: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being wrong sometimes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being wrong with full confidence just outside the region of competence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failing to terminate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degrading smoothly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7129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21  ·  Responsible AI and Its Limits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227     </a:t>
            </a:r>
            <a:fld id="{0ABE1325-973F-45A1-BED1-0A151C86B0AF}" type="slidenum">
              <a:rPr lang="en-GB" sz="1000">
                <a:solidFill>
                  <a:srgbClr val="8795A1"/>
                </a:solidFill>
                <a:latin typeface="Segoe UI"/>
              </a:rPr>
              <a:t>57</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an explanation is an accountability property rather than a convenience, using the contestability of a specific step.</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audit found the gap and did not say what to do. Argue that this is the right division of labour.</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the one thing a rule base can do about its competence boundary that a learned model cannot, and say what it costs to do.</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Design an audit for a system that ranks job applications. State the groups you would measure, the outcome you would count, how you would attribute a gap to a component, and what you would present to the person who has to decide what to do about it.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8149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21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22 — The Artificial Intelligence Project</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21, pages 217–227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tool-using agent, offline; auditing the escalation rules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report and presentation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21  ·  Responsible AI and Its Limits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00E1E6B7-A50B-4DDE-8B14-E8E918F23646}" type="slidenum">
              <a:rPr lang="en-GB" sz="1000">
                <a:solidFill>
                  <a:srgbClr val="D5DEE5"/>
                </a:solidFill>
                <a:latin typeface="Segoe UI"/>
              </a:rPr>
              <a:t>58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21: Responsible AI and Its Limits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