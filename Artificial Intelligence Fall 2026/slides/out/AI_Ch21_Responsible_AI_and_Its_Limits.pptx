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747525C-7D7E-4428-BD7A-E1667010A0D2}">
          <p14:sldIdLst>
            <p14:sldId id="256"/>
            <p14:sldId id="257"/>
            <p14:sldId id="258"/>
            <p14:sldId id="259"/>
            <p14:sldId id="260"/>
          </p14:sldIdLst>
        </p14:section>
        <p14:section name="21.5 Computational Limits" id="{7F9CB6A5-BD75-4BC4-AFF7-CE624E8CE957}">
          <p14:sldIdLst>
            <p14:sldId id="261"/>
          </p14:sldIdLst>
        </p14:section>
        <p14:section name="Checkpoint" id="{2B5F6478-1133-4A4F-A13C-C9B5C4B3DD68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Wrap-up" id="{880886D5-E7C6-420C-9073-21E72C554D6C}">
          <p14:sldIdLst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21: Responsible AI and Its Limits. Part 6 — Learning, Language and Responsible AI. Week 16: Recent trends; responsible AI and its limits. Handout pages 127–128.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13 (the rule engine that is audited here) and Chapter 4 (the branching factor that sets the computational limit).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bias; differential treatment; audit; explainability; accountability; transparency; brittleness; graceful degradation; intractability; automation bias; the limits of competence.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22 — The Artificial Intelligence Project. READ: Handout Chapter 21, pages 127–128. THIS WEEK'S LAB: A tool-using agent, offline; auditing the escalation rules. ASSESSMENT: Project report and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7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9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5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7E6B1F"/>
                </a:solidFill>
                <a:latin typeface="Segoe UI Black"/>
              </a:rPr>
              <a:t>21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Responsible AI and Its Limits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7D1B9"/>
                </a:solidFill>
                <a:latin typeface="Segoe UI"/>
              </a:rPr>
              <a:t>PART VI  ·  LEARNING, LANGUAGE AND RESPONSIBLE AI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7D1B9"/>
                </a:solidFill>
                <a:latin typeface="Segoe UI"/>
              </a:rPr>
              <a:t>CHAPTER 21  ·  WEEK 16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2DECD"/>
                </a:solidFill>
                <a:latin typeface="Segoe UI"/>
              </a:rPr>
              <a:t>Artificial Intelligence — Search, Knowledge and Reasoning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5142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BDB7A0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ECAB9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DB7A0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21  ·  Responsible AI and Its Limits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127     </a:t>
            </a:r>
            <a:fld id="{A30A1B00-7729-4B20-A920-1BEA5E4D93A6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2801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01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37830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30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5285938" y="1755648"/>
            <a:ext cx="158324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5938" y="2029967"/>
            <a:ext cx="158324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7198364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98364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8701264" y="1755648"/>
            <a:ext cx="271319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705B06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01264" y="2029967"/>
            <a:ext cx="2713191" cy="45720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741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2597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6937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354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36464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4502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0310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22288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9837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6383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936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30479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3210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7317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32736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41412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2263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5508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610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523466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35636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6441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5162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60537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468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46324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8535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714709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8062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5566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57588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796614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41435" y="2258568"/>
            <a:ext cx="274320" cy="274320"/>
          </a:xfrm>
          <a:prstGeom prst="ellipse">
            <a:avLst/>
          </a:prstGeom>
          <a:solidFill>
            <a:srgbClr val="C2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64999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50961" y="2258568"/>
            <a:ext cx="274320" cy="274320"/>
          </a:xfrm>
          <a:prstGeom prst="ellipse">
            <a:avLst/>
          </a:prstGeom>
          <a:solidFill>
            <a:srgbClr val="C2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905952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60488" y="2258568"/>
            <a:ext cx="274320" cy="274320"/>
          </a:xfrm>
          <a:prstGeom prst="ellipse">
            <a:avLst/>
          </a:prstGeom>
          <a:solidFill>
            <a:srgbClr val="C2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46904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70014" y="2258568"/>
            <a:ext cx="274320" cy="274320"/>
          </a:xfrm>
          <a:prstGeom prst="ellipse">
            <a:avLst/>
          </a:prstGeom>
          <a:solidFill>
            <a:srgbClr val="C2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987857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88685" y="2112264"/>
            <a:ext cx="566928" cy="566928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388685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996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10085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label"/>
          <p:cNvSpPr txBox="1"/>
          <p:nvPr/>
        </p:nvSpPr>
        <p:spPr>
          <a:xfrm>
            <a:off x="5681167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05B06"/>
                </a:solidFill>
                <a:latin typeface="Segoe UI"/>
              </a:rPr>
              <a:t>Responsible AI and Its Limits</a:t>
            </a:r>
          </a:p>
        </p:txBody>
      </p:sp>
      <p:sp>
        <p:nvSpPr>
          <p:cNvPr id="64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5" name="!!chipBU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9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!!chipbBU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!!chiptBU4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6794"/>
                </a:solidFill>
                <a:latin typeface="Segoe UI"/>
              </a:rPr>
              <a:t>Ch 4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Problem Formulation and Uninformed Search</a:t>
            </a:r>
          </a:p>
        </p:txBody>
      </p:sp>
      <p:sp>
        <p:nvSpPr>
          <p:cNvPr id="68" name="!!chipBU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bBU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!!chiptBU13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Rule-Based Expert Systems</a:t>
            </a:r>
          </a:p>
        </p:txBody>
      </p:sp>
      <p:sp>
        <p:nvSpPr>
          <p:cNvPr id="71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2" name="!!chipUS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!!chipbUS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!!chiptUS22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22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The Artificial Intelligence Project</a:t>
            </a:r>
          </a:p>
        </p:txBody>
      </p:sp>
      <p:sp>
        <p:nvSpPr>
          <p:cNvPr id="7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25559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21  ·  Responsible AI and Its Limits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127     </a:t>
            </a:r>
            <a:fld id="{40F49358-5158-4D04-873A-CE4C4F30DA24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63140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Identify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points at which bias enters a rule-based system.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825496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288493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2866644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Audit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deployed rule set for differential treatment,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present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evidence.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429000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488436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470148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Argue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why an explanation is an accountability artefact rather than a convenience.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32504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09194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023360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State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computational limits of the methods in this book,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recognise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brittleness at the edge of competence.</a:t>
            </a:r>
          </a:p>
        </p:txBody>
      </p:sp>
      <p:sp>
        <p:nvSpPr>
          <p:cNvPr id="4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21  ·  Responsible AI and Its Limits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127     </a:t>
            </a:r>
            <a:fld id="{35A1864D-44D4-4795-BAC2-D2C42083D4E8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bia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82715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bia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bias"/>
          <p:cNvSpPr txBox="1"/>
          <p:nvPr/>
        </p:nvSpPr>
        <p:spPr>
          <a:xfrm>
            <a:off x="950976" y="1955291"/>
            <a:ext cx="64427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bias</a:t>
            </a:r>
          </a:p>
        </p:txBody>
      </p:sp>
      <p:sp>
        <p:nvSpPr>
          <p:cNvPr id="10" name="!!term-differential 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31828" y="1847088"/>
            <a:ext cx="250226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differential 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5984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differential t"/>
          <p:cNvSpPr txBox="1"/>
          <p:nvPr/>
        </p:nvSpPr>
        <p:spPr>
          <a:xfrm>
            <a:off x="1924436" y="1955291"/>
            <a:ext cx="231938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differential treatment</a:t>
            </a:r>
          </a:p>
        </p:txBody>
      </p:sp>
      <p:sp>
        <p:nvSpPr>
          <p:cNvPr id="13" name="!!term-audi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0397" y="1847088"/>
            <a:ext cx="93330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audi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08413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audit"/>
          <p:cNvSpPr txBox="1"/>
          <p:nvPr/>
        </p:nvSpPr>
        <p:spPr>
          <a:xfrm>
            <a:off x="4573005" y="1955291"/>
            <a:ext cx="75042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audit</a:t>
            </a:r>
          </a:p>
        </p:txBody>
      </p:sp>
      <p:sp>
        <p:nvSpPr>
          <p:cNvPr id="16" name="!!term-explainabil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0002" y="1847088"/>
            <a:ext cx="171067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explainabil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8018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explainability"/>
          <p:cNvSpPr txBox="1"/>
          <p:nvPr/>
        </p:nvSpPr>
        <p:spPr>
          <a:xfrm>
            <a:off x="5652610" y="1955291"/>
            <a:ext cx="152779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explainability</a:t>
            </a:r>
          </a:p>
        </p:txBody>
      </p:sp>
      <p:sp>
        <p:nvSpPr>
          <p:cNvPr id="19" name="!!term-accountabil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16977" y="1847088"/>
            <a:ext cx="179016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accountabil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44993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accountability"/>
          <p:cNvSpPr txBox="1"/>
          <p:nvPr/>
        </p:nvSpPr>
        <p:spPr>
          <a:xfrm>
            <a:off x="7509585" y="1955291"/>
            <a:ext cx="160728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accountability</a:t>
            </a:r>
          </a:p>
        </p:txBody>
      </p:sp>
      <p:sp>
        <p:nvSpPr>
          <p:cNvPr id="22" name="!!term-transparenc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53451" y="1847088"/>
            <a:ext cx="168657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transparenc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81467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transparency"/>
          <p:cNvSpPr txBox="1"/>
          <p:nvPr/>
        </p:nvSpPr>
        <p:spPr>
          <a:xfrm>
            <a:off x="9446059" y="1955291"/>
            <a:ext cx="150369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transparency</a:t>
            </a:r>
          </a:p>
        </p:txBody>
      </p:sp>
      <p:sp>
        <p:nvSpPr>
          <p:cNvPr id="25" name="!!term-brittlenes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144266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brittlenes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brittleness"/>
          <p:cNvSpPr txBox="1"/>
          <p:nvPr/>
        </p:nvSpPr>
        <p:spPr>
          <a:xfrm>
            <a:off x="950976" y="2577084"/>
            <a:ext cx="125978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brittleness</a:t>
            </a:r>
          </a:p>
        </p:txBody>
      </p:sp>
      <p:sp>
        <p:nvSpPr>
          <p:cNvPr id="28" name="!!term-graceful degr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47337" y="2468880"/>
            <a:ext cx="246822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graceful degr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5353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graceful degra"/>
          <p:cNvSpPr txBox="1"/>
          <p:nvPr/>
        </p:nvSpPr>
        <p:spPr>
          <a:xfrm>
            <a:off x="2539945" y="2577084"/>
            <a:ext cx="228534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graceful degradation</a:t>
            </a:r>
          </a:p>
        </p:txBody>
      </p:sp>
      <p:sp>
        <p:nvSpPr>
          <p:cNvPr id="31" name="!!term-intractabil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61862" y="2468880"/>
            <a:ext cx="163932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intractabil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89878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intractability"/>
          <p:cNvSpPr txBox="1"/>
          <p:nvPr/>
        </p:nvSpPr>
        <p:spPr>
          <a:xfrm>
            <a:off x="5154470" y="2577084"/>
            <a:ext cx="145644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intractability</a:t>
            </a:r>
          </a:p>
        </p:txBody>
      </p:sp>
      <p:sp>
        <p:nvSpPr>
          <p:cNvPr id="34" name="!!term-automation b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7486" y="2468880"/>
            <a:ext cx="201124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automation b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75502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automation bia"/>
          <p:cNvSpPr txBox="1"/>
          <p:nvPr/>
        </p:nvSpPr>
        <p:spPr>
          <a:xfrm>
            <a:off x="6940094" y="2577084"/>
            <a:ext cx="182836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automation bias</a:t>
            </a:r>
          </a:p>
        </p:txBody>
      </p:sp>
      <p:sp>
        <p:nvSpPr>
          <p:cNvPr id="37" name="!!term-the limits of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0672"/>
            <a:ext cx="284624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the limits of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the limits of "/>
          <p:cNvSpPr txBox="1"/>
          <p:nvPr/>
        </p:nvSpPr>
        <p:spPr>
          <a:xfrm>
            <a:off x="950976" y="3198876"/>
            <a:ext cx="266336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the limits of competence</a:t>
            </a:r>
          </a:p>
        </p:txBody>
      </p:sp>
      <p:sp>
        <p:nvSpPr>
          <p:cNvPr id="40" name="!!termnote"/>
          <p:cNvSpPr txBox="1"/>
          <p:nvPr/>
        </p:nvSpPr>
        <p:spPr>
          <a:xfrm>
            <a:off x="658368" y="391363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4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51118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21  ·  Responsible AI and Its Limits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127–128     </a:t>
            </a:r>
            <a:fld id="{13335B8C-C894-44BF-899C-2E081E660282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21.1 Where Bias Enters a Rule Base"/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21.1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Where Bias Enters a Rule Base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127  ›</a:t>
            </a:r>
          </a:p>
        </p:txBody>
      </p:sp>
      <p:sp>
        <p:nvSpPr>
          <p:cNvPr id="12" name="!!ag1" descr="Go to section 21.2 Auditing a Deployed Rule Set"/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21.2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Auditing a Deployed Rule Set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127  ›</a:t>
            </a:r>
          </a:p>
        </p:txBody>
      </p:sp>
      <p:sp>
        <p:nvSpPr>
          <p:cNvPr id="17" name="!!ag2" descr="Go to section 21.3 Explanation as Accountability"/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21.3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Explanation as Accountability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127  ›</a:t>
            </a:r>
          </a:p>
        </p:txBody>
      </p:sp>
      <p:sp>
        <p:nvSpPr>
          <p:cNvPr id="22" name="!!ag3" descr="Go to section 21.4 Brittleness and the Edge of Competence"/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21.4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Brittleness and the Edge of Competence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127  ›</a:t>
            </a:r>
          </a:p>
        </p:txBody>
      </p:sp>
      <p:sp>
        <p:nvSpPr>
          <p:cNvPr id="27" name="!!ag4" descr="Go to section 21.5 Computational Limits">
            <a:hlinkClick action="ppaction://hlinksldjump" r:id="rId5"/>
          </p:cNvPr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21.5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Computational Limits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127  ›</a:t>
            </a:r>
          </a:p>
        </p:txBody>
      </p:sp>
      <p:sp>
        <p:nvSpPr>
          <p:cNvPr id="3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Chapter in preparation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21  ·  Responsible AI and Its Limits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§21.5  ·  Handout p. 127     </a:t>
            </a:r>
            <a:fld id="{6BBE0098-D174-40AE-9826-57C2AF9D0282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full text of this chapter — prose, figures, worked example, laboratory and review questions — is being written. The outcomes, prerequisites, key terms and section structure above are settled and match the Course Specification and Appendix G.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76678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21  ·  Responsible AI and Its Limits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128  ·  answers in Appendix D     </a:t>
            </a:r>
            <a:fld id="{512D4196-03E5-42EC-88AB-DE05C9C373C5}" type="slidenum">
              <a:rPr lang="en-GB" sz="1000">
                <a:solidFill>
                  <a:srgbClr val="D5DEE5"/>
                </a:solidFill>
                <a:latin typeface="Segoe UI"/>
              </a:rPr>
              <a:t>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21  ·  Responsible AI and Its Limits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·  answers in Appendix D     </a:t>
            </a:r>
            <a:fld id="{1813D0A9-F57C-4A97-8026-8C9D088FC5FC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502237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21  ·  Responsible AI and Its Limits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128  ·  answers in Appendix D     </a:t>
            </a:r>
            <a:fld id="{4FE7C353-C444-405C-9092-819697FEB115}" type="slidenum">
              <a:rPr lang="en-GB" sz="1000">
                <a:solidFill>
                  <a:srgbClr val="D5DEE5"/>
                </a:solidFill>
                <a:latin typeface="Segoe UI"/>
              </a:rPr>
              <a:t>9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21  ·  Responsible AI and Its Limits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·  answers in Appendix D     </a:t>
            </a:r>
            <a:fld id="{F3C13E3D-3234-4188-BE15-33C7A181FA97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6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21  ·  Responsible AI and Its Limits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128  ·  answers in Appendix D     </a:t>
            </a:r>
            <a:fld id="{9082905F-1A99-4A0E-A0D2-D8EB064AC4E2}" type="slidenum">
              <a:rPr lang="en-GB" sz="1000">
                <a:solidFill>
                  <a:srgbClr val="D5DEE5"/>
                </a:solidFill>
                <a:latin typeface="Segoe UI"/>
              </a:rPr>
              <a:t>11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21  ·  Responsible AI and Its Limits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·  answers in Appendix D     </a:t>
            </a:r>
            <a:fld id="{8DAC723D-0A22-494D-A5EB-C71BEB4AA26C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753356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21  ·  Responsible AI and Its Limits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17740D2C-BC75-40FB-AEC0-F688D2C6F693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Where Bias Enters a Rule Base.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317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38658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322576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Auditing a Deployed Rule Set.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9169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29718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2907792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Explanation as Accountability.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021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55701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493008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Brittleness and the Edge of Competence.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873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14223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078224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Computational Limits.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56613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21  ·  Responsible AI and Its Limits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D037B90C-F289-44AC-B9CE-B08E5F754CF3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7624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31739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257958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7891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5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7B681A"/>
                </a:solidFill>
                <a:latin typeface="Segoe UI Black"/>
              </a:rPr>
              <a:t>21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21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22 — The Artificial Intelligence Project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21, pages 127–128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A tool-using agent, offline; auditing the escalation rules</a:t>
            </a:r>
          </a:p>
        </p:txBody>
      </p:sp>
      <p:sp>
        <p:nvSpPr>
          <p:cNvPr id="14" name="!!c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cll3"/>
          <p:cNvSpPr txBox="1"/>
          <p:nvPr/>
        </p:nvSpPr>
        <p:spPr>
          <a:xfrm>
            <a:off x="6507327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ASSESSMENT</a:t>
            </a:r>
          </a:p>
        </p:txBody>
      </p:sp>
      <p:sp>
        <p:nvSpPr>
          <p:cNvPr id="16" name="!!clv3"/>
          <p:cNvSpPr txBox="1"/>
          <p:nvPr/>
        </p:nvSpPr>
        <p:spPr>
          <a:xfrm>
            <a:off x="6507327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Project report and presentation</a:t>
            </a:r>
          </a:p>
        </p:txBody>
      </p:sp>
      <p:sp>
        <p:nvSpPr>
          <p:cNvPr id="1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21  ·  Responsible AI and Its Limits</a:t>
            </a:r>
          </a:p>
        </p:txBody>
      </p:sp>
      <p:sp>
        <p:nvSpPr>
          <p:cNvPr id="1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183B6445-E598-4813-9662-CC1DB4D5BCF1}" type="slidenum">
              <a:rPr lang="en-GB" sz="1000">
                <a:solidFill>
                  <a:srgbClr val="D5DEE5"/>
                </a:solidFill>
                <a:latin typeface="Segoe UI"/>
              </a:rPr>
              <a:t>15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tificial Intelligence Fall 2026">
  <a:themeElements>
    <a:clrScheme name="Artificial Intelligence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rtificial Intelligence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21: Responsible AI and Its Limits</dc:title>
  <dc:subject>Artificial Intelligence — Search, Knowledge and Reasoning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