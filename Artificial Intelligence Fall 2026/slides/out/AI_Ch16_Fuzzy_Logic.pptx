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B95AFF8-CA9B-4FB7-BE51-50CF88BCC122}">
          <p14:sldIdLst>
            <p14:sldId id="256"/>
            <p14:sldId id="257"/>
            <p14:sldId id="258"/>
            <p14:sldId id="259"/>
            <p14:sldId id="260"/>
          </p14:sldIdLst>
        </p14:section>
        <p14:section name="16.5 Defuzzification" id="{4EB5EF64-EB47-4B9F-94F9-672C542BFCFF}">
          <p14:sldIdLst>
            <p14:sldId id="261"/>
          </p14:sldIdLst>
        </p14:section>
        <p14:section name="Checkpoint" id="{82980365-FFC1-4BB8-8545-2E5F9ABE6DB4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rap-up" id="{3CA9342C-1D1A-4269-92B1-2988A5F20EEF}">
          <p14:sldIdLst>
            <p14:sldId id="268"/>
            <p14:sldId id="269"/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16: Fuzzy Logic. Part 5 — Reasoning Under Uncertainty. Week 14: Fuzzy logic; learning from examples. Handout pages 115–118.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 the chapter. Before you start: Chapter 14 (degree of belief — which is not what a membership degree 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out: they are the chapter's contract with the room. Each click adds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now; they arrive one at a time. This slide is for the students' notes. Terms: vagueness; fuzzy set; membership function; degree of membership; fuzzy operators; linguistic variable; fuzzification; Mamdani inference; aggregation; defuzzification; centroid.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route through the chapter. Each row is a link: click it to jump to that section in the slide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To be written with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To be written with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To be written with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to say each takeaway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these for independent study. Model answers are not printed in the handout.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NEXT: Chapter 17 — Learning from Examples. READ: Handout Chapter 16, pages 115–118. THIS WEEK'S LAB: Risk rating by Mamdani inference; the perceptron and its limit. ASSESSMENT: Project experiments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000" kern="1200" b="0">
          <a:solidFill>
            <a:srgbClr val="1A5276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notesSlide" Target="../notesSlides/notesSlide5.xml"/><Relationship Id="rId5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7.sv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image" Target="../media/image18.sv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9.sv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image" Target="../media/image20.sv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Relationship Id="rId3" Type="http://schemas.openxmlformats.org/officeDocument/2006/relationships/image" Target="../media/image24.sv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7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288674"/>
                </a:solidFill>
                <a:latin typeface="Segoe UI Black"/>
              </a:rPr>
              <a:t>16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2304288"/>
            <a:ext cx="8503920" cy="192024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600" b="0">
                <a:solidFill>
                  <a:srgbClr val="FFFFFF"/>
                </a:solidFill>
                <a:latin typeface="Segoe UI Semibold"/>
              </a:rPr>
              <a:t>Fuzzy Logic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29844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tpart"/>
          <p:cNvSpPr txBox="1"/>
          <p:nvPr/>
        </p:nvSpPr>
        <p:spPr>
          <a:xfrm>
            <a:off x="658368" y="151790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BCD9D4"/>
                </a:solidFill>
                <a:latin typeface="Segoe UI"/>
              </a:rPr>
              <a:t>PART V  ·  REASONING UNDER UNCERTAINTY</a:t>
            </a:r>
          </a:p>
        </p:txBody>
      </p:sp>
      <p:sp>
        <p:nvSpPr>
          <p:cNvPr id="6" name="!!tch"/>
          <p:cNvSpPr txBox="1"/>
          <p:nvPr/>
        </p:nvSpPr>
        <p:spPr>
          <a:xfrm>
            <a:off x="658368" y="186537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BCD9D4"/>
                </a:solidFill>
                <a:latin typeface="Segoe UI"/>
              </a:rPr>
              <a:t>CHAPTER 16  ·  WEEK 14</a:t>
            </a:r>
          </a:p>
        </p:txBody>
      </p:sp>
      <p:sp>
        <p:nvSpPr>
          <p:cNvPr id="7" name="!!tsub"/>
          <p:cNvSpPr txBox="1"/>
          <p:nvPr/>
        </p:nvSpPr>
        <p:spPr>
          <a:xfrm>
            <a:off x="658368" y="4315968"/>
            <a:ext cx="85039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FE4E0"/>
                </a:solidFill>
                <a:latin typeface="Segoe UI"/>
              </a:rPr>
              <a:t>Artificial Intelligence — Search, Knowledge and Reasoning</a:t>
            </a:r>
          </a:p>
        </p:txBody>
      </p:sp>
      <p:sp>
        <p:nvSpPr>
          <p:cNvPr id="8" name="!!ba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285232"/>
            <a:ext cx="12191695" cy="1572767"/>
          </a:xfrm>
          <a:prstGeom prst="rect">
            <a:avLst/>
          </a:prstGeom>
          <a:solidFill>
            <a:srgbClr val="0C5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lab"/>
          <p:cNvSpPr txBox="1"/>
          <p:nvPr/>
        </p:nvSpPr>
        <p:spPr>
          <a:xfrm>
            <a:off x="658368" y="5541264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A3BFB9"/>
                </a:solidFill>
                <a:latin typeface="Segoe UI"/>
              </a:rPr>
              <a:t>LECTURER</a:t>
            </a:r>
          </a:p>
        </p:txBody>
      </p:sp>
      <p:sp>
        <p:nvSpPr>
          <p:cNvPr id="10" name="!!author"/>
          <p:cNvSpPr txBox="1"/>
          <p:nvPr/>
        </p:nvSpPr>
        <p:spPr>
          <a:xfrm>
            <a:off x="658368" y="577900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Dr. Mustafa Hameed</a:t>
            </a:r>
          </a:p>
        </p:txBody>
      </p:sp>
      <p:sp>
        <p:nvSpPr>
          <p:cNvPr id="11" name="!!dept"/>
          <p:cNvSpPr txBox="1"/>
          <p:nvPr/>
        </p:nvSpPr>
        <p:spPr>
          <a:xfrm>
            <a:off x="658368" y="618134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BD0CC"/>
                </a:solidFill>
                <a:latin typeface="Segoe UI"/>
              </a:rPr>
              <a:t>Department of Information Technology  ·  BSIT · Fall 2026</a:t>
            </a:r>
          </a:p>
        </p:txBody>
      </p:sp>
      <p:sp>
        <p:nvSpPr>
          <p:cNvPr id="12" name="!!uni"/>
          <p:cNvSpPr txBox="1"/>
          <p:nvPr/>
        </p:nvSpPr>
        <p:spPr>
          <a:xfrm>
            <a:off x="5205818" y="568756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6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3" name="!!uni2"/>
          <p:cNvSpPr txBox="1"/>
          <p:nvPr/>
        </p:nvSpPr>
        <p:spPr>
          <a:xfrm>
            <a:off x="5205818" y="596188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3BFB9"/>
                </a:solidFill>
                <a:latin typeface="Segoe UI"/>
              </a:rPr>
              <a:t>Bahawalpur, Pakistan</a:t>
            </a:r>
          </a:p>
        </p:txBody>
      </p:sp>
      <p:pic>
        <p:nvPicPr>
          <p:cNvPr id="14" name="!!logo-iub-logo-white" descr="The Islamia University of Bahawalpu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3498" y="5486400"/>
            <a:ext cx="904084" cy="896112"/>
          </a:xfrm>
          <a:prstGeom prst="rect">
            <a:avLst/>
          </a:prstGeom>
        </p:spPr>
      </p:pic>
      <p:pic>
        <p:nvPicPr>
          <p:cNvPr id="15" name="!!logo-dit-logo" descr="Department of Information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614" y="5486400"/>
            <a:ext cx="869712" cy="8961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Where this chapter sits</a:t>
            </a:r>
          </a:p>
        </p:txBody>
      </p:sp>
      <p:pic>
        <p:nvPicPr>
          <p:cNvPr id="3" name="!!kicker-icon" descr="map-signs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THE COURSE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115     </a:t>
            </a:r>
            <a:fld id="{6F138533-744F-45C5-8083-1D59FF491A6B}" type="slidenum">
              <a:rPr lang="en-GB" sz="1000">
                <a:solidFill>
                  <a:srgbClr val="8795A1"/>
                </a:solidFill>
                <a:latin typeface="Segoe UI"/>
              </a:rPr>
              <a:t>2</a:t>
            </a:fld>
          </a:p>
        </p:txBody>
      </p:sp>
      <p:sp>
        <p:nvSpPr>
          <p:cNvPr id="7" name="!!rp1"/>
          <p:cNvSpPr txBox="1"/>
          <p:nvPr/>
        </p:nvSpPr>
        <p:spPr>
          <a:xfrm>
            <a:off x="777239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</a:t>
            </a:r>
          </a:p>
        </p:txBody>
      </p:sp>
      <p:sp>
        <p:nvSpPr>
          <p:cNvPr id="8" name="!!rp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39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rp2"/>
          <p:cNvSpPr txBox="1"/>
          <p:nvPr/>
        </p:nvSpPr>
        <p:spPr>
          <a:xfrm>
            <a:off x="2280139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</a:t>
            </a:r>
          </a:p>
        </p:txBody>
      </p:sp>
      <p:sp>
        <p:nvSpPr>
          <p:cNvPr id="10" name="!!rp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0139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p3"/>
          <p:cNvSpPr txBox="1"/>
          <p:nvPr/>
        </p:nvSpPr>
        <p:spPr>
          <a:xfrm>
            <a:off x="3783039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III</a:t>
            </a:r>
          </a:p>
        </p:txBody>
      </p:sp>
      <p:sp>
        <p:nvSpPr>
          <p:cNvPr id="12" name="!!rp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83039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rp4"/>
          <p:cNvSpPr txBox="1"/>
          <p:nvPr/>
        </p:nvSpPr>
        <p:spPr>
          <a:xfrm>
            <a:off x="5285938" y="1755648"/>
            <a:ext cx="1583242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IV</a:t>
            </a:r>
          </a:p>
        </p:txBody>
      </p:sp>
      <p:sp>
        <p:nvSpPr>
          <p:cNvPr id="14" name="!!rpl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85938" y="2029967"/>
            <a:ext cx="1583242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rp5"/>
          <p:cNvSpPr txBox="1"/>
          <p:nvPr/>
        </p:nvSpPr>
        <p:spPr>
          <a:xfrm>
            <a:off x="7198364" y="1755648"/>
            <a:ext cx="1329163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07964"/>
                </a:solidFill>
                <a:latin typeface="Segoe UI"/>
              </a:rPr>
              <a:t>PART V</a:t>
            </a:r>
          </a:p>
        </p:txBody>
      </p:sp>
      <p:sp>
        <p:nvSpPr>
          <p:cNvPr id="16" name="!!rpl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98364" y="2029967"/>
            <a:ext cx="1329163" cy="45720"/>
          </a:xfrm>
          <a:prstGeom prst="rect">
            <a:avLst/>
          </a:prstGeom>
          <a:solidFill>
            <a:srgbClr val="10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rp6"/>
          <p:cNvSpPr txBox="1"/>
          <p:nvPr/>
        </p:nvSpPr>
        <p:spPr>
          <a:xfrm>
            <a:off x="9012160" y="1755648"/>
            <a:ext cx="240229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VI</a:t>
            </a:r>
          </a:p>
        </p:txBody>
      </p:sp>
      <p:sp>
        <p:nvSpPr>
          <p:cNvPr id="18" name="!!rpl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12160" y="2029967"/>
            <a:ext cx="240229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411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dotn1"/>
          <p:cNvSpPr txBox="1"/>
          <p:nvPr/>
        </p:nvSpPr>
        <p:spPr>
          <a:xfrm>
            <a:off x="72597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1" name="!!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6937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dotn2"/>
          <p:cNvSpPr txBox="1"/>
          <p:nvPr/>
        </p:nvSpPr>
        <p:spPr>
          <a:xfrm>
            <a:off x="11354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3" name="!!dot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36464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dotn3"/>
          <p:cNvSpPr txBox="1"/>
          <p:nvPr/>
        </p:nvSpPr>
        <p:spPr>
          <a:xfrm>
            <a:off x="154502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!!dot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20310" y="2258568"/>
            <a:ext cx="274320" cy="274320"/>
          </a:xfrm>
          <a:prstGeom prst="ellipse">
            <a:avLst/>
          </a:prstGeom>
          <a:solidFill>
            <a:srgbClr val="4D9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dotn4"/>
          <p:cNvSpPr txBox="1"/>
          <p:nvPr/>
        </p:nvSpPr>
        <p:spPr>
          <a:xfrm>
            <a:off x="222887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7" name="!!dot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29837" y="2258568"/>
            <a:ext cx="274320" cy="274320"/>
          </a:xfrm>
          <a:prstGeom prst="ellipse">
            <a:avLst/>
          </a:prstGeom>
          <a:solidFill>
            <a:srgbClr val="4D9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dotn5"/>
          <p:cNvSpPr txBox="1"/>
          <p:nvPr/>
        </p:nvSpPr>
        <p:spPr>
          <a:xfrm>
            <a:off x="26383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9" name="!!dot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39363" y="2258568"/>
            <a:ext cx="274320" cy="274320"/>
          </a:xfrm>
          <a:prstGeom prst="ellipse">
            <a:avLst/>
          </a:prstGeom>
          <a:solidFill>
            <a:srgbClr val="4D9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dotn6"/>
          <p:cNvSpPr txBox="1"/>
          <p:nvPr/>
        </p:nvSpPr>
        <p:spPr>
          <a:xfrm>
            <a:off x="304792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!!dot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23210" y="2258568"/>
            <a:ext cx="274320" cy="274320"/>
          </a:xfrm>
          <a:prstGeom prst="ellipse">
            <a:avLst/>
          </a:prstGeom>
          <a:solidFill>
            <a:srgbClr val="47B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dotn7"/>
          <p:cNvSpPr txBox="1"/>
          <p:nvPr/>
        </p:nvSpPr>
        <p:spPr>
          <a:xfrm>
            <a:off x="373177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3" name="!!dot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32736" y="2258568"/>
            <a:ext cx="274320" cy="274320"/>
          </a:xfrm>
          <a:prstGeom prst="ellipse">
            <a:avLst/>
          </a:prstGeom>
          <a:solidFill>
            <a:srgbClr val="47B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!!dotn8"/>
          <p:cNvSpPr txBox="1"/>
          <p:nvPr/>
        </p:nvSpPr>
        <p:spPr>
          <a:xfrm>
            <a:off x="4141296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5" name="!!dot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42263" y="2258568"/>
            <a:ext cx="274320" cy="274320"/>
          </a:xfrm>
          <a:prstGeom prst="ellipse">
            <a:avLst/>
          </a:prstGeom>
          <a:solidFill>
            <a:srgbClr val="47B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dotn9"/>
          <p:cNvSpPr txBox="1"/>
          <p:nvPr/>
        </p:nvSpPr>
        <p:spPr>
          <a:xfrm>
            <a:off x="455082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37" name="!!dot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26109" y="2258568"/>
            <a:ext cx="274320" cy="274320"/>
          </a:xfrm>
          <a:prstGeom prst="ellipse">
            <a:avLst/>
          </a:prstGeom>
          <a:solidFill>
            <a:srgbClr val="9F6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dotn10"/>
          <p:cNvSpPr txBox="1"/>
          <p:nvPr/>
        </p:nvSpPr>
        <p:spPr>
          <a:xfrm>
            <a:off x="523466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39" name="!!dot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35636" y="2258568"/>
            <a:ext cx="274320" cy="274320"/>
          </a:xfrm>
          <a:prstGeom prst="ellipse">
            <a:avLst/>
          </a:prstGeom>
          <a:solidFill>
            <a:srgbClr val="9F6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!!dotn11"/>
          <p:cNvSpPr txBox="1"/>
          <p:nvPr/>
        </p:nvSpPr>
        <p:spPr>
          <a:xfrm>
            <a:off x="5644196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41" name="!!dot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45162" y="2258568"/>
            <a:ext cx="274320" cy="274320"/>
          </a:xfrm>
          <a:prstGeom prst="ellipse">
            <a:avLst/>
          </a:prstGeom>
          <a:solidFill>
            <a:srgbClr val="9F6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dotn12"/>
          <p:cNvSpPr txBox="1"/>
          <p:nvPr/>
        </p:nvSpPr>
        <p:spPr>
          <a:xfrm>
            <a:off x="6053722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43" name="!!dot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54689" y="2258568"/>
            <a:ext cx="274320" cy="274320"/>
          </a:xfrm>
          <a:prstGeom prst="ellipse">
            <a:avLst/>
          </a:prstGeom>
          <a:solidFill>
            <a:srgbClr val="9F6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dotn13"/>
          <p:cNvSpPr txBox="1"/>
          <p:nvPr/>
        </p:nvSpPr>
        <p:spPr>
          <a:xfrm>
            <a:off x="646324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45" name="!!dot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38535" y="2258568"/>
            <a:ext cx="274320" cy="274320"/>
          </a:xfrm>
          <a:prstGeom prst="ellipse">
            <a:avLst/>
          </a:prstGeom>
          <a:solidFill>
            <a:srgbClr val="35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!!dotn14"/>
          <p:cNvSpPr txBox="1"/>
          <p:nvPr/>
        </p:nvSpPr>
        <p:spPr>
          <a:xfrm>
            <a:off x="7147095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47" name="!!dot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8062" y="2258568"/>
            <a:ext cx="274320" cy="274320"/>
          </a:xfrm>
          <a:prstGeom prst="ellipse">
            <a:avLst/>
          </a:prstGeom>
          <a:solidFill>
            <a:srgbClr val="35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dotn15"/>
          <p:cNvSpPr txBox="1"/>
          <p:nvPr/>
        </p:nvSpPr>
        <p:spPr>
          <a:xfrm>
            <a:off x="7556622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49" name="!!dot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66732" y="2112264"/>
            <a:ext cx="566928" cy="566928"/>
          </a:xfrm>
          <a:prstGeom prst="ellipse">
            <a:avLst/>
          </a:prstGeom>
          <a:solidFill>
            <a:srgbClr val="10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!!dotn16"/>
          <p:cNvSpPr txBox="1"/>
          <p:nvPr/>
        </p:nvSpPr>
        <p:spPr>
          <a:xfrm>
            <a:off x="8066732" y="2240280"/>
            <a:ext cx="566928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16</a:t>
            </a:r>
          </a:p>
        </p:txBody>
      </p:sp>
      <p:sp>
        <p:nvSpPr>
          <p:cNvPr id="51" name="!!dot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52331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!!dotn17"/>
          <p:cNvSpPr txBox="1"/>
          <p:nvPr/>
        </p:nvSpPr>
        <p:spPr>
          <a:xfrm>
            <a:off x="896089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17</a:t>
            </a:r>
          </a:p>
        </p:txBody>
      </p:sp>
      <p:sp>
        <p:nvSpPr>
          <p:cNvPr id="53" name="!!dot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61857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!!dotn18"/>
          <p:cNvSpPr txBox="1"/>
          <p:nvPr/>
        </p:nvSpPr>
        <p:spPr>
          <a:xfrm>
            <a:off x="937041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18</a:t>
            </a:r>
          </a:p>
        </p:txBody>
      </p:sp>
      <p:sp>
        <p:nvSpPr>
          <p:cNvPr id="55" name="!!dot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1384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!!dotn19"/>
          <p:cNvSpPr txBox="1"/>
          <p:nvPr/>
        </p:nvSpPr>
        <p:spPr>
          <a:xfrm>
            <a:off x="977994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19</a:t>
            </a:r>
          </a:p>
        </p:txBody>
      </p:sp>
      <p:sp>
        <p:nvSpPr>
          <p:cNvPr id="57" name="!!dot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80910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!!dotn20"/>
          <p:cNvSpPr txBox="1"/>
          <p:nvPr/>
        </p:nvSpPr>
        <p:spPr>
          <a:xfrm>
            <a:off x="1018947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20</a:t>
            </a:r>
          </a:p>
        </p:txBody>
      </p:sp>
      <p:sp>
        <p:nvSpPr>
          <p:cNvPr id="59" name="!!dot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90437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dotn21"/>
          <p:cNvSpPr txBox="1"/>
          <p:nvPr/>
        </p:nvSpPr>
        <p:spPr>
          <a:xfrm>
            <a:off x="105989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21</a:t>
            </a:r>
          </a:p>
        </p:txBody>
      </p:sp>
      <p:sp>
        <p:nvSpPr>
          <p:cNvPr id="61" name="!!dot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99963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!!dotn22"/>
          <p:cNvSpPr txBox="1"/>
          <p:nvPr/>
        </p:nvSpPr>
        <p:spPr>
          <a:xfrm>
            <a:off x="1100852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22</a:t>
            </a:r>
          </a:p>
        </p:txBody>
      </p:sp>
      <p:sp>
        <p:nvSpPr>
          <p:cNvPr id="63" name="!!dotlabel"/>
          <p:cNvSpPr txBox="1"/>
          <p:nvPr/>
        </p:nvSpPr>
        <p:spPr>
          <a:xfrm>
            <a:off x="5424116" y="2798064"/>
            <a:ext cx="5852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7964"/>
                </a:solidFill>
                <a:latin typeface="Segoe UI"/>
              </a:rPr>
              <a:t>Fuzzy Logic</a:t>
            </a:r>
          </a:p>
        </p:txBody>
      </p:sp>
      <p:sp>
        <p:nvSpPr>
          <p:cNvPr id="64" name="!!dep-BUILD"/>
          <p:cNvSpPr txBox="1"/>
          <p:nvPr/>
        </p:nvSpPr>
        <p:spPr>
          <a:xfrm>
            <a:off x="658368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BUILDS ON</a:t>
            </a:r>
          </a:p>
        </p:txBody>
      </p:sp>
      <p:sp>
        <p:nvSpPr>
          <p:cNvPr id="65" name="!!chipBU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85616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7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!!chipbBU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85616"/>
            <a:ext cx="64008" cy="420624"/>
          </a:xfrm>
          <a:prstGeom prst="rect">
            <a:avLst/>
          </a:prstGeom>
          <a:solidFill>
            <a:srgbClr val="10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!!chiptBU14"/>
          <p:cNvSpPr txBox="1"/>
          <p:nvPr/>
        </p:nvSpPr>
        <p:spPr>
          <a:xfrm>
            <a:off x="859536" y="3877056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07964"/>
                </a:solidFill>
                <a:latin typeface="Segoe UI"/>
              </a:rPr>
              <a:t>Ch 14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Uncertainty and Decision Making</a:t>
            </a:r>
          </a:p>
        </p:txBody>
      </p:sp>
      <p:sp>
        <p:nvSpPr>
          <p:cNvPr id="68" name="!!dep-USED "/>
          <p:cNvSpPr txBox="1"/>
          <p:nvPr/>
        </p:nvSpPr>
        <p:spPr>
          <a:xfrm>
            <a:off x="6324447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USED LATER IN</a:t>
            </a:r>
          </a:p>
        </p:txBody>
      </p:sp>
      <p:sp>
        <p:nvSpPr>
          <p:cNvPr id="69" name="!!dep-none-USED "/>
          <p:cNvSpPr txBox="1"/>
          <p:nvPr/>
        </p:nvSpPr>
        <p:spPr>
          <a:xfrm>
            <a:off x="6324447" y="3785616"/>
            <a:ext cx="52088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8A4AE"/>
                </a:solidFill>
                <a:latin typeface="Segoe UI"/>
              </a:rPr>
              <a:t>—  no later chapter depends on it</a:t>
            </a:r>
          </a:p>
        </p:txBody>
      </p:sp>
      <p:sp>
        <p:nvSpPr>
          <p:cNvPr id="7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625559" cy="54864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you will be able to do</a:t>
            </a:r>
          </a:p>
        </p:txBody>
      </p:sp>
      <p:pic>
        <p:nvPicPr>
          <p:cNvPr id="3" name="!!kicker-icon" descr="bullseye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LEARNING OUTCOMES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115     </a:t>
            </a:r>
            <a:fld id="{6324B332-A0D0-41DE-B8FA-9C54A6661784}" type="slidenum">
              <a:rPr lang="en-GB" sz="1000">
                <a:solidFill>
                  <a:srgbClr val="8795A1"/>
                </a:solidFill>
                <a:latin typeface="Segoe UI"/>
              </a:rPr>
              <a:t>3</a:t>
            </a:fld>
          </a:p>
        </p:txBody>
      </p:sp>
      <p:sp>
        <p:nvSpPr>
          <p:cNvPr id="7" name="!!olead"/>
          <p:cNvSpPr txBox="1"/>
          <p:nvPr/>
        </p:nvSpPr>
        <p:spPr>
          <a:xfrm>
            <a:off x="658368" y="173736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F6F7B"/>
                </a:solidFill>
                <a:latin typeface="Segoe UI"/>
              </a:rPr>
              <a:t>By the end of this chapter you will be able to:</a:t>
            </a:r>
          </a:p>
        </p:txBody>
      </p:sp>
      <p:sp>
        <p:nvSpPr>
          <p:cNvPr id="8" name="!!o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21991"/>
            <a:ext cx="420624" cy="420624"/>
          </a:xfrm>
          <a:prstGeom prst="ellipse">
            <a:avLst/>
          </a:prstGeom>
          <a:solidFill>
            <a:srgbClr val="10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obn0"/>
          <p:cNvSpPr txBox="1"/>
          <p:nvPr/>
        </p:nvSpPr>
        <p:spPr>
          <a:xfrm>
            <a:off x="658368" y="2281428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!!ot0"/>
          <p:cNvSpPr txBox="1"/>
          <p:nvPr/>
        </p:nvSpPr>
        <p:spPr>
          <a:xfrm>
            <a:off x="1316736" y="2212848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07964"/>
                </a:solidFill>
                <a:latin typeface="Segoe UI"/>
              </a:rPr>
              <a:t>Distinguish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vagueness from uncertainty,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say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which of the two fuzzy logic addresses.</a:t>
            </a:r>
          </a:p>
        </p:txBody>
      </p:sp>
      <p:sp>
        <p:nvSpPr>
          <p:cNvPr id="11" name="!!o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70555"/>
            <a:ext cx="420624" cy="420624"/>
          </a:xfrm>
          <a:prstGeom prst="ellipse">
            <a:avLst/>
          </a:prstGeom>
          <a:solidFill>
            <a:srgbClr val="10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obn1"/>
          <p:cNvSpPr txBox="1"/>
          <p:nvPr/>
        </p:nvSpPr>
        <p:spPr>
          <a:xfrm>
            <a:off x="658368" y="3129991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!!ot1"/>
          <p:cNvSpPr txBox="1"/>
          <p:nvPr/>
        </p:nvSpPr>
        <p:spPr>
          <a:xfrm>
            <a:off x="1316736" y="3111703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07964"/>
                </a:solidFill>
                <a:latin typeface="Segoe UI"/>
              </a:rPr>
              <a:t>Define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membership functions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apply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fuzzy operators.</a:t>
            </a:r>
          </a:p>
        </p:txBody>
      </p:sp>
      <p:sp>
        <p:nvSpPr>
          <p:cNvPr id="14" name="!!o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674059"/>
            <a:ext cx="420624" cy="420624"/>
          </a:xfrm>
          <a:prstGeom prst="ellipse">
            <a:avLst/>
          </a:prstGeom>
          <a:solidFill>
            <a:srgbClr val="10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obn2"/>
          <p:cNvSpPr txBox="1"/>
          <p:nvPr/>
        </p:nvSpPr>
        <p:spPr>
          <a:xfrm>
            <a:off x="658368" y="3733495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!!ot2"/>
          <p:cNvSpPr txBox="1"/>
          <p:nvPr/>
        </p:nvSpPr>
        <p:spPr>
          <a:xfrm>
            <a:off x="1316736" y="3715207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07964"/>
                </a:solidFill>
                <a:latin typeface="Segoe UI"/>
              </a:rPr>
              <a:t>Run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Mamdani inference: fuzzify, evaluate rules, aggregate, defuzzify.</a:t>
            </a:r>
          </a:p>
        </p:txBody>
      </p:sp>
      <p:sp>
        <p:nvSpPr>
          <p:cNvPr id="17" name="!!o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277563"/>
            <a:ext cx="420624" cy="420624"/>
          </a:xfrm>
          <a:prstGeom prst="ellipse">
            <a:avLst/>
          </a:prstGeom>
          <a:solidFill>
            <a:srgbClr val="10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obn3"/>
          <p:cNvSpPr txBox="1"/>
          <p:nvPr/>
        </p:nvSpPr>
        <p:spPr>
          <a:xfrm>
            <a:off x="658368" y="4336999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9" name="!!ot3"/>
          <p:cNvSpPr txBox="1"/>
          <p:nvPr/>
        </p:nvSpPr>
        <p:spPr>
          <a:xfrm>
            <a:off x="1316736" y="4318711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07964"/>
                </a:solidFill>
                <a:latin typeface="Segoe UI"/>
              </a:rPr>
              <a:t>Compare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fuzzy controller with a probabilistic model on the same problem.</a:t>
            </a:r>
          </a:p>
        </p:txBody>
      </p:sp>
      <p:sp>
        <p:nvSpPr>
          <p:cNvPr id="4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438339" cy="54864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Vocabulary for this chapter</a:t>
            </a:r>
          </a:p>
        </p:txBody>
      </p:sp>
      <p:pic>
        <p:nvPicPr>
          <p:cNvPr id="3" name="!!kicker-icon" descr="tags-8E44AD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7256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8E44AD"/>
                </a:solidFill>
                <a:latin typeface="Segoe UI"/>
              </a:rPr>
              <a:t>KEY TERMS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115     </a:t>
            </a:r>
            <a:fld id="{F15AFCFF-0CAB-4128-9198-ECCD6B9C1877}" type="slidenum">
              <a:rPr lang="en-GB" sz="1000">
                <a:solidFill>
                  <a:srgbClr val="8795A1"/>
                </a:solidFill>
                <a:latin typeface="Segoe UI"/>
              </a:rPr>
              <a:t>4</a:t>
            </a:fld>
          </a:p>
        </p:txBody>
      </p:sp>
      <p:sp>
        <p:nvSpPr>
          <p:cNvPr id="7" name="!!term-vaguenes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847088"/>
            <a:ext cx="145251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ermd-vaguenes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termt-vagueness"/>
          <p:cNvSpPr txBox="1"/>
          <p:nvPr/>
        </p:nvSpPr>
        <p:spPr>
          <a:xfrm>
            <a:off x="950976" y="1955291"/>
            <a:ext cx="126963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vagueness</a:t>
            </a:r>
          </a:p>
        </p:txBody>
      </p:sp>
      <p:sp>
        <p:nvSpPr>
          <p:cNvPr id="10" name="!!term-fuzzy se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57185" y="1847088"/>
            <a:ext cx="1281686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termd-fuzzy se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85201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termt-fuzzy set"/>
          <p:cNvSpPr txBox="1"/>
          <p:nvPr/>
        </p:nvSpPr>
        <p:spPr>
          <a:xfrm>
            <a:off x="2549793" y="1955291"/>
            <a:ext cx="1098806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fuzzy set</a:t>
            </a:r>
          </a:p>
        </p:txBody>
      </p:sp>
      <p:sp>
        <p:nvSpPr>
          <p:cNvPr id="13" name="!!term-membership fu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85175" y="1847088"/>
            <a:ext cx="251735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termd-membership fu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13191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termt-membership fun"/>
          <p:cNvSpPr txBox="1"/>
          <p:nvPr/>
        </p:nvSpPr>
        <p:spPr>
          <a:xfrm>
            <a:off x="3977783" y="1955291"/>
            <a:ext cx="233447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membership function</a:t>
            </a:r>
          </a:p>
        </p:txBody>
      </p:sp>
      <p:sp>
        <p:nvSpPr>
          <p:cNvPr id="16" name="!!term-degree of memb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48833" y="1847088"/>
            <a:ext cx="265554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termd-degree of memb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76849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termt-degree of memb"/>
          <p:cNvSpPr txBox="1"/>
          <p:nvPr/>
        </p:nvSpPr>
        <p:spPr>
          <a:xfrm>
            <a:off x="6641441" y="1955291"/>
            <a:ext cx="247266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degree of membership</a:t>
            </a:r>
          </a:p>
        </p:txBody>
      </p:sp>
      <p:sp>
        <p:nvSpPr>
          <p:cNvPr id="19" name="!!term-fuzzy operato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50681" y="1847088"/>
            <a:ext cx="1934629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termd-fuzzy operato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78697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termt-fuzzy operator"/>
          <p:cNvSpPr txBox="1"/>
          <p:nvPr/>
        </p:nvSpPr>
        <p:spPr>
          <a:xfrm>
            <a:off x="9443289" y="1955291"/>
            <a:ext cx="1751749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fuzzy operators</a:t>
            </a:r>
          </a:p>
        </p:txBody>
      </p:sp>
      <p:sp>
        <p:nvSpPr>
          <p:cNvPr id="22" name="!!term-linguistic v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68880"/>
            <a:ext cx="2118672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termd-linguistic v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termt-linguistic var"/>
          <p:cNvSpPr txBox="1"/>
          <p:nvPr/>
        </p:nvSpPr>
        <p:spPr>
          <a:xfrm>
            <a:off x="950976" y="2577084"/>
            <a:ext cx="1935792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linguistic variable</a:t>
            </a:r>
          </a:p>
        </p:txBody>
      </p:sp>
      <p:sp>
        <p:nvSpPr>
          <p:cNvPr id="25" name="!!term-fuzzific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23344" y="2468880"/>
            <a:ext cx="160254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termd-fuzzific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51360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!!termt-fuzzification"/>
          <p:cNvSpPr txBox="1"/>
          <p:nvPr/>
        </p:nvSpPr>
        <p:spPr>
          <a:xfrm>
            <a:off x="3215952" y="2577084"/>
            <a:ext cx="141966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fuzzification</a:t>
            </a:r>
          </a:p>
        </p:txBody>
      </p:sp>
      <p:sp>
        <p:nvSpPr>
          <p:cNvPr id="28" name="!!term-Mamdani infe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72192" y="2468880"/>
            <a:ext cx="231380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termd-Mamdani infe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00208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termt-Mamdani infere"/>
          <p:cNvSpPr txBox="1"/>
          <p:nvPr/>
        </p:nvSpPr>
        <p:spPr>
          <a:xfrm>
            <a:off x="4964800" y="2577084"/>
            <a:ext cx="213092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Mamdani inference</a:t>
            </a:r>
          </a:p>
        </p:txBody>
      </p:sp>
      <p:sp>
        <p:nvSpPr>
          <p:cNvPr id="31" name="!!term-aggreg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32300" y="2468880"/>
            <a:ext cx="1625622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termd-aggreg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60316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termt-aggregation"/>
          <p:cNvSpPr txBox="1"/>
          <p:nvPr/>
        </p:nvSpPr>
        <p:spPr>
          <a:xfrm>
            <a:off x="7424908" y="2577084"/>
            <a:ext cx="1442742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aggregation</a:t>
            </a:r>
          </a:p>
        </p:txBody>
      </p:sp>
      <p:sp>
        <p:nvSpPr>
          <p:cNvPr id="34" name="!!term-defuzzificati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04226" y="2468880"/>
            <a:ext cx="1847426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!!termd-defuzzificati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2242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termt-defuzzificatio"/>
          <p:cNvSpPr txBox="1"/>
          <p:nvPr/>
        </p:nvSpPr>
        <p:spPr>
          <a:xfrm>
            <a:off x="9196834" y="2577084"/>
            <a:ext cx="1664546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defuzzification</a:t>
            </a:r>
          </a:p>
        </p:txBody>
      </p:sp>
      <p:sp>
        <p:nvSpPr>
          <p:cNvPr id="37" name="!!term-centroi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90672"/>
            <a:ext cx="1243764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termd-centroi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!!termt-centroid"/>
          <p:cNvSpPr txBox="1"/>
          <p:nvPr/>
        </p:nvSpPr>
        <p:spPr>
          <a:xfrm>
            <a:off x="950976" y="3198876"/>
            <a:ext cx="1060884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centroid</a:t>
            </a:r>
          </a:p>
        </p:txBody>
      </p:sp>
      <p:sp>
        <p:nvSpPr>
          <p:cNvPr id="40" name="!!termnote"/>
          <p:cNvSpPr txBox="1"/>
          <p:nvPr/>
        </p:nvSpPr>
        <p:spPr>
          <a:xfrm>
            <a:off x="658368" y="3913632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F6F7B"/>
                </a:solidFill>
                <a:latin typeface="Segoe UI"/>
              </a:rPr>
              <a:t>Each term is defined where it first matters — not here.</a:t>
            </a:r>
          </a:p>
        </p:txBody>
      </p:sp>
      <p:sp>
        <p:nvSpPr>
          <p:cNvPr id="4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251118" cy="54864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In this chapter</a:t>
            </a:r>
          </a:p>
        </p:txBody>
      </p:sp>
      <p:pic>
        <p:nvPicPr>
          <p:cNvPr id="3" name="!!kicker-icon" descr="list-ul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6883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IN THIS CHAPTER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pp. 115–118     </a:t>
            </a:r>
            <a:fld id="{78AF70CF-7336-4BFE-84C7-057ECAADD388}" type="slidenum">
              <a:rPr lang="en-GB" sz="1000">
                <a:solidFill>
                  <a:srgbClr val="8795A1"/>
                </a:solidFill>
                <a:latin typeface="Segoe UI"/>
              </a:rPr>
              <a:t>5</a:t>
            </a:fld>
          </a:p>
        </p:txBody>
      </p:sp>
      <p:sp>
        <p:nvSpPr>
          <p:cNvPr id="7" name="!!ag0" descr="Go to section 16.1 Vagueness Is Not Uncertainty"/>
          <p:cNvSpPr/>
          <p:nvPr/>
        </p:nvSpPr>
        <p:spPr>
          <a:xfrm>
            <a:off x="658368" y="177393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ag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73936"/>
            <a:ext cx="64008" cy="566928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agn0"/>
          <p:cNvSpPr txBox="1"/>
          <p:nvPr/>
        </p:nvSpPr>
        <p:spPr>
          <a:xfrm>
            <a:off x="932688" y="192024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7964"/>
                </a:solidFill>
                <a:latin typeface="Segoe UI Semibold"/>
              </a:rPr>
              <a:t>16.1</a:t>
            </a:r>
          </a:p>
        </p:txBody>
      </p:sp>
      <p:sp>
        <p:nvSpPr>
          <p:cNvPr id="10" name="!!agt0"/>
          <p:cNvSpPr txBox="1"/>
          <p:nvPr/>
        </p:nvSpPr>
        <p:spPr>
          <a:xfrm>
            <a:off x="1847088" y="192024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Vagueness Is Not Uncertainty</a:t>
            </a:r>
          </a:p>
        </p:txBody>
      </p:sp>
      <p:sp>
        <p:nvSpPr>
          <p:cNvPr id="11" name="!!agp0"/>
          <p:cNvSpPr txBox="1"/>
          <p:nvPr/>
        </p:nvSpPr>
        <p:spPr>
          <a:xfrm>
            <a:off x="9795967" y="194767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115  ›</a:t>
            </a:r>
          </a:p>
        </p:txBody>
      </p:sp>
      <p:sp>
        <p:nvSpPr>
          <p:cNvPr id="12" name="!!ag1" descr="Go to section 16.2 Fuzzy Sets and Membership Functions"/>
          <p:cNvSpPr/>
          <p:nvPr/>
        </p:nvSpPr>
        <p:spPr>
          <a:xfrm>
            <a:off x="658368" y="2414015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ag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14015"/>
            <a:ext cx="64008" cy="566928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agn1"/>
          <p:cNvSpPr txBox="1"/>
          <p:nvPr/>
        </p:nvSpPr>
        <p:spPr>
          <a:xfrm>
            <a:off x="932688" y="256032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7964"/>
                </a:solidFill>
                <a:latin typeface="Segoe UI Semibold"/>
              </a:rPr>
              <a:t>16.2</a:t>
            </a:r>
          </a:p>
        </p:txBody>
      </p:sp>
      <p:sp>
        <p:nvSpPr>
          <p:cNvPr id="15" name="!!agt1"/>
          <p:cNvSpPr txBox="1"/>
          <p:nvPr/>
        </p:nvSpPr>
        <p:spPr>
          <a:xfrm>
            <a:off x="1847088" y="256032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Fuzzy Sets and Membership Functions</a:t>
            </a:r>
          </a:p>
        </p:txBody>
      </p:sp>
      <p:sp>
        <p:nvSpPr>
          <p:cNvPr id="16" name="!!agp1"/>
          <p:cNvSpPr txBox="1"/>
          <p:nvPr/>
        </p:nvSpPr>
        <p:spPr>
          <a:xfrm>
            <a:off x="9795967" y="2587751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115  ›</a:t>
            </a:r>
          </a:p>
        </p:txBody>
      </p:sp>
      <p:sp>
        <p:nvSpPr>
          <p:cNvPr id="17" name="!!ag2" descr="Go to section 16.3 Fuzzy Operators"/>
          <p:cNvSpPr/>
          <p:nvPr/>
        </p:nvSpPr>
        <p:spPr>
          <a:xfrm>
            <a:off x="658368" y="305409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ag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54096"/>
            <a:ext cx="64008" cy="566928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agn2"/>
          <p:cNvSpPr txBox="1"/>
          <p:nvPr/>
        </p:nvSpPr>
        <p:spPr>
          <a:xfrm>
            <a:off x="932688" y="320040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7964"/>
                </a:solidFill>
                <a:latin typeface="Segoe UI Semibold"/>
              </a:rPr>
              <a:t>16.3</a:t>
            </a:r>
          </a:p>
        </p:txBody>
      </p:sp>
      <p:sp>
        <p:nvSpPr>
          <p:cNvPr id="20" name="!!agt2"/>
          <p:cNvSpPr txBox="1"/>
          <p:nvPr/>
        </p:nvSpPr>
        <p:spPr>
          <a:xfrm>
            <a:off x="1847088" y="320040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Fuzzy Operators</a:t>
            </a:r>
          </a:p>
        </p:txBody>
      </p:sp>
      <p:sp>
        <p:nvSpPr>
          <p:cNvPr id="21" name="!!agp2"/>
          <p:cNvSpPr txBox="1"/>
          <p:nvPr/>
        </p:nvSpPr>
        <p:spPr>
          <a:xfrm>
            <a:off x="9795967" y="322783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115  ›</a:t>
            </a:r>
          </a:p>
        </p:txBody>
      </p:sp>
      <p:sp>
        <p:nvSpPr>
          <p:cNvPr id="22" name="!!ag3" descr="Go to section 16.4 Mamdani Inference"/>
          <p:cNvSpPr/>
          <p:nvPr/>
        </p:nvSpPr>
        <p:spPr>
          <a:xfrm>
            <a:off x="658368" y="369417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ag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694176"/>
            <a:ext cx="64008" cy="566928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agn3"/>
          <p:cNvSpPr txBox="1"/>
          <p:nvPr/>
        </p:nvSpPr>
        <p:spPr>
          <a:xfrm>
            <a:off x="932688" y="384048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7964"/>
                </a:solidFill>
                <a:latin typeface="Segoe UI Semibold"/>
              </a:rPr>
              <a:t>16.4</a:t>
            </a:r>
          </a:p>
        </p:txBody>
      </p:sp>
      <p:sp>
        <p:nvSpPr>
          <p:cNvPr id="25" name="!!agt3"/>
          <p:cNvSpPr txBox="1"/>
          <p:nvPr/>
        </p:nvSpPr>
        <p:spPr>
          <a:xfrm>
            <a:off x="1847088" y="384048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Mamdani Inference</a:t>
            </a:r>
          </a:p>
        </p:txBody>
      </p:sp>
      <p:sp>
        <p:nvSpPr>
          <p:cNvPr id="26" name="!!agp3"/>
          <p:cNvSpPr txBox="1"/>
          <p:nvPr/>
        </p:nvSpPr>
        <p:spPr>
          <a:xfrm>
            <a:off x="9795967" y="386791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115  ›</a:t>
            </a:r>
          </a:p>
        </p:txBody>
      </p:sp>
      <p:sp>
        <p:nvSpPr>
          <p:cNvPr id="27" name="!!ag4" descr="Go to section 16.5 Defuzzification">
            <a:hlinkClick action="ppaction://hlinksldjump" r:id="rId5"/>
          </p:cNvPr>
          <p:cNvSpPr/>
          <p:nvPr/>
        </p:nvSpPr>
        <p:spPr>
          <a:xfrm>
            <a:off x="658368" y="433425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ag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334256"/>
            <a:ext cx="64008" cy="566928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agn4"/>
          <p:cNvSpPr txBox="1"/>
          <p:nvPr/>
        </p:nvSpPr>
        <p:spPr>
          <a:xfrm>
            <a:off x="932688" y="448056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7964"/>
                </a:solidFill>
                <a:latin typeface="Segoe UI Semibold"/>
              </a:rPr>
              <a:t>16.5</a:t>
            </a:r>
          </a:p>
        </p:txBody>
      </p:sp>
      <p:sp>
        <p:nvSpPr>
          <p:cNvPr id="30" name="!!agt4"/>
          <p:cNvSpPr txBox="1"/>
          <p:nvPr/>
        </p:nvSpPr>
        <p:spPr>
          <a:xfrm>
            <a:off x="1847088" y="448056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Defuzzification</a:t>
            </a:r>
          </a:p>
        </p:txBody>
      </p:sp>
      <p:sp>
        <p:nvSpPr>
          <p:cNvPr id="31" name="!!agp4"/>
          <p:cNvSpPr txBox="1"/>
          <p:nvPr/>
        </p:nvSpPr>
        <p:spPr>
          <a:xfrm>
            <a:off x="9795967" y="450799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115  ›</a:t>
            </a:r>
          </a:p>
        </p:txBody>
      </p:sp>
      <p:sp>
        <p:nvSpPr>
          <p:cNvPr id="3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063898" cy="54864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Chapter in preparation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§16.5  ·  Handout p. 115     </a:t>
            </a:r>
            <a:fld id="{F063B6EC-9D2B-4E99-8FD1-FEB64856AF55}" type="slidenum">
              <a:rPr lang="en-GB" sz="1000">
                <a:solidFill>
                  <a:srgbClr val="8795A1"/>
                </a:solidFill>
                <a:latin typeface="Segoe UI"/>
              </a:rPr>
              <a:t>6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079955"/>
          </a:xfrm>
          <a:prstGeom prst="roundRect">
            <a:avLst>
              <a:gd name="adj" fmla="val 4396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079955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 full text of this chapter — prose, figures, worked example, laboratory and review questions — is being written. The outcomes, prerequisites, key terms and section structure above are settled and match the Course Specification and Appendix G.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876678" cy="54864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1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118  ·  answers in Appendix D     </a:t>
            </a:r>
            <a:fld id="{3516C1DE-B750-4D52-A63A-5B20DC11F435}" type="slidenum">
              <a:rPr lang="en-GB" sz="1000">
                <a:solidFill>
                  <a:srgbClr val="D5DEE5"/>
                </a:solidFill>
                <a:latin typeface="Segoe UI"/>
              </a:rPr>
              <a:t>7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1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348691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118  ·  answers in Appendix D     </a:t>
            </a:r>
            <a:fld id="{1DE6083E-5151-463A-9F7E-7E057B5ABFEB}" type="slidenum">
              <a:rPr lang="en-GB" sz="1000">
                <a:solidFill>
                  <a:srgbClr val="8795A1"/>
                </a:solidFill>
                <a:latin typeface="Segoe UI"/>
              </a:rPr>
              <a:t>8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502237" cy="54864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2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118  ·  answers in Appendix D     </a:t>
            </a:r>
            <a:fld id="{85B9CB25-E159-4F11-A9AD-07411894043D}" type="slidenum">
              <a:rPr lang="en-GB" sz="1000">
                <a:solidFill>
                  <a:srgbClr val="D5DEE5"/>
                </a:solidFill>
                <a:latin typeface="Segoe UI"/>
              </a:rPr>
              <a:t>9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2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348691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118  ·  answers in Appendix D     </a:t>
            </a:r>
            <a:fld id="{8F536622-55B0-4977-83E7-1C98F1E90236}" type="slidenum">
              <a:rPr lang="en-GB" sz="1000">
                <a:solidFill>
                  <a:srgbClr val="8795A1"/>
                </a:solidFill>
                <a:latin typeface="Segoe UI"/>
              </a:rPr>
              <a:t>10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127796" cy="54864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3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118  ·  answers in Appendix D     </a:t>
            </a:r>
            <a:fld id="{B1A14315-2DB9-4DB7-A036-D31FC22D9905}" type="slidenum">
              <a:rPr lang="en-GB" sz="1000">
                <a:solidFill>
                  <a:srgbClr val="D5DEE5"/>
                </a:solidFill>
                <a:latin typeface="Segoe UI"/>
              </a:rPr>
              <a:t>11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To be written with the chapter.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3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348691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118  ·  answers in Appendix D     </a:t>
            </a:r>
            <a:fld id="{5FAA33F2-E8BC-44CB-A946-1C7C4DCF5718}" type="slidenum">
              <a:rPr lang="en-GB" sz="1000">
                <a:solidFill>
                  <a:srgbClr val="8795A1"/>
                </a:solidFill>
                <a:latin typeface="Segoe UI"/>
              </a:rPr>
              <a:t>12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753356" cy="54864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to take away</a:t>
            </a:r>
          </a:p>
        </p:txBody>
      </p:sp>
      <p:pic>
        <p:nvPicPr>
          <p:cNvPr id="3" name="!!kicker-icon" descr="clipboard-check-15425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5425E"/>
                </a:solidFill>
                <a:latin typeface="Segoe UI"/>
              </a:rPr>
              <a:t>CHAPTER SUMMARY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118     </a:t>
            </a:r>
            <a:fld id="{A47B32EA-A967-42DA-9F07-8ACFE471C832}" type="slidenum">
              <a:rPr lang="en-GB" sz="1000">
                <a:solidFill>
                  <a:srgbClr val="8795A1"/>
                </a:solidFill>
                <a:latin typeface="Segoe UI"/>
              </a:rPr>
              <a:t>13</a:t>
            </a:fld>
          </a:p>
        </p:txBody>
      </p:sp>
      <p:sp>
        <p:nvSpPr>
          <p:cNvPr id="7" name="!!s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465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sbn0"/>
          <p:cNvSpPr txBox="1"/>
          <p:nvPr/>
        </p:nvSpPr>
        <p:spPr>
          <a:xfrm>
            <a:off x="658368" y="1801368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!!st0"/>
          <p:cNvSpPr txBox="1"/>
          <p:nvPr/>
        </p:nvSpPr>
        <p:spPr>
          <a:xfrm>
            <a:off x="1298448" y="1737360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Vagueness Is Not Uncertainty.</a:t>
            </a:r>
          </a:p>
        </p:txBody>
      </p:sp>
      <p:sp>
        <p:nvSpPr>
          <p:cNvPr id="10" name="!!s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3317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sbn1"/>
          <p:cNvSpPr txBox="1"/>
          <p:nvPr/>
        </p:nvSpPr>
        <p:spPr>
          <a:xfrm>
            <a:off x="658368" y="2386584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!!st1"/>
          <p:cNvSpPr txBox="1"/>
          <p:nvPr/>
        </p:nvSpPr>
        <p:spPr>
          <a:xfrm>
            <a:off x="1298448" y="2322576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Fuzzy Sets and Membership Functions.</a:t>
            </a:r>
          </a:p>
        </p:txBody>
      </p:sp>
      <p:sp>
        <p:nvSpPr>
          <p:cNvPr id="13" name="!!s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91693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sbn2"/>
          <p:cNvSpPr txBox="1"/>
          <p:nvPr/>
        </p:nvSpPr>
        <p:spPr>
          <a:xfrm>
            <a:off x="658368" y="297180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5" name="!!st2"/>
          <p:cNvSpPr txBox="1"/>
          <p:nvPr/>
        </p:nvSpPr>
        <p:spPr>
          <a:xfrm>
            <a:off x="1298448" y="2907792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Fuzzy Operators.</a:t>
            </a:r>
          </a:p>
        </p:txBody>
      </p:sp>
      <p:sp>
        <p:nvSpPr>
          <p:cNvPr id="16" name="!!s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5021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sbn3"/>
          <p:cNvSpPr txBox="1"/>
          <p:nvPr/>
        </p:nvSpPr>
        <p:spPr>
          <a:xfrm>
            <a:off x="658368" y="3557016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8" name="!!st3"/>
          <p:cNvSpPr txBox="1"/>
          <p:nvPr/>
        </p:nvSpPr>
        <p:spPr>
          <a:xfrm>
            <a:off x="1298448" y="3493008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Mamdani Inference.</a:t>
            </a:r>
          </a:p>
        </p:txBody>
      </p:sp>
      <p:sp>
        <p:nvSpPr>
          <p:cNvPr id="19" name="!!s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08736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sbn4"/>
          <p:cNvSpPr txBox="1"/>
          <p:nvPr/>
        </p:nvSpPr>
        <p:spPr>
          <a:xfrm>
            <a:off x="658368" y="4142232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1" name="!!st4"/>
          <p:cNvSpPr txBox="1"/>
          <p:nvPr/>
        </p:nvSpPr>
        <p:spPr>
          <a:xfrm>
            <a:off x="1298448" y="4078224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Defuzzification.</a:t>
            </a:r>
          </a:p>
        </p:txBody>
      </p:sp>
      <p:sp>
        <p:nvSpPr>
          <p:cNvPr id="5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566135" cy="54864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2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2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2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For your notebook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QUESTIONS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118     </a:t>
            </a:r>
            <a:fld id="{18F84CDB-4751-4968-ACA7-AFA611490729}" type="slidenum">
              <a:rPr lang="en-GB" sz="1000">
                <a:solidFill>
                  <a:srgbClr val="8795A1"/>
                </a:solidFill>
                <a:latin typeface="Segoe UI"/>
              </a:rPr>
              <a:t>14</a:t>
            </a:fld>
          </a:p>
        </p:txBody>
      </p:sp>
      <p:sp>
        <p:nvSpPr>
          <p:cNvPr id="7" name="!!r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5564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rtt0"/>
          <p:cNvSpPr txBox="1"/>
          <p:nvPr/>
        </p:nvSpPr>
        <p:spPr>
          <a:xfrm>
            <a:off x="658368" y="1796795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9" name="!!rq0"/>
          <p:cNvSpPr txBox="1"/>
          <p:nvPr/>
        </p:nvSpPr>
        <p:spPr>
          <a:xfrm>
            <a:off x="1892807" y="1737360"/>
            <a:ext cx="9549079" cy="301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10" name="!!r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7624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tt1"/>
          <p:cNvSpPr txBox="1"/>
          <p:nvPr/>
        </p:nvSpPr>
        <p:spPr>
          <a:xfrm>
            <a:off x="658368" y="2317394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07964"/>
                </a:solidFill>
                <a:latin typeface="Segoe UI"/>
              </a:rPr>
              <a:t>APPLIED</a:t>
            </a:r>
          </a:p>
        </p:txBody>
      </p:sp>
      <p:sp>
        <p:nvSpPr>
          <p:cNvPr id="12" name="!!rq1"/>
          <p:cNvSpPr txBox="1"/>
          <p:nvPr/>
        </p:nvSpPr>
        <p:spPr>
          <a:xfrm>
            <a:off x="1892807" y="2257958"/>
            <a:ext cx="9549079" cy="301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To be written with the chapter.</a:t>
            </a:r>
          </a:p>
        </p:txBody>
      </p:sp>
      <p:sp>
        <p:nvSpPr>
          <p:cNvPr id="13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378915" cy="54864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7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238470"/>
                </a:solidFill>
                <a:latin typeface="Segoe UI Black"/>
              </a:rPr>
              <a:t>16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1243584"/>
            <a:ext cx="8229600" cy="82296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000" b="0">
                <a:solidFill>
                  <a:srgbClr val="FFFFFF"/>
                </a:solidFill>
                <a:latin typeface="Segoe UI Semibold"/>
              </a:rPr>
              <a:t>End of Chapter 16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02412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c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0C5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cll0"/>
          <p:cNvSpPr txBox="1"/>
          <p:nvPr/>
        </p:nvSpPr>
        <p:spPr>
          <a:xfrm>
            <a:off x="932688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4CCC4"/>
                </a:solidFill>
                <a:latin typeface="Segoe UI"/>
              </a:rPr>
              <a:t>NEXT</a:t>
            </a:r>
          </a:p>
        </p:txBody>
      </p:sp>
      <p:sp>
        <p:nvSpPr>
          <p:cNvPr id="7" name="!!clv0"/>
          <p:cNvSpPr txBox="1"/>
          <p:nvPr/>
        </p:nvSpPr>
        <p:spPr>
          <a:xfrm>
            <a:off x="932688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Chapter 17 — Learning from Examples</a:t>
            </a:r>
          </a:p>
        </p:txBody>
      </p:sp>
      <p:sp>
        <p:nvSpPr>
          <p:cNvPr id="8" name="!!c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7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0C5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ll1"/>
          <p:cNvSpPr txBox="1"/>
          <p:nvPr/>
        </p:nvSpPr>
        <p:spPr>
          <a:xfrm>
            <a:off x="6507327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4CCC4"/>
                </a:solidFill>
                <a:latin typeface="Segoe UI"/>
              </a:rPr>
              <a:t>READ</a:t>
            </a:r>
          </a:p>
        </p:txBody>
      </p:sp>
      <p:sp>
        <p:nvSpPr>
          <p:cNvPr id="10" name="!!clv1"/>
          <p:cNvSpPr txBox="1"/>
          <p:nvPr/>
        </p:nvSpPr>
        <p:spPr>
          <a:xfrm>
            <a:off x="6507327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Handout Chapter 16, pages 115–118</a:t>
            </a:r>
          </a:p>
        </p:txBody>
      </p:sp>
      <p:sp>
        <p:nvSpPr>
          <p:cNvPr id="11" name="!!c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584448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0C5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ll2"/>
          <p:cNvSpPr txBox="1"/>
          <p:nvPr/>
        </p:nvSpPr>
        <p:spPr>
          <a:xfrm>
            <a:off x="932688" y="3767328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4CCC4"/>
                </a:solidFill>
                <a:latin typeface="Segoe UI"/>
              </a:rPr>
              <a:t>THIS WEEK'S LAB</a:t>
            </a:r>
          </a:p>
        </p:txBody>
      </p:sp>
      <p:sp>
        <p:nvSpPr>
          <p:cNvPr id="13" name="!!clv2"/>
          <p:cNvSpPr txBox="1"/>
          <p:nvPr/>
        </p:nvSpPr>
        <p:spPr>
          <a:xfrm>
            <a:off x="932688" y="4059935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Semibold"/>
              </a:rPr>
              <a:t>Risk rating by Mamdani inference; the perceptron and its limit</a:t>
            </a:r>
          </a:p>
        </p:txBody>
      </p:sp>
      <p:sp>
        <p:nvSpPr>
          <p:cNvPr id="14" name="!!c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7" y="3584448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0C5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cll3"/>
          <p:cNvSpPr txBox="1"/>
          <p:nvPr/>
        </p:nvSpPr>
        <p:spPr>
          <a:xfrm>
            <a:off x="6507327" y="3767328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4CCC4"/>
                </a:solidFill>
                <a:latin typeface="Segoe UI"/>
              </a:rPr>
              <a:t>ASSESSMENT</a:t>
            </a:r>
          </a:p>
        </p:txBody>
      </p:sp>
      <p:sp>
        <p:nvSpPr>
          <p:cNvPr id="16" name="!!clv3"/>
          <p:cNvSpPr txBox="1"/>
          <p:nvPr/>
        </p:nvSpPr>
        <p:spPr>
          <a:xfrm>
            <a:off x="6507327" y="4059935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Project experiments frozen</a:t>
            </a:r>
          </a:p>
        </p:txBody>
      </p:sp>
      <p:sp>
        <p:nvSpPr>
          <p:cNvPr id="1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Artificial Intelligence  ·  Chapter 16  ·  Fuzzy Logic</a:t>
            </a:r>
          </a:p>
        </p:txBody>
      </p:sp>
      <p:sp>
        <p:nvSpPr>
          <p:cNvPr id="1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fld id="{B866C50D-A3DA-44E2-A670-E780844C26CE}" type="slidenum">
              <a:rPr lang="en-GB" sz="1000">
                <a:solidFill>
                  <a:srgbClr val="D5DEE5"/>
                </a:solidFill>
                <a:latin typeface="Segoe UI"/>
              </a:rPr>
              <a:t>15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rtificial Intelligence Fall 2026">
  <a:themeElements>
    <a:clrScheme name="Artificial Intelligence Fall 2026">
      <a:dk1>
        <a:srgbClr val="1C252B"/>
      </a:dk1>
      <a:lt1>
        <a:srgbClr val="FFFFFF"/>
      </a:lt1>
      <a:dk2>
        <a:srgbClr val="1A5276"/>
      </a:dk2>
      <a:lt2>
        <a:srgbClr val="EBF5FB"/>
      </a:lt2>
      <a:accent1>
        <a:srgbClr val="1A5276"/>
      </a:accent1>
      <a:accent2>
        <a:srgbClr val="2E86C1"/>
      </a:accent2>
      <a:accent3>
        <a:srgbClr val="E74C3C"/>
      </a:accent3>
      <a:accent4>
        <a:srgbClr val="27AE60"/>
      </a:accent4>
      <a:accent5>
        <a:srgbClr val="8E44AD"/>
      </a:accent5>
      <a:accent6>
        <a:srgbClr val="B7950B"/>
      </a:accent6>
      <a:hlink>
        <a:srgbClr val="2E86C1"/>
      </a:hlink>
      <a:folHlink>
        <a:srgbClr val="8E44AD"/>
      </a:folHlink>
    </a:clrScheme>
    <a:fontScheme name="Artificial Intelligence Fall 2026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16: Fuzzy Logic</dc:title>
  <dc:subject>Artificial Intelligence — Search, Knowledge and Reasoning · BSIT · Fall 2026</dc:subject>
  <dc:creator>Dr. Mustafa Hameed</dc:creator>
  <cp:keywords>artificial intelligence; lecture slides; BSIT; HEC; Fall 2026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Lecture slides</cp:category>
</cp:coreProperties>
</file>