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5299A6B-0EC2-4929-9667-7028D8D1EC65}">
          <p14:sldIdLst>
            <p14:sldId id="256"/>
            <p14:sldId id="257"/>
            <p14:sldId id="258"/>
            <p14:sldId id="259"/>
            <p14:sldId id="260"/>
          </p14:sldIdLst>
        </p14:section>
        <p14:section name="16.1 Vagueness Is Not Uncertainty" id="{3E5B1D01-143F-4978-84D7-6036EE9DA0D1}">
          <p14:sldIdLst>
            <p14:sldId id="261"/>
            <p14:sldId id="262"/>
            <p14:sldId id="263"/>
          </p14:sldIdLst>
        </p14:section>
        <p14:section name="16.2 Membership Functions and Linguistic Variables" id="{5C71B8F6-A5CA-4BE4-9292-4A12D3FBE81B}">
          <p14:sldIdLst>
            <p14:sldId id="264"/>
          </p14:sldIdLst>
        </p14:section>
        <p14:section name="16.3 The Fuzzy Operators" id="{79C68BD7-64AF-4B4A-9EC5-EDCA05B8929D}">
          <p14:sldIdLst>
            <p14:sldId id="265"/>
          </p14:sldIdLst>
        </p14:section>
        <p14:section name="16.4 Mamdani Inference" id="{5A9EE707-02B4-4C11-A08F-A20309D8008E}">
          <p14:sldIdLst>
            <p14:sldId id="266"/>
            <p14:sldId id="267"/>
            <p14:sldId id="268"/>
            <p14:sldId id="269"/>
          </p14:sldIdLst>
        </p14:section>
        <p14:section name="16.5 Defuzzification" id="{F9CB46FD-1A29-41F8-8C62-407E38F84400}">
          <p14:sldIdLst>
            <p14:sldId id="270"/>
            <p14:sldId id="271"/>
          </p14:sldIdLst>
        </p14:section>
        <p14:section name="16.6 Why Smoothness Is the Point" id="{B08A4F55-9D43-47B4-BC71-477D17ACAAC2}">
          <p14:sldIdLst>
            <p14:sldId id="272"/>
            <p14:sldId id="273"/>
            <p14:sldId id="274"/>
            <p14:sldId id="275"/>
            <p14:sldId id="276"/>
          </p14:sldIdLst>
        </p14:section>
        <p14:section name="Pitfalls" id="{7AE446D1-5F62-40B1-B091-302F98CFB986}">
          <p14:sldIdLst>
            <p14:sldId id="277"/>
          </p14:sldIdLst>
        </p14:section>
        <p14:section name="Lab" id="{95055DEC-5E20-47A3-B7DB-39B84410B6C0}">
          <p14:sldIdLst>
            <p14:sldId id="278"/>
            <p14:sldId id="279"/>
            <p14:sldId id="280"/>
            <p14:sldId id="281"/>
            <p14:sldId id="282"/>
            <p14:sldId id="283"/>
            <p14:sldId id="284"/>
            <p14:sldId id="285"/>
            <p14:sldId id="286"/>
            <p14:sldId id="287"/>
            <p14:sldId id="288"/>
            <p14:sldId id="289"/>
          </p14:sldIdLst>
        </p14:section>
        <p14:section name="Checkpoint" id="{E952F316-4842-468C-B3B0-3788704A80FB}">
          <p14:sldIdLst>
            <p14:sldId id="290"/>
            <p14:sldId id="291"/>
            <p14:sldId id="292"/>
            <p14:sldId id="293"/>
            <p14:sldId id="294"/>
            <p14:sldId id="295"/>
          </p14:sldIdLst>
        </p14:section>
        <p14:section name="Wrap-up" id="{3BAD81DD-7B6E-4D1B-A012-5DF1906E35C4}">
          <p14:sldIdLst>
            <p14:sldId id="296"/>
            <p14:sldId id="297"/>
            <p14:sldId id="298"/>
            <p14:sldId id="299"/>
            <p14:sldId id="300"/>
            <p14:sldId id="301"/>
            <p14:sldId id="302"/>
            <p14:sldId id="3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Fuzzy Logic. Part 5 — Reasoning Under Uncertainty. Week 14: Fuzzy logic; learning from examples. Handout pages 166–176.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14 — and specifically the idea of a degree of belief, which is what a degree of membership is repeatedly confused with. This chapter branches from Chapter 14 rather than following Chapter 15: it answers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vagueness; fuzzy set; membership function; degree of membership; linguistic variable; fuzzy partition; fuzzy operators; fuzzification; firing strength; Mamdani inference; clipping; aggregation; defuzzification; centroid.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sentences that sound alike and are not: This project is probably high-risk. This project is fairly high-risk. The first is uncertainty. There is a fact of the matter — the project either is or is not high-risk — and the speaker does not know which. Chapter 14 is about that, and evidence resolves it: learn enough and the probability goes to 0 or 1. The second is vagueness. The speaker knows everything there is to know about the project. The trouble is that “high-risk” has no sharp boundary, and no amount of evidence will produce one. A project at 70 effort-days with moderate uncertainty is high-risk to a degree, and that is the whole truth about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linguistic variable takes values that are words — low, medium, high — each defined by a membership function over the underlying numeric domain. The usual construction is a fuzzy partition: overlapping triangles whose peaks sit at evenly spaced points and whose memberships sum to one everywhere. Two consequences: every input is described by at most two words, and the description changes continuously as the input moves.</a:t>
            </a:r>
          </a:p>
          <a:p/>
          <a:p>
            <a:r>
              <a:t>Figure 16.1 (handout p. 167): A fuzzy partition of the uncertainty scale. The memberships sum to one at every point, so each input is described by at most two words and the description moves smoothly as the input does.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classical fuzzy controller, in five steps. The example is the team’s risk model: inputs are effort (person-days) and requirement uncertainty, the output is risk, and there are nine rules — one for each combination of two linguistic variables with three values each.</a:t>
            </a:r>
          </a:p>
          <a:p/>
          <a:p>
            <a:r>
              <a:t>Figure 16.2 (handout p. 168): Mamdani inference on the project Beacon, effort 45 and uncertainty 4. Four of the nine rules fire, and the output is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Aggregation leaves a shape; a controller needs a number. The centroid method takes the shape’s centre of area: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computed in practice by summing over a grid.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above could have been done with a threshold rule: if effort &gt; 70 and uncertainty &gt; 7 then risk is high. It would be shorter, and it has one fatal property.</a:t>
            </a:r>
          </a:p>
          <a:p/>
          <a:p>
            <a:r>
              <a:t>Figure 16.3 (handout p. 169): The same knowledge as a fuzzy controller and as a threshold rule. The fuzzy output moves continuously; the threshold output is flat, flat, and then an eighty-point jump between two adjacent inputs.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 rule says the same thing at uncertainty 1 and at 6, and something completely different between 7 and 8. If the uncertainty score is a judgement with a unit of noise in it — and it is, because a person assigned it — then two assessors will disagree wildly about projects near the boundary and not at all about the rest. That is not a property anybody wants in a risk register. The fuzzy controller’s output moves a little when the input moves a little, everywhere. That is the engineering reason fuzzy control was adopted: not because vagueness is philosophically interesting, but because interpolating between rules gives a smooth response surface from a handful of sentences that domain experts can actually write.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pipeline on five projects, the hand-checkable trace for Beacon, the smoothness comparison of Figure 16.3, and the output-range limitation.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Smoothness.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The range limitation.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And the confusion this chapter exists to prevent.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membership is a fact about the word, not about our knowledge of the project. We know exactly how big the project is: seventy person-days. The number 0.4 says that seventy days is “high effort” to degree 0.4, and no further measurement of the project can change that. What would change it is redefining the membership function — that is, agreeing with the team on what “high” should mean, which is a conversation about vocabulary rather than about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membership functions form a fuzzy partition: overlapping triangles whose memberships sum to one everywhere, so at most two words are active for each input and therefore at most 2 × 2 = 4 rules fire. If the functions do not overlap, only one word is active per input, only one rule fires, and there is no interpolation at all — the controller degenerates into a lookup table with the smoothness that motivated the whole approach thrown away.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Centroid defuzzification returns the centre of area of the aggregated shape. Even when only the lowest output set is active, that set is a triangle centred at zero with area extending to its right, so its centre of area is strictly positive; the same argument at the top end keeps it below the maximum. The consequence for reporting is that the number must never be presented as a percentage or as an absolute risk. It is an ordinal score, useful for comparing projects with each other, and a board told “83% risk” has been misled by an artefact of the defuzzifier.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17 — Learning from Examples. READ: Handout Chapter 16, pages 166–176. THIS WEEK'S LAB: Risk rating by Mamdani inference; the perceptron and its limit. ASSESSMENT: Project experiments frozen.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6.xml"/><Relationship Id="rId10"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5.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9.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7.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50.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5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5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5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5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0.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1.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Fuzzy Logic</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REASONING UNDER UNCERTAINTY</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16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166     </a:t>
            </a:r>
            <a:fld id="{B40C35DD-CFEF-4572-BFE9-969F8AE1F201}"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7830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7830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285938"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285938"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198364"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198364" y="2029967"/>
            <a:ext cx="1329163"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2321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317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3273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412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2610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3466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35636"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441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451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537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5468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632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23853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1470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48062"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566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66732"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6673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424116"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Fuzzy Logic</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14  </a:t>
            </a:r>
            <a:r>
              <a:rPr sz="1400" b="0" i="0">
                <a:solidFill>
                  <a:srgbClr val="1C252B"/>
                </a:solidFill>
                <a:latin typeface="Segoe UI"/>
              </a:rPr>
              <a:t>Uncertainty and Decision Making</a:t>
            </a:r>
          </a:p>
        </p:txBody>
      </p:sp>
      <p:sp>
        <p:nvSpPr>
          <p:cNvPr id="68" name="!!chipBU1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1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1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15  </a:t>
            </a:r>
            <a:r>
              <a:rPr sz="1400" b="0" i="0">
                <a:solidFill>
                  <a:srgbClr val="1C252B"/>
                </a:solidFill>
                <a:latin typeface="Segoe UI"/>
              </a:rPr>
              <a:t>Bayesian Networks</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2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2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2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Artificial Intelligence Project</a:t>
            </a:r>
          </a:p>
        </p:txBody>
      </p:sp>
      <p:sp>
        <p:nvSpPr>
          <p:cNvPr id="7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pfill">
            <a:extLst>
              <a:ext uri="{C183D7F6-B498-43B3-948B-1728B52AA6E4}">
                <adec:decorative xmlns:adec="http://schemas.microsoft.com/office/drawing/2017/decorative" val="1"/>
              </a:ext>
            </a:extLst>
          </p:cNvPr>
          <p:cNvSpPr/>
          <p:nvPr/>
        </p:nvSpPr>
        <p:spPr>
          <a:xfrm>
            <a:off x="0" y="0"/>
            <a:ext cx="5079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166     </a:t>
            </a:r>
            <a:fld id="{106D4CA4-3E6D-4EFA-AD0D-AAA7FEFF06F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Distinguish</a:t>
            </a:r>
            <a:r>
              <a:rPr sz="2100" b="0" i="0">
                <a:solidFill>
                  <a:srgbClr val="1C252B"/>
                </a:solidFill>
                <a:latin typeface="Segoe UI"/>
              </a:rPr>
              <a:t> vagueness from uncertainty, and </a:t>
            </a:r>
            <a:r>
              <a:rPr sz="2100" b="1" i="0">
                <a:solidFill>
                  <a:srgbClr val="1C252B"/>
                </a:solidFill>
                <a:latin typeface="Segoe UI"/>
              </a:rPr>
              <a:t>say</a:t>
            </a:r>
            <a:r>
              <a:rPr sz="2100" b="0" i="0">
                <a:solidFill>
                  <a:srgbClr val="1C252B"/>
                </a:solidFill>
                <a:latin typeface="Segoe UI"/>
              </a:rPr>
              <a:t> which of the two fuzzy logic addresses.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Define</a:t>
            </a:r>
            <a:r>
              <a:rPr sz="2100" b="0" i="0">
                <a:solidFill>
                  <a:srgbClr val="1C252B"/>
                </a:solidFill>
                <a:latin typeface="Segoe UI"/>
              </a:rPr>
              <a:t> membership functions and </a:t>
            </a:r>
            <a:r>
              <a:rPr sz="2100" b="1" i="0">
                <a:solidFill>
                  <a:srgbClr val="1C252B"/>
                </a:solidFill>
                <a:latin typeface="Segoe UI"/>
              </a:rPr>
              <a:t>apply</a:t>
            </a:r>
            <a:r>
              <a:rPr sz="2100" b="0" i="0">
                <a:solidFill>
                  <a:srgbClr val="1C252B"/>
                </a:solidFill>
                <a:latin typeface="Segoe UI"/>
              </a:rPr>
              <a:t> the fuzzy operators.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Run</a:t>
            </a:r>
            <a:r>
              <a:rPr sz="2100" b="0" i="0">
                <a:solidFill>
                  <a:srgbClr val="1C252B"/>
                </a:solidFill>
                <a:latin typeface="Segoe UI"/>
              </a:rPr>
              <a:t> a Mamdani inference by hand: fuzzify, evaluate the rules, clip, aggregate, defuzzify.</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why a fuzzy controller’s output is smooth where a threshold rule’s is not, and why that matters.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State</a:t>
            </a:r>
            <a:r>
              <a:rPr sz="2100" b="0" i="0">
                <a:solidFill>
                  <a:srgbClr val="1C252B"/>
                </a:solidFill>
                <a:latin typeface="Segoe UI"/>
              </a:rPr>
              <a:t> the limitations of centroid defuzzification and of the method generally.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6198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166     </a:t>
            </a:r>
            <a:fld id="{9E808DE8-75F8-4C5D-AA47-CAA4E4DB7366}" type="slidenum">
              <a:rPr lang="en-GB" sz="1000">
                <a:solidFill>
                  <a:srgbClr val="8795A1"/>
                </a:solidFill>
                <a:latin typeface="Segoe UI"/>
              </a:rPr>
              <a:t>4</a:t>
            </a:fld>
          </a:p>
        </p:txBody>
      </p:sp>
      <p:sp>
        <p:nvSpPr>
          <p:cNvPr id="7" name="!!term-vagueness">
            <a:extLst>
              <a:ext uri="{C183D7F6-B498-43B3-948B-1728B52AA6E4}">
                <adec:decorative xmlns:adec="http://schemas.microsoft.com/office/drawing/2017/decorative" val="1"/>
              </a:ext>
            </a:extLst>
          </p:cNvPr>
          <p:cNvSpPr/>
          <p:nvPr/>
        </p:nvSpPr>
        <p:spPr>
          <a:xfrm>
            <a:off x="658368" y="1847088"/>
            <a:ext cx="13928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aguenes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agueness"/>
          <p:cNvSpPr txBox="1"/>
          <p:nvPr/>
        </p:nvSpPr>
        <p:spPr>
          <a:xfrm>
            <a:off x="950976" y="1962911"/>
            <a:ext cx="12100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vagueness</a:t>
            </a:r>
          </a:p>
        </p:txBody>
      </p:sp>
      <p:sp>
        <p:nvSpPr>
          <p:cNvPr id="10" name="!!term-fuzzy set">
            <a:extLst>
              <a:ext uri="{C183D7F6-B498-43B3-948B-1728B52AA6E4}">
                <adec:decorative xmlns:adec="http://schemas.microsoft.com/office/drawing/2017/decorative" val="1"/>
              </a:ext>
            </a:extLst>
          </p:cNvPr>
          <p:cNvSpPr/>
          <p:nvPr/>
        </p:nvSpPr>
        <p:spPr>
          <a:xfrm>
            <a:off x="2197561" y="1847088"/>
            <a:ext cx="12321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uzzy set">
            <a:extLst>
              <a:ext uri="{C183D7F6-B498-43B3-948B-1728B52AA6E4}">
                <adec:decorative xmlns:adec="http://schemas.microsoft.com/office/drawing/2017/decorative" val="1"/>
              </a:ext>
            </a:extLst>
          </p:cNvPr>
          <p:cNvSpPr/>
          <p:nvPr/>
        </p:nvSpPr>
        <p:spPr>
          <a:xfrm>
            <a:off x="23255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uzzy set"/>
          <p:cNvSpPr txBox="1"/>
          <p:nvPr/>
        </p:nvSpPr>
        <p:spPr>
          <a:xfrm>
            <a:off x="2490169" y="1962911"/>
            <a:ext cx="10492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fuzzy set</a:t>
            </a:r>
          </a:p>
        </p:txBody>
      </p:sp>
      <p:sp>
        <p:nvSpPr>
          <p:cNvPr id="13" name="!!term-membership fun">
            <a:extLst>
              <a:ext uri="{C183D7F6-B498-43B3-948B-1728B52AA6E4}">
                <adec:decorative xmlns:adec="http://schemas.microsoft.com/office/drawing/2017/decorative" val="1"/>
              </a:ext>
            </a:extLst>
          </p:cNvPr>
          <p:cNvSpPr/>
          <p:nvPr/>
        </p:nvSpPr>
        <p:spPr>
          <a:xfrm>
            <a:off x="3575977" y="1847088"/>
            <a:ext cx="23950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embership fun">
            <a:extLst>
              <a:ext uri="{C183D7F6-B498-43B3-948B-1728B52AA6E4}">
                <adec:decorative xmlns:adec="http://schemas.microsoft.com/office/drawing/2017/decorative" val="1"/>
              </a:ext>
            </a:extLst>
          </p:cNvPr>
          <p:cNvSpPr/>
          <p:nvPr/>
        </p:nvSpPr>
        <p:spPr>
          <a:xfrm>
            <a:off x="37039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embership fun"/>
          <p:cNvSpPr txBox="1"/>
          <p:nvPr/>
        </p:nvSpPr>
        <p:spPr>
          <a:xfrm>
            <a:off x="3868585" y="1962911"/>
            <a:ext cx="221221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membership function</a:t>
            </a:r>
          </a:p>
        </p:txBody>
      </p:sp>
      <p:sp>
        <p:nvSpPr>
          <p:cNvPr id="16" name="!!term-degree of memb">
            <a:extLst>
              <a:ext uri="{C183D7F6-B498-43B3-948B-1728B52AA6E4}">
                <adec:decorative xmlns:adec="http://schemas.microsoft.com/office/drawing/2017/decorative" val="1"/>
              </a:ext>
            </a:extLst>
          </p:cNvPr>
          <p:cNvSpPr/>
          <p:nvPr/>
        </p:nvSpPr>
        <p:spPr>
          <a:xfrm>
            <a:off x="6117373" y="1847088"/>
            <a:ext cx="25251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gree of memb">
            <a:extLst>
              <a:ext uri="{C183D7F6-B498-43B3-948B-1728B52AA6E4}">
                <adec:decorative xmlns:adec="http://schemas.microsoft.com/office/drawing/2017/decorative" val="1"/>
              </a:ext>
            </a:extLst>
          </p:cNvPr>
          <p:cNvSpPr/>
          <p:nvPr/>
        </p:nvSpPr>
        <p:spPr>
          <a:xfrm>
            <a:off x="624538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gree of memb"/>
          <p:cNvSpPr txBox="1"/>
          <p:nvPr/>
        </p:nvSpPr>
        <p:spPr>
          <a:xfrm>
            <a:off x="6409981" y="1962911"/>
            <a:ext cx="23422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degree of membership</a:t>
            </a:r>
          </a:p>
        </p:txBody>
      </p:sp>
      <p:sp>
        <p:nvSpPr>
          <p:cNvPr id="19" name="!!term-linguistic var">
            <a:extLst>
              <a:ext uri="{C183D7F6-B498-43B3-948B-1728B52AA6E4}">
                <adec:decorative xmlns:adec="http://schemas.microsoft.com/office/drawing/2017/decorative" val="1"/>
              </a:ext>
            </a:extLst>
          </p:cNvPr>
          <p:cNvSpPr/>
          <p:nvPr/>
        </p:nvSpPr>
        <p:spPr>
          <a:xfrm>
            <a:off x="8788831" y="1847088"/>
            <a:ext cx="20198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inguistic var">
            <a:extLst>
              <a:ext uri="{C183D7F6-B498-43B3-948B-1728B52AA6E4}">
                <adec:decorative xmlns:adec="http://schemas.microsoft.com/office/drawing/2017/decorative" val="1"/>
              </a:ext>
            </a:extLst>
          </p:cNvPr>
          <p:cNvSpPr/>
          <p:nvPr/>
        </p:nvSpPr>
        <p:spPr>
          <a:xfrm>
            <a:off x="891684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inguistic var"/>
          <p:cNvSpPr txBox="1"/>
          <p:nvPr/>
        </p:nvSpPr>
        <p:spPr>
          <a:xfrm>
            <a:off x="9081439" y="1962911"/>
            <a:ext cx="183698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linguistic variable</a:t>
            </a:r>
          </a:p>
        </p:txBody>
      </p:sp>
      <p:sp>
        <p:nvSpPr>
          <p:cNvPr id="22" name="!!term-fuzzy partitio">
            <a:extLst>
              <a:ext uri="{C183D7F6-B498-43B3-948B-1728B52AA6E4}">
                <adec:decorative xmlns:adec="http://schemas.microsoft.com/office/drawing/2017/decorative" val="1"/>
              </a:ext>
            </a:extLst>
          </p:cNvPr>
          <p:cNvSpPr/>
          <p:nvPr/>
        </p:nvSpPr>
        <p:spPr>
          <a:xfrm>
            <a:off x="658368" y="2468880"/>
            <a:ext cx="17447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fuzzy partitio">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fuzzy partitio"/>
          <p:cNvSpPr txBox="1"/>
          <p:nvPr/>
        </p:nvSpPr>
        <p:spPr>
          <a:xfrm>
            <a:off x="950976" y="2584704"/>
            <a:ext cx="15618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fuzzy partition</a:t>
            </a:r>
          </a:p>
        </p:txBody>
      </p:sp>
      <p:sp>
        <p:nvSpPr>
          <p:cNvPr id="25" name="!!term-fuzzy operator">
            <a:extLst>
              <a:ext uri="{C183D7F6-B498-43B3-948B-1728B52AA6E4}">
                <adec:decorative xmlns:adec="http://schemas.microsoft.com/office/drawing/2017/decorative" val="1"/>
              </a:ext>
            </a:extLst>
          </p:cNvPr>
          <p:cNvSpPr/>
          <p:nvPr/>
        </p:nvSpPr>
        <p:spPr>
          <a:xfrm>
            <a:off x="2549399" y="2468880"/>
            <a:ext cx="18466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fuzzy operator">
            <a:extLst>
              <a:ext uri="{C183D7F6-B498-43B3-948B-1728B52AA6E4}">
                <adec:decorative xmlns:adec="http://schemas.microsoft.com/office/drawing/2017/decorative" val="1"/>
              </a:ext>
            </a:extLst>
          </p:cNvPr>
          <p:cNvSpPr/>
          <p:nvPr/>
        </p:nvSpPr>
        <p:spPr>
          <a:xfrm>
            <a:off x="267741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fuzzy operator"/>
          <p:cNvSpPr txBox="1"/>
          <p:nvPr/>
        </p:nvSpPr>
        <p:spPr>
          <a:xfrm>
            <a:off x="2842007" y="2584704"/>
            <a:ext cx="166376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fuzzy operators</a:t>
            </a:r>
          </a:p>
        </p:txBody>
      </p:sp>
      <p:sp>
        <p:nvSpPr>
          <p:cNvPr id="28" name="!!term-fuzzification">
            <a:extLst>
              <a:ext uri="{C183D7F6-B498-43B3-948B-1728B52AA6E4}">
                <adec:decorative xmlns:adec="http://schemas.microsoft.com/office/drawing/2017/decorative" val="1"/>
              </a:ext>
            </a:extLst>
          </p:cNvPr>
          <p:cNvSpPr/>
          <p:nvPr/>
        </p:nvSpPr>
        <p:spPr>
          <a:xfrm>
            <a:off x="4542348" y="2468880"/>
            <a:ext cx="15340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fuzzification">
            <a:extLst>
              <a:ext uri="{C183D7F6-B498-43B3-948B-1728B52AA6E4}">
                <adec:decorative xmlns:adec="http://schemas.microsoft.com/office/drawing/2017/decorative" val="1"/>
              </a:ext>
            </a:extLst>
          </p:cNvPr>
          <p:cNvSpPr/>
          <p:nvPr/>
        </p:nvSpPr>
        <p:spPr>
          <a:xfrm>
            <a:off x="46703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fuzzification"/>
          <p:cNvSpPr txBox="1"/>
          <p:nvPr/>
        </p:nvSpPr>
        <p:spPr>
          <a:xfrm>
            <a:off x="4834956" y="2584704"/>
            <a:ext cx="13512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fuzzification</a:t>
            </a:r>
          </a:p>
        </p:txBody>
      </p:sp>
      <p:sp>
        <p:nvSpPr>
          <p:cNvPr id="31" name="!!term-firing strengt">
            <a:extLst>
              <a:ext uri="{C183D7F6-B498-43B3-948B-1728B52AA6E4}">
                <adec:decorative xmlns:adec="http://schemas.microsoft.com/office/drawing/2017/decorative" val="1"/>
              </a:ext>
            </a:extLst>
          </p:cNvPr>
          <p:cNvSpPr/>
          <p:nvPr/>
        </p:nvSpPr>
        <p:spPr>
          <a:xfrm>
            <a:off x="6222747" y="2468880"/>
            <a:ext cx="17380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firing strengt">
            <a:extLst>
              <a:ext uri="{C183D7F6-B498-43B3-948B-1728B52AA6E4}">
                <adec:decorative xmlns:adec="http://schemas.microsoft.com/office/drawing/2017/decorative" val="1"/>
              </a:ext>
            </a:extLst>
          </p:cNvPr>
          <p:cNvSpPr/>
          <p:nvPr/>
        </p:nvSpPr>
        <p:spPr>
          <a:xfrm>
            <a:off x="635076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firing strengt"/>
          <p:cNvSpPr txBox="1"/>
          <p:nvPr/>
        </p:nvSpPr>
        <p:spPr>
          <a:xfrm>
            <a:off x="6515355" y="2584704"/>
            <a:ext cx="15551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firing strength</a:t>
            </a:r>
          </a:p>
        </p:txBody>
      </p:sp>
      <p:sp>
        <p:nvSpPr>
          <p:cNvPr id="34" name="!!term-Mamdani infere">
            <a:extLst>
              <a:ext uri="{C183D7F6-B498-43B3-948B-1728B52AA6E4}">
                <adec:decorative xmlns:adec="http://schemas.microsoft.com/office/drawing/2017/decorative" val="1"/>
              </a:ext>
            </a:extLst>
          </p:cNvPr>
          <p:cNvSpPr/>
          <p:nvPr/>
        </p:nvSpPr>
        <p:spPr>
          <a:xfrm>
            <a:off x="8107052" y="2468880"/>
            <a:ext cx="22035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amdani infere">
            <a:extLst>
              <a:ext uri="{C183D7F6-B498-43B3-948B-1728B52AA6E4}">
                <adec:decorative xmlns:adec="http://schemas.microsoft.com/office/drawing/2017/decorative" val="1"/>
              </a:ext>
            </a:extLst>
          </p:cNvPr>
          <p:cNvSpPr/>
          <p:nvPr/>
        </p:nvSpPr>
        <p:spPr>
          <a:xfrm>
            <a:off x="823506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amdani infere"/>
          <p:cNvSpPr txBox="1"/>
          <p:nvPr/>
        </p:nvSpPr>
        <p:spPr>
          <a:xfrm>
            <a:off x="8399660" y="2584704"/>
            <a:ext cx="20206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Mamdani inference</a:t>
            </a:r>
          </a:p>
        </p:txBody>
      </p:sp>
      <p:sp>
        <p:nvSpPr>
          <p:cNvPr id="37" name="!!term-clipping">
            <a:extLst>
              <a:ext uri="{C183D7F6-B498-43B3-948B-1728B52AA6E4}">
                <adec:decorative xmlns:adec="http://schemas.microsoft.com/office/drawing/2017/decorative" val="1"/>
              </a:ext>
            </a:extLst>
          </p:cNvPr>
          <p:cNvSpPr/>
          <p:nvPr/>
        </p:nvSpPr>
        <p:spPr>
          <a:xfrm>
            <a:off x="658368" y="3090672"/>
            <a:ext cx="11682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lipp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lipping"/>
          <p:cNvSpPr txBox="1"/>
          <p:nvPr/>
        </p:nvSpPr>
        <p:spPr>
          <a:xfrm>
            <a:off x="950976" y="3206496"/>
            <a:ext cx="9853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clipping</a:t>
            </a:r>
          </a:p>
        </p:txBody>
      </p:sp>
      <p:sp>
        <p:nvSpPr>
          <p:cNvPr id="40" name="!!term-aggregation">
            <a:extLst>
              <a:ext uri="{C183D7F6-B498-43B3-948B-1728B52AA6E4}">
                <adec:decorative xmlns:adec="http://schemas.microsoft.com/office/drawing/2017/decorative" val="1"/>
              </a:ext>
            </a:extLst>
          </p:cNvPr>
          <p:cNvSpPr/>
          <p:nvPr/>
        </p:nvSpPr>
        <p:spPr>
          <a:xfrm>
            <a:off x="1972946" y="3090672"/>
            <a:ext cx="15558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aggregation">
            <a:extLst>
              <a:ext uri="{C183D7F6-B498-43B3-948B-1728B52AA6E4}">
                <adec:decorative xmlns:adec="http://schemas.microsoft.com/office/drawing/2017/decorative" val="1"/>
              </a:ext>
            </a:extLst>
          </p:cNvPr>
          <p:cNvSpPr/>
          <p:nvPr/>
        </p:nvSpPr>
        <p:spPr>
          <a:xfrm>
            <a:off x="210096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aggregation"/>
          <p:cNvSpPr txBox="1"/>
          <p:nvPr/>
        </p:nvSpPr>
        <p:spPr>
          <a:xfrm>
            <a:off x="2265554" y="3206496"/>
            <a:ext cx="13729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aggregation</a:t>
            </a:r>
          </a:p>
        </p:txBody>
      </p:sp>
      <p:sp>
        <p:nvSpPr>
          <p:cNvPr id="43" name="!!term-defuzzificatio">
            <a:extLst>
              <a:ext uri="{C183D7F6-B498-43B3-948B-1728B52AA6E4}">
                <adec:decorative xmlns:adec="http://schemas.microsoft.com/office/drawing/2017/decorative" val="1"/>
              </a:ext>
            </a:extLst>
          </p:cNvPr>
          <p:cNvSpPr/>
          <p:nvPr/>
        </p:nvSpPr>
        <p:spPr>
          <a:xfrm>
            <a:off x="3675065" y="3090672"/>
            <a:ext cx="17645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defuzzificatio">
            <a:extLst>
              <a:ext uri="{C183D7F6-B498-43B3-948B-1728B52AA6E4}">
                <adec:decorative xmlns:adec="http://schemas.microsoft.com/office/drawing/2017/decorative" val="1"/>
              </a:ext>
            </a:extLst>
          </p:cNvPr>
          <p:cNvSpPr/>
          <p:nvPr/>
        </p:nvSpPr>
        <p:spPr>
          <a:xfrm>
            <a:off x="380308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defuzzificatio"/>
          <p:cNvSpPr txBox="1"/>
          <p:nvPr/>
        </p:nvSpPr>
        <p:spPr>
          <a:xfrm>
            <a:off x="3967673" y="3206496"/>
            <a:ext cx="15816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defuzzification</a:t>
            </a:r>
          </a:p>
        </p:txBody>
      </p:sp>
      <p:sp>
        <p:nvSpPr>
          <p:cNvPr id="46" name="!!term-centroid">
            <a:extLst>
              <a:ext uri="{C183D7F6-B498-43B3-948B-1728B52AA6E4}">
                <adec:decorative xmlns:adec="http://schemas.microsoft.com/office/drawing/2017/decorative" val="1"/>
              </a:ext>
            </a:extLst>
          </p:cNvPr>
          <p:cNvSpPr/>
          <p:nvPr/>
        </p:nvSpPr>
        <p:spPr>
          <a:xfrm>
            <a:off x="5585942" y="3090672"/>
            <a:ext cx="11964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centroid">
            <a:extLst>
              <a:ext uri="{C183D7F6-B498-43B3-948B-1728B52AA6E4}">
                <adec:decorative xmlns:adec="http://schemas.microsoft.com/office/drawing/2017/decorative" val="1"/>
              </a:ext>
            </a:extLst>
          </p:cNvPr>
          <p:cNvSpPr/>
          <p:nvPr/>
        </p:nvSpPr>
        <p:spPr>
          <a:xfrm>
            <a:off x="571395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centroid"/>
          <p:cNvSpPr txBox="1"/>
          <p:nvPr/>
        </p:nvSpPr>
        <p:spPr>
          <a:xfrm>
            <a:off x="5878550" y="3206496"/>
            <a:ext cx="10135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centroid</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01597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166–176     </a:t>
            </a:r>
            <a:fld id="{BF7E6BE5-79C8-4A2B-B973-92FE9C77C445}" type="slidenum">
              <a:rPr lang="en-GB" sz="1000">
                <a:solidFill>
                  <a:srgbClr val="8795A1"/>
                </a:solidFill>
                <a:latin typeface="Segoe UI"/>
              </a:rPr>
              <a:t>5</a:t>
            </a:fld>
          </a:p>
        </p:txBody>
      </p:sp>
      <p:sp>
        <p:nvSpPr>
          <p:cNvPr id="7" name="!!ag0" descr="Go to section 16.1 Vagueness Is Not Uncertainty">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Vagueness Is Not Uncertainty</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166  ›</a:t>
            </a:r>
          </a:p>
        </p:txBody>
      </p:sp>
      <p:sp>
        <p:nvSpPr>
          <p:cNvPr id="12" name="!!ag1" descr="Go to section 16.2 Membership Functions and Linguistic Variabl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Membership Functions and Linguistic Variables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167  ›</a:t>
            </a:r>
          </a:p>
        </p:txBody>
      </p:sp>
      <p:sp>
        <p:nvSpPr>
          <p:cNvPr id="17" name="!!ag2" descr="Go to section 16.3 The Fuzzy Operator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Fuzzy Operators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167  ›</a:t>
            </a:r>
          </a:p>
        </p:txBody>
      </p:sp>
      <p:sp>
        <p:nvSpPr>
          <p:cNvPr id="22" name="!!ag3" descr="Go to section 16.4 Mamdani Inferenc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Mamdani Inference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168  ›</a:t>
            </a:r>
          </a:p>
        </p:txBody>
      </p:sp>
      <p:sp>
        <p:nvSpPr>
          <p:cNvPr id="27" name="!!ag4" descr="Go to section 16.5 Defuzzific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Defuzzification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168  ›</a:t>
            </a:r>
          </a:p>
        </p:txBody>
      </p:sp>
      <p:sp>
        <p:nvSpPr>
          <p:cNvPr id="32" name="!!ag5" descr="Go to section 16.6 Why Smoothness Is the Point">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16.6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Smoothness Is the Point</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169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2699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Vagueness Is Not Uncertainty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16.1   Vagueness Is Not Uncertainty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Membership Functions and Linguistic Variables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The Fuzzy Operators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Mamdani Inference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Defuzzification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16.6   Why Smoothness Is the Point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§16.1     </a:t>
            </a:r>
            <a:fld id="{31A63430-EDF8-48E8-AC65-776F2C8C7DB8}"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Fuzzy set and membership</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166     </a:t>
            </a:r>
            <a:fld id="{A47891C0-5951-4D1A-B5CC-3FE9908B7E72}"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5151"/>
          </a:xfrm>
          <a:prstGeom prst="roundRect">
            <a:avLst>
              <a:gd name="adj" fmla="val 350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515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fuzzy set</a:t>
            </a:r>
            <a:r>
              <a:rPr sz="2300" b="0" i="0">
                <a:solidFill>
                  <a:srgbClr val="1C252B"/>
                </a:solidFill>
                <a:latin typeface="Segoe UI"/>
              </a:rPr>
              <a:t> </a:t>
            </a:r>
            <a:r>
              <a:rPr sz="2300" b="0" i="1">
                <a:solidFill>
                  <a:srgbClr val="1C252B"/>
                </a:solidFill>
                <a:latin typeface="Cambria"/>
              </a:rPr>
              <a:t>A</a:t>
            </a:r>
            <a:r>
              <a:rPr sz="2300" b="0" i="0">
                <a:solidFill>
                  <a:srgbClr val="1C252B"/>
                </a:solidFill>
                <a:latin typeface="Segoe UI"/>
              </a:rPr>
              <a:t> over a domain is given by a </a:t>
            </a:r>
            <a:r>
              <a:rPr sz="2300" b="1" i="0">
                <a:solidFill>
                  <a:srgbClr val="1A5276"/>
                </a:solidFill>
                <a:latin typeface="Segoe UI"/>
              </a:rPr>
              <a:t>membership function</a:t>
            </a:r>
            <a:r>
              <a:rPr sz="2300" b="0" i="0">
                <a:solidFill>
                  <a:srgbClr val="1C252B"/>
                </a:solidFill>
                <a:latin typeface="Segoe UI"/>
              </a:rPr>
              <a:t> </a:t>
            </a:r>
            <a:r>
              <a:rPr sz="2300" b="0" i="0">
                <a:solidFill>
                  <a:srgbClr val="1C252B"/>
                </a:solidFill>
                <a:latin typeface="Cambria"/>
              </a:rPr>
              <a:t>μ</a:t>
            </a:r>
            <a:r>
              <a:rPr sz="1500" b="0" i="1" baseline="-25000">
                <a:solidFill>
                  <a:srgbClr val="1C252B"/>
                </a:solidFill>
                <a:latin typeface="Cambria"/>
              </a:rPr>
              <a:t>A</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 ∈ [0,1]</a:t>
            </a:r>
            <a:r>
              <a:rPr sz="2300" b="0" i="0">
                <a:solidFill>
                  <a:srgbClr val="1C252B"/>
                </a:solidFill>
                <a:latin typeface="Segoe UI"/>
              </a:rPr>
              <a:t> saying to what degree </a:t>
            </a:r>
            <a:r>
              <a:rPr sz="2300" b="0" i="1">
                <a:solidFill>
                  <a:srgbClr val="1C252B"/>
                </a:solidFill>
                <a:latin typeface="Cambria"/>
              </a:rPr>
              <a:t>x</a:t>
            </a:r>
            <a:r>
              <a:rPr sz="2300" b="0" i="0">
                <a:solidFill>
                  <a:srgbClr val="1C252B"/>
                </a:solidFill>
                <a:latin typeface="Segoe UI"/>
              </a:rPr>
              <a:t> belongs to </a:t>
            </a:r>
            <a:r>
              <a:rPr sz="2300" b="0" i="1">
                <a:solidFill>
                  <a:srgbClr val="1C252B"/>
                </a:solidFill>
                <a:latin typeface="Cambria"/>
              </a:rPr>
              <a:t>A</a:t>
            </a:r>
            <a:r>
              <a:rPr sz="2300" b="0" i="0">
                <a:solidFill>
                  <a:srgbClr val="1C252B"/>
                </a:solidFill>
                <a:latin typeface="Segoe UI"/>
              </a:rPr>
              <a:t>.</a:t>
            </a:r>
          </a:p>
        </p:txBody>
      </p:sp>
      <p:sp>
        <p:nvSpPr>
          <p:cNvPr id="10" name="body-1"/>
          <p:cNvSpPr txBox="1"/>
          <p:nvPr/>
        </p:nvSpPr>
        <p:spPr>
          <a:xfrm>
            <a:off x="1060704" y="2937992"/>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Cambria"/>
              </a:rPr>
              <a:t>μ</a:t>
            </a:r>
            <a:r>
              <a:rPr sz="1500" b="0" i="1" baseline="-25000">
                <a:solidFill>
                  <a:srgbClr val="1C252B"/>
                </a:solidFill>
                <a:latin typeface="Cambria"/>
              </a:rPr>
              <a:t>high</a:t>
            </a:r>
            <a:r>
              <a:rPr sz="2300" b="0" i="0">
                <a:solidFill>
                  <a:srgbClr val="1C252B"/>
                </a:solidFill>
                <a:latin typeface="Cambria"/>
              </a:rPr>
              <a:t>(70) = 0.4</a:t>
            </a:r>
            <a:r>
              <a:rPr sz="2300" b="0" i="0">
                <a:solidFill>
                  <a:srgbClr val="1C252B"/>
                </a:solidFill>
                <a:latin typeface="Segoe UI"/>
              </a:rPr>
              <a:t> does </a:t>
            </a:r>
            <a:r>
              <a:rPr sz="2300" b="0" i="1">
                <a:solidFill>
                  <a:srgbClr val="1C252B"/>
                </a:solidFill>
                <a:latin typeface="Segoe UI"/>
              </a:rPr>
              <a:t>not</a:t>
            </a:r>
            <a:r>
              <a:rPr sz="2300" b="0" i="0">
                <a:solidFill>
                  <a:srgbClr val="1C252B"/>
                </a:solidFill>
                <a:latin typeface="Segoe UI"/>
              </a:rPr>
              <a:t> mean “a </a:t>
            </a:r>
            <a:r>
              <a:rPr sz="2300" b="0" i="0">
                <a:solidFill>
                  <a:srgbClr val="1C252B"/>
                </a:solidFill>
                <a:latin typeface="Cambria"/>
              </a:rPr>
              <a:t>40%</a:t>
            </a:r>
            <a:r>
              <a:rPr sz="2300" b="0" i="0">
                <a:solidFill>
                  <a:srgbClr val="1C252B"/>
                </a:solidFill>
                <a:latin typeface="Segoe UI"/>
              </a:rPr>
              <a:t> chance the project is high-risk”. It means the project is high-risk to degree </a:t>
            </a:r>
            <a:r>
              <a:rPr sz="2300" b="0" i="0">
                <a:solidFill>
                  <a:srgbClr val="1C252B"/>
                </a:solidFill>
                <a:latin typeface="Cambria"/>
              </a:rPr>
              <a:t>0.4</a:t>
            </a:r>
            <a:r>
              <a:rPr sz="2300" b="0" i="0">
                <a:solidFill>
                  <a:srgbClr val="1C252B"/>
                </a:solidFill>
                <a:latin typeface="Segoe UI"/>
              </a:rPr>
              <a:t> — a statement about the </a:t>
            </a:r>
            <a:r>
              <a:rPr sz="2300" b="0" i="1">
                <a:solidFill>
                  <a:srgbClr val="1C252B"/>
                </a:solidFill>
                <a:latin typeface="Segoe UI"/>
              </a:rPr>
              <a:t>word</a:t>
            </a:r>
            <a:r>
              <a:rPr sz="2300" b="0" i="0">
                <a:solidFill>
                  <a:srgbClr val="1C252B"/>
                </a:solidFill>
                <a:latin typeface="Segoe UI"/>
              </a:rPr>
              <a:t>, not about the world, and it does not change when more evidence arrives.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779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confusion this chapter exists to prevent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166     </a:t>
            </a:r>
            <a:fld id="{1FE9AF0E-9F61-416F-BD92-6B760F79526A}"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9788"/>
          </a:xfrm>
          <a:prstGeom prst="roundRect">
            <a:avLst>
              <a:gd name="adj" fmla="val 2177"/>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978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probability and a membership are both numbers in </a:t>
            </a:r>
            <a:r>
              <a:rPr sz="1900" b="0" i="0">
                <a:solidFill>
                  <a:srgbClr val="1C252B"/>
                </a:solidFill>
                <a:latin typeface="Cambria"/>
              </a:rPr>
              <a:t>[0,1]</a:t>
            </a:r>
            <a:r>
              <a:rPr sz="1900" b="0" i="0">
                <a:solidFill>
                  <a:srgbClr val="1C252B"/>
                </a:solidFill>
                <a:latin typeface="Segoe UI"/>
              </a:rPr>
              <a:t> and they mean entirely different things.</a:t>
            </a:r>
          </a:p>
        </p:txBody>
      </p:sp>
      <p:sp>
        <p:nvSpPr>
          <p:cNvPr id="10" name="body-1"/>
          <p:cNvSpPr txBox="1"/>
          <p:nvPr/>
        </p:nvSpPr>
        <p:spPr>
          <a:xfrm>
            <a:off x="1060704" y="2783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P</a:t>
            </a:r>
            <a:r>
              <a:rPr sz="1900" b="0" i="0">
                <a:solidFill>
                  <a:srgbClr val="1C252B"/>
                </a:solidFill>
                <a:latin typeface="Cambria"/>
              </a:rPr>
              <a:t>(</a:t>
            </a:r>
            <a:r>
              <a:rPr sz="1900" b="0" i="1">
                <a:solidFill>
                  <a:srgbClr val="1C252B"/>
                </a:solidFill>
                <a:latin typeface="Cambria"/>
              </a:rPr>
              <a:t>defect</a:t>
            </a:r>
            <a:r>
              <a:rPr sz="1900" b="0" i="0">
                <a:solidFill>
                  <a:srgbClr val="1C252B"/>
                </a:solidFill>
                <a:latin typeface="Cambria"/>
              </a:rPr>
              <a:t>) = 0.3</a:t>
            </a:r>
            <a:r>
              <a:rPr sz="1900" b="0" i="0">
                <a:solidFill>
                  <a:srgbClr val="1C252B"/>
                </a:solidFill>
                <a:latin typeface="Segoe UI"/>
              </a:rPr>
              <a:t> describes ignorance about a sharp fact; test the release and it resolves to </a:t>
            </a:r>
            <a:r>
              <a:rPr sz="1900" b="0" i="0">
                <a:solidFill>
                  <a:srgbClr val="1C252B"/>
                </a:solidFill>
                <a:latin typeface="Cambria"/>
              </a:rPr>
              <a:t>0</a:t>
            </a:r>
            <a:r>
              <a:rPr sz="1900" b="0" i="0">
                <a:solidFill>
                  <a:srgbClr val="1C252B"/>
                </a:solidFill>
                <a:latin typeface="Segoe UI"/>
              </a:rPr>
              <a:t> or </a:t>
            </a:r>
            <a:r>
              <a:rPr sz="1900" b="0" i="0">
                <a:solidFill>
                  <a:srgbClr val="1C252B"/>
                </a:solidFill>
                <a:latin typeface="Cambria"/>
              </a:rPr>
              <a:t>1</a:t>
            </a:r>
            <a:r>
              <a:rPr sz="1900" b="0" i="0">
                <a:solidFill>
                  <a:srgbClr val="1C252B"/>
                </a:solidFill>
                <a:latin typeface="Segoe UI"/>
              </a:rPr>
              <a:t>. </a:t>
            </a:r>
            <a:r>
              <a:rPr sz="1900" b="0" i="0">
                <a:solidFill>
                  <a:srgbClr val="1C252B"/>
                </a:solidFill>
                <a:latin typeface="Cambria"/>
              </a:rPr>
              <a:t>μ</a:t>
            </a:r>
            <a:r>
              <a:rPr sz="1250" b="0" i="1" baseline="-25000">
                <a:solidFill>
                  <a:srgbClr val="1C252B"/>
                </a:solidFill>
                <a:latin typeface="Cambria"/>
              </a:rPr>
              <a:t>high</a:t>
            </a:r>
            <a:r>
              <a:rPr sz="1900" b="0" i="0">
                <a:solidFill>
                  <a:srgbClr val="1C252B"/>
                </a:solidFill>
                <a:latin typeface="Cambria"/>
              </a:rPr>
              <a:t>(70) = 0.4</a:t>
            </a:r>
            <a:r>
              <a:rPr sz="1900" b="0" i="0">
                <a:solidFill>
                  <a:srgbClr val="1C252B"/>
                </a:solidFill>
                <a:latin typeface="Segoe UI"/>
              </a:rPr>
              <a:t> describes a sharp fact about a blurry word; measure the project more carefully and it stays </a:t>
            </a:r>
            <a:r>
              <a:rPr sz="1900" b="0" i="0">
                <a:solidFill>
                  <a:srgbClr val="1C252B"/>
                </a:solidFill>
                <a:latin typeface="Cambria"/>
              </a:rPr>
              <a:t>0.4</a:t>
            </a:r>
            <a:r>
              <a:rPr sz="1900" b="0" i="0">
                <a:solidFill>
                  <a:srgbClr val="1C252B"/>
                </a:solidFill>
                <a:latin typeface="Segoe UI"/>
              </a:rPr>
              <a:t>.</a:t>
            </a:r>
          </a:p>
        </p:txBody>
      </p:sp>
      <p:sp>
        <p:nvSpPr>
          <p:cNvPr id="11" name="body-2"/>
          <p:cNvSpPr txBox="1"/>
          <p:nvPr/>
        </p:nvSpPr>
        <p:spPr>
          <a:xfrm>
            <a:off x="1060704" y="3819398"/>
            <a:ext cx="10161727" cy="185257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Probabilities over a partition sum to one and memberships do not. Combining probabilities uses multiplication and Bayes’ rule; combining memberships uses </a:t>
            </a:r>
            <a:r>
              <a:rPr sz="1900" b="0" i="0">
                <a:solidFill>
                  <a:srgbClr val="1C252B"/>
                </a:solidFill>
                <a:latin typeface="Cambria"/>
              </a:rPr>
              <a:t>min</a:t>
            </a:r>
            <a:r>
              <a:rPr sz="1900" b="0" i="0">
                <a:solidFill>
                  <a:srgbClr val="1C252B"/>
                </a:solidFill>
                <a:latin typeface="Segoe UI"/>
              </a:rPr>
              <a:t> and </a:t>
            </a:r>
            <a:r>
              <a:rPr sz="1900" b="0" i="0">
                <a:solidFill>
                  <a:srgbClr val="1C252B"/>
                </a:solidFill>
                <a:latin typeface="Cambria"/>
              </a:rPr>
              <a:t>max</a:t>
            </a:r>
            <a:r>
              <a:rPr sz="1900" b="0" i="0">
                <a:solidFill>
                  <a:srgbClr val="1C252B"/>
                </a:solidFill>
                <a:latin typeface="Segoe UI"/>
              </a:rPr>
              <a:t>. And Russell and Norvig are openly sceptical that the second apparatus is ever necessary — their position is that a well-specified probabilistic model can do this work. It is worth reading their argument, and worth knowing that fuzzy controllers run production systems from cement kilns to camera autofocus, which is an argument of a different kind.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fuzzy partition of the uncertainty scale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167     </a:t>
            </a:r>
            <a:fld id="{5DC845FE-2F34-4D8A-91A5-B4E284E0017A}" type="slidenum">
              <a:rPr lang="en-GB" sz="1000">
                <a:solidFill>
                  <a:srgbClr val="8795A1"/>
                </a:solidFill>
                <a:latin typeface="Segoe UI"/>
              </a:rPr>
              <a:t>9</a:t>
            </a:fld>
          </a:p>
        </p:txBody>
      </p:sp>
      <p:pic>
        <p:nvPicPr>
          <p:cNvPr id="6" name="!!figure" descr="Figure 16.1. A fuzzy partition of the uncertainty scale. The memberships sum to one at every point, so each input is described by at most two words and the description moves smoothly as the input do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2152" y="1737360"/>
            <a:ext cx="862739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memberships sum to one at every point, so each input is described by at most two words and the description moves smoothly as the input does.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859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Fuzzy Operators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167     </a:t>
            </a:r>
            <a:fld id="{95444E09-C71F-48FD-8CC5-75D4F15E8981}" type="slidenum">
              <a:rPr lang="en-GB" sz="1000">
                <a:solidFill>
                  <a:srgbClr val="8795A1"/>
                </a:solidFill>
                <a:latin typeface="Segoe UI"/>
              </a:rPr>
              <a:t>10</a:t>
            </a:fld>
          </a:p>
        </p:txBody>
      </p:sp>
      <p:sp>
        <p:nvSpPr>
          <p:cNvPr id="7" name="!!stbar">
            <a:extLst>
              <a:ext uri="{C183D7F6-B498-43B3-948B-1728B52AA6E4}">
                <adec:decorative xmlns:adec="http://schemas.microsoft.com/office/drawing/2017/decorative" val="1"/>
              </a:ext>
            </a:extLst>
          </p:cNvPr>
          <p:cNvSpPr/>
          <p:nvPr/>
        </p:nvSpPr>
        <p:spPr>
          <a:xfrm>
            <a:off x="658368" y="1810512"/>
            <a:ext cx="73152" cy="375175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806500"/>
          </a:xfrm>
          <a:prstGeom prst="rect">
            <a:avLst/>
          </a:prstGeom>
          <a:noFill/>
        </p:spPr>
        <p:txBody>
          <a:bodyPr wrap="square" anchor="t" lIns="0" rIns="0" tIns="0" bIns="0">
            <a:noAutofit/>
          </a:bodyPr>
          <a:lstStyle/>
          <a:p>
            <a:pPr algn="l">
              <a:lnSpc>
                <a:spcPct val="104000"/>
              </a:lnSpc>
              <a:spcBef>
                <a:spcPts val="0"/>
              </a:spcBef>
              <a:spcAft>
                <a:spcPts val="0"/>
              </a:spcAft>
            </a:pPr>
            <a:r>
              <a:rPr sz="2400" b="0" i="0">
                <a:solidFill>
                  <a:srgbClr val="1C252B"/>
                </a:solidFill>
                <a:latin typeface="Segoe UI"/>
              </a:rPr>
              <a:t>Conjunction, disjunction and negation extend to memberships in the standard way:</a:t>
            </a:r>
          </a:p>
        </p:txBody>
      </p:sp>
      <p:pic>
        <p:nvPicPr>
          <p:cNvPr id="9" name="body-1" descr="\mu_{A \cap B}(x) = \min\bigl(\mu_{A}(x), \mu_{B}(x)\bigr), \quad \mu_{A \cup B}(x) = \max\bigl(\mu_{A}(x), \mu_{B}(x)\bigr), \quad \mu_{\neg A}(x) = 1 - \mu_{A}(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5" y="2720644"/>
            <a:ext cx="10417759" cy="409925"/>
          </a:xfrm>
          <a:prstGeom prst="rect">
            <a:avLst/>
          </a:prstGeom>
        </p:spPr>
      </p:pic>
      <p:sp>
        <p:nvSpPr>
          <p:cNvPr id="10" name="body-2"/>
          <p:cNvSpPr txBox="1"/>
          <p:nvPr/>
        </p:nvSpPr>
        <p:spPr>
          <a:xfrm>
            <a:off x="1042415" y="3298210"/>
            <a:ext cx="10417759" cy="2328062"/>
          </a:xfrm>
          <a:prstGeom prst="rect">
            <a:avLst/>
          </a:prstGeom>
          <a:noFill/>
        </p:spPr>
        <p:txBody>
          <a:bodyPr wrap="square" anchor="t" lIns="0" rIns="0" tIns="0" bIns="0">
            <a:noAutofit/>
          </a:bodyPr>
          <a:lstStyle/>
          <a:p>
            <a:pPr algn="l">
              <a:lnSpc>
                <a:spcPct val="104000"/>
              </a:lnSpc>
              <a:spcBef>
                <a:spcPts val="0"/>
              </a:spcBef>
              <a:spcAft>
                <a:spcPts val="0"/>
              </a:spcAft>
            </a:pPr>
            <a:r>
              <a:rPr sz="2400" b="0" i="0">
                <a:solidFill>
                  <a:srgbClr val="1C252B"/>
                </a:solidFill>
                <a:latin typeface="Segoe UI"/>
              </a:rPr>
              <a:t>Note what is </a:t>
            </a:r>
            <a:r>
              <a:rPr sz="2400" b="0" i="1">
                <a:solidFill>
                  <a:srgbClr val="1C252B"/>
                </a:solidFill>
                <a:latin typeface="Segoe UI"/>
              </a:rPr>
              <a:t>not</a:t>
            </a:r>
            <a:r>
              <a:rPr sz="2400" b="0" i="0">
                <a:solidFill>
                  <a:srgbClr val="1C252B"/>
                </a:solidFill>
                <a:latin typeface="Segoe UI"/>
              </a:rPr>
              <a:t> true. In classical logic </a:t>
            </a:r>
            <a:r>
              <a:rPr sz="2400" b="0" i="1">
                <a:solidFill>
                  <a:srgbClr val="1C252B"/>
                </a:solidFill>
                <a:latin typeface="Cambria"/>
              </a:rPr>
              <a:t>A</a:t>
            </a:r>
            <a:r>
              <a:rPr sz="2400" b="0" i="0">
                <a:solidFill>
                  <a:srgbClr val="1C252B"/>
                </a:solidFill>
                <a:latin typeface="Cambria"/>
              </a:rPr>
              <a:t> ∩ ¬ </a:t>
            </a:r>
            <a:r>
              <a:rPr sz="2400" b="0" i="1">
                <a:solidFill>
                  <a:srgbClr val="1C252B"/>
                </a:solidFill>
                <a:latin typeface="Cambria"/>
              </a:rPr>
              <a:t>A</a:t>
            </a:r>
            <a:r>
              <a:rPr sz="2400" b="0" i="0">
                <a:solidFill>
                  <a:srgbClr val="1C252B"/>
                </a:solidFill>
                <a:latin typeface="Cambria"/>
              </a:rPr>
              <a:t> = ∅</a:t>
            </a:r>
            <a:r>
              <a:rPr sz="2400" b="0" i="0">
                <a:solidFill>
                  <a:srgbClr val="1C252B"/>
                </a:solidFill>
                <a:latin typeface="Segoe UI"/>
              </a:rPr>
              <a:t>; here </a:t>
            </a:r>
            <a:r>
              <a:rPr sz="2400" b="0" i="0">
                <a:solidFill>
                  <a:srgbClr val="1C252B"/>
                </a:solidFill>
                <a:latin typeface="Cambria"/>
              </a:rPr>
              <a:t>min(μ, 1−μ)</a:t>
            </a:r>
            <a:r>
              <a:rPr sz="2400" b="0" i="0">
                <a:solidFill>
                  <a:srgbClr val="1C252B"/>
                </a:solidFill>
                <a:latin typeface="Segoe UI"/>
              </a:rPr>
              <a:t> is </a:t>
            </a:r>
            <a:r>
              <a:rPr sz="2400" b="0" i="0">
                <a:solidFill>
                  <a:srgbClr val="1C252B"/>
                </a:solidFill>
                <a:latin typeface="Cambria"/>
              </a:rPr>
              <a:t>0.5</a:t>
            </a:r>
            <a:r>
              <a:rPr sz="2400" b="0" i="0">
                <a:solidFill>
                  <a:srgbClr val="1C252B"/>
                </a:solidFill>
                <a:latin typeface="Segoe UI"/>
              </a:rPr>
              <a:t> when </a:t>
            </a:r>
            <a:r>
              <a:rPr sz="2400" b="0" i="0">
                <a:solidFill>
                  <a:srgbClr val="1C252B"/>
                </a:solidFill>
                <a:latin typeface="Cambria"/>
              </a:rPr>
              <a:t>μ = 0.5</a:t>
            </a:r>
            <a:r>
              <a:rPr sz="2400" b="0" i="0">
                <a:solidFill>
                  <a:srgbClr val="1C252B"/>
                </a:solidFill>
                <a:latin typeface="Segoe UI"/>
              </a:rPr>
              <a:t>, so a borderline project is in “high-risk and not high-risk” to degree </a:t>
            </a:r>
            <a:r>
              <a:rPr sz="2400" b="0" i="0">
                <a:solidFill>
                  <a:srgbClr val="1C252B"/>
                </a:solidFill>
                <a:latin typeface="Cambria"/>
              </a:rPr>
              <a:t>0.5</a:t>
            </a:r>
            <a:r>
              <a:rPr sz="2400" b="0" i="0">
                <a:solidFill>
                  <a:srgbClr val="1C252B"/>
                </a:solidFill>
                <a:latin typeface="Segoe UI"/>
              </a:rPr>
              <a:t>. That is a feature of the intended reading — a genuinely borderline case is half in and half out of a vague category — and it is also why fuzzy logic is not a logic in the sense of Chapter 11: there is no entailment relation and no soundness theorem.</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53993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Mamdani Inference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Vagueness Is Not Uncertainty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Membership Functions and Linguistic Variables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The Fuzzy Operators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16.4   Mamdani Inference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Defuzzification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16.6   Why Smoothness Is the Point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§16.4     </a:t>
            </a:r>
            <a:fld id="{023A7164-FCFF-4386-BEEF-54F2F97E0CE3}"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79393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Mamdani inference on the project Beacon, effort 45 and uncertainty 4</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168     </a:t>
            </a:r>
            <a:fld id="{3662C805-32F7-45A7-B611-6EB968C9CBC8}" type="slidenum">
              <a:rPr lang="en-GB" sz="1000">
                <a:solidFill>
                  <a:srgbClr val="8795A1"/>
                </a:solidFill>
                <a:latin typeface="Segoe UI"/>
              </a:rPr>
              <a:t>12</a:t>
            </a:fld>
          </a:p>
        </p:txBody>
      </p:sp>
      <p:pic>
        <p:nvPicPr>
          <p:cNvPr id="6" name="!!figure" descr="Figure 16.2. Mamdani inference on the project Beacon, effort 45 and uncertainty 4. Four of the nine rules fire, and the output is a single numb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69410"/>
            <a:ext cx="10874959" cy="325537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Four of the nine rules fire, and the output is a single number.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nine rules</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168     </a:t>
            </a:r>
            <a:fld id="{0D533F75-6763-4898-BAEE-5A45F1D4EA64}"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828031"/>
          </a:xfrm>
          <a:prstGeom prst="roundRect">
            <a:avLst>
              <a:gd name="adj" fmla="val 1893"/>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82803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4112134" cy="4206230"/>
        </p:xfrm>
        <a:graphic>
          <a:graphicData uri="http://schemas.openxmlformats.org/drawingml/2006/table">
            <a:tbl>
              <a:tblPr firstRow="0" bandRow="0" firstCol="0" lastRow="0" lastCol="0" bandCol="0">
                <a:tableStyleId>{2D5ABB26-0587-4C30-8999-92F81FD0307C}</a:tableStyleId>
              </a:tblPr>
              <a:tblGrid>
                <a:gridCol w="1170856"/>
                <a:gridCol w="1536251"/>
                <a:gridCol w="1405027"/>
              </a:tblGrid>
              <a:tr h="420623">
                <a:tc>
                  <a:txBody>
                    <a:bodyPr wrap="square"/>
                    <a:lstStyle/>
                    <a:p>
                      <a:pPr algn="l"/>
                      <a:r>
                        <a:rPr sz="1800" b="1" i="0">
                          <a:solidFill>
                            <a:srgbClr val="1A5276"/>
                          </a:solidFill>
                          <a:latin typeface="Segoe UI"/>
                        </a:rPr>
                        <a:t>Effort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Uncertainty</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Risk</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low</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medium</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high</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019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nine rules (continued)</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168     </a:t>
            </a:r>
            <a:fld id="{B3BFE8C6-5E00-4E7E-83E4-FA01FB681226}"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620316"/>
          </a:xfrm>
          <a:prstGeom prst="roundRect">
            <a:avLst>
              <a:gd name="adj" fmla="val 5643"/>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62031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Nine rules for two inputs with three values each. Note how this scales: three inputs would need </a:t>
            </a:r>
            <a:r>
              <a:rPr sz="2100" b="0" i="0">
                <a:solidFill>
                  <a:srgbClr val="1C252B"/>
                </a:solidFill>
                <a:latin typeface="Cambria"/>
              </a:rPr>
              <a:t>27</a:t>
            </a:r>
            <a:r>
              <a:rPr sz="2100" b="0" i="0">
                <a:solidFill>
                  <a:srgbClr val="1C252B"/>
                </a:solidFill>
                <a:latin typeface="Segoe UI"/>
              </a:rPr>
              <a:t>, four would need </a:t>
            </a:r>
            <a:r>
              <a:rPr sz="2100" b="0" i="0">
                <a:solidFill>
                  <a:srgbClr val="1C252B"/>
                </a:solidFill>
                <a:latin typeface="Cambria"/>
              </a:rPr>
              <a:t>81</a:t>
            </a:r>
            <a:r>
              <a:rPr sz="2100" b="0" i="0">
                <a:solidFill>
                  <a:srgbClr val="1C252B"/>
                </a:solidFill>
                <a:latin typeface="Segoe UI"/>
              </a:rPr>
              <a:t>. </a:t>
            </a:r>
            <a:r>
              <a:rPr sz="2100" b="0" i="1">
                <a:solidFill>
                  <a:srgbClr val="1C252B"/>
                </a:solidFill>
                <a:latin typeface="Segoe UI"/>
              </a:rPr>
              <a:t>Rule explosion</a:t>
            </a:r>
            <a:r>
              <a:rPr sz="2100" b="0" i="0">
                <a:solidFill>
                  <a:srgbClr val="1C252B"/>
                </a:solidFill>
                <a:latin typeface="Segoe UI"/>
              </a:rPr>
              <a:t> is the practical limit on fuzzy control, and it is why these systems typically have two or three inputs.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5559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Defuzzification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168     </a:t>
            </a:r>
            <a:fld id="{213F7538-2FCC-49FB-8AAF-4FF8869B40CD}"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309799"/>
          </a:xfrm>
          <a:prstGeom prst="roundRect">
            <a:avLst>
              <a:gd name="adj" fmla="val 395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30979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Aggregation leaves a shape; a controller needs a number. The </a:t>
            </a:r>
            <a:r>
              <a:rPr sz="2300" b="1" i="0">
                <a:solidFill>
                  <a:srgbClr val="1A5276"/>
                </a:solidFill>
                <a:latin typeface="Segoe UI"/>
              </a:rPr>
              <a:t>centroid</a:t>
            </a:r>
            <a:r>
              <a:rPr sz="2300" b="0" i="0">
                <a:solidFill>
                  <a:srgbClr val="1C252B"/>
                </a:solidFill>
                <a:latin typeface="Segoe UI"/>
              </a:rPr>
              <a:t> method takes the shape’s centre of area:</a:t>
            </a:r>
          </a:p>
        </p:txBody>
      </p:sp>
      <p:pic>
        <p:nvPicPr>
          <p:cNvPr id="10" name="body-1" descr="x^{*} \;=\; \frac{\int x\, \mu(x)\, dx}{\int \mu(x)\, dx}"/>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798271"/>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0990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Centroid defuzzification cannot reach the extremes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§16.5  ·  Handout p. 168     </a:t>
            </a:r>
            <a:fld id="{48DE278A-4F2E-43BD-B499-1F2A0E73C51B}"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Run the risk model across its whole input range and the output never leaves roughly </a:t>
            </a:r>
            <a:r>
              <a:rPr sz="2000" b="0" i="0">
                <a:solidFill>
                  <a:srgbClr val="1C252B"/>
                </a:solidFill>
                <a:latin typeface="Cambria"/>
              </a:rPr>
              <a:t>[16.6, 83.4]</a:t>
            </a:r>
            <a:r>
              <a:rPr sz="2000" b="0" i="0">
                <a:solidFill>
                  <a:srgbClr val="1C252B"/>
                </a:solidFill>
                <a:latin typeface="Segoe UI"/>
              </a:rPr>
              <a:t> — it never says </a:t>
            </a:r>
            <a:r>
              <a:rPr sz="2000" b="0" i="0">
                <a:solidFill>
                  <a:srgbClr val="1C252B"/>
                </a:solidFill>
                <a:latin typeface="Cambria"/>
              </a:rPr>
              <a:t>0</a:t>
            </a:r>
            <a:r>
              <a:rPr sz="2000" b="0" i="0">
                <a:solidFill>
                  <a:srgbClr val="1C252B"/>
                </a:solidFill>
                <a:latin typeface="Segoe UI"/>
              </a:rPr>
              <a:t> and never says </a:t>
            </a:r>
            <a:r>
              <a:rPr sz="2000" b="0" i="0">
                <a:solidFill>
                  <a:srgbClr val="1C252B"/>
                </a:solidFill>
                <a:latin typeface="Cambria"/>
              </a:rPr>
              <a:t>100</a:t>
            </a:r>
            <a:r>
              <a:rPr sz="2000" b="0" i="0">
                <a:solidFill>
                  <a:srgbClr val="1C252B"/>
                </a:solidFill>
                <a:latin typeface="Segoe UI"/>
              </a:rPr>
              <a:t>, even for a project with minimum effort and minimum uncertainty.</a:t>
            </a:r>
          </a:p>
        </p:txBody>
      </p:sp>
      <p:sp>
        <p:nvSpPr>
          <p:cNvPr id="10" name="body-1"/>
          <p:cNvSpPr txBox="1"/>
          <p:nvPr/>
        </p:nvSpPr>
        <p:spPr>
          <a:xfrm>
            <a:off x="1060704" y="3138931"/>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reason is geometric rather than conceptual: the centroid of a shape clipped from a triangle centred at </a:t>
            </a:r>
            <a:r>
              <a:rPr sz="2000" b="0" i="0">
                <a:solidFill>
                  <a:srgbClr val="1C252B"/>
                </a:solidFill>
                <a:latin typeface="Cambria"/>
              </a:rPr>
              <a:t>0</a:t>
            </a:r>
            <a:r>
              <a:rPr sz="2000" b="0" i="0">
                <a:solidFill>
                  <a:srgbClr val="1C252B"/>
                </a:solidFill>
                <a:latin typeface="Segoe UI"/>
              </a:rPr>
              <a:t> still has area to the right of </a:t>
            </a:r>
            <a:r>
              <a:rPr sz="2000" b="0" i="0">
                <a:solidFill>
                  <a:srgbClr val="1C252B"/>
                </a:solidFill>
                <a:latin typeface="Cambria"/>
              </a:rPr>
              <a:t>0</a:t>
            </a:r>
            <a:r>
              <a:rPr sz="2000" b="0" i="0">
                <a:solidFill>
                  <a:srgbClr val="1C252B"/>
                </a:solidFill>
                <a:latin typeface="Segoe UI"/>
              </a:rPr>
              <a:t>, so its centre of area is positive. The output range is compressed towards the middle, always.</a:t>
            </a:r>
          </a:p>
        </p:txBody>
      </p:sp>
      <p:sp>
        <p:nvSpPr>
          <p:cNvPr id="11" name="body-2"/>
          <p:cNvSpPr txBox="1"/>
          <p:nvPr/>
        </p:nvSpPr>
        <p:spPr>
          <a:xfrm>
            <a:off x="1060704" y="4229608"/>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Three responses, all used in practice: rescale the output afterwards; use </a:t>
            </a:r>
            <a:r>
              <a:rPr sz="2000" b="0" i="1">
                <a:solidFill>
                  <a:srgbClr val="1C252B"/>
                </a:solidFill>
                <a:latin typeface="Segoe UI"/>
              </a:rPr>
              <a:t>mean of maxima</a:t>
            </a:r>
            <a:r>
              <a:rPr sz="2000" b="0" i="0">
                <a:solidFill>
                  <a:srgbClr val="1C252B"/>
                </a:solidFill>
                <a:latin typeface="Segoe UI"/>
              </a:rPr>
              <a:t> instead, which does reach the extremes but is discontinuous; or accept it, on the grounds that a risk score is compared against other risk scores rather than read as an absolute. Whichever you choose, know that the numbers a Mamdani controller emits are not on the scale you think they are, and do not label the output “percent”.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Smoothness Is the Point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Vagueness Is Not Uncertainty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Membership Functions and Linguistic Variables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The Fuzzy Operators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Mamdani Inference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16.5   Defuzzification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16.6   Why Smoothness Is the Point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§16.6     </a:t>
            </a:r>
            <a:fld id="{36D9D1EB-3E98-422A-A328-BC24841662C3}" type="slidenum">
              <a:rPr lang="en-GB" sz="1000">
                <a:solidFill>
                  <a:srgbClr val="8795A1"/>
                </a:solidFill>
                <a:latin typeface="Segoe UI"/>
              </a:rPr>
              <a:t>17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31789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knowledge as a fuzzy controller and as a threshold rule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3F4752A6-0763-4E42-8288-349087547AE8}" type="slidenum">
              <a:rPr lang="en-GB" sz="1000">
                <a:solidFill>
                  <a:srgbClr val="8795A1"/>
                </a:solidFill>
                <a:latin typeface="Segoe UI"/>
              </a:rPr>
              <a:t>18</a:t>
            </a:fld>
          </a:p>
        </p:txBody>
      </p:sp>
      <p:pic>
        <p:nvPicPr>
          <p:cNvPr id="6" name="!!figure" descr="Figure 16.3. The same knowledge as a fuzzy controller and as a threshold rule. The fuzzy output moves continuously; the threshold output is flat, flat, and then an eighty-point jump between two adjacent inpu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59793" y="1737360"/>
            <a:ext cx="887210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fuzzy output moves continuously; the threshold output is flat, flat, and then an eighty-point jump between two adjacent inputs.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Beacon, by hand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9C4C4097-DB09-460E-AC0C-DE82243160D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58939"/>
          </a:xfrm>
          <a:prstGeom prst="roundRect">
            <a:avLst>
              <a:gd name="adj" fmla="val 214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589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Effort </a:t>
            </a:r>
            <a:r>
              <a:rPr sz="1900" b="0" i="0">
                <a:solidFill>
                  <a:srgbClr val="1C252B"/>
                </a:solidFill>
                <a:latin typeface="Cambria"/>
              </a:rPr>
              <a:t>45</a:t>
            </a:r>
            <a:r>
              <a:rPr sz="1900" b="0" i="0">
                <a:solidFill>
                  <a:srgbClr val="1C252B"/>
                </a:solidFill>
                <a:latin typeface="Segoe UI"/>
              </a:rPr>
              <a:t> person-days, requirement uncertainty </a:t>
            </a:r>
            <a:r>
              <a:rPr sz="1900" b="0" i="0">
                <a:solidFill>
                  <a:srgbClr val="1C252B"/>
                </a:solidFill>
                <a:latin typeface="Cambria"/>
              </a:rPr>
              <a:t>4</a:t>
            </a:r>
            <a:r>
              <a:rPr sz="1900" b="0" i="0">
                <a:solidFill>
                  <a:srgbClr val="1C252B"/>
                </a:solidFill>
                <a:latin typeface="Segoe UI"/>
              </a:rPr>
              <a:t>.</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fuzzify.</a:t>
            </a:r>
            <a:r>
              <a:rPr sz="1900" b="0" i="0">
                <a:solidFill>
                  <a:srgbClr val="1C252B"/>
                </a:solidFill>
                <a:latin typeface="Segoe UI"/>
              </a:rPr>
              <a:t> With triangles peaking at </a:t>
            </a:r>
            <a:r>
              <a:rPr sz="1900" b="0" i="0">
                <a:solidFill>
                  <a:srgbClr val="1C252B"/>
                </a:solidFill>
                <a:latin typeface="Cambria"/>
              </a:rPr>
              <a:t>0</a:t>
            </a:r>
            <a:r>
              <a:rPr sz="1900" b="0" i="0">
                <a:solidFill>
                  <a:srgbClr val="1C252B"/>
                </a:solidFill>
                <a:latin typeface="Segoe UI"/>
              </a:rPr>
              <a:t>, </a:t>
            </a:r>
            <a:r>
              <a:rPr sz="1900" b="0" i="0">
                <a:solidFill>
                  <a:srgbClr val="1C252B"/>
                </a:solidFill>
                <a:latin typeface="Cambria"/>
              </a:rPr>
              <a:t>50</a:t>
            </a:r>
            <a:r>
              <a:rPr sz="1900" b="0" i="0">
                <a:solidFill>
                  <a:srgbClr val="1C252B"/>
                </a:solidFill>
                <a:latin typeface="Segoe UI"/>
              </a:rPr>
              <a:t>, </a:t>
            </a:r>
            <a:r>
              <a:rPr sz="1900" b="0" i="0">
                <a:solidFill>
                  <a:srgbClr val="1C252B"/>
                </a:solidFill>
                <a:latin typeface="Cambria"/>
              </a:rPr>
              <a:t>100</a:t>
            </a:r>
            <a:r>
              <a:rPr sz="1900" b="0" i="0">
                <a:solidFill>
                  <a:srgbClr val="1C252B"/>
                </a:solidFill>
                <a:latin typeface="Segoe UI"/>
              </a:rPr>
              <a:t> for effort:</a:t>
            </a:r>
          </a:p>
        </p:txBody>
      </p:sp>
      <p:pic>
        <p:nvPicPr>
          <p:cNvPr id="11" name="body-2" descr="\mu_{\mathit{low}}(45) = \frac{50-45}{50} = 0.1, \qquad \mu_{\mathit{medium}}(45) = \frac{45-0}{50} = 0.9, \qquad \mu_{\mathit{high}}(45) = 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79394"/>
            <a:ext cx="10234879" cy="553577"/>
          </a:xfrm>
          <a:prstGeom prst="rect">
            <a:avLst/>
          </a:prstGeom>
        </p:spPr>
      </p:pic>
      <p:sp>
        <p:nvSpPr>
          <p:cNvPr id="12" name="body-3"/>
          <p:cNvSpPr txBox="1"/>
          <p:nvPr/>
        </p:nvSpPr>
        <p:spPr>
          <a:xfrm>
            <a:off x="1042416" y="356568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and with triangles peaking at </a:t>
            </a:r>
            <a:r>
              <a:rPr sz="1900" b="0" i="0">
                <a:solidFill>
                  <a:srgbClr val="1C252B"/>
                </a:solidFill>
                <a:latin typeface="Cambria"/>
              </a:rPr>
              <a:t>0</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a:t>
            </a:r>
            <a:r>
              <a:rPr sz="1900" b="0" i="0">
                <a:solidFill>
                  <a:srgbClr val="1C252B"/>
                </a:solidFill>
                <a:latin typeface="Cambria"/>
              </a:rPr>
              <a:t>10</a:t>
            </a:r>
            <a:r>
              <a:rPr sz="1900" b="0" i="0">
                <a:solidFill>
                  <a:srgbClr val="1C252B"/>
                </a:solidFill>
                <a:latin typeface="Segoe UI"/>
              </a:rPr>
              <a:t> for uncertainty:</a:t>
            </a:r>
          </a:p>
        </p:txBody>
      </p:sp>
      <p:pic>
        <p:nvPicPr>
          <p:cNvPr id="13" name="body-4" descr="\mu_{\mathit{low}}(4) = \frac{5-4}{5} = 0.2, \qquad \mu_{\mathit{medium}}(4) = \frac{4-0}{5} = 0.8, \qquad \mu_{\mathit{high}}(4) = 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99544"/>
            <a:ext cx="10234879" cy="553577"/>
          </a:xfrm>
          <a:prstGeom prst="rect">
            <a:avLst/>
          </a:prstGeom>
        </p:spPr>
      </p:pic>
      <p:sp>
        <p:nvSpPr>
          <p:cNvPr id="14" name="body-5"/>
          <p:cNvSpPr txBox="1"/>
          <p:nvPr/>
        </p:nvSpPr>
        <p:spPr>
          <a:xfrm>
            <a:off x="1042416" y="46858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input is described by exactly two words, as the partition guarantees.</a:t>
            </a:r>
          </a:p>
        </p:txBody>
      </p:sp>
      <p:sp>
        <p:nvSpPr>
          <p:cNvPr id="15" name="body-6"/>
          <p:cNvSpPr txBox="1"/>
          <p:nvPr/>
        </p:nvSpPr>
        <p:spPr>
          <a:xfrm>
            <a:off x="1042416" y="511969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rule strengths, by </a:t>
            </a:r>
            <a:r>
              <a:rPr sz="1900" b="1" i="0">
                <a:solidFill>
                  <a:srgbClr val="1C252B"/>
                </a:solidFill>
                <a:latin typeface="Cambria"/>
              </a:rPr>
              <a:t>min</a:t>
            </a:r>
            <a:r>
              <a:rPr sz="1900" b="1" i="0">
                <a:solidFill>
                  <a:srgbClr val="1C252B"/>
                </a:solidFill>
                <a:latin typeface="Segoe UI"/>
              </a:rPr>
              <a:t>.</a:t>
            </a:r>
            <a:r>
              <a:rPr sz="1900" b="0" i="0">
                <a:solidFill>
                  <a:srgbClr val="1C252B"/>
                </a:solidFill>
                <a:latin typeface="Segoe UI"/>
              </a:rPr>
              <a:t> Five of the nine rules involve a word with membership zero and contribute nothing. The other four:</a:t>
            </a:r>
          </a:p>
        </p:txBody>
      </p:sp>
      <p:sp>
        <p:nvSpPr>
          <p:cNvPr id="16" name="body-6bar">
            <a:extLst>
              <a:ext uri="{C183D7F6-B498-43B3-948B-1728B52AA6E4}">
                <adec:decorative xmlns:adec="http://schemas.microsoft.com/office/drawing/2017/decorative" val="1"/>
              </a:ext>
            </a:extLst>
          </p:cNvPr>
          <p:cNvSpPr/>
          <p:nvPr/>
        </p:nvSpPr>
        <p:spPr>
          <a:xfrm>
            <a:off x="841248" y="5137983"/>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8258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right)">
                                      <p:cBhvr>
                                        <p:cTn id="33" dur="42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Beacon, by hand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8B136AAE-2B6C-4440-AD11-3BAE3469E23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574"/>
          </a:xfrm>
          <a:prstGeom prst="roundRect">
            <a:avLst>
              <a:gd name="adj" fmla="val 217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57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low effort, low uncertainty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Segoe UI"/>
              </a:rPr>
              <a:t>low</a:t>
            </a:r>
            <a:r>
              <a:rPr sz="1900" b="0" i="0">
                <a:solidFill>
                  <a:srgbClr val="1C252B"/>
                </a:solidFill>
                <a:latin typeface="Segoe UI"/>
              </a:rPr>
              <a:t> risk: </a:t>
            </a:r>
            <a:r>
              <a:rPr sz="1900" b="0" i="0">
                <a:solidFill>
                  <a:srgbClr val="1C252B"/>
                </a:solidFill>
                <a:latin typeface="Cambria"/>
              </a:rPr>
              <a:t>min(0.1, 0.2) = 0.1</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low effort, medium uncertainty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Segoe UI"/>
              </a:rPr>
              <a:t>low</a:t>
            </a:r>
            <a:r>
              <a:rPr sz="1900" b="0" i="0">
                <a:solidFill>
                  <a:srgbClr val="1C252B"/>
                </a:solidFill>
                <a:latin typeface="Segoe UI"/>
              </a:rPr>
              <a:t> risk: </a:t>
            </a:r>
            <a:r>
              <a:rPr sz="1900" b="0" i="0">
                <a:solidFill>
                  <a:srgbClr val="1C252B"/>
                </a:solidFill>
                <a:latin typeface="Cambria"/>
              </a:rPr>
              <a:t>min(0.1, 0.8) = 0.1</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medium effort, low uncertainty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Segoe UI"/>
              </a:rPr>
              <a:t>low</a:t>
            </a:r>
            <a:r>
              <a:rPr sz="1900" b="0" i="0">
                <a:solidFill>
                  <a:srgbClr val="1C252B"/>
                </a:solidFill>
                <a:latin typeface="Segoe UI"/>
              </a:rPr>
              <a:t> risk: </a:t>
            </a:r>
            <a:r>
              <a:rPr sz="1900" b="0" i="0">
                <a:solidFill>
                  <a:srgbClr val="1C252B"/>
                </a:solidFill>
                <a:latin typeface="Cambria"/>
              </a:rPr>
              <a:t>min(0.9, 0.2) = 0.2</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medium effort, medium uncertainty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Segoe UI"/>
              </a:rPr>
              <a:t>medium</a:t>
            </a:r>
            <a:r>
              <a:rPr sz="1900" b="0" i="0">
                <a:solidFill>
                  <a:srgbClr val="1C252B"/>
                </a:solidFill>
                <a:latin typeface="Segoe UI"/>
              </a:rPr>
              <a:t> risk: </a:t>
            </a:r>
            <a:r>
              <a:rPr sz="1900" b="0" i="0">
                <a:solidFill>
                  <a:srgbClr val="1C252B"/>
                </a:solidFill>
                <a:latin typeface="Cambria"/>
              </a:rPr>
              <a:t>min(0.9, 0.8) = 0.8</a:t>
            </a:r>
          </a:p>
        </p:txBody>
      </p:sp>
      <p:sp>
        <p:nvSpPr>
          <p:cNvPr id="10" name="body-1"/>
          <p:cNvSpPr txBox="1"/>
          <p:nvPr/>
        </p:nvSpPr>
        <p:spPr>
          <a:xfrm>
            <a:off x="1042416" y="360232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clip.</a:t>
            </a:r>
            <a:r>
              <a:rPr sz="1900" b="0" i="0">
                <a:solidFill>
                  <a:srgbClr val="1C252B"/>
                </a:solidFill>
                <a:latin typeface="Segoe UI"/>
              </a:rPr>
              <a:t> Three rules conclude </a:t>
            </a:r>
            <a:r>
              <a:rPr sz="1900" b="0" i="1">
                <a:solidFill>
                  <a:srgbClr val="1C252B"/>
                </a:solidFill>
                <a:latin typeface="Segoe UI"/>
              </a:rPr>
              <a:t>low</a:t>
            </a:r>
            <a:r>
              <a:rPr sz="1900" b="0" i="0">
                <a:solidFill>
                  <a:srgbClr val="1C252B"/>
                </a:solidFill>
                <a:latin typeface="Segoe UI"/>
              </a:rPr>
              <a:t> risk, with strengths </a:t>
            </a:r>
            <a:r>
              <a:rPr sz="1900" b="0" i="0">
                <a:solidFill>
                  <a:srgbClr val="1C252B"/>
                </a:solidFill>
                <a:latin typeface="Cambria"/>
              </a:rPr>
              <a:t>0.1</a:t>
            </a:r>
            <a:r>
              <a:rPr sz="1900" b="0" i="0">
                <a:solidFill>
                  <a:srgbClr val="1C252B"/>
                </a:solidFill>
                <a:latin typeface="Segoe UI"/>
              </a:rPr>
              <a:t>, </a:t>
            </a:r>
            <a:r>
              <a:rPr sz="1900" b="0" i="0">
                <a:solidFill>
                  <a:srgbClr val="1C252B"/>
                </a:solidFill>
                <a:latin typeface="Cambria"/>
              </a:rPr>
              <a:t>0.1</a:t>
            </a:r>
            <a:r>
              <a:rPr sz="1900" b="0" i="0">
                <a:solidFill>
                  <a:srgbClr val="1C252B"/>
                </a:solidFill>
                <a:latin typeface="Segoe UI"/>
              </a:rPr>
              <a:t> and </a:t>
            </a:r>
            <a:r>
              <a:rPr sz="1900" b="0" i="0">
                <a:solidFill>
                  <a:srgbClr val="1C252B"/>
                </a:solidFill>
                <a:latin typeface="Cambria"/>
              </a:rPr>
              <a:t>0.2</a:t>
            </a:r>
            <a:r>
              <a:rPr sz="1900" b="0" i="0">
                <a:solidFill>
                  <a:srgbClr val="1C252B"/>
                </a:solidFill>
                <a:latin typeface="Segoe UI"/>
              </a:rPr>
              <a:t>; aggregating by </a:t>
            </a:r>
            <a:r>
              <a:rPr sz="1900" b="0" i="0">
                <a:solidFill>
                  <a:srgbClr val="1C252B"/>
                </a:solidFill>
                <a:latin typeface="Cambria"/>
              </a:rPr>
              <a:t>max</a:t>
            </a:r>
            <a:r>
              <a:rPr sz="1900" b="0" i="0">
                <a:solidFill>
                  <a:srgbClr val="1C252B"/>
                </a:solidFill>
                <a:latin typeface="Segoe UI"/>
              </a:rPr>
              <a:t> means the </a:t>
            </a:r>
            <a:r>
              <a:rPr sz="1900" b="0" i="1">
                <a:solidFill>
                  <a:srgbClr val="1C252B"/>
                </a:solidFill>
                <a:latin typeface="Segoe UI"/>
              </a:rPr>
              <a:t>low</a:t>
            </a:r>
            <a:r>
              <a:rPr sz="1900" b="0" i="0">
                <a:solidFill>
                  <a:srgbClr val="1C252B"/>
                </a:solidFill>
                <a:latin typeface="Segoe UI"/>
              </a:rPr>
              <a:t> triangle is clipped at </a:t>
            </a:r>
            <a:r>
              <a:rPr sz="1900" b="0" i="0">
                <a:solidFill>
                  <a:srgbClr val="1C252B"/>
                </a:solidFill>
                <a:latin typeface="Cambria"/>
              </a:rPr>
              <a:t>0.2</a:t>
            </a:r>
            <a:r>
              <a:rPr sz="1900" b="0" i="0">
                <a:solidFill>
                  <a:srgbClr val="1C252B"/>
                </a:solidFill>
                <a:latin typeface="Segoe UI"/>
              </a:rPr>
              <a:t>. One rule concludes </a:t>
            </a:r>
            <a:r>
              <a:rPr sz="1900" b="0" i="1">
                <a:solidFill>
                  <a:srgbClr val="1C252B"/>
                </a:solidFill>
                <a:latin typeface="Segoe UI"/>
              </a:rPr>
              <a:t>medium</a:t>
            </a:r>
            <a:r>
              <a:rPr sz="1900" b="0" i="0">
                <a:solidFill>
                  <a:srgbClr val="1C252B"/>
                </a:solidFill>
                <a:latin typeface="Segoe UI"/>
              </a:rPr>
              <a:t> risk, so that triangle is clipped at </a:t>
            </a:r>
            <a:r>
              <a:rPr sz="1900" b="0" i="0">
                <a:solidFill>
                  <a:srgbClr val="1C252B"/>
                </a:solidFill>
                <a:latin typeface="Cambria"/>
              </a:rPr>
              <a:t>0.8</a:t>
            </a:r>
            <a:r>
              <a:rPr sz="1900" b="0" i="0">
                <a:solidFill>
                  <a:srgbClr val="1C252B"/>
                </a:solidFill>
                <a:latin typeface="Segoe UI"/>
              </a:rPr>
              <a:t>.</a:t>
            </a:r>
          </a:p>
        </p:txBody>
      </p:sp>
      <p:sp>
        <p:nvSpPr>
          <p:cNvPr id="11" name="body-1bar">
            <a:extLst>
              <a:ext uri="{C183D7F6-B498-43B3-948B-1728B52AA6E4}">
                <adec:decorative xmlns:adec="http://schemas.microsoft.com/office/drawing/2017/decorative" val="1"/>
              </a:ext>
            </a:extLst>
          </p:cNvPr>
          <p:cNvSpPr/>
          <p:nvPr/>
        </p:nvSpPr>
        <p:spPr>
          <a:xfrm>
            <a:off x="841248" y="362061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638471"/>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aggregate.</a:t>
            </a:r>
            <a:r>
              <a:rPr sz="1900" b="0" i="0">
                <a:solidFill>
                  <a:srgbClr val="1C252B"/>
                </a:solidFill>
                <a:latin typeface="Segoe UI"/>
              </a:rPr>
              <a:t> The combined shape is the pointwise maximum: a plateau at height </a:t>
            </a:r>
            <a:r>
              <a:rPr sz="1900" b="0" i="0">
                <a:solidFill>
                  <a:srgbClr val="1C252B"/>
                </a:solidFill>
                <a:latin typeface="Cambria"/>
              </a:rPr>
              <a:t>0.2</a:t>
            </a:r>
            <a:r>
              <a:rPr sz="1900" b="0" i="0">
                <a:solidFill>
                  <a:srgbClr val="1C252B"/>
                </a:solidFill>
                <a:latin typeface="Segoe UI"/>
              </a:rPr>
              <a:t> over the low-risk region and a larger plateau at </a:t>
            </a:r>
            <a:r>
              <a:rPr sz="1900" b="0" i="0">
                <a:solidFill>
                  <a:srgbClr val="1C252B"/>
                </a:solidFill>
                <a:latin typeface="Cambria"/>
              </a:rPr>
              <a:t>0.8</a:t>
            </a:r>
            <a:r>
              <a:rPr sz="1900" b="0" i="0">
                <a:solidFill>
                  <a:srgbClr val="1C252B"/>
                </a:solidFill>
                <a:latin typeface="Segoe UI"/>
              </a:rPr>
              <a:t> over the middle.</a:t>
            </a:r>
          </a:p>
        </p:txBody>
      </p:sp>
      <p:sp>
        <p:nvSpPr>
          <p:cNvPr id="13" name="body-2bar">
            <a:extLst>
              <a:ext uri="{C183D7F6-B498-43B3-948B-1728B52AA6E4}">
                <adec:decorative xmlns:adec="http://schemas.microsoft.com/office/drawing/2017/decorative" val="1"/>
              </a:ext>
            </a:extLst>
          </p:cNvPr>
          <p:cNvSpPr/>
          <p:nvPr/>
        </p:nvSpPr>
        <p:spPr>
          <a:xfrm>
            <a:off x="841248" y="4656759"/>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3"/>
          <p:cNvSpPr txBox="1"/>
          <p:nvPr/>
        </p:nvSpPr>
        <p:spPr>
          <a:xfrm>
            <a:off x="1042416" y="537347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defuzzify.</a:t>
            </a:r>
            <a:r>
              <a:rPr sz="1900" b="0" i="0">
                <a:solidFill>
                  <a:srgbClr val="1C252B"/>
                </a:solidFill>
                <a:latin typeface="Segoe UI"/>
              </a:rPr>
              <a:t> The centre of area of that shape is </a:t>
            </a:r>
            <a:r>
              <a:rPr sz="1900" b="1" i="0">
                <a:solidFill>
                  <a:srgbClr val="1C252B"/>
                </a:solidFill>
                <a:latin typeface="Cambria"/>
              </a:rPr>
              <a:t>49.04</a:t>
            </a:r>
            <a:r>
              <a:rPr sz="1900" b="0" i="0">
                <a:solidFill>
                  <a:srgbClr val="1C252B"/>
                </a:solidFill>
                <a:latin typeface="Segoe UI"/>
              </a:rPr>
              <a:t>.</a:t>
            </a:r>
          </a:p>
        </p:txBody>
      </p:sp>
      <p:sp>
        <p:nvSpPr>
          <p:cNvPr id="15" name="body-3bar">
            <a:extLst>
              <a:ext uri="{C183D7F6-B498-43B3-948B-1728B52AA6E4}">
                <adec:decorative xmlns:adec="http://schemas.microsoft.com/office/drawing/2017/decorative" val="1"/>
              </a:ext>
            </a:extLst>
          </p:cNvPr>
          <p:cNvSpPr/>
          <p:nvPr/>
        </p:nvSpPr>
        <p:spPr>
          <a:xfrm>
            <a:off x="841248" y="539175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507987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5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5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42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right)">
                                      <p:cBhvr>
                                        <p:cTn id="36" dur="42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2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right)">
                                      <p:cBhvr>
                                        <p:cTn id="44" dur="42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Beacon, by hand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856BA0DE-3FFF-4954-9040-6BBEAA52489F}"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Sanity check.</a:t>
            </a:r>
            <a:r>
              <a:rPr sz="1900" b="0" i="0">
                <a:solidFill>
                  <a:srgbClr val="1C252B"/>
                </a:solidFill>
                <a:latin typeface="Segoe UI"/>
              </a:rPr>
              <a:t> The dominant rule concluded </a:t>
            </a:r>
            <a:r>
              <a:rPr sz="1900" b="0" i="1">
                <a:solidFill>
                  <a:srgbClr val="1C252B"/>
                </a:solidFill>
                <a:latin typeface="Segoe UI"/>
              </a:rPr>
              <a:t>medium</a:t>
            </a:r>
            <a:r>
              <a:rPr sz="1900" b="0" i="0">
                <a:solidFill>
                  <a:srgbClr val="1C252B"/>
                </a:solidFill>
                <a:latin typeface="Segoe UI"/>
              </a:rPr>
              <a:t>, whose triangle peaks at </a:t>
            </a:r>
            <a:r>
              <a:rPr sz="1900" b="0" i="0">
                <a:solidFill>
                  <a:srgbClr val="1C252B"/>
                </a:solidFill>
                <a:latin typeface="Cambria"/>
              </a:rPr>
              <a:t>50</a:t>
            </a:r>
            <a:r>
              <a:rPr sz="1900" b="0" i="0">
                <a:solidFill>
                  <a:srgbClr val="1C252B"/>
                </a:solidFill>
                <a:latin typeface="Segoe UI"/>
              </a:rPr>
              <a:t>; the weaker </a:t>
            </a:r>
            <a:r>
              <a:rPr sz="1900" b="0" i="1">
                <a:solidFill>
                  <a:srgbClr val="1C252B"/>
                </a:solidFill>
                <a:latin typeface="Segoe UI"/>
              </a:rPr>
              <a:t>low</a:t>
            </a:r>
            <a:r>
              <a:rPr sz="1900" b="0" i="0">
                <a:solidFill>
                  <a:srgbClr val="1C252B"/>
                </a:solidFill>
                <a:latin typeface="Segoe UI"/>
              </a:rPr>
              <a:t> contribution drags the answer slightly below it. </a:t>
            </a:r>
            <a:r>
              <a:rPr sz="1900" b="0" i="0">
                <a:solidFill>
                  <a:srgbClr val="1C252B"/>
                </a:solidFill>
                <a:latin typeface="Cambria"/>
              </a:rPr>
              <a:t>49.04</a:t>
            </a:r>
            <a:r>
              <a:rPr sz="1900" b="0" i="0">
                <a:solidFill>
                  <a:srgbClr val="1C252B"/>
                </a:solidFill>
                <a:latin typeface="Segoe UI"/>
              </a:rPr>
              <a:t> is exactly where it should be, and the arithmetic is worth doing once by hand because it is the only way to believe the pipeline.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move one input.</a:t>
            </a:r>
            <a:r>
              <a:rPr sz="1900" b="0" i="0">
                <a:solidFill>
                  <a:srgbClr val="1C252B"/>
                </a:solidFill>
                <a:latin typeface="Segoe UI"/>
              </a:rPr>
              <a:t> At uncertainty </a:t>
            </a:r>
            <a:r>
              <a:rPr sz="1900" b="0" i="0">
                <a:solidFill>
                  <a:srgbClr val="1C252B"/>
                </a:solidFill>
                <a:latin typeface="Cambria"/>
              </a:rPr>
              <a:t>9</a:t>
            </a:r>
            <a:r>
              <a:rPr sz="1900" b="0" i="0">
                <a:solidFill>
                  <a:srgbClr val="1C252B"/>
                </a:solidFill>
                <a:latin typeface="Segoe UI"/>
              </a:rPr>
              <a:t> instead of </a:t>
            </a:r>
            <a:r>
              <a:rPr sz="1900" b="0" i="0">
                <a:solidFill>
                  <a:srgbClr val="1C252B"/>
                </a:solidFill>
                <a:latin typeface="Cambria"/>
              </a:rPr>
              <a:t>4</a:t>
            </a:r>
            <a:r>
              <a:rPr sz="1900" b="0" i="0">
                <a:solidFill>
                  <a:srgbClr val="1C252B"/>
                </a:solidFill>
                <a:latin typeface="Segoe UI"/>
              </a:rPr>
              <a:t> the answer is </a:t>
            </a:r>
            <a:r>
              <a:rPr sz="1900" b="0" i="0">
                <a:solidFill>
                  <a:srgbClr val="1C252B"/>
                </a:solidFill>
                <a:latin typeface="Cambria"/>
              </a:rPr>
              <a:t>66.81</a:t>
            </a:r>
            <a:r>
              <a:rPr sz="1900" b="0" i="0">
                <a:solidFill>
                  <a:srgbClr val="1C252B"/>
                </a:solidFill>
                <a:latin typeface="Segoe UI"/>
              </a:rPr>
              <a:t>; at uncertainty </a:t>
            </a:r>
            <a:r>
              <a:rPr sz="1900" b="0" i="0">
                <a:solidFill>
                  <a:srgbClr val="1C252B"/>
                </a:solidFill>
                <a:latin typeface="Cambria"/>
              </a:rPr>
              <a:t>0</a:t>
            </a:r>
            <a:r>
              <a:rPr sz="1900" b="0" i="0">
                <a:solidFill>
                  <a:srgbClr val="1C252B"/>
                </a:solidFill>
                <a:latin typeface="Segoe UI"/>
              </a:rPr>
              <a:t> it is </a:t>
            </a:r>
            <a:r>
              <a:rPr sz="1900" b="0" i="0">
                <a:solidFill>
                  <a:srgbClr val="1C252B"/>
                </a:solidFill>
                <a:latin typeface="Cambria"/>
              </a:rPr>
              <a:t>16.79</a:t>
            </a:r>
            <a:r>
              <a:rPr sz="1900" b="0" i="0">
                <a:solidFill>
                  <a:srgbClr val="1C252B"/>
                </a:solidFill>
                <a:latin typeface="Segoe UI"/>
              </a:rPr>
              <a:t>. Every intermediate value appears — no jumps, and no rule had to be written for the cases in between.</a:t>
            </a:r>
          </a:p>
        </p:txBody>
      </p:sp>
      <p:sp>
        <p:nvSpPr>
          <p:cNvPr id="12" name="body-1bar">
            <a:extLst>
              <a:ext uri="{C183D7F6-B498-43B3-948B-1728B52AA6E4}">
                <adec:decorative xmlns:adec="http://schemas.microsoft.com/office/drawing/2017/decorative" val="1"/>
              </a:ext>
            </a:extLst>
          </p:cNvPr>
          <p:cNvSpPr/>
          <p:nvPr/>
        </p:nvSpPr>
        <p:spPr>
          <a:xfrm>
            <a:off x="841248" y="306611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33386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6E6737AF-C41B-41C3-93FB-CBB3854A8081}"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Reading a membership as a probability.</a:t>
            </a:r>
            <a:r>
              <a:rPr sz="1700" b="0" i="0">
                <a:solidFill>
                  <a:srgbClr val="1C252B"/>
                </a:solidFill>
                <a:latin typeface="Segoe UI"/>
              </a:rPr>
              <a:t> </a:t>
            </a:r>
            <a:r>
              <a:rPr sz="1700" b="0" i="0">
                <a:solidFill>
                  <a:srgbClr val="1C252B"/>
                </a:solidFill>
                <a:latin typeface="Cambria"/>
              </a:rPr>
              <a:t>μ = 0.4</a:t>
            </a:r>
            <a:r>
              <a:rPr sz="1700" b="0" i="0">
                <a:solidFill>
                  <a:srgbClr val="1C252B"/>
                </a:solidFill>
                <a:latin typeface="Segoe UI"/>
              </a:rPr>
              <a:t> is not “a </a:t>
            </a:r>
            <a:r>
              <a:rPr sz="1700" b="0" i="0">
                <a:solidFill>
                  <a:srgbClr val="1C252B"/>
                </a:solidFill>
                <a:latin typeface="Cambria"/>
              </a:rPr>
              <a:t>40%</a:t>
            </a:r>
            <a:r>
              <a:rPr sz="1700" b="0" i="0">
                <a:solidFill>
                  <a:srgbClr val="1C252B"/>
                </a:solidFill>
                <a:latin typeface="Segoe UI"/>
              </a:rPr>
              <a:t> chance”. Memberships do not sum to one, do not update on evidence, and combine by </a:t>
            </a:r>
            <a:r>
              <a:rPr sz="1700" b="0" i="0">
                <a:solidFill>
                  <a:srgbClr val="1C252B"/>
                </a:solidFill>
                <a:latin typeface="Cambria"/>
              </a:rPr>
              <a:t>min</a:t>
            </a:r>
            <a:r>
              <a:rPr sz="1700" b="0" i="0">
                <a:solidFill>
                  <a:srgbClr val="1C252B"/>
                </a:solidFill>
                <a:latin typeface="Segoe UI"/>
              </a:rPr>
              <a:t> and </a:t>
            </a:r>
            <a:r>
              <a:rPr sz="1700" b="0" i="0">
                <a:solidFill>
                  <a:srgbClr val="1C252B"/>
                </a:solidFill>
                <a:latin typeface="Cambria"/>
              </a:rPr>
              <a:t>max</a:t>
            </a:r>
            <a:r>
              <a:rPr sz="1700" b="0" i="0">
                <a:solidFill>
                  <a:srgbClr val="1C252B"/>
                </a:solidFill>
                <a:latin typeface="Segoe UI"/>
              </a:rPr>
              <a:t> rather than by Bayes’ rule.</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Membership functions that do not overlap.</a:t>
            </a:r>
            <a:r>
              <a:rPr sz="1700" b="0" i="0">
                <a:solidFill>
                  <a:srgbClr val="1C252B"/>
                </a:solidFill>
                <a:latin typeface="Segoe UI"/>
              </a:rPr>
              <a:t> Then only one rule ever fires, there is no interpolation, and you have written a slow lookup table. Build a partition whose memberships sum to one.</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the output range.</a:t>
            </a:r>
            <a:r>
              <a:rPr sz="1700" b="0" i="0">
                <a:solidFill>
                  <a:srgbClr val="1C252B"/>
                </a:solidFill>
                <a:latin typeface="Segoe UI"/>
              </a:rPr>
              <a:t> Centroid defuzzification cannot reach the extremes — here the output never leaves roughly </a:t>
            </a:r>
            <a:r>
              <a:rPr sz="1700" b="0" i="0">
                <a:solidFill>
                  <a:srgbClr val="1C252B"/>
                </a:solidFill>
                <a:latin typeface="Cambria"/>
              </a:rPr>
              <a:t>[16.6, 83.4]</a:t>
            </a:r>
            <a:r>
              <a:rPr sz="1700" b="0" i="0">
                <a:solidFill>
                  <a:srgbClr val="1C252B"/>
                </a:solidFill>
                <a:latin typeface="Segoe UI"/>
              </a:rPr>
              <a:t>. Never label it “percent”.</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Adding inputs.</a:t>
            </a:r>
            <a:r>
              <a:rPr sz="1700" b="0" i="0">
                <a:solidFill>
                  <a:srgbClr val="1C252B"/>
                </a:solidFill>
                <a:latin typeface="Segoe UI"/>
              </a:rPr>
              <a:t> Three linguistic variables with three values each need </a:t>
            </a:r>
            <a:r>
              <a:rPr sz="1700" b="0" i="0">
                <a:solidFill>
                  <a:srgbClr val="1C252B"/>
                </a:solidFill>
                <a:latin typeface="Cambria"/>
              </a:rPr>
              <a:t>27</a:t>
            </a:r>
            <a:r>
              <a:rPr sz="1700" b="0" i="0">
                <a:solidFill>
                  <a:srgbClr val="1C252B"/>
                </a:solidFill>
                <a:latin typeface="Segoe UI"/>
              </a:rPr>
              <a:t> rules, four need </a:t>
            </a:r>
            <a:r>
              <a:rPr sz="1700" b="0" i="0">
                <a:solidFill>
                  <a:srgbClr val="1C252B"/>
                </a:solidFill>
                <a:latin typeface="Cambria"/>
              </a:rPr>
              <a:t>81</a:t>
            </a:r>
            <a:r>
              <a:rPr sz="1700" b="0" i="0">
                <a:solidFill>
                  <a:srgbClr val="1C252B"/>
                </a:solidFill>
                <a:latin typeface="Segoe UI"/>
              </a:rPr>
              <a:t>. Fuzzy controllers stay small for a reason.</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entailment.</a:t>
            </a:r>
            <a:r>
              <a:rPr sz="1700" b="0" i="0">
                <a:solidFill>
                  <a:srgbClr val="1C252B"/>
                </a:solidFill>
                <a:latin typeface="Segoe UI"/>
              </a:rPr>
              <a:t> There is no soundness theorem here and </a:t>
            </a:r>
            <a:r>
              <a:rPr sz="1700" b="0" i="1">
                <a:solidFill>
                  <a:srgbClr val="1C252B"/>
                </a:solidFill>
                <a:latin typeface="Cambria"/>
              </a:rPr>
              <a:t>A</a:t>
            </a:r>
            <a:r>
              <a:rPr sz="1700" b="0" i="0">
                <a:solidFill>
                  <a:srgbClr val="1C252B"/>
                </a:solidFill>
                <a:latin typeface="Cambria"/>
              </a:rPr>
              <a:t> ∩ ¬ </a:t>
            </a:r>
            <a:r>
              <a:rPr sz="1700" b="0" i="1">
                <a:solidFill>
                  <a:srgbClr val="1C252B"/>
                </a:solidFill>
                <a:latin typeface="Cambria"/>
              </a:rPr>
              <a:t>A</a:t>
            </a:r>
            <a:r>
              <a:rPr sz="1700" b="0" i="0">
                <a:solidFill>
                  <a:srgbClr val="1C252B"/>
                </a:solidFill>
                <a:latin typeface="Cambria"/>
              </a:rPr>
              <a:t> ≠ ∅</a:t>
            </a:r>
            <a:r>
              <a:rPr sz="1700" b="0" i="0">
                <a:solidFill>
                  <a:srgbClr val="1C252B"/>
                </a:solidFill>
                <a:latin typeface="Segoe UI"/>
              </a:rPr>
              <a:t>. This is a control technique, not a logic in Chapter 11’s sense.</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it where probability belongs.</a:t>
            </a:r>
            <a:r>
              <a:rPr sz="1700" b="0" i="0">
                <a:solidFill>
                  <a:srgbClr val="1C252B"/>
                </a:solidFill>
                <a:latin typeface="Segoe UI"/>
              </a:rPr>
              <a:t> If the question is “will this release fail?” the answer is uncertain, not vague, and Chapter 14 is the right chapter.</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58786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C3A45ACC-63F5-48BF-8745-51E06FF6235D}"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full pipeline on five projects, the hand-checkable trace for </a:t>
            </a:r>
            <a:r>
              <a:rPr sz="2000" b="0" i="1">
                <a:solidFill>
                  <a:srgbClr val="1C252B"/>
                </a:solidFill>
                <a:latin typeface="Segoe UI"/>
              </a:rPr>
              <a:t>Beacon</a:t>
            </a:r>
            <a:r>
              <a:rPr sz="2000" b="0" i="0">
                <a:solidFill>
                  <a:srgbClr val="1C252B"/>
                </a:solidFill>
                <a:latin typeface="Segoe UI"/>
              </a:rPr>
              <a:t>, the smoothness comparison of Figure 16.3, and the output-range limitation.</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Smoothness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range limitation</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And the confusion this chapter exists to prevent</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Week 14: Risk rating by Mamdani inference; the perceptron and its limit</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158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code/ch16_risk_rating_mamdani.py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84185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97E4F460-1C2E-4DD6-A31E-367AA9B43489}"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quot;&quot;&quot;Chapter 16 lab -- rating project risk by Mamdani inference. Two inputs, nine rules, one number out. The interesting outputs are the smoothness table and the range check: a centroid defuzzifier cannot reach the ends of its own scale. &quot;&quot;&quot; import numpy as np def tri(x, a, b, c): &quot;&quot;&quot;Triangular membership: 0 at a, 1 at b, 0 at c.&quot;&quot;&quot; x = np.asarray(x, dtype=float) return np.clip(np.minimum((x - a) / (b - a), (c - x) / (c - b)), 0, 1)"/>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0">
                <a:solidFill>
                  <a:srgbClr val="7DCEA0"/>
                </a:solidFill>
                <a:latin typeface="Consolas"/>
              </a:rPr>
              <a:t>"""Chapter 16 lab -- rating project risk by Mamdani inference.</a:t>
            </a:r>
          </a:p>
          <a:p>
            <a:pPr>
              <a:lnSpc>
                <a:spcPct val="100000"/>
              </a:lnSpc>
              <a:spcAft>
                <a:spcPts val="0"/>
              </a:spcAft>
            </a:pPr>
            <a:r>
              <a:rPr sz="1600">
                <a:latin typeface="Consolas"/>
              </a:rPr>
              <a:t> </a:t>
            </a:r>
          </a:p>
          <a:p>
            <a:pPr>
              <a:lnSpc>
                <a:spcPct val="100000"/>
              </a:lnSpc>
              <a:spcAft>
                <a:spcPts val="0"/>
              </a:spcAft>
            </a:pPr>
            <a:r>
              <a:rPr sz="1600" i="0">
                <a:solidFill>
                  <a:srgbClr val="7DCEA0"/>
                </a:solidFill>
                <a:latin typeface="Consolas"/>
              </a:rPr>
              <a:t>Two inputs, nine rules, one number out. The interesting outputs are</a:t>
            </a:r>
          </a:p>
          <a:p>
            <a:pPr>
              <a:lnSpc>
                <a:spcPct val="100000"/>
              </a:lnSpc>
              <a:spcAft>
                <a:spcPts val="0"/>
              </a:spcAft>
            </a:pPr>
            <a:r>
              <a:rPr sz="1600" i="0">
                <a:solidFill>
                  <a:srgbClr val="7DCEA0"/>
                </a:solidFill>
                <a:latin typeface="Consolas"/>
              </a:rPr>
              <a:t>the smoothness table and the range check: a centroid defuzzifier</a:t>
            </a:r>
          </a:p>
          <a:p>
            <a:pPr>
              <a:lnSpc>
                <a:spcPct val="100000"/>
              </a:lnSpc>
              <a:spcAft>
                <a:spcPts val="0"/>
              </a:spcAft>
            </a:pPr>
            <a:r>
              <a:rPr sz="1600" i="0">
                <a:solidFill>
                  <a:srgbClr val="7DCEA0"/>
                </a:solidFill>
                <a:latin typeface="Consolas"/>
              </a:rPr>
              <a:t>cannot reach the ends of its own scale.</a:t>
            </a:r>
          </a:p>
          <a:p>
            <a:pPr>
              <a:lnSpc>
                <a:spcPct val="100000"/>
              </a:lnSpc>
              <a:spcAft>
                <a:spcPts val="0"/>
              </a:spcAft>
            </a:pPr>
            <a:r>
              <a:rPr sz="1600" i="0">
                <a:solidFill>
                  <a:srgbClr val="7DCEA0"/>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numpy</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np</a:t>
            </a:r>
          </a:p>
          <a:p>
            <a:pPr>
              <a:lnSpc>
                <a:spcPct val="100000"/>
              </a:lnSpc>
              <a:spcAft>
                <a:spcPts val="0"/>
              </a:spcAft>
            </a:pPr>
            <a:r>
              <a:rPr sz="1600">
                <a:latin typeface="Consolas"/>
              </a:rPr>
              <a:t> </a:t>
            </a:r>
          </a:p>
          <a:p>
            <a:pPr>
              <a:lnSpc>
                <a:spcPct val="100000"/>
              </a:lnSpc>
              <a:spcAft>
                <a:spcPts val="0"/>
              </a:spcAft>
            </a:pPr>
            <a:r>
              <a:rPr sz="1600">
                <a:latin typeface="Consolas"/>
              </a:rPr>
              <a:t>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tri</a:t>
            </a:r>
            <a:r>
              <a:rPr sz="1600" i="0">
                <a:solidFill>
                  <a:srgbClr val="AEB6BF"/>
                </a:solidFill>
                <a:latin typeface="Consolas"/>
              </a:rPr>
              <a:t>(</a:t>
            </a: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b</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"""Triangular membership: 0 at a, 1 at b, 0 at c."""</a:t>
            </a:r>
          </a:p>
          <a:p>
            <a:pPr>
              <a:lnSpc>
                <a:spcPct val="100000"/>
              </a:lnSpc>
              <a:spcAft>
                <a:spcPts val="0"/>
              </a:spcAft>
            </a:pPr>
            <a:r>
              <a:rPr sz="1600" i="0">
                <a:solidFill>
                  <a:srgbClr val="E8EDF2"/>
                </a:solidFill>
                <a:latin typeface="Consolas"/>
              </a:rPr>
              <a:t>    </a:t>
            </a:r>
            <a:r>
              <a:rPr sz="1600" i="0">
                <a:solidFill>
                  <a:srgbClr val="E8EDF2"/>
                </a:solidFill>
                <a:latin typeface="Consolas"/>
              </a:rPr>
              <a:t>x</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asarray</a:t>
            </a:r>
            <a:r>
              <a:rPr sz="1600" i="0">
                <a:solidFill>
                  <a:srgbClr val="AEB6BF"/>
                </a:solidFill>
                <a:latin typeface="Consolas"/>
              </a:rPr>
              <a:t>(</a:t>
            </a: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dtype</a:t>
            </a:r>
            <a:r>
              <a:rPr sz="1600" i="0">
                <a:solidFill>
                  <a:srgbClr val="AEB6BF"/>
                </a:solidFill>
                <a:latin typeface="Consolas"/>
              </a:rPr>
              <a:t>=</a:t>
            </a:r>
            <a:r>
              <a:rPr sz="1600" i="0">
                <a:solidFill>
                  <a:srgbClr val="C39BD3"/>
                </a:solidFill>
                <a:latin typeface="Consolas"/>
              </a:rPr>
              <a:t>float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clip</a:t>
            </a:r>
            <a:r>
              <a:rPr sz="1600" i="0">
                <a:solidFill>
                  <a:srgbClr val="AEB6BF"/>
                </a:solidFill>
                <a:latin typeface="Consolas"/>
              </a:rPr>
              <a:t>(</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minimum</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x</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b</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c</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c</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b</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0</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a:p>
            <a:pPr algn="r">
              <a:lnSpc>
                <a:spcPct val="100000"/>
              </a:lnSpc>
            </a:pPr>
            <a:r>
              <a:rPr sz="1600">
                <a:solidFill>
                  <a:srgbClr val="4F5D6A"/>
                </a:solidFill>
                <a:latin typeface="Consolas"/>
              </a:rPr>
              <a:t>5</a:t>
            </a:r>
          </a:p>
          <a:p>
            <a:pPr algn="r">
              <a:lnSpc>
                <a:spcPct val="100000"/>
              </a:lnSpc>
            </a:pPr>
            <a:r>
              <a:rPr sz="1600">
                <a:solidFill>
                  <a:srgbClr val="4F5D6A"/>
                </a:solidFill>
                <a:latin typeface="Consolas"/>
              </a:rPr>
              <a:t>6</a:t>
            </a:r>
          </a:p>
          <a:p>
            <a:pPr algn="r">
              <a:lnSpc>
                <a:spcPct val="100000"/>
              </a:lnSpc>
            </a:pPr>
            <a:r>
              <a:rPr sz="1600">
                <a:solidFill>
                  <a:srgbClr val="4F5D6A"/>
                </a:solidFill>
                <a:latin typeface="Consolas"/>
              </a:rPr>
              <a:t>7</a:t>
            </a:r>
          </a:p>
          <a:p>
            <a:pPr algn="r">
              <a:lnSpc>
                <a:spcPct val="100000"/>
              </a:lnSpc>
            </a:pPr>
            <a:r>
              <a:rPr sz="1600">
                <a:solidFill>
                  <a:srgbClr val="4F5D6A"/>
                </a:solidFill>
                <a:latin typeface="Consolas"/>
              </a:rPr>
              <a:t>8</a:t>
            </a:r>
          </a:p>
          <a:p>
            <a:pPr algn="r">
              <a:lnSpc>
                <a:spcPct val="100000"/>
              </a:lnSpc>
            </a:pPr>
            <a:r>
              <a:rPr sz="1600">
                <a:solidFill>
                  <a:srgbClr val="4F5D6A"/>
                </a:solidFill>
                <a:latin typeface="Consolas"/>
              </a:rPr>
              <a:t>9</a:t>
            </a:r>
          </a:p>
          <a:p>
            <a:pPr algn="r">
              <a:lnSpc>
                <a:spcPct val="100000"/>
              </a:lnSpc>
            </a:pPr>
            <a:r>
              <a:rPr sz="1600">
                <a:solidFill>
                  <a:srgbClr val="4F5D6A"/>
                </a:solidFill>
                <a:latin typeface="Consolas"/>
              </a:rPr>
              <a:t>10</a:t>
            </a:r>
          </a:p>
          <a:p>
            <a:pPr algn="r">
              <a:lnSpc>
                <a:spcPct val="100000"/>
              </a:lnSpc>
            </a:pPr>
            <a:r>
              <a:rPr sz="1600">
                <a:solidFill>
                  <a:srgbClr val="4F5D6A"/>
                </a:solidFill>
                <a:latin typeface="Consolas"/>
              </a:rPr>
              <a:t>11</a:t>
            </a:r>
          </a:p>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674CAE3B-A0E5-4713-B577-49DBC8F97C36}"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Fuzzy partitions: peaks evenly spaced, memberships summing to one, # so every input is described by at most two words. EFFORT = { # person-days, 0..100 &quot;low&quot;: lambda x: tri(x, -50, 0, 50), &quot;medium&quot;: lambda x: tri(x, 0, 50, 100), &quot;high&quot;: lambda x: tri(x, 50, 100, 150), } UNCERTAINTY = { # the team's 0..10 scale &quot;low&quot;: lambda x: tri(x, -5, 0, 5), &quot;medium&quot;: lambda x: tri(x, 0, 5, 10), &quot;high&quot;: lambda x: tri(x, 5, 10, 15), } RISK = { # score, 0..100 &quot;low&quot;: lambda x: tri(x, -50, 0, 50), &quot;medium&quot;: lambda x: tri(x, 0, 50, 100), &quot;high&quot;: lambda x: tri(x, 50, 100, 150), }"/>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Fuzzy partitions: peaks evenly spaced, memberships summing to one,</a:t>
            </a:r>
          </a:p>
          <a:p>
            <a:pPr>
              <a:lnSpc>
                <a:spcPct val="100000"/>
              </a:lnSpc>
              <a:spcAft>
                <a:spcPts val="0"/>
              </a:spcAft>
            </a:pPr>
            <a:r>
              <a:rPr sz="1300" i="1">
                <a:solidFill>
                  <a:srgbClr val="8795A1"/>
                </a:solidFill>
                <a:latin typeface="Consolas"/>
              </a:rPr>
              <a:t># so every input is described by at most two words.</a:t>
            </a:r>
          </a:p>
          <a:p>
            <a:pPr>
              <a:lnSpc>
                <a:spcPct val="100000"/>
              </a:lnSpc>
              <a:spcAft>
                <a:spcPts val="0"/>
              </a:spcAft>
            </a:pPr>
            <a:r>
              <a:rPr sz="1300" i="0">
                <a:solidFill>
                  <a:srgbClr val="E8EDF2"/>
                </a:solidFill>
                <a:latin typeface="Consolas"/>
              </a:rPr>
              <a:t>EFFORT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person-days, 0..100</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low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medium</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high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150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E8EDF2"/>
                </a:solidFill>
                <a:latin typeface="Consolas"/>
              </a:rPr>
              <a:t>UNCERTAINTY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the team's 0..10 scale</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low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medium</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high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15</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E8EDF2"/>
                </a:solidFill>
                <a:latin typeface="Consolas"/>
              </a:rPr>
              <a:t>RISK</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score, 0..100</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low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medium</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high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tri</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150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4984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395355B5-3819-40B2-9684-260C33615334}"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effort word, uncertainty word) -&gt; risk word RULES = [ (&quot;low&quot;, &quot;low&quot;, &quot;low&quot;), (&quot;low&quot;, &quot;medium&quot;, &quot;low&quot;), (&quot;low&quot;, &quot;high&quot;, &quot;medium&quot;), (&quot;medium&quot;, &quot;low&quot;, &quot;low&quot;), (&quot;medium&quot;, &quot;medium&quot;, &quot;medium&quot;), (&quot;medium&quot;, &quot;high&quot;, &quot;high&quot;), (&quot;high&quot;, &quot;low&quot;, &quot;medium&quot;), (&quot;high&quot;, &quot;medium&quot;, &quot;high&quot;), (&quot;high&quot;, &quot;high&quot;, &quot;high&quot;), ] GRID = np.linspace(0, 100, 1001)"/>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(effort word, uncertainty word) -&gt; risk word</a:t>
            </a:r>
          </a:p>
          <a:p>
            <a:pPr>
              <a:lnSpc>
                <a:spcPct val="100000"/>
              </a:lnSpc>
              <a:spcAft>
                <a:spcPts val="0"/>
              </a:spcAft>
            </a:pPr>
            <a:r>
              <a:rPr sz="2000" i="0">
                <a:solidFill>
                  <a:srgbClr val="E8EDF2"/>
                </a:solidFill>
                <a:latin typeface="Consolas"/>
              </a:rPr>
              <a:t>RULES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low</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medium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high</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GRID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np</a:t>
            </a:r>
            <a:r>
              <a:rPr sz="2000" i="0">
                <a:solidFill>
                  <a:srgbClr val="AEB6BF"/>
                </a:solidFill>
                <a:latin typeface="Consolas"/>
              </a:rPr>
              <a:t>.</a:t>
            </a:r>
            <a:r>
              <a:rPr sz="2000" i="0">
                <a:solidFill>
                  <a:srgbClr val="E8EDF2"/>
                </a:solidFill>
                <a:latin typeface="Consolas"/>
              </a:rPr>
              <a:t>linspace</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100</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1001</a:t>
            </a:r>
            <a:r>
              <a:rPr sz="20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36</a:t>
            </a:r>
          </a:p>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a:p>
            <a:pPr algn="r">
              <a:lnSpc>
                <a:spcPct val="100000"/>
              </a:lnSpc>
            </a:pPr>
            <a:r>
              <a:rPr sz="2000">
                <a:solidFill>
                  <a:srgbClr val="4F5D6A"/>
                </a:solidFill>
                <a:latin typeface="Consolas"/>
              </a:rPr>
              <a:t>40</a:t>
            </a:r>
          </a:p>
          <a:p>
            <a:pPr algn="r">
              <a:lnSpc>
                <a:spcPct val="100000"/>
              </a:lnSpc>
            </a:pPr>
            <a:r>
              <a:rPr sz="2000">
                <a:solidFill>
                  <a:srgbClr val="4F5D6A"/>
                </a:solidFill>
                <a:latin typeface="Consolas"/>
              </a:rPr>
              <a:t>41</a:t>
            </a:r>
          </a:p>
          <a:p>
            <a:pPr algn="r">
              <a:lnSpc>
                <a:spcPct val="100000"/>
              </a:lnSpc>
            </a:pPr>
            <a:r>
              <a:rPr sz="2000">
                <a:solidFill>
                  <a:srgbClr val="4F5D6A"/>
                </a:solidFill>
                <a:latin typeface="Consolas"/>
              </a:rPr>
              <a:t>42</a:t>
            </a:r>
          </a:p>
          <a:p>
            <a:pPr algn="r">
              <a:lnSpc>
                <a:spcPct val="100000"/>
              </a:lnSpc>
            </a:pPr>
            <a:r>
              <a:rPr sz="2000">
                <a:solidFill>
                  <a:srgbClr val="4F5D6A"/>
                </a:solidFill>
                <a:latin typeface="Consolas"/>
              </a:rPr>
              <a:t>43</a:t>
            </a:r>
          </a:p>
          <a:p>
            <a:pPr algn="r">
              <a:lnSpc>
                <a:spcPct val="100000"/>
              </a:lnSpc>
            </a:pPr>
            <a:r>
              <a:rPr sz="2000">
                <a:solidFill>
                  <a:srgbClr val="4F5D6A"/>
                </a:solidFill>
                <a:latin typeface="Consolas"/>
              </a:rPr>
              <a:t>44</a:t>
            </a:r>
          </a:p>
          <a:p>
            <a:pPr algn="r">
              <a:lnSpc>
                <a:spcPct val="100000"/>
              </a:lnSpc>
            </a:pPr>
            <a:r>
              <a:rPr sz="2000">
                <a:solidFill>
                  <a:srgbClr val="4F5D6A"/>
                </a:solidFill>
                <a:latin typeface="Consolas"/>
              </a:rPr>
              <a:t>45</a:t>
            </a:r>
          </a:p>
          <a:p>
            <a:pPr algn="r">
              <a:lnSpc>
                <a:spcPct val="100000"/>
              </a:lnSpc>
            </a:pPr>
            <a:r>
              <a:rPr sz="20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0383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BD98E259-827A-4471-BA2C-D773B14AE4DF}"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def mamdani(effort, uncertainty, trace=False): # 1. fuzzify me = {k: float(f(effort)) for k, f in EFFORT.items()} mu = {k: float(f(uncertainty)) for k, f in UNCERTAINTY.items()} if trace: print(&quot; effort %g -&gt; %s&quot; % (effort, {k: round(v, 3) for k, v in me.items() if v &gt; 0})) print(&quot; uncertainty %g -&gt; %s&quot; % (uncertainty, {k: round(v, 3) for k, v in mu.items() if v &gt; 0}))"/>
          <p:cNvSpPr txBox="1"/>
          <p:nvPr/>
        </p:nvSpPr>
        <p:spPr>
          <a:xfrm>
            <a:off x="1362456" y="2523744"/>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mamdani</a:t>
            </a:r>
            <a:r>
              <a:rPr sz="2000" i="0">
                <a:solidFill>
                  <a:srgbClr val="AEB6BF"/>
                </a:solidFill>
                <a:latin typeface="Consolas"/>
              </a:rPr>
              <a:t>(</a:t>
            </a:r>
            <a:r>
              <a:rPr sz="2000" i="0">
                <a:solidFill>
                  <a:srgbClr val="E8EDF2"/>
                </a:solidFill>
                <a:latin typeface="Consolas"/>
              </a:rPr>
              <a:t>effort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uncertainty</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trace</a:t>
            </a:r>
            <a:r>
              <a:rPr sz="2000" i="0">
                <a:solidFill>
                  <a:srgbClr val="AEB6BF"/>
                </a:solidFill>
                <a:latin typeface="Consolas"/>
              </a:rPr>
              <a:t>=</a:t>
            </a:r>
            <a:r>
              <a:rPr sz="2000" i="0">
                <a:solidFill>
                  <a:srgbClr val="5DADE2"/>
                </a:solidFill>
                <a:latin typeface="Consolas"/>
              </a:rPr>
              <a:t>False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1">
                <a:solidFill>
                  <a:srgbClr val="8795A1"/>
                </a:solidFill>
                <a:latin typeface="Consolas"/>
              </a:rPr>
              <a:t># 1. fuzzify</a:t>
            </a:r>
          </a:p>
          <a:p>
            <a:pPr>
              <a:lnSpc>
                <a:spcPct val="100000"/>
              </a:lnSpc>
              <a:spcAft>
                <a:spcPts val="0"/>
              </a:spcAft>
            </a:pPr>
            <a:r>
              <a:rPr sz="2000" i="0">
                <a:solidFill>
                  <a:srgbClr val="E8EDF2"/>
                </a:solidFill>
                <a:latin typeface="Consolas"/>
              </a:rPr>
              <a:t>    </a:t>
            </a:r>
            <a:r>
              <a:rPr sz="2000" i="0">
                <a:solidFill>
                  <a:srgbClr val="E8EDF2"/>
                </a:solidFill>
                <a:latin typeface="Consolas"/>
              </a:rPr>
              <a:t>me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float</a:t>
            </a:r>
            <a:r>
              <a:rPr sz="2000" i="0">
                <a:solidFill>
                  <a:srgbClr val="AEB6BF"/>
                </a:solidFill>
                <a:latin typeface="Consolas"/>
              </a:rPr>
              <a:t>(</a:t>
            </a:r>
            <a:r>
              <a:rPr sz="2000" i="0">
                <a:solidFill>
                  <a:srgbClr val="E8EDF2"/>
                </a:solidFill>
                <a:latin typeface="Consolas"/>
              </a:rPr>
              <a:t>f</a:t>
            </a:r>
            <a:r>
              <a:rPr sz="2000" i="0">
                <a:solidFill>
                  <a:srgbClr val="AEB6BF"/>
                </a:solidFill>
                <a:latin typeface="Consolas"/>
              </a:rPr>
              <a:t>(</a:t>
            </a:r>
            <a:r>
              <a:rPr sz="2000" i="0">
                <a:solidFill>
                  <a:srgbClr val="E8EDF2"/>
                </a:solidFill>
                <a:latin typeface="Consolas"/>
              </a:rPr>
              <a:t>effort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EFFORT</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mu</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float</a:t>
            </a:r>
            <a:r>
              <a:rPr sz="2000" i="0">
                <a:solidFill>
                  <a:srgbClr val="AEB6BF"/>
                </a:solidFill>
                <a:latin typeface="Consolas"/>
              </a:rPr>
              <a:t>(</a:t>
            </a:r>
            <a:r>
              <a:rPr sz="2000" i="0">
                <a:solidFill>
                  <a:srgbClr val="E8EDF2"/>
                </a:solidFill>
                <a:latin typeface="Consolas"/>
              </a:rPr>
              <a:t>f</a:t>
            </a:r>
            <a:r>
              <a:rPr sz="2000" i="0">
                <a:solidFill>
                  <a:srgbClr val="AEB6BF"/>
                </a:solidFill>
                <a:latin typeface="Consolas"/>
              </a:rPr>
              <a:t>(</a:t>
            </a:r>
            <a:r>
              <a:rPr sz="2000" i="0">
                <a:solidFill>
                  <a:srgbClr val="E8EDF2"/>
                </a:solidFill>
                <a:latin typeface="Consolas"/>
              </a:rPr>
              <a:t>uncertainty</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UNCERTAINTY</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trace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   effort </a:t>
            </a:r>
            <a:r>
              <a:rPr sz="2000" i="0">
                <a:solidFill>
                  <a:srgbClr val="7DCEA0"/>
                </a:solidFill>
                <a:latin typeface="Consolas"/>
              </a:rPr>
              <a:t>%g</a:t>
            </a:r>
            <a:r>
              <a:rPr sz="2000" i="0">
                <a:solidFill>
                  <a:srgbClr val="7DCEA0"/>
                </a:solidFill>
                <a:latin typeface="Consolas"/>
              </a:rPr>
              <a:t>      -&gt; </a:t>
            </a:r>
            <a:r>
              <a:rPr sz="2000" i="0">
                <a:solidFill>
                  <a:srgbClr val="7DCEA0"/>
                </a:solidFill>
                <a:latin typeface="Consolas"/>
              </a:rPr>
              <a:t>%s</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effort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round</a:t>
            </a:r>
            <a:r>
              <a:rPr sz="2000" i="0">
                <a:solidFill>
                  <a:srgbClr val="AEB6BF"/>
                </a:solidFill>
                <a:latin typeface="Consolas"/>
              </a:rPr>
              <a:t>(</a:t>
            </a:r>
            <a:r>
              <a:rPr sz="2000" i="0">
                <a:solidFill>
                  <a:srgbClr val="E8EDF2"/>
                </a:solidFill>
                <a:latin typeface="Consolas"/>
              </a:rPr>
              <a:t>v</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3</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me</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   uncertainty </a:t>
            </a:r>
            <a:r>
              <a:rPr sz="2000" i="0">
                <a:solidFill>
                  <a:srgbClr val="7DCEA0"/>
                </a:solidFill>
                <a:latin typeface="Consolas"/>
              </a:rPr>
              <a:t>%g</a:t>
            </a:r>
            <a:r>
              <a:rPr sz="2000" i="0">
                <a:solidFill>
                  <a:srgbClr val="7DCEA0"/>
                </a:solidFill>
                <a:latin typeface="Consolas"/>
              </a:rPr>
              <a:t> -&gt; </a:t>
            </a:r>
            <a:r>
              <a:rPr sz="2000" i="0">
                <a:solidFill>
                  <a:srgbClr val="7DCEA0"/>
                </a:solidFill>
                <a:latin typeface="Consolas"/>
              </a:rPr>
              <a:t>%s</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uncertainty</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round</a:t>
            </a:r>
            <a:r>
              <a:rPr sz="2000" i="0">
                <a:solidFill>
                  <a:srgbClr val="AEB6BF"/>
                </a:solidFill>
                <a:latin typeface="Consolas"/>
              </a:rPr>
              <a:t>(</a:t>
            </a:r>
            <a:r>
              <a:rPr sz="2000" i="0">
                <a:solidFill>
                  <a:srgbClr val="E8EDF2"/>
                </a:solidFill>
                <a:latin typeface="Consolas"/>
              </a:rPr>
              <a:t>v</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3</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mu</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49</a:t>
            </a:r>
          </a:p>
          <a:p>
            <a:pPr algn="r">
              <a:lnSpc>
                <a:spcPct val="100000"/>
              </a:lnSpc>
            </a:pPr>
            <a:r>
              <a:rPr sz="2000">
                <a:solidFill>
                  <a:srgbClr val="4F5D6A"/>
                </a:solidFill>
                <a:latin typeface="Consolas"/>
              </a:rPr>
              <a:t>50</a:t>
            </a:r>
          </a:p>
          <a:p>
            <a:pPr algn="r">
              <a:lnSpc>
                <a:spcPct val="100000"/>
              </a:lnSpc>
            </a:pPr>
            <a:r>
              <a:rPr sz="2000">
                <a:solidFill>
                  <a:srgbClr val="4F5D6A"/>
                </a:solidFill>
                <a:latin typeface="Consolas"/>
              </a:rPr>
              <a:t>51</a:t>
            </a:r>
          </a:p>
          <a:p>
            <a:pPr algn="r">
              <a:lnSpc>
                <a:spcPct val="100000"/>
              </a:lnSpc>
            </a:pPr>
            <a:r>
              <a:rPr sz="2000">
                <a:solidFill>
                  <a:srgbClr val="4F5D6A"/>
                </a:solidFill>
                <a:latin typeface="Consolas"/>
              </a:rPr>
              <a:t>52</a:t>
            </a:r>
          </a:p>
          <a:p>
            <a:pPr algn="r">
              <a:lnSpc>
                <a:spcPct val="100000"/>
              </a:lnSpc>
            </a:pPr>
            <a:r>
              <a:rPr sz="2000">
                <a:solidFill>
                  <a:srgbClr val="4F5D6A"/>
                </a:solidFill>
                <a:latin typeface="Consolas"/>
              </a:rPr>
              <a:t>53</a:t>
            </a:r>
          </a:p>
          <a:p>
            <a:pPr algn="r">
              <a:lnSpc>
                <a:spcPct val="100000"/>
              </a:lnSpc>
            </a:pPr>
            <a:r>
              <a:rPr sz="2000">
                <a:solidFill>
                  <a:srgbClr val="4F5D6A"/>
                </a:solidFill>
                <a:latin typeface="Consolas"/>
              </a:rPr>
              <a:t>54</a:t>
            </a:r>
          </a:p>
          <a:p>
            <a:pPr algn="r">
              <a:lnSpc>
                <a:spcPct val="100000"/>
              </a:lnSpc>
            </a:pPr>
            <a:r>
              <a:rPr sz="2000">
                <a:solidFill>
                  <a:srgbClr val="4F5D6A"/>
                </a:solidFill>
                <a:latin typeface="Consolas"/>
              </a:rPr>
              <a:t>55</a:t>
            </a:r>
          </a:p>
          <a:p>
            <a:pPr algn="r">
              <a:lnSpc>
                <a:spcPct val="100000"/>
              </a:lnSpc>
            </a:pPr>
            <a:r>
              <a:rPr sz="2000">
                <a:solidFill>
                  <a:srgbClr val="4F5D6A"/>
                </a:solidFill>
                <a:latin typeface="Consolas"/>
              </a:rPr>
              <a:t>56</a:t>
            </a:r>
          </a:p>
          <a:p>
            <a:pPr algn="r">
              <a:lnSpc>
                <a:spcPct val="100000"/>
              </a:lnSpc>
            </a:pPr>
            <a:r>
              <a:rPr sz="2000">
                <a:solidFill>
                  <a:srgbClr val="4F5D6A"/>
                </a:solidFill>
                <a:latin typeface="Consolas"/>
              </a:rPr>
              <a:t>57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578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8AD405F4-2F1F-49CC-866C-3E7FBDAEA305}"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2. firing strength = min of the conditions # 3. clip the consequent at that strength # 4. aggregate by max aggregate = np.zeros_like(GRID) fired = [] for (e, u, r) in RULES: w = min(me[e], mu[u]) if w &gt; 1e-9: fired.append((e, u, r, w)) aggregate = np.maximum(aggregate, np.minimum(w, RISK[r](GRID))) if trace: for (e, u, r, w) in fired: print(&quot; %-6s x %-6s -&gt; %-6s strength %.3f&quot; % (e, u, r, w)) # 5. defuzzify by centroid area = aggregate.sum() crisp = float((GRID * aggregate).sum() / area) if area else 0.0 return crisp, fired"/>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E8EDF2"/>
                </a:solidFill>
                <a:latin typeface="Consolas"/>
              </a:rPr>
              <a:t>    </a:t>
            </a:r>
            <a:r>
              <a:rPr sz="1200" i="1">
                <a:solidFill>
                  <a:srgbClr val="8795A1"/>
                </a:solidFill>
                <a:latin typeface="Consolas"/>
              </a:rPr>
              <a:t># 2. firing strength = min of the conditions</a:t>
            </a:r>
          </a:p>
          <a:p>
            <a:pPr>
              <a:lnSpc>
                <a:spcPct val="100000"/>
              </a:lnSpc>
              <a:spcAft>
                <a:spcPts val="0"/>
              </a:spcAft>
            </a:pPr>
            <a:r>
              <a:rPr sz="1200" i="0">
                <a:solidFill>
                  <a:srgbClr val="E8EDF2"/>
                </a:solidFill>
                <a:latin typeface="Consolas"/>
              </a:rPr>
              <a:t>    </a:t>
            </a:r>
            <a:r>
              <a:rPr sz="1200" i="1">
                <a:solidFill>
                  <a:srgbClr val="8795A1"/>
                </a:solidFill>
                <a:latin typeface="Consolas"/>
              </a:rPr>
              <a:t># 3. clip the consequent at that strength</a:t>
            </a:r>
          </a:p>
          <a:p>
            <a:pPr>
              <a:lnSpc>
                <a:spcPct val="100000"/>
              </a:lnSpc>
              <a:spcAft>
                <a:spcPts val="0"/>
              </a:spcAft>
            </a:pPr>
            <a:r>
              <a:rPr sz="1200" i="0">
                <a:solidFill>
                  <a:srgbClr val="E8EDF2"/>
                </a:solidFill>
                <a:latin typeface="Consolas"/>
              </a:rPr>
              <a:t>    </a:t>
            </a:r>
            <a:r>
              <a:rPr sz="1200" i="1">
                <a:solidFill>
                  <a:srgbClr val="8795A1"/>
                </a:solidFill>
                <a:latin typeface="Consolas"/>
              </a:rPr>
              <a:t># 4. aggregate by max</a:t>
            </a:r>
          </a:p>
          <a:p>
            <a:pPr>
              <a:lnSpc>
                <a:spcPct val="100000"/>
              </a:lnSpc>
              <a:spcAft>
                <a:spcPts val="0"/>
              </a:spcAft>
            </a:pPr>
            <a:r>
              <a:rPr sz="1200" i="0">
                <a:solidFill>
                  <a:srgbClr val="E8EDF2"/>
                </a:solidFill>
                <a:latin typeface="Consolas"/>
              </a:rPr>
              <a:t>    </a:t>
            </a:r>
            <a:r>
              <a:rPr sz="1200" i="0">
                <a:solidFill>
                  <a:srgbClr val="E8EDF2"/>
                </a:solidFill>
                <a:latin typeface="Consolas"/>
              </a:rPr>
              <a:t>aggregate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zeros_like</a:t>
            </a:r>
            <a:r>
              <a:rPr sz="1200" i="0">
                <a:solidFill>
                  <a:srgbClr val="AEB6BF"/>
                </a:solidFill>
                <a:latin typeface="Consolas"/>
              </a:rPr>
              <a:t>(</a:t>
            </a:r>
            <a:r>
              <a:rPr sz="1200" i="0">
                <a:solidFill>
                  <a:srgbClr val="E8EDF2"/>
                </a:solidFill>
                <a:latin typeface="Consolas"/>
              </a:rPr>
              <a:t>GRID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fired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RULES</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w</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min</a:t>
            </a:r>
            <a:r>
              <a:rPr sz="1200" i="0">
                <a:solidFill>
                  <a:srgbClr val="AEB6BF"/>
                </a:solidFill>
                <a:latin typeface="Consolas"/>
              </a:rPr>
              <a:t>(</a:t>
            </a:r>
            <a:r>
              <a:rPr sz="1200" i="0">
                <a:solidFill>
                  <a:srgbClr val="E8EDF2"/>
                </a:solidFill>
                <a:latin typeface="Consolas"/>
              </a:rPr>
              <a:t>me</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mu</a:t>
            </a:r>
            <a:r>
              <a:rPr sz="1200" i="0">
                <a:solidFill>
                  <a:srgbClr val="AEB6BF"/>
                </a:solidFill>
                <a:latin typeface="Consolas"/>
              </a:rPr>
              <a:t>[</a:t>
            </a:r>
            <a:r>
              <a:rPr sz="1200" i="0">
                <a:solidFill>
                  <a:srgbClr val="E8EDF2"/>
                </a:solidFill>
                <a:latin typeface="Consolas"/>
              </a:rPr>
              <a:t>u</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w</a:t>
            </a:r>
            <a:r>
              <a:rPr sz="1200" i="0">
                <a:solidFill>
                  <a:srgbClr val="E8EDF2"/>
                </a:solidFill>
                <a:latin typeface="Consolas"/>
              </a:rPr>
              <a:t> </a:t>
            </a:r>
            <a:r>
              <a:rPr sz="1200" i="0">
                <a:solidFill>
                  <a:srgbClr val="AEB6BF"/>
                </a:solidFill>
                <a:latin typeface="Consolas"/>
              </a:rPr>
              <a:t>&gt;</a:t>
            </a:r>
            <a:r>
              <a:rPr sz="1200" i="0">
                <a:solidFill>
                  <a:srgbClr val="E8EDF2"/>
                </a:solidFill>
                <a:latin typeface="Consolas"/>
              </a:rPr>
              <a:t> </a:t>
            </a:r>
            <a:r>
              <a:rPr sz="1200" i="0">
                <a:solidFill>
                  <a:srgbClr val="F7DC6F"/>
                </a:solidFill>
                <a:latin typeface="Consolas"/>
              </a:rPr>
              <a:t>1e-9</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fired</a:t>
            </a:r>
            <a:r>
              <a:rPr sz="1200" i="0">
                <a:solidFill>
                  <a:srgbClr val="AEB6BF"/>
                </a:solidFill>
                <a:latin typeface="Consolas"/>
              </a:rPr>
              <a:t>.</a:t>
            </a:r>
            <a:r>
              <a:rPr sz="1200" i="0">
                <a:solidFill>
                  <a:srgbClr val="E8EDF2"/>
                </a:solidFill>
                <a:latin typeface="Consolas"/>
              </a:rPr>
              <a:t>append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aggregate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maximum</a:t>
            </a:r>
            <a:r>
              <a:rPr sz="1200" i="0">
                <a:solidFill>
                  <a:srgbClr val="AEB6BF"/>
                </a:solidFill>
                <a:latin typeface="Consolas"/>
              </a:rPr>
              <a:t>(</a:t>
            </a:r>
            <a:r>
              <a:rPr sz="1200" i="0">
                <a:solidFill>
                  <a:srgbClr val="E8EDF2"/>
                </a:solidFill>
                <a:latin typeface="Consolas"/>
              </a:rPr>
              <a:t>aggregate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minimum</a:t>
            </a:r>
            <a:r>
              <a:rPr sz="1200" i="0">
                <a:solidFill>
                  <a:srgbClr val="AEB6BF"/>
                </a:solidFill>
                <a:latin typeface="Consolas"/>
              </a:rPr>
              <a:t>(</a:t>
            </a:r>
            <a:r>
              <a:rPr sz="1200" i="0">
                <a:solidFill>
                  <a:srgbClr val="E8EDF2"/>
                </a:solidFill>
                <a:latin typeface="Consolas"/>
              </a:rPr>
              <a:t>w</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RISK</a:t>
            </a:r>
            <a:r>
              <a:rPr sz="1200" i="0">
                <a:solidFill>
                  <a:srgbClr val="AEB6BF"/>
                </a:solidFill>
                <a:latin typeface="Consolas"/>
              </a:rPr>
              <a:t>[</a:t>
            </a:r>
            <a:r>
              <a:rPr sz="1200" i="0">
                <a:solidFill>
                  <a:srgbClr val="E8EDF2"/>
                </a:solidFill>
                <a:latin typeface="Consolas"/>
              </a:rPr>
              <a:t>r</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GRID</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trace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fired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   </a:t>
            </a:r>
            <a:r>
              <a:rPr sz="1200" i="0">
                <a:solidFill>
                  <a:srgbClr val="7DCEA0"/>
                </a:solidFill>
                <a:latin typeface="Consolas"/>
              </a:rPr>
              <a:t>%-6s</a:t>
            </a:r>
            <a:r>
              <a:rPr sz="1200" i="0">
                <a:solidFill>
                  <a:srgbClr val="7DCEA0"/>
                </a:solidFill>
                <a:latin typeface="Consolas"/>
              </a:rPr>
              <a:t> x </a:t>
            </a:r>
            <a:r>
              <a:rPr sz="1200" i="0">
                <a:solidFill>
                  <a:srgbClr val="7DCEA0"/>
                </a:solidFill>
                <a:latin typeface="Consolas"/>
              </a:rPr>
              <a:t>%-6s</a:t>
            </a:r>
            <a:r>
              <a:rPr sz="1200" i="0">
                <a:solidFill>
                  <a:srgbClr val="7DCEA0"/>
                </a:solidFill>
                <a:latin typeface="Consolas"/>
              </a:rPr>
              <a:t> -&gt; </a:t>
            </a:r>
            <a:r>
              <a:rPr sz="1200" i="0">
                <a:solidFill>
                  <a:srgbClr val="7DCEA0"/>
                </a:solidFill>
                <a:latin typeface="Consolas"/>
              </a:rPr>
              <a:t>%-6s</a:t>
            </a:r>
            <a:r>
              <a:rPr sz="1200" i="0">
                <a:solidFill>
                  <a:srgbClr val="7DCEA0"/>
                </a:solidFill>
                <a:latin typeface="Consolas"/>
              </a:rPr>
              <a:t>   strength </a:t>
            </a:r>
            <a:r>
              <a:rPr sz="1200" i="0">
                <a:solidFill>
                  <a:srgbClr val="7DCEA0"/>
                </a:solidFill>
                <a:latin typeface="Consolas"/>
              </a:rPr>
              <a:t>%.3f</a:t>
            </a:r>
            <a:r>
              <a:rPr sz="1200" i="0">
                <a:solidFill>
                  <a:srgbClr val="7DCEA0"/>
                </a:solidFill>
                <a:latin typeface="Consolas"/>
              </a:rPr>
              <a:t>"</a:t>
            </a:r>
          </a:p>
          <a:p>
            <a:pPr>
              <a:lnSpc>
                <a:spcPct val="100000"/>
              </a:lnSpc>
              <a:spcAft>
                <a:spcPts val="0"/>
              </a:spcAft>
            </a:pP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    </a:t>
            </a:r>
            <a:r>
              <a:rPr sz="1200" i="1">
                <a:solidFill>
                  <a:srgbClr val="8795A1"/>
                </a:solidFill>
                <a:latin typeface="Consolas"/>
              </a:rPr>
              <a:t># 5. defuzzify by centroid</a:t>
            </a:r>
          </a:p>
          <a:p>
            <a:pPr>
              <a:lnSpc>
                <a:spcPct val="100000"/>
              </a:lnSpc>
              <a:spcAft>
                <a:spcPts val="0"/>
              </a:spcAft>
            </a:pPr>
            <a:r>
              <a:rPr sz="1200" i="0">
                <a:solidFill>
                  <a:srgbClr val="E8EDF2"/>
                </a:solidFill>
                <a:latin typeface="Consolas"/>
              </a:rPr>
              <a:t>    </a:t>
            </a:r>
            <a:r>
              <a:rPr sz="1200" i="0">
                <a:solidFill>
                  <a:srgbClr val="E8EDF2"/>
                </a:solidFill>
                <a:latin typeface="Consolas"/>
              </a:rPr>
              <a:t>area</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aggregate</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crisp</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float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GRID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aggregate</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sum</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area</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area</a:t>
            </a:r>
            <a:r>
              <a:rPr sz="1200" i="0">
                <a:solidFill>
                  <a:srgbClr val="E8EDF2"/>
                </a:solidFill>
                <a:latin typeface="Consolas"/>
              </a:rPr>
              <a:t> </a:t>
            </a:r>
            <a:r>
              <a:rPr sz="1200" i="0">
                <a:solidFill>
                  <a:srgbClr val="5DADE2"/>
                </a:solidFill>
                <a:latin typeface="Consolas"/>
              </a:rPr>
              <a:t>else</a:t>
            </a:r>
            <a:r>
              <a:rPr sz="1200" i="0">
                <a:solidFill>
                  <a:srgbClr val="E8EDF2"/>
                </a:solidFill>
                <a:latin typeface="Consolas"/>
              </a:rPr>
              <a:t> </a:t>
            </a:r>
            <a:r>
              <a:rPr sz="1200" i="0">
                <a:solidFill>
                  <a:srgbClr val="F7DC6F"/>
                </a:solidFill>
                <a:latin typeface="Consolas"/>
              </a:rPr>
              <a:t>0.0</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crisp</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fired</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59</a:t>
            </a:r>
          </a:p>
          <a:p>
            <a:pPr algn="r">
              <a:lnSpc>
                <a:spcPct val="100000"/>
              </a:lnSpc>
            </a:pPr>
            <a:r>
              <a:rPr sz="1200">
                <a:solidFill>
                  <a:srgbClr val="4F5D6A"/>
                </a:solidFill>
                <a:latin typeface="Consolas"/>
              </a:rPr>
              <a:t>60</a:t>
            </a:r>
          </a:p>
          <a:p>
            <a:pPr algn="r">
              <a:lnSpc>
                <a:spcPct val="100000"/>
              </a:lnSpc>
            </a:pPr>
            <a:r>
              <a:rPr sz="1200">
                <a:solidFill>
                  <a:srgbClr val="4F5D6A"/>
                </a:solidFill>
                <a:latin typeface="Consolas"/>
              </a:rPr>
              <a:t>61</a:t>
            </a:r>
          </a:p>
          <a:p>
            <a:pPr algn="r">
              <a:lnSpc>
                <a:spcPct val="100000"/>
              </a:lnSpc>
            </a:pPr>
            <a:r>
              <a:rPr sz="1200">
                <a:solidFill>
                  <a:srgbClr val="4F5D6A"/>
                </a:solidFill>
                <a:latin typeface="Consolas"/>
              </a:rPr>
              <a:t>62</a:t>
            </a:r>
          </a:p>
          <a:p>
            <a:pPr algn="r">
              <a:lnSpc>
                <a:spcPct val="100000"/>
              </a:lnSpc>
            </a:pPr>
            <a:r>
              <a:rPr sz="1200">
                <a:solidFill>
                  <a:srgbClr val="4F5D6A"/>
                </a:solidFill>
                <a:latin typeface="Consolas"/>
              </a:rPr>
              <a:t>63</a:t>
            </a:r>
          </a:p>
          <a:p>
            <a:pPr algn="r">
              <a:lnSpc>
                <a:spcPct val="100000"/>
              </a:lnSpc>
            </a:pPr>
            <a:r>
              <a:rPr sz="1200">
                <a:solidFill>
                  <a:srgbClr val="4F5D6A"/>
                </a:solidFill>
                <a:latin typeface="Consolas"/>
              </a:rPr>
              <a:t>64</a:t>
            </a:r>
          </a:p>
          <a:p>
            <a:pPr algn="r">
              <a:lnSpc>
                <a:spcPct val="100000"/>
              </a:lnSpc>
            </a:pPr>
            <a:r>
              <a:rPr sz="1200">
                <a:solidFill>
                  <a:srgbClr val="4F5D6A"/>
                </a:solidFill>
                <a:latin typeface="Consolas"/>
              </a:rPr>
              <a:t>65</a:t>
            </a:r>
          </a:p>
          <a:p>
            <a:pPr algn="r">
              <a:lnSpc>
                <a:spcPct val="100000"/>
              </a:lnSpc>
            </a:pPr>
            <a:r>
              <a:rPr sz="1200">
                <a:solidFill>
                  <a:srgbClr val="4F5D6A"/>
                </a:solidFill>
                <a:latin typeface="Consolas"/>
              </a:rPr>
              <a:t>66</a:t>
            </a:r>
          </a:p>
          <a:p>
            <a:pPr algn="r">
              <a:lnSpc>
                <a:spcPct val="100000"/>
              </a:lnSpc>
            </a:pPr>
            <a:r>
              <a:rPr sz="1200">
                <a:solidFill>
                  <a:srgbClr val="4F5D6A"/>
                </a:solidFill>
                <a:latin typeface="Consolas"/>
              </a:rPr>
              <a:t>67</a:t>
            </a:r>
          </a:p>
          <a:p>
            <a:pPr algn="r">
              <a:lnSpc>
                <a:spcPct val="100000"/>
              </a:lnSpc>
            </a:pPr>
            <a:r>
              <a:rPr sz="1200">
                <a:solidFill>
                  <a:srgbClr val="4F5D6A"/>
                </a:solidFill>
                <a:latin typeface="Consolas"/>
              </a:rPr>
              <a:t>68</a:t>
            </a:r>
          </a:p>
          <a:p>
            <a:pPr algn="r">
              <a:lnSpc>
                <a:spcPct val="100000"/>
              </a:lnSpc>
            </a:pPr>
            <a:r>
              <a:rPr sz="1200">
                <a:solidFill>
                  <a:srgbClr val="4F5D6A"/>
                </a:solidFill>
                <a:latin typeface="Consolas"/>
              </a:rPr>
              <a:t>69</a:t>
            </a:r>
          </a:p>
          <a:p>
            <a:pPr algn="r">
              <a:lnSpc>
                <a:spcPct val="100000"/>
              </a:lnSpc>
            </a:pPr>
            <a:r>
              <a:rPr sz="1200">
                <a:solidFill>
                  <a:srgbClr val="4F5D6A"/>
                </a:solidFill>
                <a:latin typeface="Consolas"/>
              </a:rPr>
              <a:t>70</a:t>
            </a:r>
          </a:p>
          <a:p>
            <a:pPr algn="r">
              <a:lnSpc>
                <a:spcPct val="100000"/>
              </a:lnSpc>
            </a:pPr>
            <a:r>
              <a:rPr sz="1200">
                <a:solidFill>
                  <a:srgbClr val="4F5D6A"/>
                </a:solidFill>
                <a:latin typeface="Consolas"/>
              </a:rPr>
              <a:t>71</a:t>
            </a:r>
          </a:p>
          <a:p>
            <a:pPr algn="r">
              <a:lnSpc>
                <a:spcPct val="100000"/>
              </a:lnSpc>
            </a:pPr>
            <a:r>
              <a:rPr sz="1200">
                <a:solidFill>
                  <a:srgbClr val="4F5D6A"/>
                </a:solidFill>
                <a:latin typeface="Consolas"/>
              </a:rPr>
              <a:t>72</a:t>
            </a:r>
          </a:p>
          <a:p>
            <a:pPr algn="r">
              <a:lnSpc>
                <a:spcPct val="100000"/>
              </a:lnSpc>
            </a:pPr>
            <a:r>
              <a:rPr sz="1200">
                <a:solidFill>
                  <a:srgbClr val="4F5D6A"/>
                </a:solidFill>
                <a:latin typeface="Consolas"/>
              </a:rPr>
              <a:t>73</a:t>
            </a:r>
          </a:p>
          <a:p>
            <a:pPr algn="r">
              <a:lnSpc>
                <a:spcPct val="100000"/>
              </a:lnSpc>
            </a:pPr>
            <a:r>
              <a:rPr sz="1200">
                <a:solidFill>
                  <a:srgbClr val="4F5D6A"/>
                </a:solidFill>
                <a:latin typeface="Consolas"/>
              </a:rPr>
              <a:t>74</a:t>
            </a:r>
          </a:p>
          <a:p>
            <a:pPr algn="r">
              <a:lnSpc>
                <a:spcPct val="100000"/>
              </a:lnSpc>
            </a:pPr>
            <a:r>
              <a:rPr sz="1200">
                <a:solidFill>
                  <a:srgbClr val="4F5D6A"/>
                </a:solidFill>
                <a:latin typeface="Consolas"/>
              </a:rPr>
              <a:t>75</a:t>
            </a:r>
          </a:p>
          <a:p>
            <a:pPr algn="r">
              <a:lnSpc>
                <a:spcPct val="100000"/>
              </a:lnSpc>
            </a:pPr>
            <a:r>
              <a:rPr sz="1200">
                <a:solidFill>
                  <a:srgbClr val="4F5D6A"/>
                </a:solidFill>
                <a:latin typeface="Consolas"/>
              </a:rPr>
              <a:t>76</a:t>
            </a:r>
          </a:p>
          <a:p>
            <a:pPr algn="r">
              <a:lnSpc>
                <a:spcPct val="100000"/>
              </a:lnSpc>
            </a:pPr>
            <a:r>
              <a:rPr sz="1200">
                <a:solidFill>
                  <a:srgbClr val="4F5D6A"/>
                </a:solidFill>
                <a:latin typeface="Consolas"/>
              </a:rPr>
              <a:t>77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1182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AE5C960A-445A-46A1-8862-5E3BBF6A9B03}"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def threshold_rule(effort, uncertainty): &quot;&quot;&quot;The same knowledge as a crisp rule, for contrast.&quot;&quot;&quot; return 90 if (effort &gt; 40 and uncertainty &gt; 7) else 10 PROJECTS = { &quot;Atlas&quot;: (20, 2), &quot;Beacon&quot;: (45, 4), &quot;Cobalt&quot;: (85, 9), &quot;Delta&quot;: (45, 9), &quot;Echo&quot;: (90, 2), }"/>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threshold_rule</a:t>
            </a:r>
            <a:r>
              <a:rPr sz="1900" i="0">
                <a:solidFill>
                  <a:srgbClr val="AEB6BF"/>
                </a:solidFill>
                <a:latin typeface="Consolas"/>
              </a:rPr>
              <a:t>(</a:t>
            </a:r>
            <a:r>
              <a:rPr sz="1900" i="0">
                <a:solidFill>
                  <a:srgbClr val="E8EDF2"/>
                </a:solidFill>
                <a:latin typeface="Consolas"/>
              </a:rPr>
              <a:t>effort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uncertainty</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"""The same knowledge as a crisp rule, for contrast."""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F7DC6F"/>
                </a:solidFill>
                <a:latin typeface="Consolas"/>
              </a:rPr>
              <a:t>90</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effort</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F7DC6F"/>
                </a:solidFill>
                <a:latin typeface="Consolas"/>
              </a:rPr>
              <a:t>40</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E8EDF2"/>
                </a:solidFill>
                <a:latin typeface="Consolas"/>
              </a:rPr>
              <a:t>uncertainty</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F7DC6F"/>
                </a:solidFill>
                <a:latin typeface="Consolas"/>
              </a:rPr>
              <a:t>7</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else</a:t>
            </a:r>
            <a:r>
              <a:rPr sz="1900" i="0">
                <a:solidFill>
                  <a:srgbClr val="E8EDF2"/>
                </a:solidFill>
                <a:latin typeface="Consolas"/>
              </a:rPr>
              <a:t> </a:t>
            </a:r>
            <a:r>
              <a:rPr sz="1900" i="0">
                <a:solidFill>
                  <a:srgbClr val="F7DC6F"/>
                </a:solidFill>
                <a:latin typeface="Consolas"/>
              </a:rPr>
              <a:t>10</a:t>
            </a:r>
          </a:p>
          <a:p>
            <a:pPr>
              <a:lnSpc>
                <a:spcPct val="100000"/>
              </a:lnSpc>
              <a:spcAft>
                <a:spcPts val="0"/>
              </a:spcAft>
            </a:pPr>
            <a:r>
              <a:rPr sz="1900">
                <a:latin typeface="Consolas"/>
              </a:rPr>
              <a:t> </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PROJECTS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Atlas</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20</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Beacon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45</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Cobalt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85</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9</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Delta</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45</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9</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Echo</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90</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80</a:t>
            </a:r>
          </a:p>
          <a:p>
            <a:pPr algn="r">
              <a:lnSpc>
                <a:spcPct val="100000"/>
              </a:lnSpc>
            </a:pPr>
            <a:r>
              <a:rPr sz="1900">
                <a:solidFill>
                  <a:srgbClr val="4F5D6A"/>
                </a:solidFill>
                <a:latin typeface="Consolas"/>
              </a:rPr>
              <a:t>81</a:t>
            </a:r>
          </a:p>
          <a:p>
            <a:pPr algn="r">
              <a:lnSpc>
                <a:spcPct val="100000"/>
              </a:lnSpc>
            </a:pPr>
            <a:r>
              <a:rPr sz="1900">
                <a:solidFill>
                  <a:srgbClr val="4F5D6A"/>
                </a:solidFill>
                <a:latin typeface="Consolas"/>
              </a:rPr>
              <a:t>82</a:t>
            </a:r>
          </a:p>
          <a:p>
            <a:pPr algn="r">
              <a:lnSpc>
                <a:spcPct val="100000"/>
              </a:lnSpc>
            </a:pPr>
            <a:r>
              <a:rPr sz="1900">
                <a:solidFill>
                  <a:srgbClr val="4F5D6A"/>
                </a:solidFill>
                <a:latin typeface="Consolas"/>
              </a:rPr>
              <a:t>83</a:t>
            </a:r>
          </a:p>
          <a:p>
            <a:pPr algn="r">
              <a:lnSpc>
                <a:spcPct val="100000"/>
              </a:lnSpc>
            </a:pPr>
            <a:r>
              <a:rPr sz="1900">
                <a:solidFill>
                  <a:srgbClr val="4F5D6A"/>
                </a:solidFill>
                <a:latin typeface="Consolas"/>
              </a:rPr>
              <a:t>84</a:t>
            </a:r>
          </a:p>
          <a:p>
            <a:pPr algn="r">
              <a:lnSpc>
                <a:spcPct val="100000"/>
              </a:lnSpc>
            </a:pPr>
            <a:r>
              <a:rPr sz="1900">
                <a:solidFill>
                  <a:srgbClr val="4F5D6A"/>
                </a:solidFill>
                <a:latin typeface="Consolas"/>
              </a:rPr>
              <a:t>85</a:t>
            </a:r>
          </a:p>
          <a:p>
            <a:pPr algn="r">
              <a:lnSpc>
                <a:spcPct val="100000"/>
              </a:lnSpc>
            </a:pPr>
            <a:r>
              <a:rPr sz="1900">
                <a:solidFill>
                  <a:srgbClr val="4F5D6A"/>
                </a:solidFill>
                <a:latin typeface="Consolas"/>
              </a:rPr>
              <a:t>86</a:t>
            </a:r>
          </a:p>
          <a:p>
            <a:pPr algn="r">
              <a:lnSpc>
                <a:spcPct val="100000"/>
              </a:lnSpc>
            </a:pPr>
            <a:r>
              <a:rPr sz="1900">
                <a:solidFill>
                  <a:srgbClr val="4F5D6A"/>
                </a:solidFill>
                <a:latin typeface="Consolas"/>
              </a:rPr>
              <a:t>87</a:t>
            </a:r>
          </a:p>
          <a:p>
            <a:pPr algn="r">
              <a:lnSpc>
                <a:spcPct val="100000"/>
              </a:lnSpc>
            </a:pPr>
            <a:r>
              <a:rPr sz="1900">
                <a:solidFill>
                  <a:srgbClr val="4F5D6A"/>
                </a:solidFill>
                <a:latin typeface="Consolas"/>
              </a:rPr>
              <a:t>88</a:t>
            </a:r>
          </a:p>
          <a:p>
            <a:pPr algn="r">
              <a:lnSpc>
                <a:spcPct val="100000"/>
              </a:lnSpc>
            </a:pPr>
            <a:r>
              <a:rPr sz="1900">
                <a:solidFill>
                  <a:srgbClr val="4F5D6A"/>
                </a:solidFill>
                <a:latin typeface="Consolas"/>
              </a:rPr>
              <a:t>89</a:t>
            </a:r>
          </a:p>
          <a:p>
            <a:pPr algn="r">
              <a:lnSpc>
                <a:spcPct val="100000"/>
              </a:lnSpc>
            </a:pPr>
            <a:r>
              <a:rPr sz="1900">
                <a:solidFill>
                  <a:srgbClr val="4F5D6A"/>
                </a:solidFill>
                <a:latin typeface="Consolas"/>
              </a:rPr>
              <a:t>90</a:t>
            </a:r>
          </a:p>
          <a:p>
            <a:pPr algn="r">
              <a:lnSpc>
                <a:spcPct val="100000"/>
              </a:lnSpc>
            </a:pPr>
            <a:r>
              <a:rPr sz="1900">
                <a:solidFill>
                  <a:srgbClr val="4F5D6A"/>
                </a:solidFill>
                <a:latin typeface="Consolas"/>
              </a:rPr>
              <a:t>91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658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2C48B2DB-5F77-40D7-8E7D-0929292E749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if __name__ == &quot;__main__&quot;: print(&quot;project effort uncert risk rules fired&quot;) print(&quot;-&quot; * 50) for name, (e, u) in PROJECTS.items(): risk, fired = mamdani(e, u) print(&quot;%-9s %6d %7d %7.2f %8d&quot; % (name, e, u, risk, len(fired))) assert len(fired) == 4, &quot;a partition should fire 2x2 rules&quot; print() print(&quot;=== Beacon in full (effort 45, uncertainty 4) ===&quot;) risk, fired = mamdani(45, 4, trace=True) print(&quot; crisp risk = %.2f&quot; % risk) assert abs(risk - 49.04) &lt; 0.01 # the memberships are exactly the hand calculation assert abs(float(EFFORT[&quot;low&quot;](45)) - 0.1) &lt; 1e-9 assert abs(float(EFFORT[&quot;medium&quot;](45)) - 0.9) &lt; 1e-9 assert abs(float(UNCERTAINTY[&quot;low&quot;](4)) - 0.2) &lt; 1e-9 assert abs(float(UNCERTAINTY[&quot;medium&quot;](4)) - 0.8) &lt; 1e-9"/>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__name__</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__main__</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project   effort  uncert    risk   rules fired</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50</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name</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PROJECTS</a:t>
            </a:r>
            <a:r>
              <a:rPr sz="1200" i="0">
                <a:solidFill>
                  <a:srgbClr val="AEB6BF"/>
                </a:solidFill>
                <a:latin typeface="Consolas"/>
              </a:rPr>
              <a:t>.</a:t>
            </a:r>
            <a:r>
              <a:rPr sz="1200" i="0">
                <a:solidFill>
                  <a:srgbClr val="E8EDF2"/>
                </a:solidFill>
                <a:latin typeface="Consolas"/>
              </a:rPr>
              <a:t>items</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risk</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fired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mamdani</a:t>
            </a:r>
            <a:r>
              <a:rPr sz="1200" i="0">
                <a:solidFill>
                  <a:srgbClr val="AEB6BF"/>
                </a:solidFill>
                <a:latin typeface="Consolas"/>
              </a:rPr>
              <a:t>(</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%-9s</a:t>
            </a:r>
            <a:r>
              <a:rPr sz="1200" i="0">
                <a:solidFill>
                  <a:srgbClr val="7DCEA0"/>
                </a:solidFill>
                <a:latin typeface="Consolas"/>
              </a:rPr>
              <a:t> </a:t>
            </a:r>
            <a:r>
              <a:rPr sz="1200" i="0">
                <a:solidFill>
                  <a:srgbClr val="7DCEA0"/>
                </a:solidFill>
                <a:latin typeface="Consolas"/>
              </a:rPr>
              <a:t>%6d</a:t>
            </a:r>
            <a:r>
              <a:rPr sz="1200" i="0">
                <a:solidFill>
                  <a:srgbClr val="7DCEA0"/>
                </a:solidFill>
                <a:latin typeface="Consolas"/>
              </a:rPr>
              <a:t> </a:t>
            </a:r>
            <a:r>
              <a:rPr sz="1200" i="0">
                <a:solidFill>
                  <a:srgbClr val="7DCEA0"/>
                </a:solidFill>
                <a:latin typeface="Consolas"/>
              </a:rPr>
              <a:t>%7d</a:t>
            </a:r>
            <a:r>
              <a:rPr sz="1200" i="0">
                <a:solidFill>
                  <a:srgbClr val="7DCEA0"/>
                </a:solidFill>
                <a:latin typeface="Consolas"/>
              </a:rPr>
              <a:t> </a:t>
            </a:r>
            <a:r>
              <a:rPr sz="1200" i="0">
                <a:solidFill>
                  <a:srgbClr val="7DCEA0"/>
                </a:solidFill>
                <a:latin typeface="Consolas"/>
              </a:rPr>
              <a:t>%7.2f</a:t>
            </a:r>
            <a:r>
              <a:rPr sz="1200" i="0">
                <a:solidFill>
                  <a:srgbClr val="7DCEA0"/>
                </a:solidFill>
                <a:latin typeface="Consolas"/>
              </a:rPr>
              <a:t> </a:t>
            </a:r>
            <a:r>
              <a:rPr sz="1200" i="0">
                <a:solidFill>
                  <a:srgbClr val="7DCEA0"/>
                </a:solidFill>
                <a:latin typeface="Consolas"/>
              </a:rPr>
              <a:t>%8d</a:t>
            </a:r>
            <a:r>
              <a:rPr sz="1200" i="0">
                <a:solidFill>
                  <a:srgbClr val="7DCEA0"/>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name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u</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risk</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fired</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fired</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4</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a partition should fire 2x2 rules</a:t>
            </a:r>
            <a:r>
              <a:rPr sz="1200" i="0">
                <a:solidFill>
                  <a:srgbClr val="7DCEA0"/>
                </a:solidFill>
                <a:latin typeface="Consolas"/>
              </a:rPr>
              <a:t>"</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 Beacon in full (effort 45, uncertainty 4) ===</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risk</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fired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mamdani</a:t>
            </a:r>
            <a:r>
              <a:rPr sz="1200" i="0">
                <a:solidFill>
                  <a:srgbClr val="AEB6BF"/>
                </a:solidFill>
                <a:latin typeface="Consolas"/>
              </a:rPr>
              <a:t>(</a:t>
            </a:r>
            <a:r>
              <a:rPr sz="1200" i="0">
                <a:solidFill>
                  <a:srgbClr val="F7DC6F"/>
                </a:solidFill>
                <a:latin typeface="Consolas"/>
              </a:rPr>
              <a:t>45</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4</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trace</a:t>
            </a:r>
            <a:r>
              <a:rPr sz="1200" i="0">
                <a:solidFill>
                  <a:srgbClr val="AEB6BF"/>
                </a:solidFill>
                <a:latin typeface="Consolas"/>
              </a:rPr>
              <a:t>=</a:t>
            </a:r>
            <a:r>
              <a:rPr sz="1200" i="0">
                <a:solidFill>
                  <a:srgbClr val="5DADE2"/>
                </a:solidFill>
                <a:latin typeface="Consolas"/>
              </a:rPr>
              <a:t>True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   crisp risk = </a:t>
            </a:r>
            <a:r>
              <a:rPr sz="1200" i="0">
                <a:solidFill>
                  <a:srgbClr val="7DCEA0"/>
                </a:solidFill>
                <a:latin typeface="Consolas"/>
              </a:rPr>
              <a:t>%.2f</a:t>
            </a:r>
            <a:r>
              <a:rPr sz="1200" i="0">
                <a:solidFill>
                  <a:srgbClr val="7DCEA0"/>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risk</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abs</a:t>
            </a:r>
            <a:r>
              <a:rPr sz="1200" i="0">
                <a:solidFill>
                  <a:srgbClr val="AEB6BF"/>
                </a:solidFill>
                <a:latin typeface="Consolas"/>
              </a:rPr>
              <a:t>(</a:t>
            </a:r>
            <a:r>
              <a:rPr sz="1200" i="0">
                <a:solidFill>
                  <a:srgbClr val="E8EDF2"/>
                </a:solidFill>
                <a:latin typeface="Consolas"/>
              </a:rPr>
              <a:t>risk</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49.04</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0.01</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    </a:t>
            </a:r>
            <a:r>
              <a:rPr sz="1200" i="1">
                <a:solidFill>
                  <a:srgbClr val="8795A1"/>
                </a:solidFill>
                <a:latin typeface="Consolas"/>
              </a:rPr>
              <a:t># the memberships are exactly the hand calculation</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abs</a:t>
            </a:r>
            <a:r>
              <a:rPr sz="1200" i="0">
                <a:solidFill>
                  <a:srgbClr val="AEB6BF"/>
                </a:solidFill>
                <a:latin typeface="Consolas"/>
              </a:rPr>
              <a:t>(</a:t>
            </a:r>
            <a:r>
              <a:rPr sz="1200" i="0">
                <a:solidFill>
                  <a:srgbClr val="C39BD3"/>
                </a:solidFill>
                <a:latin typeface="Consolas"/>
              </a:rPr>
              <a:t>float</a:t>
            </a:r>
            <a:r>
              <a:rPr sz="1200" i="0">
                <a:solidFill>
                  <a:srgbClr val="AEB6BF"/>
                </a:solidFill>
                <a:latin typeface="Consolas"/>
              </a:rPr>
              <a:t>(</a:t>
            </a:r>
            <a:r>
              <a:rPr sz="1200" i="0">
                <a:solidFill>
                  <a:srgbClr val="E8EDF2"/>
                </a:solidFill>
                <a:latin typeface="Consolas"/>
              </a:rPr>
              <a:t>EFFORT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low</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45</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0.1</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1e-9</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abs</a:t>
            </a:r>
            <a:r>
              <a:rPr sz="1200" i="0">
                <a:solidFill>
                  <a:srgbClr val="AEB6BF"/>
                </a:solidFill>
                <a:latin typeface="Consolas"/>
              </a:rPr>
              <a:t>(</a:t>
            </a:r>
            <a:r>
              <a:rPr sz="1200" i="0">
                <a:solidFill>
                  <a:srgbClr val="C39BD3"/>
                </a:solidFill>
                <a:latin typeface="Consolas"/>
              </a:rPr>
              <a:t>float</a:t>
            </a:r>
            <a:r>
              <a:rPr sz="1200" i="0">
                <a:solidFill>
                  <a:srgbClr val="AEB6BF"/>
                </a:solidFill>
                <a:latin typeface="Consolas"/>
              </a:rPr>
              <a:t>(</a:t>
            </a:r>
            <a:r>
              <a:rPr sz="1200" i="0">
                <a:solidFill>
                  <a:srgbClr val="E8EDF2"/>
                </a:solidFill>
                <a:latin typeface="Consolas"/>
              </a:rPr>
              <a:t>EFFORT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medium</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45</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0.9</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1e-9</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abs</a:t>
            </a:r>
            <a:r>
              <a:rPr sz="1200" i="0">
                <a:solidFill>
                  <a:srgbClr val="AEB6BF"/>
                </a:solidFill>
                <a:latin typeface="Consolas"/>
              </a:rPr>
              <a:t>(</a:t>
            </a:r>
            <a:r>
              <a:rPr sz="1200" i="0">
                <a:solidFill>
                  <a:srgbClr val="C39BD3"/>
                </a:solidFill>
                <a:latin typeface="Consolas"/>
              </a:rPr>
              <a:t>float</a:t>
            </a:r>
            <a:r>
              <a:rPr sz="1200" i="0">
                <a:solidFill>
                  <a:srgbClr val="AEB6BF"/>
                </a:solidFill>
                <a:latin typeface="Consolas"/>
              </a:rPr>
              <a:t>(</a:t>
            </a:r>
            <a:r>
              <a:rPr sz="1200" i="0">
                <a:solidFill>
                  <a:srgbClr val="E8EDF2"/>
                </a:solidFill>
                <a:latin typeface="Consolas"/>
              </a:rPr>
              <a:t>UNCERTAINTY</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low</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4</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0.2</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1e-9</a:t>
            </a:r>
          </a:p>
          <a:p>
            <a:pPr>
              <a:lnSpc>
                <a:spcPct val="100000"/>
              </a:lnSpc>
              <a:spcAft>
                <a:spcPts val="0"/>
              </a:spcAft>
            </a:pPr>
            <a:r>
              <a:rPr sz="1200" i="0">
                <a:solidFill>
                  <a:srgbClr val="E8EDF2"/>
                </a:solidFill>
                <a:latin typeface="Consolas"/>
              </a:rPr>
              <a:t>    </a:t>
            </a:r>
            <a:r>
              <a:rPr sz="1200" i="0">
                <a:solidFill>
                  <a:srgbClr val="5DADE2"/>
                </a:solidFill>
                <a:latin typeface="Consolas"/>
              </a:rPr>
              <a:t>assert</a:t>
            </a:r>
            <a:r>
              <a:rPr sz="1200" i="0">
                <a:solidFill>
                  <a:srgbClr val="E8EDF2"/>
                </a:solidFill>
                <a:latin typeface="Consolas"/>
              </a:rPr>
              <a:t> </a:t>
            </a:r>
            <a:r>
              <a:rPr sz="1200" i="0">
                <a:solidFill>
                  <a:srgbClr val="C39BD3"/>
                </a:solidFill>
                <a:latin typeface="Consolas"/>
              </a:rPr>
              <a:t>abs</a:t>
            </a:r>
            <a:r>
              <a:rPr sz="1200" i="0">
                <a:solidFill>
                  <a:srgbClr val="AEB6BF"/>
                </a:solidFill>
                <a:latin typeface="Consolas"/>
              </a:rPr>
              <a:t>(</a:t>
            </a:r>
            <a:r>
              <a:rPr sz="1200" i="0">
                <a:solidFill>
                  <a:srgbClr val="C39BD3"/>
                </a:solidFill>
                <a:latin typeface="Consolas"/>
              </a:rPr>
              <a:t>float</a:t>
            </a:r>
            <a:r>
              <a:rPr sz="1200" i="0">
                <a:solidFill>
                  <a:srgbClr val="AEB6BF"/>
                </a:solidFill>
                <a:latin typeface="Consolas"/>
              </a:rPr>
              <a:t>(</a:t>
            </a:r>
            <a:r>
              <a:rPr sz="1200" i="0">
                <a:solidFill>
                  <a:srgbClr val="E8EDF2"/>
                </a:solidFill>
                <a:latin typeface="Consolas"/>
              </a:rPr>
              <a:t>UNCERTAINTY</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medium</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4</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0.8</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1e-9</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93</a:t>
            </a:r>
          </a:p>
          <a:p>
            <a:pPr algn="r">
              <a:lnSpc>
                <a:spcPct val="100000"/>
              </a:lnSpc>
            </a:pPr>
            <a:r>
              <a:rPr sz="1200">
                <a:solidFill>
                  <a:srgbClr val="4F5D6A"/>
                </a:solidFill>
                <a:latin typeface="Consolas"/>
              </a:rPr>
              <a:t>94</a:t>
            </a:r>
          </a:p>
          <a:p>
            <a:pPr algn="r">
              <a:lnSpc>
                <a:spcPct val="100000"/>
              </a:lnSpc>
            </a:pPr>
            <a:r>
              <a:rPr sz="1200">
                <a:solidFill>
                  <a:srgbClr val="4F5D6A"/>
                </a:solidFill>
                <a:latin typeface="Consolas"/>
              </a:rPr>
              <a:t>95</a:t>
            </a:r>
          </a:p>
          <a:p>
            <a:pPr algn="r">
              <a:lnSpc>
                <a:spcPct val="100000"/>
              </a:lnSpc>
            </a:pPr>
            <a:r>
              <a:rPr sz="1200">
                <a:solidFill>
                  <a:srgbClr val="4F5D6A"/>
                </a:solidFill>
                <a:latin typeface="Consolas"/>
              </a:rPr>
              <a:t>96</a:t>
            </a:r>
          </a:p>
          <a:p>
            <a:pPr algn="r">
              <a:lnSpc>
                <a:spcPct val="100000"/>
              </a:lnSpc>
            </a:pPr>
            <a:r>
              <a:rPr sz="1200">
                <a:solidFill>
                  <a:srgbClr val="4F5D6A"/>
                </a:solidFill>
                <a:latin typeface="Consolas"/>
              </a:rPr>
              <a:t>97</a:t>
            </a:r>
          </a:p>
          <a:p>
            <a:pPr algn="r">
              <a:lnSpc>
                <a:spcPct val="100000"/>
              </a:lnSpc>
            </a:pPr>
            <a:r>
              <a:rPr sz="1200">
                <a:solidFill>
                  <a:srgbClr val="4F5D6A"/>
                </a:solidFill>
                <a:latin typeface="Consolas"/>
              </a:rPr>
              <a:t>98</a:t>
            </a:r>
          </a:p>
          <a:p>
            <a:pPr algn="r">
              <a:lnSpc>
                <a:spcPct val="100000"/>
              </a:lnSpc>
            </a:pPr>
            <a:r>
              <a:rPr sz="1200">
                <a:solidFill>
                  <a:srgbClr val="4F5D6A"/>
                </a:solidFill>
                <a:latin typeface="Consolas"/>
              </a:rPr>
              <a:t>99</a:t>
            </a:r>
          </a:p>
          <a:p>
            <a:pPr algn="r">
              <a:lnSpc>
                <a:spcPct val="100000"/>
              </a:lnSpc>
            </a:pPr>
            <a:r>
              <a:rPr sz="1200">
                <a:solidFill>
                  <a:srgbClr val="4F5D6A"/>
                </a:solidFill>
                <a:latin typeface="Consolas"/>
              </a:rPr>
              <a:t>100</a:t>
            </a:r>
          </a:p>
          <a:p>
            <a:pPr algn="r">
              <a:lnSpc>
                <a:spcPct val="100000"/>
              </a:lnSpc>
            </a:pPr>
            <a:r>
              <a:rPr sz="1200">
                <a:solidFill>
                  <a:srgbClr val="4F5D6A"/>
                </a:solidFill>
                <a:latin typeface="Consolas"/>
              </a:rPr>
              <a:t>101</a:t>
            </a:r>
          </a:p>
          <a:p>
            <a:pPr algn="r">
              <a:lnSpc>
                <a:spcPct val="100000"/>
              </a:lnSpc>
            </a:pPr>
            <a:r>
              <a:rPr sz="1200">
                <a:solidFill>
                  <a:srgbClr val="4F5D6A"/>
                </a:solidFill>
                <a:latin typeface="Consolas"/>
              </a:rPr>
              <a:t>102</a:t>
            </a:r>
          </a:p>
          <a:p>
            <a:pPr algn="r">
              <a:lnSpc>
                <a:spcPct val="100000"/>
              </a:lnSpc>
            </a:pPr>
            <a:r>
              <a:rPr sz="1200">
                <a:solidFill>
                  <a:srgbClr val="4F5D6A"/>
                </a:solidFill>
                <a:latin typeface="Consolas"/>
              </a:rPr>
              <a:t>103</a:t>
            </a:r>
          </a:p>
          <a:p>
            <a:pPr algn="r">
              <a:lnSpc>
                <a:spcPct val="100000"/>
              </a:lnSpc>
            </a:pPr>
            <a:r>
              <a:rPr sz="1200">
                <a:solidFill>
                  <a:srgbClr val="4F5D6A"/>
                </a:solidFill>
                <a:latin typeface="Consolas"/>
              </a:rPr>
              <a:t>104</a:t>
            </a:r>
          </a:p>
          <a:p>
            <a:pPr algn="r">
              <a:lnSpc>
                <a:spcPct val="100000"/>
              </a:lnSpc>
            </a:pPr>
            <a:r>
              <a:rPr sz="1200">
                <a:solidFill>
                  <a:srgbClr val="4F5D6A"/>
                </a:solidFill>
                <a:latin typeface="Consolas"/>
              </a:rPr>
              <a:t>105</a:t>
            </a:r>
          </a:p>
          <a:p>
            <a:pPr algn="r">
              <a:lnSpc>
                <a:spcPct val="100000"/>
              </a:lnSpc>
            </a:pPr>
            <a:r>
              <a:rPr sz="1200">
                <a:solidFill>
                  <a:srgbClr val="4F5D6A"/>
                </a:solidFill>
                <a:latin typeface="Consolas"/>
              </a:rPr>
              <a:t>106</a:t>
            </a:r>
          </a:p>
          <a:p>
            <a:pPr algn="r">
              <a:lnSpc>
                <a:spcPct val="100000"/>
              </a:lnSpc>
            </a:pPr>
            <a:r>
              <a:rPr sz="1200">
                <a:solidFill>
                  <a:srgbClr val="4F5D6A"/>
                </a:solidFill>
                <a:latin typeface="Consolas"/>
              </a:rPr>
              <a:t>107</a:t>
            </a:r>
          </a:p>
          <a:p>
            <a:pPr algn="r">
              <a:lnSpc>
                <a:spcPct val="100000"/>
              </a:lnSpc>
            </a:pPr>
            <a:r>
              <a:rPr sz="1200">
                <a:solidFill>
                  <a:srgbClr val="4F5D6A"/>
                </a:solidFill>
                <a:latin typeface="Consolas"/>
              </a:rPr>
              <a:t>108</a:t>
            </a:r>
          </a:p>
          <a:p>
            <a:pPr algn="r">
              <a:lnSpc>
                <a:spcPct val="100000"/>
              </a:lnSpc>
            </a:pPr>
            <a:r>
              <a:rPr sz="1200">
                <a:solidFill>
                  <a:srgbClr val="4F5D6A"/>
                </a:solidFill>
                <a:latin typeface="Consolas"/>
              </a:rPr>
              <a:t>109</a:t>
            </a:r>
          </a:p>
          <a:p>
            <a:pPr algn="r">
              <a:lnSpc>
                <a:spcPct val="100000"/>
              </a:lnSpc>
            </a:pPr>
            <a:r>
              <a:rPr sz="1200">
                <a:solidFill>
                  <a:srgbClr val="4F5D6A"/>
                </a:solidFill>
                <a:latin typeface="Consolas"/>
              </a:rPr>
              <a:t>110</a:t>
            </a:r>
          </a:p>
          <a:p>
            <a:pPr algn="r">
              <a:lnSpc>
                <a:spcPct val="100000"/>
              </a:lnSpc>
            </a:pPr>
            <a:r>
              <a:rPr sz="1200">
                <a:solidFill>
                  <a:srgbClr val="4F5D6A"/>
                </a:solidFill>
                <a:latin typeface="Consolas"/>
              </a:rPr>
              <a:t>111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48AD640D-3EDB-4554-8DF0-D43BD50AAA2A}"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Smoothness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 smoothness ------------------------------------------------ print() print(&quot;=== effort fixed at 45, uncertainty swept ===&quot;) print(&quot; unc fuzzy threshold rule&quot;) print(&quot; &quot; + &quot;-&quot; * 34) curve = [] for u in range(11): r, _ = mamdani(45, u) curve.append(r) print(&quot; %3d %8.2f %12d&quot; % (u, r, threshold_rule(45, u))) # the fuzzy output is monotone and moves in small steps steps = [curve[i + 1] - curve[i] for i in range(len(curve) - 1)] assert all(s &gt; 0 for s in steps), &quot;should be monotone increasing&quot; print() print(&quot; fuzzy: largest single step %.2f points&quot; % max(steps)) print(&quot; threshold rule: one step of 80 points, at u = 7 -&gt; 8&quot;) assert max(steps) &lt; 20"/>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1">
                <a:solidFill>
                  <a:srgbClr val="8795A1"/>
                </a:solidFill>
                <a:latin typeface="Consolas"/>
              </a:rPr>
              <a:t># --- smoothness ------------------------------------------------</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effort fixed at 45, uncertainty swept ===</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unc   fuzzy    threshold rule</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34</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curve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u</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F7DC6F"/>
                </a:solidFill>
                <a:latin typeface="Consolas"/>
              </a:rPr>
              <a:t>11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mamdani</a:t>
            </a:r>
            <a:r>
              <a:rPr sz="1300" i="0">
                <a:solidFill>
                  <a:srgbClr val="AEB6BF"/>
                </a:solidFill>
                <a:latin typeface="Consolas"/>
              </a:rPr>
              <a:t>(</a:t>
            </a:r>
            <a:r>
              <a:rPr sz="1300" i="0">
                <a:solidFill>
                  <a:srgbClr val="F7DC6F"/>
                </a:solidFill>
                <a:latin typeface="Consolas"/>
              </a:rPr>
              <a:t>45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u</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curve</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E8EDF2"/>
                </a:solidFill>
                <a:latin typeface="Consolas"/>
              </a:rPr>
              <a:t>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%3d</a:t>
            </a:r>
            <a:r>
              <a:rPr sz="1300" i="0">
                <a:solidFill>
                  <a:srgbClr val="7DCEA0"/>
                </a:solidFill>
                <a:latin typeface="Consolas"/>
              </a:rPr>
              <a:t> </a:t>
            </a:r>
            <a:r>
              <a:rPr sz="1300" i="0">
                <a:solidFill>
                  <a:srgbClr val="7DCEA0"/>
                </a:solidFill>
                <a:latin typeface="Consolas"/>
              </a:rPr>
              <a:t>%8.2f</a:t>
            </a:r>
            <a:r>
              <a:rPr sz="1300" i="0">
                <a:solidFill>
                  <a:srgbClr val="7DCEA0"/>
                </a:solidFill>
                <a:latin typeface="Consolas"/>
              </a:rPr>
              <a:t> </a:t>
            </a:r>
            <a:r>
              <a:rPr sz="1300" i="0">
                <a:solidFill>
                  <a:srgbClr val="7DCEA0"/>
                </a:solidFill>
                <a:latin typeface="Consolas"/>
              </a:rPr>
              <a:t>%12d</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u</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threshold_rule</a:t>
            </a:r>
            <a:r>
              <a:rPr sz="1300" i="0">
                <a:solidFill>
                  <a:srgbClr val="AEB6BF"/>
                </a:solidFill>
                <a:latin typeface="Consolas"/>
              </a:rPr>
              <a:t>(</a:t>
            </a:r>
            <a:r>
              <a:rPr sz="1300" i="0">
                <a:solidFill>
                  <a:srgbClr val="F7DC6F"/>
                </a:solidFill>
                <a:latin typeface="Consolas"/>
              </a:rPr>
              <a:t>45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u</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the fuzzy output is monotone and moves in small steps</a:t>
            </a:r>
          </a:p>
          <a:p>
            <a:pPr>
              <a:lnSpc>
                <a:spcPct val="100000"/>
              </a:lnSpc>
              <a:spcAft>
                <a:spcPts val="0"/>
              </a:spcAft>
            </a:pPr>
            <a:r>
              <a:rPr sz="1300" i="0">
                <a:solidFill>
                  <a:srgbClr val="E8EDF2"/>
                </a:solidFill>
                <a:latin typeface="Consolas"/>
              </a:rPr>
              <a:t>    </a:t>
            </a:r>
            <a:r>
              <a:rPr sz="1300" i="0">
                <a:solidFill>
                  <a:srgbClr val="E8EDF2"/>
                </a:solidFill>
                <a:latin typeface="Consolas"/>
              </a:rPr>
              <a:t>steps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curve</a:t>
            </a:r>
            <a:r>
              <a:rPr sz="1300" i="0">
                <a:solidFill>
                  <a:srgbClr val="AEB6BF"/>
                </a:solidFill>
                <a:latin typeface="Consolas"/>
              </a:rPr>
              <a:t>[</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curve</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curve</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C39BD3"/>
                </a:solidFill>
                <a:latin typeface="Consolas"/>
              </a:rPr>
              <a:t>all</a:t>
            </a:r>
            <a:r>
              <a:rPr sz="1300" i="0">
                <a:solidFill>
                  <a:srgbClr val="AEB6BF"/>
                </a:solidFill>
                <a:latin typeface="Consolas"/>
              </a:rPr>
              <a:t>(</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0</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steps</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should be monotone increasing</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fuzzy: largest single step </a:t>
            </a:r>
            <a:r>
              <a:rPr sz="1300" i="0">
                <a:solidFill>
                  <a:srgbClr val="7DCEA0"/>
                </a:solidFill>
                <a:latin typeface="Consolas"/>
              </a:rPr>
              <a:t>%.2f</a:t>
            </a:r>
            <a:r>
              <a:rPr sz="1300" i="0">
                <a:solidFill>
                  <a:srgbClr val="7DCEA0"/>
                </a:solidFill>
                <a:latin typeface="Consolas"/>
              </a:rPr>
              <a:t> points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steps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threshold rule: one step of 80 points, at u = 7 -&gt; 8</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steps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F7DC6F"/>
                </a:solidFill>
                <a:latin typeface="Consolas"/>
              </a:rPr>
              <a:t>20</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113</a:t>
            </a:r>
          </a:p>
          <a:p>
            <a:pPr algn="r">
              <a:lnSpc>
                <a:spcPct val="100000"/>
              </a:lnSpc>
            </a:pPr>
            <a:r>
              <a:rPr sz="1300">
                <a:solidFill>
                  <a:srgbClr val="4F5D6A"/>
                </a:solidFill>
                <a:latin typeface="Consolas"/>
              </a:rPr>
              <a:t>114</a:t>
            </a:r>
          </a:p>
          <a:p>
            <a:pPr algn="r">
              <a:lnSpc>
                <a:spcPct val="100000"/>
              </a:lnSpc>
            </a:pPr>
            <a:r>
              <a:rPr sz="1300">
                <a:solidFill>
                  <a:srgbClr val="4F5D6A"/>
                </a:solidFill>
                <a:latin typeface="Consolas"/>
              </a:rPr>
              <a:t>115</a:t>
            </a:r>
          </a:p>
          <a:p>
            <a:pPr algn="r">
              <a:lnSpc>
                <a:spcPct val="100000"/>
              </a:lnSpc>
            </a:pPr>
            <a:r>
              <a:rPr sz="1300">
                <a:solidFill>
                  <a:srgbClr val="4F5D6A"/>
                </a:solidFill>
                <a:latin typeface="Consolas"/>
              </a:rPr>
              <a:t>116</a:t>
            </a:r>
          </a:p>
          <a:p>
            <a:pPr algn="r">
              <a:lnSpc>
                <a:spcPct val="100000"/>
              </a:lnSpc>
            </a:pPr>
            <a:r>
              <a:rPr sz="1300">
                <a:solidFill>
                  <a:srgbClr val="4F5D6A"/>
                </a:solidFill>
                <a:latin typeface="Consolas"/>
              </a:rPr>
              <a:t>117</a:t>
            </a:r>
          </a:p>
          <a:p>
            <a:pPr algn="r">
              <a:lnSpc>
                <a:spcPct val="100000"/>
              </a:lnSpc>
            </a:pPr>
            <a:r>
              <a:rPr sz="1300">
                <a:solidFill>
                  <a:srgbClr val="4F5D6A"/>
                </a:solidFill>
                <a:latin typeface="Consolas"/>
              </a:rPr>
              <a:t>118</a:t>
            </a:r>
          </a:p>
          <a:p>
            <a:pPr algn="r">
              <a:lnSpc>
                <a:spcPct val="100000"/>
              </a:lnSpc>
            </a:pPr>
            <a:r>
              <a:rPr sz="1300">
                <a:solidFill>
                  <a:srgbClr val="4F5D6A"/>
                </a:solidFill>
                <a:latin typeface="Consolas"/>
              </a:rPr>
              <a:t>119</a:t>
            </a:r>
          </a:p>
          <a:p>
            <a:pPr algn="r">
              <a:lnSpc>
                <a:spcPct val="100000"/>
              </a:lnSpc>
            </a:pPr>
            <a:r>
              <a:rPr sz="1300">
                <a:solidFill>
                  <a:srgbClr val="4F5D6A"/>
                </a:solidFill>
                <a:latin typeface="Consolas"/>
              </a:rPr>
              <a:t>120</a:t>
            </a:r>
          </a:p>
          <a:p>
            <a:pPr algn="r">
              <a:lnSpc>
                <a:spcPct val="100000"/>
              </a:lnSpc>
            </a:pPr>
            <a:r>
              <a:rPr sz="1300">
                <a:solidFill>
                  <a:srgbClr val="4F5D6A"/>
                </a:solidFill>
                <a:latin typeface="Consolas"/>
              </a:rPr>
              <a:t>121</a:t>
            </a:r>
          </a:p>
          <a:p>
            <a:pPr algn="r">
              <a:lnSpc>
                <a:spcPct val="100000"/>
              </a:lnSpc>
            </a:pPr>
            <a:r>
              <a:rPr sz="1300">
                <a:solidFill>
                  <a:srgbClr val="4F5D6A"/>
                </a:solidFill>
                <a:latin typeface="Consolas"/>
              </a:rPr>
              <a:t>122</a:t>
            </a:r>
          </a:p>
          <a:p>
            <a:pPr algn="r">
              <a:lnSpc>
                <a:spcPct val="100000"/>
              </a:lnSpc>
            </a:pPr>
            <a:r>
              <a:rPr sz="1300">
                <a:solidFill>
                  <a:srgbClr val="4F5D6A"/>
                </a:solidFill>
                <a:latin typeface="Consolas"/>
              </a:rPr>
              <a:t>123</a:t>
            </a:r>
          </a:p>
          <a:p>
            <a:pPr algn="r">
              <a:lnSpc>
                <a:spcPct val="100000"/>
              </a:lnSpc>
            </a:pPr>
            <a:r>
              <a:rPr sz="1300">
                <a:solidFill>
                  <a:srgbClr val="4F5D6A"/>
                </a:solidFill>
                <a:latin typeface="Consolas"/>
              </a:rPr>
              <a:t>124</a:t>
            </a:r>
          </a:p>
          <a:p>
            <a:pPr algn="r">
              <a:lnSpc>
                <a:spcPct val="100000"/>
              </a:lnSpc>
            </a:pPr>
            <a:r>
              <a:rPr sz="1300">
                <a:solidFill>
                  <a:srgbClr val="4F5D6A"/>
                </a:solidFill>
                <a:latin typeface="Consolas"/>
              </a:rPr>
              <a:t>125</a:t>
            </a:r>
          </a:p>
          <a:p>
            <a:pPr algn="r">
              <a:lnSpc>
                <a:spcPct val="100000"/>
              </a:lnSpc>
            </a:pPr>
            <a:r>
              <a:rPr sz="1300">
                <a:solidFill>
                  <a:srgbClr val="4F5D6A"/>
                </a:solidFill>
                <a:latin typeface="Consolas"/>
              </a:rPr>
              <a:t>126</a:t>
            </a:r>
          </a:p>
          <a:p>
            <a:pPr algn="r">
              <a:lnSpc>
                <a:spcPct val="100000"/>
              </a:lnSpc>
            </a:pPr>
            <a:r>
              <a:rPr sz="1300">
                <a:solidFill>
                  <a:srgbClr val="4F5D6A"/>
                </a:solidFill>
                <a:latin typeface="Consolas"/>
              </a:rPr>
              <a:t>127</a:t>
            </a:r>
          </a:p>
          <a:p>
            <a:pPr algn="r">
              <a:lnSpc>
                <a:spcPct val="100000"/>
              </a:lnSpc>
            </a:pPr>
            <a:r>
              <a:rPr sz="1300">
                <a:solidFill>
                  <a:srgbClr val="4F5D6A"/>
                </a:solidFill>
                <a:latin typeface="Consolas"/>
              </a:rPr>
              <a:t>128</a:t>
            </a:r>
          </a:p>
          <a:p>
            <a:pPr algn="r">
              <a:lnSpc>
                <a:spcPct val="100000"/>
              </a:lnSpc>
            </a:pPr>
            <a:r>
              <a:rPr sz="1300">
                <a:solidFill>
                  <a:srgbClr val="4F5D6A"/>
                </a:solidFill>
                <a:latin typeface="Consolas"/>
              </a:rPr>
              <a:t>129</a:t>
            </a:r>
          </a:p>
          <a:p>
            <a:pPr algn="r">
              <a:lnSpc>
                <a:spcPct val="100000"/>
              </a:lnSpc>
            </a:pPr>
            <a:r>
              <a:rPr sz="1300">
                <a:solidFill>
                  <a:srgbClr val="4F5D6A"/>
                </a:solidFill>
                <a:latin typeface="Consolas"/>
              </a:rPr>
              <a:t>130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738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EF715C28-2817-4603-852D-17336C50C0D7}"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range limitation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 the range limitation -------------------------------------- print() print(&quot;=== what range can the output actually reach? ===&quot;) lo, hi = 1e9, -1e9 for e in range(0, 101, 5): for u in range(0, 11): r, _ = mamdani(e, u) lo, hi = min(lo, r), max(hi, r) print(&quot; across the whole input space, risk lies in [%.2f, %.2f]&quot; % (lo, hi)) print(&quot; a minimum-effort, minimum-uncertainty project scores&quot;) print(&quot; %.2f, not 0. Centroid defuzzification cannot reach the&quot; % mamdani(0, 0)[0]) print(&quot; ends of its own scale, so never label this 'percent'.&quot;) assert lo &gt; 5 and hi &lt; 95"/>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1">
                <a:solidFill>
                  <a:srgbClr val="8795A1"/>
                </a:solidFill>
                <a:latin typeface="Consolas"/>
              </a:rPr>
              <a:t># --- the range limitation --------------------------------------</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what range can the output actually reach? ===</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hi</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1e9</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F7DC6F"/>
                </a:solidFill>
                <a:latin typeface="Consolas"/>
              </a:rPr>
              <a:t>1e9</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e</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range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101</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u</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range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11</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r</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mamdani</a:t>
            </a:r>
            <a:r>
              <a:rPr sz="1500" i="0">
                <a:solidFill>
                  <a:srgbClr val="AEB6BF"/>
                </a:solidFill>
                <a:latin typeface="Consolas"/>
              </a:rPr>
              <a:t>(</a:t>
            </a:r>
            <a:r>
              <a:rPr sz="1500" i="0">
                <a:solidFill>
                  <a:srgbClr val="E8EDF2"/>
                </a:solidFill>
                <a:latin typeface="Consolas"/>
              </a:rPr>
              <a: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u</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hi</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min</a:t>
            </a:r>
            <a:r>
              <a:rPr sz="1500" i="0">
                <a:solidFill>
                  <a:srgbClr val="AEB6BF"/>
                </a:solidFill>
                <a:latin typeface="Consolas"/>
              </a:rPr>
              <a:t>(</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max</a:t>
            </a:r>
            <a:r>
              <a:rPr sz="1500" i="0">
                <a:solidFill>
                  <a:srgbClr val="AEB6BF"/>
                </a:solidFill>
                <a:latin typeface="Consolas"/>
              </a:rPr>
              <a:t>(</a:t>
            </a:r>
            <a:r>
              <a:rPr sz="1500" i="0">
                <a:solidFill>
                  <a:srgbClr val="E8EDF2"/>
                </a:solidFill>
                <a:latin typeface="Consolas"/>
              </a:rPr>
              <a:t>hi</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across the whole input space, risk lies in [</a:t>
            </a:r>
            <a:r>
              <a:rPr sz="1500" i="0">
                <a:solidFill>
                  <a:srgbClr val="7DCEA0"/>
                </a:solidFill>
                <a:latin typeface="Consolas"/>
              </a:rPr>
              <a:t>%.2f</a:t>
            </a:r>
            <a:r>
              <a:rPr sz="1500" i="0">
                <a:solidFill>
                  <a:srgbClr val="7DCEA0"/>
                </a:solidFill>
                <a:latin typeface="Consolas"/>
              </a:rPr>
              <a:t>, </a:t>
            </a:r>
            <a:r>
              <a:rPr sz="1500" i="0">
                <a:solidFill>
                  <a:srgbClr val="7DCEA0"/>
                </a:solidFill>
                <a:latin typeface="Consolas"/>
              </a:rPr>
              <a:t>%.2f</a:t>
            </a:r>
            <a:r>
              <a:rPr sz="1500" i="0">
                <a:solidFill>
                  <a:srgbClr val="7DCEA0"/>
                </a:solidFill>
                <a:latin typeface="Consolas"/>
              </a:rPr>
              <a:t>]</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lo</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hi</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 minimum-effort, minimum-uncertainty project scores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%.2f</a:t>
            </a:r>
            <a:r>
              <a:rPr sz="1500" i="0">
                <a:solidFill>
                  <a:srgbClr val="7DCEA0"/>
                </a:solidFill>
                <a:latin typeface="Consolas"/>
              </a:rPr>
              <a:t>, not 0. Centroid defuzzification cannot reach the</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mamdani</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ends of its own scale, so never label this </a:t>
            </a:r>
            <a:r>
              <a:rPr sz="1500" i="0">
                <a:solidFill>
                  <a:srgbClr val="7DCEA0"/>
                </a:solidFill>
                <a:latin typeface="Consolas"/>
              </a:rPr>
              <a:t>'</a:t>
            </a:r>
            <a:r>
              <a:rPr sz="1500" i="0">
                <a:solidFill>
                  <a:srgbClr val="7DCEA0"/>
                </a:solidFill>
                <a:latin typeface="Consolas"/>
              </a:rPr>
              <a:t>percent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assert</a:t>
            </a:r>
            <a:r>
              <a:rPr sz="1500" i="0">
                <a:solidFill>
                  <a:srgbClr val="E8EDF2"/>
                </a:solidFill>
                <a:latin typeface="Consolas"/>
              </a:rPr>
              <a:t> </a:t>
            </a:r>
            <a:r>
              <a:rPr sz="1500" i="0">
                <a:solidFill>
                  <a:srgbClr val="E8EDF2"/>
                </a:solidFill>
                <a:latin typeface="Consolas"/>
              </a:rPr>
              <a:t>lo</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5</a:t>
            </a:r>
            <a:r>
              <a:rPr sz="1500" i="0">
                <a:solidFill>
                  <a:srgbClr val="E8EDF2"/>
                </a:solidFill>
                <a:latin typeface="Consolas"/>
              </a:rPr>
              <a:t> </a:t>
            </a:r>
            <a:r>
              <a:rPr sz="1500" i="0">
                <a:solidFill>
                  <a:srgbClr val="AEB6BF"/>
                </a:solidFill>
                <a:latin typeface="Consolas"/>
              </a:rPr>
              <a:t>and</a:t>
            </a:r>
            <a:r>
              <a:rPr sz="1500" i="0">
                <a:solidFill>
                  <a:srgbClr val="E8EDF2"/>
                </a:solidFill>
                <a:latin typeface="Consolas"/>
              </a:rPr>
              <a:t> </a:t>
            </a:r>
            <a:r>
              <a:rPr sz="1500" i="0">
                <a:solidFill>
                  <a:srgbClr val="E8EDF2"/>
                </a:solidFill>
                <a:latin typeface="Consolas"/>
              </a:rPr>
              <a:t>hi</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F7DC6F"/>
                </a:solidFill>
                <a:latin typeface="Consolas"/>
              </a:rPr>
              <a:t>95</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132</a:t>
            </a:r>
          </a:p>
          <a:p>
            <a:pPr algn="r">
              <a:lnSpc>
                <a:spcPct val="100000"/>
              </a:lnSpc>
            </a:pPr>
            <a:r>
              <a:rPr sz="1500">
                <a:solidFill>
                  <a:srgbClr val="4F5D6A"/>
                </a:solidFill>
                <a:latin typeface="Consolas"/>
              </a:rPr>
              <a:t>133</a:t>
            </a:r>
          </a:p>
          <a:p>
            <a:pPr algn="r">
              <a:lnSpc>
                <a:spcPct val="100000"/>
              </a:lnSpc>
            </a:pPr>
            <a:r>
              <a:rPr sz="1500">
                <a:solidFill>
                  <a:srgbClr val="4F5D6A"/>
                </a:solidFill>
                <a:latin typeface="Consolas"/>
              </a:rPr>
              <a:t>134</a:t>
            </a:r>
          </a:p>
          <a:p>
            <a:pPr algn="r">
              <a:lnSpc>
                <a:spcPct val="100000"/>
              </a:lnSpc>
            </a:pPr>
            <a:r>
              <a:rPr sz="1500">
                <a:solidFill>
                  <a:srgbClr val="4F5D6A"/>
                </a:solidFill>
                <a:latin typeface="Consolas"/>
              </a:rPr>
              <a:t>135</a:t>
            </a:r>
          </a:p>
          <a:p>
            <a:pPr algn="r">
              <a:lnSpc>
                <a:spcPct val="100000"/>
              </a:lnSpc>
            </a:pPr>
            <a:r>
              <a:rPr sz="1500">
                <a:solidFill>
                  <a:srgbClr val="4F5D6A"/>
                </a:solidFill>
                <a:latin typeface="Consolas"/>
              </a:rPr>
              <a:t>136</a:t>
            </a:r>
          </a:p>
          <a:p>
            <a:pPr algn="r">
              <a:lnSpc>
                <a:spcPct val="100000"/>
              </a:lnSpc>
            </a:pPr>
            <a:r>
              <a:rPr sz="1500">
                <a:solidFill>
                  <a:srgbClr val="4F5D6A"/>
                </a:solidFill>
                <a:latin typeface="Consolas"/>
              </a:rPr>
              <a:t>137</a:t>
            </a:r>
          </a:p>
          <a:p>
            <a:pPr algn="r">
              <a:lnSpc>
                <a:spcPct val="100000"/>
              </a:lnSpc>
            </a:pPr>
            <a:r>
              <a:rPr sz="1500">
                <a:solidFill>
                  <a:srgbClr val="4F5D6A"/>
                </a:solidFill>
                <a:latin typeface="Consolas"/>
              </a:rPr>
              <a:t>138</a:t>
            </a:r>
          </a:p>
          <a:p>
            <a:pPr algn="r">
              <a:lnSpc>
                <a:spcPct val="100000"/>
              </a:lnSpc>
            </a:pPr>
            <a:r>
              <a:rPr sz="1500">
                <a:solidFill>
                  <a:srgbClr val="4F5D6A"/>
                </a:solidFill>
                <a:latin typeface="Consolas"/>
              </a:rPr>
              <a:t>139</a:t>
            </a:r>
          </a:p>
          <a:p>
            <a:pPr algn="r">
              <a:lnSpc>
                <a:spcPct val="100000"/>
              </a:lnSpc>
            </a:pPr>
            <a:r>
              <a:rPr sz="1500">
                <a:solidFill>
                  <a:srgbClr val="4F5D6A"/>
                </a:solidFill>
                <a:latin typeface="Consolas"/>
              </a:rPr>
              <a:t>140</a:t>
            </a:r>
          </a:p>
          <a:p>
            <a:pPr algn="r">
              <a:lnSpc>
                <a:spcPct val="100000"/>
              </a:lnSpc>
            </a:pPr>
            <a:r>
              <a:rPr sz="1500">
                <a:solidFill>
                  <a:srgbClr val="4F5D6A"/>
                </a:solidFill>
                <a:latin typeface="Consolas"/>
              </a:rPr>
              <a:t>141</a:t>
            </a:r>
          </a:p>
          <a:p>
            <a:pPr algn="r">
              <a:lnSpc>
                <a:spcPct val="100000"/>
              </a:lnSpc>
            </a:pPr>
            <a:r>
              <a:rPr sz="1500">
                <a:solidFill>
                  <a:srgbClr val="4F5D6A"/>
                </a:solidFill>
                <a:latin typeface="Consolas"/>
              </a:rPr>
              <a:t>142</a:t>
            </a:r>
          </a:p>
          <a:p>
            <a:pPr algn="r">
              <a:lnSpc>
                <a:spcPct val="100000"/>
              </a:lnSpc>
            </a:pPr>
            <a:r>
              <a:rPr sz="1500">
                <a:solidFill>
                  <a:srgbClr val="4F5D6A"/>
                </a:solidFill>
                <a:latin typeface="Consolas"/>
              </a:rPr>
              <a:t>143</a:t>
            </a:r>
          </a:p>
          <a:p>
            <a:pPr algn="r">
              <a:lnSpc>
                <a:spcPct val="100000"/>
              </a:lnSpc>
            </a:pPr>
            <a:r>
              <a:rPr sz="1500">
                <a:solidFill>
                  <a:srgbClr val="4F5D6A"/>
                </a:solidFill>
                <a:latin typeface="Consolas"/>
              </a:rPr>
              <a:t>144</a:t>
            </a:r>
          </a:p>
          <a:p>
            <a:pPr algn="r">
              <a:lnSpc>
                <a:spcPct val="100000"/>
              </a:lnSpc>
            </a:pPr>
            <a:r>
              <a:rPr sz="1500">
                <a:solidFill>
                  <a:srgbClr val="4F5D6A"/>
                </a:solidFill>
                <a:latin typeface="Consolas"/>
              </a:rPr>
              <a:t>145</a:t>
            </a:r>
          </a:p>
          <a:p>
            <a:pPr algn="r">
              <a:lnSpc>
                <a:spcPct val="100000"/>
              </a:lnSpc>
            </a:pPr>
            <a:r>
              <a:rPr sz="1500">
                <a:solidFill>
                  <a:srgbClr val="4F5D6A"/>
                </a:solidFill>
                <a:latin typeface="Consolas"/>
              </a:rPr>
              <a:t>146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Risk Rating by Mamdani Inference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88B50F57-7D88-4E56-BFE0-BF6A76E5D6E1}"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confusion this chapter exists to prevent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code/ch16_risk_rating_mamdani.py</a:t>
            </a:r>
          </a:p>
        </p:txBody>
      </p:sp>
      <p:sp>
        <p:nvSpPr>
          <p:cNvPr id="14" name="!!code-text" descr="# --- and the confusion this chapter exists to prevent ---------- print() print(&quot;=== membership is not probability ===&quot;) print(&quot; mu_high(effort=70) = %.3f&quot; % float(EFFORT[&quot;high&quot;](70))) print(&quot; This does NOT mean a 40% chance the project is high&quot;) print(&quot; effort. It is 70 person-days -- we are certain of that.&quot;) print(&quot; The number describes the word 'high', not our ignorance,&quot;) print(&quot; and no further measurement will change it.&quot;) total = sum(float(f(70)) for f in EFFORT.values()) print(&quot; memberships at 70 sum to %.3f (probabilities would sum&quot; % total) print(&quot; to 1 only by coincidence; here it is by construction)&quot;)"/>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1">
                <a:solidFill>
                  <a:srgbClr val="8795A1"/>
                </a:solidFill>
                <a:latin typeface="Consolas"/>
              </a:rPr>
              <a:t># --- and the confusion this chapter exists to prevent ----------</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membership is not probability ===</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mu_high(effort=70) = </a:t>
            </a:r>
            <a:r>
              <a:rPr sz="1900" i="0">
                <a:solidFill>
                  <a:srgbClr val="7DCEA0"/>
                </a:solidFill>
                <a:latin typeface="Consolas"/>
              </a:rPr>
              <a:t>%.3f</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float</a:t>
            </a:r>
            <a:r>
              <a:rPr sz="1900" i="0">
                <a:solidFill>
                  <a:srgbClr val="AEB6BF"/>
                </a:solidFill>
                <a:latin typeface="Consolas"/>
              </a:rPr>
              <a:t>(</a:t>
            </a:r>
            <a:r>
              <a:rPr sz="1900" i="0">
                <a:solidFill>
                  <a:srgbClr val="E8EDF2"/>
                </a:solidFill>
                <a:latin typeface="Consolas"/>
              </a:rPr>
              <a:t>EFFORT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high</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70</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This does NOT mean a 40</a:t>
            </a:r>
            <a:r>
              <a:rPr sz="1900" i="0">
                <a:solidFill>
                  <a:srgbClr val="7DCEA0"/>
                </a:solidFill>
                <a:latin typeface="Consolas"/>
              </a:rPr>
              <a:t>% c</a:t>
            </a:r>
            <a:r>
              <a:rPr sz="1900" i="0">
                <a:solidFill>
                  <a:srgbClr val="7DCEA0"/>
                </a:solidFill>
                <a:latin typeface="Consolas"/>
              </a:rPr>
              <a:t>hance the project is high</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effort. It is 70 person-days -- we are certain of that.</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The number describes the word </a:t>
            </a:r>
            <a:r>
              <a:rPr sz="1900" i="0">
                <a:solidFill>
                  <a:srgbClr val="7DCEA0"/>
                </a:solidFill>
                <a:latin typeface="Consolas"/>
              </a:rPr>
              <a:t>'</a:t>
            </a:r>
            <a:r>
              <a:rPr sz="1900" i="0">
                <a:solidFill>
                  <a:srgbClr val="7DCEA0"/>
                </a:solidFill>
                <a:latin typeface="Consolas"/>
              </a:rPr>
              <a:t>high</a:t>
            </a:r>
            <a:r>
              <a:rPr sz="1900" i="0">
                <a:solidFill>
                  <a:srgbClr val="7DCEA0"/>
                </a:solidFill>
                <a:latin typeface="Consolas"/>
              </a:rPr>
              <a:t>'</a:t>
            </a:r>
            <a:r>
              <a:rPr sz="1900" i="0">
                <a:solidFill>
                  <a:srgbClr val="7DCEA0"/>
                </a:solidFill>
                <a:latin typeface="Consolas"/>
              </a:rPr>
              <a:t>, not our ignorance,</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and no further measurement will change it.</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total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sum</a:t>
            </a:r>
            <a:r>
              <a:rPr sz="1900" i="0">
                <a:solidFill>
                  <a:srgbClr val="AEB6BF"/>
                </a:solidFill>
                <a:latin typeface="Consolas"/>
              </a:rPr>
              <a:t>(</a:t>
            </a:r>
            <a:r>
              <a:rPr sz="1900" i="0">
                <a:solidFill>
                  <a:srgbClr val="C39BD3"/>
                </a:solidFill>
                <a:latin typeface="Consolas"/>
              </a:rPr>
              <a:t>float</a:t>
            </a:r>
            <a:r>
              <a:rPr sz="1900" i="0">
                <a:solidFill>
                  <a:srgbClr val="AEB6BF"/>
                </a:solidFill>
                <a:latin typeface="Consolas"/>
              </a:rPr>
              <a:t>(</a:t>
            </a:r>
            <a:r>
              <a:rPr sz="1900" i="0">
                <a:solidFill>
                  <a:srgbClr val="E8EDF2"/>
                </a:solidFill>
                <a:latin typeface="Consolas"/>
              </a:rPr>
              <a:t>f</a:t>
            </a:r>
            <a:r>
              <a:rPr sz="1900" i="0">
                <a:solidFill>
                  <a:srgbClr val="AEB6BF"/>
                </a:solidFill>
                <a:latin typeface="Consolas"/>
              </a:rPr>
              <a:t>(</a:t>
            </a:r>
            <a:r>
              <a:rPr sz="1900" i="0">
                <a:solidFill>
                  <a:srgbClr val="F7DC6F"/>
                </a:solidFill>
                <a:latin typeface="Consolas"/>
              </a:rPr>
              <a:t>70</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EFFORT</a:t>
            </a:r>
            <a:r>
              <a:rPr sz="1900" i="0">
                <a:solidFill>
                  <a:srgbClr val="AEB6BF"/>
                </a:solidFill>
                <a:latin typeface="Consolas"/>
              </a:rPr>
              <a:t>.</a:t>
            </a:r>
            <a:r>
              <a:rPr sz="1900" i="0">
                <a:solidFill>
                  <a:srgbClr val="E8EDF2"/>
                </a:solidFill>
                <a:latin typeface="Consolas"/>
              </a:rPr>
              <a:t>values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memberships at 70 sum to </a:t>
            </a:r>
            <a:r>
              <a:rPr sz="1900" i="0">
                <a:solidFill>
                  <a:srgbClr val="7DCEA0"/>
                </a:solidFill>
                <a:latin typeface="Consolas"/>
              </a:rPr>
              <a:t>%.3f</a:t>
            </a:r>
            <a:r>
              <a:rPr sz="1900" i="0">
                <a:solidFill>
                  <a:srgbClr val="7DCEA0"/>
                </a:solidFill>
                <a:latin typeface="Consolas"/>
              </a:rPr>
              <a:t> (probabilities would sum</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total</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to 1 only by coincidence; here it is by construction)</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148</a:t>
            </a:r>
          </a:p>
          <a:p>
            <a:pPr algn="r">
              <a:lnSpc>
                <a:spcPct val="100000"/>
              </a:lnSpc>
            </a:pPr>
            <a:r>
              <a:rPr sz="1900">
                <a:solidFill>
                  <a:srgbClr val="4F5D6A"/>
                </a:solidFill>
                <a:latin typeface="Consolas"/>
              </a:rPr>
              <a:t>149</a:t>
            </a:r>
          </a:p>
          <a:p>
            <a:pPr algn="r">
              <a:lnSpc>
                <a:spcPct val="100000"/>
              </a:lnSpc>
            </a:pPr>
            <a:r>
              <a:rPr sz="1900">
                <a:solidFill>
                  <a:srgbClr val="4F5D6A"/>
                </a:solidFill>
                <a:latin typeface="Consolas"/>
              </a:rPr>
              <a:t>150</a:t>
            </a:r>
          </a:p>
          <a:p>
            <a:pPr algn="r">
              <a:lnSpc>
                <a:spcPct val="100000"/>
              </a:lnSpc>
            </a:pPr>
            <a:r>
              <a:rPr sz="1900">
                <a:solidFill>
                  <a:srgbClr val="4F5D6A"/>
                </a:solidFill>
                <a:latin typeface="Consolas"/>
              </a:rPr>
              <a:t>151</a:t>
            </a:r>
          </a:p>
          <a:p>
            <a:pPr algn="r">
              <a:lnSpc>
                <a:spcPct val="100000"/>
              </a:lnSpc>
            </a:pPr>
            <a:r>
              <a:rPr sz="1900">
                <a:solidFill>
                  <a:srgbClr val="4F5D6A"/>
                </a:solidFill>
                <a:latin typeface="Consolas"/>
              </a:rPr>
              <a:t>152</a:t>
            </a:r>
          </a:p>
          <a:p>
            <a:pPr algn="r">
              <a:lnSpc>
                <a:spcPct val="100000"/>
              </a:lnSpc>
            </a:pPr>
            <a:r>
              <a:rPr sz="1900">
                <a:solidFill>
                  <a:srgbClr val="4F5D6A"/>
                </a:solidFill>
                <a:latin typeface="Consolas"/>
              </a:rPr>
              <a:t>153</a:t>
            </a:r>
          </a:p>
          <a:p>
            <a:pPr algn="r">
              <a:lnSpc>
                <a:spcPct val="100000"/>
              </a:lnSpc>
            </a:pPr>
            <a:r>
              <a:rPr sz="1900">
                <a:solidFill>
                  <a:srgbClr val="4F5D6A"/>
                </a:solidFill>
                <a:latin typeface="Consolas"/>
              </a:rPr>
              <a:t>154</a:t>
            </a:r>
          </a:p>
          <a:p>
            <a:pPr algn="r">
              <a:lnSpc>
                <a:spcPct val="100000"/>
              </a:lnSpc>
            </a:pPr>
            <a:r>
              <a:rPr sz="1900">
                <a:solidFill>
                  <a:srgbClr val="4F5D6A"/>
                </a:solidFill>
                <a:latin typeface="Consolas"/>
              </a:rPr>
              <a:t>155</a:t>
            </a:r>
          </a:p>
          <a:p>
            <a:pPr algn="r">
              <a:lnSpc>
                <a:spcPct val="100000"/>
              </a:lnSpc>
            </a:pPr>
            <a:r>
              <a:rPr sz="1900">
                <a:solidFill>
                  <a:srgbClr val="4F5D6A"/>
                </a:solidFill>
                <a:latin typeface="Consolas"/>
              </a:rPr>
              <a:t>156</a:t>
            </a:r>
          </a:p>
          <a:p>
            <a:pPr algn="r">
              <a:lnSpc>
                <a:spcPct val="100000"/>
              </a:lnSpc>
            </a:pPr>
            <a:r>
              <a:rPr sz="1900">
                <a:solidFill>
                  <a:srgbClr val="4F5D6A"/>
                </a:solidFill>
                <a:latin typeface="Consolas"/>
              </a:rPr>
              <a:t>157</a:t>
            </a:r>
          </a:p>
          <a:p>
            <a:pPr algn="r">
              <a:lnSpc>
                <a:spcPct val="100000"/>
              </a:lnSpc>
            </a:pPr>
            <a:r>
              <a:rPr sz="1900">
                <a:solidFill>
                  <a:srgbClr val="4F5D6A"/>
                </a:solidFill>
                <a:latin typeface="Consolas"/>
              </a:rPr>
              <a:t>158</a:t>
            </a:r>
          </a:p>
          <a:p>
            <a:pPr algn="r">
              <a:lnSpc>
                <a:spcPct val="100000"/>
              </a:lnSpc>
            </a:pPr>
            <a:r>
              <a:rPr sz="1900">
                <a:solidFill>
                  <a:srgbClr val="4F5D6A"/>
                </a:solidFill>
                <a:latin typeface="Consolas"/>
              </a:rPr>
              <a:t>159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8179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§16.6  ·  Handout p. 169     </a:t>
            </a:r>
            <a:fld id="{3B246CA8-FF06-41E6-8A8B-AF4452605332}"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widen the </a:t>
            </a:r>
            <a:r>
              <a:rPr sz="2300" b="0" i="1">
                <a:solidFill>
                  <a:srgbClr val="1C252B"/>
                </a:solidFill>
                <a:latin typeface="Segoe UI"/>
              </a:rPr>
              <a:t>medium</a:t>
            </a:r>
            <a:r>
              <a:rPr sz="2300" b="0" i="0">
                <a:solidFill>
                  <a:srgbClr val="1C252B"/>
                </a:solidFill>
                <a:latin typeface="Segoe UI"/>
              </a:rPr>
              <a:t> risk triangle to </a:t>
            </a:r>
            <a:r>
              <a:rPr sz="2150" b="0" i="0">
                <a:solidFill>
                  <a:srgbClr val="1F4E79"/>
                </a:solidFill>
                <a:latin typeface="Consolas"/>
              </a:rPr>
              <a:t>tri(x, -25, 50, 125)</a:t>
            </a:r>
            <a:r>
              <a:rPr sz="2300" b="0" i="0">
                <a:solidFill>
                  <a:srgbClr val="1C252B"/>
                </a:solidFill>
                <a:latin typeface="Segoe UI"/>
              </a:rPr>
              <a:t> and re-run. Beacon’s score barely moves, but the reachable range narrows further: the defuzzified output depends on the </a:t>
            </a:r>
            <a:r>
              <a:rPr sz="2300" b="0" i="1">
                <a:solidFill>
                  <a:srgbClr val="1C252B"/>
                </a:solidFill>
                <a:latin typeface="Segoe UI"/>
              </a:rPr>
              <a:t>shape</a:t>
            </a:r>
            <a:r>
              <a:rPr sz="2300" b="0" i="0">
                <a:solidFill>
                  <a:srgbClr val="1C252B"/>
                </a:solidFill>
                <a:latin typeface="Segoe UI"/>
              </a:rPr>
              <a:t> of the output sets as much as on the rules, which is the part of a fuzzy controller that is tuned rather than derived.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6357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project is measured at exactly </a:t>
            </a:r>
            <a:r>
              <a:rPr sz="3400" b="0" i="0">
                <a:solidFill>
                  <a:srgbClr val="FFFFFF"/>
                </a:solidFill>
                <a:latin typeface="Cambria"/>
              </a:rPr>
              <a:t>70</a:t>
            </a:r>
            <a:r>
              <a:rPr sz="3400" b="0" i="0">
                <a:solidFill>
                  <a:srgbClr val="FFFFFF"/>
                </a:solidFill>
                <a:latin typeface="Segoe UI Semibold"/>
              </a:rPr>
              <a:t> person-days and </a:t>
            </a:r>
            <a:r>
              <a:rPr sz="3400" b="0" i="0">
                <a:solidFill>
                  <a:srgbClr val="FFFFFF"/>
                </a:solidFill>
                <a:latin typeface="Cambria"/>
              </a:rPr>
              <a:t>μ</a:t>
            </a:r>
            <a:r>
              <a:rPr sz="2250" b="0" i="1" baseline="-25000">
                <a:solidFill>
                  <a:srgbClr val="FFFFFF"/>
                </a:solidFill>
                <a:latin typeface="Cambria"/>
              </a:rPr>
              <a:t>high</a:t>
            </a:r>
            <a:r>
              <a:rPr sz="3400" b="0" i="0">
                <a:solidFill>
                  <a:srgbClr val="FFFFFF"/>
                </a:solidFill>
                <a:latin typeface="Cambria"/>
              </a:rPr>
              <a:t>(70) = 0.4</a:t>
            </a:r>
            <a:r>
              <a:rPr sz="3400" b="0" i="0">
                <a:solidFill>
                  <a:srgbClr val="FFFFFF"/>
                </a:solidFill>
                <a:latin typeface="Segoe UI Semibold"/>
              </a:rPr>
              <a:t>. Explain why gathering more information about the project will not change that number, and what would.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16  ·  Fuzzy Logic</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176  ·  answers in Appendix D     </a:t>
            </a:r>
            <a:fld id="{5735828C-4D57-4250-BC14-177A568F8FF2}"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project is measured at exactly </a:t>
            </a:r>
            <a:r>
              <a:rPr sz="2400" b="0" i="0">
                <a:solidFill>
                  <a:srgbClr val="1A5276"/>
                </a:solidFill>
                <a:latin typeface="Cambria"/>
              </a:rPr>
              <a:t>70</a:t>
            </a:r>
            <a:r>
              <a:rPr sz="2400" b="0" i="0">
                <a:solidFill>
                  <a:srgbClr val="1A5276"/>
                </a:solidFill>
                <a:latin typeface="Segoe UI Semibold"/>
              </a:rPr>
              <a:t> person-days and </a:t>
            </a:r>
            <a:r>
              <a:rPr sz="2400" b="0" i="0">
                <a:solidFill>
                  <a:srgbClr val="1A5276"/>
                </a:solidFill>
                <a:latin typeface="Cambria"/>
              </a:rPr>
              <a:t>μ</a:t>
            </a:r>
            <a:r>
              <a:rPr sz="1600" b="0" i="1" baseline="-25000">
                <a:solidFill>
                  <a:srgbClr val="1A5276"/>
                </a:solidFill>
                <a:latin typeface="Cambria"/>
              </a:rPr>
              <a:t>high</a:t>
            </a:r>
            <a:r>
              <a:rPr sz="2400" b="0" i="0">
                <a:solidFill>
                  <a:srgbClr val="1A5276"/>
                </a:solidFill>
                <a:latin typeface="Cambria"/>
              </a:rPr>
              <a:t>(70) = 0.4</a:t>
            </a:r>
            <a:r>
              <a:rPr sz="2400" b="0" i="0">
                <a:solidFill>
                  <a:srgbClr val="1A5276"/>
                </a:solidFill>
                <a:latin typeface="Segoe UI Semibold"/>
              </a:rPr>
              <a:t>. Explain why gathering more information about the project will not change that number, and what would.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membership is a fact about the </a:t>
            </a:r>
            <a:r>
              <a:rPr sz="2200" b="0" i="1">
                <a:solidFill>
                  <a:srgbClr val="1C252B"/>
                </a:solidFill>
                <a:latin typeface="Segoe UI"/>
              </a:rPr>
              <a:t>word</a:t>
            </a:r>
            <a:r>
              <a:rPr sz="2200" b="0" i="0">
                <a:solidFill>
                  <a:srgbClr val="1C252B"/>
                </a:solidFill>
                <a:latin typeface="Segoe UI"/>
              </a:rPr>
              <a:t>, not about our knowledge of the project. We know exactly how big the project is: seventy person-days. The number </a:t>
            </a:r>
            <a:r>
              <a:rPr sz="2200" b="0" i="0">
                <a:solidFill>
                  <a:srgbClr val="1C252B"/>
                </a:solidFill>
                <a:latin typeface="Cambria"/>
              </a:rPr>
              <a:t>0.4</a:t>
            </a:r>
            <a:r>
              <a:rPr sz="2200" b="0" i="0">
                <a:solidFill>
                  <a:srgbClr val="1C252B"/>
                </a:solidFill>
                <a:latin typeface="Segoe UI"/>
              </a:rPr>
              <a:t> says that seventy days is “high effort” to degree </a:t>
            </a:r>
            <a:r>
              <a:rPr sz="2200" b="0" i="0">
                <a:solidFill>
                  <a:srgbClr val="1C252B"/>
                </a:solidFill>
                <a:latin typeface="Cambria"/>
              </a:rPr>
              <a:t>0.4</a:t>
            </a:r>
            <a:r>
              <a:rPr sz="2200" b="0" i="0">
                <a:solidFill>
                  <a:srgbClr val="1C252B"/>
                </a:solidFill>
                <a:latin typeface="Segoe UI"/>
              </a:rPr>
              <a:t>, and no further measurement of the project can change that. What </a:t>
            </a:r>
            <a:r>
              <a:rPr sz="2200" b="0" i="1">
                <a:solidFill>
                  <a:srgbClr val="1C252B"/>
                </a:solidFill>
                <a:latin typeface="Segoe UI"/>
              </a:rPr>
              <a:t>would</a:t>
            </a:r>
            <a:r>
              <a:rPr sz="2200" b="0" i="0">
                <a:solidFill>
                  <a:srgbClr val="1C252B"/>
                </a:solidFill>
                <a:latin typeface="Segoe UI"/>
              </a:rPr>
              <a:t> change it is redefining the membership function — that is, agreeing with the team on what “high” should mean, which is a conversation about vocabulary rather than about evidence.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  answers in Appendix D     </a:t>
            </a:r>
            <a:fld id="{80447BCF-A22C-4EDF-A95D-C7502DFCD649}"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Four of nine rules fired for </a:t>
            </a:r>
            <a:r>
              <a:rPr sz="3400" b="0" i="1">
                <a:solidFill>
                  <a:srgbClr val="FFFFFF"/>
                </a:solidFill>
                <a:latin typeface="Segoe UI Semibold"/>
              </a:rPr>
              <a:t>Beacon</a:t>
            </a:r>
            <a:r>
              <a:rPr sz="3400" b="0" i="0">
                <a:solidFill>
                  <a:srgbClr val="FFFFFF"/>
                </a:solidFill>
                <a:latin typeface="Segoe UI Semibold"/>
              </a:rPr>
              <a:t>, and the same four would fire for any input in a neighbourhood of it. Explain what property of the membership functions guarantees “at most four”, and what goes wrong if the membership functions do not overlap.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16  ·  Fuzzy Logic</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176  ·  answers in Appendix D     </a:t>
            </a:r>
            <a:fld id="{14A7B504-5881-4D10-96F8-3DD7696D5E62}"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967435"/>
          </a:xfrm>
        </p:spPr>
        <p:txBody>
          <a:bodyPr wrap="square" lIns="0" rIns="0" tIns="0" bIns="0" anchor="t">
            <a:noAutofit/>
          </a:bodyPr>
          <a:lstStyle/>
          <a:p>
            <a:pPr algn="l">
              <a:lnSpc>
                <a:spcPct val="96000"/>
              </a:lnSpc>
            </a:pPr>
            <a:r>
              <a:rPr sz="2100" b="0" i="0">
                <a:solidFill>
                  <a:srgbClr val="1A5276"/>
                </a:solidFill>
                <a:latin typeface="Segoe UI Semibold"/>
              </a:rPr>
              <a:t>Four of nine rules fired for </a:t>
            </a:r>
            <a:r>
              <a:rPr sz="2100" b="0" i="1">
                <a:solidFill>
                  <a:srgbClr val="1A5276"/>
                </a:solidFill>
                <a:latin typeface="Segoe UI Semibold"/>
              </a:rPr>
              <a:t>Beacon</a:t>
            </a:r>
            <a:r>
              <a:rPr sz="2100" b="0" i="0">
                <a:solidFill>
                  <a:srgbClr val="1A5276"/>
                </a:solidFill>
                <a:latin typeface="Segoe UI Semibold"/>
              </a:rPr>
              <a:t>, and the same four would fire for any input in a neighbourhood of it. Explain what property of the membership functions guarantees “at most four”, and what goes wrong if the membership functions do not overlap.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982419"/>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982419"/>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membership functions form a </a:t>
            </a:r>
            <a:r>
              <a:rPr sz="2200" b="1" i="0">
                <a:solidFill>
                  <a:srgbClr val="1A5276"/>
                </a:solidFill>
                <a:latin typeface="Segoe UI"/>
              </a:rPr>
              <a:t>fuzzy partition</a:t>
            </a:r>
            <a:r>
              <a:rPr sz="2200" b="0" i="0">
                <a:solidFill>
                  <a:srgbClr val="1C252B"/>
                </a:solidFill>
                <a:latin typeface="Segoe UI"/>
              </a:rPr>
              <a:t>: overlapping triangles whose memberships sum to one everywhere, so at most two words are active for each input and therefore at most </a:t>
            </a:r>
            <a:r>
              <a:rPr sz="2200" b="0" i="0">
                <a:solidFill>
                  <a:srgbClr val="1C252B"/>
                </a:solidFill>
                <a:latin typeface="Cambria"/>
              </a:rPr>
              <a:t>2 × 2 = 4</a:t>
            </a:r>
            <a:r>
              <a:rPr sz="2200" b="0" i="0">
                <a:solidFill>
                  <a:srgbClr val="1C252B"/>
                </a:solidFill>
                <a:latin typeface="Segoe UI"/>
              </a:rPr>
              <a:t> rules fire. If the functions do not overlap, only one word is active per input, only one rule fires, and there is no interpolation at all — the controller degenerates into a lookup table with the smoothness that motivated the whole approach thrown away.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  answers in Appendix D     </a:t>
            </a:r>
            <a:fld id="{C7FD7A74-BFAD-4E74-BF12-4FEDD364F4E0}"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5175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controller’s output never leaves roughly </a:t>
            </a:r>
            <a:r>
              <a:rPr sz="3400" b="0" i="0">
                <a:solidFill>
                  <a:srgbClr val="FFFFFF"/>
                </a:solidFill>
                <a:latin typeface="Cambria"/>
              </a:rPr>
              <a:t>[16.6, 83.4]</a:t>
            </a:r>
            <a:r>
              <a:rPr sz="3400" b="0" i="0">
                <a:solidFill>
                  <a:srgbClr val="FFFFFF"/>
                </a:solidFill>
                <a:latin typeface="Segoe UI Semibold"/>
              </a:rPr>
              <a:t>. Give the reason, and one consequence for how the score should be reported to a project board.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16  ·  Fuzzy Logic</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176  ·  answers in Appendix D     </a:t>
            </a:r>
            <a:fld id="{295632A7-0E6E-43E8-9FFD-3C56CCC4B26B}"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The controller’s output never leaves roughly </a:t>
            </a:r>
            <a:r>
              <a:rPr sz="2400" b="0" i="0">
                <a:solidFill>
                  <a:srgbClr val="1A5276"/>
                </a:solidFill>
                <a:latin typeface="Cambria"/>
              </a:rPr>
              <a:t>[16.6, 83.4]</a:t>
            </a:r>
            <a:r>
              <a:rPr sz="2400" b="0" i="0">
                <a:solidFill>
                  <a:srgbClr val="1A5276"/>
                </a:solidFill>
                <a:latin typeface="Segoe UI Semibold"/>
              </a:rPr>
              <a:t>. Give the reason, and one consequence for how the score should be reported to a project board.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Centroid defuzzification returns the centre of area of the aggregated shape. Even when only the lowest output set is active, that set is a triangle centred at zero with area extending to its right, so its centre of area is strictly positive; the same argument at the top end keeps it below the maximum. The consequence for reporting is that the number must never be presented as a percentage or as an absolute risk. It is an ordinal score, useful for comparing projects with each other, and a board told “</a:t>
            </a:r>
            <a:r>
              <a:rPr sz="2200" b="0" i="0">
                <a:solidFill>
                  <a:srgbClr val="1C252B"/>
                </a:solidFill>
                <a:latin typeface="Cambria"/>
              </a:rPr>
              <a:t>83%</a:t>
            </a:r>
            <a:r>
              <a:rPr sz="2200" b="0" i="0">
                <a:solidFill>
                  <a:srgbClr val="1C252B"/>
                </a:solidFill>
                <a:latin typeface="Segoe UI"/>
              </a:rPr>
              <a:t> risk” has been misled by an artefact of the defuzzifier.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  answers in Appendix D     </a:t>
            </a:r>
            <a:fld id="{04E6C1E1-2844-473C-9F3D-D7A5256087D8}"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F08B1F32-2D5B-40B3-9948-5FE1565F0B77}"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Vagueness</a:t>
            </a:r>
            <a:r>
              <a:rPr sz="1700" b="0" i="0">
                <a:solidFill>
                  <a:srgbClr val="1C252B"/>
                </a:solidFill>
                <a:latin typeface="Segoe UI"/>
              </a:rPr>
              <a:t> is not </a:t>
            </a:r>
            <a:r>
              <a:rPr sz="1700" b="1" i="0">
                <a:solidFill>
                  <a:srgbClr val="1A5276"/>
                </a:solidFill>
                <a:latin typeface="Segoe UI"/>
              </a:rPr>
              <a:t>uncertainty</a:t>
            </a:r>
            <a:r>
              <a:rPr sz="1700" b="0" i="0">
                <a:solidFill>
                  <a:srgbClr val="1C252B"/>
                </a:solidFill>
                <a:latin typeface="Segoe UI"/>
              </a:rPr>
              <a:t>. A probability describes ignorance about a sharp fact and resolves with evidence; a </a:t>
            </a:r>
            <a:r>
              <a:rPr sz="1700" b="1" i="0">
                <a:solidFill>
                  <a:srgbClr val="1A5276"/>
                </a:solidFill>
                <a:latin typeface="Segoe UI"/>
              </a:rPr>
              <a:t>degree of membership</a:t>
            </a:r>
            <a:r>
              <a:rPr sz="1700" b="0" i="0">
                <a:solidFill>
                  <a:srgbClr val="1C252B"/>
                </a:solidFill>
                <a:latin typeface="Segoe UI"/>
              </a:rPr>
              <a:t> describes a blurry word and does not.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fuzzy set</a:t>
            </a:r>
            <a:r>
              <a:rPr sz="1700" b="0" i="0">
                <a:solidFill>
                  <a:srgbClr val="1C252B"/>
                </a:solidFill>
                <a:latin typeface="Segoe UI"/>
              </a:rPr>
              <a:t> is a membership function </a:t>
            </a:r>
            <a:r>
              <a:rPr sz="1700" b="0" i="0">
                <a:solidFill>
                  <a:srgbClr val="1C252B"/>
                </a:solidFill>
                <a:latin typeface="Cambria"/>
              </a:rPr>
              <a:t>μ</a:t>
            </a:r>
            <a:r>
              <a:rPr sz="1100" b="0" i="1" baseline="-25000">
                <a:solidFill>
                  <a:srgbClr val="1C252B"/>
                </a:solidFill>
                <a:latin typeface="Cambria"/>
              </a:rPr>
              <a:t>A</a:t>
            </a:r>
            <a:r>
              <a:rPr sz="1700" b="0" i="0">
                <a:solidFill>
                  <a:srgbClr val="1C252B"/>
                </a:solidFill>
                <a:latin typeface="Cambria"/>
              </a:rPr>
              <a:t>(</a:t>
            </a:r>
            <a:r>
              <a:rPr sz="1700" b="0" i="1">
                <a:solidFill>
                  <a:srgbClr val="1C252B"/>
                </a:solidFill>
                <a:latin typeface="Cambria"/>
              </a:rPr>
              <a:t>x</a:t>
            </a:r>
            <a:r>
              <a:rPr sz="1700" b="0" i="0">
                <a:solidFill>
                  <a:srgbClr val="1C252B"/>
                </a:solidFill>
                <a:latin typeface="Cambria"/>
              </a:rPr>
              <a:t>) ∈ [0,1]</a:t>
            </a:r>
            <a:r>
              <a:rPr sz="1700" b="0" i="0">
                <a:solidFill>
                  <a:srgbClr val="1C252B"/>
                </a:solidFill>
                <a:latin typeface="Segoe UI"/>
              </a:rPr>
              <a:t>. A </a:t>
            </a:r>
            <a:r>
              <a:rPr sz="1700" b="1" i="0">
                <a:solidFill>
                  <a:srgbClr val="1A5276"/>
                </a:solidFill>
                <a:latin typeface="Segoe UI"/>
              </a:rPr>
              <a:t>fuzzy partition</a:t>
            </a:r>
            <a:r>
              <a:rPr sz="1700" b="0" i="0">
                <a:solidFill>
                  <a:srgbClr val="1C252B"/>
                </a:solidFill>
                <a:latin typeface="Segoe UI"/>
              </a:rPr>
              <a:t> — overlapping triangles whose memberships sum to one — means each input is described by at most two words and the description moves continuously.</a:t>
            </a:r>
          </a:p>
        </p:txBody>
      </p:sp>
      <p:sp>
        <p:nvSpPr>
          <p:cNvPr id="13" name="!!sb2">
            <a:extLst>
              <a:ext uri="{C183D7F6-B498-43B3-948B-1728B52AA6E4}">
                <adec:decorative xmlns:adec="http://schemas.microsoft.com/office/drawing/2017/decorative" val="1"/>
              </a:ext>
            </a:extLst>
          </p:cNvPr>
          <p:cNvSpPr/>
          <p:nvPr/>
        </p:nvSpPr>
        <p:spPr>
          <a:xfrm>
            <a:off x="658368" y="34594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operators are </a:t>
            </a:r>
            <a:r>
              <a:rPr sz="1700" b="0" i="0">
                <a:solidFill>
                  <a:srgbClr val="1C252B"/>
                </a:solidFill>
                <a:latin typeface="Cambria"/>
              </a:rPr>
              <a:t>min</a:t>
            </a:r>
            <a:r>
              <a:rPr sz="1700" b="0" i="0">
                <a:solidFill>
                  <a:srgbClr val="1C252B"/>
                </a:solidFill>
                <a:latin typeface="Segoe UI"/>
              </a:rPr>
              <a:t>, </a:t>
            </a:r>
            <a:r>
              <a:rPr sz="1700" b="0" i="0">
                <a:solidFill>
                  <a:srgbClr val="1C252B"/>
                </a:solidFill>
                <a:latin typeface="Cambria"/>
              </a:rPr>
              <a:t>max</a:t>
            </a:r>
            <a:r>
              <a:rPr sz="1700" b="0" i="0">
                <a:solidFill>
                  <a:srgbClr val="1C252B"/>
                </a:solidFill>
                <a:latin typeface="Segoe UI"/>
              </a:rPr>
              <a:t> and </a:t>
            </a:r>
            <a:r>
              <a:rPr sz="1700" b="0" i="0">
                <a:solidFill>
                  <a:srgbClr val="1C252B"/>
                </a:solidFill>
                <a:latin typeface="Cambria"/>
              </a:rPr>
              <a:t>1−μ</a:t>
            </a:r>
            <a:r>
              <a:rPr sz="1700" b="0" i="0">
                <a:solidFill>
                  <a:srgbClr val="1C252B"/>
                </a:solidFill>
                <a:latin typeface="Segoe UI"/>
              </a:rPr>
              <a:t>. Note that </a:t>
            </a:r>
            <a:r>
              <a:rPr sz="1700" b="0" i="1">
                <a:solidFill>
                  <a:srgbClr val="1C252B"/>
                </a:solidFill>
                <a:latin typeface="Cambria"/>
              </a:rPr>
              <a:t>A</a:t>
            </a:r>
            <a:r>
              <a:rPr sz="1700" b="0" i="0">
                <a:solidFill>
                  <a:srgbClr val="1C252B"/>
                </a:solidFill>
                <a:latin typeface="Cambria"/>
              </a:rPr>
              <a:t> ∩ ¬ </a:t>
            </a:r>
            <a:r>
              <a:rPr sz="1700" b="0" i="1">
                <a:solidFill>
                  <a:srgbClr val="1C252B"/>
                </a:solidFill>
                <a:latin typeface="Cambria"/>
              </a:rPr>
              <a:t>A</a:t>
            </a:r>
            <a:r>
              <a:rPr sz="1700" b="0" i="0">
                <a:solidFill>
                  <a:srgbClr val="1C252B"/>
                </a:solidFill>
                <a:latin typeface="Cambria"/>
              </a:rPr>
              <a:t> ≠ ∅</a:t>
            </a:r>
            <a:r>
              <a:rPr sz="1700" b="0" i="0">
                <a:solidFill>
                  <a:srgbClr val="1C252B"/>
                </a:solidFill>
                <a:latin typeface="Segoe UI"/>
              </a:rPr>
              <a:t>: there is no entailment relation and no soundness theorem, and this is a control technique rather than a logic.</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Mamdani inference</a:t>
            </a:r>
            <a:r>
              <a:rPr sz="1700" b="0" i="0">
                <a:solidFill>
                  <a:srgbClr val="1C252B"/>
                </a:solidFill>
                <a:latin typeface="Segoe UI"/>
              </a:rPr>
              <a:t>: fuzzify, take each rule’s strength as the </a:t>
            </a:r>
            <a:r>
              <a:rPr sz="1700" b="0" i="0">
                <a:solidFill>
                  <a:srgbClr val="1C252B"/>
                </a:solidFill>
                <a:latin typeface="Cambria"/>
              </a:rPr>
              <a:t>min</a:t>
            </a:r>
            <a:r>
              <a:rPr sz="1700" b="0" i="0">
                <a:solidFill>
                  <a:srgbClr val="1C252B"/>
                </a:solidFill>
                <a:latin typeface="Segoe UI"/>
              </a:rPr>
              <a:t> of its conditions, clip its consequent at that strength, aggregate by </a:t>
            </a:r>
            <a:r>
              <a:rPr sz="1700" b="0" i="0">
                <a:solidFill>
                  <a:srgbClr val="1C252B"/>
                </a:solidFill>
                <a:latin typeface="Cambria"/>
              </a:rPr>
              <a:t>max</a:t>
            </a:r>
            <a:r>
              <a:rPr sz="1700" b="0" i="0">
                <a:solidFill>
                  <a:srgbClr val="1C252B"/>
                </a:solidFill>
                <a:latin typeface="Segoe UI"/>
              </a:rPr>
              <a:t>, and defuzzify by </a:t>
            </a:r>
            <a:r>
              <a:rPr sz="1700" b="1" i="0">
                <a:solidFill>
                  <a:srgbClr val="1A5276"/>
                </a:solidFill>
                <a:latin typeface="Segoe UI"/>
              </a:rPr>
              <a:t>centroid</a:t>
            </a:r>
            <a:r>
              <a:rPr sz="1700" b="0" i="0">
                <a:solidFill>
                  <a:srgbClr val="1C252B"/>
                </a:solidFill>
                <a:latin typeface="Segoe UI"/>
              </a:rPr>
              <a:t>. For </a:t>
            </a:r>
            <a:r>
              <a:rPr sz="1700" b="0" i="1">
                <a:solidFill>
                  <a:srgbClr val="1C252B"/>
                </a:solidFill>
                <a:latin typeface="Segoe UI"/>
              </a:rPr>
              <a:t>Beacon</a:t>
            </a:r>
            <a:r>
              <a:rPr sz="1700" b="0" i="0">
                <a:solidFill>
                  <a:srgbClr val="1C252B"/>
                </a:solidFill>
                <a:latin typeface="Segoe UI"/>
              </a:rPr>
              <a:t> four of nine rules fired and the answer was </a:t>
            </a:r>
            <a:r>
              <a:rPr sz="1700" b="0" i="0">
                <a:solidFill>
                  <a:srgbClr val="1C252B"/>
                </a:solidFill>
                <a:latin typeface="Cambria"/>
              </a:rPr>
              <a:t>49.04</a:t>
            </a:r>
            <a:r>
              <a:rPr sz="1700" b="0" i="0">
                <a:solidFill>
                  <a:srgbClr val="1C252B"/>
                </a:solidFill>
                <a:latin typeface="Segoe UI"/>
              </a:rPr>
              <a:t>.</a:t>
            </a:r>
          </a:p>
        </p:txBody>
      </p:sp>
      <p:sp>
        <p:nvSpPr>
          <p:cNvPr id="19" name="!!sb4">
            <a:extLst>
              <a:ext uri="{C183D7F6-B498-43B3-948B-1728B52AA6E4}">
                <adec:decorative xmlns:adec="http://schemas.microsoft.com/office/drawing/2017/decorative" val="1"/>
              </a:ext>
            </a:extLst>
          </p:cNvPr>
          <p:cNvSpPr/>
          <p:nvPr/>
        </p:nvSpPr>
        <p:spPr>
          <a:xfrm>
            <a:off x="658368" y="517245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22731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16331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Centroid defuzzification </a:t>
            </a:r>
            <a:r>
              <a:rPr sz="1700" b="0" i="1">
                <a:solidFill>
                  <a:srgbClr val="1C252B"/>
                </a:solidFill>
                <a:latin typeface="Segoe UI"/>
              </a:rPr>
              <a:t>cannot reach the extremes</a:t>
            </a:r>
            <a:r>
              <a:rPr sz="1700" b="0" i="0">
                <a:solidFill>
                  <a:srgbClr val="1C252B"/>
                </a:solidFill>
                <a:latin typeface="Segoe UI"/>
              </a:rPr>
              <a:t> — the output here lives in roughly </a:t>
            </a:r>
            <a:r>
              <a:rPr sz="1700" b="0" i="0">
                <a:solidFill>
                  <a:srgbClr val="1C252B"/>
                </a:solidFill>
                <a:latin typeface="Cambria"/>
              </a:rPr>
              <a:t>[16.6, 83.4]</a:t>
            </a:r>
            <a:r>
              <a:rPr sz="1700" b="0" i="0">
                <a:solidFill>
                  <a:srgbClr val="1C252B"/>
                </a:solidFill>
                <a:latin typeface="Segoe UI"/>
              </a:rPr>
              <a:t> whatever the input. Do not call it a percentage.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4137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5FC71CBC-4810-4800-9857-BC074DF85801}" type="slidenum">
              <a:rPr lang="en-GB" sz="1000">
                <a:solidFill>
                  <a:srgbClr val="8795A1"/>
                </a:solidFill>
                <a:latin typeface="Segoe UI"/>
              </a:rPr>
              <a:t>42</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engineering justification is </a:t>
            </a:r>
            <a:r>
              <a:rPr sz="1700" b="0" i="1">
                <a:solidFill>
                  <a:srgbClr val="1C252B"/>
                </a:solidFill>
                <a:latin typeface="Segoe UI"/>
              </a:rPr>
              <a:t>smoothness</a:t>
            </a:r>
            <a:r>
              <a:rPr sz="1700" b="0" i="0">
                <a:solidFill>
                  <a:srgbClr val="1C252B"/>
                </a:solidFill>
                <a:latin typeface="Segoe UI"/>
              </a:rPr>
              <a:t>: the output moves a little when the input moves a little, everywhere, where a threshold rule jumps eighty points between two adjacent inputs. A handful of sentences from a domain expert becomes a continuous response surface.</a:t>
            </a:r>
          </a:p>
        </p:txBody>
      </p:sp>
      <p:sp>
        <p:nvSpPr>
          <p:cNvPr id="10" name="!!sb6">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6"/>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12" name="!!st6"/>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Rules grow as </a:t>
            </a:r>
            <a:r>
              <a:rPr sz="1700" b="0" i="1">
                <a:solidFill>
                  <a:srgbClr val="1C252B"/>
                </a:solidFill>
                <a:latin typeface="Cambria"/>
              </a:rPr>
              <a:t>v</a:t>
            </a:r>
            <a:r>
              <a:rPr sz="1100" b="0" i="1" baseline="30000">
                <a:solidFill>
                  <a:srgbClr val="1C252B"/>
                </a:solidFill>
                <a:latin typeface="Cambria"/>
              </a:rPr>
              <a:t>n</a:t>
            </a:r>
            <a:r>
              <a:rPr sz="1700" b="0" i="0">
                <a:solidFill>
                  <a:srgbClr val="1C252B"/>
                </a:solidFill>
                <a:latin typeface="Segoe UI"/>
              </a:rPr>
              <a:t> in the number of inputs — nine here, </a:t>
            </a:r>
            <a:r>
              <a:rPr sz="1700" b="0" i="0">
                <a:solidFill>
                  <a:srgbClr val="1C252B"/>
                </a:solidFill>
                <a:latin typeface="Cambria"/>
              </a:rPr>
              <a:t>81</a:t>
            </a:r>
            <a:r>
              <a:rPr sz="1700" b="0" i="0">
                <a:solidFill>
                  <a:srgbClr val="1C252B"/>
                </a:solidFill>
                <a:latin typeface="Segoe UI"/>
              </a:rPr>
              <a:t> for four inputs — which is why fuzzy controllers stay small.</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209AD28D-B1A9-45D1-B5C4-655EB6864EBA}"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degree of membership </a:t>
            </a:r>
            <a:r>
              <a:rPr sz="2600" b="0" i="0">
                <a:solidFill>
                  <a:srgbClr val="1C252B"/>
                </a:solidFill>
                <a:latin typeface="Cambria"/>
              </a:rPr>
              <a:t>μ</a:t>
            </a:r>
            <a:r>
              <a:rPr sz="1700" b="0" i="1" baseline="-25000">
                <a:solidFill>
                  <a:srgbClr val="1C252B"/>
                </a:solidFill>
                <a:latin typeface="Cambria"/>
              </a:rPr>
              <a:t>A</a:t>
            </a:r>
            <a:r>
              <a:rPr sz="2600" b="0" i="0">
                <a:solidFill>
                  <a:srgbClr val="1C252B"/>
                </a:solidFill>
                <a:latin typeface="Cambria"/>
              </a:rPr>
              <a:t>(</a:t>
            </a:r>
            <a:r>
              <a:rPr sz="2600" b="0" i="1">
                <a:solidFill>
                  <a:srgbClr val="1C252B"/>
                </a:solidFill>
                <a:latin typeface="Cambria"/>
              </a:rPr>
              <a:t>x</a:t>
            </a:r>
            <a:r>
              <a:rPr sz="2600" b="0" i="0">
                <a:solidFill>
                  <a:srgbClr val="1C252B"/>
                </a:solidFill>
                <a:latin typeface="Cambria"/>
              </a:rPr>
              <a:t>) = 0.4</a:t>
            </a:r>
            <a:r>
              <a:rPr sz="2600" b="0" i="0">
                <a:solidFill>
                  <a:srgbClr val="1C252B"/>
                </a:solidFill>
                <a:latin typeface="Segoe UI"/>
              </a:rPr>
              <a:t>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a:t>
            </a:r>
            <a:r>
              <a:rPr sz="2000" b="0" i="0">
                <a:solidFill>
                  <a:srgbClr val="1C252B"/>
                </a:solidFill>
                <a:latin typeface="Cambria"/>
              </a:rPr>
              <a:t>40%</a:t>
            </a:r>
            <a:r>
              <a:rPr sz="2000" b="0" i="0">
                <a:solidFill>
                  <a:srgbClr val="1C252B"/>
                </a:solidFill>
                <a:latin typeface="Segoe UI"/>
              </a:rPr>
              <a:t> chance </a:t>
            </a:r>
            <a:r>
              <a:rPr sz="2000" b="0" i="1">
                <a:solidFill>
                  <a:srgbClr val="1C252B"/>
                </a:solidFill>
                <a:latin typeface="Cambria"/>
              </a:rPr>
              <a:t>x</a:t>
            </a:r>
            <a:r>
              <a:rPr sz="2000" b="0" i="0">
                <a:solidFill>
                  <a:srgbClr val="1C252B"/>
                </a:solidFill>
                <a:latin typeface="Segoe UI"/>
              </a:rPr>
              <a:t> is in </a:t>
            </a:r>
            <a:r>
              <a:rPr sz="2000" b="0" i="1">
                <a:solidFill>
                  <a:srgbClr val="1C252B"/>
                </a:solidFill>
                <a:latin typeface="Cambria"/>
              </a:rPr>
              <a:t>A</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x</a:t>
            </a:r>
            <a:r>
              <a:rPr sz="2000" b="0" i="0">
                <a:solidFill>
                  <a:srgbClr val="1C252B"/>
                </a:solidFill>
                <a:latin typeface="Segoe UI"/>
              </a:rPr>
              <a:t> belongs to </a:t>
            </a:r>
            <a:r>
              <a:rPr sz="2000" b="0" i="1">
                <a:solidFill>
                  <a:srgbClr val="1C252B"/>
                </a:solidFill>
                <a:latin typeface="Cambria"/>
              </a:rPr>
              <a:t>A</a:t>
            </a:r>
            <a:r>
              <a:rPr sz="2000" b="0" i="0">
                <a:solidFill>
                  <a:srgbClr val="1C252B"/>
                </a:solidFill>
                <a:latin typeface="Segoe UI"/>
              </a:rPr>
              <a:t> to degree </a:t>
            </a:r>
            <a:r>
              <a:rPr sz="2000" b="0" i="0">
                <a:solidFill>
                  <a:srgbClr val="1C252B"/>
                </a:solidFill>
                <a:latin typeface="Cambria"/>
              </a:rPr>
              <a:t>0.4</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40%</a:t>
            </a:r>
            <a:r>
              <a:rPr sz="2000" b="0" i="0">
                <a:solidFill>
                  <a:srgbClr val="1C252B"/>
                </a:solidFill>
                <a:latin typeface="Segoe UI"/>
              </a:rPr>
              <a:t> of objects like </a:t>
            </a:r>
            <a:r>
              <a:rPr sz="2000" b="0" i="1">
                <a:solidFill>
                  <a:srgbClr val="1C252B"/>
                </a:solidFill>
                <a:latin typeface="Cambria"/>
              </a:rPr>
              <a:t>x</a:t>
            </a:r>
            <a:r>
              <a:rPr sz="2000" b="0" i="0">
                <a:solidFill>
                  <a:srgbClr val="1C252B"/>
                </a:solidFill>
                <a:latin typeface="Segoe UI"/>
              </a:rPr>
              <a:t> are in </a:t>
            </a:r>
            <a:r>
              <a:rPr sz="2000" b="0" i="1">
                <a:solidFill>
                  <a:srgbClr val="1C252B"/>
                </a:solidFill>
                <a:latin typeface="Cambria"/>
              </a:rPr>
              <a:t>A</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A</a:t>
            </a:r>
            <a:r>
              <a:rPr sz="2000" b="0" i="0">
                <a:solidFill>
                  <a:srgbClr val="1C252B"/>
                </a:solidFill>
                <a:latin typeface="Segoe UI"/>
              </a:rPr>
              <a:t> is </a:t>
            </a:r>
            <a:r>
              <a:rPr sz="2000" b="0" i="0">
                <a:solidFill>
                  <a:srgbClr val="1C252B"/>
                </a:solidFill>
                <a:latin typeface="Cambria"/>
              </a:rPr>
              <a:t>40%</a:t>
            </a:r>
            <a:r>
              <a:rPr sz="2000" b="0" i="0">
                <a:solidFill>
                  <a:srgbClr val="1C252B"/>
                </a:solidFill>
                <a:latin typeface="Segoe UI"/>
              </a:rPr>
              <a:t> certain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217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C79045AA-07E0-40E3-BE79-1C5A6CE66771}"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Mamdani inference a rule’s firing strength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product of its condition memberships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a:t>
            </a:r>
            <a:r>
              <a:rPr sz="2000" b="0" i="0">
                <a:solidFill>
                  <a:srgbClr val="1C252B"/>
                </a:solidFill>
                <a:latin typeface="Cambria"/>
              </a:rPr>
              <a:t>min</a:t>
            </a:r>
            <a:r>
              <a:rPr sz="2000" b="0" i="0">
                <a:solidFill>
                  <a:srgbClr val="1C252B"/>
                </a:solidFill>
                <a:latin typeface="Segoe UI"/>
              </a:rPr>
              <a:t> of them</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a:t>
            </a:r>
            <a:r>
              <a:rPr sz="2000" b="0" i="0">
                <a:solidFill>
                  <a:srgbClr val="1C252B"/>
                </a:solidFill>
                <a:latin typeface="Cambria"/>
              </a:rPr>
              <a:t>max</a:t>
            </a:r>
            <a:r>
              <a:rPr sz="2000" b="0" i="0">
                <a:solidFill>
                  <a:srgbClr val="1C252B"/>
                </a:solidFill>
                <a:latin typeface="Segoe UI"/>
              </a:rPr>
              <a:t> of them</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their average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7572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9D0392EA-B23D-42D2-9303-96A75F644E64}"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Aggregation across rules combines the clipped consequents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min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max</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addition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multiplication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2971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394F25CA-A196-40B8-8F9D-600B999DA31D}"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Centroid defuzzification: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 reaches the extremes of the output range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compresses the output towards the middle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discontinuous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requires probabilities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837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16  ·  Fuzzy Logic</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176     </a:t>
            </a:r>
            <a:fld id="{1D74F2D4-C807-487F-938C-B5758E987D89}" type="slidenum">
              <a:rPr lang="en-GB" sz="1000">
                <a:solidFill>
                  <a:srgbClr val="8795A1"/>
                </a:solidFill>
                <a:latin typeface="Segoe UI"/>
              </a:rPr>
              <a:t>47</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question about a software release that is a matter of uncertainty and one that is a matter of vagueness, and say which chapter handles each.</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membership functions must overlap, and what a fuzzy controller degenerates into if they do not.</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engineering argument for a fuzzy controller over a threshold rule, using Figure 16.3.</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 by hand the fuzzy output for a project with effort </a:t>
            </a:r>
            <a:r>
              <a:rPr sz="1900" b="0" i="0">
                <a:solidFill>
                  <a:srgbClr val="1C252B"/>
                </a:solidFill>
                <a:latin typeface="Cambria"/>
              </a:rPr>
              <a:t>75</a:t>
            </a:r>
            <a:r>
              <a:rPr sz="1900" b="0" i="0">
                <a:solidFill>
                  <a:srgbClr val="1C252B"/>
                </a:solidFill>
                <a:latin typeface="Segoe UI"/>
              </a:rPr>
              <a:t> and uncertainty </a:t>
            </a:r>
            <a:r>
              <a:rPr sz="1900" b="0" i="0">
                <a:solidFill>
                  <a:srgbClr val="1C252B"/>
                </a:solidFill>
                <a:latin typeface="Cambria"/>
              </a:rPr>
              <a:t>6</a:t>
            </a:r>
            <a:r>
              <a:rPr sz="1900" b="0" i="0">
                <a:solidFill>
                  <a:srgbClr val="1C252B"/>
                </a:solidFill>
                <a:latin typeface="Segoe UI"/>
              </a:rPr>
              <a:t>: give the memberships, the firing strengths of every rule that fires, which output words are clipped and at what level, and say whether the crisp result should be above or below </a:t>
            </a:r>
            <a:r>
              <a:rPr sz="1900" b="0" i="0">
                <a:solidFill>
                  <a:srgbClr val="1C252B"/>
                </a:solidFill>
                <a:latin typeface="Cambria"/>
              </a:rPr>
              <a:t>50</a:t>
            </a:r>
            <a:r>
              <a:rPr sz="1900" b="0" i="0">
                <a:solidFill>
                  <a:srgbClr val="1C252B"/>
                </a:solidFill>
                <a:latin typeface="Segoe UI"/>
              </a:rPr>
              <a:t>, with a reason.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3770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17 — Learning from Examples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16, pages 166–176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Risk rating by Mamdani inference; the perceptron and its limit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experiments frozen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16  ·  Fuzzy Logic</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9EFDFF3-5C01-4349-BE3C-A4505BCF793C}" type="slidenum">
              <a:rPr lang="en-GB" sz="1000">
                <a:solidFill>
                  <a:srgbClr val="D5DEE5"/>
                </a:solidFill>
                <a:latin typeface="Segoe UI"/>
              </a:rPr>
              <a:t>48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Fuzzy Logic</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