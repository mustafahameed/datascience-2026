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5.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9.svg" ContentType="image/svg+xml"/>
  <Override PartName="/ppt/media/image8.svg" ContentType="image/svg+xml"/>
  <Override PartName="/ppt/media/image81.svg" ContentType="image/svg+xml"/>
  <Override PartName="/ppt/media/image82.svg" ContentType="image/svg+xml"/>
  <Override PartName="/ppt/media/image83.svg" ContentType="image/svg+xml"/>
  <Override PartName="/ppt/media/image84.svg" ContentType="image/svg+xml"/>
  <Override PartName="/ppt/media/image85.svg" ContentType="image/svg+xml"/>
  <Override PartName="/ppt/media/image87.svg" ContentType="image/svg+xml"/>
  <Override PartName="/ppt/media/image88.svg" ContentType="image/svg+xml"/>
  <Override PartName="/ppt/media/image90.svg" ContentType="image/svg+xml"/>
  <Override PartName="/ppt/media/image91.svg" ContentType="image/svg+xml"/>
  <Override PartName="/ppt/media/image92.svg" ContentType="image/svg+xml"/>
  <Override PartName="/ppt/media/image93.svg" ContentType="image/svg+xml"/>
  <Override PartName="/ppt/media/image9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4A3449-FEF2-4F1E-8D84-25A56AAC26CD}">
          <p14:sldIdLst>
            <p14:sldId id="256"/>
            <p14:sldId id="257"/>
            <p14:sldId id="258"/>
            <p14:sldId id="259"/>
            <p14:sldId id="260"/>
          </p14:sldIdLst>
        </p14:section>
        <p14:section name="14.1 What Logic Cannot Say" id="{2326552C-25A5-421E-BA6E-5CB167AE7F41}">
          <p14:sldIdLst>
            <p14:sldId id="261"/>
          </p14:sldIdLst>
        </p14:section>
        <p14:section name="14.2 Bayes’ Rule" id="{C87FBFBF-46EE-4DDA-AB8A-1303D3174A79}">
          <p14:sldIdLst>
            <p14:sldId id="262"/>
            <p14:sldId id="263"/>
            <p14:sldId id="264"/>
            <p14:sldId id="265"/>
          </p14:sldIdLst>
        </p14:section>
        <p14:section name="14.3 Conditional Independence" id="{D93F14A1-14BF-4B68-B68A-E7BB97D8DB3A}">
          <p14:sldIdLst>
            <p14:sldId id="266"/>
          </p14:sldIdLst>
        </p14:section>
        <p14:section name="14.4 From Belief to Decision" id="{CD779778-67F4-4D64-9E3A-DC99CEEC4224}">
          <p14:sldIdLst>
            <p14:sldId id="267"/>
            <p14:sldId id="268"/>
            <p14:sldId id="269"/>
            <p14:sldId id="270"/>
            <p14:sldId id="271"/>
            <p14:sldId id="272"/>
          </p14:sldIdLst>
        </p14:section>
        <p14:section name="14.5 A Change of Belief Is Not a Change of Decision" id="{B07C4798-F10E-4E73-895F-563F1FA1193F}">
          <p14:sldIdLst>
            <p14:sldId id="273"/>
          </p14:sldIdLst>
        </p14:section>
        <p14:section name="14.6 The Value of Information" id="{A2045F4B-C31D-40AD-867C-59B2609A71AB}">
          <p14:sldIdLst>
            <p14:sldId id="274"/>
            <p14:sldId id="275"/>
            <p14:sldId id="276"/>
            <p14:sldId id="277"/>
            <p14:sldId id="278"/>
            <p14:sldId id="279"/>
            <p14:sldId id="280"/>
          </p14:sldIdLst>
        </p14:section>
        <p14:section name="Pitfalls" id="{57222B71-B9DA-413D-98BD-01D2E09B49E5}">
          <p14:sldIdLst>
            <p14:sldId id="281"/>
          </p14:sldIdLst>
        </p14:section>
        <p14:section name="Lab" id="{8AC01B40-F6A2-4344-9BA1-69E9FF361208}">
          <p14:sldIdLst>
            <p14:sldId id="282"/>
            <p14:sldId id="283"/>
            <p14:sldId id="284"/>
            <p14:sldId id="285"/>
            <p14:sldId id="286"/>
            <p14:sldId id="287"/>
            <p14:sldId id="288"/>
            <p14:sldId id="289"/>
            <p14:sldId id="290"/>
            <p14:sldId id="291"/>
            <p14:sldId id="292"/>
            <p14:sldId id="293"/>
            <p14:sldId id="294"/>
          </p14:sldIdLst>
        </p14:section>
        <p14:section name="Checkpoint" id="{E08985AC-A1F8-452C-BCB8-F274DB5D771D}">
          <p14:sldIdLst>
            <p14:sldId id="295"/>
            <p14:sldId id="296"/>
            <p14:sldId id="297"/>
            <p14:sldId id="298"/>
            <p14:sldId id="299"/>
            <p14:sldId id="300"/>
          </p14:sldIdLst>
        </p14:section>
        <p14:section name="Wrap-up" id="{EF4B31A1-BA9D-4DB9-8E21-932101FB0DAE}">
          <p14:sldIdLst>
            <p14:sldId id="301"/>
            <p14:sldId id="302"/>
            <p14:sldId id="303"/>
            <p14:sldId id="304"/>
            <p14:sldId id="305"/>
            <p14:sldId id="306"/>
            <p14:sldId id="307"/>
            <p14:sldId id="30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14: Uncertainty and Decision Making. Part 5 — Reasoning Under Uncertainty. Week 13: Uncertainty and decision making; Bayesian networks. Handout pages 146–155.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11 (what a truth value can and cannot express) and Chapter 2 (the utility-based agent, and rationality as maximising expected performance — this chapter is where that phrase acquires a number). School probability; nothing beyond it is assumed.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degree of belief; prior; posterior; likelihood; base rate; joint distribution; marginalisation; Bayes’ rule; conditional independence; utility; expected utility; maximum expected utility; decision table; value of perfect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11 settled the release gate because everything it was told was either true or false. Almost nothing a delivery team knows is like that. This release probably has a defect. The smoke test usually catches this kind of problem. Auth is normally the culprit when payments is slow. Every one is actionable, none is a truth value, and writing any of them as a logical sentence forces a choice between two wrong options: assert it and be committed to something false, or omit it and reason without what the team knows. Chapter 10’s defaults were one answer — “normally”, withdrawn on evidence. They work, and they cannot be combined: two defaults pointing different ways gave Figure 10.2’s conflict, with no principled resolution. Probability is the other answer, and it is the one that composes.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Unlike defaults, degrees of belief combine. Two pieces of evidence pointing different ways produce a number between them rather than a conflict, and the combination rule is forced — not chosen by whoever wrote the system. Rearranging the definition gives the tool: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matters because the two conditionals are not interchangeable and the available one is usually the wrong way round. A test report says how often the test fires when there is a defect — P(alarm ∣ defect) — and what you need is how likely a defect is, given that it fired — P(defect ∣ alarm). Confusing the two is the base-rate fallacy, and it is the single most consequential probabilistic error made in engineering organisations.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14.1 (handout p. 147): The same calculation as Bayes’ rule, in whole releases rather than fractions. Natural frequencies make the base-rate effect visible, which is why this is the form to use when explaining a result to a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Silence is far more informative than an alarm here: P(defect ∣ ¬alarm) = 10/730 = 1/73 ≈ 0.014. A test with a high false-alarm rate tells you much more by staying quiet. A joint distribution over n binary variables has 2n entries, which is Chapter 11’s problem again. The escape is the same idea that made semantic networks tractable: most things are irrelevant to most other things.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smoke test and a customer complaint are both caused by the defect, and both are evidence for it — but once you know whether there is a defect, the complaint tells you nothing more about whether the test will fire. That is a conditional independence, and asserting it replaces a table of 23 = 8 numbers with three small ones. Chapter 15 makes this the organising principle of a whole representation. A belief is not yet an action. The team does not need to know how likely the defect is; they need to know whether to 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p = P(defect):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cross where 40 − 140p = 5p − 10, that is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14.2 (handout p. 149): The two expected utilities as the probability of a defect varies. The alarm moves the belief a long way and leaves the decision alone, because 1/3 falls just short of the crossing at 10/29.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decision is nearly balanced, finding out is worth a lot. If it is not, it is worth nothing at all, however interesting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release decision, VPI(p) = 95p below the flip point and 50 − 50p above it. Evaluated at the two beliefs of interest: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shape is the point. Before any evidence, certainty would be worth 9.50. After an ambiguous alarm — which changed nothing about what to do — it is worth 31.67, more than three times as much. Information is valuable in proportion to how close the decision is to flipping, not in proportion to how interesting it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 rule with exact arithmetic, the decision, the flip point and the value of information. Every number the chapter quotes is computed here.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smoke test.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What each outcome is worth.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What each outcome is worth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What each outcome is worth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What each outcome is worth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What each outcome is worth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The decision.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The decision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The value of information.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And the utilities matter as much as the probabilities.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Of a thousand releases, a hundred are defective and the test catches ninety of them — but nine hundred are sound and the test cries wolf on a fifth of those, which is a hundred and eighty false alarms. So of the two hundred and seventy alarms, only ninety are real. The test is good; there are simply far more sound releases for it to be wrong about, and that is the base rate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lesson is that a change of belief is not a change of decision. The recommendation depends only on which side of the flip point p∗ the probability falls, and 1/3 is below 10/29 ≈ 0.345. What an engineer should report is the action and the margin: “still ship, but only by 1.67 utility units, which is close enough that better evidence is now worth having” — which is both the decision and the case for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the value of information is proportional to how likely it is to change the action, not to how interesting it is. Before the test the decision was comfortable — ship, by 35 units — so certainty could rarely have flipped it. After the alarm the two options differ by under two units, so the same certainty now flips the decision often. Information is worth most exactly where the decision is hardest, and the function peaks at the flip point itself.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15 — Bayesian Networks. READ: Handout Chapter 14, pages 146–155. THIS WEEK'S LAB: Go/no-go under uncertainty; diagnosing a defect cause. ASSESSMENT: Quiz 3 (Ch 9–13).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8.xml"/><Relationship Id="rId10"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5.svg"/><Relationship Id="rId4" Type="http://schemas.openxmlformats.org/officeDocument/2006/relationships/image" Target="../media/image16.png"/><Relationship Id="rId5" Type="http://schemas.openxmlformats.org/officeDocument/2006/relationships/image" Target="../media/image17.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5.svg"/><Relationship Id="rId4" Type="http://schemas.openxmlformats.org/officeDocument/2006/relationships/image" Target="../media/image26.png"/><Relationship Id="rId5" Type="http://schemas.openxmlformats.org/officeDocument/2006/relationships/image" Target="../media/image27.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28.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2.svg"/><Relationship Id="rId4" Type="http://schemas.openxmlformats.org/officeDocument/2006/relationships/image" Target="../media/image33.png"/><Relationship Id="rId5" Type="http://schemas.openxmlformats.org/officeDocument/2006/relationships/image" Target="../media/image34.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39.svg"/><Relationship Id="rId4" Type="http://schemas.openxmlformats.org/officeDocument/2006/relationships/image" Target="../media/image40.png"/><Relationship Id="rId5" Type="http://schemas.openxmlformats.org/officeDocument/2006/relationships/image" Target="../media/image41.sv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3.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image" Target="../media/image48.png"/><Relationship Id="rId5" Type="http://schemas.openxmlformats.org/officeDocument/2006/relationships/image" Target="../media/image49.svg"/><Relationship Id="rId6" Type="http://schemas.openxmlformats.org/officeDocument/2006/relationships/image" Target="../media/image50.png"/><Relationship Id="rId7" Type="http://schemas.openxmlformats.org/officeDocument/2006/relationships/image" Target="../media/image51.svg"/><Relationship Id="rId8" Type="http://schemas.openxmlformats.org/officeDocument/2006/relationships/image" Target="../media/image52.png"/><Relationship Id="rId9" Type="http://schemas.openxmlformats.org/officeDocument/2006/relationships/image" Target="../media/image53.svg"/><Relationship Id="rId10" Type="http://schemas.openxmlformats.org/officeDocument/2006/relationships/image" Target="../media/image54.png"/><Relationship Id="rId11" Type="http://schemas.openxmlformats.org/officeDocument/2006/relationships/image" Target="../media/image55.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6.svg"/><Relationship Id="rId4" Type="http://schemas.openxmlformats.org/officeDocument/2006/relationships/image" Target="../media/image57.png"/><Relationship Id="rId5" Type="http://schemas.openxmlformats.org/officeDocument/2006/relationships/image" Target="../media/image58.svg"/><Relationship Id="rId6" Type="http://schemas.openxmlformats.org/officeDocument/2006/relationships/image" Target="../media/image59.png"/><Relationship Id="rId7" Type="http://schemas.openxmlformats.org/officeDocument/2006/relationships/image" Target="../media/image60.sv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61.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1.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2.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3.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4.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5.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6.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77.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8.png"/><Relationship Id="rId3" Type="http://schemas.openxmlformats.org/officeDocument/2006/relationships/image" Target="../media/image79.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0.png"/><Relationship Id="rId3" Type="http://schemas.openxmlformats.org/officeDocument/2006/relationships/image" Target="../media/image81.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8.png"/><Relationship Id="rId3" Type="http://schemas.openxmlformats.org/officeDocument/2006/relationships/image" Target="../media/image8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0.png"/><Relationship Id="rId3" Type="http://schemas.openxmlformats.org/officeDocument/2006/relationships/image" Target="../media/image83.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8.png"/><Relationship Id="rId3" Type="http://schemas.openxmlformats.org/officeDocument/2006/relationships/image" Target="../media/image84.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0.png"/><Relationship Id="rId3" Type="http://schemas.openxmlformats.org/officeDocument/2006/relationships/image" Target="../media/image85.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image" Target="../media/image87.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image" Target="../media/image88.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0.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1.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2.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3.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image" Target="../media/image94.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88674"/>
                </a:solidFill>
                <a:latin typeface="Segoe UI Black"/>
              </a:rPr>
              <a:t>14</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Uncertainty and Decision Making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PART V  ·  REASONING UNDER UNCERTAINTY</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CHAPTER 14  ·  WEEK 13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CFE4E0"/>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0C57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3BFB9"/>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BD0CC"/>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3BFB9"/>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146     </a:t>
            </a:r>
            <a:fld id="{05BF75EF-FB3D-4561-9E9E-F2F2D38C3ED2}"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353812"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353812" y="2029967"/>
            <a:ext cx="1329163" cy="4572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47679" y="2112264"/>
            <a:ext cx="566928" cy="566928"/>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247679"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4605063"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07964"/>
                </a:solidFill>
                <a:latin typeface="Segoe UI"/>
              </a:rPr>
              <a:t>Uncertainty and Decision Making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68" name="!!chipBU11">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1">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1"/>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11  </a:t>
            </a:r>
            <a:r>
              <a:rPr sz="1400" b="0" i="0">
                <a:solidFill>
                  <a:srgbClr val="1C252B"/>
                </a:solidFill>
                <a:latin typeface="Segoe UI"/>
              </a:rPr>
              <a:t>Propositional Logic and Inference</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1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1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1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15  </a:t>
            </a:r>
            <a:r>
              <a:rPr sz="1400" b="0" i="0">
                <a:solidFill>
                  <a:srgbClr val="1C252B"/>
                </a:solidFill>
                <a:latin typeface="Segoe UI"/>
              </a:rPr>
              <a:t>Bayesian Networks</a:t>
            </a:r>
          </a:p>
        </p:txBody>
      </p:sp>
      <p:sp>
        <p:nvSpPr>
          <p:cNvPr id="75" name="!!chipUS16">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6">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6"/>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16  </a:t>
            </a:r>
            <a:r>
              <a:rPr sz="1400" b="0" i="0">
                <a:solidFill>
                  <a:srgbClr val="1C252B"/>
                </a:solidFill>
                <a:latin typeface="Segoe UI"/>
              </a:rPr>
              <a:t>Fuzzy Logic</a:t>
            </a:r>
          </a:p>
        </p:txBody>
      </p:sp>
      <p:sp>
        <p:nvSpPr>
          <p:cNvPr id="78" name="!!chipUS17">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7">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7"/>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17  </a:t>
            </a:r>
            <a:r>
              <a:rPr sz="1400" b="0" i="0">
                <a:solidFill>
                  <a:srgbClr val="1C252B"/>
                </a:solidFill>
                <a:latin typeface="Segoe UI"/>
              </a:rPr>
              <a:t>Learning from Examples</a:t>
            </a:r>
          </a:p>
        </p:txBody>
      </p:sp>
      <p:sp>
        <p:nvSpPr>
          <p:cNvPr id="81" name="!!chipUS18">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8">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8"/>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18  </a:t>
            </a:r>
            <a:r>
              <a:rPr sz="1400" b="0" i="0">
                <a:solidFill>
                  <a:srgbClr val="1C252B"/>
                </a:solidFill>
                <a:latin typeface="Segoe UI"/>
              </a:rPr>
              <a:t>Natural Language Processing</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46006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146     </a:t>
            </a:r>
            <a:fld id="{52E0CB37-C52B-4B68-AAEB-2B7AC3BDC97A}"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Explain</a:t>
            </a:r>
            <a:r>
              <a:rPr sz="2100" b="0" i="0">
                <a:solidFill>
                  <a:srgbClr val="1C252B"/>
                </a:solidFill>
                <a:latin typeface="Segoe UI"/>
              </a:rPr>
              <a:t> why logic alone cannot represent what a delivery team knows, and </a:t>
            </a:r>
            <a:r>
              <a:rPr sz="2100" b="1" i="0">
                <a:solidFill>
                  <a:srgbClr val="1C252B"/>
                </a:solidFill>
                <a:latin typeface="Segoe UI"/>
              </a:rPr>
              <a:t>state</a:t>
            </a:r>
            <a:r>
              <a:rPr sz="2100" b="0" i="0">
                <a:solidFill>
                  <a:srgbClr val="1C252B"/>
                </a:solidFill>
                <a:latin typeface="Segoe UI"/>
              </a:rPr>
              <a:t> probability as a degree of belief.</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Apply</a:t>
            </a:r>
            <a:r>
              <a:rPr sz="2100" b="0" i="0">
                <a:solidFill>
                  <a:srgbClr val="1C252B"/>
                </a:solidFill>
                <a:latin typeface="Segoe UI"/>
              </a:rPr>
              <a:t> Bayes’ rule to update a belief on evidence, and </a:t>
            </a:r>
            <a:r>
              <a:rPr sz="2100" b="1" i="0">
                <a:solidFill>
                  <a:srgbClr val="1C252B"/>
                </a:solidFill>
                <a:latin typeface="Segoe UI"/>
              </a:rPr>
              <a:t>avoid</a:t>
            </a:r>
            <a:r>
              <a:rPr sz="2100" b="0" i="0">
                <a:solidFill>
                  <a:srgbClr val="1C252B"/>
                </a:solidFill>
                <a:latin typeface="Segoe UI"/>
              </a:rPr>
              <a:t> the base-rate fallacy.</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Use</a:t>
            </a:r>
            <a:r>
              <a:rPr sz="2100" b="0" i="0">
                <a:solidFill>
                  <a:srgbClr val="1C252B"/>
                </a:solidFill>
                <a:latin typeface="Segoe UI"/>
              </a:rPr>
              <a:t> conditional independence to reduce the size of a joint distribution.</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Choose</a:t>
            </a:r>
            <a:r>
              <a:rPr sz="2100" b="0" i="0">
                <a:solidFill>
                  <a:srgbClr val="1C252B"/>
                </a:solidFill>
                <a:latin typeface="Segoe UI"/>
              </a:rPr>
              <a:t> an action by maximising expected utility, and </a:t>
            </a:r>
            <a:r>
              <a:rPr sz="2100" b="1" i="0">
                <a:solidFill>
                  <a:srgbClr val="1C252B"/>
                </a:solidFill>
                <a:latin typeface="Segoe UI"/>
              </a:rPr>
              <a:t>distinguish</a:t>
            </a:r>
            <a:r>
              <a:rPr sz="2100" b="0" i="0">
                <a:solidFill>
                  <a:srgbClr val="1C252B"/>
                </a:solidFill>
                <a:latin typeface="Segoe UI"/>
              </a:rPr>
              <a:t> a change of belief from a change of decision.</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Compute</a:t>
            </a:r>
            <a:r>
              <a:rPr sz="2100" b="0" i="0">
                <a:solidFill>
                  <a:srgbClr val="1C252B"/>
                </a:solidFill>
                <a:latin typeface="Segoe UI"/>
              </a:rPr>
              <a:t> the value of perfect information, and </a:t>
            </a:r>
            <a:r>
              <a:rPr sz="2100" b="1" i="0">
                <a:solidFill>
                  <a:srgbClr val="1C252B"/>
                </a:solidFill>
                <a:latin typeface="Segoe UI"/>
              </a:rPr>
              <a:t>say</a:t>
            </a:r>
            <a:r>
              <a:rPr sz="2100" b="0" i="0">
                <a:solidFill>
                  <a:srgbClr val="1C252B"/>
                </a:solidFill>
                <a:latin typeface="Segoe UI"/>
              </a:rPr>
              <a:t> when gathering evidence is worth paying for.</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9009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146     </a:t>
            </a:r>
            <a:fld id="{0C233478-7B6D-4B28-8528-ED9915C6DAD0}" type="slidenum">
              <a:rPr lang="en-GB" sz="1000">
                <a:solidFill>
                  <a:srgbClr val="8795A1"/>
                </a:solidFill>
                <a:latin typeface="Segoe UI"/>
              </a:rPr>
              <a:t>4</a:t>
            </a:fld>
          </a:p>
        </p:txBody>
      </p:sp>
      <p:sp>
        <p:nvSpPr>
          <p:cNvPr id="7" name="!!term-degree of beli">
            <a:extLst>
              <a:ext uri="{C183D7F6-B498-43B3-948B-1728B52AA6E4}">
                <adec:decorative xmlns:adec="http://schemas.microsoft.com/office/drawing/2017/decorative" val="1"/>
              </a:ext>
            </a:extLst>
          </p:cNvPr>
          <p:cNvSpPr/>
          <p:nvPr/>
        </p:nvSpPr>
        <p:spPr>
          <a:xfrm>
            <a:off x="658368" y="1847088"/>
            <a:ext cx="188406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degree of beli">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degree of beli"/>
          <p:cNvSpPr txBox="1"/>
          <p:nvPr/>
        </p:nvSpPr>
        <p:spPr>
          <a:xfrm>
            <a:off x="950976" y="1962911"/>
            <a:ext cx="170118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degree of belief</a:t>
            </a:r>
          </a:p>
        </p:txBody>
      </p:sp>
      <p:sp>
        <p:nvSpPr>
          <p:cNvPr id="10" name="!!term-prior">
            <a:extLst>
              <a:ext uri="{C183D7F6-B498-43B3-948B-1728B52AA6E4}">
                <adec:decorative xmlns:adec="http://schemas.microsoft.com/office/drawing/2017/decorative" val="1"/>
              </a:ext>
            </a:extLst>
          </p:cNvPr>
          <p:cNvSpPr/>
          <p:nvPr/>
        </p:nvSpPr>
        <p:spPr>
          <a:xfrm>
            <a:off x="2688735" y="1847088"/>
            <a:ext cx="8766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rior">
            <a:extLst>
              <a:ext uri="{C183D7F6-B498-43B3-948B-1728B52AA6E4}">
                <adec:decorative xmlns:adec="http://schemas.microsoft.com/office/drawing/2017/decorative" val="1"/>
              </a:ext>
            </a:extLst>
          </p:cNvPr>
          <p:cNvSpPr/>
          <p:nvPr/>
        </p:nvSpPr>
        <p:spPr>
          <a:xfrm>
            <a:off x="281675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rior"/>
          <p:cNvSpPr txBox="1"/>
          <p:nvPr/>
        </p:nvSpPr>
        <p:spPr>
          <a:xfrm>
            <a:off x="2981343" y="1962911"/>
            <a:ext cx="6937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prior</a:t>
            </a:r>
          </a:p>
        </p:txBody>
      </p:sp>
      <p:sp>
        <p:nvSpPr>
          <p:cNvPr id="13" name="!!term-posterior">
            <a:extLst>
              <a:ext uri="{C183D7F6-B498-43B3-948B-1728B52AA6E4}">
                <adec:decorative xmlns:adec="http://schemas.microsoft.com/office/drawing/2017/decorative" val="1"/>
              </a:ext>
            </a:extLst>
          </p:cNvPr>
          <p:cNvSpPr/>
          <p:nvPr/>
        </p:nvSpPr>
        <p:spPr>
          <a:xfrm>
            <a:off x="3711693" y="1847088"/>
            <a:ext cx="12646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osterior">
            <a:extLst>
              <a:ext uri="{C183D7F6-B498-43B3-948B-1728B52AA6E4}">
                <adec:decorative xmlns:adec="http://schemas.microsoft.com/office/drawing/2017/decorative" val="1"/>
              </a:ext>
            </a:extLst>
          </p:cNvPr>
          <p:cNvSpPr/>
          <p:nvPr/>
        </p:nvSpPr>
        <p:spPr>
          <a:xfrm>
            <a:off x="383970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osterior"/>
          <p:cNvSpPr txBox="1"/>
          <p:nvPr/>
        </p:nvSpPr>
        <p:spPr>
          <a:xfrm>
            <a:off x="4004301" y="1962911"/>
            <a:ext cx="108174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posterior</a:t>
            </a:r>
          </a:p>
        </p:txBody>
      </p:sp>
      <p:sp>
        <p:nvSpPr>
          <p:cNvPr id="16" name="!!term-likelihood">
            <a:extLst>
              <a:ext uri="{C183D7F6-B498-43B3-948B-1728B52AA6E4}">
                <adec:decorative xmlns:adec="http://schemas.microsoft.com/office/drawing/2017/decorative" val="1"/>
              </a:ext>
            </a:extLst>
          </p:cNvPr>
          <p:cNvSpPr/>
          <p:nvPr/>
        </p:nvSpPr>
        <p:spPr>
          <a:xfrm>
            <a:off x="5122622" y="1847088"/>
            <a:ext cx="13331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likelihood">
            <a:extLst>
              <a:ext uri="{C183D7F6-B498-43B3-948B-1728B52AA6E4}">
                <adec:decorative xmlns:adec="http://schemas.microsoft.com/office/drawing/2017/decorative" val="1"/>
              </a:ext>
            </a:extLst>
          </p:cNvPr>
          <p:cNvSpPr/>
          <p:nvPr/>
        </p:nvSpPr>
        <p:spPr>
          <a:xfrm>
            <a:off x="525063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likelihood"/>
          <p:cNvSpPr txBox="1"/>
          <p:nvPr/>
        </p:nvSpPr>
        <p:spPr>
          <a:xfrm>
            <a:off x="5415230" y="1962911"/>
            <a:ext cx="11503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likelihood</a:t>
            </a:r>
          </a:p>
        </p:txBody>
      </p:sp>
      <p:sp>
        <p:nvSpPr>
          <p:cNvPr id="19" name="!!term-base rate">
            <a:extLst>
              <a:ext uri="{C183D7F6-B498-43B3-948B-1728B52AA6E4}">
                <adec:decorative xmlns:adec="http://schemas.microsoft.com/office/drawing/2017/decorative" val="1"/>
              </a:ext>
            </a:extLst>
          </p:cNvPr>
          <p:cNvSpPr/>
          <p:nvPr/>
        </p:nvSpPr>
        <p:spPr>
          <a:xfrm>
            <a:off x="6602118" y="1847088"/>
            <a:ext cx="12755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base rate">
            <a:extLst>
              <a:ext uri="{C183D7F6-B498-43B3-948B-1728B52AA6E4}">
                <adec:decorative xmlns:adec="http://schemas.microsoft.com/office/drawing/2017/decorative" val="1"/>
              </a:ext>
            </a:extLst>
          </p:cNvPr>
          <p:cNvSpPr/>
          <p:nvPr/>
        </p:nvSpPr>
        <p:spPr>
          <a:xfrm>
            <a:off x="673013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base rate"/>
          <p:cNvSpPr txBox="1"/>
          <p:nvPr/>
        </p:nvSpPr>
        <p:spPr>
          <a:xfrm>
            <a:off x="6894726" y="1962911"/>
            <a:ext cx="109268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base rate</a:t>
            </a:r>
          </a:p>
        </p:txBody>
      </p:sp>
      <p:sp>
        <p:nvSpPr>
          <p:cNvPr id="22" name="!!term-joint distribu">
            <a:extLst>
              <a:ext uri="{C183D7F6-B498-43B3-948B-1728B52AA6E4}">
                <adec:decorative xmlns:adec="http://schemas.microsoft.com/office/drawing/2017/decorative" val="1"/>
              </a:ext>
            </a:extLst>
          </p:cNvPr>
          <p:cNvSpPr/>
          <p:nvPr/>
        </p:nvSpPr>
        <p:spPr>
          <a:xfrm>
            <a:off x="8023991" y="1847088"/>
            <a:ext cx="19560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joint distribu">
            <a:extLst>
              <a:ext uri="{C183D7F6-B498-43B3-948B-1728B52AA6E4}">
                <adec:decorative xmlns:adec="http://schemas.microsoft.com/office/drawing/2017/decorative" val="1"/>
              </a:ext>
            </a:extLst>
          </p:cNvPr>
          <p:cNvSpPr/>
          <p:nvPr/>
        </p:nvSpPr>
        <p:spPr>
          <a:xfrm>
            <a:off x="815200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joint distribu"/>
          <p:cNvSpPr txBox="1"/>
          <p:nvPr/>
        </p:nvSpPr>
        <p:spPr>
          <a:xfrm>
            <a:off x="8316599" y="1962911"/>
            <a:ext cx="177320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joint distribution</a:t>
            </a:r>
          </a:p>
        </p:txBody>
      </p:sp>
      <p:sp>
        <p:nvSpPr>
          <p:cNvPr id="25" name="!!term-marginalisatio">
            <a:extLst>
              <a:ext uri="{C183D7F6-B498-43B3-948B-1728B52AA6E4}">
                <adec:decorative xmlns:adec="http://schemas.microsoft.com/office/drawing/2017/decorative" val="1"/>
              </a:ext>
            </a:extLst>
          </p:cNvPr>
          <p:cNvSpPr/>
          <p:nvPr/>
        </p:nvSpPr>
        <p:spPr>
          <a:xfrm>
            <a:off x="658368" y="2468880"/>
            <a:ext cx="18428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marginalisatio">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marginalisatio"/>
          <p:cNvSpPr txBox="1"/>
          <p:nvPr/>
        </p:nvSpPr>
        <p:spPr>
          <a:xfrm>
            <a:off x="950976" y="2584704"/>
            <a:ext cx="16599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marginalisation</a:t>
            </a:r>
          </a:p>
        </p:txBody>
      </p:sp>
      <p:sp>
        <p:nvSpPr>
          <p:cNvPr id="28" name="!!term-Bayes’ rule">
            <a:extLst>
              <a:ext uri="{C183D7F6-B498-43B3-948B-1728B52AA6E4}">
                <adec:decorative xmlns:adec="http://schemas.microsoft.com/office/drawing/2017/decorative" val="1"/>
              </a:ext>
            </a:extLst>
          </p:cNvPr>
          <p:cNvSpPr/>
          <p:nvPr/>
        </p:nvSpPr>
        <p:spPr>
          <a:xfrm>
            <a:off x="2647548" y="2468880"/>
            <a:ext cx="14120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Bayes’ rule">
            <a:extLst>
              <a:ext uri="{C183D7F6-B498-43B3-948B-1728B52AA6E4}">
                <adec:decorative xmlns:adec="http://schemas.microsoft.com/office/drawing/2017/decorative" val="1"/>
              </a:ext>
            </a:extLst>
          </p:cNvPr>
          <p:cNvSpPr/>
          <p:nvPr/>
        </p:nvSpPr>
        <p:spPr>
          <a:xfrm>
            <a:off x="277556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Bayes’ rule"/>
          <p:cNvSpPr txBox="1"/>
          <p:nvPr/>
        </p:nvSpPr>
        <p:spPr>
          <a:xfrm>
            <a:off x="2940156" y="2584704"/>
            <a:ext cx="122912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Bayes’ rule</a:t>
            </a:r>
          </a:p>
        </p:txBody>
      </p:sp>
      <p:sp>
        <p:nvSpPr>
          <p:cNvPr id="31" name="!!term-conditional in">
            <a:extLst>
              <a:ext uri="{C183D7F6-B498-43B3-948B-1728B52AA6E4}">
                <adec:decorative xmlns:adec="http://schemas.microsoft.com/office/drawing/2017/decorative" val="1"/>
              </a:ext>
            </a:extLst>
          </p:cNvPr>
          <p:cNvSpPr/>
          <p:nvPr/>
        </p:nvSpPr>
        <p:spPr>
          <a:xfrm>
            <a:off x="4205852" y="2468880"/>
            <a:ext cx="28147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conditional in">
            <a:extLst>
              <a:ext uri="{C183D7F6-B498-43B3-948B-1728B52AA6E4}">
                <adec:decorative xmlns:adec="http://schemas.microsoft.com/office/drawing/2017/decorative" val="1"/>
              </a:ext>
            </a:extLst>
          </p:cNvPr>
          <p:cNvSpPr/>
          <p:nvPr/>
        </p:nvSpPr>
        <p:spPr>
          <a:xfrm>
            <a:off x="433386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conditional in"/>
          <p:cNvSpPr txBox="1"/>
          <p:nvPr/>
        </p:nvSpPr>
        <p:spPr>
          <a:xfrm>
            <a:off x="4498460" y="2584704"/>
            <a:ext cx="263189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conditional independence</a:t>
            </a:r>
          </a:p>
        </p:txBody>
      </p:sp>
      <p:sp>
        <p:nvSpPr>
          <p:cNvPr id="34" name="!!term-utility">
            <a:extLst>
              <a:ext uri="{C183D7F6-B498-43B3-948B-1728B52AA6E4}">
                <adec:decorative xmlns:adec="http://schemas.microsoft.com/office/drawing/2017/decorative" val="1"/>
              </a:ext>
            </a:extLst>
          </p:cNvPr>
          <p:cNvSpPr/>
          <p:nvPr/>
        </p:nvSpPr>
        <p:spPr>
          <a:xfrm>
            <a:off x="7166935" y="2468880"/>
            <a:ext cx="9475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utility">
            <a:extLst>
              <a:ext uri="{C183D7F6-B498-43B3-948B-1728B52AA6E4}">
                <adec:decorative xmlns:adec="http://schemas.microsoft.com/office/drawing/2017/decorative" val="1"/>
              </a:ext>
            </a:extLst>
          </p:cNvPr>
          <p:cNvSpPr/>
          <p:nvPr/>
        </p:nvSpPr>
        <p:spPr>
          <a:xfrm>
            <a:off x="729495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utility"/>
          <p:cNvSpPr txBox="1"/>
          <p:nvPr/>
        </p:nvSpPr>
        <p:spPr>
          <a:xfrm>
            <a:off x="7459543" y="2584704"/>
            <a:ext cx="7646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utility</a:t>
            </a:r>
          </a:p>
        </p:txBody>
      </p:sp>
      <p:sp>
        <p:nvSpPr>
          <p:cNvPr id="37" name="!!term-expected utili">
            <a:extLst>
              <a:ext uri="{C183D7F6-B498-43B3-948B-1728B52AA6E4}">
                <adec:decorative xmlns:adec="http://schemas.microsoft.com/office/drawing/2017/decorative" val="1"/>
              </a:ext>
            </a:extLst>
          </p:cNvPr>
          <p:cNvSpPr/>
          <p:nvPr/>
        </p:nvSpPr>
        <p:spPr>
          <a:xfrm>
            <a:off x="8260777" y="2468880"/>
            <a:ext cx="18346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expected utili">
            <a:extLst>
              <a:ext uri="{C183D7F6-B498-43B3-948B-1728B52AA6E4}">
                <adec:decorative xmlns:adec="http://schemas.microsoft.com/office/drawing/2017/decorative" val="1"/>
              </a:ext>
            </a:extLst>
          </p:cNvPr>
          <p:cNvSpPr/>
          <p:nvPr/>
        </p:nvSpPr>
        <p:spPr>
          <a:xfrm>
            <a:off x="838879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expected utili"/>
          <p:cNvSpPr txBox="1"/>
          <p:nvPr/>
        </p:nvSpPr>
        <p:spPr>
          <a:xfrm>
            <a:off x="8553385" y="2584704"/>
            <a:ext cx="165172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expected utility</a:t>
            </a:r>
          </a:p>
        </p:txBody>
      </p:sp>
      <p:sp>
        <p:nvSpPr>
          <p:cNvPr id="40" name="!!term-maximum expect">
            <a:extLst>
              <a:ext uri="{C183D7F6-B498-43B3-948B-1728B52AA6E4}">
                <adec:decorative xmlns:adec="http://schemas.microsoft.com/office/drawing/2017/decorative" val="1"/>
              </a:ext>
            </a:extLst>
          </p:cNvPr>
          <p:cNvSpPr/>
          <p:nvPr/>
        </p:nvSpPr>
        <p:spPr>
          <a:xfrm>
            <a:off x="658368" y="3090672"/>
            <a:ext cx="27948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maximum expect">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maximum expect"/>
          <p:cNvSpPr txBox="1"/>
          <p:nvPr/>
        </p:nvSpPr>
        <p:spPr>
          <a:xfrm>
            <a:off x="950976" y="3206496"/>
            <a:ext cx="261197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maximum expected utility</a:t>
            </a:r>
          </a:p>
        </p:txBody>
      </p:sp>
      <p:sp>
        <p:nvSpPr>
          <p:cNvPr id="43" name="!!term-decision table">
            <a:extLst>
              <a:ext uri="{C183D7F6-B498-43B3-948B-1728B52AA6E4}">
                <adec:decorative xmlns:adec="http://schemas.microsoft.com/office/drawing/2017/decorative" val="1"/>
              </a:ext>
            </a:extLst>
          </p:cNvPr>
          <p:cNvSpPr/>
          <p:nvPr/>
        </p:nvSpPr>
        <p:spPr>
          <a:xfrm>
            <a:off x="3599527" y="3090672"/>
            <a:ext cx="17050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decision table">
            <a:extLst>
              <a:ext uri="{C183D7F6-B498-43B3-948B-1728B52AA6E4}">
                <adec:decorative xmlns:adec="http://schemas.microsoft.com/office/drawing/2017/decorative" val="1"/>
              </a:ext>
            </a:extLst>
          </p:cNvPr>
          <p:cNvSpPr/>
          <p:nvPr/>
        </p:nvSpPr>
        <p:spPr>
          <a:xfrm>
            <a:off x="372754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decision table"/>
          <p:cNvSpPr txBox="1"/>
          <p:nvPr/>
        </p:nvSpPr>
        <p:spPr>
          <a:xfrm>
            <a:off x="3892135" y="3206496"/>
            <a:ext cx="152220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decision table</a:t>
            </a:r>
          </a:p>
        </p:txBody>
      </p:sp>
      <p:sp>
        <p:nvSpPr>
          <p:cNvPr id="46" name="!!term-value of perfe">
            <a:extLst>
              <a:ext uri="{C183D7F6-B498-43B3-948B-1728B52AA6E4}">
                <adec:decorative xmlns:adec="http://schemas.microsoft.com/office/drawing/2017/decorative" val="1"/>
              </a:ext>
            </a:extLst>
          </p:cNvPr>
          <p:cNvSpPr/>
          <p:nvPr/>
        </p:nvSpPr>
        <p:spPr>
          <a:xfrm>
            <a:off x="5450919" y="3090672"/>
            <a:ext cx="29869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value of perfe">
            <a:extLst>
              <a:ext uri="{C183D7F6-B498-43B3-948B-1728B52AA6E4}">
                <adec:decorative xmlns:adec="http://schemas.microsoft.com/office/drawing/2017/decorative" val="1"/>
              </a:ext>
            </a:extLst>
          </p:cNvPr>
          <p:cNvSpPr/>
          <p:nvPr/>
        </p:nvSpPr>
        <p:spPr>
          <a:xfrm>
            <a:off x="557893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value of perfe"/>
          <p:cNvSpPr txBox="1"/>
          <p:nvPr/>
        </p:nvSpPr>
        <p:spPr>
          <a:xfrm>
            <a:off x="5743527" y="3206496"/>
            <a:ext cx="280407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value of perfect information</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92012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146–155     </a:t>
            </a:r>
            <a:fld id="{B5D83DD0-FD5F-42F5-A366-32A0FFD0081B}" type="slidenum">
              <a:rPr lang="en-GB" sz="1000">
                <a:solidFill>
                  <a:srgbClr val="8795A1"/>
                </a:solidFill>
                <a:latin typeface="Segoe UI"/>
              </a:rPr>
              <a:t>5</a:t>
            </a:fld>
          </a:p>
        </p:txBody>
      </p:sp>
      <p:sp>
        <p:nvSpPr>
          <p:cNvPr id="7" name="!!ag0" descr="Go to section 14.1 What Logic Cannot Say">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What Logic Cannot Say</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146  ›</a:t>
            </a:r>
          </a:p>
        </p:txBody>
      </p:sp>
      <p:sp>
        <p:nvSpPr>
          <p:cNvPr id="12" name="!!ag1" descr="Go to section 14.2 Bayes’ Rul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Bayes’ Rule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147  ›</a:t>
            </a:r>
          </a:p>
        </p:txBody>
      </p:sp>
      <p:sp>
        <p:nvSpPr>
          <p:cNvPr id="17" name="!!ag2" descr="Go to section 14.3 Conditional Independence">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Conditional Independence</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148  ›</a:t>
            </a:r>
          </a:p>
        </p:txBody>
      </p:sp>
      <p:sp>
        <p:nvSpPr>
          <p:cNvPr id="22" name="!!ag3" descr="Go to section 14.4 From Belief to Decision">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From Belief to Decision</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148  ›</a:t>
            </a:r>
          </a:p>
        </p:txBody>
      </p:sp>
      <p:sp>
        <p:nvSpPr>
          <p:cNvPr id="27" name="!!ag4" descr="Go to section 14.5 A Change of Belief Is Not a Change of Decis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Change of Belief Is Not a Change of Decision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149  ›</a:t>
            </a:r>
          </a:p>
        </p:txBody>
      </p:sp>
      <p:sp>
        <p:nvSpPr>
          <p:cNvPr id="32" name="!!ag5" descr="Go to section 14.6 The Value of Information">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14.6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Value of Information</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149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15015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Probability as degree of belief</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§14.1  ·  Handout p. 146     </a:t>
            </a:r>
            <a:fld id="{BD4ECDD1-ABA4-465B-B289-AC1C0E565A26}"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94743"/>
          </a:xfrm>
          <a:prstGeom prst="roundRect">
            <a:avLst>
              <a:gd name="adj" fmla="val 208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9474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[0,1]</a:t>
            </a:r>
            <a:r>
              <a:rPr sz="2300" b="0" i="0">
                <a:solidFill>
                  <a:srgbClr val="1C252B"/>
                </a:solidFill>
                <a:latin typeface="Segoe UI"/>
              </a:rPr>
              <a:t> is an agent’s </a:t>
            </a:r>
            <a:r>
              <a:rPr sz="2300" b="1" i="0">
                <a:solidFill>
                  <a:srgbClr val="1A5276"/>
                </a:solidFill>
                <a:latin typeface="Segoe UI"/>
              </a:rPr>
              <a:t>degree of belief</a:t>
            </a:r>
            <a:r>
              <a:rPr sz="2300" b="0" i="0">
                <a:solidFill>
                  <a:srgbClr val="1C252B"/>
                </a:solidFill>
                <a:latin typeface="Segoe UI"/>
              </a:rPr>
              <a:t> in proposition </a:t>
            </a:r>
            <a:r>
              <a:rPr sz="2300" b="0" i="1">
                <a:solidFill>
                  <a:srgbClr val="1C252B"/>
                </a:solidFill>
                <a:latin typeface="Cambria"/>
              </a:rPr>
              <a:t>a</a:t>
            </a:r>
            <a:r>
              <a:rPr sz="2300" b="0" i="0">
                <a:solidFill>
                  <a:srgbClr val="1C252B"/>
                </a:solidFill>
                <a:latin typeface="Segoe UI"/>
              </a:rPr>
              <a:t> given what it knows — not a claim about long-run frequency, and not a property of the world.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defect</a:t>
            </a:r>
            <a:r>
              <a:rPr sz="2300" b="0" i="0">
                <a:solidFill>
                  <a:srgbClr val="1C252B"/>
                </a:solidFill>
                <a:latin typeface="Cambria"/>
              </a:rPr>
              <a:t>) = 0.1</a:t>
            </a:r>
            <a:r>
              <a:rPr sz="2300" b="0" i="0">
                <a:solidFill>
                  <a:srgbClr val="1C252B"/>
                </a:solidFill>
                <a:latin typeface="Segoe UI"/>
              </a:rPr>
              <a:t> says this agent, with this evidence, would accept either side of a bet at those odds.</a:t>
            </a:r>
          </a:p>
        </p:txBody>
      </p:sp>
      <p:sp>
        <p:nvSpPr>
          <p:cNvPr id="10" name="body-1"/>
          <p:cNvSpPr txBox="1"/>
          <p:nvPr/>
        </p:nvSpPr>
        <p:spPr>
          <a:xfrm>
            <a:off x="1060704" y="3667074"/>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prior</a:t>
            </a:r>
            <a:r>
              <a:rPr sz="2300" b="0" i="0">
                <a:solidFill>
                  <a:srgbClr val="1C252B"/>
                </a:solidFill>
                <a:latin typeface="Segoe UI"/>
              </a:rPr>
              <a: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is the belief before evidence; a </a:t>
            </a:r>
            <a:r>
              <a:rPr sz="2300" b="1" i="0">
                <a:solidFill>
                  <a:srgbClr val="1A5276"/>
                </a:solidFill>
                <a:latin typeface="Segoe UI"/>
              </a:rPr>
              <a:t>posterior</a:t>
            </a:r>
            <a:r>
              <a:rPr sz="2300" b="0" i="0">
                <a:solidFill>
                  <a:srgbClr val="1C252B"/>
                </a:solidFill>
                <a:latin typeface="Segoe UI"/>
              </a:rPr>
              <a: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a:t>
            </a:r>
            <a:r>
              <a:rPr sz="2300" b="0" i="0">
                <a:solidFill>
                  <a:srgbClr val="1C252B"/>
                </a:solidFill>
                <a:latin typeface="Segoe UI"/>
              </a:rPr>
              <a:t> the belief after. The definition of conditional probability,</a:t>
            </a:r>
          </a:p>
        </p:txBody>
      </p:sp>
      <p:pic>
        <p:nvPicPr>
          <p:cNvPr id="11" name="body-2" descr="P(a \mid b) \;=\; \frac{P(a \wedge b)}{P(b)},"/>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556810"/>
            <a:ext cx="10161727" cy="739200"/>
          </a:xfrm>
          <a:prstGeom prst="rect">
            <a:avLst/>
          </a:prstGeom>
        </p:spPr>
      </p:pic>
      <p:sp>
        <p:nvSpPr>
          <p:cNvPr id="12" name="body-3"/>
          <p:cNvSpPr txBox="1"/>
          <p:nvPr/>
        </p:nvSpPr>
        <p:spPr>
          <a:xfrm>
            <a:off x="1060704" y="5456666"/>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is the whole apparatus, and everything else in this chapter follows from it.</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38019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Bayes’ Rule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What Logic Cannot Say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14.2   Bayes’ Rule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Conditional Independence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From Belief to Decision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A Change of Belief Is Not a Change of Decision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14.6   The Value of Information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§14.2     </a:t>
            </a:r>
            <a:fld id="{C46FF2C0-FFD1-4AFF-994F-D70E391028FD}"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61022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Bayes’ Rule</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147     </a:t>
            </a:r>
            <a:fld id="{2F5F873B-7B7E-40A0-B8D4-8185EA62036D}"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86188"/>
          </a:xfrm>
          <a:prstGeom prst="roundRect">
            <a:avLst>
              <a:gd name="adj" fmla="val 4847"/>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861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Rearranging the definition gives the tool:</a:t>
            </a:r>
          </a:p>
        </p:txBody>
      </p:sp>
      <p:pic>
        <p:nvPicPr>
          <p:cNvPr id="10" name="body-1" descr="P(a \mid b) \;=\; \frac{P(b \mid a)\, P(a)}{P(b)}"/>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739200"/>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84025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smoke test</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147     </a:t>
            </a:r>
            <a:fld id="{54FDADC9-C460-445A-B9E8-05DC3D4B4582}"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816"/>
          </a:xfrm>
          <a:prstGeom prst="roundRect">
            <a:avLst>
              <a:gd name="adj" fmla="val 2741"/>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81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team’s smoke test is a good test:</a:t>
            </a:r>
          </a:p>
        </p:txBody>
      </p:sp>
      <p:sp>
        <p:nvSpPr>
          <p:cNvPr id="10" name="body-1"/>
          <p:cNvSpPr txBox="1"/>
          <p:nvPr/>
        </p:nvSpPr>
        <p:spPr>
          <a:xfrm>
            <a:off x="1060704" y="2573451"/>
            <a:ext cx="10161727" cy="1708353"/>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E8449"/>
                </a:solidFill>
                <a:latin typeface="Segoe UI"/>
              </a:rPr>
              <a:t>•	</a:t>
            </a:r>
            <a:r>
              <a:rPr sz="2300" b="0" i="0">
                <a:solidFill>
                  <a:srgbClr val="1C252B"/>
                </a:solidFill>
                <a:latin typeface="Segoe UI"/>
              </a:rPr>
              <a:t>It fires on </a:t>
            </a:r>
            <a:r>
              <a:rPr sz="2300" b="0" i="0">
                <a:solidFill>
                  <a:srgbClr val="1C252B"/>
                </a:solidFill>
                <a:latin typeface="Cambria"/>
              </a:rPr>
              <a:t>90%</a:t>
            </a:r>
            <a:r>
              <a:rPr sz="2300" b="0" i="0">
                <a:solidFill>
                  <a:srgbClr val="1C252B"/>
                </a:solidFill>
                <a:latin typeface="Segoe UI"/>
              </a:rPr>
              <a:t> of releases that really do have a serious defect: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alarm</a:t>
            </a:r>
            <a:r>
              <a:rPr sz="2300" b="0" i="0">
                <a:solidFill>
                  <a:srgbClr val="1C252B"/>
                </a:solidFill>
                <a:latin typeface="Cambria"/>
              </a:rPr>
              <a:t> ∣ </a:t>
            </a:r>
            <a:r>
              <a:rPr sz="2300" b="0" i="1">
                <a:solidFill>
                  <a:srgbClr val="1C252B"/>
                </a:solidFill>
                <a:latin typeface="Cambria"/>
              </a:rPr>
              <a:t>defect</a:t>
            </a:r>
            <a:r>
              <a:rPr sz="2300" b="0" i="0">
                <a:solidFill>
                  <a:srgbClr val="1C252B"/>
                </a:solidFill>
                <a:latin typeface="Cambria"/>
              </a:rPr>
              <a:t>) = 0.9</a:t>
            </a:r>
            <a:r>
              <a:rPr sz="2300" b="0" i="0">
                <a:solidFill>
                  <a:srgbClr val="1C252B"/>
                </a:solidFill>
                <a:latin typeface="Segoe UI"/>
              </a:rPr>
              <a:t>.</a:t>
            </a:r>
          </a:p>
          <a:p>
            <a:pPr algn="l" marL="257176" indent="-257176">
              <a:lnSpc>
                <a:spcPct val="104000"/>
              </a:lnSpc>
              <a:spcBef>
                <a:spcPts val="0"/>
              </a:spcBef>
              <a:spcAft>
                <a:spcPts val="804"/>
              </a:spcAft>
            </a:pPr>
            <a:r>
              <a:rPr sz="2300" b="1">
                <a:solidFill>
                  <a:srgbClr val="1E8449"/>
                </a:solidFill>
                <a:latin typeface="Segoe UI"/>
              </a:rPr>
              <a:t>•	</a:t>
            </a:r>
            <a:r>
              <a:rPr sz="2300" b="0" i="0">
                <a:solidFill>
                  <a:srgbClr val="1C252B"/>
                </a:solidFill>
                <a:latin typeface="Segoe UI"/>
              </a:rPr>
              <a:t>It fires on </a:t>
            </a:r>
            <a:r>
              <a:rPr sz="2300" b="0" i="0">
                <a:solidFill>
                  <a:srgbClr val="1C252B"/>
                </a:solidFill>
                <a:latin typeface="Cambria"/>
              </a:rPr>
              <a:t>20%</a:t>
            </a:r>
            <a:r>
              <a:rPr sz="2300" b="0" i="0">
                <a:solidFill>
                  <a:srgbClr val="1C252B"/>
                </a:solidFill>
                <a:latin typeface="Segoe UI"/>
              </a:rPr>
              <a:t> of releases that do not: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alarm</a:t>
            </a:r>
            <a:r>
              <a:rPr sz="2300" b="0" i="0">
                <a:solidFill>
                  <a:srgbClr val="1C252B"/>
                </a:solidFill>
                <a:latin typeface="Cambria"/>
              </a:rPr>
              <a:t> ∣ ¬</a:t>
            </a:r>
            <a:r>
              <a:rPr sz="2300" b="0" i="1">
                <a:solidFill>
                  <a:srgbClr val="1C252B"/>
                </a:solidFill>
                <a:latin typeface="Cambria"/>
              </a:rPr>
              <a:t>defect</a:t>
            </a:r>
            <a:r>
              <a:rPr sz="2300" b="0" i="0">
                <a:solidFill>
                  <a:srgbClr val="1C252B"/>
                </a:solidFill>
                <a:latin typeface="Cambria"/>
              </a:rPr>
              <a:t>) = 0.2</a:t>
            </a:r>
            <a:r>
              <a:rPr sz="2300" b="0" i="0">
                <a:solidFill>
                  <a:srgbClr val="1C252B"/>
                </a:solidFill>
                <a:latin typeface="Segoe UI"/>
              </a:rPr>
              <a:t>.</a:t>
            </a:r>
          </a:p>
          <a:p>
            <a:pPr algn="l" marL="257176" indent="-257176">
              <a:lnSpc>
                <a:spcPct val="104000"/>
              </a:lnSpc>
              <a:spcBef>
                <a:spcPts val="0"/>
              </a:spcBef>
              <a:spcAft>
                <a:spcPts val="0"/>
              </a:spcAft>
            </a:pPr>
            <a:r>
              <a:rPr sz="2300" b="1">
                <a:solidFill>
                  <a:srgbClr val="1E8449"/>
                </a:solidFill>
                <a:latin typeface="Segoe UI"/>
              </a:rPr>
              <a:t>•	</a:t>
            </a:r>
            <a:r>
              <a:rPr sz="2300" b="0" i="0">
                <a:solidFill>
                  <a:srgbClr val="1C252B"/>
                </a:solidFill>
                <a:latin typeface="Segoe UI"/>
              </a:rPr>
              <a:t>Historically one release in ten has a serious defect: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defect</a:t>
            </a:r>
            <a:r>
              <a:rPr sz="2300" b="0" i="0">
                <a:solidFill>
                  <a:srgbClr val="1C252B"/>
                </a:solidFill>
                <a:latin typeface="Cambria"/>
              </a:rPr>
              <a:t>) = 0.1</a:t>
            </a:r>
            <a:r>
              <a:rPr sz="2300" b="0" i="0">
                <a:solidFill>
                  <a:srgbClr val="1C252B"/>
                </a:solidFill>
                <a:latin typeface="Segoe UI"/>
              </a:rPr>
              <a:t>.</a:t>
            </a:r>
          </a:p>
        </p:txBody>
      </p:sp>
      <p:sp>
        <p:nvSpPr>
          <p:cNvPr id="11" name="body-2"/>
          <p:cNvSpPr txBox="1"/>
          <p:nvPr/>
        </p:nvSpPr>
        <p:spPr>
          <a:xfrm>
            <a:off x="1060704" y="4396739"/>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test has just fired. How worried should you be?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07028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calculation as Bayes’ rule, in whole releases rather than fractions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14.1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§14.2  ·  Handout p. 147     </a:t>
            </a:r>
            <a:fld id="{A2ABCD66-3C3E-4D7A-95A2-A80055905690}" type="slidenum">
              <a:rPr lang="en-GB" sz="1000">
                <a:solidFill>
                  <a:srgbClr val="8795A1"/>
                </a:solidFill>
                <a:latin typeface="Segoe UI"/>
              </a:rPr>
              <a:t>10</a:t>
            </a:fld>
          </a:p>
        </p:txBody>
      </p:sp>
      <p:pic>
        <p:nvPicPr>
          <p:cNvPr id="6" name="!!figure" descr="Figure 14.1. The same calculation as Bayes’ rule, in whole releases rather than fractions. Natural frequencies make the base-rate effect visible, which is why this is the form to use when explaining a result to a team."/>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92598" y="1737360"/>
            <a:ext cx="760649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Natural frequencies make the base-rate effect visible, which is why this is the form to use when explaining a result to a team.</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30031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Conditional independence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§14.3  ·  Handout p. 148     </a:t>
            </a:r>
            <a:fld id="{FD9E337D-7428-44E2-A5F7-B343B8BA6282}"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29550"/>
          </a:xfrm>
          <a:prstGeom prst="roundRect">
            <a:avLst>
              <a:gd name="adj" fmla="val 376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29550"/>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a</a:t>
            </a:r>
            <a:r>
              <a:rPr sz="2300" b="0" i="0">
                <a:solidFill>
                  <a:srgbClr val="1C252B"/>
                </a:solidFill>
                <a:latin typeface="Segoe UI"/>
              </a:rPr>
              <a:t> and </a:t>
            </a:r>
            <a:r>
              <a:rPr sz="2300" b="0" i="1">
                <a:solidFill>
                  <a:srgbClr val="1C252B"/>
                </a:solidFill>
                <a:latin typeface="Cambria"/>
              </a:rPr>
              <a:t>b</a:t>
            </a:r>
            <a:r>
              <a:rPr sz="2300" b="0" i="0">
                <a:solidFill>
                  <a:srgbClr val="1C252B"/>
                </a:solidFill>
                <a:latin typeface="Segoe UI"/>
              </a:rPr>
              <a:t> are </a:t>
            </a:r>
            <a:r>
              <a:rPr sz="2300" b="1" i="0">
                <a:solidFill>
                  <a:srgbClr val="1A5276"/>
                </a:solidFill>
                <a:latin typeface="Segoe UI"/>
              </a:rPr>
              <a:t>conditionally independent given</a:t>
            </a:r>
            <a:r>
              <a:rPr sz="2300" b="0" i="0">
                <a:solidFill>
                  <a:srgbClr val="1C252B"/>
                </a:solidFill>
                <a:latin typeface="Segoe UI"/>
              </a:rPr>
              <a:t> </a:t>
            </a:r>
            <a:r>
              <a:rPr sz="2300" b="0" i="1">
                <a:solidFill>
                  <a:srgbClr val="1C252B"/>
                </a:solidFill>
                <a:latin typeface="Cambria"/>
              </a:rPr>
              <a:t>c</a:t>
            </a:r>
            <a:r>
              <a:rPr sz="2300" b="0" i="0">
                <a:solidFill>
                  <a:srgbClr val="1C252B"/>
                </a:solidFill>
                <a:latin typeface="Segoe UI"/>
              </a:rPr>
              <a:t> when</a:t>
            </a:r>
          </a:p>
        </p:txBody>
      </p:sp>
      <p:pic>
        <p:nvPicPr>
          <p:cNvPr id="10" name="body-1" descr="P(a \wedge b \mid c) \;=\; P(a \mid c)\, P(b \mid c)"/>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392826"/>
          </a:xfrm>
          <a:prstGeom prst="rect">
            <a:avLst/>
          </a:prstGeom>
        </p:spPr>
      </p:pic>
      <p:sp>
        <p:nvSpPr>
          <p:cNvPr id="11" name="body-2"/>
          <p:cNvSpPr txBox="1"/>
          <p:nvPr/>
        </p:nvSpPr>
        <p:spPr>
          <a:xfrm>
            <a:off x="1060704" y="3126933"/>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Equivalently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 ∧ </a:t>
            </a:r>
            <a:r>
              <a:rPr sz="2300" b="0" i="1">
                <a:solidFill>
                  <a:srgbClr val="1C252B"/>
                </a:solidFill>
                <a:latin typeface="Cambria"/>
              </a:rPr>
              <a:t>c</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c</a:t>
            </a:r>
            <a:r>
              <a:rPr sz="2300" b="0" i="0">
                <a:solidFill>
                  <a:srgbClr val="1C252B"/>
                </a:solidFill>
                <a:latin typeface="Cambria"/>
              </a:rPr>
              <a:t>)</a:t>
            </a:r>
            <a:r>
              <a:rPr sz="2300" b="0" i="0">
                <a:solidFill>
                  <a:srgbClr val="1C252B"/>
                </a:solidFill>
                <a:latin typeface="Segoe UI"/>
              </a:rPr>
              <a:t>: once </a:t>
            </a:r>
            <a:r>
              <a:rPr sz="2300" b="0" i="1">
                <a:solidFill>
                  <a:srgbClr val="1C252B"/>
                </a:solidFill>
                <a:latin typeface="Cambria"/>
              </a:rPr>
              <a:t>c</a:t>
            </a:r>
            <a:r>
              <a:rPr sz="2300" b="0" i="0">
                <a:solidFill>
                  <a:srgbClr val="1C252B"/>
                </a:solidFill>
                <a:latin typeface="Segoe UI"/>
              </a:rPr>
              <a:t> is known, </a:t>
            </a:r>
            <a:r>
              <a:rPr sz="2300" b="0" i="1">
                <a:solidFill>
                  <a:srgbClr val="1C252B"/>
                </a:solidFill>
                <a:latin typeface="Cambria"/>
              </a:rPr>
              <a:t>b</a:t>
            </a:r>
            <a:r>
              <a:rPr sz="2300" b="0" i="0">
                <a:solidFill>
                  <a:srgbClr val="1C252B"/>
                </a:solidFill>
                <a:latin typeface="Segoe UI"/>
              </a:rPr>
              <a:t> says nothing further about </a:t>
            </a:r>
            <a:r>
              <a:rPr sz="2300" b="0" i="1">
                <a:solidFill>
                  <a:srgbClr val="1C252B"/>
                </a:solidFill>
                <a:latin typeface="Cambria"/>
              </a:rPr>
              <a:t>a</a:t>
            </a:r>
            <a:r>
              <a:rPr sz="23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53035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From Belief to Decision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What Logic Cannot Say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Bayes’ Rule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Conditional Independence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14.4   From Belief to Decision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A Change of Belief Is Not a Change of Decision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14.6   The Value of Information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§14.4     </a:t>
            </a:r>
            <a:fld id="{711BBE3A-C270-4FD3-A194-8AC8032D8B4E}" type="slidenum">
              <a:rPr lang="en-GB" sz="1000">
                <a:solidFill>
                  <a:srgbClr val="8795A1"/>
                </a:solidFill>
                <a:latin typeface="Segoe UI"/>
              </a:rPr>
              <a:t>12</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76038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Expected utility and the principle of maximum expected utility</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148     </a:t>
            </a:r>
            <a:fld id="{C2C3924F-4D51-4532-9400-906AAEF0244A}"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93409"/>
          </a:xfrm>
          <a:prstGeom prst="roundRect">
            <a:avLst>
              <a:gd name="adj" fmla="val 286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9340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utility</a:t>
            </a:r>
            <a:r>
              <a:rPr sz="2300" b="0" i="0">
                <a:solidFill>
                  <a:srgbClr val="1C252B"/>
                </a:solidFill>
                <a:latin typeface="Segoe UI"/>
              </a:rPr>
              <a:t> </a:t>
            </a:r>
            <a:r>
              <a:rPr sz="2300" b="0" i="1">
                <a:solidFill>
                  <a:srgbClr val="1C252B"/>
                </a:solidFill>
                <a:latin typeface="Cambria"/>
              </a:rPr>
              <a:t>U</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is a number expressing how much outcome </a:t>
            </a:r>
            <a:r>
              <a:rPr sz="2300" b="0" i="1">
                <a:solidFill>
                  <a:srgbClr val="1C252B"/>
                </a:solidFill>
                <a:latin typeface="Cambria"/>
              </a:rPr>
              <a:t>s</a:t>
            </a:r>
            <a:r>
              <a:rPr sz="2300" b="0" i="0">
                <a:solidFill>
                  <a:srgbClr val="1C252B"/>
                </a:solidFill>
                <a:latin typeface="Segoe UI"/>
              </a:rPr>
              <a:t> is worth. The </a:t>
            </a:r>
            <a:r>
              <a:rPr sz="2300" b="1" i="0">
                <a:solidFill>
                  <a:srgbClr val="1A5276"/>
                </a:solidFill>
                <a:latin typeface="Segoe UI"/>
              </a:rPr>
              <a:t>expected utility</a:t>
            </a:r>
            <a:r>
              <a:rPr sz="2300" b="0" i="0">
                <a:solidFill>
                  <a:srgbClr val="1C252B"/>
                </a:solidFill>
                <a:latin typeface="Segoe UI"/>
              </a:rPr>
              <a:t> of action </a:t>
            </a:r>
            <a:r>
              <a:rPr sz="2300" b="0" i="1">
                <a:solidFill>
                  <a:srgbClr val="1C252B"/>
                </a:solidFill>
                <a:latin typeface="Cambria"/>
              </a:rPr>
              <a:t>a</a:t>
            </a:r>
            <a:r>
              <a:rPr sz="2300" b="0" i="0">
                <a:solidFill>
                  <a:srgbClr val="1C252B"/>
                </a:solidFill>
                <a:latin typeface="Segoe UI"/>
              </a:rPr>
              <a:t> is</a:t>
            </a:r>
          </a:p>
        </p:txBody>
      </p:sp>
      <p:pic>
        <p:nvPicPr>
          <p:cNvPr id="10" name="body-1" descr="\mathrm{EU}(a) \;=\; \sum_{s} P(s \mid a)\, U(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792144"/>
          </a:xfrm>
          <a:prstGeom prst="rect">
            <a:avLst/>
          </a:prstGeom>
        </p:spPr>
      </p:pic>
      <p:sp>
        <p:nvSpPr>
          <p:cNvPr id="11" name="body-2"/>
          <p:cNvSpPr txBox="1"/>
          <p:nvPr/>
        </p:nvSpPr>
        <p:spPr>
          <a:xfrm>
            <a:off x="1060704" y="3890792"/>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and a rational agent chooses </a:t>
            </a:r>
            <a:r>
              <a:rPr sz="2300" b="0" i="1">
                <a:solidFill>
                  <a:srgbClr val="1C252B"/>
                </a:solidFill>
                <a:latin typeface="Cambria"/>
              </a:rPr>
              <a:t>a</a:t>
            </a:r>
            <a:r>
              <a:rPr sz="1500" b="0" i="0" baseline="30000">
                <a:solidFill>
                  <a:srgbClr val="1C252B"/>
                </a:solidFill>
                <a:latin typeface="Cambria"/>
              </a:rPr>
              <a:t>∗</a:t>
            </a:r>
            <a:r>
              <a:rPr sz="2300" b="0" i="0">
                <a:solidFill>
                  <a:srgbClr val="1C252B"/>
                </a:solidFill>
                <a:latin typeface="Cambria"/>
              </a:rPr>
              <a:t> = argmax</a:t>
            </a:r>
            <a:r>
              <a:rPr sz="1500" b="0" i="1" baseline="-25000">
                <a:solidFill>
                  <a:srgbClr val="1C252B"/>
                </a:solidFill>
                <a:latin typeface="Cambria"/>
              </a:rPr>
              <a:t>a</a:t>
            </a:r>
            <a:r>
              <a:rPr sz="2300" b="0" i="0">
                <a:solidFill>
                  <a:srgbClr val="1C252B"/>
                </a:solidFill>
                <a:latin typeface="Cambria"/>
              </a:rPr>
              <a:t> </a:t>
            </a:r>
            <a:r>
              <a:rPr sz="2300" b="0" i="0">
                <a:solidFill>
                  <a:srgbClr val="1C252B"/>
                </a:solidFill>
                <a:latin typeface="Segoe UI"/>
              </a:rPr>
              <a:t>EU</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This is the precise form of the definition of rationality given informally in Chapter 2.</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99041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Ship now or delay a week</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148     </a:t>
            </a:r>
            <a:fld id="{72E9D5A6-7214-432F-8642-E5465CBC8CD0}"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4836"/>
          </a:xfrm>
          <a:prstGeom prst="roundRect">
            <a:avLst>
              <a:gd name="adj" fmla="val 2474"/>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483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Four outcomes, with the team’s own numbers:</a:t>
            </a:r>
          </a:p>
        </p:txBody>
      </p:sp>
      <p:graphicFrame>
        <p:nvGraphicFramePr>
          <p:cNvPr id="10" name="body-1"/>
          <p:cNvGraphicFramePr>
            <a:graphicFrameLocks noGrp="1"/>
          </p:cNvGraphicFramePr>
          <p:nvPr/>
        </p:nvGraphicFramePr>
        <p:xfrm>
          <a:off x="1060704" y="2573451"/>
          <a:ext cx="10161726" cy="1658110"/>
        </p:xfrm>
        <a:graphic>
          <a:graphicData uri="http://schemas.openxmlformats.org/drawingml/2006/table">
            <a:tbl>
              <a:tblPr firstRow="0" bandRow="0" firstCol="0" lastRow="0" lastCol="0" bandCol="0">
                <a:tableStyleId>{2D5ABB26-0587-4C30-8999-92F81FD0307C}</a:tableStyleId>
              </a:tblPr>
              <a:tblGrid>
                <a:gridCol w="2576212"/>
                <a:gridCol w="3291827"/>
                <a:gridCol w="4293687"/>
              </a:tblGrid>
              <a:tr h="451103">
                <a:tc>
                  <a:txBody>
                    <a:bodyPr wrap="square"/>
                    <a:lstStyle/>
                    <a:p>
                      <a:pPr algn="l"/>
                      <a:r>
                        <a:rPr sz="2000" b="1" i="0">
                          <a:solidFill>
                            <a:srgbClr val="1A5276"/>
                          </a:solidFill>
                          <a:latin typeface="Segoe UI"/>
                        </a:rPr>
                        <a:t>Action</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If there is a defect</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If there is not</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755904">
                <a:tc>
                  <a:txBody>
                    <a:bodyPr wrap="square"/>
                    <a:lstStyle/>
                    <a:p>
                      <a:pPr algn="l"/>
                      <a:r>
                        <a:rPr sz="2000" b="0" i="0">
                          <a:solidFill>
                            <a:srgbClr val="1C252B"/>
                          </a:solidFill>
                          <a:latin typeface="Segoe UI"/>
                        </a:rPr>
                        <a:t>Ship now</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Cambria"/>
                        </a:rPr>
                        <a:t>−100</a:t>
                      </a:r>
                      <a:r>
                        <a:rPr sz="2000" b="0" i="0">
                          <a:solidFill>
                            <a:srgbClr val="1C252B"/>
                          </a:solidFill>
                          <a:latin typeface="Segoe UI"/>
                        </a:rPr>
                        <a:t> incident, rollback, reputation</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Cambria"/>
                        </a:rPr>
                        <a:t>+40</a:t>
                      </a:r>
                      <a:r>
                        <a:rPr sz="2000" b="0" i="0">
                          <a:solidFill>
                            <a:srgbClr val="1C252B"/>
                          </a:solidFill>
                          <a:latin typeface="Segoe UI"/>
                        </a:rPr>
                        <a:t> a week of revenue earned early</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2000" b="0" i="0">
                          <a:solidFill>
                            <a:srgbClr val="1C252B"/>
                          </a:solidFill>
                          <a:latin typeface="Segoe UI"/>
                        </a:rPr>
                        <a:t>Delay a week</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2000" b="0" i="0">
                          <a:solidFill>
                            <a:srgbClr val="1C252B"/>
                          </a:solidFill>
                          <a:latin typeface="Cambria"/>
                        </a:rPr>
                        <a:t>−5</a:t>
                      </a:r>
                      <a:r>
                        <a:rPr sz="2000" b="0" i="0">
                          <a:solidFill>
                            <a:srgbClr val="1C252B"/>
                          </a:solidFill>
                          <a:latin typeface="Segoe UI"/>
                        </a:rPr>
                        <a:t> caught it; a small slip</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2000" b="0" i="0">
                          <a:solidFill>
                            <a:srgbClr val="1C252B"/>
                          </a:solidFill>
                          <a:latin typeface="Cambria"/>
                        </a:rPr>
                        <a:t>−10</a:t>
                      </a:r>
                      <a:r>
                        <a:rPr sz="2000" b="0" i="0">
                          <a:solidFill>
                            <a:srgbClr val="1C252B"/>
                          </a:solidFill>
                          <a:latin typeface="Segoe UI"/>
                        </a:rPr>
                        <a:t> a week lost for nothing</a:t>
                      </a:r>
                      <a:endParaRPr sz="20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60704" y="4392218"/>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Note that delaying is never </a:t>
            </a:r>
            <a:r>
              <a:rPr sz="2300" b="0" i="1">
                <a:solidFill>
                  <a:srgbClr val="1C252B"/>
                </a:solidFill>
                <a:latin typeface="Segoe UI"/>
              </a:rPr>
              <a:t>good</a:t>
            </a:r>
            <a:r>
              <a:rPr sz="2300" b="0" i="0">
                <a:solidFill>
                  <a:srgbClr val="1C252B"/>
                </a:solidFill>
                <a:latin typeface="Segoe UI"/>
              </a:rPr>
              <a:t> — both its outcomes are negative. It is insurance, and insurance always costs something.</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22044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Belief to Decision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148     </a:t>
            </a:r>
            <a:fld id="{019BF2A1-D84C-4FB8-9A7C-C4975733EA17}"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70679"/>
          </a:xfrm>
          <a:prstGeom prst="roundRect">
            <a:avLst>
              <a:gd name="adj" fmla="val 4640"/>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70679"/>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t>
            </a:r>
            <a:r>
              <a:rPr sz="2300" b="0" i="1">
                <a:solidFill>
                  <a:srgbClr val="1C252B"/>
                </a:solidFill>
                <a:latin typeface="Cambria"/>
              </a:rPr>
              <a:t>p</a:t>
            </a:r>
            <a:r>
              <a:rPr sz="2300" b="0" i="0">
                <a:solidFill>
                  <a:srgbClr val="1C252B"/>
                </a:solidFill>
                <a:latin typeface="Cambria"/>
              </a:rPr>
              <a:t> = </a:t>
            </a:r>
            <a:r>
              <a:rPr sz="2300" b="0" i="1">
                <a:solidFill>
                  <a:srgbClr val="1C252B"/>
                </a:solidFill>
                <a:latin typeface="Cambria"/>
              </a:rPr>
              <a:t>P</a:t>
            </a:r>
            <a:r>
              <a:rPr sz="2300" b="0" i="0">
                <a:solidFill>
                  <a:srgbClr val="1C252B"/>
                </a:solidFill>
                <a:latin typeface="Cambria"/>
              </a:rPr>
              <a:t>(</a:t>
            </a:r>
            <a:r>
              <a:rPr sz="2300" b="0" i="1">
                <a:solidFill>
                  <a:srgbClr val="1C252B"/>
                </a:solidFill>
                <a:latin typeface="Cambria"/>
              </a:rPr>
              <a:t>defect</a:t>
            </a:r>
            <a:r>
              <a:rPr sz="2300" b="0" i="0">
                <a:solidFill>
                  <a:srgbClr val="1C252B"/>
                </a:solidFill>
                <a:latin typeface="Cambria"/>
              </a:rPr>
              <a:t>)</a:t>
            </a:r>
            <a:r>
              <a:rPr sz="2300" b="0" i="0">
                <a:solidFill>
                  <a:srgbClr val="1C252B"/>
                </a:solidFill>
                <a:latin typeface="Segoe UI"/>
              </a:rPr>
              <a:t>:</a:t>
            </a:r>
          </a:p>
        </p:txBody>
      </p:sp>
      <p:pic>
        <p:nvPicPr>
          <p:cNvPr id="10" name="body-1" descr="\begin{aligned}\mathrm{EU}(\text{ship}) &amp;= -100p + 40(1-p) = 40 - 140p \\ \mathrm{EU}(\text{delay}) &amp;= -5p - 10(1-p) = 5p - 10\end{aligned}"/>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823691"/>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45047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Belief to Decision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148     </a:t>
            </a:r>
            <a:fld id="{096C8121-42EB-46A7-9C53-865EC646E7F1}"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17151"/>
          </a:xfrm>
          <a:prstGeom prst="roundRect">
            <a:avLst>
              <a:gd name="adj" fmla="val 503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17151"/>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They cross where </a:t>
            </a:r>
            <a:r>
              <a:rPr sz="2300" b="0" i="0">
                <a:solidFill>
                  <a:srgbClr val="1C252B"/>
                </a:solidFill>
                <a:latin typeface="Cambria"/>
              </a:rPr>
              <a:t>40 − 140</a:t>
            </a:r>
            <a:r>
              <a:rPr sz="2300" b="0" i="1">
                <a:solidFill>
                  <a:srgbClr val="1C252B"/>
                </a:solidFill>
                <a:latin typeface="Cambria"/>
              </a:rPr>
              <a:t>p</a:t>
            </a:r>
            <a:r>
              <a:rPr sz="2300" b="0" i="0">
                <a:solidFill>
                  <a:srgbClr val="1C252B"/>
                </a:solidFill>
                <a:latin typeface="Cambria"/>
              </a:rPr>
              <a:t> = 5</a:t>
            </a:r>
            <a:r>
              <a:rPr sz="2300" b="0" i="1">
                <a:solidFill>
                  <a:srgbClr val="1C252B"/>
                </a:solidFill>
                <a:latin typeface="Cambria"/>
              </a:rPr>
              <a:t>p</a:t>
            </a:r>
            <a:r>
              <a:rPr sz="2300" b="0" i="0">
                <a:solidFill>
                  <a:srgbClr val="1C252B"/>
                </a:solidFill>
                <a:latin typeface="Cambria"/>
              </a:rPr>
              <a:t> − 10</a:t>
            </a:r>
            <a:r>
              <a:rPr sz="2300" b="0" i="0">
                <a:solidFill>
                  <a:srgbClr val="1C252B"/>
                </a:solidFill>
                <a:latin typeface="Segoe UI"/>
              </a:rPr>
              <a:t>, that is at</a:t>
            </a:r>
          </a:p>
        </p:txBody>
      </p:sp>
      <p:pic>
        <p:nvPicPr>
          <p:cNvPr id="10" name="body-1" descr="p^{*} \;=\; \frac{50}{145} \;=\; \frac{10}{29} \;\approx\; 0.345"/>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670163"/>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68051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two expected utilities as the probability of a defect varies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14.2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§14.4  ·  Handout p. 148     </a:t>
            </a:r>
            <a:fld id="{D81EE6A0-34B1-4B8A-80C7-39B2773E6200}" type="slidenum">
              <a:rPr lang="en-GB" sz="1000">
                <a:solidFill>
                  <a:srgbClr val="8795A1"/>
                </a:solidFill>
                <a:latin typeface="Segoe UI"/>
              </a:rPr>
              <a:t>17</a:t>
            </a:fld>
          </a:p>
        </p:txBody>
      </p:sp>
      <p:pic>
        <p:nvPicPr>
          <p:cNvPr id="6" name="!!figure" descr="Figure 14.2. The two expected utilities as the probability of a defect varies. The alarm moves the belief a long way and leaves the decision alone, because 1/3 falls just short of the crossing at 10/29."/>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37234" y="1737360"/>
            <a:ext cx="8117226"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alarm moves the belief a long way and leaves the decision alone, because 1/3 falls just short of the crossing at 10/29.</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91054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Change of Belief Is Not a Change of Decision</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§14.5  ·  Handout p. 149     </a:t>
            </a:r>
            <a:fld id="{57617F9D-6F29-427C-A0E5-00DA068B8E54}" type="slidenum">
              <a:rPr lang="en-GB" sz="1000">
                <a:solidFill>
                  <a:srgbClr val="8795A1"/>
                </a:solidFill>
                <a:latin typeface="Segoe UI"/>
              </a:rPr>
              <a:t>18</a:t>
            </a:fld>
          </a:p>
        </p:txBody>
      </p:sp>
      <p:sp>
        <p:nvSpPr>
          <p:cNvPr id="7" name="!!stbar">
            <a:extLst>
              <a:ext uri="{C183D7F6-B498-43B3-948B-1728B52AA6E4}">
                <adec:decorative xmlns:adec="http://schemas.microsoft.com/office/drawing/2017/decorative" val="1"/>
              </a:ext>
            </a:extLst>
          </p:cNvPr>
          <p:cNvSpPr/>
          <p:nvPr/>
        </p:nvSpPr>
        <p:spPr>
          <a:xfrm>
            <a:off x="658368" y="1810512"/>
            <a:ext cx="73152" cy="3806850"/>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This is the chapter’s most useful idea, and Figure 14.2 contains it.</a:t>
            </a:r>
          </a:p>
        </p:txBody>
      </p:sp>
      <p:sp>
        <p:nvSpPr>
          <p:cNvPr id="9" name="body-1"/>
          <p:cNvSpPr txBox="1"/>
          <p:nvPr/>
        </p:nvSpPr>
        <p:spPr>
          <a:xfrm>
            <a:off x="1042415" y="2226081"/>
            <a:ext cx="1041775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alarm fires. Belief in a defect more than triples, from </a:t>
            </a:r>
            <a:r>
              <a:rPr sz="1900" b="0" i="0">
                <a:solidFill>
                  <a:srgbClr val="1C252B"/>
                </a:solidFill>
                <a:latin typeface="Cambria"/>
              </a:rPr>
              <a:t>0.1</a:t>
            </a:r>
            <a:r>
              <a:rPr sz="1900" b="0" i="0">
                <a:solidFill>
                  <a:srgbClr val="1C252B"/>
                </a:solidFill>
                <a:latin typeface="Segoe UI"/>
              </a:rPr>
              <a:t> to </a:t>
            </a:r>
            <a:r>
              <a:rPr sz="1900" b="0" i="0">
                <a:solidFill>
                  <a:srgbClr val="1C252B"/>
                </a:solidFill>
                <a:latin typeface="Cambria"/>
              </a:rPr>
              <a:t>1/3</a:t>
            </a:r>
            <a:r>
              <a:rPr sz="1900" b="0" i="0">
                <a:solidFill>
                  <a:srgbClr val="1C252B"/>
                </a:solidFill>
                <a:latin typeface="Segoe UI"/>
              </a:rPr>
              <a:t>. And the recommendation does not change: at </a:t>
            </a:r>
            <a:r>
              <a:rPr sz="1900" b="0" i="1">
                <a:solidFill>
                  <a:srgbClr val="1C252B"/>
                </a:solidFill>
                <a:latin typeface="Cambria"/>
              </a:rPr>
              <a:t>p</a:t>
            </a:r>
            <a:r>
              <a:rPr sz="1900" b="0" i="0">
                <a:solidFill>
                  <a:srgbClr val="1C252B"/>
                </a:solidFill>
                <a:latin typeface="Cambria"/>
              </a:rPr>
              <a:t> = 1/3</a:t>
            </a:r>
            <a:r>
              <a:rPr sz="1900" b="0" i="0">
                <a:solidFill>
                  <a:srgbClr val="1C252B"/>
                </a:solidFill>
                <a:latin typeface="Segoe UI"/>
              </a:rPr>
              <a:t>, EU</a:t>
            </a:r>
            <a:r>
              <a:rPr sz="1900" b="0" i="0">
                <a:solidFill>
                  <a:srgbClr val="1C252B"/>
                </a:solidFill>
                <a:latin typeface="Cambria"/>
              </a:rPr>
              <a:t>(</a:t>
            </a:r>
            <a:r>
              <a:rPr sz="1900" b="0" i="0">
                <a:solidFill>
                  <a:srgbClr val="1C252B"/>
                </a:solidFill>
                <a:latin typeface="Segoe UI"/>
              </a:rPr>
              <a:t>ship</a:t>
            </a:r>
            <a:r>
              <a:rPr sz="1900" b="0" i="0">
                <a:solidFill>
                  <a:srgbClr val="1C252B"/>
                </a:solidFill>
                <a:latin typeface="Cambria"/>
              </a:rPr>
              <a:t>) = −6.67</a:t>
            </a:r>
            <a:r>
              <a:rPr sz="1900" b="0" i="0">
                <a:solidFill>
                  <a:srgbClr val="1C252B"/>
                </a:solidFill>
                <a:latin typeface="Segoe UI"/>
              </a:rPr>
              <a:t> against EU</a:t>
            </a:r>
            <a:r>
              <a:rPr sz="1900" b="0" i="0">
                <a:solidFill>
                  <a:srgbClr val="1C252B"/>
                </a:solidFill>
                <a:latin typeface="Cambria"/>
              </a:rPr>
              <a:t>(</a:t>
            </a:r>
            <a:r>
              <a:rPr sz="1900" b="0" i="0">
                <a:solidFill>
                  <a:srgbClr val="1C252B"/>
                </a:solidFill>
                <a:latin typeface="Segoe UI"/>
              </a:rPr>
              <a:t>delay</a:t>
            </a:r>
            <a:r>
              <a:rPr sz="1900" b="0" i="0">
                <a:solidFill>
                  <a:srgbClr val="1C252B"/>
                </a:solidFill>
                <a:latin typeface="Cambria"/>
              </a:rPr>
              <a:t>) = −8.33</a:t>
            </a:r>
            <a:r>
              <a:rPr sz="1900" b="0" i="0">
                <a:solidFill>
                  <a:srgbClr val="1C252B"/>
                </a:solidFill>
                <a:latin typeface="Segoe UI"/>
              </a:rPr>
              <a:t>, so shipping is still — barely — the better bet. The flip comes at </a:t>
            </a:r>
            <a:r>
              <a:rPr sz="1900" b="0" i="0">
                <a:solidFill>
                  <a:srgbClr val="1C252B"/>
                </a:solidFill>
                <a:latin typeface="Cambria"/>
              </a:rPr>
              <a:t>10/29 ≈ 0.345</a:t>
            </a:r>
            <a:r>
              <a:rPr sz="1900" b="0" i="0">
                <a:solidFill>
                  <a:srgbClr val="1C252B"/>
                </a:solidFill>
                <a:latin typeface="Segoe UI"/>
              </a:rPr>
              <a:t>, and </a:t>
            </a:r>
            <a:r>
              <a:rPr sz="1900" b="0" i="0">
                <a:solidFill>
                  <a:srgbClr val="1C252B"/>
                </a:solidFill>
                <a:latin typeface="Cambria"/>
              </a:rPr>
              <a:t>1/3 ≈ 0.333</a:t>
            </a:r>
            <a:r>
              <a:rPr sz="1900" b="0" i="0">
                <a:solidFill>
                  <a:srgbClr val="1C252B"/>
                </a:solidFill>
                <a:latin typeface="Segoe UI"/>
              </a:rPr>
              <a:t> falls just short.</a:t>
            </a:r>
          </a:p>
        </p:txBody>
      </p:sp>
      <p:sp>
        <p:nvSpPr>
          <p:cNvPr id="10" name="body-2"/>
          <p:cNvSpPr txBox="1"/>
          <p:nvPr/>
        </p:nvSpPr>
        <p:spPr>
          <a:xfrm>
            <a:off x="1042415" y="3262223"/>
            <a:ext cx="1041775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Two consequences worth taking seriously.</a:t>
            </a:r>
          </a:p>
        </p:txBody>
      </p:sp>
      <p:sp>
        <p:nvSpPr>
          <p:cNvPr id="11" name="body-3"/>
          <p:cNvSpPr txBox="1"/>
          <p:nvPr/>
        </p:nvSpPr>
        <p:spPr>
          <a:xfrm>
            <a:off x="1042415" y="3696081"/>
            <a:ext cx="1041775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1A5276"/>
                </a:solidFill>
                <a:latin typeface="Segoe UI"/>
              </a:rPr>
              <a:t>Do not report beliefs to decision makers as though they were decisions.</a:t>
            </a:r>
            <a:r>
              <a:rPr sz="1900" b="0" i="0">
                <a:solidFill>
                  <a:srgbClr val="1C252B"/>
                </a:solidFill>
                <a:latin typeface="Segoe UI"/>
              </a:rPr>
              <a:t> An engineer who says “the probability of a defect has tripled” has said something true and nearly useless. The question is which side of </a:t>
            </a:r>
            <a:r>
              <a:rPr sz="1900" b="0" i="1">
                <a:solidFill>
                  <a:srgbClr val="1C252B"/>
                </a:solidFill>
                <a:latin typeface="Cambria"/>
              </a:rPr>
              <a:t>p</a:t>
            </a:r>
            <a:r>
              <a:rPr sz="1250" b="0" i="0" baseline="30000">
                <a:solidFill>
                  <a:srgbClr val="1C252B"/>
                </a:solidFill>
                <a:latin typeface="Cambria"/>
              </a:rPr>
              <a:t>∗</a:t>
            </a:r>
            <a:r>
              <a:rPr sz="1900" b="0" i="0">
                <a:solidFill>
                  <a:srgbClr val="1C252B"/>
                </a:solidFill>
                <a:latin typeface="Segoe UI"/>
              </a:rPr>
              <a:t> the number falls on.</a:t>
            </a:r>
          </a:p>
        </p:txBody>
      </p:sp>
      <p:sp>
        <p:nvSpPr>
          <p:cNvPr id="12" name="body-4"/>
          <p:cNvSpPr txBox="1"/>
          <p:nvPr/>
        </p:nvSpPr>
        <p:spPr>
          <a:xfrm>
            <a:off x="1042415" y="4732223"/>
            <a:ext cx="1041775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1A5276"/>
                </a:solidFill>
                <a:latin typeface="Segoe UI"/>
              </a:rPr>
              <a:t>Attend to the margin.</a:t>
            </a:r>
            <a:r>
              <a:rPr sz="1900" b="0" i="0">
                <a:solidFill>
                  <a:srgbClr val="1C252B"/>
                </a:solidFill>
                <a:latin typeface="Segoe UI"/>
              </a:rPr>
              <a:t> At </a:t>
            </a:r>
            <a:r>
              <a:rPr sz="1900" b="0" i="1">
                <a:solidFill>
                  <a:srgbClr val="1C252B"/>
                </a:solidFill>
                <a:latin typeface="Cambria"/>
              </a:rPr>
              <a:t>p</a:t>
            </a:r>
            <a:r>
              <a:rPr sz="1900" b="0" i="0">
                <a:solidFill>
                  <a:srgbClr val="1C252B"/>
                </a:solidFill>
                <a:latin typeface="Cambria"/>
              </a:rPr>
              <a:t> = 1/3</a:t>
            </a:r>
            <a:r>
              <a:rPr sz="1900" b="0" i="0">
                <a:solidFill>
                  <a:srgbClr val="1C252B"/>
                </a:solidFill>
                <a:latin typeface="Segoe UI"/>
              </a:rPr>
              <a:t> the two options differ by </a:t>
            </a:r>
            <a:r>
              <a:rPr sz="1900" b="0" i="0">
                <a:solidFill>
                  <a:srgbClr val="1C252B"/>
                </a:solidFill>
                <a:latin typeface="Cambria"/>
              </a:rPr>
              <a:t>1.67</a:t>
            </a:r>
            <a:r>
              <a:rPr sz="1900" b="0" i="0">
                <a:solidFill>
                  <a:srgbClr val="1C252B"/>
                </a:solidFill>
                <a:latin typeface="Segoe UI"/>
              </a:rPr>
              <a:t> utility units, which is noise. The honest report is not “ship” but “ship, marginally, and this is now close enough that better evidence would be worth having” — which is exactly what the next section makes precise.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414057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Value of Information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14.6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14.1   What Logic Cannot Say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14.2   Bayes’ Rule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14.3   Conditional Independence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14.4   From Belief to Decision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14.5   A Change of Belief Is Not a Change of Decision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14.6   The Value of Information</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§14.6     </a:t>
            </a:r>
            <a:fld id="{5D4D728B-EB34-47A9-BBBD-F94660F68512}" type="slidenum">
              <a:rPr lang="en-GB" sz="1000">
                <a:solidFill>
                  <a:srgbClr val="8795A1"/>
                </a:solidFill>
                <a:latin typeface="Segoe UI"/>
              </a:rPr>
              <a:t>19</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37060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Value of perfect information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E44385F1-8BF4-4D63-A90C-F51D79C4C31F}"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289848"/>
          </a:xfrm>
          <a:prstGeom prst="roundRect">
            <a:avLst>
              <a:gd name="adj" fmla="val 2779"/>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28984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value of perfect information</a:t>
            </a:r>
            <a:r>
              <a:rPr sz="2300" b="0" i="0">
                <a:solidFill>
                  <a:srgbClr val="1C252B"/>
                </a:solidFill>
                <a:latin typeface="Segoe UI"/>
              </a:rPr>
              <a:t> about a variable is the increase in expected utility from learning it before deciding:</a:t>
            </a:r>
          </a:p>
        </p:txBody>
      </p:sp>
      <p:pic>
        <p:nvPicPr>
          <p:cNvPr id="10" name="body-1" descr="\mathrm{VPI} \;=\; \Bigl[\textstyle\sum_{s} P(s)\, \max_{a} \mathrm{EU}(a \mid s) \Bigr] \;-\; \max_{a} \mathrm{EU}(a)"/>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524042"/>
          </a:xfrm>
          <a:prstGeom prst="rect">
            <a:avLst/>
          </a:prstGeom>
        </p:spPr>
      </p:pic>
      <p:sp>
        <p:nvSpPr>
          <p:cNvPr id="11" name="body-2"/>
          <p:cNvSpPr txBox="1"/>
          <p:nvPr/>
        </p:nvSpPr>
        <p:spPr>
          <a:xfrm>
            <a:off x="1060704" y="3622690"/>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first term being what you could achieve choosing the best action for each case once you know which case you are in. It is never negative, and it is an upper bound on what the evidence is worth paying for.</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60063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Value of Information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AF7C8A71-A168-43EA-ABA7-2E9024B8E5D4}" type="slidenum">
              <a:rPr lang="en-GB" sz="1000">
                <a:solidFill>
                  <a:srgbClr val="8795A1"/>
                </a:solidFill>
                <a:latin typeface="Segoe UI"/>
              </a:rPr>
              <a:t>21</a:t>
            </a:fld>
          </a:p>
        </p:txBody>
      </p:sp>
      <p:graphicFrame>
        <p:nvGraphicFramePr>
          <p:cNvPr id="7" name="!!table"/>
          <p:cNvGraphicFramePr>
            <a:graphicFrameLocks noGrp="1"/>
          </p:cNvGraphicFramePr>
          <p:nvPr/>
        </p:nvGraphicFramePr>
        <p:xfrm>
          <a:off x="658368" y="1737360"/>
          <a:ext cx="9436410" cy="2026920"/>
        </p:xfrm>
        <a:graphic>
          <a:graphicData uri="http://schemas.openxmlformats.org/drawingml/2006/table">
            <a:tbl>
              <a:tblPr firstRow="0" bandRow="0" firstCol="0" lastRow="0" lastCol="0" bandCol="0">
                <a:tableStyleId>{2D5ABB26-0587-4C30-8999-92F81FD0307C}</a:tableStyleId>
              </a:tblPr>
              <a:tblGrid>
                <a:gridCol w="2786212"/>
                <a:gridCol w="1574815"/>
                <a:gridCol w="1861376"/>
                <a:gridCol w="3214007"/>
              </a:tblGrid>
              <a:tr h="405384">
                <a:tc>
                  <a:txBody>
                    <a:bodyPr wrap="square"/>
                    <a:lstStyle/>
                    <a:p>
                      <a:pPr algn="l"/>
                      <a:r>
                        <a:rPr sz="1700" b="1" i="0">
                          <a:solidFill>
                            <a:srgbClr val="1A5276"/>
                          </a:solidFill>
                          <a:latin typeface="Segoe UI"/>
                        </a:rPr>
                        <a:t>Situation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1">
                          <a:solidFill>
                            <a:srgbClr val="1A5276"/>
                          </a:solidFill>
                          <a:latin typeface="Cambria"/>
                        </a:rPr>
                        <a:t>P</a:t>
                      </a:r>
                      <a:r>
                        <a:rPr sz="1700" b="1" i="0">
                          <a:solidFill>
                            <a:srgbClr val="1A5276"/>
                          </a:solidFill>
                          <a:latin typeface="Cambria"/>
                        </a:rPr>
                        <a:t>(</a:t>
                      </a:r>
                      <a:r>
                        <a:rPr sz="1700" b="1" i="0">
                          <a:solidFill>
                            <a:srgbClr val="1A5276"/>
                          </a:solidFill>
                          <a:latin typeface="Segoe UI"/>
                        </a:rPr>
                        <a:t>defect</a:t>
                      </a:r>
                      <a:r>
                        <a:rPr sz="1700" b="1" i="0">
                          <a:solidFill>
                            <a:srgbClr val="1A5276"/>
                          </a:solidFill>
                          <a:latin typeface="Cambria"/>
                        </a:rPr>
                        <a: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Decision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Value of perfect information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Before any test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0.1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ship</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9.50</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After the test fires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Cambria"/>
                        </a:rPr>
                        <a:t>1/3</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ship (marginally)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1" i="0">
                          <a:solidFill>
                            <a:srgbClr val="1C252B"/>
                          </a:solidFill>
                          <a:latin typeface="Cambria"/>
                        </a:rPr>
                        <a:t>31.67</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After the test is silent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1/73</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ship</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1.30</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At the flip point</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Cambria"/>
                        </a:rPr>
                        <a:t>10/29</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indifferent</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Cambria"/>
                        </a:rPr>
                        <a:t>32.76</a:t>
                      </a:r>
                      <a:r>
                        <a:rPr sz="1700" b="0" i="0">
                          <a:solidFill>
                            <a:srgbClr val="1C252B"/>
                          </a:solidFill>
                          <a:latin typeface="Segoe UI"/>
                        </a:rPr>
                        <a:t> (the maximum)</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83067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Value of Information</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CE48884F-6A46-4EF2-A76A-D8FFE2ACACDB}"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90263"/>
          </a:xfrm>
          <a:prstGeom prst="roundRect">
            <a:avLst>
              <a:gd name="adj" fmla="val 2082"/>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9026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This is a usable rule for engineering organisations, and it cuts both ways.</a:t>
            </a:r>
          </a:p>
        </p:txBody>
      </p:sp>
      <p:sp>
        <p:nvSpPr>
          <p:cNvPr id="10" name="body-1"/>
          <p:cNvSpPr txBox="1"/>
          <p:nvPr/>
        </p:nvSpPr>
        <p:spPr>
          <a:xfrm>
            <a:off x="1060704" y="2527782"/>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Segoe UI"/>
              </a:rPr>
              <a:t>Stop gathering evidence that cannot change the decision.</a:t>
            </a:r>
            <a:r>
              <a:rPr sz="2100" b="0" i="0">
                <a:solidFill>
                  <a:srgbClr val="1C252B"/>
                </a:solidFill>
                <a:latin typeface="Segoe UI"/>
              </a:rPr>
              <a:t> If the answer is “ship” at every plausible value of </a:t>
            </a:r>
            <a:r>
              <a:rPr sz="2100" b="0" i="1">
                <a:solidFill>
                  <a:srgbClr val="1C252B"/>
                </a:solidFill>
                <a:latin typeface="Cambria"/>
              </a:rPr>
              <a:t>p</a:t>
            </a:r>
            <a:r>
              <a:rPr sz="2100" b="0" i="0">
                <a:solidFill>
                  <a:srgbClr val="1C252B"/>
                </a:solidFill>
                <a:latin typeface="Segoe UI"/>
              </a:rPr>
              <a:t>, another day of investigation has a value of zero however much everyone would like to know.</a:t>
            </a:r>
          </a:p>
        </p:txBody>
      </p:sp>
      <p:sp>
        <p:nvSpPr>
          <p:cNvPr id="11" name="body-2"/>
          <p:cNvSpPr txBox="1"/>
          <p:nvPr/>
        </p:nvSpPr>
        <p:spPr>
          <a:xfrm>
            <a:off x="1060704" y="3672992"/>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Segoe UI"/>
              </a:rPr>
              <a:t>Gather evidence hard when the decision is balanced.</a:t>
            </a:r>
            <a:r>
              <a:rPr sz="2100" b="0" i="0">
                <a:solidFill>
                  <a:srgbClr val="1C252B"/>
                </a:solidFill>
                <a:latin typeface="Segoe UI"/>
              </a:rPr>
              <a:t> The correct response to “it is basically a coin flip” is not to flip the coin but to notice that this is precisely the circumstance in which finding out pays best.</a:t>
            </a:r>
          </a:p>
        </p:txBody>
      </p:sp>
      <p:sp>
        <p:nvSpPr>
          <p:cNvPr id="12" name="body-3"/>
          <p:cNvSpPr txBox="1"/>
          <p:nvPr/>
        </p:nvSpPr>
        <p:spPr>
          <a:xfrm>
            <a:off x="1060704" y="4818202"/>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And notice that both follow from arithmetic rather than from temperament. This is what it means for an agent to be rational about its own information gathering — the third thing Chapter 2 said rationality does not forbid.</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06070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Working the alarm through, end to end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7475A87F-7825-427F-A0DC-D3CB53AC2B3C}"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34555"/>
          </a:xfrm>
          <a:prstGeom prst="roundRect">
            <a:avLst>
              <a:gd name="adj" fmla="val 215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3455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1: the posterior.</a:t>
            </a:r>
            <a:r>
              <a:rPr sz="1900" b="0" i="0">
                <a:solidFill>
                  <a:srgbClr val="1C252B"/>
                </a:solidFill>
                <a:latin typeface="Segoe UI"/>
              </a:rPr>
              <a:t> With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 0.1</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al</a:t>
            </a:r>
            <a:r>
              <a:rPr sz="1900" b="0" i="0">
                <a:solidFill>
                  <a:srgbClr val="1C252B"/>
                </a:solidFill>
                <a:latin typeface="Cambria"/>
              </a:rPr>
              <a:t> ∣ </a:t>
            </a:r>
            <a:r>
              <a:rPr sz="1900" b="0" i="1">
                <a:solidFill>
                  <a:srgbClr val="1C252B"/>
                </a:solidFill>
                <a:latin typeface="Cambria"/>
              </a:rPr>
              <a:t>d</a:t>
            </a:r>
            <a:r>
              <a:rPr sz="1900" b="0" i="0">
                <a:solidFill>
                  <a:srgbClr val="1C252B"/>
                </a:solidFill>
                <a:latin typeface="Cambria"/>
              </a:rPr>
              <a:t>) = 0.9</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al</a:t>
            </a:r>
            <a:r>
              <a:rPr sz="1900" b="0" i="0">
                <a:solidFill>
                  <a:srgbClr val="1C252B"/>
                </a:solidFill>
                <a:latin typeface="Cambria"/>
              </a:rPr>
              <a:t> ∣ ¬ </a:t>
            </a:r>
            <a:r>
              <a:rPr sz="1900" b="0" i="1">
                <a:solidFill>
                  <a:srgbClr val="1C252B"/>
                </a:solidFill>
                <a:latin typeface="Cambria"/>
              </a:rPr>
              <a:t>d</a:t>
            </a:r>
            <a:r>
              <a:rPr sz="1900" b="0" i="0">
                <a:solidFill>
                  <a:srgbClr val="1C252B"/>
                </a:solidFill>
                <a:latin typeface="Cambria"/>
              </a:rPr>
              <a:t>) = 0.2</a:t>
            </a:r>
            <a:r>
              <a:rPr sz="1900" b="0" i="0">
                <a:solidFill>
                  <a:srgbClr val="1C252B"/>
                </a:solidFill>
                <a:latin typeface="Segoe UI"/>
              </a:rPr>
              <a:t>:</a:t>
            </a:r>
          </a:p>
        </p:txBody>
      </p:sp>
      <p:pic>
        <p:nvPicPr>
          <p:cNvPr id="10" name="body-1" descr="P(\mathit{al}) = 0.9 \times 0.1 + 0.2 \times 0.9 = 0.09 + 0.18 = 0.27"/>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445537"/>
            <a:ext cx="10234879" cy="324520"/>
          </a:xfrm>
          <a:prstGeom prst="rect">
            <a:avLst/>
          </a:prstGeom>
        </p:spPr>
      </p:pic>
      <p:pic>
        <p:nvPicPr>
          <p:cNvPr id="11" name="body-2" descr="P(d \mid \mathit{al}) = \frac{0.9 \times 0.1}{0.27} = \frac{0.09}{0.27} = \frac{1}{3}"/>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2902772"/>
            <a:ext cx="10234879" cy="547268"/>
          </a:xfrm>
          <a:prstGeom prst="rect">
            <a:avLst/>
          </a:prstGeom>
        </p:spPr>
      </p:pic>
      <p:sp>
        <p:nvSpPr>
          <p:cNvPr id="12" name="body-3"/>
          <p:cNvSpPr txBox="1"/>
          <p:nvPr/>
        </p:nvSpPr>
        <p:spPr>
          <a:xfrm>
            <a:off x="1042416" y="3582756"/>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Check against Figure 14.1: </a:t>
            </a:r>
            <a:r>
              <a:rPr sz="1900" b="0" i="0">
                <a:solidFill>
                  <a:srgbClr val="1C252B"/>
                </a:solidFill>
                <a:latin typeface="Cambria"/>
              </a:rPr>
              <a:t>90</a:t>
            </a:r>
            <a:r>
              <a:rPr sz="1900" b="0" i="0">
                <a:solidFill>
                  <a:srgbClr val="1C252B"/>
                </a:solidFill>
                <a:latin typeface="Segoe UI"/>
              </a:rPr>
              <a:t> true alarms out of </a:t>
            </a:r>
            <a:r>
              <a:rPr sz="1900" b="0" i="0">
                <a:solidFill>
                  <a:srgbClr val="1C252B"/>
                </a:solidFill>
                <a:latin typeface="Cambria"/>
              </a:rPr>
              <a:t>270</a:t>
            </a:r>
            <a:r>
              <a:rPr sz="1900" b="0" i="0">
                <a:solidFill>
                  <a:srgbClr val="1C252B"/>
                </a:solidFill>
                <a:latin typeface="Segoe UI"/>
              </a:rPr>
              <a:t>. The same number, and the frequency version is the one to put in front of the team.</a:t>
            </a:r>
          </a:p>
        </p:txBody>
      </p:sp>
      <p:sp>
        <p:nvSpPr>
          <p:cNvPr id="13" name="body-4"/>
          <p:cNvSpPr txBox="1"/>
          <p:nvPr/>
        </p:nvSpPr>
        <p:spPr>
          <a:xfrm>
            <a:off x="1042416" y="4317756"/>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 the decision.</a:t>
            </a:r>
          </a:p>
        </p:txBody>
      </p:sp>
      <p:sp>
        <p:nvSpPr>
          <p:cNvPr id="14" name="body-4bar">
            <a:extLst>
              <a:ext uri="{C183D7F6-B498-43B3-948B-1728B52AA6E4}">
                <adec:decorative xmlns:adec="http://schemas.microsoft.com/office/drawing/2017/decorative" val="1"/>
              </a:ext>
            </a:extLst>
          </p:cNvPr>
          <p:cNvSpPr/>
          <p:nvPr/>
        </p:nvSpPr>
        <p:spPr>
          <a:xfrm>
            <a:off x="841248" y="4336044"/>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 name="body-5" descr="\mathrm{EU}(\text{ship}) = 40 - 140 \times \tfrac{1}{3} = 40 - 46.67 = -6.67"/>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4751613"/>
            <a:ext cx="10234879" cy="406633"/>
          </a:xfrm>
          <a:prstGeom prst="rect">
            <a:avLst/>
          </a:prstGeom>
        </p:spPr>
      </p:pic>
      <p:pic>
        <p:nvPicPr>
          <p:cNvPr id="16" name="body-6" descr="\mathrm{EU}(\text{delay}) = 5 \times \tfrac{1}{3} - 10 = -8.33"/>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042416" y="5290962"/>
            <a:ext cx="10234879" cy="406633"/>
          </a:xfrm>
          <a:prstGeom prst="rect">
            <a:avLst/>
          </a:prstGeom>
        </p:spPr>
      </p:pic>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529073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wipe(right)">
                                      <p:cBhvr>
                                        <p:cTn id="23" dur="42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2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right)">
                                      <p:cBhvr>
                                        <p:cTn id="31" dur="42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Working the alarm through, end to end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6F3EBDD9-07EC-4CFC-8EF0-82391338ABAE}"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18651"/>
          </a:xfrm>
          <a:prstGeom prst="roundRect">
            <a:avLst>
              <a:gd name="adj" fmla="val 2333"/>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186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Ship, by </a:t>
            </a:r>
            <a:r>
              <a:rPr sz="1900" b="0" i="0">
                <a:solidFill>
                  <a:srgbClr val="1C252B"/>
                </a:solidFill>
                <a:latin typeface="Cambria"/>
              </a:rPr>
              <a:t>1.67</a:t>
            </a:r>
            <a:r>
              <a:rPr sz="1900" b="0" i="0">
                <a:solidFill>
                  <a:srgbClr val="1C252B"/>
                </a:solidFill>
                <a:latin typeface="Segoe UI"/>
              </a:rPr>
              <a:t>. Both options are now bad — the alarm has cost the team something whatever they do — but shipping is less bad.</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 is more evidence worth buying?</a:t>
            </a:r>
            <a:r>
              <a:rPr sz="1900" b="0" i="0">
                <a:solidFill>
                  <a:srgbClr val="1C252B"/>
                </a:solidFill>
                <a:latin typeface="Segoe UI"/>
              </a:rPr>
              <a:t> With perfect information we would delay when there is a defect (</a:t>
            </a:r>
            <a:r>
              <a:rPr sz="1900" b="0" i="0">
                <a:solidFill>
                  <a:srgbClr val="1C252B"/>
                </a:solidFill>
                <a:latin typeface="Cambria"/>
              </a:rPr>
              <a:t>−5</a:t>
            </a:r>
            <a:r>
              <a:rPr sz="1900" b="0" i="0">
                <a:solidFill>
                  <a:srgbClr val="1C252B"/>
                </a:solidFill>
                <a:latin typeface="Segoe UI"/>
              </a:rPr>
              <a:t> rather than </a:t>
            </a:r>
            <a:r>
              <a:rPr sz="1900" b="0" i="0">
                <a:solidFill>
                  <a:srgbClr val="1C252B"/>
                </a:solidFill>
                <a:latin typeface="Cambria"/>
              </a:rPr>
              <a:t>−100</a:t>
            </a:r>
            <a:r>
              <a:rPr sz="1900" b="0" i="0">
                <a:solidFill>
                  <a:srgbClr val="1C252B"/>
                </a:solidFill>
                <a:latin typeface="Segoe UI"/>
              </a:rPr>
              <a:t>) and ship when there is not (</a:t>
            </a:r>
            <a:r>
              <a:rPr sz="1900" b="0" i="0">
                <a:solidFill>
                  <a:srgbClr val="1C252B"/>
                </a:solidFill>
                <a:latin typeface="Cambria"/>
              </a:rPr>
              <a:t>+40</a:t>
            </a:r>
            <a:r>
              <a:rPr sz="1900" b="0" i="0">
                <a:solidFill>
                  <a:srgbClr val="1C252B"/>
                </a:solidFill>
                <a:latin typeface="Segoe UI"/>
              </a:rPr>
              <a:t> rather than </a:t>
            </a:r>
            <a:r>
              <a:rPr sz="1900" b="0" i="0">
                <a:solidFill>
                  <a:srgbClr val="1C252B"/>
                </a:solidFill>
                <a:latin typeface="Cambria"/>
              </a:rPr>
              <a:t>−10</a:t>
            </a:r>
            <a:r>
              <a:rPr sz="1900" b="0" i="0">
                <a:solidFill>
                  <a:srgbClr val="1C252B"/>
                </a:solidFill>
                <a:latin typeface="Segoe UI"/>
              </a:rPr>
              <a:t>):</a:t>
            </a:r>
          </a:p>
        </p:txBody>
      </p:sp>
      <p:sp>
        <p:nvSpPr>
          <p:cNvPr id="11" name="body-1bar">
            <a:extLst>
              <a:ext uri="{C183D7F6-B498-43B3-948B-1728B52AA6E4}">
                <adec:decorative xmlns:adec="http://schemas.microsoft.com/office/drawing/2017/decorative" val="1"/>
              </a:ext>
            </a:extLst>
          </p:cNvPr>
          <p:cNvSpPr/>
          <p:nvPr/>
        </p:nvSpPr>
        <p:spPr>
          <a:xfrm>
            <a:off x="841248" y="2764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2" name="body-2" descr="\text{with information} = \tfrac{1}{3}(-5) + \tfrac{2}{3}(40) = -1.67 + 26.67 = 25.0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81679"/>
            <a:ext cx="10234879" cy="406633"/>
          </a:xfrm>
          <a:prstGeom prst="rect">
            <a:avLst/>
          </a:prstGeom>
        </p:spPr>
      </p:pic>
      <p:pic>
        <p:nvPicPr>
          <p:cNvPr id="13" name="body-3" descr="\mathrm{VPI} = 25.00 - (-6.67) = 31.6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021028"/>
            <a:ext cx="10234879" cy="324520"/>
          </a:xfrm>
          <a:prstGeom prst="rect">
            <a:avLst/>
          </a:prstGeom>
        </p:spPr>
      </p:pic>
      <p:sp>
        <p:nvSpPr>
          <p:cNvPr id="14" name="body-4"/>
          <p:cNvSpPr txBox="1"/>
          <p:nvPr/>
        </p:nvSpPr>
        <p:spPr>
          <a:xfrm>
            <a:off x="1042416" y="4478263"/>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So certainty is worth </a:t>
            </a:r>
            <a:r>
              <a:rPr sz="1900" b="0" i="0">
                <a:solidFill>
                  <a:srgbClr val="1C252B"/>
                </a:solidFill>
                <a:latin typeface="Cambria"/>
              </a:rPr>
              <a:t>31.67</a:t>
            </a:r>
            <a:r>
              <a:rPr sz="1900" b="0" i="0">
                <a:solidFill>
                  <a:srgbClr val="1C252B"/>
                </a:solidFill>
                <a:latin typeface="Segoe UI"/>
              </a:rPr>
              <a:t> units — against the </a:t>
            </a:r>
            <a:r>
              <a:rPr sz="1900" b="0" i="0">
                <a:solidFill>
                  <a:srgbClr val="1C252B"/>
                </a:solidFill>
                <a:latin typeface="Cambria"/>
              </a:rPr>
              <a:t>10</a:t>
            </a:r>
            <a:r>
              <a:rPr sz="1900" b="0" i="0">
                <a:solidFill>
                  <a:srgbClr val="1C252B"/>
                </a:solidFill>
                <a:latin typeface="Segoe UI"/>
              </a:rPr>
              <a:t> units that delaying a week costs when the release turns out to be sound. </a:t>
            </a:r>
            <a:r>
              <a:rPr sz="1900" b="0" i="1">
                <a:solidFill>
                  <a:srgbClr val="1C252B"/>
                </a:solidFill>
                <a:latin typeface="Segoe UI"/>
              </a:rPr>
              <a:t>An investigation costing less than a week’s delay is clearly worth doing</a:t>
            </a:r>
            <a:r>
              <a:rPr sz="1900" b="0" i="0">
                <a:solidFill>
                  <a:srgbClr val="1C252B"/>
                </a:solidFill>
                <a:latin typeface="Segoe UI"/>
              </a:rPr>
              <a:t>, and that conclusion came from the numbers rather than from anybody’s instinct.</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552076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right)">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right)">
                                      <p:cBhvr>
                                        <p:cTn id="26" dur="42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Working the alarm through, end to end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E927700C-EF4B-417B-A316-624A7BB8A80E}" type="slidenum">
              <a:rPr lang="en-GB" sz="1000">
                <a:solidFill>
                  <a:srgbClr val="8795A1"/>
                </a:solidFill>
                <a:latin typeface="Segoe UI"/>
              </a:rPr>
              <a:t>25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355494"/>
          </a:xfrm>
          <a:prstGeom prst="roundRect">
            <a:avLst>
              <a:gd name="adj" fmla="val 388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355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85257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4: the sensitivity that matters.</a:t>
            </a:r>
            <a:r>
              <a:rPr sz="1900" b="0" i="0">
                <a:solidFill>
                  <a:srgbClr val="1C252B"/>
                </a:solidFill>
                <a:latin typeface="Segoe UI"/>
              </a:rPr>
              <a:t> Suppose the team disputes the </a:t>
            </a:r>
            <a:r>
              <a:rPr sz="1900" b="0" i="0">
                <a:solidFill>
                  <a:srgbClr val="1C252B"/>
                </a:solidFill>
                <a:latin typeface="Cambria"/>
              </a:rPr>
              <a:t>−100</a:t>
            </a:r>
            <a:r>
              <a:rPr sz="1900" b="0" i="0">
                <a:solidFill>
                  <a:srgbClr val="1C252B"/>
                </a:solidFill>
                <a:latin typeface="Segoe UI"/>
              </a:rPr>
              <a:t>. Redo the flip point with shipping a defect costing </a:t>
            </a:r>
            <a:r>
              <a:rPr sz="1900" b="0" i="0">
                <a:solidFill>
                  <a:srgbClr val="1C252B"/>
                </a:solidFill>
                <a:latin typeface="Cambria"/>
              </a:rPr>
              <a:t>−60</a:t>
            </a:r>
            <a:r>
              <a:rPr sz="1900" b="0" i="0">
                <a:solidFill>
                  <a:srgbClr val="1C252B"/>
                </a:solidFill>
                <a:latin typeface="Segoe UI"/>
              </a:rPr>
              <a:t>: EU</a:t>
            </a:r>
            <a:r>
              <a:rPr sz="1900" b="0" i="0">
                <a:solidFill>
                  <a:srgbClr val="1C252B"/>
                </a:solidFill>
                <a:latin typeface="Cambria"/>
              </a:rPr>
              <a:t>(</a:t>
            </a:r>
            <a:r>
              <a:rPr sz="1900" b="0" i="0">
                <a:solidFill>
                  <a:srgbClr val="1C252B"/>
                </a:solidFill>
                <a:latin typeface="Segoe UI"/>
              </a:rPr>
              <a:t>ship</a:t>
            </a:r>
            <a:r>
              <a:rPr sz="1900" b="0" i="0">
                <a:solidFill>
                  <a:srgbClr val="1C252B"/>
                </a:solidFill>
                <a:latin typeface="Cambria"/>
              </a:rPr>
              <a:t>) = 40 − 100</a:t>
            </a:r>
            <a:r>
              <a:rPr sz="1900" b="0" i="1">
                <a:solidFill>
                  <a:srgbClr val="1C252B"/>
                </a:solidFill>
                <a:latin typeface="Cambria"/>
              </a:rPr>
              <a:t>p</a:t>
            </a:r>
            <a:r>
              <a:rPr sz="1900" b="0" i="0">
                <a:solidFill>
                  <a:srgbClr val="1C252B"/>
                </a:solidFill>
                <a:latin typeface="Segoe UI"/>
              </a:rPr>
              <a:t>, which meets </a:t>
            </a:r>
            <a:r>
              <a:rPr sz="1900" b="0" i="0">
                <a:solidFill>
                  <a:srgbClr val="1C252B"/>
                </a:solidFill>
                <a:latin typeface="Cambria"/>
              </a:rPr>
              <a:t>5</a:t>
            </a:r>
            <a:r>
              <a:rPr sz="1900" b="0" i="1">
                <a:solidFill>
                  <a:srgbClr val="1C252B"/>
                </a:solidFill>
                <a:latin typeface="Cambria"/>
              </a:rPr>
              <a:t>p</a:t>
            </a:r>
            <a:r>
              <a:rPr sz="1900" b="0" i="0">
                <a:solidFill>
                  <a:srgbClr val="1C252B"/>
                </a:solidFill>
                <a:latin typeface="Cambria"/>
              </a:rPr>
              <a:t> − 10</a:t>
            </a:r>
            <a:r>
              <a:rPr sz="1900" b="0" i="0">
                <a:solidFill>
                  <a:srgbClr val="1C252B"/>
                </a:solidFill>
                <a:latin typeface="Segoe UI"/>
              </a:rPr>
              <a:t> at </a:t>
            </a:r>
            <a:r>
              <a:rPr sz="1900" b="0" i="1">
                <a:solidFill>
                  <a:srgbClr val="1C252B"/>
                </a:solidFill>
                <a:latin typeface="Cambria"/>
              </a:rPr>
              <a:t>p</a:t>
            </a:r>
            <a:r>
              <a:rPr sz="1250" b="0" i="0" baseline="30000">
                <a:solidFill>
                  <a:srgbClr val="1C252B"/>
                </a:solidFill>
                <a:latin typeface="Cambria"/>
              </a:rPr>
              <a:t>∗</a:t>
            </a:r>
            <a:r>
              <a:rPr sz="1900" b="0" i="0">
                <a:solidFill>
                  <a:srgbClr val="1C252B"/>
                </a:solidFill>
                <a:latin typeface="Cambria"/>
              </a:rPr>
              <a:t> = 50/105 ≈ 0.476</a:t>
            </a:r>
            <a:r>
              <a:rPr sz="1900" b="0" i="0">
                <a:solidFill>
                  <a:srgbClr val="1C252B"/>
                </a:solidFill>
                <a:latin typeface="Segoe UI"/>
              </a:rPr>
              <a:t>. The alarm’s </a:t>
            </a:r>
            <a:r>
              <a:rPr sz="1900" b="0" i="0">
                <a:solidFill>
                  <a:srgbClr val="1C252B"/>
                </a:solidFill>
                <a:latin typeface="Cambria"/>
              </a:rPr>
              <a:t>1/3</a:t>
            </a:r>
            <a:r>
              <a:rPr sz="1900" b="0" i="0">
                <a:solidFill>
                  <a:srgbClr val="1C252B"/>
                </a:solidFill>
                <a:latin typeface="Segoe UI"/>
              </a:rPr>
              <a:t> is now far from flipping anything, and the value of information falls accordingly. </a:t>
            </a:r>
            <a:r>
              <a:rPr sz="1900" b="0" i="1">
                <a:solidFill>
                  <a:srgbClr val="1C252B"/>
                </a:solidFill>
                <a:latin typeface="Segoe UI"/>
              </a:rPr>
              <a:t>The utilities matter as much as the probabilities</a:t>
            </a:r>
            <a:r>
              <a:rPr sz="1900" b="0" i="0">
                <a:solidFill>
                  <a:srgbClr val="1C252B"/>
                </a:solidFill>
                <a:latin typeface="Segoe UI"/>
              </a:rPr>
              <a:t>, and they are the part nobody measures — which is the honest weakness of this whole apparatus and the reason to write them down where they can be argued with.</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78856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75079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9FB7E379-9CB3-453E-8ACF-079614CF75D7}" type="slidenum">
              <a:rPr lang="en-GB" sz="1000">
                <a:solidFill>
                  <a:srgbClr val="8795A1"/>
                </a:solidFill>
                <a:latin typeface="Segoe UI"/>
              </a:rPr>
              <a:t>26</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The base-rate fallacy.</a:t>
            </a:r>
            <a:r>
              <a:rPr sz="1700" b="0" i="0">
                <a:solidFill>
                  <a:srgbClr val="1C252B"/>
                </a:solidFill>
                <a:latin typeface="Segoe UI"/>
              </a:rPr>
              <a:t>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alarm</a:t>
            </a:r>
            <a:r>
              <a:rPr sz="1700" b="0" i="0">
                <a:solidFill>
                  <a:srgbClr val="1C252B"/>
                </a:solidFill>
                <a:latin typeface="Cambria"/>
              </a:rPr>
              <a:t> ∣ </a:t>
            </a:r>
            <a:r>
              <a:rPr sz="1700" b="0" i="1">
                <a:solidFill>
                  <a:srgbClr val="1C252B"/>
                </a:solidFill>
                <a:latin typeface="Cambria"/>
              </a:rPr>
              <a:t>defect</a:t>
            </a:r>
            <a:r>
              <a:rPr sz="1700" b="0" i="0">
                <a:solidFill>
                  <a:srgbClr val="1C252B"/>
                </a:solidFill>
                <a:latin typeface="Cambria"/>
              </a:rPr>
              <a:t>) = 0.9</a:t>
            </a:r>
            <a:r>
              <a:rPr sz="1700" b="0" i="0">
                <a:solidFill>
                  <a:srgbClr val="1C252B"/>
                </a:solidFill>
                <a:latin typeface="Segoe UI"/>
              </a:rPr>
              <a:t> does not make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defect</a:t>
            </a:r>
            <a:r>
              <a:rPr sz="1700" b="0" i="0">
                <a:solidFill>
                  <a:srgbClr val="1C252B"/>
                </a:solidFill>
                <a:latin typeface="Cambria"/>
              </a:rPr>
              <a:t> ∣ </a:t>
            </a:r>
            <a:r>
              <a:rPr sz="1700" b="0" i="1">
                <a:solidFill>
                  <a:srgbClr val="1C252B"/>
                </a:solidFill>
                <a:latin typeface="Cambria"/>
              </a:rPr>
              <a:t>alarm</a:t>
            </a:r>
            <a:r>
              <a:rPr sz="1700" b="0" i="0">
                <a:solidFill>
                  <a:srgbClr val="1C252B"/>
                </a:solidFill>
                <a:latin typeface="Cambria"/>
              </a:rPr>
              <a:t>)</a:t>
            </a:r>
            <a:r>
              <a:rPr sz="1700" b="0" i="0">
                <a:solidFill>
                  <a:srgbClr val="1C252B"/>
                </a:solidFill>
                <a:latin typeface="Segoe UI"/>
              </a:rPr>
              <a:t> anything like </a:t>
            </a:r>
            <a:r>
              <a:rPr sz="1700" b="0" i="0">
                <a:solidFill>
                  <a:srgbClr val="1C252B"/>
                </a:solidFill>
                <a:latin typeface="Cambria"/>
              </a:rPr>
              <a:t>0.9</a:t>
            </a:r>
            <a:r>
              <a:rPr sz="1700" b="0" i="0">
                <a:solidFill>
                  <a:srgbClr val="1C252B"/>
                </a:solidFill>
                <a:latin typeface="Segoe UI"/>
              </a:rPr>
              <a:t>. Here it is </a:t>
            </a:r>
            <a:r>
              <a:rPr sz="1700" b="0" i="0">
                <a:solidFill>
                  <a:srgbClr val="1C252B"/>
                </a:solidFill>
                <a:latin typeface="Cambria"/>
              </a:rPr>
              <a:t>1/3</a:t>
            </a:r>
            <a:r>
              <a:rPr sz="1700" b="0" i="0">
                <a:solidFill>
                  <a:srgbClr val="1C252B"/>
                </a:solidFill>
                <a:latin typeface="Segoe UI"/>
              </a:rPr>
              <a:t>. Draw the natural-frequency tree.</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Reporting a belief as though it were a decision.</a:t>
            </a:r>
            <a:r>
              <a:rPr sz="1700" b="0" i="0">
                <a:solidFill>
                  <a:srgbClr val="1C252B"/>
                </a:solidFill>
                <a:latin typeface="Segoe UI"/>
              </a:rPr>
              <a:t> “The probability tripled” is true and does not say what to do. Say which side of </a:t>
            </a:r>
            <a:r>
              <a:rPr sz="1700" b="0" i="1">
                <a:solidFill>
                  <a:srgbClr val="1C252B"/>
                </a:solidFill>
                <a:latin typeface="Cambria"/>
              </a:rPr>
              <a:t>p</a:t>
            </a:r>
            <a:r>
              <a:rPr sz="1100" b="0" i="0" baseline="30000">
                <a:solidFill>
                  <a:srgbClr val="1C252B"/>
                </a:solidFill>
                <a:latin typeface="Cambria"/>
              </a:rPr>
              <a:t>∗</a:t>
            </a:r>
            <a:r>
              <a:rPr sz="1700" b="0" i="0">
                <a:solidFill>
                  <a:srgbClr val="1C252B"/>
                </a:solidFill>
                <a:latin typeface="Segoe UI"/>
              </a:rPr>
              <a:t> it falls.</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Ignoring the margin.</a:t>
            </a:r>
            <a:r>
              <a:rPr sz="1700" b="0" i="0">
                <a:solidFill>
                  <a:srgbClr val="1C252B"/>
                </a:solidFill>
                <a:latin typeface="Segoe UI"/>
              </a:rPr>
              <a:t> At </a:t>
            </a:r>
            <a:r>
              <a:rPr sz="1700" b="0" i="1">
                <a:solidFill>
                  <a:srgbClr val="1C252B"/>
                </a:solidFill>
                <a:latin typeface="Cambria"/>
              </a:rPr>
              <a:t>p</a:t>
            </a:r>
            <a:r>
              <a:rPr sz="1700" b="0" i="0">
                <a:solidFill>
                  <a:srgbClr val="1C252B"/>
                </a:solidFill>
                <a:latin typeface="Cambria"/>
              </a:rPr>
              <a:t> = 1/3</a:t>
            </a:r>
            <a:r>
              <a:rPr sz="1700" b="0" i="0">
                <a:solidFill>
                  <a:srgbClr val="1C252B"/>
                </a:solidFill>
                <a:latin typeface="Segoe UI"/>
              </a:rPr>
              <a:t> the options differ by </a:t>
            </a:r>
            <a:r>
              <a:rPr sz="1700" b="0" i="0">
                <a:solidFill>
                  <a:srgbClr val="1C252B"/>
                </a:solidFill>
                <a:latin typeface="Cambria"/>
              </a:rPr>
              <a:t>1.67</a:t>
            </a:r>
            <a:r>
              <a:rPr sz="1700" b="0" i="0">
                <a:solidFill>
                  <a:srgbClr val="1C252B"/>
                </a:solidFill>
                <a:latin typeface="Segoe UI"/>
              </a:rPr>
              <a:t> units. Report the closeness, not only the winner.</a:t>
            </a:r>
          </a:p>
        </p:txBody>
      </p:sp>
      <p:sp>
        <p:nvSpPr>
          <p:cNvPr id="16" name="!!pb3">
            <a:extLst>
              <a:ext uri="{C183D7F6-B498-43B3-948B-1728B52AA6E4}">
                <adec:decorative xmlns:adec="http://schemas.microsoft.com/office/drawing/2017/decorative" val="1"/>
              </a:ext>
            </a:extLst>
          </p:cNvPr>
          <p:cNvSpPr/>
          <p:nvPr/>
        </p:nvSpPr>
        <p:spPr>
          <a:xfrm>
            <a:off x="658368" y="397581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99867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957523"/>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Gathering evidence that cannot change the decision.</a:t>
            </a:r>
            <a:r>
              <a:rPr sz="1700" b="0" i="0">
                <a:solidFill>
                  <a:srgbClr val="1C252B"/>
                </a:solidFill>
                <a:latin typeface="Segoe UI"/>
              </a:rPr>
              <a:t> If the action is the same across every plausible probability, the value of information is zero.</a:t>
            </a:r>
          </a:p>
        </p:txBody>
      </p:sp>
      <p:sp>
        <p:nvSpPr>
          <p:cNvPr id="19" name="!!pb4">
            <a:extLst>
              <a:ext uri="{C183D7F6-B498-43B3-948B-1728B52AA6E4}">
                <adec:decorative xmlns:adec="http://schemas.microsoft.com/office/drawing/2017/decorative" val="1"/>
              </a:ext>
            </a:extLst>
          </p:cNvPr>
          <p:cNvSpPr/>
          <p:nvPr/>
        </p:nvSpPr>
        <p:spPr>
          <a:xfrm>
            <a:off x="658368" y="471586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73872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9757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Leaving utilities implicit.</a:t>
            </a:r>
            <a:r>
              <a:rPr sz="1700" b="0" i="0">
                <a:solidFill>
                  <a:srgbClr val="1C252B"/>
                </a:solidFill>
                <a:latin typeface="Segoe UI"/>
              </a:rPr>
              <a:t> They decide the answer as much as the probabilities do, and unlike the probabilities nobody measures them. Write them down so they can be disputed.</a:t>
            </a:r>
          </a:p>
        </p:txBody>
      </p:sp>
      <p:sp>
        <p:nvSpPr>
          <p:cNvPr id="22" name="!!pb5">
            <a:extLst>
              <a:ext uri="{C183D7F6-B498-43B3-948B-1728B52AA6E4}">
                <adec:decorative xmlns:adec="http://schemas.microsoft.com/office/drawing/2017/decorative" val="1"/>
              </a:ext>
            </a:extLst>
          </p:cNvPr>
          <p:cNvSpPr/>
          <p:nvPr/>
        </p:nvSpPr>
        <p:spPr>
          <a:xfrm>
            <a:off x="658368" y="545591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47877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437631"/>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independence to make the arithmetic easy.</a:t>
            </a:r>
            <a:r>
              <a:rPr sz="1700" b="0" i="0">
                <a:solidFill>
                  <a:srgbClr val="1C252B"/>
                </a:solidFill>
                <a:latin typeface="Segoe UI"/>
              </a:rPr>
              <a:t> Two symptoms of the same cause are </a:t>
            </a:r>
            <a:r>
              <a:rPr sz="1700" b="0" i="1">
                <a:solidFill>
                  <a:srgbClr val="1C252B"/>
                </a:solidFill>
                <a:latin typeface="Segoe UI"/>
              </a:rPr>
              <a:t>not</a:t>
            </a:r>
            <a:r>
              <a:rPr sz="1700" b="0" i="0">
                <a:solidFill>
                  <a:srgbClr val="1C252B"/>
                </a:solidFill>
                <a:latin typeface="Segoe UI"/>
              </a:rPr>
              <a:t> independent, and treating them as such double-counts the evidence. They may be conditionally independent </a:t>
            </a:r>
            <a:r>
              <a:rPr sz="1700" b="0" i="1">
                <a:solidFill>
                  <a:srgbClr val="1C252B"/>
                </a:solidFill>
                <a:latin typeface="Segoe UI"/>
              </a:rPr>
              <a:t>given</a:t>
            </a:r>
            <a:r>
              <a:rPr sz="1700" b="0" i="0">
                <a:solidFill>
                  <a:srgbClr val="1C252B"/>
                </a:solidFill>
                <a:latin typeface="Segoe UI"/>
              </a:rPr>
              <a:t> the cause, which is a different claim — and the one Chapter 15 is built on.</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598083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15A36657-FC21-4FF0-825E-FFB966C26709}" type="slidenum">
              <a:rPr lang="en-GB" sz="1000">
                <a:solidFill>
                  <a:srgbClr val="8795A1"/>
                </a:solidFill>
                <a:latin typeface="Segoe UI"/>
              </a:rPr>
              <a:t>27</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Bayes’ rule with exact arithmetic, the decision, the flip point and the value of information. Every number the chapter quotes is computed here.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2879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smoke test</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What each outcome is worth</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The decision</a:t>
            </a:r>
          </a:p>
          <a:p>
            <a:pPr algn="l" marL="459473" indent="-459473">
              <a:lnSpc>
                <a:spcPct val="100000"/>
              </a:lnSpc>
              <a:spcBef>
                <a:spcPts val="0"/>
              </a:spcBef>
              <a:spcAft>
                <a:spcPts val="570"/>
              </a:spcAft>
            </a:pPr>
            <a:r>
              <a:rPr sz="1900" b="1">
                <a:solidFill>
                  <a:srgbClr val="117A65"/>
                </a:solidFill>
                <a:latin typeface="Segoe UI"/>
              </a:rPr>
              <a:t>4.	</a:t>
            </a:r>
            <a:r>
              <a:rPr sz="1900" b="0" i="0">
                <a:solidFill>
                  <a:srgbClr val="1C252B"/>
                </a:solidFill>
                <a:latin typeface="Segoe UI"/>
              </a:rPr>
              <a:t>The value of information</a:t>
            </a:r>
          </a:p>
          <a:p>
            <a:pPr algn="l" marL="459473" indent="-459473">
              <a:lnSpc>
                <a:spcPct val="100000"/>
              </a:lnSpc>
              <a:spcBef>
                <a:spcPts val="0"/>
              </a:spcBef>
              <a:spcAft>
                <a:spcPts val="0"/>
              </a:spcAft>
            </a:pPr>
            <a:r>
              <a:rPr sz="1900" b="1">
                <a:solidFill>
                  <a:srgbClr val="117A65"/>
                </a:solidFill>
                <a:latin typeface="Segoe UI"/>
              </a:rPr>
              <a:t>5.	</a:t>
            </a:r>
            <a:r>
              <a:rPr sz="1900" b="0" i="0">
                <a:solidFill>
                  <a:srgbClr val="1C252B"/>
                </a:solidFill>
                <a:latin typeface="Segoe UI"/>
              </a:rPr>
              <a:t>And the utilities matter as much as the probabilities</a:t>
            </a:r>
          </a:p>
        </p:txBody>
      </p:sp>
      <p:sp>
        <p:nvSpPr>
          <p:cNvPr id="2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300" b="0" i="0">
                <a:solidFill>
                  <a:srgbClr val="1C252B"/>
                </a:solidFill>
                <a:latin typeface="Segoe UI"/>
              </a:rPr>
              <a:t>Week 13: Go/no-go under uncertainty; diagnosing a defect cause</a:t>
            </a:r>
          </a:p>
        </p:txBody>
      </p:sp>
      <p:sp>
        <p:nvSpPr>
          <p:cNvPr id="3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148 lines of Python</a:t>
            </a:r>
          </a:p>
        </p:txBody>
      </p:sp>
      <p:sp>
        <p:nvSpPr>
          <p:cNvPr id="3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code/ch14_go_no_go_under.py</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621086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EE450BA5-024A-4869-87F2-36ED9AA86CEB}"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quot;&quot;&quot;Chapter 14 lab -- ship now or delay a week. Fractions throughout, so every printed number can be checked by hand against the natural-frequency tree of Figure 14.1. &quot;&quot;&quot; from fractions import Fraction as F"/>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14 lab -- ship now or delay a week.</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Fractions throughout, so every printed number can be checked by hand</a:t>
            </a:r>
          </a:p>
          <a:p>
            <a:pPr>
              <a:lnSpc>
                <a:spcPct val="100000"/>
              </a:lnSpc>
              <a:spcAft>
                <a:spcPts val="0"/>
              </a:spcAft>
            </a:pPr>
            <a:r>
              <a:rPr sz="2000" i="0">
                <a:solidFill>
                  <a:srgbClr val="7DCEA0"/>
                </a:solidFill>
                <a:latin typeface="Consolas"/>
              </a:rPr>
              <a:t>against the natural-frequency tree of Figure 14.1.</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fractions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Fraction</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E8EDF2"/>
                </a:solidFill>
                <a:latin typeface="Consolas"/>
              </a:rPr>
              <a:t>F</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44089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DC145434-A6F2-4503-83B6-18142E6947D0}"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smoke test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61743"/>
          </a:xfrm>
          <a:prstGeom prst="roundRect">
            <a:avLst>
              <a:gd name="adj" fmla="val 519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 the smoke test ----------------------------------------------- P_DEFECT = F(1, 10) # one release in ten has a serious defect SENS = F(9, 10) # P(alarm | defect) FPR = F(2, 10) # P(alarm | no defect)"/>
          <p:cNvSpPr txBox="1"/>
          <p:nvPr/>
        </p:nvSpPr>
        <p:spPr>
          <a:xfrm>
            <a:off x="1362456" y="2523744"/>
            <a:ext cx="9987991" cy="126796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the smoke test -----------------------------------------------</a:t>
            </a:r>
          </a:p>
          <a:p>
            <a:pPr>
              <a:lnSpc>
                <a:spcPct val="100000"/>
              </a:lnSpc>
              <a:spcAft>
                <a:spcPts val="0"/>
              </a:spcAft>
            </a:pPr>
            <a:r>
              <a:rPr sz="1900" i="0">
                <a:solidFill>
                  <a:srgbClr val="E8EDF2"/>
                </a:solidFill>
                <a:latin typeface="Consolas"/>
              </a:rPr>
              <a:t>P_DEFECT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one release in ten has a serious defect</a:t>
            </a:r>
          </a:p>
          <a:p>
            <a:pPr>
              <a:lnSpc>
                <a:spcPct val="100000"/>
              </a:lnSpc>
              <a:spcAft>
                <a:spcPts val="0"/>
              </a:spcAft>
            </a:pPr>
            <a:r>
              <a:rPr sz="1900" i="0">
                <a:solidFill>
                  <a:srgbClr val="E8EDF2"/>
                </a:solidFill>
                <a:latin typeface="Consolas"/>
              </a:rPr>
              <a:t>SENS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a:t>
            </a:r>
            <a:r>
              <a:rPr sz="1900" i="0">
                <a:solidFill>
                  <a:srgbClr val="AEB6BF"/>
                </a:solidFill>
                <a:latin typeface="Consolas"/>
              </a:rPr>
              <a:t>(</a:t>
            </a:r>
            <a:r>
              <a:rPr sz="1900" i="0">
                <a:solidFill>
                  <a:srgbClr val="F7DC6F"/>
                </a:solidFill>
                <a:latin typeface="Consolas"/>
              </a:rPr>
              <a:t>9</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P(alarm | defect)</a:t>
            </a:r>
          </a:p>
          <a:p>
            <a:pPr>
              <a:lnSpc>
                <a:spcPct val="100000"/>
              </a:lnSpc>
              <a:spcAft>
                <a:spcPts val="0"/>
              </a:spcAft>
            </a:pPr>
            <a:r>
              <a:rPr sz="1900" i="0">
                <a:solidFill>
                  <a:srgbClr val="E8EDF2"/>
                </a:solidFill>
                <a:latin typeface="Consolas"/>
              </a:rPr>
              <a:t>FPR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a:t>
            </a:r>
            <a:r>
              <a:rPr sz="1900" i="0">
                <a:solidFill>
                  <a:srgbClr val="AEB6BF"/>
                </a:solidFill>
                <a:latin typeface="Consolas"/>
              </a:rPr>
              <a:t>(</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P(alarm | no defect)</a:t>
            </a:r>
          </a:p>
        </p:txBody>
      </p:sp>
      <p:sp>
        <p:nvSpPr>
          <p:cNvPr id="15" name="!!code-num"/>
          <p:cNvSpPr txBox="1"/>
          <p:nvPr/>
        </p:nvSpPr>
        <p:spPr>
          <a:xfrm>
            <a:off x="768096" y="2523744"/>
            <a:ext cx="393192" cy="126796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10</a:t>
            </a:r>
          </a:p>
          <a:p>
            <a:pPr algn="r">
              <a:lnSpc>
                <a:spcPct val="100000"/>
              </a:lnSpc>
            </a:pPr>
            <a:r>
              <a:rPr sz="1900">
                <a:solidFill>
                  <a:srgbClr val="4F5D6A"/>
                </a:solidFill>
                <a:latin typeface="Consolas"/>
              </a:rPr>
              <a:t>11</a:t>
            </a:r>
          </a:p>
          <a:p>
            <a:pPr algn="r">
              <a:lnSpc>
                <a:spcPct val="100000"/>
              </a:lnSpc>
            </a:pPr>
            <a:r>
              <a:rPr sz="1900">
                <a:solidFill>
                  <a:srgbClr val="4F5D6A"/>
                </a:solidFill>
                <a:latin typeface="Consolas"/>
              </a:rPr>
              <a:t>12</a:t>
            </a:r>
          </a:p>
          <a:p>
            <a:pPr algn="r">
              <a:lnSpc>
                <a:spcPct val="100000"/>
              </a:lnSpc>
            </a:pPr>
            <a:r>
              <a:rPr sz="1900">
                <a:solidFill>
                  <a:srgbClr val="4F5D6A"/>
                </a:solidFill>
                <a:latin typeface="Consolas"/>
              </a:rPr>
              <a:t>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67092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509F8C7E-79F5-4CBD-9FCC-F31DA6673011}"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outcome is worth</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 what each outcome is worth ----------------------------------- UTIL = { (&quot;ship&quot;, &quot;defect&quot;): -100, # incident, rollback, reputation (&quot;ship&quot;, &quot;ok&quot;): 40, # a week of revenue earned early (&quot;delay&quot;, &quot;defect&quot;): -5, # caught it; a small slip (&quot;delay&quot;, &quot;ok&quot;): -10, # a week lost for nothing } ACTIONS = (&quot;ship&quot;, &quot;delay&quot;) def posterior(prior, sens, fpr, alarm=True): &quot;&quot;&quot;Bayes' rule. P(defect | alarm) or P(defect | no alarm).&quot;&quot;&quot; like_d = sens if alarm else 1 - sens like_ok = fpr if alarm else 1 - fpr return (like_d * prior) / (like_d * prior + like_ok * (1 - prior)) def eu(action, p): return UTIL[(action, &quot;defect&quot;)] * p + UTIL[(action, &quot;ok&quot;)] * (1 - p)"/>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1">
                <a:solidFill>
                  <a:srgbClr val="8795A1"/>
                </a:solidFill>
                <a:latin typeface="Consolas"/>
              </a:rPr>
              <a:t># --- what each outcome is worth -----------------------------------</a:t>
            </a:r>
          </a:p>
          <a:p>
            <a:pPr>
              <a:lnSpc>
                <a:spcPct val="100000"/>
              </a:lnSpc>
              <a:spcAft>
                <a:spcPts val="0"/>
              </a:spcAft>
            </a:pPr>
            <a:r>
              <a:rPr sz="1200" i="0">
                <a:solidFill>
                  <a:srgbClr val="E8EDF2"/>
                </a:solidFill>
                <a:latin typeface="Consolas"/>
              </a:rPr>
              <a:t>UTIL</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defect</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100</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incident, rollback, reputation</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ok</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40</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a week of revenue earned early</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delay</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defect</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5</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caught it; a small slip</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delay</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ok</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10</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a week lost for nothing</a:t>
            </a:r>
          </a:p>
          <a:p>
            <a:pPr>
              <a:lnSpc>
                <a:spcPct val="100000"/>
              </a:lnSpc>
              <a:spcAft>
                <a:spcPts val="0"/>
              </a:spcAft>
            </a:pPr>
            <a:r>
              <a:rPr sz="1200" i="0">
                <a:solidFill>
                  <a:srgbClr val="AEB6BF"/>
                </a:solidFill>
                <a:latin typeface="Consolas"/>
              </a:rPr>
              <a:t>}</a:t>
            </a:r>
          </a:p>
          <a:p>
            <a:pPr>
              <a:lnSpc>
                <a:spcPct val="100000"/>
              </a:lnSpc>
              <a:spcAft>
                <a:spcPts val="0"/>
              </a:spcAft>
            </a:pPr>
            <a:r>
              <a:rPr sz="1200" i="0">
                <a:solidFill>
                  <a:srgbClr val="E8EDF2"/>
                </a:solidFill>
                <a:latin typeface="Consolas"/>
              </a:rPr>
              <a:t>ACTIONS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delay</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a:latin typeface="Consolas"/>
              </a:rPr>
              <a:t> </a:t>
            </a:r>
          </a:p>
          <a:p>
            <a:pPr>
              <a:lnSpc>
                <a:spcPct val="100000"/>
              </a:lnSpc>
              <a:spcAft>
                <a:spcPts val="0"/>
              </a:spcAft>
            </a:pPr>
            <a:r>
              <a:rPr sz="1200">
                <a:latin typeface="Consolas"/>
              </a:rPr>
              <a:t> </a:t>
            </a:r>
          </a:p>
          <a:p>
            <a:pPr>
              <a:lnSpc>
                <a:spcPct val="100000"/>
              </a:lnSpc>
              <a:spcAft>
                <a:spcPts val="0"/>
              </a:spcAft>
            </a:pPr>
            <a:r>
              <a:rPr sz="1200" i="0">
                <a:solidFill>
                  <a:srgbClr val="5DADE2"/>
                </a:solidFill>
                <a:latin typeface="Consolas"/>
              </a:rPr>
              <a:t>def</a:t>
            </a:r>
            <a:r>
              <a:rPr sz="1200" i="0">
                <a:solidFill>
                  <a:srgbClr val="E8EDF2"/>
                </a:solidFill>
                <a:latin typeface="Consolas"/>
              </a:rPr>
              <a:t> </a:t>
            </a:r>
            <a:r>
              <a:rPr sz="1200" i="0">
                <a:solidFill>
                  <a:srgbClr val="C39BD3"/>
                </a:solidFill>
                <a:latin typeface="Consolas"/>
              </a:rPr>
              <a:t>posterior</a:t>
            </a:r>
            <a:r>
              <a:rPr sz="1200" i="0">
                <a:solidFill>
                  <a:srgbClr val="AEB6BF"/>
                </a:solidFill>
                <a:latin typeface="Consolas"/>
              </a:rPr>
              <a:t>(</a:t>
            </a:r>
            <a:r>
              <a:rPr sz="1200" i="0">
                <a:solidFill>
                  <a:srgbClr val="E8EDF2"/>
                </a:solidFill>
                <a:latin typeface="Consolas"/>
              </a:rPr>
              <a:t>prior</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sens</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fpr</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alarm</a:t>
            </a:r>
            <a:r>
              <a:rPr sz="1200" i="0">
                <a:solidFill>
                  <a:srgbClr val="AEB6BF"/>
                </a:solidFill>
                <a:latin typeface="Consolas"/>
              </a:rPr>
              <a:t>=</a:t>
            </a:r>
            <a:r>
              <a:rPr sz="1200" i="0">
                <a:solidFill>
                  <a:srgbClr val="5DADE2"/>
                </a:solidFill>
                <a:latin typeface="Consolas"/>
              </a:rPr>
              <a:t>True</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7DCEA0"/>
                </a:solidFill>
                <a:latin typeface="Consolas"/>
              </a:rPr>
              <a:t>"""Bayes' rule. P(defect | alarm) or P(defect | no alarm)."""</a:t>
            </a:r>
          </a:p>
          <a:p>
            <a:pPr>
              <a:lnSpc>
                <a:spcPct val="100000"/>
              </a:lnSpc>
              <a:spcAft>
                <a:spcPts val="0"/>
              </a:spcAft>
            </a:pPr>
            <a:r>
              <a:rPr sz="1200" i="0">
                <a:solidFill>
                  <a:srgbClr val="E8EDF2"/>
                </a:solidFill>
                <a:latin typeface="Consolas"/>
              </a:rPr>
              <a:t>    </a:t>
            </a:r>
            <a:r>
              <a:rPr sz="1200" i="0">
                <a:solidFill>
                  <a:srgbClr val="E8EDF2"/>
                </a:solidFill>
                <a:latin typeface="Consolas"/>
              </a:rPr>
              <a:t>like_d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sens</a:t>
            </a: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alarm</a:t>
            </a:r>
            <a:r>
              <a:rPr sz="1200" i="0">
                <a:solidFill>
                  <a:srgbClr val="E8EDF2"/>
                </a:solidFill>
                <a:latin typeface="Consolas"/>
              </a:rPr>
              <a:t> </a:t>
            </a:r>
            <a:r>
              <a:rPr sz="1200" i="0">
                <a:solidFill>
                  <a:srgbClr val="5DADE2"/>
                </a:solidFill>
                <a:latin typeface="Consolas"/>
              </a:rPr>
              <a:t>else</a:t>
            </a:r>
            <a:r>
              <a:rPr sz="1200" i="0">
                <a:solidFill>
                  <a:srgbClr val="E8EDF2"/>
                </a:solidFill>
                <a:latin typeface="Consolas"/>
              </a:rPr>
              <a:t> </a:t>
            </a:r>
            <a:r>
              <a:rPr sz="1200" i="0">
                <a:solidFill>
                  <a:srgbClr val="F7DC6F"/>
                </a:solidFill>
                <a:latin typeface="Consolas"/>
              </a:rPr>
              <a:t>1</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sens</a:t>
            </a:r>
          </a:p>
          <a:p>
            <a:pPr>
              <a:lnSpc>
                <a:spcPct val="100000"/>
              </a:lnSpc>
              <a:spcAft>
                <a:spcPts val="0"/>
              </a:spcAft>
            </a:pPr>
            <a:r>
              <a:rPr sz="1200" i="0">
                <a:solidFill>
                  <a:srgbClr val="E8EDF2"/>
                </a:solidFill>
                <a:latin typeface="Consolas"/>
              </a:rPr>
              <a:t>    </a:t>
            </a:r>
            <a:r>
              <a:rPr sz="1200" i="0">
                <a:solidFill>
                  <a:srgbClr val="E8EDF2"/>
                </a:solidFill>
                <a:latin typeface="Consolas"/>
              </a:rPr>
              <a:t>like_ok</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fpr</a:t>
            </a: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alarm</a:t>
            </a:r>
            <a:r>
              <a:rPr sz="1200" i="0">
                <a:solidFill>
                  <a:srgbClr val="E8EDF2"/>
                </a:solidFill>
                <a:latin typeface="Consolas"/>
              </a:rPr>
              <a:t> </a:t>
            </a:r>
            <a:r>
              <a:rPr sz="1200" i="0">
                <a:solidFill>
                  <a:srgbClr val="5DADE2"/>
                </a:solidFill>
                <a:latin typeface="Consolas"/>
              </a:rPr>
              <a:t>else</a:t>
            </a:r>
            <a:r>
              <a:rPr sz="1200" i="0">
                <a:solidFill>
                  <a:srgbClr val="E8EDF2"/>
                </a:solidFill>
                <a:latin typeface="Consolas"/>
              </a:rPr>
              <a:t> </a:t>
            </a:r>
            <a:r>
              <a:rPr sz="1200" i="0">
                <a:solidFill>
                  <a:srgbClr val="F7DC6F"/>
                </a:solidFill>
                <a:latin typeface="Consolas"/>
              </a:rPr>
              <a:t>1</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fpr</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like_d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prior</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like_d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prior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like_ok</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1</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prior</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a:latin typeface="Consolas"/>
              </a:rPr>
              <a:t> </a:t>
            </a:r>
          </a:p>
          <a:p>
            <a:pPr>
              <a:lnSpc>
                <a:spcPct val="100000"/>
              </a:lnSpc>
              <a:spcAft>
                <a:spcPts val="0"/>
              </a:spcAft>
            </a:pPr>
            <a:r>
              <a:rPr sz="1200">
                <a:latin typeface="Consolas"/>
              </a:rPr>
              <a:t> </a:t>
            </a:r>
          </a:p>
          <a:p>
            <a:pPr>
              <a:lnSpc>
                <a:spcPct val="100000"/>
              </a:lnSpc>
              <a:spcAft>
                <a:spcPts val="0"/>
              </a:spcAft>
            </a:pPr>
            <a:r>
              <a:rPr sz="1200" i="0">
                <a:solidFill>
                  <a:srgbClr val="5DADE2"/>
                </a:solidFill>
                <a:latin typeface="Consolas"/>
              </a:rPr>
              <a:t>def</a:t>
            </a:r>
            <a:r>
              <a:rPr sz="1200" i="0">
                <a:solidFill>
                  <a:srgbClr val="E8EDF2"/>
                </a:solidFill>
                <a:latin typeface="Consolas"/>
              </a:rPr>
              <a:t> </a:t>
            </a:r>
            <a:r>
              <a:rPr sz="1200" i="0">
                <a:solidFill>
                  <a:srgbClr val="C39BD3"/>
                </a:solidFill>
                <a:latin typeface="Consolas"/>
              </a:rPr>
              <a:t>eu</a:t>
            </a:r>
            <a:r>
              <a:rPr sz="1200" i="0">
                <a:solidFill>
                  <a:srgbClr val="AEB6BF"/>
                </a:solidFill>
                <a:latin typeface="Consolas"/>
              </a:rPr>
              <a:t>(</a:t>
            </a:r>
            <a:r>
              <a:rPr sz="1200" i="0">
                <a:solidFill>
                  <a:srgbClr val="E8EDF2"/>
                </a:solidFill>
                <a:latin typeface="Consolas"/>
              </a:rPr>
              <a:t>action</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UTIL</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action</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defect</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UTIL</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action</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ok</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1</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a:t>
            </a: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15</a:t>
            </a:r>
          </a:p>
          <a:p>
            <a:pPr algn="r">
              <a:lnSpc>
                <a:spcPct val="100000"/>
              </a:lnSpc>
            </a:pPr>
            <a:r>
              <a:rPr sz="1200">
                <a:solidFill>
                  <a:srgbClr val="4F5D6A"/>
                </a:solidFill>
                <a:latin typeface="Consolas"/>
              </a:rPr>
              <a:t>16</a:t>
            </a:r>
          </a:p>
          <a:p>
            <a:pPr algn="r">
              <a:lnSpc>
                <a:spcPct val="100000"/>
              </a:lnSpc>
            </a:pPr>
            <a:r>
              <a:rPr sz="1200">
                <a:solidFill>
                  <a:srgbClr val="4F5D6A"/>
                </a:solidFill>
                <a:latin typeface="Consolas"/>
              </a:rPr>
              <a:t>17</a:t>
            </a:r>
          </a:p>
          <a:p>
            <a:pPr algn="r">
              <a:lnSpc>
                <a:spcPct val="100000"/>
              </a:lnSpc>
            </a:pPr>
            <a:r>
              <a:rPr sz="1200">
                <a:solidFill>
                  <a:srgbClr val="4F5D6A"/>
                </a:solidFill>
                <a:latin typeface="Consolas"/>
              </a:rPr>
              <a:t>18</a:t>
            </a:r>
          </a:p>
          <a:p>
            <a:pPr algn="r">
              <a:lnSpc>
                <a:spcPct val="100000"/>
              </a:lnSpc>
            </a:pPr>
            <a:r>
              <a:rPr sz="1200">
                <a:solidFill>
                  <a:srgbClr val="4F5D6A"/>
                </a:solidFill>
                <a:latin typeface="Consolas"/>
              </a:rPr>
              <a:t>19</a:t>
            </a:r>
          </a:p>
          <a:p>
            <a:pPr algn="r">
              <a:lnSpc>
                <a:spcPct val="100000"/>
              </a:lnSpc>
            </a:pPr>
            <a:r>
              <a:rPr sz="1200">
                <a:solidFill>
                  <a:srgbClr val="4F5D6A"/>
                </a:solidFill>
                <a:latin typeface="Consolas"/>
              </a:rPr>
              <a:t>20</a:t>
            </a:r>
          </a:p>
          <a:p>
            <a:pPr algn="r">
              <a:lnSpc>
                <a:spcPct val="100000"/>
              </a:lnSpc>
            </a:pPr>
            <a:r>
              <a:rPr sz="1200">
                <a:solidFill>
                  <a:srgbClr val="4F5D6A"/>
                </a:solidFill>
                <a:latin typeface="Consolas"/>
              </a:rPr>
              <a:t>21</a:t>
            </a:r>
          </a:p>
          <a:p>
            <a:pPr algn="r">
              <a:lnSpc>
                <a:spcPct val="100000"/>
              </a:lnSpc>
            </a:pPr>
            <a:r>
              <a:rPr sz="1200">
                <a:solidFill>
                  <a:srgbClr val="4F5D6A"/>
                </a:solidFill>
                <a:latin typeface="Consolas"/>
              </a:rPr>
              <a:t>22</a:t>
            </a:r>
          </a:p>
          <a:p>
            <a:pPr algn="r">
              <a:lnSpc>
                <a:spcPct val="100000"/>
              </a:lnSpc>
            </a:pPr>
            <a:r>
              <a:rPr sz="1200">
                <a:solidFill>
                  <a:srgbClr val="4F5D6A"/>
                </a:solidFill>
                <a:latin typeface="Consolas"/>
              </a:rPr>
              <a:t>23</a:t>
            </a:r>
          </a:p>
          <a:p>
            <a:pPr algn="r">
              <a:lnSpc>
                <a:spcPct val="100000"/>
              </a:lnSpc>
            </a:pPr>
            <a:r>
              <a:rPr sz="1200">
                <a:solidFill>
                  <a:srgbClr val="4F5D6A"/>
                </a:solidFill>
                <a:latin typeface="Consolas"/>
              </a:rPr>
              <a:t>24</a:t>
            </a:r>
          </a:p>
          <a:p>
            <a:pPr algn="r">
              <a:lnSpc>
                <a:spcPct val="100000"/>
              </a:lnSpc>
            </a:pPr>
            <a:r>
              <a:rPr sz="1200">
                <a:solidFill>
                  <a:srgbClr val="4F5D6A"/>
                </a:solidFill>
                <a:latin typeface="Consolas"/>
              </a:rPr>
              <a:t>25</a:t>
            </a:r>
          </a:p>
          <a:p>
            <a:pPr algn="r">
              <a:lnSpc>
                <a:spcPct val="100000"/>
              </a:lnSpc>
            </a:pPr>
            <a:r>
              <a:rPr sz="1200">
                <a:solidFill>
                  <a:srgbClr val="4F5D6A"/>
                </a:solidFill>
                <a:latin typeface="Consolas"/>
              </a:rPr>
              <a:t>26</a:t>
            </a:r>
          </a:p>
          <a:p>
            <a:pPr algn="r">
              <a:lnSpc>
                <a:spcPct val="100000"/>
              </a:lnSpc>
            </a:pPr>
            <a:r>
              <a:rPr sz="1200">
                <a:solidFill>
                  <a:srgbClr val="4F5D6A"/>
                </a:solidFill>
                <a:latin typeface="Consolas"/>
              </a:rPr>
              <a:t>27</a:t>
            </a:r>
          </a:p>
          <a:p>
            <a:pPr algn="r">
              <a:lnSpc>
                <a:spcPct val="100000"/>
              </a:lnSpc>
            </a:pPr>
            <a:r>
              <a:rPr sz="1200">
                <a:solidFill>
                  <a:srgbClr val="4F5D6A"/>
                </a:solidFill>
                <a:latin typeface="Consolas"/>
              </a:rPr>
              <a:t>28</a:t>
            </a:r>
          </a:p>
          <a:p>
            <a:pPr algn="r">
              <a:lnSpc>
                <a:spcPct val="100000"/>
              </a:lnSpc>
            </a:pPr>
            <a:r>
              <a:rPr sz="1200">
                <a:solidFill>
                  <a:srgbClr val="4F5D6A"/>
                </a:solidFill>
                <a:latin typeface="Consolas"/>
              </a:rPr>
              <a:t>29</a:t>
            </a:r>
          </a:p>
          <a:p>
            <a:pPr algn="r">
              <a:lnSpc>
                <a:spcPct val="100000"/>
              </a:lnSpc>
            </a:pPr>
            <a:r>
              <a:rPr sz="1200">
                <a:solidFill>
                  <a:srgbClr val="4F5D6A"/>
                </a:solidFill>
                <a:latin typeface="Consolas"/>
              </a:rPr>
              <a:t>30</a:t>
            </a:r>
          </a:p>
          <a:p>
            <a:pPr algn="r">
              <a:lnSpc>
                <a:spcPct val="100000"/>
              </a:lnSpc>
            </a:pPr>
            <a:r>
              <a:rPr sz="1200">
                <a:solidFill>
                  <a:srgbClr val="4F5D6A"/>
                </a:solidFill>
                <a:latin typeface="Consolas"/>
              </a:rPr>
              <a:t>31</a:t>
            </a:r>
          </a:p>
          <a:p>
            <a:pPr algn="r">
              <a:lnSpc>
                <a:spcPct val="100000"/>
              </a:lnSpc>
            </a:pPr>
            <a:r>
              <a:rPr sz="1200">
                <a:solidFill>
                  <a:srgbClr val="4F5D6A"/>
                </a:solidFill>
                <a:latin typeface="Consolas"/>
              </a:rPr>
              <a:t>32</a:t>
            </a:r>
          </a:p>
          <a:p>
            <a:pPr algn="r">
              <a:lnSpc>
                <a:spcPct val="100000"/>
              </a:lnSpc>
            </a:pPr>
            <a:r>
              <a:rPr sz="1200">
                <a:solidFill>
                  <a:srgbClr val="4F5D6A"/>
                </a:solidFill>
                <a:latin typeface="Consolas"/>
              </a:rPr>
              <a:t>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0095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9B08711E-A3DC-4EE2-AADC-28F9097154ED}"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outcome is worth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def best(p): a = max(ACTIONS, key=lambda x: eu(x, p)) return a, eu(a, p) def vpi(p): &quot;&quot;&quot;Value of perfect information about the defect.&quot;&quot;&quot; informed = (p * max(UTIL[(a, &quot;defect&quot;)] for a in ACTIONS) + (1 - p) * max(UTIL[(a, &quot;ok&quot;)] for a in ACTIONS)) return informed - best(p)[1]"/>
          <p:cNvSpPr txBox="1"/>
          <p:nvPr/>
        </p:nvSpPr>
        <p:spPr>
          <a:xfrm>
            <a:off x="1362456" y="2523744"/>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best</a:t>
            </a:r>
            <a:r>
              <a:rPr sz="2000" i="0">
                <a:solidFill>
                  <a:srgbClr val="AEB6BF"/>
                </a:solidFill>
                <a:latin typeface="Consolas"/>
              </a:rPr>
              <a:t>(</a:t>
            </a:r>
            <a:r>
              <a:rPr sz="2000" i="0">
                <a:solidFill>
                  <a:srgbClr val="E8EDF2"/>
                </a:solidFill>
                <a:latin typeface="Consolas"/>
              </a:rPr>
              <a:t>p</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max</a:t>
            </a:r>
            <a:r>
              <a:rPr sz="2000" i="0">
                <a:solidFill>
                  <a:srgbClr val="AEB6BF"/>
                </a:solidFill>
                <a:latin typeface="Consolas"/>
              </a:rPr>
              <a:t>(</a:t>
            </a:r>
            <a:r>
              <a:rPr sz="2000" i="0">
                <a:solidFill>
                  <a:srgbClr val="E8EDF2"/>
                </a:solidFill>
                <a:latin typeface="Consolas"/>
              </a:rPr>
              <a:t>ACTIONS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key</a:t>
            </a:r>
            <a:r>
              <a:rPr sz="2000" i="0">
                <a:solidFill>
                  <a:srgbClr val="AEB6BF"/>
                </a:solidFill>
                <a:latin typeface="Consolas"/>
              </a:rPr>
              <a:t>=</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eu</a:t>
            </a:r>
            <a:r>
              <a:rPr sz="2000" i="0">
                <a:solidFill>
                  <a:srgbClr val="AEB6BF"/>
                </a:solidFill>
                <a:latin typeface="Consolas"/>
              </a:rPr>
              <a:t>(</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eu</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vpi</a:t>
            </a:r>
            <a:r>
              <a:rPr sz="2000" i="0">
                <a:solidFill>
                  <a:srgbClr val="AEB6BF"/>
                </a:solidFill>
                <a:latin typeface="Consolas"/>
              </a:rPr>
              <a:t>(</a:t>
            </a:r>
            <a:r>
              <a:rPr sz="2000" i="0">
                <a:solidFill>
                  <a:srgbClr val="E8EDF2"/>
                </a:solidFill>
                <a:latin typeface="Consolas"/>
              </a:rPr>
              <a:t>p</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"""Value of perfect information about the defect."""</a:t>
            </a:r>
          </a:p>
          <a:p>
            <a:pPr>
              <a:lnSpc>
                <a:spcPct val="100000"/>
              </a:lnSpc>
              <a:spcAft>
                <a:spcPts val="0"/>
              </a:spcAft>
            </a:pPr>
            <a:r>
              <a:rPr sz="2000" i="0">
                <a:solidFill>
                  <a:srgbClr val="E8EDF2"/>
                </a:solidFill>
                <a:latin typeface="Consolas"/>
              </a:rPr>
              <a:t>    </a:t>
            </a:r>
            <a:r>
              <a:rPr sz="2000" i="0">
                <a:solidFill>
                  <a:srgbClr val="E8EDF2"/>
                </a:solidFill>
                <a:latin typeface="Consolas"/>
              </a:rPr>
              <a:t>informed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p</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max</a:t>
            </a:r>
            <a:r>
              <a:rPr sz="2000" i="0">
                <a:solidFill>
                  <a:srgbClr val="AEB6BF"/>
                </a:solidFill>
                <a:latin typeface="Consolas"/>
              </a:rPr>
              <a:t>(</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defect</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ACTIONS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F7DC6F"/>
                </a:solidFill>
                <a:latin typeface="Consolas"/>
              </a:rPr>
              <a:t>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max</a:t>
            </a:r>
            <a:r>
              <a:rPr sz="2000" i="0">
                <a:solidFill>
                  <a:srgbClr val="AEB6BF"/>
                </a:solidFill>
                <a:latin typeface="Consolas"/>
              </a:rPr>
              <a:t>(</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ok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ACTIONS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informed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best</a:t>
            </a:r>
            <a:r>
              <a:rPr sz="2000" i="0">
                <a:solidFill>
                  <a:srgbClr val="AEB6BF"/>
                </a:solidFill>
                <a:latin typeface="Consolas"/>
              </a:rPr>
              <a:t>(</a:t>
            </a:r>
            <a:r>
              <a:rPr sz="2000" i="0">
                <a:solidFill>
                  <a:srgbClr val="E8EDF2"/>
                </a:solidFill>
                <a:latin typeface="Consolas"/>
              </a:rPr>
              <a:t>p</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p>
        </p:txBody>
      </p:sp>
      <p:sp>
        <p:nvSpPr>
          <p:cNvPr id="15" name="!!code-num"/>
          <p:cNvSpPr txBox="1"/>
          <p:nvPr/>
        </p:nvSpPr>
        <p:spPr>
          <a:xfrm>
            <a:off x="768096" y="2523744"/>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36</a:t>
            </a:r>
          </a:p>
          <a:p>
            <a:pPr algn="r">
              <a:lnSpc>
                <a:spcPct val="100000"/>
              </a:lnSpc>
            </a:pPr>
            <a:r>
              <a:rPr sz="2000">
                <a:solidFill>
                  <a:srgbClr val="4F5D6A"/>
                </a:solidFill>
                <a:latin typeface="Consolas"/>
              </a:rPr>
              <a:t>37</a:t>
            </a:r>
          </a:p>
          <a:p>
            <a:pPr algn="r">
              <a:lnSpc>
                <a:spcPct val="100000"/>
              </a:lnSpc>
            </a:pPr>
            <a:r>
              <a:rPr sz="2000">
                <a:solidFill>
                  <a:srgbClr val="4F5D6A"/>
                </a:solidFill>
                <a:latin typeface="Consolas"/>
              </a:rPr>
              <a:t>38</a:t>
            </a:r>
          </a:p>
          <a:p>
            <a:pPr algn="r">
              <a:lnSpc>
                <a:spcPct val="100000"/>
              </a:lnSpc>
            </a:pPr>
            <a:r>
              <a:rPr sz="2000">
                <a:solidFill>
                  <a:srgbClr val="4F5D6A"/>
                </a:solidFill>
                <a:latin typeface="Consolas"/>
              </a:rPr>
              <a:t>39</a:t>
            </a:r>
          </a:p>
          <a:p>
            <a:pPr algn="r">
              <a:lnSpc>
                <a:spcPct val="100000"/>
              </a:lnSpc>
            </a:pPr>
            <a:r>
              <a:rPr sz="2000">
                <a:solidFill>
                  <a:srgbClr val="4F5D6A"/>
                </a:solidFill>
                <a:latin typeface="Consolas"/>
              </a:rPr>
              <a:t>40</a:t>
            </a:r>
          </a:p>
          <a:p>
            <a:pPr algn="r">
              <a:lnSpc>
                <a:spcPct val="100000"/>
              </a:lnSpc>
            </a:pPr>
            <a:r>
              <a:rPr sz="2000">
                <a:solidFill>
                  <a:srgbClr val="4F5D6A"/>
                </a:solidFill>
                <a:latin typeface="Consolas"/>
              </a:rPr>
              <a:t>41</a:t>
            </a:r>
          </a:p>
          <a:p>
            <a:pPr algn="r">
              <a:lnSpc>
                <a:spcPct val="100000"/>
              </a:lnSpc>
            </a:pPr>
            <a:r>
              <a:rPr sz="2000">
                <a:solidFill>
                  <a:srgbClr val="4F5D6A"/>
                </a:solidFill>
                <a:latin typeface="Consolas"/>
              </a:rPr>
              <a:t>42</a:t>
            </a:r>
          </a:p>
          <a:p>
            <a:pPr algn="r">
              <a:lnSpc>
                <a:spcPct val="100000"/>
              </a:lnSpc>
            </a:pPr>
            <a:r>
              <a:rPr sz="2000">
                <a:solidFill>
                  <a:srgbClr val="4F5D6A"/>
                </a:solidFill>
                <a:latin typeface="Consolas"/>
              </a:rPr>
              <a:t>43</a:t>
            </a:r>
          </a:p>
          <a:p>
            <a:pPr algn="r">
              <a:lnSpc>
                <a:spcPct val="100000"/>
              </a:lnSpc>
            </a:pPr>
            <a:r>
              <a:rPr sz="2000">
                <a:solidFill>
                  <a:srgbClr val="4F5D6A"/>
                </a:solidFill>
                <a:latin typeface="Consolas"/>
              </a:rPr>
              <a:t>44</a:t>
            </a:r>
          </a:p>
          <a:p>
            <a:pPr algn="r">
              <a:lnSpc>
                <a:spcPct val="100000"/>
              </a:lnSpc>
            </a:pPr>
            <a:r>
              <a:rPr sz="20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3099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7912FC69-C950-47DA-BD9F-5942D0A68998}"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outcome is worth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def flip_point(): &quot;&quot;&quot;Solve EU(ship) = EU(delay) for p, exactly. EU(ship) = Ud*p + Uo*(1-p) = Uo + (Ud-Uo)p EU(delay) = Vd*p + Vo*(1-p) = Vo + (Vd-Vo)p &quot;&quot;&quot; ud, uo = UTIL[(&quot;ship&quot;, &quot;defect&quot;)], UTIL[(&quot;ship&quot;, &quot;ok&quot;)] vd, vo = UTIL[(&quot;delay&quot;, &quot;defect&quot;)], UTIL[(&quot;delay&quot;, &quot;ok&quot;)] return F(vo - uo, (ud - uo) - (vd - vo))"/>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flip_point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"""Solve EU(ship) = EU(delay) for p, exactly.</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    EU(ship)  = Ud*p + Uo*(1-p)   = Uo + (Ud-Uo)p</a:t>
            </a:r>
          </a:p>
          <a:p>
            <a:pPr>
              <a:lnSpc>
                <a:spcPct val="100000"/>
              </a:lnSpc>
              <a:spcAft>
                <a:spcPts val="0"/>
              </a:spcAft>
            </a:pPr>
            <a:r>
              <a:rPr sz="2000" i="0">
                <a:solidFill>
                  <a:srgbClr val="7DCEA0"/>
                </a:solidFill>
                <a:latin typeface="Consolas"/>
              </a:rPr>
              <a:t>    EU(delay) = Vd*p + Vo*(1-p)   = Vo + (Vd-Vo)p</a:t>
            </a:r>
          </a:p>
          <a:p>
            <a:pPr>
              <a:lnSpc>
                <a:spcPct val="100000"/>
              </a:lnSpc>
              <a:spcAft>
                <a:spcPts val="0"/>
              </a:spcAft>
            </a:pPr>
            <a:r>
              <a:rPr sz="2000" i="0">
                <a:solidFill>
                  <a:srgbClr val="7DCEA0"/>
                </a:solidFill>
                <a:latin typeface="Consolas"/>
              </a:rPr>
              <a:t>    """</a:t>
            </a:r>
          </a:p>
          <a:p>
            <a:pPr>
              <a:lnSpc>
                <a:spcPct val="100000"/>
              </a:lnSpc>
              <a:spcAft>
                <a:spcPts val="0"/>
              </a:spcAft>
            </a:pPr>
            <a:r>
              <a:rPr sz="2000" i="0">
                <a:solidFill>
                  <a:srgbClr val="E8EDF2"/>
                </a:solidFill>
                <a:latin typeface="Consolas"/>
              </a:rPr>
              <a:t>    </a:t>
            </a:r>
            <a:r>
              <a:rPr sz="2000" i="0">
                <a:solidFill>
                  <a:srgbClr val="E8EDF2"/>
                </a:solidFill>
                <a:latin typeface="Consolas"/>
              </a:rPr>
              <a:t>ud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uo</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ship</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defect</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ship</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ok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vd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vo</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delay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defect</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UTIL</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delay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ok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F</a:t>
            </a:r>
            <a:r>
              <a:rPr sz="2000" i="0">
                <a:solidFill>
                  <a:srgbClr val="AEB6BF"/>
                </a:solidFill>
                <a:latin typeface="Consolas"/>
              </a:rPr>
              <a:t>(</a:t>
            </a:r>
            <a:r>
              <a:rPr sz="2000" i="0">
                <a:solidFill>
                  <a:srgbClr val="E8EDF2"/>
                </a:solidFill>
                <a:latin typeface="Consolas"/>
              </a:rPr>
              <a:t>vo</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uo</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ud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uo</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vd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vo</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48</a:t>
            </a:r>
          </a:p>
          <a:p>
            <a:pPr algn="r">
              <a:lnSpc>
                <a:spcPct val="100000"/>
              </a:lnSpc>
            </a:pPr>
            <a:r>
              <a:rPr sz="2000">
                <a:solidFill>
                  <a:srgbClr val="4F5D6A"/>
                </a:solidFill>
                <a:latin typeface="Consolas"/>
              </a:rPr>
              <a:t>49</a:t>
            </a:r>
          </a:p>
          <a:p>
            <a:pPr algn="r">
              <a:lnSpc>
                <a:spcPct val="100000"/>
              </a:lnSpc>
            </a:pPr>
            <a:r>
              <a:rPr sz="2000">
                <a:solidFill>
                  <a:srgbClr val="4F5D6A"/>
                </a:solidFill>
                <a:latin typeface="Consolas"/>
              </a:rPr>
              <a:t>50</a:t>
            </a:r>
          </a:p>
          <a:p>
            <a:pPr algn="r">
              <a:lnSpc>
                <a:spcPct val="100000"/>
              </a:lnSpc>
            </a:pPr>
            <a:r>
              <a:rPr sz="2000">
                <a:solidFill>
                  <a:srgbClr val="4F5D6A"/>
                </a:solidFill>
                <a:latin typeface="Consolas"/>
              </a:rPr>
              <a:t>51</a:t>
            </a:r>
          </a:p>
          <a:p>
            <a:pPr algn="r">
              <a:lnSpc>
                <a:spcPct val="100000"/>
              </a:lnSpc>
            </a:pPr>
            <a:r>
              <a:rPr sz="2000">
                <a:solidFill>
                  <a:srgbClr val="4F5D6A"/>
                </a:solidFill>
                <a:latin typeface="Consolas"/>
              </a:rPr>
              <a:t>52</a:t>
            </a:r>
          </a:p>
          <a:p>
            <a:pPr algn="r">
              <a:lnSpc>
                <a:spcPct val="100000"/>
              </a:lnSpc>
            </a:pPr>
            <a:r>
              <a:rPr sz="2000">
                <a:solidFill>
                  <a:srgbClr val="4F5D6A"/>
                </a:solidFill>
                <a:latin typeface="Consolas"/>
              </a:rPr>
              <a:t>53</a:t>
            </a:r>
          </a:p>
          <a:p>
            <a:pPr algn="r">
              <a:lnSpc>
                <a:spcPct val="100000"/>
              </a:lnSpc>
            </a:pPr>
            <a:r>
              <a:rPr sz="2000">
                <a:solidFill>
                  <a:srgbClr val="4F5D6A"/>
                </a:solidFill>
                <a:latin typeface="Consolas"/>
              </a:rPr>
              <a:t>54</a:t>
            </a:r>
          </a:p>
          <a:p>
            <a:pPr algn="r">
              <a:lnSpc>
                <a:spcPct val="100000"/>
              </a:lnSpc>
            </a:pPr>
            <a:r>
              <a:rPr sz="2000">
                <a:solidFill>
                  <a:srgbClr val="4F5D6A"/>
                </a:solidFill>
                <a:latin typeface="Consolas"/>
              </a:rPr>
              <a:t>55</a:t>
            </a:r>
          </a:p>
          <a:p>
            <a:pPr algn="r">
              <a:lnSpc>
                <a:spcPct val="100000"/>
              </a:lnSpc>
            </a:pPr>
            <a:r>
              <a:rPr sz="2000">
                <a:solidFill>
                  <a:srgbClr val="4F5D6A"/>
                </a:solidFill>
                <a:latin typeface="Consolas"/>
              </a:rPr>
              <a:t>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6102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947E4D9F-14BF-459B-9CB6-B243A9B97F14}"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outcome is worth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if __name__ == &quot;__main__&quot;: print(&quot;=== the smoke test ===&quot;) print(&quot;P(defect) =&quot;, P_DEFECT) print(&quot;P(alarm | defect) =&quot;, SENS) print(&quot;P(alarm | no defect) =&quot;, FPR) post = posterior(P_DEFECT, SENS, FPR, alarm=True) quiet = posterior(P_DEFECT, SENS, FPR, alarm=False) print() print(&quot;P(defect | alarm) =&quot;, post, &quot;=&quot;, round(float(post), 4)) print(&quot;P(defect | silence) =&quot;, quiet, &quot;=&quot;, round(float(quiet), 4)) assert post == F(1, 3)"/>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__name__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__main__</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smoke test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P(defect)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P_DEFECT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P(alarm | defect)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SENS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P(alarm | no defect)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FPR</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E8EDF2"/>
                </a:solidFill>
                <a:latin typeface="Consolas"/>
              </a:rPr>
              <a:t>post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posterior</a:t>
            </a:r>
            <a:r>
              <a:rPr sz="1900" i="0">
                <a:solidFill>
                  <a:srgbClr val="AEB6BF"/>
                </a:solidFill>
                <a:latin typeface="Consolas"/>
              </a:rPr>
              <a:t>(</a:t>
            </a:r>
            <a:r>
              <a:rPr sz="1900" i="0">
                <a:solidFill>
                  <a:srgbClr val="E8EDF2"/>
                </a:solidFill>
                <a:latin typeface="Consolas"/>
              </a:rPr>
              <a:t>P_DEFECT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SENS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FPR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alarm</a:t>
            </a:r>
            <a:r>
              <a:rPr sz="1900" i="0">
                <a:solidFill>
                  <a:srgbClr val="AEB6BF"/>
                </a:solidFill>
                <a:latin typeface="Consolas"/>
              </a:rPr>
              <a:t>=</a:t>
            </a:r>
            <a:r>
              <a:rPr sz="1900" i="0">
                <a:solidFill>
                  <a:srgbClr val="5DADE2"/>
                </a:solidFill>
                <a:latin typeface="Consolas"/>
              </a:rPr>
              <a:t>True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quiet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posterior</a:t>
            </a:r>
            <a:r>
              <a:rPr sz="1900" i="0">
                <a:solidFill>
                  <a:srgbClr val="AEB6BF"/>
                </a:solidFill>
                <a:latin typeface="Consolas"/>
              </a:rPr>
              <a:t>(</a:t>
            </a:r>
            <a:r>
              <a:rPr sz="1900" i="0">
                <a:solidFill>
                  <a:srgbClr val="E8EDF2"/>
                </a:solidFill>
                <a:latin typeface="Consolas"/>
              </a:rPr>
              <a:t>P_DEFECT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SENS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FPR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alarm</a:t>
            </a:r>
            <a:r>
              <a:rPr sz="1900" i="0">
                <a:solidFill>
                  <a:srgbClr val="AEB6BF"/>
                </a:solidFill>
                <a:latin typeface="Consolas"/>
              </a:rPr>
              <a:t>=</a:t>
            </a:r>
            <a:r>
              <a:rPr sz="1900" i="0">
                <a:solidFill>
                  <a:srgbClr val="5DADE2"/>
                </a:solidFill>
                <a:latin typeface="Consolas"/>
              </a:rPr>
              <a:t>False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P(defect | alarm)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post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round</a:t>
            </a:r>
            <a:r>
              <a:rPr sz="1900" i="0">
                <a:solidFill>
                  <a:srgbClr val="AEB6BF"/>
                </a:solidFill>
                <a:latin typeface="Consolas"/>
              </a:rPr>
              <a:t>(</a:t>
            </a:r>
            <a:r>
              <a:rPr sz="1900" i="0">
                <a:solidFill>
                  <a:srgbClr val="C39BD3"/>
                </a:solidFill>
                <a:latin typeface="Consolas"/>
              </a:rPr>
              <a:t>float</a:t>
            </a:r>
            <a:r>
              <a:rPr sz="1900" i="0">
                <a:solidFill>
                  <a:srgbClr val="AEB6BF"/>
                </a:solidFill>
                <a:latin typeface="Consolas"/>
              </a:rPr>
              <a:t>(</a:t>
            </a:r>
            <a:r>
              <a:rPr sz="1900" i="0">
                <a:solidFill>
                  <a:srgbClr val="E8EDF2"/>
                </a:solidFill>
                <a:latin typeface="Consolas"/>
              </a:rPr>
              <a:t>post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4</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P(defect | silence)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quiet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round</a:t>
            </a:r>
            <a:r>
              <a:rPr sz="1900" i="0">
                <a:solidFill>
                  <a:srgbClr val="AEB6BF"/>
                </a:solidFill>
                <a:latin typeface="Consolas"/>
              </a:rPr>
              <a:t>(</a:t>
            </a:r>
            <a:r>
              <a:rPr sz="1900" i="0">
                <a:solidFill>
                  <a:srgbClr val="C39BD3"/>
                </a:solidFill>
                <a:latin typeface="Consolas"/>
              </a:rPr>
              <a:t>float</a:t>
            </a:r>
            <a:r>
              <a:rPr sz="1900" i="0">
                <a:solidFill>
                  <a:srgbClr val="AEB6BF"/>
                </a:solidFill>
                <a:latin typeface="Consolas"/>
              </a:rPr>
              <a:t>(</a:t>
            </a:r>
            <a:r>
              <a:rPr sz="1900" i="0">
                <a:solidFill>
                  <a:srgbClr val="E8EDF2"/>
                </a:solidFill>
                <a:latin typeface="Consolas"/>
              </a:rPr>
              <a:t>quiet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4</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post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59</a:t>
            </a:r>
          </a:p>
          <a:p>
            <a:pPr algn="r">
              <a:lnSpc>
                <a:spcPct val="100000"/>
              </a:lnSpc>
            </a:pPr>
            <a:r>
              <a:rPr sz="1900">
                <a:solidFill>
                  <a:srgbClr val="4F5D6A"/>
                </a:solidFill>
                <a:latin typeface="Consolas"/>
              </a:rPr>
              <a:t>60</a:t>
            </a:r>
          </a:p>
          <a:p>
            <a:pPr algn="r">
              <a:lnSpc>
                <a:spcPct val="100000"/>
              </a:lnSpc>
            </a:pPr>
            <a:r>
              <a:rPr sz="1900">
                <a:solidFill>
                  <a:srgbClr val="4F5D6A"/>
                </a:solidFill>
                <a:latin typeface="Consolas"/>
              </a:rPr>
              <a:t>61</a:t>
            </a:r>
          </a:p>
          <a:p>
            <a:pPr algn="r">
              <a:lnSpc>
                <a:spcPct val="100000"/>
              </a:lnSpc>
            </a:pPr>
            <a:r>
              <a:rPr sz="1900">
                <a:solidFill>
                  <a:srgbClr val="4F5D6A"/>
                </a:solidFill>
                <a:latin typeface="Consolas"/>
              </a:rPr>
              <a:t>62</a:t>
            </a:r>
          </a:p>
          <a:p>
            <a:pPr algn="r">
              <a:lnSpc>
                <a:spcPct val="100000"/>
              </a:lnSpc>
            </a:pPr>
            <a:r>
              <a:rPr sz="1900">
                <a:solidFill>
                  <a:srgbClr val="4F5D6A"/>
                </a:solidFill>
                <a:latin typeface="Consolas"/>
              </a:rPr>
              <a:t>63</a:t>
            </a:r>
          </a:p>
          <a:p>
            <a:pPr algn="r">
              <a:lnSpc>
                <a:spcPct val="100000"/>
              </a:lnSpc>
            </a:pPr>
            <a:r>
              <a:rPr sz="1900">
                <a:solidFill>
                  <a:srgbClr val="4F5D6A"/>
                </a:solidFill>
                <a:latin typeface="Consolas"/>
              </a:rPr>
              <a:t>64</a:t>
            </a:r>
          </a:p>
          <a:p>
            <a:pPr algn="r">
              <a:lnSpc>
                <a:spcPct val="100000"/>
              </a:lnSpc>
            </a:pPr>
            <a:r>
              <a:rPr sz="1900">
                <a:solidFill>
                  <a:srgbClr val="4F5D6A"/>
                </a:solidFill>
                <a:latin typeface="Consolas"/>
              </a:rPr>
              <a:t>65</a:t>
            </a:r>
          </a:p>
          <a:p>
            <a:pPr algn="r">
              <a:lnSpc>
                <a:spcPct val="100000"/>
              </a:lnSpc>
            </a:pPr>
            <a:r>
              <a:rPr sz="1900">
                <a:solidFill>
                  <a:srgbClr val="4F5D6A"/>
                </a:solidFill>
                <a:latin typeface="Consolas"/>
              </a:rPr>
              <a:t>66</a:t>
            </a:r>
          </a:p>
          <a:p>
            <a:pPr algn="r">
              <a:lnSpc>
                <a:spcPct val="100000"/>
              </a:lnSpc>
            </a:pPr>
            <a:r>
              <a:rPr sz="1900">
                <a:solidFill>
                  <a:srgbClr val="4F5D6A"/>
                </a:solidFill>
                <a:latin typeface="Consolas"/>
              </a:rPr>
              <a:t>67</a:t>
            </a:r>
          </a:p>
          <a:p>
            <a:pPr algn="r">
              <a:lnSpc>
                <a:spcPct val="100000"/>
              </a:lnSpc>
            </a:pPr>
            <a:r>
              <a:rPr sz="1900">
                <a:solidFill>
                  <a:srgbClr val="4F5D6A"/>
                </a:solidFill>
                <a:latin typeface="Consolas"/>
              </a:rPr>
              <a:t>68</a:t>
            </a:r>
          </a:p>
          <a:p>
            <a:pPr algn="r">
              <a:lnSpc>
                <a:spcPct val="100000"/>
              </a:lnSpc>
            </a:pPr>
            <a:r>
              <a:rPr sz="1900">
                <a:solidFill>
                  <a:srgbClr val="4F5D6A"/>
                </a:solidFill>
                <a:latin typeface="Consolas"/>
              </a:rPr>
              <a:t>69</a:t>
            </a:r>
          </a:p>
          <a:p>
            <a:pPr algn="r">
              <a:lnSpc>
                <a:spcPct val="100000"/>
              </a:lnSpc>
            </a:pPr>
            <a:r>
              <a:rPr sz="1900">
                <a:solidFill>
                  <a:srgbClr val="4F5D6A"/>
                </a:solidFill>
                <a:latin typeface="Consolas"/>
              </a:rPr>
              <a:t>70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9105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08234E84-16F2-4EB1-853C-84812EB1F46F}"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outcome is worth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the natural-frequency check of Figure 14.1 n = 1000 defective = n * P_DEFECT # 100 true_alarms = defective * SENS # 90 false_alarms = (n - defective) * FPR # 180 print() print(&quot;in %d releases: %d defective, %d true alarms, %d false&quot; % (n, defective, true_alarms, false_alarms)) print(&quot; %d of %d alarms are real = %s&quot; % (true_alarms, true_alarms + false_alarms, F(int(true_alarms), int(true_alarms + false_alarms)))) assert F(int(true_alarms), int(true_alarms + false_alarms)) == post print(&quot; a 90%-sensitive test fired, and the release is still&quot;) print(&quot; TWICE as likely sound as broken.&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1">
                <a:solidFill>
                  <a:srgbClr val="8795A1"/>
                </a:solidFill>
                <a:latin typeface="Consolas"/>
              </a:rPr>
              <a:t># the natural-frequency check of Figure 14.1</a:t>
            </a:r>
          </a:p>
          <a:p>
            <a:pPr>
              <a:lnSpc>
                <a:spcPct val="100000"/>
              </a:lnSpc>
              <a:spcAft>
                <a:spcPts val="0"/>
              </a:spcAft>
            </a:pPr>
            <a:r>
              <a:rPr sz="1600" i="0">
                <a:solidFill>
                  <a:srgbClr val="E8EDF2"/>
                </a:solidFill>
                <a:latin typeface="Consolas"/>
              </a:rPr>
              <a:t>    </a:t>
            </a:r>
            <a:r>
              <a:rPr sz="1600" i="0">
                <a:solidFill>
                  <a:srgbClr val="E8EDF2"/>
                </a:solidFill>
                <a:latin typeface="Consolas"/>
              </a:rPr>
              <a:t>n</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1000</a:t>
            </a:r>
          </a:p>
          <a:p>
            <a:pPr>
              <a:lnSpc>
                <a:spcPct val="100000"/>
              </a:lnSpc>
              <a:spcAft>
                <a:spcPts val="0"/>
              </a:spcAft>
            </a:pPr>
            <a:r>
              <a:rPr sz="1600" i="0">
                <a:solidFill>
                  <a:srgbClr val="E8EDF2"/>
                </a:solidFill>
                <a:latin typeface="Consolas"/>
              </a:rPr>
              <a:t>    </a:t>
            </a:r>
            <a:r>
              <a:rPr sz="1600" i="0">
                <a:solidFill>
                  <a:srgbClr val="E8EDF2"/>
                </a:solidFill>
                <a:latin typeface="Consolas"/>
              </a:rPr>
              <a:t>defective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P_DEFECT</a:t>
            </a:r>
            <a:r>
              <a:rPr sz="1600" i="0">
                <a:solidFill>
                  <a:srgbClr val="E8EDF2"/>
                </a:solidFill>
                <a:latin typeface="Consolas"/>
              </a:rPr>
              <a:t>                 </a:t>
            </a:r>
            <a:r>
              <a:rPr sz="1600" i="1">
                <a:solidFill>
                  <a:srgbClr val="8795A1"/>
                </a:solidFill>
                <a:latin typeface="Consolas"/>
              </a:rPr>
              <a:t># 100</a:t>
            </a:r>
          </a:p>
          <a:p>
            <a:pPr>
              <a:lnSpc>
                <a:spcPct val="100000"/>
              </a:lnSpc>
              <a:spcAft>
                <a:spcPts val="0"/>
              </a:spcAft>
            </a:pPr>
            <a:r>
              <a:rPr sz="1600" i="0">
                <a:solidFill>
                  <a:srgbClr val="E8EDF2"/>
                </a:solidFill>
                <a:latin typeface="Consolas"/>
              </a:rPr>
              <a:t>    </a:t>
            </a:r>
            <a:r>
              <a:rPr sz="1600" i="0">
                <a:solidFill>
                  <a:srgbClr val="E8EDF2"/>
                </a:solidFill>
                <a:latin typeface="Consolas"/>
              </a:rPr>
              <a:t>true_alarms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defective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SENS</a:t>
            </a:r>
            <a:r>
              <a:rPr sz="1600" i="0">
                <a:solidFill>
                  <a:srgbClr val="E8EDF2"/>
                </a:solidFill>
                <a:latin typeface="Consolas"/>
              </a:rPr>
              <a:t>           </a:t>
            </a:r>
            <a:r>
              <a:rPr sz="1600" i="1">
                <a:solidFill>
                  <a:srgbClr val="8795A1"/>
                </a:solidFill>
                <a:latin typeface="Consolas"/>
              </a:rPr>
              <a:t># 90</a:t>
            </a:r>
          </a:p>
          <a:p>
            <a:pPr>
              <a:lnSpc>
                <a:spcPct val="100000"/>
              </a:lnSpc>
              <a:spcAft>
                <a:spcPts val="0"/>
              </a:spcAft>
            </a:pPr>
            <a:r>
              <a:rPr sz="1600" i="0">
                <a:solidFill>
                  <a:srgbClr val="E8EDF2"/>
                </a:solidFill>
                <a:latin typeface="Consolas"/>
              </a:rPr>
              <a:t>    </a:t>
            </a:r>
            <a:r>
              <a:rPr sz="1600" i="0">
                <a:solidFill>
                  <a:srgbClr val="E8EDF2"/>
                </a:solidFill>
                <a:latin typeface="Consolas"/>
              </a:rPr>
              <a:t>false_alarms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n</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defective</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FPR</a:t>
            </a:r>
            <a:r>
              <a:rPr sz="1600" i="0">
                <a:solidFill>
                  <a:srgbClr val="E8EDF2"/>
                </a:solidFill>
                <a:latin typeface="Consolas"/>
              </a:rPr>
              <a:t>     </a:t>
            </a:r>
            <a:r>
              <a:rPr sz="1600" i="1">
                <a:solidFill>
                  <a:srgbClr val="8795A1"/>
                </a:solidFill>
                <a:latin typeface="Consolas"/>
              </a:rPr>
              <a:t># 180</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in </a:t>
            </a:r>
            <a:r>
              <a:rPr sz="1600" i="0">
                <a:solidFill>
                  <a:srgbClr val="7DCEA0"/>
                </a:solidFill>
                <a:latin typeface="Consolas"/>
              </a:rPr>
              <a:t>%d</a:t>
            </a:r>
            <a:r>
              <a:rPr sz="1600" i="0">
                <a:solidFill>
                  <a:srgbClr val="7DCEA0"/>
                </a:solidFill>
                <a:latin typeface="Consolas"/>
              </a:rPr>
              <a:t> releases: </a:t>
            </a:r>
            <a:r>
              <a:rPr sz="1600" i="0">
                <a:solidFill>
                  <a:srgbClr val="7DCEA0"/>
                </a:solidFill>
                <a:latin typeface="Consolas"/>
              </a:rPr>
              <a:t>%d</a:t>
            </a:r>
            <a:r>
              <a:rPr sz="1600" i="0">
                <a:solidFill>
                  <a:srgbClr val="7DCEA0"/>
                </a:solidFill>
                <a:latin typeface="Consolas"/>
              </a:rPr>
              <a:t> defective, </a:t>
            </a:r>
            <a:r>
              <a:rPr sz="1600" i="0">
                <a:solidFill>
                  <a:srgbClr val="7DCEA0"/>
                </a:solidFill>
                <a:latin typeface="Consolas"/>
              </a:rPr>
              <a:t>%d</a:t>
            </a:r>
            <a:r>
              <a:rPr sz="1600" i="0">
                <a:solidFill>
                  <a:srgbClr val="7DCEA0"/>
                </a:solidFill>
                <a:latin typeface="Consolas"/>
              </a:rPr>
              <a:t> true alarms, </a:t>
            </a:r>
            <a:r>
              <a:rPr sz="1600" i="0">
                <a:solidFill>
                  <a:srgbClr val="7DCEA0"/>
                </a:solidFill>
                <a:latin typeface="Consolas"/>
              </a:rPr>
              <a:t>%d</a:t>
            </a:r>
            <a:r>
              <a:rPr sz="1600" i="0">
                <a:solidFill>
                  <a:srgbClr val="7DCEA0"/>
                </a:solidFill>
                <a:latin typeface="Consolas"/>
              </a:rPr>
              <a:t> false</a:t>
            </a:r>
            <a:r>
              <a:rPr sz="1600" i="0">
                <a:solidFill>
                  <a:srgbClr val="7DCEA0"/>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defective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true_alarms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false_alarms</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a:t>
            </a:r>
            <a:r>
              <a:rPr sz="1600" i="0">
                <a:solidFill>
                  <a:srgbClr val="7DCEA0"/>
                </a:solidFill>
                <a:latin typeface="Consolas"/>
              </a:rPr>
              <a:t>%d</a:t>
            </a:r>
            <a:r>
              <a:rPr sz="1600" i="0">
                <a:solidFill>
                  <a:srgbClr val="7DCEA0"/>
                </a:solidFill>
                <a:latin typeface="Consolas"/>
              </a:rPr>
              <a:t> of </a:t>
            </a:r>
            <a:r>
              <a:rPr sz="1600" i="0">
                <a:solidFill>
                  <a:srgbClr val="7DCEA0"/>
                </a:solidFill>
                <a:latin typeface="Consolas"/>
              </a:rPr>
              <a:t>%d</a:t>
            </a:r>
            <a:r>
              <a:rPr sz="1600" i="0">
                <a:solidFill>
                  <a:srgbClr val="7DCEA0"/>
                </a:solidFill>
                <a:latin typeface="Consolas"/>
              </a:rPr>
              <a:t> alarms are real = </a:t>
            </a:r>
            <a:r>
              <a:rPr sz="1600" i="0">
                <a:solidFill>
                  <a:srgbClr val="7DCEA0"/>
                </a:solidFill>
                <a:latin typeface="Consolas"/>
              </a:rPr>
              <a:t>%s</a:t>
            </a:r>
            <a:r>
              <a:rPr sz="1600" i="0">
                <a:solidFill>
                  <a:srgbClr val="7DCEA0"/>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true_alarms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true_alarms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false_alarms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F</a:t>
            </a:r>
            <a:r>
              <a:rPr sz="1600" i="0">
                <a:solidFill>
                  <a:srgbClr val="AEB6BF"/>
                </a:solidFill>
                <a:latin typeface="Consolas"/>
              </a:rPr>
              <a:t>(</a:t>
            </a:r>
            <a:r>
              <a:rPr sz="1600" i="0">
                <a:solidFill>
                  <a:srgbClr val="C39BD3"/>
                </a:solidFill>
                <a:latin typeface="Consolas"/>
              </a:rPr>
              <a:t>int</a:t>
            </a:r>
            <a:r>
              <a:rPr sz="1600" i="0">
                <a:solidFill>
                  <a:srgbClr val="AEB6BF"/>
                </a:solidFill>
                <a:latin typeface="Consolas"/>
              </a:rPr>
              <a:t>(</a:t>
            </a:r>
            <a:r>
              <a:rPr sz="1600" i="0">
                <a:solidFill>
                  <a:srgbClr val="E8EDF2"/>
                </a:solidFill>
                <a:latin typeface="Consolas"/>
              </a:rPr>
              <a:t>true_alarms</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int</a:t>
            </a:r>
            <a:r>
              <a:rPr sz="1600" i="0">
                <a:solidFill>
                  <a:srgbClr val="AEB6BF"/>
                </a:solidFill>
                <a:latin typeface="Consolas"/>
              </a:rPr>
              <a:t>(</a:t>
            </a:r>
            <a:r>
              <a:rPr sz="1600" i="0">
                <a:solidFill>
                  <a:srgbClr val="E8EDF2"/>
                </a:solidFill>
                <a:latin typeface="Consolas"/>
              </a:rPr>
              <a:t>true_alarms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false_alarms</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assert</a:t>
            </a:r>
            <a:r>
              <a:rPr sz="1600" i="0">
                <a:solidFill>
                  <a:srgbClr val="E8EDF2"/>
                </a:solidFill>
                <a:latin typeface="Consolas"/>
              </a:rPr>
              <a:t> </a:t>
            </a:r>
            <a:r>
              <a:rPr sz="1600" i="0">
                <a:solidFill>
                  <a:srgbClr val="E8EDF2"/>
                </a:solidFill>
                <a:latin typeface="Consolas"/>
              </a:rPr>
              <a:t>F</a:t>
            </a:r>
            <a:r>
              <a:rPr sz="1600" i="0">
                <a:solidFill>
                  <a:srgbClr val="AEB6BF"/>
                </a:solidFill>
                <a:latin typeface="Consolas"/>
              </a:rPr>
              <a:t>(</a:t>
            </a:r>
            <a:r>
              <a:rPr sz="1600" i="0">
                <a:solidFill>
                  <a:srgbClr val="C39BD3"/>
                </a:solidFill>
                <a:latin typeface="Consolas"/>
              </a:rPr>
              <a:t>int</a:t>
            </a:r>
            <a:r>
              <a:rPr sz="1600" i="0">
                <a:solidFill>
                  <a:srgbClr val="AEB6BF"/>
                </a:solidFill>
                <a:latin typeface="Consolas"/>
              </a:rPr>
              <a:t>(</a:t>
            </a:r>
            <a:r>
              <a:rPr sz="1600" i="0">
                <a:solidFill>
                  <a:srgbClr val="E8EDF2"/>
                </a:solidFill>
                <a:latin typeface="Consolas"/>
              </a:rPr>
              <a:t>true_alarms</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int</a:t>
            </a:r>
            <a:r>
              <a:rPr sz="1600" i="0">
                <a:solidFill>
                  <a:srgbClr val="AEB6BF"/>
                </a:solidFill>
                <a:latin typeface="Consolas"/>
              </a:rPr>
              <a:t>(</a:t>
            </a:r>
            <a:r>
              <a:rPr sz="1600" i="0">
                <a:solidFill>
                  <a:srgbClr val="E8EDF2"/>
                </a:solidFill>
                <a:latin typeface="Consolas"/>
              </a:rPr>
              <a:t>true_alarms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false_alarms</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post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a 90</a:t>
            </a:r>
            <a:r>
              <a:rPr sz="1600" i="0">
                <a:solidFill>
                  <a:srgbClr val="7DCEA0"/>
                </a:solidFill>
                <a:latin typeface="Consolas"/>
              </a:rPr>
              <a:t>%-s</a:t>
            </a:r>
            <a:r>
              <a:rPr sz="1600" i="0">
                <a:solidFill>
                  <a:srgbClr val="7DCEA0"/>
                </a:solidFill>
                <a:latin typeface="Consolas"/>
              </a:rPr>
              <a:t>ensitive test fired, and the release is still</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TWICE as likely sound as broken.</a:t>
            </a:r>
            <a:r>
              <a:rPr sz="1600" i="0">
                <a:solidFill>
                  <a:srgbClr val="7DCEA0"/>
                </a:solidFill>
                <a:latin typeface="Consolas"/>
              </a:rPr>
              <a:t>"</a:t>
            </a: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72</a:t>
            </a:r>
          </a:p>
          <a:p>
            <a:pPr algn="r">
              <a:lnSpc>
                <a:spcPct val="100000"/>
              </a:lnSpc>
            </a:pPr>
            <a:r>
              <a:rPr sz="1600">
                <a:solidFill>
                  <a:srgbClr val="4F5D6A"/>
                </a:solidFill>
                <a:latin typeface="Consolas"/>
              </a:rPr>
              <a:t>73</a:t>
            </a:r>
          </a:p>
          <a:p>
            <a:pPr algn="r">
              <a:lnSpc>
                <a:spcPct val="100000"/>
              </a:lnSpc>
            </a:pPr>
            <a:r>
              <a:rPr sz="1600">
                <a:solidFill>
                  <a:srgbClr val="4F5D6A"/>
                </a:solidFill>
                <a:latin typeface="Consolas"/>
              </a:rPr>
              <a:t>74</a:t>
            </a:r>
          </a:p>
          <a:p>
            <a:pPr algn="r">
              <a:lnSpc>
                <a:spcPct val="100000"/>
              </a:lnSpc>
            </a:pPr>
            <a:r>
              <a:rPr sz="1600">
                <a:solidFill>
                  <a:srgbClr val="4F5D6A"/>
                </a:solidFill>
                <a:latin typeface="Consolas"/>
              </a:rPr>
              <a:t>75</a:t>
            </a:r>
          </a:p>
          <a:p>
            <a:pPr algn="r">
              <a:lnSpc>
                <a:spcPct val="100000"/>
              </a:lnSpc>
            </a:pPr>
            <a:r>
              <a:rPr sz="1600">
                <a:solidFill>
                  <a:srgbClr val="4F5D6A"/>
                </a:solidFill>
                <a:latin typeface="Consolas"/>
              </a:rPr>
              <a:t>76</a:t>
            </a:r>
          </a:p>
          <a:p>
            <a:pPr algn="r">
              <a:lnSpc>
                <a:spcPct val="100000"/>
              </a:lnSpc>
            </a:pPr>
            <a:r>
              <a:rPr sz="1600">
                <a:solidFill>
                  <a:srgbClr val="4F5D6A"/>
                </a:solidFill>
                <a:latin typeface="Consolas"/>
              </a:rPr>
              <a:t>77</a:t>
            </a:r>
          </a:p>
          <a:p>
            <a:pPr algn="r">
              <a:lnSpc>
                <a:spcPct val="100000"/>
              </a:lnSpc>
            </a:pPr>
            <a:r>
              <a:rPr sz="1600">
                <a:solidFill>
                  <a:srgbClr val="4F5D6A"/>
                </a:solidFill>
                <a:latin typeface="Consolas"/>
              </a:rPr>
              <a:t>78</a:t>
            </a:r>
          </a:p>
          <a:p>
            <a:pPr algn="r">
              <a:lnSpc>
                <a:spcPct val="100000"/>
              </a:lnSpc>
            </a:pPr>
            <a:r>
              <a:rPr sz="1600">
                <a:solidFill>
                  <a:srgbClr val="4F5D6A"/>
                </a:solidFill>
                <a:latin typeface="Consolas"/>
              </a:rPr>
              <a:t>79</a:t>
            </a:r>
          </a:p>
          <a:p>
            <a:pPr algn="r">
              <a:lnSpc>
                <a:spcPct val="100000"/>
              </a:lnSpc>
            </a:pPr>
            <a:r>
              <a:rPr sz="1600">
                <a:solidFill>
                  <a:srgbClr val="4F5D6A"/>
                </a:solidFill>
                <a:latin typeface="Consolas"/>
              </a:rPr>
              <a:t>80</a:t>
            </a:r>
          </a:p>
          <a:p>
            <a:pPr algn="r">
              <a:lnSpc>
                <a:spcPct val="100000"/>
              </a:lnSpc>
            </a:pPr>
            <a:r>
              <a:rPr sz="1600">
                <a:solidFill>
                  <a:srgbClr val="4F5D6A"/>
                </a:solidFill>
                <a:latin typeface="Consolas"/>
              </a:rPr>
              <a:t>81</a:t>
            </a:r>
          </a:p>
          <a:p>
            <a:pPr algn="r">
              <a:lnSpc>
                <a:spcPct val="100000"/>
              </a:lnSpc>
            </a:pPr>
            <a:r>
              <a:rPr sz="1600">
                <a:solidFill>
                  <a:srgbClr val="4F5D6A"/>
                </a:solidFill>
                <a:latin typeface="Consolas"/>
              </a:rPr>
              <a:t>82</a:t>
            </a:r>
          </a:p>
          <a:p>
            <a:pPr algn="r">
              <a:lnSpc>
                <a:spcPct val="100000"/>
              </a:lnSpc>
            </a:pPr>
            <a:r>
              <a:rPr sz="1600">
                <a:solidFill>
                  <a:srgbClr val="4F5D6A"/>
                </a:solidFill>
                <a:latin typeface="Consolas"/>
              </a:rPr>
              <a:t>83</a:t>
            </a:r>
          </a:p>
          <a:p>
            <a:pPr algn="r">
              <a:lnSpc>
                <a:spcPct val="100000"/>
              </a:lnSpc>
            </a:pPr>
            <a:r>
              <a:rPr sz="1600">
                <a:solidFill>
                  <a:srgbClr val="4F5D6A"/>
                </a:solidFill>
                <a:latin typeface="Consolas"/>
              </a:rPr>
              <a:t>84</a:t>
            </a:r>
          </a:p>
          <a:p>
            <a:pPr algn="r">
              <a:lnSpc>
                <a:spcPct val="100000"/>
              </a:lnSpc>
            </a:pPr>
            <a:r>
              <a:rPr sz="1600">
                <a:solidFill>
                  <a:srgbClr val="4F5D6A"/>
                </a:solidFill>
                <a:latin typeface="Consolas"/>
              </a:rPr>
              <a:t>85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2108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9712C89A-51F5-4D0E-90AF-C408253A4794}"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 the decision --------------------------------------------- print() print(&quot;=== the decision ===&quot;) print(&quot;situation P(defect) EU(ship) EU(delay) choose&quot;) print(&quot;-&quot; * 60) rows = ((&quot;no test yet &quot;, P_DEFECT), (&quot;alarm fired &quot;, post), (&quot;test is silent&quot;, quiet)) for label, p in rows: a, _ = best(p) print(&quot;%s %10s %10.2f %10.2f %s&quot; % (label, round(float(p), 4), float(eu(&quot;ship&quot;, p)), float(eu(&quot;delay&quot;, p)), a))"/>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1">
                <a:solidFill>
                  <a:srgbClr val="8795A1"/>
                </a:solidFill>
                <a:latin typeface="Consolas"/>
              </a:rPr>
              <a:t># --- the decision ---------------------------------------------</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the decision ===</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situation          P(defect)   EU(ship)  EU(delay)  choose</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60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rows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no test yet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P_DEFECT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alarm fired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post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test is silent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quiet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label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rows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best</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a:t>
            </a:r>
            <a:r>
              <a:rPr sz="1800" i="0">
                <a:solidFill>
                  <a:srgbClr val="7DCEA0"/>
                </a:solidFill>
                <a:latin typeface="Consolas"/>
              </a:rPr>
              <a:t> </a:t>
            </a:r>
            <a:r>
              <a:rPr sz="1800" i="0">
                <a:solidFill>
                  <a:srgbClr val="7DCEA0"/>
                </a:solidFill>
                <a:latin typeface="Consolas"/>
              </a:rPr>
              <a:t>%10s</a:t>
            </a:r>
            <a:r>
              <a:rPr sz="1800" i="0">
                <a:solidFill>
                  <a:srgbClr val="7DCEA0"/>
                </a:solidFill>
                <a:latin typeface="Consolas"/>
              </a:rPr>
              <a:t> </a:t>
            </a:r>
            <a:r>
              <a:rPr sz="1800" i="0">
                <a:solidFill>
                  <a:srgbClr val="7DCEA0"/>
                </a:solidFill>
                <a:latin typeface="Consolas"/>
              </a:rPr>
              <a:t>%10.2f</a:t>
            </a:r>
            <a:r>
              <a:rPr sz="1800" i="0">
                <a:solidFill>
                  <a:srgbClr val="7DCEA0"/>
                </a:solidFill>
                <a:latin typeface="Consolas"/>
              </a:rPr>
              <a:t> </a:t>
            </a:r>
            <a:r>
              <a:rPr sz="1800" i="0">
                <a:solidFill>
                  <a:srgbClr val="7DCEA0"/>
                </a:solidFill>
                <a:latin typeface="Consolas"/>
              </a:rPr>
              <a:t>%10.2f</a:t>
            </a:r>
            <a:r>
              <a:rPr sz="1800" i="0">
                <a:solidFill>
                  <a:srgbClr val="7DCEA0"/>
                </a:solidFill>
                <a:latin typeface="Consolas"/>
              </a:rPr>
              <a:t>  </a:t>
            </a:r>
            <a:r>
              <a:rPr sz="1800" i="0">
                <a:solidFill>
                  <a:srgbClr val="7DCEA0"/>
                </a:solidFill>
                <a:latin typeface="Consolas"/>
              </a:rPr>
              <a:t>%s</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label</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eu</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ship</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eu</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delay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87</a:t>
            </a:r>
          </a:p>
          <a:p>
            <a:pPr algn="r">
              <a:lnSpc>
                <a:spcPct val="100000"/>
              </a:lnSpc>
            </a:pPr>
            <a:r>
              <a:rPr sz="1800">
                <a:solidFill>
                  <a:srgbClr val="4F5D6A"/>
                </a:solidFill>
                <a:latin typeface="Consolas"/>
              </a:rPr>
              <a:t>88</a:t>
            </a:r>
          </a:p>
          <a:p>
            <a:pPr algn="r">
              <a:lnSpc>
                <a:spcPct val="100000"/>
              </a:lnSpc>
            </a:pPr>
            <a:r>
              <a:rPr sz="1800">
                <a:solidFill>
                  <a:srgbClr val="4F5D6A"/>
                </a:solidFill>
                <a:latin typeface="Consolas"/>
              </a:rPr>
              <a:t>89</a:t>
            </a:r>
          </a:p>
          <a:p>
            <a:pPr algn="r">
              <a:lnSpc>
                <a:spcPct val="100000"/>
              </a:lnSpc>
            </a:pPr>
            <a:r>
              <a:rPr sz="1800">
                <a:solidFill>
                  <a:srgbClr val="4F5D6A"/>
                </a:solidFill>
                <a:latin typeface="Consolas"/>
              </a:rPr>
              <a:t>90</a:t>
            </a:r>
          </a:p>
          <a:p>
            <a:pPr algn="r">
              <a:lnSpc>
                <a:spcPct val="100000"/>
              </a:lnSpc>
            </a:pPr>
            <a:r>
              <a:rPr sz="1800">
                <a:solidFill>
                  <a:srgbClr val="4F5D6A"/>
                </a:solidFill>
                <a:latin typeface="Consolas"/>
              </a:rPr>
              <a:t>91</a:t>
            </a:r>
          </a:p>
          <a:p>
            <a:pPr algn="r">
              <a:lnSpc>
                <a:spcPct val="100000"/>
              </a:lnSpc>
            </a:pPr>
            <a:r>
              <a:rPr sz="1800">
                <a:solidFill>
                  <a:srgbClr val="4F5D6A"/>
                </a:solidFill>
                <a:latin typeface="Consolas"/>
              </a:rPr>
              <a:t>92</a:t>
            </a:r>
          </a:p>
          <a:p>
            <a:pPr algn="r">
              <a:lnSpc>
                <a:spcPct val="100000"/>
              </a:lnSpc>
            </a:pPr>
            <a:r>
              <a:rPr sz="1800">
                <a:solidFill>
                  <a:srgbClr val="4F5D6A"/>
                </a:solidFill>
                <a:latin typeface="Consolas"/>
              </a:rPr>
              <a:t>93</a:t>
            </a:r>
          </a:p>
          <a:p>
            <a:pPr algn="r">
              <a:lnSpc>
                <a:spcPct val="100000"/>
              </a:lnSpc>
            </a:pPr>
            <a:r>
              <a:rPr sz="1800">
                <a:solidFill>
                  <a:srgbClr val="4F5D6A"/>
                </a:solidFill>
                <a:latin typeface="Consolas"/>
              </a:rPr>
              <a:t>94</a:t>
            </a:r>
          </a:p>
          <a:p>
            <a:pPr algn="r">
              <a:lnSpc>
                <a:spcPct val="100000"/>
              </a:lnSpc>
            </a:pPr>
            <a:r>
              <a:rPr sz="1800">
                <a:solidFill>
                  <a:srgbClr val="4F5D6A"/>
                </a:solidFill>
                <a:latin typeface="Consolas"/>
              </a:rPr>
              <a:t>95</a:t>
            </a:r>
          </a:p>
          <a:p>
            <a:pPr algn="r">
              <a:lnSpc>
                <a:spcPct val="100000"/>
              </a:lnSpc>
            </a:pPr>
            <a:r>
              <a:rPr sz="1800">
                <a:solidFill>
                  <a:srgbClr val="4F5D6A"/>
                </a:solidFill>
                <a:latin typeface="Consolas"/>
              </a:rPr>
              <a:t>96</a:t>
            </a:r>
          </a:p>
          <a:p>
            <a:pPr algn="r">
              <a:lnSpc>
                <a:spcPct val="100000"/>
              </a:lnSpc>
            </a:pPr>
            <a:r>
              <a:rPr sz="1800">
                <a:solidFill>
                  <a:srgbClr val="4F5D6A"/>
                </a:solidFill>
                <a:latin typeface="Consolas"/>
              </a:rPr>
              <a:t>97</a:t>
            </a:r>
          </a:p>
          <a:p>
            <a:pPr algn="r">
              <a:lnSpc>
                <a:spcPct val="100000"/>
              </a:lnSpc>
            </a:pPr>
            <a:r>
              <a:rPr sz="1800">
                <a:solidFill>
                  <a:srgbClr val="4F5D6A"/>
                </a:solidFill>
                <a:latin typeface="Consolas"/>
              </a:rPr>
              <a:t>98</a:t>
            </a:r>
          </a:p>
          <a:p>
            <a:pPr algn="r">
              <a:lnSpc>
                <a:spcPct val="100000"/>
              </a:lnSpc>
            </a:pPr>
            <a:r>
              <a:rPr sz="1800">
                <a:solidFill>
                  <a:srgbClr val="4F5D6A"/>
                </a:solidFill>
                <a:latin typeface="Consolas"/>
              </a:rPr>
              <a:t>99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5111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8D92C5EB-5FED-4C3E-8771-5E898F747630}"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star = flip_point() print() print(&quot;flip point p* =&quot;, star, &quot;=&quot;, round(float(star), 4)) assert star == F(10, 29) # just either side of it assert best(star - F(1, 1000))[0] == &quot;ship&quot; assert best(star + F(1, 1000))[0] == &quot;delay&quot; # the headline: belief changed a lot, decision did not change assert best(P_DEFECT)[0] == &quot;ship&quot; assert best(post)[0] == &quot;ship&quot; margin = eu(&quot;ship&quot;, post) - eu(&quot;delay&quot;, post) print() print(&quot;the alarm moved belief from %s to %s -- more than triple --&quot; % (P_DEFECT, post)) print(&quot;and the decision did not change, because %s &lt; %s.&quot; % (post, star)) print(&quot;the margin is now only %.2f utility units.&quot; % float(margin)) assert float(margin) &lt; 2"/>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0">
                <a:solidFill>
                  <a:srgbClr val="E8EDF2"/>
                </a:solidFill>
                <a:latin typeface="Consolas"/>
              </a:rPr>
              <a:t>star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flip_point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flip point p* =</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star</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round</a:t>
            </a:r>
            <a:r>
              <a:rPr sz="1200" i="0">
                <a:solidFill>
                  <a:srgbClr val="AEB6BF"/>
                </a:solidFill>
                <a:latin typeface="Consolas"/>
              </a:rPr>
              <a:t>(</a:t>
            </a:r>
            <a:r>
              <a:rPr sz="1200" i="0">
                <a:solidFill>
                  <a:srgbClr val="C39BD3"/>
                </a:solidFill>
                <a:latin typeface="Consolas"/>
              </a:rPr>
              <a:t>float</a:t>
            </a:r>
            <a:r>
              <a:rPr sz="1200" i="0">
                <a:solidFill>
                  <a:srgbClr val="AEB6BF"/>
                </a:solidFill>
                <a:latin typeface="Consolas"/>
              </a:rPr>
              <a:t>(</a:t>
            </a:r>
            <a:r>
              <a:rPr sz="1200" i="0">
                <a:solidFill>
                  <a:srgbClr val="E8EDF2"/>
                </a:solidFill>
                <a:latin typeface="Consolas"/>
              </a:rPr>
              <a:t>star</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4</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star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a:t>
            </a:r>
            <a:r>
              <a:rPr sz="1200" i="0">
                <a:solidFill>
                  <a:srgbClr val="AEB6BF"/>
                </a:solidFill>
                <a:latin typeface="Consolas"/>
              </a:rPr>
              <a:t>(</a:t>
            </a:r>
            <a:r>
              <a:rPr sz="1200" i="0">
                <a:solidFill>
                  <a:srgbClr val="F7DC6F"/>
                </a:solidFill>
                <a:latin typeface="Consolas"/>
              </a:rPr>
              <a:t>10</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29</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1">
                <a:solidFill>
                  <a:srgbClr val="8795A1"/>
                </a:solidFill>
                <a:latin typeface="Consolas"/>
              </a:rPr>
              <a:t># just either side of it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star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1000</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star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1000</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delay</a:t>
            </a:r>
            <a:r>
              <a:rPr sz="1200" i="0">
                <a:solidFill>
                  <a:srgbClr val="7DCEA0"/>
                </a:solidFill>
                <a:latin typeface="Consolas"/>
              </a:rPr>
              <a:t>"</a:t>
            </a:r>
          </a:p>
          <a:p>
            <a:pPr>
              <a:lnSpc>
                <a:spcPct val="100000"/>
              </a:lnSpc>
              <a:spcAft>
                <a:spcPts val="0"/>
              </a:spcAft>
            </a:pPr>
            <a:r>
              <a:rPr sz="1200">
                <a:latin typeface="Consolas"/>
              </a:rPr>
              <a:t> </a:t>
            </a:r>
          </a:p>
          <a:p>
            <a:pPr>
              <a:lnSpc>
                <a:spcPct val="100000"/>
              </a:lnSpc>
              <a:spcAft>
                <a:spcPts val="0"/>
              </a:spcAft>
            </a:pPr>
            <a:r>
              <a:rPr sz="1200" i="0">
                <a:solidFill>
                  <a:srgbClr val="E8EDF2"/>
                </a:solidFill>
                <a:latin typeface="Consolas"/>
              </a:rPr>
              <a:t>    </a:t>
            </a:r>
            <a:r>
              <a:rPr sz="1200" i="1">
                <a:solidFill>
                  <a:srgbClr val="8795A1"/>
                </a:solidFill>
                <a:latin typeface="Consolas"/>
              </a:rPr>
              <a:t># the headline: belief changed a lot, decision did not change</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P_DEFECT</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post</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margin</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eu</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ship</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post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eu</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delay</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post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the alarm moved belief from </a:t>
            </a:r>
            <a:r>
              <a:rPr sz="1200" i="0">
                <a:solidFill>
                  <a:srgbClr val="7DCEA0"/>
                </a:solidFill>
                <a:latin typeface="Consolas"/>
              </a:rPr>
              <a:t>%s</a:t>
            </a:r>
            <a:r>
              <a:rPr sz="1200" i="0">
                <a:solidFill>
                  <a:srgbClr val="7DCEA0"/>
                </a:solidFill>
                <a:latin typeface="Consolas"/>
              </a:rPr>
              <a:t> to </a:t>
            </a:r>
            <a:r>
              <a:rPr sz="1200" i="0">
                <a:solidFill>
                  <a:srgbClr val="7DCEA0"/>
                </a:solidFill>
                <a:latin typeface="Consolas"/>
              </a:rPr>
              <a:t>%s</a:t>
            </a:r>
            <a:r>
              <a:rPr sz="1200" i="0">
                <a:solidFill>
                  <a:srgbClr val="7DCEA0"/>
                </a:solidFill>
                <a:latin typeface="Consolas"/>
              </a:rPr>
              <a:t> -- more than triple --</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P_DEFECT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post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and the decision did not change, because </a:t>
            </a:r>
            <a:r>
              <a:rPr sz="1200" i="0">
                <a:solidFill>
                  <a:srgbClr val="7DCEA0"/>
                </a:solidFill>
                <a:latin typeface="Consolas"/>
              </a:rPr>
              <a:t>%s</a:t>
            </a:r>
            <a:r>
              <a:rPr sz="1200" i="0">
                <a:solidFill>
                  <a:srgbClr val="7DCEA0"/>
                </a:solidFill>
                <a:latin typeface="Consolas"/>
              </a:rPr>
              <a:t> &lt; </a:t>
            </a:r>
            <a:r>
              <a:rPr sz="1200" i="0">
                <a:solidFill>
                  <a:srgbClr val="7DCEA0"/>
                </a:solidFill>
                <a:latin typeface="Consolas"/>
              </a:rPr>
              <a:t>%s</a:t>
            </a:r>
            <a:r>
              <a:rPr sz="1200" i="0">
                <a:solidFill>
                  <a:srgbClr val="7DCEA0"/>
                </a:solidFill>
                <a:latin typeface="Consolas"/>
              </a:rPr>
              <a:t>.</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post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star</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the margin is now only </a:t>
            </a:r>
            <a:r>
              <a:rPr sz="1200" i="0">
                <a:solidFill>
                  <a:srgbClr val="7DCEA0"/>
                </a:solidFill>
                <a:latin typeface="Consolas"/>
              </a:rPr>
              <a:t>%.2f</a:t>
            </a:r>
            <a:r>
              <a:rPr sz="1200" i="0">
                <a:solidFill>
                  <a:srgbClr val="7DCEA0"/>
                </a:solidFill>
                <a:latin typeface="Consolas"/>
              </a:rPr>
              <a:t> utility units.</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float</a:t>
            </a:r>
            <a:r>
              <a:rPr sz="1200" i="0">
                <a:solidFill>
                  <a:srgbClr val="AEB6BF"/>
                </a:solidFill>
                <a:latin typeface="Consolas"/>
              </a:rPr>
              <a:t>(</a:t>
            </a:r>
            <a:r>
              <a:rPr sz="1200" i="0">
                <a:solidFill>
                  <a:srgbClr val="E8EDF2"/>
                </a:solidFill>
                <a:latin typeface="Consolas"/>
              </a:rPr>
              <a:t>margin</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C39BD3"/>
                </a:solidFill>
                <a:latin typeface="Consolas"/>
              </a:rPr>
              <a:t>float</a:t>
            </a:r>
            <a:r>
              <a:rPr sz="1200" i="0">
                <a:solidFill>
                  <a:srgbClr val="AEB6BF"/>
                </a:solidFill>
                <a:latin typeface="Consolas"/>
              </a:rPr>
              <a:t>(</a:t>
            </a:r>
            <a:r>
              <a:rPr sz="1200" i="0">
                <a:solidFill>
                  <a:srgbClr val="E8EDF2"/>
                </a:solidFill>
                <a:latin typeface="Consolas"/>
              </a:rPr>
              <a:t>margin</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F7DC6F"/>
                </a:solidFill>
                <a:latin typeface="Consolas"/>
              </a:rPr>
              <a:t>2</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101</a:t>
            </a:r>
          </a:p>
          <a:p>
            <a:pPr algn="r">
              <a:lnSpc>
                <a:spcPct val="100000"/>
              </a:lnSpc>
            </a:pPr>
            <a:r>
              <a:rPr sz="1200">
                <a:solidFill>
                  <a:srgbClr val="4F5D6A"/>
                </a:solidFill>
                <a:latin typeface="Consolas"/>
              </a:rPr>
              <a:t>102</a:t>
            </a:r>
          </a:p>
          <a:p>
            <a:pPr algn="r">
              <a:lnSpc>
                <a:spcPct val="100000"/>
              </a:lnSpc>
            </a:pPr>
            <a:r>
              <a:rPr sz="1200">
                <a:solidFill>
                  <a:srgbClr val="4F5D6A"/>
                </a:solidFill>
                <a:latin typeface="Consolas"/>
              </a:rPr>
              <a:t>103</a:t>
            </a:r>
          </a:p>
          <a:p>
            <a:pPr algn="r">
              <a:lnSpc>
                <a:spcPct val="100000"/>
              </a:lnSpc>
            </a:pPr>
            <a:r>
              <a:rPr sz="1200">
                <a:solidFill>
                  <a:srgbClr val="4F5D6A"/>
                </a:solidFill>
                <a:latin typeface="Consolas"/>
              </a:rPr>
              <a:t>104</a:t>
            </a:r>
          </a:p>
          <a:p>
            <a:pPr algn="r">
              <a:lnSpc>
                <a:spcPct val="100000"/>
              </a:lnSpc>
            </a:pPr>
            <a:r>
              <a:rPr sz="1200">
                <a:solidFill>
                  <a:srgbClr val="4F5D6A"/>
                </a:solidFill>
                <a:latin typeface="Consolas"/>
              </a:rPr>
              <a:t>105</a:t>
            </a:r>
          </a:p>
          <a:p>
            <a:pPr algn="r">
              <a:lnSpc>
                <a:spcPct val="100000"/>
              </a:lnSpc>
            </a:pPr>
            <a:r>
              <a:rPr sz="1200">
                <a:solidFill>
                  <a:srgbClr val="4F5D6A"/>
                </a:solidFill>
                <a:latin typeface="Consolas"/>
              </a:rPr>
              <a:t>106</a:t>
            </a:r>
          </a:p>
          <a:p>
            <a:pPr algn="r">
              <a:lnSpc>
                <a:spcPct val="100000"/>
              </a:lnSpc>
            </a:pPr>
            <a:r>
              <a:rPr sz="1200">
                <a:solidFill>
                  <a:srgbClr val="4F5D6A"/>
                </a:solidFill>
                <a:latin typeface="Consolas"/>
              </a:rPr>
              <a:t>107</a:t>
            </a:r>
          </a:p>
          <a:p>
            <a:pPr algn="r">
              <a:lnSpc>
                <a:spcPct val="100000"/>
              </a:lnSpc>
            </a:pPr>
            <a:r>
              <a:rPr sz="1200">
                <a:solidFill>
                  <a:srgbClr val="4F5D6A"/>
                </a:solidFill>
                <a:latin typeface="Consolas"/>
              </a:rPr>
              <a:t>108</a:t>
            </a:r>
          </a:p>
          <a:p>
            <a:pPr algn="r">
              <a:lnSpc>
                <a:spcPct val="100000"/>
              </a:lnSpc>
            </a:pPr>
            <a:r>
              <a:rPr sz="1200">
                <a:solidFill>
                  <a:srgbClr val="4F5D6A"/>
                </a:solidFill>
                <a:latin typeface="Consolas"/>
              </a:rPr>
              <a:t>109</a:t>
            </a:r>
          </a:p>
          <a:p>
            <a:pPr algn="r">
              <a:lnSpc>
                <a:spcPct val="100000"/>
              </a:lnSpc>
            </a:pPr>
            <a:r>
              <a:rPr sz="1200">
                <a:solidFill>
                  <a:srgbClr val="4F5D6A"/>
                </a:solidFill>
                <a:latin typeface="Consolas"/>
              </a:rPr>
              <a:t>110</a:t>
            </a:r>
          </a:p>
          <a:p>
            <a:pPr algn="r">
              <a:lnSpc>
                <a:spcPct val="100000"/>
              </a:lnSpc>
            </a:pPr>
            <a:r>
              <a:rPr sz="1200">
                <a:solidFill>
                  <a:srgbClr val="4F5D6A"/>
                </a:solidFill>
                <a:latin typeface="Consolas"/>
              </a:rPr>
              <a:t>111</a:t>
            </a:r>
          </a:p>
          <a:p>
            <a:pPr algn="r">
              <a:lnSpc>
                <a:spcPct val="100000"/>
              </a:lnSpc>
            </a:pPr>
            <a:r>
              <a:rPr sz="1200">
                <a:solidFill>
                  <a:srgbClr val="4F5D6A"/>
                </a:solidFill>
                <a:latin typeface="Consolas"/>
              </a:rPr>
              <a:t>112</a:t>
            </a:r>
          </a:p>
          <a:p>
            <a:pPr algn="r">
              <a:lnSpc>
                <a:spcPct val="100000"/>
              </a:lnSpc>
            </a:pPr>
            <a:r>
              <a:rPr sz="1200">
                <a:solidFill>
                  <a:srgbClr val="4F5D6A"/>
                </a:solidFill>
                <a:latin typeface="Consolas"/>
              </a:rPr>
              <a:t>113</a:t>
            </a:r>
          </a:p>
          <a:p>
            <a:pPr algn="r">
              <a:lnSpc>
                <a:spcPct val="100000"/>
              </a:lnSpc>
            </a:pPr>
            <a:r>
              <a:rPr sz="1200">
                <a:solidFill>
                  <a:srgbClr val="4F5D6A"/>
                </a:solidFill>
                <a:latin typeface="Consolas"/>
              </a:rPr>
              <a:t>114</a:t>
            </a:r>
          </a:p>
          <a:p>
            <a:pPr algn="r">
              <a:lnSpc>
                <a:spcPct val="100000"/>
              </a:lnSpc>
            </a:pPr>
            <a:r>
              <a:rPr sz="1200">
                <a:solidFill>
                  <a:srgbClr val="4F5D6A"/>
                </a:solidFill>
                <a:latin typeface="Consolas"/>
              </a:rPr>
              <a:t>115</a:t>
            </a:r>
          </a:p>
          <a:p>
            <a:pPr algn="r">
              <a:lnSpc>
                <a:spcPct val="100000"/>
              </a:lnSpc>
            </a:pPr>
            <a:r>
              <a:rPr sz="1200">
                <a:solidFill>
                  <a:srgbClr val="4F5D6A"/>
                </a:solidFill>
                <a:latin typeface="Consolas"/>
              </a:rPr>
              <a:t>116</a:t>
            </a:r>
          </a:p>
          <a:p>
            <a:pPr algn="r">
              <a:lnSpc>
                <a:spcPct val="100000"/>
              </a:lnSpc>
            </a:pPr>
            <a:r>
              <a:rPr sz="1200">
                <a:solidFill>
                  <a:srgbClr val="4F5D6A"/>
                </a:solidFill>
                <a:latin typeface="Consolas"/>
              </a:rPr>
              <a:t>117</a:t>
            </a:r>
          </a:p>
          <a:p>
            <a:pPr algn="r">
              <a:lnSpc>
                <a:spcPct val="100000"/>
              </a:lnSpc>
            </a:pPr>
            <a:r>
              <a:rPr sz="1200">
                <a:solidFill>
                  <a:srgbClr val="4F5D6A"/>
                </a:solidFill>
                <a:latin typeface="Consolas"/>
              </a:rPr>
              <a:t>118</a:t>
            </a:r>
          </a:p>
          <a:p>
            <a:pPr algn="r">
              <a:lnSpc>
                <a:spcPct val="100000"/>
              </a:lnSpc>
            </a:pPr>
            <a:r>
              <a:rPr sz="1200">
                <a:solidFill>
                  <a:srgbClr val="4F5D6A"/>
                </a:solidFill>
                <a:latin typeface="Consolas"/>
              </a:rPr>
              <a:t>119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8115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DFD0AC54-51B6-4286-9E27-BD73118E765E}"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value of information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 the value of information --------------------------------- print() print(&quot;=== value of perfect information ===&quot;) for label, p in rows + ((&quot;at the flip point&quot;, star),): print(&quot; %-18s p=%-8s VPI = %6.2f&quot; % (label.strip(), round(float(p), 4), float(vpi(p)))) assert vpi(post) &gt; 3 * vpi(P_DEFECT) print() print(&quot;Information is worth most where the decision is hardest:&quot;) print(&quot;%.2f before the test, %.2f after an ambiguous alarm.&quot; % (float(vpi(P_DEFECT)), float(vpi(post)))) print(&quot;Delaying a week costs 10 when the release is sound, so an&quot;) print(&quot;investigation cheaper than that is clearly worth doing.&quot;)"/>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1">
                <a:solidFill>
                  <a:srgbClr val="8795A1"/>
                </a:solidFill>
                <a:latin typeface="Consolas"/>
              </a:rPr>
              <a:t># --- the value of information ---------------------------------</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value of perfect information ===</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label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rows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the flip point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star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%-18s</a:t>
            </a:r>
            <a:r>
              <a:rPr sz="1800" i="0">
                <a:solidFill>
                  <a:srgbClr val="7DCEA0"/>
                </a:solidFill>
                <a:latin typeface="Consolas"/>
              </a:rPr>
              <a:t> p=</a:t>
            </a:r>
            <a:r>
              <a:rPr sz="1800" i="0">
                <a:solidFill>
                  <a:srgbClr val="7DCEA0"/>
                </a:solidFill>
                <a:latin typeface="Consolas"/>
              </a:rPr>
              <a:t>%-8s</a:t>
            </a:r>
            <a:r>
              <a:rPr sz="1800" i="0">
                <a:solidFill>
                  <a:srgbClr val="7DCEA0"/>
                </a:solidFill>
                <a:latin typeface="Consolas"/>
              </a:rPr>
              <a:t> VPI = </a:t>
            </a:r>
            <a:r>
              <a:rPr sz="1800" i="0">
                <a:solidFill>
                  <a:srgbClr val="7DCEA0"/>
                </a:solidFill>
                <a:latin typeface="Consolas"/>
              </a:rPr>
              <a:t>%6.2f</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label</a:t>
            </a:r>
            <a:r>
              <a:rPr sz="1800" i="0">
                <a:solidFill>
                  <a:srgbClr val="AEB6BF"/>
                </a:solidFill>
                <a:latin typeface="Consolas"/>
              </a:rPr>
              <a:t>.</a:t>
            </a:r>
            <a:r>
              <a:rPr sz="1800" i="0">
                <a:solidFill>
                  <a:srgbClr val="E8EDF2"/>
                </a:solidFill>
                <a:latin typeface="Consolas"/>
              </a:rPr>
              <a:t>strip</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vpi</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vpi</a:t>
            </a:r>
            <a:r>
              <a:rPr sz="1800" i="0">
                <a:solidFill>
                  <a:srgbClr val="AEB6BF"/>
                </a:solidFill>
                <a:latin typeface="Consolas"/>
              </a:rPr>
              <a:t>(</a:t>
            </a:r>
            <a:r>
              <a:rPr sz="1800" i="0">
                <a:solidFill>
                  <a:srgbClr val="E8EDF2"/>
                </a:solidFill>
                <a:latin typeface="Consolas"/>
              </a:rPr>
              <a:t>post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3</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vpi</a:t>
            </a:r>
            <a:r>
              <a:rPr sz="1800" i="0">
                <a:solidFill>
                  <a:srgbClr val="AEB6BF"/>
                </a:solidFill>
                <a:latin typeface="Consolas"/>
              </a:rPr>
              <a:t>(</a:t>
            </a:r>
            <a:r>
              <a:rPr sz="1800" i="0">
                <a:solidFill>
                  <a:srgbClr val="E8EDF2"/>
                </a:solidFill>
                <a:latin typeface="Consolas"/>
              </a:rPr>
              <a:t>P_DEFECT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Information is worth most where the decision is hardest: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 before the test, </a:t>
            </a:r>
            <a:r>
              <a:rPr sz="1800" i="0">
                <a:solidFill>
                  <a:srgbClr val="7DCEA0"/>
                </a:solidFill>
                <a:latin typeface="Consolas"/>
              </a:rPr>
              <a:t>%.2f</a:t>
            </a:r>
            <a:r>
              <a:rPr sz="1800" i="0">
                <a:solidFill>
                  <a:srgbClr val="7DCEA0"/>
                </a:solidFill>
                <a:latin typeface="Consolas"/>
              </a:rPr>
              <a:t> after an ambiguous alarm.</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vpi</a:t>
            </a:r>
            <a:r>
              <a:rPr sz="1800" i="0">
                <a:solidFill>
                  <a:srgbClr val="AEB6BF"/>
                </a:solidFill>
                <a:latin typeface="Consolas"/>
              </a:rPr>
              <a:t>(</a:t>
            </a:r>
            <a:r>
              <a:rPr sz="1800" i="0">
                <a:solidFill>
                  <a:srgbClr val="E8EDF2"/>
                </a:solidFill>
                <a:latin typeface="Consolas"/>
              </a:rPr>
              <a:t>P_DEFECT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vpi</a:t>
            </a:r>
            <a:r>
              <a:rPr sz="1800" i="0">
                <a:solidFill>
                  <a:srgbClr val="AEB6BF"/>
                </a:solidFill>
                <a:latin typeface="Consolas"/>
              </a:rPr>
              <a:t>(</a:t>
            </a:r>
            <a:r>
              <a:rPr sz="1800" i="0">
                <a:solidFill>
                  <a:srgbClr val="E8EDF2"/>
                </a:solidFill>
                <a:latin typeface="Consolas"/>
              </a:rPr>
              <a:t>post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Delaying a week costs 10 when the release is sound, so an</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investigation cheaper than that is clearly worth doing.</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121</a:t>
            </a:r>
          </a:p>
          <a:p>
            <a:pPr algn="r">
              <a:lnSpc>
                <a:spcPct val="100000"/>
              </a:lnSpc>
            </a:pPr>
            <a:r>
              <a:rPr sz="1800">
                <a:solidFill>
                  <a:srgbClr val="4F5D6A"/>
                </a:solidFill>
                <a:latin typeface="Consolas"/>
              </a:rPr>
              <a:t>122</a:t>
            </a:r>
          </a:p>
          <a:p>
            <a:pPr algn="r">
              <a:lnSpc>
                <a:spcPct val="100000"/>
              </a:lnSpc>
            </a:pPr>
            <a:r>
              <a:rPr sz="1800">
                <a:solidFill>
                  <a:srgbClr val="4F5D6A"/>
                </a:solidFill>
                <a:latin typeface="Consolas"/>
              </a:rPr>
              <a:t>123</a:t>
            </a:r>
          </a:p>
          <a:p>
            <a:pPr algn="r">
              <a:lnSpc>
                <a:spcPct val="100000"/>
              </a:lnSpc>
            </a:pPr>
            <a:r>
              <a:rPr sz="1800">
                <a:solidFill>
                  <a:srgbClr val="4F5D6A"/>
                </a:solidFill>
                <a:latin typeface="Consolas"/>
              </a:rPr>
              <a:t>124</a:t>
            </a:r>
          </a:p>
          <a:p>
            <a:pPr algn="r">
              <a:lnSpc>
                <a:spcPct val="100000"/>
              </a:lnSpc>
            </a:pPr>
            <a:r>
              <a:rPr sz="1800">
                <a:solidFill>
                  <a:srgbClr val="4F5D6A"/>
                </a:solidFill>
                <a:latin typeface="Consolas"/>
              </a:rPr>
              <a:t>125</a:t>
            </a:r>
          </a:p>
          <a:p>
            <a:pPr algn="r">
              <a:lnSpc>
                <a:spcPct val="100000"/>
              </a:lnSpc>
            </a:pPr>
            <a:r>
              <a:rPr sz="1800">
                <a:solidFill>
                  <a:srgbClr val="4F5D6A"/>
                </a:solidFill>
                <a:latin typeface="Consolas"/>
              </a:rPr>
              <a:t>126</a:t>
            </a:r>
          </a:p>
          <a:p>
            <a:pPr algn="r">
              <a:lnSpc>
                <a:spcPct val="100000"/>
              </a:lnSpc>
            </a:pPr>
            <a:r>
              <a:rPr sz="1800">
                <a:solidFill>
                  <a:srgbClr val="4F5D6A"/>
                </a:solidFill>
                <a:latin typeface="Consolas"/>
              </a:rPr>
              <a:t>127</a:t>
            </a:r>
          </a:p>
          <a:p>
            <a:pPr algn="r">
              <a:lnSpc>
                <a:spcPct val="100000"/>
              </a:lnSpc>
            </a:pPr>
            <a:r>
              <a:rPr sz="1800">
                <a:solidFill>
                  <a:srgbClr val="4F5D6A"/>
                </a:solidFill>
                <a:latin typeface="Consolas"/>
              </a:rPr>
              <a:t>128</a:t>
            </a:r>
          </a:p>
          <a:p>
            <a:pPr algn="r">
              <a:lnSpc>
                <a:spcPct val="100000"/>
              </a:lnSpc>
            </a:pPr>
            <a:r>
              <a:rPr sz="1800">
                <a:solidFill>
                  <a:srgbClr val="4F5D6A"/>
                </a:solidFill>
                <a:latin typeface="Consolas"/>
              </a:rPr>
              <a:t>129</a:t>
            </a:r>
          </a:p>
          <a:p>
            <a:pPr algn="r">
              <a:lnSpc>
                <a:spcPct val="100000"/>
              </a:lnSpc>
            </a:pPr>
            <a:r>
              <a:rPr sz="1800">
                <a:solidFill>
                  <a:srgbClr val="4F5D6A"/>
                </a:solidFill>
                <a:latin typeface="Consolas"/>
              </a:rPr>
              <a:t>130</a:t>
            </a:r>
          </a:p>
          <a:p>
            <a:pPr algn="r">
              <a:lnSpc>
                <a:spcPct val="100000"/>
              </a:lnSpc>
            </a:pPr>
            <a:r>
              <a:rPr sz="1800">
                <a:solidFill>
                  <a:srgbClr val="4F5D6A"/>
                </a:solidFill>
                <a:latin typeface="Consolas"/>
              </a:rPr>
              <a:t>131</a:t>
            </a:r>
          </a:p>
          <a:p>
            <a:pPr algn="r">
              <a:lnSpc>
                <a:spcPct val="100000"/>
              </a:lnSpc>
            </a:pPr>
            <a:r>
              <a:rPr sz="1800">
                <a:solidFill>
                  <a:srgbClr val="4F5D6A"/>
                </a:solidFill>
                <a:latin typeface="Consolas"/>
              </a:rPr>
              <a:t>132</a:t>
            </a:r>
          </a:p>
          <a:p>
            <a:pPr algn="r">
              <a:lnSpc>
                <a:spcPct val="100000"/>
              </a:lnSpc>
            </a:pPr>
            <a:r>
              <a:rPr sz="1800">
                <a:solidFill>
                  <a:srgbClr val="4F5D6A"/>
                </a:solidFill>
                <a:latin typeface="Consolas"/>
              </a:rPr>
              <a:t>133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1118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Go/No-Go Under Uncertainty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9FA62ED8-B148-4D1D-8E00-8FA6AE1EFE4E}"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the utilities matter as much as the probabilities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code/ch14_go_no_go_under.py</a:t>
            </a:r>
          </a:p>
        </p:txBody>
      </p:sp>
      <p:sp>
        <p:nvSpPr>
          <p:cNvPr id="14" name="!!code-text" descr="# --- and the utilities matter as much as the probabilities ---- print() print(&quot;=== if shipping a defect cost 60 rather than 100 ===&quot;) UTIL[(&quot;ship&quot;, &quot;defect&quot;)] = -60 star2 = flip_point() print(&quot; flip point moves from %s to %s (%.3f)&quot; % (star, star2, float(star2))) print(&quot; the alarm's 1/3 is now far from flipping anything:&quot;, best(post)[0]) print(&quot; VPI after an alarm falls from %.2f to %.2f&quot; % (31.67, float(vpi(post)))) assert star2 &gt; star print() print(&quot;The utilities decide the answer as much as the&quot;) print(&quot;probabilities do -- and they are the part nobody measures.&quo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1">
                <a:solidFill>
                  <a:srgbClr val="8795A1"/>
                </a:solidFill>
                <a:latin typeface="Consolas"/>
              </a:rPr>
              <a:t># --- and the utilities matter as much as the probabilities ----</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if shipping a defect cost 60 rather than 100 ===</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UTIL</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ship</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defect</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F7DC6F"/>
                </a:solidFill>
                <a:latin typeface="Consolas"/>
              </a:rPr>
              <a:t>60</a:t>
            </a:r>
          </a:p>
          <a:p>
            <a:pPr>
              <a:lnSpc>
                <a:spcPct val="100000"/>
              </a:lnSpc>
              <a:spcAft>
                <a:spcPts val="0"/>
              </a:spcAft>
            </a:pPr>
            <a:r>
              <a:rPr sz="1500" i="0">
                <a:solidFill>
                  <a:srgbClr val="E8EDF2"/>
                </a:solidFill>
                <a:latin typeface="Consolas"/>
              </a:rPr>
              <a:t>    </a:t>
            </a:r>
            <a:r>
              <a:rPr sz="1500" i="0">
                <a:solidFill>
                  <a:srgbClr val="E8EDF2"/>
                </a:solidFill>
                <a:latin typeface="Consolas"/>
              </a:rPr>
              <a:t>star2</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flip_point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flip point moves from </a:t>
            </a:r>
            <a:r>
              <a:rPr sz="1500" i="0">
                <a:solidFill>
                  <a:srgbClr val="7DCEA0"/>
                </a:solidFill>
                <a:latin typeface="Consolas"/>
              </a:rPr>
              <a:t>%s</a:t>
            </a:r>
            <a:r>
              <a:rPr sz="1500" i="0">
                <a:solidFill>
                  <a:srgbClr val="7DCEA0"/>
                </a:solidFill>
                <a:latin typeface="Consolas"/>
              </a:rPr>
              <a:t> to </a:t>
            </a:r>
            <a:r>
              <a:rPr sz="1500" i="0">
                <a:solidFill>
                  <a:srgbClr val="7DCEA0"/>
                </a:solidFill>
                <a:latin typeface="Consolas"/>
              </a:rPr>
              <a:t>%s</a:t>
            </a:r>
            <a:r>
              <a:rPr sz="1500" i="0">
                <a:solidFill>
                  <a:srgbClr val="7DCEA0"/>
                </a:solidFill>
                <a:latin typeface="Consolas"/>
              </a:rPr>
              <a:t> (</a:t>
            </a:r>
            <a:r>
              <a:rPr sz="1500" i="0">
                <a:solidFill>
                  <a:srgbClr val="7DCEA0"/>
                </a:solidFill>
                <a:latin typeface="Consolas"/>
              </a:rPr>
              <a:t>%.3f</a:t>
            </a:r>
            <a:r>
              <a:rPr sz="1500" i="0">
                <a:solidFill>
                  <a:srgbClr val="7DCEA0"/>
                </a:solidFill>
                <a:latin typeface="Consolas"/>
              </a:rPr>
              <a:t>)</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star</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star2</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float</a:t>
            </a:r>
            <a:r>
              <a:rPr sz="1500" i="0">
                <a:solidFill>
                  <a:srgbClr val="AEB6BF"/>
                </a:solidFill>
                <a:latin typeface="Consolas"/>
              </a:rPr>
              <a:t>(</a:t>
            </a:r>
            <a:r>
              <a:rPr sz="1500" i="0">
                <a:solidFill>
                  <a:srgbClr val="E8EDF2"/>
                </a:solidFill>
                <a:latin typeface="Consolas"/>
              </a:rPr>
              <a:t>star2</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the alarm</a:t>
            </a:r>
            <a:r>
              <a:rPr sz="1500" i="0">
                <a:solidFill>
                  <a:srgbClr val="7DCEA0"/>
                </a:solidFill>
                <a:latin typeface="Consolas"/>
              </a:rPr>
              <a:t>'</a:t>
            </a:r>
            <a:r>
              <a:rPr sz="1500" i="0">
                <a:solidFill>
                  <a:srgbClr val="7DCEA0"/>
                </a:solidFill>
                <a:latin typeface="Consolas"/>
              </a:rPr>
              <a:t>s 1/3 is now far from flipping anything:</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post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VPI after an alarm falls from </a:t>
            </a:r>
            <a:r>
              <a:rPr sz="1500" i="0">
                <a:solidFill>
                  <a:srgbClr val="7DCEA0"/>
                </a:solidFill>
                <a:latin typeface="Consolas"/>
              </a:rPr>
              <a:t>%.2f</a:t>
            </a:r>
            <a:r>
              <a:rPr sz="1500" i="0">
                <a:solidFill>
                  <a:srgbClr val="7DCEA0"/>
                </a:solidFill>
                <a:latin typeface="Consolas"/>
              </a:rPr>
              <a:t> to </a:t>
            </a:r>
            <a:r>
              <a:rPr sz="1500" i="0">
                <a:solidFill>
                  <a:srgbClr val="7DCEA0"/>
                </a:solidFill>
                <a:latin typeface="Consolas"/>
              </a:rPr>
              <a:t>%.2f</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F7DC6F"/>
                </a:solidFill>
                <a:latin typeface="Consolas"/>
              </a:rPr>
              <a:t>31.67</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float</a:t>
            </a:r>
            <a:r>
              <a:rPr sz="1500" i="0">
                <a:solidFill>
                  <a:srgbClr val="AEB6BF"/>
                </a:solidFill>
                <a:latin typeface="Consolas"/>
              </a:rPr>
              <a:t>(</a:t>
            </a:r>
            <a:r>
              <a:rPr sz="1500" i="0">
                <a:solidFill>
                  <a:srgbClr val="E8EDF2"/>
                </a:solidFill>
                <a:latin typeface="Consolas"/>
              </a:rPr>
              <a:t>vpi</a:t>
            </a:r>
            <a:r>
              <a:rPr sz="1500" i="0">
                <a:solidFill>
                  <a:srgbClr val="AEB6BF"/>
                </a:solidFill>
                <a:latin typeface="Consolas"/>
              </a:rPr>
              <a:t>(</a:t>
            </a:r>
            <a:r>
              <a:rPr sz="1500" i="0">
                <a:solidFill>
                  <a:srgbClr val="E8EDF2"/>
                </a:solidFill>
                <a:latin typeface="Consolas"/>
              </a:rPr>
              <a:t>post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assert</a:t>
            </a:r>
            <a:r>
              <a:rPr sz="1500" i="0">
                <a:solidFill>
                  <a:srgbClr val="E8EDF2"/>
                </a:solidFill>
                <a:latin typeface="Consolas"/>
              </a:rPr>
              <a:t> </a:t>
            </a:r>
            <a:r>
              <a:rPr sz="1500" i="0">
                <a:solidFill>
                  <a:srgbClr val="E8EDF2"/>
                </a:solidFill>
                <a:latin typeface="Consolas"/>
              </a:rPr>
              <a:t>star2</a:t>
            </a:r>
            <a:r>
              <a:rPr sz="1500" i="0">
                <a:solidFill>
                  <a:srgbClr val="E8EDF2"/>
                </a:solidFill>
                <a:latin typeface="Consolas"/>
              </a:rPr>
              <a:t> </a:t>
            </a:r>
            <a:r>
              <a:rPr sz="1500" i="0">
                <a:solidFill>
                  <a:srgbClr val="AEB6BF"/>
                </a:solidFill>
                <a:latin typeface="Consolas"/>
              </a:rPr>
              <a:t>&gt;</a:t>
            </a:r>
            <a:r>
              <a:rPr sz="1500" i="0">
                <a:solidFill>
                  <a:srgbClr val="E8EDF2"/>
                </a:solidFill>
                <a:latin typeface="Consolas"/>
              </a:rPr>
              <a:t> </a:t>
            </a:r>
            <a:r>
              <a:rPr sz="1500" i="0">
                <a:solidFill>
                  <a:srgbClr val="E8EDF2"/>
                </a:solidFill>
                <a:latin typeface="Consolas"/>
              </a:rPr>
              <a:t>star</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The utilities decide the answer as much as the</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probabilities do -- and they are the part nobody measures.</a:t>
            </a:r>
            <a:r>
              <a:rPr sz="1500" i="0">
                <a:solidFill>
                  <a:srgbClr val="7DCEA0"/>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135</a:t>
            </a:r>
          </a:p>
          <a:p>
            <a:pPr algn="r">
              <a:lnSpc>
                <a:spcPct val="100000"/>
              </a:lnSpc>
            </a:pPr>
            <a:r>
              <a:rPr sz="1500">
                <a:solidFill>
                  <a:srgbClr val="4F5D6A"/>
                </a:solidFill>
                <a:latin typeface="Consolas"/>
              </a:rPr>
              <a:t>136</a:t>
            </a:r>
          </a:p>
          <a:p>
            <a:pPr algn="r">
              <a:lnSpc>
                <a:spcPct val="100000"/>
              </a:lnSpc>
            </a:pPr>
            <a:r>
              <a:rPr sz="1500">
                <a:solidFill>
                  <a:srgbClr val="4F5D6A"/>
                </a:solidFill>
                <a:latin typeface="Consolas"/>
              </a:rPr>
              <a:t>137</a:t>
            </a:r>
          </a:p>
          <a:p>
            <a:pPr algn="r">
              <a:lnSpc>
                <a:spcPct val="100000"/>
              </a:lnSpc>
            </a:pPr>
            <a:r>
              <a:rPr sz="1500">
                <a:solidFill>
                  <a:srgbClr val="4F5D6A"/>
                </a:solidFill>
                <a:latin typeface="Consolas"/>
              </a:rPr>
              <a:t>138</a:t>
            </a:r>
          </a:p>
          <a:p>
            <a:pPr algn="r">
              <a:lnSpc>
                <a:spcPct val="100000"/>
              </a:lnSpc>
            </a:pPr>
            <a:r>
              <a:rPr sz="1500">
                <a:solidFill>
                  <a:srgbClr val="4F5D6A"/>
                </a:solidFill>
                <a:latin typeface="Consolas"/>
              </a:rPr>
              <a:t>139</a:t>
            </a:r>
          </a:p>
          <a:p>
            <a:pPr algn="r">
              <a:lnSpc>
                <a:spcPct val="100000"/>
              </a:lnSpc>
            </a:pPr>
            <a:r>
              <a:rPr sz="1500">
                <a:solidFill>
                  <a:srgbClr val="4F5D6A"/>
                </a:solidFill>
                <a:latin typeface="Consolas"/>
              </a:rPr>
              <a:t>140</a:t>
            </a:r>
          </a:p>
          <a:p>
            <a:pPr algn="r">
              <a:lnSpc>
                <a:spcPct val="100000"/>
              </a:lnSpc>
            </a:pPr>
            <a:r>
              <a:rPr sz="1500">
                <a:solidFill>
                  <a:srgbClr val="4F5D6A"/>
                </a:solidFill>
                <a:latin typeface="Consolas"/>
              </a:rPr>
              <a:t>141</a:t>
            </a:r>
          </a:p>
          <a:p>
            <a:pPr algn="r">
              <a:lnSpc>
                <a:spcPct val="100000"/>
              </a:lnSpc>
            </a:pPr>
            <a:r>
              <a:rPr sz="1500">
                <a:solidFill>
                  <a:srgbClr val="4F5D6A"/>
                </a:solidFill>
                <a:latin typeface="Consolas"/>
              </a:rPr>
              <a:t>142</a:t>
            </a:r>
          </a:p>
          <a:p>
            <a:pPr algn="r">
              <a:lnSpc>
                <a:spcPct val="100000"/>
              </a:lnSpc>
            </a:pPr>
            <a:r>
              <a:rPr sz="1500">
                <a:solidFill>
                  <a:srgbClr val="4F5D6A"/>
                </a:solidFill>
                <a:latin typeface="Consolas"/>
              </a:rPr>
              <a:t>143</a:t>
            </a:r>
          </a:p>
          <a:p>
            <a:pPr algn="r">
              <a:lnSpc>
                <a:spcPct val="100000"/>
              </a:lnSpc>
            </a:pPr>
            <a:r>
              <a:rPr sz="1500">
                <a:solidFill>
                  <a:srgbClr val="4F5D6A"/>
                </a:solidFill>
                <a:latin typeface="Consolas"/>
              </a:rPr>
              <a:t>144</a:t>
            </a:r>
          </a:p>
          <a:p>
            <a:pPr algn="r">
              <a:lnSpc>
                <a:spcPct val="100000"/>
              </a:lnSpc>
            </a:pPr>
            <a:r>
              <a:rPr sz="1500">
                <a:solidFill>
                  <a:srgbClr val="4F5D6A"/>
                </a:solidFill>
                <a:latin typeface="Consolas"/>
              </a:rPr>
              <a:t>145</a:t>
            </a:r>
          </a:p>
          <a:p>
            <a:pPr algn="r">
              <a:lnSpc>
                <a:spcPct val="100000"/>
              </a:lnSpc>
            </a:pPr>
            <a:r>
              <a:rPr sz="1500">
                <a:solidFill>
                  <a:srgbClr val="4F5D6A"/>
                </a:solidFill>
                <a:latin typeface="Consolas"/>
              </a:rPr>
              <a:t>146</a:t>
            </a:r>
          </a:p>
          <a:p>
            <a:pPr algn="r">
              <a:lnSpc>
                <a:spcPct val="100000"/>
              </a:lnSpc>
            </a:pPr>
            <a:r>
              <a:rPr sz="1500">
                <a:solidFill>
                  <a:srgbClr val="4F5D6A"/>
                </a:solidFill>
                <a:latin typeface="Consolas"/>
              </a:rPr>
              <a:t>147</a:t>
            </a:r>
          </a:p>
          <a:p>
            <a:pPr algn="r">
              <a:lnSpc>
                <a:spcPct val="100000"/>
              </a:lnSpc>
            </a:pPr>
            <a:r>
              <a:rPr sz="1500">
                <a:solidFill>
                  <a:srgbClr val="4F5D6A"/>
                </a:solidFill>
                <a:latin typeface="Consolas"/>
              </a:rPr>
              <a:t>148</a:t>
            </a:r>
          </a:p>
          <a:p>
            <a:pPr algn="r">
              <a:lnSpc>
                <a:spcPct val="100000"/>
              </a:lnSpc>
            </a:pPr>
            <a:r>
              <a:rPr sz="1500">
                <a:solidFill>
                  <a:srgbClr val="4F5D6A"/>
                </a:solidFill>
                <a:latin typeface="Consolas"/>
              </a:rPr>
              <a:t>149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74121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§14.6  ·  Handout p. 149     </a:t>
            </a:r>
            <a:fld id="{A4EB45A5-2DA9-48F7-BA57-633B371B7F74}" type="slidenum">
              <a:rPr lang="en-GB" sz="1000">
                <a:solidFill>
                  <a:srgbClr val="8795A1"/>
                </a:solidFill>
                <a:latin typeface="Segoe UI"/>
              </a:rPr>
              <a:t>39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change </a:t>
            </a:r>
            <a:r>
              <a:rPr sz="2150" b="0" i="0">
                <a:solidFill>
                  <a:srgbClr val="1F4E79"/>
                </a:solidFill>
                <a:latin typeface="Consolas"/>
              </a:rPr>
              <a:t>FPR</a:t>
            </a:r>
            <a:r>
              <a:rPr sz="2300" b="0" i="0">
                <a:solidFill>
                  <a:srgbClr val="1C252B"/>
                </a:solidFill>
                <a:latin typeface="Segoe UI"/>
              </a:rPr>
              <a:t> to </a:t>
            </a:r>
            <a:r>
              <a:rPr sz="2300" b="0" i="0">
                <a:solidFill>
                  <a:srgbClr val="1C252B"/>
                </a:solidFill>
                <a:latin typeface="Cambria"/>
              </a:rPr>
              <a:t>0.02</a:t>
            </a:r>
            <a:r>
              <a:rPr sz="2300" b="0" i="0">
                <a:solidFill>
                  <a:srgbClr val="1C252B"/>
                </a:solidFill>
                <a:latin typeface="Segoe UI"/>
              </a:rPr>
              <a:t> — a test that almost never cries wolf — and re-run. The posterior after an alarm jumps to about </a:t>
            </a:r>
            <a:r>
              <a:rPr sz="2300" b="0" i="0">
                <a:solidFill>
                  <a:srgbClr val="1C252B"/>
                </a:solidFill>
                <a:latin typeface="Cambria"/>
              </a:rPr>
              <a:t>0.83</a:t>
            </a:r>
            <a:r>
              <a:rPr sz="2300" b="0" i="0">
                <a:solidFill>
                  <a:srgbClr val="1C252B"/>
                </a:solidFill>
                <a:latin typeface="Segoe UI"/>
              </a:rPr>
              <a:t>, the decision flips to </a:t>
            </a:r>
            <a:r>
              <a:rPr sz="2300" b="0" i="1">
                <a:solidFill>
                  <a:srgbClr val="1C252B"/>
                </a:solidFill>
                <a:latin typeface="Segoe UI"/>
              </a:rPr>
              <a:t>delay</a:t>
            </a:r>
            <a:r>
              <a:rPr sz="2300" b="0" i="0">
                <a:solidFill>
                  <a:srgbClr val="1C252B"/>
                </a:solidFill>
                <a:latin typeface="Segoe UI"/>
              </a:rPr>
              <a:t>, and the value of information collapses. A test is worth having in proportion to how often its answer changes what you do.</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7124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test that fires on </a:t>
            </a:r>
            <a:r>
              <a:rPr sz="3400" b="0" i="0">
                <a:solidFill>
                  <a:srgbClr val="FFFFFF"/>
                </a:solidFill>
                <a:latin typeface="Cambria"/>
              </a:rPr>
              <a:t>90%</a:t>
            </a:r>
            <a:r>
              <a:rPr sz="3400" b="0" i="0">
                <a:solidFill>
                  <a:srgbClr val="FFFFFF"/>
                </a:solidFill>
                <a:latin typeface="Segoe UI Semibold"/>
              </a:rPr>
              <a:t> of defective releases has fired, and the posterior probability of a defect is </a:t>
            </a:r>
            <a:r>
              <a:rPr sz="3400" b="0" i="0">
                <a:solidFill>
                  <a:srgbClr val="FFFFFF"/>
                </a:solidFill>
                <a:latin typeface="Cambria"/>
              </a:rPr>
              <a:t>1/3</a:t>
            </a:r>
            <a:r>
              <a:rPr sz="3400" b="0" i="0">
                <a:solidFill>
                  <a:srgbClr val="FFFFFF"/>
                </a:solidFill>
                <a:latin typeface="Segoe UI Semibold"/>
              </a:rPr>
              <a:t>. Explain to a delivery manager, in two sentences and without algebra, why those numbers are consistent.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14  ·  Uncertainty and Decision Making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155  ·  answers in Appendix D     </a:t>
            </a:r>
            <a:fld id="{7C009A56-045A-4F9C-BBEE-BFCA3FC084E1}"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test that fires on </a:t>
            </a:r>
            <a:r>
              <a:rPr sz="2400" b="0" i="0">
                <a:solidFill>
                  <a:srgbClr val="1A5276"/>
                </a:solidFill>
                <a:latin typeface="Cambria"/>
              </a:rPr>
              <a:t>90%</a:t>
            </a:r>
            <a:r>
              <a:rPr sz="2400" b="0" i="0">
                <a:solidFill>
                  <a:srgbClr val="1A5276"/>
                </a:solidFill>
                <a:latin typeface="Segoe UI Semibold"/>
              </a:rPr>
              <a:t> of defective releases has fired, and the posterior probability of a defect is </a:t>
            </a:r>
            <a:r>
              <a:rPr sz="2400" b="0" i="0">
                <a:solidFill>
                  <a:srgbClr val="1A5276"/>
                </a:solidFill>
                <a:latin typeface="Cambria"/>
              </a:rPr>
              <a:t>1/3</a:t>
            </a:r>
            <a:r>
              <a:rPr sz="2400" b="0" i="0">
                <a:solidFill>
                  <a:srgbClr val="1A5276"/>
                </a:solidFill>
                <a:latin typeface="Segoe UI Semibold"/>
              </a:rPr>
              <a:t>. Explain to a delivery manager, in two sentences and without algebra, why those numbers are consistent.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Of a thousand releases, a hundred are defective and the test catches ninety of them — but nine hundred are sound and the test cries wolf on a fifth of those, which is a hundred and eighty false alarms. So of the two hundred and seventy alarms, only ninety are real. The test is good; there are simply far more sound releases for it to be wrong about, and that is the base rate doing the work.</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  answers in Appendix D     </a:t>
            </a:r>
            <a:fld id="{3F2450F0-FC42-48CD-95D0-15F9B34705F7}"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3131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alarm moved the belief from </a:t>
            </a:r>
            <a:r>
              <a:rPr sz="3400" b="0" i="0">
                <a:solidFill>
                  <a:srgbClr val="FFFFFF"/>
                </a:solidFill>
                <a:latin typeface="Cambria"/>
              </a:rPr>
              <a:t>0.1</a:t>
            </a:r>
            <a:r>
              <a:rPr sz="3400" b="0" i="0">
                <a:solidFill>
                  <a:srgbClr val="FFFFFF"/>
                </a:solidFill>
                <a:latin typeface="Segoe UI Semibold"/>
              </a:rPr>
              <a:t> to </a:t>
            </a:r>
            <a:r>
              <a:rPr sz="3400" b="0" i="0">
                <a:solidFill>
                  <a:srgbClr val="FFFFFF"/>
                </a:solidFill>
                <a:latin typeface="Cambria"/>
              </a:rPr>
              <a:t>1/3</a:t>
            </a:r>
            <a:r>
              <a:rPr sz="3400" b="0" i="0">
                <a:solidFill>
                  <a:srgbClr val="FFFFFF"/>
                </a:solidFill>
                <a:latin typeface="Segoe UI Semibold"/>
              </a:rPr>
              <a:t> and did not change the recommendation. State the general lesson, and say what an engineer should report instead of “the probability tripled”.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14  ·  Uncertainty and Decision Making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155  ·  answers in Appendix D     </a:t>
            </a:r>
            <a:fld id="{586F5B37-611C-45D3-A368-9E05EEECA5BB}" type="slidenum">
              <a:rPr lang="en-GB" sz="1000">
                <a:solidFill>
                  <a:srgbClr val="D5DEE5"/>
                </a:solidFill>
                <a:latin typeface="Segoe UI"/>
              </a:rPr>
              <a:t>42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alarm moved the belief from </a:t>
            </a:r>
            <a:r>
              <a:rPr sz="2400" b="0" i="0">
                <a:solidFill>
                  <a:srgbClr val="1A5276"/>
                </a:solidFill>
                <a:latin typeface="Cambria"/>
              </a:rPr>
              <a:t>0.1</a:t>
            </a:r>
            <a:r>
              <a:rPr sz="2400" b="0" i="0">
                <a:solidFill>
                  <a:srgbClr val="1A5276"/>
                </a:solidFill>
                <a:latin typeface="Segoe UI Semibold"/>
              </a:rPr>
              <a:t> to </a:t>
            </a:r>
            <a:r>
              <a:rPr sz="2400" b="0" i="0">
                <a:solidFill>
                  <a:srgbClr val="1A5276"/>
                </a:solidFill>
                <a:latin typeface="Cambria"/>
              </a:rPr>
              <a:t>1/3</a:t>
            </a:r>
            <a:r>
              <a:rPr sz="2400" b="0" i="0">
                <a:solidFill>
                  <a:srgbClr val="1A5276"/>
                </a:solidFill>
                <a:latin typeface="Segoe UI Semibold"/>
              </a:rPr>
              <a:t> and did not change the recommendation. State the general lesson, and say what an engineer should report instead of “the probability tripled”.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lesson is that </a:t>
            </a:r>
            <a:r>
              <a:rPr sz="2200" b="0" i="1">
                <a:solidFill>
                  <a:srgbClr val="1C252B"/>
                </a:solidFill>
                <a:latin typeface="Segoe UI"/>
              </a:rPr>
              <a:t>a change of belief is not a change of decision</a:t>
            </a:r>
            <a:r>
              <a:rPr sz="2200" b="0" i="0">
                <a:solidFill>
                  <a:srgbClr val="1C252B"/>
                </a:solidFill>
                <a:latin typeface="Segoe UI"/>
              </a:rPr>
              <a:t>. The recommendation depends only on which side of the flip point </a:t>
            </a:r>
            <a:r>
              <a:rPr sz="2200" b="0" i="1">
                <a:solidFill>
                  <a:srgbClr val="1C252B"/>
                </a:solidFill>
                <a:latin typeface="Cambria"/>
              </a:rPr>
              <a:t>p</a:t>
            </a:r>
            <a:r>
              <a:rPr sz="1450" b="0" i="0" baseline="30000">
                <a:solidFill>
                  <a:srgbClr val="1C252B"/>
                </a:solidFill>
                <a:latin typeface="Cambria"/>
              </a:rPr>
              <a:t>∗</a:t>
            </a:r>
            <a:r>
              <a:rPr sz="2200" b="0" i="0">
                <a:solidFill>
                  <a:srgbClr val="1C252B"/>
                </a:solidFill>
                <a:latin typeface="Segoe UI"/>
              </a:rPr>
              <a:t> the probability falls, and </a:t>
            </a:r>
            <a:r>
              <a:rPr sz="2200" b="0" i="0">
                <a:solidFill>
                  <a:srgbClr val="1C252B"/>
                </a:solidFill>
                <a:latin typeface="Cambria"/>
              </a:rPr>
              <a:t>1/3</a:t>
            </a:r>
            <a:r>
              <a:rPr sz="2200" b="0" i="0">
                <a:solidFill>
                  <a:srgbClr val="1C252B"/>
                </a:solidFill>
                <a:latin typeface="Segoe UI"/>
              </a:rPr>
              <a:t> is below </a:t>
            </a:r>
            <a:r>
              <a:rPr sz="2200" b="0" i="0">
                <a:solidFill>
                  <a:srgbClr val="1C252B"/>
                </a:solidFill>
                <a:latin typeface="Cambria"/>
              </a:rPr>
              <a:t>10/29 ≈ 0.345</a:t>
            </a:r>
            <a:r>
              <a:rPr sz="2200" b="0" i="0">
                <a:solidFill>
                  <a:srgbClr val="1C252B"/>
                </a:solidFill>
                <a:latin typeface="Segoe UI"/>
              </a:rPr>
              <a:t>. What an engineer should report is the </a:t>
            </a:r>
            <a:r>
              <a:rPr sz="2200" b="0" i="1">
                <a:solidFill>
                  <a:srgbClr val="1C252B"/>
                </a:solidFill>
                <a:latin typeface="Segoe UI"/>
              </a:rPr>
              <a:t>action</a:t>
            </a:r>
            <a:r>
              <a:rPr sz="2200" b="0" i="0">
                <a:solidFill>
                  <a:srgbClr val="1C252B"/>
                </a:solidFill>
                <a:latin typeface="Segoe UI"/>
              </a:rPr>
              <a:t> and the </a:t>
            </a:r>
            <a:r>
              <a:rPr sz="2200" b="0" i="1">
                <a:solidFill>
                  <a:srgbClr val="1C252B"/>
                </a:solidFill>
                <a:latin typeface="Segoe UI"/>
              </a:rPr>
              <a:t>margin</a:t>
            </a:r>
            <a:r>
              <a:rPr sz="2200" b="0" i="0">
                <a:solidFill>
                  <a:srgbClr val="1C252B"/>
                </a:solidFill>
                <a:latin typeface="Segoe UI"/>
              </a:rPr>
              <a:t>: “still ship, but only by </a:t>
            </a:r>
            <a:r>
              <a:rPr sz="2200" b="0" i="0">
                <a:solidFill>
                  <a:srgbClr val="1C252B"/>
                </a:solidFill>
                <a:latin typeface="Cambria"/>
              </a:rPr>
              <a:t>1.67</a:t>
            </a:r>
            <a:r>
              <a:rPr sz="2200" b="0" i="0">
                <a:solidFill>
                  <a:srgbClr val="1C252B"/>
                </a:solidFill>
                <a:latin typeface="Segoe UI"/>
              </a:rPr>
              <a:t> utility units, which is close enough that better evidence is now worth having” — which is both the decision and the case for the next step.</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  answers in Appendix D     </a:t>
            </a:r>
            <a:fld id="{942C5C37-6EB7-40F2-9438-C45BF60E5278}" type="slidenum">
              <a:rPr lang="en-GB" sz="1000">
                <a:solidFill>
                  <a:srgbClr val="8795A1"/>
                </a:solidFill>
                <a:latin typeface="Segoe UI"/>
              </a:rPr>
              <a:t>43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9137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value of perfect information was </a:t>
            </a:r>
            <a:r>
              <a:rPr sz="3400" b="0" i="0">
                <a:solidFill>
                  <a:srgbClr val="FFFFFF"/>
                </a:solidFill>
                <a:latin typeface="Cambria"/>
              </a:rPr>
              <a:t>9.50</a:t>
            </a:r>
            <a:r>
              <a:rPr sz="3400" b="0" i="0">
                <a:solidFill>
                  <a:srgbClr val="FFFFFF"/>
                </a:solidFill>
                <a:latin typeface="Segoe UI Semibold"/>
              </a:rPr>
              <a:t> before the test and </a:t>
            </a:r>
            <a:r>
              <a:rPr sz="3400" b="0" i="0">
                <a:solidFill>
                  <a:srgbClr val="FFFFFF"/>
                </a:solidFill>
                <a:latin typeface="Cambria"/>
              </a:rPr>
              <a:t>31.67</a:t>
            </a:r>
            <a:r>
              <a:rPr sz="3400" b="0" i="0">
                <a:solidFill>
                  <a:srgbClr val="FFFFFF"/>
                </a:solidFill>
                <a:latin typeface="Segoe UI Semibold"/>
              </a:rPr>
              <a:t> after an ambiguous alarm. Explain why more evidence became </a:t>
            </a:r>
            <a:r>
              <a:rPr sz="3400" b="0" i="1">
                <a:solidFill>
                  <a:srgbClr val="FFFFFF"/>
                </a:solidFill>
                <a:latin typeface="Segoe UI Semibold"/>
              </a:rPr>
              <a:t>more</a:t>
            </a:r>
            <a:r>
              <a:rPr sz="3400" b="0" i="0">
                <a:solidFill>
                  <a:srgbClr val="FFFFFF"/>
                </a:solidFill>
                <a:latin typeface="Segoe UI Semibold"/>
              </a:rPr>
              <a:t> valuable after evidence arrived.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14  ·  Uncertainty and Decision Making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155  ·  answers in Appendix D     </a:t>
            </a:r>
            <a:fld id="{E2A40324-3B64-415A-ABBB-F93488D081E0}"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value of perfect information was </a:t>
            </a:r>
            <a:r>
              <a:rPr sz="2400" b="0" i="0">
                <a:solidFill>
                  <a:srgbClr val="1A5276"/>
                </a:solidFill>
                <a:latin typeface="Cambria"/>
              </a:rPr>
              <a:t>9.50</a:t>
            </a:r>
            <a:r>
              <a:rPr sz="2400" b="0" i="0">
                <a:solidFill>
                  <a:srgbClr val="1A5276"/>
                </a:solidFill>
                <a:latin typeface="Segoe UI Semibold"/>
              </a:rPr>
              <a:t> before the test and </a:t>
            </a:r>
            <a:r>
              <a:rPr sz="2400" b="0" i="0">
                <a:solidFill>
                  <a:srgbClr val="1A5276"/>
                </a:solidFill>
                <a:latin typeface="Cambria"/>
              </a:rPr>
              <a:t>31.67</a:t>
            </a:r>
            <a:r>
              <a:rPr sz="2400" b="0" i="0">
                <a:solidFill>
                  <a:srgbClr val="1A5276"/>
                </a:solidFill>
                <a:latin typeface="Segoe UI Semibold"/>
              </a:rPr>
              <a:t> after an ambiguous alarm. Explain why more evidence became </a:t>
            </a:r>
            <a:r>
              <a:rPr sz="2400" b="0" i="1">
                <a:solidFill>
                  <a:srgbClr val="1A5276"/>
                </a:solidFill>
                <a:latin typeface="Segoe UI Semibold"/>
              </a:rPr>
              <a:t>more</a:t>
            </a:r>
            <a:r>
              <a:rPr sz="2400" b="0" i="0">
                <a:solidFill>
                  <a:srgbClr val="1A5276"/>
                </a:solidFill>
                <a:latin typeface="Segoe UI Semibold"/>
              </a:rPr>
              <a:t> valuable after evidence arrived.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the value of information is proportional to how likely it is to </a:t>
            </a:r>
            <a:r>
              <a:rPr sz="2200" b="0" i="1">
                <a:solidFill>
                  <a:srgbClr val="1C252B"/>
                </a:solidFill>
                <a:latin typeface="Segoe UI"/>
              </a:rPr>
              <a:t>change the action</a:t>
            </a:r>
            <a:r>
              <a:rPr sz="2200" b="0" i="0">
                <a:solidFill>
                  <a:srgbClr val="1C252B"/>
                </a:solidFill>
                <a:latin typeface="Segoe UI"/>
              </a:rPr>
              <a:t>, not to how interesting it is. Before the test the decision was comfortable — ship, by </a:t>
            </a:r>
            <a:r>
              <a:rPr sz="2200" b="0" i="0">
                <a:solidFill>
                  <a:srgbClr val="1C252B"/>
                </a:solidFill>
                <a:latin typeface="Cambria"/>
              </a:rPr>
              <a:t>35</a:t>
            </a:r>
            <a:r>
              <a:rPr sz="2200" b="0" i="0">
                <a:solidFill>
                  <a:srgbClr val="1C252B"/>
                </a:solidFill>
                <a:latin typeface="Segoe UI"/>
              </a:rPr>
              <a:t> units — so certainty could rarely have flipped it. After the alarm the two options differ by under two units, so the same certainty now flips the decision often. Information is worth most exactly where the decision is hardest, and the function peaks at the flip point itself.</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  answers in Appendix D     </a:t>
            </a:r>
            <a:fld id="{037B0F4E-9FFD-43AE-BA70-36BEE3435C75}" type="slidenum">
              <a:rPr lang="en-GB" sz="1000">
                <a:solidFill>
                  <a:srgbClr val="8795A1"/>
                </a:solidFill>
                <a:latin typeface="Segoe UI"/>
              </a:rPr>
              <a:t>45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5143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B73A787E-BDDB-4AFC-B4E9-9319C6FDC3A4}" type="slidenum">
              <a:rPr lang="en-GB" sz="1000">
                <a:solidFill>
                  <a:srgbClr val="8795A1"/>
                </a:solidFill>
                <a:latin typeface="Segoe UI"/>
              </a:rPr>
              <a:t>46</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Probability is a </a:t>
            </a:r>
            <a:r>
              <a:rPr sz="1700" b="1" i="0">
                <a:solidFill>
                  <a:srgbClr val="1A5276"/>
                </a:solidFill>
                <a:latin typeface="Segoe UI"/>
              </a:rPr>
              <a:t>degree of belief</a:t>
            </a:r>
            <a:r>
              <a:rPr sz="1700" b="0" i="0">
                <a:solidFill>
                  <a:srgbClr val="1C252B"/>
                </a:solidFill>
                <a:latin typeface="Segoe UI"/>
              </a:rPr>
              <a:t> given what is known. Unlike Chapter 10’s defaults it </a:t>
            </a:r>
            <a:r>
              <a:rPr sz="1700" b="0" i="1">
                <a:solidFill>
                  <a:srgbClr val="1C252B"/>
                </a:solidFill>
                <a:latin typeface="Segoe UI"/>
              </a:rPr>
              <a:t>combines</a:t>
            </a:r>
            <a:r>
              <a:rPr sz="1700" b="0" i="0">
                <a:solidFill>
                  <a:srgbClr val="1C252B"/>
                </a:solidFill>
                <a:latin typeface="Segoe UI"/>
              </a:rPr>
              <a:t>: two pieces of evidence pointing different ways give a number between them, by a rule nobody gets to choose.</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Bayes’ rule</a:t>
            </a:r>
            <a:r>
              <a:rPr sz="1700" b="0" i="0">
                <a:solidFill>
                  <a:srgbClr val="1C252B"/>
                </a:solidFill>
                <a:latin typeface="Segoe UI"/>
              </a:rPr>
              <a:t> inverts a conditional. The one you have is usually the wrong way round, and assuming otherwise is the </a:t>
            </a:r>
            <a:r>
              <a:rPr sz="1700" b="1" i="0">
                <a:solidFill>
                  <a:srgbClr val="1A5276"/>
                </a:solidFill>
                <a:latin typeface="Segoe UI"/>
              </a:rPr>
              <a:t>base-rate fallacy</a:t>
            </a:r>
            <a:r>
              <a:rPr sz="1700" b="0" i="0">
                <a:solidFill>
                  <a:srgbClr val="1C252B"/>
                </a:solidFill>
                <a:latin typeface="Segoe UI"/>
              </a:rPr>
              <a:t>: a </a:t>
            </a:r>
            <a:r>
              <a:rPr sz="1700" b="0" i="0">
                <a:solidFill>
                  <a:srgbClr val="1C252B"/>
                </a:solidFill>
                <a:latin typeface="Cambria"/>
              </a:rPr>
              <a:t>90%</a:t>
            </a:r>
            <a:r>
              <a:rPr sz="1700" b="0" i="0">
                <a:solidFill>
                  <a:srgbClr val="1C252B"/>
                </a:solidFill>
                <a:latin typeface="Segoe UI"/>
              </a:rPr>
              <a:t>-sensitive test fired and left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defect</a:t>
            </a:r>
            <a:r>
              <a:rPr sz="1700" b="0" i="0">
                <a:solidFill>
                  <a:srgbClr val="1C252B"/>
                </a:solidFill>
                <a:latin typeface="Cambria"/>
              </a:rPr>
              <a:t>) = 1/3</a:t>
            </a:r>
            <a:r>
              <a:rPr sz="1700" b="0" i="0">
                <a:solidFill>
                  <a:srgbClr val="1C252B"/>
                </a:solidFill>
                <a:latin typeface="Segoe UI"/>
              </a:rPr>
              <a:t>.</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Natural frequencies — </a:t>
            </a:r>
            <a:r>
              <a:rPr sz="1700" b="0" i="0">
                <a:solidFill>
                  <a:srgbClr val="1C252B"/>
                </a:solidFill>
                <a:latin typeface="Cambria"/>
              </a:rPr>
              <a:t>90</a:t>
            </a:r>
            <a:r>
              <a:rPr sz="1700" b="0" i="0">
                <a:solidFill>
                  <a:srgbClr val="1C252B"/>
                </a:solidFill>
                <a:latin typeface="Segoe UI"/>
              </a:rPr>
              <a:t> true alarms among </a:t>
            </a:r>
            <a:r>
              <a:rPr sz="1700" b="0" i="0">
                <a:solidFill>
                  <a:srgbClr val="1C252B"/>
                </a:solidFill>
                <a:latin typeface="Cambria"/>
              </a:rPr>
              <a:t>270</a:t>
            </a:r>
            <a:r>
              <a:rPr sz="1700" b="0" i="0">
                <a:solidFill>
                  <a:srgbClr val="1C252B"/>
                </a:solidFill>
                <a:latin typeface="Segoe UI"/>
              </a:rPr>
              <a:t> — make the base rate visible. Use them when explaining a result to people.</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Conditional independence</a:t>
            </a:r>
            <a:r>
              <a:rPr sz="1700" b="0" i="0">
                <a:solidFill>
                  <a:srgbClr val="1C252B"/>
                </a:solidFill>
                <a:latin typeface="Segoe UI"/>
              </a:rPr>
              <a:t> is what stops a joint distribution growing as </a:t>
            </a:r>
            <a:r>
              <a:rPr sz="1700" b="0" i="0">
                <a:solidFill>
                  <a:srgbClr val="1C252B"/>
                </a:solidFill>
                <a:latin typeface="Cambria"/>
              </a:rPr>
              <a:t>2</a:t>
            </a:r>
            <a:r>
              <a:rPr sz="1100" b="0" i="1" baseline="30000">
                <a:solidFill>
                  <a:srgbClr val="1C252B"/>
                </a:solidFill>
                <a:latin typeface="Cambria"/>
              </a:rPr>
              <a:t>n</a:t>
            </a:r>
            <a:r>
              <a:rPr sz="1700" b="0" i="0">
                <a:solidFill>
                  <a:srgbClr val="1C252B"/>
                </a:solidFill>
                <a:latin typeface="Segoe UI"/>
              </a:rPr>
              <a:t>, and it is the organising idea of Chapter 15.</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rational agent maximises </a:t>
            </a:r>
            <a:r>
              <a:rPr sz="1700" b="1" i="0">
                <a:solidFill>
                  <a:srgbClr val="1A5276"/>
                </a:solidFill>
                <a:latin typeface="Segoe UI"/>
              </a:rPr>
              <a:t>expected utility</a:t>
            </a:r>
            <a:r>
              <a:rPr sz="1700" b="0" i="0">
                <a:solidFill>
                  <a:srgbClr val="1C252B"/>
                </a:solidFill>
                <a:latin typeface="Segoe UI"/>
              </a:rPr>
              <a:t>, EU</a:t>
            </a:r>
            <a:r>
              <a:rPr sz="1700" b="0" i="0">
                <a:solidFill>
                  <a:srgbClr val="1C252B"/>
                </a:solidFill>
                <a:latin typeface="Cambria"/>
              </a:rPr>
              <a:t>(</a:t>
            </a:r>
            <a:r>
              <a:rPr sz="1700" b="0" i="1">
                <a:solidFill>
                  <a:srgbClr val="1C252B"/>
                </a:solidFill>
                <a:latin typeface="Cambria"/>
              </a:rPr>
              <a:t>a</a:t>
            </a:r>
            <a:r>
              <a:rPr sz="1700" b="0" i="0">
                <a:solidFill>
                  <a:srgbClr val="1C252B"/>
                </a:solidFill>
                <a:latin typeface="Cambria"/>
              </a:rPr>
              <a:t>) = Σ</a:t>
            </a:r>
            <a:r>
              <a:rPr sz="1100" b="0" i="1" baseline="-25000">
                <a:solidFill>
                  <a:srgbClr val="1C252B"/>
                </a:solidFill>
                <a:latin typeface="Cambria"/>
              </a:rPr>
              <a:t>s</a:t>
            </a:r>
            <a:r>
              <a:rPr sz="1700" b="0" i="0">
                <a:solidFill>
                  <a:srgbClr val="1C252B"/>
                </a:solidFill>
                <a:latin typeface="Cambria"/>
              </a:rPr>
              <a:t>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s</a:t>
            </a:r>
            <a:r>
              <a:rPr sz="1700" b="0" i="0">
                <a:solidFill>
                  <a:srgbClr val="1C252B"/>
                </a:solidFill>
                <a:latin typeface="Cambria"/>
              </a:rPr>
              <a:t> ∣ </a:t>
            </a:r>
            <a:r>
              <a:rPr sz="1700" b="0" i="1">
                <a:solidFill>
                  <a:srgbClr val="1C252B"/>
                </a:solidFill>
                <a:latin typeface="Cambria"/>
              </a:rPr>
              <a:t>a</a:t>
            </a:r>
            <a:r>
              <a:rPr sz="1700" b="0" i="0">
                <a:solidFill>
                  <a:srgbClr val="1C252B"/>
                </a:solidFill>
                <a:latin typeface="Cambria"/>
              </a:rPr>
              <a:t>) </a:t>
            </a:r>
            <a:r>
              <a:rPr sz="1700" b="0" i="1">
                <a:solidFill>
                  <a:srgbClr val="1C252B"/>
                </a:solidFill>
                <a:latin typeface="Cambria"/>
              </a:rPr>
              <a:t>U</a:t>
            </a:r>
            <a:r>
              <a:rPr sz="1700" b="0" i="0">
                <a:solidFill>
                  <a:srgbClr val="1C252B"/>
                </a:solidFill>
                <a:latin typeface="Cambria"/>
              </a:rPr>
              <a:t>(</a:t>
            </a:r>
            <a:r>
              <a:rPr sz="1700" b="0" i="1">
                <a:solidFill>
                  <a:srgbClr val="1C252B"/>
                </a:solidFill>
                <a:latin typeface="Cambria"/>
              </a:rPr>
              <a:t>s</a:t>
            </a:r>
            <a:r>
              <a:rPr sz="1700" b="0" i="0">
                <a:solidFill>
                  <a:srgbClr val="1C252B"/>
                </a:solidFill>
                <a:latin typeface="Cambria"/>
              </a:rPr>
              <a:t>)</a:t>
            </a:r>
            <a:r>
              <a:rPr sz="1700" b="0" i="0">
                <a:solidFill>
                  <a:srgbClr val="1C252B"/>
                </a:solidFill>
                <a:latin typeface="Segoe UI"/>
              </a:rPr>
              <a:t>. This is the precise form of Chapter 2’ definition of rationality.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8147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4550BF7A-49D4-4F1C-8865-E915A563D277}" type="slidenum">
              <a:rPr lang="en-GB" sz="1000">
                <a:solidFill>
                  <a:srgbClr val="8795A1"/>
                </a:solidFill>
                <a:latin typeface="Segoe UI"/>
              </a:rPr>
              <a:t>47</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Segoe UI"/>
              </a:rPr>
              <a:t>A change of belief is not a change of decision.</a:t>
            </a:r>
            <a:r>
              <a:rPr sz="1700" b="0" i="0">
                <a:solidFill>
                  <a:srgbClr val="1C252B"/>
                </a:solidFill>
                <a:latin typeface="Segoe UI"/>
              </a:rPr>
              <a:t> The alarm tripled the probability and left the recommendation alone, because </a:t>
            </a:r>
            <a:r>
              <a:rPr sz="1700" b="0" i="0">
                <a:solidFill>
                  <a:srgbClr val="1C252B"/>
                </a:solidFill>
                <a:latin typeface="Cambria"/>
              </a:rPr>
              <a:t>1/3</a:t>
            </a:r>
            <a:r>
              <a:rPr sz="1700" b="0" i="0">
                <a:solidFill>
                  <a:srgbClr val="1C252B"/>
                </a:solidFill>
                <a:latin typeface="Segoe UI"/>
              </a:rPr>
              <a:t> falls short of the flip point </a:t>
            </a:r>
            <a:r>
              <a:rPr sz="1700" b="0" i="0">
                <a:solidFill>
                  <a:srgbClr val="1C252B"/>
                </a:solidFill>
                <a:latin typeface="Cambria"/>
              </a:rPr>
              <a:t>10/29</a:t>
            </a:r>
            <a:r>
              <a:rPr sz="1700" b="0" i="0">
                <a:solidFill>
                  <a:srgbClr val="1C252B"/>
                </a:solidFill>
                <a:latin typeface="Segoe UI"/>
              </a:rPr>
              <a:t>. Report which side of </a:t>
            </a:r>
            <a:r>
              <a:rPr sz="1700" b="0" i="1">
                <a:solidFill>
                  <a:srgbClr val="1C252B"/>
                </a:solidFill>
                <a:latin typeface="Cambria"/>
              </a:rPr>
              <a:t>p</a:t>
            </a:r>
            <a:r>
              <a:rPr sz="1100" b="0" i="0" baseline="30000">
                <a:solidFill>
                  <a:srgbClr val="1C252B"/>
                </a:solidFill>
                <a:latin typeface="Cambria"/>
              </a:rPr>
              <a:t>∗</a:t>
            </a:r>
            <a:r>
              <a:rPr sz="1700" b="0" i="0">
                <a:solidFill>
                  <a:srgbClr val="1C252B"/>
                </a:solidFill>
                <a:latin typeface="Segoe UI"/>
              </a:rPr>
              <a:t> you are on, and how close.</a:t>
            </a:r>
          </a:p>
        </p:txBody>
      </p:sp>
      <p:sp>
        <p:nvSpPr>
          <p:cNvPr id="10" name="!!sb6">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728569"/>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value of perfect information</a:t>
            </a:r>
            <a:r>
              <a:rPr sz="1700" b="0" i="0">
                <a:solidFill>
                  <a:srgbClr val="1C252B"/>
                </a:solidFill>
                <a:latin typeface="Segoe UI"/>
              </a:rPr>
              <a:t> is greatest exactly where the decision is most finely balanced — </a:t>
            </a:r>
            <a:r>
              <a:rPr sz="1700" b="0" i="0">
                <a:solidFill>
                  <a:srgbClr val="1C252B"/>
                </a:solidFill>
                <a:latin typeface="Cambria"/>
              </a:rPr>
              <a:t>31.67</a:t>
            </a:r>
            <a:r>
              <a:rPr sz="1700" b="0" i="0">
                <a:solidFill>
                  <a:srgbClr val="1C252B"/>
                </a:solidFill>
                <a:latin typeface="Segoe UI"/>
              </a:rPr>
              <a:t> after the ambiguous alarm against </a:t>
            </a:r>
            <a:r>
              <a:rPr sz="1700" b="0" i="0">
                <a:solidFill>
                  <a:srgbClr val="1C252B"/>
                </a:solidFill>
                <a:latin typeface="Cambria"/>
              </a:rPr>
              <a:t>9.50</a:t>
            </a:r>
            <a:r>
              <a:rPr sz="1700" b="0" i="0">
                <a:solidFill>
                  <a:srgbClr val="1C252B"/>
                </a:solidFill>
                <a:latin typeface="Segoe UI"/>
              </a:rPr>
              <a:t> before it. Gather evidence when it could change the action, and stop when it could not.</a:t>
            </a:r>
          </a:p>
        </p:txBody>
      </p:sp>
      <p:sp>
        <p:nvSpPr>
          <p:cNvPr id="13" name="!!sb7">
            <a:extLst>
              <a:ext uri="{C183D7F6-B498-43B3-948B-1728B52AA6E4}">
                <adec:decorative xmlns:adec="http://schemas.microsoft.com/office/drawing/2017/decorative" val="1"/>
              </a:ext>
            </a:extLst>
          </p:cNvPr>
          <p:cNvSpPr/>
          <p:nvPr/>
        </p:nvSpPr>
        <p:spPr>
          <a:xfrm>
            <a:off x="658368" y="372892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7"/>
          <p:cNvSpPr txBox="1"/>
          <p:nvPr/>
        </p:nvSpPr>
        <p:spPr>
          <a:xfrm>
            <a:off x="658368" y="378378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8</a:t>
            </a:r>
          </a:p>
        </p:txBody>
      </p:sp>
      <p:sp>
        <p:nvSpPr>
          <p:cNvPr id="15" name="!!st7"/>
          <p:cNvSpPr txBox="1"/>
          <p:nvPr/>
        </p:nvSpPr>
        <p:spPr>
          <a:xfrm>
            <a:off x="1298448" y="371977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utilities decide the outcome as much as the probabilities, and they are the part nobody measures. Write them down so they can be argued with.</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81150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51C9663C-8FD0-42EC-BBD0-492D98069C6E}"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base-rate fallacy is confusing:</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with </a:t>
            </a:r>
            <a:r>
              <a:rPr sz="2000" b="0" i="1">
                <a:solidFill>
                  <a:srgbClr val="1C252B"/>
                </a:solidFill>
                <a:latin typeface="Cambria"/>
              </a:rPr>
              <a:t>P</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a</a:t>
            </a:r>
            <a:r>
              <a:rPr sz="2000" b="0" i="0">
                <a:solidFill>
                  <a:srgbClr val="1C252B"/>
                </a:solidFill>
                <a:latin typeface="Cambria"/>
              </a:rPr>
              <a:t> ∣ </a:t>
            </a:r>
            <a:r>
              <a:rPr sz="2000" b="0" i="1">
                <a:solidFill>
                  <a:srgbClr val="1C252B"/>
                </a:solidFill>
                <a:latin typeface="Cambria"/>
              </a:rPr>
              <a:t>b</a:t>
            </a:r>
            <a:r>
              <a:rPr sz="2000" b="0" i="0">
                <a:solidFill>
                  <a:srgbClr val="1C252B"/>
                </a:solidFill>
                <a:latin typeface="Cambria"/>
              </a:rPr>
              <a:t>)</a:t>
            </a:r>
            <a:r>
              <a:rPr sz="2000" b="0" i="0">
                <a:solidFill>
                  <a:srgbClr val="1C252B"/>
                </a:solidFill>
                <a:latin typeface="Segoe UI"/>
              </a:rPr>
              <a:t> with </a:t>
            </a: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b</a:t>
            </a:r>
            <a:r>
              <a:rPr sz="2000" b="0" i="0">
                <a:solidFill>
                  <a:srgbClr val="1C252B"/>
                </a:solidFill>
                <a:latin typeface="Cambria"/>
              </a:rPr>
              <a:t> ∣ </a:t>
            </a:r>
            <a:r>
              <a:rPr sz="2000" b="0" i="1">
                <a:solidFill>
                  <a:srgbClr val="1C252B"/>
                </a:solidFill>
                <a:latin typeface="Cambria"/>
              </a:rPr>
              <a:t>a</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prior with a utility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4153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6038476B-B4F1-4C05-828F-3E085396FFEB}"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rational agent chooses the action maximising:</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probability of success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utility of the best outcome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expected utility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value of information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7156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597A488D-A863-43CE-A38E-9546B74A15BA}"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value of perfect information is largest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one action is clearly best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decision is finely balanced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prior is zero</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utilities are equal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0159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CB57F307-301B-4D85-86C2-4B5CCA2862B8}"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a</a:t>
            </a:r>
            <a:r>
              <a:rPr sz="2600" b="0" i="0">
                <a:solidFill>
                  <a:srgbClr val="1C252B"/>
                </a:solidFill>
                <a:latin typeface="Segoe UI"/>
              </a:rPr>
              <a:t> and </a:t>
            </a:r>
            <a:r>
              <a:rPr sz="2600" b="0" i="1">
                <a:solidFill>
                  <a:srgbClr val="1C252B"/>
                </a:solidFill>
                <a:latin typeface="Cambria"/>
              </a:rPr>
              <a:t>b</a:t>
            </a:r>
            <a:r>
              <a:rPr sz="2600" b="0" i="0">
                <a:solidFill>
                  <a:srgbClr val="1C252B"/>
                </a:solidFill>
                <a:latin typeface="Segoe UI"/>
              </a:rPr>
              <a:t> are conditionally independent given </a:t>
            </a:r>
            <a:r>
              <a:rPr sz="2600" b="0" i="1">
                <a:solidFill>
                  <a:srgbClr val="1C252B"/>
                </a:solidFill>
                <a:latin typeface="Cambria"/>
              </a:rPr>
              <a:t>c</a:t>
            </a:r>
            <a:r>
              <a:rPr sz="2600" b="0" i="0">
                <a:solidFill>
                  <a:srgbClr val="1C252B"/>
                </a:solidFill>
                <a:latin typeface="Segoe UI"/>
              </a:rPr>
              <a:t>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a</a:t>
            </a:r>
            <a:r>
              <a:rPr sz="2000" b="0" i="0">
                <a:solidFill>
                  <a:srgbClr val="1C252B"/>
                </a:solidFill>
                <a:latin typeface="Cambria"/>
              </a:rPr>
              <a:t> ∧ </a:t>
            </a:r>
            <a:r>
              <a:rPr sz="2000" b="0" i="1">
                <a:solidFill>
                  <a:srgbClr val="1C252B"/>
                </a:solidFill>
                <a:latin typeface="Cambria"/>
              </a:rPr>
              <a:t>b</a:t>
            </a:r>
            <a:r>
              <a:rPr sz="2000" b="0" i="0">
                <a:solidFill>
                  <a:srgbClr val="1C252B"/>
                </a:solidFill>
                <a:latin typeface="Cambria"/>
              </a:rPr>
              <a:t>) = </a:t>
            </a:r>
            <a:r>
              <a:rPr sz="2000" b="0" i="1">
                <a:solidFill>
                  <a:srgbClr val="1C252B"/>
                </a:solidFill>
                <a:latin typeface="Cambria"/>
              </a:rPr>
              <a:t>P</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a</a:t>
            </a:r>
            <a:r>
              <a:rPr sz="2000" b="0" i="0">
                <a:solidFill>
                  <a:srgbClr val="1C252B"/>
                </a:solidFill>
                <a:latin typeface="Cambria"/>
              </a:rPr>
              <a:t> ∣ </a:t>
            </a:r>
            <a:r>
              <a:rPr sz="2000" b="0" i="1">
                <a:solidFill>
                  <a:srgbClr val="1C252B"/>
                </a:solidFill>
                <a:latin typeface="Cambria"/>
              </a:rPr>
              <a:t>b</a:t>
            </a:r>
            <a:r>
              <a:rPr sz="2000" b="0" i="0">
                <a:solidFill>
                  <a:srgbClr val="1C252B"/>
                </a:solidFill>
                <a:latin typeface="Cambria"/>
              </a:rPr>
              <a:t> ∧ </a:t>
            </a:r>
            <a:r>
              <a:rPr sz="2000" b="0" i="1">
                <a:solidFill>
                  <a:srgbClr val="1C252B"/>
                </a:solidFill>
                <a:latin typeface="Cambria"/>
              </a:rPr>
              <a:t>c</a:t>
            </a:r>
            <a:r>
              <a:rPr sz="2000" b="0" i="0">
                <a:solidFill>
                  <a:srgbClr val="1C252B"/>
                </a:solidFill>
                <a:latin typeface="Cambria"/>
              </a:rPr>
              <a:t>) = </a:t>
            </a: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a</a:t>
            </a:r>
            <a:r>
              <a:rPr sz="2000" b="0" i="0">
                <a:solidFill>
                  <a:srgbClr val="1C252B"/>
                </a:solidFill>
                <a:latin typeface="Cambria"/>
              </a:rPr>
              <a:t> ∣ </a:t>
            </a:r>
            <a:r>
              <a:rPr sz="2000" b="0" i="1">
                <a:solidFill>
                  <a:srgbClr val="1C252B"/>
                </a:solidFill>
                <a:latin typeface="Cambria"/>
              </a:rPr>
              <a:t>c</a:t>
            </a:r>
            <a:r>
              <a:rPr sz="2000" b="0" i="0">
                <a:solidFill>
                  <a:srgbClr val="1C252B"/>
                </a:solidFill>
                <a:latin typeface="Cambria"/>
              </a:rPr>
              <a: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3163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14  ·  Uncertainty and Decision Making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155     </a:t>
            </a:r>
            <a:fld id="{0327D149-2A2E-4E12-A593-E748BBF64172}" type="slidenum">
              <a:rPr lang="en-GB" sz="1000">
                <a:solidFill>
                  <a:srgbClr val="8795A1"/>
                </a:solidFill>
                <a:latin typeface="Segoe UI"/>
              </a:rPr>
              <a:t>52</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Draw the natural-frequency tree for a test with </a:t>
            </a:r>
            <a:r>
              <a:rPr sz="1900" b="0" i="0">
                <a:solidFill>
                  <a:srgbClr val="1C252B"/>
                </a:solidFill>
                <a:latin typeface="Cambria"/>
              </a:rPr>
              <a:t>80%</a:t>
            </a:r>
            <a:r>
              <a:rPr sz="1900" b="0" i="0">
                <a:solidFill>
                  <a:srgbClr val="1C252B"/>
                </a:solidFill>
                <a:latin typeface="Segoe UI"/>
              </a:rPr>
              <a:t> sensitivity and a </a:t>
            </a:r>
            <a:r>
              <a:rPr sz="1900" b="0" i="0">
                <a:solidFill>
                  <a:srgbClr val="1C252B"/>
                </a:solidFill>
                <a:latin typeface="Cambria"/>
              </a:rPr>
              <a:t>10%</a:t>
            </a:r>
            <a:r>
              <a:rPr sz="1900" b="0" i="0">
                <a:solidFill>
                  <a:srgbClr val="1C252B"/>
                </a:solidFill>
                <a:latin typeface="Segoe UI"/>
              </a:rPr>
              <a:t> false-alarm rate on a </a:t>
            </a:r>
            <a:r>
              <a:rPr sz="1900" b="0" i="0">
                <a:solidFill>
                  <a:srgbClr val="1C252B"/>
                </a:solidFill>
                <a:latin typeface="Cambria"/>
              </a:rPr>
              <a:t>5%</a:t>
            </a:r>
            <a:r>
              <a:rPr sz="1900" b="0" i="0">
                <a:solidFill>
                  <a:srgbClr val="1C252B"/>
                </a:solidFill>
                <a:latin typeface="Segoe UI"/>
              </a:rPr>
              <a:t> base rate, and give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defect</a:t>
            </a:r>
            <a:r>
              <a:rPr sz="1900" b="0" i="0">
                <a:solidFill>
                  <a:srgbClr val="1C252B"/>
                </a:solidFill>
                <a:latin typeface="Cambria"/>
              </a:rPr>
              <a:t> ∣ </a:t>
            </a:r>
            <a:r>
              <a:rPr sz="1900" b="0" i="1">
                <a:solidFill>
                  <a:srgbClr val="1C252B"/>
                </a:solidFill>
                <a:latin typeface="Cambria"/>
              </a:rPr>
              <a:t>alarm</a:t>
            </a:r>
            <a:r>
              <a:rPr sz="1900" b="0" i="0">
                <a:solidFill>
                  <a:srgbClr val="1C252B"/>
                </a:solidFill>
                <a:latin typeface="Cambria"/>
              </a:rPr>
              <a:t>)</a:t>
            </a:r>
            <a:r>
              <a:rPr sz="1900" b="0" i="0">
                <a:solidFill>
                  <a:srgbClr val="1C252B"/>
                </a:solidFill>
                <a:latin typeface="Segoe UI"/>
              </a:rPr>
              <a:t>.</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the value of information rose after the alarm, even though the alarm did not change the recommended action.</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one decision from your own experience where more investigation had a value of zero, and say how you would have known in advance.</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team argues that delaying a week should cost </a:t>
            </a:r>
            <a:r>
              <a:rPr sz="1900" b="0" i="0">
                <a:solidFill>
                  <a:srgbClr val="1C252B"/>
                </a:solidFill>
                <a:latin typeface="Cambria"/>
              </a:rPr>
              <a:t>−25</a:t>
            </a:r>
            <a:r>
              <a:rPr sz="1900" b="0" i="0">
                <a:solidFill>
                  <a:srgbClr val="1C252B"/>
                </a:solidFill>
                <a:latin typeface="Segoe UI"/>
              </a:rPr>
              <a:t> when the release turns out sound, not </a:t>
            </a:r>
            <a:r>
              <a:rPr sz="1900" b="0" i="0">
                <a:solidFill>
                  <a:srgbClr val="1C252B"/>
                </a:solidFill>
                <a:latin typeface="Cambria"/>
              </a:rPr>
              <a:t>−10</a:t>
            </a:r>
            <a:r>
              <a:rPr sz="1900" b="0" i="0">
                <a:solidFill>
                  <a:srgbClr val="1C252B"/>
                </a:solidFill>
                <a:latin typeface="Segoe UI"/>
              </a:rPr>
              <a:t>. Recompute the flip point </a:t>
            </a:r>
            <a:r>
              <a:rPr sz="1900" b="0" i="1">
                <a:solidFill>
                  <a:srgbClr val="1C252B"/>
                </a:solidFill>
                <a:latin typeface="Cambria"/>
              </a:rPr>
              <a:t>p</a:t>
            </a:r>
            <a:r>
              <a:rPr sz="1250" b="0" i="0" baseline="30000">
                <a:solidFill>
                  <a:srgbClr val="1C252B"/>
                </a:solidFill>
                <a:latin typeface="Cambria"/>
              </a:rPr>
              <a:t>∗</a:t>
            </a:r>
            <a:r>
              <a:rPr sz="1900" b="0" i="0">
                <a:solidFill>
                  <a:srgbClr val="1C252B"/>
                </a:solidFill>
                <a:latin typeface="Segoe UI"/>
              </a:rPr>
              <a:t>, say whether the alarm at </a:t>
            </a:r>
            <a:r>
              <a:rPr sz="1900" b="0" i="1">
                <a:solidFill>
                  <a:srgbClr val="1C252B"/>
                </a:solidFill>
                <a:latin typeface="Cambria"/>
              </a:rPr>
              <a:t>p</a:t>
            </a:r>
            <a:r>
              <a:rPr sz="1900" b="0" i="0">
                <a:solidFill>
                  <a:srgbClr val="1C252B"/>
                </a:solidFill>
                <a:latin typeface="Cambria"/>
              </a:rPr>
              <a:t> = 1/3</a:t>
            </a:r>
            <a:r>
              <a:rPr sz="1900" b="0" i="0">
                <a:solidFill>
                  <a:srgbClr val="1C252B"/>
                </a:solidFill>
                <a:latin typeface="Segoe UI"/>
              </a:rPr>
              <a:t> now changes the decision, and compute the new value of perfect information at that point.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6166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38470"/>
                </a:solidFill>
                <a:latin typeface="Segoe UI Black"/>
              </a:rPr>
              <a:t>14</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14</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15 — Bayesian Networks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14, pages 146–155</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Go/no-go under uncertainty; diagnosing a defect cause</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Quiz 3 (Ch 9–13)</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14  ·  Uncertainty and Decision Making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7DD775A1-7632-453F-9D16-991FE8B10784}" type="slidenum">
              <a:rPr lang="en-GB" sz="1000">
                <a:solidFill>
                  <a:srgbClr val="D5DEE5"/>
                </a:solidFill>
                <a:latin typeface="Segoe UI"/>
              </a:rPr>
              <a:t>53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14: Uncertainty and Decision Making</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