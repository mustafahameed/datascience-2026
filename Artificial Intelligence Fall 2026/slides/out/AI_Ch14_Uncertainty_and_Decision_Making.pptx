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AD2A7CF-E918-479C-8E25-D58B614560EC}">
          <p14:sldIdLst>
            <p14:sldId id="256"/>
            <p14:sldId id="257"/>
            <p14:sldId id="258"/>
            <p14:sldId id="259"/>
            <p14:sldId id="260"/>
          </p14:sldIdLst>
        </p14:section>
        <p14:section name="14.5 From Belief to Decision" id="{3355F3BB-2962-4228-9F21-684D0403E122}">
          <p14:sldIdLst>
            <p14:sldId id="261"/>
          </p14:sldIdLst>
        </p14:section>
        <p14:section name="Checkpoint" id="{845843F1-8BA4-4AEC-A05A-782498BD397C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29E556E2-12A7-4ADD-89C2-3631B273CAA0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14: Uncertainty and Decision Making. Part 5 — Reasoning Under Uncertainty. Week 13: Uncertainty and decision making; Bayesian networks. Handout pages 111–112.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11 (what a truth value cannot express). School probability; nothing beyond it is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degree of belief; prior; posterior; likelihood; joint distribution; marginalisation; Bayes’ rule; conditional independence; utility; expected utility; decision table; value of perfect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15 — Bayesian Networks. READ: Handout Chapter 14, pages 111–112. THIS WEEK'S LAB: Go/no-go under uncertainty; diagnosing a defect cause. ASSESSMENT: Quiz 3 (Ch 9–13).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88674"/>
                </a:solidFill>
                <a:latin typeface="Segoe UI Black"/>
              </a:rPr>
              <a:t>14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Uncertainty and Decision Making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PART V  ·  REASONING UNDER UNCERTAINTY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CHAPTER 14  ·  WEEK 13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4E0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0C5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3BFB9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BD0CC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FB9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111     </a:t>
            </a:r>
            <a:fld id="{88F08DD1-EEAB-4010-9531-1E01B5DBCCED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353812" y="1755648"/>
            <a:ext cx="132916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3812" y="2029967"/>
            <a:ext cx="1329163" cy="4572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9012160" y="1755648"/>
            <a:ext cx="24022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2160" y="2029967"/>
            <a:ext cx="240229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7679" y="2112264"/>
            <a:ext cx="566928" cy="566928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247679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89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8675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84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82770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3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9608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4605063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7964"/>
                </a:solidFill>
                <a:latin typeface="Segoe UI"/>
              </a:rPr>
              <a:t>Uncertainty and Decision Making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11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Propositional Logic and Inference</a:t>
            </a:r>
          </a:p>
        </p:txBody>
      </p:sp>
      <p:sp>
        <p:nvSpPr>
          <p:cNvPr id="68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69" name="!!chip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b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tUS15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Bayesian Networks</a:t>
            </a:r>
          </a:p>
        </p:txBody>
      </p:sp>
      <p:sp>
        <p:nvSpPr>
          <p:cNvPr id="72" name="!!chip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16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Fuzzy Logic</a:t>
            </a:r>
          </a:p>
        </p:txBody>
      </p:sp>
      <p:sp>
        <p:nvSpPr>
          <p:cNvPr id="75" name="!!chipUS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bUS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!!chiptUS17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Learning from Examples</a:t>
            </a:r>
          </a:p>
        </p:txBody>
      </p:sp>
      <p:sp>
        <p:nvSpPr>
          <p:cNvPr id="7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111     </a:t>
            </a:r>
            <a:fld id="{6BD87AC3-026D-40AB-A3DB-E85FF4BC06DA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logic alone cannot represent what a delivery team knows,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probability as degree of belief.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11170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Bayes’ rule to update a belief on evidence.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Use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conditional independence to reduce the size of a joint distribution.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268419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Choose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 action by maximising expected utility,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compute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value of perfect information.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111     </a:t>
            </a:r>
            <a:fld id="{EDF6FE13-A3DD-46D3-AE17-1F6CE0F54379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degree of be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9743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degree of be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degree of beli"/>
          <p:cNvSpPr txBox="1"/>
          <p:nvPr/>
        </p:nvSpPr>
        <p:spPr>
          <a:xfrm>
            <a:off x="950976" y="1955291"/>
            <a:ext cx="17915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degree of belief</a:t>
            </a:r>
          </a:p>
        </p:txBody>
      </p:sp>
      <p:sp>
        <p:nvSpPr>
          <p:cNvPr id="10" name="!!term-p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057" y="1847088"/>
            <a:ext cx="9040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p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707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prior"/>
          <p:cNvSpPr txBox="1"/>
          <p:nvPr/>
        </p:nvSpPr>
        <p:spPr>
          <a:xfrm>
            <a:off x="3071665" y="1955291"/>
            <a:ext cx="7211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prior</a:t>
            </a:r>
          </a:p>
        </p:txBody>
      </p:sp>
      <p:sp>
        <p:nvSpPr>
          <p:cNvPr id="13" name="!!term-post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9373" y="1847088"/>
            <a:ext cx="131623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post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738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posterior"/>
          <p:cNvSpPr txBox="1"/>
          <p:nvPr/>
        </p:nvSpPr>
        <p:spPr>
          <a:xfrm>
            <a:off x="4121981" y="1955291"/>
            <a:ext cx="113335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posterior</a:t>
            </a:r>
          </a:p>
        </p:txBody>
      </p:sp>
      <p:sp>
        <p:nvSpPr>
          <p:cNvPr id="16" name="!!term-likelihoo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91910" y="1847088"/>
            <a:ext cx="138908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likelihoo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992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likelihood"/>
          <p:cNvSpPr txBox="1"/>
          <p:nvPr/>
        </p:nvSpPr>
        <p:spPr>
          <a:xfrm>
            <a:off x="5584518" y="1955291"/>
            <a:ext cx="120620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likelihood</a:t>
            </a:r>
          </a:p>
        </p:txBody>
      </p:sp>
      <p:sp>
        <p:nvSpPr>
          <p:cNvPr id="19" name="!!term-joint distrib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7298" y="1847088"/>
            <a:ext cx="205090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joint distrib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531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joint distribu"/>
          <p:cNvSpPr txBox="1"/>
          <p:nvPr/>
        </p:nvSpPr>
        <p:spPr>
          <a:xfrm>
            <a:off x="7119906" y="1955291"/>
            <a:ext cx="186802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joint distribution</a:t>
            </a:r>
          </a:p>
        </p:txBody>
      </p:sp>
      <p:sp>
        <p:nvSpPr>
          <p:cNvPr id="22" name="!!term-marginalis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4510" y="1847088"/>
            <a:ext cx="193062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marginalis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252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marginalisatio"/>
          <p:cNvSpPr txBox="1"/>
          <p:nvPr/>
        </p:nvSpPr>
        <p:spPr>
          <a:xfrm>
            <a:off x="9317118" y="1955291"/>
            <a:ext cx="174774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marginalisation</a:t>
            </a:r>
          </a:p>
        </p:txBody>
      </p:sp>
      <p:sp>
        <p:nvSpPr>
          <p:cNvPr id="25" name="!!term-Bayes’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47281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Bayes’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Bayes’ rule"/>
          <p:cNvSpPr txBox="1"/>
          <p:nvPr/>
        </p:nvSpPr>
        <p:spPr>
          <a:xfrm>
            <a:off x="950976" y="2577084"/>
            <a:ext cx="128993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Bayes’ rule</a:t>
            </a:r>
          </a:p>
        </p:txBody>
      </p:sp>
      <p:sp>
        <p:nvSpPr>
          <p:cNvPr id="28" name="!!term-conditional 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7490" y="2468880"/>
            <a:ext cx="296327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conditional 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550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conditional in"/>
          <p:cNvSpPr txBox="1"/>
          <p:nvPr/>
        </p:nvSpPr>
        <p:spPr>
          <a:xfrm>
            <a:off x="2570098" y="2577084"/>
            <a:ext cx="278039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conditional independence</a:t>
            </a:r>
          </a:p>
        </p:txBody>
      </p:sp>
      <p:sp>
        <p:nvSpPr>
          <p:cNvPr id="31" name="!!term-ut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7065" y="2468880"/>
            <a:ext cx="97932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ut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508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utility"/>
          <p:cNvSpPr txBox="1"/>
          <p:nvPr/>
        </p:nvSpPr>
        <p:spPr>
          <a:xfrm>
            <a:off x="5679673" y="2577084"/>
            <a:ext cx="79644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utility</a:t>
            </a:r>
          </a:p>
        </p:txBody>
      </p:sp>
      <p:sp>
        <p:nvSpPr>
          <p:cNvPr id="34" name="!!term-expected uti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2696" y="2468880"/>
            <a:ext cx="192183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expected uti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071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expected utili"/>
          <p:cNvSpPr txBox="1"/>
          <p:nvPr/>
        </p:nvSpPr>
        <p:spPr>
          <a:xfrm>
            <a:off x="6805304" y="2577084"/>
            <a:ext cx="173895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expected utility</a:t>
            </a:r>
          </a:p>
        </p:txBody>
      </p:sp>
      <p:sp>
        <p:nvSpPr>
          <p:cNvPr id="37" name="!!term-decision t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80832" y="2468880"/>
            <a:ext cx="178422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decision t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884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decision table"/>
          <p:cNvSpPr txBox="1"/>
          <p:nvPr/>
        </p:nvSpPr>
        <p:spPr>
          <a:xfrm>
            <a:off x="8873440" y="2577084"/>
            <a:ext cx="160134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decision table</a:t>
            </a:r>
          </a:p>
        </p:txBody>
      </p:sp>
      <p:sp>
        <p:nvSpPr>
          <p:cNvPr id="40" name="!!term-value of perf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314620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value of perf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value of perfe"/>
          <p:cNvSpPr txBox="1"/>
          <p:nvPr/>
        </p:nvSpPr>
        <p:spPr>
          <a:xfrm>
            <a:off x="950976" y="3198876"/>
            <a:ext cx="296332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value of perfect information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111–112     </a:t>
            </a:r>
            <a:fld id="{1DA695BD-3DB7-4509-A7FD-0254B61DF579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4.1 What Logic Cannot Say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14.1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Logic Cannot Say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111  ›</a:t>
            </a:r>
          </a:p>
        </p:txBody>
      </p:sp>
      <p:sp>
        <p:nvSpPr>
          <p:cNvPr id="12" name="!!ag1" descr="Go to section 14.2 Probability as Degree of Belief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14.2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Probability as Degree of Belief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111  ›</a:t>
            </a:r>
          </a:p>
        </p:txBody>
      </p:sp>
      <p:sp>
        <p:nvSpPr>
          <p:cNvPr id="17" name="!!ag2" descr="Go to section 14.3 Bayes’ Rule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14.3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Bayes’ Rule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111  ›</a:t>
            </a:r>
          </a:p>
        </p:txBody>
      </p:sp>
      <p:sp>
        <p:nvSpPr>
          <p:cNvPr id="22" name="!!ag3" descr="Go to section 14.4 Conditional Independence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14.4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Conditional Independence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111  ›</a:t>
            </a:r>
          </a:p>
        </p:txBody>
      </p:sp>
      <p:sp>
        <p:nvSpPr>
          <p:cNvPr id="27" name="!!ag4" descr="Go to section 14.5 From Belief to Decision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14.5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From Belief to Decision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111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§14.5  ·  Handout p. 111     </a:t>
            </a:r>
            <a:fld id="{FE2FFE08-558B-4BC8-A24E-48E04330665D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112  ·  answers in Appendix D     </a:t>
            </a:r>
            <a:fld id="{066324BB-84C6-4564-85E6-6C2057037932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112  ·  answers in Appendix D     </a:t>
            </a:r>
            <a:fld id="{B49033EA-10F1-4B24-9153-AD774E9FD107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112  ·  answers in Appendix D     </a:t>
            </a:r>
            <a:fld id="{B82D6096-165C-4B30-A28A-AEB014CF0FDD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112  ·  answers in Appendix D     </a:t>
            </a:r>
            <a:fld id="{E1D7B3A9-0FCE-437C-B730-B0CC693A0D36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112  ·  answers in Appendix D     </a:t>
            </a:r>
            <a:fld id="{DD5381D0-EA1F-4EDE-8B0E-4F426826194D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112  ·  answers in Appendix D     </a:t>
            </a:r>
            <a:fld id="{C61C9BA8-6480-4F69-B8AF-661F56BAAED9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112     </a:t>
            </a:r>
            <a:fld id="{8B661CE8-36F2-43C4-8A92-DFE5785409B0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What Logic Cannot Say.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Probability as Degree of Belief.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Bayes’ Rule.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Conditional Independence.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From Belief to Decision.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112     </a:t>
            </a:r>
            <a:fld id="{164DFFE0-06E6-4C7D-B9A0-044CD4F7B97F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38470"/>
                </a:solidFill>
                <a:latin typeface="Segoe UI Black"/>
              </a:rPr>
              <a:t>14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14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Chapter 15 — Bayesian Networks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14, pages 111–112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Go/no-go under uncertainty; diagnosing a defect cause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Quiz 3 (Ch 9–13)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14  ·  Uncertainty and Decision Making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78EEC390-D8D1-4C89-AF9C-B7E09D63BD8C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14: Uncertainty and Decision Making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