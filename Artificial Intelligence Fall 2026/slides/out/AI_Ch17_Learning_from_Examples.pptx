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1AB12379-F1A6-4461-9092-BF8612C1F934}">
          <p14:sldIdLst>
            <p14:sldId id="256"/>
            <p14:sldId id="257"/>
            <p14:sldId id="258"/>
            <p14:sldId id="259"/>
            <p14:sldId id="260"/>
          </p14:sldIdLst>
        </p14:section>
        <p14:section name="17.7 Where This Course Hands Over" id="{D6E48D6C-5D3E-4FE9-9364-22336DFBBF8F}">
          <p14:sldIdLst>
            <p14:sldId id="261"/>
          </p14:sldIdLst>
        </p14:section>
        <p14:section name="Checkpoint" id="{B9D2CA80-522F-4E7E-A2B7-17B98E78556F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Wrap-up" id="{ADC183D2-E7B4-4973-B1D3-28967039D327}">
          <p14:sldIdLst>
            <p14:sldId id="268"/>
            <p14:sldId id="269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17: Learning from Examples. Part 6 — Learning, Language and Responsible AI. Week 14: Fuzzy logic; learning from examples. Handout pages 119–120.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 the chapter. Before you start: Chapter 1 (learning as one route to intelligent behaviour, not the definition) and Chapter 14 (for the probabilistic view of evidence).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these out: they are the chapter's contract with the room. Each click adds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define these now; they arrive one at a time. This slide is for the students' notes. Terms: supervised learning; unsupervised learning; reinforcement learning; training example; feature; label; perceptron; weight; learning rate; perceptron learning rule; linear separability; exclusive-or; artificial neural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route through the chapter. Each row is a link: click it to jump to that section in the slide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To be written with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To be written with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To be written with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say each takeaway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these for independent study. Model answers are not printed in the handout.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NEXT: Chapter 18 — Natural Language Processing. READ: Handout Chapter 17, pages 119–120. THIS WEEK'S LAB: Risk rating by Mamdani inference; the perceptron and its limit. ASSESSMENT: Project experiments frozen.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000" kern="1200" b="0">
          <a:solidFill>
            <a:srgbClr val="1A527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notesSlide" Target="../notesSlides/notesSlide5.xml"/><Relationship Id="rId5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7.sv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8.sv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9.sv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20.sv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05B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7E6B1F"/>
                </a:solidFill>
                <a:latin typeface="Segoe UI Black"/>
              </a:rPr>
              <a:t>17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2304288"/>
            <a:ext cx="8503920" cy="19202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600" b="0">
                <a:solidFill>
                  <a:srgbClr val="FFFFFF"/>
                </a:solidFill>
                <a:latin typeface="Segoe UI Semibold"/>
              </a:rPr>
              <a:t>Learning from Examples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29844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tpart"/>
          <p:cNvSpPr txBox="1"/>
          <p:nvPr/>
        </p:nvSpPr>
        <p:spPr>
          <a:xfrm>
            <a:off x="658368" y="1517904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D7D1B9"/>
                </a:solidFill>
                <a:latin typeface="Segoe UI"/>
              </a:rPr>
              <a:t>PART VI  ·  LEARNING, LANGUAGE AND RESPONSIBLE AI</a:t>
            </a:r>
          </a:p>
        </p:txBody>
      </p:sp>
      <p:sp>
        <p:nvSpPr>
          <p:cNvPr id="6" name="!!tch"/>
          <p:cNvSpPr txBox="1"/>
          <p:nvPr/>
        </p:nvSpPr>
        <p:spPr>
          <a:xfrm>
            <a:off x="658368" y="186537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D7D1B9"/>
                </a:solidFill>
                <a:latin typeface="Segoe UI"/>
              </a:rPr>
              <a:t>CHAPTER 17  ·  WEEK 14</a:t>
            </a:r>
          </a:p>
        </p:txBody>
      </p:sp>
      <p:sp>
        <p:nvSpPr>
          <p:cNvPr id="7" name="!!tsub"/>
          <p:cNvSpPr txBox="1"/>
          <p:nvPr/>
        </p:nvSpPr>
        <p:spPr>
          <a:xfrm>
            <a:off x="658368" y="4315968"/>
            <a:ext cx="85039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2DECD"/>
                </a:solidFill>
                <a:latin typeface="Segoe UI"/>
              </a:rPr>
              <a:t>Artificial Intelligence — Search, Knowledge and Reasoning</a:t>
            </a:r>
          </a:p>
        </p:txBody>
      </p:sp>
      <p:sp>
        <p:nvSpPr>
          <p:cNvPr id="8" name="!!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285232"/>
            <a:ext cx="12191695" cy="1572767"/>
          </a:xfrm>
          <a:prstGeom prst="rect">
            <a:avLst/>
          </a:prstGeom>
          <a:solidFill>
            <a:srgbClr val="5142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ab"/>
          <p:cNvSpPr txBox="1"/>
          <p:nvPr/>
        </p:nvSpPr>
        <p:spPr>
          <a:xfrm>
            <a:off x="658368" y="554126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BDB7A0"/>
                </a:solidFill>
                <a:latin typeface="Segoe UI"/>
              </a:rPr>
              <a:t>LECTURER</a:t>
            </a:r>
          </a:p>
        </p:txBody>
      </p:sp>
      <p:sp>
        <p:nvSpPr>
          <p:cNvPr id="10" name="!!author"/>
          <p:cNvSpPr txBox="1"/>
          <p:nvPr/>
        </p:nvSpPr>
        <p:spPr>
          <a:xfrm>
            <a:off x="658368" y="577900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Dr. Mustafa Hameed</a:t>
            </a:r>
          </a:p>
        </p:txBody>
      </p:sp>
      <p:sp>
        <p:nvSpPr>
          <p:cNvPr id="11" name="!!dept"/>
          <p:cNvSpPr txBox="1"/>
          <p:nvPr/>
        </p:nvSpPr>
        <p:spPr>
          <a:xfrm>
            <a:off x="658368" y="6181344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ECAB9"/>
                </a:solidFill>
                <a:latin typeface="Segoe UI"/>
              </a:rPr>
              <a:t>Department of Information Technology  ·  BSIT · Fall 2026</a:t>
            </a:r>
          </a:p>
        </p:txBody>
      </p:sp>
      <p:sp>
        <p:nvSpPr>
          <p:cNvPr id="12" name="!!uni"/>
          <p:cNvSpPr txBox="1"/>
          <p:nvPr/>
        </p:nvSpPr>
        <p:spPr>
          <a:xfrm>
            <a:off x="5205818" y="568756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60">
                <a:solidFill>
                  <a:srgbClr val="FFFFFF"/>
                </a:solidFill>
                <a:latin typeface="Segoe UI"/>
              </a:rPr>
              <a:t>THE ISLAMIA UNIVERSITY OF BAHAWALPUR</a:t>
            </a:r>
          </a:p>
        </p:txBody>
      </p:sp>
      <p:sp>
        <p:nvSpPr>
          <p:cNvPr id="13" name="!!uni2"/>
          <p:cNvSpPr txBox="1"/>
          <p:nvPr/>
        </p:nvSpPr>
        <p:spPr>
          <a:xfrm>
            <a:off x="5205818" y="596188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DB7A0"/>
                </a:solidFill>
                <a:latin typeface="Segoe UI"/>
              </a:rPr>
              <a:t>Bahawalpur, Pakistan</a:t>
            </a:r>
          </a:p>
        </p:txBody>
      </p:sp>
      <p:pic>
        <p:nvPicPr>
          <p:cNvPr id="14" name="!!logo-iub-logo-white" descr="The Islamia University of Bahawalp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498" y="5486400"/>
            <a:ext cx="904084" cy="896112"/>
          </a:xfrm>
          <a:prstGeom prst="rect">
            <a:avLst/>
          </a:prstGeom>
        </p:spPr>
      </p:pic>
      <p:pic>
        <p:nvPicPr>
          <p:cNvPr id="15" name="!!logo-dit-logo" descr="Department of Information Technolog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614" y="5486400"/>
            <a:ext cx="869712" cy="896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Where this chapter sits</a:t>
            </a:r>
          </a:p>
        </p:txBody>
      </p:sp>
      <p:pic>
        <p:nvPicPr>
          <p:cNvPr id="3" name="!!kicker-icon" descr="map-signs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 COURSE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17  ·  Learning from Examples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119     </a:t>
            </a:r>
            <a:fld id="{BB1A687C-5DF8-43A0-BBD0-D7E245A46F81}" type="slidenum">
              <a:rPr lang="en-GB" sz="1000">
                <a:solidFill>
                  <a:srgbClr val="8795A1"/>
                </a:solidFill>
                <a:latin typeface="Segoe UI"/>
              </a:rPr>
              <a:t>2</a:t>
            </a:fld>
          </a:p>
        </p:txBody>
      </p:sp>
      <p:sp>
        <p:nvSpPr>
          <p:cNvPr id="7" name="!!rp1"/>
          <p:cNvSpPr txBox="1"/>
          <p:nvPr/>
        </p:nvSpPr>
        <p:spPr>
          <a:xfrm>
            <a:off x="777239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</a:t>
            </a:r>
          </a:p>
        </p:txBody>
      </p:sp>
      <p:sp>
        <p:nvSpPr>
          <p:cNvPr id="8" name="!!rp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39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rp2"/>
          <p:cNvSpPr txBox="1"/>
          <p:nvPr/>
        </p:nvSpPr>
        <p:spPr>
          <a:xfrm>
            <a:off x="2280139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</a:t>
            </a:r>
          </a:p>
        </p:txBody>
      </p:sp>
      <p:sp>
        <p:nvSpPr>
          <p:cNvPr id="10" name="!!rp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0139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p3"/>
          <p:cNvSpPr txBox="1"/>
          <p:nvPr/>
        </p:nvSpPr>
        <p:spPr>
          <a:xfrm>
            <a:off x="3783039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III</a:t>
            </a:r>
          </a:p>
        </p:txBody>
      </p:sp>
      <p:sp>
        <p:nvSpPr>
          <p:cNvPr id="12" name="!!rp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3039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rp4"/>
          <p:cNvSpPr txBox="1"/>
          <p:nvPr/>
        </p:nvSpPr>
        <p:spPr>
          <a:xfrm>
            <a:off x="5285938" y="1755648"/>
            <a:ext cx="158324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IV</a:t>
            </a:r>
          </a:p>
        </p:txBody>
      </p:sp>
      <p:sp>
        <p:nvSpPr>
          <p:cNvPr id="14" name="!!rpl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85938" y="2029967"/>
            <a:ext cx="1583242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rp5"/>
          <p:cNvSpPr txBox="1"/>
          <p:nvPr/>
        </p:nvSpPr>
        <p:spPr>
          <a:xfrm>
            <a:off x="7198364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</a:t>
            </a:r>
          </a:p>
        </p:txBody>
      </p:sp>
      <p:sp>
        <p:nvSpPr>
          <p:cNvPr id="16" name="!!rpl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98364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p6"/>
          <p:cNvSpPr txBox="1"/>
          <p:nvPr/>
        </p:nvSpPr>
        <p:spPr>
          <a:xfrm>
            <a:off x="8856712" y="1755648"/>
            <a:ext cx="2557743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705B06"/>
                </a:solidFill>
                <a:latin typeface="Segoe UI"/>
              </a:rPr>
              <a:t>PART VI</a:t>
            </a:r>
          </a:p>
        </p:txBody>
      </p:sp>
      <p:sp>
        <p:nvSpPr>
          <p:cNvPr id="18" name="!!rpl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56712" y="2029967"/>
            <a:ext cx="2557743" cy="45720"/>
          </a:xfrm>
          <a:prstGeom prst="rect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7411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dotn1"/>
          <p:cNvSpPr txBox="1"/>
          <p:nvPr/>
        </p:nvSpPr>
        <p:spPr>
          <a:xfrm>
            <a:off x="72597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1" name="!!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6937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dotn2"/>
          <p:cNvSpPr txBox="1"/>
          <p:nvPr/>
        </p:nvSpPr>
        <p:spPr>
          <a:xfrm>
            <a:off x="11354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!!do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36464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dotn3"/>
          <p:cNvSpPr txBox="1"/>
          <p:nvPr/>
        </p:nvSpPr>
        <p:spPr>
          <a:xfrm>
            <a:off x="154502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!!do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20310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dotn4"/>
          <p:cNvSpPr txBox="1"/>
          <p:nvPr/>
        </p:nvSpPr>
        <p:spPr>
          <a:xfrm>
            <a:off x="222887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!!dot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29837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dotn5"/>
          <p:cNvSpPr txBox="1"/>
          <p:nvPr/>
        </p:nvSpPr>
        <p:spPr>
          <a:xfrm>
            <a:off x="26383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!!dot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39363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dotn6"/>
          <p:cNvSpPr txBox="1"/>
          <p:nvPr/>
        </p:nvSpPr>
        <p:spPr>
          <a:xfrm>
            <a:off x="304792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1" name="!!dot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23210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dotn7"/>
          <p:cNvSpPr txBox="1"/>
          <p:nvPr/>
        </p:nvSpPr>
        <p:spPr>
          <a:xfrm>
            <a:off x="373177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3" name="!!dot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32736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!!dotn8"/>
          <p:cNvSpPr txBox="1"/>
          <p:nvPr/>
        </p:nvSpPr>
        <p:spPr>
          <a:xfrm>
            <a:off x="414129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5" name="!!dot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2263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dotn9"/>
          <p:cNvSpPr txBox="1"/>
          <p:nvPr/>
        </p:nvSpPr>
        <p:spPr>
          <a:xfrm>
            <a:off x="455082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37" name="!!dot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26109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dotn10"/>
          <p:cNvSpPr txBox="1"/>
          <p:nvPr/>
        </p:nvSpPr>
        <p:spPr>
          <a:xfrm>
            <a:off x="523466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39" name="!!dot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35636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!!dotn11"/>
          <p:cNvSpPr txBox="1"/>
          <p:nvPr/>
        </p:nvSpPr>
        <p:spPr>
          <a:xfrm>
            <a:off x="564419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41" name="!!dot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5162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dotn12"/>
          <p:cNvSpPr txBox="1"/>
          <p:nvPr/>
        </p:nvSpPr>
        <p:spPr>
          <a:xfrm>
            <a:off x="605372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43" name="!!dot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54689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dotn13"/>
          <p:cNvSpPr txBox="1"/>
          <p:nvPr/>
        </p:nvSpPr>
        <p:spPr>
          <a:xfrm>
            <a:off x="646324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45" name="!!dot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8535" y="2258568"/>
            <a:ext cx="274320" cy="274320"/>
          </a:xfrm>
          <a:prstGeom prst="ellipse">
            <a:avLst/>
          </a:prstGeom>
          <a:solidFill>
            <a:srgbClr val="358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!!dotn14"/>
          <p:cNvSpPr txBox="1"/>
          <p:nvPr/>
        </p:nvSpPr>
        <p:spPr>
          <a:xfrm>
            <a:off x="714709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47" name="!!dot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8062" y="2258568"/>
            <a:ext cx="274320" cy="274320"/>
          </a:xfrm>
          <a:prstGeom prst="ellipse">
            <a:avLst/>
          </a:prstGeom>
          <a:solidFill>
            <a:srgbClr val="358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dotn15"/>
          <p:cNvSpPr txBox="1"/>
          <p:nvPr/>
        </p:nvSpPr>
        <p:spPr>
          <a:xfrm>
            <a:off x="755662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sp>
        <p:nvSpPr>
          <p:cNvPr id="49" name="!!dot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57588" y="2258568"/>
            <a:ext cx="274320" cy="274320"/>
          </a:xfrm>
          <a:prstGeom prst="ellipse">
            <a:avLst/>
          </a:prstGeom>
          <a:solidFill>
            <a:srgbClr val="358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!!dotn16"/>
          <p:cNvSpPr txBox="1"/>
          <p:nvPr/>
        </p:nvSpPr>
        <p:spPr>
          <a:xfrm>
            <a:off x="796614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16</a:t>
            </a:r>
          </a:p>
        </p:txBody>
      </p:sp>
      <p:sp>
        <p:nvSpPr>
          <p:cNvPr id="51" name="!!dot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50579" y="2112264"/>
            <a:ext cx="566928" cy="566928"/>
          </a:xfrm>
          <a:prstGeom prst="ellipse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!!dotn17"/>
          <p:cNvSpPr txBox="1"/>
          <p:nvPr/>
        </p:nvSpPr>
        <p:spPr>
          <a:xfrm>
            <a:off x="8750579" y="2240280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17</a:t>
            </a:r>
          </a:p>
        </p:txBody>
      </p:sp>
      <p:sp>
        <p:nvSpPr>
          <p:cNvPr id="53" name="!!dot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61857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!!dotn18"/>
          <p:cNvSpPr txBox="1"/>
          <p:nvPr/>
        </p:nvSpPr>
        <p:spPr>
          <a:xfrm>
            <a:off x="937041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18</a:t>
            </a:r>
          </a:p>
        </p:txBody>
      </p:sp>
      <p:sp>
        <p:nvSpPr>
          <p:cNvPr id="55" name="!!dot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7138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!!dotn19"/>
          <p:cNvSpPr txBox="1"/>
          <p:nvPr/>
        </p:nvSpPr>
        <p:spPr>
          <a:xfrm>
            <a:off x="977994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19</a:t>
            </a:r>
          </a:p>
        </p:txBody>
      </p:sp>
      <p:sp>
        <p:nvSpPr>
          <p:cNvPr id="57" name="!!dot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80910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!!dotn20"/>
          <p:cNvSpPr txBox="1"/>
          <p:nvPr/>
        </p:nvSpPr>
        <p:spPr>
          <a:xfrm>
            <a:off x="1018947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20</a:t>
            </a:r>
          </a:p>
        </p:txBody>
      </p:sp>
      <p:sp>
        <p:nvSpPr>
          <p:cNvPr id="59" name="!!dot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90437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dotn21"/>
          <p:cNvSpPr txBox="1"/>
          <p:nvPr/>
        </p:nvSpPr>
        <p:spPr>
          <a:xfrm>
            <a:off x="105989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21</a:t>
            </a:r>
          </a:p>
        </p:txBody>
      </p:sp>
      <p:sp>
        <p:nvSpPr>
          <p:cNvPr id="61" name="!!dot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99963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!!dotn22"/>
          <p:cNvSpPr txBox="1"/>
          <p:nvPr/>
        </p:nvSpPr>
        <p:spPr>
          <a:xfrm>
            <a:off x="1100852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22</a:t>
            </a:r>
          </a:p>
        </p:txBody>
      </p:sp>
      <p:sp>
        <p:nvSpPr>
          <p:cNvPr id="63" name="!!dotlabel"/>
          <p:cNvSpPr txBox="1"/>
          <p:nvPr/>
        </p:nvSpPr>
        <p:spPr>
          <a:xfrm>
            <a:off x="5681167" y="279806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05B06"/>
                </a:solidFill>
                <a:latin typeface="Segoe UI"/>
              </a:rPr>
              <a:t>Learning from Examples</a:t>
            </a:r>
          </a:p>
        </p:txBody>
      </p:sp>
      <p:sp>
        <p:nvSpPr>
          <p:cNvPr id="64" name="!!dep-BUILD"/>
          <p:cNvSpPr txBox="1"/>
          <p:nvPr/>
        </p:nvSpPr>
        <p:spPr>
          <a:xfrm>
            <a:off x="658368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BUILDS ON</a:t>
            </a:r>
          </a:p>
        </p:txBody>
      </p:sp>
      <p:sp>
        <p:nvSpPr>
          <p:cNvPr id="65" name="!!chipBU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!!chipbBU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64008" cy="42062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!!chiptBU1"/>
          <p:cNvSpPr txBox="1"/>
          <p:nvPr/>
        </p:nvSpPr>
        <p:spPr>
          <a:xfrm>
            <a:off x="859536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5276"/>
                </a:solidFill>
                <a:latin typeface="Segoe UI"/>
              </a:rPr>
              <a:t>Ch 1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What Artificial Intelligence Is</a:t>
            </a:r>
          </a:p>
        </p:txBody>
      </p:sp>
      <p:sp>
        <p:nvSpPr>
          <p:cNvPr id="68" name="!!chipBU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7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!!chipbBU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64008" cy="420624"/>
          </a:xfrm>
          <a:prstGeom prst="rect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!!chiptBU14"/>
          <p:cNvSpPr txBox="1"/>
          <p:nvPr/>
        </p:nvSpPr>
        <p:spPr>
          <a:xfrm>
            <a:off x="859536" y="438912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7964"/>
                </a:solidFill>
                <a:latin typeface="Segoe UI"/>
              </a:rPr>
              <a:t>Ch 14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Uncertainty and Decision Making</a:t>
            </a:r>
          </a:p>
        </p:txBody>
      </p:sp>
      <p:sp>
        <p:nvSpPr>
          <p:cNvPr id="71" name="!!dep-USED "/>
          <p:cNvSpPr txBox="1"/>
          <p:nvPr/>
        </p:nvSpPr>
        <p:spPr>
          <a:xfrm>
            <a:off x="6324447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USED LATER IN</a:t>
            </a:r>
          </a:p>
        </p:txBody>
      </p:sp>
      <p:sp>
        <p:nvSpPr>
          <p:cNvPr id="72" name="!!chipUS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!!chipbUS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64008" cy="420624"/>
          </a:xfrm>
          <a:prstGeom prst="rect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!!chiptUS20"/>
          <p:cNvSpPr txBox="1"/>
          <p:nvPr/>
        </p:nvSpPr>
        <p:spPr>
          <a:xfrm>
            <a:off x="6525615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05B06"/>
                </a:solidFill>
                <a:latin typeface="Segoe UI"/>
              </a:rPr>
              <a:t>Ch 20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Recent Trends and Applications</a:t>
            </a:r>
          </a:p>
        </p:txBody>
      </p:sp>
      <p:sp>
        <p:nvSpPr>
          <p:cNvPr id="7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625559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you will be able to do</a:t>
            </a:r>
          </a:p>
        </p:txBody>
      </p:sp>
      <p:pic>
        <p:nvPicPr>
          <p:cNvPr id="3" name="!!kicker-icon" descr="bullseye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LEARNING OUTCOMES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17  ·  Learning from Examples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119     </a:t>
            </a:r>
            <a:fld id="{B5844E15-E599-4B49-8308-25ABF25CC19E}" type="slidenum">
              <a:rPr lang="en-GB" sz="1000">
                <a:solidFill>
                  <a:srgbClr val="8795A1"/>
                </a:solidFill>
                <a:latin typeface="Segoe UI"/>
              </a:rPr>
              <a:t>3</a:t>
            </a:fld>
          </a:p>
        </p:txBody>
      </p:sp>
      <p:sp>
        <p:nvSpPr>
          <p:cNvPr id="7" name="!!olead"/>
          <p:cNvSpPr txBox="1"/>
          <p:nvPr/>
        </p:nvSpPr>
        <p:spPr>
          <a:xfrm>
            <a:off x="658368" y="1737360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F6F7B"/>
                </a:solidFill>
                <a:latin typeface="Segoe UI"/>
              </a:rPr>
              <a:t>By the end of this chapter you will be able to:</a:t>
            </a:r>
          </a:p>
        </p:txBody>
      </p:sp>
      <p:sp>
        <p:nvSpPr>
          <p:cNvPr id="8" name="!!o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21991"/>
            <a:ext cx="420624" cy="420624"/>
          </a:xfrm>
          <a:prstGeom prst="ellipse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obn0"/>
          <p:cNvSpPr txBox="1"/>
          <p:nvPr/>
        </p:nvSpPr>
        <p:spPr>
          <a:xfrm>
            <a:off x="658368" y="228142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!!ot0"/>
          <p:cNvSpPr txBox="1"/>
          <p:nvPr/>
        </p:nvSpPr>
        <p:spPr>
          <a:xfrm>
            <a:off x="1316736" y="2263140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05B06"/>
                </a:solidFill>
                <a:latin typeface="Segoe UI"/>
              </a:rPr>
              <a:t>Name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three learning paradigms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give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 delivery example of each.</a:t>
            </a:r>
          </a:p>
        </p:txBody>
      </p:sp>
      <p:sp>
        <p:nvSpPr>
          <p:cNvPr id="11" name="!!o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825496"/>
            <a:ext cx="420624" cy="420624"/>
          </a:xfrm>
          <a:prstGeom prst="ellipse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obn1"/>
          <p:cNvSpPr txBox="1"/>
          <p:nvPr/>
        </p:nvSpPr>
        <p:spPr>
          <a:xfrm>
            <a:off x="658368" y="2884932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!!ot1"/>
          <p:cNvSpPr txBox="1"/>
          <p:nvPr/>
        </p:nvSpPr>
        <p:spPr>
          <a:xfrm>
            <a:off x="1316736" y="2866644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05B06"/>
                </a:solidFill>
                <a:latin typeface="Segoe UI"/>
              </a:rPr>
              <a:t>Train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 perceptron by hand on a small table, applying the learning rule step by step.</a:t>
            </a:r>
          </a:p>
        </p:txBody>
      </p:sp>
      <p:sp>
        <p:nvSpPr>
          <p:cNvPr id="14" name="!!o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429000"/>
            <a:ext cx="420624" cy="420624"/>
          </a:xfrm>
          <a:prstGeom prst="ellipse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obn2"/>
          <p:cNvSpPr txBox="1"/>
          <p:nvPr/>
        </p:nvSpPr>
        <p:spPr>
          <a:xfrm>
            <a:off x="658368" y="3488436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!!ot2"/>
          <p:cNvSpPr txBox="1"/>
          <p:nvPr/>
        </p:nvSpPr>
        <p:spPr>
          <a:xfrm>
            <a:off x="1316736" y="3419856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05B06"/>
                </a:solidFill>
                <a:latin typeface="Segoe UI"/>
              </a:rPr>
              <a:t>Show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that a single perceptron cannot represent exclusive-or,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explain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what that result did to the field.</a:t>
            </a:r>
          </a:p>
        </p:txBody>
      </p:sp>
      <p:sp>
        <p:nvSpPr>
          <p:cNvPr id="17" name="!!o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77563"/>
            <a:ext cx="420624" cy="420624"/>
          </a:xfrm>
          <a:prstGeom prst="ellipse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obn3"/>
          <p:cNvSpPr txBox="1"/>
          <p:nvPr/>
        </p:nvSpPr>
        <p:spPr>
          <a:xfrm>
            <a:off x="658368" y="4336999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9" name="!!ot3"/>
          <p:cNvSpPr txBox="1"/>
          <p:nvPr/>
        </p:nvSpPr>
        <p:spPr>
          <a:xfrm>
            <a:off x="1316736" y="4318711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05B06"/>
                </a:solidFill>
                <a:latin typeface="Segoe UI"/>
              </a:rPr>
              <a:t>State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precisely where this course stops and </a:t>
            </a:r>
            <a:r>
              <a:rPr sz="2100" b="0" i="1">
                <a:solidFill>
                  <a:srgbClr val="1C252B"/>
                </a:solidFill>
                <a:latin typeface="Segoe UI"/>
              </a:rPr>
              <a:t>Machine Learning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begins.</a:t>
            </a:r>
          </a:p>
        </p:txBody>
      </p:sp>
      <p:sp>
        <p:nvSpPr>
          <p:cNvPr id="4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Vocabulary for this chapter</a:t>
            </a:r>
          </a:p>
        </p:txBody>
      </p:sp>
      <p:pic>
        <p:nvPicPr>
          <p:cNvPr id="3" name="!!kicker-icon" descr="tags-8E44AD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7256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8E44AD"/>
                </a:solidFill>
                <a:latin typeface="Segoe UI"/>
              </a:rPr>
              <a:t>KEY TERMS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17  ·  Learning from Examples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119     </a:t>
            </a:r>
            <a:fld id="{A45C769D-96A5-48C9-8B21-A44392CF85D2}" type="slidenum">
              <a:rPr lang="en-GB" sz="1000">
                <a:solidFill>
                  <a:srgbClr val="8795A1"/>
                </a:solidFill>
                <a:latin typeface="Segoe UI"/>
              </a:rPr>
              <a:t>4</a:t>
            </a:fld>
          </a:p>
        </p:txBody>
      </p:sp>
      <p:sp>
        <p:nvSpPr>
          <p:cNvPr id="7" name="!!term-supervised le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847088"/>
            <a:ext cx="221425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ermd-supervised le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termt-supervised lea"/>
          <p:cNvSpPr txBox="1"/>
          <p:nvPr/>
        </p:nvSpPr>
        <p:spPr>
          <a:xfrm>
            <a:off x="950976" y="1962911"/>
            <a:ext cx="203137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supervised learning</a:t>
            </a:r>
          </a:p>
        </p:txBody>
      </p:sp>
      <p:sp>
        <p:nvSpPr>
          <p:cNvPr id="10" name="!!term-unsupervised 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8923" y="1847088"/>
            <a:ext cx="2448874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termd-unsupervised 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46939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termt-unsupervised l"/>
          <p:cNvSpPr txBox="1"/>
          <p:nvPr/>
        </p:nvSpPr>
        <p:spPr>
          <a:xfrm>
            <a:off x="3311531" y="1962911"/>
            <a:ext cx="2265994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unsupervised learning</a:t>
            </a:r>
          </a:p>
        </p:txBody>
      </p:sp>
      <p:sp>
        <p:nvSpPr>
          <p:cNvPr id="13" name="!!term-reinforcement 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14101" y="1847088"/>
            <a:ext cx="2523689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termd-reinforcement 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42117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termt-reinforcement "/>
          <p:cNvSpPr txBox="1"/>
          <p:nvPr/>
        </p:nvSpPr>
        <p:spPr>
          <a:xfrm>
            <a:off x="5906709" y="1962911"/>
            <a:ext cx="2340809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reinforcement learning</a:t>
            </a:r>
          </a:p>
        </p:txBody>
      </p:sp>
      <p:sp>
        <p:nvSpPr>
          <p:cNvPr id="16" name="!!term-training exam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84095" y="1847088"/>
            <a:ext cx="1968520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termd-training exam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111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termt-training examp"/>
          <p:cNvSpPr txBox="1"/>
          <p:nvPr/>
        </p:nvSpPr>
        <p:spPr>
          <a:xfrm>
            <a:off x="8576703" y="1962911"/>
            <a:ext cx="178564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training example</a:t>
            </a:r>
          </a:p>
        </p:txBody>
      </p:sp>
      <p:sp>
        <p:nvSpPr>
          <p:cNvPr id="19" name="!!term-featu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98919" y="1847088"/>
            <a:ext cx="1085740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termd-featu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26935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termt-feature"/>
          <p:cNvSpPr txBox="1"/>
          <p:nvPr/>
        </p:nvSpPr>
        <p:spPr>
          <a:xfrm>
            <a:off x="10691527" y="1962911"/>
            <a:ext cx="90286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feature</a:t>
            </a:r>
          </a:p>
        </p:txBody>
      </p:sp>
      <p:sp>
        <p:nvSpPr>
          <p:cNvPr id="22" name="!!term-lab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880"/>
            <a:ext cx="874995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termd-lab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termt-label"/>
          <p:cNvSpPr txBox="1"/>
          <p:nvPr/>
        </p:nvSpPr>
        <p:spPr>
          <a:xfrm>
            <a:off x="950976" y="2584704"/>
            <a:ext cx="692115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label</a:t>
            </a:r>
          </a:p>
        </p:txBody>
      </p:sp>
      <p:sp>
        <p:nvSpPr>
          <p:cNvPr id="25" name="!!term-perceptr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79667" y="2468880"/>
            <a:ext cx="1448410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termd-perceptr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07683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!!termt-perceptron"/>
          <p:cNvSpPr txBox="1"/>
          <p:nvPr/>
        </p:nvSpPr>
        <p:spPr>
          <a:xfrm>
            <a:off x="1972275" y="2584704"/>
            <a:ext cx="126553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perceptron</a:t>
            </a:r>
          </a:p>
        </p:txBody>
      </p:sp>
      <p:sp>
        <p:nvSpPr>
          <p:cNvPr id="28" name="!!term-weigh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4382" y="2468880"/>
            <a:ext cx="105695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termd-weigh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02398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termt-weight"/>
          <p:cNvSpPr txBox="1"/>
          <p:nvPr/>
        </p:nvSpPr>
        <p:spPr>
          <a:xfrm>
            <a:off x="3566990" y="2584704"/>
            <a:ext cx="87407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weight</a:t>
            </a:r>
          </a:p>
        </p:txBody>
      </p:sp>
      <p:sp>
        <p:nvSpPr>
          <p:cNvPr id="31" name="!!term-learning ra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77643" y="2468880"/>
            <a:ext cx="1594998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termd-learning ra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05659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termt-learning rate"/>
          <p:cNvSpPr txBox="1"/>
          <p:nvPr/>
        </p:nvSpPr>
        <p:spPr>
          <a:xfrm>
            <a:off x="4770251" y="2584704"/>
            <a:ext cx="1412118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learning rate</a:t>
            </a:r>
          </a:p>
        </p:txBody>
      </p:sp>
      <p:sp>
        <p:nvSpPr>
          <p:cNvPr id="34" name="!!term-perceptron le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8945" y="2468880"/>
            <a:ext cx="2653022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!!termd-perceptron le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46961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termt-perceptron lea"/>
          <p:cNvSpPr txBox="1"/>
          <p:nvPr/>
        </p:nvSpPr>
        <p:spPr>
          <a:xfrm>
            <a:off x="6511553" y="2584704"/>
            <a:ext cx="2470142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perceptron learning rule</a:t>
            </a:r>
          </a:p>
        </p:txBody>
      </p:sp>
      <p:sp>
        <p:nvSpPr>
          <p:cNvPr id="37" name="!!term-linear separ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18272" y="2468880"/>
            <a:ext cx="204350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termd-linear separa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6288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!!termt-linear separab"/>
          <p:cNvSpPr txBox="1"/>
          <p:nvPr/>
        </p:nvSpPr>
        <p:spPr>
          <a:xfrm>
            <a:off x="9310880" y="2584704"/>
            <a:ext cx="186062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linear separability</a:t>
            </a:r>
          </a:p>
        </p:txBody>
      </p:sp>
      <p:sp>
        <p:nvSpPr>
          <p:cNvPr id="40" name="!!term-exclusive-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90672"/>
            <a:ext cx="152783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!!termd-exclusive-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3282696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termt-exclusive-or"/>
          <p:cNvSpPr txBox="1"/>
          <p:nvPr/>
        </p:nvSpPr>
        <p:spPr>
          <a:xfrm>
            <a:off x="950976" y="3206496"/>
            <a:ext cx="134495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exclusive-or</a:t>
            </a:r>
          </a:p>
        </p:txBody>
      </p:sp>
      <p:sp>
        <p:nvSpPr>
          <p:cNvPr id="43" name="!!term-artificial neu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32503" y="3090672"/>
            <a:ext cx="258044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termd-artificial neu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60519" y="3282696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!!termt-artificial neu"/>
          <p:cNvSpPr txBox="1"/>
          <p:nvPr/>
        </p:nvSpPr>
        <p:spPr>
          <a:xfrm>
            <a:off x="2625111" y="3206496"/>
            <a:ext cx="239756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artificial neural network</a:t>
            </a:r>
          </a:p>
        </p:txBody>
      </p:sp>
      <p:sp>
        <p:nvSpPr>
          <p:cNvPr id="46" name="!!termnote"/>
          <p:cNvSpPr txBox="1"/>
          <p:nvPr/>
        </p:nvSpPr>
        <p:spPr>
          <a:xfrm>
            <a:off x="658368" y="3913632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F6F7B"/>
                </a:solidFill>
                <a:latin typeface="Segoe UI"/>
              </a:rPr>
              <a:t>Each term is defined where it first matters — not here.</a:t>
            </a:r>
          </a:p>
        </p:txBody>
      </p:sp>
      <p:sp>
        <p:nvSpPr>
          <p:cNvPr id="47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251118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In this chapter</a:t>
            </a:r>
          </a:p>
        </p:txBody>
      </p:sp>
      <p:pic>
        <p:nvPicPr>
          <p:cNvPr id="3" name="!!kicker-icon" descr="list-ul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6883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IN THIS CHAPTER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17  ·  Learning from Examples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pp. 119–120     </a:t>
            </a:r>
            <a:fld id="{F48537E0-BD2C-4B7D-8D54-96396BF5BBBE}" type="slidenum">
              <a:rPr lang="en-GB" sz="1000">
                <a:solidFill>
                  <a:srgbClr val="8795A1"/>
                </a:solidFill>
                <a:latin typeface="Segoe UI"/>
              </a:rPr>
              <a:t>5</a:t>
            </a:fld>
          </a:p>
        </p:txBody>
      </p:sp>
      <p:sp>
        <p:nvSpPr>
          <p:cNvPr id="7" name="!!ag0" descr="Go to section 17.1 Three Kinds of Learning"/>
          <p:cNvSpPr/>
          <p:nvPr/>
        </p:nvSpPr>
        <p:spPr>
          <a:xfrm>
            <a:off x="658368" y="177393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ag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73936"/>
            <a:ext cx="64008" cy="56692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agn0"/>
          <p:cNvSpPr txBox="1"/>
          <p:nvPr/>
        </p:nvSpPr>
        <p:spPr>
          <a:xfrm>
            <a:off x="932688" y="192024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05B06"/>
                </a:solidFill>
                <a:latin typeface="Segoe UI Semibold"/>
              </a:rPr>
              <a:t>17.1</a:t>
            </a:r>
          </a:p>
        </p:txBody>
      </p:sp>
      <p:sp>
        <p:nvSpPr>
          <p:cNvPr id="10" name="!!agt0"/>
          <p:cNvSpPr txBox="1"/>
          <p:nvPr/>
        </p:nvSpPr>
        <p:spPr>
          <a:xfrm>
            <a:off x="1847088" y="192024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Three Kinds of Learning</a:t>
            </a:r>
          </a:p>
        </p:txBody>
      </p:sp>
      <p:sp>
        <p:nvSpPr>
          <p:cNvPr id="11" name="!!agp0"/>
          <p:cNvSpPr txBox="1"/>
          <p:nvPr/>
        </p:nvSpPr>
        <p:spPr>
          <a:xfrm>
            <a:off x="9795967" y="19476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119  ›</a:t>
            </a:r>
          </a:p>
        </p:txBody>
      </p:sp>
      <p:sp>
        <p:nvSpPr>
          <p:cNvPr id="12" name="!!ag1" descr="Go to section 17.2 Supervised Learning"/>
          <p:cNvSpPr/>
          <p:nvPr/>
        </p:nvSpPr>
        <p:spPr>
          <a:xfrm>
            <a:off x="658368" y="2414015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ag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14015"/>
            <a:ext cx="64008" cy="56692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agn1"/>
          <p:cNvSpPr txBox="1"/>
          <p:nvPr/>
        </p:nvSpPr>
        <p:spPr>
          <a:xfrm>
            <a:off x="932688" y="256032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05B06"/>
                </a:solidFill>
                <a:latin typeface="Segoe UI Semibold"/>
              </a:rPr>
              <a:t>17.2</a:t>
            </a:r>
          </a:p>
        </p:txBody>
      </p:sp>
      <p:sp>
        <p:nvSpPr>
          <p:cNvPr id="15" name="!!agt1"/>
          <p:cNvSpPr txBox="1"/>
          <p:nvPr/>
        </p:nvSpPr>
        <p:spPr>
          <a:xfrm>
            <a:off x="1847088" y="256032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Supervised Learning</a:t>
            </a:r>
          </a:p>
        </p:txBody>
      </p:sp>
      <p:sp>
        <p:nvSpPr>
          <p:cNvPr id="16" name="!!agp1"/>
          <p:cNvSpPr txBox="1"/>
          <p:nvPr/>
        </p:nvSpPr>
        <p:spPr>
          <a:xfrm>
            <a:off x="9795967" y="2587751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119  ›</a:t>
            </a:r>
          </a:p>
        </p:txBody>
      </p:sp>
      <p:sp>
        <p:nvSpPr>
          <p:cNvPr id="17" name="!!ag2" descr="Go to section 17.3 Artificial Neural Networks"/>
          <p:cNvSpPr/>
          <p:nvPr/>
        </p:nvSpPr>
        <p:spPr>
          <a:xfrm>
            <a:off x="658368" y="305409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ag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54096"/>
            <a:ext cx="64008" cy="56692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agn2"/>
          <p:cNvSpPr txBox="1"/>
          <p:nvPr/>
        </p:nvSpPr>
        <p:spPr>
          <a:xfrm>
            <a:off x="932688" y="320040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05B06"/>
                </a:solidFill>
                <a:latin typeface="Segoe UI Semibold"/>
              </a:rPr>
              <a:t>17.3</a:t>
            </a:r>
          </a:p>
        </p:txBody>
      </p:sp>
      <p:sp>
        <p:nvSpPr>
          <p:cNvPr id="20" name="!!agt2"/>
          <p:cNvSpPr txBox="1"/>
          <p:nvPr/>
        </p:nvSpPr>
        <p:spPr>
          <a:xfrm>
            <a:off x="1847088" y="320040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Artificial Neural Networks</a:t>
            </a:r>
          </a:p>
        </p:txBody>
      </p:sp>
      <p:sp>
        <p:nvSpPr>
          <p:cNvPr id="21" name="!!agp2"/>
          <p:cNvSpPr txBox="1"/>
          <p:nvPr/>
        </p:nvSpPr>
        <p:spPr>
          <a:xfrm>
            <a:off x="9795967" y="322783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119  ›</a:t>
            </a:r>
          </a:p>
        </p:txBody>
      </p:sp>
      <p:sp>
        <p:nvSpPr>
          <p:cNvPr id="22" name="!!ag3" descr="Go to section 17.4 Linear Separability and the Exclusive-Or Limit"/>
          <p:cNvSpPr/>
          <p:nvPr/>
        </p:nvSpPr>
        <p:spPr>
          <a:xfrm>
            <a:off x="658368" y="369417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ag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94176"/>
            <a:ext cx="64008" cy="56692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agn3"/>
          <p:cNvSpPr txBox="1"/>
          <p:nvPr/>
        </p:nvSpPr>
        <p:spPr>
          <a:xfrm>
            <a:off x="932688" y="384048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05B06"/>
                </a:solidFill>
                <a:latin typeface="Segoe UI Semibold"/>
              </a:rPr>
              <a:t>17.4</a:t>
            </a:r>
          </a:p>
        </p:txBody>
      </p:sp>
      <p:sp>
        <p:nvSpPr>
          <p:cNvPr id="25" name="!!agt3"/>
          <p:cNvSpPr txBox="1"/>
          <p:nvPr/>
        </p:nvSpPr>
        <p:spPr>
          <a:xfrm>
            <a:off x="1847088" y="384048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Linear Separability and the Exclusive-Or Limit</a:t>
            </a:r>
          </a:p>
        </p:txBody>
      </p:sp>
      <p:sp>
        <p:nvSpPr>
          <p:cNvPr id="26" name="!!agp3"/>
          <p:cNvSpPr txBox="1"/>
          <p:nvPr/>
        </p:nvSpPr>
        <p:spPr>
          <a:xfrm>
            <a:off x="9795967" y="386791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119  ›</a:t>
            </a:r>
          </a:p>
        </p:txBody>
      </p:sp>
      <p:sp>
        <p:nvSpPr>
          <p:cNvPr id="27" name="!!ag4" descr="Go to section 17.5 Unsupervised Learning"/>
          <p:cNvSpPr/>
          <p:nvPr/>
        </p:nvSpPr>
        <p:spPr>
          <a:xfrm>
            <a:off x="658368" y="433425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ag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334256"/>
            <a:ext cx="64008" cy="56692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agn4"/>
          <p:cNvSpPr txBox="1"/>
          <p:nvPr/>
        </p:nvSpPr>
        <p:spPr>
          <a:xfrm>
            <a:off x="932688" y="448056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05B06"/>
                </a:solidFill>
                <a:latin typeface="Segoe UI Semibold"/>
              </a:rPr>
              <a:t>17.5</a:t>
            </a:r>
          </a:p>
        </p:txBody>
      </p:sp>
      <p:sp>
        <p:nvSpPr>
          <p:cNvPr id="30" name="!!agt4"/>
          <p:cNvSpPr txBox="1"/>
          <p:nvPr/>
        </p:nvSpPr>
        <p:spPr>
          <a:xfrm>
            <a:off x="1847088" y="448056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Unsupervised Learning</a:t>
            </a:r>
          </a:p>
        </p:txBody>
      </p:sp>
      <p:sp>
        <p:nvSpPr>
          <p:cNvPr id="31" name="!!agp4"/>
          <p:cNvSpPr txBox="1"/>
          <p:nvPr/>
        </p:nvSpPr>
        <p:spPr>
          <a:xfrm>
            <a:off x="9795967" y="450799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119  ›</a:t>
            </a:r>
          </a:p>
        </p:txBody>
      </p:sp>
      <p:sp>
        <p:nvSpPr>
          <p:cNvPr id="32" name="!!ag5" descr="Go to section 17.6 Reinforcement Learning"/>
          <p:cNvSpPr/>
          <p:nvPr/>
        </p:nvSpPr>
        <p:spPr>
          <a:xfrm>
            <a:off x="658368" y="497433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ag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974336"/>
            <a:ext cx="64008" cy="56692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!!agn5"/>
          <p:cNvSpPr txBox="1"/>
          <p:nvPr/>
        </p:nvSpPr>
        <p:spPr>
          <a:xfrm>
            <a:off x="932688" y="512064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05B06"/>
                </a:solidFill>
                <a:latin typeface="Segoe UI Semibold"/>
              </a:rPr>
              <a:t>17.6</a:t>
            </a:r>
          </a:p>
        </p:txBody>
      </p:sp>
      <p:sp>
        <p:nvSpPr>
          <p:cNvPr id="35" name="!!agt5"/>
          <p:cNvSpPr txBox="1"/>
          <p:nvPr/>
        </p:nvSpPr>
        <p:spPr>
          <a:xfrm>
            <a:off x="1847088" y="512064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Reinforcement Learning</a:t>
            </a:r>
          </a:p>
        </p:txBody>
      </p:sp>
      <p:sp>
        <p:nvSpPr>
          <p:cNvPr id="36" name="!!agp5"/>
          <p:cNvSpPr txBox="1"/>
          <p:nvPr/>
        </p:nvSpPr>
        <p:spPr>
          <a:xfrm>
            <a:off x="9795967" y="51480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119  ›</a:t>
            </a:r>
          </a:p>
        </p:txBody>
      </p:sp>
      <p:sp>
        <p:nvSpPr>
          <p:cNvPr id="37" name="!!ag6" descr="Go to section 17.7 Where This Course Hands Over">
            <a:hlinkClick action="ppaction://hlinksldjump" r:id="rId5"/>
          </p:cNvPr>
          <p:cNvSpPr/>
          <p:nvPr/>
        </p:nvSpPr>
        <p:spPr>
          <a:xfrm>
            <a:off x="658368" y="561441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agb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14416"/>
            <a:ext cx="64008" cy="56692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!!agn6"/>
          <p:cNvSpPr txBox="1"/>
          <p:nvPr/>
        </p:nvSpPr>
        <p:spPr>
          <a:xfrm>
            <a:off x="932688" y="576072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05B06"/>
                </a:solidFill>
                <a:latin typeface="Segoe UI Semibold"/>
              </a:rPr>
              <a:t>17.7</a:t>
            </a:r>
          </a:p>
        </p:txBody>
      </p:sp>
      <p:sp>
        <p:nvSpPr>
          <p:cNvPr id="40" name="!!agt6"/>
          <p:cNvSpPr txBox="1"/>
          <p:nvPr/>
        </p:nvSpPr>
        <p:spPr>
          <a:xfrm>
            <a:off x="1847088" y="576072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Where This Course Hands Over</a:t>
            </a:r>
          </a:p>
        </p:txBody>
      </p:sp>
      <p:sp>
        <p:nvSpPr>
          <p:cNvPr id="41" name="!!agp6"/>
          <p:cNvSpPr txBox="1"/>
          <p:nvPr/>
        </p:nvSpPr>
        <p:spPr>
          <a:xfrm>
            <a:off x="9795967" y="578815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119  ›</a:t>
            </a:r>
          </a:p>
        </p:txBody>
      </p:sp>
      <p:sp>
        <p:nvSpPr>
          <p:cNvPr id="4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Chapter in preparation</a:t>
            </a:r>
          </a:p>
        </p:txBody>
      </p:sp>
      <p:pic>
        <p:nvPicPr>
          <p:cNvPr id="3" name="!!kicker-icon" descr="exclamation-triang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45688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WATCH OUT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17  ·  Learning from Examples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§17.7  ·  Handout p. 119     </a:t>
            </a:r>
            <a:fld id="{145F07ED-AF6C-41D6-8AE6-FDDADF56208B}" type="slidenum">
              <a:rPr lang="en-GB" sz="1000">
                <a:solidFill>
                  <a:srgbClr val="8795A1"/>
                </a:solidFill>
                <a:latin typeface="Segoe UI"/>
              </a:rPr>
              <a:t>6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079955"/>
          </a:xfrm>
          <a:prstGeom prst="roundRect">
            <a:avLst>
              <a:gd name="adj" fmla="val 4396"/>
            </a:avLst>
          </a:prstGeom>
          <a:solidFill>
            <a:srgbClr val="FDED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079955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The full text of this chapter — prose, figures, worked example, laboratory and review questions — is being written. The outcomes, prerequisites, key terms and section structure above are settled and match the Course Specification and Appendix G.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876678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1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17  ·  Learning from Examples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120  ·  answers in Appendix D     </a:t>
            </a:r>
            <a:fld id="{0188796D-CF2C-49E6-980D-405B762FB395}" type="slidenum">
              <a:rPr lang="en-GB" sz="1000">
                <a:solidFill>
                  <a:srgbClr val="D5DEE5"/>
                </a:solidFill>
                <a:latin typeface="Segoe UI"/>
              </a:rPr>
              <a:t>7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4572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1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411833"/>
            <a:ext cx="64008" cy="34869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411833"/>
            <a:ext cx="10509199" cy="3944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17  ·  Learning from Examples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120  ·  answers in Appendix D     </a:t>
            </a:r>
            <a:fld id="{E333F866-BDF4-4B06-A574-57872A51C972}" type="slidenum">
              <a:rPr lang="en-GB" sz="1000">
                <a:solidFill>
                  <a:srgbClr val="8795A1"/>
                </a:solidFill>
                <a:latin typeface="Segoe UI"/>
              </a:rPr>
              <a:t>8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502237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2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17  ·  Learning from Examples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120  ·  answers in Appendix D     </a:t>
            </a:r>
            <a:fld id="{B421F0B9-5403-4C9D-905C-C516C7B7718A}" type="slidenum">
              <a:rPr lang="en-GB" sz="1000">
                <a:solidFill>
                  <a:srgbClr val="D5DEE5"/>
                </a:solidFill>
                <a:latin typeface="Segoe UI"/>
              </a:rPr>
              <a:t>9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4572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2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411833"/>
            <a:ext cx="64008" cy="34869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411833"/>
            <a:ext cx="10509199" cy="3944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17  ·  Learning from Examples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120  ·  answers in Appendix D     </a:t>
            </a:r>
            <a:fld id="{C4C737C4-FA44-451E-B8DB-6AE8625364C6}" type="slidenum">
              <a:rPr lang="en-GB" sz="1000">
                <a:solidFill>
                  <a:srgbClr val="8795A1"/>
                </a:solidFill>
                <a:latin typeface="Segoe UI"/>
              </a:rPr>
              <a:t>10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127796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3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17  ·  Learning from Examples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120  ·  answers in Appendix D     </a:t>
            </a:r>
            <a:fld id="{77C8525D-8D1D-4088-8469-F5AB1447775E}" type="slidenum">
              <a:rPr lang="en-GB" sz="1000">
                <a:solidFill>
                  <a:srgbClr val="D5DEE5"/>
                </a:solidFill>
                <a:latin typeface="Segoe UI"/>
              </a:rPr>
              <a:t>11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4572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3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411833"/>
            <a:ext cx="64008" cy="34869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411833"/>
            <a:ext cx="10509199" cy="3944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17  ·  Learning from Examples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120  ·  answers in Appendix D     </a:t>
            </a:r>
            <a:fld id="{C5D1435C-C85E-4D52-B02A-0B6F0E2A539F}" type="slidenum">
              <a:rPr lang="en-GB" sz="1000">
                <a:solidFill>
                  <a:srgbClr val="8795A1"/>
                </a:solidFill>
                <a:latin typeface="Segoe UI"/>
              </a:rPr>
              <a:t>12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753356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to take away</a:t>
            </a:r>
          </a:p>
        </p:txBody>
      </p:sp>
      <p:pic>
        <p:nvPicPr>
          <p:cNvPr id="3" name="!!kicker-icon" descr="clipboard-check-15425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5425E"/>
                </a:solidFill>
                <a:latin typeface="Segoe UI"/>
              </a:rPr>
              <a:t>CHAPTER SUMMARY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17  ·  Learning from Examples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120     </a:t>
            </a:r>
            <a:fld id="{E8C6E8F1-4DCD-49A1-BF60-A4F06380B771}" type="slidenum">
              <a:rPr lang="en-GB" sz="1000">
                <a:solidFill>
                  <a:srgbClr val="8795A1"/>
                </a:solidFill>
                <a:latin typeface="Segoe UI"/>
              </a:rPr>
              <a:t>13</a:t>
            </a:fld>
          </a:p>
        </p:txBody>
      </p:sp>
      <p:sp>
        <p:nvSpPr>
          <p:cNvPr id="7" name="!!s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46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sbn0"/>
          <p:cNvSpPr txBox="1"/>
          <p:nvPr/>
        </p:nvSpPr>
        <p:spPr>
          <a:xfrm>
            <a:off x="658368" y="1801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!!st0"/>
          <p:cNvSpPr txBox="1"/>
          <p:nvPr/>
        </p:nvSpPr>
        <p:spPr>
          <a:xfrm>
            <a:off x="1298448" y="1737360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Three Kinds of Learning.</a:t>
            </a:r>
          </a:p>
        </p:txBody>
      </p:sp>
      <p:sp>
        <p:nvSpPr>
          <p:cNvPr id="10" name="!!s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33172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sbn1"/>
          <p:cNvSpPr txBox="1"/>
          <p:nvPr/>
        </p:nvSpPr>
        <p:spPr>
          <a:xfrm>
            <a:off x="658368" y="2386584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!!st1"/>
          <p:cNvSpPr txBox="1"/>
          <p:nvPr/>
        </p:nvSpPr>
        <p:spPr>
          <a:xfrm>
            <a:off x="1298448" y="2322576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Supervised Learning.</a:t>
            </a:r>
          </a:p>
        </p:txBody>
      </p:sp>
      <p:sp>
        <p:nvSpPr>
          <p:cNvPr id="13" name="!!s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91693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sbn2"/>
          <p:cNvSpPr txBox="1"/>
          <p:nvPr/>
        </p:nvSpPr>
        <p:spPr>
          <a:xfrm>
            <a:off x="658368" y="2971800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5" name="!!st2"/>
          <p:cNvSpPr txBox="1"/>
          <p:nvPr/>
        </p:nvSpPr>
        <p:spPr>
          <a:xfrm>
            <a:off x="1298448" y="2907792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Artificial Neural Networks.</a:t>
            </a:r>
          </a:p>
        </p:txBody>
      </p:sp>
      <p:sp>
        <p:nvSpPr>
          <p:cNvPr id="16" name="!!s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021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sbn3"/>
          <p:cNvSpPr txBox="1"/>
          <p:nvPr/>
        </p:nvSpPr>
        <p:spPr>
          <a:xfrm>
            <a:off x="658368" y="3557016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8" name="!!st3"/>
          <p:cNvSpPr txBox="1"/>
          <p:nvPr/>
        </p:nvSpPr>
        <p:spPr>
          <a:xfrm>
            <a:off x="1298448" y="3493008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Linear Separability and the Exclusive-Or Limit.</a:t>
            </a:r>
          </a:p>
        </p:txBody>
      </p:sp>
      <p:sp>
        <p:nvSpPr>
          <p:cNvPr id="19" name="!!s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08736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sbn4"/>
          <p:cNvSpPr txBox="1"/>
          <p:nvPr/>
        </p:nvSpPr>
        <p:spPr>
          <a:xfrm>
            <a:off x="658368" y="4142232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1" name="!!st4"/>
          <p:cNvSpPr txBox="1"/>
          <p:nvPr/>
        </p:nvSpPr>
        <p:spPr>
          <a:xfrm>
            <a:off x="1298448" y="4078224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Unsupervised Learning.</a:t>
            </a:r>
          </a:p>
        </p:txBody>
      </p:sp>
      <p:sp>
        <p:nvSpPr>
          <p:cNvPr id="22" name="!!s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672583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sbn5"/>
          <p:cNvSpPr txBox="1"/>
          <p:nvPr/>
        </p:nvSpPr>
        <p:spPr>
          <a:xfrm>
            <a:off x="658368" y="472744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24" name="!!st5"/>
          <p:cNvSpPr txBox="1"/>
          <p:nvPr/>
        </p:nvSpPr>
        <p:spPr>
          <a:xfrm>
            <a:off x="1298448" y="4663440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Reinforcement Learning.</a:t>
            </a:r>
          </a:p>
        </p:txBody>
      </p:sp>
      <p:sp>
        <p:nvSpPr>
          <p:cNvPr id="25" name="!!sb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257799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sbn6"/>
          <p:cNvSpPr txBox="1"/>
          <p:nvPr/>
        </p:nvSpPr>
        <p:spPr>
          <a:xfrm>
            <a:off x="658368" y="5312664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7</a:t>
            </a:r>
          </a:p>
        </p:txBody>
      </p:sp>
      <p:sp>
        <p:nvSpPr>
          <p:cNvPr id="27" name="!!st6"/>
          <p:cNvSpPr txBox="1"/>
          <p:nvPr/>
        </p:nvSpPr>
        <p:spPr>
          <a:xfrm>
            <a:off x="1298448" y="5248655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Where This Course Hands Over.</a:t>
            </a:r>
          </a:p>
        </p:txBody>
      </p:sp>
      <p:sp>
        <p:nvSpPr>
          <p:cNvPr id="8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56613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63" dur="2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74" dur="26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For your notebook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QUESTIONS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17  ·  Learning from Examples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120     </a:t>
            </a:r>
            <a:fld id="{8D2FE80B-2CB2-4397-9549-E8042B6CDFDC}" type="slidenum">
              <a:rPr lang="en-GB" sz="1000">
                <a:solidFill>
                  <a:srgbClr val="8795A1"/>
                </a:solidFill>
                <a:latin typeface="Segoe UI"/>
              </a:rPr>
              <a:t>14</a:t>
            </a:fld>
          </a:p>
        </p:txBody>
      </p:sp>
      <p:sp>
        <p:nvSpPr>
          <p:cNvPr id="7" name="!!r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rtt0"/>
          <p:cNvSpPr txBox="1"/>
          <p:nvPr/>
        </p:nvSpPr>
        <p:spPr>
          <a:xfrm>
            <a:off x="658368" y="1796795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9" name="!!rq0"/>
          <p:cNvSpPr txBox="1"/>
          <p:nvPr/>
        </p:nvSpPr>
        <p:spPr>
          <a:xfrm>
            <a:off x="1892807" y="1737360"/>
            <a:ext cx="9549079" cy="3011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10" name="!!r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7624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tt1"/>
          <p:cNvSpPr txBox="1"/>
          <p:nvPr/>
        </p:nvSpPr>
        <p:spPr>
          <a:xfrm>
            <a:off x="658368" y="2317394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12" name="!!rq1"/>
          <p:cNvSpPr txBox="1"/>
          <p:nvPr/>
        </p:nvSpPr>
        <p:spPr>
          <a:xfrm>
            <a:off x="1892807" y="2257958"/>
            <a:ext cx="9549079" cy="3011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1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37891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05B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7B681A"/>
                </a:solidFill>
                <a:latin typeface="Segoe UI Black"/>
              </a:rPr>
              <a:t>17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1243584"/>
            <a:ext cx="8229600" cy="82296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000" b="0">
                <a:solidFill>
                  <a:srgbClr val="FFFFFF"/>
                </a:solidFill>
                <a:latin typeface="Segoe UI Semibold"/>
              </a:rPr>
              <a:t>End of Chapter 17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02412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74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cll0"/>
          <p:cNvSpPr txBox="1"/>
          <p:nvPr/>
        </p:nvSpPr>
        <p:spPr>
          <a:xfrm>
            <a:off x="932688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9C1A0"/>
                </a:solidFill>
                <a:latin typeface="Segoe UI"/>
              </a:rPr>
              <a:t>NEXT</a:t>
            </a:r>
          </a:p>
        </p:txBody>
      </p:sp>
      <p:sp>
        <p:nvSpPr>
          <p:cNvPr id="7" name="!!clv0"/>
          <p:cNvSpPr txBox="1"/>
          <p:nvPr/>
        </p:nvSpPr>
        <p:spPr>
          <a:xfrm>
            <a:off x="932688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Chapter 18 — Natural Language Processing</a:t>
            </a:r>
          </a:p>
        </p:txBody>
      </p:sp>
      <p:sp>
        <p:nvSpPr>
          <p:cNvPr id="8" name="!!c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74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ll1"/>
          <p:cNvSpPr txBox="1"/>
          <p:nvPr/>
        </p:nvSpPr>
        <p:spPr>
          <a:xfrm>
            <a:off x="6507327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9C1A0"/>
                </a:solidFill>
                <a:latin typeface="Segoe UI"/>
              </a:rPr>
              <a:t>READ</a:t>
            </a:r>
          </a:p>
        </p:txBody>
      </p:sp>
      <p:sp>
        <p:nvSpPr>
          <p:cNvPr id="10" name="!!clv1"/>
          <p:cNvSpPr txBox="1"/>
          <p:nvPr/>
        </p:nvSpPr>
        <p:spPr>
          <a:xfrm>
            <a:off x="6507327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Handout Chapter 17, pages 119–120</a:t>
            </a:r>
          </a:p>
        </p:txBody>
      </p:sp>
      <p:sp>
        <p:nvSpPr>
          <p:cNvPr id="11" name="!!c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74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ll2"/>
          <p:cNvSpPr txBox="1"/>
          <p:nvPr/>
        </p:nvSpPr>
        <p:spPr>
          <a:xfrm>
            <a:off x="932688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9C1A0"/>
                </a:solidFill>
                <a:latin typeface="Segoe UI"/>
              </a:rPr>
              <a:t>THIS WEEK'S LAB</a:t>
            </a:r>
          </a:p>
        </p:txBody>
      </p:sp>
      <p:sp>
        <p:nvSpPr>
          <p:cNvPr id="13" name="!!clv2"/>
          <p:cNvSpPr txBox="1"/>
          <p:nvPr/>
        </p:nvSpPr>
        <p:spPr>
          <a:xfrm>
            <a:off x="932688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Risk rating by Mamdani inference; the perceptron and its limit</a:t>
            </a:r>
          </a:p>
        </p:txBody>
      </p:sp>
      <p:sp>
        <p:nvSpPr>
          <p:cNvPr id="14" name="!!c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74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cll3"/>
          <p:cNvSpPr txBox="1"/>
          <p:nvPr/>
        </p:nvSpPr>
        <p:spPr>
          <a:xfrm>
            <a:off x="6507327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9C1A0"/>
                </a:solidFill>
                <a:latin typeface="Segoe UI"/>
              </a:rPr>
              <a:t>ASSESSMENT</a:t>
            </a:r>
          </a:p>
        </p:txBody>
      </p:sp>
      <p:sp>
        <p:nvSpPr>
          <p:cNvPr id="16" name="!!clv3"/>
          <p:cNvSpPr txBox="1"/>
          <p:nvPr/>
        </p:nvSpPr>
        <p:spPr>
          <a:xfrm>
            <a:off x="6507327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Project experiments frozen</a:t>
            </a:r>
          </a:p>
        </p:txBody>
      </p:sp>
      <p:sp>
        <p:nvSpPr>
          <p:cNvPr id="1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17  ·  Learning from Examples</a:t>
            </a:r>
          </a:p>
        </p:txBody>
      </p:sp>
      <p:sp>
        <p:nvSpPr>
          <p:cNvPr id="1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fld id="{1C4C05F6-A1C4-435B-AB00-64D179C5FA6A}" type="slidenum">
              <a:rPr lang="en-GB" sz="1000">
                <a:solidFill>
                  <a:srgbClr val="D5DEE5"/>
                </a:solidFill>
                <a:latin typeface="Segoe UI"/>
              </a:rPr>
              <a:t>15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rtificial Intelligence Fall 2026">
  <a:themeElements>
    <a:clrScheme name="Artificial Intelligence Fall 2026">
      <a:dk1>
        <a:srgbClr val="1C252B"/>
      </a:dk1>
      <a:lt1>
        <a:srgbClr val="FFFFFF"/>
      </a:lt1>
      <a:dk2>
        <a:srgbClr val="1A5276"/>
      </a:dk2>
      <a:lt2>
        <a:srgbClr val="EBF5FB"/>
      </a:lt2>
      <a:accent1>
        <a:srgbClr val="1A5276"/>
      </a:accent1>
      <a:accent2>
        <a:srgbClr val="2E86C1"/>
      </a:accent2>
      <a:accent3>
        <a:srgbClr val="E74C3C"/>
      </a:accent3>
      <a:accent4>
        <a:srgbClr val="27AE60"/>
      </a:accent4>
      <a:accent5>
        <a:srgbClr val="8E44AD"/>
      </a:accent5>
      <a:accent6>
        <a:srgbClr val="B7950B"/>
      </a:accent6>
      <a:hlink>
        <a:srgbClr val="2E86C1"/>
      </a:hlink>
      <a:folHlink>
        <a:srgbClr val="8E44AD"/>
      </a:folHlink>
    </a:clrScheme>
    <a:fontScheme name="Artificial Intelligence Fall 2026">
      <a:majorFont>
        <a:latin typeface="Segoe UI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17: Learning from Examples</dc:title>
  <dc:subject>Artificial Intelligence — Search, Knowledge and Reasoning · BSIT · Fall 2026</dc:subject>
  <dc:creator>Dr. Mustafa Hameed</dc:creator>
  <cp:keywords>artificial intelligence; lecture slides; BSIT; HEC; Fall 2026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Lecture slides</cp:category>
</cp:coreProperties>
</file>