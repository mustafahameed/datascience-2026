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3.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8.svg" ContentType="image/svg+xml"/>
  <Override PartName="/ppt/media/image4.svg" ContentType="image/svg+xml"/>
  <Override PartName="/ppt/media/image40.svg" ContentType="image/svg+xml"/>
  <Override PartName="/ppt/media/image41.svg" ContentType="image/svg+xml"/>
  <Override PartName="/ppt/media/image43.svg" ContentType="image/svg+xml"/>
  <Override PartName="/ppt/media/image45.svg" ContentType="image/svg+xml"/>
  <Override PartName="/ppt/media/image46.svg" ContentType="image/svg+xml"/>
  <Override PartName="/ppt/media/image48.svg" ContentType="image/svg+xml"/>
  <Override PartName="/ppt/media/image50.svg" ContentType="image/svg+xml"/>
  <Override PartName="/ppt/media/image51.svg" ContentType="image/svg+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6.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5.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B6109F-7CC3-4AB9-9050-65E139944F69}">
          <p14:sldIdLst>
            <p14:sldId id="256"/>
            <p14:sldId id="257"/>
            <p14:sldId id="258"/>
            <p14:sldId id="259"/>
            <p14:sldId id="260"/>
          </p14:sldIdLst>
        </p14:section>
        <p14:section name="17.1 One Chapter, and Why" id="{F7BA5D2F-8B7A-4CF1-8A9B-719513B16642}">
          <p14:sldIdLst>
            <p14:sldId id="261"/>
            <p14:sldId id="262"/>
            <p14:sldId id="263"/>
          </p14:sldIdLst>
        </p14:section>
        <p14:section name="17.2 Three Kinds of Learning" id="{61AF55FD-DBFA-4716-9C4D-6C852BDFFD9A}">
          <p14:sldIdLst>
            <p14:sldId id="264"/>
          </p14:sldIdLst>
        </p14:section>
        <p14:section name="17.3 Supervised Learning" id="{BBB08260-F018-4642-9B6D-CD4018A3C489}">
          <p14:sldIdLst>
            <p14:sldId id="265"/>
            <p14:sldId id="266"/>
            <p14:sldId id="267"/>
            <p14:sldId id="268"/>
            <p14:sldId id="269"/>
          </p14:sldIdLst>
        </p14:section>
        <p14:section name="17.4 Artificial Neural Networks" id="{BF9E56F8-688D-459F-A994-3B09C5663A7C}">
          <p14:sldIdLst>
            <p14:sldId id="270"/>
          </p14:sldIdLst>
        </p14:section>
        <p14:section name="17.5 Linear Separability and the Exclusive-Or Limit" id="{82E0BE59-5950-476B-932B-83799CB7F48D}">
          <p14:sldIdLst>
            <p14:sldId id="271"/>
            <p14:sldId id="272"/>
            <p14:sldId id="273"/>
            <p14:sldId id="274"/>
            <p14:sldId id="275"/>
          </p14:sldIdLst>
        </p14:section>
        <p14:section name="17.6 Unsupervised Learning" id="{0FC85F72-8082-49DD-A7DB-7AF4636ED885}">
          <p14:sldIdLst>
            <p14:sldId id="276"/>
          </p14:sldIdLst>
        </p14:section>
        <p14:section name="17.7 Reinforcement Learning" id="{80B7C1DE-2E78-473E-853F-BB6C81125D57}">
          <p14:sldIdLst>
            <p14:sldId id="277"/>
          </p14:sldIdLst>
        </p14:section>
        <p14:section name="17.8 Where This Course Hands Over" id="{30A1BC28-FB7E-4770-91C1-DEE5F302F224}">
          <p14:sldIdLst>
            <p14:sldId id="278"/>
            <p14:sldId id="279"/>
            <p14:sldId id="280"/>
            <p14:sldId id="281"/>
            <p14:sldId id="282"/>
          </p14:sldIdLst>
        </p14:section>
        <p14:section name="Pitfalls" id="{CDD7BFCD-B172-4073-B782-2222B3748EB8}">
          <p14:sldIdLst>
            <p14:sldId id="283"/>
          </p14:sldIdLst>
        </p14:section>
        <p14:section name="Lab" id="{F366FD1B-58F2-4FB4-A823-84A73676D289}">
          <p14:sldIdLst>
            <p14:sldId id="284"/>
            <p14:sldId id="285"/>
            <p14:sldId id="286"/>
            <p14:sldId id="287"/>
            <p14:sldId id="288"/>
            <p14:sldId id="289"/>
            <p14:sldId id="290"/>
            <p14:sldId id="291"/>
            <p14:sldId id="292"/>
            <p14:sldId id="293"/>
          </p14:sldIdLst>
        </p14:section>
        <p14:section name="Checkpoint" id="{BFFB637E-4CAB-4C04-B2B1-79FF1B512B33}">
          <p14:sldIdLst>
            <p14:sldId id="294"/>
            <p14:sldId id="295"/>
            <p14:sldId id="296"/>
            <p14:sldId id="297"/>
            <p14:sldId id="298"/>
            <p14:sldId id="299"/>
          </p14:sldIdLst>
        </p14:section>
        <p14:section name="Wrap-up" id="{61DE4B0E-DFFE-4DEA-9256-B6D9F79EB2F9}">
          <p14:sldIdLst>
            <p14:sldId id="300"/>
            <p14:sldId id="301"/>
            <p14:sldId id="302"/>
            <p14:sldId id="303"/>
            <p14:sldId id="304"/>
            <p14:sldId id="305"/>
            <p14:sldId id="306"/>
            <p14:sldId id="30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17: Learning from Examples. Part 6 — Learning, Language and Responsible AI. Week 14: Fuzzy logic; learning from examples. Handout pages 177–186.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 — and specifically its claim that learning is one route to intelligent behaviour rather than the definition of it. Chapter 14 for the probabilistic view of evidence. Nothing in Parts II to V depends on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supervised learning; unsupervised learning; reinforcement learning; training example; feature; label; hypothesis; generalisation; perceptron; weight; bias; learning rate; perceptron learning rule; epoch; decision boundary; linear separability; exclusive-or; artificial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17.1 (handout p. 178): The three learning paradigms, with a delivery example of each. This section discharges the HEC 2017 outline’s Learning clause; the sections that follow take the first one further.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hundred tasks have been completed. For each, the team recorded the estimated effort in days and a clarity score for the requirement, and whether the task finished late. The question is whether a rule can be extracted that predicts lateness for the next task. Here are twelve of them, enough to work by hand: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stated a rule. The rule — if there is one — has to come out of the 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Trained on the twelve tasks with η = 0.1, starting from all-zero weights, the perceptron converges after three passes through the data and only two weight updates, reaching 100% accuracy. The rule it found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reads: a task is predicted late when its effort outweighs its clarity, in roughly a 6:7 ratio. Nobody wrote that down. It was extracted from twelve rows, and that is the thing Chapter 13’s knowledge engineer could not do.</a:t>
            </a:r>
          </a:p>
          <a:p/>
          <a:p>
            <a:r>
              <a:t>Figure 17.2 (handout p. 179): The twelve tasks and the boundary the perceptron learned. Everything above the line is predicted on time, everything below it late.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again at Figure 17.2. The perceptron found a straight line. That is all a perceptron can ever find, because Σ wixi + b = 0 is the equation of a line (a plane, a hyperplane). A dataset that some line can separate is linearly separable. Now a small change to the delivery story. Suppose the team observes that tasks go late when exactly one of two things is true — the effort is large, or the requirement is unclear — and that when both are true everybody knows it is hard, plans accordingly, and it lands on time. Four representative tasks: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exclusive-or, and no straight line separates those four points.</a:t>
            </a:r>
          </a:p>
          <a:p/>
          <a:p>
            <a:r>
              <a:t>Figure 17.3 (handout p. 180): The exclusive-or arrangement. The two late tasks sit at opposite corners, and so do the two on time tasks. Any straight line has at least one point on the wrong side.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perceptron on it and it never stops. The lab allows it 100, then 1,000, then 10,000 epochs and counts 383, 3,983 and 39,983 weight updates — the count simply grows with the budget, because the weights are still oscillating when the budget runs out. Nothing in the trace says “impossible”; it looks exactly like slow convergence.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escalation policy is not judged ticket by ticket. It is judged by how the quarter went — and a quarter contains a thousand decisions, of which perhaps three mattered.</a:t>
            </a:r>
          </a:p>
          <a:p/>
          <a:p>
            <a:r>
              <a:t>Figure 17.4 (handout p. 181): The reinforcement learning loop. One figure is all this course gives it; Machine Learning Chapters 18–20 develop Markov decision processes, Monte Carlo methods and Q-learning.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rule from scratch on twelve tasks, then on the exclusive-or arrangement, then the brute-force proof that no line can do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the rule learns only from mistakes: when the prediction is correct, y − ŷ = 0 and every weight is unchanged. Ten of the twelve examples were already classified correctly when they were seen, so they contributed nothing. The second update changed the meaning of the rule: it drove the weight on clarity negative, so that higher clarity now argues against lateness. Nobody told the perceptron that; it followed from a single misclassified example in the second pass.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Either the data are separable and it simply needs more epochs, or no line in the hypothesis class fits the data at all — and the two traces look identical, because in both cases the weights are still moving when the budget expires. The cheapest experiment that distinguishes them is a brute force sweep over the hypothesis class: on a small problem, enumerate a grid of lines and record the best accuracy any of them achieves. On the exclusive-or arrangement that answer is 75%, which settles the question; no learning rate or initialisation can beat a bound over the whole class.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single perceptron cannot represent exclusive-or, because it computes a linear threshold and no straight line separates those four points. The 1969 conclusion was that neural network research was a dead end, and funding largely stopped for fifteen years. It was wrong because the limitation applies to a single layer: a network with one hidden layer represents exclusive-or easily, and what was actually missing was a way to train such a network, supplied by backpropagation in the mid-1980s. A correct result about the simplest case was read as a verdict on the approach.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18 — Natural Language Processing. READ: Handout Chapter 17, pages 177–186. THIS WEEK'S LAB: Risk rating by Mamdani inference; the perceptron and its limit. ASSESSMENT: Project experiments frozen.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0.xml"/><Relationship Id="rId8" Type="http://schemas.openxmlformats.org/officeDocument/2006/relationships/slide" Target="slide15.xml"/><Relationship Id="rId9" Type="http://schemas.openxmlformats.org/officeDocument/2006/relationships/slide" Target="slide16.xml"/><Relationship Id="rId10" Type="http://schemas.openxmlformats.org/officeDocument/2006/relationships/slide" Target="slide21.xml"/><Relationship Id="rId11" Type="http://schemas.openxmlformats.org/officeDocument/2006/relationships/slide" Target="slide22.xml"/><Relationship Id="rId12" Type="http://schemas.openxmlformats.org/officeDocument/2006/relationships/slide" Target="slide2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3.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image" Target="../media/image21.png"/><Relationship Id="rId5" Type="http://schemas.openxmlformats.org/officeDocument/2006/relationships/image" Target="../media/image22.svg"/><Relationship Id="rId6" Type="http://schemas.openxmlformats.org/officeDocument/2006/relationships/image" Target="../media/image23.png"/><Relationship Id="rId7" Type="http://schemas.openxmlformats.org/officeDocument/2006/relationships/image" Target="../media/image24.sv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5.svg"/><Relationship Id="rId4" Type="http://schemas.openxmlformats.org/officeDocument/2006/relationships/image" Target="../media/image26.png"/><Relationship Id="rId5" Type="http://schemas.openxmlformats.org/officeDocument/2006/relationships/image" Target="../media/image27.sv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30.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1.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35.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image" Target="../media/image37.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38.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png"/><Relationship Id="rId3" Type="http://schemas.openxmlformats.org/officeDocument/2006/relationships/image" Target="../media/image41.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3.svg"/><Relationship Id="rId4" Type="http://schemas.openxmlformats.org/officeDocument/2006/relationships/image" Target="../media/image44.png"/><Relationship Id="rId5" Type="http://schemas.openxmlformats.org/officeDocument/2006/relationships/image" Target="../media/image45.sv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46.svg"/><Relationship Id="rId4" Type="http://schemas.openxmlformats.org/officeDocument/2006/relationships/image" Target="../media/image47.png"/><Relationship Id="rId5" Type="http://schemas.openxmlformats.org/officeDocument/2006/relationships/image" Target="../media/image48.svg"/><Relationship Id="rId6" Type="http://schemas.openxmlformats.org/officeDocument/2006/relationships/image" Target="../media/image49.png"/><Relationship Id="rId7" Type="http://schemas.openxmlformats.org/officeDocument/2006/relationships/image" Target="../media/image50.sv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image" Target="../media/image51.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png"/><Relationship Id="rId3" Type="http://schemas.openxmlformats.org/officeDocument/2006/relationships/image" Target="../media/image53.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6.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7.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8.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9.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0.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1.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3.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64.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68.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69.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0.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5.png"/><Relationship Id="rId3" Type="http://schemas.openxmlformats.org/officeDocument/2006/relationships/image" Target="../media/image71.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7.png"/><Relationship Id="rId3" Type="http://schemas.openxmlformats.org/officeDocument/2006/relationships/image" Target="../media/image72.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5.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image" Target="../media/image77.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image" Target="../media/image78.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image" Target="../media/image79.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image" Target="../media/image80.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image" Target="../media/image81.sv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17</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Learning from Examples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LEARNING, LANGUAGE AND RESPONSIBLE AI</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17  ·  WEEK 14</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177     </a:t>
            </a:r>
            <a:fld id="{62B9D819-026F-417F-860F-BF8BDF32E078}"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198364"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198364"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8856712" y="1755648"/>
            <a:ext cx="255774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8856712" y="2029967"/>
            <a:ext cx="2557743"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38535"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1470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48062"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566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5758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9661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750579"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750579"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Learning from Examples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What Artificial Intelligence Is</a:t>
            </a:r>
          </a:p>
        </p:txBody>
      </p:sp>
      <p:sp>
        <p:nvSpPr>
          <p:cNvPr id="68" name="!!chipBU1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14  </a:t>
            </a:r>
            <a:r>
              <a:rPr sz="1400" b="0" i="0">
                <a:solidFill>
                  <a:srgbClr val="1C252B"/>
                </a:solidFill>
                <a:latin typeface="Segoe UI"/>
              </a:rPr>
              <a:t>Uncertainty and Decision Making</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chipUS20">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20">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20"/>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7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pfill">
            <a:extLst>
              <a:ext uri="{C183D7F6-B498-43B3-948B-1728B52AA6E4}">
                <adec:decorative xmlns:adec="http://schemas.microsoft.com/office/drawing/2017/decorative" val="1"/>
              </a:ext>
            </a:extLst>
          </p:cNvPr>
          <p:cNvSpPr/>
          <p:nvPr/>
        </p:nvSpPr>
        <p:spPr>
          <a:xfrm>
            <a:off x="0" y="0"/>
            <a:ext cx="46891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177     </a:t>
            </a:r>
            <a:fld id="{6683D5FC-DF4B-4433-BD5F-60776B77EECE}"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Name</a:t>
            </a:r>
            <a:r>
              <a:rPr sz="2100" b="0" i="0">
                <a:solidFill>
                  <a:srgbClr val="1C252B"/>
                </a:solidFill>
                <a:latin typeface="Segoe UI"/>
              </a:rPr>
              <a:t> the three learning paradigms and </a:t>
            </a:r>
            <a:r>
              <a:rPr sz="2100" b="1" i="0">
                <a:solidFill>
                  <a:srgbClr val="1C252B"/>
                </a:solidFill>
                <a:latin typeface="Segoe UI"/>
              </a:rPr>
              <a:t>give</a:t>
            </a:r>
            <a:r>
              <a:rPr sz="2100" b="0" i="0">
                <a:solidFill>
                  <a:srgbClr val="1C252B"/>
                </a:solidFill>
                <a:latin typeface="Segoe UI"/>
              </a:rPr>
              <a:t> a delivery example of each.</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6664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Train</a:t>
            </a:r>
            <a:r>
              <a:rPr sz="2100" b="0" i="0">
                <a:solidFill>
                  <a:srgbClr val="1C252B"/>
                </a:solidFill>
                <a:latin typeface="Segoe UI"/>
              </a:rPr>
              <a:t> a perceptron by hand on a small table, applying the learning rule step by step.</a:t>
            </a:r>
          </a:p>
        </p:txBody>
      </p:sp>
      <p:sp>
        <p:nvSpPr>
          <p:cNvPr id="14" name="!!ob2">
            <a:extLst>
              <a:ext uri="{C183D7F6-B498-43B3-948B-1728B52AA6E4}">
                <adec:decorative xmlns:adec="http://schemas.microsoft.com/office/drawing/2017/decorative" val="1"/>
              </a:ext>
            </a:extLst>
          </p:cNvPr>
          <p:cNvSpPr/>
          <p:nvPr/>
        </p:nvSpPr>
        <p:spPr>
          <a:xfrm>
            <a:off x="658368" y="3429000"/>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488436"/>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419856"/>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Show</a:t>
            </a:r>
            <a:r>
              <a:rPr sz="2100" b="0" i="0">
                <a:solidFill>
                  <a:srgbClr val="1C252B"/>
                </a:solidFill>
                <a:latin typeface="Segoe UI"/>
              </a:rPr>
              <a:t> that a single perceptron cannot represent exclusive-or, and </a:t>
            </a:r>
            <a:r>
              <a:rPr sz="2100" b="1" i="0">
                <a:solidFill>
                  <a:srgbClr val="1C252B"/>
                </a:solidFill>
                <a:latin typeface="Segoe UI"/>
              </a:rPr>
              <a:t>explain</a:t>
            </a:r>
            <a:r>
              <a:rPr sz="2100" b="0" i="0">
                <a:solidFill>
                  <a:srgbClr val="1C252B"/>
                </a:solidFill>
                <a:latin typeface="Segoe UI"/>
              </a:rPr>
              <a:t> what that result did to the field.</a:t>
            </a:r>
          </a:p>
        </p:txBody>
      </p:sp>
      <p:sp>
        <p:nvSpPr>
          <p:cNvPr id="17" name="!!ob3">
            <a:extLst>
              <a:ext uri="{C183D7F6-B498-43B3-948B-1728B52AA6E4}">
                <adec:decorative xmlns:adec="http://schemas.microsoft.com/office/drawing/2017/decorative" val="1"/>
              </a:ext>
            </a:extLst>
          </p:cNvPr>
          <p:cNvSpPr/>
          <p:nvPr/>
        </p:nvSpPr>
        <p:spPr>
          <a:xfrm>
            <a:off x="658368" y="4277563"/>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336999"/>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268419"/>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Recognise</a:t>
            </a:r>
            <a:r>
              <a:rPr sz="2100" b="0" i="0">
                <a:solidFill>
                  <a:srgbClr val="1C252B"/>
                </a:solidFill>
                <a:latin typeface="Segoe UI"/>
              </a:rPr>
              <a:t> non-convergence from a training trace, and </a:t>
            </a:r>
            <a:r>
              <a:rPr sz="2100" b="1" i="0">
                <a:solidFill>
                  <a:srgbClr val="1C252B"/>
                </a:solidFill>
                <a:latin typeface="Segoe UI"/>
              </a:rPr>
              <a:t>distinguish</a:t>
            </a:r>
            <a:r>
              <a:rPr sz="2100" b="0" i="0">
                <a:solidFill>
                  <a:srgbClr val="1C252B"/>
                </a:solidFill>
                <a:latin typeface="Segoe UI"/>
              </a:rPr>
              <a:t> it from slow convergence.</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6727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State</a:t>
            </a:r>
            <a:r>
              <a:rPr sz="2100" b="0" i="0">
                <a:solidFill>
                  <a:srgbClr val="1C252B"/>
                </a:solidFill>
                <a:latin typeface="Segoe UI"/>
              </a:rPr>
              <a:t> precisely where this course stops and </a:t>
            </a:r>
            <a:r>
              <a:rPr sz="2100" b="0" i="1">
                <a:solidFill>
                  <a:srgbClr val="1C252B"/>
                </a:solidFill>
                <a:latin typeface="Segoe UI"/>
              </a:rPr>
              <a:t>Machine Learning</a:t>
            </a:r>
            <a:r>
              <a:rPr sz="2100" b="0" i="0">
                <a:solidFill>
                  <a:srgbClr val="1C252B"/>
                </a:solidFill>
                <a:latin typeface="Segoe UI"/>
              </a:rPr>
              <a:t> begins.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0336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177     </a:t>
            </a:r>
            <a:fld id="{0EAD0212-B758-4A3D-A2D3-26FC2D62902A}" type="slidenum">
              <a:rPr lang="en-GB" sz="1000">
                <a:solidFill>
                  <a:srgbClr val="8795A1"/>
                </a:solidFill>
                <a:latin typeface="Segoe UI"/>
              </a:rPr>
              <a:t>4</a:t>
            </a:fld>
          </a:p>
        </p:txBody>
      </p:sp>
      <p:sp>
        <p:nvSpPr>
          <p:cNvPr id="7" name="!!term-supervised lea">
            <a:extLst>
              <a:ext uri="{C183D7F6-B498-43B3-948B-1728B52AA6E4}">
                <adec:decorative xmlns:adec="http://schemas.microsoft.com/office/drawing/2017/decorative" val="1"/>
              </a:ext>
            </a:extLst>
          </p:cNvPr>
          <p:cNvSpPr/>
          <p:nvPr/>
        </p:nvSpPr>
        <p:spPr>
          <a:xfrm>
            <a:off x="658368" y="1847088"/>
            <a:ext cx="210329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supervised lea">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supervised lea"/>
          <p:cNvSpPr txBox="1"/>
          <p:nvPr/>
        </p:nvSpPr>
        <p:spPr>
          <a:xfrm>
            <a:off x="950976" y="1970532"/>
            <a:ext cx="192041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supervised learning</a:t>
            </a:r>
          </a:p>
        </p:txBody>
      </p:sp>
      <p:sp>
        <p:nvSpPr>
          <p:cNvPr id="10" name="!!term-unsupervised l">
            <a:extLst>
              <a:ext uri="{C183D7F6-B498-43B3-948B-1728B52AA6E4}">
                <adec:decorative xmlns:adec="http://schemas.microsoft.com/office/drawing/2017/decorative" val="1"/>
              </a:ext>
            </a:extLst>
          </p:cNvPr>
          <p:cNvSpPr/>
          <p:nvPr/>
        </p:nvSpPr>
        <p:spPr>
          <a:xfrm>
            <a:off x="2907964" y="1847088"/>
            <a:ext cx="23232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unsupervised l">
            <a:extLst>
              <a:ext uri="{C183D7F6-B498-43B3-948B-1728B52AA6E4}">
                <adec:decorative xmlns:adec="http://schemas.microsoft.com/office/drawing/2017/decorative" val="1"/>
              </a:ext>
            </a:extLst>
          </p:cNvPr>
          <p:cNvSpPr/>
          <p:nvPr/>
        </p:nvSpPr>
        <p:spPr>
          <a:xfrm>
            <a:off x="303598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unsupervised l"/>
          <p:cNvSpPr txBox="1"/>
          <p:nvPr/>
        </p:nvSpPr>
        <p:spPr>
          <a:xfrm>
            <a:off x="3200572" y="1970532"/>
            <a:ext cx="214037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unsupervised learning</a:t>
            </a:r>
          </a:p>
        </p:txBody>
      </p:sp>
      <p:sp>
        <p:nvSpPr>
          <p:cNvPr id="13" name="!!term-reinforcement ">
            <a:extLst>
              <a:ext uri="{C183D7F6-B498-43B3-948B-1728B52AA6E4}">
                <adec:decorative xmlns:adec="http://schemas.microsoft.com/office/drawing/2017/decorative" val="1"/>
              </a:ext>
            </a:extLst>
          </p:cNvPr>
          <p:cNvSpPr/>
          <p:nvPr/>
        </p:nvSpPr>
        <p:spPr>
          <a:xfrm>
            <a:off x="5377519" y="1847088"/>
            <a:ext cx="23933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reinforcement ">
            <a:extLst>
              <a:ext uri="{C183D7F6-B498-43B3-948B-1728B52AA6E4}">
                <adec:decorative xmlns:adec="http://schemas.microsoft.com/office/drawing/2017/decorative" val="1"/>
              </a:ext>
            </a:extLst>
          </p:cNvPr>
          <p:cNvSpPr/>
          <p:nvPr/>
        </p:nvSpPr>
        <p:spPr>
          <a:xfrm>
            <a:off x="550553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reinforcement "/>
          <p:cNvSpPr txBox="1"/>
          <p:nvPr/>
        </p:nvSpPr>
        <p:spPr>
          <a:xfrm>
            <a:off x="5670127" y="1970532"/>
            <a:ext cx="22105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reinforcement learning</a:t>
            </a:r>
          </a:p>
        </p:txBody>
      </p:sp>
      <p:sp>
        <p:nvSpPr>
          <p:cNvPr id="16" name="!!term-training examp">
            <a:extLst>
              <a:ext uri="{C183D7F6-B498-43B3-948B-1728B52AA6E4}">
                <adec:decorative xmlns:adec="http://schemas.microsoft.com/office/drawing/2017/decorative" val="1"/>
              </a:ext>
            </a:extLst>
          </p:cNvPr>
          <p:cNvSpPr/>
          <p:nvPr/>
        </p:nvSpPr>
        <p:spPr>
          <a:xfrm>
            <a:off x="7917215" y="1847088"/>
            <a:ext cx="18729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training examp">
            <a:extLst>
              <a:ext uri="{C183D7F6-B498-43B3-948B-1728B52AA6E4}">
                <adec:decorative xmlns:adec="http://schemas.microsoft.com/office/drawing/2017/decorative" val="1"/>
              </a:ext>
            </a:extLst>
          </p:cNvPr>
          <p:cNvSpPr/>
          <p:nvPr/>
        </p:nvSpPr>
        <p:spPr>
          <a:xfrm>
            <a:off x="804523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training examp"/>
          <p:cNvSpPr txBox="1"/>
          <p:nvPr/>
        </p:nvSpPr>
        <p:spPr>
          <a:xfrm>
            <a:off x="8209823" y="1970532"/>
            <a:ext cx="169003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training example</a:t>
            </a:r>
          </a:p>
        </p:txBody>
      </p:sp>
      <p:sp>
        <p:nvSpPr>
          <p:cNvPr id="19" name="!!term-feature">
            <a:extLst>
              <a:ext uri="{C183D7F6-B498-43B3-948B-1728B52AA6E4}">
                <adec:decorative xmlns:adec="http://schemas.microsoft.com/office/drawing/2017/decorative" val="1"/>
              </a:ext>
            </a:extLst>
          </p:cNvPr>
          <p:cNvSpPr/>
          <p:nvPr/>
        </p:nvSpPr>
        <p:spPr>
          <a:xfrm>
            <a:off x="9936439" y="1847088"/>
            <a:ext cx="10453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feature">
            <a:extLst>
              <a:ext uri="{C183D7F6-B498-43B3-948B-1728B52AA6E4}">
                <adec:decorative xmlns:adec="http://schemas.microsoft.com/office/drawing/2017/decorative" val="1"/>
              </a:ext>
            </a:extLst>
          </p:cNvPr>
          <p:cNvSpPr/>
          <p:nvPr/>
        </p:nvSpPr>
        <p:spPr>
          <a:xfrm>
            <a:off x="1006445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feature"/>
          <p:cNvSpPr txBox="1"/>
          <p:nvPr/>
        </p:nvSpPr>
        <p:spPr>
          <a:xfrm>
            <a:off x="10229047" y="1970532"/>
            <a:ext cx="86243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feature</a:t>
            </a:r>
          </a:p>
        </p:txBody>
      </p:sp>
      <p:sp>
        <p:nvSpPr>
          <p:cNvPr id="22" name="!!term-label">
            <a:extLst>
              <a:ext uri="{C183D7F6-B498-43B3-948B-1728B52AA6E4}">
                <adec:decorative xmlns:adec="http://schemas.microsoft.com/office/drawing/2017/decorative" val="1"/>
              </a:ext>
            </a:extLst>
          </p:cNvPr>
          <p:cNvSpPr/>
          <p:nvPr/>
        </p:nvSpPr>
        <p:spPr>
          <a:xfrm>
            <a:off x="658368" y="2468880"/>
            <a:ext cx="8477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label">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label"/>
          <p:cNvSpPr txBox="1"/>
          <p:nvPr/>
        </p:nvSpPr>
        <p:spPr>
          <a:xfrm>
            <a:off x="950976" y="2592324"/>
            <a:ext cx="66486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label</a:t>
            </a:r>
          </a:p>
        </p:txBody>
      </p:sp>
      <p:sp>
        <p:nvSpPr>
          <p:cNvPr id="25" name="!!term-hypothesis">
            <a:extLst>
              <a:ext uri="{C183D7F6-B498-43B3-948B-1728B52AA6E4}">
                <adec:decorative xmlns:adec="http://schemas.microsoft.com/office/drawing/2017/decorative" val="1"/>
              </a:ext>
            </a:extLst>
          </p:cNvPr>
          <p:cNvSpPr/>
          <p:nvPr/>
        </p:nvSpPr>
        <p:spPr>
          <a:xfrm>
            <a:off x="1652412" y="2468880"/>
            <a:ext cx="13603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hypothesis">
            <a:extLst>
              <a:ext uri="{C183D7F6-B498-43B3-948B-1728B52AA6E4}">
                <adec:decorative xmlns:adec="http://schemas.microsoft.com/office/drawing/2017/decorative" val="1"/>
              </a:ext>
            </a:extLst>
          </p:cNvPr>
          <p:cNvSpPr/>
          <p:nvPr/>
        </p:nvSpPr>
        <p:spPr>
          <a:xfrm>
            <a:off x="178042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hypothesis"/>
          <p:cNvSpPr txBox="1"/>
          <p:nvPr/>
        </p:nvSpPr>
        <p:spPr>
          <a:xfrm>
            <a:off x="1945020" y="2592324"/>
            <a:ext cx="11774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hypothesis</a:t>
            </a:r>
          </a:p>
        </p:txBody>
      </p:sp>
      <p:sp>
        <p:nvSpPr>
          <p:cNvPr id="28" name="!!term-generalisation">
            <a:extLst>
              <a:ext uri="{C183D7F6-B498-43B3-948B-1728B52AA6E4}">
                <adec:decorative xmlns:adec="http://schemas.microsoft.com/office/drawing/2017/decorative" val="1"/>
              </a:ext>
            </a:extLst>
          </p:cNvPr>
          <p:cNvSpPr/>
          <p:nvPr/>
        </p:nvSpPr>
        <p:spPr>
          <a:xfrm>
            <a:off x="3159046" y="2468880"/>
            <a:ext cx="16451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generalisation">
            <a:extLst>
              <a:ext uri="{C183D7F6-B498-43B3-948B-1728B52AA6E4}">
                <adec:decorative xmlns:adec="http://schemas.microsoft.com/office/drawing/2017/decorative" val="1"/>
              </a:ext>
            </a:extLst>
          </p:cNvPr>
          <p:cNvSpPr/>
          <p:nvPr/>
        </p:nvSpPr>
        <p:spPr>
          <a:xfrm>
            <a:off x="3287062"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generalisation"/>
          <p:cNvSpPr txBox="1"/>
          <p:nvPr/>
        </p:nvSpPr>
        <p:spPr>
          <a:xfrm>
            <a:off x="3451654" y="2592324"/>
            <a:ext cx="146230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generalisation</a:t>
            </a:r>
          </a:p>
        </p:txBody>
      </p:sp>
      <p:sp>
        <p:nvSpPr>
          <p:cNvPr id="31" name="!!term-perceptron">
            <a:extLst>
              <a:ext uri="{C183D7F6-B498-43B3-948B-1728B52AA6E4}">
                <adec:decorative xmlns:adec="http://schemas.microsoft.com/office/drawing/2017/decorative" val="1"/>
              </a:ext>
            </a:extLst>
          </p:cNvPr>
          <p:cNvSpPr/>
          <p:nvPr/>
        </p:nvSpPr>
        <p:spPr>
          <a:xfrm>
            <a:off x="4950538" y="2468880"/>
            <a:ext cx="13853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perceptron">
            <a:extLst>
              <a:ext uri="{C183D7F6-B498-43B3-948B-1728B52AA6E4}">
                <adec:decorative xmlns:adec="http://schemas.microsoft.com/office/drawing/2017/decorative" val="1"/>
              </a:ext>
            </a:extLst>
          </p:cNvPr>
          <p:cNvSpPr/>
          <p:nvPr/>
        </p:nvSpPr>
        <p:spPr>
          <a:xfrm>
            <a:off x="507855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perceptron"/>
          <p:cNvSpPr txBox="1"/>
          <p:nvPr/>
        </p:nvSpPr>
        <p:spPr>
          <a:xfrm>
            <a:off x="5243146" y="2592324"/>
            <a:ext cx="120243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perceptron</a:t>
            </a:r>
          </a:p>
        </p:txBody>
      </p:sp>
      <p:sp>
        <p:nvSpPr>
          <p:cNvPr id="34" name="!!term-weight">
            <a:extLst>
              <a:ext uri="{C183D7F6-B498-43B3-948B-1728B52AA6E4}">
                <adec:decorative xmlns:adec="http://schemas.microsoft.com/office/drawing/2017/decorative" val="1"/>
              </a:ext>
            </a:extLst>
          </p:cNvPr>
          <p:cNvSpPr/>
          <p:nvPr/>
        </p:nvSpPr>
        <p:spPr>
          <a:xfrm>
            <a:off x="6482159" y="2468880"/>
            <a:ext cx="10183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weight">
            <a:extLst>
              <a:ext uri="{C183D7F6-B498-43B3-948B-1728B52AA6E4}">
                <adec:decorative xmlns:adec="http://schemas.microsoft.com/office/drawing/2017/decorative" val="1"/>
              </a:ext>
            </a:extLst>
          </p:cNvPr>
          <p:cNvSpPr/>
          <p:nvPr/>
        </p:nvSpPr>
        <p:spPr>
          <a:xfrm>
            <a:off x="661017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weight"/>
          <p:cNvSpPr txBox="1"/>
          <p:nvPr/>
        </p:nvSpPr>
        <p:spPr>
          <a:xfrm>
            <a:off x="6774767" y="2592324"/>
            <a:ext cx="8354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weight</a:t>
            </a:r>
          </a:p>
        </p:txBody>
      </p:sp>
      <p:sp>
        <p:nvSpPr>
          <p:cNvPr id="37" name="!!term-bias">
            <a:extLst>
              <a:ext uri="{C183D7F6-B498-43B3-948B-1728B52AA6E4}">
                <adec:decorative xmlns:adec="http://schemas.microsoft.com/office/drawing/2017/decorative" val="1"/>
              </a:ext>
            </a:extLst>
          </p:cNvPr>
          <p:cNvSpPr/>
          <p:nvPr/>
        </p:nvSpPr>
        <p:spPr>
          <a:xfrm>
            <a:off x="7646793" y="2468880"/>
            <a:ext cx="7814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bias">
            <a:extLst>
              <a:ext uri="{C183D7F6-B498-43B3-948B-1728B52AA6E4}">
                <adec:decorative xmlns:adec="http://schemas.microsoft.com/office/drawing/2017/decorative" val="1"/>
              </a:ext>
            </a:extLst>
          </p:cNvPr>
          <p:cNvSpPr/>
          <p:nvPr/>
        </p:nvSpPr>
        <p:spPr>
          <a:xfrm>
            <a:off x="777480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bias"/>
          <p:cNvSpPr txBox="1"/>
          <p:nvPr/>
        </p:nvSpPr>
        <p:spPr>
          <a:xfrm>
            <a:off x="7939401" y="2592324"/>
            <a:ext cx="59860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bias</a:t>
            </a:r>
          </a:p>
        </p:txBody>
      </p:sp>
      <p:sp>
        <p:nvSpPr>
          <p:cNvPr id="40" name="!!term-learning rate">
            <a:extLst>
              <a:ext uri="{C183D7F6-B498-43B3-948B-1728B52AA6E4}">
                <adec:decorative xmlns:adec="http://schemas.microsoft.com/office/drawing/2017/decorative" val="1"/>
              </a:ext>
            </a:extLst>
          </p:cNvPr>
          <p:cNvSpPr/>
          <p:nvPr/>
        </p:nvSpPr>
        <p:spPr>
          <a:xfrm>
            <a:off x="8574577" y="2468880"/>
            <a:ext cx="152274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learning rate">
            <a:extLst>
              <a:ext uri="{C183D7F6-B498-43B3-948B-1728B52AA6E4}">
                <adec:decorative xmlns:adec="http://schemas.microsoft.com/office/drawing/2017/decorative" val="1"/>
              </a:ext>
            </a:extLst>
          </p:cNvPr>
          <p:cNvSpPr/>
          <p:nvPr/>
        </p:nvSpPr>
        <p:spPr>
          <a:xfrm>
            <a:off x="870259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learning rate"/>
          <p:cNvSpPr txBox="1"/>
          <p:nvPr/>
        </p:nvSpPr>
        <p:spPr>
          <a:xfrm>
            <a:off x="8867185" y="2592324"/>
            <a:ext cx="133986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learning rate</a:t>
            </a:r>
          </a:p>
        </p:txBody>
      </p:sp>
      <p:sp>
        <p:nvSpPr>
          <p:cNvPr id="43" name="!!term-perceptron lea">
            <a:extLst>
              <a:ext uri="{C183D7F6-B498-43B3-948B-1728B52AA6E4}">
                <adec:decorative xmlns:adec="http://schemas.microsoft.com/office/drawing/2017/decorative" val="1"/>
              </a:ext>
            </a:extLst>
          </p:cNvPr>
          <p:cNvSpPr/>
          <p:nvPr/>
        </p:nvSpPr>
        <p:spPr>
          <a:xfrm>
            <a:off x="658368" y="3090672"/>
            <a:ext cx="25146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perceptron lea">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perceptron lea"/>
          <p:cNvSpPr txBox="1"/>
          <p:nvPr/>
        </p:nvSpPr>
        <p:spPr>
          <a:xfrm>
            <a:off x="950976" y="3214116"/>
            <a:ext cx="233176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perceptron learning rule</a:t>
            </a:r>
          </a:p>
        </p:txBody>
      </p:sp>
      <p:sp>
        <p:nvSpPr>
          <p:cNvPr id="46" name="!!term-epoch">
            <a:extLst>
              <a:ext uri="{C183D7F6-B498-43B3-948B-1728B52AA6E4}">
                <adec:decorative xmlns:adec="http://schemas.microsoft.com/office/drawing/2017/decorative" val="1"/>
              </a:ext>
            </a:extLst>
          </p:cNvPr>
          <p:cNvSpPr/>
          <p:nvPr/>
        </p:nvSpPr>
        <p:spPr>
          <a:xfrm>
            <a:off x="3319312" y="3090672"/>
            <a:ext cx="9684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epoch">
            <a:extLst>
              <a:ext uri="{C183D7F6-B498-43B3-948B-1728B52AA6E4}">
                <adec:decorative xmlns:adec="http://schemas.microsoft.com/office/drawing/2017/decorative" val="1"/>
              </a:ext>
            </a:extLst>
          </p:cNvPr>
          <p:cNvSpPr/>
          <p:nvPr/>
        </p:nvSpPr>
        <p:spPr>
          <a:xfrm>
            <a:off x="344732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epoch"/>
          <p:cNvSpPr txBox="1"/>
          <p:nvPr/>
        </p:nvSpPr>
        <p:spPr>
          <a:xfrm>
            <a:off x="3611920" y="3214116"/>
            <a:ext cx="7855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epoch</a:t>
            </a:r>
          </a:p>
        </p:txBody>
      </p:sp>
      <p:sp>
        <p:nvSpPr>
          <p:cNvPr id="49" name="!!term-decision bound">
            <a:extLst>
              <a:ext uri="{C183D7F6-B498-43B3-948B-1728B52AA6E4}">
                <adec:decorative xmlns:adec="http://schemas.microsoft.com/office/drawing/2017/decorative" val="1"/>
              </a:ext>
            </a:extLst>
          </p:cNvPr>
          <p:cNvSpPr/>
          <p:nvPr/>
        </p:nvSpPr>
        <p:spPr>
          <a:xfrm>
            <a:off x="4434023" y="3090672"/>
            <a:ext cx="202149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decision bound">
            <a:extLst>
              <a:ext uri="{C183D7F6-B498-43B3-948B-1728B52AA6E4}">
                <adec:decorative xmlns:adec="http://schemas.microsoft.com/office/drawing/2017/decorative" val="1"/>
              </a:ext>
            </a:extLst>
          </p:cNvPr>
          <p:cNvSpPr/>
          <p:nvPr/>
        </p:nvSpPr>
        <p:spPr>
          <a:xfrm>
            <a:off x="456203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decision bound"/>
          <p:cNvSpPr txBox="1"/>
          <p:nvPr/>
        </p:nvSpPr>
        <p:spPr>
          <a:xfrm>
            <a:off x="4726631" y="3214116"/>
            <a:ext cx="183861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decision boundary</a:t>
            </a:r>
          </a:p>
        </p:txBody>
      </p:sp>
      <p:sp>
        <p:nvSpPr>
          <p:cNvPr id="52" name="!!term-linear separab">
            <a:extLst>
              <a:ext uri="{C183D7F6-B498-43B3-948B-1728B52AA6E4}">
                <adec:decorative xmlns:adec="http://schemas.microsoft.com/office/drawing/2017/decorative" val="1"/>
              </a:ext>
            </a:extLst>
          </p:cNvPr>
          <p:cNvSpPr/>
          <p:nvPr/>
        </p:nvSpPr>
        <p:spPr>
          <a:xfrm>
            <a:off x="6601821" y="3090672"/>
            <a:ext cx="19432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linear separab">
            <a:extLst>
              <a:ext uri="{C183D7F6-B498-43B3-948B-1728B52AA6E4}">
                <adec:decorative xmlns:adec="http://schemas.microsoft.com/office/drawing/2017/decorative" val="1"/>
              </a:ext>
            </a:extLst>
          </p:cNvPr>
          <p:cNvSpPr/>
          <p:nvPr/>
        </p:nvSpPr>
        <p:spPr>
          <a:xfrm>
            <a:off x="672983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linear separab"/>
          <p:cNvSpPr txBox="1"/>
          <p:nvPr/>
        </p:nvSpPr>
        <p:spPr>
          <a:xfrm>
            <a:off x="6894429" y="3214116"/>
            <a:ext cx="176034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linear separability</a:t>
            </a:r>
          </a:p>
        </p:txBody>
      </p:sp>
      <p:sp>
        <p:nvSpPr>
          <p:cNvPr id="55" name="!!term-exclusive-or">
            <a:extLst>
              <a:ext uri="{C183D7F6-B498-43B3-948B-1728B52AA6E4}">
                <adec:decorative xmlns:adec="http://schemas.microsoft.com/office/drawing/2017/decorative" val="1"/>
              </a:ext>
            </a:extLst>
          </p:cNvPr>
          <p:cNvSpPr/>
          <p:nvPr/>
        </p:nvSpPr>
        <p:spPr>
          <a:xfrm>
            <a:off x="8691346" y="3090672"/>
            <a:ext cx="145977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exclusive-or">
            <a:extLst>
              <a:ext uri="{C183D7F6-B498-43B3-948B-1728B52AA6E4}">
                <adec:decorative xmlns:adec="http://schemas.microsoft.com/office/drawing/2017/decorative" val="1"/>
              </a:ext>
            </a:extLst>
          </p:cNvPr>
          <p:cNvSpPr/>
          <p:nvPr/>
        </p:nvSpPr>
        <p:spPr>
          <a:xfrm>
            <a:off x="881936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exclusive-or"/>
          <p:cNvSpPr txBox="1"/>
          <p:nvPr/>
        </p:nvSpPr>
        <p:spPr>
          <a:xfrm>
            <a:off x="8983954" y="3214116"/>
            <a:ext cx="127689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exclusive-or</a:t>
            </a:r>
          </a:p>
        </p:txBody>
      </p:sp>
      <p:sp>
        <p:nvSpPr>
          <p:cNvPr id="58" name="!!term-artificial neu">
            <a:extLst>
              <a:ext uri="{C183D7F6-B498-43B3-948B-1728B52AA6E4}">
                <adec:decorative xmlns:adec="http://schemas.microsoft.com/office/drawing/2017/decorative" val="1"/>
              </a:ext>
            </a:extLst>
          </p:cNvPr>
          <p:cNvSpPr/>
          <p:nvPr/>
        </p:nvSpPr>
        <p:spPr>
          <a:xfrm>
            <a:off x="658368" y="3712464"/>
            <a:ext cx="244660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artificial neu">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artificial neu"/>
          <p:cNvSpPr txBox="1"/>
          <p:nvPr/>
        </p:nvSpPr>
        <p:spPr>
          <a:xfrm>
            <a:off x="950976" y="3835908"/>
            <a:ext cx="226372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artificial neural network</a:t>
            </a:r>
          </a:p>
        </p:txBody>
      </p:sp>
      <p:sp>
        <p:nvSpPr>
          <p:cNvPr id="61"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pfill">
            <a:extLst>
              <a:ext uri="{C183D7F6-B498-43B3-948B-1728B52AA6E4}">
                <adec:decorative xmlns:adec="http://schemas.microsoft.com/office/drawing/2017/decorative" val="1"/>
              </a:ext>
            </a:extLst>
          </p:cNvPr>
          <p:cNvSpPr/>
          <p:nvPr/>
        </p:nvSpPr>
        <p:spPr>
          <a:xfrm>
            <a:off x="0" y="0"/>
            <a:ext cx="93782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177–186     </a:t>
            </a:r>
            <a:fld id="{077F27F2-95D0-4A90-BDF5-EA53E897C289}" type="slidenum">
              <a:rPr lang="en-GB" sz="1000">
                <a:solidFill>
                  <a:srgbClr val="8795A1"/>
                </a:solidFill>
                <a:latin typeface="Segoe UI"/>
              </a:rPr>
              <a:t>5</a:t>
            </a:fld>
          </a:p>
        </p:txBody>
      </p:sp>
      <p:sp>
        <p:nvSpPr>
          <p:cNvPr id="7" name="!!ag0" descr="Go to section 17.1 One Chapter, and Why">
            <a:hlinkClick action="ppaction://hlinksldjump" r:id="rId5"/>
          </p:cNvPr>
          <p:cNvSpPr/>
          <p:nvPr/>
        </p:nvSpPr>
        <p:spPr>
          <a:xfrm>
            <a:off x="658368" y="177393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89547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17.1</a:t>
            </a:r>
          </a:p>
        </p:txBody>
      </p:sp>
      <p:sp>
        <p:nvSpPr>
          <p:cNvPr id="10" name="!!agt0"/>
          <p:cNvSpPr txBox="1"/>
          <p:nvPr/>
        </p:nvSpPr>
        <p:spPr>
          <a:xfrm>
            <a:off x="1847088" y="189547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One Chapter, and Why</a:t>
            </a:r>
          </a:p>
        </p:txBody>
      </p:sp>
      <p:sp>
        <p:nvSpPr>
          <p:cNvPr id="11" name="!!agp0"/>
          <p:cNvSpPr txBox="1"/>
          <p:nvPr/>
        </p:nvSpPr>
        <p:spPr>
          <a:xfrm>
            <a:off x="9795967" y="192290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177  ›</a:t>
            </a:r>
          </a:p>
        </p:txBody>
      </p:sp>
      <p:sp>
        <p:nvSpPr>
          <p:cNvPr id="12" name="!!ag1" descr="Go to section 17.2 Three Kinds of Learning">
            <a:hlinkClick action="ppaction://hlinksldjump" r:id="rId6"/>
          </p:cNvPr>
          <p:cNvSpPr/>
          <p:nvPr/>
        </p:nvSpPr>
        <p:spPr>
          <a:xfrm>
            <a:off x="658368" y="233400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334006"/>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455545"/>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17.2</a:t>
            </a:r>
          </a:p>
        </p:txBody>
      </p:sp>
      <p:sp>
        <p:nvSpPr>
          <p:cNvPr id="15" name="!!agt1"/>
          <p:cNvSpPr txBox="1"/>
          <p:nvPr/>
        </p:nvSpPr>
        <p:spPr>
          <a:xfrm>
            <a:off x="1847088" y="2455545"/>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Three Kinds of Learning</a:t>
            </a:r>
          </a:p>
        </p:txBody>
      </p:sp>
      <p:sp>
        <p:nvSpPr>
          <p:cNvPr id="16" name="!!agp1"/>
          <p:cNvSpPr txBox="1"/>
          <p:nvPr/>
        </p:nvSpPr>
        <p:spPr>
          <a:xfrm>
            <a:off x="9795967" y="248297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178  ›</a:t>
            </a:r>
          </a:p>
        </p:txBody>
      </p:sp>
      <p:sp>
        <p:nvSpPr>
          <p:cNvPr id="17" name="!!ag2" descr="Go to section 17.3 Supervised Learning">
            <a:hlinkClick action="ppaction://hlinksldjump" r:id="rId7"/>
          </p:cNvPr>
          <p:cNvSpPr/>
          <p:nvPr/>
        </p:nvSpPr>
        <p:spPr>
          <a:xfrm>
            <a:off x="658368" y="289407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2894076"/>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015615"/>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17.3</a:t>
            </a:r>
          </a:p>
        </p:txBody>
      </p:sp>
      <p:sp>
        <p:nvSpPr>
          <p:cNvPr id="20" name="!!agt2"/>
          <p:cNvSpPr txBox="1"/>
          <p:nvPr/>
        </p:nvSpPr>
        <p:spPr>
          <a:xfrm>
            <a:off x="1847088" y="3015615"/>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Supervised Learning</a:t>
            </a:r>
          </a:p>
        </p:txBody>
      </p:sp>
      <p:sp>
        <p:nvSpPr>
          <p:cNvPr id="21" name="!!agp2"/>
          <p:cNvSpPr txBox="1"/>
          <p:nvPr/>
        </p:nvSpPr>
        <p:spPr>
          <a:xfrm>
            <a:off x="9795967" y="304304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178  ›</a:t>
            </a:r>
          </a:p>
        </p:txBody>
      </p:sp>
      <p:sp>
        <p:nvSpPr>
          <p:cNvPr id="22" name="!!ag3" descr="Go to section 17.4 Artificial Neural Networks">
            <a:hlinkClick action="ppaction://hlinksldjump" r:id="rId8"/>
          </p:cNvPr>
          <p:cNvSpPr/>
          <p:nvPr/>
        </p:nvSpPr>
        <p:spPr>
          <a:xfrm>
            <a:off x="658368" y="345414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454146"/>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575685"/>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17.4</a:t>
            </a:r>
          </a:p>
        </p:txBody>
      </p:sp>
      <p:sp>
        <p:nvSpPr>
          <p:cNvPr id="25" name="!!agt3"/>
          <p:cNvSpPr txBox="1"/>
          <p:nvPr/>
        </p:nvSpPr>
        <p:spPr>
          <a:xfrm>
            <a:off x="1847088" y="3575685"/>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Artificial Neural Networks</a:t>
            </a:r>
          </a:p>
        </p:txBody>
      </p:sp>
      <p:sp>
        <p:nvSpPr>
          <p:cNvPr id="26" name="!!agp3"/>
          <p:cNvSpPr txBox="1"/>
          <p:nvPr/>
        </p:nvSpPr>
        <p:spPr>
          <a:xfrm>
            <a:off x="9795967" y="360311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179  ›</a:t>
            </a:r>
          </a:p>
        </p:txBody>
      </p:sp>
      <p:sp>
        <p:nvSpPr>
          <p:cNvPr id="27" name="!!ag4" descr="Go to section 17.5 Linear Separability and the Exclusive-Or Limit">
            <a:hlinkClick action="ppaction://hlinksldjump" r:id="rId9"/>
          </p:cNvPr>
          <p:cNvSpPr/>
          <p:nvPr/>
        </p:nvSpPr>
        <p:spPr>
          <a:xfrm>
            <a:off x="658368" y="4014215"/>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014215"/>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13575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17.5</a:t>
            </a:r>
          </a:p>
        </p:txBody>
      </p:sp>
      <p:sp>
        <p:nvSpPr>
          <p:cNvPr id="30" name="!!agt4"/>
          <p:cNvSpPr txBox="1"/>
          <p:nvPr/>
        </p:nvSpPr>
        <p:spPr>
          <a:xfrm>
            <a:off x="1847088" y="413575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Linear Separability and the Exclusive-Or Limit</a:t>
            </a:r>
          </a:p>
        </p:txBody>
      </p:sp>
      <p:sp>
        <p:nvSpPr>
          <p:cNvPr id="31" name="!!agp4"/>
          <p:cNvSpPr txBox="1"/>
          <p:nvPr/>
        </p:nvSpPr>
        <p:spPr>
          <a:xfrm>
            <a:off x="9795967" y="416318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179  ›</a:t>
            </a:r>
          </a:p>
        </p:txBody>
      </p:sp>
      <p:sp>
        <p:nvSpPr>
          <p:cNvPr id="32" name="!!ag5" descr="Go to section 17.6 Unsupervised Learning">
            <a:hlinkClick action="ppaction://hlinksldjump" r:id="rId10"/>
          </p:cNvPr>
          <p:cNvSpPr/>
          <p:nvPr/>
        </p:nvSpPr>
        <p:spPr>
          <a:xfrm>
            <a:off x="658368" y="4574286"/>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574286"/>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469582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17.6</a:t>
            </a:r>
          </a:p>
        </p:txBody>
      </p:sp>
      <p:sp>
        <p:nvSpPr>
          <p:cNvPr id="35" name="!!agt5"/>
          <p:cNvSpPr txBox="1"/>
          <p:nvPr/>
        </p:nvSpPr>
        <p:spPr>
          <a:xfrm>
            <a:off x="1847088" y="469582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Unsupervised Learning</a:t>
            </a:r>
          </a:p>
        </p:txBody>
      </p:sp>
      <p:sp>
        <p:nvSpPr>
          <p:cNvPr id="36" name="!!agp5"/>
          <p:cNvSpPr txBox="1"/>
          <p:nvPr/>
        </p:nvSpPr>
        <p:spPr>
          <a:xfrm>
            <a:off x="9795967" y="4723257"/>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181  ›</a:t>
            </a:r>
          </a:p>
        </p:txBody>
      </p:sp>
      <p:sp>
        <p:nvSpPr>
          <p:cNvPr id="37" name="!!ag6" descr="Go to section 17.7 Reinforcement Learning">
            <a:hlinkClick action="ppaction://hlinksldjump" r:id="rId11"/>
          </p:cNvPr>
          <p:cNvSpPr/>
          <p:nvPr/>
        </p:nvSpPr>
        <p:spPr>
          <a:xfrm>
            <a:off x="658368" y="5134355"/>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134355"/>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25589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17.7</a:t>
            </a:r>
          </a:p>
        </p:txBody>
      </p:sp>
      <p:sp>
        <p:nvSpPr>
          <p:cNvPr id="40" name="!!agt6"/>
          <p:cNvSpPr txBox="1"/>
          <p:nvPr/>
        </p:nvSpPr>
        <p:spPr>
          <a:xfrm>
            <a:off x="1847088" y="525589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Reinforcement Learning</a:t>
            </a:r>
          </a:p>
        </p:txBody>
      </p:sp>
      <p:sp>
        <p:nvSpPr>
          <p:cNvPr id="41" name="!!agp6"/>
          <p:cNvSpPr txBox="1"/>
          <p:nvPr/>
        </p:nvSpPr>
        <p:spPr>
          <a:xfrm>
            <a:off x="9795967" y="528332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181  ›</a:t>
            </a:r>
          </a:p>
        </p:txBody>
      </p:sp>
      <p:sp>
        <p:nvSpPr>
          <p:cNvPr id="42" name="!!ag7" descr="Go to section 17.8 Where This Course Hands Over">
            <a:hlinkClick action="ppaction://hlinksldjump" r:id="rId12"/>
          </p:cNvPr>
          <p:cNvSpPr/>
          <p:nvPr/>
        </p:nvSpPr>
        <p:spPr>
          <a:xfrm>
            <a:off x="658368" y="5694425"/>
            <a:ext cx="10874959" cy="486918"/>
          </a:xfrm>
          <a:prstGeom prst="roundRect">
            <a:avLst>
              <a:gd name="adj" fmla="val 1126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agb7">
            <a:extLst>
              <a:ext uri="{C183D7F6-B498-43B3-948B-1728B52AA6E4}">
                <adec:decorative xmlns:adec="http://schemas.microsoft.com/office/drawing/2017/decorative" val="1"/>
              </a:ext>
            </a:extLst>
          </p:cNvPr>
          <p:cNvSpPr/>
          <p:nvPr/>
        </p:nvSpPr>
        <p:spPr>
          <a:xfrm>
            <a:off x="658368" y="5694425"/>
            <a:ext cx="64008" cy="48691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agn7"/>
          <p:cNvSpPr txBox="1"/>
          <p:nvPr/>
        </p:nvSpPr>
        <p:spPr>
          <a:xfrm>
            <a:off x="932688" y="5815964"/>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1" i="0">
                <a:solidFill>
                  <a:srgbClr val="705B06"/>
                </a:solidFill>
                <a:latin typeface="Segoe UI Semibold"/>
              </a:rPr>
              <a:t>17.8</a:t>
            </a:r>
          </a:p>
        </p:txBody>
      </p:sp>
      <p:sp>
        <p:nvSpPr>
          <p:cNvPr id="45" name="!!agt7"/>
          <p:cNvSpPr txBox="1"/>
          <p:nvPr/>
        </p:nvSpPr>
        <p:spPr>
          <a:xfrm>
            <a:off x="1847088" y="5815964"/>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Where This Course Hands Over</a:t>
            </a:r>
          </a:p>
        </p:txBody>
      </p:sp>
      <p:sp>
        <p:nvSpPr>
          <p:cNvPr id="46" name="!!agp7"/>
          <p:cNvSpPr txBox="1"/>
          <p:nvPr/>
        </p:nvSpPr>
        <p:spPr>
          <a:xfrm>
            <a:off x="9795967" y="5843396"/>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300" b="0" i="0">
                <a:solidFill>
                  <a:srgbClr val="5F6F7B"/>
                </a:solidFill>
                <a:latin typeface="Segoe UI"/>
              </a:rPr>
              <a:t>p. 181  ›</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117227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Chapter, and Why</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§17.1  ·  Handout p. 177     </a:t>
            </a:r>
            <a:fld id="{82C0AD28-8254-4F72-AB9C-FBB550054AD7}"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241340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186891"/>
          </a:xfrm>
          <a:prstGeom prst="rect">
            <a:avLst/>
          </a:prstGeom>
          <a:noFill/>
        </p:spPr>
        <p:txBody>
          <a:bodyPr wrap="square" anchor="t" lIns="0" rIns="0" tIns="0" bIns="0">
            <a:noAutofit/>
          </a:bodyPr>
          <a:lstStyle/>
          <a:p>
            <a:pPr algn="l">
              <a:lnSpc>
                <a:spcPct val="104000"/>
              </a:lnSpc>
              <a:spcBef>
                <a:spcPts val="0"/>
              </a:spcBef>
              <a:spcAft>
                <a:spcPts val="0"/>
              </a:spcAft>
            </a:pPr>
            <a:r>
              <a:rPr sz="2400" b="0" i="0">
                <a:solidFill>
                  <a:srgbClr val="1C252B"/>
                </a:solidFill>
                <a:latin typeface="Segoe UI"/>
              </a:rPr>
              <a:t>Everything so far has been </a:t>
            </a:r>
            <a:r>
              <a:rPr sz="2400" b="0" i="1">
                <a:solidFill>
                  <a:srgbClr val="1C252B"/>
                </a:solidFill>
                <a:latin typeface="Segoe UI"/>
              </a:rPr>
              <a:t>told</a:t>
            </a:r>
            <a:r>
              <a:rPr sz="2400" b="0" i="0">
                <a:solidFill>
                  <a:srgbClr val="1C252B"/>
                </a:solidFill>
                <a:latin typeface="Segoe UI"/>
              </a:rPr>
              <a:t> the rules. Constraints, operators, logical sentences, conditional probability tables — somebody wrote them down, and the agent’s job was to reason with them.</a:t>
            </a:r>
          </a:p>
        </p:txBody>
      </p:sp>
      <p:sp>
        <p:nvSpPr>
          <p:cNvPr id="9" name="body-1"/>
          <p:cNvSpPr txBox="1"/>
          <p:nvPr/>
        </p:nvSpPr>
        <p:spPr>
          <a:xfrm>
            <a:off x="1042415" y="3101035"/>
            <a:ext cx="10417759" cy="1186891"/>
          </a:xfrm>
          <a:prstGeom prst="rect">
            <a:avLst/>
          </a:prstGeom>
          <a:noFill/>
        </p:spPr>
        <p:txBody>
          <a:bodyPr wrap="square" anchor="t" lIns="0" rIns="0" tIns="0" bIns="0">
            <a:noAutofit/>
          </a:bodyPr>
          <a:lstStyle/>
          <a:p>
            <a:pPr algn="l">
              <a:lnSpc>
                <a:spcPct val="104000"/>
              </a:lnSpc>
              <a:spcBef>
                <a:spcPts val="0"/>
              </a:spcBef>
              <a:spcAft>
                <a:spcPts val="0"/>
              </a:spcAft>
            </a:pPr>
            <a:r>
              <a:rPr sz="2400" b="0" i="0">
                <a:solidFill>
                  <a:srgbClr val="1C252B"/>
                </a:solidFill>
                <a:latin typeface="Segoe UI"/>
              </a:rPr>
              <a:t>This chapter is about the other case: the rules are not available, and only examples are. It exists for three reasons, and it is important to be clear which.</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40673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Chapter, and Why (continued)</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§17.1  ·  Handout p. 177     </a:t>
            </a:r>
            <a:fld id="{7ADD40DA-F5D6-433B-879A-2201CC8EB961}" type="slidenum">
              <a:rPr lang="en-GB" sz="1000">
                <a:solidFill>
                  <a:srgbClr val="8795A1"/>
                </a:solidFill>
                <a:latin typeface="Segoe UI"/>
              </a:rPr>
              <a:t>7</a:t>
            </a:fld>
          </a:p>
        </p:txBody>
      </p:sp>
      <p:sp>
        <p:nvSpPr>
          <p:cNvPr id="7" name="!!stbar">
            <a:extLst>
              <a:ext uri="{C183D7F6-B498-43B3-948B-1728B52AA6E4}">
                <adec:decorative xmlns:adec="http://schemas.microsoft.com/office/drawing/2017/decorative" val="1"/>
              </a:ext>
            </a:extLst>
          </p:cNvPr>
          <p:cNvSpPr/>
          <p:nvPr/>
        </p:nvSpPr>
        <p:spPr>
          <a:xfrm>
            <a:off x="658368" y="1810512"/>
            <a:ext cx="73152" cy="355457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947672"/>
          </a:xfrm>
          <a:prstGeom prst="rect">
            <a:avLst/>
          </a:prstGeom>
          <a:noFill/>
        </p:spPr>
        <p:txBody>
          <a:bodyPr wrap="square" anchor="t" lIns="0" rIns="0" tIns="0" bIns="0">
            <a:noAutofit/>
          </a:bodyPr>
          <a:lstStyle/>
          <a:p>
            <a:pPr algn="l">
              <a:lnSpc>
                <a:spcPct val="104000"/>
              </a:lnSpc>
              <a:spcBef>
                <a:spcPts val="0"/>
              </a:spcBef>
              <a:spcAft>
                <a:spcPts val="0"/>
              </a:spcAft>
            </a:pPr>
            <a:r>
              <a:rPr sz="2400" b="1" i="0">
                <a:solidFill>
                  <a:srgbClr val="1A5276"/>
                </a:solidFill>
                <a:latin typeface="Segoe UI"/>
              </a:rPr>
              <a:t>The HEC outlines require it.</a:t>
            </a:r>
            <a:r>
              <a:rPr sz="2400" b="0" i="0">
                <a:solidFill>
                  <a:srgbClr val="1C252B"/>
                </a:solidFill>
                <a:latin typeface="Segoe UI"/>
              </a:rPr>
              <a:t> The 2017 outline names supervised, unsupervised and reinforcement learning; the 2023 outline names artificial neural networks and learning from examples. This chapter covers all of them, in named sections, and the Course Specification traces each clause here.</a:t>
            </a:r>
          </a:p>
        </p:txBody>
      </p:sp>
      <p:sp>
        <p:nvSpPr>
          <p:cNvPr id="9" name="body-1"/>
          <p:cNvSpPr txBox="1"/>
          <p:nvPr/>
        </p:nvSpPr>
        <p:spPr>
          <a:xfrm>
            <a:off x="1042415" y="3861816"/>
            <a:ext cx="10417759" cy="1567281"/>
          </a:xfrm>
          <a:prstGeom prst="rect">
            <a:avLst/>
          </a:prstGeom>
          <a:noFill/>
        </p:spPr>
        <p:txBody>
          <a:bodyPr wrap="square" anchor="t" lIns="0" rIns="0" tIns="0" bIns="0">
            <a:noAutofit/>
          </a:bodyPr>
          <a:lstStyle/>
          <a:p>
            <a:pPr algn="l">
              <a:lnSpc>
                <a:spcPct val="104000"/>
              </a:lnSpc>
              <a:spcBef>
                <a:spcPts val="0"/>
              </a:spcBef>
              <a:spcAft>
                <a:spcPts val="0"/>
              </a:spcAft>
            </a:pPr>
            <a:r>
              <a:rPr sz="2400" b="1" i="0">
                <a:solidFill>
                  <a:srgbClr val="1A5276"/>
                </a:solidFill>
                <a:latin typeface="Segoe UI"/>
              </a:rPr>
              <a:t>You cannot judge symbolic methods without it.</a:t>
            </a:r>
            <a:r>
              <a:rPr sz="2400" b="0" i="0">
                <a:solidFill>
                  <a:srgbClr val="1C252B"/>
                </a:solidFill>
                <a:latin typeface="Segoe UI"/>
              </a:rPr>
              <a:t> Chapter 13 argued that the expert-system industry collapsed on the knowledge acquisition bottleneck, and that machine learning dissolves it. That argument is empty unless you have seen a program acquire a rule from data.</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64118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Chapter, and Why (continued)</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§17.1  ·  Handout p. 177     </a:t>
            </a:r>
            <a:fld id="{1DF9B6E8-C2C4-4E6E-8C2D-EE3A689D91A7}" type="slidenum">
              <a:rPr lang="en-GB" sz="1000">
                <a:solidFill>
                  <a:srgbClr val="8795A1"/>
                </a:solidFill>
                <a:latin typeface="Segoe UI"/>
              </a:rPr>
              <a:t>8</a:t>
            </a:fld>
          </a:p>
        </p:txBody>
      </p:sp>
      <p:sp>
        <p:nvSpPr>
          <p:cNvPr id="7" name="!!stbar">
            <a:extLst>
              <a:ext uri="{C183D7F6-B498-43B3-948B-1728B52AA6E4}">
                <adec:decorative xmlns:adec="http://schemas.microsoft.com/office/drawing/2017/decorative" val="1"/>
              </a:ext>
            </a:extLst>
          </p:cNvPr>
          <p:cNvSpPr/>
          <p:nvPr/>
        </p:nvSpPr>
        <p:spPr>
          <a:xfrm>
            <a:off x="658368" y="1810512"/>
            <a:ext cx="73152" cy="186537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947672"/>
          </a:xfrm>
          <a:prstGeom prst="rect">
            <a:avLst/>
          </a:prstGeom>
          <a:noFill/>
        </p:spPr>
        <p:txBody>
          <a:bodyPr wrap="square" anchor="t" lIns="0" rIns="0" tIns="0" bIns="0">
            <a:noAutofit/>
          </a:bodyPr>
          <a:lstStyle/>
          <a:p>
            <a:pPr algn="l">
              <a:lnSpc>
                <a:spcPct val="104000"/>
              </a:lnSpc>
              <a:spcBef>
                <a:spcPts val="0"/>
              </a:spcBef>
              <a:spcAft>
                <a:spcPts val="0"/>
              </a:spcAft>
            </a:pPr>
            <a:r>
              <a:rPr sz="2400" b="1" i="0">
                <a:solidFill>
                  <a:srgbClr val="1A5276"/>
                </a:solidFill>
                <a:latin typeface="Segoe UI"/>
              </a:rPr>
              <a:t>And it is a signpost.</a:t>
            </a:r>
            <a:r>
              <a:rPr sz="2400" b="0" i="0">
                <a:solidFill>
                  <a:srgbClr val="1C252B"/>
                </a:solidFill>
                <a:latin typeface="Segoe UI"/>
              </a:rPr>
              <a:t> </a:t>
            </a:r>
            <a:r>
              <a:rPr sz="2400" b="0" i="1">
                <a:solidFill>
                  <a:srgbClr val="1C252B"/>
                </a:solidFill>
                <a:latin typeface="Segoe UI"/>
              </a:rPr>
              <a:t>Machine Learning</a:t>
            </a:r>
            <a:r>
              <a:rPr sz="2400" b="0" i="0">
                <a:solidFill>
                  <a:srgbClr val="1C252B"/>
                </a:solidFill>
                <a:latin typeface="Segoe UI"/>
              </a:rPr>
              <a:t> (Semester 6) has this course as its published prerequisite and owns the subject entirely. This chapter goes as far as the perceptron and the exclusive-or limit — the exact point at which the historical field stalled for fifteen years — and then stops. Appendix F states the boundary chapter by chapter.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87564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three learning paradigms, with a delivery example of each</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17.1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§17.2  ·  Handout p. 178     </a:t>
            </a:r>
            <a:fld id="{F64F4402-A9B5-4501-882B-F1FB507A768D}" type="slidenum">
              <a:rPr lang="en-GB" sz="1000">
                <a:solidFill>
                  <a:srgbClr val="8795A1"/>
                </a:solidFill>
                <a:latin typeface="Segoe UI"/>
              </a:rPr>
              <a:t>9</a:t>
            </a:fld>
          </a:p>
        </p:txBody>
      </p:sp>
      <p:pic>
        <p:nvPicPr>
          <p:cNvPr id="6" name="!!figure" descr="Figure 17.1. The three learning paradigms, with a delivery example of each. This section discharges the HEC 2017 outline’s Learning clause; the sections that follow take the first one furth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16886" y="1737360"/>
            <a:ext cx="9557921"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This section discharges the HEC 2017 outline’s Learning clause; the sections that follow take the first one further.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11010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Supervised Learning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3 OF 8</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17.3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17.1   One Chapter, and Why</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17.2   Three Kinds of Learning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17.3   Supervised Learning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17.4   Artificial Neural Networks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17.5   Linear Separability and the Exclusive-Or Limit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17.6   Unsupervised Learning</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17.7   Reinforcement Learning</a:t>
            </a:r>
          </a:p>
        </p:txBody>
      </p:sp>
      <p:sp>
        <p:nvSpPr>
          <p:cNvPr id="13" name="!!dl7"/>
          <p:cNvSpPr txBox="1"/>
          <p:nvPr/>
        </p:nvSpPr>
        <p:spPr>
          <a:xfrm>
            <a:off x="4846320" y="60807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17.8   Where This Course Hands Over</a:t>
            </a:r>
          </a:p>
        </p:txBody>
      </p:sp>
      <p:sp>
        <p:nvSpPr>
          <p:cNvPr id="14"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§17.3     </a:t>
            </a:r>
            <a:fld id="{187AEE9B-A4A5-44B8-B876-5155BFE8B6C5}" type="slidenum">
              <a:rPr lang="en-GB" sz="1000">
                <a:solidFill>
                  <a:srgbClr val="8795A1"/>
                </a:solidFill>
                <a:latin typeface="Segoe UI"/>
              </a:rPr>
              <a:t>10</a:t>
            </a:fld>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234455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Supervised Learning</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§17.3  ·  Handout p. 178     </a:t>
            </a:r>
            <a:fld id="{4B1ADDD6-917C-4E62-B48B-6A45AD4397EE}" type="slidenum">
              <a:rPr lang="en-GB" sz="1000">
                <a:solidFill>
                  <a:srgbClr val="8795A1"/>
                </a:solidFill>
                <a:latin typeface="Segoe UI"/>
              </a:rPr>
              <a:t>11</a:t>
            </a:fld>
          </a:p>
        </p:txBody>
      </p:sp>
      <p:graphicFrame>
        <p:nvGraphicFramePr>
          <p:cNvPr id="7" name="!!table"/>
          <p:cNvGraphicFramePr>
            <a:graphicFrameLocks noGrp="1"/>
          </p:cNvGraphicFramePr>
          <p:nvPr/>
        </p:nvGraphicFramePr>
        <p:xfrm>
          <a:off x="658368" y="1737360"/>
          <a:ext cx="6731452" cy="2837688"/>
        </p:xfrm>
        <a:graphic>
          <a:graphicData uri="http://schemas.openxmlformats.org/drawingml/2006/table">
            <a:tbl>
              <a:tblPr firstRow="0" bandRow="0" firstCol="0" lastRow="0" lastCol="0" bandCol="0">
                <a:tableStyleId>{2D5ABB26-0587-4C30-8999-92F81FD0307C}</a:tableStyleId>
              </a:tblPr>
              <a:tblGrid>
                <a:gridCol w="723262"/>
                <a:gridCol w="925368"/>
                <a:gridCol w="928811"/>
                <a:gridCol w="788285"/>
                <a:gridCol w="723262"/>
                <a:gridCol w="925368"/>
                <a:gridCol w="928811"/>
                <a:gridCol w="788285"/>
              </a:tblGrid>
              <a:tr h="405384">
                <a:tc>
                  <a:txBody>
                    <a:bodyPr wrap="square"/>
                    <a:lstStyle/>
                    <a:p>
                      <a:pPr algn="l"/>
                      <a:r>
                        <a:rPr sz="1700" b="1" i="0">
                          <a:solidFill>
                            <a:srgbClr val="1A5276"/>
                          </a:solidFill>
                          <a:latin typeface="Segoe UI"/>
                        </a:rPr>
                        <a:t>Task</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Effort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Clarity</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Late?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Task</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Effort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Clarity</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Late?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2</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7</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3</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2</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3</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8</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8</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8</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2</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3</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4</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10</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4</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4</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3</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7</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10</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9</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5</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5</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8</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11</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7</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2</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6</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2</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6</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12</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8</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4</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57901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perceptron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§17.3  ·  Handout p. 178     </a:t>
            </a:r>
            <a:fld id="{972285DF-9C89-44F9-822E-D2EDCBB3A2F9}"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7085"/>
          </a:xfrm>
          <a:prstGeom prst="roundRect">
            <a:avLst>
              <a:gd name="adj" fmla="val 204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7085"/>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perceptron</a:t>
            </a:r>
            <a:r>
              <a:rPr sz="1700" b="0" i="0">
                <a:solidFill>
                  <a:srgbClr val="1C252B"/>
                </a:solidFill>
                <a:latin typeface="Segoe UI"/>
              </a:rPr>
              <a:t> computes a weighted sum of its inputs and fires if the sum exceeds a threshold:</a:t>
            </a:r>
          </a:p>
        </p:txBody>
      </p:sp>
      <p:pic>
        <p:nvPicPr>
          <p:cNvPr id="10" name="body-1" descr="\hat{y} \;=\; \begin{cases} 1 &amp; \text{if } \sum_{i} w_{i} x_{i} + b &gt; 0 \\ 0 &amp; \text{otherwise} \end{case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436444"/>
            <a:ext cx="10161727" cy="696864"/>
          </a:xfrm>
          <a:prstGeom prst="rect">
            <a:avLst/>
          </a:prstGeom>
        </p:spPr>
      </p:pic>
      <p:sp>
        <p:nvSpPr>
          <p:cNvPr id="11" name="body-2"/>
          <p:cNvSpPr txBox="1"/>
          <p:nvPr/>
        </p:nvSpPr>
        <p:spPr>
          <a:xfrm>
            <a:off x="1060704" y="3252053"/>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a:t>
            </a:r>
            <a:r>
              <a:rPr sz="1700" b="1" i="0">
                <a:solidFill>
                  <a:srgbClr val="1A5276"/>
                </a:solidFill>
                <a:latin typeface="Segoe UI"/>
              </a:rPr>
              <a:t>weights</a:t>
            </a:r>
            <a:r>
              <a:rPr sz="1700" b="0" i="0">
                <a:solidFill>
                  <a:srgbClr val="1C252B"/>
                </a:solidFill>
                <a:latin typeface="Segoe UI"/>
              </a:rPr>
              <a:t> </a:t>
            </a:r>
            <a:r>
              <a:rPr sz="1700" b="0" i="1">
                <a:solidFill>
                  <a:srgbClr val="1C252B"/>
                </a:solidFill>
                <a:latin typeface="Cambria"/>
              </a:rPr>
              <a:t>w</a:t>
            </a:r>
            <a:r>
              <a:rPr sz="1100" b="0" i="1" baseline="-25000">
                <a:solidFill>
                  <a:srgbClr val="1C252B"/>
                </a:solidFill>
                <a:latin typeface="Cambria"/>
              </a:rPr>
              <a:t>i</a:t>
            </a:r>
            <a:r>
              <a:rPr sz="1700" b="0" i="0">
                <a:solidFill>
                  <a:srgbClr val="1C252B"/>
                </a:solidFill>
                <a:latin typeface="Segoe UI"/>
              </a:rPr>
              <a:t> say how much each feature counts and in which direction; the </a:t>
            </a:r>
            <a:r>
              <a:rPr sz="1700" b="1" i="0">
                <a:solidFill>
                  <a:srgbClr val="1A5276"/>
                </a:solidFill>
                <a:latin typeface="Segoe UI"/>
              </a:rPr>
              <a:t>bias</a:t>
            </a:r>
            <a:r>
              <a:rPr sz="1700" b="0" i="0">
                <a:solidFill>
                  <a:srgbClr val="1C252B"/>
                </a:solidFill>
                <a:latin typeface="Segoe UI"/>
              </a:rPr>
              <a:t> </a:t>
            </a:r>
            <a:r>
              <a:rPr sz="1700" b="0" i="1">
                <a:solidFill>
                  <a:srgbClr val="1C252B"/>
                </a:solidFill>
                <a:latin typeface="Cambria"/>
              </a:rPr>
              <a:t>b</a:t>
            </a:r>
            <a:r>
              <a:rPr sz="1700" b="0" i="0">
                <a:solidFill>
                  <a:srgbClr val="1C252B"/>
                </a:solidFill>
                <a:latin typeface="Segoe UI"/>
              </a:rPr>
              <a:t> shifts the threshold.</a:t>
            </a:r>
          </a:p>
        </p:txBody>
      </p:sp>
      <p:sp>
        <p:nvSpPr>
          <p:cNvPr id="12" name="body-3"/>
          <p:cNvSpPr txBox="1"/>
          <p:nvPr/>
        </p:nvSpPr>
        <p:spPr>
          <a:xfrm>
            <a:off x="1060704" y="3640241"/>
            <a:ext cx="10161727"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Learning means adjusting them. For each example in turn, apply the </a:t>
            </a:r>
            <a:r>
              <a:rPr sz="1700" b="1" i="0">
                <a:solidFill>
                  <a:srgbClr val="1A5276"/>
                </a:solidFill>
                <a:latin typeface="Segoe UI"/>
              </a:rPr>
              <a:t>perceptron learning rule</a:t>
            </a:r>
            <a:r>
              <a:rPr sz="1700" b="0" i="0">
                <a:solidFill>
                  <a:srgbClr val="1C252B"/>
                </a:solidFill>
                <a:latin typeface="Segoe UI"/>
              </a:rPr>
              <a:t>:</a:t>
            </a:r>
          </a:p>
        </p:txBody>
      </p:sp>
      <p:pic>
        <p:nvPicPr>
          <p:cNvPr id="13" name="body-4" descr="w_{i} \;\leftarrow\; w_{i} + \eta\,(y - \hat{y})\, x_{i}, \qquad b \;\leftarrow\; b + \eta\,(y - \hat{y})"/>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4028429"/>
            <a:ext cx="10161727" cy="290413"/>
          </a:xfrm>
          <a:prstGeom prst="rect">
            <a:avLst/>
          </a:prstGeom>
        </p:spPr>
      </p:pic>
      <p:sp>
        <p:nvSpPr>
          <p:cNvPr id="14" name="body-5"/>
          <p:cNvSpPr txBox="1"/>
          <p:nvPr/>
        </p:nvSpPr>
        <p:spPr>
          <a:xfrm>
            <a:off x="1060704" y="4437588"/>
            <a:ext cx="10161727" cy="85404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where </a:t>
            </a:r>
            <a:r>
              <a:rPr sz="1700" b="0" i="1">
                <a:solidFill>
                  <a:srgbClr val="1C252B"/>
                </a:solidFill>
                <a:latin typeface="Cambria"/>
              </a:rPr>
              <a:t>y</a:t>
            </a:r>
            <a:r>
              <a:rPr sz="1700" b="0" i="0">
                <a:solidFill>
                  <a:srgbClr val="1C252B"/>
                </a:solidFill>
                <a:latin typeface="Segoe UI"/>
              </a:rPr>
              <a:t> is the true label and </a:t>
            </a:r>
            <a:r>
              <a:rPr sz="1700" b="0" i="0">
                <a:solidFill>
                  <a:srgbClr val="1C252B"/>
                </a:solidFill>
                <a:latin typeface="Cambria"/>
              </a:rPr>
              <a:t>η</a:t>
            </a:r>
            <a:r>
              <a:rPr sz="1700" b="0" i="0">
                <a:solidFill>
                  <a:srgbClr val="1C252B"/>
                </a:solidFill>
                <a:latin typeface="Segoe UI"/>
              </a:rPr>
              <a:t> the </a:t>
            </a:r>
            <a:r>
              <a:rPr sz="1700" b="1" i="0">
                <a:solidFill>
                  <a:srgbClr val="1A5276"/>
                </a:solidFill>
                <a:latin typeface="Segoe UI"/>
              </a:rPr>
              <a:t>learning rate</a:t>
            </a:r>
            <a:r>
              <a:rPr sz="1700" b="0" i="0">
                <a:solidFill>
                  <a:srgbClr val="1C252B"/>
                </a:solidFill>
                <a:latin typeface="Segoe UI"/>
              </a:rPr>
              <a:t>. If the prediction is right, </a:t>
            </a:r>
            <a:r>
              <a:rPr sz="1700" b="0" i="1">
                <a:solidFill>
                  <a:srgbClr val="1C252B"/>
                </a:solidFill>
                <a:latin typeface="Cambria"/>
              </a:rPr>
              <a:t>y</a:t>
            </a:r>
            <a:r>
              <a:rPr sz="1700" b="0" i="0">
                <a:solidFill>
                  <a:srgbClr val="1C252B"/>
                </a:solidFill>
                <a:latin typeface="Cambria"/>
              </a:rPr>
              <a:t> − </a:t>
            </a:r>
            <a:r>
              <a:rPr sz="1700" b="0" i="1">
                <a:solidFill>
                  <a:srgbClr val="1C252B"/>
                </a:solidFill>
                <a:latin typeface="Cambria"/>
              </a:rPr>
              <a:t>ŷ</a:t>
            </a:r>
            <a:r>
              <a:rPr sz="1700" b="0" i="0">
                <a:solidFill>
                  <a:srgbClr val="1C252B"/>
                </a:solidFill>
                <a:latin typeface="Cambria"/>
              </a:rPr>
              <a:t> = 0</a:t>
            </a:r>
            <a:r>
              <a:rPr sz="1700" b="0" i="0">
                <a:solidFill>
                  <a:srgbClr val="1C252B"/>
                </a:solidFill>
                <a:latin typeface="Segoe UI"/>
              </a:rPr>
              <a:t> and nothing changes. If it is wrong, every weight moves in the direction that would have helped, by an amount proportional to the input.</a:t>
            </a:r>
          </a:p>
        </p:txBody>
      </p:sp>
      <p:sp>
        <p:nvSpPr>
          <p:cNvPr id="15" name="body-6"/>
          <p:cNvSpPr txBox="1"/>
          <p:nvPr/>
        </p:nvSpPr>
        <p:spPr>
          <a:xfrm>
            <a:off x="1060704" y="5364662"/>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Segoe UI"/>
              </a:rPr>
              <a:t>After</a:t>
            </a:r>
            <a:r>
              <a:rPr sz="1700" b="0" i="0">
                <a:solidFill>
                  <a:srgbClr val="1C252B"/>
                </a:solidFill>
                <a:latin typeface="Segoe UI"/>
              </a:rPr>
              <a:t> F. Rosenblatt, “The Perceptron: A Probabilistic Model for Information Storage and Organization in the Brain”, </a:t>
            </a:r>
            <a:r>
              <a:rPr sz="1700" b="0" i="1">
                <a:solidFill>
                  <a:srgbClr val="1C252B"/>
                </a:solidFill>
                <a:latin typeface="Segoe UI"/>
              </a:rPr>
              <a:t>Psychological Review</a:t>
            </a:r>
            <a:r>
              <a:rPr sz="1700" b="0" i="0">
                <a:solidFill>
                  <a:srgbClr val="1C252B"/>
                </a:solidFill>
                <a:latin typeface="Segoe UI"/>
              </a:rPr>
              <a:t> 65, 1958.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28134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Supervised Learning</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§17.3  ·  Handout p. 178     </a:t>
            </a:r>
            <a:fld id="{F086FBC1-4081-477A-A8F4-64C106CD8E7C}"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268895"/>
          </a:xfrm>
          <a:prstGeom prst="roundRect">
            <a:avLst>
              <a:gd name="adj" fmla="val 4030"/>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26889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Trained on the twelve tasks with </a:t>
            </a:r>
            <a:r>
              <a:rPr sz="2300" b="0" i="0">
                <a:solidFill>
                  <a:srgbClr val="1C252B"/>
                </a:solidFill>
                <a:latin typeface="Cambria"/>
              </a:rPr>
              <a:t>η = 0.1</a:t>
            </a:r>
            <a:r>
              <a:rPr sz="2300" b="0" i="0">
                <a:solidFill>
                  <a:srgbClr val="1C252B"/>
                </a:solidFill>
                <a:latin typeface="Segoe UI"/>
              </a:rPr>
              <a:t>, starting from all-zero weights, the perceptron converges after </a:t>
            </a:r>
            <a:r>
              <a:rPr sz="2300" b="1" i="0">
                <a:solidFill>
                  <a:srgbClr val="1C252B"/>
                </a:solidFill>
                <a:latin typeface="Segoe UI"/>
              </a:rPr>
              <a:t>three passes through the data and only two weight updates</a:t>
            </a:r>
            <a:r>
              <a:rPr sz="2300" b="0" i="0">
                <a:solidFill>
                  <a:srgbClr val="1C252B"/>
                </a:solidFill>
                <a:latin typeface="Segoe UI"/>
              </a:rPr>
              <a:t>, reaching </a:t>
            </a:r>
            <a:r>
              <a:rPr sz="2300" b="0" i="0">
                <a:solidFill>
                  <a:srgbClr val="1C252B"/>
                </a:solidFill>
                <a:latin typeface="Cambria"/>
              </a:rPr>
              <a:t>100%</a:t>
            </a:r>
            <a:r>
              <a:rPr sz="2300" b="0" i="0">
                <a:solidFill>
                  <a:srgbClr val="1C252B"/>
                </a:solidFill>
                <a:latin typeface="Segoe UI"/>
              </a:rPr>
              <a:t> accuracy. The rule it found is</a:t>
            </a:r>
          </a:p>
        </p:txBody>
      </p:sp>
      <p:pic>
        <p:nvPicPr>
          <p:cNvPr id="10" name="body-1" descr="0.70 \times \mathit{effort} \;-\; 0.60 \times \mathit{clarity} \;&gt;\; 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3302533"/>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twelve tasks and the boundary the perceptron learned</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17.2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§17.3  ·  Handout p. 178     </a:t>
            </a:r>
            <a:fld id="{3096A114-A62B-45BE-938E-A2DC58E809FD}" type="slidenum">
              <a:rPr lang="en-GB" sz="1000">
                <a:solidFill>
                  <a:srgbClr val="8795A1"/>
                </a:solidFill>
                <a:latin typeface="Segoe UI"/>
              </a:rPr>
              <a:t>14</a:t>
            </a:fld>
          </a:p>
        </p:txBody>
      </p:sp>
      <p:pic>
        <p:nvPicPr>
          <p:cNvPr id="6" name="!!figure" descr="Figure 17.2. The twelve tasks and the boundary the perceptron learned. Everything above the line is predicted on time, everything below it lat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8420" y="1737360"/>
            <a:ext cx="7854853"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Everything above the line is predicted on time, everything below it late.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28237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Artificial Neural Networks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§17.4  ·  Handout p. 179     </a:t>
            </a:r>
            <a:fld id="{DCBBB4F8-F3C7-44BA-9BCB-66CAF3B046B0}" type="slidenum">
              <a:rPr lang="en-GB" sz="1000">
                <a:solidFill>
                  <a:srgbClr val="8795A1"/>
                </a:solidFill>
                <a:latin typeface="Segoe UI"/>
              </a:rPr>
              <a:t>15</a:t>
            </a:fld>
          </a:p>
        </p:txBody>
      </p:sp>
      <p:sp>
        <p:nvSpPr>
          <p:cNvPr id="7" name="!!stbar">
            <a:extLst>
              <a:ext uri="{C183D7F6-B498-43B3-948B-1728B52AA6E4}">
                <adec:decorative xmlns:adec="http://schemas.microsoft.com/office/drawing/2017/decorative" val="1"/>
              </a:ext>
            </a:extLst>
          </p:cNvPr>
          <p:cNvSpPr/>
          <p:nvPr/>
        </p:nvSpPr>
        <p:spPr>
          <a:xfrm>
            <a:off x="658368" y="1810512"/>
            <a:ext cx="73152" cy="431535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567281"/>
          </a:xfrm>
          <a:prstGeom prst="rect">
            <a:avLst/>
          </a:prstGeom>
          <a:noFill/>
        </p:spPr>
        <p:txBody>
          <a:bodyPr wrap="square" anchor="t" lIns="0" rIns="0" tIns="0" bIns="0">
            <a:noAutofit/>
          </a:bodyPr>
          <a:lstStyle/>
          <a:p>
            <a:pPr algn="l">
              <a:lnSpc>
                <a:spcPct val="104000"/>
              </a:lnSpc>
              <a:spcBef>
                <a:spcPts val="0"/>
              </a:spcBef>
              <a:spcAft>
                <a:spcPts val="0"/>
              </a:spcAft>
            </a:pPr>
            <a:r>
              <a:rPr sz="2400" b="0" i="0">
                <a:solidFill>
                  <a:srgbClr val="1C252B"/>
                </a:solidFill>
                <a:latin typeface="Segoe UI"/>
              </a:rPr>
              <a:t>A perceptron is a single artificial neuron: inputs, weights, a summation and a threshold, loosely modelled on a biological cell. An </a:t>
            </a:r>
            <a:r>
              <a:rPr sz="2400" b="1" i="0">
                <a:solidFill>
                  <a:srgbClr val="1A5276"/>
                </a:solidFill>
                <a:latin typeface="Segoe UI"/>
              </a:rPr>
              <a:t>artificial neural network</a:t>
            </a:r>
            <a:r>
              <a:rPr sz="2400" b="0" i="0">
                <a:solidFill>
                  <a:srgbClr val="1C252B"/>
                </a:solidFill>
                <a:latin typeface="Segoe UI"/>
              </a:rPr>
              <a:t> connects many of them in layers, so that the outputs of one layer are the inputs of the next.</a:t>
            </a:r>
          </a:p>
        </p:txBody>
      </p:sp>
      <p:sp>
        <p:nvSpPr>
          <p:cNvPr id="9" name="body-1"/>
          <p:cNvSpPr txBox="1"/>
          <p:nvPr/>
        </p:nvSpPr>
        <p:spPr>
          <a:xfrm>
            <a:off x="1042415" y="3481425"/>
            <a:ext cx="10417759" cy="2708452"/>
          </a:xfrm>
          <a:prstGeom prst="rect">
            <a:avLst/>
          </a:prstGeom>
          <a:noFill/>
        </p:spPr>
        <p:txBody>
          <a:bodyPr wrap="square" anchor="t" lIns="0" rIns="0" tIns="0" bIns="0">
            <a:noAutofit/>
          </a:bodyPr>
          <a:lstStyle/>
          <a:p>
            <a:pPr algn="l">
              <a:lnSpc>
                <a:spcPct val="104000"/>
              </a:lnSpc>
              <a:spcBef>
                <a:spcPts val="0"/>
              </a:spcBef>
              <a:spcAft>
                <a:spcPts val="0"/>
              </a:spcAft>
            </a:pPr>
            <a:r>
              <a:rPr sz="2400" b="0" i="0">
                <a:solidFill>
                  <a:srgbClr val="1C252B"/>
                </a:solidFill>
                <a:latin typeface="Segoe UI"/>
              </a:rPr>
              <a:t>The idea is old — McCulloch and Pitts proposed the artificial neuron in 1943 — and the reason it took until the 1980s to become useful is the subject of the next section. What a layered network buys is the ability to represent decision boundaries that are not straight lines, and what it costs is a learning rule: the perceptron rule works because we know the right answer at the output, and in a hidden layer we do not. Solving that is </a:t>
            </a:r>
            <a:r>
              <a:rPr sz="2400" b="1" i="0">
                <a:solidFill>
                  <a:srgbClr val="1A5276"/>
                </a:solidFill>
                <a:latin typeface="Segoe UI"/>
              </a:rPr>
              <a:t>backpropagation</a:t>
            </a:r>
            <a:r>
              <a:rPr sz="2400" b="0" i="0">
                <a:solidFill>
                  <a:srgbClr val="1C252B"/>
                </a:solidFill>
                <a:latin typeface="Segoe UI"/>
              </a:rPr>
              <a:t>, and it is Chapter 13 of </a:t>
            </a:r>
            <a:r>
              <a:rPr sz="2400" b="0" i="1">
                <a:solidFill>
                  <a:srgbClr val="1C252B"/>
                </a:solidFill>
                <a:latin typeface="Segoe UI"/>
              </a:rPr>
              <a:t>Machine Learning</a:t>
            </a:r>
            <a:r>
              <a:rPr sz="24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351683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Linear Separability and the Exclusive-Or Limit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5 OF 8</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17.5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17.1   One Chapter, and Why</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17.2   Three Kinds of Learning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17.3   Supervised Learning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17.4   Artificial Neural Networks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17.5   Linear Separability and the Exclusive-Or Limit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17.6   Unsupervised Learning</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17.7   Reinforcement Learning</a:t>
            </a:r>
          </a:p>
        </p:txBody>
      </p:sp>
      <p:sp>
        <p:nvSpPr>
          <p:cNvPr id="13" name="!!dl7"/>
          <p:cNvSpPr txBox="1"/>
          <p:nvPr/>
        </p:nvSpPr>
        <p:spPr>
          <a:xfrm>
            <a:off x="4846320" y="60807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17.8   Where This Course Hands Over</a:t>
            </a:r>
          </a:p>
        </p:txBody>
      </p:sp>
      <p:sp>
        <p:nvSpPr>
          <p:cNvPr id="14"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§17.5     </a:t>
            </a:r>
            <a:fld id="{F5B8210A-CC9E-4A5F-A4A1-2D70990E5C41}" type="slidenum">
              <a:rPr lang="en-GB" sz="1000">
                <a:solidFill>
                  <a:srgbClr val="8795A1"/>
                </a:solidFill>
                <a:latin typeface="Segoe UI"/>
              </a:rPr>
              <a:t>16</a:t>
            </a:fld>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375129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Linear Separability and the Exclusive-Or Limit</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179     </a:t>
            </a:r>
            <a:fld id="{55B6DBE6-5D8B-46A5-B63D-81EDFB866EBD}" type="slidenum">
              <a:rPr lang="en-GB" sz="1000">
                <a:solidFill>
                  <a:srgbClr val="8795A1"/>
                </a:solidFill>
                <a:latin typeface="Segoe UI"/>
              </a:rPr>
              <a:t>17</a:t>
            </a:fld>
          </a:p>
        </p:txBody>
      </p:sp>
      <p:graphicFrame>
        <p:nvGraphicFramePr>
          <p:cNvPr id="7" name="!!table"/>
          <p:cNvGraphicFramePr>
            <a:graphicFrameLocks noGrp="1"/>
          </p:cNvGraphicFramePr>
          <p:nvPr/>
        </p:nvGraphicFramePr>
        <p:xfrm>
          <a:off x="658368" y="1737360"/>
          <a:ext cx="6870185" cy="2026920"/>
        </p:xfrm>
        <a:graphic>
          <a:graphicData uri="http://schemas.openxmlformats.org/drawingml/2006/table">
            <a:tbl>
              <a:tblPr firstRow="0" bandRow="0" firstCol="0" lastRow="0" lastCol="0" bandCol="0">
                <a:tableStyleId>{2D5ABB26-0587-4C30-8999-92F81FD0307C}</a:tableStyleId>
              </a:tblPr>
              <a:tblGrid>
                <a:gridCol w="1144538"/>
                <a:gridCol w="1144538"/>
                <a:gridCol w="1144538"/>
                <a:gridCol w="3436571"/>
              </a:tblGrid>
              <a:tr h="405384">
                <a:tc>
                  <a:txBody>
                    <a:bodyPr wrap="square"/>
                    <a:lstStyle/>
                    <a:p>
                      <a:pPr algn="l"/>
                      <a:r>
                        <a:rPr sz="1700" b="1" i="0">
                          <a:solidFill>
                            <a:srgbClr val="1A5276"/>
                          </a:solidFill>
                          <a:latin typeface="Segoe UI"/>
                        </a:rPr>
                        <a:t>Effort</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Clarity</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Late?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Why</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small (2)</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high (9)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easy, and understood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large (9)</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low (2)</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no</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obviously hard; planned for</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large (9)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high (9)</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looked easy because it was clear</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small (2)</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low (2)</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yes</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looked easy because it was small</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98574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exclusive-or arrangement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17.3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179     </a:t>
            </a:r>
            <a:fld id="{C728DBF2-1B09-4C32-98A5-1924C9204317}" type="slidenum">
              <a:rPr lang="en-GB" sz="1000">
                <a:solidFill>
                  <a:srgbClr val="8795A1"/>
                </a:solidFill>
                <a:latin typeface="Segoe UI"/>
              </a:rPr>
              <a:t>18</a:t>
            </a:fld>
          </a:p>
        </p:txBody>
      </p:sp>
      <p:pic>
        <p:nvPicPr>
          <p:cNvPr id="6" name="!!figure" descr="Figure 17.3. The exclusive-or arrangement. The two late tasks sit at opposite corners, and so do the two on time tasks. Any straight line has at least one point on the wrong sid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503305" y="1737360"/>
            <a:ext cx="7185085"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two late tasks sit at opposite corners, and so do the two on time tasks. Any straight line has at least one point on the wrong side.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22020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Proving the limit, not merely observing it</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179     </a:t>
            </a:r>
            <a:fld id="{247D89EB-63DA-4335-8A0E-72497A86FE4D}"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16044"/>
          </a:xfrm>
          <a:prstGeom prst="roundRect">
            <a:avLst>
              <a:gd name="adj" fmla="val 207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16044"/>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Failing to converge is weak evidence. The learning rate might be wrong, the initialisation unlucky, the budget too small — any practitioner has seen all three.</a:t>
            </a:r>
          </a:p>
        </p:txBody>
      </p:sp>
      <p:sp>
        <p:nvSpPr>
          <p:cNvPr id="10" name="body-1"/>
          <p:cNvSpPr txBox="1"/>
          <p:nvPr/>
        </p:nvSpPr>
        <p:spPr>
          <a:xfrm>
            <a:off x="1060704" y="2899308"/>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So the lab settles it by brute force: it sweeps a grid of every line </a:t>
            </a:r>
            <a:r>
              <a:rPr sz="2200" b="0" i="1">
                <a:solidFill>
                  <a:srgbClr val="1C252B"/>
                </a:solidFill>
                <a:latin typeface="Cambria"/>
              </a:rPr>
              <a:t>w</a:t>
            </a:r>
            <a:r>
              <a:rPr sz="1450" b="0" i="0" baseline="-25000">
                <a:solidFill>
                  <a:srgbClr val="1C252B"/>
                </a:solidFill>
                <a:latin typeface="Cambria"/>
              </a:rPr>
              <a:t>0</a:t>
            </a:r>
            <a:r>
              <a:rPr sz="2200" b="0" i="1">
                <a:solidFill>
                  <a:srgbClr val="1C252B"/>
                </a:solidFill>
                <a:latin typeface="Cambria"/>
              </a:rPr>
              <a:t>x</a:t>
            </a:r>
            <a:r>
              <a:rPr sz="2200" b="0" i="0">
                <a:solidFill>
                  <a:srgbClr val="1C252B"/>
                </a:solidFill>
                <a:latin typeface="Cambria"/>
              </a:rPr>
              <a:t> + </a:t>
            </a:r>
            <a:r>
              <a:rPr sz="2200" b="0" i="1">
                <a:solidFill>
                  <a:srgbClr val="1C252B"/>
                </a:solidFill>
                <a:latin typeface="Cambria"/>
              </a:rPr>
              <a:t>w</a:t>
            </a:r>
            <a:r>
              <a:rPr sz="1450" b="0" i="0" baseline="-25000">
                <a:solidFill>
                  <a:srgbClr val="1C252B"/>
                </a:solidFill>
                <a:latin typeface="Cambria"/>
              </a:rPr>
              <a:t>1</a:t>
            </a:r>
            <a:r>
              <a:rPr sz="2200" b="0" i="1">
                <a:solidFill>
                  <a:srgbClr val="1C252B"/>
                </a:solidFill>
                <a:latin typeface="Cambria"/>
              </a:rPr>
              <a:t>y</a:t>
            </a:r>
            <a:r>
              <a:rPr sz="2200" b="0" i="0">
                <a:solidFill>
                  <a:srgbClr val="1C252B"/>
                </a:solidFill>
                <a:latin typeface="Cambria"/>
              </a:rPr>
              <a:t> + </a:t>
            </a:r>
            <a:r>
              <a:rPr sz="2200" b="0" i="1">
                <a:solidFill>
                  <a:srgbClr val="1C252B"/>
                </a:solidFill>
                <a:latin typeface="Cambria"/>
              </a:rPr>
              <a:t>b</a:t>
            </a:r>
            <a:r>
              <a:rPr sz="2200" b="0" i="0">
                <a:solidFill>
                  <a:srgbClr val="1C252B"/>
                </a:solidFill>
                <a:latin typeface="Cambria"/>
              </a:rPr>
              <a:t> = 0</a:t>
            </a:r>
            <a:r>
              <a:rPr sz="2200" b="0" i="0">
                <a:solidFill>
                  <a:srgbClr val="1C252B"/>
                </a:solidFill>
                <a:latin typeface="Segoe UI"/>
              </a:rPr>
              <a:t> over a wide range of coefficients and records the best accuracy any of them achieves. The answer is </a:t>
            </a:r>
            <a:r>
              <a:rPr sz="2200" b="1" i="0">
                <a:solidFill>
                  <a:srgbClr val="1C252B"/>
                </a:solidFill>
                <a:latin typeface="Segoe UI"/>
              </a:rPr>
              <a:t>75%</a:t>
            </a:r>
            <a:r>
              <a:rPr sz="2200" b="0" i="0">
                <a:solidFill>
                  <a:srgbClr val="1C252B"/>
                </a:solidFill>
                <a:latin typeface="Segoe UI"/>
              </a:rPr>
              <a:t> — three points out of four — and no line in the grid does better.</a:t>
            </a:r>
          </a:p>
        </p:txBody>
      </p:sp>
      <p:sp>
        <p:nvSpPr>
          <p:cNvPr id="11" name="body-2"/>
          <p:cNvSpPr txBox="1"/>
          <p:nvPr/>
        </p:nvSpPr>
        <p:spPr>
          <a:xfrm>
            <a:off x="1060704" y="4447743"/>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That is the difference between “my training run failed” and “this hypothesis class cannot represent this function”. The first is an engineering problem; the second is a mathematical fact, and no amount of training fixes it. Learning to tell them apart is worth more than the perceptron rule itself.</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45465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Linear Separability and the Exclusive-Or Limit</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§17.5  ·  Handout p. 179     </a:t>
            </a:r>
            <a:fld id="{C816D61B-0FEA-4824-AAF3-0C77ABF9549C}"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32503"/>
          </a:xfrm>
          <a:prstGeom prst="roundRect">
            <a:avLst>
              <a:gd name="adj" fmla="val 2110"/>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32503"/>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In 1969 Minsky and Papert published exactly this analysis — with more rigour and over a wider class of problems — in </a:t>
            </a:r>
            <a:r>
              <a:rPr sz="1900" b="0" i="1">
                <a:solidFill>
                  <a:srgbClr val="1C252B"/>
                </a:solidFill>
                <a:latin typeface="Segoe UI"/>
              </a:rPr>
              <a:t>Perceptrons</a:t>
            </a:r>
            <a:r>
              <a:rPr sz="1900" b="0" i="0">
                <a:solidFill>
                  <a:srgbClr val="1C252B"/>
                </a:solidFill>
                <a:latin typeface="Segoe UI"/>
              </a:rPr>
              <a:t>. The effect on the field was severe: funding for neural network research largely stopped, and the line stayed closed for roughly fifteen years.</a:t>
            </a:r>
          </a:p>
        </p:txBody>
      </p:sp>
      <p:sp>
        <p:nvSpPr>
          <p:cNvPr id="10" name="body-1"/>
          <p:cNvSpPr txBox="1"/>
          <p:nvPr/>
        </p:nvSpPr>
        <p:spPr>
          <a:xfrm>
            <a:off x="1060704" y="3084398"/>
            <a:ext cx="10161727"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Two things are worth knowing about that episode, because it is routinely retold badly.</a:t>
            </a:r>
          </a:p>
        </p:txBody>
      </p:sp>
      <p:sp>
        <p:nvSpPr>
          <p:cNvPr id="11" name="body-2"/>
          <p:cNvSpPr txBox="1"/>
          <p:nvPr/>
        </p:nvSpPr>
        <p:spPr>
          <a:xfrm>
            <a:off x="1060704" y="3518255"/>
            <a:ext cx="10161727"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1">
                <a:solidFill>
                  <a:srgbClr val="1C252B"/>
                </a:solidFill>
                <a:latin typeface="Segoe UI"/>
              </a:rPr>
              <a:t>The result is correct.</a:t>
            </a:r>
            <a:r>
              <a:rPr sz="1900" b="0" i="0">
                <a:solidFill>
                  <a:srgbClr val="1C252B"/>
                </a:solidFill>
                <a:latin typeface="Segoe UI"/>
              </a:rPr>
              <a:t> A single-layer perceptron genuinely cannot represent exclusive-or, and the lab reproduces the proof.</a:t>
            </a:r>
          </a:p>
        </p:txBody>
      </p:sp>
      <p:sp>
        <p:nvSpPr>
          <p:cNvPr id="12" name="body-3"/>
          <p:cNvSpPr txBox="1"/>
          <p:nvPr/>
        </p:nvSpPr>
        <p:spPr>
          <a:xfrm>
            <a:off x="1060704" y="4253255"/>
            <a:ext cx="10161727"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0" i="1">
                <a:solidFill>
                  <a:srgbClr val="1C252B"/>
                </a:solidFill>
                <a:latin typeface="Segoe UI"/>
              </a:rPr>
              <a:t>The conclusion drawn from it was not.</a:t>
            </a:r>
            <a:r>
              <a:rPr sz="1900" b="0" i="0">
                <a:solidFill>
                  <a:srgbClr val="1C252B"/>
                </a:solidFill>
                <a:latin typeface="Segoe UI"/>
              </a:rPr>
              <a:t> A network with a hidden layer can represent exclusive-or easily; what was missing in 1969 was a way to </a:t>
            </a:r>
            <a:r>
              <a:rPr sz="1900" b="0" i="1">
                <a:solidFill>
                  <a:srgbClr val="1C252B"/>
                </a:solidFill>
                <a:latin typeface="Segoe UI"/>
              </a:rPr>
              <a:t>train</a:t>
            </a:r>
            <a:r>
              <a:rPr sz="1900" b="0" i="0">
                <a:solidFill>
                  <a:srgbClr val="1C252B"/>
                </a:solidFill>
                <a:latin typeface="Segoe UI"/>
              </a:rPr>
              <a:t> one, and backpropagation supplied it in the mid-1980s. So the field abandoned a line of work because a limitation of the simplest case was read as a limitation of the approach — which is Chapter 1’s recurring pattern, a true result about reach mistaken for a verdict.</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468911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Unsupervised Learning</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§17.6  ·  Handout p. 181     </a:t>
            </a:r>
            <a:fld id="{DB64EC3C-5119-4A3C-A02C-7F7ACEB8F44A}" type="slidenum">
              <a:rPr lang="en-GB" sz="1000">
                <a:solidFill>
                  <a:srgbClr val="8795A1"/>
                </a:solidFill>
                <a:latin typeface="Segoe UI"/>
              </a:rPr>
              <a:t>21</a:t>
            </a:fld>
          </a:p>
        </p:txBody>
      </p:sp>
      <p:sp>
        <p:nvSpPr>
          <p:cNvPr id="7" name="!!stbar">
            <a:extLst>
              <a:ext uri="{C183D7F6-B498-43B3-948B-1728B52AA6E4}">
                <adec:decorative xmlns:adec="http://schemas.microsoft.com/office/drawing/2017/decorative" val="1"/>
              </a:ext>
            </a:extLst>
          </p:cNvPr>
          <p:cNvSpPr/>
          <p:nvPr/>
        </p:nvSpPr>
        <p:spPr>
          <a:xfrm>
            <a:off x="658368" y="1810512"/>
            <a:ext cx="73152" cy="393014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Six months of tickets, no labels, and the question </a:t>
            </a:r>
            <a:r>
              <a:rPr sz="2300" b="0" i="1">
                <a:solidFill>
                  <a:srgbClr val="1C252B"/>
                </a:solidFill>
                <a:latin typeface="Segoe UI"/>
              </a:rPr>
              <a:t>what kinds of ticket do we actually get?</a:t>
            </a:r>
          </a:p>
        </p:txBody>
      </p:sp>
      <p:sp>
        <p:nvSpPr>
          <p:cNvPr id="9" name="body-1"/>
          <p:cNvSpPr txBox="1"/>
          <p:nvPr/>
        </p:nvSpPr>
        <p:spPr>
          <a:xfrm>
            <a:off x="1042415" y="2681960"/>
            <a:ext cx="10417759"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There is no right answer to check against, which is what makes this different in kind rather than in difficulty. A program can group tickets by similarity and the groups may be illuminating or useless; nothing in the data says which. Judging the result requires a person who knows the domain, and inventing measures that stand in for that judgement is an active research area.</a:t>
            </a:r>
          </a:p>
        </p:txBody>
      </p:sp>
      <p:sp>
        <p:nvSpPr>
          <p:cNvPr id="10" name="body-2"/>
          <p:cNvSpPr txBox="1"/>
          <p:nvPr/>
        </p:nvSpPr>
        <p:spPr>
          <a:xfrm>
            <a:off x="1042415" y="4665319"/>
            <a:ext cx="10417759"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That is as far as this course goes. </a:t>
            </a:r>
            <a:r>
              <a:rPr sz="2300" b="0" i="1">
                <a:solidFill>
                  <a:srgbClr val="1C252B"/>
                </a:solidFill>
                <a:latin typeface="Segoe UI"/>
              </a:rPr>
              <a:t>Machine Learning</a:t>
            </a:r>
            <a:r>
              <a:rPr sz="2300" b="0" i="0">
                <a:solidFill>
                  <a:srgbClr val="1C252B"/>
                </a:solidFill>
                <a:latin typeface="Segoe UI"/>
              </a:rPr>
              <a:t> Chapters 15 and 16 give </a:t>
            </a:r>
            <a:r>
              <a:rPr sz="2300" b="0" i="1">
                <a:solidFill>
                  <a:srgbClr val="1C252B"/>
                </a:solidFill>
                <a:latin typeface="Cambria"/>
              </a:rPr>
              <a:t>k</a:t>
            </a:r>
            <a:r>
              <a:rPr sz="2300" b="0" i="0">
                <a:solidFill>
                  <a:srgbClr val="1C252B"/>
                </a:solidFill>
                <a:latin typeface="Segoe UI"/>
              </a:rPr>
              <a:t>-means, hierarchical clustering, principal component analysis and self-organizing maps, with the evaluation machinery that makes them usable.</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92356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reinforcement learning loop</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17.4</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§17.7  ·  Handout p. 181     </a:t>
            </a:r>
            <a:fld id="{4FD87A03-63E8-4D64-9ED8-DDCAAE027604}" type="slidenum">
              <a:rPr lang="en-GB" sz="1000">
                <a:solidFill>
                  <a:srgbClr val="8795A1"/>
                </a:solidFill>
                <a:latin typeface="Segoe UI"/>
              </a:rPr>
              <a:t>22</a:t>
            </a:fld>
          </a:p>
        </p:txBody>
      </p:sp>
      <p:pic>
        <p:nvPicPr>
          <p:cNvPr id="6" name="!!figure" descr="Figure 17.4. The reinforcement learning loop. One figure is all this course gives it; Machine Learning Chapters 18–20 develop Markov decision processes, Monte Carlo methods and Q-learni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00008" y="1737360"/>
            <a:ext cx="9791678"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One figure is all this course gives it; Machine Learning Chapters 18–20 develop Markov decision processes, Monte Carlo methods and Q-learning.</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15802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Where This Course Hands Over</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8 OF 8</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17.8</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17.1   One Chapter, and Why</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17.2   Three Kinds of Learning</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17.3   Supervised Learning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17.4   Artificial Neural Networks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17.5   Linear Separability and the Exclusive-Or Limit</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17.6   Unsupervised Learning</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17.7   Reinforcement Learning</a:t>
            </a:r>
          </a:p>
        </p:txBody>
      </p:sp>
      <p:sp>
        <p:nvSpPr>
          <p:cNvPr id="13" name="!!dl7"/>
          <p:cNvSpPr txBox="1"/>
          <p:nvPr/>
        </p:nvSpPr>
        <p:spPr>
          <a:xfrm>
            <a:off x="4846320" y="60807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17.8   Where This Course Hands Over</a:t>
            </a:r>
          </a:p>
        </p:txBody>
      </p:sp>
      <p:sp>
        <p:nvSpPr>
          <p:cNvPr id="14"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§17.8     </a:t>
            </a:r>
            <a:fld id="{6E8DA55E-28F1-456C-A5BF-C557D2A2CC79}" type="slidenum">
              <a:rPr lang="en-GB" sz="1000">
                <a:solidFill>
                  <a:srgbClr val="8795A1"/>
                </a:solidFill>
                <a:latin typeface="Segoe UI"/>
              </a:rPr>
              <a:t>23</a:t>
            </a:fld>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39248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boundary, stated exactly</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071475CC-CA37-4DBE-B3BC-6AA71974664A}"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2043"/>
          </a:xfrm>
          <a:prstGeom prst="roundRect">
            <a:avLst>
              <a:gd name="adj" fmla="val 2096"/>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2043"/>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58460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This chapter has taught:</a:t>
            </a:r>
            <a:r>
              <a:rPr sz="1700" b="0" i="0">
                <a:solidFill>
                  <a:srgbClr val="1C252B"/>
                </a:solidFill>
                <a:latin typeface="Segoe UI"/>
              </a:rPr>
              <a:t> the three paradigms and what distinguishes them; a perceptron trained by hand; the fact that it finds a straight line; and a proof that some problems have no straight line.</a:t>
            </a:r>
          </a:p>
        </p:txBody>
      </p:sp>
      <p:sp>
        <p:nvSpPr>
          <p:cNvPr id="10" name="body-1"/>
          <p:cNvSpPr txBox="1"/>
          <p:nvPr/>
        </p:nvSpPr>
        <p:spPr>
          <a:xfrm>
            <a:off x="1060704" y="2705887"/>
            <a:ext cx="10161727" cy="166237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This course does not teach, and </a:t>
            </a:r>
            <a:r>
              <a:rPr sz="1700" b="1" i="1">
                <a:solidFill>
                  <a:srgbClr val="1C252B"/>
                </a:solidFill>
                <a:latin typeface="Segoe UI"/>
              </a:rPr>
              <a:t>Machine Learning</a:t>
            </a:r>
            <a:r>
              <a:rPr sz="1700" b="1" i="0">
                <a:solidFill>
                  <a:srgbClr val="1C252B"/>
                </a:solidFill>
                <a:latin typeface="Segoe UI"/>
              </a:rPr>
              <a:t> does:</a:t>
            </a:r>
            <a:r>
              <a:rPr sz="1700" b="0" i="0">
                <a:solidFill>
                  <a:srgbClr val="1C252B"/>
                </a:solidFill>
                <a:latin typeface="Segoe UI"/>
              </a:rPr>
              <a:t> multi-layer networks and backpropagation (its Chapter 13); how to tell whether a learned rule will work on data it has not seen — generalisation, overfitting, the bias–variance trade-off, cross-validation (Chapters 7 and 8, taught </a:t>
            </a:r>
            <a:r>
              <a:rPr sz="1700" b="0" i="1">
                <a:solidFill>
                  <a:srgbClr val="1C252B"/>
                </a:solidFill>
                <a:latin typeface="Segoe UI"/>
              </a:rPr>
              <a:t>before</a:t>
            </a:r>
            <a:r>
              <a:rPr sz="1700" b="0" i="0">
                <a:solidFill>
                  <a:srgbClr val="1C252B"/>
                </a:solidFill>
                <a:latin typeface="Segoe UI"/>
              </a:rPr>
              <a:t> the algorithms, deliberately); decision trees, naive Bayes, </a:t>
            </a:r>
            <a:r>
              <a:rPr sz="1700" b="0" i="1">
                <a:solidFill>
                  <a:srgbClr val="1C252B"/>
                </a:solidFill>
                <a:latin typeface="Cambria"/>
              </a:rPr>
              <a:t>k</a:t>
            </a:r>
            <a:r>
              <a:rPr sz="1700" b="0" i="0">
                <a:solidFill>
                  <a:srgbClr val="1C252B"/>
                </a:solidFill>
                <a:latin typeface="Segoe UI"/>
              </a:rPr>
              <a:t>-nearest neighbours, support vector machines, ensembles (Chapters 9–14); clustering and dimensionality reduction (15–17); and Markov decision processes and reinforcement learning (18–20).</a:t>
            </a:r>
          </a:p>
        </p:txBody>
      </p:sp>
      <p:sp>
        <p:nvSpPr>
          <p:cNvPr id="11" name="body-2"/>
          <p:cNvSpPr txBox="1"/>
          <p:nvPr/>
        </p:nvSpPr>
        <p:spPr>
          <a:xfrm>
            <a:off x="1060704" y="4441291"/>
            <a:ext cx="10161727" cy="139293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Why not here.</a:t>
            </a:r>
            <a:r>
              <a:rPr sz="1700" b="0" i="0">
                <a:solidFill>
                  <a:srgbClr val="1C252B"/>
                </a:solidFill>
                <a:latin typeface="Segoe UI"/>
              </a:rPr>
              <a:t> Two reasons, and neither is that the material is too hard. It would duplicate a course three semesters later that has the statistical prerequisites to do it properly — and the room it would take comes out of the symbolic material, which no other core course in the degree covers at all. A graduate who has not met resolution or arc consistency will not meet them anywhere else; a graduate who has not met backpropagation meets it in Semester 6.</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562693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the perceptron by hand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1654204B-75BC-4206-8444-D695E5EADC23}" type="slidenum">
              <a:rPr lang="en-GB" sz="1000">
                <a:solidFill>
                  <a:srgbClr val="8795A1"/>
                </a:solidFill>
                <a:latin typeface="Segoe UI"/>
              </a:rPr>
              <a:t>25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79732"/>
          </a:xfrm>
          <a:prstGeom prst="roundRect">
            <a:avLst>
              <a:gd name="adj" fmla="val 208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7973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Weights start at zero, </a:t>
            </a:r>
            <a:r>
              <a:rPr sz="1900" b="0" i="0">
                <a:solidFill>
                  <a:srgbClr val="1C252B"/>
                </a:solidFill>
                <a:latin typeface="Cambria"/>
              </a:rPr>
              <a:t>η = 0.1</a:t>
            </a:r>
            <a:r>
              <a:rPr sz="1900" b="0" i="0">
                <a:solidFill>
                  <a:srgbClr val="1C252B"/>
                </a:solidFill>
                <a:latin typeface="Segoe UI"/>
              </a:rPr>
              <a:t>, and the rule fires when </a:t>
            </a:r>
            <a:r>
              <a:rPr sz="1900" b="0" i="1">
                <a:solidFill>
                  <a:srgbClr val="1C252B"/>
                </a:solidFill>
                <a:latin typeface="Cambria"/>
              </a:rPr>
              <a:t>w</a:t>
            </a:r>
            <a:r>
              <a:rPr sz="1250" b="0" i="0" baseline="-25000">
                <a:solidFill>
                  <a:srgbClr val="1C252B"/>
                </a:solidFill>
                <a:latin typeface="Cambria"/>
              </a:rPr>
              <a:t>1</a:t>
            </a:r>
            <a:r>
              <a:rPr sz="1900" b="0" i="1">
                <a:solidFill>
                  <a:srgbClr val="1C252B"/>
                </a:solidFill>
                <a:latin typeface="Cambria"/>
              </a:rPr>
              <a:t>e</a:t>
            </a:r>
            <a:r>
              <a:rPr sz="1900" b="0" i="0">
                <a:solidFill>
                  <a:srgbClr val="1C252B"/>
                </a:solidFill>
                <a:latin typeface="Cambria"/>
              </a:rPr>
              <a:t> + </a:t>
            </a:r>
            <a:r>
              <a:rPr sz="1900" b="0" i="1">
                <a:solidFill>
                  <a:srgbClr val="1C252B"/>
                </a:solidFill>
                <a:latin typeface="Cambria"/>
              </a:rPr>
              <a:t>w</a:t>
            </a:r>
            <a:r>
              <a:rPr sz="1250" b="0" i="0" baseline="-25000">
                <a:solidFill>
                  <a:srgbClr val="1C252B"/>
                </a:solidFill>
                <a:latin typeface="Cambria"/>
              </a:rPr>
              <a:t>2</a:t>
            </a:r>
            <a:r>
              <a:rPr sz="1900" b="0" i="1">
                <a:solidFill>
                  <a:srgbClr val="1C252B"/>
                </a:solidFill>
                <a:latin typeface="Cambria"/>
              </a:rPr>
              <a:t>c</a:t>
            </a:r>
            <a:r>
              <a:rPr sz="1900" b="0" i="0">
                <a:solidFill>
                  <a:srgbClr val="1C252B"/>
                </a:solidFill>
                <a:latin typeface="Cambria"/>
              </a:rPr>
              <a:t> + </a:t>
            </a:r>
            <a:r>
              <a:rPr sz="1900" b="0" i="1">
                <a:solidFill>
                  <a:srgbClr val="1C252B"/>
                </a:solidFill>
                <a:latin typeface="Cambria"/>
              </a:rPr>
              <a:t>b</a:t>
            </a:r>
            <a:r>
              <a:rPr sz="1900" b="0" i="0">
                <a:solidFill>
                  <a:srgbClr val="1C252B"/>
                </a:solidFill>
                <a:latin typeface="Cambria"/>
              </a:rPr>
              <a:t> &gt; 0</a:t>
            </a:r>
            <a:r>
              <a:rPr sz="1900" b="0" i="0">
                <a:solidFill>
                  <a:srgbClr val="1C252B"/>
                </a:solidFill>
                <a:latin typeface="Segoe UI"/>
              </a:rPr>
              <a:t>. Take the examples in order.</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Task 1</a:t>
            </a:r>
            <a:r>
              <a:rPr sz="1900" b="0" i="0">
                <a:solidFill>
                  <a:srgbClr val="1C252B"/>
                </a:solidFill>
                <a:latin typeface="Segoe UI"/>
              </a:rPr>
              <a:t> </a:t>
            </a:r>
            <a:r>
              <a:rPr sz="1900" b="0" i="0">
                <a:solidFill>
                  <a:srgbClr val="1C252B"/>
                </a:solidFill>
                <a:latin typeface="Cambria"/>
              </a:rPr>
              <a:t>(</a:t>
            </a:r>
            <a:r>
              <a:rPr sz="1900" b="0" i="1">
                <a:solidFill>
                  <a:srgbClr val="1C252B"/>
                </a:solidFill>
                <a:latin typeface="Cambria"/>
              </a:rPr>
              <a:t>e</a:t>
            </a:r>
            <a:r>
              <a:rPr sz="1900" b="0" i="0">
                <a:solidFill>
                  <a:srgbClr val="1C252B"/>
                </a:solidFill>
                <a:latin typeface="Cambria"/>
              </a:rPr>
              <a:t>,</a:t>
            </a:r>
            <a:r>
              <a:rPr sz="1900" b="0" i="1">
                <a:solidFill>
                  <a:srgbClr val="1C252B"/>
                </a:solidFill>
                <a:latin typeface="Cambria"/>
              </a:rPr>
              <a:t>c</a:t>
            </a:r>
            <a:r>
              <a:rPr sz="1900" b="0" i="0">
                <a:solidFill>
                  <a:srgbClr val="1C252B"/>
                </a:solidFill>
                <a:latin typeface="Cambria"/>
              </a:rPr>
              <a:t>) = (2,9)</a:t>
            </a:r>
            <a:r>
              <a:rPr sz="1900" b="0" i="0">
                <a:solidFill>
                  <a:srgbClr val="1C252B"/>
                </a:solidFill>
                <a:latin typeface="Segoe UI"/>
              </a:rPr>
              <a:t>, not late. Sum </a:t>
            </a:r>
            <a:r>
              <a:rPr sz="1900" b="0" i="0">
                <a:solidFill>
                  <a:srgbClr val="1C252B"/>
                </a:solidFill>
                <a:latin typeface="Cambria"/>
              </a:rPr>
              <a:t>= 0</a:t>
            </a:r>
            <a:r>
              <a:rPr sz="1900" b="0" i="0">
                <a:solidFill>
                  <a:srgbClr val="1C252B"/>
                </a:solidFill>
                <a:latin typeface="Segoe UI"/>
              </a:rPr>
              <a:t>, which is not </a:t>
            </a:r>
            <a:r>
              <a:rPr sz="1900" b="0" i="0">
                <a:solidFill>
                  <a:srgbClr val="1C252B"/>
                </a:solidFill>
                <a:latin typeface="Cambria"/>
              </a:rPr>
              <a:t>&gt; 0</a:t>
            </a:r>
            <a:r>
              <a:rPr sz="1900" b="0" i="0">
                <a:solidFill>
                  <a:srgbClr val="1C252B"/>
                </a:solidFill>
                <a:latin typeface="Segoe UI"/>
              </a:rPr>
              <a:t>, so </a:t>
            </a:r>
            <a:r>
              <a:rPr sz="1900" b="0" i="1">
                <a:solidFill>
                  <a:srgbClr val="1C252B"/>
                </a:solidFill>
                <a:latin typeface="Cambria"/>
              </a:rPr>
              <a:t>ŷ</a:t>
            </a:r>
            <a:r>
              <a:rPr sz="1900" b="0" i="0">
                <a:solidFill>
                  <a:srgbClr val="1C252B"/>
                </a:solidFill>
                <a:latin typeface="Cambria"/>
              </a:rPr>
              <a:t> = 0</a:t>
            </a:r>
            <a:r>
              <a:rPr sz="1900" b="0" i="0">
                <a:solidFill>
                  <a:srgbClr val="1C252B"/>
                </a:solidFill>
                <a:latin typeface="Segoe UI"/>
              </a:rPr>
              <a:t>. Correct, and </a:t>
            </a:r>
            <a:r>
              <a:rPr sz="1900" b="0" i="1">
                <a:solidFill>
                  <a:srgbClr val="1C252B"/>
                </a:solidFill>
                <a:latin typeface="Segoe UI"/>
              </a:rPr>
              <a:t>nothing changes</a:t>
            </a:r>
            <a:r>
              <a:rPr sz="1900" b="0" i="0">
                <a:solidFill>
                  <a:srgbClr val="1C252B"/>
                </a:solidFill>
                <a:latin typeface="Segoe UI"/>
              </a:rPr>
              <a:t> — the rule only learns from mistakes.</a:t>
            </a:r>
          </a:p>
        </p:txBody>
      </p:sp>
      <p:sp>
        <p:nvSpPr>
          <p:cNvPr id="11" name="body-2"/>
          <p:cNvSpPr txBox="1"/>
          <p:nvPr/>
        </p:nvSpPr>
        <p:spPr>
          <a:xfrm>
            <a:off x="1042416" y="348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Tasks 2–6 are all </a:t>
            </a:r>
            <a:r>
              <a:rPr sz="1900" b="0" i="1">
                <a:solidFill>
                  <a:srgbClr val="1C252B"/>
                </a:solidFill>
                <a:latin typeface="Segoe UI"/>
              </a:rPr>
              <a:t>not late</a:t>
            </a:r>
            <a:r>
              <a:rPr sz="1900" b="0" i="0">
                <a:solidFill>
                  <a:srgbClr val="1C252B"/>
                </a:solidFill>
                <a:latin typeface="Segoe UI"/>
              </a:rPr>
              <a:t> and all still predicted </a:t>
            </a:r>
            <a:r>
              <a:rPr sz="1900" b="0" i="0">
                <a:solidFill>
                  <a:srgbClr val="1C252B"/>
                </a:solidFill>
                <a:latin typeface="Cambria"/>
              </a:rPr>
              <a:t>0</a:t>
            </a:r>
            <a:r>
              <a:rPr sz="1900" b="0" i="0">
                <a:solidFill>
                  <a:srgbClr val="1C252B"/>
                </a:solidFill>
                <a:latin typeface="Segoe UI"/>
              </a:rPr>
              <a:t>. No change.</a:t>
            </a:r>
          </a:p>
        </p:txBody>
      </p:sp>
      <p:sp>
        <p:nvSpPr>
          <p:cNvPr id="12" name="body-3"/>
          <p:cNvSpPr txBox="1"/>
          <p:nvPr/>
        </p:nvSpPr>
        <p:spPr>
          <a:xfrm>
            <a:off x="1042416" y="391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Task 7</a:t>
            </a:r>
            <a:r>
              <a:rPr sz="1900" b="0" i="0">
                <a:solidFill>
                  <a:srgbClr val="1C252B"/>
                </a:solidFill>
                <a:latin typeface="Segoe UI"/>
              </a:rPr>
              <a:t> </a:t>
            </a:r>
            <a:r>
              <a:rPr sz="1900" b="0" i="0">
                <a:solidFill>
                  <a:srgbClr val="1C252B"/>
                </a:solidFill>
                <a:latin typeface="Cambria"/>
              </a:rPr>
              <a:t>(9,3)</a:t>
            </a:r>
            <a:r>
              <a:rPr sz="1900" b="0" i="0">
                <a:solidFill>
                  <a:srgbClr val="1C252B"/>
                </a:solidFill>
                <a:latin typeface="Segoe UI"/>
              </a:rPr>
              <a:t>, late. Sum </a:t>
            </a:r>
            <a:r>
              <a:rPr sz="1900" b="0" i="0">
                <a:solidFill>
                  <a:srgbClr val="1C252B"/>
                </a:solidFill>
                <a:latin typeface="Cambria"/>
              </a:rPr>
              <a:t>= 0</a:t>
            </a:r>
            <a:r>
              <a:rPr sz="1900" b="0" i="0">
                <a:solidFill>
                  <a:srgbClr val="1C252B"/>
                </a:solidFill>
                <a:latin typeface="Segoe UI"/>
              </a:rPr>
              <a:t>, so </a:t>
            </a:r>
            <a:r>
              <a:rPr sz="1900" b="0" i="1">
                <a:solidFill>
                  <a:srgbClr val="1C252B"/>
                </a:solidFill>
                <a:latin typeface="Cambria"/>
              </a:rPr>
              <a:t>ŷ</a:t>
            </a:r>
            <a:r>
              <a:rPr sz="1900" b="0" i="0">
                <a:solidFill>
                  <a:srgbClr val="1C252B"/>
                </a:solidFill>
                <a:latin typeface="Cambria"/>
              </a:rPr>
              <a:t> = 0</a:t>
            </a:r>
            <a:r>
              <a:rPr sz="1900" b="0" i="0">
                <a:solidFill>
                  <a:srgbClr val="1C252B"/>
                </a:solidFill>
                <a:latin typeface="Segoe UI"/>
              </a:rPr>
              <a:t> and </a:t>
            </a:r>
            <a:r>
              <a:rPr sz="1900" b="0" i="1">
                <a:solidFill>
                  <a:srgbClr val="1C252B"/>
                </a:solidFill>
                <a:latin typeface="Cambria"/>
              </a:rPr>
              <a:t>y</a:t>
            </a:r>
            <a:r>
              <a:rPr sz="1900" b="0" i="0">
                <a:solidFill>
                  <a:srgbClr val="1C252B"/>
                </a:solidFill>
                <a:latin typeface="Cambria"/>
              </a:rPr>
              <a:t> − </a:t>
            </a:r>
            <a:r>
              <a:rPr sz="1900" b="0" i="1">
                <a:solidFill>
                  <a:srgbClr val="1C252B"/>
                </a:solidFill>
                <a:latin typeface="Cambria"/>
              </a:rPr>
              <a:t>ŷ</a:t>
            </a:r>
            <a:r>
              <a:rPr sz="1900" b="0" i="0">
                <a:solidFill>
                  <a:srgbClr val="1C252B"/>
                </a:solidFill>
                <a:latin typeface="Cambria"/>
              </a:rPr>
              <a:t> = 1</a:t>
            </a:r>
            <a:r>
              <a:rPr sz="1900" b="0" i="0">
                <a:solidFill>
                  <a:srgbClr val="1C252B"/>
                </a:solidFill>
                <a:latin typeface="Segoe UI"/>
              </a:rPr>
              <a:t>. Update:</a:t>
            </a:r>
          </a:p>
        </p:txBody>
      </p:sp>
      <p:pic>
        <p:nvPicPr>
          <p:cNvPr id="13" name="body-4" descr="w_{1} = 0 + 0.1 \times 1 \times 9 = 0.9, \quad w_{2} = 0 + 0.1 \times 1 \times 3 = 0.3, \quad b = 0 + 0.1 = 0.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4349394"/>
            <a:ext cx="10234879" cy="324520"/>
          </a:xfrm>
          <a:prstGeom prst="rect">
            <a:avLst/>
          </a:prstGeom>
        </p:spPr>
      </p:pic>
      <p:sp>
        <p:nvSpPr>
          <p:cNvPr id="14" name="body-5"/>
          <p:cNvSpPr txBox="1"/>
          <p:nvPr/>
        </p:nvSpPr>
        <p:spPr>
          <a:xfrm>
            <a:off x="1042416" y="480662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Now the rule is </a:t>
            </a:r>
            <a:r>
              <a:rPr sz="1900" b="0" i="0">
                <a:solidFill>
                  <a:srgbClr val="1C252B"/>
                </a:solidFill>
                <a:latin typeface="Cambria"/>
              </a:rPr>
              <a:t>0.9</a:t>
            </a:r>
            <a:r>
              <a:rPr sz="1900" b="0" i="1">
                <a:solidFill>
                  <a:srgbClr val="1C252B"/>
                </a:solidFill>
                <a:latin typeface="Cambria"/>
              </a:rPr>
              <a:t>e</a:t>
            </a:r>
            <a:r>
              <a:rPr sz="1900" b="0" i="0">
                <a:solidFill>
                  <a:srgbClr val="1C252B"/>
                </a:solidFill>
                <a:latin typeface="Cambria"/>
              </a:rPr>
              <a:t> + 0.3</a:t>
            </a:r>
            <a:r>
              <a:rPr sz="1900" b="0" i="1">
                <a:solidFill>
                  <a:srgbClr val="1C252B"/>
                </a:solidFill>
                <a:latin typeface="Cambria"/>
              </a:rPr>
              <a:t>c</a:t>
            </a:r>
            <a:r>
              <a:rPr sz="1900" b="0" i="0">
                <a:solidFill>
                  <a:srgbClr val="1C252B"/>
                </a:solidFill>
                <a:latin typeface="Cambria"/>
              </a:rPr>
              <a:t> + 0.1 &gt; 0</a:t>
            </a:r>
            <a:r>
              <a:rPr sz="1900" b="0" i="0">
                <a:solidFill>
                  <a:srgbClr val="1C252B"/>
                </a:solidFill>
                <a:latin typeface="Segoe UI"/>
              </a:rPr>
              <a:t> — which predicts </a:t>
            </a:r>
            <a:r>
              <a:rPr sz="1900" b="0" i="1">
                <a:solidFill>
                  <a:srgbClr val="1C252B"/>
                </a:solidFill>
                <a:latin typeface="Segoe UI"/>
              </a:rPr>
              <a:t>everything</a:t>
            </a:r>
            <a:r>
              <a:rPr sz="1900" b="0" i="0">
                <a:solidFill>
                  <a:srgbClr val="1C252B"/>
                </a:solidFill>
                <a:latin typeface="Segoe UI"/>
              </a:rPr>
              <a:t> late, since all inputs are positive. It has over-corrected, and that is normal.</a:t>
            </a:r>
          </a:p>
        </p:txBody>
      </p:sp>
      <p:sp>
        <p:nvSpPr>
          <p:cNvPr id="15" name="body-6"/>
          <p:cNvSpPr txBox="1"/>
          <p:nvPr/>
        </p:nvSpPr>
        <p:spPr>
          <a:xfrm>
            <a:off x="1042416" y="554162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Tasks 8–12</a:t>
            </a:r>
            <a:r>
              <a:rPr sz="1900" b="0" i="0">
                <a:solidFill>
                  <a:srgbClr val="1C252B"/>
                </a:solidFill>
                <a:latin typeface="Segoe UI"/>
              </a:rPr>
              <a:t> are all late and now all predicted late. No change. End of the first pass: </a:t>
            </a:r>
            <a:r>
              <a:rPr sz="1900" b="1" i="0">
                <a:solidFill>
                  <a:srgbClr val="1C252B"/>
                </a:solidFill>
                <a:latin typeface="Segoe UI"/>
              </a:rPr>
              <a:t>one error</a:t>
            </a:r>
            <a:r>
              <a:rPr sz="1900" b="0" i="0">
                <a:solidFill>
                  <a:srgbClr val="1C252B"/>
                </a:solidFill>
                <a:latin typeface="Segoe UI"/>
              </a:rPr>
              <a:t>.</a:t>
            </a:r>
          </a:p>
        </p:txBody>
      </p:sp>
      <p:sp>
        <p:nvSpPr>
          <p:cNvPr id="16" name="body-6bar">
            <a:extLst>
              <a:ext uri="{C183D7F6-B498-43B3-948B-1728B52AA6E4}">
                <adec:decorative xmlns:adec="http://schemas.microsoft.com/office/drawing/2017/decorative" val="1"/>
              </a:ext>
            </a:extLst>
          </p:cNvPr>
          <p:cNvSpPr/>
          <p:nvPr/>
        </p:nvSpPr>
        <p:spPr>
          <a:xfrm>
            <a:off x="841248" y="555991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586139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wipe(right)">
                                      <p:cBhvr>
                                        <p:cTn id="33" dur="42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the perceptron by hand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A4F21468-589E-4494-A4D5-CB046ABF6ABD}" type="slidenum">
              <a:rPr lang="en-GB" sz="1000">
                <a:solidFill>
                  <a:srgbClr val="8795A1"/>
                </a:solidFill>
                <a:latin typeface="Segoe UI"/>
              </a:rPr>
              <a:t>26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69252"/>
          </a:xfrm>
          <a:prstGeom prst="roundRect">
            <a:avLst>
              <a:gd name="adj" fmla="val 2303"/>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6925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Second pass, task 1</a:t>
            </a:r>
            <a:r>
              <a:rPr sz="1900" b="0" i="0">
                <a:solidFill>
                  <a:srgbClr val="1C252B"/>
                </a:solidFill>
                <a:latin typeface="Segoe UI"/>
              </a:rPr>
              <a:t> </a:t>
            </a:r>
            <a:r>
              <a:rPr sz="1900" b="0" i="0">
                <a:solidFill>
                  <a:srgbClr val="1C252B"/>
                </a:solidFill>
                <a:latin typeface="Cambria"/>
              </a:rPr>
              <a:t>(2,9)</a:t>
            </a:r>
            <a:r>
              <a:rPr sz="1900" b="0" i="0">
                <a:solidFill>
                  <a:srgbClr val="1C252B"/>
                </a:solidFill>
                <a:latin typeface="Segoe UI"/>
              </a:rPr>
              <a:t>, not late. Sum </a:t>
            </a:r>
            <a:r>
              <a:rPr sz="1900" b="0" i="0">
                <a:solidFill>
                  <a:srgbClr val="1C252B"/>
                </a:solidFill>
                <a:latin typeface="Cambria"/>
              </a:rPr>
              <a:t>= 0.9(2) + 0.3(9) + 0.1 = 1.8 + 2.7 + 0.1 = 4.6 &gt; 0</a:t>
            </a:r>
            <a:r>
              <a:rPr sz="1900" b="0" i="0">
                <a:solidFill>
                  <a:srgbClr val="1C252B"/>
                </a:solidFill>
                <a:latin typeface="Segoe UI"/>
              </a:rPr>
              <a:t>, so </a:t>
            </a:r>
            <a:r>
              <a:rPr sz="1900" b="0" i="1">
                <a:solidFill>
                  <a:srgbClr val="1C252B"/>
                </a:solidFill>
                <a:latin typeface="Cambria"/>
              </a:rPr>
              <a:t>ŷ</a:t>
            </a:r>
            <a:r>
              <a:rPr sz="1900" b="0" i="0">
                <a:solidFill>
                  <a:srgbClr val="1C252B"/>
                </a:solidFill>
                <a:latin typeface="Cambria"/>
              </a:rPr>
              <a:t> = 1</a:t>
            </a:r>
            <a:r>
              <a:rPr sz="1900" b="0" i="0">
                <a:solidFill>
                  <a:srgbClr val="1C252B"/>
                </a:solidFill>
                <a:latin typeface="Segoe UI"/>
              </a:rPr>
              <a:t>: wrong. Now </a:t>
            </a:r>
            <a:r>
              <a:rPr sz="1900" b="0" i="1">
                <a:solidFill>
                  <a:srgbClr val="1C252B"/>
                </a:solidFill>
                <a:latin typeface="Cambria"/>
              </a:rPr>
              <a:t>y</a:t>
            </a:r>
            <a:r>
              <a:rPr sz="1900" b="0" i="0">
                <a:solidFill>
                  <a:srgbClr val="1C252B"/>
                </a:solidFill>
                <a:latin typeface="Cambria"/>
              </a:rPr>
              <a:t> − </a:t>
            </a:r>
            <a:r>
              <a:rPr sz="1900" b="0" i="1">
                <a:solidFill>
                  <a:srgbClr val="1C252B"/>
                </a:solidFill>
                <a:latin typeface="Cambria"/>
              </a:rPr>
              <a:t>ŷ</a:t>
            </a:r>
            <a:r>
              <a:rPr sz="1900" b="0" i="0">
                <a:solidFill>
                  <a:srgbClr val="1C252B"/>
                </a:solidFill>
                <a:latin typeface="Cambria"/>
              </a:rPr>
              <a:t> = −1</a:t>
            </a:r>
            <a:r>
              <a:rPr sz="1900" b="0" i="0">
                <a:solidFill>
                  <a:srgbClr val="1C252B"/>
                </a:solidFill>
                <a:latin typeface="Segoe UI"/>
              </a:rPr>
              <a: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1" name="body-1" descr="w_{1} = 0.9 - 0.1(2) = 0.7, \quad w_{2} = 0.3 - 0.1(9) = -0.6, \quad b = 0.1 - 0.1 = 0.0"/>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746679"/>
            <a:ext cx="10234879" cy="324520"/>
          </a:xfrm>
          <a:prstGeom prst="rect">
            <a:avLst/>
          </a:prstGeom>
        </p:spPr>
      </p:pic>
      <p:sp>
        <p:nvSpPr>
          <p:cNvPr id="12" name="body-2"/>
          <p:cNvSpPr txBox="1"/>
          <p:nvPr/>
        </p:nvSpPr>
        <p:spPr>
          <a:xfrm>
            <a:off x="1042416" y="3203915"/>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clarity weight has gone negative</a:t>
            </a:r>
            <a:r>
              <a:rPr sz="1900" b="0" i="0">
                <a:solidFill>
                  <a:srgbClr val="1C252B"/>
                </a:solidFill>
                <a:latin typeface="Segoe UI"/>
              </a:rPr>
              <a:t>, which is the moment the rule becomes sensible: more clarity now argues </a:t>
            </a:r>
            <a:r>
              <a:rPr sz="1900" b="0" i="1">
                <a:solidFill>
                  <a:srgbClr val="1C252B"/>
                </a:solidFill>
                <a:latin typeface="Segoe UI"/>
              </a:rPr>
              <a:t>against</a:t>
            </a:r>
            <a:r>
              <a:rPr sz="1900" b="0" i="0">
                <a:solidFill>
                  <a:srgbClr val="1C252B"/>
                </a:solidFill>
                <a:latin typeface="Segoe UI"/>
              </a:rPr>
              <a:t> lateness. The learning rule was not told that; it followed from one mistake on one example.</a:t>
            </a:r>
          </a:p>
        </p:txBody>
      </p:sp>
      <p:sp>
        <p:nvSpPr>
          <p:cNvPr id="13" name="body-2bar">
            <a:extLst>
              <a:ext uri="{C183D7F6-B498-43B3-948B-1728B52AA6E4}">
                <adec:decorative xmlns:adec="http://schemas.microsoft.com/office/drawing/2017/decorative" val="1"/>
              </a:ext>
            </a:extLst>
          </p:cNvPr>
          <p:cNvSpPr/>
          <p:nvPr/>
        </p:nvSpPr>
        <p:spPr>
          <a:xfrm>
            <a:off x="841248" y="3222203"/>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3"/>
          <p:cNvSpPr txBox="1"/>
          <p:nvPr/>
        </p:nvSpPr>
        <p:spPr>
          <a:xfrm>
            <a:off x="1042416" y="424005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Tasks 2–12 in the second pass are all now predicted correctly. End of pass two: </a:t>
            </a:r>
            <a:r>
              <a:rPr sz="1900" b="1" i="0">
                <a:solidFill>
                  <a:srgbClr val="1C252B"/>
                </a:solidFill>
                <a:latin typeface="Segoe UI"/>
              </a:rPr>
              <a:t>one error</a:t>
            </a:r>
            <a:r>
              <a:rPr sz="1900" b="0" i="0">
                <a:solidFill>
                  <a:srgbClr val="1C252B"/>
                </a:solidFill>
                <a:latin typeface="Segoe UI"/>
              </a:rPr>
              <a:t>.</a:t>
            </a:r>
          </a:p>
        </p:txBody>
      </p:sp>
      <p:sp>
        <p:nvSpPr>
          <p:cNvPr id="15" name="body-4"/>
          <p:cNvSpPr txBox="1"/>
          <p:nvPr/>
        </p:nvSpPr>
        <p:spPr>
          <a:xfrm>
            <a:off x="1042416" y="467391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Third pass:</a:t>
            </a:r>
            <a:r>
              <a:rPr sz="1900" b="0" i="0">
                <a:solidFill>
                  <a:srgbClr val="1C252B"/>
                </a:solidFill>
                <a:latin typeface="Segoe UI"/>
              </a:rPr>
              <a:t> zero errors. Converged, after </a:t>
            </a:r>
            <a:r>
              <a:rPr sz="1900" b="0" i="0">
                <a:solidFill>
                  <a:srgbClr val="1C252B"/>
                </a:solidFill>
                <a:latin typeface="Cambria"/>
              </a:rPr>
              <a:t>3</a:t>
            </a:r>
            <a:r>
              <a:rPr sz="1900" b="0" i="0">
                <a:solidFill>
                  <a:srgbClr val="1C252B"/>
                </a:solidFill>
                <a:latin typeface="Segoe UI"/>
              </a:rPr>
              <a:t> epochs and </a:t>
            </a:r>
            <a:r>
              <a:rPr sz="1900" b="0" i="0">
                <a:solidFill>
                  <a:srgbClr val="1C252B"/>
                </a:solidFill>
                <a:latin typeface="Cambria"/>
              </a:rPr>
              <a:t>2</a:t>
            </a:r>
            <a:r>
              <a:rPr sz="1900" b="0" i="0">
                <a:solidFill>
                  <a:srgbClr val="1C252B"/>
                </a:solidFill>
                <a:latin typeface="Segoe UI"/>
              </a:rPr>
              <a:t> updates, with</a:t>
            </a:r>
          </a:p>
        </p:txBody>
      </p:sp>
      <p:sp>
        <p:nvSpPr>
          <p:cNvPr id="16" name="body-4bar">
            <a:extLst>
              <a:ext uri="{C183D7F6-B498-43B3-948B-1728B52AA6E4}">
                <adec:decorative xmlns:adec="http://schemas.microsoft.com/office/drawing/2017/decorative" val="1"/>
              </a:ext>
            </a:extLst>
          </p:cNvPr>
          <p:cNvSpPr/>
          <p:nvPr/>
        </p:nvSpPr>
        <p:spPr>
          <a:xfrm>
            <a:off x="841248" y="4692202"/>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7" name="body-5" descr="0.70\,e \;-\; 0.60\,c \;&gt;\; 0"/>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5107772"/>
            <a:ext cx="10234879" cy="324520"/>
          </a:xfrm>
          <a:prstGeom prst="rect">
            <a:avLst/>
          </a:prstGeom>
        </p:spPr>
      </p:pic>
      <p:sp>
        <p:nvSpPr>
          <p:cNvPr id="4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right)">
                                      <p:cBhvr>
                                        <p:cTn id="16" dur="42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2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wipe(right)">
                                      <p:cBhvr>
                                        <p:cTn id="29" dur="420"/>
                                        <p:tgtEl>
                                          <p:spTgt spid="1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42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20"/>
                                        <p:tgtEl>
                                          <p:spTgt spid="1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wipe(right)">
                                      <p:cBhvr>
                                        <p:cTn id="42"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the perceptron by hand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26E3B6D0-5BF0-4933-983D-C55AE0523485}" type="slidenum">
              <a:rPr lang="en-GB" sz="1000">
                <a:solidFill>
                  <a:srgbClr val="8795A1"/>
                </a:solidFill>
                <a:latin typeface="Segoe UI"/>
              </a:rPr>
              <a:t>27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789351"/>
          </a:xfrm>
          <a:prstGeom prst="roundRect">
            <a:avLst>
              <a:gd name="adj" fmla="val 327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789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to take from it.</a:t>
            </a:r>
            <a:r>
              <a:rPr sz="1900" b="0" i="0">
                <a:solidFill>
                  <a:srgbClr val="1C252B"/>
                </a:solidFill>
                <a:latin typeface="Segoe UI"/>
              </a:rPr>
              <a:t> Both updates came from a single misclassified example, and the second one produced the insight — a negative weight on clarity — that a person would have had to think of. That is the appeal of learning, in twelve rows and two updates.</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And what to be careful about.</a:t>
            </a:r>
            <a:r>
              <a:rPr sz="1900" b="0" i="0">
                <a:solidFill>
                  <a:srgbClr val="1C252B"/>
                </a:solidFill>
                <a:latin typeface="Segoe UI"/>
              </a:rPr>
              <a:t> The rule has </a:t>
            </a:r>
            <a:r>
              <a:rPr sz="1900" b="0" i="0">
                <a:solidFill>
                  <a:srgbClr val="1C252B"/>
                </a:solidFill>
                <a:latin typeface="Cambria"/>
              </a:rPr>
              <a:t>100%</a:t>
            </a:r>
            <a:r>
              <a:rPr sz="1900" b="0" i="0">
                <a:solidFill>
                  <a:srgbClr val="1C252B"/>
                </a:solidFill>
                <a:latin typeface="Segoe UI"/>
              </a:rPr>
              <a:t> accuracy </a:t>
            </a:r>
            <a:r>
              <a:rPr sz="1900" b="0" i="1">
                <a:solidFill>
                  <a:srgbClr val="1C252B"/>
                </a:solidFill>
                <a:latin typeface="Segoe UI"/>
              </a:rPr>
              <a:t>on the data it was trained on</a:t>
            </a:r>
            <a:r>
              <a:rPr sz="1900" b="0" i="0">
                <a:solidFill>
                  <a:srgbClr val="1C252B"/>
                </a:solidFill>
                <a:latin typeface="Segoe UI"/>
              </a:rPr>
              <a:t>, which is the least interesting fact about it. Whether it is right about the next task is a different question, and this course does not have the machinery to answer it. That question is the first thing </a:t>
            </a:r>
            <a:r>
              <a:rPr sz="1900" b="0" i="1">
                <a:solidFill>
                  <a:srgbClr val="1C252B"/>
                </a:solidFill>
                <a:latin typeface="Segoe UI"/>
              </a:rPr>
              <a:t>Machine Learning</a:t>
            </a:r>
            <a:r>
              <a:rPr sz="1900" b="0" i="0">
                <a:solidFill>
                  <a:srgbClr val="1C252B"/>
                </a:solidFill>
                <a:latin typeface="Segoe UI"/>
              </a:rPr>
              <a:t> takes up.</a:t>
            </a:r>
          </a:p>
        </p:txBody>
      </p:sp>
      <p:sp>
        <p:nvSpPr>
          <p:cNvPr id="12" name="body-1bar">
            <a:extLst>
              <a:ext uri="{C183D7F6-B498-43B3-948B-1728B52AA6E4}">
                <adec:decorative xmlns:adec="http://schemas.microsoft.com/office/drawing/2017/decorative" val="1"/>
              </a:ext>
            </a:extLst>
          </p:cNvPr>
          <p:cNvSpPr/>
          <p:nvPr/>
        </p:nvSpPr>
        <p:spPr>
          <a:xfrm>
            <a:off x="841248" y="3066110"/>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633030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B0834680-D6B8-4C62-8D8C-56F288C27EED}" type="slidenum">
              <a:rPr lang="en-GB" sz="1000">
                <a:solidFill>
                  <a:srgbClr val="8795A1"/>
                </a:solidFill>
                <a:latin typeface="Segoe UI"/>
              </a:rPr>
              <a:t>28</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Reading training accuracy as performance.</a:t>
            </a:r>
            <a:r>
              <a:rPr sz="1700" b="0" i="0">
                <a:solidFill>
                  <a:srgbClr val="1C252B"/>
                </a:solidFill>
                <a:latin typeface="Segoe UI"/>
              </a:rPr>
              <a:t> </a:t>
            </a:r>
            <a:r>
              <a:rPr sz="1700" b="0" i="0">
                <a:solidFill>
                  <a:srgbClr val="1C252B"/>
                </a:solidFill>
                <a:latin typeface="Cambria"/>
              </a:rPr>
              <a:t>100%</a:t>
            </a:r>
            <a:r>
              <a:rPr sz="1700" b="0" i="0">
                <a:solidFill>
                  <a:srgbClr val="1C252B"/>
                </a:solidFill>
                <a:latin typeface="Segoe UI"/>
              </a:rPr>
              <a:t> on the twelve rows it learned from says almost nothing about the thirteenth task.</a:t>
            </a:r>
          </a:p>
        </p:txBody>
      </p:sp>
      <p:sp>
        <p:nvSpPr>
          <p:cNvPr id="10" name="!!pb1">
            <a:extLst>
              <a:ext uri="{C183D7F6-B498-43B3-948B-1728B52AA6E4}">
                <adec:decorative xmlns:adec="http://schemas.microsoft.com/office/drawing/2017/decorative" val="1"/>
              </a:ext>
            </a:extLst>
          </p:cNvPr>
          <p:cNvSpPr/>
          <p:nvPr/>
        </p:nvSpPr>
        <p:spPr>
          <a:xfrm>
            <a:off x="658368" y="249570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1856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477414"/>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Mistaking non-convergence for slow convergence.</a:t>
            </a:r>
            <a:r>
              <a:rPr sz="1700" b="0" i="0">
                <a:solidFill>
                  <a:srgbClr val="1C252B"/>
                </a:solidFill>
                <a:latin typeface="Segoe UI"/>
              </a:rPr>
              <a:t> The XOR trace looks identical to a run that needs more epochs. Test whether </a:t>
            </a:r>
            <a:r>
              <a:rPr sz="1700" b="0" i="1">
                <a:solidFill>
                  <a:srgbClr val="1C252B"/>
                </a:solidFill>
                <a:latin typeface="Segoe UI"/>
              </a:rPr>
              <a:t>any</a:t>
            </a:r>
            <a:r>
              <a:rPr sz="1700" b="0" i="0">
                <a:solidFill>
                  <a:srgbClr val="1C252B"/>
                </a:solidFill>
                <a:latin typeface="Segoe UI"/>
              </a:rPr>
              <a:t> hypothesis in the class can fit before tuning anything.</a:t>
            </a:r>
          </a:p>
        </p:txBody>
      </p:sp>
      <p:sp>
        <p:nvSpPr>
          <p:cNvPr id="13" name="!!pb2">
            <a:extLst>
              <a:ext uri="{C183D7F6-B498-43B3-948B-1728B52AA6E4}">
                <adec:decorative xmlns:adec="http://schemas.microsoft.com/office/drawing/2017/decorative" val="1"/>
              </a:ext>
            </a:extLst>
          </p:cNvPr>
          <p:cNvSpPr/>
          <p:nvPr/>
        </p:nvSpPr>
        <p:spPr>
          <a:xfrm>
            <a:off x="658368" y="323575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5861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17468"/>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Concluding that neural networks cannot do exclusive-or.</a:t>
            </a:r>
            <a:r>
              <a:rPr sz="1700" b="0" i="0">
                <a:solidFill>
                  <a:srgbClr val="1C252B"/>
                </a:solidFill>
                <a:latin typeface="Segoe UI"/>
              </a:rPr>
              <a:t> A single perceptron cannot; a hidden layer can, easily. The 1969 result was correct and the inference drawn from it was not.</a:t>
            </a:r>
          </a:p>
        </p:txBody>
      </p:sp>
      <p:sp>
        <p:nvSpPr>
          <p:cNvPr id="16" name="!!pb3">
            <a:extLst>
              <a:ext uri="{C183D7F6-B498-43B3-948B-1728B52AA6E4}">
                <adec:decorative xmlns:adec="http://schemas.microsoft.com/office/drawing/2017/decorative" val="1"/>
              </a:ext>
            </a:extLst>
          </p:cNvPr>
          <p:cNvSpPr/>
          <p:nvPr/>
        </p:nvSpPr>
        <p:spPr>
          <a:xfrm>
            <a:off x="658368" y="397581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99867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957523"/>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Expecting a learned rule to come with a guarantee.</a:t>
            </a:r>
            <a:r>
              <a:rPr sz="1700" b="0" i="0">
                <a:solidFill>
                  <a:srgbClr val="1C252B"/>
                </a:solidFill>
                <a:latin typeface="Segoe UI"/>
              </a:rPr>
              <a:t> Parts II to V produced plans that work and proofs that hold. A learned rule comes with an error estimate, and producing an honest one is harder than producing the rule.</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Treating unsupervised learning as supervised learning without labels.</a:t>
            </a:r>
            <a:r>
              <a:rPr sz="1700" b="0" i="0">
                <a:solidFill>
                  <a:srgbClr val="1C252B"/>
                </a:solidFill>
                <a:latin typeface="Segoe UI"/>
              </a:rPr>
              <a:t> There is no right answer to check against, which changes what “it worked” can even mean.</a:t>
            </a:r>
          </a:p>
        </p:txBody>
      </p:sp>
      <p:sp>
        <p:nvSpPr>
          <p:cNvPr id="22" name="!!pb5">
            <a:extLst>
              <a:ext uri="{C183D7F6-B498-43B3-948B-1728B52AA6E4}">
                <adec:decorative xmlns:adec="http://schemas.microsoft.com/office/drawing/2017/decorative" val="1"/>
              </a:ext>
            </a:extLst>
          </p:cNvPr>
          <p:cNvSpPr/>
          <p:nvPr/>
        </p:nvSpPr>
        <p:spPr>
          <a:xfrm>
            <a:off x="658368" y="572536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74822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707075"/>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Believing this chapter is a machine learning course.</a:t>
            </a:r>
            <a:r>
              <a:rPr sz="1700" b="0" i="0">
                <a:solidFill>
                  <a:srgbClr val="1C252B"/>
                </a:solidFill>
                <a:latin typeface="Segoe UI"/>
              </a:rPr>
              <a:t> It is four sections and a signpost. Appendix F lists what is missing.</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656475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5F7CBECB-85BC-4F2D-B198-B9CCF8E6F5A1}" type="slidenum">
              <a:rPr lang="en-GB" sz="1000">
                <a:solidFill>
                  <a:srgbClr val="8795A1"/>
                </a:solidFill>
                <a:latin typeface="Segoe UI"/>
              </a:rPr>
              <a:t>29</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learning rule from scratch on twelve tasks, then on the exclusive-or arrangement, then the brute-force proof that no line can do it.</a:t>
            </a:r>
          </a:p>
        </p:txBody>
      </p:sp>
      <p:sp>
        <p:nvSpPr>
          <p:cNvPr id="8" name="!!lfTHIS">
            <a:extLst>
              <a:ext uri="{C183D7F6-B498-43B3-948B-1728B52AA6E4}">
                <adec:decorative xmlns:adec="http://schemas.microsoft.com/office/drawing/2017/decorative" val="1"/>
              </a:ext>
            </a:extLst>
          </p:cNvPr>
          <p:cNvSpPr/>
          <p:nvPr/>
        </p:nvSpPr>
        <p:spPr>
          <a:xfrm>
            <a:off x="658368"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1C252B"/>
                </a:solidFill>
                <a:latin typeface="Segoe UI"/>
              </a:rPr>
              <a:t>Week 14: Risk rating by Mamdani inference; the perceptron and its limit</a:t>
            </a:r>
          </a:p>
        </p:txBody>
      </p:sp>
      <p:sp>
        <p:nvSpPr>
          <p:cNvPr id="12" name="!!lfWHAT">
            <a:extLst>
              <a:ext uri="{C183D7F6-B498-43B3-948B-1728B52AA6E4}">
                <adec:decorative xmlns:adec="http://schemas.microsoft.com/office/drawing/2017/decorative" val="1"/>
              </a:ext>
            </a:extLst>
          </p:cNvPr>
          <p:cNvSpPr/>
          <p:nvPr/>
        </p:nvSpPr>
        <p:spPr>
          <a:xfrm>
            <a:off x="4374794"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139 lines of Python</a:t>
            </a:r>
          </a:p>
        </p:txBody>
      </p:sp>
      <p:sp>
        <p:nvSpPr>
          <p:cNvPr id="16" name="!!lfRUNN">
            <a:extLst>
              <a:ext uri="{C183D7F6-B498-43B3-948B-1728B52AA6E4}">
                <adec:decorative xmlns:adec="http://schemas.microsoft.com/office/drawing/2017/decorative" val="1"/>
              </a:ext>
            </a:extLst>
          </p:cNvPr>
          <p:cNvSpPr/>
          <p:nvPr/>
        </p:nvSpPr>
        <p:spPr>
          <a:xfrm>
            <a:off x="8091220"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code/ch17_perceptron_its_limit.py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679921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BBD99ED0-F689-4152-AB9D-579A1F45E179}" type="slidenum">
              <a:rPr lang="en-GB" sz="1000">
                <a:solidFill>
                  <a:srgbClr val="8795A1"/>
                </a:solidFill>
                <a:latin typeface="Segoe UI"/>
              </a:rPr>
              <a:t>30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quot;&quot;&quot;Chapter 17 lab -- the perceptron, and where this course stops. Two datasets and one proof. The first converges in three passes. The second never converges, and the grid sweep at the end shows that this is a fact about straight lines rather than about the training run. &quot;&quot;&quot; # twelve past tasks: (effort days, requirement clarity) -&gt; late? TASKS = [ ((2, 9), 0), ((3, 8), 0), ((4, 9), 0), ((3, 7), 0), ((5, 8), 0), ((2, 6), 0), ((9, 3), 1), ((8, 2), 1), ((10, 4), 1), ((9, 1), 1), ((7, 2), 1), ((8, 4), 1), ]"/>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900" i="0">
                <a:solidFill>
                  <a:srgbClr val="7DCEA0"/>
                </a:solidFill>
                <a:latin typeface="Consolas"/>
              </a:rPr>
              <a:t>"""Chapter 17 lab -- the perceptron, and where this course stops.</a:t>
            </a:r>
          </a:p>
          <a:p>
            <a:pPr>
              <a:lnSpc>
                <a:spcPct val="100000"/>
              </a:lnSpc>
              <a:spcAft>
                <a:spcPts val="0"/>
              </a:spcAft>
            </a:pPr>
            <a:r>
              <a:rPr sz="1900">
                <a:latin typeface="Consolas"/>
              </a:rPr>
              <a:t> </a:t>
            </a:r>
          </a:p>
          <a:p>
            <a:pPr>
              <a:lnSpc>
                <a:spcPct val="100000"/>
              </a:lnSpc>
              <a:spcAft>
                <a:spcPts val="0"/>
              </a:spcAft>
            </a:pPr>
            <a:r>
              <a:rPr sz="1900" i="0">
                <a:solidFill>
                  <a:srgbClr val="7DCEA0"/>
                </a:solidFill>
                <a:latin typeface="Consolas"/>
              </a:rPr>
              <a:t>Two datasets and one proof. The first converges in three passes. The</a:t>
            </a:r>
          </a:p>
          <a:p>
            <a:pPr>
              <a:lnSpc>
                <a:spcPct val="100000"/>
              </a:lnSpc>
              <a:spcAft>
                <a:spcPts val="0"/>
              </a:spcAft>
            </a:pPr>
            <a:r>
              <a:rPr sz="1900" i="0">
                <a:solidFill>
                  <a:srgbClr val="7DCEA0"/>
                </a:solidFill>
                <a:latin typeface="Consolas"/>
              </a:rPr>
              <a:t>second never converges, and the grid sweep at the end shows that this</a:t>
            </a:r>
          </a:p>
          <a:p>
            <a:pPr>
              <a:lnSpc>
                <a:spcPct val="100000"/>
              </a:lnSpc>
              <a:spcAft>
                <a:spcPts val="0"/>
              </a:spcAft>
            </a:pPr>
            <a:r>
              <a:rPr sz="1900" i="0">
                <a:solidFill>
                  <a:srgbClr val="7DCEA0"/>
                </a:solidFill>
                <a:latin typeface="Consolas"/>
              </a:rPr>
              <a:t>is a fact about straight lines rather than about the training run.</a:t>
            </a:r>
          </a:p>
          <a:p>
            <a:pPr>
              <a:lnSpc>
                <a:spcPct val="100000"/>
              </a:lnSpc>
              <a:spcAft>
                <a:spcPts val="0"/>
              </a:spcAft>
            </a:pPr>
            <a:r>
              <a:rPr sz="1900" i="0">
                <a:solidFill>
                  <a:srgbClr val="7DCEA0"/>
                </a:solidFill>
                <a:latin typeface="Consolas"/>
              </a:rPr>
              <a:t>"""</a:t>
            </a:r>
          </a:p>
          <a:p>
            <a:pPr>
              <a:lnSpc>
                <a:spcPct val="100000"/>
              </a:lnSpc>
              <a:spcAft>
                <a:spcPts val="0"/>
              </a:spcAft>
            </a:pPr>
            <a:r>
              <a:rPr sz="1900">
                <a:latin typeface="Consolas"/>
              </a:rPr>
              <a:t> </a:t>
            </a:r>
          </a:p>
          <a:p>
            <a:pPr>
              <a:lnSpc>
                <a:spcPct val="100000"/>
              </a:lnSpc>
              <a:spcAft>
                <a:spcPts val="0"/>
              </a:spcAft>
            </a:pPr>
            <a:r>
              <a:rPr sz="1900" i="1">
                <a:solidFill>
                  <a:srgbClr val="8795A1"/>
                </a:solidFill>
                <a:latin typeface="Consolas"/>
              </a:rPr>
              <a:t># twelve past tasks: (effort days, requirement clarity) -&gt; late?</a:t>
            </a:r>
          </a:p>
          <a:p>
            <a:pPr>
              <a:lnSpc>
                <a:spcPct val="100000"/>
              </a:lnSpc>
              <a:spcAft>
                <a:spcPts val="0"/>
              </a:spcAft>
            </a:pPr>
            <a:r>
              <a:rPr sz="1900" i="0">
                <a:solidFill>
                  <a:srgbClr val="E8EDF2"/>
                </a:solidFill>
                <a:latin typeface="Consolas"/>
              </a:rPr>
              <a:t>TASKS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9</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8</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4</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9</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3</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7</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5</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8</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6</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0</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9</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8</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10</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4</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9</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7</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8</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4</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2</a:t>
            </a:r>
          </a:p>
          <a:p>
            <a:pPr algn="r">
              <a:lnSpc>
                <a:spcPct val="100000"/>
              </a:lnSpc>
            </a:pPr>
            <a:r>
              <a:rPr sz="1900">
                <a:solidFill>
                  <a:srgbClr val="4F5D6A"/>
                </a:solidFill>
                <a:latin typeface="Consolas"/>
              </a:rPr>
              <a:t>3</a:t>
            </a:r>
          </a:p>
          <a:p>
            <a:pPr algn="r">
              <a:lnSpc>
                <a:spcPct val="100000"/>
              </a:lnSpc>
            </a:pPr>
            <a:r>
              <a:rPr sz="1900">
                <a:solidFill>
                  <a:srgbClr val="4F5D6A"/>
                </a:solidFill>
                <a:latin typeface="Consolas"/>
              </a:rPr>
              <a:t>4</a:t>
            </a:r>
          </a:p>
          <a:p>
            <a:pPr algn="r">
              <a:lnSpc>
                <a:spcPct val="100000"/>
              </a:lnSpc>
            </a:pPr>
            <a:r>
              <a:rPr sz="1900">
                <a:solidFill>
                  <a:srgbClr val="4F5D6A"/>
                </a:solidFill>
                <a:latin typeface="Consolas"/>
              </a:rPr>
              <a:t>5</a:t>
            </a:r>
          </a:p>
          <a:p>
            <a:pPr algn="r">
              <a:lnSpc>
                <a:spcPct val="100000"/>
              </a:lnSpc>
            </a:pPr>
            <a:r>
              <a:rPr sz="1900">
                <a:solidFill>
                  <a:srgbClr val="4F5D6A"/>
                </a:solidFill>
                <a:latin typeface="Consolas"/>
              </a:rPr>
              <a:t>6</a:t>
            </a:r>
          </a:p>
          <a:p>
            <a:pPr algn="r">
              <a:lnSpc>
                <a:spcPct val="100000"/>
              </a:lnSpc>
            </a:pPr>
            <a:r>
              <a:rPr sz="1900">
                <a:solidFill>
                  <a:srgbClr val="4F5D6A"/>
                </a:solidFill>
                <a:latin typeface="Consolas"/>
              </a:rPr>
              <a:t>7</a:t>
            </a:r>
          </a:p>
          <a:p>
            <a:pPr algn="r">
              <a:lnSpc>
                <a:spcPct val="100000"/>
              </a:lnSpc>
            </a:pPr>
            <a:r>
              <a:rPr sz="1900">
                <a:solidFill>
                  <a:srgbClr val="4F5D6A"/>
                </a:solidFill>
                <a:latin typeface="Consolas"/>
              </a:rPr>
              <a:t>8</a:t>
            </a:r>
          </a:p>
          <a:p>
            <a:pPr algn="r">
              <a:lnSpc>
                <a:spcPct val="100000"/>
              </a:lnSpc>
            </a:pPr>
            <a:r>
              <a:rPr sz="1900">
                <a:solidFill>
                  <a:srgbClr val="4F5D6A"/>
                </a:solidFill>
                <a:latin typeface="Consolas"/>
              </a:rPr>
              <a:t>9</a:t>
            </a:r>
          </a:p>
          <a:p>
            <a:pPr algn="r">
              <a:lnSpc>
                <a:spcPct val="100000"/>
              </a:lnSpc>
            </a:pPr>
            <a:r>
              <a:rPr sz="1900">
                <a:solidFill>
                  <a:srgbClr val="4F5D6A"/>
                </a:solidFill>
                <a:latin typeface="Consolas"/>
              </a:rPr>
              <a:t>10</a:t>
            </a:r>
          </a:p>
          <a:p>
            <a:pPr algn="r">
              <a:lnSpc>
                <a:spcPct val="100000"/>
              </a:lnSpc>
            </a:pPr>
            <a:r>
              <a:rPr sz="1900">
                <a:solidFill>
                  <a:srgbClr val="4F5D6A"/>
                </a:solidFill>
                <a:latin typeface="Consolas"/>
              </a:rPr>
              <a:t>11</a:t>
            </a:r>
          </a:p>
          <a:p>
            <a:pPr algn="r">
              <a:lnSpc>
                <a:spcPct val="100000"/>
              </a:lnSpc>
            </a:pPr>
            <a:r>
              <a:rPr sz="1900">
                <a:solidFill>
                  <a:srgbClr val="4F5D6A"/>
                </a:solidFill>
                <a:latin typeface="Consolas"/>
              </a:rPr>
              <a:t>12</a:t>
            </a:r>
          </a:p>
          <a:p>
            <a:pPr algn="r">
              <a:lnSpc>
                <a:spcPct val="100000"/>
              </a:lnSpc>
            </a:pPr>
            <a:r>
              <a:rPr sz="1900">
                <a:solidFill>
                  <a:srgbClr val="4F5D6A"/>
                </a:solidFill>
                <a:latin typeface="Consolas"/>
              </a:rPr>
              <a:t>13</a:t>
            </a:r>
          </a:p>
          <a:p>
            <a:pPr algn="r">
              <a:lnSpc>
                <a:spcPct val="100000"/>
              </a:lnSpc>
            </a:pPr>
            <a:r>
              <a:rPr sz="1900">
                <a:solidFill>
                  <a:srgbClr val="4F5D6A"/>
                </a:solidFill>
                <a:latin typeface="Consolas"/>
              </a:rPr>
              <a:t>14</a:t>
            </a:r>
          </a:p>
          <a:p>
            <a:pPr algn="r">
              <a:lnSpc>
                <a:spcPct val="100000"/>
              </a:lnSpc>
            </a:pPr>
            <a:r>
              <a:rPr sz="1900">
                <a:solidFill>
                  <a:srgbClr val="4F5D6A"/>
                </a:solidFill>
                <a:latin typeface="Consolas"/>
              </a:rPr>
              <a:t>15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03367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7DFD5876-1242-495E-A490-E2F5BF2F433B}" type="slidenum">
              <a:rPr lang="en-GB" sz="1000">
                <a:solidFill>
                  <a:srgbClr val="8795A1"/>
                </a:solidFill>
                <a:latin typeface="Segoe UI"/>
              </a:rPr>
              <a:t>31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04944"/>
          </a:xfrm>
          <a:prstGeom prst="roundRect">
            <a:avLst>
              <a:gd name="adj" fmla="val 20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 the exclusive-or arrangement: late when EXACTLY ONE of # &quot;large effort&quot; and &quot;low clarity&quot; holds XOR_TASKS = [ ((2, 9), 0), # small effort, high clarity -&gt; on time ((9, 2), 0), # large effort, low clarity -&gt; on time; they planned ((9, 9), 1), # large effort, high clarity -&gt; late; looked easy ((2, 2), 1), # small effort, low clarity -&gt; late; looked small ] def predict(x, w, b): return 1 if w[0] * x[0] + w[1] * x[1] + b &gt; 0 else 0 def accuracy(data, w, b): return sum(predict(x, w, b) == y for x, y in data) / len(data)"/>
          <p:cNvSpPr txBox="1"/>
          <p:nvPr/>
        </p:nvSpPr>
        <p:spPr>
          <a:xfrm>
            <a:off x="1362456" y="2066543"/>
            <a:ext cx="9987991" cy="4011168"/>
          </a:xfrm>
          <a:prstGeom prst="rect">
            <a:avLst/>
          </a:prstGeom>
          <a:noFill/>
        </p:spPr>
        <p:txBody>
          <a:bodyPr wrap="none" anchor="t" lIns="0" rIns="0" tIns="0" bIns="0">
            <a:noAutofit/>
          </a:bodyPr>
          <a:lstStyle/>
          <a:p>
            <a:pPr>
              <a:lnSpc>
                <a:spcPct val="100000"/>
              </a:lnSpc>
              <a:spcAft>
                <a:spcPts val="0"/>
              </a:spcAft>
            </a:pPr>
            <a:r>
              <a:rPr sz="1600" i="1">
                <a:solidFill>
                  <a:srgbClr val="8795A1"/>
                </a:solidFill>
                <a:latin typeface="Consolas"/>
              </a:rPr>
              <a:t># the exclusive-or arrangement: late when EXACTLY ONE of</a:t>
            </a:r>
          </a:p>
          <a:p>
            <a:pPr>
              <a:lnSpc>
                <a:spcPct val="100000"/>
              </a:lnSpc>
              <a:spcAft>
                <a:spcPts val="0"/>
              </a:spcAft>
            </a:pPr>
            <a:r>
              <a:rPr sz="1600" i="1">
                <a:solidFill>
                  <a:srgbClr val="8795A1"/>
                </a:solidFill>
                <a:latin typeface="Consolas"/>
              </a:rPr>
              <a:t># "large effort" and "low clarity" holds</a:t>
            </a:r>
          </a:p>
          <a:p>
            <a:pPr>
              <a:lnSpc>
                <a:spcPct val="100000"/>
              </a:lnSpc>
              <a:spcAft>
                <a:spcPts val="0"/>
              </a:spcAft>
            </a:pPr>
            <a:r>
              <a:rPr sz="1600" i="0">
                <a:solidFill>
                  <a:srgbClr val="E8EDF2"/>
                </a:solidFill>
                <a:latin typeface="Consolas"/>
              </a:rPr>
              <a:t>XOR_TASKS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F7DC6F"/>
                </a:solidFill>
                <a:latin typeface="Consolas"/>
              </a:rPr>
              <a:t>2</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9</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0</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1">
                <a:solidFill>
                  <a:srgbClr val="8795A1"/>
                </a:solidFill>
                <a:latin typeface="Consolas"/>
              </a:rPr>
              <a:t># small effort, high clarity -&gt; on time</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F7DC6F"/>
                </a:solidFill>
                <a:latin typeface="Consolas"/>
              </a:rPr>
              <a:t>9</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2</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0</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1">
                <a:solidFill>
                  <a:srgbClr val="8795A1"/>
                </a:solidFill>
                <a:latin typeface="Consolas"/>
              </a:rPr>
              <a:t># large effort, low clarity  -&gt; on time; they planned</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F7DC6F"/>
                </a:solidFill>
                <a:latin typeface="Consolas"/>
              </a:rPr>
              <a:t>9</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9</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1">
                <a:solidFill>
                  <a:srgbClr val="8795A1"/>
                </a:solidFill>
                <a:latin typeface="Consolas"/>
              </a:rPr>
              <a:t># large effort, high clarity -&gt; late; looked easy</a:t>
            </a:r>
          </a:p>
          <a:p>
            <a:pPr>
              <a:lnSpc>
                <a:spcPct val="100000"/>
              </a:lnSpc>
              <a:spcAft>
                <a:spcPts val="0"/>
              </a:spcAft>
            </a:pPr>
            <a:r>
              <a:rPr sz="1600" i="0">
                <a:solidFill>
                  <a:srgbClr val="E8EDF2"/>
                </a:solidFill>
                <a:latin typeface="Consolas"/>
              </a:rPr>
              <a:t>    </a:t>
            </a:r>
            <a:r>
              <a:rPr sz="1600" i="0">
                <a:solidFill>
                  <a:srgbClr val="AEB6BF"/>
                </a:solidFill>
                <a:latin typeface="Consolas"/>
              </a:rPr>
              <a:t>(</a:t>
            </a:r>
            <a:r>
              <a:rPr sz="1600" i="0">
                <a:solidFill>
                  <a:srgbClr val="AEB6BF"/>
                </a:solidFill>
                <a:latin typeface="Consolas"/>
              </a:rPr>
              <a:t>(</a:t>
            </a:r>
            <a:r>
              <a:rPr sz="1600" i="0">
                <a:solidFill>
                  <a:srgbClr val="F7DC6F"/>
                </a:solidFill>
                <a:latin typeface="Consolas"/>
              </a:rPr>
              <a:t>2</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2</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1</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1">
                <a:solidFill>
                  <a:srgbClr val="8795A1"/>
                </a:solidFill>
                <a:latin typeface="Consolas"/>
              </a:rPr>
              <a:t># small effort, low clarity  -&gt; late; looked small</a:t>
            </a:r>
          </a:p>
          <a:p>
            <a:pPr>
              <a:lnSpc>
                <a:spcPct val="100000"/>
              </a:lnSpc>
              <a:spcAft>
                <a:spcPts val="0"/>
              </a:spcAft>
            </a:pPr>
            <a:r>
              <a:rPr sz="1600" i="0">
                <a:solidFill>
                  <a:srgbClr val="AEB6BF"/>
                </a:solidFill>
                <a:latin typeface="Consolas"/>
              </a:rPr>
              <a:t>]</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predict</a:t>
            </a:r>
            <a:r>
              <a:rPr sz="1600" i="0">
                <a:solidFill>
                  <a:srgbClr val="AEB6BF"/>
                </a:solidFill>
                <a:latin typeface="Consolas"/>
              </a:rPr>
              <a:t>(</a:t>
            </a:r>
            <a:r>
              <a:rPr sz="1600" i="0">
                <a:solidFill>
                  <a:srgbClr val="E8EDF2"/>
                </a:solidFill>
                <a:latin typeface="Consolas"/>
              </a:rPr>
              <a:t>x</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w</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F7DC6F"/>
                </a:solidFill>
                <a:latin typeface="Consolas"/>
              </a:rPr>
              <a:t>1</a:t>
            </a: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w</a:t>
            </a:r>
            <a:r>
              <a:rPr sz="1600" i="0">
                <a:solidFill>
                  <a:srgbClr val="AEB6BF"/>
                </a:solidFill>
                <a:latin typeface="Consolas"/>
              </a:rPr>
              <a:t>[</a:t>
            </a:r>
            <a:r>
              <a:rPr sz="1600" i="0">
                <a:solidFill>
                  <a:srgbClr val="F7DC6F"/>
                </a:solidFill>
                <a:latin typeface="Consolas"/>
              </a:rPr>
              <a:t>0</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x</a:t>
            </a:r>
            <a:r>
              <a:rPr sz="1600" i="0">
                <a:solidFill>
                  <a:srgbClr val="AEB6BF"/>
                </a:solidFill>
                <a:latin typeface="Consolas"/>
              </a:rPr>
              <a:t>[</a:t>
            </a:r>
            <a:r>
              <a:rPr sz="1600" i="0">
                <a:solidFill>
                  <a:srgbClr val="F7DC6F"/>
                </a:solidFill>
                <a:latin typeface="Consolas"/>
              </a:rPr>
              <a:t>0</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w</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x</a:t>
            </a:r>
            <a:r>
              <a:rPr sz="1600" i="0">
                <a:solidFill>
                  <a:srgbClr val="AEB6BF"/>
                </a:solidFill>
                <a:latin typeface="Consolas"/>
              </a:rPr>
              <a:t>[</a:t>
            </a:r>
            <a:r>
              <a:rPr sz="1600" i="0">
                <a:solidFill>
                  <a:srgbClr val="F7DC6F"/>
                </a:solidFill>
                <a:latin typeface="Consolas"/>
              </a:rPr>
              <a:t>1</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E8EDF2"/>
                </a:solidFill>
                <a:latin typeface="Consolas"/>
              </a:rPr>
              <a:t> </a:t>
            </a:r>
            <a:r>
              <a:rPr sz="1600" i="0">
                <a:solidFill>
                  <a:srgbClr val="AEB6BF"/>
                </a:solidFill>
                <a:latin typeface="Consolas"/>
              </a:rPr>
              <a:t>&gt;</a:t>
            </a:r>
            <a:r>
              <a:rPr sz="1600" i="0">
                <a:solidFill>
                  <a:srgbClr val="E8EDF2"/>
                </a:solidFill>
                <a:latin typeface="Consolas"/>
              </a:rPr>
              <a:t> </a:t>
            </a:r>
            <a:r>
              <a:rPr sz="1600" i="0">
                <a:solidFill>
                  <a:srgbClr val="F7DC6F"/>
                </a:solidFill>
                <a:latin typeface="Consolas"/>
              </a:rPr>
              <a:t>0</a:t>
            </a:r>
            <a:r>
              <a:rPr sz="1600" i="0">
                <a:solidFill>
                  <a:srgbClr val="E8EDF2"/>
                </a:solidFill>
                <a:latin typeface="Consolas"/>
              </a:rPr>
              <a:t> </a:t>
            </a:r>
            <a:r>
              <a:rPr sz="1600" i="0">
                <a:solidFill>
                  <a:srgbClr val="5DADE2"/>
                </a:solidFill>
                <a:latin typeface="Consolas"/>
              </a:rPr>
              <a:t>else</a:t>
            </a:r>
            <a:r>
              <a:rPr sz="1600" i="0">
                <a:solidFill>
                  <a:srgbClr val="E8EDF2"/>
                </a:solidFill>
                <a:latin typeface="Consolas"/>
              </a:rPr>
              <a:t> </a:t>
            </a:r>
            <a:r>
              <a:rPr sz="1600" i="0">
                <a:solidFill>
                  <a:srgbClr val="F7DC6F"/>
                </a:solidFill>
                <a:latin typeface="Consolas"/>
              </a:rPr>
              <a:t>0</a:t>
            </a:r>
          </a:p>
          <a:p>
            <a:pPr>
              <a:lnSpc>
                <a:spcPct val="100000"/>
              </a:lnSpc>
              <a:spcAft>
                <a:spcPts val="0"/>
              </a:spcAft>
            </a:pPr>
            <a:r>
              <a:rPr sz="1600">
                <a:latin typeface="Consolas"/>
              </a:rPr>
              <a:t> </a:t>
            </a:r>
          </a:p>
          <a:p>
            <a:pPr>
              <a:lnSpc>
                <a:spcPct val="100000"/>
              </a:lnSpc>
              <a:spcAft>
                <a:spcPts val="0"/>
              </a:spcAft>
            </a:pPr>
            <a:r>
              <a:rPr sz="1600">
                <a:latin typeface="Consolas"/>
              </a:rPr>
              <a:t> </a:t>
            </a:r>
          </a:p>
          <a:p>
            <a:pPr>
              <a:lnSpc>
                <a:spcPct val="100000"/>
              </a:lnSpc>
              <a:spcAft>
                <a:spcPts val="0"/>
              </a:spcAft>
            </a:pPr>
            <a:r>
              <a:rPr sz="1600" i="0">
                <a:solidFill>
                  <a:srgbClr val="5DADE2"/>
                </a:solidFill>
                <a:latin typeface="Consolas"/>
              </a:rPr>
              <a:t>def</a:t>
            </a:r>
            <a:r>
              <a:rPr sz="1600" i="0">
                <a:solidFill>
                  <a:srgbClr val="E8EDF2"/>
                </a:solidFill>
                <a:latin typeface="Consolas"/>
              </a:rPr>
              <a:t> </a:t>
            </a:r>
            <a:r>
              <a:rPr sz="1600" i="0">
                <a:solidFill>
                  <a:srgbClr val="C39BD3"/>
                </a:solidFill>
                <a:latin typeface="Consolas"/>
              </a:rPr>
              <a:t>accuracy</a:t>
            </a:r>
            <a:r>
              <a:rPr sz="1600" i="0">
                <a:solidFill>
                  <a:srgbClr val="AEB6BF"/>
                </a:solidFill>
                <a:latin typeface="Consolas"/>
              </a:rPr>
              <a:t>(</a:t>
            </a:r>
            <a:r>
              <a:rPr sz="1600" i="0">
                <a:solidFill>
                  <a:srgbClr val="E8EDF2"/>
                </a:solidFill>
                <a:latin typeface="Consolas"/>
              </a:rPr>
              <a:t>data</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w</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return</a:t>
            </a:r>
            <a:r>
              <a:rPr sz="1600" i="0">
                <a:solidFill>
                  <a:srgbClr val="E8EDF2"/>
                </a:solidFill>
                <a:latin typeface="Consolas"/>
              </a:rPr>
              <a:t> </a:t>
            </a:r>
            <a:r>
              <a:rPr sz="1600" i="0">
                <a:solidFill>
                  <a:srgbClr val="C39BD3"/>
                </a:solidFill>
                <a:latin typeface="Consolas"/>
              </a:rPr>
              <a:t>sum</a:t>
            </a:r>
            <a:r>
              <a:rPr sz="1600" i="0">
                <a:solidFill>
                  <a:srgbClr val="AEB6BF"/>
                </a:solidFill>
                <a:latin typeface="Consolas"/>
              </a:rPr>
              <a:t>(</a:t>
            </a:r>
            <a:r>
              <a:rPr sz="1600" i="0">
                <a:solidFill>
                  <a:srgbClr val="E8EDF2"/>
                </a:solidFill>
                <a:latin typeface="Consolas"/>
              </a:rPr>
              <a:t>predict</a:t>
            </a:r>
            <a:r>
              <a:rPr sz="1600" i="0">
                <a:solidFill>
                  <a:srgbClr val="AEB6BF"/>
                </a:solidFill>
                <a:latin typeface="Consolas"/>
              </a:rPr>
              <a:t>(</a:t>
            </a:r>
            <a:r>
              <a:rPr sz="1600" i="0">
                <a:solidFill>
                  <a:srgbClr val="E8EDF2"/>
                </a:solidFill>
                <a:latin typeface="Consolas"/>
              </a:rPr>
              <a:t>x</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w</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b</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y</a:t>
            </a: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x</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y</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data</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len</a:t>
            </a:r>
            <a:r>
              <a:rPr sz="1600" i="0">
                <a:solidFill>
                  <a:srgbClr val="AEB6BF"/>
                </a:solidFill>
                <a:latin typeface="Consolas"/>
              </a:rPr>
              <a:t>(</a:t>
            </a:r>
            <a:r>
              <a:rPr sz="1600" i="0">
                <a:solidFill>
                  <a:srgbClr val="E8EDF2"/>
                </a:solidFill>
                <a:latin typeface="Consolas"/>
              </a:rPr>
              <a:t>data</a:t>
            </a:r>
            <a:r>
              <a:rPr sz="1600" i="0">
                <a:solidFill>
                  <a:srgbClr val="AEB6BF"/>
                </a:solidFill>
                <a:latin typeface="Consolas"/>
              </a:rPr>
              <a:t>)</a:t>
            </a:r>
          </a:p>
        </p:txBody>
      </p:sp>
      <p:sp>
        <p:nvSpPr>
          <p:cNvPr id="14" name="!!code-num"/>
          <p:cNvSpPr txBox="1"/>
          <p:nvPr/>
        </p:nvSpPr>
        <p:spPr>
          <a:xfrm>
            <a:off x="768096" y="2066543"/>
            <a:ext cx="393192" cy="4011168"/>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17</a:t>
            </a:r>
          </a:p>
          <a:p>
            <a:pPr algn="r">
              <a:lnSpc>
                <a:spcPct val="100000"/>
              </a:lnSpc>
            </a:pPr>
            <a:r>
              <a:rPr sz="1600">
                <a:solidFill>
                  <a:srgbClr val="4F5D6A"/>
                </a:solidFill>
                <a:latin typeface="Consolas"/>
              </a:rPr>
              <a:t>18</a:t>
            </a:r>
          </a:p>
          <a:p>
            <a:pPr algn="r">
              <a:lnSpc>
                <a:spcPct val="100000"/>
              </a:lnSpc>
            </a:pPr>
            <a:r>
              <a:rPr sz="1600">
                <a:solidFill>
                  <a:srgbClr val="4F5D6A"/>
                </a:solidFill>
                <a:latin typeface="Consolas"/>
              </a:rPr>
              <a:t>19</a:t>
            </a:r>
          </a:p>
          <a:p>
            <a:pPr algn="r">
              <a:lnSpc>
                <a:spcPct val="100000"/>
              </a:lnSpc>
            </a:pPr>
            <a:r>
              <a:rPr sz="1600">
                <a:solidFill>
                  <a:srgbClr val="4F5D6A"/>
                </a:solidFill>
                <a:latin typeface="Consolas"/>
              </a:rPr>
              <a:t>20</a:t>
            </a:r>
          </a:p>
          <a:p>
            <a:pPr algn="r">
              <a:lnSpc>
                <a:spcPct val="100000"/>
              </a:lnSpc>
            </a:pPr>
            <a:r>
              <a:rPr sz="1600">
                <a:solidFill>
                  <a:srgbClr val="4F5D6A"/>
                </a:solidFill>
                <a:latin typeface="Consolas"/>
              </a:rPr>
              <a:t>21</a:t>
            </a:r>
          </a:p>
          <a:p>
            <a:pPr algn="r">
              <a:lnSpc>
                <a:spcPct val="100000"/>
              </a:lnSpc>
            </a:pPr>
            <a:r>
              <a:rPr sz="1600">
                <a:solidFill>
                  <a:srgbClr val="4F5D6A"/>
                </a:solidFill>
                <a:latin typeface="Consolas"/>
              </a:rPr>
              <a:t>22</a:t>
            </a:r>
          </a:p>
          <a:p>
            <a:pPr algn="r">
              <a:lnSpc>
                <a:spcPct val="100000"/>
              </a:lnSpc>
            </a:pPr>
            <a:r>
              <a:rPr sz="1600">
                <a:solidFill>
                  <a:srgbClr val="4F5D6A"/>
                </a:solidFill>
                <a:latin typeface="Consolas"/>
              </a:rPr>
              <a:t>23</a:t>
            </a:r>
          </a:p>
          <a:p>
            <a:pPr algn="r">
              <a:lnSpc>
                <a:spcPct val="100000"/>
              </a:lnSpc>
            </a:pPr>
            <a:r>
              <a:rPr sz="1600">
                <a:solidFill>
                  <a:srgbClr val="4F5D6A"/>
                </a:solidFill>
                <a:latin typeface="Consolas"/>
              </a:rPr>
              <a:t>24</a:t>
            </a:r>
          </a:p>
          <a:p>
            <a:pPr algn="r">
              <a:lnSpc>
                <a:spcPct val="100000"/>
              </a:lnSpc>
            </a:pPr>
            <a:r>
              <a:rPr sz="1600">
                <a:solidFill>
                  <a:srgbClr val="4F5D6A"/>
                </a:solidFill>
                <a:latin typeface="Consolas"/>
              </a:rPr>
              <a:t>25</a:t>
            </a:r>
          </a:p>
          <a:p>
            <a:pPr algn="r">
              <a:lnSpc>
                <a:spcPct val="100000"/>
              </a:lnSpc>
            </a:pPr>
            <a:r>
              <a:rPr sz="1600">
                <a:solidFill>
                  <a:srgbClr val="4F5D6A"/>
                </a:solidFill>
                <a:latin typeface="Consolas"/>
              </a:rPr>
              <a:t>26</a:t>
            </a:r>
          </a:p>
          <a:p>
            <a:pPr algn="r">
              <a:lnSpc>
                <a:spcPct val="100000"/>
              </a:lnSpc>
            </a:pPr>
            <a:r>
              <a:rPr sz="1600">
                <a:solidFill>
                  <a:srgbClr val="4F5D6A"/>
                </a:solidFill>
                <a:latin typeface="Consolas"/>
              </a:rPr>
              <a:t>27</a:t>
            </a:r>
          </a:p>
          <a:p>
            <a:pPr algn="r">
              <a:lnSpc>
                <a:spcPct val="100000"/>
              </a:lnSpc>
            </a:pPr>
            <a:r>
              <a:rPr sz="1600">
                <a:solidFill>
                  <a:srgbClr val="4F5D6A"/>
                </a:solidFill>
                <a:latin typeface="Consolas"/>
              </a:rPr>
              <a:t>28</a:t>
            </a:r>
          </a:p>
          <a:p>
            <a:pPr algn="r">
              <a:lnSpc>
                <a:spcPct val="100000"/>
              </a:lnSpc>
            </a:pPr>
            <a:r>
              <a:rPr sz="1600">
                <a:solidFill>
                  <a:srgbClr val="4F5D6A"/>
                </a:solidFill>
                <a:latin typeface="Consolas"/>
              </a:rPr>
              <a:t>29</a:t>
            </a:r>
          </a:p>
          <a:p>
            <a:pPr algn="r">
              <a:lnSpc>
                <a:spcPct val="100000"/>
              </a:lnSpc>
            </a:pPr>
            <a:r>
              <a:rPr sz="1600">
                <a:solidFill>
                  <a:srgbClr val="4F5D6A"/>
                </a:solidFill>
                <a:latin typeface="Consolas"/>
              </a:rPr>
              <a:t>30</a:t>
            </a:r>
          </a:p>
          <a:p>
            <a:pPr algn="r">
              <a:lnSpc>
                <a:spcPct val="100000"/>
              </a:lnSpc>
            </a:pPr>
            <a:r>
              <a:rPr sz="1600">
                <a:solidFill>
                  <a:srgbClr val="4F5D6A"/>
                </a:solidFill>
                <a:latin typeface="Consolas"/>
              </a:rPr>
              <a:t>31</a:t>
            </a:r>
          </a:p>
          <a:p>
            <a:pPr algn="r">
              <a:lnSpc>
                <a:spcPct val="100000"/>
              </a:lnSpc>
            </a:pPr>
            <a:r>
              <a:rPr sz="1600">
                <a:solidFill>
                  <a:srgbClr val="4F5D6A"/>
                </a:solidFill>
                <a:latin typeface="Consolas"/>
              </a:rPr>
              <a:t>32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26812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A982484D-0FB4-4FFE-9F21-AB5E68E18C30}" type="slidenum">
              <a:rPr lang="en-GB" sz="1000">
                <a:solidFill>
                  <a:srgbClr val="8795A1"/>
                </a:solidFill>
                <a:latin typeface="Segoe UI"/>
              </a:rPr>
              <a:t>32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def train(data, eta=0.1, epochs=100, trace=False): &quot;&quot;&quot;The perceptron learning rule. Learns only from mistakes.&quot;&quot;&quot; w, b, updates = [0.0, 0.0], 0.0, 0 for ep in range(1, epochs + 1): errors = 0 for (x, y) in data: err = y - predict(x, w, b) if err: errors += 1 updates += 1 w[0] += eta * err * x[0] w[1] += eta * err * x[1] b += eta * err if trace: print(&quot; epoch %2d: %d error(s), w = (%.2f, %.2f), b = %.2f&quot; % (ep, errors, w[0], w[1], b)) if errors == 0: return w, b, ep, updates, True return w, b, epochs, updates, False"/>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train</a:t>
            </a:r>
            <a:r>
              <a:rPr sz="1400" i="0">
                <a:solidFill>
                  <a:srgbClr val="AEB6BF"/>
                </a:solidFill>
                <a:latin typeface="Consolas"/>
              </a:rPr>
              <a:t>(</a:t>
            </a:r>
            <a:r>
              <a:rPr sz="1400" i="0">
                <a:solidFill>
                  <a:srgbClr val="E8EDF2"/>
                </a:solidFill>
                <a:latin typeface="Consolas"/>
              </a:rPr>
              <a:t>data</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eta</a:t>
            </a:r>
            <a:r>
              <a:rPr sz="1400" i="0">
                <a:solidFill>
                  <a:srgbClr val="AEB6BF"/>
                </a:solidFill>
                <a:latin typeface="Consolas"/>
              </a:rPr>
              <a:t>=</a:t>
            </a:r>
            <a:r>
              <a:rPr sz="1400" i="0">
                <a:solidFill>
                  <a:srgbClr val="F7DC6F"/>
                </a:solidFill>
                <a:latin typeface="Consolas"/>
              </a:rPr>
              <a:t>0.1</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epochs</a:t>
            </a:r>
            <a:r>
              <a:rPr sz="1400" i="0">
                <a:solidFill>
                  <a:srgbClr val="AEB6BF"/>
                </a:solidFill>
                <a:latin typeface="Consolas"/>
              </a:rPr>
              <a:t>=</a:t>
            </a:r>
            <a:r>
              <a:rPr sz="1400" i="0">
                <a:solidFill>
                  <a:srgbClr val="F7DC6F"/>
                </a:solidFill>
                <a:latin typeface="Consolas"/>
              </a:rPr>
              <a:t>100</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trace</a:t>
            </a:r>
            <a:r>
              <a:rPr sz="1400" i="0">
                <a:solidFill>
                  <a:srgbClr val="AEB6BF"/>
                </a:solidFill>
                <a:latin typeface="Consolas"/>
              </a:rPr>
              <a:t>=</a:t>
            </a:r>
            <a:r>
              <a:rPr sz="1400" i="0">
                <a:solidFill>
                  <a:srgbClr val="5DADE2"/>
                </a:solidFill>
                <a:latin typeface="Consolas"/>
              </a:rPr>
              <a:t>False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"""The perceptron learning rule. Learns only from mistakes."""</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updates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ep</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epochs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errors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x</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data</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err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predict</a:t>
            </a:r>
            <a:r>
              <a:rPr sz="1400" i="0">
                <a:solidFill>
                  <a:srgbClr val="AEB6BF"/>
                </a:solidFill>
                <a:latin typeface="Consolas"/>
              </a:rPr>
              <a:t>(</a:t>
            </a:r>
            <a:r>
              <a:rPr sz="1400" i="0">
                <a:solidFill>
                  <a:srgbClr val="E8EDF2"/>
                </a:solidFill>
                <a:latin typeface="Consolas"/>
              </a:rPr>
              <a:t>x</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err</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errors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E8EDF2"/>
                </a:solidFill>
                <a:latin typeface="Consolas"/>
              </a:rPr>
              <a:t>updates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err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err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b</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err</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trace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epoch </a:t>
            </a:r>
            <a:r>
              <a:rPr sz="1400" i="0">
                <a:solidFill>
                  <a:srgbClr val="7DCEA0"/>
                </a:solidFill>
                <a:latin typeface="Consolas"/>
              </a:rPr>
              <a:t>%2d</a:t>
            </a:r>
            <a:r>
              <a:rPr sz="1400" i="0">
                <a:solidFill>
                  <a:srgbClr val="7DCEA0"/>
                </a:solidFill>
                <a:latin typeface="Consolas"/>
              </a:rPr>
              <a:t>: </a:t>
            </a:r>
            <a:r>
              <a:rPr sz="1400" i="0">
                <a:solidFill>
                  <a:srgbClr val="7DCEA0"/>
                </a:solidFill>
                <a:latin typeface="Consolas"/>
              </a:rPr>
              <a:t>%d</a:t>
            </a:r>
            <a:r>
              <a:rPr sz="1400" i="0">
                <a:solidFill>
                  <a:srgbClr val="7DCEA0"/>
                </a:solidFill>
                <a:latin typeface="Consolas"/>
              </a:rPr>
              <a:t> error(s), w = (</a:t>
            </a:r>
            <a:r>
              <a:rPr sz="1400" i="0">
                <a:solidFill>
                  <a:srgbClr val="7DCEA0"/>
                </a:solidFill>
                <a:latin typeface="Consolas"/>
              </a:rPr>
              <a:t>%.2f</a:t>
            </a:r>
            <a:r>
              <a:rPr sz="1400" i="0">
                <a:solidFill>
                  <a:srgbClr val="7DCEA0"/>
                </a:solidFill>
                <a:latin typeface="Consolas"/>
              </a:rPr>
              <a:t>, </a:t>
            </a:r>
            <a:r>
              <a:rPr sz="1400" i="0">
                <a:solidFill>
                  <a:srgbClr val="7DCEA0"/>
                </a:solidFill>
                <a:latin typeface="Consolas"/>
              </a:rPr>
              <a:t>%.2f</a:t>
            </a:r>
            <a:r>
              <a:rPr sz="1400" i="0">
                <a:solidFill>
                  <a:srgbClr val="7DCEA0"/>
                </a:solidFill>
                <a:latin typeface="Consolas"/>
              </a:rPr>
              <a:t>), b = </a:t>
            </a:r>
            <a:r>
              <a:rPr sz="1400" i="0">
                <a:solidFill>
                  <a:srgbClr val="7DCEA0"/>
                </a:solidFill>
                <a:latin typeface="Consolas"/>
              </a:rPr>
              <a:t>%.2f</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ep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errors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errors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updates</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True</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epochs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updates</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False</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35</a:t>
            </a:r>
          </a:p>
          <a:p>
            <a:pPr algn="r">
              <a:lnSpc>
                <a:spcPct val="100000"/>
              </a:lnSpc>
            </a:pPr>
            <a:r>
              <a:rPr sz="1400">
                <a:solidFill>
                  <a:srgbClr val="4F5D6A"/>
                </a:solidFill>
                <a:latin typeface="Consolas"/>
              </a:rPr>
              <a:t>36</a:t>
            </a:r>
          </a:p>
          <a:p>
            <a:pPr algn="r">
              <a:lnSpc>
                <a:spcPct val="100000"/>
              </a:lnSpc>
            </a:pPr>
            <a:r>
              <a:rPr sz="1400">
                <a:solidFill>
                  <a:srgbClr val="4F5D6A"/>
                </a:solidFill>
                <a:latin typeface="Consolas"/>
              </a:rPr>
              <a:t>37</a:t>
            </a:r>
          </a:p>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a:p>
            <a:pPr algn="r">
              <a:lnSpc>
                <a:spcPct val="100000"/>
              </a:lnSpc>
            </a:pPr>
            <a:r>
              <a:rPr sz="1400">
                <a:solidFill>
                  <a:srgbClr val="4F5D6A"/>
                </a:solidFill>
                <a:latin typeface="Consolas"/>
              </a:rPr>
              <a:t>48</a:t>
            </a:r>
          </a:p>
          <a:p>
            <a:pPr algn="r">
              <a:lnSpc>
                <a:spcPct val="100000"/>
              </a:lnSpc>
            </a:pPr>
            <a:r>
              <a:rPr sz="1400">
                <a:solidFill>
                  <a:srgbClr val="4F5D6A"/>
                </a:solidFill>
                <a:latin typeface="Consolas"/>
              </a:rPr>
              <a:t>49</a:t>
            </a:r>
          </a:p>
          <a:p>
            <a:pPr algn="r">
              <a:lnSpc>
                <a:spcPct val="100000"/>
              </a:lnSpc>
            </a:pPr>
            <a:r>
              <a:rPr sz="1400">
                <a:solidFill>
                  <a:srgbClr val="4F5D6A"/>
                </a:solidFill>
                <a:latin typeface="Consolas"/>
              </a:rPr>
              <a:t>50</a:t>
            </a:r>
          </a:p>
          <a:p>
            <a:pPr algn="r">
              <a:lnSpc>
                <a:spcPct val="100000"/>
              </a:lnSpc>
            </a:pPr>
            <a:r>
              <a:rPr sz="1400">
                <a:solidFill>
                  <a:srgbClr val="4F5D6A"/>
                </a:solidFill>
                <a:latin typeface="Consolas"/>
              </a:rPr>
              <a:t>51</a:t>
            </a:r>
          </a:p>
          <a:p>
            <a:pPr algn="r">
              <a:lnSpc>
                <a:spcPct val="100000"/>
              </a:lnSpc>
            </a:pPr>
            <a:r>
              <a:rPr sz="1400">
                <a:solidFill>
                  <a:srgbClr val="4F5D6A"/>
                </a:solidFill>
                <a:latin typeface="Consolas"/>
              </a:rPr>
              <a:t>52</a:t>
            </a:r>
          </a:p>
          <a:p>
            <a:pPr algn="r">
              <a:lnSpc>
                <a:spcPct val="100000"/>
              </a:lnSpc>
            </a:pPr>
            <a:r>
              <a:rPr sz="1400">
                <a:solidFill>
                  <a:srgbClr val="4F5D6A"/>
                </a:solidFill>
                <a:latin typeface="Consolas"/>
              </a:rPr>
              <a:t>53</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50258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102418F2-4343-4774-A226-6B228B865A3E}" type="slidenum">
              <a:rPr lang="en-GB" sz="1000">
                <a:solidFill>
                  <a:srgbClr val="8795A1"/>
                </a:solidFill>
                <a:latin typeface="Segoe UI"/>
              </a:rPr>
              <a:t>33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def best_line_accuracy(data, span=20, step=0.5): &quot;&quot;&quot;Brute force over a grid of ALL lines w0*x + w1*y + b = 0. This is the difference between 'training failed' and 'no line exists'. It is only possible because the problem is tiny. &quot;&quot;&quot; best, arg = 0.0, None vals = [i * step for i in range(-span * 2, span * 2 + 1)] for w0 in vals: for w1 in vals: for bb in vals: a = accuracy(data, [w0, w1], bb) if a &gt; best: best, arg = a, (w0, w1, bb) return best, arg"/>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700" i="0">
                <a:solidFill>
                  <a:srgbClr val="5DADE2"/>
                </a:solidFill>
                <a:latin typeface="Consolas"/>
              </a:rPr>
              <a:t>def</a:t>
            </a:r>
            <a:r>
              <a:rPr sz="1700" i="0">
                <a:solidFill>
                  <a:srgbClr val="E8EDF2"/>
                </a:solidFill>
                <a:latin typeface="Consolas"/>
              </a:rPr>
              <a:t> </a:t>
            </a:r>
            <a:r>
              <a:rPr sz="1700" i="0">
                <a:solidFill>
                  <a:srgbClr val="C39BD3"/>
                </a:solidFill>
                <a:latin typeface="Consolas"/>
              </a:rPr>
              <a:t>best_line_accuracy</a:t>
            </a:r>
            <a:r>
              <a:rPr sz="1700" i="0">
                <a:solidFill>
                  <a:srgbClr val="AEB6BF"/>
                </a:solidFill>
                <a:latin typeface="Consolas"/>
              </a:rPr>
              <a:t>(</a:t>
            </a:r>
            <a:r>
              <a:rPr sz="1700" i="0">
                <a:solidFill>
                  <a:srgbClr val="E8EDF2"/>
                </a:solidFill>
                <a:latin typeface="Consolas"/>
              </a:rPr>
              <a:t>data</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span</a:t>
            </a:r>
            <a:r>
              <a:rPr sz="1700" i="0">
                <a:solidFill>
                  <a:srgbClr val="AEB6BF"/>
                </a:solidFill>
                <a:latin typeface="Consolas"/>
              </a:rPr>
              <a:t>=</a:t>
            </a:r>
            <a:r>
              <a:rPr sz="1700" i="0">
                <a:solidFill>
                  <a:srgbClr val="F7DC6F"/>
                </a:solidFill>
                <a:latin typeface="Consolas"/>
              </a:rPr>
              <a:t>20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step</a:t>
            </a:r>
            <a:r>
              <a:rPr sz="1700" i="0">
                <a:solidFill>
                  <a:srgbClr val="AEB6BF"/>
                </a:solidFill>
                <a:latin typeface="Consolas"/>
              </a:rPr>
              <a:t>=</a:t>
            </a:r>
            <a:r>
              <a:rPr sz="1700" i="0">
                <a:solidFill>
                  <a:srgbClr val="F7DC6F"/>
                </a:solidFill>
                <a:latin typeface="Consolas"/>
              </a:rPr>
              <a:t>0.5</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7DCEA0"/>
                </a:solidFill>
                <a:latin typeface="Consolas"/>
              </a:rPr>
              <a:t>"""Brute force over a grid of ALL lines w0*x + w1*y + b = 0.</a:t>
            </a:r>
          </a:p>
          <a:p>
            <a:pPr>
              <a:lnSpc>
                <a:spcPct val="100000"/>
              </a:lnSpc>
              <a:spcAft>
                <a:spcPts val="0"/>
              </a:spcAft>
            </a:pPr>
            <a:r>
              <a:rPr sz="1700">
                <a:latin typeface="Consolas"/>
              </a:rPr>
              <a:t> </a:t>
            </a:r>
          </a:p>
          <a:p>
            <a:pPr>
              <a:lnSpc>
                <a:spcPct val="100000"/>
              </a:lnSpc>
              <a:spcAft>
                <a:spcPts val="0"/>
              </a:spcAft>
            </a:pPr>
            <a:r>
              <a:rPr sz="1700" i="0">
                <a:solidFill>
                  <a:srgbClr val="7DCEA0"/>
                </a:solidFill>
                <a:latin typeface="Consolas"/>
              </a:rPr>
              <a:t>    This is the difference between 'training failed' and 'no line</a:t>
            </a:r>
          </a:p>
          <a:p>
            <a:pPr>
              <a:lnSpc>
                <a:spcPct val="100000"/>
              </a:lnSpc>
              <a:spcAft>
                <a:spcPts val="0"/>
              </a:spcAft>
            </a:pPr>
            <a:r>
              <a:rPr sz="1700" i="0">
                <a:solidFill>
                  <a:srgbClr val="7DCEA0"/>
                </a:solidFill>
                <a:latin typeface="Consolas"/>
              </a:rPr>
              <a:t>    exists'. It is only possible because the problem is tiny.</a:t>
            </a:r>
          </a:p>
          <a:p>
            <a:pPr>
              <a:lnSpc>
                <a:spcPct val="100000"/>
              </a:lnSpc>
              <a:spcAft>
                <a:spcPts val="0"/>
              </a:spcAft>
            </a:pPr>
            <a:r>
              <a:rPr sz="1700" i="0">
                <a:solidFill>
                  <a:srgbClr val="7DCEA0"/>
                </a:solidFill>
                <a:latin typeface="Consolas"/>
              </a:rPr>
              <a:t>    """</a:t>
            </a:r>
          </a:p>
          <a:p>
            <a:pPr>
              <a:lnSpc>
                <a:spcPct val="100000"/>
              </a:lnSpc>
              <a:spcAft>
                <a:spcPts val="0"/>
              </a:spcAft>
            </a:pPr>
            <a:r>
              <a:rPr sz="1700" i="0">
                <a:solidFill>
                  <a:srgbClr val="E8EDF2"/>
                </a:solidFill>
                <a:latin typeface="Consolas"/>
              </a:rPr>
              <a:t>    </a:t>
            </a:r>
            <a:r>
              <a:rPr sz="1700" i="0">
                <a:solidFill>
                  <a:srgbClr val="E8EDF2"/>
                </a:solidFill>
                <a:latin typeface="Consolas"/>
              </a:rPr>
              <a:t>best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arg</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0.0</a:t>
            </a:r>
            <a:r>
              <a:rPr sz="1700" i="0">
                <a:solidFill>
                  <a:srgbClr val="AEB6BF"/>
                </a:solidFill>
                <a:latin typeface="Consolas"/>
              </a:rPr>
              <a:t>,</a:t>
            </a:r>
            <a:r>
              <a:rPr sz="1700" i="0">
                <a:solidFill>
                  <a:srgbClr val="E8EDF2"/>
                </a:solidFill>
                <a:latin typeface="Consolas"/>
              </a:rPr>
              <a:t> </a:t>
            </a:r>
            <a:r>
              <a:rPr sz="1700" i="0">
                <a:solidFill>
                  <a:srgbClr val="5DADE2"/>
                </a:solidFill>
                <a:latin typeface="Consolas"/>
              </a:rPr>
              <a:t>None</a:t>
            </a:r>
          </a:p>
          <a:p>
            <a:pPr>
              <a:lnSpc>
                <a:spcPct val="100000"/>
              </a:lnSpc>
              <a:spcAft>
                <a:spcPts val="0"/>
              </a:spcAft>
            </a:pPr>
            <a:r>
              <a:rPr sz="1700" i="0">
                <a:solidFill>
                  <a:srgbClr val="E8EDF2"/>
                </a:solidFill>
                <a:latin typeface="Consolas"/>
              </a:rPr>
              <a:t>    </a:t>
            </a:r>
            <a:r>
              <a:rPr sz="1700" i="0">
                <a:solidFill>
                  <a:srgbClr val="E8EDF2"/>
                </a:solidFill>
                <a:latin typeface="Consolas"/>
              </a:rPr>
              <a:t>vals</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i</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step</a:t>
            </a: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i</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C39BD3"/>
                </a:solidFill>
                <a:latin typeface="Consolas"/>
              </a:rPr>
              <a:t>range</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span</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2</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span</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2</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1</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w0</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vals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w1</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vals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for</a:t>
            </a:r>
            <a:r>
              <a:rPr sz="1700" i="0">
                <a:solidFill>
                  <a:srgbClr val="E8EDF2"/>
                </a:solidFill>
                <a:latin typeface="Consolas"/>
              </a:rPr>
              <a:t> </a:t>
            </a:r>
            <a:r>
              <a:rPr sz="1700" i="0">
                <a:solidFill>
                  <a:srgbClr val="E8EDF2"/>
                </a:solidFill>
                <a:latin typeface="Consolas"/>
              </a:rPr>
              <a:t>bb</a:t>
            </a:r>
            <a:r>
              <a:rPr sz="1700" i="0">
                <a:solidFill>
                  <a:srgbClr val="E8EDF2"/>
                </a:solidFill>
                <a:latin typeface="Consolas"/>
              </a:rPr>
              <a:t> </a:t>
            </a:r>
            <a:r>
              <a:rPr sz="1700" i="0">
                <a:solidFill>
                  <a:srgbClr val="AEB6BF"/>
                </a:solidFill>
                <a:latin typeface="Consolas"/>
              </a:rPr>
              <a:t>in</a:t>
            </a:r>
            <a:r>
              <a:rPr sz="1700" i="0">
                <a:solidFill>
                  <a:srgbClr val="E8EDF2"/>
                </a:solidFill>
                <a:latin typeface="Consolas"/>
              </a:rPr>
              <a:t> </a:t>
            </a:r>
            <a:r>
              <a:rPr sz="1700" i="0">
                <a:solidFill>
                  <a:srgbClr val="E8EDF2"/>
                </a:solidFill>
                <a:latin typeface="Consolas"/>
              </a:rPr>
              <a:t>vals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accuracy</a:t>
            </a:r>
            <a:r>
              <a:rPr sz="1700" i="0">
                <a:solidFill>
                  <a:srgbClr val="AEB6BF"/>
                </a:solidFill>
                <a:latin typeface="Consolas"/>
              </a:rPr>
              <a:t>(</a:t>
            </a:r>
            <a:r>
              <a:rPr sz="1700" i="0">
                <a:solidFill>
                  <a:srgbClr val="E8EDF2"/>
                </a:solidFill>
                <a:latin typeface="Consolas"/>
              </a:rPr>
              <a:t>data</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w0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w1</a:t>
            </a:r>
            <a:r>
              <a:rPr sz="1700" i="0">
                <a:solidFill>
                  <a:srgbClr val="AEB6BF"/>
                </a:solidFill>
                <a:latin typeface="Consolas"/>
              </a:rPr>
              <a: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bb</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if</a:t>
            </a:r>
            <a:r>
              <a:rPr sz="1700" i="0">
                <a:solidFill>
                  <a:srgbClr val="E8EDF2"/>
                </a:solidFill>
                <a:latin typeface="Consolas"/>
              </a:rPr>
              <a:t> </a:t>
            </a:r>
            <a:r>
              <a:rPr sz="1700" i="0">
                <a:solidFill>
                  <a:srgbClr val="E8EDF2"/>
                </a:solidFill>
                <a:latin typeface="Consolas"/>
              </a:rPr>
              <a:t>a</a:t>
            </a:r>
            <a:r>
              <a:rPr sz="1700" i="0">
                <a:solidFill>
                  <a:srgbClr val="E8EDF2"/>
                </a:solidFill>
                <a:latin typeface="Consolas"/>
              </a:rPr>
              <a:t> </a:t>
            </a:r>
            <a:r>
              <a:rPr sz="1700" i="0">
                <a:solidFill>
                  <a:srgbClr val="AEB6BF"/>
                </a:solidFill>
                <a:latin typeface="Consolas"/>
              </a:rPr>
              <a:t>&gt;</a:t>
            </a:r>
            <a:r>
              <a:rPr sz="1700" i="0">
                <a:solidFill>
                  <a:srgbClr val="E8EDF2"/>
                </a:solidFill>
                <a:latin typeface="Consolas"/>
              </a:rPr>
              <a:t> </a:t>
            </a:r>
            <a:r>
              <a:rPr sz="1700" i="0">
                <a:solidFill>
                  <a:srgbClr val="E8EDF2"/>
                </a:solidFill>
                <a:latin typeface="Consolas"/>
              </a:rPr>
              <a:t>best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best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arg</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w0</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w1</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bb</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return</a:t>
            </a:r>
            <a:r>
              <a:rPr sz="1700" i="0">
                <a:solidFill>
                  <a:srgbClr val="E8EDF2"/>
                </a:solidFill>
                <a:latin typeface="Consolas"/>
              </a:rPr>
              <a:t> </a:t>
            </a:r>
            <a:r>
              <a:rPr sz="1700" i="0">
                <a:solidFill>
                  <a:srgbClr val="E8EDF2"/>
                </a:solidFill>
                <a:latin typeface="Consolas"/>
              </a:rPr>
              <a:t>best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arg</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56</a:t>
            </a:r>
          </a:p>
          <a:p>
            <a:pPr algn="r">
              <a:lnSpc>
                <a:spcPct val="100000"/>
              </a:lnSpc>
            </a:pPr>
            <a:r>
              <a:rPr sz="1700">
                <a:solidFill>
                  <a:srgbClr val="4F5D6A"/>
                </a:solidFill>
                <a:latin typeface="Consolas"/>
              </a:rPr>
              <a:t>57</a:t>
            </a:r>
          </a:p>
          <a:p>
            <a:pPr algn="r">
              <a:lnSpc>
                <a:spcPct val="100000"/>
              </a:lnSpc>
            </a:pPr>
            <a:r>
              <a:rPr sz="1700">
                <a:solidFill>
                  <a:srgbClr val="4F5D6A"/>
                </a:solidFill>
                <a:latin typeface="Consolas"/>
              </a:rPr>
              <a:t>58</a:t>
            </a:r>
          </a:p>
          <a:p>
            <a:pPr algn="r">
              <a:lnSpc>
                <a:spcPct val="100000"/>
              </a:lnSpc>
            </a:pPr>
            <a:r>
              <a:rPr sz="1700">
                <a:solidFill>
                  <a:srgbClr val="4F5D6A"/>
                </a:solidFill>
                <a:latin typeface="Consolas"/>
              </a:rPr>
              <a:t>59</a:t>
            </a:r>
          </a:p>
          <a:p>
            <a:pPr algn="r">
              <a:lnSpc>
                <a:spcPct val="100000"/>
              </a:lnSpc>
            </a:pPr>
            <a:r>
              <a:rPr sz="1700">
                <a:solidFill>
                  <a:srgbClr val="4F5D6A"/>
                </a:solidFill>
                <a:latin typeface="Consolas"/>
              </a:rPr>
              <a:t>60</a:t>
            </a:r>
          </a:p>
          <a:p>
            <a:pPr algn="r">
              <a:lnSpc>
                <a:spcPct val="100000"/>
              </a:lnSpc>
            </a:pPr>
            <a:r>
              <a:rPr sz="1700">
                <a:solidFill>
                  <a:srgbClr val="4F5D6A"/>
                </a:solidFill>
                <a:latin typeface="Consolas"/>
              </a:rPr>
              <a:t>61</a:t>
            </a:r>
          </a:p>
          <a:p>
            <a:pPr algn="r">
              <a:lnSpc>
                <a:spcPct val="100000"/>
              </a:lnSpc>
            </a:pPr>
            <a:r>
              <a:rPr sz="1700">
                <a:solidFill>
                  <a:srgbClr val="4F5D6A"/>
                </a:solidFill>
                <a:latin typeface="Consolas"/>
              </a:rPr>
              <a:t>62</a:t>
            </a:r>
          </a:p>
          <a:p>
            <a:pPr algn="r">
              <a:lnSpc>
                <a:spcPct val="100000"/>
              </a:lnSpc>
            </a:pPr>
            <a:r>
              <a:rPr sz="1700">
                <a:solidFill>
                  <a:srgbClr val="4F5D6A"/>
                </a:solidFill>
                <a:latin typeface="Consolas"/>
              </a:rPr>
              <a:t>63</a:t>
            </a:r>
          </a:p>
          <a:p>
            <a:pPr algn="r">
              <a:lnSpc>
                <a:spcPct val="100000"/>
              </a:lnSpc>
            </a:pPr>
            <a:r>
              <a:rPr sz="1700">
                <a:solidFill>
                  <a:srgbClr val="4F5D6A"/>
                </a:solidFill>
                <a:latin typeface="Consolas"/>
              </a:rPr>
              <a:t>64</a:t>
            </a:r>
          </a:p>
          <a:p>
            <a:pPr algn="r">
              <a:lnSpc>
                <a:spcPct val="100000"/>
              </a:lnSpc>
            </a:pPr>
            <a:r>
              <a:rPr sz="1700">
                <a:solidFill>
                  <a:srgbClr val="4F5D6A"/>
                </a:solidFill>
                <a:latin typeface="Consolas"/>
              </a:rPr>
              <a:t>65</a:t>
            </a:r>
          </a:p>
          <a:p>
            <a:pPr algn="r">
              <a:lnSpc>
                <a:spcPct val="100000"/>
              </a:lnSpc>
            </a:pPr>
            <a:r>
              <a:rPr sz="1700">
                <a:solidFill>
                  <a:srgbClr val="4F5D6A"/>
                </a:solidFill>
                <a:latin typeface="Consolas"/>
              </a:rPr>
              <a:t>66</a:t>
            </a:r>
          </a:p>
          <a:p>
            <a:pPr algn="r">
              <a:lnSpc>
                <a:spcPct val="100000"/>
              </a:lnSpc>
            </a:pPr>
            <a:r>
              <a:rPr sz="1700">
                <a:solidFill>
                  <a:srgbClr val="4F5D6A"/>
                </a:solidFill>
                <a:latin typeface="Consolas"/>
              </a:rPr>
              <a:t>67</a:t>
            </a:r>
          </a:p>
          <a:p>
            <a:pPr algn="r">
              <a:lnSpc>
                <a:spcPct val="100000"/>
              </a:lnSpc>
            </a:pPr>
            <a:r>
              <a:rPr sz="1700">
                <a:solidFill>
                  <a:srgbClr val="4F5D6A"/>
                </a:solidFill>
                <a:latin typeface="Consolas"/>
              </a:rPr>
              <a:t>68</a:t>
            </a:r>
          </a:p>
          <a:p>
            <a:pPr algn="r">
              <a:lnSpc>
                <a:spcPct val="100000"/>
              </a:lnSpc>
            </a:pPr>
            <a:r>
              <a:rPr sz="1700">
                <a:solidFill>
                  <a:srgbClr val="4F5D6A"/>
                </a:solidFill>
                <a:latin typeface="Consolas"/>
              </a:rPr>
              <a:t>69</a:t>
            </a:r>
          </a:p>
          <a:p>
            <a:pPr algn="r">
              <a:lnSpc>
                <a:spcPct val="100000"/>
              </a:lnSpc>
            </a:pPr>
            <a:r>
              <a:rPr sz="1700">
                <a:solidFill>
                  <a:srgbClr val="4F5D6A"/>
                </a:solidFill>
                <a:latin typeface="Consolas"/>
              </a:rPr>
              <a:t>70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73703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E8B434F5-227C-47BF-898F-68A1004D6802}" type="slidenum">
              <a:rPr lang="en-GB" sz="1000">
                <a:solidFill>
                  <a:srgbClr val="8795A1"/>
                </a:solidFill>
                <a:latin typeface="Segoe UI"/>
              </a:rPr>
              <a:t>34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if __name__ == &quot;__main__&quot;: print(&quot;=== twelve past tasks ===&quot;) w, b, epochs, updates, converged = train(TASKS, trace=True) print(&quot; converged: %s, after %d epochs and %d weight updates&quot; % (converged, epochs, updates)) print(&quot; learned rule: %.2f*effort %+.2f*clarity %+.2f &gt; 0&quot; % (w[0], w[1], b)) print(&quot; accuracy on the training data: %.0f%%&quot; % (100 * accuracy(TASKS, w, b))) assert converged and epochs == 3 and updates == 2 assert accuracy(TASKS, w, b) == 1.0 # the clarity weight went NEGATIVE: more clarity argues against late assert w[1] &lt; 0 print() print(&quot; The weight on clarity is negative. Nobody said that;&quot;) print(&quot; it came from one misclassified example in pass two.&quot;) print() print(&quot; But 100% here is accuracy on the data it LEARNED from.&quot;) print(&quot; Whether it is right about the next task is a different&quot;) print(&quot; question, and this course cannot answer it.&quot;)"/>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__name__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__main__</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twelve past tasks ===</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epochs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updates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converged</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train</a:t>
            </a:r>
            <a:r>
              <a:rPr sz="1300" i="0">
                <a:solidFill>
                  <a:srgbClr val="AEB6BF"/>
                </a:solidFill>
                <a:latin typeface="Consolas"/>
              </a:rPr>
              <a:t>(</a:t>
            </a:r>
            <a:r>
              <a:rPr sz="1300" i="0">
                <a:solidFill>
                  <a:srgbClr val="E8EDF2"/>
                </a:solidFill>
                <a:latin typeface="Consolas"/>
              </a:rPr>
              <a:t>TASKS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trace</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converged: </a:t>
            </a:r>
            <a:r>
              <a:rPr sz="1300" i="0">
                <a:solidFill>
                  <a:srgbClr val="7DCEA0"/>
                </a:solidFill>
                <a:latin typeface="Consolas"/>
              </a:rPr>
              <a:t>%s</a:t>
            </a:r>
            <a:r>
              <a:rPr sz="1300" i="0">
                <a:solidFill>
                  <a:srgbClr val="7DCEA0"/>
                </a:solidFill>
                <a:latin typeface="Consolas"/>
              </a:rPr>
              <a:t>, after </a:t>
            </a:r>
            <a:r>
              <a:rPr sz="1300" i="0">
                <a:solidFill>
                  <a:srgbClr val="7DCEA0"/>
                </a:solidFill>
                <a:latin typeface="Consolas"/>
              </a:rPr>
              <a:t>%d</a:t>
            </a:r>
            <a:r>
              <a:rPr sz="1300" i="0">
                <a:solidFill>
                  <a:srgbClr val="7DCEA0"/>
                </a:solidFill>
                <a:latin typeface="Consolas"/>
              </a:rPr>
              <a:t> epochs and </a:t>
            </a:r>
            <a:r>
              <a:rPr sz="1300" i="0">
                <a:solidFill>
                  <a:srgbClr val="7DCEA0"/>
                </a:solidFill>
                <a:latin typeface="Consolas"/>
              </a:rPr>
              <a:t>%d</a:t>
            </a:r>
            <a:r>
              <a:rPr sz="1300" i="0">
                <a:solidFill>
                  <a:srgbClr val="7DCEA0"/>
                </a:solidFill>
                <a:latin typeface="Consolas"/>
              </a:rPr>
              <a:t> weight updates</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converged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epochs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updates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learned rule:  </a:t>
            </a:r>
            <a:r>
              <a:rPr sz="1300" i="0">
                <a:solidFill>
                  <a:srgbClr val="7DCEA0"/>
                </a:solidFill>
                <a:latin typeface="Consolas"/>
              </a:rPr>
              <a:t>%.2f</a:t>
            </a:r>
            <a:r>
              <a:rPr sz="1300" i="0">
                <a:solidFill>
                  <a:srgbClr val="7DCEA0"/>
                </a:solidFill>
                <a:latin typeface="Consolas"/>
              </a:rPr>
              <a:t>*effort </a:t>
            </a:r>
            <a:r>
              <a:rPr sz="1300" i="0">
                <a:solidFill>
                  <a:srgbClr val="7DCEA0"/>
                </a:solidFill>
                <a:latin typeface="Consolas"/>
              </a:rPr>
              <a:t>%+.2f</a:t>
            </a:r>
            <a:r>
              <a:rPr sz="1300" i="0">
                <a:solidFill>
                  <a:srgbClr val="7DCEA0"/>
                </a:solidFill>
                <a:latin typeface="Consolas"/>
              </a:rPr>
              <a:t>*clarity </a:t>
            </a:r>
            <a:r>
              <a:rPr sz="1300" i="0">
                <a:solidFill>
                  <a:srgbClr val="7DCEA0"/>
                </a:solidFill>
                <a:latin typeface="Consolas"/>
              </a:rPr>
              <a:t>%+.2f</a:t>
            </a:r>
            <a:r>
              <a:rPr sz="1300" i="0">
                <a:solidFill>
                  <a:srgbClr val="7DCEA0"/>
                </a:solidFill>
                <a:latin typeface="Consolas"/>
              </a:rPr>
              <a:t> &gt; 0</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w</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accuracy on the training data: </a:t>
            </a:r>
            <a:r>
              <a:rPr sz="1300" i="0">
                <a:solidFill>
                  <a:srgbClr val="7DCEA0"/>
                </a:solidFill>
                <a:latin typeface="Consolas"/>
              </a:rPr>
              <a:t>%.0f</a:t>
            </a:r>
            <a:r>
              <a:rPr sz="1300" i="0">
                <a:solidFill>
                  <a:srgbClr val="7DCEA0"/>
                </a:solidFill>
                <a:latin typeface="Consolas"/>
              </a:rPr>
              <a:t>%%</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100</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accuracy</a:t>
            </a:r>
            <a:r>
              <a:rPr sz="1300" i="0">
                <a:solidFill>
                  <a:srgbClr val="AEB6BF"/>
                </a:solidFill>
                <a:latin typeface="Consolas"/>
              </a:rPr>
              <a:t>(</a:t>
            </a:r>
            <a:r>
              <a:rPr sz="1300" i="0">
                <a:solidFill>
                  <a:srgbClr val="E8EDF2"/>
                </a:solidFill>
                <a:latin typeface="Consolas"/>
              </a:rPr>
              <a:t>TASKS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converged</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epochs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3</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updates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accuracy</a:t>
            </a:r>
            <a:r>
              <a:rPr sz="1300" i="0">
                <a:solidFill>
                  <a:srgbClr val="AEB6BF"/>
                </a:solidFill>
                <a:latin typeface="Consolas"/>
              </a:rPr>
              <a:t>(</a:t>
            </a:r>
            <a:r>
              <a:rPr sz="1300" i="0">
                <a:solidFill>
                  <a:srgbClr val="E8EDF2"/>
                </a:solidFill>
                <a:latin typeface="Consolas"/>
              </a:rPr>
              <a:t>TASKS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a:t>
            </a:r>
          </a:p>
          <a:p>
            <a:pPr>
              <a:lnSpc>
                <a:spcPct val="100000"/>
              </a:lnSpc>
              <a:spcAft>
                <a:spcPts val="0"/>
              </a:spcAft>
            </a:pPr>
            <a:r>
              <a:rPr sz="1300" i="0">
                <a:solidFill>
                  <a:srgbClr val="E8EDF2"/>
                </a:solidFill>
                <a:latin typeface="Consolas"/>
              </a:rPr>
              <a:t>    </a:t>
            </a:r>
            <a:r>
              <a:rPr sz="1300" i="1">
                <a:solidFill>
                  <a:srgbClr val="8795A1"/>
                </a:solidFill>
                <a:latin typeface="Consolas"/>
              </a:rPr>
              <a:t># the clarity weight went NEGATIVE: more clarity argues against late</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w</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The weight on clarity is negative. Nobody said that;</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it came from one misclassified example in pass two.</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But 100</a:t>
            </a:r>
            <a:r>
              <a:rPr sz="1300" i="0">
                <a:solidFill>
                  <a:srgbClr val="7DCEA0"/>
                </a:solidFill>
                <a:latin typeface="Consolas"/>
              </a:rPr>
              <a:t>% he</a:t>
            </a:r>
            <a:r>
              <a:rPr sz="1300" i="0">
                <a:solidFill>
                  <a:srgbClr val="7DCEA0"/>
                </a:solidFill>
                <a:latin typeface="Consolas"/>
              </a:rPr>
              <a:t>re is accuracy on the data it LEARNED from.</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Whether it is right about the next task is a different</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question, and this course cannot answer it.</a:t>
            </a:r>
            <a:r>
              <a:rPr sz="1300" i="0">
                <a:solidFill>
                  <a:srgbClr val="7DCEA0"/>
                </a:solidFill>
                <a:latin typeface="Consolas"/>
              </a:rPr>
              <a:t>"</a:t>
            </a:r>
            <a:r>
              <a:rPr sz="1300" i="0">
                <a:solidFill>
                  <a:srgbClr val="AEB6BF"/>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73</a:t>
            </a:r>
          </a:p>
          <a:p>
            <a:pPr algn="r">
              <a:lnSpc>
                <a:spcPct val="100000"/>
              </a:lnSpc>
            </a:pPr>
            <a:r>
              <a:rPr sz="1300">
                <a:solidFill>
                  <a:srgbClr val="4F5D6A"/>
                </a:solidFill>
                <a:latin typeface="Consolas"/>
              </a:rPr>
              <a:t>74</a:t>
            </a:r>
          </a:p>
          <a:p>
            <a:pPr algn="r">
              <a:lnSpc>
                <a:spcPct val="100000"/>
              </a:lnSpc>
            </a:pPr>
            <a:r>
              <a:rPr sz="1300">
                <a:solidFill>
                  <a:srgbClr val="4F5D6A"/>
                </a:solidFill>
                <a:latin typeface="Consolas"/>
              </a:rPr>
              <a:t>75</a:t>
            </a:r>
          </a:p>
          <a:p>
            <a:pPr algn="r">
              <a:lnSpc>
                <a:spcPct val="100000"/>
              </a:lnSpc>
            </a:pPr>
            <a:r>
              <a:rPr sz="1300">
                <a:solidFill>
                  <a:srgbClr val="4F5D6A"/>
                </a:solidFill>
                <a:latin typeface="Consolas"/>
              </a:rPr>
              <a:t>76</a:t>
            </a:r>
          </a:p>
          <a:p>
            <a:pPr algn="r">
              <a:lnSpc>
                <a:spcPct val="100000"/>
              </a:lnSpc>
            </a:pPr>
            <a:r>
              <a:rPr sz="1300">
                <a:solidFill>
                  <a:srgbClr val="4F5D6A"/>
                </a:solidFill>
                <a:latin typeface="Consolas"/>
              </a:rPr>
              <a:t>77</a:t>
            </a:r>
          </a:p>
          <a:p>
            <a:pPr algn="r">
              <a:lnSpc>
                <a:spcPct val="100000"/>
              </a:lnSpc>
            </a:pPr>
            <a:r>
              <a:rPr sz="1300">
                <a:solidFill>
                  <a:srgbClr val="4F5D6A"/>
                </a:solidFill>
                <a:latin typeface="Consolas"/>
              </a:rPr>
              <a:t>78</a:t>
            </a:r>
          </a:p>
          <a:p>
            <a:pPr algn="r">
              <a:lnSpc>
                <a:spcPct val="100000"/>
              </a:lnSpc>
            </a:pPr>
            <a:r>
              <a:rPr sz="1300">
                <a:solidFill>
                  <a:srgbClr val="4F5D6A"/>
                </a:solidFill>
                <a:latin typeface="Consolas"/>
              </a:rPr>
              <a:t>79</a:t>
            </a:r>
          </a:p>
          <a:p>
            <a:pPr algn="r">
              <a:lnSpc>
                <a:spcPct val="100000"/>
              </a:lnSpc>
            </a:pPr>
            <a:r>
              <a:rPr sz="1300">
                <a:solidFill>
                  <a:srgbClr val="4F5D6A"/>
                </a:solidFill>
                <a:latin typeface="Consolas"/>
              </a:rPr>
              <a:t>80</a:t>
            </a:r>
          </a:p>
          <a:p>
            <a:pPr algn="r">
              <a:lnSpc>
                <a:spcPct val="100000"/>
              </a:lnSpc>
            </a:pPr>
            <a:r>
              <a:rPr sz="1300">
                <a:solidFill>
                  <a:srgbClr val="4F5D6A"/>
                </a:solidFill>
                <a:latin typeface="Consolas"/>
              </a:rPr>
              <a:t>81</a:t>
            </a:r>
          </a:p>
          <a:p>
            <a:pPr algn="r">
              <a:lnSpc>
                <a:spcPct val="100000"/>
              </a:lnSpc>
            </a:pPr>
            <a:r>
              <a:rPr sz="1300">
                <a:solidFill>
                  <a:srgbClr val="4F5D6A"/>
                </a:solidFill>
                <a:latin typeface="Consolas"/>
              </a:rPr>
              <a:t>82</a:t>
            </a:r>
          </a:p>
          <a:p>
            <a:pPr algn="r">
              <a:lnSpc>
                <a:spcPct val="100000"/>
              </a:lnSpc>
            </a:pPr>
            <a:r>
              <a:rPr sz="1300">
                <a:solidFill>
                  <a:srgbClr val="4F5D6A"/>
                </a:solidFill>
                <a:latin typeface="Consolas"/>
              </a:rPr>
              <a:t>83</a:t>
            </a:r>
          </a:p>
          <a:p>
            <a:pPr algn="r">
              <a:lnSpc>
                <a:spcPct val="100000"/>
              </a:lnSpc>
            </a:pPr>
            <a:r>
              <a:rPr sz="1300">
                <a:solidFill>
                  <a:srgbClr val="4F5D6A"/>
                </a:solidFill>
                <a:latin typeface="Consolas"/>
              </a:rPr>
              <a:t>84</a:t>
            </a:r>
          </a:p>
          <a:p>
            <a:pPr algn="r">
              <a:lnSpc>
                <a:spcPct val="100000"/>
              </a:lnSpc>
            </a:pPr>
            <a:r>
              <a:rPr sz="1300">
                <a:solidFill>
                  <a:srgbClr val="4F5D6A"/>
                </a:solidFill>
                <a:latin typeface="Consolas"/>
              </a:rPr>
              <a:t>85</a:t>
            </a:r>
          </a:p>
          <a:p>
            <a:pPr algn="r">
              <a:lnSpc>
                <a:spcPct val="100000"/>
              </a:lnSpc>
            </a:pPr>
            <a:r>
              <a:rPr sz="1300">
                <a:solidFill>
                  <a:srgbClr val="4F5D6A"/>
                </a:solidFill>
                <a:latin typeface="Consolas"/>
              </a:rPr>
              <a:t>86</a:t>
            </a:r>
          </a:p>
          <a:p>
            <a:pPr algn="r">
              <a:lnSpc>
                <a:spcPct val="100000"/>
              </a:lnSpc>
            </a:pPr>
            <a:r>
              <a:rPr sz="1300">
                <a:solidFill>
                  <a:srgbClr val="4F5D6A"/>
                </a:solidFill>
                <a:latin typeface="Consolas"/>
              </a:rPr>
              <a:t>87</a:t>
            </a:r>
          </a:p>
          <a:p>
            <a:pPr algn="r">
              <a:lnSpc>
                <a:spcPct val="100000"/>
              </a:lnSpc>
            </a:pPr>
            <a:r>
              <a:rPr sz="1300">
                <a:solidFill>
                  <a:srgbClr val="4F5D6A"/>
                </a:solidFill>
                <a:latin typeface="Consolas"/>
              </a:rPr>
              <a:t>88</a:t>
            </a:r>
          </a:p>
          <a:p>
            <a:pPr algn="r">
              <a:lnSpc>
                <a:spcPct val="100000"/>
              </a:lnSpc>
            </a:pPr>
            <a:r>
              <a:rPr sz="1300">
                <a:solidFill>
                  <a:srgbClr val="4F5D6A"/>
                </a:solidFill>
                <a:latin typeface="Consolas"/>
              </a:rPr>
              <a:t>89</a:t>
            </a:r>
          </a:p>
          <a:p>
            <a:pPr algn="r">
              <a:lnSpc>
                <a:spcPct val="100000"/>
              </a:lnSpc>
            </a:pPr>
            <a:r>
              <a:rPr sz="1300">
                <a:solidFill>
                  <a:srgbClr val="4F5D6A"/>
                </a:solidFill>
                <a:latin typeface="Consolas"/>
              </a:rPr>
              <a:t>90</a:t>
            </a:r>
          </a:p>
          <a:p>
            <a:pPr algn="r">
              <a:lnSpc>
                <a:spcPct val="100000"/>
              </a:lnSpc>
            </a:pPr>
            <a:r>
              <a:rPr sz="1300">
                <a:solidFill>
                  <a:srgbClr val="4F5D6A"/>
                </a:solidFill>
                <a:latin typeface="Consolas"/>
              </a:rPr>
              <a:t>91</a:t>
            </a:r>
          </a:p>
          <a:p>
            <a:pPr algn="r">
              <a:lnSpc>
                <a:spcPct val="100000"/>
              </a:lnSpc>
            </a:pPr>
            <a:r>
              <a:rPr sz="1300">
                <a:solidFill>
                  <a:srgbClr val="4F5D6A"/>
                </a:solidFill>
                <a:latin typeface="Consolas"/>
              </a:rPr>
              <a:t>92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97149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50AF5623-B3BB-4953-9496-A747CA60D0E6}" type="slidenum">
              <a:rPr lang="en-GB" sz="1000">
                <a:solidFill>
                  <a:srgbClr val="8795A1"/>
                </a:solidFill>
                <a:latin typeface="Segoe UI"/>
              </a:rPr>
              <a:t>35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print() print(&quot;=== the exclusive-or arrangement ===&quot;) for (x, y) in XOR_TASKS: print(&quot; effort %2d, clarity %2d -&gt; %s&quot; % (x[0], x[1], &quot;late&quot; if y else &quot;on time&quot;)) print() print(&quot; epochs allowed converged weight updates&quot;) print(&quot; &quot; + &quot;-&quot; * 44) for budget in (100, 1000, 10000): _, _, _, ups, conv = train(XOR_TASKS, epochs=budget) print(&quot; %14d %9s %13d&quot; % (budget, conv, ups)) _, _, _, _, conv = train(XOR_TASKS, epochs=10000) assert not conv print() print(&quot; The update count just grows with the budget: the&quot;) print(&quot; weights are still oscillating when time runs out.&quot;) print(&quot; Nothing here says 'impossible' -- it looks exactly&quot;) print(&quot; like slow convergence.&quot;)"/>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the exclusive-or arrangement ===</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x</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XOR_TASKS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effort </a:t>
            </a:r>
            <a:r>
              <a:rPr sz="1400" i="0">
                <a:solidFill>
                  <a:srgbClr val="7DCEA0"/>
                </a:solidFill>
                <a:latin typeface="Consolas"/>
              </a:rPr>
              <a:t>%2d</a:t>
            </a:r>
            <a:r>
              <a:rPr sz="1400" i="0">
                <a:solidFill>
                  <a:srgbClr val="7DCEA0"/>
                </a:solidFill>
                <a:latin typeface="Consolas"/>
              </a:rPr>
              <a:t>, clarity </a:t>
            </a:r>
            <a:r>
              <a:rPr sz="1400" i="0">
                <a:solidFill>
                  <a:srgbClr val="7DCEA0"/>
                </a:solidFill>
                <a:latin typeface="Consolas"/>
              </a:rPr>
              <a:t>%2d</a:t>
            </a:r>
            <a:r>
              <a:rPr sz="1400" i="0">
                <a:solidFill>
                  <a:srgbClr val="7DCEA0"/>
                </a:solidFill>
                <a:latin typeface="Consolas"/>
              </a:rPr>
              <a:t> -&gt; </a:t>
            </a:r>
            <a:r>
              <a:rPr sz="1400" i="0">
                <a:solidFill>
                  <a:srgbClr val="7DCEA0"/>
                </a:solidFill>
                <a:latin typeface="Consolas"/>
              </a:rPr>
              <a:t>%s</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x</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late</a:t>
            </a:r>
            <a:r>
              <a:rPr sz="1400" i="0">
                <a:solidFill>
                  <a:srgbClr val="7DCEA0"/>
                </a:solidFill>
                <a:latin typeface="Consolas"/>
              </a:rPr>
              <a:t>"</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y</a:t>
            </a:r>
            <a:r>
              <a:rPr sz="1400" i="0">
                <a:solidFill>
                  <a:srgbClr val="E8EDF2"/>
                </a:solidFill>
                <a:latin typeface="Consolas"/>
              </a:rPr>
              <a:t> </a:t>
            </a:r>
            <a:r>
              <a:rPr sz="1400" i="0">
                <a:solidFill>
                  <a:srgbClr val="5DADE2"/>
                </a:solidFill>
                <a:latin typeface="Consolas"/>
              </a:rPr>
              <a:t>else</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on time</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epochs allowed   converged   weight updates</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44</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budget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1000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10000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ups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conv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train</a:t>
            </a:r>
            <a:r>
              <a:rPr sz="1400" i="0">
                <a:solidFill>
                  <a:srgbClr val="AEB6BF"/>
                </a:solidFill>
                <a:latin typeface="Consolas"/>
              </a:rPr>
              <a:t>(</a:t>
            </a:r>
            <a:r>
              <a:rPr sz="1400" i="0">
                <a:solidFill>
                  <a:srgbClr val="E8EDF2"/>
                </a:solidFill>
                <a:latin typeface="Consolas"/>
              </a:rPr>
              <a:t>XOR_TASKS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epochs</a:t>
            </a:r>
            <a:r>
              <a:rPr sz="1400" i="0">
                <a:solidFill>
                  <a:srgbClr val="AEB6BF"/>
                </a:solidFill>
                <a:latin typeface="Consolas"/>
              </a:rPr>
              <a:t>=</a:t>
            </a:r>
            <a:r>
              <a:rPr sz="1400" i="0">
                <a:solidFill>
                  <a:srgbClr val="E8EDF2"/>
                </a:solidFill>
                <a:latin typeface="Consolas"/>
              </a:rPr>
              <a:t>budget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a:t>
            </a:r>
            <a:r>
              <a:rPr sz="1400" i="0">
                <a:solidFill>
                  <a:srgbClr val="7DCEA0"/>
                </a:solidFill>
                <a:latin typeface="Consolas"/>
              </a:rPr>
              <a:t>%14d</a:t>
            </a:r>
            <a:r>
              <a:rPr sz="1400" i="0">
                <a:solidFill>
                  <a:srgbClr val="7DCEA0"/>
                </a:solidFill>
                <a:latin typeface="Consolas"/>
              </a:rPr>
              <a:t>   </a:t>
            </a:r>
            <a:r>
              <a:rPr sz="1400" i="0">
                <a:solidFill>
                  <a:srgbClr val="7DCEA0"/>
                </a:solidFill>
                <a:latin typeface="Consolas"/>
              </a:rPr>
              <a:t>%9s</a:t>
            </a:r>
            <a:r>
              <a:rPr sz="1400" i="0">
                <a:solidFill>
                  <a:srgbClr val="7DCEA0"/>
                </a:solidFill>
                <a:latin typeface="Consolas"/>
              </a:rPr>
              <a:t>   </a:t>
            </a:r>
            <a:r>
              <a:rPr sz="1400" i="0">
                <a:solidFill>
                  <a:srgbClr val="7DCEA0"/>
                </a:solidFill>
                <a:latin typeface="Consolas"/>
              </a:rPr>
              <a:t>%13d</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budget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conv</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ups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conv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train</a:t>
            </a:r>
            <a:r>
              <a:rPr sz="1400" i="0">
                <a:solidFill>
                  <a:srgbClr val="AEB6BF"/>
                </a:solidFill>
                <a:latin typeface="Consolas"/>
              </a:rPr>
              <a:t>(</a:t>
            </a:r>
            <a:r>
              <a:rPr sz="1400" i="0">
                <a:solidFill>
                  <a:srgbClr val="E8EDF2"/>
                </a:solidFill>
                <a:latin typeface="Consolas"/>
              </a:rPr>
              <a:t>XOR_TASKS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epochs</a:t>
            </a:r>
            <a:r>
              <a:rPr sz="1400" i="0">
                <a:solidFill>
                  <a:srgbClr val="AEB6BF"/>
                </a:solidFill>
                <a:latin typeface="Consolas"/>
              </a:rPr>
              <a:t>=</a:t>
            </a:r>
            <a:r>
              <a:rPr sz="1400" i="0">
                <a:solidFill>
                  <a:srgbClr val="F7DC6F"/>
                </a:solidFill>
                <a:latin typeface="Consolas"/>
              </a:rPr>
              <a:t>10000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conv</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The update count just grows with the budget: the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weights are still oscillating when time runs out.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Nothing here says </a:t>
            </a:r>
            <a:r>
              <a:rPr sz="1400" i="0">
                <a:solidFill>
                  <a:srgbClr val="7DCEA0"/>
                </a:solidFill>
                <a:latin typeface="Consolas"/>
              </a:rPr>
              <a:t>'</a:t>
            </a:r>
            <a:r>
              <a:rPr sz="1400" i="0">
                <a:solidFill>
                  <a:srgbClr val="7DCEA0"/>
                </a:solidFill>
                <a:latin typeface="Consolas"/>
              </a:rPr>
              <a:t>impossible</a:t>
            </a:r>
            <a:r>
              <a:rPr sz="1400" i="0">
                <a:solidFill>
                  <a:srgbClr val="7DCEA0"/>
                </a:solidFill>
                <a:latin typeface="Consolas"/>
              </a:rPr>
              <a:t>'</a:t>
            </a:r>
            <a:r>
              <a:rPr sz="1400" i="0">
                <a:solidFill>
                  <a:srgbClr val="7DCEA0"/>
                </a:solidFill>
                <a:latin typeface="Consolas"/>
              </a:rPr>
              <a:t> -- it looks exactly</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like slow convergence.</a:t>
            </a:r>
            <a:r>
              <a:rPr sz="1400" i="0">
                <a:solidFill>
                  <a:srgbClr val="7DCEA0"/>
                </a:solidFill>
                <a:latin typeface="Consolas"/>
              </a:rPr>
              <a:t>"</a:t>
            </a:r>
            <a:r>
              <a:rPr sz="14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94</a:t>
            </a:r>
          </a:p>
          <a:p>
            <a:pPr algn="r">
              <a:lnSpc>
                <a:spcPct val="100000"/>
              </a:lnSpc>
            </a:pPr>
            <a:r>
              <a:rPr sz="1400">
                <a:solidFill>
                  <a:srgbClr val="4F5D6A"/>
                </a:solidFill>
                <a:latin typeface="Consolas"/>
              </a:rPr>
              <a:t>95</a:t>
            </a:r>
          </a:p>
          <a:p>
            <a:pPr algn="r">
              <a:lnSpc>
                <a:spcPct val="100000"/>
              </a:lnSpc>
            </a:pPr>
            <a:r>
              <a:rPr sz="1400">
                <a:solidFill>
                  <a:srgbClr val="4F5D6A"/>
                </a:solidFill>
                <a:latin typeface="Consolas"/>
              </a:rPr>
              <a:t>96</a:t>
            </a:r>
          </a:p>
          <a:p>
            <a:pPr algn="r">
              <a:lnSpc>
                <a:spcPct val="100000"/>
              </a:lnSpc>
            </a:pPr>
            <a:r>
              <a:rPr sz="1400">
                <a:solidFill>
                  <a:srgbClr val="4F5D6A"/>
                </a:solidFill>
                <a:latin typeface="Consolas"/>
              </a:rPr>
              <a:t>97</a:t>
            </a:r>
          </a:p>
          <a:p>
            <a:pPr algn="r">
              <a:lnSpc>
                <a:spcPct val="100000"/>
              </a:lnSpc>
            </a:pPr>
            <a:r>
              <a:rPr sz="1400">
                <a:solidFill>
                  <a:srgbClr val="4F5D6A"/>
                </a:solidFill>
                <a:latin typeface="Consolas"/>
              </a:rPr>
              <a:t>98</a:t>
            </a:r>
          </a:p>
          <a:p>
            <a:pPr algn="r">
              <a:lnSpc>
                <a:spcPct val="100000"/>
              </a:lnSpc>
            </a:pPr>
            <a:r>
              <a:rPr sz="1400">
                <a:solidFill>
                  <a:srgbClr val="4F5D6A"/>
                </a:solidFill>
                <a:latin typeface="Consolas"/>
              </a:rPr>
              <a:t>99</a:t>
            </a:r>
          </a:p>
          <a:p>
            <a:pPr algn="r">
              <a:lnSpc>
                <a:spcPct val="100000"/>
              </a:lnSpc>
            </a:pPr>
            <a:r>
              <a:rPr sz="1400">
                <a:solidFill>
                  <a:srgbClr val="4F5D6A"/>
                </a:solidFill>
                <a:latin typeface="Consolas"/>
              </a:rPr>
              <a:t>100</a:t>
            </a:r>
          </a:p>
          <a:p>
            <a:pPr algn="r">
              <a:lnSpc>
                <a:spcPct val="100000"/>
              </a:lnSpc>
            </a:pPr>
            <a:r>
              <a:rPr sz="1400">
                <a:solidFill>
                  <a:srgbClr val="4F5D6A"/>
                </a:solidFill>
                <a:latin typeface="Consolas"/>
              </a:rPr>
              <a:t>101</a:t>
            </a:r>
          </a:p>
          <a:p>
            <a:pPr algn="r">
              <a:lnSpc>
                <a:spcPct val="100000"/>
              </a:lnSpc>
            </a:pPr>
            <a:r>
              <a:rPr sz="1400">
                <a:solidFill>
                  <a:srgbClr val="4F5D6A"/>
                </a:solidFill>
                <a:latin typeface="Consolas"/>
              </a:rPr>
              <a:t>102</a:t>
            </a:r>
          </a:p>
          <a:p>
            <a:pPr algn="r">
              <a:lnSpc>
                <a:spcPct val="100000"/>
              </a:lnSpc>
            </a:pPr>
            <a:r>
              <a:rPr sz="1400">
                <a:solidFill>
                  <a:srgbClr val="4F5D6A"/>
                </a:solidFill>
                <a:latin typeface="Consolas"/>
              </a:rPr>
              <a:t>103</a:t>
            </a:r>
          </a:p>
          <a:p>
            <a:pPr algn="r">
              <a:lnSpc>
                <a:spcPct val="100000"/>
              </a:lnSpc>
            </a:pPr>
            <a:r>
              <a:rPr sz="1400">
                <a:solidFill>
                  <a:srgbClr val="4F5D6A"/>
                </a:solidFill>
                <a:latin typeface="Consolas"/>
              </a:rPr>
              <a:t>104</a:t>
            </a:r>
          </a:p>
          <a:p>
            <a:pPr algn="r">
              <a:lnSpc>
                <a:spcPct val="100000"/>
              </a:lnSpc>
            </a:pPr>
            <a:r>
              <a:rPr sz="1400">
                <a:solidFill>
                  <a:srgbClr val="4F5D6A"/>
                </a:solidFill>
                <a:latin typeface="Consolas"/>
              </a:rPr>
              <a:t>105</a:t>
            </a:r>
          </a:p>
          <a:p>
            <a:pPr algn="r">
              <a:lnSpc>
                <a:spcPct val="100000"/>
              </a:lnSpc>
            </a:pPr>
            <a:r>
              <a:rPr sz="1400">
                <a:solidFill>
                  <a:srgbClr val="4F5D6A"/>
                </a:solidFill>
                <a:latin typeface="Consolas"/>
              </a:rPr>
              <a:t>106</a:t>
            </a:r>
          </a:p>
          <a:p>
            <a:pPr algn="r">
              <a:lnSpc>
                <a:spcPct val="100000"/>
              </a:lnSpc>
            </a:pPr>
            <a:r>
              <a:rPr sz="1400">
                <a:solidFill>
                  <a:srgbClr val="4F5D6A"/>
                </a:solidFill>
                <a:latin typeface="Consolas"/>
              </a:rPr>
              <a:t>107</a:t>
            </a:r>
          </a:p>
          <a:p>
            <a:pPr algn="r">
              <a:lnSpc>
                <a:spcPct val="100000"/>
              </a:lnSpc>
            </a:pPr>
            <a:r>
              <a:rPr sz="1400">
                <a:solidFill>
                  <a:srgbClr val="4F5D6A"/>
                </a:solidFill>
                <a:latin typeface="Consolas"/>
              </a:rPr>
              <a:t>108</a:t>
            </a:r>
          </a:p>
          <a:p>
            <a:pPr algn="r">
              <a:lnSpc>
                <a:spcPct val="100000"/>
              </a:lnSpc>
            </a:pPr>
            <a:r>
              <a:rPr sz="1400">
                <a:solidFill>
                  <a:srgbClr val="4F5D6A"/>
                </a:solidFill>
                <a:latin typeface="Consolas"/>
              </a:rPr>
              <a:t>109</a:t>
            </a:r>
          </a:p>
          <a:p>
            <a:pPr algn="r">
              <a:lnSpc>
                <a:spcPct val="100000"/>
              </a:lnSpc>
            </a:pPr>
            <a:r>
              <a:rPr sz="1400">
                <a:solidFill>
                  <a:srgbClr val="4F5D6A"/>
                </a:solidFill>
                <a:latin typeface="Consolas"/>
              </a:rPr>
              <a:t>110</a:t>
            </a:r>
          </a:p>
          <a:p>
            <a:pPr algn="r">
              <a:lnSpc>
                <a:spcPct val="100000"/>
              </a:lnSpc>
            </a:pPr>
            <a:r>
              <a:rPr sz="1400">
                <a:solidFill>
                  <a:srgbClr val="4F5D6A"/>
                </a:solidFill>
                <a:latin typeface="Consolas"/>
              </a:rPr>
              <a:t>111</a:t>
            </a:r>
          </a:p>
          <a:p>
            <a:pPr algn="r">
              <a:lnSpc>
                <a:spcPct val="100000"/>
              </a:lnSpc>
            </a:pPr>
            <a:r>
              <a:rPr sz="1400">
                <a:solidFill>
                  <a:srgbClr val="4F5D6A"/>
                </a:solidFill>
                <a:latin typeface="Consolas"/>
              </a:rPr>
              <a:t>112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20594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550AE63B-9647-4627-A998-AD667F55EE84}" type="slidenum">
              <a:rPr lang="en-GB" sz="1000">
                <a:solidFill>
                  <a:srgbClr val="8795A1"/>
                </a:solidFill>
                <a:latin typeface="Segoe UI"/>
              </a:rPr>
              <a:t>36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 so settle it by brute force print() print(&quot;=== can ANY straight line do it? ===&quot;) best, arg = best_line_accuracy(XOR_TASKS) print(&quot; best accuracy over a grid of every line: %.0f%%&quot; % (100 * best)) print(&quot; achieved by %.1f*effort %+.1f*clarity %+.1f &gt; 0&quot; % arg) assert best == 0.75 print() print(&quot; Three of four, and no line does better. This is not a&quot;) print(&quot; training failure -- it is a fact about the hypothesis&quot;) print(&quot; class. No learning rate, initialisation or patience&quot;) print(&quot; fixes it; only a richer class does, and a hidden layer&quot;) print(&quot; is exactly that.&quot;)"/>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700" i="0">
                <a:solidFill>
                  <a:srgbClr val="E8EDF2"/>
                </a:solidFill>
                <a:latin typeface="Consolas"/>
              </a:rPr>
              <a:t>    </a:t>
            </a:r>
            <a:r>
              <a:rPr sz="1700" i="1">
                <a:solidFill>
                  <a:srgbClr val="8795A1"/>
                </a:solidFill>
                <a:latin typeface="Consolas"/>
              </a:rPr>
              <a:t># so settle it by brute force</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can ANY straight line do it? ===</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E8EDF2"/>
                </a:solidFill>
                <a:latin typeface="Consolas"/>
              </a:rPr>
              <a:t>best</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arg</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best_line_accuracy</a:t>
            </a:r>
            <a:r>
              <a:rPr sz="1700" i="0">
                <a:solidFill>
                  <a:srgbClr val="AEB6BF"/>
                </a:solidFill>
                <a:latin typeface="Consolas"/>
              </a:rPr>
              <a:t>(</a:t>
            </a:r>
            <a:r>
              <a:rPr sz="1700" i="0">
                <a:solidFill>
                  <a:srgbClr val="E8EDF2"/>
                </a:solidFill>
                <a:latin typeface="Consolas"/>
              </a:rPr>
              <a:t>XOR_TASKS</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best accuracy over a grid of every line: </a:t>
            </a:r>
            <a:r>
              <a:rPr sz="1700" i="0">
                <a:solidFill>
                  <a:srgbClr val="7DCEA0"/>
                </a:solidFill>
                <a:latin typeface="Consolas"/>
              </a:rPr>
              <a:t>%.0f</a:t>
            </a:r>
            <a:r>
              <a:rPr sz="1700" i="0">
                <a:solidFill>
                  <a:srgbClr val="7DCEA0"/>
                </a:solidFill>
                <a:latin typeface="Consolas"/>
              </a:rPr>
              <a:t>%%</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AEB6BF"/>
                </a:solidFill>
                <a:latin typeface="Consolas"/>
              </a:rPr>
              <a:t>(</a:t>
            </a:r>
            <a:r>
              <a:rPr sz="1700" i="0">
                <a:solidFill>
                  <a:srgbClr val="F7DC6F"/>
                </a:solidFill>
                <a:latin typeface="Consolas"/>
              </a:rPr>
              <a:t>100</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best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achieved by </a:t>
            </a:r>
            <a:r>
              <a:rPr sz="1700" i="0">
                <a:solidFill>
                  <a:srgbClr val="7DCEA0"/>
                </a:solidFill>
                <a:latin typeface="Consolas"/>
              </a:rPr>
              <a:t>%.1f</a:t>
            </a:r>
            <a:r>
              <a:rPr sz="1700" i="0">
                <a:solidFill>
                  <a:srgbClr val="7DCEA0"/>
                </a:solidFill>
                <a:latin typeface="Consolas"/>
              </a:rPr>
              <a:t>*effort </a:t>
            </a:r>
            <a:r>
              <a:rPr sz="1700" i="0">
                <a:solidFill>
                  <a:srgbClr val="7DCEA0"/>
                </a:solidFill>
                <a:latin typeface="Consolas"/>
              </a:rPr>
              <a:t>%+.1f</a:t>
            </a:r>
            <a:r>
              <a:rPr sz="1700" i="0">
                <a:solidFill>
                  <a:srgbClr val="7DCEA0"/>
                </a:solidFill>
                <a:latin typeface="Consolas"/>
              </a:rPr>
              <a:t>*clarity </a:t>
            </a:r>
            <a:r>
              <a:rPr sz="1700" i="0">
                <a:solidFill>
                  <a:srgbClr val="7DCEA0"/>
                </a:solidFill>
                <a:latin typeface="Consolas"/>
              </a:rPr>
              <a:t>%+.1f</a:t>
            </a:r>
            <a:r>
              <a:rPr sz="1700" i="0">
                <a:solidFill>
                  <a:srgbClr val="7DCEA0"/>
                </a:solidFill>
                <a:latin typeface="Consolas"/>
              </a:rPr>
              <a:t> &gt; 0</a:t>
            </a:r>
            <a:r>
              <a:rPr sz="1700" i="0">
                <a:solidFill>
                  <a:srgbClr val="7DCEA0"/>
                </a:solidFill>
                <a:latin typeface="Consolas"/>
              </a:rPr>
              <a:t>"</a:t>
            </a:r>
          </a:p>
          <a:p>
            <a:pPr>
              <a:lnSpc>
                <a:spcPct val="100000"/>
              </a:lnSpc>
              <a:spcAft>
                <a:spcPts val="0"/>
              </a:spcAft>
            </a:pP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E8EDF2"/>
                </a:solidFill>
                <a:latin typeface="Consolas"/>
              </a:rPr>
              <a:t>arg</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5DADE2"/>
                </a:solidFill>
                <a:latin typeface="Consolas"/>
              </a:rPr>
              <a:t>assert</a:t>
            </a:r>
            <a:r>
              <a:rPr sz="1700" i="0">
                <a:solidFill>
                  <a:srgbClr val="E8EDF2"/>
                </a:solidFill>
                <a:latin typeface="Consolas"/>
              </a:rPr>
              <a:t> </a:t>
            </a:r>
            <a:r>
              <a:rPr sz="1700" i="0">
                <a:solidFill>
                  <a:srgbClr val="E8EDF2"/>
                </a:solidFill>
                <a:latin typeface="Consolas"/>
              </a:rPr>
              <a:t>best</a:t>
            </a:r>
            <a:r>
              <a:rPr sz="1700" i="0">
                <a:solidFill>
                  <a:srgbClr val="E8EDF2"/>
                </a:solidFill>
                <a:latin typeface="Consolas"/>
              </a:rPr>
              <a:t> </a:t>
            </a:r>
            <a:r>
              <a:rPr sz="1700" i="0">
                <a:solidFill>
                  <a:srgbClr val="AEB6BF"/>
                </a:solidFill>
                <a:latin typeface="Consolas"/>
              </a:rPr>
              <a:t>==</a:t>
            </a:r>
            <a:r>
              <a:rPr sz="1700" i="0">
                <a:solidFill>
                  <a:srgbClr val="E8EDF2"/>
                </a:solidFill>
                <a:latin typeface="Consolas"/>
              </a:rPr>
              <a:t> </a:t>
            </a:r>
            <a:r>
              <a:rPr sz="1700" i="0">
                <a:solidFill>
                  <a:srgbClr val="F7DC6F"/>
                </a:solidFill>
                <a:latin typeface="Consolas"/>
              </a:rPr>
              <a:t>0.75</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Three of four, and no line does better. This is not a</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training failure -- it is a fact about the hypothesis</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class. No learning rate, initialisation or patience</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fixes it; only a richer class does, and a hidden layer</a:t>
            </a:r>
            <a:r>
              <a:rPr sz="1700" i="0">
                <a:solidFill>
                  <a:srgbClr val="7DCEA0"/>
                </a:solidFill>
                <a:latin typeface="Consolas"/>
              </a:rPr>
              <a:t>"</a:t>
            </a:r>
            <a:r>
              <a:rPr sz="1700" i="0">
                <a:solidFill>
                  <a:srgbClr val="AEB6BF"/>
                </a:solidFill>
                <a:latin typeface="Consolas"/>
              </a:rPr>
              <a:t>)</a:t>
            </a:r>
          </a:p>
          <a:p>
            <a:pPr>
              <a:lnSpc>
                <a:spcPct val="100000"/>
              </a:lnSpc>
              <a:spcAft>
                <a:spcPts val="0"/>
              </a:spcAft>
            </a:pPr>
            <a:r>
              <a:rPr sz="1700" i="0">
                <a:solidFill>
                  <a:srgbClr val="E8EDF2"/>
                </a:solidFill>
                <a:latin typeface="Consolas"/>
              </a:rPr>
              <a:t>    </a:t>
            </a:r>
            <a:r>
              <a:rPr sz="1700" i="0">
                <a:solidFill>
                  <a:srgbClr val="C39BD3"/>
                </a:solidFill>
                <a:latin typeface="Consolas"/>
              </a:rPr>
              <a:t>print</a:t>
            </a:r>
            <a:r>
              <a:rPr sz="1700" i="0">
                <a:solidFill>
                  <a:srgbClr val="AEB6BF"/>
                </a:solidFill>
                <a:latin typeface="Consolas"/>
              </a:rPr>
              <a:t>(</a:t>
            </a:r>
            <a:r>
              <a:rPr sz="1700" i="0">
                <a:solidFill>
                  <a:srgbClr val="7DCEA0"/>
                </a:solidFill>
                <a:latin typeface="Consolas"/>
              </a:rPr>
              <a:t>"</a:t>
            </a:r>
            <a:r>
              <a:rPr sz="1700" i="0">
                <a:solidFill>
                  <a:srgbClr val="7DCEA0"/>
                </a:solidFill>
                <a:latin typeface="Consolas"/>
              </a:rPr>
              <a:t>   is exactly that.</a:t>
            </a:r>
            <a:r>
              <a:rPr sz="1700" i="0">
                <a:solidFill>
                  <a:srgbClr val="7DCEA0"/>
                </a:solidFill>
                <a:latin typeface="Consolas"/>
              </a:rPr>
              <a:t>"</a:t>
            </a:r>
            <a:r>
              <a:rPr sz="1700" i="0">
                <a:solidFill>
                  <a:srgbClr val="AEB6BF"/>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700">
                <a:solidFill>
                  <a:srgbClr val="4F5D6A"/>
                </a:solidFill>
                <a:latin typeface="Consolas"/>
              </a:rPr>
              <a:t>114</a:t>
            </a:r>
          </a:p>
          <a:p>
            <a:pPr algn="r">
              <a:lnSpc>
                <a:spcPct val="100000"/>
              </a:lnSpc>
            </a:pPr>
            <a:r>
              <a:rPr sz="1700">
                <a:solidFill>
                  <a:srgbClr val="4F5D6A"/>
                </a:solidFill>
                <a:latin typeface="Consolas"/>
              </a:rPr>
              <a:t>115</a:t>
            </a:r>
          </a:p>
          <a:p>
            <a:pPr algn="r">
              <a:lnSpc>
                <a:spcPct val="100000"/>
              </a:lnSpc>
            </a:pPr>
            <a:r>
              <a:rPr sz="1700">
                <a:solidFill>
                  <a:srgbClr val="4F5D6A"/>
                </a:solidFill>
                <a:latin typeface="Consolas"/>
              </a:rPr>
              <a:t>116</a:t>
            </a:r>
          </a:p>
          <a:p>
            <a:pPr algn="r">
              <a:lnSpc>
                <a:spcPct val="100000"/>
              </a:lnSpc>
            </a:pPr>
            <a:r>
              <a:rPr sz="1700">
                <a:solidFill>
                  <a:srgbClr val="4F5D6A"/>
                </a:solidFill>
                <a:latin typeface="Consolas"/>
              </a:rPr>
              <a:t>117</a:t>
            </a:r>
          </a:p>
          <a:p>
            <a:pPr algn="r">
              <a:lnSpc>
                <a:spcPct val="100000"/>
              </a:lnSpc>
            </a:pPr>
            <a:r>
              <a:rPr sz="1700">
                <a:solidFill>
                  <a:srgbClr val="4F5D6A"/>
                </a:solidFill>
                <a:latin typeface="Consolas"/>
              </a:rPr>
              <a:t>118</a:t>
            </a:r>
          </a:p>
          <a:p>
            <a:pPr algn="r">
              <a:lnSpc>
                <a:spcPct val="100000"/>
              </a:lnSpc>
            </a:pPr>
            <a:r>
              <a:rPr sz="1700">
                <a:solidFill>
                  <a:srgbClr val="4F5D6A"/>
                </a:solidFill>
                <a:latin typeface="Consolas"/>
              </a:rPr>
              <a:t>119</a:t>
            </a:r>
          </a:p>
          <a:p>
            <a:pPr algn="r">
              <a:lnSpc>
                <a:spcPct val="100000"/>
              </a:lnSpc>
            </a:pPr>
            <a:r>
              <a:rPr sz="1700">
                <a:solidFill>
                  <a:srgbClr val="4F5D6A"/>
                </a:solidFill>
                <a:latin typeface="Consolas"/>
              </a:rPr>
              <a:t>120</a:t>
            </a:r>
          </a:p>
          <a:p>
            <a:pPr algn="r">
              <a:lnSpc>
                <a:spcPct val="100000"/>
              </a:lnSpc>
            </a:pPr>
            <a:r>
              <a:rPr sz="1700">
                <a:solidFill>
                  <a:srgbClr val="4F5D6A"/>
                </a:solidFill>
                <a:latin typeface="Consolas"/>
              </a:rPr>
              <a:t>121</a:t>
            </a:r>
          </a:p>
          <a:p>
            <a:pPr algn="r">
              <a:lnSpc>
                <a:spcPct val="100000"/>
              </a:lnSpc>
            </a:pPr>
            <a:r>
              <a:rPr sz="1700">
                <a:solidFill>
                  <a:srgbClr val="4F5D6A"/>
                </a:solidFill>
                <a:latin typeface="Consolas"/>
              </a:rPr>
              <a:t>122</a:t>
            </a:r>
          </a:p>
          <a:p>
            <a:pPr algn="r">
              <a:lnSpc>
                <a:spcPct val="100000"/>
              </a:lnSpc>
            </a:pPr>
            <a:r>
              <a:rPr sz="1700">
                <a:solidFill>
                  <a:srgbClr val="4F5D6A"/>
                </a:solidFill>
                <a:latin typeface="Consolas"/>
              </a:rPr>
              <a:t>123</a:t>
            </a:r>
          </a:p>
          <a:p>
            <a:pPr algn="r">
              <a:lnSpc>
                <a:spcPct val="100000"/>
              </a:lnSpc>
            </a:pPr>
            <a:r>
              <a:rPr sz="1700">
                <a:solidFill>
                  <a:srgbClr val="4F5D6A"/>
                </a:solidFill>
                <a:latin typeface="Consolas"/>
              </a:rPr>
              <a:t>124</a:t>
            </a:r>
          </a:p>
          <a:p>
            <a:pPr algn="r">
              <a:lnSpc>
                <a:spcPct val="100000"/>
              </a:lnSpc>
            </a:pPr>
            <a:r>
              <a:rPr sz="1700">
                <a:solidFill>
                  <a:srgbClr val="4F5D6A"/>
                </a:solidFill>
                <a:latin typeface="Consolas"/>
              </a:rPr>
              <a:t>125</a:t>
            </a:r>
          </a:p>
          <a:p>
            <a:pPr algn="r">
              <a:lnSpc>
                <a:spcPct val="100000"/>
              </a:lnSpc>
            </a:pPr>
            <a:r>
              <a:rPr sz="1700">
                <a:solidFill>
                  <a:srgbClr val="4F5D6A"/>
                </a:solidFill>
                <a:latin typeface="Consolas"/>
              </a:rPr>
              <a:t>126</a:t>
            </a:r>
          </a:p>
          <a:p>
            <a:pPr algn="r">
              <a:lnSpc>
                <a:spcPct val="100000"/>
              </a:lnSpc>
            </a:pPr>
            <a:r>
              <a:rPr sz="1700">
                <a:solidFill>
                  <a:srgbClr val="4F5D6A"/>
                </a:solidFill>
                <a:latin typeface="Consolas"/>
              </a:rPr>
              <a:t>127</a:t>
            </a:r>
          </a:p>
          <a:p>
            <a:pPr algn="r">
              <a:lnSpc>
                <a:spcPct val="100000"/>
              </a:lnSpc>
            </a:pPr>
            <a:r>
              <a:rPr sz="1700">
                <a:solidFill>
                  <a:srgbClr val="4F5D6A"/>
                </a:solidFill>
                <a:latin typeface="Consolas"/>
              </a:rPr>
              <a:t>128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44040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The Perceptron and Its Limit</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8</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61D93D1F-0AA9-42FC-AED9-F88D8C430FB3}" type="slidenum">
              <a:rPr lang="en-GB" sz="1000">
                <a:solidFill>
                  <a:srgbClr val="8795A1"/>
                </a:solidFill>
                <a:latin typeface="Segoe UI"/>
              </a:rPr>
              <a:t>37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code/ch17_perceptron_its_limit.py</a:t>
            </a:r>
          </a:p>
        </p:txBody>
      </p:sp>
      <p:sp>
        <p:nvSpPr>
          <p:cNvPr id="13" name="!!code-text" descr="# and the same sweep on the separable data, for contrast best2, _ = best_line_accuracy(TASKS) assert best2 == 1.0 print() print(&quot; (The same sweep on the twelve tasks finds a line with&quot;) print(&quot; 100% accuracy, which is why the perceptron found one.)&quot;) print() print(&quot;=&quot; * 58) print(&quot;Machine Learning Fall 2026, Chapter 13, takes over here.&quot;) print(&quot;=&quot; * 58)"/>
          <p:cNvSpPr txBox="1"/>
          <p:nvPr/>
        </p:nvSpPr>
        <p:spPr>
          <a:xfrm>
            <a:off x="1362456" y="2066543"/>
            <a:ext cx="9987991" cy="329488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and the same sweep on the separable data, for contrast</a:t>
            </a:r>
          </a:p>
          <a:p>
            <a:pPr>
              <a:lnSpc>
                <a:spcPct val="100000"/>
              </a:lnSpc>
              <a:spcAft>
                <a:spcPts val="0"/>
              </a:spcAft>
            </a:pPr>
            <a:r>
              <a:rPr sz="1900" i="0">
                <a:solidFill>
                  <a:srgbClr val="E8EDF2"/>
                </a:solidFill>
                <a:latin typeface="Consolas"/>
              </a:rPr>
              <a:t>    </a:t>
            </a:r>
            <a:r>
              <a:rPr sz="1900" i="0">
                <a:solidFill>
                  <a:srgbClr val="E8EDF2"/>
                </a:solidFill>
                <a:latin typeface="Consolas"/>
              </a:rPr>
              <a:t>best2</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_</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best_line_accuracy</a:t>
            </a:r>
            <a:r>
              <a:rPr sz="1900" i="0">
                <a:solidFill>
                  <a:srgbClr val="AEB6BF"/>
                </a:solidFill>
                <a:latin typeface="Consolas"/>
              </a:rPr>
              <a:t>(</a:t>
            </a:r>
            <a:r>
              <a:rPr sz="1900" i="0">
                <a:solidFill>
                  <a:srgbClr val="E8EDF2"/>
                </a:solidFill>
                <a:latin typeface="Consolas"/>
              </a:rPr>
              <a:t>TASKS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best2</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same sweep on the twelve tasks finds a line with</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100</a:t>
            </a:r>
            <a:r>
              <a:rPr sz="1900" i="0">
                <a:solidFill>
                  <a:srgbClr val="7DCEA0"/>
                </a:solidFill>
                <a:latin typeface="Consolas"/>
              </a:rPr>
              <a:t>% a</a:t>
            </a:r>
            <a:r>
              <a:rPr sz="1900" i="0">
                <a:solidFill>
                  <a:srgbClr val="7DCEA0"/>
                </a:solidFill>
                <a:latin typeface="Consolas"/>
              </a:rPr>
              <a:t>ccuracy, which is why the perceptron found one.)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a:latin typeface="Consolas"/>
              </a:rPr>
              <a:t> </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58</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Machine Learning Fall 2026, Chapter 13, takes over here.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58</a:t>
            </a:r>
            <a:r>
              <a:rPr sz="1900" i="0">
                <a:solidFill>
                  <a:srgbClr val="AEB6BF"/>
                </a:solidFill>
                <a:latin typeface="Consolas"/>
              </a:rPr>
              <a:t>)</a:t>
            </a:r>
          </a:p>
        </p:txBody>
      </p:sp>
      <p:sp>
        <p:nvSpPr>
          <p:cNvPr id="14" name="!!code-num"/>
          <p:cNvSpPr txBox="1"/>
          <p:nvPr/>
        </p:nvSpPr>
        <p:spPr>
          <a:xfrm>
            <a:off x="768096" y="2066543"/>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130</a:t>
            </a:r>
          </a:p>
          <a:p>
            <a:pPr algn="r">
              <a:lnSpc>
                <a:spcPct val="100000"/>
              </a:lnSpc>
            </a:pPr>
            <a:r>
              <a:rPr sz="1900">
                <a:solidFill>
                  <a:srgbClr val="4F5D6A"/>
                </a:solidFill>
                <a:latin typeface="Consolas"/>
              </a:rPr>
              <a:t>131</a:t>
            </a:r>
          </a:p>
          <a:p>
            <a:pPr algn="r">
              <a:lnSpc>
                <a:spcPct val="100000"/>
              </a:lnSpc>
            </a:pPr>
            <a:r>
              <a:rPr sz="1900">
                <a:solidFill>
                  <a:srgbClr val="4F5D6A"/>
                </a:solidFill>
                <a:latin typeface="Consolas"/>
              </a:rPr>
              <a:t>132</a:t>
            </a:r>
          </a:p>
          <a:p>
            <a:pPr algn="r">
              <a:lnSpc>
                <a:spcPct val="100000"/>
              </a:lnSpc>
            </a:pPr>
            <a:r>
              <a:rPr sz="1900">
                <a:solidFill>
                  <a:srgbClr val="4F5D6A"/>
                </a:solidFill>
                <a:latin typeface="Consolas"/>
              </a:rPr>
              <a:t>133</a:t>
            </a:r>
          </a:p>
          <a:p>
            <a:pPr algn="r">
              <a:lnSpc>
                <a:spcPct val="100000"/>
              </a:lnSpc>
            </a:pPr>
            <a:r>
              <a:rPr sz="1900">
                <a:solidFill>
                  <a:srgbClr val="4F5D6A"/>
                </a:solidFill>
                <a:latin typeface="Consolas"/>
              </a:rPr>
              <a:t>134</a:t>
            </a:r>
          </a:p>
          <a:p>
            <a:pPr algn="r">
              <a:lnSpc>
                <a:spcPct val="100000"/>
              </a:lnSpc>
            </a:pPr>
            <a:r>
              <a:rPr sz="1900">
                <a:solidFill>
                  <a:srgbClr val="4F5D6A"/>
                </a:solidFill>
                <a:latin typeface="Consolas"/>
              </a:rPr>
              <a:t>135</a:t>
            </a:r>
          </a:p>
          <a:p>
            <a:pPr algn="r">
              <a:lnSpc>
                <a:spcPct val="100000"/>
              </a:lnSpc>
            </a:pPr>
            <a:r>
              <a:rPr sz="1900">
                <a:solidFill>
                  <a:srgbClr val="4F5D6A"/>
                </a:solidFill>
                <a:latin typeface="Consolas"/>
              </a:rPr>
              <a:t>136</a:t>
            </a:r>
          </a:p>
          <a:p>
            <a:pPr algn="r">
              <a:lnSpc>
                <a:spcPct val="100000"/>
              </a:lnSpc>
            </a:pPr>
            <a:r>
              <a:rPr sz="1900">
                <a:solidFill>
                  <a:srgbClr val="4F5D6A"/>
                </a:solidFill>
                <a:latin typeface="Consolas"/>
              </a:rPr>
              <a:t>137</a:t>
            </a:r>
          </a:p>
          <a:p>
            <a:pPr algn="r">
              <a:lnSpc>
                <a:spcPct val="100000"/>
              </a:lnSpc>
            </a:pPr>
            <a:r>
              <a:rPr sz="1900">
                <a:solidFill>
                  <a:srgbClr val="4F5D6A"/>
                </a:solidFill>
                <a:latin typeface="Consolas"/>
              </a:rPr>
              <a:t>138</a:t>
            </a:r>
          </a:p>
          <a:p>
            <a:pPr algn="r">
              <a:lnSpc>
                <a:spcPct val="100000"/>
              </a:lnSpc>
            </a:pPr>
            <a:r>
              <a:rPr sz="1900">
                <a:solidFill>
                  <a:srgbClr val="4F5D6A"/>
                </a:solidFill>
                <a:latin typeface="Consolas"/>
              </a:rPr>
              <a:t>139</a:t>
            </a:r>
          </a:p>
          <a:p>
            <a:pPr algn="r">
              <a:lnSpc>
                <a:spcPct val="100000"/>
              </a:lnSpc>
            </a:pPr>
            <a:r>
              <a:rPr sz="1900">
                <a:solidFill>
                  <a:srgbClr val="4F5D6A"/>
                </a:solidFill>
                <a:latin typeface="Consolas"/>
              </a:rPr>
              <a:t>140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67486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§17.8  ·  Handout p. 181     </a:t>
            </a:r>
            <a:fld id="{9DA8DAE2-16D3-4FCA-A72C-8A478E510A8B}" type="slidenum">
              <a:rPr lang="en-GB" sz="1000">
                <a:solidFill>
                  <a:srgbClr val="8795A1"/>
                </a:solidFill>
                <a:latin typeface="Segoe UI"/>
              </a:rPr>
              <a:t>38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Two things to try. Set </a:t>
            </a:r>
            <a:r>
              <a:rPr sz="2150" b="0" i="0">
                <a:solidFill>
                  <a:srgbClr val="1F4E79"/>
                </a:solidFill>
                <a:latin typeface="Consolas"/>
              </a:rPr>
              <a:t>eta</a:t>
            </a:r>
            <a:r>
              <a:rPr sz="2300" b="0" i="0">
                <a:solidFill>
                  <a:srgbClr val="1C252B"/>
                </a:solidFill>
                <a:latin typeface="Segoe UI"/>
              </a:rPr>
              <a:t> to </a:t>
            </a:r>
            <a:r>
              <a:rPr sz="2300" b="0" i="0">
                <a:solidFill>
                  <a:srgbClr val="1C252B"/>
                </a:solidFill>
                <a:latin typeface="Cambria"/>
              </a:rPr>
              <a:t>10</a:t>
            </a:r>
            <a:r>
              <a:rPr sz="2300" b="0" i="0">
                <a:solidFill>
                  <a:srgbClr val="1C252B"/>
                </a:solidFill>
                <a:latin typeface="Segoe UI"/>
              </a:rPr>
              <a:t> and re-run the first dataset: it still converges, because the perceptron convergence theorem does not depend on the learning rate — only on separability. Then change one label in </a:t>
            </a:r>
            <a:r>
              <a:rPr sz="2150" b="0" i="0">
                <a:solidFill>
                  <a:srgbClr val="1F4E79"/>
                </a:solidFill>
                <a:latin typeface="Consolas"/>
              </a:rPr>
              <a:t>TASKS</a:t>
            </a:r>
            <a:r>
              <a:rPr sz="2300" b="0" i="0">
                <a:solidFill>
                  <a:srgbClr val="1C252B"/>
                </a:solidFill>
                <a:latin typeface="Segoe UI"/>
              </a:rPr>
              <a:t> to make the data non-separable, and watch the first dataset start behaving like the second.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0931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perceptron made only two weight updates in three passes over twelve examples. Explain why so few, and what the second update changed about the meaning of the rule.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17  ·  Learning from Examples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186  ·  answers in Appendix D     </a:t>
            </a:r>
            <a:fld id="{787015F7-4174-4E12-B2DD-2C0979C523BA}" type="slidenum">
              <a:rPr lang="en-GB" sz="1000">
                <a:solidFill>
                  <a:srgbClr val="D5DEE5"/>
                </a:solidFill>
                <a:latin typeface="Segoe UI"/>
              </a:rPr>
              <a:t>39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perceptron made only two weight updates in three passes over twelve examples. Explain why so few, and what the second update changed about the meaning of the rule.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the rule learns </a:t>
            </a:r>
            <a:r>
              <a:rPr sz="2200" b="0" i="1">
                <a:solidFill>
                  <a:srgbClr val="1C252B"/>
                </a:solidFill>
                <a:latin typeface="Segoe UI"/>
              </a:rPr>
              <a:t>only from mistakes</a:t>
            </a:r>
            <a:r>
              <a:rPr sz="2200" b="0" i="0">
                <a:solidFill>
                  <a:srgbClr val="1C252B"/>
                </a:solidFill>
                <a:latin typeface="Segoe UI"/>
              </a:rPr>
              <a:t>: when the prediction is correct, </a:t>
            </a:r>
            <a:r>
              <a:rPr sz="2200" b="0" i="1">
                <a:solidFill>
                  <a:srgbClr val="1C252B"/>
                </a:solidFill>
                <a:latin typeface="Cambria"/>
              </a:rPr>
              <a:t>y</a:t>
            </a:r>
            <a:r>
              <a:rPr sz="2200" b="0" i="0">
                <a:solidFill>
                  <a:srgbClr val="1C252B"/>
                </a:solidFill>
                <a:latin typeface="Cambria"/>
              </a:rPr>
              <a:t> − </a:t>
            </a:r>
            <a:r>
              <a:rPr sz="2200" b="0" i="1">
                <a:solidFill>
                  <a:srgbClr val="1C252B"/>
                </a:solidFill>
                <a:latin typeface="Cambria"/>
              </a:rPr>
              <a:t>ŷ</a:t>
            </a:r>
            <a:r>
              <a:rPr sz="2200" b="0" i="0">
                <a:solidFill>
                  <a:srgbClr val="1C252B"/>
                </a:solidFill>
                <a:latin typeface="Cambria"/>
              </a:rPr>
              <a:t> = 0</a:t>
            </a:r>
            <a:r>
              <a:rPr sz="2200" b="0" i="0">
                <a:solidFill>
                  <a:srgbClr val="1C252B"/>
                </a:solidFill>
                <a:latin typeface="Segoe UI"/>
              </a:rPr>
              <a:t> and every weight is unchanged. Ten of the twelve examples were already classified correctly when they were seen, so they contributed nothing. The second update changed the meaning of the rule: it drove the weight on clarity negative, so that higher clarity now argues </a:t>
            </a:r>
            <a:r>
              <a:rPr sz="2200" b="0" i="1">
                <a:solidFill>
                  <a:srgbClr val="1C252B"/>
                </a:solidFill>
                <a:latin typeface="Segoe UI"/>
              </a:rPr>
              <a:t>against</a:t>
            </a:r>
            <a:r>
              <a:rPr sz="2200" b="0" i="0">
                <a:solidFill>
                  <a:srgbClr val="1C252B"/>
                </a:solidFill>
                <a:latin typeface="Segoe UI"/>
              </a:rPr>
              <a:t> lateness. Nobody told the perceptron that; it followed from a single misclassified example in the second pass.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  answers in Appendix D     </a:t>
            </a:r>
            <a:fld id="{F26881FF-1AFD-4238-8A69-B6CB7EE3F571}" type="slidenum">
              <a:rPr lang="en-GB" sz="1000">
                <a:solidFill>
                  <a:srgbClr val="8795A1"/>
                </a:solidFill>
                <a:latin typeface="Segoe UI"/>
              </a:rPr>
              <a:t>40</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7822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colleague’s perceptron has run for ten thousand epochs without converging. Give two possible explanations and describe the single cheapest experiment that distinguishes them.</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17  ·  Learning from Examples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186  ·  answers in Appendix D     </a:t>
            </a:r>
            <a:fld id="{D8C5960D-C053-4E7B-AA3A-9C434D125AA6}" type="slidenum">
              <a:rPr lang="en-GB" sz="1000">
                <a:solidFill>
                  <a:srgbClr val="D5DEE5"/>
                </a:solidFill>
                <a:latin typeface="Segoe UI"/>
              </a:rPr>
              <a:t>41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colleague’s perceptron has run for ten thousand epochs without converging. Give two possible explanations and describe the single cheapest experiment that distinguishes them.</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Either the data are separable and it simply needs more epochs, or no line in the hypothesis class fits the data at all — and the two traces look identical, because in both cases the weights are still moving when the budget expires. The cheapest experiment that distinguishes them is a brute force sweep over the hypothesis class: on a small problem, enumerate a grid of lines and record the best accuracy any of them achieves. On the exclusive-or arrangement that answer is </a:t>
            </a:r>
            <a:r>
              <a:rPr sz="2200" b="0" i="0">
                <a:solidFill>
                  <a:srgbClr val="1C252B"/>
                </a:solidFill>
                <a:latin typeface="Cambria"/>
              </a:rPr>
              <a:t>75%</a:t>
            </a:r>
            <a:r>
              <a:rPr sz="2200" b="0" i="0">
                <a:solidFill>
                  <a:srgbClr val="1C252B"/>
                </a:solidFill>
                <a:latin typeface="Segoe UI"/>
              </a:rPr>
              <a:t>, which settles the question; no learning rate or initialisation can beat a bound over the whole class.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  answers in Appendix D     </a:t>
            </a:r>
            <a:fld id="{02115545-C04A-425E-AFC7-BE5F77430362}" type="slidenum">
              <a:rPr lang="en-GB" sz="1000">
                <a:solidFill>
                  <a:srgbClr val="8795A1"/>
                </a:solidFill>
                <a:latin typeface="Segoe UI"/>
              </a:rPr>
              <a:t>42</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4713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State what a single perceptron cannot represent, what the 1969 conclusion from that result was, and why the conclusion was wrong.</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17  ·  Learning from Examples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186  ·  answers in Appendix D     </a:t>
            </a:r>
            <a:fld id="{0DFDFB97-5824-4853-BA38-581F7A4DF557}"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State what a single perceptron cannot represent, what the 1969 conclusion from that result was, and why the conclusion was wrong.</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single perceptron cannot represent exclusive-or, because it computes a linear threshold and no straight line separates those four points. The 1969 conclusion was that neural network research was a dead end, and funding largely stopped for fifteen years. It was wrong because the limitation applies to a </a:t>
            </a:r>
            <a:r>
              <a:rPr sz="2200" b="0" i="1">
                <a:solidFill>
                  <a:srgbClr val="1C252B"/>
                </a:solidFill>
                <a:latin typeface="Segoe UI"/>
              </a:rPr>
              <a:t>single layer</a:t>
            </a:r>
            <a:r>
              <a:rPr sz="2200" b="0" i="0">
                <a:solidFill>
                  <a:srgbClr val="1C252B"/>
                </a:solidFill>
                <a:latin typeface="Segoe UI"/>
              </a:rPr>
              <a:t>: a network with one hidden layer represents exclusive-or easily, and what was actually missing was a way to </a:t>
            </a:r>
            <a:r>
              <a:rPr sz="2200" b="0" i="1">
                <a:solidFill>
                  <a:srgbClr val="1C252B"/>
                </a:solidFill>
                <a:latin typeface="Segoe UI"/>
              </a:rPr>
              <a:t>train</a:t>
            </a:r>
            <a:r>
              <a:rPr sz="2200" b="0" i="0">
                <a:solidFill>
                  <a:srgbClr val="1C252B"/>
                </a:solidFill>
                <a:latin typeface="Segoe UI"/>
              </a:rPr>
              <a:t> such a network, supplied by backpropagation in the mid-1980s. A correct result about the simplest case was read as a verdict on the approach.</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  answers in Appendix D     </a:t>
            </a:r>
            <a:fld id="{CDB23172-604F-4D16-85C2-50300ECF56BD}" type="slidenum">
              <a:rPr lang="en-GB" sz="1000">
                <a:solidFill>
                  <a:srgbClr val="8795A1"/>
                </a:solidFill>
                <a:latin typeface="Segoe UI"/>
              </a:rPr>
              <a:t>44</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31604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96918E44-0479-46E7-80C7-53939F426B97}" type="slidenum">
              <a:rPr lang="en-GB" sz="1000">
                <a:solidFill>
                  <a:srgbClr val="8795A1"/>
                </a:solidFill>
                <a:latin typeface="Segoe UI"/>
              </a:rPr>
              <a:t>45</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Supervised</a:t>
            </a:r>
            <a:r>
              <a:rPr sz="1700" b="0" i="0">
                <a:solidFill>
                  <a:srgbClr val="1C252B"/>
                </a:solidFill>
                <a:latin typeface="Segoe UI"/>
              </a:rPr>
              <a:t> learning is given labelled examples and wants a rule that generalises; </a:t>
            </a:r>
            <a:r>
              <a:rPr sz="1700" b="1" i="0">
                <a:solidFill>
                  <a:srgbClr val="1A5276"/>
                </a:solidFill>
                <a:latin typeface="Segoe UI"/>
              </a:rPr>
              <a:t>unsupervised</a:t>
            </a:r>
            <a:r>
              <a:rPr sz="1700" b="0" i="0">
                <a:solidFill>
                  <a:srgbClr val="1C252B"/>
                </a:solidFill>
                <a:latin typeface="Segoe UI"/>
              </a:rPr>
              <a:t> learning is given unlabelled data and wants structure, with no right answer to check against; </a:t>
            </a:r>
            <a:r>
              <a:rPr sz="1700" b="1" i="0">
                <a:solidFill>
                  <a:srgbClr val="1A5276"/>
                </a:solidFill>
                <a:latin typeface="Segoe UI"/>
              </a:rPr>
              <a:t>reinforcement</a:t>
            </a:r>
            <a:r>
              <a:rPr sz="1700" b="0" i="0">
                <a:solidFill>
                  <a:srgbClr val="1C252B"/>
                </a:solidFill>
                <a:latin typeface="Segoe UI"/>
              </a:rPr>
              <a:t> learning is given delayed reward and must solve </a:t>
            </a:r>
            <a:r>
              <a:rPr sz="1700" b="1" i="0">
                <a:solidFill>
                  <a:srgbClr val="1A5276"/>
                </a:solidFill>
                <a:latin typeface="Segoe UI"/>
              </a:rPr>
              <a:t>credit assignment</a:t>
            </a:r>
            <a:r>
              <a:rPr sz="1700" b="0" i="0">
                <a:solidFill>
                  <a:srgbClr val="1C252B"/>
                </a:solidFill>
                <a:latin typeface="Segoe UI"/>
              </a:rPr>
              <a:t>.</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perceptron</a:t>
            </a:r>
            <a:r>
              <a:rPr sz="1700" b="0" i="0">
                <a:solidFill>
                  <a:srgbClr val="1C252B"/>
                </a:solidFill>
                <a:latin typeface="Segoe UI"/>
              </a:rPr>
              <a:t> fires when </a:t>
            </a:r>
            <a:r>
              <a:rPr sz="1700" b="0" i="0">
                <a:solidFill>
                  <a:srgbClr val="1C252B"/>
                </a:solidFill>
                <a:latin typeface="Cambria"/>
              </a:rPr>
              <a:t>Σ </a:t>
            </a:r>
            <a:r>
              <a:rPr sz="1700" b="0" i="1">
                <a:solidFill>
                  <a:srgbClr val="1C252B"/>
                </a:solidFill>
                <a:latin typeface="Cambria"/>
              </a:rPr>
              <a:t>w</a:t>
            </a:r>
            <a:r>
              <a:rPr sz="1100" b="0" i="1" baseline="-25000">
                <a:solidFill>
                  <a:srgbClr val="1C252B"/>
                </a:solidFill>
                <a:latin typeface="Cambria"/>
              </a:rPr>
              <a:t>i</a:t>
            </a:r>
            <a:r>
              <a:rPr sz="1700" b="0" i="1">
                <a:solidFill>
                  <a:srgbClr val="1C252B"/>
                </a:solidFill>
                <a:latin typeface="Cambria"/>
              </a:rPr>
              <a:t>x</a:t>
            </a:r>
            <a:r>
              <a:rPr sz="1100" b="0" i="1" baseline="-25000">
                <a:solidFill>
                  <a:srgbClr val="1C252B"/>
                </a:solidFill>
                <a:latin typeface="Cambria"/>
              </a:rPr>
              <a:t>i</a:t>
            </a:r>
            <a:r>
              <a:rPr sz="1700" b="0" i="0">
                <a:solidFill>
                  <a:srgbClr val="1C252B"/>
                </a:solidFill>
                <a:latin typeface="Cambria"/>
              </a:rPr>
              <a:t> + </a:t>
            </a:r>
            <a:r>
              <a:rPr sz="1700" b="0" i="1">
                <a:solidFill>
                  <a:srgbClr val="1C252B"/>
                </a:solidFill>
                <a:latin typeface="Cambria"/>
              </a:rPr>
              <a:t>b</a:t>
            </a:r>
            <a:r>
              <a:rPr sz="1700" b="0" i="0">
                <a:solidFill>
                  <a:srgbClr val="1C252B"/>
                </a:solidFill>
                <a:latin typeface="Cambria"/>
              </a:rPr>
              <a:t> &gt; 0</a:t>
            </a:r>
            <a:r>
              <a:rPr sz="1700" b="0" i="0">
                <a:solidFill>
                  <a:srgbClr val="1C252B"/>
                </a:solidFill>
                <a:latin typeface="Segoe UI"/>
              </a:rPr>
              <a:t>. The </a:t>
            </a:r>
            <a:r>
              <a:rPr sz="1700" b="1" i="0">
                <a:solidFill>
                  <a:srgbClr val="1A5276"/>
                </a:solidFill>
                <a:latin typeface="Segoe UI"/>
              </a:rPr>
              <a:t>perceptron learning rule</a:t>
            </a:r>
            <a:r>
              <a:rPr sz="1700" b="0" i="0">
                <a:solidFill>
                  <a:srgbClr val="1C252B"/>
                </a:solidFill>
                <a:latin typeface="Segoe UI"/>
              </a:rPr>
              <a:t> adjusts weights only on mistakes, by </a:t>
            </a:r>
            <a:r>
              <a:rPr sz="1700" b="0" i="0">
                <a:solidFill>
                  <a:srgbClr val="1C252B"/>
                </a:solidFill>
                <a:latin typeface="Cambria"/>
              </a:rPr>
              <a:t>η(</a:t>
            </a:r>
            <a:r>
              <a:rPr sz="1700" b="0" i="1">
                <a:solidFill>
                  <a:srgbClr val="1C252B"/>
                </a:solidFill>
                <a:latin typeface="Cambria"/>
              </a:rPr>
              <a:t>y</a:t>
            </a:r>
            <a:r>
              <a:rPr sz="1700" b="0" i="0">
                <a:solidFill>
                  <a:srgbClr val="1C252B"/>
                </a:solidFill>
                <a:latin typeface="Cambria"/>
              </a:rPr>
              <a:t> − </a:t>
            </a:r>
            <a:r>
              <a:rPr sz="1700" b="0" i="1">
                <a:solidFill>
                  <a:srgbClr val="1C252B"/>
                </a:solidFill>
                <a:latin typeface="Cambria"/>
              </a:rPr>
              <a:t>ŷ</a:t>
            </a:r>
            <a:r>
              <a:rPr sz="1700" b="0" i="0">
                <a:solidFill>
                  <a:srgbClr val="1C252B"/>
                </a:solidFill>
                <a:latin typeface="Cambria"/>
              </a:rPr>
              <a:t>)</a:t>
            </a:r>
            <a:r>
              <a:rPr sz="1700" b="0" i="1">
                <a:solidFill>
                  <a:srgbClr val="1C252B"/>
                </a:solidFill>
                <a:latin typeface="Cambria"/>
              </a:rPr>
              <a:t>x</a:t>
            </a:r>
            <a:r>
              <a:rPr sz="1100" b="0" i="1" baseline="-25000">
                <a:solidFill>
                  <a:srgbClr val="1C252B"/>
                </a:solidFill>
                <a:latin typeface="Cambria"/>
              </a:rPr>
              <a:t>i</a:t>
            </a:r>
            <a:r>
              <a:rPr sz="1700" b="0" i="0">
                <a:solidFill>
                  <a:srgbClr val="1C252B"/>
                </a:solidFill>
                <a:latin typeface="Segoe UI"/>
              </a:rPr>
              <a:t>.</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On twelve separable tasks it converged in </a:t>
            </a:r>
            <a:r>
              <a:rPr sz="1700" b="0" i="0">
                <a:solidFill>
                  <a:srgbClr val="1C252B"/>
                </a:solidFill>
                <a:latin typeface="Cambria"/>
              </a:rPr>
              <a:t>3</a:t>
            </a:r>
            <a:r>
              <a:rPr sz="1700" b="0" i="0">
                <a:solidFill>
                  <a:srgbClr val="1C252B"/>
                </a:solidFill>
                <a:latin typeface="Segoe UI"/>
              </a:rPr>
              <a:t> epochs and </a:t>
            </a:r>
            <a:r>
              <a:rPr sz="1700" b="0" i="0">
                <a:solidFill>
                  <a:srgbClr val="1C252B"/>
                </a:solidFill>
                <a:latin typeface="Cambria"/>
              </a:rPr>
              <a:t>2</a:t>
            </a:r>
            <a:r>
              <a:rPr sz="1700" b="0" i="0">
                <a:solidFill>
                  <a:srgbClr val="1C252B"/>
                </a:solidFill>
                <a:latin typeface="Segoe UI"/>
              </a:rPr>
              <a:t> updates to </a:t>
            </a:r>
            <a:r>
              <a:rPr sz="1700" b="0" i="0">
                <a:solidFill>
                  <a:srgbClr val="1C252B"/>
                </a:solidFill>
                <a:latin typeface="Cambria"/>
              </a:rPr>
              <a:t>0.70 </a:t>
            </a:r>
            <a:r>
              <a:rPr sz="1700" b="0" i="1">
                <a:solidFill>
                  <a:srgbClr val="1C252B"/>
                </a:solidFill>
                <a:latin typeface="Cambria"/>
              </a:rPr>
              <a:t>e</a:t>
            </a:r>
            <a:r>
              <a:rPr sz="1700" b="0" i="0">
                <a:solidFill>
                  <a:srgbClr val="1C252B"/>
                </a:solidFill>
                <a:latin typeface="Cambria"/>
              </a:rPr>
              <a:t> − 0.60 </a:t>
            </a:r>
            <a:r>
              <a:rPr sz="1700" b="0" i="1">
                <a:solidFill>
                  <a:srgbClr val="1C252B"/>
                </a:solidFill>
                <a:latin typeface="Cambria"/>
              </a:rPr>
              <a:t>c</a:t>
            </a:r>
            <a:r>
              <a:rPr sz="1700" b="0" i="0">
                <a:solidFill>
                  <a:srgbClr val="1C252B"/>
                </a:solidFill>
                <a:latin typeface="Cambria"/>
              </a:rPr>
              <a:t> &gt; 0</a:t>
            </a:r>
            <a:r>
              <a:rPr sz="1700" b="0" i="0">
                <a:solidFill>
                  <a:srgbClr val="1C252B"/>
                </a:solidFill>
                <a:latin typeface="Segoe UI"/>
              </a:rPr>
              <a:t>. The negative weight on clarity — the insight in the rule — came from one misclassified example.</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perceptron can only ever find a </a:t>
            </a:r>
            <a:r>
              <a:rPr sz="1700" b="0" i="1">
                <a:solidFill>
                  <a:srgbClr val="1C252B"/>
                </a:solidFill>
                <a:latin typeface="Segoe UI"/>
              </a:rPr>
              <a:t>straight line</a:t>
            </a:r>
            <a:r>
              <a:rPr sz="1700" b="0" i="0">
                <a:solidFill>
                  <a:srgbClr val="1C252B"/>
                </a:solidFill>
                <a:latin typeface="Segoe UI"/>
              </a:rPr>
              <a:t>. The </a:t>
            </a:r>
            <a:r>
              <a:rPr sz="1700" b="1" i="0">
                <a:solidFill>
                  <a:srgbClr val="1A5276"/>
                </a:solidFill>
                <a:latin typeface="Segoe UI"/>
              </a:rPr>
              <a:t>exclusive-or</a:t>
            </a:r>
            <a:r>
              <a:rPr sz="1700" b="0" i="0">
                <a:solidFill>
                  <a:srgbClr val="1C252B"/>
                </a:solidFill>
                <a:latin typeface="Segoe UI"/>
              </a:rPr>
              <a:t> arrangement has no separating line, and the lab proves it by sweeping every line and finding that the best reaches </a:t>
            </a:r>
            <a:r>
              <a:rPr sz="1700" b="0" i="0">
                <a:solidFill>
                  <a:srgbClr val="1C252B"/>
                </a:solidFill>
                <a:latin typeface="Cambria"/>
              </a:rPr>
              <a:t>75%</a:t>
            </a:r>
            <a:r>
              <a:rPr sz="1700" b="0" i="0">
                <a:solidFill>
                  <a:srgbClr val="1C252B"/>
                </a:solidFill>
                <a:latin typeface="Segoe UI"/>
              </a:rPr>
              <a:t>.</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Distinguish </a:t>
            </a:r>
            <a:r>
              <a:rPr sz="1700" b="0" i="1">
                <a:solidFill>
                  <a:srgbClr val="1C252B"/>
                </a:solidFill>
                <a:latin typeface="Segoe UI"/>
              </a:rPr>
              <a:t>training failed</a:t>
            </a:r>
            <a:r>
              <a:rPr sz="1700" b="0" i="0">
                <a:solidFill>
                  <a:srgbClr val="1C252B"/>
                </a:solidFill>
                <a:latin typeface="Segoe UI"/>
              </a:rPr>
              <a:t> from </a:t>
            </a:r>
            <a:r>
              <a:rPr sz="1700" b="0" i="1">
                <a:solidFill>
                  <a:srgbClr val="1C252B"/>
                </a:solidFill>
                <a:latin typeface="Segoe UI"/>
              </a:rPr>
              <a:t>no hypothesis in the class fits</a:t>
            </a:r>
            <a:r>
              <a:rPr sz="1700" b="0" i="0">
                <a:solidFill>
                  <a:srgbClr val="1C252B"/>
                </a:solidFill>
                <a:latin typeface="Segoe UI"/>
              </a:rPr>
              <a:t>. The traces look identical; only the second is a mathematical fact, and no tuning fixes it.</a:t>
            </a:r>
          </a:p>
        </p:txBody>
      </p:sp>
      <p:sp>
        <p:nvSpPr>
          <p:cNvPr id="22" name="!!sb5">
            <a:extLst>
              <a:ext uri="{C183D7F6-B498-43B3-948B-1728B52AA6E4}">
                <adec:decorative xmlns:adec="http://schemas.microsoft.com/office/drawing/2017/decorative" val="1"/>
              </a:ext>
            </a:extLst>
          </p:cNvPr>
          <p:cNvSpPr/>
          <p:nvPr/>
        </p:nvSpPr>
        <p:spPr>
          <a:xfrm>
            <a:off x="658368" y="562477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67964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61563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Minsky and Papert’s 1969 result was correct and the inference drawn from it was not: a hidden layer represents exclusive-or easily, and what was missing was a way to train one.</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55050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A1982DA0-EC0B-4A6F-BACF-E5F8DD5E797D}" type="slidenum">
              <a:rPr lang="en-GB" sz="1000">
                <a:solidFill>
                  <a:srgbClr val="8795A1"/>
                </a:solidFill>
                <a:latin typeface="Segoe UI"/>
              </a:rPr>
              <a:t>46</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This is a signpost, not a unit. Generalisation, evaluation, backpropagation, trees, kernels, ensembles, clustering and reinforcement learning belong to </a:t>
            </a:r>
            <a:r>
              <a:rPr sz="1700" b="0" i="1">
                <a:solidFill>
                  <a:srgbClr val="1C252B"/>
                </a:solidFill>
                <a:latin typeface="Segoe UI"/>
              </a:rPr>
              <a:t>Machine Learning</a:t>
            </a:r>
            <a:r>
              <a:rPr sz="1700" b="0" i="0">
                <a:solidFill>
                  <a:srgbClr val="1C252B"/>
                </a:solidFill>
                <a:latin typeface="Segoe UI"/>
              </a:rPr>
              <a:t> in Semester 6; Appendix F lists the boundary chapter by chapter.</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78496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F4CB9C7D-23ED-47C9-A008-3167FD8A6E4D}"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perceptron learning rule updates the weights: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after every example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only when the prediction is wrong</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once per epoch</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only at the end of training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1941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98310300-9886-4C55-A520-5ECB2704532D}" type="slidenum">
              <a:rPr lang="en-GB" sz="1000">
                <a:solidFill>
                  <a:srgbClr val="8795A1"/>
                </a:solidFill>
                <a:latin typeface="Segoe UI"/>
              </a:rPr>
              <a:t>48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single perceptron can represent exactly the functions that are:</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monotone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linearly separable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continuous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boolean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5387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E0CCF057-1B0E-400C-B77A-5FFB7F01672B}" type="slidenum">
              <a:rPr lang="en-GB" sz="1000">
                <a:solidFill>
                  <a:srgbClr val="8795A1"/>
                </a:solidFill>
                <a:latin typeface="Segoe UI"/>
              </a:rPr>
              <a:t>49</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best accuracy any straight line achieves on the exclusive-or arrangement is:</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50%</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75%</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90%</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100%</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8832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B0260EE1-D689-4496-AA0D-95BA9FA74544}" type="slidenum">
              <a:rPr lang="en-GB" sz="1000">
                <a:solidFill>
                  <a:srgbClr val="8795A1"/>
                </a:solidFill>
                <a:latin typeface="Segoe UI"/>
              </a:rPr>
              <a:t>50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Credit assignment is the central difficulty of:</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supervised learning</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unsupervised learning</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reinforcement learning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concept learning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2278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17  ·  Learning from Examples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186     </a:t>
            </a:r>
            <a:fld id="{AB1384F0-4538-4C08-8BF2-41E8CA7B67F1}" type="slidenum">
              <a:rPr lang="en-GB" sz="1000">
                <a:solidFill>
                  <a:srgbClr val="8795A1"/>
                </a:solidFill>
                <a:latin typeface="Segoe UI"/>
              </a:rPr>
              <a:t>51</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a training run that has not converged is weak evidence that the problem is unlearnable, and what would be strong evidence.</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learned rule scores </a:t>
            </a:r>
            <a:r>
              <a:rPr sz="1900" b="0" i="0">
                <a:solidFill>
                  <a:srgbClr val="1C252B"/>
                </a:solidFill>
                <a:latin typeface="Cambria"/>
              </a:rPr>
              <a:t>100%</a:t>
            </a:r>
            <a:r>
              <a:rPr sz="1900" b="0" i="0">
                <a:solidFill>
                  <a:srgbClr val="1C252B"/>
                </a:solidFill>
                <a:latin typeface="Segoe UI"/>
              </a:rPr>
              <a:t> on its training data. State why that is the least interesting fact about it, and name the course that addresses the interesting question.</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one delivery question that is supervised, one that is unsupervised and one that is reinforcement learning, and say what makes each one that kind.</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Work the perceptron by hand on the four exclusive-or tasks for two full passes, starting from zero weights with </a:t>
            </a:r>
            <a:r>
              <a:rPr sz="1900" b="0" i="0">
                <a:solidFill>
                  <a:srgbClr val="1C252B"/>
                </a:solidFill>
                <a:latin typeface="Cambria"/>
              </a:rPr>
              <a:t>η = 0.1</a:t>
            </a:r>
            <a:r>
              <a:rPr sz="1900" b="0" i="0">
                <a:solidFill>
                  <a:srgbClr val="1C252B"/>
                </a:solidFill>
                <a:latin typeface="Segoe UI"/>
              </a:rPr>
              <a:t>. Show the weights after each update, and identify the point at which the sequence begins to repeat.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5723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17</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17</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18 — Natural Language Processing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17, pages 177–186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Risk rating by Mamdani inference; the perceptron and its limit</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experiments frozen</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17  ·  Learning from Examples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28F6B7A0-4CF4-4D47-B25E-FBB41479D667}" type="slidenum">
              <a:rPr lang="en-GB" sz="1000">
                <a:solidFill>
                  <a:srgbClr val="D5DEE5"/>
                </a:solidFill>
                <a:latin typeface="Segoe UI"/>
              </a:rPr>
              <a:t>52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17: Learning from Examples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