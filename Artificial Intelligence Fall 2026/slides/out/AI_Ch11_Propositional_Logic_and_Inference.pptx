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79DA8A-F976-4259-8493-C7A767C13B84}">
          <p14:sldIdLst>
            <p14:sldId id="256"/>
            <p14:sldId id="257"/>
            <p14:sldId id="258"/>
            <p14:sldId id="259"/>
            <p14:sldId id="260"/>
          </p14:sldIdLst>
        </p14:section>
        <p14:section name="11.1 The Release Gate, Written Down" id="{BBBD4EC8-C78D-4B9E-BFE8-6BC370C7D9EA}">
          <p14:sldIdLst>
            <p14:sldId id="261"/>
          </p14:sldIdLst>
        </p14:section>
        <p14:section name="11.2 Syntax, Semantics and Models" id="{6593A149-E4B5-420B-9D30-9E76BE39E9A2}">
          <p14:sldIdLst>
            <p14:sldId id="262"/>
            <p14:sldId id="263"/>
            <p14:sldId id="264"/>
          </p14:sldIdLst>
        </p14:section>
        <p14:section name="11.3 Entailment and Derivation" id="{18AE1481-A383-49FF-98FA-0BD23880C431}">
          <p14:sldIdLst>
            <p14:sldId id="265"/>
            <p14:sldId id="266"/>
            <p14:sldId id="267"/>
          </p14:sldIdLst>
        </p14:section>
        <p14:section name="11.4 Deciding It: Model Checking" id="{634E7FA3-AF8F-4141-BCE8-1DC2C2DCE693}">
          <p14:sldIdLst>
            <p14:sldId id="268"/>
          </p14:sldIdLst>
        </p14:section>
        <p14:section name="11.5 Deciding It Better: DPLL" id="{1510F986-1AD9-43B6-8A9F-A17CD67910DA}">
          <p14:sldIdLst>
            <p14:sldId id="269"/>
            <p14:sldId id="270"/>
            <p14:sldId id="271"/>
            <p14:sldId id="272"/>
          </p14:sldIdLst>
        </p14:section>
        <p14:section name="11.6 Conjunctive Normal Form" id="{02A4CD52-9E20-43A1-9259-B2D7AAD683DD}">
          <p14:sldIdLst>
            <p14:sldId id="273"/>
            <p14:sldId id="274"/>
            <p14:sldId id="275"/>
          </p14:sldIdLst>
        </p14:section>
        <p14:section name="11.7 Resolution" id="{4BA7E678-B0EC-4834-B061-5D5AAD22D810}">
          <p14:sldIdLst>
            <p14:sldId id="276"/>
            <p14:sldId id="277"/>
            <p14:sldId id="278"/>
            <p14:sldId id="279"/>
          </p14:sldIdLst>
        </p14:section>
        <p14:section name="11.8 When the Answer Is No" id="{27D49377-1D3F-4987-BD05-E3351318CDA7}">
          <p14:sldIdLst>
            <p14:sldId id="280"/>
            <p14:sldId id="281"/>
            <p14:sldId id="282"/>
            <p14:sldId id="283"/>
          </p14:sldIdLst>
        </p14:section>
        <p14:section name="Pitfalls" id="{C099C726-D865-4EB1-86C9-C693D81D0D63}">
          <p14:sldIdLst>
            <p14:sldId id="284"/>
          </p14:sldIdLst>
        </p14:section>
        <p14:section name="Lab" id="{5E9CD714-5FEB-4A59-848D-12B10AE1C6FF}">
          <p14:sldIdLst>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Checkpoint" id="{49B508D7-C845-4DC6-B460-FE98F13BB6AF}">
          <p14:sldIdLst>
            <p14:sldId id="302"/>
            <p14:sldId id="303"/>
            <p14:sldId id="304"/>
            <p14:sldId id="305"/>
            <p14:sldId id="306"/>
            <p14:sldId id="307"/>
          </p14:sldIdLst>
        </p14:section>
        <p14:section name="Wrap-up" id="{3E87F2A5-7ED8-4ACE-B1F9-9889B63D7046}">
          <p14:sldIdLst>
            <p14:sldId id="308"/>
            <p14:sldId id="309"/>
            <p14:sldId id="310"/>
            <p14:sldId id="311"/>
            <p14:sldId id="312"/>
            <p14:sldId id="313"/>
            <p14:sldId id="314"/>
            <p14:sldId id="31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Propositional Logic and Inference. Part 4 — Knowledge, Logic and Reasoning. Week 10: Propositional logic and inference. Handout pages 110–120.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10 (what a representation is for, and the price defaults charge) and Chapter 3 (recursion and sets). No previous logic is assumed. Chapter 7 is useful: deciding satisfiability is a constraint problem, and DPLL is backtracking with propagation under another name.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proposition; connective; model; truth table; satisfiable; valid; entailment (⊨); derivation (⊢); soundness; completeness; literal; clause; conjunctive normal form; model checking; DPLL; unit propagation; pure literal; resolution; refutation; countermodel.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delivery team has a rule about when a release may go out. Everyone can state it and nobody has written it down precisely, so every release involves an argument. Here it is in logic.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ideas that look alike, are constantly confused, and are the foundation of the whole part.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inference procedure is worth having exactly when it is both. Soundness without completeness gives a system that is right when it speaks and sometimes silent; completeness without soundness is worthless, because a procedure that derives everything is complete.</a:t>
            </a:r>
          </a:p>
          <a:p/>
          <a:p>
            <a:r>
              <a:t>Figure 11.1 (handout p. 112): Entailment as containment between sets of models. The picture is the definition; the algorithms in the rest of the chapter are three ways of checking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DPLL is a backtracking search over assignments — exactly Chapter 7’s backtracking, with propagation — plus two rules that do most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decide entailment with a satisfiability test, use the equivalence that underlies every refutation proof in this part: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assuming the opposite of the conclusion leads to a contradiction, the conclusion follows. On the release gate, DPLL settles it in 6 recursive calls with 5 unit propagations, against model checking’s 64 enumerations — and it never branches once, because the facts F1–F4 are unit clauses that cascade.</a:t>
            </a:r>
          </a:p>
          <a:p/>
          <a:p>
            <a:r>
              <a:t>Figure 11.2 (handout p. 113): DPLL deciding the release gate. Unit propagation cascades from the four given facts and closes the question without a single branch.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step 2 to the gate’s rules gives the clauses the lab uses: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for the release gate is five steps. Set as a table, because a proof is a numbered list of clauses with a provenance column: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F3 — suppose the product owner has not signed off. Now three models satisfy the knowledge base, and Deploy is false in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a countermodel: a concrete situation consistent with everything known in which the conclusion fails. Resolution correctly fails to derive the empty clause, and model checking hands you the countermodel directly. In practice the countermodel is the more valuable output. “It does not follow” is an assertion a team can argue with; “here is a situation where everything you told me holds and the release still must not go out — nobody signed off” ends the argument. When you build one of these systems, return the countermodel.</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checking, DPLL and resolution refutation on the same knowledge base, plus the two variants of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Model checking: the definition, made executable.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DPLL: backtracking with propagation.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DPLL: backtracking with propagation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DPLL: backtracking with propagation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Resolution refutation.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Resolution refutation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Resolution refutation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11: Resolution refutation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12: Resolution refutation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13: Drop the sign-off: the answer becomes no.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14: Drop the blocker fact: the surprise.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15: And the fix: put the condition in the rule.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KB ⊨ α is about meaning: α is true in every model in which the knowledge base is true, and no algorithm is mentioned. KB ⊢ α is about a procedure: that procedure can produce α. A procedure that derives every sentence is complete — it certainly derives everything entailed — but wildly unsound, since it derives a great many things that are not entailed. Soundness is the property it violates, and it is the one that matters: completeness alone is worthless.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F1–F3 force Reviewed, Tested and SignedOff; R1 then forces Staged; R2 then forces Deploy. R3 says Blocker ⇒ ¬ Deploy, and since Deploy is true, Blocker must be false or R3 is violated. Exactly one model survives, so both Deploy and ¬Blocker are entailed. It is not a bug in the inference procedure — the procedure drew a correct consequence of what it was given. It is a bug in the axioms: the team meant “deployment is permitted provided there is no blocker”, and R2 as written does not say that. Adding ¬Blocker to R2’s antecedent makes the entailment disappear, which the lab demonstrates.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First, resolution produces an auditable proof — a numbered list of clauses each derived from two earlier ones, which a person can check line by line and an auditor will accept. A model count proves nothing a human can read. Second, and decisively, resolution lifts to first-order logic (Chapter 12), where the domain may be infinite, there are infinitely many models, and enumerating them is not slow but impossible. DPLL’s speed is confined to the propositional case.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12 — First-Order Logic and Resolution. READ: Handout Chapter 11, pages 110–120. THIS WEEK'S LAB: Three ways to decide a release gate.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slide" Target="slide18.xml"/><Relationship Id="rId11" Type="http://schemas.openxmlformats.org/officeDocument/2006/relationships/slide" Target="slide21.xml"/><Relationship Id="rId12" Type="http://schemas.openxmlformats.org/officeDocument/2006/relationships/slide" Target="slide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8.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9.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1.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2.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3.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4.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5.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66.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71.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73.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4.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7.sv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0.sv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1.sv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2.sv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3.sv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Propositional Logic and Inference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KNOWLEDGE, LOGIC AND REASONING</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11  ·  WEEK 10</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110     </a:t>
            </a:r>
            <a:fld id="{AC5CED97-5E47-47E6-8258-E102FAC446C1}"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37830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37830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285938" y="1755648"/>
            <a:ext cx="189413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285938" y="2029967"/>
            <a:ext cx="189413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2321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317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3273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412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2610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3466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44780"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74478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3102164"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Propositional Logic and Inference</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68"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7  </a:t>
            </a:r>
            <a:r>
              <a:rPr sz="1400" b="0" i="0">
                <a:solidFill>
                  <a:srgbClr val="1C252B"/>
                </a:solidFill>
                <a:latin typeface="Segoe UI"/>
              </a:rPr>
              <a:t>Constraint Satisfaction</a:t>
            </a:r>
          </a:p>
        </p:txBody>
      </p:sp>
      <p:sp>
        <p:nvSpPr>
          <p:cNvPr id="71" name="!!chipBU10">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0">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0"/>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10  </a:t>
            </a:r>
            <a:r>
              <a:rPr sz="1400" b="0" i="0">
                <a:solidFill>
                  <a:srgbClr val="1C252B"/>
                </a:solidFill>
                <a:latin typeface="Segoe UI"/>
              </a:rPr>
              <a:t>Knowledge Representation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First-Order Logic and Resolution</a:t>
            </a:r>
          </a:p>
        </p:txBody>
      </p:sp>
      <p:sp>
        <p:nvSpPr>
          <p:cNvPr id="78" name="!!chipUS1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13  </a:t>
            </a:r>
            <a:r>
              <a:rPr sz="1400" b="0" i="0">
                <a:solidFill>
                  <a:srgbClr val="1C252B"/>
                </a:solidFill>
                <a:latin typeface="Segoe UI"/>
              </a:rPr>
              <a:t>Rule-Based Expert Systems</a:t>
            </a:r>
          </a:p>
        </p:txBody>
      </p:sp>
      <p:sp>
        <p:nvSpPr>
          <p:cNvPr id="81" name="!!chipUS14">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4">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4"/>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14  </a:t>
            </a:r>
            <a:r>
              <a:rPr sz="1400" b="0" i="0">
                <a:solidFill>
                  <a:srgbClr val="1C252B"/>
                </a:solidFill>
                <a:latin typeface="Segoe UI"/>
              </a:rPr>
              <a:t>Uncertainty and Decision Making</a:t>
            </a:r>
          </a:p>
        </p:txBody>
      </p:sp>
      <p:sp>
        <p:nvSpPr>
          <p:cNvPr id="84" name="!!chipUS15">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15">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15"/>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15  </a:t>
            </a:r>
            <a:r>
              <a:rPr sz="1400" b="0" i="0">
                <a:solidFill>
                  <a:srgbClr val="1C252B"/>
                </a:solidFill>
                <a:latin typeface="Segoe UI"/>
              </a:rPr>
              <a:t>Bayesian Networks</a:t>
            </a:r>
          </a:p>
        </p:txBody>
      </p:sp>
      <p:sp>
        <p:nvSpPr>
          <p:cNvPr id="87" name="!!chipUS16">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bUS16">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tUS16"/>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16  </a:t>
            </a:r>
            <a:r>
              <a:rPr sz="1400" b="0" i="0">
                <a:solidFill>
                  <a:srgbClr val="1C252B"/>
                </a:solidFill>
                <a:latin typeface="Segoe UI"/>
              </a:rPr>
              <a:t>Fuzzy Logic</a:t>
            </a:r>
          </a:p>
        </p:txBody>
      </p:sp>
      <p:sp>
        <p:nvSpPr>
          <p:cNvPr id="9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pfill">
            <a:extLst>
              <a:ext uri="{C183D7F6-B498-43B3-948B-1728B52AA6E4}">
                <adec:decorative xmlns:adec="http://schemas.microsoft.com/office/drawing/2017/decorative" val="1"/>
              </a:ext>
            </a:extLst>
          </p:cNvPr>
          <p:cNvSpPr/>
          <p:nvPr/>
        </p:nvSpPr>
        <p:spPr>
          <a:xfrm>
            <a:off x="0" y="0"/>
            <a:ext cx="40638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110     </a:t>
            </a:r>
            <a:fld id="{BB2F0DF1-5661-42D5-81F0-C45ADB62761F}"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Write</a:t>
            </a:r>
            <a:r>
              <a:rPr sz="2100" b="0" i="0">
                <a:solidFill>
                  <a:srgbClr val="1C252B"/>
                </a:solidFill>
                <a:latin typeface="Segoe UI"/>
              </a:rPr>
              <a:t> statements about a domain in propositional logic and </a:t>
            </a:r>
            <a:r>
              <a:rPr sz="2100" b="1" i="0">
                <a:solidFill>
                  <a:srgbClr val="1C252B"/>
                </a:solidFill>
                <a:latin typeface="Segoe UI"/>
              </a:rPr>
              <a:t>evaluate</a:t>
            </a:r>
            <a:r>
              <a:rPr sz="2100" b="0" i="0">
                <a:solidFill>
                  <a:srgbClr val="1C252B"/>
                </a:solidFill>
                <a:latin typeface="Segoe UI"/>
              </a:rPr>
              <a:t> them in a model.</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entailment from derivation, and </a:t>
            </a:r>
            <a:r>
              <a:rPr sz="2100" b="1" i="0">
                <a:solidFill>
                  <a:srgbClr val="1C252B"/>
                </a:solidFill>
                <a:latin typeface="Segoe UI"/>
              </a:rPr>
              <a:t>explain</a:t>
            </a:r>
            <a:r>
              <a:rPr sz="2100" b="0" i="0">
                <a:solidFill>
                  <a:srgbClr val="1C252B"/>
                </a:solidFill>
                <a:latin typeface="Segoe UI"/>
              </a:rPr>
              <a:t> what soundness and completeness each guarantee.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Decide</a:t>
            </a:r>
            <a:r>
              <a:rPr sz="2100" b="0" i="0">
                <a:solidFill>
                  <a:srgbClr val="1C252B"/>
                </a:solidFill>
                <a:latin typeface="Segoe UI"/>
              </a:rPr>
              <a:t> entailment by model checking, by DPLL and by resolution refutation, and </a:t>
            </a:r>
            <a:r>
              <a:rPr sz="2100" b="1" i="0">
                <a:solidFill>
                  <a:srgbClr val="1C252B"/>
                </a:solidFill>
                <a:latin typeface="Segoe UI"/>
              </a:rPr>
              <a:t>compare</a:t>
            </a:r>
            <a:r>
              <a:rPr sz="2100" b="0" i="0">
                <a:solidFill>
                  <a:srgbClr val="1C252B"/>
                </a:solidFill>
                <a:latin typeface="Segoe UI"/>
              </a:rPr>
              <a:t> their cost.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Convert</a:t>
            </a:r>
            <a:r>
              <a:rPr sz="2100" b="0" i="0">
                <a:solidFill>
                  <a:srgbClr val="1C252B"/>
                </a:solidFill>
                <a:latin typeface="Segoe UI"/>
              </a:rPr>
              <a:t> a sentence to conjunctive normal form.</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Produce</a:t>
            </a:r>
            <a:r>
              <a:rPr sz="2100" b="0" i="0">
                <a:solidFill>
                  <a:srgbClr val="1C252B"/>
                </a:solidFill>
                <a:latin typeface="Segoe UI"/>
              </a:rPr>
              <a:t> a countermodel when a conclusion does </a:t>
            </a:r>
            <a:r>
              <a:rPr sz="2100" b="0" i="1">
                <a:solidFill>
                  <a:srgbClr val="1C252B"/>
                </a:solidFill>
                <a:latin typeface="Segoe UI"/>
              </a:rPr>
              <a:t>not</a:t>
            </a:r>
            <a:r>
              <a:rPr sz="2100" b="0" i="0">
                <a:solidFill>
                  <a:srgbClr val="1C252B"/>
                </a:solidFill>
                <a:latin typeface="Segoe UI"/>
              </a:rPr>
              <a:t> follow, and </a:t>
            </a:r>
            <a:r>
              <a:rPr sz="2100" b="1" i="0">
                <a:solidFill>
                  <a:srgbClr val="1C252B"/>
                </a:solidFill>
                <a:latin typeface="Segoe UI"/>
              </a:rPr>
              <a:t>explain</a:t>
            </a:r>
            <a:r>
              <a:rPr sz="2100" b="0" i="0">
                <a:solidFill>
                  <a:srgbClr val="1C252B"/>
                </a:solidFill>
                <a:latin typeface="Segoe UI"/>
              </a:rPr>
              <a:t> why that is the more useful answer in practice.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110     </a:t>
            </a:r>
            <a:fld id="{B0BD0340-B32E-4EF2-BD17-8EF9550E41F4}" type="slidenum">
              <a:rPr lang="en-GB" sz="1000">
                <a:solidFill>
                  <a:srgbClr val="8795A1"/>
                </a:solidFill>
                <a:latin typeface="Segoe UI"/>
              </a:rPr>
              <a:t>4</a:t>
            </a:fld>
          </a:p>
        </p:txBody>
      </p:sp>
      <p:sp>
        <p:nvSpPr>
          <p:cNvPr id="7" name="!!term-proposition">
            <a:extLst>
              <a:ext uri="{C183D7F6-B498-43B3-948B-1728B52AA6E4}">
                <adec:decorative xmlns:adec="http://schemas.microsoft.com/office/drawing/2017/decorative" val="1"/>
              </a:ext>
            </a:extLst>
          </p:cNvPr>
          <p:cNvSpPr/>
          <p:nvPr/>
        </p:nvSpPr>
        <p:spPr>
          <a:xfrm>
            <a:off x="658368" y="1847088"/>
            <a:ext cx="14288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roposi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roposition"/>
          <p:cNvSpPr txBox="1"/>
          <p:nvPr/>
        </p:nvSpPr>
        <p:spPr>
          <a:xfrm>
            <a:off x="950976" y="1970532"/>
            <a:ext cx="124600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proposition</a:t>
            </a:r>
          </a:p>
        </p:txBody>
      </p:sp>
      <p:sp>
        <p:nvSpPr>
          <p:cNvPr id="10" name="!!term-connective">
            <a:extLst>
              <a:ext uri="{C183D7F6-B498-43B3-948B-1728B52AA6E4}">
                <adec:decorative xmlns:adec="http://schemas.microsoft.com/office/drawing/2017/decorative" val="1"/>
              </a:ext>
            </a:extLst>
          </p:cNvPr>
          <p:cNvSpPr/>
          <p:nvPr/>
        </p:nvSpPr>
        <p:spPr>
          <a:xfrm>
            <a:off x="2233553" y="1847088"/>
            <a:ext cx="13614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connective">
            <a:extLst>
              <a:ext uri="{C183D7F6-B498-43B3-948B-1728B52AA6E4}">
                <adec:decorative xmlns:adec="http://schemas.microsoft.com/office/drawing/2017/decorative" val="1"/>
              </a:ext>
            </a:extLst>
          </p:cNvPr>
          <p:cNvSpPr/>
          <p:nvPr/>
        </p:nvSpPr>
        <p:spPr>
          <a:xfrm>
            <a:off x="236156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connective"/>
          <p:cNvSpPr txBox="1"/>
          <p:nvPr/>
        </p:nvSpPr>
        <p:spPr>
          <a:xfrm>
            <a:off x="2526161" y="1970532"/>
            <a:ext cx="11785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connective</a:t>
            </a:r>
          </a:p>
        </p:txBody>
      </p:sp>
      <p:sp>
        <p:nvSpPr>
          <p:cNvPr id="13" name="!!term-model">
            <a:extLst>
              <a:ext uri="{C183D7F6-B498-43B3-948B-1728B52AA6E4}">
                <adec:decorative xmlns:adec="http://schemas.microsoft.com/office/drawing/2017/decorative" val="1"/>
              </a:ext>
            </a:extLst>
          </p:cNvPr>
          <p:cNvSpPr/>
          <p:nvPr/>
        </p:nvSpPr>
        <p:spPr>
          <a:xfrm>
            <a:off x="3741335" y="1847088"/>
            <a:ext cx="9831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odel">
            <a:extLst>
              <a:ext uri="{C183D7F6-B498-43B3-948B-1728B52AA6E4}">
                <adec:decorative xmlns:adec="http://schemas.microsoft.com/office/drawing/2017/decorative" val="1"/>
              </a:ext>
            </a:extLst>
          </p:cNvPr>
          <p:cNvSpPr/>
          <p:nvPr/>
        </p:nvSpPr>
        <p:spPr>
          <a:xfrm>
            <a:off x="38693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odel"/>
          <p:cNvSpPr txBox="1"/>
          <p:nvPr/>
        </p:nvSpPr>
        <p:spPr>
          <a:xfrm>
            <a:off x="4033943" y="1970532"/>
            <a:ext cx="8002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a:t>
            </a:r>
          </a:p>
        </p:txBody>
      </p:sp>
      <p:sp>
        <p:nvSpPr>
          <p:cNvPr id="16" name="!!term-truth table">
            <a:extLst>
              <a:ext uri="{C183D7F6-B498-43B3-948B-1728B52AA6E4}">
                <adec:decorative xmlns:adec="http://schemas.microsoft.com/office/drawing/2017/decorative" val="1"/>
              </a:ext>
            </a:extLst>
          </p:cNvPr>
          <p:cNvSpPr/>
          <p:nvPr/>
        </p:nvSpPr>
        <p:spPr>
          <a:xfrm>
            <a:off x="4870813" y="1847088"/>
            <a:ext cx="13391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truth table">
            <a:extLst>
              <a:ext uri="{C183D7F6-B498-43B3-948B-1728B52AA6E4}">
                <adec:decorative xmlns:adec="http://schemas.microsoft.com/office/drawing/2017/decorative" val="1"/>
              </a:ext>
            </a:extLst>
          </p:cNvPr>
          <p:cNvSpPr/>
          <p:nvPr/>
        </p:nvSpPr>
        <p:spPr>
          <a:xfrm>
            <a:off x="499882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truth table"/>
          <p:cNvSpPr txBox="1"/>
          <p:nvPr/>
        </p:nvSpPr>
        <p:spPr>
          <a:xfrm>
            <a:off x="5163421" y="1970532"/>
            <a:ext cx="11562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truth table</a:t>
            </a:r>
          </a:p>
        </p:txBody>
      </p:sp>
      <p:sp>
        <p:nvSpPr>
          <p:cNvPr id="19" name="!!term-satisfiable">
            <a:extLst>
              <a:ext uri="{C183D7F6-B498-43B3-948B-1728B52AA6E4}">
                <adec:decorative xmlns:adec="http://schemas.microsoft.com/office/drawing/2017/decorative" val="1"/>
              </a:ext>
            </a:extLst>
          </p:cNvPr>
          <p:cNvSpPr/>
          <p:nvPr/>
        </p:nvSpPr>
        <p:spPr>
          <a:xfrm>
            <a:off x="6356268" y="1847088"/>
            <a:ext cx="12851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atisfiable">
            <a:extLst>
              <a:ext uri="{C183D7F6-B498-43B3-948B-1728B52AA6E4}">
                <adec:decorative xmlns:adec="http://schemas.microsoft.com/office/drawing/2017/decorative" val="1"/>
              </a:ext>
            </a:extLst>
          </p:cNvPr>
          <p:cNvSpPr/>
          <p:nvPr/>
        </p:nvSpPr>
        <p:spPr>
          <a:xfrm>
            <a:off x="64842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atisfiable"/>
          <p:cNvSpPr txBox="1"/>
          <p:nvPr/>
        </p:nvSpPr>
        <p:spPr>
          <a:xfrm>
            <a:off x="6648876" y="1970532"/>
            <a:ext cx="11022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satisfiable</a:t>
            </a:r>
          </a:p>
        </p:txBody>
      </p:sp>
      <p:sp>
        <p:nvSpPr>
          <p:cNvPr id="22" name="!!term-valid">
            <a:extLst>
              <a:ext uri="{C183D7F6-B498-43B3-948B-1728B52AA6E4}">
                <adec:decorative xmlns:adec="http://schemas.microsoft.com/office/drawing/2017/decorative" val="1"/>
              </a:ext>
            </a:extLst>
          </p:cNvPr>
          <p:cNvSpPr/>
          <p:nvPr/>
        </p:nvSpPr>
        <p:spPr>
          <a:xfrm>
            <a:off x="7787704" y="1847088"/>
            <a:ext cx="8393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valid">
            <a:extLst>
              <a:ext uri="{C183D7F6-B498-43B3-948B-1728B52AA6E4}">
                <adec:decorative xmlns:adec="http://schemas.microsoft.com/office/drawing/2017/decorative" val="1"/>
              </a:ext>
            </a:extLst>
          </p:cNvPr>
          <p:cNvSpPr/>
          <p:nvPr/>
        </p:nvSpPr>
        <p:spPr>
          <a:xfrm>
            <a:off x="791572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valid"/>
          <p:cNvSpPr txBox="1"/>
          <p:nvPr/>
        </p:nvSpPr>
        <p:spPr>
          <a:xfrm>
            <a:off x="8080312" y="1970532"/>
            <a:ext cx="6564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valid</a:t>
            </a:r>
          </a:p>
        </p:txBody>
      </p:sp>
      <p:sp>
        <p:nvSpPr>
          <p:cNvPr id="25" name="!!term-entailment (⊨)">
            <a:extLst>
              <a:ext uri="{C183D7F6-B498-43B3-948B-1728B52AA6E4}">
                <adec:decorative xmlns:adec="http://schemas.microsoft.com/office/drawing/2017/decorative" val="1"/>
              </a:ext>
            </a:extLst>
          </p:cNvPr>
          <p:cNvSpPr/>
          <p:nvPr/>
        </p:nvSpPr>
        <p:spPr>
          <a:xfrm>
            <a:off x="8773338" y="1847088"/>
            <a:ext cx="16502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entailment (⊨)">
            <a:extLst>
              <a:ext uri="{C183D7F6-B498-43B3-948B-1728B52AA6E4}">
                <adec:decorative xmlns:adec="http://schemas.microsoft.com/office/drawing/2017/decorative" val="1"/>
              </a:ext>
            </a:extLst>
          </p:cNvPr>
          <p:cNvSpPr/>
          <p:nvPr/>
        </p:nvSpPr>
        <p:spPr>
          <a:xfrm>
            <a:off x="89013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entailment (⊨)"/>
          <p:cNvSpPr txBox="1"/>
          <p:nvPr/>
        </p:nvSpPr>
        <p:spPr>
          <a:xfrm>
            <a:off x="9065946" y="1970532"/>
            <a:ext cx="14673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entailment (⊨)</a:t>
            </a:r>
          </a:p>
        </p:txBody>
      </p:sp>
      <p:sp>
        <p:nvSpPr>
          <p:cNvPr id="28" name="!!term-derivation (⊢)">
            <a:extLst>
              <a:ext uri="{C183D7F6-B498-43B3-948B-1728B52AA6E4}">
                <adec:decorative xmlns:adec="http://schemas.microsoft.com/office/drawing/2017/decorative" val="1"/>
              </a:ext>
            </a:extLst>
          </p:cNvPr>
          <p:cNvSpPr/>
          <p:nvPr/>
        </p:nvSpPr>
        <p:spPr>
          <a:xfrm>
            <a:off x="658368" y="2468880"/>
            <a:ext cx="15944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erivation (⊢)">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erivation (⊢)"/>
          <p:cNvSpPr txBox="1"/>
          <p:nvPr/>
        </p:nvSpPr>
        <p:spPr>
          <a:xfrm>
            <a:off x="950976" y="2592324"/>
            <a:ext cx="141153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derivation (⊢)</a:t>
            </a:r>
          </a:p>
        </p:txBody>
      </p:sp>
      <p:sp>
        <p:nvSpPr>
          <p:cNvPr id="31" name="!!term-soundness">
            <a:extLst>
              <a:ext uri="{C183D7F6-B498-43B3-948B-1728B52AA6E4}">
                <adec:decorative xmlns:adec="http://schemas.microsoft.com/office/drawing/2017/decorative" val="1"/>
              </a:ext>
            </a:extLst>
          </p:cNvPr>
          <p:cNvSpPr/>
          <p:nvPr/>
        </p:nvSpPr>
        <p:spPr>
          <a:xfrm>
            <a:off x="2399090" y="2468880"/>
            <a:ext cx="13459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oundness">
            <a:extLst>
              <a:ext uri="{C183D7F6-B498-43B3-948B-1728B52AA6E4}">
                <adec:decorative xmlns:adec="http://schemas.microsoft.com/office/drawing/2017/decorative" val="1"/>
              </a:ext>
            </a:extLst>
          </p:cNvPr>
          <p:cNvSpPr/>
          <p:nvPr/>
        </p:nvSpPr>
        <p:spPr>
          <a:xfrm>
            <a:off x="252710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oundness"/>
          <p:cNvSpPr txBox="1"/>
          <p:nvPr/>
        </p:nvSpPr>
        <p:spPr>
          <a:xfrm>
            <a:off x="2691698" y="2592324"/>
            <a:ext cx="116307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soundness</a:t>
            </a:r>
          </a:p>
        </p:txBody>
      </p:sp>
      <p:sp>
        <p:nvSpPr>
          <p:cNvPr id="34" name="!!term-completeness">
            <a:extLst>
              <a:ext uri="{C183D7F6-B498-43B3-948B-1728B52AA6E4}">
                <adec:decorative xmlns:adec="http://schemas.microsoft.com/office/drawing/2017/decorative" val="1"/>
              </a:ext>
            </a:extLst>
          </p:cNvPr>
          <p:cNvSpPr/>
          <p:nvPr/>
        </p:nvSpPr>
        <p:spPr>
          <a:xfrm>
            <a:off x="3891346" y="2468880"/>
            <a:ext cx="16166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ompleteness">
            <a:extLst>
              <a:ext uri="{C183D7F6-B498-43B3-948B-1728B52AA6E4}">
                <adec:decorative xmlns:adec="http://schemas.microsoft.com/office/drawing/2017/decorative" val="1"/>
              </a:ext>
            </a:extLst>
          </p:cNvPr>
          <p:cNvSpPr/>
          <p:nvPr/>
        </p:nvSpPr>
        <p:spPr>
          <a:xfrm>
            <a:off x="401936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ompleteness"/>
          <p:cNvSpPr txBox="1"/>
          <p:nvPr/>
        </p:nvSpPr>
        <p:spPr>
          <a:xfrm>
            <a:off x="4183954" y="2592324"/>
            <a:ext cx="14337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completeness</a:t>
            </a:r>
          </a:p>
        </p:txBody>
      </p:sp>
      <p:sp>
        <p:nvSpPr>
          <p:cNvPr id="37" name="!!term-literal">
            <a:extLst>
              <a:ext uri="{C183D7F6-B498-43B3-948B-1728B52AA6E4}">
                <adec:decorative xmlns:adec="http://schemas.microsoft.com/office/drawing/2017/decorative" val="1"/>
              </a:ext>
            </a:extLst>
          </p:cNvPr>
          <p:cNvSpPr/>
          <p:nvPr/>
        </p:nvSpPr>
        <p:spPr>
          <a:xfrm>
            <a:off x="5654250" y="2468880"/>
            <a:ext cx="9139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literal">
            <a:extLst>
              <a:ext uri="{C183D7F6-B498-43B3-948B-1728B52AA6E4}">
                <adec:decorative xmlns:adec="http://schemas.microsoft.com/office/drawing/2017/decorative" val="1"/>
              </a:ext>
            </a:extLst>
          </p:cNvPr>
          <p:cNvSpPr/>
          <p:nvPr/>
        </p:nvSpPr>
        <p:spPr>
          <a:xfrm>
            <a:off x="578226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literal"/>
          <p:cNvSpPr txBox="1"/>
          <p:nvPr/>
        </p:nvSpPr>
        <p:spPr>
          <a:xfrm>
            <a:off x="5946858" y="2592324"/>
            <a:ext cx="7310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literal</a:t>
            </a:r>
          </a:p>
        </p:txBody>
      </p:sp>
      <p:sp>
        <p:nvSpPr>
          <p:cNvPr id="40" name="!!term-clause">
            <a:extLst>
              <a:ext uri="{C183D7F6-B498-43B3-948B-1728B52AA6E4}">
                <adec:decorative xmlns:adec="http://schemas.microsoft.com/office/drawing/2017/decorative" val="1"/>
              </a:ext>
            </a:extLst>
          </p:cNvPr>
          <p:cNvSpPr/>
          <p:nvPr/>
        </p:nvSpPr>
        <p:spPr>
          <a:xfrm>
            <a:off x="6714530" y="2468880"/>
            <a:ext cx="9686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lause">
            <a:extLst>
              <a:ext uri="{C183D7F6-B498-43B3-948B-1728B52AA6E4}">
                <adec:decorative xmlns:adec="http://schemas.microsoft.com/office/drawing/2017/decorative" val="1"/>
              </a:ext>
            </a:extLst>
          </p:cNvPr>
          <p:cNvSpPr/>
          <p:nvPr/>
        </p:nvSpPr>
        <p:spPr>
          <a:xfrm>
            <a:off x="684254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lause"/>
          <p:cNvSpPr txBox="1"/>
          <p:nvPr/>
        </p:nvSpPr>
        <p:spPr>
          <a:xfrm>
            <a:off x="7007138" y="2592324"/>
            <a:ext cx="78572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clause</a:t>
            </a:r>
          </a:p>
        </p:txBody>
      </p:sp>
      <p:sp>
        <p:nvSpPr>
          <p:cNvPr id="43" name="!!term-conjunctive no">
            <a:extLst>
              <a:ext uri="{C183D7F6-B498-43B3-948B-1728B52AA6E4}">
                <adec:decorative xmlns:adec="http://schemas.microsoft.com/office/drawing/2017/decorative" val="1"/>
              </a:ext>
            </a:extLst>
          </p:cNvPr>
          <p:cNvSpPr/>
          <p:nvPr/>
        </p:nvSpPr>
        <p:spPr>
          <a:xfrm>
            <a:off x="7829435" y="2468880"/>
            <a:ext cx="25376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conjunctive no">
            <a:extLst>
              <a:ext uri="{C183D7F6-B498-43B3-948B-1728B52AA6E4}">
                <adec:decorative xmlns:adec="http://schemas.microsoft.com/office/drawing/2017/decorative" val="1"/>
              </a:ext>
            </a:extLst>
          </p:cNvPr>
          <p:cNvSpPr/>
          <p:nvPr/>
        </p:nvSpPr>
        <p:spPr>
          <a:xfrm>
            <a:off x="795745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conjunctive no"/>
          <p:cNvSpPr txBox="1"/>
          <p:nvPr/>
        </p:nvSpPr>
        <p:spPr>
          <a:xfrm>
            <a:off x="8122043" y="2592324"/>
            <a:ext cx="235474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conjunctive normal form</a:t>
            </a:r>
          </a:p>
        </p:txBody>
      </p:sp>
      <p:sp>
        <p:nvSpPr>
          <p:cNvPr id="46" name="!!term-model checking">
            <a:extLst>
              <a:ext uri="{C183D7F6-B498-43B3-948B-1728B52AA6E4}">
                <adec:decorative xmlns:adec="http://schemas.microsoft.com/office/drawing/2017/decorative" val="1"/>
              </a:ext>
            </a:extLst>
          </p:cNvPr>
          <p:cNvSpPr/>
          <p:nvPr/>
        </p:nvSpPr>
        <p:spPr>
          <a:xfrm>
            <a:off x="658368" y="3090672"/>
            <a:ext cx="17955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model checkin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model checking"/>
          <p:cNvSpPr txBox="1"/>
          <p:nvPr/>
        </p:nvSpPr>
        <p:spPr>
          <a:xfrm>
            <a:off x="950976" y="3214116"/>
            <a:ext cx="16127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model checking</a:t>
            </a:r>
          </a:p>
        </p:txBody>
      </p:sp>
      <p:sp>
        <p:nvSpPr>
          <p:cNvPr id="49" name="!!term-DPLL">
            <a:extLst>
              <a:ext uri="{C183D7F6-B498-43B3-948B-1728B52AA6E4}">
                <adec:decorative xmlns:adec="http://schemas.microsoft.com/office/drawing/2017/decorative" val="1"/>
              </a:ext>
            </a:extLst>
          </p:cNvPr>
          <p:cNvSpPr/>
          <p:nvPr/>
        </p:nvSpPr>
        <p:spPr>
          <a:xfrm>
            <a:off x="2600256" y="3090672"/>
            <a:ext cx="8669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DPLL">
            <a:extLst>
              <a:ext uri="{C183D7F6-B498-43B3-948B-1728B52AA6E4}">
                <adec:decorative xmlns:adec="http://schemas.microsoft.com/office/drawing/2017/decorative" val="1"/>
              </a:ext>
            </a:extLst>
          </p:cNvPr>
          <p:cNvSpPr/>
          <p:nvPr/>
        </p:nvSpPr>
        <p:spPr>
          <a:xfrm>
            <a:off x="272827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DPLL"/>
          <p:cNvSpPr txBox="1"/>
          <p:nvPr/>
        </p:nvSpPr>
        <p:spPr>
          <a:xfrm>
            <a:off x="2892864" y="3214116"/>
            <a:ext cx="6840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DPLL</a:t>
            </a:r>
          </a:p>
        </p:txBody>
      </p:sp>
      <p:sp>
        <p:nvSpPr>
          <p:cNvPr id="52" name="!!term-unit propagati">
            <a:extLst>
              <a:ext uri="{C183D7F6-B498-43B3-948B-1728B52AA6E4}">
                <adec:decorative xmlns:adec="http://schemas.microsoft.com/office/drawing/2017/decorative" val="1"/>
              </a:ext>
            </a:extLst>
          </p:cNvPr>
          <p:cNvSpPr/>
          <p:nvPr/>
        </p:nvSpPr>
        <p:spPr>
          <a:xfrm>
            <a:off x="3613537" y="3090672"/>
            <a:ext cx="18839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unit propagati">
            <a:extLst>
              <a:ext uri="{C183D7F6-B498-43B3-948B-1728B52AA6E4}">
                <adec:decorative xmlns:adec="http://schemas.microsoft.com/office/drawing/2017/decorative" val="1"/>
              </a:ext>
            </a:extLst>
          </p:cNvPr>
          <p:cNvSpPr/>
          <p:nvPr/>
        </p:nvSpPr>
        <p:spPr>
          <a:xfrm>
            <a:off x="374155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unit propagati"/>
          <p:cNvSpPr txBox="1"/>
          <p:nvPr/>
        </p:nvSpPr>
        <p:spPr>
          <a:xfrm>
            <a:off x="3906145" y="3214116"/>
            <a:ext cx="17010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unit propagation</a:t>
            </a:r>
          </a:p>
        </p:txBody>
      </p:sp>
      <p:sp>
        <p:nvSpPr>
          <p:cNvPr id="55" name="!!term-pure literal">
            <a:extLst>
              <a:ext uri="{C183D7F6-B498-43B3-948B-1728B52AA6E4}">
                <adec:decorative xmlns:adec="http://schemas.microsoft.com/office/drawing/2017/decorative" val="1"/>
              </a:ext>
            </a:extLst>
          </p:cNvPr>
          <p:cNvSpPr/>
          <p:nvPr/>
        </p:nvSpPr>
        <p:spPr>
          <a:xfrm>
            <a:off x="5643757" y="3090672"/>
            <a:ext cx="13606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pure literal">
            <a:extLst>
              <a:ext uri="{C183D7F6-B498-43B3-948B-1728B52AA6E4}">
                <adec:decorative xmlns:adec="http://schemas.microsoft.com/office/drawing/2017/decorative" val="1"/>
              </a:ext>
            </a:extLst>
          </p:cNvPr>
          <p:cNvSpPr/>
          <p:nvPr/>
        </p:nvSpPr>
        <p:spPr>
          <a:xfrm>
            <a:off x="577177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pure literal"/>
          <p:cNvSpPr txBox="1"/>
          <p:nvPr/>
        </p:nvSpPr>
        <p:spPr>
          <a:xfrm>
            <a:off x="5936365" y="3214116"/>
            <a:ext cx="11777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pure literal</a:t>
            </a:r>
          </a:p>
        </p:txBody>
      </p:sp>
      <p:sp>
        <p:nvSpPr>
          <p:cNvPr id="58" name="!!term-resolution">
            <a:extLst>
              <a:ext uri="{C183D7F6-B498-43B3-948B-1728B52AA6E4}">
                <adec:decorative xmlns:adec="http://schemas.microsoft.com/office/drawing/2017/decorative" val="1"/>
              </a:ext>
            </a:extLst>
          </p:cNvPr>
          <p:cNvSpPr/>
          <p:nvPr/>
        </p:nvSpPr>
        <p:spPr>
          <a:xfrm>
            <a:off x="7150716" y="3090672"/>
            <a:ext cx="12981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resolution">
            <a:extLst>
              <a:ext uri="{C183D7F6-B498-43B3-948B-1728B52AA6E4}">
                <adec:decorative xmlns:adec="http://schemas.microsoft.com/office/drawing/2017/decorative" val="1"/>
              </a:ext>
            </a:extLst>
          </p:cNvPr>
          <p:cNvSpPr/>
          <p:nvPr/>
        </p:nvSpPr>
        <p:spPr>
          <a:xfrm>
            <a:off x="727873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resolution"/>
          <p:cNvSpPr txBox="1"/>
          <p:nvPr/>
        </p:nvSpPr>
        <p:spPr>
          <a:xfrm>
            <a:off x="7443324" y="3214116"/>
            <a:ext cx="111523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resolution</a:t>
            </a:r>
          </a:p>
        </p:txBody>
      </p:sp>
      <p:sp>
        <p:nvSpPr>
          <p:cNvPr id="61" name="!!term-refutation">
            <a:extLst>
              <a:ext uri="{C183D7F6-B498-43B3-948B-1728B52AA6E4}">
                <adec:decorative xmlns:adec="http://schemas.microsoft.com/office/drawing/2017/decorative" val="1"/>
              </a:ext>
            </a:extLst>
          </p:cNvPr>
          <p:cNvSpPr/>
          <p:nvPr/>
        </p:nvSpPr>
        <p:spPr>
          <a:xfrm>
            <a:off x="8595132" y="3090672"/>
            <a:ext cx="1280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refutation">
            <a:extLst>
              <a:ext uri="{C183D7F6-B498-43B3-948B-1728B52AA6E4}">
                <adec:decorative xmlns:adec="http://schemas.microsoft.com/office/drawing/2017/decorative" val="1"/>
              </a:ext>
            </a:extLst>
          </p:cNvPr>
          <p:cNvSpPr/>
          <p:nvPr/>
        </p:nvSpPr>
        <p:spPr>
          <a:xfrm>
            <a:off x="872314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refutation"/>
          <p:cNvSpPr txBox="1"/>
          <p:nvPr/>
        </p:nvSpPr>
        <p:spPr>
          <a:xfrm>
            <a:off x="8887740" y="3214116"/>
            <a:ext cx="10975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refutation</a:t>
            </a:r>
          </a:p>
        </p:txBody>
      </p:sp>
      <p:sp>
        <p:nvSpPr>
          <p:cNvPr id="64" name="!!term-countermodel">
            <a:extLst>
              <a:ext uri="{C183D7F6-B498-43B3-948B-1728B52AA6E4}">
                <adec:decorative xmlns:adec="http://schemas.microsoft.com/office/drawing/2017/decorative" val="1"/>
              </a:ext>
            </a:extLst>
          </p:cNvPr>
          <p:cNvSpPr/>
          <p:nvPr/>
        </p:nvSpPr>
        <p:spPr>
          <a:xfrm>
            <a:off x="658368" y="3712464"/>
            <a:ext cx="16418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countermodel">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countermodel"/>
          <p:cNvSpPr txBox="1"/>
          <p:nvPr/>
        </p:nvSpPr>
        <p:spPr>
          <a:xfrm>
            <a:off x="950976" y="3835908"/>
            <a:ext cx="14589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countermodel</a:t>
            </a:r>
          </a:p>
        </p:txBody>
      </p:sp>
      <p:sp>
        <p:nvSpPr>
          <p:cNvPr id="67"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110–120     </a:t>
            </a:r>
            <a:fld id="{13EF1C83-7AB1-450F-AF75-D866E622AAB6}" type="slidenum">
              <a:rPr lang="en-GB" sz="1000">
                <a:solidFill>
                  <a:srgbClr val="8795A1"/>
                </a:solidFill>
                <a:latin typeface="Segoe UI"/>
              </a:rPr>
              <a:t>5</a:t>
            </a:fld>
          </a:p>
        </p:txBody>
      </p:sp>
      <p:sp>
        <p:nvSpPr>
          <p:cNvPr id="7" name="!!ag0" descr="Go to section 11.1 The Release Gate, Written Down">
            <a:hlinkClick action="ppaction://hlinksldjump" r:id="rId5"/>
          </p:cNvPr>
          <p:cNvSpPr/>
          <p:nvPr/>
        </p:nvSpPr>
        <p:spPr>
          <a:xfrm>
            <a:off x="658368" y="177393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89547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11.1</a:t>
            </a:r>
          </a:p>
        </p:txBody>
      </p:sp>
      <p:sp>
        <p:nvSpPr>
          <p:cNvPr id="10" name="!!agt0"/>
          <p:cNvSpPr txBox="1"/>
          <p:nvPr/>
        </p:nvSpPr>
        <p:spPr>
          <a:xfrm>
            <a:off x="1847088" y="189547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The Release Gate, Written Down</a:t>
            </a:r>
          </a:p>
        </p:txBody>
      </p:sp>
      <p:sp>
        <p:nvSpPr>
          <p:cNvPr id="11" name="!!agp0"/>
          <p:cNvSpPr txBox="1"/>
          <p:nvPr/>
        </p:nvSpPr>
        <p:spPr>
          <a:xfrm>
            <a:off x="9795967" y="192290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110  ›</a:t>
            </a:r>
          </a:p>
        </p:txBody>
      </p:sp>
      <p:sp>
        <p:nvSpPr>
          <p:cNvPr id="12" name="!!ag1" descr="Go to section 11.2 Syntax, Semantics and Models">
            <a:hlinkClick action="ppaction://hlinksldjump" r:id="rId6"/>
          </p:cNvPr>
          <p:cNvSpPr/>
          <p:nvPr/>
        </p:nvSpPr>
        <p:spPr>
          <a:xfrm>
            <a:off x="658368" y="233400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334006"/>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45554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11.2</a:t>
            </a:r>
          </a:p>
        </p:txBody>
      </p:sp>
      <p:sp>
        <p:nvSpPr>
          <p:cNvPr id="15" name="!!agt1"/>
          <p:cNvSpPr txBox="1"/>
          <p:nvPr/>
        </p:nvSpPr>
        <p:spPr>
          <a:xfrm>
            <a:off x="1847088" y="245554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Syntax, Semantics and Models</a:t>
            </a:r>
          </a:p>
        </p:txBody>
      </p:sp>
      <p:sp>
        <p:nvSpPr>
          <p:cNvPr id="16" name="!!agp1"/>
          <p:cNvSpPr txBox="1"/>
          <p:nvPr/>
        </p:nvSpPr>
        <p:spPr>
          <a:xfrm>
            <a:off x="9795967" y="248297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111  ›</a:t>
            </a:r>
          </a:p>
        </p:txBody>
      </p:sp>
      <p:sp>
        <p:nvSpPr>
          <p:cNvPr id="17" name="!!ag2" descr="Go to section 11.3 Entailment and Derivation">
            <a:hlinkClick action="ppaction://hlinksldjump" r:id="rId7"/>
          </p:cNvPr>
          <p:cNvSpPr/>
          <p:nvPr/>
        </p:nvSpPr>
        <p:spPr>
          <a:xfrm>
            <a:off x="658368" y="289407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2894076"/>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01561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11.3</a:t>
            </a:r>
          </a:p>
        </p:txBody>
      </p:sp>
      <p:sp>
        <p:nvSpPr>
          <p:cNvPr id="20" name="!!agt2"/>
          <p:cNvSpPr txBox="1"/>
          <p:nvPr/>
        </p:nvSpPr>
        <p:spPr>
          <a:xfrm>
            <a:off x="1847088" y="301561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Entailment and Derivation</a:t>
            </a:r>
          </a:p>
        </p:txBody>
      </p:sp>
      <p:sp>
        <p:nvSpPr>
          <p:cNvPr id="21" name="!!agp2"/>
          <p:cNvSpPr txBox="1"/>
          <p:nvPr/>
        </p:nvSpPr>
        <p:spPr>
          <a:xfrm>
            <a:off x="9795967" y="304304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111  ›</a:t>
            </a:r>
          </a:p>
        </p:txBody>
      </p:sp>
      <p:sp>
        <p:nvSpPr>
          <p:cNvPr id="22" name="!!ag3" descr="Go to section 11.4 Deciding It: Model Checking">
            <a:hlinkClick action="ppaction://hlinksldjump" r:id="rId8"/>
          </p:cNvPr>
          <p:cNvSpPr/>
          <p:nvPr/>
        </p:nvSpPr>
        <p:spPr>
          <a:xfrm>
            <a:off x="658368" y="345414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454146"/>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575685"/>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11.4</a:t>
            </a:r>
          </a:p>
        </p:txBody>
      </p:sp>
      <p:sp>
        <p:nvSpPr>
          <p:cNvPr id="25" name="!!agt3"/>
          <p:cNvSpPr txBox="1"/>
          <p:nvPr/>
        </p:nvSpPr>
        <p:spPr>
          <a:xfrm>
            <a:off x="1847088" y="3575685"/>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Deciding It: Model Checking</a:t>
            </a:r>
          </a:p>
        </p:txBody>
      </p:sp>
      <p:sp>
        <p:nvSpPr>
          <p:cNvPr id="26" name="!!agp3"/>
          <p:cNvSpPr txBox="1"/>
          <p:nvPr/>
        </p:nvSpPr>
        <p:spPr>
          <a:xfrm>
            <a:off x="9795967" y="360311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112  ›</a:t>
            </a:r>
          </a:p>
        </p:txBody>
      </p:sp>
      <p:sp>
        <p:nvSpPr>
          <p:cNvPr id="27" name="!!ag4" descr="Go to section 11.5 Deciding It Better: DPLL">
            <a:hlinkClick action="ppaction://hlinksldjump" r:id="rId9"/>
          </p:cNvPr>
          <p:cNvSpPr/>
          <p:nvPr/>
        </p:nvSpPr>
        <p:spPr>
          <a:xfrm>
            <a:off x="658368" y="401421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014215"/>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13575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11.5</a:t>
            </a:r>
          </a:p>
        </p:txBody>
      </p:sp>
      <p:sp>
        <p:nvSpPr>
          <p:cNvPr id="30" name="!!agt4"/>
          <p:cNvSpPr txBox="1"/>
          <p:nvPr/>
        </p:nvSpPr>
        <p:spPr>
          <a:xfrm>
            <a:off x="1847088" y="413575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Deciding It Better: DPLL</a:t>
            </a:r>
          </a:p>
        </p:txBody>
      </p:sp>
      <p:sp>
        <p:nvSpPr>
          <p:cNvPr id="31" name="!!agp4"/>
          <p:cNvSpPr txBox="1"/>
          <p:nvPr/>
        </p:nvSpPr>
        <p:spPr>
          <a:xfrm>
            <a:off x="9795967" y="416318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112  ›</a:t>
            </a:r>
          </a:p>
        </p:txBody>
      </p:sp>
      <p:sp>
        <p:nvSpPr>
          <p:cNvPr id="32" name="!!ag5" descr="Go to section 11.6 Conjunctive Normal Form">
            <a:hlinkClick action="ppaction://hlinksldjump" r:id="rId10"/>
          </p:cNvPr>
          <p:cNvSpPr/>
          <p:nvPr/>
        </p:nvSpPr>
        <p:spPr>
          <a:xfrm>
            <a:off x="658368" y="4574286"/>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574286"/>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469582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11.6</a:t>
            </a:r>
          </a:p>
        </p:txBody>
      </p:sp>
      <p:sp>
        <p:nvSpPr>
          <p:cNvPr id="35" name="!!agt5"/>
          <p:cNvSpPr txBox="1"/>
          <p:nvPr/>
        </p:nvSpPr>
        <p:spPr>
          <a:xfrm>
            <a:off x="1847088" y="469582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Conjunctive Normal Form</a:t>
            </a:r>
          </a:p>
        </p:txBody>
      </p:sp>
      <p:sp>
        <p:nvSpPr>
          <p:cNvPr id="36" name="!!agp5"/>
          <p:cNvSpPr txBox="1"/>
          <p:nvPr/>
        </p:nvSpPr>
        <p:spPr>
          <a:xfrm>
            <a:off x="9795967" y="4723257"/>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113  ›</a:t>
            </a:r>
          </a:p>
        </p:txBody>
      </p:sp>
      <p:sp>
        <p:nvSpPr>
          <p:cNvPr id="37" name="!!ag6" descr="Go to section 11.7 Resolution">
            <a:hlinkClick action="ppaction://hlinksldjump" r:id="rId11"/>
          </p:cNvPr>
          <p:cNvSpPr/>
          <p:nvPr/>
        </p:nvSpPr>
        <p:spPr>
          <a:xfrm>
            <a:off x="658368" y="513435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134355"/>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25589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11.7</a:t>
            </a:r>
          </a:p>
        </p:txBody>
      </p:sp>
      <p:sp>
        <p:nvSpPr>
          <p:cNvPr id="40" name="!!agt6"/>
          <p:cNvSpPr txBox="1"/>
          <p:nvPr/>
        </p:nvSpPr>
        <p:spPr>
          <a:xfrm>
            <a:off x="1847088" y="525589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Resolution</a:t>
            </a:r>
          </a:p>
        </p:txBody>
      </p:sp>
      <p:sp>
        <p:nvSpPr>
          <p:cNvPr id="41" name="!!agp6"/>
          <p:cNvSpPr txBox="1"/>
          <p:nvPr/>
        </p:nvSpPr>
        <p:spPr>
          <a:xfrm>
            <a:off x="9795967" y="528332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114  ›</a:t>
            </a:r>
          </a:p>
        </p:txBody>
      </p:sp>
      <p:sp>
        <p:nvSpPr>
          <p:cNvPr id="42" name="!!ag7" descr="Go to section 11.8 When the Answer Is No">
            <a:hlinkClick action="ppaction://hlinksldjump" r:id="rId12"/>
          </p:cNvPr>
          <p:cNvSpPr/>
          <p:nvPr/>
        </p:nvSpPr>
        <p:spPr>
          <a:xfrm>
            <a:off x="658368" y="5694425"/>
            <a:ext cx="10874959" cy="486918"/>
          </a:xfrm>
          <a:prstGeom prst="roundRect">
            <a:avLst>
              <a:gd name="adj" fmla="val 1126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agb7">
            <a:extLst>
              <a:ext uri="{C183D7F6-B498-43B3-948B-1728B52AA6E4}">
                <adec:decorative xmlns:adec="http://schemas.microsoft.com/office/drawing/2017/decorative" val="1"/>
              </a:ext>
            </a:extLst>
          </p:cNvPr>
          <p:cNvSpPr/>
          <p:nvPr/>
        </p:nvSpPr>
        <p:spPr>
          <a:xfrm>
            <a:off x="658368" y="5694425"/>
            <a:ext cx="64008" cy="48691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agn7"/>
          <p:cNvSpPr txBox="1"/>
          <p:nvPr/>
        </p:nvSpPr>
        <p:spPr>
          <a:xfrm>
            <a:off x="932688" y="5815964"/>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7A3A95"/>
                </a:solidFill>
                <a:latin typeface="Segoe UI Semibold"/>
              </a:rPr>
              <a:t>11.8</a:t>
            </a:r>
          </a:p>
        </p:txBody>
      </p:sp>
      <p:sp>
        <p:nvSpPr>
          <p:cNvPr id="45" name="!!agt7"/>
          <p:cNvSpPr txBox="1"/>
          <p:nvPr/>
        </p:nvSpPr>
        <p:spPr>
          <a:xfrm>
            <a:off x="1847088" y="5815964"/>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When the Answer Is No</a:t>
            </a:r>
          </a:p>
        </p:txBody>
      </p:sp>
      <p:sp>
        <p:nvSpPr>
          <p:cNvPr id="46" name="!!agp7"/>
          <p:cNvSpPr txBox="1"/>
          <p:nvPr/>
        </p:nvSpPr>
        <p:spPr>
          <a:xfrm>
            <a:off x="9795967" y="5843396"/>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114  ›</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01597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release gate</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110     </a:t>
            </a:r>
            <a:fld id="{F2F4E6D5-DA60-41B0-8EEC-C6BC45B979DD}"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7891"/>
          </a:xfrm>
          <a:prstGeom prst="roundRect">
            <a:avLst>
              <a:gd name="adj" fmla="val 2225"/>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78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Six propositions — each either true or false — and seven sentences.</a:t>
            </a:r>
          </a:p>
        </p:txBody>
      </p:sp>
      <p:graphicFrame>
        <p:nvGraphicFramePr>
          <p:cNvPr id="10" name="body-1"/>
          <p:cNvGraphicFramePr>
            <a:graphicFrameLocks noGrp="1"/>
          </p:cNvGraphicFramePr>
          <p:nvPr/>
        </p:nvGraphicFramePr>
        <p:xfrm>
          <a:off x="1060704" y="2413609"/>
          <a:ext cx="7324115" cy="2755392"/>
        </p:xfrm>
        <a:graphic>
          <a:graphicData uri="http://schemas.openxmlformats.org/drawingml/2006/table">
            <a:tbl>
              <a:tblPr firstRow="0" bandRow="0" firstCol="0" lastRow="0" lastCol="0" bandCol="0">
                <a:tableStyleId>{2D5ABB26-0587-4C30-8999-92F81FD0307C}</a:tableStyleId>
              </a:tblPr>
              <a:tblGrid>
                <a:gridCol w="530352"/>
                <a:gridCol w="2897341"/>
                <a:gridCol w="3896422"/>
              </a:tblGrid>
              <a:tr h="344424">
                <a:tc>
                  <a:txBody>
                    <a:bodyPr wrap="square"/>
                    <a:lstStyle/>
                    <a:p>
                      <a:pPr algn="l"/>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Sentence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In English</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Segoe UI"/>
                        </a:rPr>
                        <a:t>R1</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Reviewed</a:t>
                      </a:r>
                      <a:r>
                        <a:rPr sz="1300" b="0" i="0">
                          <a:solidFill>
                            <a:srgbClr val="1C252B"/>
                          </a:solidFill>
                          <a:latin typeface="Cambria"/>
                        </a:rPr>
                        <a:t> ∧ </a:t>
                      </a:r>
                      <a:r>
                        <a:rPr sz="1300" b="0" i="1">
                          <a:solidFill>
                            <a:srgbClr val="1C252B"/>
                          </a:solidFill>
                          <a:latin typeface="Cambria"/>
                        </a:rPr>
                        <a:t>Tested</a:t>
                      </a:r>
                      <a:r>
                        <a:rPr sz="1300" b="0" i="0">
                          <a:solidFill>
                            <a:srgbClr val="1C252B"/>
                          </a:solidFill>
                          <a:latin typeface="Cambria"/>
                        </a:rPr>
                        <a:t> ⇒ </a:t>
                      </a:r>
                      <a:r>
                        <a:rPr sz="1300" b="0" i="1">
                          <a:solidFill>
                            <a:srgbClr val="1C252B"/>
                          </a:solidFill>
                          <a:latin typeface="Cambria"/>
                        </a:rPr>
                        <a:t>Staged</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Code that is reviewed and tested reaches staging</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R2</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Staged</a:t>
                      </a:r>
                      <a:r>
                        <a:rPr sz="1300" b="0" i="0">
                          <a:solidFill>
                            <a:srgbClr val="1C252B"/>
                          </a:solidFill>
                          <a:latin typeface="Cambria"/>
                        </a:rPr>
                        <a:t> ∧ </a:t>
                      </a:r>
                      <a:r>
                        <a:rPr sz="1300" b="0" i="1">
                          <a:solidFill>
                            <a:srgbClr val="1C252B"/>
                          </a:solidFill>
                          <a:latin typeface="Cambria"/>
                        </a:rPr>
                        <a:t>SignedOff</a:t>
                      </a:r>
                      <a:r>
                        <a:rPr sz="1300" b="0" i="0">
                          <a:solidFill>
                            <a:srgbClr val="1C252B"/>
                          </a:solidFill>
                          <a:latin typeface="Cambria"/>
                        </a:rPr>
                        <a:t> ⇒ </a:t>
                      </a:r>
                      <a:r>
                        <a:rPr sz="1300" b="0" i="1">
                          <a:solidFill>
                            <a:srgbClr val="1C252B"/>
                          </a:solidFill>
                          <a:latin typeface="Cambria"/>
                        </a:rPr>
                        <a:t>Deploy</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Staged and signed off means it may deploy</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R3</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Blocker</a:t>
                      </a:r>
                      <a:r>
                        <a:rPr sz="1300" b="0" i="0">
                          <a:solidFill>
                            <a:srgbClr val="1C252B"/>
                          </a:solidFill>
                          <a:latin typeface="Cambria"/>
                        </a:rPr>
                        <a:t> ⇒ ¬ </a:t>
                      </a:r>
                      <a:r>
                        <a:rPr sz="1300" b="0" i="1">
                          <a:solidFill>
                            <a:srgbClr val="1C252B"/>
                          </a:solidFill>
                          <a:latin typeface="Cambria"/>
                        </a:rPr>
                        <a:t>Deploy</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An open blocker forbids deployment</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F1</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Reviewed</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The code was reviewed</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F2</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Tested</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tests passed</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F3</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SignedOff</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The product owner signed off</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F4</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Cambria"/>
                        </a:rPr>
                        <a:t>¬ </a:t>
                      </a:r>
                      <a:r>
                        <a:rPr sz="1300" b="0" i="1">
                          <a:solidFill>
                            <a:srgbClr val="1C252B"/>
                          </a:solidFill>
                          <a:latin typeface="Cambria"/>
                        </a:rPr>
                        <a:t>Blocker</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Segoe UI"/>
                        </a:rPr>
                        <a:t>There is no open blocker</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60704" y="5280761"/>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question the team actually argues about: </a:t>
            </a:r>
            <a:r>
              <a:rPr sz="1600" b="0" i="1">
                <a:solidFill>
                  <a:srgbClr val="1C252B"/>
                </a:solidFill>
                <a:latin typeface="Segoe UI"/>
              </a:rPr>
              <a:t>may we deploy?</a:t>
            </a:r>
            <a:r>
              <a:rPr sz="1600" b="0" i="0">
                <a:solidFill>
                  <a:srgbClr val="1C252B"/>
                </a:solidFill>
                <a:latin typeface="Segoe UI"/>
              </a:rPr>
              <a:t> In the notation of this chapter, is </a:t>
            </a:r>
            <a:r>
              <a:rPr sz="1600" b="0" i="1">
                <a:solidFill>
                  <a:srgbClr val="1C252B"/>
                </a:solidFill>
                <a:latin typeface="Cambria"/>
              </a:rPr>
              <a:t>KB</a:t>
            </a:r>
            <a:r>
              <a:rPr sz="1600" b="0" i="0">
                <a:solidFill>
                  <a:srgbClr val="1C252B"/>
                </a:solidFill>
                <a:latin typeface="Cambria"/>
              </a:rPr>
              <a:t> ⊨ </a:t>
            </a:r>
            <a:r>
              <a:rPr sz="1600" b="0" i="1">
                <a:solidFill>
                  <a:srgbClr val="1C252B"/>
                </a:solidFill>
                <a:latin typeface="Cambria"/>
              </a:rPr>
              <a:t>Deploy</a:t>
            </a:r>
            <a:r>
              <a:rPr sz="16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Syntax, Semantics and Models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The Release Gate, Written Down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11.2   Syntax, Semantics and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Entailment and Derivation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Deciding It: Model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Deciding It Better: DPLL</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11.6   Conjunctive Normal Form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Resolution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11.8   When the Answer Is No</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§11.2     </a:t>
            </a:r>
            <a:fld id="{09A6ABBE-58E3-4337-81A3-EFCB731F2168}" type="slidenum">
              <a:rPr lang="en-GB" sz="1000">
                <a:solidFill>
                  <a:srgbClr val="8795A1"/>
                </a:solidFill>
                <a:latin typeface="Segoe UI"/>
              </a:rPr>
              <a:t>7</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142236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Model, satisfiability, validity</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111     </a:t>
            </a:r>
            <a:fld id="{75FBF5A4-40E9-493D-9C43-37E64ECFF850}"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03735"/>
          </a:xfrm>
          <a:prstGeom prst="roundRect">
            <a:avLst>
              <a:gd name="adj" fmla="val 222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0373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a:t>
            </a:r>
            <a:r>
              <a:rPr sz="1600" b="1" i="0">
                <a:solidFill>
                  <a:srgbClr val="1A5276"/>
                </a:solidFill>
                <a:latin typeface="Segoe UI"/>
              </a:rPr>
              <a:t>model</a:t>
            </a:r>
            <a:r>
              <a:rPr sz="1600" b="0" i="0">
                <a:solidFill>
                  <a:srgbClr val="1C252B"/>
                </a:solidFill>
                <a:latin typeface="Segoe UI"/>
              </a:rPr>
              <a:t> is an assignment of true or false to every proposition symbol. With </a:t>
            </a:r>
            <a:r>
              <a:rPr sz="1600" b="0" i="1">
                <a:solidFill>
                  <a:srgbClr val="1C252B"/>
                </a:solidFill>
                <a:latin typeface="Cambria"/>
              </a:rPr>
              <a:t>n</a:t>
            </a:r>
            <a:r>
              <a:rPr sz="1600" b="0" i="0">
                <a:solidFill>
                  <a:srgbClr val="1C252B"/>
                </a:solidFill>
                <a:latin typeface="Segoe UI"/>
              </a:rPr>
              <a:t> symbols there are </a:t>
            </a:r>
            <a:r>
              <a:rPr sz="1600" b="0" i="0">
                <a:solidFill>
                  <a:srgbClr val="1C252B"/>
                </a:solidFill>
                <a:latin typeface="Cambria"/>
              </a:rPr>
              <a:t>2</a:t>
            </a:r>
            <a:r>
              <a:rPr sz="1050" b="0" i="1" baseline="30000">
                <a:solidFill>
                  <a:srgbClr val="1C252B"/>
                </a:solidFill>
                <a:latin typeface="Cambria"/>
              </a:rPr>
              <a:t>n</a:t>
            </a:r>
            <a:r>
              <a:rPr sz="1600" b="0" i="0">
                <a:solidFill>
                  <a:srgbClr val="1C252B"/>
                </a:solidFill>
                <a:latin typeface="Segoe UI"/>
              </a:rPr>
              <a:t> models; the gate above has six symbols and therefore </a:t>
            </a:r>
            <a:r>
              <a:rPr sz="1600" b="0" i="0">
                <a:solidFill>
                  <a:srgbClr val="1C252B"/>
                </a:solidFill>
                <a:latin typeface="Cambria"/>
              </a:rPr>
              <a:t>64</a:t>
            </a:r>
            <a:r>
              <a:rPr sz="1600" b="0" i="0">
                <a:solidFill>
                  <a:srgbClr val="1C252B"/>
                </a:solidFill>
                <a:latin typeface="Segoe UI"/>
              </a:rPr>
              <a:t>.</a:t>
            </a:r>
          </a:p>
        </p:txBody>
      </p:sp>
      <p:sp>
        <p:nvSpPr>
          <p:cNvPr id="10" name="body-1"/>
          <p:cNvSpPr txBox="1"/>
          <p:nvPr/>
        </p:nvSpPr>
        <p:spPr>
          <a:xfrm>
            <a:off x="1060704" y="2667203"/>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sentence is </a:t>
            </a:r>
            <a:r>
              <a:rPr sz="1600" b="1" i="0">
                <a:solidFill>
                  <a:srgbClr val="1A5276"/>
                </a:solidFill>
                <a:latin typeface="Segoe UI"/>
              </a:rPr>
              <a:t>satisfiable</a:t>
            </a:r>
            <a:r>
              <a:rPr sz="1600" b="0" i="0">
                <a:solidFill>
                  <a:srgbClr val="1C252B"/>
                </a:solidFill>
                <a:latin typeface="Segoe UI"/>
              </a:rPr>
              <a:t> if some model makes it true, </a:t>
            </a:r>
            <a:r>
              <a:rPr sz="1600" b="1" i="0">
                <a:solidFill>
                  <a:srgbClr val="1A5276"/>
                </a:solidFill>
                <a:latin typeface="Segoe UI"/>
              </a:rPr>
              <a:t>valid</a:t>
            </a:r>
            <a:r>
              <a:rPr sz="1600" b="0" i="0">
                <a:solidFill>
                  <a:srgbClr val="1C252B"/>
                </a:solidFill>
                <a:latin typeface="Segoe UI"/>
              </a:rPr>
              <a:t> if every model does, and </a:t>
            </a:r>
            <a:r>
              <a:rPr sz="1600" b="1" i="0">
                <a:solidFill>
                  <a:srgbClr val="1A5276"/>
                </a:solidFill>
                <a:latin typeface="Segoe UI"/>
              </a:rPr>
              <a:t>unsatisfiable</a:t>
            </a:r>
            <a:r>
              <a:rPr sz="1600" b="0" i="0">
                <a:solidFill>
                  <a:srgbClr val="1C252B"/>
                </a:solidFill>
                <a:latin typeface="Segoe UI"/>
              </a:rPr>
              <a:t> if none does. The connectives have their usual truth tables; the only one that regularly surprises people is implication:</a:t>
            </a:r>
          </a:p>
        </p:txBody>
      </p:sp>
      <p:pic>
        <p:nvPicPr>
          <p:cNvPr id="11" name="body-2" descr="\begin{array}{cc|c} a &amp; b &amp; a \Rightarrow b \\ \hline \text{F} &amp; \text{F} &amp; \text{T} \\ \text{F} &amp; \text{T} &amp; \text{T} \\ \text{T} &amp; \text{F} &amp; \text{F} \\ \text{T} &amp; \text{T} &amp; \text{T} \end{arra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286150"/>
            <a:ext cx="10161727" cy="1371508"/>
          </a:xfrm>
          <a:prstGeom prst="rect">
            <a:avLst/>
          </a:prstGeom>
        </p:spPr>
      </p:pic>
      <p:sp>
        <p:nvSpPr>
          <p:cNvPr id="12" name="body-3"/>
          <p:cNvSpPr txBox="1"/>
          <p:nvPr/>
        </p:nvSpPr>
        <p:spPr>
          <a:xfrm>
            <a:off x="1060704" y="4769418"/>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1">
                <a:solidFill>
                  <a:srgbClr val="1C252B"/>
                </a:solidFill>
                <a:latin typeface="Cambria"/>
              </a:rPr>
              <a:t>a</a:t>
            </a:r>
            <a:r>
              <a:rPr sz="1600" b="0" i="0">
                <a:solidFill>
                  <a:srgbClr val="1C252B"/>
                </a:solidFill>
                <a:latin typeface="Cambria"/>
              </a:rPr>
              <a:t> ⇒ </a:t>
            </a:r>
            <a:r>
              <a:rPr sz="1600" b="0" i="1">
                <a:solidFill>
                  <a:srgbClr val="1C252B"/>
                </a:solidFill>
                <a:latin typeface="Cambria"/>
              </a:rPr>
              <a:t>b</a:t>
            </a:r>
            <a:r>
              <a:rPr sz="1600" b="0" i="0">
                <a:solidFill>
                  <a:srgbClr val="1C252B"/>
                </a:solidFill>
                <a:latin typeface="Segoe UI"/>
              </a:rPr>
              <a:t> is false in exactly one case: </a:t>
            </a:r>
            <a:r>
              <a:rPr sz="1600" b="0" i="1">
                <a:solidFill>
                  <a:srgbClr val="1C252B"/>
                </a:solidFill>
                <a:latin typeface="Cambria"/>
              </a:rPr>
              <a:t>a</a:t>
            </a:r>
            <a:r>
              <a:rPr sz="1600" b="0" i="0">
                <a:solidFill>
                  <a:srgbClr val="1C252B"/>
                </a:solidFill>
                <a:latin typeface="Segoe UI"/>
              </a:rPr>
              <a:t> true and </a:t>
            </a:r>
            <a:r>
              <a:rPr sz="1600" b="0" i="1">
                <a:solidFill>
                  <a:srgbClr val="1C252B"/>
                </a:solidFill>
                <a:latin typeface="Cambria"/>
              </a:rPr>
              <a:t>b</a:t>
            </a:r>
            <a:r>
              <a:rPr sz="1600" b="0" i="0">
                <a:solidFill>
                  <a:srgbClr val="1C252B"/>
                </a:solidFill>
                <a:latin typeface="Segoe UI"/>
              </a:rPr>
              <a:t> false. So “if there is a blocker then we do not deploy” says nothing whatever about the case where there is no blocker — which is correct, and is why F4 has to be stated separately.</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Implication is not causation, and not relevance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111     </a:t>
            </a:r>
            <a:fld id="{5E6A461E-E45E-4568-B01A-171DF0AFD8EF}"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Blocker</a:t>
            </a:r>
            <a:r>
              <a:rPr sz="2300" b="0" i="0">
                <a:solidFill>
                  <a:srgbClr val="1C252B"/>
                </a:solidFill>
                <a:latin typeface="Cambria"/>
              </a:rPr>
              <a:t> ⇒ ¬ </a:t>
            </a:r>
            <a:r>
              <a:rPr sz="2300" b="0" i="1">
                <a:solidFill>
                  <a:srgbClr val="1C252B"/>
                </a:solidFill>
                <a:latin typeface="Cambria"/>
              </a:rPr>
              <a:t>Deploy</a:t>
            </a:r>
            <a:r>
              <a:rPr sz="2300" b="0" i="0">
                <a:solidFill>
                  <a:srgbClr val="1C252B"/>
                </a:solidFill>
                <a:latin typeface="Segoe UI"/>
              </a:rPr>
              <a:t> does not say the blocker </a:t>
            </a:r>
            <a:r>
              <a:rPr sz="2300" b="0" i="1">
                <a:solidFill>
                  <a:srgbClr val="1C252B"/>
                </a:solidFill>
                <a:latin typeface="Segoe UI"/>
              </a:rPr>
              <a:t>causes</a:t>
            </a:r>
            <a:r>
              <a:rPr sz="2300" b="0" i="0">
                <a:solidFill>
                  <a:srgbClr val="1C252B"/>
                </a:solidFill>
                <a:latin typeface="Segoe UI"/>
              </a:rPr>
              <a:t> the decision, and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Segoe UI"/>
              </a:rPr>
              <a:t> is true whenever </a:t>
            </a:r>
            <a:r>
              <a:rPr sz="2300" b="0" i="1">
                <a:solidFill>
                  <a:srgbClr val="1C252B"/>
                </a:solidFill>
                <a:latin typeface="Cambria"/>
              </a:rPr>
              <a:t>a</a:t>
            </a:r>
            <a:r>
              <a:rPr sz="2300" b="0" i="0">
                <a:solidFill>
                  <a:srgbClr val="1C252B"/>
                </a:solidFill>
                <a:latin typeface="Segoe UI"/>
              </a:rPr>
              <a:t> is false regardless of what </a:t>
            </a:r>
            <a:r>
              <a:rPr sz="2300" b="0" i="1">
                <a:solidFill>
                  <a:srgbClr val="1C252B"/>
                </a:solidFill>
                <a:latin typeface="Cambria"/>
              </a:rPr>
              <a:t>b</a:t>
            </a:r>
            <a:r>
              <a:rPr sz="2300" b="0" i="0">
                <a:solidFill>
                  <a:srgbClr val="1C252B"/>
                </a:solidFill>
                <a:latin typeface="Segoe UI"/>
              </a:rPr>
              <a:t> is about. “If the build number is prime then Ayesha is on call” is a true sentence on any day the build number is composite.</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bothers everyone at first and it is not a defect: it is the price of a connective whose truth depends only on the truth of its parts, which is exactly the property that makes mechanical inference possible.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Entailment and Derivation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The Release Gate, Written Down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Syntax, Semantics and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11.3   Entailment and Derivation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Deciding It: Model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Deciding It Better: DPLL</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11.6   Conjunctive Normal Form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Resolution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11.8   When the Answer Is No</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§11.3     </a:t>
            </a:r>
            <a:fld id="{22B9ADBC-CC95-4774-A2B4-DDF8CB9A91FF}" type="slidenum">
              <a:rPr lang="en-GB" sz="1000">
                <a:solidFill>
                  <a:srgbClr val="8795A1"/>
                </a:solidFill>
                <a:latin typeface="Segoe UI"/>
              </a:rPr>
              <a:t>10</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Entailment and derivation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111     </a:t>
            </a:r>
            <a:fld id="{833AD32C-DC7E-4F58-B3FD-9A722482B9B4}"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94887"/>
          </a:xfrm>
          <a:prstGeom prst="roundRect">
            <a:avLst>
              <a:gd name="adj" fmla="val 261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9488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KB</a:t>
            </a:r>
            <a:r>
              <a:rPr sz="2300" b="0" i="0">
                <a:solidFill>
                  <a:srgbClr val="1C252B"/>
                </a:solidFill>
                <a:latin typeface="Cambria"/>
              </a:rPr>
              <a:t> ⊨ α</a:t>
            </a:r>
            <a:r>
              <a:rPr sz="2300" b="0" i="0">
                <a:solidFill>
                  <a:srgbClr val="1C252B"/>
                </a:solidFill>
                <a:latin typeface="Segoe UI"/>
              </a:rPr>
              <a:t> — </a:t>
            </a:r>
            <a:r>
              <a:rPr sz="2300" b="1" i="0">
                <a:solidFill>
                  <a:srgbClr val="1A5276"/>
                </a:solidFill>
                <a:latin typeface="Segoe UI"/>
              </a:rPr>
              <a:t>entailment</a:t>
            </a:r>
            <a:r>
              <a:rPr sz="2300" b="0" i="0">
                <a:solidFill>
                  <a:srgbClr val="1C252B"/>
                </a:solidFill>
                <a:latin typeface="Segoe UI"/>
              </a:rPr>
              <a:t> — means </a:t>
            </a:r>
            <a:r>
              <a:rPr sz="2300" b="0" i="0">
                <a:solidFill>
                  <a:srgbClr val="1C252B"/>
                </a:solidFill>
                <a:latin typeface="Cambria"/>
              </a:rPr>
              <a:t>α</a:t>
            </a:r>
            <a:r>
              <a:rPr sz="2300" b="0" i="0">
                <a:solidFill>
                  <a:srgbClr val="1C252B"/>
                </a:solidFill>
                <a:latin typeface="Segoe UI"/>
              </a:rPr>
              <a:t> is true in </a:t>
            </a:r>
            <a:r>
              <a:rPr sz="2300" b="0" i="1">
                <a:solidFill>
                  <a:srgbClr val="1C252B"/>
                </a:solidFill>
                <a:latin typeface="Segoe UI"/>
              </a:rPr>
              <a:t>every</a:t>
            </a:r>
            <a:r>
              <a:rPr sz="2300" b="0" i="0">
                <a:solidFill>
                  <a:srgbClr val="1C252B"/>
                </a:solidFill>
                <a:latin typeface="Segoe UI"/>
              </a:rPr>
              <a:t> model in which </a:t>
            </a:r>
            <a:r>
              <a:rPr sz="2300" b="0" i="1">
                <a:solidFill>
                  <a:srgbClr val="1C252B"/>
                </a:solidFill>
                <a:latin typeface="Cambria"/>
              </a:rPr>
              <a:t>KB</a:t>
            </a:r>
            <a:r>
              <a:rPr sz="2300" b="0" i="0">
                <a:solidFill>
                  <a:srgbClr val="1C252B"/>
                </a:solidFill>
                <a:latin typeface="Segoe UI"/>
              </a:rPr>
              <a:t> is true. It is a statement about </a:t>
            </a:r>
            <a:r>
              <a:rPr sz="2300" b="0" i="1">
                <a:solidFill>
                  <a:srgbClr val="1C252B"/>
                </a:solidFill>
                <a:latin typeface="Segoe UI"/>
              </a:rPr>
              <a:t>meaning</a:t>
            </a:r>
            <a:r>
              <a:rPr sz="2300" b="0" i="0">
                <a:solidFill>
                  <a:srgbClr val="1C252B"/>
                </a:solidFill>
                <a:latin typeface="Segoe UI"/>
              </a:rPr>
              <a:t>, and it makes no reference to any algorithm.</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KB</a:t>
            </a:r>
            <a:r>
              <a:rPr sz="2300" b="0" i="0">
                <a:solidFill>
                  <a:srgbClr val="1C252B"/>
                </a:solidFill>
                <a:latin typeface="Cambria"/>
              </a:rPr>
              <a:t> ⊢</a:t>
            </a:r>
            <a:r>
              <a:rPr sz="1500" b="0" i="1" baseline="-25000">
                <a:solidFill>
                  <a:srgbClr val="1C252B"/>
                </a:solidFill>
                <a:latin typeface="Cambria"/>
              </a:rPr>
              <a:t>i</a:t>
            </a:r>
            <a:r>
              <a:rPr sz="2300" b="0" i="0">
                <a:solidFill>
                  <a:srgbClr val="1C252B"/>
                </a:solidFill>
                <a:latin typeface="Cambria"/>
              </a:rPr>
              <a:t> α</a:t>
            </a:r>
            <a:r>
              <a:rPr sz="2300" b="0" i="0">
                <a:solidFill>
                  <a:srgbClr val="1C252B"/>
                </a:solidFill>
                <a:latin typeface="Segoe UI"/>
              </a:rPr>
              <a:t> — </a:t>
            </a:r>
            <a:r>
              <a:rPr sz="2300" b="1" i="0">
                <a:solidFill>
                  <a:srgbClr val="1A5276"/>
                </a:solidFill>
                <a:latin typeface="Segoe UI"/>
              </a:rPr>
              <a:t>derivation</a:t>
            </a:r>
            <a:r>
              <a:rPr sz="2300" b="0" i="0">
                <a:solidFill>
                  <a:srgbClr val="1C252B"/>
                </a:solidFill>
                <a:latin typeface="Segoe UI"/>
              </a:rPr>
              <a:t> — means the inference procedure </a:t>
            </a:r>
            <a:r>
              <a:rPr sz="2300" b="0" i="1">
                <a:solidFill>
                  <a:srgbClr val="1C252B"/>
                </a:solidFill>
                <a:latin typeface="Cambria"/>
              </a:rPr>
              <a:t>i</a:t>
            </a:r>
            <a:r>
              <a:rPr sz="2300" b="0" i="0">
                <a:solidFill>
                  <a:srgbClr val="1C252B"/>
                </a:solidFill>
                <a:latin typeface="Segoe UI"/>
              </a:rPr>
              <a:t> can produce </a:t>
            </a:r>
            <a:r>
              <a:rPr sz="2300" b="0" i="0">
                <a:solidFill>
                  <a:srgbClr val="1C252B"/>
                </a:solidFill>
                <a:latin typeface="Cambria"/>
              </a:rPr>
              <a:t>α</a:t>
            </a:r>
            <a:r>
              <a:rPr sz="2300" b="0" i="0">
                <a:solidFill>
                  <a:srgbClr val="1C252B"/>
                </a:solidFill>
                <a:latin typeface="Segoe UI"/>
              </a:rPr>
              <a:t> from </a:t>
            </a:r>
            <a:r>
              <a:rPr sz="2300" b="0" i="1">
                <a:solidFill>
                  <a:srgbClr val="1C252B"/>
                </a:solidFill>
                <a:latin typeface="Cambria"/>
              </a:rPr>
              <a:t>KB</a:t>
            </a:r>
            <a:r>
              <a:rPr sz="2300" b="0" i="0">
                <a:solidFill>
                  <a:srgbClr val="1C252B"/>
                </a:solidFill>
                <a:latin typeface="Segoe UI"/>
              </a:rPr>
              <a:t>. It is a statement about </a:t>
            </a:r>
            <a:r>
              <a:rPr sz="2300" b="0" i="1">
                <a:solidFill>
                  <a:srgbClr val="1C252B"/>
                </a:solidFill>
                <a:latin typeface="Segoe UI"/>
              </a:rPr>
              <a:t>that procedure</a:t>
            </a:r>
            <a:r>
              <a:rPr sz="2300" b="0" i="0">
                <a:solidFill>
                  <a:srgbClr val="1C252B"/>
                </a:solidFill>
                <a:latin typeface="Segoe UI"/>
              </a:rPr>
              <a:t>.</a:t>
            </a:r>
          </a:p>
        </p:txBody>
      </p:sp>
      <p:sp>
        <p:nvSpPr>
          <p:cNvPr id="11" name="body-2"/>
          <p:cNvSpPr txBox="1"/>
          <p:nvPr/>
        </p:nvSpPr>
        <p:spPr>
          <a:xfrm>
            <a:off x="1060704" y="3827729"/>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procedure is </a:t>
            </a:r>
            <a:r>
              <a:rPr sz="2300" b="1" i="0">
                <a:solidFill>
                  <a:srgbClr val="1A5276"/>
                </a:solidFill>
                <a:latin typeface="Segoe UI"/>
              </a:rPr>
              <a:t>sound</a:t>
            </a:r>
            <a:r>
              <a:rPr sz="2300" b="0" i="0">
                <a:solidFill>
                  <a:srgbClr val="1C252B"/>
                </a:solidFill>
                <a:latin typeface="Segoe UI"/>
              </a:rPr>
              <a:t> if everything it derives is entailed (</a:t>
            </a:r>
            <a:r>
              <a:rPr sz="2300" b="0" i="0">
                <a:solidFill>
                  <a:srgbClr val="1C252B"/>
                </a:solidFill>
                <a:latin typeface="Cambria"/>
              </a:rPr>
              <a:t>⊢</a:t>
            </a:r>
            <a:r>
              <a:rPr sz="2300" b="0" i="0">
                <a:solidFill>
                  <a:srgbClr val="1C252B"/>
                </a:solidFill>
                <a:latin typeface="Segoe UI"/>
              </a:rPr>
              <a:t> implies </a:t>
            </a:r>
            <a:r>
              <a:rPr sz="2300" b="0" i="0">
                <a:solidFill>
                  <a:srgbClr val="1C252B"/>
                </a:solidFill>
                <a:latin typeface="Cambria"/>
              </a:rPr>
              <a:t>⊨</a:t>
            </a:r>
            <a:r>
              <a:rPr sz="2300" b="0" i="0">
                <a:solidFill>
                  <a:srgbClr val="1C252B"/>
                </a:solidFill>
                <a:latin typeface="Segoe UI"/>
              </a:rPr>
              <a:t>): it never lies. It is </a:t>
            </a:r>
            <a:r>
              <a:rPr sz="2300" b="1" i="0">
                <a:solidFill>
                  <a:srgbClr val="1A5276"/>
                </a:solidFill>
                <a:latin typeface="Segoe UI"/>
              </a:rPr>
              <a:t>complete</a:t>
            </a:r>
            <a:r>
              <a:rPr sz="2300" b="0" i="0">
                <a:solidFill>
                  <a:srgbClr val="1C252B"/>
                </a:solidFill>
                <a:latin typeface="Segoe UI"/>
              </a:rPr>
              <a:t> if everything entailed can be derived (</a:t>
            </a:r>
            <a:r>
              <a:rPr sz="2300" b="0" i="0">
                <a:solidFill>
                  <a:srgbClr val="1C252B"/>
                </a:solidFill>
                <a:latin typeface="Cambria"/>
              </a:rPr>
              <a:t>⊨</a:t>
            </a:r>
            <a:r>
              <a:rPr sz="2300" b="0" i="0">
                <a:solidFill>
                  <a:srgbClr val="1C252B"/>
                </a:solidFill>
                <a:latin typeface="Segoe UI"/>
              </a:rPr>
              <a:t> implies </a:t>
            </a:r>
            <a:r>
              <a:rPr sz="2300" b="0" i="0">
                <a:solidFill>
                  <a:srgbClr val="1C252B"/>
                </a:solidFill>
                <a:latin typeface="Cambria"/>
              </a:rPr>
              <a:t>⊢</a:t>
            </a:r>
            <a:r>
              <a:rPr sz="2300" b="0" i="0">
                <a:solidFill>
                  <a:srgbClr val="1C252B"/>
                </a:solidFill>
                <a:latin typeface="Segoe UI"/>
              </a:rPr>
              <a:t>): it never misses anything.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23514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Entailment as containment between sets of models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111     </a:t>
            </a:r>
            <a:fld id="{515AB2B9-077B-4B3B-B6A8-437E2B8270D1}" type="slidenum">
              <a:rPr lang="en-GB" sz="1000">
                <a:solidFill>
                  <a:srgbClr val="8795A1"/>
                </a:solidFill>
                <a:latin typeface="Segoe UI"/>
              </a:rPr>
              <a:t>12</a:t>
            </a:fld>
          </a:p>
        </p:txBody>
      </p:sp>
      <p:pic>
        <p:nvPicPr>
          <p:cNvPr id="6" name="!!figure" descr="Figure 11.1. Entailment as containment between sets of models. The picture is the definition; the algorithms in the rest of the chapter are three ways of checking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20454" y="1737360"/>
            <a:ext cx="9350785"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picture is the definition; the algorithms in the rest of the chapter are three ways of checking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Deciding It: Model Checking</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112     </a:t>
            </a:r>
            <a:fld id="{3CF0ADCF-44D7-4EAB-9070-7AC9D0FA9BD4}" type="slidenum">
              <a:rPr lang="en-GB" sz="1000">
                <a:solidFill>
                  <a:srgbClr val="8795A1"/>
                </a:solidFill>
                <a:latin typeface="Segoe UI"/>
              </a:rPr>
              <a:t>13</a:t>
            </a:fld>
          </a:p>
        </p:txBody>
      </p:sp>
      <p:sp>
        <p:nvSpPr>
          <p:cNvPr id="7" name="!!stbar">
            <a:extLst>
              <a:ext uri="{C183D7F6-B498-43B3-948B-1728B52AA6E4}">
                <adec:decorative xmlns:adec="http://schemas.microsoft.com/office/drawing/2017/decorative" val="1"/>
              </a:ext>
            </a:extLst>
          </p:cNvPr>
          <p:cNvSpPr/>
          <p:nvPr/>
        </p:nvSpPr>
        <p:spPr>
          <a:xfrm>
            <a:off x="658368" y="1810512"/>
            <a:ext cx="73152" cy="423729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definition is directly executable: enumerate all </a:t>
            </a:r>
            <a:r>
              <a:rPr sz="2100" b="0" i="0">
                <a:solidFill>
                  <a:srgbClr val="1C252B"/>
                </a:solidFill>
                <a:latin typeface="Cambria"/>
              </a:rPr>
              <a:t>2</a:t>
            </a:r>
            <a:r>
              <a:rPr sz="1400" b="0" i="1" baseline="30000">
                <a:solidFill>
                  <a:srgbClr val="1C252B"/>
                </a:solidFill>
                <a:latin typeface="Cambria"/>
              </a:rPr>
              <a:t>n</a:t>
            </a:r>
            <a:r>
              <a:rPr sz="2100" b="0" i="0">
                <a:solidFill>
                  <a:srgbClr val="1C252B"/>
                </a:solidFill>
                <a:latin typeface="Segoe UI"/>
              </a:rPr>
              <a:t> models, keep those satisfying every sentence of the knowledge base, and check whether the query is true in all of them.</a:t>
            </a:r>
          </a:p>
        </p:txBody>
      </p:sp>
      <p:sp>
        <p:nvSpPr>
          <p:cNvPr id="9" name="body-1"/>
          <p:cNvSpPr txBox="1"/>
          <p:nvPr/>
        </p:nvSpPr>
        <p:spPr>
          <a:xfrm>
            <a:off x="1042415" y="2937433"/>
            <a:ext cx="1041775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On the release gate this is decisive. Of </a:t>
            </a:r>
            <a:r>
              <a:rPr sz="2100" b="0" i="0">
                <a:solidFill>
                  <a:srgbClr val="1C252B"/>
                </a:solidFill>
                <a:latin typeface="Cambria"/>
              </a:rPr>
              <a:t>64</a:t>
            </a:r>
            <a:r>
              <a:rPr sz="2100" b="0" i="0">
                <a:solidFill>
                  <a:srgbClr val="1C252B"/>
                </a:solidFill>
                <a:latin typeface="Segoe UI"/>
              </a:rPr>
              <a:t> models, exactly </a:t>
            </a:r>
            <a:r>
              <a:rPr sz="2100" b="1" i="0">
                <a:solidFill>
                  <a:srgbClr val="1C252B"/>
                </a:solidFill>
                <a:latin typeface="Segoe UI"/>
              </a:rPr>
              <a:t>one</a:t>
            </a:r>
            <a:r>
              <a:rPr sz="2100" b="0" i="0">
                <a:solidFill>
                  <a:srgbClr val="1C252B"/>
                </a:solidFill>
                <a:latin typeface="Segoe UI"/>
              </a:rPr>
              <a:t> satisfies the knowledge base:</a:t>
            </a:r>
          </a:p>
        </p:txBody>
      </p:sp>
      <p:pic>
        <p:nvPicPr>
          <p:cNvPr id="10" name="body-2" descr="\mathit{Reviewed} = \mathit{Tested} = \mathit{SignedOff} = \mathit{Staged} = \mathit{Deploy} = \text{T}, \qquad \mathit{Blocker} = \text{F}"/>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5" y="3749802"/>
            <a:ext cx="10417759" cy="358719"/>
          </a:xfrm>
          <a:prstGeom prst="rect">
            <a:avLst/>
          </a:prstGeom>
        </p:spPr>
      </p:pic>
      <p:sp>
        <p:nvSpPr>
          <p:cNvPr id="11" name="body-3"/>
          <p:cNvSpPr txBox="1"/>
          <p:nvPr/>
        </p:nvSpPr>
        <p:spPr>
          <a:xfrm>
            <a:off x="1042415" y="4255206"/>
            <a:ext cx="1041775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and </a:t>
            </a:r>
            <a:r>
              <a:rPr sz="2100" b="0" i="1">
                <a:solidFill>
                  <a:srgbClr val="1C252B"/>
                </a:solidFill>
                <a:latin typeface="Cambria"/>
              </a:rPr>
              <a:t>Deploy</a:t>
            </a:r>
            <a:r>
              <a:rPr sz="2100" b="0" i="0">
                <a:solidFill>
                  <a:srgbClr val="1C252B"/>
                </a:solidFill>
                <a:latin typeface="Segoe UI"/>
              </a:rPr>
              <a:t> is true in it. So </a:t>
            </a:r>
            <a:r>
              <a:rPr sz="2100" b="0" i="1">
                <a:solidFill>
                  <a:srgbClr val="1C252B"/>
                </a:solidFill>
                <a:latin typeface="Cambria"/>
              </a:rPr>
              <a:t>KB</a:t>
            </a:r>
            <a:r>
              <a:rPr sz="2100" b="0" i="0">
                <a:solidFill>
                  <a:srgbClr val="1C252B"/>
                </a:solidFill>
                <a:latin typeface="Cambria"/>
              </a:rPr>
              <a:t> ⊨ </a:t>
            </a:r>
            <a:r>
              <a:rPr sz="2100" b="0" i="1">
                <a:solidFill>
                  <a:srgbClr val="1C252B"/>
                </a:solidFill>
                <a:latin typeface="Cambria"/>
              </a:rPr>
              <a:t>Deploy</a:t>
            </a:r>
            <a:r>
              <a:rPr sz="2100" b="0" i="0">
                <a:solidFill>
                  <a:srgbClr val="1C252B"/>
                </a:solidFill>
                <a:latin typeface="Segoe UI"/>
              </a:rPr>
              <a:t>: the release may go out, and the argument is over.</a:t>
            </a:r>
          </a:p>
        </p:txBody>
      </p:sp>
      <p:sp>
        <p:nvSpPr>
          <p:cNvPr id="12" name="body-4"/>
          <p:cNvSpPr txBox="1"/>
          <p:nvPr/>
        </p:nvSpPr>
        <p:spPr>
          <a:xfrm>
            <a:off x="1042415" y="5067574"/>
            <a:ext cx="1041775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Model checking is sound, complete, and trivially correct — and it is </a:t>
            </a:r>
            <a:r>
              <a:rPr sz="2100" b="0" i="1">
                <a:solidFill>
                  <a:srgbClr val="1C252B"/>
                </a:solidFill>
                <a:latin typeface="Cambria"/>
              </a:rPr>
              <a:t>O</a:t>
            </a:r>
            <a:r>
              <a:rPr sz="2100" b="0" i="0">
                <a:solidFill>
                  <a:srgbClr val="1C252B"/>
                </a:solidFill>
                <a:latin typeface="Cambria"/>
              </a:rPr>
              <a:t>(2</a:t>
            </a:r>
            <a:r>
              <a:rPr sz="1400" b="0" i="1" baseline="30000">
                <a:solidFill>
                  <a:srgbClr val="1C252B"/>
                </a:solidFill>
                <a:latin typeface="Cambria"/>
              </a:rPr>
              <a:t>n</a:t>
            </a:r>
            <a:r>
              <a:rPr sz="2100" b="0" i="0">
                <a:solidFill>
                  <a:srgbClr val="1C252B"/>
                </a:solidFill>
                <a:latin typeface="Cambria"/>
              </a:rPr>
              <a:t>)</a:t>
            </a:r>
            <a:r>
              <a:rPr sz="2100" b="0" i="0">
                <a:solidFill>
                  <a:srgbClr val="1C252B"/>
                </a:solidFill>
                <a:latin typeface="Segoe UI"/>
              </a:rPr>
              <a:t>. Six symbols is </a:t>
            </a:r>
            <a:r>
              <a:rPr sz="2100" b="0" i="0">
                <a:solidFill>
                  <a:srgbClr val="1C252B"/>
                </a:solidFill>
                <a:latin typeface="Cambria"/>
              </a:rPr>
              <a:t>64</a:t>
            </a:r>
            <a:r>
              <a:rPr sz="2100" b="0" i="0">
                <a:solidFill>
                  <a:srgbClr val="1C252B"/>
                </a:solidFill>
                <a:latin typeface="Segoe UI"/>
              </a:rPr>
              <a:t>; a realistic gate with forty conditions is </a:t>
            </a:r>
            <a:r>
              <a:rPr sz="2100" b="0" i="0">
                <a:solidFill>
                  <a:srgbClr val="1C252B"/>
                </a:solidFill>
                <a:latin typeface="Cambria"/>
              </a:rPr>
              <a:t>10</a:t>
            </a:r>
            <a:r>
              <a:rPr sz="1400" b="0" i="0" baseline="30000">
                <a:solidFill>
                  <a:srgbClr val="1C252B"/>
                </a:solidFill>
                <a:latin typeface="Cambria"/>
              </a:rPr>
              <a:t>12</a:t>
            </a:r>
            <a:r>
              <a:rPr sz="2100" b="0" i="0">
                <a:solidFill>
                  <a:srgbClr val="1C252B"/>
                </a:solidFill>
                <a:latin typeface="Segoe UI"/>
              </a:rPr>
              <a:t>. It is the definition made executable, not a usable algorithm.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6415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Deciding It Better: DPLL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5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The Release Gate, Written Down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Syntax, Semantics and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Entailment and Derivation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Deciding It: Model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11.5   Deciding It Better: DPLL</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11.6   Conjunctive Normal Form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Resolution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11.8   When the Answer Is No</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§11.5     </a:t>
            </a:r>
            <a:fld id="{922ADE39-0625-48DF-A3C6-CB6E1E9CBA4D}" type="slidenum">
              <a:rPr lang="en-GB" sz="1000">
                <a:solidFill>
                  <a:srgbClr val="8795A1"/>
                </a:solidFill>
                <a:latin typeface="Segoe UI"/>
              </a:rPr>
              <a:t>14</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284472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DPLL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112     </a:t>
            </a:r>
            <a:fld id="{D5540F51-17D2-48D6-AA0E-F1A52DF40C1F}"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37431"/>
          </a:xfrm>
          <a:prstGeom prst="roundRect">
            <a:avLst>
              <a:gd name="adj" fmla="val 221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3743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Work on the knowledge base in </a:t>
            </a:r>
            <a:r>
              <a:rPr sz="2100" b="1" i="0">
                <a:solidFill>
                  <a:srgbClr val="1A5276"/>
                </a:solidFill>
                <a:latin typeface="Segoe UI"/>
              </a:rPr>
              <a:t>conjunctive normal form</a:t>
            </a:r>
            <a:r>
              <a:rPr sz="2100" b="0" i="0">
                <a:solidFill>
                  <a:srgbClr val="1C252B"/>
                </a:solidFill>
                <a:latin typeface="Segoe UI"/>
              </a:rPr>
              <a:t>: a conjunction of </a:t>
            </a:r>
            <a:r>
              <a:rPr sz="2100" b="1" i="0">
                <a:solidFill>
                  <a:srgbClr val="1A5276"/>
                </a:solidFill>
                <a:latin typeface="Segoe UI"/>
              </a:rPr>
              <a:t>clauses</a:t>
            </a:r>
            <a:r>
              <a:rPr sz="2100" b="0" i="0">
                <a:solidFill>
                  <a:srgbClr val="1C252B"/>
                </a:solidFill>
                <a:latin typeface="Segoe UI"/>
              </a:rPr>
              <a:t>, each a disjunction of </a:t>
            </a:r>
            <a:r>
              <a:rPr sz="2100" b="1" i="0">
                <a:solidFill>
                  <a:srgbClr val="1A5276"/>
                </a:solidFill>
                <a:latin typeface="Segoe UI"/>
              </a:rPr>
              <a:t>literals</a:t>
            </a:r>
            <a:r>
              <a:rPr sz="2100" b="0" i="0">
                <a:solidFill>
                  <a:srgbClr val="1C252B"/>
                </a:solidFill>
                <a:latin typeface="Segoe UI"/>
              </a:rPr>
              <a:t>. To test satisfiability:</a:t>
            </a:r>
          </a:p>
        </p:txBody>
      </p:sp>
      <p:sp>
        <p:nvSpPr>
          <p:cNvPr id="10" name="body-1"/>
          <p:cNvSpPr txBox="1"/>
          <p:nvPr/>
        </p:nvSpPr>
        <p:spPr>
          <a:xfrm>
            <a:off x="1060704" y="2860624"/>
            <a:ext cx="10161727" cy="274899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8A4500"/>
                </a:solidFill>
                <a:latin typeface="Segoe UI"/>
              </a:rPr>
              <a:t>•	</a:t>
            </a:r>
            <a:r>
              <a:rPr sz="2100" b="0" i="0">
                <a:solidFill>
                  <a:srgbClr val="1C252B"/>
                </a:solidFill>
                <a:latin typeface="Segoe UI"/>
              </a:rPr>
              <a:t>If there are no clauses left, the assignment satisfies everything: report </a:t>
            </a:r>
            <a:r>
              <a:rPr sz="2100" b="0" i="1">
                <a:solidFill>
                  <a:srgbClr val="1C252B"/>
                </a:solidFill>
                <a:latin typeface="Segoe UI"/>
              </a:rPr>
              <a:t>satisfiable</a:t>
            </a:r>
            <a:r>
              <a:rPr sz="2100" b="0" i="0">
                <a:solidFill>
                  <a:srgbClr val="1C252B"/>
                </a:solidFill>
                <a:latin typeface="Segoe UI"/>
              </a:rPr>
              <a:t>.</a:t>
            </a:r>
          </a:p>
          <a:p>
            <a:pPr algn="l" marL="234813" indent="-234813">
              <a:lnSpc>
                <a:spcPct val="104000"/>
              </a:lnSpc>
              <a:spcBef>
                <a:spcPts val="0"/>
              </a:spcBef>
              <a:spcAft>
                <a:spcPts val="735"/>
              </a:spcAft>
            </a:pPr>
            <a:r>
              <a:rPr sz="2100" b="1">
                <a:solidFill>
                  <a:srgbClr val="8A4500"/>
                </a:solidFill>
                <a:latin typeface="Segoe UI"/>
              </a:rPr>
              <a:t>•	</a:t>
            </a:r>
            <a:r>
              <a:rPr sz="2100" b="0" i="0">
                <a:solidFill>
                  <a:srgbClr val="1C252B"/>
                </a:solidFill>
                <a:latin typeface="Segoe UI"/>
              </a:rPr>
              <a:t>If any clause is empty, it cannot be satisfied: backtrack.</a:t>
            </a:r>
          </a:p>
          <a:p>
            <a:pPr algn="l" marL="234813" indent="-234813">
              <a:lnSpc>
                <a:spcPct val="104000"/>
              </a:lnSpc>
              <a:spcBef>
                <a:spcPts val="0"/>
              </a:spcBef>
              <a:spcAft>
                <a:spcPts val="735"/>
              </a:spcAft>
            </a:pPr>
            <a:r>
              <a:rPr sz="2100" b="1">
                <a:solidFill>
                  <a:srgbClr val="8A4500"/>
                </a:solidFill>
                <a:latin typeface="Segoe UI"/>
              </a:rPr>
              <a:t>•	</a:t>
            </a:r>
            <a:r>
              <a:rPr sz="2100" b="1" i="0">
                <a:solidFill>
                  <a:srgbClr val="1A5276"/>
                </a:solidFill>
                <a:latin typeface="Segoe UI"/>
              </a:rPr>
              <a:t>Unit propagation</a:t>
            </a:r>
            <a:r>
              <a:rPr sz="2100" b="0" i="0">
                <a:solidFill>
                  <a:srgbClr val="1C252B"/>
                </a:solidFill>
                <a:latin typeface="Segoe UI"/>
              </a:rPr>
              <a:t>: if a clause has one literal left, that literal </a:t>
            </a:r>
            <a:r>
              <a:rPr sz="2100" b="0" i="1">
                <a:solidFill>
                  <a:srgbClr val="1C252B"/>
                </a:solidFill>
                <a:latin typeface="Segoe UI"/>
              </a:rPr>
              <a:t>must</a:t>
            </a:r>
            <a:r>
              <a:rPr sz="2100" b="0" i="0">
                <a:solidFill>
                  <a:srgbClr val="1C252B"/>
                </a:solidFill>
                <a:latin typeface="Segoe UI"/>
              </a:rPr>
              <a:t> be true. Assign it and simplify.</a:t>
            </a:r>
          </a:p>
          <a:p>
            <a:pPr algn="l" marL="234813" indent="-234813">
              <a:lnSpc>
                <a:spcPct val="104000"/>
              </a:lnSpc>
              <a:spcBef>
                <a:spcPts val="0"/>
              </a:spcBef>
              <a:spcAft>
                <a:spcPts val="735"/>
              </a:spcAft>
            </a:pPr>
            <a:r>
              <a:rPr sz="2100" b="1">
                <a:solidFill>
                  <a:srgbClr val="8A4500"/>
                </a:solidFill>
                <a:latin typeface="Segoe UI"/>
              </a:rPr>
              <a:t>•	</a:t>
            </a:r>
            <a:r>
              <a:rPr sz="2100" b="1" i="0">
                <a:solidFill>
                  <a:srgbClr val="1A5276"/>
                </a:solidFill>
                <a:latin typeface="Segoe UI"/>
              </a:rPr>
              <a:t>Pure literal</a:t>
            </a:r>
            <a:r>
              <a:rPr sz="2100" b="0" i="0">
                <a:solidFill>
                  <a:srgbClr val="1C252B"/>
                </a:solidFill>
                <a:latin typeface="Segoe UI"/>
              </a:rPr>
              <a:t>: if a symbol appears with only one sign anywhere, assign it that way; it can never help to do otherwise.</a:t>
            </a:r>
          </a:p>
          <a:p>
            <a:pPr algn="l" marL="234813" indent="-234813">
              <a:lnSpc>
                <a:spcPct val="104000"/>
              </a:lnSpc>
              <a:spcBef>
                <a:spcPts val="0"/>
              </a:spcBef>
              <a:spcAft>
                <a:spcPts val="0"/>
              </a:spcAft>
            </a:pPr>
            <a:r>
              <a:rPr sz="2100" b="1">
                <a:solidFill>
                  <a:srgbClr val="8A4500"/>
                </a:solidFill>
                <a:latin typeface="Segoe UI"/>
              </a:rPr>
              <a:t>•	</a:t>
            </a:r>
            <a:r>
              <a:rPr sz="2100" b="0" i="0">
                <a:solidFill>
                  <a:srgbClr val="1C252B"/>
                </a:solidFill>
                <a:latin typeface="Segoe UI"/>
              </a:rPr>
              <a:t>Otherwise pick a symbol and try both values.</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38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Deciding It Better: DPLL</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112     </a:t>
            </a:r>
            <a:fld id="{AD3B4347-60B5-4B79-8E15-4E06865AD803}"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04354"/>
          </a:xfrm>
          <a:prstGeom prst="roundRect">
            <a:avLst>
              <a:gd name="adj" fmla="val 480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0435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decide entailment with a satisfiability test, use the equivalence that underlies every refutation proof in this part:</a:t>
            </a:r>
          </a:p>
        </p:txBody>
      </p:sp>
      <p:pic>
        <p:nvPicPr>
          <p:cNvPr id="10" name="body-1" descr="\mathit{KB} \models \alpha \quad\text{if and only if}\quad (\mathit{KB} \wedge \neg\alpha) \text{ is unsatisfiabl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DPLL deciding the release gate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112     </a:t>
            </a:r>
            <a:fld id="{B15F6AB7-6189-4236-B9E4-AD67E96C7983}" type="slidenum">
              <a:rPr lang="en-GB" sz="1000">
                <a:solidFill>
                  <a:srgbClr val="8795A1"/>
                </a:solidFill>
                <a:latin typeface="Segoe UI"/>
              </a:rPr>
              <a:t>17</a:t>
            </a:fld>
          </a:p>
        </p:txBody>
      </p:sp>
      <p:pic>
        <p:nvPicPr>
          <p:cNvPr id="6" name="!!figure" descr="Figure 11.2. DPLL deciding the release gate. Unit propagation cascades from the four given facts and closes the question without a single branc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11069" y="1737360"/>
            <a:ext cx="696955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Unit propagation cascades from the four given facts and closes the question without a single branch.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45431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Conjunctive Normal Form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6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The Release Gate, Written Down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Syntax, Semantics and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Entailment and Derivation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Deciding It: Model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Deciding It Better: DPLL</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11.6   Conjunctive Normal Form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Resolution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11.8   When the Answer Is No</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§11.6     </a:t>
            </a:r>
            <a:fld id="{B6E5104B-D732-4FF8-A8E3-FF127A3981ED}" type="slidenum">
              <a:rPr lang="en-GB" sz="1000">
                <a:solidFill>
                  <a:srgbClr val="8795A1"/>
                </a:solidFill>
                <a:latin typeface="Segoe UI"/>
              </a:rPr>
              <a:t>18</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Conjunctive Normal Form</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§11.6  ·  Handout p. 113     </a:t>
            </a:r>
            <a:fld id="{91C99465-9D7A-49FC-8D6F-C8DC43F805B9}"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0937"/>
          </a:xfrm>
          <a:prstGeom prst="roundRect">
            <a:avLst>
              <a:gd name="adj" fmla="val 251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093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DPLL and resolution both need CNF. Every propositional sentence has an equivalent one, obtained mechanically:</a:t>
            </a:r>
          </a:p>
        </p:txBody>
      </p:sp>
      <p:sp>
        <p:nvSpPr>
          <p:cNvPr id="10" name="body-1"/>
          <p:cNvSpPr txBox="1"/>
          <p:nvPr/>
        </p:nvSpPr>
        <p:spPr>
          <a:xfrm>
            <a:off x="1060704" y="2937992"/>
            <a:ext cx="10161727" cy="2175128"/>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1A5276"/>
                </a:solidFill>
                <a:latin typeface="Segoe UI"/>
              </a:rPr>
              <a:t>1.	</a:t>
            </a:r>
            <a:r>
              <a:rPr sz="2300" b="0" i="0">
                <a:solidFill>
                  <a:srgbClr val="1C252B"/>
                </a:solidFill>
                <a:latin typeface="Segoe UI"/>
              </a:rPr>
              <a:t>Eliminate </a:t>
            </a:r>
            <a:r>
              <a:rPr sz="2300" b="0" i="0">
                <a:solidFill>
                  <a:srgbClr val="1C252B"/>
                </a:solidFill>
                <a:latin typeface="Cambria"/>
              </a:rPr>
              <a:t>⇔</a:t>
            </a:r>
            <a:r>
              <a:rPr sz="2300" b="0" i="0">
                <a:solidFill>
                  <a:srgbClr val="1C252B"/>
                </a:solidFill>
                <a:latin typeface="Segoe UI"/>
              </a:rPr>
              <a:t>: replace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Segoe UI"/>
              </a:rPr>
              <a:t> with </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Cambria"/>
              </a:rPr>
              <a:t> ⇒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a:t>
            </a:r>
          </a:p>
          <a:p>
            <a:pPr algn="l" marL="554820" indent="-554820">
              <a:lnSpc>
                <a:spcPct val="104000"/>
              </a:lnSpc>
              <a:spcBef>
                <a:spcPts val="0"/>
              </a:spcBef>
              <a:spcAft>
                <a:spcPts val="804"/>
              </a:spcAft>
            </a:pPr>
            <a:r>
              <a:rPr sz="2300" b="1">
                <a:solidFill>
                  <a:srgbClr val="1A5276"/>
                </a:solidFill>
                <a:latin typeface="Segoe UI"/>
              </a:rPr>
              <a:t>2.	</a:t>
            </a:r>
            <a:r>
              <a:rPr sz="2300" b="0" i="0">
                <a:solidFill>
                  <a:srgbClr val="1C252B"/>
                </a:solidFill>
                <a:latin typeface="Segoe UI"/>
              </a:rPr>
              <a:t>Eliminate </a:t>
            </a:r>
            <a:r>
              <a:rPr sz="2300" b="0" i="0">
                <a:solidFill>
                  <a:srgbClr val="1C252B"/>
                </a:solidFill>
                <a:latin typeface="Cambria"/>
              </a:rPr>
              <a:t>⇒</a:t>
            </a:r>
            <a:r>
              <a:rPr sz="2300" b="0" i="0">
                <a:solidFill>
                  <a:srgbClr val="1C252B"/>
                </a:solidFill>
                <a:latin typeface="Segoe UI"/>
              </a:rPr>
              <a:t>: replace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Segoe UI"/>
              </a:rPr>
              <a:t> with </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Segoe UI"/>
              </a:rPr>
              <a:t>.</a:t>
            </a:r>
          </a:p>
          <a:p>
            <a:pPr algn="l" marL="554820" indent="-554820">
              <a:lnSpc>
                <a:spcPct val="104000"/>
              </a:lnSpc>
              <a:spcBef>
                <a:spcPts val="0"/>
              </a:spcBef>
              <a:spcAft>
                <a:spcPts val="804"/>
              </a:spcAft>
            </a:pPr>
            <a:r>
              <a:rPr sz="2300" b="1">
                <a:solidFill>
                  <a:srgbClr val="1A5276"/>
                </a:solidFill>
                <a:latin typeface="Segoe UI"/>
              </a:rPr>
              <a:t>3.	</a:t>
            </a:r>
            <a:r>
              <a:rPr sz="2300" b="0" i="0">
                <a:solidFill>
                  <a:srgbClr val="1C252B"/>
                </a:solidFill>
                <a:latin typeface="Segoe UI"/>
              </a:rPr>
              <a:t>Drive </a:t>
            </a:r>
            <a:r>
              <a:rPr sz="2300" b="0" i="0">
                <a:solidFill>
                  <a:srgbClr val="1C252B"/>
                </a:solidFill>
                <a:latin typeface="Cambria"/>
              </a:rPr>
              <a:t>¬</a:t>
            </a:r>
            <a:r>
              <a:rPr sz="2300" b="0" i="0">
                <a:solidFill>
                  <a:srgbClr val="1C252B"/>
                </a:solidFill>
                <a:latin typeface="Segoe UI"/>
              </a:rPr>
              <a:t> inwards by De Morgan: </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Cambria"/>
              </a:rPr>
              <a:t>) ≡ ¬ </a:t>
            </a:r>
            <a:r>
              <a:rPr sz="2300" b="0" i="1">
                <a:solidFill>
                  <a:srgbClr val="1C252B"/>
                </a:solidFill>
                <a:latin typeface="Cambria"/>
              </a:rPr>
              <a:t>a</a:t>
            </a:r>
            <a:r>
              <a:rPr sz="2300" b="0" i="0">
                <a:solidFill>
                  <a:srgbClr val="1C252B"/>
                </a:solidFill>
                <a:latin typeface="Cambria"/>
              </a:rPr>
              <a:t> ∨ ¬ </a:t>
            </a:r>
            <a:r>
              <a:rPr sz="2300" b="0" i="1">
                <a:solidFill>
                  <a:srgbClr val="1C252B"/>
                </a:solidFill>
                <a:latin typeface="Cambria"/>
              </a:rPr>
              <a:t>b</a:t>
            </a:r>
            <a:r>
              <a:rPr sz="2300" b="0" i="0">
                <a:solidFill>
                  <a:srgbClr val="1C252B"/>
                </a:solidFill>
                <a:latin typeface="Segoe UI"/>
              </a:rPr>
              <a:t>, and </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Cambria"/>
              </a:rPr>
              <a:t>) ≡ ¬ </a:t>
            </a:r>
            <a:r>
              <a:rPr sz="2300" b="0" i="1">
                <a:solidFill>
                  <a:srgbClr val="1C252B"/>
                </a:solidFill>
                <a:latin typeface="Cambria"/>
              </a:rPr>
              <a:t>a</a:t>
            </a:r>
            <a:r>
              <a:rPr sz="2300" b="0" i="0">
                <a:solidFill>
                  <a:srgbClr val="1C252B"/>
                </a:solidFill>
                <a:latin typeface="Cambria"/>
              </a:rPr>
              <a:t> ∧ ¬ </a:t>
            </a:r>
            <a:r>
              <a:rPr sz="2300" b="0" i="1">
                <a:solidFill>
                  <a:srgbClr val="1C252B"/>
                </a:solidFill>
                <a:latin typeface="Cambria"/>
              </a:rPr>
              <a:t>b</a:t>
            </a:r>
            <a:r>
              <a:rPr sz="2300" b="0" i="0">
                <a:solidFill>
                  <a:srgbClr val="1C252B"/>
                </a:solidFill>
                <a:latin typeface="Segoe UI"/>
              </a:rPr>
              <a:t>; remove double negations.</a:t>
            </a:r>
          </a:p>
          <a:p>
            <a:pPr algn="l" marL="554820" indent="-554820">
              <a:lnSpc>
                <a:spcPct val="104000"/>
              </a:lnSpc>
              <a:spcBef>
                <a:spcPts val="0"/>
              </a:spcBef>
              <a:spcAft>
                <a:spcPts val="0"/>
              </a:spcAft>
            </a:pPr>
            <a:r>
              <a:rPr sz="2300" b="1">
                <a:solidFill>
                  <a:srgbClr val="1A5276"/>
                </a:solidFill>
                <a:latin typeface="Segoe UI"/>
              </a:rPr>
              <a:t>4.	</a:t>
            </a:r>
            <a:r>
              <a:rPr sz="2300" b="0" i="0">
                <a:solidFill>
                  <a:srgbClr val="1C252B"/>
                </a:solidFill>
                <a:latin typeface="Segoe UI"/>
              </a:rPr>
              <a:t>Distribute </a:t>
            </a:r>
            <a:r>
              <a:rPr sz="2300" b="0" i="0">
                <a:solidFill>
                  <a:srgbClr val="1C252B"/>
                </a:solidFill>
                <a:latin typeface="Cambria"/>
              </a:rPr>
              <a:t>∨</a:t>
            </a:r>
            <a:r>
              <a:rPr sz="2300" b="0" i="0">
                <a:solidFill>
                  <a:srgbClr val="1C252B"/>
                </a:solidFill>
                <a:latin typeface="Segoe UI"/>
              </a:rPr>
              <a:t> over </a:t>
            </a:r>
            <a:r>
              <a:rPr sz="2300" b="0" i="0">
                <a:solidFill>
                  <a:srgbClr val="1C252B"/>
                </a:solidFill>
                <a:latin typeface="Cambria"/>
              </a:rPr>
              <a:t>∧</a:t>
            </a:r>
            <a:r>
              <a:rPr sz="2300" b="0" i="0">
                <a:solidFill>
                  <a:srgbClr val="1C252B"/>
                </a:solidFill>
                <a:latin typeface="Segoe UI"/>
              </a:rPr>
              <a: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38607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Conjunctive Normal Form</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§11.6  ·  Handout p. 113     </a:t>
            </a:r>
            <a:fld id="{0546514D-1C39-4586-9312-AF7917FC2534}" type="slidenum">
              <a:rPr lang="en-GB" sz="1000">
                <a:solidFill>
                  <a:srgbClr val="8795A1"/>
                </a:solidFill>
                <a:latin typeface="Segoe UI"/>
              </a:rPr>
              <a:t>20</a:t>
            </a:fld>
          </a:p>
        </p:txBody>
      </p:sp>
      <p:graphicFrame>
        <p:nvGraphicFramePr>
          <p:cNvPr id="7" name="!!table"/>
          <p:cNvGraphicFramePr>
            <a:graphicFrameLocks noGrp="1"/>
          </p:cNvGraphicFramePr>
          <p:nvPr/>
        </p:nvGraphicFramePr>
        <p:xfrm>
          <a:off x="658368" y="1737360"/>
          <a:ext cx="6891462" cy="1621536"/>
        </p:xfrm>
        <a:graphic>
          <a:graphicData uri="http://schemas.openxmlformats.org/drawingml/2006/table">
            <a:tbl>
              <a:tblPr firstRow="0" bandRow="0" firstCol="0" lastRow="0" lastCol="0" bandCol="0">
                <a:tableStyleId>{2D5ABB26-0587-4C30-8999-92F81FD0307C}</a:tableStyleId>
              </a:tblPr>
              <a:tblGrid>
                <a:gridCol w="530352"/>
                <a:gridCol w="2909820"/>
                <a:gridCol w="3451290"/>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Sentence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Clause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R1</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Reviewed</a:t>
                      </a:r>
                      <a:r>
                        <a:rPr sz="1700" b="0" i="0">
                          <a:solidFill>
                            <a:srgbClr val="1C252B"/>
                          </a:solidFill>
                          <a:latin typeface="Cambria"/>
                        </a:rPr>
                        <a:t> ∧ </a:t>
                      </a:r>
                      <a:r>
                        <a:rPr sz="1700" b="0" i="1">
                          <a:solidFill>
                            <a:srgbClr val="1C252B"/>
                          </a:solidFill>
                          <a:latin typeface="Cambria"/>
                        </a:rPr>
                        <a:t>Tested</a:t>
                      </a:r>
                      <a:r>
                        <a:rPr sz="1700" b="0" i="0">
                          <a:solidFill>
                            <a:srgbClr val="1C252B"/>
                          </a:solidFill>
                          <a:latin typeface="Cambria"/>
                        </a:rPr>
                        <a:t> ⇒ </a:t>
                      </a:r>
                      <a:r>
                        <a:rPr sz="1700" b="0" i="1">
                          <a:solidFill>
                            <a:srgbClr val="1C252B"/>
                          </a:solidFill>
                          <a:latin typeface="Cambria"/>
                        </a:rPr>
                        <a:t>Staged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Cambria"/>
                        </a:rPr>
                        <a:t>¬ </a:t>
                      </a:r>
                      <a:r>
                        <a:rPr sz="1700" b="0" i="1">
                          <a:solidFill>
                            <a:srgbClr val="1C252B"/>
                          </a:solidFill>
                          <a:latin typeface="Cambria"/>
                        </a:rPr>
                        <a:t>Reviewed</a:t>
                      </a:r>
                      <a:r>
                        <a:rPr sz="1700" b="0" i="0">
                          <a:solidFill>
                            <a:srgbClr val="1C252B"/>
                          </a:solidFill>
                          <a:latin typeface="Cambria"/>
                        </a:rPr>
                        <a:t> ∨ ¬ </a:t>
                      </a:r>
                      <a:r>
                        <a:rPr sz="1700" b="0" i="1">
                          <a:solidFill>
                            <a:srgbClr val="1C252B"/>
                          </a:solidFill>
                          <a:latin typeface="Cambria"/>
                        </a:rPr>
                        <a:t>Tested</a:t>
                      </a:r>
                      <a:r>
                        <a:rPr sz="1700" b="0" i="0">
                          <a:solidFill>
                            <a:srgbClr val="1C252B"/>
                          </a:solidFill>
                          <a:latin typeface="Cambria"/>
                        </a:rPr>
                        <a:t> ∨ </a:t>
                      </a:r>
                      <a:r>
                        <a:rPr sz="1700" b="0" i="1">
                          <a:solidFill>
                            <a:srgbClr val="1C252B"/>
                          </a:solidFill>
                          <a:latin typeface="Cambria"/>
                        </a:rPr>
                        <a:t>Staged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R2</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1">
                          <a:solidFill>
                            <a:srgbClr val="1C252B"/>
                          </a:solidFill>
                          <a:latin typeface="Cambria"/>
                        </a:rPr>
                        <a:t>Staged</a:t>
                      </a:r>
                      <a:r>
                        <a:rPr sz="1700" b="0" i="0">
                          <a:solidFill>
                            <a:srgbClr val="1C252B"/>
                          </a:solidFill>
                          <a:latin typeface="Cambria"/>
                        </a:rPr>
                        <a:t> ∧ </a:t>
                      </a:r>
                      <a:r>
                        <a:rPr sz="1700" b="0" i="1">
                          <a:solidFill>
                            <a:srgbClr val="1C252B"/>
                          </a:solidFill>
                          <a:latin typeface="Cambria"/>
                        </a:rPr>
                        <a:t>SignedOff</a:t>
                      </a:r>
                      <a:r>
                        <a:rPr sz="1700" b="0" i="0">
                          <a:solidFill>
                            <a:srgbClr val="1C252B"/>
                          </a:solidFill>
                          <a:latin typeface="Cambria"/>
                        </a:rPr>
                        <a:t> ⇒ </a:t>
                      </a:r>
                      <a:r>
                        <a:rPr sz="1700" b="0" i="1">
                          <a:solidFill>
                            <a:srgbClr val="1C252B"/>
                          </a:solidFill>
                          <a:latin typeface="Cambria"/>
                        </a:rPr>
                        <a:t>Deploy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Cambria"/>
                        </a:rPr>
                        <a:t>¬ </a:t>
                      </a:r>
                      <a:r>
                        <a:rPr sz="1700" b="0" i="1">
                          <a:solidFill>
                            <a:srgbClr val="1C252B"/>
                          </a:solidFill>
                          <a:latin typeface="Cambria"/>
                        </a:rPr>
                        <a:t>Staged</a:t>
                      </a:r>
                      <a:r>
                        <a:rPr sz="1700" b="0" i="0">
                          <a:solidFill>
                            <a:srgbClr val="1C252B"/>
                          </a:solidFill>
                          <a:latin typeface="Cambria"/>
                        </a:rPr>
                        <a:t> ∨ ¬ </a:t>
                      </a:r>
                      <a:r>
                        <a:rPr sz="1700" b="0" i="1">
                          <a:solidFill>
                            <a:srgbClr val="1C252B"/>
                          </a:solidFill>
                          <a:latin typeface="Cambria"/>
                        </a:rPr>
                        <a:t>SignedOff</a:t>
                      </a:r>
                      <a:r>
                        <a:rPr sz="1700" b="0" i="0">
                          <a:solidFill>
                            <a:srgbClr val="1C252B"/>
                          </a:solidFill>
                          <a:latin typeface="Cambria"/>
                        </a:rPr>
                        <a:t> ∨ </a:t>
                      </a:r>
                      <a:r>
                        <a:rPr sz="1700" b="0" i="1">
                          <a:solidFill>
                            <a:srgbClr val="1C252B"/>
                          </a:solidFill>
                          <a:latin typeface="Cambria"/>
                        </a:rPr>
                        <a:t>Deploy</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R3</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1">
                          <a:solidFill>
                            <a:srgbClr val="1C252B"/>
                          </a:solidFill>
                          <a:latin typeface="Cambria"/>
                        </a:rPr>
                        <a:t>Blocker</a:t>
                      </a:r>
                      <a:r>
                        <a:rPr sz="1700" b="0" i="0">
                          <a:solidFill>
                            <a:srgbClr val="1C252B"/>
                          </a:solidFill>
                          <a:latin typeface="Cambria"/>
                        </a:rPr>
                        <a:t> ⇒ ¬ </a:t>
                      </a:r>
                      <a:r>
                        <a:rPr sz="1700" b="0" i="1">
                          <a:solidFill>
                            <a:srgbClr val="1C252B"/>
                          </a:solidFill>
                          <a:latin typeface="Cambria"/>
                        </a:rPr>
                        <a:t>Deploy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Cambria"/>
                        </a:rPr>
                        <a:t>¬ </a:t>
                      </a:r>
                      <a:r>
                        <a:rPr sz="1700" b="0" i="1">
                          <a:solidFill>
                            <a:srgbClr val="1C252B"/>
                          </a:solidFill>
                          <a:latin typeface="Cambria"/>
                        </a:rPr>
                        <a:t>Blocker</a:t>
                      </a:r>
                      <a:r>
                        <a:rPr sz="1700" b="0" i="0">
                          <a:solidFill>
                            <a:srgbClr val="1C252B"/>
                          </a:solidFill>
                          <a:latin typeface="Cambria"/>
                        </a:rPr>
                        <a:t> ∨ ¬ </a:t>
                      </a:r>
                      <a:r>
                        <a:rPr sz="1700" b="0" i="1">
                          <a:solidFill>
                            <a:srgbClr val="1C252B"/>
                          </a:solidFill>
                          <a:latin typeface="Cambria"/>
                        </a:rPr>
                        <a:t>Deploy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Resolution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7 OF 8</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11.7</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The Release Gate, Written Down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Syntax, Semantics and Models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Entailment and Derivation</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Deciding It: Model Checking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Deciding It Better: DPLL</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11.6   Conjunctive Normal Form</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11.7   Resolution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11.8   When the Answer Is No</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§11.7     </a:t>
            </a:r>
            <a:fld id="{580365E6-5E05-415F-9F50-014BAD043EDC}" type="slidenum">
              <a:rPr lang="en-GB" sz="1000">
                <a:solidFill>
                  <a:srgbClr val="8795A1"/>
                </a:solidFill>
                <a:latin typeface="Segoe UI"/>
              </a:rPr>
              <a:t>21</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resolution rule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114     </a:t>
            </a:r>
            <a:fld id="{6D71A103-56F9-4776-9C3A-C0F99D352AB6}"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64061"/>
          </a:xfrm>
          <a:prstGeom prst="roundRect">
            <a:avLst>
              <a:gd name="adj" fmla="val 236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6406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From two clauses containing complementary literals, infer their combination with that pair removed:</a:t>
            </a:r>
          </a:p>
        </p:txBody>
      </p:sp>
      <p:pic>
        <p:nvPicPr>
          <p:cNvPr id="10" name="body-1" descr="\frac{\alpha \vee \ell \qquad \beta \vee \neg\ell} {\alpha \vee \beta}"/>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733714"/>
          </a:xfrm>
          <a:prstGeom prst="rect">
            <a:avLst/>
          </a:prstGeom>
        </p:spPr>
      </p:pic>
      <p:sp>
        <p:nvSpPr>
          <p:cNvPr id="11" name="body-2"/>
          <p:cNvSpPr txBox="1"/>
          <p:nvPr/>
        </p:nvSpPr>
        <p:spPr>
          <a:xfrm>
            <a:off x="1060704" y="3832362"/>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Resolution is sound, and — applied to CNF with the negated query added — it is </a:t>
            </a:r>
            <a:r>
              <a:rPr sz="2300" b="1" i="0">
                <a:solidFill>
                  <a:srgbClr val="1A5276"/>
                </a:solidFill>
                <a:latin typeface="Segoe UI"/>
              </a:rPr>
              <a:t>refutation complete</a:t>
            </a:r>
            <a:r>
              <a:rPr sz="2300" b="0" i="0">
                <a:solidFill>
                  <a:srgbClr val="1C252B"/>
                </a:solidFill>
                <a:latin typeface="Segoe UI"/>
              </a:rPr>
              <a:t>: if the set is unsatisfiable, repeated resolution will derive the </a:t>
            </a:r>
            <a:r>
              <a:rPr sz="2300" b="1" i="0">
                <a:solidFill>
                  <a:srgbClr val="1A5276"/>
                </a:solidFill>
                <a:latin typeface="Segoe UI"/>
              </a:rPr>
              <a:t>empty clause</a:t>
            </a:r>
            <a:r>
              <a:rPr sz="2300" b="0" i="0">
                <a:solidFill>
                  <a:srgbClr val="1C252B"/>
                </a:solidFill>
                <a:latin typeface="Segoe UI"/>
              </a:rPr>
              <a:t>, which is a disjunction of nothing and therefore false.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47028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Resolution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114     </a:t>
            </a:r>
            <a:fld id="{0C5BA453-453F-4255-B626-8CF07FDDBC9A}" type="slidenum">
              <a:rPr lang="en-GB" sz="1000">
                <a:solidFill>
                  <a:srgbClr val="8795A1"/>
                </a:solidFill>
                <a:latin typeface="Segoe UI"/>
              </a:rPr>
              <a:t>23</a:t>
            </a:fld>
          </a:p>
        </p:txBody>
      </p:sp>
      <p:graphicFrame>
        <p:nvGraphicFramePr>
          <p:cNvPr id="7" name="!!table"/>
          <p:cNvGraphicFramePr>
            <a:graphicFrameLocks noGrp="1"/>
          </p:cNvGraphicFramePr>
          <p:nvPr/>
        </p:nvGraphicFramePr>
        <p:xfrm>
          <a:off x="658368" y="1737360"/>
          <a:ext cx="6529389" cy="4315968"/>
        </p:xfrm>
        <a:graphic>
          <a:graphicData uri="http://schemas.openxmlformats.org/drawingml/2006/table">
            <a:tbl>
              <a:tblPr firstRow="0" bandRow="0" firstCol="0" lastRow="0" lastCol="0" bandCol="0">
                <a:tableStyleId>{2D5ABB26-0587-4C30-8999-92F81FD0307C}</a:tableStyleId>
              </a:tblPr>
              <a:tblGrid>
                <a:gridCol w="530352"/>
                <a:gridCol w="2864642"/>
                <a:gridCol w="3134395"/>
              </a:tblGrid>
              <a:tr h="359664">
                <a:tc>
                  <a:txBody>
                    <a:bodyPr wrap="square"/>
                    <a:lstStyle/>
                    <a:p>
                      <a:pPr algn="l"/>
                      <a:r>
                        <a:rPr sz="1400" b="1" i="0">
                          <a:solidFill>
                            <a:srgbClr val="1A5276"/>
                          </a:solidFill>
                          <a:latin typeface="Segoe UI"/>
                        </a:rPr>
                        <a: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Clause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Derived from</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1</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Reviewed</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given (F1)</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2</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1">
                          <a:solidFill>
                            <a:srgbClr val="1C252B"/>
                          </a:solidFill>
                          <a:latin typeface="Cambria"/>
                        </a:rPr>
                        <a:t>Tested</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given (F2)</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3</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SignedOff</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given (F3)</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4</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Cambria"/>
                        </a:rPr>
                        <a:t>¬ </a:t>
                      </a:r>
                      <a:r>
                        <a:rPr sz="1400" b="0" i="1">
                          <a:solidFill>
                            <a:srgbClr val="1C252B"/>
                          </a:solidFill>
                          <a:latin typeface="Cambria"/>
                        </a:rPr>
                        <a:t>Reviewed</a:t>
                      </a:r>
                      <a:r>
                        <a:rPr sz="1400" b="0" i="0">
                          <a:solidFill>
                            <a:srgbClr val="1C252B"/>
                          </a:solidFill>
                          <a:latin typeface="Cambria"/>
                        </a:rPr>
                        <a:t> ∨ ¬ </a:t>
                      </a:r>
                      <a:r>
                        <a:rPr sz="1400" b="0" i="1">
                          <a:solidFill>
                            <a:srgbClr val="1C252B"/>
                          </a:solidFill>
                          <a:latin typeface="Cambria"/>
                        </a:rPr>
                        <a:t>Tested</a:t>
                      </a:r>
                      <a:r>
                        <a:rPr sz="1400" b="0" i="0">
                          <a:solidFill>
                            <a:srgbClr val="1C252B"/>
                          </a:solidFill>
                          <a:latin typeface="Cambria"/>
                        </a:rPr>
                        <a:t> ∨ </a:t>
                      </a:r>
                      <a:r>
                        <a:rPr sz="1400" b="0" i="1">
                          <a:solidFill>
                            <a:srgbClr val="1C252B"/>
                          </a:solidFill>
                          <a:latin typeface="Cambria"/>
                        </a:rPr>
                        <a:t>Staged</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given (R1)</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5</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 </a:t>
                      </a:r>
                      <a:r>
                        <a:rPr sz="1400" b="0" i="1">
                          <a:solidFill>
                            <a:srgbClr val="1C252B"/>
                          </a:solidFill>
                          <a:latin typeface="Cambria"/>
                        </a:rPr>
                        <a:t>Staged</a:t>
                      </a:r>
                      <a:r>
                        <a:rPr sz="1400" b="0" i="0">
                          <a:solidFill>
                            <a:srgbClr val="1C252B"/>
                          </a:solidFill>
                          <a:latin typeface="Cambria"/>
                        </a:rPr>
                        <a:t> ∨ ¬ </a:t>
                      </a:r>
                      <a:r>
                        <a:rPr sz="1400" b="0" i="1">
                          <a:solidFill>
                            <a:srgbClr val="1C252B"/>
                          </a:solidFill>
                          <a:latin typeface="Cambria"/>
                        </a:rPr>
                        <a:t>SignedOff</a:t>
                      </a:r>
                      <a:r>
                        <a:rPr sz="1400" b="0" i="0">
                          <a:solidFill>
                            <a:srgbClr val="1C252B"/>
                          </a:solidFill>
                          <a:latin typeface="Cambria"/>
                        </a:rPr>
                        <a:t> ∨ </a:t>
                      </a:r>
                      <a:r>
                        <a:rPr sz="1400" b="0" i="1">
                          <a:solidFill>
                            <a:srgbClr val="1C252B"/>
                          </a:solidFill>
                          <a:latin typeface="Cambria"/>
                        </a:rPr>
                        <a:t>Deploy</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given (R2)</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6</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Cambria"/>
                        </a:rPr>
                        <a:t>¬ </a:t>
                      </a:r>
                      <a:r>
                        <a:rPr sz="1400" b="0" i="1">
                          <a:solidFill>
                            <a:srgbClr val="1C252B"/>
                          </a:solidFill>
                          <a:latin typeface="Cambria"/>
                        </a:rPr>
                        <a:t>Deploy</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1" i="0">
                          <a:solidFill>
                            <a:srgbClr val="1C252B"/>
                          </a:solidFill>
                          <a:latin typeface="Segoe UI"/>
                        </a:rPr>
                        <a:t>assumed</a:t>
                      </a:r>
                      <a:r>
                        <a:rPr sz="1400" b="0" i="0">
                          <a:solidFill>
                            <a:srgbClr val="1C252B"/>
                          </a:solidFill>
                          <a:latin typeface="Segoe UI"/>
                        </a:rPr>
                        <a:t>: the negation of the query</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7</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 </a:t>
                      </a:r>
                      <a:r>
                        <a:rPr sz="1400" b="0" i="1">
                          <a:solidFill>
                            <a:srgbClr val="1C252B"/>
                          </a:solidFill>
                          <a:latin typeface="Cambria"/>
                        </a:rPr>
                        <a:t>Tested</a:t>
                      </a:r>
                      <a:r>
                        <a:rPr sz="1400" b="0" i="0">
                          <a:solidFill>
                            <a:srgbClr val="1C252B"/>
                          </a:solidFill>
                          <a:latin typeface="Cambria"/>
                        </a:rPr>
                        <a:t> ∨ </a:t>
                      </a:r>
                      <a:r>
                        <a:rPr sz="1400" b="0" i="1">
                          <a:solidFill>
                            <a:srgbClr val="1C252B"/>
                          </a:solidFill>
                          <a:latin typeface="Cambria"/>
                        </a:rPr>
                        <a:t>Staged</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1, 4</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8</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1">
                          <a:solidFill>
                            <a:srgbClr val="1C252B"/>
                          </a:solidFill>
                          <a:latin typeface="Cambria"/>
                        </a:rPr>
                        <a:t>Staged</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2, 7</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9</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 </a:t>
                      </a:r>
                      <a:r>
                        <a:rPr sz="1400" b="0" i="1">
                          <a:solidFill>
                            <a:srgbClr val="1C252B"/>
                          </a:solidFill>
                          <a:latin typeface="Cambria"/>
                        </a:rPr>
                        <a:t>Staged</a:t>
                      </a:r>
                      <a:r>
                        <a:rPr sz="1400" b="0" i="0">
                          <a:solidFill>
                            <a:srgbClr val="1C252B"/>
                          </a:solidFill>
                          <a:latin typeface="Cambria"/>
                        </a:rPr>
                        <a:t> ∨ </a:t>
                      </a:r>
                      <a:r>
                        <a:rPr sz="1400" b="0" i="1">
                          <a:solidFill>
                            <a:srgbClr val="1C252B"/>
                          </a:solidFill>
                          <a:latin typeface="Cambria"/>
                        </a:rPr>
                        <a:t>Deploy</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3, 5</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10</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1">
                          <a:solidFill>
                            <a:srgbClr val="1C252B"/>
                          </a:solidFill>
                          <a:latin typeface="Cambria"/>
                        </a:rPr>
                        <a:t>Deploy</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8, 9</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11</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Cambria"/>
                        </a:rPr>
                        <a:t>□</a:t>
                      </a:r>
                      <a:r>
                        <a:rPr sz="1400" b="0" i="0">
                          <a:solidFill>
                            <a:srgbClr val="1C252B"/>
                          </a:solidFill>
                          <a:latin typeface="Segoe UI"/>
                        </a:rPr>
                        <a:t> (the empty clause)</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6, 10</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6734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Resolution is not the fast one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114     </a:t>
            </a:r>
            <a:fld id="{BBC3CEA6-5826-49C0-882F-FA228C08D084}"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2373"/>
          </a:xfrm>
          <a:prstGeom prst="roundRect">
            <a:avLst>
              <a:gd name="adj" fmla="val 214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23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proof is five steps, and a naive implementation does not find it in five. The lab’s breadth-first version — resolve every pair, add everything new, repeat — takes </a:t>
            </a:r>
            <a:r>
              <a:rPr sz="2200" b="1" i="0">
                <a:solidFill>
                  <a:srgbClr val="1C252B"/>
                </a:solidFill>
                <a:latin typeface="Segoe UI"/>
              </a:rPr>
              <a:t>105 resolution steps</a:t>
            </a:r>
            <a:r>
              <a:rPr sz="2200" b="0" i="0">
                <a:solidFill>
                  <a:srgbClr val="1C252B"/>
                </a:solidFill>
                <a:latin typeface="Segoe UI"/>
              </a:rPr>
              <a:t> to reach the empty clause, which is more work than enumerating all </a:t>
            </a:r>
            <a:r>
              <a:rPr sz="2200" b="0" i="0">
                <a:solidFill>
                  <a:srgbClr val="1C252B"/>
                </a:solidFill>
                <a:latin typeface="Cambria"/>
              </a:rPr>
              <a:t>64</a:t>
            </a:r>
            <a:r>
              <a:rPr sz="2200" b="0" i="0">
                <a:solidFill>
                  <a:srgbClr val="1C252B"/>
                </a:solidFill>
                <a:latin typeface="Segoe UI"/>
              </a:rPr>
              <a:t> models.</a:t>
            </a:r>
          </a:p>
        </p:txBody>
      </p:sp>
      <p:sp>
        <p:nvSpPr>
          <p:cNvPr id="10" name="body-1"/>
          <p:cNvSpPr txBox="1"/>
          <p:nvPr/>
        </p:nvSpPr>
        <p:spPr>
          <a:xfrm>
            <a:off x="1060704" y="3596690"/>
            <a:ext cx="10161727"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So resolution is not here because it is efficient on propositional problems; DPLL is, and modern SAT solvers are DPLL with better bookkeeping. Resolution is here for two reasons. It produces an </a:t>
            </a:r>
            <a:r>
              <a:rPr sz="2200" b="0" i="1">
                <a:solidFill>
                  <a:srgbClr val="1C252B"/>
                </a:solidFill>
                <a:latin typeface="Segoe UI"/>
              </a:rPr>
              <a:t>auditable proof</a:t>
            </a:r>
            <a:r>
              <a:rPr sz="2200" b="0" i="0">
                <a:solidFill>
                  <a:srgbClr val="1C252B"/>
                </a:solidFill>
                <a:latin typeface="Segoe UI"/>
              </a:rPr>
              <a:t> — Table 11.1 can be read by a person and checked line by line, which no model count can. And it </a:t>
            </a:r>
            <a:r>
              <a:rPr sz="2200" b="0" i="1">
                <a:solidFill>
                  <a:srgbClr val="1C252B"/>
                </a:solidFill>
                <a:latin typeface="Segoe UI"/>
              </a:rPr>
              <a:t>lifts to first-order logic</a:t>
            </a:r>
            <a:r>
              <a:rPr sz="2200" b="0" i="0">
                <a:solidFill>
                  <a:srgbClr val="1C252B"/>
                </a:solidFill>
                <a:latin typeface="Segoe UI"/>
              </a:rPr>
              <a:t> (Chapter 12), where there are infinitely many models and enumerating them is not merely slow but impossible.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the Answer Is No</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7B74AA6E-28BA-4F6C-B99E-92A97BB8AAA7}"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04354"/>
          </a:xfrm>
          <a:prstGeom prst="roundRect">
            <a:avLst>
              <a:gd name="adj" fmla="val 480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0435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Drop F3 — suppose the product owner has not signed off. Now three models satisfy the knowledge base, and </a:t>
            </a:r>
            <a:r>
              <a:rPr sz="2300" b="0" i="1">
                <a:solidFill>
                  <a:srgbClr val="1C252B"/>
                </a:solidFill>
                <a:latin typeface="Cambria"/>
              </a:rPr>
              <a:t>Deploy</a:t>
            </a:r>
            <a:r>
              <a:rPr sz="2300" b="0" i="0">
                <a:solidFill>
                  <a:srgbClr val="1C252B"/>
                </a:solidFill>
                <a:latin typeface="Segoe UI"/>
              </a:rPr>
              <a:t> is false in one of them:</a:t>
            </a:r>
          </a:p>
        </p:txBody>
      </p:sp>
      <p:pic>
        <p:nvPicPr>
          <p:cNvPr id="10" name="body-1" descr="\mathit{Reviewed} = \mathit{Tested} = \mathit{Staged} = \text{T},\quad \mathit{SignedOff} = \mathit{Blocker} = \mathit{Deploy} = \text{F}"/>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0798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conclusion the knowledge base implies without being told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E5959C8C-F2AE-4640-ACF9-DB2D5B53C29C}"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1574"/>
          </a:xfrm>
          <a:prstGeom prst="roundRect">
            <a:avLst>
              <a:gd name="adj" fmla="val 217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157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Drop F4 instead — delete </a:t>
            </a:r>
            <a:r>
              <a:rPr sz="1900" b="0" i="0">
                <a:solidFill>
                  <a:srgbClr val="1C252B"/>
                </a:solidFill>
                <a:latin typeface="Cambria"/>
              </a:rPr>
              <a:t>¬ </a:t>
            </a:r>
            <a:r>
              <a:rPr sz="1900" b="0" i="1">
                <a:solidFill>
                  <a:srgbClr val="1C252B"/>
                </a:solidFill>
                <a:latin typeface="Cambria"/>
              </a:rPr>
              <a:t>Blocker</a:t>
            </a:r>
            <a:r>
              <a:rPr sz="1900" b="0" i="0">
                <a:solidFill>
                  <a:srgbClr val="1C252B"/>
                </a:solidFill>
                <a:latin typeface="Segoe UI"/>
              </a:rPr>
              <a:t>, so nobody has checked the blocker list. Does </a:t>
            </a:r>
            <a:r>
              <a:rPr sz="1900" b="0" i="1">
                <a:solidFill>
                  <a:srgbClr val="1C252B"/>
                </a:solidFill>
                <a:latin typeface="Cambria"/>
              </a:rPr>
              <a:t>Deploy</a:t>
            </a:r>
            <a:r>
              <a:rPr sz="1900" b="0" i="0">
                <a:solidFill>
                  <a:srgbClr val="1C252B"/>
                </a:solidFill>
                <a:latin typeface="Segoe UI"/>
              </a:rPr>
              <a:t> still follow?</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intuition says no.</a:t>
            </a:r>
            <a:r>
              <a:rPr sz="1900" b="0" i="0">
                <a:solidFill>
                  <a:srgbClr val="1C252B"/>
                </a:solidFill>
                <a:latin typeface="Segoe UI"/>
              </a:rPr>
              <a:t> Nothing now rules out a blocker, and R3 says a blocker forbids deployment.</a:t>
            </a:r>
          </a:p>
        </p:txBody>
      </p:sp>
      <p:sp>
        <p:nvSpPr>
          <p:cNvPr id="11" name="body-2"/>
          <p:cNvSpPr txBox="1"/>
          <p:nvPr/>
        </p:nvSpPr>
        <p:spPr>
          <a:xfrm>
            <a:off x="1042416" y="348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models say yes.</a:t>
            </a:r>
            <a:r>
              <a:rPr sz="1900" b="0" i="0">
                <a:solidFill>
                  <a:srgbClr val="1C252B"/>
                </a:solidFill>
                <a:latin typeface="Segoe UI"/>
              </a:rPr>
              <a:t> Work it through:</a:t>
            </a:r>
          </a:p>
        </p:txBody>
      </p:sp>
      <p:sp>
        <p:nvSpPr>
          <p:cNvPr id="12" name="body-3"/>
          <p:cNvSpPr txBox="1"/>
          <p:nvPr/>
        </p:nvSpPr>
        <p:spPr>
          <a:xfrm>
            <a:off x="1042416" y="3915537"/>
            <a:ext cx="10234879" cy="180479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F1, F2, F3 force </a:t>
            </a:r>
            <a:r>
              <a:rPr sz="1900" b="0" i="1">
                <a:solidFill>
                  <a:srgbClr val="1C252B"/>
                </a:solidFill>
                <a:latin typeface="Cambria"/>
              </a:rPr>
              <a:t>Reviewed</a:t>
            </a:r>
            <a:r>
              <a:rPr sz="1900" b="0" i="0">
                <a:solidFill>
                  <a:srgbClr val="1C252B"/>
                </a:solidFill>
                <a:latin typeface="Segoe UI"/>
              </a:rPr>
              <a:t>, </a:t>
            </a:r>
            <a:r>
              <a:rPr sz="1900" b="0" i="1">
                <a:solidFill>
                  <a:srgbClr val="1C252B"/>
                </a:solidFill>
                <a:latin typeface="Cambria"/>
              </a:rPr>
              <a:t>Tested</a:t>
            </a:r>
            <a:r>
              <a:rPr sz="1900" b="0" i="0">
                <a:solidFill>
                  <a:srgbClr val="1C252B"/>
                </a:solidFill>
                <a:latin typeface="Segoe UI"/>
              </a:rPr>
              <a:t>, </a:t>
            </a:r>
            <a:r>
              <a:rPr sz="1900" b="0" i="1">
                <a:solidFill>
                  <a:srgbClr val="1C252B"/>
                </a:solidFill>
                <a:latin typeface="Cambria"/>
              </a:rPr>
              <a:t>SignedOff</a:t>
            </a:r>
            <a:r>
              <a:rPr sz="1900" b="0" i="0">
                <a:solidFill>
                  <a:srgbClr val="1C252B"/>
                </a:solidFill>
                <a:latin typeface="Segoe UI"/>
              </a:rPr>
              <a:t> all true.</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R1 then forces </a:t>
            </a:r>
            <a:r>
              <a:rPr sz="1900" b="0" i="1">
                <a:solidFill>
                  <a:srgbClr val="1C252B"/>
                </a:solidFill>
                <a:latin typeface="Cambria"/>
              </a:rPr>
              <a:t>Staged</a:t>
            </a:r>
            <a:r>
              <a:rPr sz="1900" b="0" i="0">
                <a:solidFill>
                  <a:srgbClr val="1C252B"/>
                </a:solidFill>
                <a:latin typeface="Segoe UI"/>
              </a:rPr>
              <a:t> true.</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R2 then forces </a:t>
            </a:r>
            <a:r>
              <a:rPr sz="1900" b="0" i="1">
                <a:solidFill>
                  <a:srgbClr val="1C252B"/>
                </a:solidFill>
                <a:latin typeface="Cambria"/>
              </a:rPr>
              <a:t>Deploy</a:t>
            </a:r>
            <a:r>
              <a:rPr sz="1900" b="0" i="0">
                <a:solidFill>
                  <a:srgbClr val="1C252B"/>
                </a:solidFill>
                <a:latin typeface="Segoe UI"/>
              </a:rPr>
              <a:t> true.</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R3 says </a:t>
            </a:r>
            <a:r>
              <a:rPr sz="1900" b="0" i="1">
                <a:solidFill>
                  <a:srgbClr val="1C252B"/>
                </a:solidFill>
                <a:latin typeface="Cambria"/>
              </a:rPr>
              <a:t>Blocker</a:t>
            </a:r>
            <a:r>
              <a:rPr sz="1900" b="0" i="0">
                <a:solidFill>
                  <a:srgbClr val="1C252B"/>
                </a:solidFill>
                <a:latin typeface="Cambria"/>
              </a:rPr>
              <a:t> ⇒ ¬</a:t>
            </a:r>
            <a:r>
              <a:rPr sz="1900" b="0" i="1">
                <a:solidFill>
                  <a:srgbClr val="1C252B"/>
                </a:solidFill>
                <a:latin typeface="Cambria"/>
              </a:rPr>
              <a:t>Deploy</a:t>
            </a:r>
            <a:r>
              <a:rPr sz="1900" b="0" i="0">
                <a:solidFill>
                  <a:srgbClr val="1C252B"/>
                </a:solidFill>
                <a:latin typeface="Segoe UI"/>
              </a:rPr>
              <a:t>. Since </a:t>
            </a:r>
            <a:r>
              <a:rPr sz="1900" b="0" i="1">
                <a:solidFill>
                  <a:srgbClr val="1C252B"/>
                </a:solidFill>
                <a:latin typeface="Cambria"/>
              </a:rPr>
              <a:t>Deploy</a:t>
            </a:r>
            <a:r>
              <a:rPr sz="1900" b="0" i="0">
                <a:solidFill>
                  <a:srgbClr val="1C252B"/>
                </a:solidFill>
                <a:latin typeface="Segoe UI"/>
              </a:rPr>
              <a:t> is true, </a:t>
            </a:r>
            <a:r>
              <a:rPr sz="1900" b="0" i="0">
                <a:solidFill>
                  <a:srgbClr val="1C252B"/>
                </a:solidFill>
                <a:latin typeface="Cambria"/>
              </a:rPr>
              <a:t>¬</a:t>
            </a:r>
            <a:r>
              <a:rPr sz="1900" b="0" i="1">
                <a:solidFill>
                  <a:srgbClr val="1C252B"/>
                </a:solidFill>
                <a:latin typeface="Cambria"/>
              </a:rPr>
              <a:t>Deploy</a:t>
            </a:r>
            <a:r>
              <a:rPr sz="1900" b="0" i="0">
                <a:solidFill>
                  <a:srgbClr val="1C252B"/>
                </a:solidFill>
                <a:latin typeface="Segoe UI"/>
              </a:rPr>
              <a:t> is false, so </a:t>
            </a:r>
            <a:r>
              <a:rPr sz="1900" b="0" i="1">
                <a:solidFill>
                  <a:srgbClr val="1C252B"/>
                </a:solidFill>
                <a:latin typeface="Cambria"/>
              </a:rPr>
              <a:t>Blocker</a:t>
            </a:r>
            <a:r>
              <a:rPr sz="1900" b="0" i="0">
                <a:solidFill>
                  <a:srgbClr val="1C252B"/>
                </a:solidFill>
                <a:latin typeface="Segoe UI"/>
              </a:rPr>
              <a:t> </a:t>
            </a:r>
            <a:r>
              <a:rPr sz="1900" b="0" i="1">
                <a:solidFill>
                  <a:srgbClr val="1C252B"/>
                </a:solidFill>
                <a:latin typeface="Segoe UI"/>
              </a:rPr>
              <a:t>must be false</a:t>
            </a:r>
            <a:r>
              <a:rPr sz="1900" b="0" i="0">
                <a:solidFill>
                  <a:srgbClr val="1C252B"/>
                </a:solidFill>
                <a:latin typeface="Segoe UI"/>
              </a:rPr>
              <a:t> — otherwise R3 is violated.</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52830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fade">
                                      <p:cBhvr>
                                        <p:cTn id="28" dur="350"/>
                                        <p:tgtEl>
                                          <p:spTgt spid="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animEffect transition="in" filter="fade">
                                      <p:cBhvr>
                                        <p:cTn id="33" dur="35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conclusion the knowledge base implies without being told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FE05C358-32C6-4773-94C8-C93081B33D83}"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351"/>
          </a:xfrm>
          <a:prstGeom prst="roundRect">
            <a:avLst>
              <a:gd name="adj" fmla="val 25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Exactly one model survives, and it is the same one as before. So </a:t>
            </a:r>
            <a:r>
              <a:rPr sz="1900" b="0" i="1">
                <a:solidFill>
                  <a:srgbClr val="1C252B"/>
                </a:solidFill>
                <a:latin typeface="Cambria"/>
              </a:rPr>
              <a:t>KB</a:t>
            </a:r>
            <a:r>
              <a:rPr sz="1900" b="0" i="0">
                <a:solidFill>
                  <a:srgbClr val="1C252B"/>
                </a:solidFill>
                <a:latin typeface="Cambria"/>
              </a:rPr>
              <a:t> ⊨ </a:t>
            </a:r>
            <a:r>
              <a:rPr sz="1900" b="0" i="1">
                <a:solidFill>
                  <a:srgbClr val="1C252B"/>
                </a:solidFill>
                <a:latin typeface="Cambria"/>
              </a:rPr>
              <a:t>Deploy</a:t>
            </a:r>
            <a:r>
              <a:rPr sz="1900" b="0" i="0">
                <a:solidFill>
                  <a:srgbClr val="1C252B"/>
                </a:solidFill>
                <a:latin typeface="Segoe UI"/>
              </a:rPr>
              <a:t>, </a:t>
            </a:r>
            <a:r>
              <a:rPr sz="1900" b="0" i="1">
                <a:solidFill>
                  <a:srgbClr val="1C252B"/>
                </a:solidFill>
                <a:latin typeface="Segoe UI"/>
              </a:rPr>
              <a:t>and</a:t>
            </a:r>
            <a:r>
              <a:rPr sz="1900" b="0" i="0">
                <a:solidFill>
                  <a:srgbClr val="1C252B"/>
                </a:solidFill>
                <a:latin typeface="Segoe UI"/>
              </a:rPr>
              <a:t> </a:t>
            </a:r>
            <a:r>
              <a:rPr sz="1900" b="0" i="1">
                <a:solidFill>
                  <a:srgbClr val="1C252B"/>
                </a:solidFill>
                <a:latin typeface="Cambria"/>
              </a:rPr>
              <a:t>KB</a:t>
            </a:r>
            <a:r>
              <a:rPr sz="1900" b="0" i="0">
                <a:solidFill>
                  <a:srgbClr val="1C252B"/>
                </a:solidFill>
                <a:latin typeface="Cambria"/>
              </a:rPr>
              <a:t> ⊨ ¬ </a:t>
            </a:r>
            <a:r>
              <a:rPr sz="1900" b="0" i="1">
                <a:solidFill>
                  <a:srgbClr val="1C252B"/>
                </a:solidFill>
                <a:latin typeface="Cambria"/>
              </a:rPr>
              <a:t>Blocker</a:t>
            </a:r>
            <a:r>
              <a:rPr sz="1900" b="0" i="0">
                <a:solidFill>
                  <a:srgbClr val="1C252B"/>
                </a:solidFill>
                <a:latin typeface="Segoe UI"/>
              </a:rPr>
              <a:t>: the knowledge base entails that there is no blocker, without anyone having said so.</a:t>
            </a:r>
          </a:p>
        </p:txBody>
      </p:sp>
      <p:sp>
        <p:nvSpPr>
          <p:cNvPr id="10" name="body-1"/>
          <p:cNvSpPr txBox="1"/>
          <p:nvPr/>
        </p:nvSpPr>
        <p:spPr>
          <a:xfrm>
            <a:off x="1042416" y="2746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Is that right?</a:t>
            </a:r>
            <a:r>
              <a:rPr sz="1900" b="0" i="0">
                <a:solidFill>
                  <a:srgbClr val="1C252B"/>
                </a:solidFill>
                <a:latin typeface="Segoe UI"/>
              </a:rPr>
              <a:t> Logically, yes, and it is worth sitting with the discomfort. The knowledge base asserts as facts that the code is reviewed, tested and signed off, and asserts as a rule that these permit deployment. Taken together those </a:t>
            </a:r>
            <a:r>
              <a:rPr sz="1900" b="0" i="1">
                <a:solidFill>
                  <a:srgbClr val="1C252B"/>
                </a:solidFill>
                <a:latin typeface="Segoe UI"/>
              </a:rPr>
              <a:t>are inconsistent with</a:t>
            </a:r>
            <a:r>
              <a:rPr sz="1900" b="0" i="0">
                <a:solidFill>
                  <a:srgbClr val="1C252B"/>
                </a:solidFill>
                <a:latin typeface="Segoe UI"/>
              </a:rPr>
              <a:t> an open blocker. The system has not been careless; it has drawn a consequence of what it was told.</a:t>
            </a:r>
          </a:p>
        </p:txBody>
      </p:sp>
      <p:sp>
        <p:nvSpPr>
          <p:cNvPr id="11" name="body-1bar">
            <a:extLst>
              <a:ext uri="{C183D7F6-B498-43B3-948B-1728B52AA6E4}">
                <adec:decorative xmlns:adec="http://schemas.microsoft.com/office/drawing/2017/decorative" val="1"/>
              </a:ext>
            </a:extLst>
          </p:cNvPr>
          <p:cNvSpPr/>
          <p:nvPr/>
        </p:nvSpPr>
        <p:spPr>
          <a:xfrm>
            <a:off x="841248" y="2764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08396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it is a modelling error.</a:t>
            </a:r>
            <a:r>
              <a:rPr sz="1900" b="0" i="0">
                <a:solidFill>
                  <a:srgbClr val="1C252B"/>
                </a:solidFill>
                <a:latin typeface="Segoe UI"/>
              </a:rPr>
              <a:t> The team’s intent was surely “deployment is permitted </a:t>
            </a:r>
            <a:r>
              <a:rPr sz="1900" b="0" i="1">
                <a:solidFill>
                  <a:srgbClr val="1C252B"/>
                </a:solidFill>
                <a:latin typeface="Segoe UI"/>
              </a:rPr>
              <a:t>provided</a:t>
            </a:r>
            <a:r>
              <a:rPr sz="1900" b="0" i="0">
                <a:solidFill>
                  <a:srgbClr val="1C252B"/>
                </a:solidFill>
                <a:latin typeface="Segoe UI"/>
              </a:rPr>
              <a:t> no blocker”, which is </a:t>
            </a:r>
            <a:r>
              <a:rPr sz="1900" b="0" i="1">
                <a:solidFill>
                  <a:srgbClr val="1C252B"/>
                </a:solidFill>
                <a:latin typeface="Cambria"/>
              </a:rPr>
              <a:t>Staged</a:t>
            </a:r>
            <a:r>
              <a:rPr sz="1900" b="0" i="0">
                <a:solidFill>
                  <a:srgbClr val="1C252B"/>
                </a:solidFill>
                <a:latin typeface="Cambria"/>
              </a:rPr>
              <a:t> ∧ </a:t>
            </a:r>
            <a:r>
              <a:rPr sz="1900" b="0" i="1">
                <a:solidFill>
                  <a:srgbClr val="1C252B"/>
                </a:solidFill>
                <a:latin typeface="Cambria"/>
              </a:rPr>
              <a:t>SignedOff</a:t>
            </a:r>
            <a:r>
              <a:rPr sz="1900" b="0" i="0">
                <a:solidFill>
                  <a:srgbClr val="1C252B"/>
                </a:solidFill>
                <a:latin typeface="Cambria"/>
              </a:rPr>
              <a:t> ∧ ¬ </a:t>
            </a:r>
            <a:r>
              <a:rPr sz="1900" b="0" i="1">
                <a:solidFill>
                  <a:srgbClr val="1C252B"/>
                </a:solidFill>
                <a:latin typeface="Cambria"/>
              </a:rPr>
              <a:t>Blocker</a:t>
            </a:r>
            <a:r>
              <a:rPr sz="1900" b="0" i="0">
                <a:solidFill>
                  <a:srgbClr val="1C252B"/>
                </a:solidFill>
                <a:latin typeface="Cambria"/>
              </a:rPr>
              <a:t> ⇒ </a:t>
            </a:r>
            <a:r>
              <a:rPr sz="1900" b="0" i="1">
                <a:solidFill>
                  <a:srgbClr val="1C252B"/>
                </a:solidFill>
                <a:latin typeface="Cambria"/>
              </a:rPr>
              <a:t>Deploy</a:t>
            </a:r>
            <a:r>
              <a:rPr sz="1900" b="0" i="0">
                <a:solidFill>
                  <a:srgbClr val="1C252B"/>
                </a:solidFill>
                <a:latin typeface="Segoe UI"/>
              </a:rPr>
              <a:t>. Write R2 that way and the entailment disappears: without F4, </a:t>
            </a:r>
            <a:r>
              <a:rPr sz="1900" b="0" i="1">
                <a:solidFill>
                  <a:srgbClr val="1C252B"/>
                </a:solidFill>
                <a:latin typeface="Cambria"/>
              </a:rPr>
              <a:t>Deploy</a:t>
            </a:r>
            <a:r>
              <a:rPr sz="1900" b="0" i="0">
                <a:solidFill>
                  <a:srgbClr val="1C252B"/>
                </a:solidFill>
                <a:latin typeface="Segoe UI"/>
              </a:rPr>
              <a:t> no longer follows, which is what everyone expected.</a:t>
            </a:r>
          </a:p>
        </p:txBody>
      </p:sp>
      <p:sp>
        <p:nvSpPr>
          <p:cNvPr id="13" name="body-2bar">
            <a:extLst>
              <a:ext uri="{C183D7F6-B498-43B3-948B-1728B52AA6E4}">
                <adec:decorative xmlns:adec="http://schemas.microsoft.com/office/drawing/2017/decorative" val="1"/>
              </a:ext>
            </a:extLst>
          </p:cNvPr>
          <p:cNvSpPr/>
          <p:nvPr/>
        </p:nvSpPr>
        <p:spPr>
          <a:xfrm>
            <a:off x="841248" y="410225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conclusion the knowledge base implies without being told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148131DD-933C-4397-BAAF-94AE9AEA8B89}"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lesson.</a:t>
            </a:r>
            <a:r>
              <a:rPr sz="1900" b="0" i="0">
                <a:solidFill>
                  <a:srgbClr val="1C252B"/>
                </a:solidFill>
                <a:latin typeface="Segoe UI"/>
              </a:rPr>
              <a:t> Inference is only as good as the axioms, and the failure mode is not a wrong answer — it is a </a:t>
            </a:r>
            <a:r>
              <a:rPr sz="1900" b="0" i="1">
                <a:solidFill>
                  <a:srgbClr val="1C252B"/>
                </a:solidFill>
                <a:latin typeface="Segoe UI"/>
              </a:rPr>
              <a:t>correct answer to a question you did not mean to ask</a:t>
            </a:r>
            <a:r>
              <a:rPr sz="1900" b="0" i="0">
                <a:solidFill>
                  <a:srgbClr val="1C252B"/>
                </a:solidFill>
                <a:latin typeface="Segoe UI"/>
              </a:rPr>
              <a:t>. Contrast Chapter 10: a default would have said “normally no blocker” and withdrawn it on evidence. Logic will not guess, so everything you mean must be written down, including the things that seem too obvious to state.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08215AEC-1519-4E91-B7F6-AC4D2C469356}" type="slidenum">
              <a:rPr lang="en-GB" sz="1000">
                <a:solidFill>
                  <a:srgbClr val="8795A1"/>
                </a:solidFill>
                <a:latin typeface="Segoe UI"/>
              </a:rPr>
              <a:t>29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Confusing </a:t>
            </a:r>
            <a:r>
              <a:rPr sz="1900" b="1" i="0">
                <a:solidFill>
                  <a:srgbClr val="1C252B"/>
                </a:solidFill>
                <a:latin typeface="Cambria"/>
              </a:rPr>
              <a:t>⊨</a:t>
            </a:r>
            <a:r>
              <a:rPr sz="1900" b="1" i="0">
                <a:solidFill>
                  <a:srgbClr val="1C252B"/>
                </a:solidFill>
                <a:latin typeface="Segoe UI"/>
              </a:rPr>
              <a:t> with </a:t>
            </a:r>
            <a:r>
              <a:rPr sz="1900" b="1" i="0">
                <a:solidFill>
                  <a:srgbClr val="1C252B"/>
                </a:solidFill>
                <a:latin typeface="Cambria"/>
              </a:rPr>
              <a:t>⊢</a:t>
            </a:r>
            <a:r>
              <a:rPr sz="1900" b="1" i="0">
                <a:solidFill>
                  <a:srgbClr val="1C252B"/>
                </a:solidFill>
                <a:latin typeface="Segoe UI"/>
              </a:rPr>
              <a:t>.</a:t>
            </a:r>
            <a:r>
              <a:rPr sz="1900" b="0" i="0">
                <a:solidFill>
                  <a:srgbClr val="1C252B"/>
                </a:solidFill>
                <a:latin typeface="Segoe UI"/>
              </a:rPr>
              <a:t> The first is about meaning, the second about a procedure. Soundness and completeness are precisely the two claims that connect them.</a:t>
            </a:r>
          </a:p>
        </p:txBody>
      </p:sp>
      <p:sp>
        <p:nvSpPr>
          <p:cNvPr id="10" name="!!pb1">
            <a:extLst>
              <a:ext uri="{C183D7F6-B498-43B3-948B-1728B52AA6E4}">
                <adec:decorative xmlns:adec="http://schemas.microsoft.com/office/drawing/2017/decorative" val="1"/>
              </a:ext>
            </a:extLst>
          </p:cNvPr>
          <p:cNvSpPr/>
          <p:nvPr/>
        </p:nvSpPr>
        <p:spPr>
          <a:xfrm>
            <a:off x="658368" y="255910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8196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40812"/>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Expecting </a:t>
            </a:r>
            <a:r>
              <a:rPr sz="1900" b="1" i="1">
                <a:solidFill>
                  <a:srgbClr val="1C252B"/>
                </a:solidFill>
                <a:latin typeface="Cambria"/>
              </a:rPr>
              <a:t>a</a:t>
            </a:r>
            <a:r>
              <a:rPr sz="1900" b="1" i="0">
                <a:solidFill>
                  <a:srgbClr val="1C252B"/>
                </a:solidFill>
                <a:latin typeface="Cambria"/>
              </a:rPr>
              <a:t> ⇒ </a:t>
            </a:r>
            <a:r>
              <a:rPr sz="1900" b="1" i="1">
                <a:solidFill>
                  <a:srgbClr val="1C252B"/>
                </a:solidFill>
                <a:latin typeface="Cambria"/>
              </a:rPr>
              <a:t>b</a:t>
            </a:r>
            <a:r>
              <a:rPr sz="1900" b="1" i="0">
                <a:solidFill>
                  <a:srgbClr val="1C252B"/>
                </a:solidFill>
                <a:latin typeface="Segoe UI"/>
              </a:rPr>
              <a:t> to mean </a:t>
            </a:r>
            <a:r>
              <a:rPr sz="1900" b="1" i="1">
                <a:solidFill>
                  <a:srgbClr val="1C252B"/>
                </a:solidFill>
                <a:latin typeface="Cambria"/>
              </a:rPr>
              <a:t>a</a:t>
            </a:r>
            <a:r>
              <a:rPr sz="1900" b="1" i="0">
                <a:solidFill>
                  <a:srgbClr val="1C252B"/>
                </a:solidFill>
                <a:latin typeface="Segoe UI"/>
              </a:rPr>
              <a:t> causes </a:t>
            </a:r>
            <a:r>
              <a:rPr sz="1900" b="1" i="1">
                <a:solidFill>
                  <a:srgbClr val="1C252B"/>
                </a:solidFill>
                <a:latin typeface="Cambria"/>
              </a:rPr>
              <a:t>b</a:t>
            </a:r>
            <a:r>
              <a:rPr sz="1900" b="1" i="0">
                <a:solidFill>
                  <a:srgbClr val="1C252B"/>
                </a:solidFill>
                <a:latin typeface="Segoe UI"/>
              </a:rPr>
              <a:t>.</a:t>
            </a:r>
            <a:r>
              <a:rPr sz="1900" b="0" i="0">
                <a:solidFill>
                  <a:srgbClr val="1C252B"/>
                </a:solidFill>
                <a:latin typeface="Segoe UI"/>
              </a:rPr>
              <a:t> It is false in exactly one row of the truth table and is true whenever </a:t>
            </a:r>
            <a:r>
              <a:rPr sz="1900" b="0" i="1">
                <a:solidFill>
                  <a:srgbClr val="1C252B"/>
                </a:solidFill>
                <a:latin typeface="Cambria"/>
              </a:rPr>
              <a:t>a</a:t>
            </a:r>
            <a:r>
              <a:rPr sz="1900" b="0" i="0">
                <a:solidFill>
                  <a:srgbClr val="1C252B"/>
                </a:solidFill>
                <a:latin typeface="Segoe UI"/>
              </a:rPr>
              <a:t> is false.</a:t>
            </a:r>
          </a:p>
        </p:txBody>
      </p:sp>
      <p:sp>
        <p:nvSpPr>
          <p:cNvPr id="13" name="!!pb2">
            <a:extLst>
              <a:ext uri="{C183D7F6-B498-43B3-948B-1728B52AA6E4}">
                <adec:decorative xmlns:adec="http://schemas.microsoft.com/office/drawing/2017/decorative" val="1"/>
              </a:ext>
            </a:extLst>
          </p:cNvPr>
          <p:cNvSpPr/>
          <p:nvPr/>
        </p:nvSpPr>
        <p:spPr>
          <a:xfrm>
            <a:off x="658368" y="336255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38541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344265"/>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Omitting a condition from a rule because it is obvious.</a:t>
            </a:r>
            <a:r>
              <a:rPr sz="1900" b="0" i="0">
                <a:solidFill>
                  <a:srgbClr val="1C252B"/>
                </a:solidFill>
                <a:latin typeface="Segoe UI"/>
              </a:rPr>
              <a:t> The worked example above turns on exactly this, and the result is a system that concludes there is no blocker.</a:t>
            </a:r>
          </a:p>
        </p:txBody>
      </p:sp>
      <p:sp>
        <p:nvSpPr>
          <p:cNvPr id="16" name="!!pb3">
            <a:extLst>
              <a:ext uri="{C183D7F6-B498-43B3-948B-1728B52AA6E4}">
                <adec:decorative xmlns:adec="http://schemas.microsoft.com/office/drawing/2017/decorative" val="1"/>
              </a:ext>
            </a:extLst>
          </p:cNvPr>
          <p:cNvSpPr/>
          <p:nvPr/>
        </p:nvSpPr>
        <p:spPr>
          <a:xfrm>
            <a:off x="658368" y="41660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1888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14771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Using model checking beyond about twenty symbols.</a:t>
            </a:r>
            <a:r>
              <a:rPr sz="1900" b="0" i="0">
                <a:solidFill>
                  <a:srgbClr val="1C252B"/>
                </a:solidFill>
                <a:latin typeface="Segoe UI"/>
              </a:rPr>
              <a:t> </a:t>
            </a:r>
            <a:r>
              <a:rPr sz="1900" b="0" i="0">
                <a:solidFill>
                  <a:srgbClr val="1C252B"/>
                </a:solidFill>
                <a:latin typeface="Cambria"/>
              </a:rPr>
              <a:t>2</a:t>
            </a:r>
            <a:r>
              <a:rPr sz="1250" b="0" i="1" baseline="30000">
                <a:solidFill>
                  <a:srgbClr val="1C252B"/>
                </a:solidFill>
                <a:latin typeface="Cambria"/>
              </a:rPr>
              <a:t>n</a:t>
            </a:r>
            <a:r>
              <a:rPr sz="1900" b="0" i="0">
                <a:solidFill>
                  <a:srgbClr val="1C252B"/>
                </a:solidFill>
                <a:latin typeface="Segoe UI"/>
              </a:rPr>
              <a:t> is the definition, not an algorithm.</a:t>
            </a:r>
          </a:p>
        </p:txBody>
      </p:sp>
      <p:sp>
        <p:nvSpPr>
          <p:cNvPr id="19" name="!!pb4">
            <a:extLst>
              <a:ext uri="{C183D7F6-B498-43B3-948B-1728B52AA6E4}">
                <adec:decorative xmlns:adec="http://schemas.microsoft.com/office/drawing/2017/decorative" val="1"/>
              </a:ext>
            </a:extLst>
          </p:cNvPr>
          <p:cNvSpPr/>
          <p:nvPr/>
        </p:nvSpPr>
        <p:spPr>
          <a:xfrm>
            <a:off x="658368" y="473293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5579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714646"/>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Assuming resolution is the efficient method.</a:t>
            </a:r>
            <a:r>
              <a:rPr sz="1900" b="0" i="0">
                <a:solidFill>
                  <a:srgbClr val="1C252B"/>
                </a:solidFill>
                <a:latin typeface="Segoe UI"/>
              </a:rPr>
              <a:t> It took </a:t>
            </a:r>
            <a:r>
              <a:rPr sz="1900" b="0" i="0">
                <a:solidFill>
                  <a:srgbClr val="1C252B"/>
                </a:solidFill>
                <a:latin typeface="Cambria"/>
              </a:rPr>
              <a:t>105</a:t>
            </a:r>
            <a:r>
              <a:rPr sz="1900" b="0" i="0">
                <a:solidFill>
                  <a:srgbClr val="1C252B"/>
                </a:solidFill>
                <a:latin typeface="Segoe UI"/>
              </a:rPr>
              <a:t> steps where DPLL took </a:t>
            </a:r>
            <a:r>
              <a:rPr sz="1900" b="0" i="0">
                <a:solidFill>
                  <a:srgbClr val="1C252B"/>
                </a:solidFill>
                <a:latin typeface="Cambria"/>
              </a:rPr>
              <a:t>6</a:t>
            </a:r>
            <a:r>
              <a:rPr sz="1900" b="0" i="0">
                <a:solidFill>
                  <a:srgbClr val="1C252B"/>
                </a:solidFill>
                <a:latin typeface="Segoe UI"/>
              </a:rPr>
              <a:t> calls. Its value is auditable proofs and the lift to first-order logic.</a:t>
            </a:r>
          </a:p>
        </p:txBody>
      </p:sp>
      <p:sp>
        <p:nvSpPr>
          <p:cNvPr id="22" name="!!pb5">
            <a:extLst>
              <a:ext uri="{C183D7F6-B498-43B3-948B-1728B52AA6E4}">
                <adec:decorative xmlns:adec="http://schemas.microsoft.com/office/drawing/2017/decorative" val="1"/>
              </a:ext>
            </a:extLst>
          </p:cNvPr>
          <p:cNvSpPr/>
          <p:nvPr/>
        </p:nvSpPr>
        <p:spPr>
          <a:xfrm>
            <a:off x="658368" y="553638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55924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518099"/>
            <a:ext cx="10271455" cy="60228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A93226"/>
                </a:solidFill>
                <a:latin typeface="Segoe UI"/>
              </a:rPr>
              <a:t>Reporting only “does not follow”.</a:t>
            </a:r>
            <a:r>
              <a:rPr sz="1900" b="0" i="0">
                <a:solidFill>
                  <a:srgbClr val="1C252B"/>
                </a:solidFill>
                <a:latin typeface="Segoe UI"/>
              </a:rPr>
              <a:t> Return the countermodel; it is what turns a refusal into a diagnosis.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8926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B181E499-F882-43CE-A569-96D8BECA5993}" type="slidenum">
              <a:rPr lang="en-GB" sz="1000">
                <a:solidFill>
                  <a:srgbClr val="8795A1"/>
                </a:solidFill>
                <a:latin typeface="Segoe UI"/>
              </a:rPr>
              <a:t>30</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Model checking, DPLL and resolution refutation on the same knowledge base, plus the two variants of the worked example.</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859280"/>
          </a:xfrm>
          <a:prstGeom prst="rect">
            <a:avLst/>
          </a:prstGeom>
          <a:noFill/>
        </p:spPr>
        <p:txBody>
          <a:bodyPr wrap="square" anchor="t" lIns="0" rIns="0" tIns="0" bIns="0">
            <a:noAutofit/>
          </a:bodyPr>
          <a:lstStyle/>
          <a:p>
            <a:pPr algn="l" marL="404250" indent="-404250">
              <a:lnSpc>
                <a:spcPct val="100000"/>
              </a:lnSpc>
              <a:spcBef>
                <a:spcPts val="0"/>
              </a:spcBef>
              <a:spcAft>
                <a:spcPts val="480"/>
              </a:spcAft>
            </a:pPr>
            <a:r>
              <a:rPr sz="1600" b="1">
                <a:solidFill>
                  <a:srgbClr val="117A65"/>
                </a:solidFill>
                <a:latin typeface="Segoe UI"/>
              </a:rPr>
              <a:t>1.	</a:t>
            </a:r>
            <a:r>
              <a:rPr sz="1600" b="0" i="0">
                <a:solidFill>
                  <a:srgbClr val="1C252B"/>
                </a:solidFill>
                <a:latin typeface="Segoe UI"/>
              </a:rPr>
              <a:t>Model checking: the definition, made executable</a:t>
            </a:r>
          </a:p>
          <a:p>
            <a:pPr algn="l" marL="404250" indent="-404250">
              <a:lnSpc>
                <a:spcPct val="100000"/>
              </a:lnSpc>
              <a:spcBef>
                <a:spcPts val="0"/>
              </a:spcBef>
              <a:spcAft>
                <a:spcPts val="480"/>
              </a:spcAft>
            </a:pPr>
            <a:r>
              <a:rPr sz="1600" b="1">
                <a:solidFill>
                  <a:srgbClr val="117A65"/>
                </a:solidFill>
                <a:latin typeface="Segoe UI"/>
              </a:rPr>
              <a:t>2.	</a:t>
            </a:r>
            <a:r>
              <a:rPr sz="1600" b="0" i="0">
                <a:solidFill>
                  <a:srgbClr val="1C252B"/>
                </a:solidFill>
                <a:latin typeface="Segoe UI"/>
              </a:rPr>
              <a:t>DPLL: backtracking with propagation</a:t>
            </a:r>
          </a:p>
          <a:p>
            <a:pPr algn="l" marL="404250" indent="-404250">
              <a:lnSpc>
                <a:spcPct val="100000"/>
              </a:lnSpc>
              <a:spcBef>
                <a:spcPts val="0"/>
              </a:spcBef>
              <a:spcAft>
                <a:spcPts val="480"/>
              </a:spcAft>
            </a:pPr>
            <a:r>
              <a:rPr sz="1600" b="1">
                <a:solidFill>
                  <a:srgbClr val="117A65"/>
                </a:solidFill>
                <a:latin typeface="Segoe UI"/>
              </a:rPr>
              <a:t>3.	</a:t>
            </a:r>
            <a:r>
              <a:rPr sz="1600" b="0" i="0">
                <a:solidFill>
                  <a:srgbClr val="1C252B"/>
                </a:solidFill>
                <a:latin typeface="Segoe UI"/>
              </a:rPr>
              <a:t>Resolution refutation</a:t>
            </a:r>
          </a:p>
          <a:p>
            <a:pPr algn="l" marL="404250" indent="-404250">
              <a:lnSpc>
                <a:spcPct val="100000"/>
              </a:lnSpc>
              <a:spcBef>
                <a:spcPts val="0"/>
              </a:spcBef>
              <a:spcAft>
                <a:spcPts val="480"/>
              </a:spcAft>
            </a:pPr>
            <a:r>
              <a:rPr sz="1600" b="1">
                <a:solidFill>
                  <a:srgbClr val="117A65"/>
                </a:solidFill>
                <a:latin typeface="Segoe UI"/>
              </a:rPr>
              <a:t>4.	</a:t>
            </a:r>
            <a:r>
              <a:rPr sz="1600" b="0" i="0">
                <a:solidFill>
                  <a:srgbClr val="1C252B"/>
                </a:solidFill>
                <a:latin typeface="Segoe UI"/>
              </a:rPr>
              <a:t>Drop the sign-off: the answer becomes no</a:t>
            </a:r>
          </a:p>
          <a:p>
            <a:pPr algn="l" marL="404250" indent="-404250">
              <a:lnSpc>
                <a:spcPct val="100000"/>
              </a:lnSpc>
              <a:spcBef>
                <a:spcPts val="0"/>
              </a:spcBef>
              <a:spcAft>
                <a:spcPts val="480"/>
              </a:spcAft>
            </a:pPr>
            <a:r>
              <a:rPr sz="1600" b="1">
                <a:solidFill>
                  <a:srgbClr val="117A65"/>
                </a:solidFill>
                <a:latin typeface="Segoe UI"/>
              </a:rPr>
              <a:t>5.	</a:t>
            </a:r>
            <a:r>
              <a:rPr sz="1600" b="0" i="0">
                <a:solidFill>
                  <a:srgbClr val="1C252B"/>
                </a:solidFill>
                <a:latin typeface="Segoe UI"/>
              </a:rPr>
              <a:t>Drop the blocker fact: the surprise</a:t>
            </a:r>
          </a:p>
          <a:p>
            <a:pPr algn="l" marL="404250" indent="-404250">
              <a:lnSpc>
                <a:spcPct val="100000"/>
              </a:lnSpc>
              <a:spcBef>
                <a:spcPts val="0"/>
              </a:spcBef>
              <a:spcAft>
                <a:spcPts val="0"/>
              </a:spcAft>
            </a:pPr>
            <a:r>
              <a:rPr sz="1600" b="1">
                <a:solidFill>
                  <a:srgbClr val="117A65"/>
                </a:solidFill>
                <a:latin typeface="Segoe UI"/>
              </a:rPr>
              <a:t>6.	</a:t>
            </a:r>
            <a:r>
              <a:rPr sz="1600" b="0" i="0">
                <a:solidFill>
                  <a:srgbClr val="1C252B"/>
                </a:solidFill>
                <a:latin typeface="Segoe UI"/>
              </a:rPr>
              <a:t>And the fix: put the condition in the rule</a:t>
            </a:r>
          </a:p>
        </p:txBody>
      </p:sp>
      <p:sp>
        <p:nvSpPr>
          <p:cNvPr id="3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10: Three ways to decide a release gate</a:t>
            </a:r>
          </a:p>
        </p:txBody>
      </p:sp>
      <p:sp>
        <p:nvSpPr>
          <p:cNvPr id="3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213 lines of Python</a:t>
            </a:r>
          </a:p>
        </p:txBody>
      </p:sp>
      <p:sp>
        <p:nvSpPr>
          <p:cNvPr id="4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code/ch11_three_ways_decide.py</a:t>
            </a:r>
          </a:p>
        </p:txBody>
      </p:sp>
      <p:sp>
        <p:nvSpPr>
          <p:cNvPr id="4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2735BE43-C690-4263-B859-84A242B3F5DE}"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quot;&quot;&quot;Chapter 11 lab -- deciding a release gate three ways. A clause is a frozenset of literals; a literal is &quot;X&quot; or &quot;-X&quot;. The three procedures agree on every question, and differ enormously in what they cost and in what they hand back. &quot;&quot;&quot; import itertools SYMBOLS = [&quot;Reviewed&quot;, &quot;Tested&quot;, &quot;SignedOff&quot;, &quot;Blocker&quot;, &quot;Staged&quot;, &quot;Deploy&quo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11 lab -- deciding a release gate three ways.</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A clause is a frozenset of literals; a literal is "X" or "-X". The</a:t>
            </a:r>
          </a:p>
          <a:p>
            <a:pPr>
              <a:lnSpc>
                <a:spcPct val="100000"/>
              </a:lnSpc>
              <a:spcAft>
                <a:spcPts val="0"/>
              </a:spcAft>
            </a:pPr>
            <a:r>
              <a:rPr sz="2000" i="0">
                <a:solidFill>
                  <a:srgbClr val="7DCEA0"/>
                </a:solidFill>
                <a:latin typeface="Consolas"/>
              </a:rPr>
              <a:t>three procedures agree on every question, and differ enormously in</a:t>
            </a:r>
          </a:p>
          <a:p>
            <a:pPr>
              <a:lnSpc>
                <a:spcPct val="100000"/>
              </a:lnSpc>
              <a:spcAft>
                <a:spcPts val="0"/>
              </a:spcAft>
            </a:pPr>
            <a:r>
              <a:rPr sz="2000" i="0">
                <a:solidFill>
                  <a:srgbClr val="7DCEA0"/>
                </a:solidFill>
                <a:latin typeface="Consolas"/>
              </a:rPr>
              <a:t>what they cost and in what they hand back.</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itertools</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SYMBOLS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Reviewed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Tested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SignedOff</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Blocker</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Staged</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Deploy</a:t>
            </a:r>
            <a:r>
              <a:rPr sz="2000" i="0">
                <a:solidFill>
                  <a:srgbClr val="7DCEA0"/>
                </a:solidFill>
                <a:latin typeface="Consolas"/>
              </a:rPr>
              <a:t>"</a:t>
            </a:r>
            <a:r>
              <a:rPr sz="20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a:p>
            <a:pPr algn="r">
              <a:lnSpc>
                <a:spcPct val="100000"/>
              </a:lnSpc>
            </a:pPr>
            <a:r>
              <a:rPr sz="20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2990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DA709625-135D-45CC-9B4D-373F18C18BBE}"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The knowledge base, already in conjunctive normal form. KB = [ frozenset({&quot;-Reviewed&quot;, &quot;-Tested&quot;, &quot;Staged&quot;}), # R1 frozenset({&quot;-Staged&quot;, &quot;-SignedOff&quot;, &quot;Deploy&quot;}), # R2 frozenset({&quot;-Blocker&quot;, &quot;-Deploy&quot;}), # R3 frozenset({&quot;Reviewed&quot;}), # F1 frozenset({&quot;Tested&quot;}), # F2 frozenset({&quot;SignedOff&quot;}), # F3 frozenset({&quot;-Blocker&quot;}), # F4 ] LABEL = {KB[0]: &quot;R1&quot;, KB[1]: &quot;R2&quot;, KB[2]: &quot;R3&quot;, KB[3]: &quot;F1&quot;, KB[4]: &quot;F2&quot;, KB[5]: &quot;F3&quot;, KB[6]: &quot;F4&quot;}"/>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The knowledge base, already in conjunctive normal form.</a:t>
            </a:r>
          </a:p>
          <a:p>
            <a:pPr>
              <a:lnSpc>
                <a:spcPct val="100000"/>
              </a:lnSpc>
              <a:spcAft>
                <a:spcPts val="0"/>
              </a:spcAft>
            </a:pPr>
            <a:r>
              <a:rPr sz="1900" i="0">
                <a:solidFill>
                  <a:srgbClr val="E8EDF2"/>
                </a:solidFill>
                <a:latin typeface="Consolas"/>
              </a:rPr>
              <a:t>KB</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-Reviewed</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-Tested</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Staged</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R1</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-Staged</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-SignedOff</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Deploy</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R2</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-Blocker</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-Deploy</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R3</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Reviewed</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F1</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Tested</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F2</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SignedOff</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F3</a:t>
            </a:r>
          </a:p>
          <a:p>
            <a:pPr>
              <a:lnSpc>
                <a:spcPct val="100000"/>
              </a:lnSpc>
              <a:spcAft>
                <a:spcPts val="0"/>
              </a:spcAft>
            </a:pP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-Blocker</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F4</a:t>
            </a:r>
          </a:p>
          <a:p>
            <a:pPr>
              <a:lnSpc>
                <a:spcPct val="100000"/>
              </a:lnSpc>
              <a:spcAft>
                <a:spcPts val="0"/>
              </a:spcAft>
            </a:pPr>
            <a:r>
              <a:rPr sz="1900" i="0">
                <a:solidFill>
                  <a:srgbClr val="AEB6BF"/>
                </a:solidFill>
                <a:latin typeface="Consolas"/>
              </a:rPr>
              <a:t>]</a:t>
            </a:r>
          </a:p>
          <a:p>
            <a:pPr>
              <a:lnSpc>
                <a:spcPct val="100000"/>
              </a:lnSpc>
              <a:spcAft>
                <a:spcPts val="0"/>
              </a:spcAft>
            </a:pPr>
            <a:r>
              <a:rPr sz="1900" i="0">
                <a:solidFill>
                  <a:srgbClr val="E8EDF2"/>
                </a:solidFill>
                <a:latin typeface="Consolas"/>
              </a:rPr>
              <a:t>LABEL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R1</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R2</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2</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R3</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3</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F1</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4</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F2</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F3</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F7DC6F"/>
                </a:solidFill>
                <a:latin typeface="Consolas"/>
              </a:rPr>
              <a:t>6</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F4</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43E7280C-2C3A-4B7A-AF26-3A123748290C}"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def neg(lit): return lit[1:] if lit.startswith(&quot;-&quot;) else &quot;-&quot; + lit def holds(lit, model): return (not model[lit[1:]]) if lit.startswith(&quot;-&quot;) else model[lit] def clause_true(clause, model): return any(holds(l, model) for l in clause)"/>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neg</a:t>
            </a:r>
            <a:r>
              <a:rPr sz="1900" i="0">
                <a:solidFill>
                  <a:srgbClr val="AEB6BF"/>
                </a:solidFill>
                <a:latin typeface="Consolas"/>
              </a:rPr>
              <a:t>(</a:t>
            </a:r>
            <a:r>
              <a:rPr sz="1900" i="0">
                <a:solidFill>
                  <a:srgbClr val="E8EDF2"/>
                </a:solidFill>
                <a:latin typeface="Consolas"/>
              </a:rPr>
              <a:t>lit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lit</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lit</a:t>
            </a:r>
            <a:r>
              <a:rPr sz="1900" i="0">
                <a:solidFill>
                  <a:srgbClr val="AEB6BF"/>
                </a:solidFill>
                <a:latin typeface="Consolas"/>
              </a:rPr>
              <a:t>.</a:t>
            </a:r>
            <a:r>
              <a:rPr sz="1900" i="0">
                <a:solidFill>
                  <a:srgbClr val="E8EDF2"/>
                </a:solidFill>
                <a:latin typeface="Consolas"/>
              </a:rPr>
              <a:t>startswith</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else</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lit</a:t>
            </a:r>
          </a:p>
          <a:p>
            <a:pPr>
              <a:lnSpc>
                <a:spcPct val="100000"/>
              </a:lnSpc>
              <a:spcAft>
                <a:spcPts val="0"/>
              </a:spcAft>
            </a:pPr>
            <a:r>
              <a:rPr sz="1900">
                <a:latin typeface="Consolas"/>
              </a:rPr>
              <a:t> </a:t>
            </a:r>
          </a:p>
          <a:p>
            <a:pPr>
              <a:lnSpc>
                <a:spcPct val="100000"/>
              </a:lnSpc>
              <a:spcAft>
                <a:spcPts val="0"/>
              </a:spcAft>
            </a:pPr>
            <a:r>
              <a:rPr sz="1900">
                <a:latin typeface="Consolas"/>
              </a:rPr>
              <a:t>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holds</a:t>
            </a:r>
            <a:r>
              <a:rPr sz="1900" i="0">
                <a:solidFill>
                  <a:srgbClr val="AEB6BF"/>
                </a:solidFill>
                <a:latin typeface="Consolas"/>
              </a:rPr>
              <a:t>(</a:t>
            </a:r>
            <a:r>
              <a:rPr sz="1900" i="0">
                <a:solidFill>
                  <a:srgbClr val="E8EDF2"/>
                </a:solidFill>
                <a:latin typeface="Consolas"/>
              </a:rPr>
              <a:t>lit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not</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E8EDF2"/>
                </a:solidFill>
                <a:latin typeface="Consolas"/>
              </a:rPr>
              <a:t>lit</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lit</a:t>
            </a:r>
            <a:r>
              <a:rPr sz="1900" i="0">
                <a:solidFill>
                  <a:srgbClr val="AEB6BF"/>
                </a:solidFill>
                <a:latin typeface="Consolas"/>
              </a:rPr>
              <a:t>.</a:t>
            </a:r>
            <a:r>
              <a:rPr sz="1900" i="0">
                <a:solidFill>
                  <a:srgbClr val="E8EDF2"/>
                </a:solidFill>
                <a:latin typeface="Consolas"/>
              </a:rPr>
              <a:t>startswith</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else</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E8EDF2"/>
                </a:solidFill>
                <a:latin typeface="Consolas"/>
              </a:rPr>
              <a:t>lit</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a:latin typeface="Consolas"/>
              </a:rPr>
              <a:t>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clause_true</a:t>
            </a:r>
            <a:r>
              <a:rPr sz="1900" i="0">
                <a:solidFill>
                  <a:srgbClr val="AEB6BF"/>
                </a:solidFill>
                <a:latin typeface="Consolas"/>
              </a:rPr>
              <a:t>(</a:t>
            </a:r>
            <a:r>
              <a:rPr sz="1900" i="0">
                <a:solidFill>
                  <a:srgbClr val="E8EDF2"/>
                </a:solidFill>
                <a:latin typeface="Consolas"/>
              </a:rPr>
              <a:t>clause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any</a:t>
            </a:r>
            <a:r>
              <a:rPr sz="1900" i="0">
                <a:solidFill>
                  <a:srgbClr val="AEB6BF"/>
                </a:solidFill>
                <a:latin typeface="Consolas"/>
              </a:rPr>
              <a:t>(</a:t>
            </a:r>
            <a:r>
              <a:rPr sz="1900" i="0">
                <a:solidFill>
                  <a:srgbClr val="E8EDF2"/>
                </a:solidFill>
                <a:latin typeface="Consolas"/>
              </a:rPr>
              <a:t>holds</a:t>
            </a:r>
            <a:r>
              <a:rPr sz="1900" i="0">
                <a:solidFill>
                  <a:srgbClr val="AEB6BF"/>
                </a:solidFill>
                <a:latin typeface="Consolas"/>
              </a:rPr>
              <a:t>(</a:t>
            </a:r>
            <a:r>
              <a:rPr sz="1900" i="0">
                <a:solidFill>
                  <a:srgbClr val="E8EDF2"/>
                </a:solidFill>
                <a:latin typeface="Consolas"/>
              </a:rPr>
              <a:t>l</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clause</a:t>
            </a:r>
            <a:r>
              <a:rPr sz="1900" i="0">
                <a:solidFill>
                  <a:srgbClr val="AEB6BF"/>
                </a:solidFill>
                <a:latin typeface="Consolas"/>
              </a:rPr>
              <a:t>)</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0956B413-78C4-4E4D-8A34-66BD1F0305B1}"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Model checking: the definition, made executable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 1. model checking: the definition, made executable ------------ def model_check(kb, query, symbols): &quot;&quot;&quot;Returns (entailed, models of kb, models enumerated).&quot;&quot;&quot; models, seen = [], 0 for combo in itertools.product([False, True], repeat=len(symbols)): m = dict(zip(symbols, combo)) seen += 1 if all(clause_true(c, m) for c in kb): models.append(m) entailed = bool(models) and all(m[query] for m in models) return entailed, models, seen"/>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--- 1. model checking: the definition, made executable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model_check</a:t>
            </a:r>
            <a:r>
              <a:rPr sz="1900" i="0">
                <a:solidFill>
                  <a:srgbClr val="AEB6BF"/>
                </a:solidFill>
                <a:latin typeface="Consolas"/>
              </a:rPr>
              <a:t>(</a:t>
            </a:r>
            <a:r>
              <a:rPr sz="1900" i="0">
                <a:solidFill>
                  <a:srgbClr val="E8EDF2"/>
                </a:solidFill>
                <a:latin typeface="Consolas"/>
              </a:rPr>
              <a:t>kb</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query</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symbols</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"""Returns (entailed, models of kb, models enumerated)."""</a:t>
            </a:r>
          </a:p>
          <a:p>
            <a:pPr>
              <a:lnSpc>
                <a:spcPct val="100000"/>
              </a:lnSpc>
              <a:spcAft>
                <a:spcPts val="0"/>
              </a:spcAft>
            </a:pPr>
            <a:r>
              <a:rPr sz="1900" i="0">
                <a:solidFill>
                  <a:srgbClr val="E8EDF2"/>
                </a:solidFill>
                <a:latin typeface="Consolas"/>
              </a:rPr>
              <a:t>    </a:t>
            </a:r>
            <a:r>
              <a:rPr sz="1900" i="0">
                <a:solidFill>
                  <a:srgbClr val="E8EDF2"/>
                </a:solidFill>
                <a:latin typeface="Consolas"/>
              </a:rPr>
              <a:t>models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seen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combo</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itertools</a:t>
            </a:r>
            <a:r>
              <a:rPr sz="1900" i="0">
                <a:solidFill>
                  <a:srgbClr val="AEB6BF"/>
                </a:solidFill>
                <a:latin typeface="Consolas"/>
              </a:rPr>
              <a:t>.</a:t>
            </a:r>
            <a:r>
              <a:rPr sz="1900" i="0">
                <a:solidFill>
                  <a:srgbClr val="E8EDF2"/>
                </a:solidFill>
                <a:latin typeface="Consolas"/>
              </a:rPr>
              <a:t>product</a:t>
            </a:r>
            <a:r>
              <a:rPr sz="1900" i="0">
                <a:solidFill>
                  <a:srgbClr val="AEB6BF"/>
                </a:solidFill>
                <a:latin typeface="Consolas"/>
              </a:rPr>
              <a:t>(</a:t>
            </a:r>
            <a:r>
              <a:rPr sz="1900" i="0">
                <a:solidFill>
                  <a:srgbClr val="AEB6BF"/>
                </a:solidFill>
                <a:latin typeface="Consolas"/>
              </a:rPr>
              <a:t>[</a:t>
            </a:r>
            <a:r>
              <a:rPr sz="1900" i="0">
                <a:solidFill>
                  <a:srgbClr val="5DADE2"/>
                </a:solidFill>
                <a:latin typeface="Consolas"/>
              </a:rPr>
              <a:t>False</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True</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repeat</a:t>
            </a:r>
            <a:r>
              <a:rPr sz="1900" i="0">
                <a:solidFill>
                  <a:srgbClr val="AEB6BF"/>
                </a:solidFill>
                <a:latin typeface="Consolas"/>
              </a:rPr>
              <a:t>=</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symbols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dict</a:t>
            </a:r>
            <a:r>
              <a:rPr sz="1900" i="0">
                <a:solidFill>
                  <a:srgbClr val="AEB6BF"/>
                </a:solidFill>
                <a:latin typeface="Consolas"/>
              </a:rPr>
              <a:t>(</a:t>
            </a:r>
            <a:r>
              <a:rPr sz="1900" i="0">
                <a:solidFill>
                  <a:srgbClr val="C39BD3"/>
                </a:solidFill>
                <a:latin typeface="Consolas"/>
              </a:rPr>
              <a:t>zip</a:t>
            </a:r>
            <a:r>
              <a:rPr sz="1900" i="0">
                <a:solidFill>
                  <a:srgbClr val="AEB6BF"/>
                </a:solidFill>
                <a:latin typeface="Consolas"/>
              </a:rPr>
              <a:t>(</a:t>
            </a:r>
            <a:r>
              <a:rPr sz="1900" i="0">
                <a:solidFill>
                  <a:srgbClr val="E8EDF2"/>
                </a:solidFill>
                <a:latin typeface="Consolas"/>
              </a:rPr>
              <a:t>symbols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combo</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seen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C39BD3"/>
                </a:solidFill>
                <a:latin typeface="Consolas"/>
              </a:rPr>
              <a:t>all</a:t>
            </a:r>
            <a:r>
              <a:rPr sz="1900" i="0">
                <a:solidFill>
                  <a:srgbClr val="AEB6BF"/>
                </a:solidFill>
                <a:latin typeface="Consolas"/>
              </a:rPr>
              <a:t>(</a:t>
            </a:r>
            <a:r>
              <a:rPr sz="1900" i="0">
                <a:solidFill>
                  <a:srgbClr val="E8EDF2"/>
                </a:solidFill>
                <a:latin typeface="Consolas"/>
              </a:rPr>
              <a:t>clause_true</a:t>
            </a:r>
            <a:r>
              <a:rPr sz="1900" i="0">
                <a:solidFill>
                  <a:srgbClr val="AEB6BF"/>
                </a:solidFill>
                <a:latin typeface="Consolas"/>
              </a:rPr>
              <a:t>(</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kb</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models</a:t>
            </a:r>
            <a:r>
              <a:rPr sz="1900" i="0">
                <a:solidFill>
                  <a:srgbClr val="AEB6BF"/>
                </a:solidFill>
                <a:latin typeface="Consolas"/>
              </a:rPr>
              <a:t>.</a:t>
            </a:r>
            <a:r>
              <a:rPr sz="1900" i="0">
                <a:solidFill>
                  <a:srgbClr val="E8EDF2"/>
                </a:solidFill>
                <a:latin typeface="Consolas"/>
              </a:rPr>
              <a:t>append</a:t>
            </a:r>
            <a:r>
              <a:rPr sz="1900" i="0">
                <a:solidFill>
                  <a:srgbClr val="AEB6BF"/>
                </a:solidFill>
                <a:latin typeface="Consolas"/>
              </a:rPr>
              <a:t>(</a:t>
            </a:r>
            <a:r>
              <a:rPr sz="1900" i="0">
                <a:solidFill>
                  <a:srgbClr val="E8EDF2"/>
                </a:solidFill>
                <a:latin typeface="Consolas"/>
              </a:rPr>
              <a:t>m</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entailed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bool</a:t>
            </a:r>
            <a:r>
              <a:rPr sz="1900" i="0">
                <a:solidFill>
                  <a:srgbClr val="AEB6BF"/>
                </a:solidFill>
                <a:latin typeface="Consolas"/>
              </a:rPr>
              <a:t>(</a:t>
            </a:r>
            <a:r>
              <a:rPr sz="1900" i="0">
                <a:solidFill>
                  <a:srgbClr val="E8EDF2"/>
                </a:solidFill>
                <a:latin typeface="Consolas"/>
              </a:rPr>
              <a:t>models</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C39BD3"/>
                </a:solidFill>
                <a:latin typeface="Consolas"/>
              </a:rPr>
              <a:t>all</a:t>
            </a:r>
            <a:r>
              <a:rPr sz="1900" i="0">
                <a:solidFill>
                  <a:srgbClr val="AEB6BF"/>
                </a:solidFill>
                <a:latin typeface="Consolas"/>
              </a:rPr>
              <a:t>(</a:t>
            </a:r>
            <a:r>
              <a:rPr sz="1900" i="0">
                <a:solidFill>
                  <a:srgbClr val="E8EDF2"/>
                </a:solidFill>
                <a:latin typeface="Consolas"/>
              </a:rPr>
              <a:t>m</a:t>
            </a:r>
            <a:r>
              <a:rPr sz="1900" i="0">
                <a:solidFill>
                  <a:srgbClr val="AEB6BF"/>
                </a:solidFill>
                <a:latin typeface="Consolas"/>
              </a:rPr>
              <a:t>[</a:t>
            </a:r>
            <a:r>
              <a:rPr sz="1900" i="0">
                <a:solidFill>
                  <a:srgbClr val="E8EDF2"/>
                </a:solidFill>
                <a:latin typeface="Consolas"/>
              </a:rPr>
              <a:t>query</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models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entailed</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seen</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086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DC7722AC-4F02-46A5-A34C-ABFA473EB1FB}"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DPLL: backtracking with propagation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 2. DPLL: backtracking with propagation ------------------------ class Work: def __init__(self): self.calls = 0 self.units = 0 self.branches = 0 def simplify(kb, lit): out = [] for c in kb: if lit in c: continue # clause already satisfied if neg(lit) in c: out.append(c - {neg(lit)}) # clause shortens else: out.append(c) return out"/>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--- 2. DPLL: backtracking with propagation ------------------------</a:t>
            </a:r>
          </a:p>
          <a:p>
            <a:pPr>
              <a:lnSpc>
                <a:spcPct val="100000"/>
              </a:lnSpc>
              <a:spcAft>
                <a:spcPts val="0"/>
              </a:spcAft>
            </a:pPr>
            <a:r>
              <a:rPr sz="1300" i="0">
                <a:solidFill>
                  <a:srgbClr val="5DADE2"/>
                </a:solidFill>
                <a:latin typeface="Consolas"/>
              </a:rPr>
              <a:t>class</a:t>
            </a:r>
            <a:r>
              <a:rPr sz="1300" i="0">
                <a:solidFill>
                  <a:srgbClr val="E8EDF2"/>
                </a:solidFill>
                <a:latin typeface="Consolas"/>
              </a:rPr>
              <a:t> </a:t>
            </a:r>
            <a:r>
              <a:rPr sz="1300" i="0">
                <a:solidFill>
                  <a:srgbClr val="76D7C4"/>
                </a:solidFill>
                <a:latin typeface="Consolas"/>
              </a:rPr>
              <a:t>Work</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__init__</a:t>
            </a:r>
            <a:r>
              <a:rPr sz="1300" i="0">
                <a:solidFill>
                  <a:srgbClr val="AEB6BF"/>
                </a:solidFill>
                <a:latin typeface="Consolas"/>
              </a:rPr>
              <a:t>(</a:t>
            </a:r>
            <a:r>
              <a:rPr sz="1300" i="0">
                <a:solidFill>
                  <a:srgbClr val="C39BD3"/>
                </a:solidFill>
                <a:latin typeface="Consolas"/>
              </a:rPr>
              <a:t>self</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calls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i="0">
                <a:solidFill>
                  <a:srgbClr val="E8EDF2"/>
                </a:solidFill>
                <a:latin typeface="Consolas"/>
              </a:rPr>
              <a:t>        </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units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i="0">
                <a:solidFill>
                  <a:srgbClr val="E8EDF2"/>
                </a:solidFill>
                <a:latin typeface="Consolas"/>
              </a:rPr>
              <a:t>        </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branches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a:latin typeface="Consolas"/>
              </a:rPr>
              <a:t> </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simplify</a:t>
            </a:r>
            <a:r>
              <a:rPr sz="1300" i="0">
                <a:solidFill>
                  <a:srgbClr val="AEB6BF"/>
                </a:solidFill>
                <a:latin typeface="Consolas"/>
              </a:rPr>
              <a:t>(</a:t>
            </a:r>
            <a:r>
              <a:rPr sz="1300" i="0">
                <a:solidFill>
                  <a:srgbClr val="E8EDF2"/>
                </a:solidFill>
                <a:latin typeface="Consolas"/>
              </a:rPr>
              <a:t>kb</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lit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out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kb</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lit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continue</a:t>
            </a:r>
            <a:r>
              <a:rPr sz="1300" i="0">
                <a:solidFill>
                  <a:srgbClr val="E8EDF2"/>
                </a:solidFill>
                <a:latin typeface="Consolas"/>
              </a:rPr>
              <a:t>                       </a:t>
            </a:r>
            <a:r>
              <a:rPr sz="1300" i="1">
                <a:solidFill>
                  <a:srgbClr val="8795A1"/>
                </a:solidFill>
                <a:latin typeface="Consolas"/>
              </a:rPr>
              <a:t># clause already satisfied</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neg</a:t>
            </a:r>
            <a:r>
              <a:rPr sz="1300" i="0">
                <a:solidFill>
                  <a:srgbClr val="AEB6BF"/>
                </a:solidFill>
                <a:latin typeface="Consolas"/>
              </a:rPr>
              <a:t>(</a:t>
            </a:r>
            <a:r>
              <a:rPr sz="1300" i="0">
                <a:solidFill>
                  <a:srgbClr val="E8EDF2"/>
                </a:solidFill>
                <a:latin typeface="Consolas"/>
              </a:rPr>
              <a:t>lit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out</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neg</a:t>
            </a:r>
            <a:r>
              <a:rPr sz="1300" i="0">
                <a:solidFill>
                  <a:srgbClr val="AEB6BF"/>
                </a:solidFill>
                <a:latin typeface="Consolas"/>
              </a:rPr>
              <a:t>(</a:t>
            </a:r>
            <a:r>
              <a:rPr sz="1300" i="0">
                <a:solidFill>
                  <a:srgbClr val="E8EDF2"/>
                </a:solidFill>
                <a:latin typeface="Consolas"/>
              </a:rPr>
              <a:t>lit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clause shortens</a:t>
            </a:r>
          </a:p>
          <a:p>
            <a:pPr>
              <a:lnSpc>
                <a:spcPct val="100000"/>
              </a:lnSpc>
              <a:spcAft>
                <a:spcPts val="0"/>
              </a:spcAft>
            </a:pPr>
            <a:r>
              <a:rPr sz="1300" i="0">
                <a:solidFill>
                  <a:srgbClr val="E8EDF2"/>
                </a:solidFill>
                <a:latin typeface="Consolas"/>
              </a:rPr>
              <a:t>        </a:t>
            </a:r>
            <a:r>
              <a:rPr sz="1300" i="0">
                <a:solidFill>
                  <a:srgbClr val="5DADE2"/>
                </a:solidFill>
                <a:latin typeface="Consolas"/>
              </a:rPr>
              <a:t>else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out</a:t>
            </a:r>
            <a:r>
              <a:rPr sz="1300" i="0">
                <a:solidFill>
                  <a:srgbClr val="AEB6BF"/>
                </a:solidFill>
                <a:latin typeface="Consolas"/>
              </a:rPr>
              <a:t>.</a:t>
            </a:r>
            <a:r>
              <a:rPr sz="1300" i="0">
                <a:solidFill>
                  <a:srgbClr val="E8EDF2"/>
                </a:solidFill>
                <a:latin typeface="Consolas"/>
              </a:rPr>
              <a:t>append</a:t>
            </a:r>
            <a:r>
              <a:rPr sz="1300" i="0">
                <a:solidFill>
                  <a:srgbClr val="AEB6BF"/>
                </a:solidFill>
                <a:latin typeface="Consolas"/>
              </a:rPr>
              <a:t>(</a:t>
            </a:r>
            <a:r>
              <a:rPr sz="1300" i="0">
                <a:solidFill>
                  <a:srgbClr val="E8EDF2"/>
                </a:solidFill>
                <a:latin typeface="Consolas"/>
              </a:rPr>
              <a:t>c</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out</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53</a:t>
            </a:r>
          </a:p>
          <a:p>
            <a:pPr algn="r">
              <a:lnSpc>
                <a:spcPct val="100000"/>
              </a:lnSpc>
            </a:pPr>
            <a:r>
              <a:rPr sz="1300">
                <a:solidFill>
                  <a:srgbClr val="4F5D6A"/>
                </a:solidFill>
                <a:latin typeface="Consolas"/>
              </a:rPr>
              <a:t>54</a:t>
            </a:r>
          </a:p>
          <a:p>
            <a:pPr algn="r">
              <a:lnSpc>
                <a:spcPct val="100000"/>
              </a:lnSpc>
            </a:pPr>
            <a:r>
              <a:rPr sz="1300">
                <a:solidFill>
                  <a:srgbClr val="4F5D6A"/>
                </a:solidFill>
                <a:latin typeface="Consolas"/>
              </a:rPr>
              <a:t>55</a:t>
            </a:r>
          </a:p>
          <a:p>
            <a:pPr algn="r">
              <a:lnSpc>
                <a:spcPct val="100000"/>
              </a:lnSpc>
            </a:pPr>
            <a:r>
              <a:rPr sz="1300">
                <a:solidFill>
                  <a:srgbClr val="4F5D6A"/>
                </a:solidFill>
                <a:latin typeface="Consolas"/>
              </a:rPr>
              <a:t>56</a:t>
            </a:r>
          </a:p>
          <a:p>
            <a:pPr algn="r">
              <a:lnSpc>
                <a:spcPct val="100000"/>
              </a:lnSpc>
            </a:pPr>
            <a:r>
              <a:rPr sz="1300">
                <a:solidFill>
                  <a:srgbClr val="4F5D6A"/>
                </a:solidFill>
                <a:latin typeface="Consolas"/>
              </a:rPr>
              <a:t>57</a:t>
            </a:r>
          </a:p>
          <a:p>
            <a:pPr algn="r">
              <a:lnSpc>
                <a:spcPct val="100000"/>
              </a:lnSpc>
            </a:pPr>
            <a:r>
              <a:rPr sz="1300">
                <a:solidFill>
                  <a:srgbClr val="4F5D6A"/>
                </a:solidFill>
                <a:latin typeface="Consolas"/>
              </a:rPr>
              <a:t>58</a:t>
            </a:r>
          </a:p>
          <a:p>
            <a:pPr algn="r">
              <a:lnSpc>
                <a:spcPct val="100000"/>
              </a:lnSpc>
            </a:pPr>
            <a:r>
              <a:rPr sz="1300">
                <a:solidFill>
                  <a:srgbClr val="4F5D6A"/>
                </a:solidFill>
                <a:latin typeface="Consolas"/>
              </a:rPr>
              <a:t>59</a:t>
            </a:r>
          </a:p>
          <a:p>
            <a:pPr algn="r">
              <a:lnSpc>
                <a:spcPct val="100000"/>
              </a:lnSpc>
            </a:pPr>
            <a:r>
              <a:rPr sz="1300">
                <a:solidFill>
                  <a:srgbClr val="4F5D6A"/>
                </a:solidFill>
                <a:latin typeface="Consolas"/>
              </a:rPr>
              <a:t>60</a:t>
            </a:r>
          </a:p>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1182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3488DB10-809E-41A1-81FD-EA9C18AD4ACB}"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DPLL: backtracking with propagation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def dpll(kb, assign, w): w.calls += 1 if not kb: return True, assign if any(len(c) == 0 for c in kb): return False, None for c in kb: # unit propagation if len(c) == 1: lit = next(iter(c)) w.units += 1 a = dict(assign) a[lit.lstrip(&quot;-&quot;)] = not lit.startswith(&quot;-&quot;) return dpll(simplify(kb, lit), a, w) lits = {l for c in kb for l in c} for l in lits: # pure literal if neg(l) not in lits: a = dict(assign) a[l.lstrip(&quot;-&quot;)] = not l.startswith(&quot;-&quot;) return dpll(simplify(kb, l), a, w)"/>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0">
                <a:solidFill>
                  <a:srgbClr val="5DADE2"/>
                </a:solidFill>
                <a:latin typeface="Consolas"/>
              </a:rPr>
              <a:t>def</a:t>
            </a:r>
            <a:r>
              <a:rPr sz="1200" i="0">
                <a:solidFill>
                  <a:srgbClr val="E8EDF2"/>
                </a:solidFill>
                <a:latin typeface="Consolas"/>
              </a:rPr>
              <a:t> </a:t>
            </a:r>
            <a:r>
              <a:rPr sz="1200" i="0">
                <a:solidFill>
                  <a:srgbClr val="C39BD3"/>
                </a:solidFill>
                <a:latin typeface="Consolas"/>
              </a:rPr>
              <a:t>dpll</a:t>
            </a:r>
            <a:r>
              <a:rPr sz="1200" i="0">
                <a:solidFill>
                  <a:srgbClr val="AEB6BF"/>
                </a:solidFill>
                <a:latin typeface="Consolas"/>
              </a:rPr>
              <a:t>(</a:t>
            </a:r>
            <a:r>
              <a:rPr sz="1200" i="0">
                <a:solidFill>
                  <a:srgbClr val="E8EDF2"/>
                </a:solidFill>
                <a:latin typeface="Consolas"/>
              </a:rPr>
              <a:t>kb</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assign</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r>
              <a:rPr sz="1200" i="0">
                <a:solidFill>
                  <a:srgbClr val="E8EDF2"/>
                </a:solidFill>
                <a:latin typeface="Consolas"/>
              </a:rPr>
              <a:t>calls</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AEB6BF"/>
                </a:solidFill>
                <a:latin typeface="Consolas"/>
              </a:rPr>
              <a:t>not</a:t>
            </a:r>
            <a:r>
              <a:rPr sz="1200" i="0">
                <a:solidFill>
                  <a:srgbClr val="E8EDF2"/>
                </a:solidFill>
                <a:latin typeface="Consolas"/>
              </a:rPr>
              <a:t> </a:t>
            </a:r>
            <a:r>
              <a:rPr sz="1200" i="0">
                <a:solidFill>
                  <a:srgbClr val="E8EDF2"/>
                </a:solidFill>
                <a:latin typeface="Consolas"/>
              </a:rPr>
              <a:t>kb</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5DADE2"/>
                </a:solidFill>
                <a:latin typeface="Consolas"/>
              </a:rPr>
              <a:t>True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assign</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C39BD3"/>
                </a:solidFill>
                <a:latin typeface="Consolas"/>
              </a:rPr>
              <a:t>any</a:t>
            </a:r>
            <a:r>
              <a:rPr sz="1200" i="0">
                <a:solidFill>
                  <a:srgbClr val="AEB6BF"/>
                </a:solidFill>
                <a:latin typeface="Consolas"/>
              </a:rPr>
              <a:t>(</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0</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c</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kb</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5DADE2"/>
                </a:solidFill>
                <a:latin typeface="Consolas"/>
              </a:rPr>
              <a:t>False</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None</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c</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kb</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unit propagation</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lit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next</a:t>
            </a:r>
            <a:r>
              <a:rPr sz="1200" i="0">
                <a:solidFill>
                  <a:srgbClr val="AEB6BF"/>
                </a:solidFill>
                <a:latin typeface="Consolas"/>
              </a:rPr>
              <a:t>(</a:t>
            </a:r>
            <a:r>
              <a:rPr sz="1200" i="0">
                <a:solidFill>
                  <a:srgbClr val="C39BD3"/>
                </a:solidFill>
                <a:latin typeface="Consolas"/>
              </a:rPr>
              <a:t>iter</a:t>
            </a:r>
            <a:r>
              <a:rPr sz="1200" i="0">
                <a:solidFill>
                  <a:srgbClr val="AEB6BF"/>
                </a:solidFill>
                <a:latin typeface="Consolas"/>
              </a:rPr>
              <a:t>(</a:t>
            </a:r>
            <a:r>
              <a:rPr sz="1200" i="0">
                <a:solidFill>
                  <a:srgbClr val="E8EDF2"/>
                </a:solidFill>
                <a:latin typeface="Consolas"/>
              </a:rPr>
              <a:t>c</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r>
              <a:rPr sz="1200" i="0">
                <a:solidFill>
                  <a:srgbClr val="E8EDF2"/>
                </a:solidFill>
                <a:latin typeface="Consolas"/>
              </a:rPr>
              <a:t>units</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1</a:t>
            </a:r>
          </a:p>
          <a:p>
            <a:pPr>
              <a:lnSpc>
                <a:spcPct val="100000"/>
              </a:lnSpc>
              <a:spcAft>
                <a:spcPts val="0"/>
              </a:spcAft>
            </a:pPr>
            <a:r>
              <a:rPr sz="1200" i="0">
                <a:solidFill>
                  <a:srgbClr val="E8EDF2"/>
                </a:solidFill>
                <a:latin typeface="Consolas"/>
              </a:rPr>
              <a:t>            </a:t>
            </a:r>
            <a:r>
              <a:rPr sz="1200" i="0">
                <a:solidFill>
                  <a:srgbClr val="E8EDF2"/>
                </a:solidFill>
                <a:latin typeface="Consolas"/>
              </a:rPr>
              <a:t>a</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dict</a:t>
            </a:r>
            <a:r>
              <a:rPr sz="1200" i="0">
                <a:solidFill>
                  <a:srgbClr val="AEB6BF"/>
                </a:solidFill>
                <a:latin typeface="Consolas"/>
              </a:rPr>
              <a:t>(</a:t>
            </a:r>
            <a:r>
              <a:rPr sz="1200" i="0">
                <a:solidFill>
                  <a:srgbClr val="E8EDF2"/>
                </a:solidFill>
                <a:latin typeface="Consolas"/>
              </a:rPr>
              <a:t>assign</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lit</a:t>
            </a:r>
            <a:r>
              <a:rPr sz="1200" i="0">
                <a:solidFill>
                  <a:srgbClr val="AEB6BF"/>
                </a:solidFill>
                <a:latin typeface="Consolas"/>
              </a:rPr>
              <a:t>.</a:t>
            </a:r>
            <a:r>
              <a:rPr sz="1200" i="0">
                <a:solidFill>
                  <a:srgbClr val="E8EDF2"/>
                </a:solidFill>
                <a:latin typeface="Consolas"/>
              </a:rPr>
              <a:t>lstrip</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not</a:t>
            </a:r>
            <a:r>
              <a:rPr sz="1200" i="0">
                <a:solidFill>
                  <a:srgbClr val="E8EDF2"/>
                </a:solidFill>
                <a:latin typeface="Consolas"/>
              </a:rPr>
              <a:t> </a:t>
            </a:r>
            <a:r>
              <a:rPr sz="1200" i="0">
                <a:solidFill>
                  <a:srgbClr val="E8EDF2"/>
                </a:solidFill>
                <a:latin typeface="Consolas"/>
              </a:rPr>
              <a:t>lit</a:t>
            </a:r>
            <a:r>
              <a:rPr sz="1200" i="0">
                <a:solidFill>
                  <a:srgbClr val="AEB6BF"/>
                </a:solidFill>
                <a:latin typeface="Consolas"/>
              </a:rPr>
              <a:t>.</a:t>
            </a:r>
            <a:r>
              <a:rPr sz="1200" i="0">
                <a:solidFill>
                  <a:srgbClr val="E8EDF2"/>
                </a:solidFill>
                <a:latin typeface="Consolas"/>
              </a:rPr>
              <a:t>startswith</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dpll</a:t>
            </a:r>
            <a:r>
              <a:rPr sz="1200" i="0">
                <a:solidFill>
                  <a:srgbClr val="AEB6BF"/>
                </a:solidFill>
                <a:latin typeface="Consolas"/>
              </a:rPr>
              <a:t>(</a:t>
            </a:r>
            <a:r>
              <a:rPr sz="1200" i="0">
                <a:solidFill>
                  <a:srgbClr val="E8EDF2"/>
                </a:solidFill>
                <a:latin typeface="Consolas"/>
              </a:rPr>
              <a:t>simplify</a:t>
            </a:r>
            <a:r>
              <a:rPr sz="1200" i="0">
                <a:solidFill>
                  <a:srgbClr val="AEB6BF"/>
                </a:solidFill>
                <a:latin typeface="Consolas"/>
              </a:rPr>
              <a:t>(</a:t>
            </a:r>
            <a:r>
              <a:rPr sz="1200" i="0">
                <a:solidFill>
                  <a:srgbClr val="E8EDF2"/>
                </a:solidFill>
                <a:latin typeface="Consolas"/>
              </a:rPr>
              <a:t>kb</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lit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lits</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l</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c</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kb</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l</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l</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lits</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pure literal</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neg</a:t>
            </a:r>
            <a:r>
              <a:rPr sz="1200" i="0">
                <a:solidFill>
                  <a:srgbClr val="AEB6BF"/>
                </a:solidFill>
                <a:latin typeface="Consolas"/>
              </a:rPr>
              <a:t>(</a:t>
            </a:r>
            <a:r>
              <a:rPr sz="1200" i="0">
                <a:solidFill>
                  <a:srgbClr val="E8EDF2"/>
                </a:solidFill>
                <a:latin typeface="Consolas"/>
              </a:rPr>
              <a:t>l</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not</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lits</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a</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dict</a:t>
            </a:r>
            <a:r>
              <a:rPr sz="1200" i="0">
                <a:solidFill>
                  <a:srgbClr val="AEB6BF"/>
                </a:solidFill>
                <a:latin typeface="Consolas"/>
              </a:rPr>
              <a:t>(</a:t>
            </a:r>
            <a:r>
              <a:rPr sz="1200" i="0">
                <a:solidFill>
                  <a:srgbClr val="E8EDF2"/>
                </a:solidFill>
                <a:latin typeface="Consolas"/>
              </a:rPr>
              <a:t>assign</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l</a:t>
            </a:r>
            <a:r>
              <a:rPr sz="1200" i="0">
                <a:solidFill>
                  <a:srgbClr val="AEB6BF"/>
                </a:solidFill>
                <a:latin typeface="Consolas"/>
              </a:rPr>
              <a:t>.</a:t>
            </a:r>
            <a:r>
              <a:rPr sz="1200" i="0">
                <a:solidFill>
                  <a:srgbClr val="E8EDF2"/>
                </a:solidFill>
                <a:latin typeface="Consolas"/>
              </a:rPr>
              <a:t>lstrip</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not</a:t>
            </a:r>
            <a:r>
              <a:rPr sz="1200" i="0">
                <a:solidFill>
                  <a:srgbClr val="E8EDF2"/>
                </a:solidFill>
                <a:latin typeface="Consolas"/>
              </a:rPr>
              <a:t> </a:t>
            </a:r>
            <a:r>
              <a:rPr sz="1200" i="0">
                <a:solidFill>
                  <a:srgbClr val="E8EDF2"/>
                </a:solidFill>
                <a:latin typeface="Consolas"/>
              </a:rPr>
              <a:t>l</a:t>
            </a:r>
            <a:r>
              <a:rPr sz="1200" i="0">
                <a:solidFill>
                  <a:srgbClr val="AEB6BF"/>
                </a:solidFill>
                <a:latin typeface="Consolas"/>
              </a:rPr>
              <a:t>.</a:t>
            </a:r>
            <a:r>
              <a:rPr sz="1200" i="0">
                <a:solidFill>
                  <a:srgbClr val="E8EDF2"/>
                </a:solidFill>
                <a:latin typeface="Consolas"/>
              </a:rPr>
              <a:t>startswith</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7DCEA0"/>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dpll</a:t>
            </a:r>
            <a:r>
              <a:rPr sz="1200" i="0">
                <a:solidFill>
                  <a:srgbClr val="AEB6BF"/>
                </a:solidFill>
                <a:latin typeface="Consolas"/>
              </a:rPr>
              <a:t>(</a:t>
            </a:r>
            <a:r>
              <a:rPr sz="1200" i="0">
                <a:solidFill>
                  <a:srgbClr val="E8EDF2"/>
                </a:solidFill>
                <a:latin typeface="Consolas"/>
              </a:rPr>
              <a:t>simplify</a:t>
            </a:r>
            <a:r>
              <a:rPr sz="1200" i="0">
                <a:solidFill>
                  <a:srgbClr val="AEB6BF"/>
                </a:solidFill>
                <a:latin typeface="Consolas"/>
              </a:rPr>
              <a:t>(</a:t>
            </a:r>
            <a:r>
              <a:rPr sz="1200" i="0">
                <a:solidFill>
                  <a:srgbClr val="E8EDF2"/>
                </a:solidFill>
                <a:latin typeface="Consolas"/>
              </a:rPr>
              <a:t>kb</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w</a:t>
            </a:r>
            <a:r>
              <a:rPr sz="12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73</a:t>
            </a:r>
          </a:p>
          <a:p>
            <a:pPr algn="r">
              <a:lnSpc>
                <a:spcPct val="100000"/>
              </a:lnSpc>
            </a:pPr>
            <a:r>
              <a:rPr sz="1200">
                <a:solidFill>
                  <a:srgbClr val="4F5D6A"/>
                </a:solidFill>
                <a:latin typeface="Consolas"/>
              </a:rPr>
              <a:t>74</a:t>
            </a:r>
          </a:p>
          <a:p>
            <a:pPr algn="r">
              <a:lnSpc>
                <a:spcPct val="100000"/>
              </a:lnSpc>
            </a:pPr>
            <a:r>
              <a:rPr sz="1200">
                <a:solidFill>
                  <a:srgbClr val="4F5D6A"/>
                </a:solidFill>
                <a:latin typeface="Consolas"/>
              </a:rPr>
              <a:t>75</a:t>
            </a:r>
          </a:p>
          <a:p>
            <a:pPr algn="r">
              <a:lnSpc>
                <a:spcPct val="100000"/>
              </a:lnSpc>
            </a:pPr>
            <a:r>
              <a:rPr sz="1200">
                <a:solidFill>
                  <a:srgbClr val="4F5D6A"/>
                </a:solidFill>
                <a:latin typeface="Consolas"/>
              </a:rPr>
              <a:t>76</a:t>
            </a:r>
          </a:p>
          <a:p>
            <a:pPr algn="r">
              <a:lnSpc>
                <a:spcPct val="100000"/>
              </a:lnSpc>
            </a:pPr>
            <a:r>
              <a:rPr sz="1200">
                <a:solidFill>
                  <a:srgbClr val="4F5D6A"/>
                </a:solidFill>
                <a:latin typeface="Consolas"/>
              </a:rPr>
              <a:t>77</a:t>
            </a:r>
          </a:p>
          <a:p>
            <a:pPr algn="r">
              <a:lnSpc>
                <a:spcPct val="100000"/>
              </a:lnSpc>
            </a:pPr>
            <a:r>
              <a:rPr sz="1200">
                <a:solidFill>
                  <a:srgbClr val="4F5D6A"/>
                </a:solidFill>
                <a:latin typeface="Consolas"/>
              </a:rPr>
              <a:t>78</a:t>
            </a:r>
          </a:p>
          <a:p>
            <a:pPr algn="r">
              <a:lnSpc>
                <a:spcPct val="100000"/>
              </a:lnSpc>
            </a:pPr>
            <a:r>
              <a:rPr sz="1200">
                <a:solidFill>
                  <a:srgbClr val="4F5D6A"/>
                </a:solidFill>
                <a:latin typeface="Consolas"/>
              </a:rPr>
              <a:t>79</a:t>
            </a:r>
          </a:p>
          <a:p>
            <a:pPr algn="r">
              <a:lnSpc>
                <a:spcPct val="100000"/>
              </a:lnSpc>
            </a:pPr>
            <a:r>
              <a:rPr sz="1200">
                <a:solidFill>
                  <a:srgbClr val="4F5D6A"/>
                </a:solidFill>
                <a:latin typeface="Consolas"/>
              </a:rPr>
              <a:t>80</a:t>
            </a:r>
          </a:p>
          <a:p>
            <a:pPr algn="r">
              <a:lnSpc>
                <a:spcPct val="100000"/>
              </a:lnSpc>
            </a:pPr>
            <a:r>
              <a:rPr sz="1200">
                <a:solidFill>
                  <a:srgbClr val="4F5D6A"/>
                </a:solidFill>
                <a:latin typeface="Consolas"/>
              </a:rPr>
              <a:t>81</a:t>
            </a:r>
          </a:p>
          <a:p>
            <a:pPr algn="r">
              <a:lnSpc>
                <a:spcPct val="100000"/>
              </a:lnSpc>
            </a:pPr>
            <a:r>
              <a:rPr sz="1200">
                <a:solidFill>
                  <a:srgbClr val="4F5D6A"/>
                </a:solidFill>
                <a:latin typeface="Consolas"/>
              </a:rPr>
              <a:t>82</a:t>
            </a:r>
          </a:p>
          <a:p>
            <a:pPr algn="r">
              <a:lnSpc>
                <a:spcPct val="100000"/>
              </a:lnSpc>
            </a:pPr>
            <a:r>
              <a:rPr sz="1200">
                <a:solidFill>
                  <a:srgbClr val="4F5D6A"/>
                </a:solidFill>
                <a:latin typeface="Consolas"/>
              </a:rPr>
              <a:t>83</a:t>
            </a:r>
          </a:p>
          <a:p>
            <a:pPr algn="r">
              <a:lnSpc>
                <a:spcPct val="100000"/>
              </a:lnSpc>
            </a:pPr>
            <a:r>
              <a:rPr sz="1200">
                <a:solidFill>
                  <a:srgbClr val="4F5D6A"/>
                </a:solidFill>
                <a:latin typeface="Consolas"/>
              </a:rPr>
              <a:t>84</a:t>
            </a:r>
          </a:p>
          <a:p>
            <a:pPr algn="r">
              <a:lnSpc>
                <a:spcPct val="100000"/>
              </a:lnSpc>
            </a:pPr>
            <a:r>
              <a:rPr sz="1200">
                <a:solidFill>
                  <a:srgbClr val="4F5D6A"/>
                </a:solidFill>
                <a:latin typeface="Consolas"/>
              </a:rPr>
              <a:t>85</a:t>
            </a:r>
          </a:p>
          <a:p>
            <a:pPr algn="r">
              <a:lnSpc>
                <a:spcPct val="100000"/>
              </a:lnSpc>
            </a:pPr>
            <a:r>
              <a:rPr sz="1200">
                <a:solidFill>
                  <a:srgbClr val="4F5D6A"/>
                </a:solidFill>
                <a:latin typeface="Consolas"/>
              </a:rPr>
              <a:t>86</a:t>
            </a:r>
          </a:p>
          <a:p>
            <a:pPr algn="r">
              <a:lnSpc>
                <a:spcPct val="100000"/>
              </a:lnSpc>
            </a:pPr>
            <a:r>
              <a:rPr sz="1200">
                <a:solidFill>
                  <a:srgbClr val="4F5D6A"/>
                </a:solidFill>
                <a:latin typeface="Consolas"/>
              </a:rPr>
              <a:t>87</a:t>
            </a:r>
          </a:p>
          <a:p>
            <a:pPr algn="r">
              <a:lnSpc>
                <a:spcPct val="100000"/>
              </a:lnSpc>
            </a:pPr>
            <a:r>
              <a:rPr sz="1200">
                <a:solidFill>
                  <a:srgbClr val="4F5D6A"/>
                </a:solidFill>
                <a:latin typeface="Consolas"/>
              </a:rPr>
              <a:t>88</a:t>
            </a:r>
          </a:p>
          <a:p>
            <a:pPr algn="r">
              <a:lnSpc>
                <a:spcPct val="100000"/>
              </a:lnSpc>
            </a:pPr>
            <a:r>
              <a:rPr sz="1200">
                <a:solidFill>
                  <a:srgbClr val="4F5D6A"/>
                </a:solidFill>
                <a:latin typeface="Consolas"/>
              </a:rPr>
              <a:t>89</a:t>
            </a:r>
          </a:p>
          <a:p>
            <a:pPr algn="r">
              <a:lnSpc>
                <a:spcPct val="100000"/>
              </a:lnSpc>
            </a:pPr>
            <a:r>
              <a:rPr sz="1200">
                <a:solidFill>
                  <a:srgbClr val="4F5D6A"/>
                </a:solidFill>
                <a:latin typeface="Consolas"/>
              </a:rPr>
              <a:t>90</a:t>
            </a:r>
          </a:p>
          <a:p>
            <a:pPr algn="r">
              <a:lnSpc>
                <a:spcPct val="100000"/>
              </a:lnSpc>
            </a:pPr>
            <a:r>
              <a:rPr sz="1200">
                <a:solidFill>
                  <a:srgbClr val="4F5D6A"/>
                </a:solidFill>
                <a:latin typeface="Consolas"/>
              </a:rPr>
              <a:t>91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074914C8-9B74-4ED5-9D80-59E45F51B1A0}"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DPLL: backtracking with propagation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l = next(iter(next(iter(kb)))) # branch w.branches += 1 for choice in (l, neg(l)): a = dict(assign) a[choice.lstrip(&quot;-&quot;)] = not choice.startswith(&quot;-&quot;) ok, res = dpll(simplify(kb, choice), a, w) if ok: return True, res return False, None def entails_dpll(kb, query): &quot;&quot;&quot;KB |= q iff KB and not-q is unsatisfiable.&quot;&quot;&quot; w = Work() sat, _ = dpll(list(kb) + [frozenset({neg(query)})], {}, w) return (not sat), w"/>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0">
                <a:solidFill>
                  <a:srgbClr val="E8EDF2"/>
                </a:solidFill>
                <a:latin typeface="Consolas"/>
              </a:rPr>
              <a:t>l</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next</a:t>
            </a:r>
            <a:r>
              <a:rPr sz="1400" i="0">
                <a:solidFill>
                  <a:srgbClr val="AEB6BF"/>
                </a:solidFill>
                <a:latin typeface="Consolas"/>
              </a:rPr>
              <a:t>(</a:t>
            </a:r>
            <a:r>
              <a:rPr sz="1400" i="0">
                <a:solidFill>
                  <a:srgbClr val="C39BD3"/>
                </a:solidFill>
                <a:latin typeface="Consolas"/>
              </a:rPr>
              <a:t>iter</a:t>
            </a:r>
            <a:r>
              <a:rPr sz="1400" i="0">
                <a:solidFill>
                  <a:srgbClr val="AEB6BF"/>
                </a:solidFill>
                <a:latin typeface="Consolas"/>
              </a:rPr>
              <a:t>(</a:t>
            </a:r>
            <a:r>
              <a:rPr sz="1400" i="0">
                <a:solidFill>
                  <a:srgbClr val="C39BD3"/>
                </a:solidFill>
                <a:latin typeface="Consolas"/>
              </a:rPr>
              <a:t>next</a:t>
            </a:r>
            <a:r>
              <a:rPr sz="1400" i="0">
                <a:solidFill>
                  <a:srgbClr val="AEB6BF"/>
                </a:solidFill>
                <a:latin typeface="Consolas"/>
              </a:rPr>
              <a:t>(</a:t>
            </a:r>
            <a:r>
              <a:rPr sz="1400" i="0">
                <a:solidFill>
                  <a:srgbClr val="C39BD3"/>
                </a:solidFill>
                <a:latin typeface="Consolas"/>
              </a:rPr>
              <a:t>iter</a:t>
            </a:r>
            <a:r>
              <a:rPr sz="1400" i="0">
                <a:solidFill>
                  <a:srgbClr val="AEB6BF"/>
                </a:solidFill>
                <a:latin typeface="Consolas"/>
              </a:rPr>
              <a:t>(</a:t>
            </a:r>
            <a:r>
              <a:rPr sz="1400" i="0">
                <a:solidFill>
                  <a:srgbClr val="E8EDF2"/>
                </a:solidFill>
                <a:latin typeface="Consolas"/>
              </a:rPr>
              <a:t>kb</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branch</a:t>
            </a:r>
          </a:p>
          <a:p>
            <a:pPr>
              <a:lnSpc>
                <a:spcPct val="100000"/>
              </a:lnSpc>
              <a:spcAft>
                <a:spcPts val="0"/>
              </a:spcAft>
            </a:pPr>
            <a:r>
              <a:rPr sz="1400" i="0">
                <a:solidFill>
                  <a:srgbClr val="E8EDF2"/>
                </a:solidFill>
                <a:latin typeface="Consolas"/>
              </a:rPr>
              <a:t>    </a:t>
            </a:r>
            <a:r>
              <a:rPr sz="1400" i="0">
                <a:solidFill>
                  <a:srgbClr val="E8EDF2"/>
                </a:solidFill>
                <a:latin typeface="Consolas"/>
              </a:rPr>
              <a:t>w</a:t>
            </a:r>
            <a:r>
              <a:rPr sz="1400" i="0">
                <a:solidFill>
                  <a:srgbClr val="AEB6BF"/>
                </a:solidFill>
                <a:latin typeface="Consolas"/>
              </a:rPr>
              <a:t>.</a:t>
            </a:r>
            <a:r>
              <a:rPr sz="1400" i="0">
                <a:solidFill>
                  <a:srgbClr val="E8EDF2"/>
                </a:solidFill>
                <a:latin typeface="Consolas"/>
              </a:rPr>
              <a:t>branches</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choice</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neg</a:t>
            </a:r>
            <a:r>
              <a:rPr sz="1400" i="0">
                <a:solidFill>
                  <a:srgbClr val="AEB6BF"/>
                </a:solidFill>
                <a:latin typeface="Consolas"/>
              </a:rPr>
              <a:t>(</a:t>
            </a:r>
            <a:r>
              <a:rPr sz="1400" i="0">
                <a:solidFill>
                  <a:srgbClr val="E8EDF2"/>
                </a:solidFill>
                <a:latin typeface="Consolas"/>
              </a:rPr>
              <a:t>l</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dict</a:t>
            </a:r>
            <a:r>
              <a:rPr sz="1400" i="0">
                <a:solidFill>
                  <a:srgbClr val="AEB6BF"/>
                </a:solidFill>
                <a:latin typeface="Consolas"/>
              </a:rPr>
              <a:t>(</a:t>
            </a:r>
            <a:r>
              <a:rPr sz="1400" i="0">
                <a:solidFill>
                  <a:srgbClr val="E8EDF2"/>
                </a:solidFill>
                <a:latin typeface="Consolas"/>
              </a:rPr>
              <a:t>assign</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choice</a:t>
            </a:r>
            <a:r>
              <a:rPr sz="1400" i="0">
                <a:solidFill>
                  <a:srgbClr val="AEB6BF"/>
                </a:solidFill>
                <a:latin typeface="Consolas"/>
              </a:rPr>
              <a:t>.</a:t>
            </a:r>
            <a:r>
              <a:rPr sz="1400" i="0">
                <a:solidFill>
                  <a:srgbClr val="E8EDF2"/>
                </a:solidFill>
                <a:latin typeface="Consolas"/>
              </a:rPr>
              <a:t>lstrip</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choice</a:t>
            </a:r>
            <a:r>
              <a:rPr sz="1400" i="0">
                <a:solidFill>
                  <a:srgbClr val="AEB6BF"/>
                </a:solidFill>
                <a:latin typeface="Consolas"/>
              </a:rPr>
              <a:t>.</a:t>
            </a:r>
            <a:r>
              <a:rPr sz="1400" i="0">
                <a:solidFill>
                  <a:srgbClr val="E8EDF2"/>
                </a:solidFill>
                <a:latin typeface="Consolas"/>
              </a:rPr>
              <a:t>startswith</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ok</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dpll</a:t>
            </a:r>
            <a:r>
              <a:rPr sz="1400" i="0">
                <a:solidFill>
                  <a:srgbClr val="AEB6BF"/>
                </a:solidFill>
                <a:latin typeface="Consolas"/>
              </a:rPr>
              <a:t>(</a:t>
            </a:r>
            <a:r>
              <a:rPr sz="1400" i="0">
                <a:solidFill>
                  <a:srgbClr val="E8EDF2"/>
                </a:solidFill>
                <a:latin typeface="Consolas"/>
              </a:rPr>
              <a:t>simplify</a:t>
            </a:r>
            <a:r>
              <a:rPr sz="1400" i="0">
                <a:solidFill>
                  <a:srgbClr val="AEB6BF"/>
                </a:solidFill>
                <a:latin typeface="Consolas"/>
              </a:rPr>
              <a:t>(</a:t>
            </a:r>
            <a:r>
              <a:rPr sz="1400" i="0">
                <a:solidFill>
                  <a:srgbClr val="E8EDF2"/>
                </a:solidFill>
                <a:latin typeface="Consolas"/>
              </a:rPr>
              <a:t>kb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choice</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ok</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True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False</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None</a:t>
            </a:r>
          </a:p>
          <a:p>
            <a:pPr>
              <a:lnSpc>
                <a:spcPct val="100000"/>
              </a:lnSpc>
              <a:spcAft>
                <a:spcPts val="0"/>
              </a:spcAft>
            </a:pPr>
            <a:r>
              <a:rPr sz="1400">
                <a:latin typeface="Consolas"/>
              </a:rPr>
              <a:t> </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entails_dpll</a:t>
            </a:r>
            <a:r>
              <a:rPr sz="1400" i="0">
                <a:solidFill>
                  <a:srgbClr val="AEB6BF"/>
                </a:solidFill>
                <a:latin typeface="Consolas"/>
              </a:rPr>
              <a:t>(</a:t>
            </a:r>
            <a:r>
              <a:rPr sz="1400" i="0">
                <a:solidFill>
                  <a:srgbClr val="E8EDF2"/>
                </a:solidFill>
                <a:latin typeface="Consolas"/>
              </a:rPr>
              <a:t>kb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query</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"""KB |= q  iff  KB and not-q is unsatisfiable."""</a:t>
            </a:r>
          </a:p>
          <a:p>
            <a:pPr>
              <a:lnSpc>
                <a:spcPct val="100000"/>
              </a:lnSpc>
              <a:spcAft>
                <a:spcPts val="0"/>
              </a:spcAft>
            </a:pPr>
            <a:r>
              <a:rPr sz="1400" i="0">
                <a:solidFill>
                  <a:srgbClr val="E8EDF2"/>
                </a:solidFill>
                <a:latin typeface="Consolas"/>
              </a:rPr>
              <a:t>    </a:t>
            </a:r>
            <a:r>
              <a:rPr sz="1400" i="0">
                <a:solidFill>
                  <a:srgbClr val="E8EDF2"/>
                </a:solidFill>
                <a:latin typeface="Consolas"/>
              </a:rPr>
              <a:t>w</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Work</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_</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dpll</a:t>
            </a:r>
            <a:r>
              <a:rPr sz="1400" i="0">
                <a:solidFill>
                  <a:srgbClr val="AEB6BF"/>
                </a:solidFill>
                <a:latin typeface="Consolas"/>
              </a:rPr>
              <a:t>(</a:t>
            </a:r>
            <a:r>
              <a:rPr sz="1400" i="0">
                <a:solidFill>
                  <a:srgbClr val="C39BD3"/>
                </a:solidFill>
                <a:latin typeface="Consolas"/>
              </a:rPr>
              <a:t>list</a:t>
            </a:r>
            <a:r>
              <a:rPr sz="1400" i="0">
                <a:solidFill>
                  <a:srgbClr val="AEB6BF"/>
                </a:solidFill>
                <a:latin typeface="Consolas"/>
              </a:rPr>
              <a:t>(</a:t>
            </a:r>
            <a:r>
              <a:rPr sz="1400" i="0">
                <a:solidFill>
                  <a:srgbClr val="E8EDF2"/>
                </a:solidFill>
                <a:latin typeface="Consolas"/>
              </a:rPr>
              <a:t>kb</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C39BD3"/>
                </a:solidFill>
                <a:latin typeface="Consolas"/>
              </a:rPr>
              <a:t>frozenset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neg</a:t>
            </a:r>
            <a:r>
              <a:rPr sz="1400" i="0">
                <a:solidFill>
                  <a:srgbClr val="AEB6BF"/>
                </a:solidFill>
                <a:latin typeface="Consolas"/>
              </a:rPr>
              <a:t>(</a:t>
            </a:r>
            <a:r>
              <a:rPr sz="1400" i="0">
                <a:solidFill>
                  <a:srgbClr val="E8EDF2"/>
                </a:solidFill>
                <a:latin typeface="Consolas"/>
              </a:rPr>
              <a:t>query</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sat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92</a:t>
            </a:r>
          </a:p>
          <a:p>
            <a:pPr algn="r">
              <a:lnSpc>
                <a:spcPct val="100000"/>
              </a:lnSpc>
            </a:pPr>
            <a:r>
              <a:rPr sz="1400">
                <a:solidFill>
                  <a:srgbClr val="4F5D6A"/>
                </a:solidFill>
                <a:latin typeface="Consolas"/>
              </a:rPr>
              <a:t>93</a:t>
            </a:r>
          </a:p>
          <a:p>
            <a:pPr algn="r">
              <a:lnSpc>
                <a:spcPct val="100000"/>
              </a:lnSpc>
            </a:pPr>
            <a:r>
              <a:rPr sz="1400">
                <a:solidFill>
                  <a:srgbClr val="4F5D6A"/>
                </a:solidFill>
                <a:latin typeface="Consolas"/>
              </a:rPr>
              <a:t>94</a:t>
            </a:r>
          </a:p>
          <a:p>
            <a:pPr algn="r">
              <a:lnSpc>
                <a:spcPct val="100000"/>
              </a:lnSpc>
            </a:pPr>
            <a:r>
              <a:rPr sz="1400">
                <a:solidFill>
                  <a:srgbClr val="4F5D6A"/>
                </a:solidFill>
                <a:latin typeface="Consolas"/>
              </a:rPr>
              <a:t>95</a:t>
            </a:r>
          </a:p>
          <a:p>
            <a:pPr algn="r">
              <a:lnSpc>
                <a:spcPct val="100000"/>
              </a:lnSpc>
            </a:pPr>
            <a:r>
              <a:rPr sz="1400">
                <a:solidFill>
                  <a:srgbClr val="4F5D6A"/>
                </a:solidFill>
                <a:latin typeface="Consolas"/>
              </a:rPr>
              <a:t>96</a:t>
            </a:r>
          </a:p>
          <a:p>
            <a:pPr algn="r">
              <a:lnSpc>
                <a:spcPct val="100000"/>
              </a:lnSpc>
            </a:pPr>
            <a:r>
              <a:rPr sz="1400">
                <a:solidFill>
                  <a:srgbClr val="4F5D6A"/>
                </a:solidFill>
                <a:latin typeface="Consolas"/>
              </a:rPr>
              <a:t>97</a:t>
            </a:r>
          </a:p>
          <a:p>
            <a:pPr algn="r">
              <a:lnSpc>
                <a:spcPct val="100000"/>
              </a:lnSpc>
            </a:pPr>
            <a:r>
              <a:rPr sz="1400">
                <a:solidFill>
                  <a:srgbClr val="4F5D6A"/>
                </a:solidFill>
                <a:latin typeface="Consolas"/>
              </a:rPr>
              <a:t>98</a:t>
            </a:r>
          </a:p>
          <a:p>
            <a:pPr algn="r">
              <a:lnSpc>
                <a:spcPct val="100000"/>
              </a:lnSpc>
            </a:pPr>
            <a:r>
              <a:rPr sz="1400">
                <a:solidFill>
                  <a:srgbClr val="4F5D6A"/>
                </a:solidFill>
                <a:latin typeface="Consolas"/>
              </a:rPr>
              <a:t>99</a:t>
            </a:r>
          </a:p>
          <a:p>
            <a:pPr algn="r">
              <a:lnSpc>
                <a:spcPct val="100000"/>
              </a:lnSpc>
            </a:pPr>
            <a:r>
              <a:rPr sz="1400">
                <a:solidFill>
                  <a:srgbClr val="4F5D6A"/>
                </a:solidFill>
                <a:latin typeface="Consolas"/>
              </a:rPr>
              <a:t>100</a:t>
            </a:r>
          </a:p>
          <a:p>
            <a:pPr algn="r">
              <a:lnSpc>
                <a:spcPct val="100000"/>
              </a:lnSpc>
            </a:pPr>
            <a:r>
              <a:rPr sz="1400">
                <a:solidFill>
                  <a:srgbClr val="4F5D6A"/>
                </a:solidFill>
                <a:latin typeface="Consolas"/>
              </a:rPr>
              <a:t>101</a:t>
            </a:r>
          </a:p>
          <a:p>
            <a:pPr algn="r">
              <a:lnSpc>
                <a:spcPct val="100000"/>
              </a:lnSpc>
            </a:pPr>
            <a:r>
              <a:rPr sz="1400">
                <a:solidFill>
                  <a:srgbClr val="4F5D6A"/>
                </a:solidFill>
                <a:latin typeface="Consolas"/>
              </a:rPr>
              <a:t>102</a:t>
            </a:r>
          </a:p>
          <a:p>
            <a:pPr algn="r">
              <a:lnSpc>
                <a:spcPct val="100000"/>
              </a:lnSpc>
            </a:pPr>
            <a:r>
              <a:rPr sz="1400">
                <a:solidFill>
                  <a:srgbClr val="4F5D6A"/>
                </a:solidFill>
                <a:latin typeface="Consolas"/>
              </a:rPr>
              <a:t>103</a:t>
            </a:r>
          </a:p>
          <a:p>
            <a:pPr algn="r">
              <a:lnSpc>
                <a:spcPct val="100000"/>
              </a:lnSpc>
            </a:pPr>
            <a:r>
              <a:rPr sz="1400">
                <a:solidFill>
                  <a:srgbClr val="4F5D6A"/>
                </a:solidFill>
                <a:latin typeface="Consolas"/>
              </a:rPr>
              <a:t>104</a:t>
            </a:r>
          </a:p>
          <a:p>
            <a:pPr algn="r">
              <a:lnSpc>
                <a:spcPct val="100000"/>
              </a:lnSpc>
            </a:pPr>
            <a:r>
              <a:rPr sz="1400">
                <a:solidFill>
                  <a:srgbClr val="4F5D6A"/>
                </a:solidFill>
                <a:latin typeface="Consolas"/>
              </a:rPr>
              <a:t>105</a:t>
            </a:r>
          </a:p>
          <a:p>
            <a:pPr algn="r">
              <a:lnSpc>
                <a:spcPct val="100000"/>
              </a:lnSpc>
            </a:pPr>
            <a:r>
              <a:rPr sz="1400">
                <a:solidFill>
                  <a:srgbClr val="4F5D6A"/>
                </a:solidFill>
                <a:latin typeface="Consolas"/>
              </a:rPr>
              <a:t>106</a:t>
            </a:r>
          </a:p>
          <a:p>
            <a:pPr algn="r">
              <a:lnSpc>
                <a:spcPct val="100000"/>
              </a:lnSpc>
            </a:pPr>
            <a:r>
              <a:rPr sz="1400">
                <a:solidFill>
                  <a:srgbClr val="4F5D6A"/>
                </a:solidFill>
                <a:latin typeface="Consolas"/>
              </a:rPr>
              <a:t>107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1821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FC20D155-A09B-4815-BE05-6151E8168589}"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Resolution refutation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 3. resolution refutation -------------------------------------- def resolve(ci, cj): out = [] for l in ci: if neg(l) in cj: out.append((ci - {l}) | (cj - {neg(l)})) return out"/>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--- 3. resolution refutation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resolve</a:t>
            </a:r>
            <a:r>
              <a:rPr sz="2000" i="0">
                <a:solidFill>
                  <a:srgbClr val="AEB6BF"/>
                </a:solidFill>
                <a:latin typeface="Consolas"/>
              </a:rPr>
              <a:t>(</a:t>
            </a:r>
            <a:r>
              <a:rPr sz="2000" i="0">
                <a:solidFill>
                  <a:srgbClr val="E8EDF2"/>
                </a:solidFill>
                <a:latin typeface="Consolas"/>
              </a:rPr>
              <a:t>ci</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cj</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out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l</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ci</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neg</a:t>
            </a:r>
            <a:r>
              <a:rPr sz="2000" i="0">
                <a:solidFill>
                  <a:srgbClr val="AEB6BF"/>
                </a:solidFill>
                <a:latin typeface="Consolas"/>
              </a:rPr>
              <a:t>(</a:t>
            </a:r>
            <a:r>
              <a:rPr sz="2000" i="0">
                <a:solidFill>
                  <a:srgbClr val="E8EDF2"/>
                </a:solidFill>
                <a:latin typeface="Consolas"/>
              </a:rPr>
              <a:t>l</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cj</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out</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ci</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l</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cj</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neg</a:t>
            </a:r>
            <a:r>
              <a:rPr sz="2000" i="0">
                <a:solidFill>
                  <a:srgbClr val="AEB6BF"/>
                </a:solidFill>
                <a:latin typeface="Consolas"/>
              </a:rPr>
              <a:t>(</a:t>
            </a:r>
            <a:r>
              <a:rPr sz="2000" i="0">
                <a:solidFill>
                  <a:srgbClr val="E8EDF2"/>
                </a:solidFill>
                <a:latin typeface="Consolas"/>
              </a:rPr>
              <a:t>l</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out</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110</a:t>
            </a:r>
          </a:p>
          <a:p>
            <a:pPr algn="r">
              <a:lnSpc>
                <a:spcPct val="100000"/>
              </a:lnSpc>
            </a:pPr>
            <a:r>
              <a:rPr sz="2000">
                <a:solidFill>
                  <a:srgbClr val="4F5D6A"/>
                </a:solidFill>
                <a:latin typeface="Consolas"/>
              </a:rPr>
              <a:t>111</a:t>
            </a:r>
          </a:p>
          <a:p>
            <a:pPr algn="r">
              <a:lnSpc>
                <a:spcPct val="100000"/>
              </a:lnSpc>
            </a:pPr>
            <a:r>
              <a:rPr sz="2000">
                <a:solidFill>
                  <a:srgbClr val="4F5D6A"/>
                </a:solidFill>
                <a:latin typeface="Consolas"/>
              </a:rPr>
              <a:t>112</a:t>
            </a:r>
          </a:p>
          <a:p>
            <a:pPr algn="r">
              <a:lnSpc>
                <a:spcPct val="100000"/>
              </a:lnSpc>
            </a:pPr>
            <a:r>
              <a:rPr sz="2000">
                <a:solidFill>
                  <a:srgbClr val="4F5D6A"/>
                </a:solidFill>
                <a:latin typeface="Consolas"/>
              </a:rPr>
              <a:t>113</a:t>
            </a:r>
          </a:p>
          <a:p>
            <a:pPr algn="r">
              <a:lnSpc>
                <a:spcPct val="100000"/>
              </a:lnSpc>
            </a:pPr>
            <a:r>
              <a:rPr sz="2000">
                <a:solidFill>
                  <a:srgbClr val="4F5D6A"/>
                </a:solidFill>
                <a:latin typeface="Consolas"/>
              </a:rPr>
              <a:t>114</a:t>
            </a:r>
          </a:p>
          <a:p>
            <a:pPr algn="r">
              <a:lnSpc>
                <a:spcPct val="100000"/>
              </a:lnSpc>
            </a:pPr>
            <a:r>
              <a:rPr sz="2000">
                <a:solidFill>
                  <a:srgbClr val="4F5D6A"/>
                </a:solidFill>
                <a:latin typeface="Consolas"/>
              </a:rPr>
              <a:t>115</a:t>
            </a:r>
          </a:p>
          <a:p>
            <a:pPr algn="r">
              <a:lnSpc>
                <a:spcPct val="100000"/>
              </a:lnSpc>
            </a:pPr>
            <a:r>
              <a:rPr sz="2000">
                <a:solidFill>
                  <a:srgbClr val="4F5D6A"/>
                </a:solidFill>
                <a:latin typeface="Consolas"/>
              </a:rPr>
              <a:t>116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2140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74E05413-0F09-4953-AC1A-495B0E69D641}"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Resolution refutation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def resolution(kb, query): &quot;&quot;&quot;Breadth-first saturation. Honest, complete, and slow.&quot;&quot;&quot; clauses = list(kb) + [frozenset({neg(query)})] steps = 0 while True: new = set() for i in range(len(clauses)): for j in range(i + 1, len(clauses)): for r in resolve(clauses[i], clauses[j]): steps += 1 if not r: return True, steps if r not in clauses: new.add(r) if not new - set(clauses): return False, steps clauses += sorted(new, key=lambda c: (len(c), sorted(c)))"/>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resolution</a:t>
            </a:r>
            <a:r>
              <a:rPr sz="1300" i="0">
                <a:solidFill>
                  <a:srgbClr val="AEB6BF"/>
                </a:solidFill>
                <a:latin typeface="Consolas"/>
              </a:rPr>
              <a:t>(</a:t>
            </a:r>
            <a:r>
              <a:rPr sz="1300" i="0">
                <a:solidFill>
                  <a:srgbClr val="E8EDF2"/>
                </a:solidFill>
                <a:latin typeface="Consolas"/>
              </a:rPr>
              <a:t>kb</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query</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"""Breadth-first saturation. Honest, complete, and slow."""</a:t>
            </a:r>
          </a:p>
          <a:p>
            <a:pPr>
              <a:lnSpc>
                <a:spcPct val="100000"/>
              </a:lnSpc>
              <a:spcAft>
                <a:spcPts val="0"/>
              </a:spcAft>
            </a:pPr>
            <a:r>
              <a:rPr sz="1300" i="0">
                <a:solidFill>
                  <a:srgbClr val="E8EDF2"/>
                </a:solidFill>
                <a:latin typeface="Consolas"/>
              </a:rPr>
              <a:t>    </a:t>
            </a:r>
            <a:r>
              <a:rPr sz="1300" i="0">
                <a:solidFill>
                  <a:srgbClr val="E8EDF2"/>
                </a:solidFill>
                <a:latin typeface="Consolas"/>
              </a:rPr>
              <a:t>clauses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list</a:t>
            </a:r>
            <a:r>
              <a:rPr sz="1300" i="0">
                <a:solidFill>
                  <a:srgbClr val="AEB6BF"/>
                </a:solidFill>
                <a:latin typeface="Consolas"/>
              </a:rPr>
              <a:t>(</a:t>
            </a:r>
            <a:r>
              <a:rPr sz="1300" i="0">
                <a:solidFill>
                  <a:srgbClr val="E8EDF2"/>
                </a:solidFill>
                <a:latin typeface="Consolas"/>
              </a:rPr>
              <a:t>kb</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C39BD3"/>
                </a:solidFill>
                <a:latin typeface="Consolas"/>
              </a:rPr>
              <a:t>frozenset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neg</a:t>
            </a:r>
            <a:r>
              <a:rPr sz="1300" i="0">
                <a:solidFill>
                  <a:srgbClr val="AEB6BF"/>
                </a:solidFill>
                <a:latin typeface="Consolas"/>
              </a:rPr>
              <a:t>(</a:t>
            </a:r>
            <a:r>
              <a:rPr sz="1300" i="0">
                <a:solidFill>
                  <a:srgbClr val="E8EDF2"/>
                </a:solidFill>
                <a:latin typeface="Consolas"/>
              </a:rPr>
              <a:t>query</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steps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p>
          <a:p>
            <a:pPr>
              <a:lnSpc>
                <a:spcPct val="100000"/>
              </a:lnSpc>
              <a:spcAft>
                <a:spcPts val="0"/>
              </a:spcAft>
            </a:pPr>
            <a:r>
              <a:rPr sz="1300" i="0">
                <a:solidFill>
                  <a:srgbClr val="E8EDF2"/>
                </a:solidFill>
                <a:latin typeface="Consolas"/>
              </a:rPr>
              <a:t>    </a:t>
            </a:r>
            <a:r>
              <a:rPr sz="1300" i="0">
                <a:solidFill>
                  <a:srgbClr val="5DADE2"/>
                </a:solidFill>
                <a:latin typeface="Consolas"/>
              </a:rPr>
              <a:t>while</a:t>
            </a:r>
            <a:r>
              <a:rPr sz="1300" i="0">
                <a:solidFill>
                  <a:srgbClr val="E8EDF2"/>
                </a:solidFill>
                <a:latin typeface="Consolas"/>
              </a:rPr>
              <a:t> </a:t>
            </a:r>
            <a:r>
              <a:rPr sz="1300" i="0">
                <a:solidFill>
                  <a:srgbClr val="5DADE2"/>
                </a:solidFill>
                <a:latin typeface="Consolas"/>
              </a:rPr>
              <a:t>True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new</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clauses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j</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clauses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r</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resolve</a:t>
            </a:r>
            <a:r>
              <a:rPr sz="1300" i="0">
                <a:solidFill>
                  <a:srgbClr val="AEB6BF"/>
                </a:solidFill>
                <a:latin typeface="Consolas"/>
              </a:rPr>
              <a:t>(</a:t>
            </a:r>
            <a:r>
              <a:rPr sz="1300" i="0">
                <a:solidFill>
                  <a:srgbClr val="E8EDF2"/>
                </a:solidFill>
                <a:latin typeface="Consolas"/>
              </a:rPr>
              <a:t>clauses</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clauses</a:t>
            </a:r>
            <a:r>
              <a:rPr sz="1300" i="0">
                <a:solidFill>
                  <a:srgbClr val="AEB6BF"/>
                </a:solidFill>
                <a:latin typeface="Consolas"/>
              </a:rPr>
              <a:t>[</a:t>
            </a:r>
            <a:r>
              <a:rPr sz="1300" i="0">
                <a:solidFill>
                  <a:srgbClr val="E8EDF2"/>
                </a:solidFill>
                <a:latin typeface="Consolas"/>
              </a:rPr>
              <a:t>j</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steps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E8EDF2"/>
                </a:solidFill>
                <a:latin typeface="Consolas"/>
              </a:rPr>
              <a:t>r</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True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steps</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r</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clauses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new</a:t>
            </a:r>
            <a:r>
              <a:rPr sz="1300" i="0">
                <a:solidFill>
                  <a:srgbClr val="AEB6BF"/>
                </a:solidFill>
                <a:latin typeface="Consolas"/>
              </a:rPr>
              <a:t>.</a:t>
            </a:r>
            <a:r>
              <a:rPr sz="1300" i="0">
                <a:solidFill>
                  <a:srgbClr val="E8EDF2"/>
                </a:solidFill>
                <a:latin typeface="Consolas"/>
              </a:rPr>
              <a:t>add</a:t>
            </a:r>
            <a:r>
              <a:rPr sz="1300" i="0">
                <a:solidFill>
                  <a:srgbClr val="AEB6BF"/>
                </a:solidFill>
                <a:latin typeface="Consolas"/>
              </a:rPr>
              <a:t>(</a:t>
            </a:r>
            <a:r>
              <a:rPr sz="1300" i="0">
                <a:solidFill>
                  <a:srgbClr val="E8EDF2"/>
                </a:solidFill>
                <a:latin typeface="Consolas"/>
              </a:rPr>
              <a:t>r</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E8EDF2"/>
                </a:solidFill>
                <a:latin typeface="Consolas"/>
              </a:rPr>
              <a:t>new</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set</a:t>
            </a:r>
            <a:r>
              <a:rPr sz="1300" i="0">
                <a:solidFill>
                  <a:srgbClr val="AEB6BF"/>
                </a:solidFill>
                <a:latin typeface="Consolas"/>
              </a:rPr>
              <a:t>(</a:t>
            </a:r>
            <a:r>
              <a:rPr sz="1300" i="0">
                <a:solidFill>
                  <a:srgbClr val="E8EDF2"/>
                </a:solidFill>
                <a:latin typeface="Consolas"/>
              </a:rPr>
              <a:t>clauses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5DADE2"/>
                </a:solidFill>
                <a:latin typeface="Consolas"/>
              </a:rPr>
              <a:t>False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steps</a:t>
            </a:r>
          </a:p>
          <a:p>
            <a:pPr>
              <a:lnSpc>
                <a:spcPct val="100000"/>
              </a:lnSpc>
              <a:spcAft>
                <a:spcPts val="0"/>
              </a:spcAft>
            </a:pPr>
            <a:r>
              <a:rPr sz="1300" i="0">
                <a:solidFill>
                  <a:srgbClr val="E8EDF2"/>
                </a:solidFill>
                <a:latin typeface="Consolas"/>
              </a:rPr>
              <a:t>        </a:t>
            </a:r>
            <a:r>
              <a:rPr sz="1300" i="0">
                <a:solidFill>
                  <a:srgbClr val="E8EDF2"/>
                </a:solidFill>
                <a:latin typeface="Consolas"/>
              </a:rPr>
              <a:t>clauses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sorted</a:t>
            </a:r>
            <a:r>
              <a:rPr sz="1300" i="0">
                <a:solidFill>
                  <a:srgbClr val="AEB6BF"/>
                </a:solidFill>
                <a:latin typeface="Consolas"/>
              </a:rPr>
              <a:t>(</a:t>
            </a:r>
            <a:r>
              <a:rPr sz="1300" i="0">
                <a:solidFill>
                  <a:srgbClr val="E8EDF2"/>
                </a:solidFill>
                <a:latin typeface="Consolas"/>
              </a:rPr>
              <a:t>new</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key</a:t>
            </a:r>
            <a:r>
              <a:rPr sz="1300" i="0">
                <a:solidFill>
                  <a:srgbClr val="AEB6BF"/>
                </a:solidFill>
                <a:latin typeface="Consolas"/>
              </a:rPr>
              <a:t>=</a:t>
            </a:r>
            <a:r>
              <a:rPr sz="1300" i="0">
                <a:solidFill>
                  <a:srgbClr val="5DADE2"/>
                </a:solidFill>
                <a:latin typeface="Consolas"/>
              </a:rPr>
              <a:t>lambda</a:t>
            </a:r>
            <a:r>
              <a:rPr sz="1300" i="0">
                <a:solidFill>
                  <a:srgbClr val="E8EDF2"/>
                </a:solidFill>
                <a:latin typeface="Consolas"/>
              </a:rPr>
              <a:t> </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sorted</a:t>
            </a:r>
            <a:r>
              <a:rPr sz="1300" i="0">
                <a:solidFill>
                  <a:srgbClr val="AEB6BF"/>
                </a:solidFill>
                <a:latin typeface="Consolas"/>
              </a:rPr>
              <a:t>(</a:t>
            </a:r>
            <a:r>
              <a:rPr sz="1300" i="0">
                <a:solidFill>
                  <a:srgbClr val="E8EDF2"/>
                </a:solidFill>
                <a:latin typeface="Consolas"/>
              </a:rPr>
              <a:t>c</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119</a:t>
            </a:r>
          </a:p>
          <a:p>
            <a:pPr algn="r">
              <a:lnSpc>
                <a:spcPct val="100000"/>
              </a:lnSpc>
            </a:pPr>
            <a:r>
              <a:rPr sz="1300">
                <a:solidFill>
                  <a:srgbClr val="4F5D6A"/>
                </a:solidFill>
                <a:latin typeface="Consolas"/>
              </a:rPr>
              <a:t>120</a:t>
            </a:r>
          </a:p>
          <a:p>
            <a:pPr algn="r">
              <a:lnSpc>
                <a:spcPct val="100000"/>
              </a:lnSpc>
            </a:pPr>
            <a:r>
              <a:rPr sz="1300">
                <a:solidFill>
                  <a:srgbClr val="4F5D6A"/>
                </a:solidFill>
                <a:latin typeface="Consolas"/>
              </a:rPr>
              <a:t>121</a:t>
            </a:r>
          </a:p>
          <a:p>
            <a:pPr algn="r">
              <a:lnSpc>
                <a:spcPct val="100000"/>
              </a:lnSpc>
            </a:pPr>
            <a:r>
              <a:rPr sz="1300">
                <a:solidFill>
                  <a:srgbClr val="4F5D6A"/>
                </a:solidFill>
                <a:latin typeface="Consolas"/>
              </a:rPr>
              <a:t>122</a:t>
            </a:r>
          </a:p>
          <a:p>
            <a:pPr algn="r">
              <a:lnSpc>
                <a:spcPct val="100000"/>
              </a:lnSpc>
            </a:pPr>
            <a:r>
              <a:rPr sz="1300">
                <a:solidFill>
                  <a:srgbClr val="4F5D6A"/>
                </a:solidFill>
                <a:latin typeface="Consolas"/>
              </a:rPr>
              <a:t>123</a:t>
            </a:r>
          </a:p>
          <a:p>
            <a:pPr algn="r">
              <a:lnSpc>
                <a:spcPct val="100000"/>
              </a:lnSpc>
            </a:pPr>
            <a:r>
              <a:rPr sz="1300">
                <a:solidFill>
                  <a:srgbClr val="4F5D6A"/>
                </a:solidFill>
                <a:latin typeface="Consolas"/>
              </a:rPr>
              <a:t>124</a:t>
            </a:r>
          </a:p>
          <a:p>
            <a:pPr algn="r">
              <a:lnSpc>
                <a:spcPct val="100000"/>
              </a:lnSpc>
            </a:pPr>
            <a:r>
              <a:rPr sz="1300">
                <a:solidFill>
                  <a:srgbClr val="4F5D6A"/>
                </a:solidFill>
                <a:latin typeface="Consolas"/>
              </a:rPr>
              <a:t>125</a:t>
            </a:r>
          </a:p>
          <a:p>
            <a:pPr algn="r">
              <a:lnSpc>
                <a:spcPct val="100000"/>
              </a:lnSpc>
            </a:pPr>
            <a:r>
              <a:rPr sz="1300">
                <a:solidFill>
                  <a:srgbClr val="4F5D6A"/>
                </a:solidFill>
                <a:latin typeface="Consolas"/>
              </a:rPr>
              <a:t>126</a:t>
            </a:r>
          </a:p>
          <a:p>
            <a:pPr algn="r">
              <a:lnSpc>
                <a:spcPct val="100000"/>
              </a:lnSpc>
            </a:pPr>
            <a:r>
              <a:rPr sz="1300">
                <a:solidFill>
                  <a:srgbClr val="4F5D6A"/>
                </a:solidFill>
                <a:latin typeface="Consolas"/>
              </a:rPr>
              <a:t>127</a:t>
            </a:r>
          </a:p>
          <a:p>
            <a:pPr algn="r">
              <a:lnSpc>
                <a:spcPct val="100000"/>
              </a:lnSpc>
            </a:pPr>
            <a:r>
              <a:rPr sz="1300">
                <a:solidFill>
                  <a:srgbClr val="4F5D6A"/>
                </a:solidFill>
                <a:latin typeface="Consolas"/>
              </a:rPr>
              <a:t>128</a:t>
            </a:r>
          </a:p>
          <a:p>
            <a:pPr algn="r">
              <a:lnSpc>
                <a:spcPct val="100000"/>
              </a:lnSpc>
            </a:pPr>
            <a:r>
              <a:rPr sz="1300">
                <a:solidFill>
                  <a:srgbClr val="4F5D6A"/>
                </a:solidFill>
                <a:latin typeface="Consolas"/>
              </a:rPr>
              <a:t>129</a:t>
            </a:r>
          </a:p>
          <a:p>
            <a:pPr algn="r">
              <a:lnSpc>
                <a:spcPct val="100000"/>
              </a:lnSpc>
            </a:pPr>
            <a:r>
              <a:rPr sz="1300">
                <a:solidFill>
                  <a:srgbClr val="4F5D6A"/>
                </a:solidFill>
                <a:latin typeface="Consolas"/>
              </a:rPr>
              <a:t>130</a:t>
            </a:r>
          </a:p>
          <a:p>
            <a:pPr algn="r">
              <a:lnSpc>
                <a:spcPct val="100000"/>
              </a:lnSpc>
            </a:pPr>
            <a:r>
              <a:rPr sz="1300">
                <a:solidFill>
                  <a:srgbClr val="4F5D6A"/>
                </a:solidFill>
                <a:latin typeface="Consolas"/>
              </a:rPr>
              <a:t>131</a:t>
            </a:r>
          </a:p>
          <a:p>
            <a:pPr algn="r">
              <a:lnSpc>
                <a:spcPct val="100000"/>
              </a:lnSpc>
            </a:pPr>
            <a:r>
              <a:rPr sz="1300">
                <a:solidFill>
                  <a:srgbClr val="4F5D6A"/>
                </a:solidFill>
                <a:latin typeface="Consolas"/>
              </a:rPr>
              <a:t>132</a:t>
            </a:r>
          </a:p>
          <a:p>
            <a:pPr algn="r">
              <a:lnSpc>
                <a:spcPct val="100000"/>
              </a:lnSpc>
            </a:pPr>
            <a:r>
              <a:rPr sz="1300">
                <a:solidFill>
                  <a:srgbClr val="4F5D6A"/>
                </a:solidFill>
                <a:latin typeface="Consolas"/>
              </a:rPr>
              <a:t>133</a:t>
            </a:r>
          </a:p>
          <a:p>
            <a:pPr algn="r">
              <a:lnSpc>
                <a:spcPct val="100000"/>
              </a:lnSpc>
            </a:pPr>
            <a:r>
              <a:rPr sz="1300">
                <a:solidFill>
                  <a:srgbClr val="4F5D6A"/>
                </a:solidFill>
                <a:latin typeface="Consolas"/>
              </a:rPr>
              <a:t>134</a:t>
            </a:r>
          </a:p>
          <a:p>
            <a:pPr algn="r">
              <a:lnSpc>
                <a:spcPct val="100000"/>
              </a:lnSpc>
            </a:pPr>
            <a:r>
              <a:rPr sz="1300">
                <a:solidFill>
                  <a:srgbClr val="4F5D6A"/>
                </a:solidFill>
                <a:latin typeface="Consolas"/>
              </a:rPr>
              <a:t>135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CBE31495-9E29-495F-B975-41562DC2AF79}" type="slidenum">
              <a:rPr lang="en-GB" sz="1000">
                <a:solidFill>
                  <a:srgbClr val="8795A1"/>
                </a:solidFill>
                <a:latin typeface="Segoe UI"/>
              </a:rPr>
              <a:t>40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Resolution refutation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def show(model): return &quot; &quot;.join(&quot;%s=%d&quot; % (s, model[s]) for s in SYMBOLS)"/>
          <p:cNvSpPr txBox="1"/>
          <p:nvPr/>
        </p:nvSpPr>
        <p:spPr>
          <a:xfrm>
            <a:off x="1362456" y="2523744"/>
            <a:ext cx="9987991" cy="719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show</a:t>
            </a:r>
            <a:r>
              <a:rPr sz="2000" i="0">
                <a:solidFill>
                  <a:srgbClr val="AEB6BF"/>
                </a:solidFill>
                <a:latin typeface="Consolas"/>
              </a:rPr>
              <a:t>(</a:t>
            </a:r>
            <a:r>
              <a:rPr sz="2000" i="0">
                <a:solidFill>
                  <a:srgbClr val="E8EDF2"/>
                </a:solidFill>
                <a:latin typeface="Consolas"/>
              </a:rPr>
              <a:t>model</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  </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join</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a:t>
            </a:r>
            <a:r>
              <a:rPr sz="2000" i="0">
                <a:solidFill>
                  <a:srgbClr val="7DCEA0"/>
                </a:solidFill>
                <a:latin typeface="Consolas"/>
              </a:rPr>
              <a:t>=</a:t>
            </a:r>
            <a:r>
              <a:rPr sz="2000" i="0">
                <a:solidFill>
                  <a:srgbClr val="7DCEA0"/>
                </a:solidFill>
                <a:latin typeface="Consolas"/>
              </a:rPr>
              <a:t>%d</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model</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SYMBOLS</a:t>
            </a:r>
            <a:r>
              <a:rPr sz="2000" i="0">
                <a:solidFill>
                  <a:srgbClr val="AEB6BF"/>
                </a:solidFill>
                <a:latin typeface="Consolas"/>
              </a:rPr>
              <a:t>)</a:t>
            </a:r>
          </a:p>
        </p:txBody>
      </p:sp>
      <p:sp>
        <p:nvSpPr>
          <p:cNvPr id="15" name="!!code-num"/>
          <p:cNvSpPr txBox="1"/>
          <p:nvPr/>
        </p:nvSpPr>
        <p:spPr>
          <a:xfrm>
            <a:off x="768096" y="2523744"/>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138</a:t>
            </a:r>
          </a:p>
          <a:p>
            <a:pPr algn="r">
              <a:lnSpc>
                <a:spcPct val="100000"/>
              </a:lnSpc>
            </a:pPr>
            <a:r>
              <a:rPr sz="2000">
                <a:solidFill>
                  <a:srgbClr val="4F5D6A"/>
                </a:solidFill>
                <a:latin typeface="Consolas"/>
              </a:rPr>
              <a:t>139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1234681C-31B4-4B89-8A45-08943BDEF881}" type="slidenum">
              <a:rPr lang="en-GB" sz="1000">
                <a:solidFill>
                  <a:srgbClr val="8795A1"/>
                </a:solidFill>
                <a:latin typeface="Segoe UI"/>
              </a:rPr>
              <a:t>41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Resolution refutation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if __name__ == &quot;__main__&quot;: print(&quot;symbols %d, so %d models to enumerate&quot; % (len(SYMBOLS), 2 ** len(SYMBOLS))) print() ent, models, seen = model_check(KB, &quot;Deploy&quot;, SYMBOLS) print(&quot;MODEL CHECKING&quot;) print(&quot; %d of %d models satisfy the KB&quot; % (len(models), seen)) for m in models: print(&quot; &quot; + show(m)) print(&quot; KB entails Deploy:&quot;, ent) assert ent and len(models) == 1"/>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__name__</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__main__</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symbols </a:t>
            </a:r>
            <a:r>
              <a:rPr sz="1900" i="0">
                <a:solidFill>
                  <a:srgbClr val="7DCEA0"/>
                </a:solidFill>
                <a:latin typeface="Consolas"/>
              </a:rPr>
              <a:t>%d</a:t>
            </a:r>
            <a:r>
              <a:rPr sz="1900" i="0">
                <a:solidFill>
                  <a:srgbClr val="7DCEA0"/>
                </a:solidFill>
                <a:latin typeface="Consolas"/>
              </a:rPr>
              <a:t>, so </a:t>
            </a:r>
            <a:r>
              <a:rPr sz="1900" i="0">
                <a:solidFill>
                  <a:srgbClr val="7DCEA0"/>
                </a:solidFill>
                <a:latin typeface="Consolas"/>
              </a:rPr>
              <a:t>%d</a:t>
            </a:r>
            <a:r>
              <a:rPr sz="1900" i="0">
                <a:solidFill>
                  <a:srgbClr val="7DCEA0"/>
                </a:solidFill>
                <a:latin typeface="Consolas"/>
              </a:rPr>
              <a:t> models to enumerate</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SYMBOLS</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SYMBOLS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E8EDF2"/>
                </a:solidFill>
                <a:latin typeface="Consolas"/>
              </a:rPr>
              <a:t>ent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seen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model_check</a:t>
            </a:r>
            <a:r>
              <a:rPr sz="1900" i="0">
                <a:solidFill>
                  <a:srgbClr val="AEB6BF"/>
                </a:solidFill>
                <a:latin typeface="Consolas"/>
              </a:rPr>
              <a:t>(</a:t>
            </a:r>
            <a:r>
              <a:rPr sz="1900" i="0">
                <a:solidFill>
                  <a:srgbClr val="E8EDF2"/>
                </a:solidFill>
                <a:latin typeface="Consolas"/>
              </a:rPr>
              <a:t>KB</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Deploy</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SYMBOLS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MODEL CHECKING</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a:t>
            </a:r>
            <a:r>
              <a:rPr sz="1900" i="0">
                <a:solidFill>
                  <a:srgbClr val="7DCEA0"/>
                </a:solidFill>
                <a:latin typeface="Consolas"/>
              </a:rPr>
              <a:t>%d</a:t>
            </a:r>
            <a:r>
              <a:rPr sz="1900" i="0">
                <a:solidFill>
                  <a:srgbClr val="7DCEA0"/>
                </a:solidFill>
                <a:latin typeface="Consolas"/>
              </a:rPr>
              <a:t> of </a:t>
            </a:r>
            <a:r>
              <a:rPr sz="1900" i="0">
                <a:solidFill>
                  <a:srgbClr val="7DCEA0"/>
                </a:solidFill>
                <a:latin typeface="Consolas"/>
              </a:rPr>
              <a:t>%d</a:t>
            </a:r>
            <a:r>
              <a:rPr sz="1900" i="0">
                <a:solidFill>
                  <a:srgbClr val="7DCEA0"/>
                </a:solidFill>
                <a:latin typeface="Consolas"/>
              </a:rPr>
              <a:t> models satisfy the KB</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models</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seen</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m</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models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show</a:t>
            </a:r>
            <a:r>
              <a:rPr sz="1900" i="0">
                <a:solidFill>
                  <a:srgbClr val="AEB6BF"/>
                </a:solidFill>
                <a:latin typeface="Consolas"/>
              </a:rPr>
              <a:t>(</a:t>
            </a:r>
            <a:r>
              <a:rPr sz="1900" i="0">
                <a:solidFill>
                  <a:srgbClr val="E8EDF2"/>
                </a:solidFill>
                <a:latin typeface="Consolas"/>
              </a:rPr>
              <a:t>m</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KB entails Deploy:</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ent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assert</a:t>
            </a:r>
            <a:r>
              <a:rPr sz="1900" i="0">
                <a:solidFill>
                  <a:srgbClr val="E8EDF2"/>
                </a:solidFill>
                <a:latin typeface="Consolas"/>
              </a:rPr>
              <a:t> </a:t>
            </a:r>
            <a:r>
              <a:rPr sz="1900" i="0">
                <a:solidFill>
                  <a:srgbClr val="E8EDF2"/>
                </a:solidFill>
                <a:latin typeface="Consolas"/>
              </a:rPr>
              <a:t>ent</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models</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142</a:t>
            </a:r>
          </a:p>
          <a:p>
            <a:pPr algn="r">
              <a:lnSpc>
                <a:spcPct val="100000"/>
              </a:lnSpc>
            </a:pPr>
            <a:r>
              <a:rPr sz="1900">
                <a:solidFill>
                  <a:srgbClr val="4F5D6A"/>
                </a:solidFill>
                <a:latin typeface="Consolas"/>
              </a:rPr>
              <a:t>143</a:t>
            </a:r>
          </a:p>
          <a:p>
            <a:pPr algn="r">
              <a:lnSpc>
                <a:spcPct val="100000"/>
              </a:lnSpc>
            </a:pPr>
            <a:r>
              <a:rPr sz="1900">
                <a:solidFill>
                  <a:srgbClr val="4F5D6A"/>
                </a:solidFill>
                <a:latin typeface="Consolas"/>
              </a:rPr>
              <a:t>144</a:t>
            </a:r>
          </a:p>
          <a:p>
            <a:pPr algn="r">
              <a:lnSpc>
                <a:spcPct val="100000"/>
              </a:lnSpc>
            </a:pPr>
            <a:r>
              <a:rPr sz="1900">
                <a:solidFill>
                  <a:srgbClr val="4F5D6A"/>
                </a:solidFill>
                <a:latin typeface="Consolas"/>
              </a:rPr>
              <a:t>145</a:t>
            </a:r>
          </a:p>
          <a:p>
            <a:pPr algn="r">
              <a:lnSpc>
                <a:spcPct val="100000"/>
              </a:lnSpc>
            </a:pPr>
            <a:r>
              <a:rPr sz="1900">
                <a:solidFill>
                  <a:srgbClr val="4F5D6A"/>
                </a:solidFill>
                <a:latin typeface="Consolas"/>
              </a:rPr>
              <a:t>146</a:t>
            </a:r>
          </a:p>
          <a:p>
            <a:pPr algn="r">
              <a:lnSpc>
                <a:spcPct val="100000"/>
              </a:lnSpc>
            </a:pPr>
            <a:r>
              <a:rPr sz="1900">
                <a:solidFill>
                  <a:srgbClr val="4F5D6A"/>
                </a:solidFill>
                <a:latin typeface="Consolas"/>
              </a:rPr>
              <a:t>147</a:t>
            </a:r>
          </a:p>
          <a:p>
            <a:pPr algn="r">
              <a:lnSpc>
                <a:spcPct val="100000"/>
              </a:lnSpc>
            </a:pPr>
            <a:r>
              <a:rPr sz="1900">
                <a:solidFill>
                  <a:srgbClr val="4F5D6A"/>
                </a:solidFill>
                <a:latin typeface="Consolas"/>
              </a:rPr>
              <a:t>148</a:t>
            </a:r>
          </a:p>
          <a:p>
            <a:pPr algn="r">
              <a:lnSpc>
                <a:spcPct val="100000"/>
              </a:lnSpc>
            </a:pPr>
            <a:r>
              <a:rPr sz="1900">
                <a:solidFill>
                  <a:srgbClr val="4F5D6A"/>
                </a:solidFill>
                <a:latin typeface="Consolas"/>
              </a:rPr>
              <a:t>149</a:t>
            </a:r>
          </a:p>
          <a:p>
            <a:pPr algn="r">
              <a:lnSpc>
                <a:spcPct val="100000"/>
              </a:lnSpc>
            </a:pPr>
            <a:r>
              <a:rPr sz="1900">
                <a:solidFill>
                  <a:srgbClr val="4F5D6A"/>
                </a:solidFill>
                <a:latin typeface="Consolas"/>
              </a:rPr>
              <a:t>150</a:t>
            </a:r>
          </a:p>
          <a:p>
            <a:pPr algn="r">
              <a:lnSpc>
                <a:spcPct val="100000"/>
              </a:lnSpc>
            </a:pPr>
            <a:r>
              <a:rPr sz="1900">
                <a:solidFill>
                  <a:srgbClr val="4F5D6A"/>
                </a:solidFill>
                <a:latin typeface="Consolas"/>
              </a:rPr>
              <a:t>151</a:t>
            </a:r>
          </a:p>
          <a:p>
            <a:pPr algn="r">
              <a:lnSpc>
                <a:spcPct val="100000"/>
              </a:lnSpc>
            </a:pPr>
            <a:r>
              <a:rPr sz="1900">
                <a:solidFill>
                  <a:srgbClr val="4F5D6A"/>
                </a:solidFill>
                <a:latin typeface="Consolas"/>
              </a:rPr>
              <a:t>152</a:t>
            </a:r>
          </a:p>
          <a:p>
            <a:pPr algn="r">
              <a:lnSpc>
                <a:spcPct val="100000"/>
              </a:lnSpc>
            </a:pPr>
            <a:r>
              <a:rPr sz="1900">
                <a:solidFill>
                  <a:srgbClr val="4F5D6A"/>
                </a:solidFill>
                <a:latin typeface="Consolas"/>
              </a:rPr>
              <a:t>153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3099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AF660320-A91F-411A-B414-42A84CA9C98C}" type="slidenum">
              <a:rPr lang="en-GB" sz="1000">
                <a:solidFill>
                  <a:srgbClr val="8795A1"/>
                </a:solidFill>
                <a:latin typeface="Segoe UI"/>
              </a:rPr>
              <a:t>42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Resolution refutation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ent2, w = entails_dpll(KB, &quot;Deploy&quot;) print() print(&quot;DPLL&quot;) print(&quot; %d calls, %d unit propagations, %d branches&quot; % (w.calls, w.units, w.branches)) print(&quot; KB entails Deploy:&quot;, ent2) assert ent2 and ent2 == ent assert w.branches == 0, &quot;the facts cascade; no branching needed&quot; ent3, steps = resolution(KB, &quot;Deploy&quot;) print() print(&quot;RESOLUTION&quot;) print(&quot; empty clause derived:&quot;, ent3, &quot; in %d steps&quot; % steps) assert ent3 == ent print(&quot; ... which is more work than enumerating all %d models.&quot; % seen) assert steps &gt; seen"/>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0">
                <a:solidFill>
                  <a:srgbClr val="E8EDF2"/>
                </a:solidFill>
                <a:latin typeface="Consolas"/>
              </a:rPr>
              <a:t>ent2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entails_dpll</a:t>
            </a:r>
            <a:r>
              <a:rPr sz="1300" i="0">
                <a:solidFill>
                  <a:srgbClr val="AEB6BF"/>
                </a:solidFill>
                <a:latin typeface="Consolas"/>
              </a:rPr>
              <a:t>(</a:t>
            </a:r>
            <a:r>
              <a:rPr sz="1300" i="0">
                <a:solidFill>
                  <a:srgbClr val="E8EDF2"/>
                </a:solidFill>
                <a:latin typeface="Consolas"/>
              </a:rPr>
              <a:t>KB</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Deploy</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DPLL</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a:t>
            </a:r>
            <a:r>
              <a:rPr sz="1300" i="0">
                <a:solidFill>
                  <a:srgbClr val="7DCEA0"/>
                </a:solidFill>
                <a:latin typeface="Consolas"/>
              </a:rPr>
              <a:t>%d</a:t>
            </a:r>
            <a:r>
              <a:rPr sz="1300" i="0">
                <a:solidFill>
                  <a:srgbClr val="7DCEA0"/>
                </a:solidFill>
                <a:latin typeface="Consolas"/>
              </a:rPr>
              <a:t> calls, </a:t>
            </a:r>
            <a:r>
              <a:rPr sz="1300" i="0">
                <a:solidFill>
                  <a:srgbClr val="7DCEA0"/>
                </a:solidFill>
                <a:latin typeface="Consolas"/>
              </a:rPr>
              <a:t>%d</a:t>
            </a:r>
            <a:r>
              <a:rPr sz="1300" i="0">
                <a:solidFill>
                  <a:srgbClr val="7DCEA0"/>
                </a:solidFill>
                <a:latin typeface="Consolas"/>
              </a:rPr>
              <a:t> unit propagations, </a:t>
            </a:r>
            <a:r>
              <a:rPr sz="1300" i="0">
                <a:solidFill>
                  <a:srgbClr val="7DCEA0"/>
                </a:solidFill>
                <a:latin typeface="Consolas"/>
              </a:rPr>
              <a:t>%d</a:t>
            </a:r>
            <a:r>
              <a:rPr sz="1300" i="0">
                <a:solidFill>
                  <a:srgbClr val="7DCEA0"/>
                </a:solidFill>
                <a:latin typeface="Consolas"/>
              </a:rPr>
              <a:t> branches</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w</a:t>
            </a:r>
            <a:r>
              <a:rPr sz="1300" i="0">
                <a:solidFill>
                  <a:srgbClr val="AEB6BF"/>
                </a:solidFill>
                <a:latin typeface="Consolas"/>
              </a:rPr>
              <a:t>.</a:t>
            </a:r>
            <a:r>
              <a:rPr sz="1300" i="0">
                <a:solidFill>
                  <a:srgbClr val="E8EDF2"/>
                </a:solidFill>
                <a:latin typeface="Consolas"/>
              </a:rPr>
              <a:t>calls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t>
            </a:r>
            <a:r>
              <a:rPr sz="1300" i="0">
                <a:solidFill>
                  <a:srgbClr val="AEB6BF"/>
                </a:solidFill>
                <a:latin typeface="Consolas"/>
              </a:rPr>
              <a:t>.</a:t>
            </a:r>
            <a:r>
              <a:rPr sz="1300" i="0">
                <a:solidFill>
                  <a:srgbClr val="E8EDF2"/>
                </a:solidFill>
                <a:latin typeface="Consolas"/>
              </a:rPr>
              <a:t>units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a:t>
            </a:r>
            <a:r>
              <a:rPr sz="1300" i="0">
                <a:solidFill>
                  <a:srgbClr val="AEB6BF"/>
                </a:solidFill>
                <a:latin typeface="Consolas"/>
              </a:rPr>
              <a:t>.</a:t>
            </a:r>
            <a:r>
              <a:rPr sz="1300" i="0">
                <a:solidFill>
                  <a:srgbClr val="E8EDF2"/>
                </a:solidFill>
                <a:latin typeface="Consolas"/>
              </a:rPr>
              <a:t>branches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KB entails Deploy: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ent2</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ent2</a:t>
            </a:r>
            <a:r>
              <a:rPr sz="1300" i="0">
                <a:solidFill>
                  <a:srgbClr val="E8EDF2"/>
                </a:solidFill>
                <a:latin typeface="Consolas"/>
              </a:rPr>
              <a:t> </a:t>
            </a:r>
            <a:r>
              <a:rPr sz="1300" i="0">
                <a:solidFill>
                  <a:srgbClr val="AEB6BF"/>
                </a:solidFill>
                <a:latin typeface="Consolas"/>
              </a:rPr>
              <a:t>and</a:t>
            </a:r>
            <a:r>
              <a:rPr sz="1300" i="0">
                <a:solidFill>
                  <a:srgbClr val="E8EDF2"/>
                </a:solidFill>
                <a:latin typeface="Consolas"/>
              </a:rPr>
              <a:t> </a:t>
            </a:r>
            <a:r>
              <a:rPr sz="1300" i="0">
                <a:solidFill>
                  <a:srgbClr val="E8EDF2"/>
                </a:solidFill>
                <a:latin typeface="Consolas"/>
              </a:rPr>
              <a:t>ent2</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ent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w</a:t>
            </a:r>
            <a:r>
              <a:rPr sz="1300" i="0">
                <a:solidFill>
                  <a:srgbClr val="AEB6BF"/>
                </a:solidFill>
                <a:latin typeface="Consolas"/>
              </a:rPr>
              <a:t>.</a:t>
            </a:r>
            <a:r>
              <a:rPr sz="1300" i="0">
                <a:solidFill>
                  <a:srgbClr val="E8EDF2"/>
                </a:solidFill>
                <a:latin typeface="Consolas"/>
              </a:rPr>
              <a:t>branches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the facts cascade; no branching needed</a:t>
            </a: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E8EDF2"/>
                </a:solidFill>
                <a:latin typeface="Consolas"/>
              </a:rPr>
              <a:t>ent3</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steps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resolution</a:t>
            </a:r>
            <a:r>
              <a:rPr sz="1300" i="0">
                <a:solidFill>
                  <a:srgbClr val="AEB6BF"/>
                </a:solidFill>
                <a:latin typeface="Consolas"/>
              </a:rPr>
              <a:t>(</a:t>
            </a:r>
            <a:r>
              <a:rPr sz="1300" i="0">
                <a:solidFill>
                  <a:srgbClr val="E8EDF2"/>
                </a:solidFill>
                <a:latin typeface="Consolas"/>
              </a:rPr>
              <a:t>KB</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Deploy</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RESOLUTION</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empty clause derived:</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ent3</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 in </a:t>
            </a:r>
            <a:r>
              <a:rPr sz="1300" i="0">
                <a:solidFill>
                  <a:srgbClr val="7DCEA0"/>
                </a:solidFill>
                <a:latin typeface="Consolas"/>
              </a:rPr>
              <a:t>%d</a:t>
            </a:r>
            <a:r>
              <a:rPr sz="1300" i="0">
                <a:solidFill>
                  <a:srgbClr val="7DCEA0"/>
                </a:solidFill>
                <a:latin typeface="Consolas"/>
              </a:rPr>
              <a:t> steps</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steps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ent3</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ent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   ... which is more work than enumerating all </a:t>
            </a:r>
            <a:r>
              <a:rPr sz="1300" i="0">
                <a:solidFill>
                  <a:srgbClr val="7DCEA0"/>
                </a:solidFill>
                <a:latin typeface="Consolas"/>
              </a:rPr>
              <a:t>%d</a:t>
            </a:r>
            <a:r>
              <a:rPr sz="1300" i="0">
                <a:solidFill>
                  <a:srgbClr val="7DCEA0"/>
                </a:solidFill>
                <a:latin typeface="Consolas"/>
              </a:rPr>
              <a:t> models.</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seen</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steps</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seen</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155</a:t>
            </a:r>
          </a:p>
          <a:p>
            <a:pPr algn="r">
              <a:lnSpc>
                <a:spcPct val="100000"/>
              </a:lnSpc>
            </a:pPr>
            <a:r>
              <a:rPr sz="1300">
                <a:solidFill>
                  <a:srgbClr val="4F5D6A"/>
                </a:solidFill>
                <a:latin typeface="Consolas"/>
              </a:rPr>
              <a:t>156</a:t>
            </a:r>
          </a:p>
          <a:p>
            <a:pPr algn="r">
              <a:lnSpc>
                <a:spcPct val="100000"/>
              </a:lnSpc>
            </a:pPr>
            <a:r>
              <a:rPr sz="1300">
                <a:solidFill>
                  <a:srgbClr val="4F5D6A"/>
                </a:solidFill>
                <a:latin typeface="Consolas"/>
              </a:rPr>
              <a:t>157</a:t>
            </a:r>
          </a:p>
          <a:p>
            <a:pPr algn="r">
              <a:lnSpc>
                <a:spcPct val="100000"/>
              </a:lnSpc>
            </a:pPr>
            <a:r>
              <a:rPr sz="1300">
                <a:solidFill>
                  <a:srgbClr val="4F5D6A"/>
                </a:solidFill>
                <a:latin typeface="Consolas"/>
              </a:rPr>
              <a:t>158</a:t>
            </a:r>
          </a:p>
          <a:p>
            <a:pPr algn="r">
              <a:lnSpc>
                <a:spcPct val="100000"/>
              </a:lnSpc>
            </a:pPr>
            <a:r>
              <a:rPr sz="1300">
                <a:solidFill>
                  <a:srgbClr val="4F5D6A"/>
                </a:solidFill>
                <a:latin typeface="Consolas"/>
              </a:rPr>
              <a:t>159</a:t>
            </a:r>
          </a:p>
          <a:p>
            <a:pPr algn="r">
              <a:lnSpc>
                <a:spcPct val="100000"/>
              </a:lnSpc>
            </a:pPr>
            <a:r>
              <a:rPr sz="1300">
                <a:solidFill>
                  <a:srgbClr val="4F5D6A"/>
                </a:solidFill>
                <a:latin typeface="Consolas"/>
              </a:rPr>
              <a:t>160</a:t>
            </a:r>
          </a:p>
          <a:p>
            <a:pPr algn="r">
              <a:lnSpc>
                <a:spcPct val="100000"/>
              </a:lnSpc>
            </a:pPr>
            <a:r>
              <a:rPr sz="1300">
                <a:solidFill>
                  <a:srgbClr val="4F5D6A"/>
                </a:solidFill>
                <a:latin typeface="Consolas"/>
              </a:rPr>
              <a:t>161</a:t>
            </a:r>
          </a:p>
          <a:p>
            <a:pPr algn="r">
              <a:lnSpc>
                <a:spcPct val="100000"/>
              </a:lnSpc>
            </a:pPr>
            <a:r>
              <a:rPr sz="1300">
                <a:solidFill>
                  <a:srgbClr val="4F5D6A"/>
                </a:solidFill>
                <a:latin typeface="Consolas"/>
              </a:rPr>
              <a:t>162</a:t>
            </a:r>
          </a:p>
          <a:p>
            <a:pPr algn="r">
              <a:lnSpc>
                <a:spcPct val="100000"/>
              </a:lnSpc>
            </a:pPr>
            <a:r>
              <a:rPr sz="1300">
                <a:solidFill>
                  <a:srgbClr val="4F5D6A"/>
                </a:solidFill>
                <a:latin typeface="Consolas"/>
              </a:rPr>
              <a:t>163</a:t>
            </a:r>
          </a:p>
          <a:p>
            <a:pPr algn="r">
              <a:lnSpc>
                <a:spcPct val="100000"/>
              </a:lnSpc>
            </a:pPr>
            <a:r>
              <a:rPr sz="1300">
                <a:solidFill>
                  <a:srgbClr val="4F5D6A"/>
                </a:solidFill>
                <a:latin typeface="Consolas"/>
              </a:rPr>
              <a:t>164</a:t>
            </a:r>
          </a:p>
          <a:p>
            <a:pPr algn="r">
              <a:lnSpc>
                <a:spcPct val="100000"/>
              </a:lnSpc>
            </a:pPr>
            <a:r>
              <a:rPr sz="1300">
                <a:solidFill>
                  <a:srgbClr val="4F5D6A"/>
                </a:solidFill>
                <a:latin typeface="Consolas"/>
              </a:rPr>
              <a:t>165</a:t>
            </a:r>
          </a:p>
          <a:p>
            <a:pPr algn="r">
              <a:lnSpc>
                <a:spcPct val="100000"/>
              </a:lnSpc>
            </a:pPr>
            <a:r>
              <a:rPr sz="1300">
                <a:solidFill>
                  <a:srgbClr val="4F5D6A"/>
                </a:solidFill>
                <a:latin typeface="Consolas"/>
              </a:rPr>
              <a:t>166</a:t>
            </a:r>
          </a:p>
          <a:p>
            <a:pPr algn="r">
              <a:lnSpc>
                <a:spcPct val="100000"/>
              </a:lnSpc>
            </a:pPr>
            <a:r>
              <a:rPr sz="1300">
                <a:solidFill>
                  <a:srgbClr val="4F5D6A"/>
                </a:solidFill>
                <a:latin typeface="Consolas"/>
              </a:rPr>
              <a:t>167</a:t>
            </a:r>
          </a:p>
          <a:p>
            <a:pPr algn="r">
              <a:lnSpc>
                <a:spcPct val="100000"/>
              </a:lnSpc>
            </a:pPr>
            <a:r>
              <a:rPr sz="1300">
                <a:solidFill>
                  <a:srgbClr val="4F5D6A"/>
                </a:solidFill>
                <a:latin typeface="Consolas"/>
              </a:rPr>
              <a:t>168</a:t>
            </a:r>
          </a:p>
          <a:p>
            <a:pPr algn="r">
              <a:lnSpc>
                <a:spcPct val="100000"/>
              </a:lnSpc>
            </a:pPr>
            <a:r>
              <a:rPr sz="1300">
                <a:solidFill>
                  <a:srgbClr val="4F5D6A"/>
                </a:solidFill>
                <a:latin typeface="Consolas"/>
              </a:rPr>
              <a:t>169</a:t>
            </a:r>
          </a:p>
          <a:p>
            <a:pPr algn="r">
              <a:lnSpc>
                <a:spcPct val="100000"/>
              </a:lnSpc>
            </a:pPr>
            <a:r>
              <a:rPr sz="1300">
                <a:solidFill>
                  <a:srgbClr val="4F5D6A"/>
                </a:solidFill>
                <a:latin typeface="Consolas"/>
              </a:rPr>
              <a:t>170</a:t>
            </a:r>
          </a:p>
          <a:p>
            <a:pPr algn="r">
              <a:lnSpc>
                <a:spcPct val="100000"/>
              </a:lnSpc>
            </a:pPr>
            <a:r>
              <a:rPr sz="1300">
                <a:solidFill>
                  <a:srgbClr val="4F5D6A"/>
                </a:solidFill>
                <a:latin typeface="Consolas"/>
              </a:rPr>
              <a:t>171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26138588-7482-4A2E-96BD-4C15DC74E1F3}" type="slidenum">
              <a:rPr lang="en-GB" sz="1000">
                <a:solidFill>
                  <a:srgbClr val="8795A1"/>
                </a:solidFill>
                <a:latin typeface="Segoe UI"/>
              </a:rPr>
              <a:t>43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Drop the sign-off: the answer becomes no</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 drop the sign-off: the answer becomes no ------------------ print() print(&quot;=== drop F3 (SignedOff) ===&quot;) KB2 = [c for c in KB if c != frozenset({&quot;SignedOff&quot;})] ent4, models4, _ = model_check(KB2, &quot;Deploy&quot;, SYMBOLS) print(&quot; %d models satisfy the KB; entails Deploy: %s&quot; % (len(models4), ent4)) counter = [m for m in models4 if not m[&quot;Deploy&quot;]] print(&quot; countermodel:&quot;) print(&quot; &quot; + show(counter[0])) assert not ent4 and counter ok4, _ = resolution(KB2, &quot;Deploy&quot;) assert not ok4 print(&quot; resolution correctly fails to derive the empty clause.&quot;) print(&quot; The countermodel is the useful output: everything you&quot;) print(&quot; told me holds, and the release still must not go out.&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1">
                <a:solidFill>
                  <a:srgbClr val="8795A1"/>
                </a:solidFill>
                <a:latin typeface="Consolas"/>
              </a:rPr>
              <a:t># --- drop the sign-off: the answer becomes no ------------------</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drop F3 (SignedOff) ===</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KB2</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c</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KB</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c</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frozenset</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SignedOff</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ent4</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models4</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_</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model_check</a:t>
            </a:r>
            <a:r>
              <a:rPr sz="1400" i="0">
                <a:solidFill>
                  <a:srgbClr val="AEB6BF"/>
                </a:solidFill>
                <a:latin typeface="Consolas"/>
              </a:rPr>
              <a:t>(</a:t>
            </a:r>
            <a:r>
              <a:rPr sz="1400" i="0">
                <a:solidFill>
                  <a:srgbClr val="E8EDF2"/>
                </a:solidFill>
                <a:latin typeface="Consolas"/>
              </a:rPr>
              <a:t>KB2</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Deploy</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SYMBOLS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a:t>
            </a:r>
            <a:r>
              <a:rPr sz="1400" i="0">
                <a:solidFill>
                  <a:srgbClr val="7DCEA0"/>
                </a:solidFill>
                <a:latin typeface="Consolas"/>
              </a:rPr>
              <a:t>%d</a:t>
            </a:r>
            <a:r>
              <a:rPr sz="1400" i="0">
                <a:solidFill>
                  <a:srgbClr val="7DCEA0"/>
                </a:solidFill>
                <a:latin typeface="Consolas"/>
              </a:rPr>
              <a:t> models satisfy the KB; entails Deploy: </a:t>
            </a:r>
            <a:r>
              <a:rPr sz="1400" i="0">
                <a:solidFill>
                  <a:srgbClr val="7DCEA0"/>
                </a:solidFill>
                <a:latin typeface="Consolas"/>
              </a:rPr>
              <a:t>%s</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models4</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ent4</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counter</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m</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m</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models4</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m</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Deploy</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countermodel:</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show</a:t>
            </a:r>
            <a:r>
              <a:rPr sz="1400" i="0">
                <a:solidFill>
                  <a:srgbClr val="AEB6BF"/>
                </a:solidFill>
                <a:latin typeface="Consolas"/>
              </a:rPr>
              <a:t>(</a:t>
            </a:r>
            <a:r>
              <a:rPr sz="1400" i="0">
                <a:solidFill>
                  <a:srgbClr val="E8EDF2"/>
                </a:solidFill>
                <a:latin typeface="Consolas"/>
              </a:rPr>
              <a:t>counter</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ent4</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E8EDF2"/>
                </a:solidFill>
                <a:latin typeface="Consolas"/>
              </a:rPr>
              <a:t>counter</a:t>
            </a:r>
          </a:p>
          <a:p>
            <a:pPr>
              <a:lnSpc>
                <a:spcPct val="100000"/>
              </a:lnSpc>
              <a:spcAft>
                <a:spcPts val="0"/>
              </a:spcAft>
            </a:pPr>
            <a:r>
              <a:rPr sz="1400" i="0">
                <a:solidFill>
                  <a:srgbClr val="E8EDF2"/>
                </a:solidFill>
                <a:latin typeface="Consolas"/>
              </a:rPr>
              <a:t>    </a:t>
            </a:r>
            <a:r>
              <a:rPr sz="1400" i="0">
                <a:solidFill>
                  <a:srgbClr val="E8EDF2"/>
                </a:solidFill>
                <a:latin typeface="Consolas"/>
              </a:rPr>
              <a:t>ok4</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_</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resolution</a:t>
            </a:r>
            <a:r>
              <a:rPr sz="1400" i="0">
                <a:solidFill>
                  <a:srgbClr val="AEB6BF"/>
                </a:solidFill>
                <a:latin typeface="Consolas"/>
              </a:rPr>
              <a:t>(</a:t>
            </a:r>
            <a:r>
              <a:rPr sz="1400" i="0">
                <a:solidFill>
                  <a:srgbClr val="E8EDF2"/>
                </a:solidFill>
                <a:latin typeface="Consolas"/>
              </a:rPr>
              <a:t>KB2</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Deploy</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ok4</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resolution correctly fails to derive the empty clause.</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The countermodel is the useful output: everything you</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   told me holds, and the release still must not go out.</a:t>
            </a:r>
            <a:r>
              <a:rPr sz="1400" i="0">
                <a:solidFill>
                  <a:srgbClr val="7DCEA0"/>
                </a:solidFill>
                <a:latin typeface="Consolas"/>
              </a:rPr>
              <a: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173</a:t>
            </a:r>
          </a:p>
          <a:p>
            <a:pPr algn="r">
              <a:lnSpc>
                <a:spcPct val="100000"/>
              </a:lnSpc>
            </a:pPr>
            <a:r>
              <a:rPr sz="1400">
                <a:solidFill>
                  <a:srgbClr val="4F5D6A"/>
                </a:solidFill>
                <a:latin typeface="Consolas"/>
              </a:rPr>
              <a:t>174</a:t>
            </a:r>
          </a:p>
          <a:p>
            <a:pPr algn="r">
              <a:lnSpc>
                <a:spcPct val="100000"/>
              </a:lnSpc>
            </a:pPr>
            <a:r>
              <a:rPr sz="1400">
                <a:solidFill>
                  <a:srgbClr val="4F5D6A"/>
                </a:solidFill>
                <a:latin typeface="Consolas"/>
              </a:rPr>
              <a:t>175</a:t>
            </a:r>
          </a:p>
          <a:p>
            <a:pPr algn="r">
              <a:lnSpc>
                <a:spcPct val="100000"/>
              </a:lnSpc>
            </a:pPr>
            <a:r>
              <a:rPr sz="1400">
                <a:solidFill>
                  <a:srgbClr val="4F5D6A"/>
                </a:solidFill>
                <a:latin typeface="Consolas"/>
              </a:rPr>
              <a:t>176</a:t>
            </a:r>
          </a:p>
          <a:p>
            <a:pPr algn="r">
              <a:lnSpc>
                <a:spcPct val="100000"/>
              </a:lnSpc>
            </a:pPr>
            <a:r>
              <a:rPr sz="1400">
                <a:solidFill>
                  <a:srgbClr val="4F5D6A"/>
                </a:solidFill>
                <a:latin typeface="Consolas"/>
              </a:rPr>
              <a:t>177</a:t>
            </a:r>
          </a:p>
          <a:p>
            <a:pPr algn="r">
              <a:lnSpc>
                <a:spcPct val="100000"/>
              </a:lnSpc>
            </a:pPr>
            <a:r>
              <a:rPr sz="1400">
                <a:solidFill>
                  <a:srgbClr val="4F5D6A"/>
                </a:solidFill>
                <a:latin typeface="Consolas"/>
              </a:rPr>
              <a:t>178</a:t>
            </a:r>
          </a:p>
          <a:p>
            <a:pPr algn="r">
              <a:lnSpc>
                <a:spcPct val="100000"/>
              </a:lnSpc>
            </a:pPr>
            <a:r>
              <a:rPr sz="1400">
                <a:solidFill>
                  <a:srgbClr val="4F5D6A"/>
                </a:solidFill>
                <a:latin typeface="Consolas"/>
              </a:rPr>
              <a:t>179</a:t>
            </a:r>
          </a:p>
          <a:p>
            <a:pPr algn="r">
              <a:lnSpc>
                <a:spcPct val="100000"/>
              </a:lnSpc>
            </a:pPr>
            <a:r>
              <a:rPr sz="1400">
                <a:solidFill>
                  <a:srgbClr val="4F5D6A"/>
                </a:solidFill>
                <a:latin typeface="Consolas"/>
              </a:rPr>
              <a:t>180</a:t>
            </a:r>
          </a:p>
          <a:p>
            <a:pPr algn="r">
              <a:lnSpc>
                <a:spcPct val="100000"/>
              </a:lnSpc>
            </a:pPr>
            <a:r>
              <a:rPr sz="1400">
                <a:solidFill>
                  <a:srgbClr val="4F5D6A"/>
                </a:solidFill>
                <a:latin typeface="Consolas"/>
              </a:rPr>
              <a:t>181</a:t>
            </a:r>
          </a:p>
          <a:p>
            <a:pPr algn="r">
              <a:lnSpc>
                <a:spcPct val="100000"/>
              </a:lnSpc>
            </a:pPr>
            <a:r>
              <a:rPr sz="1400">
                <a:solidFill>
                  <a:srgbClr val="4F5D6A"/>
                </a:solidFill>
                <a:latin typeface="Consolas"/>
              </a:rPr>
              <a:t>182</a:t>
            </a:r>
          </a:p>
          <a:p>
            <a:pPr algn="r">
              <a:lnSpc>
                <a:spcPct val="100000"/>
              </a:lnSpc>
            </a:pPr>
            <a:r>
              <a:rPr sz="1400">
                <a:solidFill>
                  <a:srgbClr val="4F5D6A"/>
                </a:solidFill>
                <a:latin typeface="Consolas"/>
              </a:rPr>
              <a:t>183</a:t>
            </a:r>
          </a:p>
          <a:p>
            <a:pPr algn="r">
              <a:lnSpc>
                <a:spcPct val="100000"/>
              </a:lnSpc>
            </a:pPr>
            <a:r>
              <a:rPr sz="1400">
                <a:solidFill>
                  <a:srgbClr val="4F5D6A"/>
                </a:solidFill>
                <a:latin typeface="Consolas"/>
              </a:rPr>
              <a:t>184</a:t>
            </a:r>
          </a:p>
          <a:p>
            <a:pPr algn="r">
              <a:lnSpc>
                <a:spcPct val="100000"/>
              </a:lnSpc>
            </a:pPr>
            <a:r>
              <a:rPr sz="1400">
                <a:solidFill>
                  <a:srgbClr val="4F5D6A"/>
                </a:solidFill>
                <a:latin typeface="Consolas"/>
              </a:rPr>
              <a:t>185</a:t>
            </a:r>
          </a:p>
          <a:p>
            <a:pPr algn="r">
              <a:lnSpc>
                <a:spcPct val="100000"/>
              </a:lnSpc>
            </a:pPr>
            <a:r>
              <a:rPr sz="1400">
                <a:solidFill>
                  <a:srgbClr val="4F5D6A"/>
                </a:solidFill>
                <a:latin typeface="Consolas"/>
              </a:rPr>
              <a:t>186</a:t>
            </a:r>
          </a:p>
          <a:p>
            <a:pPr algn="r">
              <a:lnSpc>
                <a:spcPct val="100000"/>
              </a:lnSpc>
            </a:pPr>
            <a:r>
              <a:rPr sz="1400">
                <a:solidFill>
                  <a:srgbClr val="4F5D6A"/>
                </a:solidFill>
                <a:latin typeface="Consolas"/>
              </a:rPr>
              <a:t>187</a:t>
            </a:r>
          </a:p>
          <a:p>
            <a:pPr algn="r">
              <a:lnSpc>
                <a:spcPct val="100000"/>
              </a:lnSpc>
            </a:pPr>
            <a:r>
              <a:rPr sz="1400">
                <a:solidFill>
                  <a:srgbClr val="4F5D6A"/>
                </a:solidFill>
                <a:latin typeface="Consolas"/>
              </a:rPr>
              <a:t>188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3738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C4A50744-3B24-4593-81F5-2C602C4CA184}" type="slidenum">
              <a:rPr lang="en-GB" sz="1000">
                <a:solidFill>
                  <a:srgbClr val="8795A1"/>
                </a:solidFill>
                <a:latin typeface="Segoe UI"/>
              </a:rPr>
              <a:t>44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Drop the blocker fact: the surprise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 drop the blocker fact: the surprise ---------------------- print() print(&quot;=== drop F4 (not Blocker) ===&quot;) KB3 = [c for c in KB if c != frozenset({&quot;-Blocker&quot;})] ent5, models5, _ = model_check(KB3, &quot;Deploy&quot;, SYMBOLS) print(&quot; %d models satisfy the KB; entails Deploy: %s&quot; % (len(models5), ent5)) assert ent5 and len(models5) == 1 print(&quot; Blocker is %d in the only model: the KB entails that&quot; % models5[0][&quot;Blocker&quot;]) print(&quot; there is no blocker, without anyone saying so.&quot;) assert not models5[0][&quot;Blocker&quot;]"/>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1">
                <a:solidFill>
                  <a:srgbClr val="8795A1"/>
                </a:solidFill>
                <a:latin typeface="Consolas"/>
              </a:rPr>
              <a:t># --- drop the blocker fact: the surprise ----------------------</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drop F4 (not Blocker) ===</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KB3</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c</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KB</a:t>
            </a: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-Blocker</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ent5</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models5</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_</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model_check</a:t>
            </a:r>
            <a:r>
              <a:rPr sz="1900" i="0">
                <a:solidFill>
                  <a:srgbClr val="AEB6BF"/>
                </a:solidFill>
                <a:latin typeface="Consolas"/>
              </a:rPr>
              <a:t>(</a:t>
            </a:r>
            <a:r>
              <a:rPr sz="1900" i="0">
                <a:solidFill>
                  <a:srgbClr val="E8EDF2"/>
                </a:solidFill>
                <a:latin typeface="Consolas"/>
              </a:rPr>
              <a:t>KB3</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Deploy</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SYMBOLS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a:t>
            </a:r>
            <a:r>
              <a:rPr sz="1900" i="0">
                <a:solidFill>
                  <a:srgbClr val="7DCEA0"/>
                </a:solidFill>
                <a:latin typeface="Consolas"/>
              </a:rPr>
              <a:t>%d</a:t>
            </a:r>
            <a:r>
              <a:rPr sz="1900" i="0">
                <a:solidFill>
                  <a:srgbClr val="7DCEA0"/>
                </a:solidFill>
                <a:latin typeface="Consolas"/>
              </a:rPr>
              <a:t> models satisfy the KB; entails Deploy: </a:t>
            </a:r>
            <a:r>
              <a:rPr sz="1900" i="0">
                <a:solidFill>
                  <a:srgbClr val="7DCEA0"/>
                </a:solidFill>
                <a:latin typeface="Consolas"/>
              </a:rPr>
              <a:t>%s</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models5</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ent5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assert</a:t>
            </a:r>
            <a:r>
              <a:rPr sz="1900" i="0">
                <a:solidFill>
                  <a:srgbClr val="E8EDF2"/>
                </a:solidFill>
                <a:latin typeface="Consolas"/>
              </a:rPr>
              <a:t> </a:t>
            </a:r>
            <a:r>
              <a:rPr sz="1900" i="0">
                <a:solidFill>
                  <a:srgbClr val="E8EDF2"/>
                </a:solidFill>
                <a:latin typeface="Consolas"/>
              </a:rPr>
              <a:t>ent5</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models5</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Blocker is </a:t>
            </a:r>
            <a:r>
              <a:rPr sz="1900" i="0">
                <a:solidFill>
                  <a:srgbClr val="7DCEA0"/>
                </a:solidFill>
                <a:latin typeface="Consolas"/>
              </a:rPr>
              <a:t>%d</a:t>
            </a:r>
            <a:r>
              <a:rPr sz="1900" i="0">
                <a:solidFill>
                  <a:srgbClr val="7DCEA0"/>
                </a:solidFill>
                <a:latin typeface="Consolas"/>
              </a:rPr>
              <a:t> in the only model: the KB entails that</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models5</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Blocker</a:t>
            </a:r>
            <a:r>
              <a:rPr sz="1900" i="0">
                <a:solidFill>
                  <a:srgbClr val="7DCEA0"/>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there is no blocker, without anyone saying so.</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assert</a:t>
            </a:r>
            <a:r>
              <a:rPr sz="1900" i="0">
                <a:solidFill>
                  <a:srgbClr val="E8EDF2"/>
                </a:solidFill>
                <a:latin typeface="Consolas"/>
              </a:rPr>
              <a:t> </a:t>
            </a:r>
            <a:r>
              <a:rPr sz="1900" i="0">
                <a:solidFill>
                  <a:srgbClr val="AEB6BF"/>
                </a:solidFill>
                <a:latin typeface="Consolas"/>
              </a:rPr>
              <a:t>not</a:t>
            </a:r>
            <a:r>
              <a:rPr sz="1900" i="0">
                <a:solidFill>
                  <a:srgbClr val="E8EDF2"/>
                </a:solidFill>
                <a:latin typeface="Consolas"/>
              </a:rPr>
              <a:t> </a:t>
            </a:r>
            <a:r>
              <a:rPr sz="1900" i="0">
                <a:solidFill>
                  <a:srgbClr val="E8EDF2"/>
                </a:solidFill>
                <a:latin typeface="Consolas"/>
              </a:rPr>
              <a:t>models5</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Blocker</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190</a:t>
            </a:r>
          </a:p>
          <a:p>
            <a:pPr algn="r">
              <a:lnSpc>
                <a:spcPct val="100000"/>
              </a:lnSpc>
            </a:pPr>
            <a:r>
              <a:rPr sz="1900">
                <a:solidFill>
                  <a:srgbClr val="4F5D6A"/>
                </a:solidFill>
                <a:latin typeface="Consolas"/>
              </a:rPr>
              <a:t>191</a:t>
            </a:r>
          </a:p>
          <a:p>
            <a:pPr algn="r">
              <a:lnSpc>
                <a:spcPct val="100000"/>
              </a:lnSpc>
            </a:pPr>
            <a:r>
              <a:rPr sz="1900">
                <a:solidFill>
                  <a:srgbClr val="4F5D6A"/>
                </a:solidFill>
                <a:latin typeface="Consolas"/>
              </a:rPr>
              <a:t>192</a:t>
            </a:r>
          </a:p>
          <a:p>
            <a:pPr algn="r">
              <a:lnSpc>
                <a:spcPct val="100000"/>
              </a:lnSpc>
            </a:pPr>
            <a:r>
              <a:rPr sz="1900">
                <a:solidFill>
                  <a:srgbClr val="4F5D6A"/>
                </a:solidFill>
                <a:latin typeface="Consolas"/>
              </a:rPr>
              <a:t>193</a:t>
            </a:r>
          </a:p>
          <a:p>
            <a:pPr algn="r">
              <a:lnSpc>
                <a:spcPct val="100000"/>
              </a:lnSpc>
            </a:pPr>
            <a:r>
              <a:rPr sz="1900">
                <a:solidFill>
                  <a:srgbClr val="4F5D6A"/>
                </a:solidFill>
                <a:latin typeface="Consolas"/>
              </a:rPr>
              <a:t>194</a:t>
            </a:r>
          </a:p>
          <a:p>
            <a:pPr algn="r">
              <a:lnSpc>
                <a:spcPct val="100000"/>
              </a:lnSpc>
            </a:pPr>
            <a:r>
              <a:rPr sz="1900">
                <a:solidFill>
                  <a:srgbClr val="4F5D6A"/>
                </a:solidFill>
                <a:latin typeface="Consolas"/>
              </a:rPr>
              <a:t>195</a:t>
            </a:r>
          </a:p>
          <a:p>
            <a:pPr algn="r">
              <a:lnSpc>
                <a:spcPct val="100000"/>
              </a:lnSpc>
            </a:pPr>
            <a:r>
              <a:rPr sz="1900">
                <a:solidFill>
                  <a:srgbClr val="4F5D6A"/>
                </a:solidFill>
                <a:latin typeface="Consolas"/>
              </a:rPr>
              <a:t>196</a:t>
            </a:r>
          </a:p>
          <a:p>
            <a:pPr algn="r">
              <a:lnSpc>
                <a:spcPct val="100000"/>
              </a:lnSpc>
            </a:pPr>
            <a:r>
              <a:rPr sz="1900">
                <a:solidFill>
                  <a:srgbClr val="4F5D6A"/>
                </a:solidFill>
                <a:latin typeface="Consolas"/>
              </a:rPr>
              <a:t>197</a:t>
            </a:r>
          </a:p>
          <a:p>
            <a:pPr algn="r">
              <a:lnSpc>
                <a:spcPct val="100000"/>
              </a:lnSpc>
            </a:pPr>
            <a:r>
              <a:rPr sz="1900">
                <a:solidFill>
                  <a:srgbClr val="4F5D6A"/>
                </a:solidFill>
                <a:latin typeface="Consolas"/>
              </a:rPr>
              <a:t>198</a:t>
            </a:r>
          </a:p>
          <a:p>
            <a:pPr algn="r">
              <a:lnSpc>
                <a:spcPct val="100000"/>
              </a:lnSpc>
            </a:pPr>
            <a:r>
              <a:rPr sz="1900">
                <a:solidFill>
                  <a:srgbClr val="4F5D6A"/>
                </a:solidFill>
                <a:latin typeface="Consolas"/>
              </a:rPr>
              <a:t>199</a:t>
            </a:r>
          </a:p>
          <a:p>
            <a:pPr algn="r">
              <a:lnSpc>
                <a:spcPct val="100000"/>
              </a:lnSpc>
            </a:pPr>
            <a:r>
              <a:rPr sz="1900">
                <a:solidFill>
                  <a:srgbClr val="4F5D6A"/>
                </a:solidFill>
                <a:latin typeface="Consolas"/>
              </a:rPr>
              <a:t>200</a:t>
            </a:r>
          </a:p>
          <a:p>
            <a:pPr algn="r">
              <a:lnSpc>
                <a:spcPct val="100000"/>
              </a:lnSpc>
            </a:pPr>
            <a:r>
              <a:rPr sz="1900">
                <a:solidFill>
                  <a:srgbClr val="4F5D6A"/>
                </a:solidFill>
                <a:latin typeface="Consolas"/>
              </a:rPr>
              <a:t>201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Ways to Decide a Release Gate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15 OF 15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02A2ACCE-C4DA-476C-BE2B-C252005C4CB9}" type="slidenum">
              <a:rPr lang="en-GB" sz="1000">
                <a:solidFill>
                  <a:srgbClr val="8795A1"/>
                </a:solidFill>
                <a:latin typeface="Segoe UI"/>
              </a:rPr>
              <a:t>45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the fix: put the condition in the rule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code/ch11_three_ways_decide.py</a:t>
            </a:r>
          </a:p>
        </p:txBody>
      </p:sp>
      <p:sp>
        <p:nvSpPr>
          <p:cNvPr id="14" name="!!code-text" descr="# --- and the fix: put the condition in the rule --------------- print() print(&quot;=== the fix: R2 requires no blocker ===&quot;) KB4 = [c for c in KB3 if c != frozenset({&quot;-Staged&quot;, &quot;-SignedOff&quot;, &quot;Deploy&quot;})] KB4.append(frozenset({&quot;-Staged&quot;, &quot;-SignedOff&quot;, &quot;Blocker&quot;, &quot;Deploy&quot;})) ent6, models6, _ = model_check(KB4, &quot;Deploy&quot;, SYMBOLS) print(&quot; %d models satisfy the KB; entails Deploy: %s&quot; % (len(models6), ent6)) assert not ent6 print(&quot; Now Deploy does NOT follow without knowing about&quot;) print(&quot; blockers -- which is what the team meant all along.&quot;)"/>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0">
                <a:solidFill>
                  <a:srgbClr val="E8EDF2"/>
                </a:solidFill>
                <a:latin typeface="Consolas"/>
              </a:rPr>
              <a:t>    </a:t>
            </a:r>
            <a:r>
              <a:rPr sz="1800" i="1">
                <a:solidFill>
                  <a:srgbClr val="8795A1"/>
                </a:solidFill>
                <a:latin typeface="Consolas"/>
              </a:rPr>
              <a:t># --- and the fix: put the condition in the rule ---------------</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the fix: R2 requires no blocker ===</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KB4</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c</a:t>
            </a: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KB3</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frozenset</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-Staged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-SignedOff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Deploy</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KB4</a:t>
            </a:r>
            <a:r>
              <a:rPr sz="1800" i="0">
                <a:solidFill>
                  <a:srgbClr val="AEB6BF"/>
                </a:solidFill>
                <a:latin typeface="Consolas"/>
              </a:rPr>
              <a:t>.</a:t>
            </a:r>
            <a:r>
              <a:rPr sz="1800" i="0">
                <a:solidFill>
                  <a:srgbClr val="E8EDF2"/>
                </a:solidFill>
                <a:latin typeface="Consolas"/>
              </a:rPr>
              <a:t>append</a:t>
            </a:r>
            <a:r>
              <a:rPr sz="1800" i="0">
                <a:solidFill>
                  <a:srgbClr val="AEB6BF"/>
                </a:solidFill>
                <a:latin typeface="Consolas"/>
              </a:rPr>
              <a:t>(</a:t>
            </a:r>
            <a:r>
              <a:rPr sz="1800" i="0">
                <a:solidFill>
                  <a:srgbClr val="C39BD3"/>
                </a:solidFill>
                <a:latin typeface="Consolas"/>
              </a:rPr>
              <a:t>frozenset</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-Staged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-SignedOff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Blocker</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Deploy</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ent6</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models6</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_</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model_check</a:t>
            </a:r>
            <a:r>
              <a:rPr sz="1800" i="0">
                <a:solidFill>
                  <a:srgbClr val="AEB6BF"/>
                </a:solidFill>
                <a:latin typeface="Consolas"/>
              </a:rPr>
              <a:t>(</a:t>
            </a:r>
            <a:r>
              <a:rPr sz="1800" i="0">
                <a:solidFill>
                  <a:srgbClr val="E8EDF2"/>
                </a:solidFill>
                <a:latin typeface="Consolas"/>
              </a:rPr>
              <a:t>KB4</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Deploy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SYMBOLS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%d</a:t>
            </a:r>
            <a:r>
              <a:rPr sz="1800" i="0">
                <a:solidFill>
                  <a:srgbClr val="7DCEA0"/>
                </a:solidFill>
                <a:latin typeface="Consolas"/>
              </a:rPr>
              <a:t> models satisfy the KB; entails Deploy: </a:t>
            </a:r>
            <a:r>
              <a:rPr sz="1800" i="0">
                <a:solidFill>
                  <a:srgbClr val="7DCEA0"/>
                </a:solidFill>
                <a:latin typeface="Consolas"/>
              </a:rPr>
              <a:t>%s</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models6</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ent6</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assert</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E8EDF2"/>
                </a:solidFill>
                <a:latin typeface="Consolas"/>
              </a:rPr>
              <a:t>ent6</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Now Deploy does NOT follow without knowing about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   blockers -- which is what the team meant all along.</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203</a:t>
            </a:r>
          </a:p>
          <a:p>
            <a:pPr algn="r">
              <a:lnSpc>
                <a:spcPct val="100000"/>
              </a:lnSpc>
            </a:pPr>
            <a:r>
              <a:rPr sz="1800">
                <a:solidFill>
                  <a:srgbClr val="4F5D6A"/>
                </a:solidFill>
                <a:latin typeface="Consolas"/>
              </a:rPr>
              <a:t>204</a:t>
            </a:r>
          </a:p>
          <a:p>
            <a:pPr algn="r">
              <a:lnSpc>
                <a:spcPct val="100000"/>
              </a:lnSpc>
            </a:pPr>
            <a:r>
              <a:rPr sz="1800">
                <a:solidFill>
                  <a:srgbClr val="4F5D6A"/>
                </a:solidFill>
                <a:latin typeface="Consolas"/>
              </a:rPr>
              <a:t>205</a:t>
            </a:r>
          </a:p>
          <a:p>
            <a:pPr algn="r">
              <a:lnSpc>
                <a:spcPct val="100000"/>
              </a:lnSpc>
            </a:pPr>
            <a:r>
              <a:rPr sz="1800">
                <a:solidFill>
                  <a:srgbClr val="4F5D6A"/>
                </a:solidFill>
                <a:latin typeface="Consolas"/>
              </a:rPr>
              <a:t>206</a:t>
            </a:r>
          </a:p>
          <a:p>
            <a:pPr algn="r">
              <a:lnSpc>
                <a:spcPct val="100000"/>
              </a:lnSpc>
            </a:pPr>
            <a:r>
              <a:rPr sz="1800">
                <a:solidFill>
                  <a:srgbClr val="4F5D6A"/>
                </a:solidFill>
                <a:latin typeface="Consolas"/>
              </a:rPr>
              <a:t>207</a:t>
            </a:r>
          </a:p>
          <a:p>
            <a:pPr algn="r">
              <a:lnSpc>
                <a:spcPct val="100000"/>
              </a:lnSpc>
            </a:pPr>
            <a:r>
              <a:rPr sz="1800">
                <a:solidFill>
                  <a:srgbClr val="4F5D6A"/>
                </a:solidFill>
                <a:latin typeface="Consolas"/>
              </a:rPr>
              <a:t>208</a:t>
            </a:r>
          </a:p>
          <a:p>
            <a:pPr algn="r">
              <a:lnSpc>
                <a:spcPct val="100000"/>
              </a:lnSpc>
            </a:pPr>
            <a:r>
              <a:rPr sz="1800">
                <a:solidFill>
                  <a:srgbClr val="4F5D6A"/>
                </a:solidFill>
                <a:latin typeface="Consolas"/>
              </a:rPr>
              <a:t>209</a:t>
            </a:r>
          </a:p>
          <a:p>
            <a:pPr algn="r">
              <a:lnSpc>
                <a:spcPct val="100000"/>
              </a:lnSpc>
            </a:pPr>
            <a:r>
              <a:rPr sz="1800">
                <a:solidFill>
                  <a:srgbClr val="4F5D6A"/>
                </a:solidFill>
                <a:latin typeface="Consolas"/>
              </a:rPr>
              <a:t>210</a:t>
            </a:r>
          </a:p>
          <a:p>
            <a:pPr algn="r">
              <a:lnSpc>
                <a:spcPct val="100000"/>
              </a:lnSpc>
            </a:pPr>
            <a:r>
              <a:rPr sz="1800">
                <a:solidFill>
                  <a:srgbClr val="4F5D6A"/>
                </a:solidFill>
                <a:latin typeface="Consolas"/>
              </a:rPr>
              <a:t>211</a:t>
            </a:r>
          </a:p>
          <a:p>
            <a:pPr algn="r">
              <a:lnSpc>
                <a:spcPct val="100000"/>
              </a:lnSpc>
            </a:pPr>
            <a:r>
              <a:rPr sz="1800">
                <a:solidFill>
                  <a:srgbClr val="4F5D6A"/>
                </a:solidFill>
                <a:latin typeface="Consolas"/>
              </a:rPr>
              <a:t>212</a:t>
            </a:r>
          </a:p>
          <a:p>
            <a:pPr algn="r">
              <a:lnSpc>
                <a:spcPct val="100000"/>
              </a:lnSpc>
            </a:pPr>
            <a:r>
              <a:rPr sz="1800">
                <a:solidFill>
                  <a:srgbClr val="4F5D6A"/>
                </a:solidFill>
                <a:latin typeface="Consolas"/>
              </a:rPr>
              <a:t>213</a:t>
            </a:r>
          </a:p>
          <a:p>
            <a:pPr algn="r">
              <a:lnSpc>
                <a:spcPct val="100000"/>
              </a:lnSpc>
            </a:pPr>
            <a:r>
              <a:rPr sz="1800">
                <a:solidFill>
                  <a:srgbClr val="4F5D6A"/>
                </a:solidFill>
                <a:latin typeface="Consolas"/>
              </a:rPr>
              <a:t>214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§11.8  ·  Handout p. 114     </a:t>
            </a:r>
            <a:fld id="{C97632AE-655D-4D3D-8109-B5C19432200D}" type="slidenum">
              <a:rPr lang="en-GB" sz="1000">
                <a:solidFill>
                  <a:srgbClr val="8795A1"/>
                </a:solidFill>
                <a:latin typeface="Segoe UI"/>
              </a:rPr>
              <a:t>46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add a fortieth condition to the gate and re-run. Model checking stops being possible (</a:t>
            </a:r>
            <a:r>
              <a:rPr sz="2300" b="0" i="0">
                <a:solidFill>
                  <a:srgbClr val="1C252B"/>
                </a:solidFill>
                <a:latin typeface="Cambria"/>
              </a:rPr>
              <a:t>2</a:t>
            </a:r>
            <a:r>
              <a:rPr sz="1500" b="0" i="0" baseline="30000">
                <a:solidFill>
                  <a:srgbClr val="1C252B"/>
                </a:solidFill>
                <a:latin typeface="Cambria"/>
              </a:rPr>
              <a:t>40</a:t>
            </a:r>
            <a:r>
              <a:rPr sz="2300" b="0" i="0">
                <a:solidFill>
                  <a:srgbClr val="1C252B"/>
                </a:solidFill>
                <a:latin typeface="Segoe UI"/>
              </a:rPr>
              <a:t> models); DPLL does not notice. That is the moment the difference between a definition and an algorithm becomes concrete.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34696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State the difference between </a:t>
            </a:r>
            <a:r>
              <a:rPr sz="3400" b="0" i="1">
                <a:solidFill>
                  <a:srgbClr val="FFFFFF"/>
                </a:solidFill>
                <a:latin typeface="Cambria"/>
              </a:rPr>
              <a:t>KB</a:t>
            </a:r>
            <a:r>
              <a:rPr sz="3400" b="0" i="0">
                <a:solidFill>
                  <a:srgbClr val="FFFFFF"/>
                </a:solidFill>
                <a:latin typeface="Cambria"/>
              </a:rPr>
              <a:t> ⊨ α</a:t>
            </a:r>
            <a:r>
              <a:rPr sz="3400" b="0" i="0">
                <a:solidFill>
                  <a:srgbClr val="FFFFFF"/>
                </a:solidFill>
                <a:latin typeface="Segoe UI Semibold"/>
              </a:rPr>
              <a:t> and </a:t>
            </a:r>
            <a:r>
              <a:rPr sz="3400" b="0" i="1">
                <a:solidFill>
                  <a:srgbClr val="FFFFFF"/>
                </a:solidFill>
                <a:latin typeface="Cambria"/>
              </a:rPr>
              <a:t>KB</a:t>
            </a:r>
            <a:r>
              <a:rPr sz="3400" b="0" i="0">
                <a:solidFill>
                  <a:srgbClr val="FFFFFF"/>
                </a:solidFill>
                <a:latin typeface="Cambria"/>
              </a:rPr>
              <a:t> ⊢ α</a:t>
            </a:r>
            <a:r>
              <a:rPr sz="3400" b="0" i="0">
                <a:solidFill>
                  <a:srgbClr val="FFFFFF"/>
                </a:solidFill>
                <a:latin typeface="Segoe UI Semibold"/>
              </a:rPr>
              <a:t>, and say which of soundness and completeness would be violated by a procedure that derives every sentence.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11  ·  Propositional Logic and Inference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1A2AF0EC-B7C0-4C8B-AFDD-D9C4207C44BB}"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State the difference between </a:t>
            </a:r>
            <a:r>
              <a:rPr sz="2400" b="0" i="1">
                <a:solidFill>
                  <a:srgbClr val="1A5276"/>
                </a:solidFill>
                <a:latin typeface="Cambria"/>
              </a:rPr>
              <a:t>KB</a:t>
            </a:r>
            <a:r>
              <a:rPr sz="2400" b="0" i="0">
                <a:solidFill>
                  <a:srgbClr val="1A5276"/>
                </a:solidFill>
                <a:latin typeface="Cambria"/>
              </a:rPr>
              <a:t> ⊨ α</a:t>
            </a:r>
            <a:r>
              <a:rPr sz="2400" b="0" i="0">
                <a:solidFill>
                  <a:srgbClr val="1A5276"/>
                </a:solidFill>
                <a:latin typeface="Segoe UI Semibold"/>
              </a:rPr>
              <a:t> and </a:t>
            </a:r>
            <a:r>
              <a:rPr sz="2400" b="0" i="1">
                <a:solidFill>
                  <a:srgbClr val="1A5276"/>
                </a:solidFill>
                <a:latin typeface="Cambria"/>
              </a:rPr>
              <a:t>KB</a:t>
            </a:r>
            <a:r>
              <a:rPr sz="2400" b="0" i="0">
                <a:solidFill>
                  <a:srgbClr val="1A5276"/>
                </a:solidFill>
                <a:latin typeface="Cambria"/>
              </a:rPr>
              <a:t> ⊢ α</a:t>
            </a:r>
            <a:r>
              <a:rPr sz="2400" b="0" i="0">
                <a:solidFill>
                  <a:srgbClr val="1A5276"/>
                </a:solidFill>
                <a:latin typeface="Segoe UI Semibold"/>
              </a:rPr>
              <a:t>, and say which of soundness and completeness would be violated by a procedure that derives every sentence.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KB</a:t>
            </a:r>
            <a:r>
              <a:rPr sz="2200" b="0" i="0">
                <a:solidFill>
                  <a:srgbClr val="1C252B"/>
                </a:solidFill>
                <a:latin typeface="Cambria"/>
              </a:rPr>
              <a:t> ⊨ α</a:t>
            </a:r>
            <a:r>
              <a:rPr sz="2200" b="0" i="0">
                <a:solidFill>
                  <a:srgbClr val="1C252B"/>
                </a:solidFill>
                <a:latin typeface="Segoe UI"/>
              </a:rPr>
              <a:t> is about </a:t>
            </a:r>
            <a:r>
              <a:rPr sz="2200" b="0" i="1">
                <a:solidFill>
                  <a:srgbClr val="1C252B"/>
                </a:solidFill>
                <a:latin typeface="Segoe UI"/>
              </a:rPr>
              <a:t>meaning</a:t>
            </a:r>
            <a:r>
              <a:rPr sz="2200" b="0" i="0">
                <a:solidFill>
                  <a:srgbClr val="1C252B"/>
                </a:solidFill>
                <a:latin typeface="Segoe UI"/>
              </a:rPr>
              <a:t>: </a:t>
            </a:r>
            <a:r>
              <a:rPr sz="2200" b="0" i="0">
                <a:solidFill>
                  <a:srgbClr val="1C252B"/>
                </a:solidFill>
                <a:latin typeface="Cambria"/>
              </a:rPr>
              <a:t>α</a:t>
            </a:r>
            <a:r>
              <a:rPr sz="2200" b="0" i="0">
                <a:solidFill>
                  <a:srgbClr val="1C252B"/>
                </a:solidFill>
                <a:latin typeface="Segoe UI"/>
              </a:rPr>
              <a:t> is true in every model in which the knowledge base is true, and no algorithm is mentioned. </a:t>
            </a:r>
            <a:r>
              <a:rPr sz="2200" b="0" i="1">
                <a:solidFill>
                  <a:srgbClr val="1C252B"/>
                </a:solidFill>
                <a:latin typeface="Cambria"/>
              </a:rPr>
              <a:t>KB</a:t>
            </a:r>
            <a:r>
              <a:rPr sz="2200" b="0" i="0">
                <a:solidFill>
                  <a:srgbClr val="1C252B"/>
                </a:solidFill>
                <a:latin typeface="Cambria"/>
              </a:rPr>
              <a:t> ⊢ α</a:t>
            </a:r>
            <a:r>
              <a:rPr sz="2200" b="0" i="0">
                <a:solidFill>
                  <a:srgbClr val="1C252B"/>
                </a:solidFill>
                <a:latin typeface="Segoe UI"/>
              </a:rPr>
              <a:t> is about a </a:t>
            </a:r>
            <a:r>
              <a:rPr sz="2200" b="0" i="1">
                <a:solidFill>
                  <a:srgbClr val="1C252B"/>
                </a:solidFill>
                <a:latin typeface="Segoe UI"/>
              </a:rPr>
              <a:t>procedure</a:t>
            </a:r>
            <a:r>
              <a:rPr sz="2200" b="0" i="0">
                <a:solidFill>
                  <a:srgbClr val="1C252B"/>
                </a:solidFill>
                <a:latin typeface="Segoe UI"/>
              </a:rPr>
              <a:t>: that procedure can produce </a:t>
            </a:r>
            <a:r>
              <a:rPr sz="2200" b="0" i="0">
                <a:solidFill>
                  <a:srgbClr val="1C252B"/>
                </a:solidFill>
                <a:latin typeface="Cambria"/>
              </a:rPr>
              <a:t>α</a:t>
            </a:r>
            <a:r>
              <a:rPr sz="2200" b="0" i="0">
                <a:solidFill>
                  <a:srgbClr val="1C252B"/>
                </a:solidFill>
                <a:latin typeface="Segoe UI"/>
              </a:rPr>
              <a:t>. A procedure that derives every sentence is </a:t>
            </a:r>
            <a:r>
              <a:rPr sz="2200" b="0" i="1">
                <a:solidFill>
                  <a:srgbClr val="1C252B"/>
                </a:solidFill>
                <a:latin typeface="Segoe UI"/>
              </a:rPr>
              <a:t>complete</a:t>
            </a:r>
            <a:r>
              <a:rPr sz="2200" b="0" i="0">
                <a:solidFill>
                  <a:srgbClr val="1C252B"/>
                </a:solidFill>
                <a:latin typeface="Segoe UI"/>
              </a:rPr>
              <a:t> — it certainly derives everything entailed — but wildly </a:t>
            </a:r>
            <a:r>
              <a:rPr sz="2200" b="0" i="1">
                <a:solidFill>
                  <a:srgbClr val="1C252B"/>
                </a:solidFill>
                <a:latin typeface="Segoe UI"/>
              </a:rPr>
              <a:t>unsound</a:t>
            </a:r>
            <a:r>
              <a:rPr sz="2200" b="0" i="0">
                <a:solidFill>
                  <a:srgbClr val="1C252B"/>
                </a:solidFill>
                <a:latin typeface="Segoe UI"/>
              </a:rPr>
              <a:t>, since it derives a great many things that are not entailed. Soundness is the property it violates, and it is the one that matters: completeness alone is worthless.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D71B1EBE-BC09-4B34-8E93-7688C3D551F9}" type="slidenum">
              <a:rPr lang="en-GB" sz="1000">
                <a:solidFill>
                  <a:srgbClr val="8795A1"/>
                </a:solidFill>
                <a:latin typeface="Segoe UI"/>
              </a:rPr>
              <a:t>48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With F4 removed, the knowledge base still entails </a:t>
            </a:r>
            <a:r>
              <a:rPr sz="3400" b="0" i="1">
                <a:solidFill>
                  <a:srgbClr val="FFFFFF"/>
                </a:solidFill>
                <a:latin typeface="Cambria"/>
              </a:rPr>
              <a:t>Deploy</a:t>
            </a:r>
            <a:r>
              <a:rPr sz="3400" b="0" i="0">
                <a:solidFill>
                  <a:srgbClr val="FFFFFF"/>
                </a:solidFill>
                <a:latin typeface="Segoe UI Semibold"/>
              </a:rPr>
              <a:t> </a:t>
            </a:r>
            <a:r>
              <a:rPr sz="3400" b="0" i="1">
                <a:solidFill>
                  <a:srgbClr val="FFFFFF"/>
                </a:solidFill>
                <a:latin typeface="Segoe UI Semibold"/>
              </a:rPr>
              <a:t>and</a:t>
            </a:r>
            <a:r>
              <a:rPr sz="3400" b="0" i="0">
                <a:solidFill>
                  <a:srgbClr val="FFFFFF"/>
                </a:solidFill>
                <a:latin typeface="Segoe UI Semibold"/>
              </a:rPr>
              <a:t> entails </a:t>
            </a:r>
            <a:r>
              <a:rPr sz="3400" b="0" i="0">
                <a:solidFill>
                  <a:srgbClr val="FFFFFF"/>
                </a:solidFill>
                <a:latin typeface="Cambria"/>
              </a:rPr>
              <a:t>¬ </a:t>
            </a:r>
            <a:r>
              <a:rPr sz="3400" b="0" i="1">
                <a:solidFill>
                  <a:srgbClr val="FFFFFF"/>
                </a:solidFill>
                <a:latin typeface="Cambria"/>
              </a:rPr>
              <a:t>Blocker</a:t>
            </a:r>
            <a:r>
              <a:rPr sz="3400" b="0" i="0">
                <a:solidFill>
                  <a:srgbClr val="FFFFFF"/>
                </a:solidFill>
                <a:latin typeface="Segoe UI Semibold"/>
              </a:rPr>
              <a:t>. Explain how, and say whether this is a bug in the inference procedure.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11  ·  Propositional Logic and Inference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822EAA03-48BD-4ED2-B10B-15C67F357D69}" type="slidenum">
              <a:rPr lang="en-GB" sz="1000">
                <a:solidFill>
                  <a:srgbClr val="D5DEE5"/>
                </a:solidFill>
                <a:latin typeface="Segoe UI"/>
              </a:rPr>
              <a:t>49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With F4 removed, the knowledge base still entails </a:t>
            </a:r>
            <a:r>
              <a:rPr sz="2400" b="0" i="1">
                <a:solidFill>
                  <a:srgbClr val="1A5276"/>
                </a:solidFill>
                <a:latin typeface="Cambria"/>
              </a:rPr>
              <a:t>Deploy</a:t>
            </a:r>
            <a:r>
              <a:rPr sz="2400" b="0" i="0">
                <a:solidFill>
                  <a:srgbClr val="1A5276"/>
                </a:solidFill>
                <a:latin typeface="Segoe UI Semibold"/>
              </a:rPr>
              <a:t> </a:t>
            </a:r>
            <a:r>
              <a:rPr sz="2400" b="0" i="1">
                <a:solidFill>
                  <a:srgbClr val="1A5276"/>
                </a:solidFill>
                <a:latin typeface="Segoe UI Semibold"/>
              </a:rPr>
              <a:t>and</a:t>
            </a:r>
            <a:r>
              <a:rPr sz="2400" b="0" i="0">
                <a:solidFill>
                  <a:srgbClr val="1A5276"/>
                </a:solidFill>
                <a:latin typeface="Segoe UI Semibold"/>
              </a:rPr>
              <a:t> entails </a:t>
            </a:r>
            <a:r>
              <a:rPr sz="2400" b="0" i="0">
                <a:solidFill>
                  <a:srgbClr val="1A5276"/>
                </a:solidFill>
                <a:latin typeface="Cambria"/>
              </a:rPr>
              <a:t>¬ </a:t>
            </a:r>
            <a:r>
              <a:rPr sz="2400" b="0" i="1">
                <a:solidFill>
                  <a:srgbClr val="1A5276"/>
                </a:solidFill>
                <a:latin typeface="Cambria"/>
              </a:rPr>
              <a:t>Blocker</a:t>
            </a:r>
            <a:r>
              <a:rPr sz="2400" b="0" i="0">
                <a:solidFill>
                  <a:srgbClr val="1A5276"/>
                </a:solidFill>
                <a:latin typeface="Segoe UI Semibold"/>
              </a:rPr>
              <a:t>. Explain how, and say whether this is a bug in the inference procedure.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F1–F3 force </a:t>
            </a:r>
            <a:r>
              <a:rPr sz="2200" b="0" i="1">
                <a:solidFill>
                  <a:srgbClr val="1C252B"/>
                </a:solidFill>
                <a:latin typeface="Cambria"/>
              </a:rPr>
              <a:t>Reviewed</a:t>
            </a:r>
            <a:r>
              <a:rPr sz="2200" b="0" i="0">
                <a:solidFill>
                  <a:srgbClr val="1C252B"/>
                </a:solidFill>
                <a:latin typeface="Segoe UI"/>
              </a:rPr>
              <a:t>, </a:t>
            </a:r>
            <a:r>
              <a:rPr sz="2200" b="0" i="1">
                <a:solidFill>
                  <a:srgbClr val="1C252B"/>
                </a:solidFill>
                <a:latin typeface="Cambria"/>
              </a:rPr>
              <a:t>Tested</a:t>
            </a:r>
            <a:r>
              <a:rPr sz="2200" b="0" i="0">
                <a:solidFill>
                  <a:srgbClr val="1C252B"/>
                </a:solidFill>
                <a:latin typeface="Segoe UI"/>
              </a:rPr>
              <a:t> and </a:t>
            </a:r>
            <a:r>
              <a:rPr sz="2200" b="0" i="1">
                <a:solidFill>
                  <a:srgbClr val="1C252B"/>
                </a:solidFill>
                <a:latin typeface="Cambria"/>
              </a:rPr>
              <a:t>SignedOff</a:t>
            </a:r>
            <a:r>
              <a:rPr sz="2200" b="0" i="0">
                <a:solidFill>
                  <a:srgbClr val="1C252B"/>
                </a:solidFill>
                <a:latin typeface="Segoe UI"/>
              </a:rPr>
              <a:t>; R1 then forces </a:t>
            </a:r>
            <a:r>
              <a:rPr sz="2200" b="0" i="1">
                <a:solidFill>
                  <a:srgbClr val="1C252B"/>
                </a:solidFill>
                <a:latin typeface="Cambria"/>
              </a:rPr>
              <a:t>Staged</a:t>
            </a:r>
            <a:r>
              <a:rPr sz="2200" b="0" i="0">
                <a:solidFill>
                  <a:srgbClr val="1C252B"/>
                </a:solidFill>
                <a:latin typeface="Segoe UI"/>
              </a:rPr>
              <a:t>; R2 then forces </a:t>
            </a:r>
            <a:r>
              <a:rPr sz="2200" b="0" i="1">
                <a:solidFill>
                  <a:srgbClr val="1C252B"/>
                </a:solidFill>
                <a:latin typeface="Cambria"/>
              </a:rPr>
              <a:t>Deploy</a:t>
            </a:r>
            <a:r>
              <a:rPr sz="2200" b="0" i="0">
                <a:solidFill>
                  <a:srgbClr val="1C252B"/>
                </a:solidFill>
                <a:latin typeface="Segoe UI"/>
              </a:rPr>
              <a:t>. R3 says </a:t>
            </a:r>
            <a:r>
              <a:rPr sz="2200" b="0" i="1">
                <a:solidFill>
                  <a:srgbClr val="1C252B"/>
                </a:solidFill>
                <a:latin typeface="Cambria"/>
              </a:rPr>
              <a:t>Blocker</a:t>
            </a:r>
            <a:r>
              <a:rPr sz="2200" b="0" i="0">
                <a:solidFill>
                  <a:srgbClr val="1C252B"/>
                </a:solidFill>
                <a:latin typeface="Cambria"/>
              </a:rPr>
              <a:t> ⇒ ¬ </a:t>
            </a:r>
            <a:r>
              <a:rPr sz="2200" b="0" i="1">
                <a:solidFill>
                  <a:srgbClr val="1C252B"/>
                </a:solidFill>
                <a:latin typeface="Cambria"/>
              </a:rPr>
              <a:t>Deploy</a:t>
            </a:r>
            <a:r>
              <a:rPr sz="2200" b="0" i="0">
                <a:solidFill>
                  <a:srgbClr val="1C252B"/>
                </a:solidFill>
                <a:latin typeface="Segoe UI"/>
              </a:rPr>
              <a:t>, and since </a:t>
            </a:r>
            <a:r>
              <a:rPr sz="2200" b="0" i="1">
                <a:solidFill>
                  <a:srgbClr val="1C252B"/>
                </a:solidFill>
                <a:latin typeface="Cambria"/>
              </a:rPr>
              <a:t>Deploy</a:t>
            </a:r>
            <a:r>
              <a:rPr sz="2200" b="0" i="0">
                <a:solidFill>
                  <a:srgbClr val="1C252B"/>
                </a:solidFill>
                <a:latin typeface="Segoe UI"/>
              </a:rPr>
              <a:t> is true, </a:t>
            </a:r>
            <a:r>
              <a:rPr sz="2200" b="0" i="1">
                <a:solidFill>
                  <a:srgbClr val="1C252B"/>
                </a:solidFill>
                <a:latin typeface="Cambria"/>
              </a:rPr>
              <a:t>Blocker</a:t>
            </a:r>
            <a:r>
              <a:rPr sz="2200" b="0" i="0">
                <a:solidFill>
                  <a:srgbClr val="1C252B"/>
                </a:solidFill>
                <a:latin typeface="Segoe UI"/>
              </a:rPr>
              <a:t> must be false or R3 is violated. Exactly one model survives, so both </a:t>
            </a:r>
            <a:r>
              <a:rPr sz="2200" b="0" i="1">
                <a:solidFill>
                  <a:srgbClr val="1C252B"/>
                </a:solidFill>
                <a:latin typeface="Cambria"/>
              </a:rPr>
              <a:t>Deploy</a:t>
            </a:r>
            <a:r>
              <a:rPr sz="2200" b="0" i="0">
                <a:solidFill>
                  <a:srgbClr val="1C252B"/>
                </a:solidFill>
                <a:latin typeface="Segoe UI"/>
              </a:rPr>
              <a:t> and </a:t>
            </a:r>
            <a:r>
              <a:rPr sz="2200" b="0" i="0">
                <a:solidFill>
                  <a:srgbClr val="1C252B"/>
                </a:solidFill>
                <a:latin typeface="Cambria"/>
              </a:rPr>
              <a:t>¬</a:t>
            </a:r>
            <a:r>
              <a:rPr sz="2200" b="0" i="1">
                <a:solidFill>
                  <a:srgbClr val="1C252B"/>
                </a:solidFill>
                <a:latin typeface="Cambria"/>
              </a:rPr>
              <a:t>Blocker</a:t>
            </a:r>
            <a:r>
              <a:rPr sz="2200" b="0" i="0">
                <a:solidFill>
                  <a:srgbClr val="1C252B"/>
                </a:solidFill>
                <a:latin typeface="Segoe UI"/>
              </a:rPr>
              <a:t> are entailed. It is </a:t>
            </a:r>
            <a:r>
              <a:rPr sz="2200" b="0" i="1">
                <a:solidFill>
                  <a:srgbClr val="1C252B"/>
                </a:solidFill>
                <a:latin typeface="Segoe UI"/>
              </a:rPr>
              <a:t>not</a:t>
            </a:r>
            <a:r>
              <a:rPr sz="2200" b="0" i="0">
                <a:solidFill>
                  <a:srgbClr val="1C252B"/>
                </a:solidFill>
                <a:latin typeface="Segoe UI"/>
              </a:rPr>
              <a:t> a bug in the inference procedure — the procedure drew a correct consequence of what it was given. It is a bug in the </a:t>
            </a:r>
            <a:r>
              <a:rPr sz="2200" b="0" i="1">
                <a:solidFill>
                  <a:srgbClr val="1C252B"/>
                </a:solidFill>
                <a:latin typeface="Segoe UI"/>
              </a:rPr>
              <a:t>axioms</a:t>
            </a:r>
            <a:r>
              <a:rPr sz="2200" b="0" i="0">
                <a:solidFill>
                  <a:srgbClr val="1C252B"/>
                </a:solidFill>
                <a:latin typeface="Segoe UI"/>
              </a:rPr>
              <a:t>: the team meant “deployment is permitted provided there is no blocker”, and R2 as written does not say that. Adding </a:t>
            </a:r>
            <a:r>
              <a:rPr sz="2200" b="0" i="0">
                <a:solidFill>
                  <a:srgbClr val="1C252B"/>
                </a:solidFill>
                <a:latin typeface="Cambria"/>
              </a:rPr>
              <a:t>¬</a:t>
            </a:r>
            <a:r>
              <a:rPr sz="2200" b="0" i="1">
                <a:solidFill>
                  <a:srgbClr val="1C252B"/>
                </a:solidFill>
                <a:latin typeface="Cambria"/>
              </a:rPr>
              <a:t>Blocker</a:t>
            </a:r>
            <a:r>
              <a:rPr sz="2200" b="0" i="0">
                <a:solidFill>
                  <a:srgbClr val="1C252B"/>
                </a:solidFill>
                <a:latin typeface="Segoe UI"/>
              </a:rPr>
              <a:t> to R2’s antecedent makes the entailment disappear, which the lab demonstrates.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B301267E-5EC3-45BE-AC61-9BFF067982FB}" type="slidenum">
              <a:rPr lang="en-GB" sz="1000">
                <a:solidFill>
                  <a:srgbClr val="8795A1"/>
                </a:solidFill>
                <a:latin typeface="Segoe UI"/>
              </a:rPr>
              <a:t>50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Resolution took </a:t>
            </a:r>
            <a:r>
              <a:rPr sz="3400" b="0" i="0">
                <a:solidFill>
                  <a:srgbClr val="FFFFFF"/>
                </a:solidFill>
                <a:latin typeface="Cambria"/>
              </a:rPr>
              <a:t>105</a:t>
            </a:r>
            <a:r>
              <a:rPr sz="3400" b="0" i="0">
                <a:solidFill>
                  <a:srgbClr val="FFFFFF"/>
                </a:solidFill>
                <a:latin typeface="Segoe UI Semibold"/>
              </a:rPr>
              <a:t> steps where DPLL took </a:t>
            </a:r>
            <a:r>
              <a:rPr sz="3400" b="0" i="0">
                <a:solidFill>
                  <a:srgbClr val="FFFFFF"/>
                </a:solidFill>
                <a:latin typeface="Cambria"/>
              </a:rPr>
              <a:t>6</a:t>
            </a:r>
            <a:r>
              <a:rPr sz="3400" b="0" i="0">
                <a:solidFill>
                  <a:srgbClr val="FFFFFF"/>
                </a:solidFill>
                <a:latin typeface="Segoe UI Semibold"/>
              </a:rPr>
              <a:t> calls on the same problem. Give the two reasons resolution is nevertheless worth teaching.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11  ·  Propositional Logic and Inference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120  ·  answers in Appendix D     </a:t>
            </a:r>
            <a:fld id="{1B0EC224-5357-4CCF-BFC6-490A7D69A84C}" type="slidenum">
              <a:rPr lang="en-GB" sz="1000">
                <a:solidFill>
                  <a:srgbClr val="D5DEE5"/>
                </a:solidFill>
                <a:latin typeface="Segoe UI"/>
              </a:rPr>
              <a:t>51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Resolution took </a:t>
            </a:r>
            <a:r>
              <a:rPr sz="2400" b="0" i="0">
                <a:solidFill>
                  <a:srgbClr val="1A5276"/>
                </a:solidFill>
                <a:latin typeface="Cambria"/>
              </a:rPr>
              <a:t>105</a:t>
            </a:r>
            <a:r>
              <a:rPr sz="2400" b="0" i="0">
                <a:solidFill>
                  <a:srgbClr val="1A5276"/>
                </a:solidFill>
                <a:latin typeface="Segoe UI Semibold"/>
              </a:rPr>
              <a:t> steps where DPLL took </a:t>
            </a:r>
            <a:r>
              <a:rPr sz="2400" b="0" i="0">
                <a:solidFill>
                  <a:srgbClr val="1A5276"/>
                </a:solidFill>
                <a:latin typeface="Cambria"/>
              </a:rPr>
              <a:t>6</a:t>
            </a:r>
            <a:r>
              <a:rPr sz="2400" b="0" i="0">
                <a:solidFill>
                  <a:srgbClr val="1A5276"/>
                </a:solidFill>
                <a:latin typeface="Segoe UI Semibold"/>
              </a:rPr>
              <a:t> calls on the same problem. Give the two reasons resolution is nevertheless worth teaching.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First, resolution produces an </a:t>
            </a:r>
            <a:r>
              <a:rPr sz="2200" b="0" i="1">
                <a:solidFill>
                  <a:srgbClr val="1C252B"/>
                </a:solidFill>
                <a:latin typeface="Segoe UI"/>
              </a:rPr>
              <a:t>auditable proof</a:t>
            </a:r>
            <a:r>
              <a:rPr sz="2200" b="0" i="0">
                <a:solidFill>
                  <a:srgbClr val="1C252B"/>
                </a:solidFill>
                <a:latin typeface="Segoe UI"/>
              </a:rPr>
              <a:t> — a numbered list of clauses each derived from two earlier ones, which a person can check line by line and an auditor will accept. A model count proves nothing a human can read. Second, and decisively, resolution </a:t>
            </a:r>
            <a:r>
              <a:rPr sz="2200" b="0" i="1">
                <a:solidFill>
                  <a:srgbClr val="1C252B"/>
                </a:solidFill>
                <a:latin typeface="Segoe UI"/>
              </a:rPr>
              <a:t>lifts to first-order logic</a:t>
            </a:r>
            <a:r>
              <a:rPr sz="2200" b="0" i="0">
                <a:solidFill>
                  <a:srgbClr val="1C252B"/>
                </a:solidFill>
                <a:latin typeface="Segoe UI"/>
              </a:rPr>
              <a:t> (Chapter 12), where the domain may be infinite, there are infinitely many models, and enumerating them is not slow but impossible. DPLL’s speed is confined to the propositional case.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  answers in Appendix D     </a:t>
            </a:r>
            <a:fld id="{3D311FCE-75D7-4404-A40F-DF4CE1220CD4}" type="slidenum">
              <a:rPr lang="en-GB" sz="1000">
                <a:solidFill>
                  <a:srgbClr val="8795A1"/>
                </a:solidFill>
                <a:latin typeface="Segoe UI"/>
              </a:rPr>
              <a:t>52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5661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842773FA-F040-4C5C-9609-8AEF01C7147B}" type="slidenum">
              <a:rPr lang="en-GB" sz="1000">
                <a:solidFill>
                  <a:srgbClr val="8795A1"/>
                </a:solidFill>
                <a:latin typeface="Segoe UI"/>
              </a:rPr>
              <a:t>53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model</a:t>
            </a:r>
            <a:r>
              <a:rPr sz="1700" b="0" i="0">
                <a:solidFill>
                  <a:srgbClr val="1C252B"/>
                </a:solidFill>
                <a:latin typeface="Segoe UI"/>
              </a:rPr>
              <a:t> assigns true or false to every symbol; </a:t>
            </a:r>
            <a:r>
              <a:rPr sz="1700" b="0" i="1">
                <a:solidFill>
                  <a:srgbClr val="1C252B"/>
                </a:solidFill>
                <a:latin typeface="Cambria"/>
              </a:rPr>
              <a:t>n</a:t>
            </a:r>
            <a:r>
              <a:rPr sz="1700" b="0" i="0">
                <a:solidFill>
                  <a:srgbClr val="1C252B"/>
                </a:solidFill>
                <a:latin typeface="Segoe UI"/>
              </a:rPr>
              <a:t> symbols give </a:t>
            </a:r>
            <a:r>
              <a:rPr sz="1700" b="0" i="0">
                <a:solidFill>
                  <a:srgbClr val="1C252B"/>
                </a:solidFill>
                <a:latin typeface="Cambria"/>
              </a:rPr>
              <a:t>2</a:t>
            </a:r>
            <a:r>
              <a:rPr sz="1100" b="0" i="1" baseline="30000">
                <a:solidFill>
                  <a:srgbClr val="1C252B"/>
                </a:solidFill>
                <a:latin typeface="Cambria"/>
              </a:rPr>
              <a:t>n</a:t>
            </a:r>
            <a:r>
              <a:rPr sz="1700" b="0" i="0">
                <a:solidFill>
                  <a:srgbClr val="1C252B"/>
                </a:solidFill>
                <a:latin typeface="Segoe UI"/>
              </a:rPr>
              <a:t> models. A sentence is </a:t>
            </a:r>
            <a:r>
              <a:rPr sz="1700" b="1" i="0">
                <a:solidFill>
                  <a:srgbClr val="1A5276"/>
                </a:solidFill>
                <a:latin typeface="Segoe UI"/>
              </a:rPr>
              <a:t>satisfiable</a:t>
            </a:r>
            <a:r>
              <a:rPr sz="1700" b="0" i="0">
                <a:solidFill>
                  <a:srgbClr val="1C252B"/>
                </a:solidFill>
                <a:latin typeface="Segoe UI"/>
              </a:rPr>
              <a:t> if some model makes it true and </a:t>
            </a:r>
            <a:r>
              <a:rPr sz="1700" b="1" i="0">
                <a:solidFill>
                  <a:srgbClr val="1A5276"/>
                </a:solidFill>
                <a:latin typeface="Segoe UI"/>
              </a:rPr>
              <a:t>valid</a:t>
            </a:r>
            <a:r>
              <a:rPr sz="1700" b="0" i="0">
                <a:solidFill>
                  <a:srgbClr val="1C252B"/>
                </a:solidFill>
                <a:latin typeface="Segoe UI"/>
              </a:rPr>
              <a:t> if all do.</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Cambria"/>
              </a:rPr>
              <a:t>KB</a:t>
            </a:r>
            <a:r>
              <a:rPr sz="1700" b="0" i="0">
                <a:solidFill>
                  <a:srgbClr val="1C252B"/>
                </a:solidFill>
                <a:latin typeface="Cambria"/>
              </a:rPr>
              <a:t> ⊨ α</a:t>
            </a:r>
            <a:r>
              <a:rPr sz="1700" b="0" i="0">
                <a:solidFill>
                  <a:srgbClr val="1C252B"/>
                </a:solidFill>
                <a:latin typeface="Segoe UI"/>
              </a:rPr>
              <a:t> means </a:t>
            </a:r>
            <a:r>
              <a:rPr sz="1700" b="0" i="0">
                <a:solidFill>
                  <a:srgbClr val="1C252B"/>
                </a:solidFill>
                <a:latin typeface="Cambria"/>
              </a:rPr>
              <a:t>α</a:t>
            </a:r>
            <a:r>
              <a:rPr sz="1700" b="0" i="0">
                <a:solidFill>
                  <a:srgbClr val="1C252B"/>
                </a:solidFill>
                <a:latin typeface="Segoe UI"/>
              </a:rPr>
              <a:t> holds in every model of </a:t>
            </a:r>
            <a:r>
              <a:rPr sz="1700" b="0" i="1">
                <a:solidFill>
                  <a:srgbClr val="1C252B"/>
                </a:solidFill>
                <a:latin typeface="Cambria"/>
              </a:rPr>
              <a:t>KB</a:t>
            </a:r>
            <a:r>
              <a:rPr sz="1700" b="0" i="0">
                <a:solidFill>
                  <a:srgbClr val="1C252B"/>
                </a:solidFill>
                <a:latin typeface="Segoe UI"/>
              </a:rPr>
              <a:t> — a statement about meaning. </a:t>
            </a:r>
            <a:r>
              <a:rPr sz="1700" b="0" i="1">
                <a:solidFill>
                  <a:srgbClr val="1C252B"/>
                </a:solidFill>
                <a:latin typeface="Cambria"/>
              </a:rPr>
              <a:t>KB</a:t>
            </a:r>
            <a:r>
              <a:rPr sz="1700" b="0" i="0">
                <a:solidFill>
                  <a:srgbClr val="1C252B"/>
                </a:solidFill>
                <a:latin typeface="Cambria"/>
              </a:rPr>
              <a:t> ⊢ α</a:t>
            </a:r>
            <a:r>
              <a:rPr sz="1700" b="0" i="0">
                <a:solidFill>
                  <a:srgbClr val="1C252B"/>
                </a:solidFill>
                <a:latin typeface="Segoe UI"/>
              </a:rPr>
              <a:t> means a procedure derives it. </a:t>
            </a:r>
            <a:r>
              <a:rPr sz="1700" b="1" i="0">
                <a:solidFill>
                  <a:srgbClr val="1A5276"/>
                </a:solidFill>
                <a:latin typeface="Segoe UI"/>
              </a:rPr>
              <a:t>Soundness</a:t>
            </a:r>
            <a:r>
              <a:rPr sz="1700" b="0" i="0">
                <a:solidFill>
                  <a:srgbClr val="1C252B"/>
                </a:solidFill>
                <a:latin typeface="Segoe UI"/>
              </a:rPr>
              <a:t> and </a:t>
            </a:r>
            <a:r>
              <a:rPr sz="1700" b="1" i="0">
                <a:solidFill>
                  <a:srgbClr val="1A5276"/>
                </a:solidFill>
                <a:latin typeface="Segoe UI"/>
              </a:rPr>
              <a:t>completeness</a:t>
            </a:r>
            <a:r>
              <a:rPr sz="1700" b="0" i="0">
                <a:solidFill>
                  <a:srgbClr val="1C252B"/>
                </a:solidFill>
                <a:latin typeface="Segoe UI"/>
              </a:rPr>
              <a:t> are the two claims linking them.</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Logic is </a:t>
            </a:r>
            <a:r>
              <a:rPr sz="1700" b="1" i="0">
                <a:solidFill>
                  <a:srgbClr val="1A5276"/>
                </a:solidFill>
                <a:latin typeface="Segoe UI"/>
              </a:rPr>
              <a:t>monotonic</a:t>
            </a:r>
            <a:r>
              <a:rPr sz="1700" b="0" i="0">
                <a:solidFill>
                  <a:srgbClr val="1C252B"/>
                </a:solidFill>
                <a:latin typeface="Segoe UI"/>
              </a:rPr>
              <a:t>: adding knowledge only ever rules models out, so conclusions are never withdrawn. That is precisely what Chapter 10’s defaults traded away.</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Model checking</a:t>
            </a:r>
            <a:r>
              <a:rPr sz="1700" b="0" i="0">
                <a:solidFill>
                  <a:srgbClr val="1C252B"/>
                </a:solidFill>
                <a:latin typeface="Segoe UI"/>
              </a:rPr>
              <a:t> is the definition made executable and is </a:t>
            </a:r>
            <a:r>
              <a:rPr sz="1700" b="0" i="1">
                <a:solidFill>
                  <a:srgbClr val="1C252B"/>
                </a:solidFill>
                <a:latin typeface="Cambria"/>
              </a:rPr>
              <a:t>O</a:t>
            </a:r>
            <a:r>
              <a:rPr sz="1700" b="0" i="0">
                <a:solidFill>
                  <a:srgbClr val="1C252B"/>
                </a:solidFill>
                <a:latin typeface="Cambria"/>
              </a:rPr>
              <a:t>(2</a:t>
            </a:r>
            <a:r>
              <a:rPr sz="1100" b="0" i="1" baseline="30000">
                <a:solidFill>
                  <a:srgbClr val="1C252B"/>
                </a:solidFill>
                <a:latin typeface="Cambria"/>
              </a:rPr>
              <a:t>n</a:t>
            </a:r>
            <a:r>
              <a:rPr sz="1700" b="0" i="0">
                <a:solidFill>
                  <a:srgbClr val="1C252B"/>
                </a:solidFill>
                <a:latin typeface="Cambria"/>
              </a:rPr>
              <a:t>)</a:t>
            </a:r>
            <a:r>
              <a:rPr sz="1700" b="0" i="0">
                <a:solidFill>
                  <a:srgbClr val="1C252B"/>
                </a:solidFill>
                <a:latin typeface="Segoe UI"/>
              </a:rPr>
              <a:t>. </a:t>
            </a:r>
            <a:r>
              <a:rPr sz="1700" b="1" i="0">
                <a:solidFill>
                  <a:srgbClr val="1A5276"/>
                </a:solidFill>
                <a:latin typeface="Segoe UI"/>
              </a:rPr>
              <a:t>DPLL</a:t>
            </a:r>
            <a:r>
              <a:rPr sz="1700" b="0" i="0">
                <a:solidFill>
                  <a:srgbClr val="1C252B"/>
                </a:solidFill>
                <a:latin typeface="Segoe UI"/>
              </a:rPr>
              <a:t> is backtracking with </a:t>
            </a:r>
            <a:r>
              <a:rPr sz="1700" b="1" i="0">
                <a:solidFill>
                  <a:srgbClr val="1A5276"/>
                </a:solidFill>
                <a:latin typeface="Segoe UI"/>
              </a:rPr>
              <a:t>unit propagation</a:t>
            </a:r>
            <a:r>
              <a:rPr sz="1700" b="0" i="0">
                <a:solidFill>
                  <a:srgbClr val="1C252B"/>
                </a:solidFill>
                <a:latin typeface="Segoe UI"/>
              </a:rPr>
              <a:t> and the </a:t>
            </a:r>
            <a:r>
              <a:rPr sz="1700" b="1" i="0">
                <a:solidFill>
                  <a:srgbClr val="1A5276"/>
                </a:solidFill>
                <a:latin typeface="Segoe UI"/>
              </a:rPr>
              <a:t>pure literal</a:t>
            </a:r>
            <a:r>
              <a:rPr sz="1700" b="0" i="0">
                <a:solidFill>
                  <a:srgbClr val="1C252B"/>
                </a:solidFill>
                <a:latin typeface="Segoe UI"/>
              </a:rPr>
              <a:t> rule — </a:t>
            </a:r>
            <a:r>
              <a:rPr sz="1700" b="0" i="0">
                <a:solidFill>
                  <a:srgbClr val="1C252B"/>
                </a:solidFill>
                <a:latin typeface="Cambria"/>
              </a:rPr>
              <a:t>6</a:t>
            </a:r>
            <a:r>
              <a:rPr sz="1700" b="0" i="0">
                <a:solidFill>
                  <a:srgbClr val="1C252B"/>
                </a:solidFill>
                <a:latin typeface="Segoe UI"/>
              </a:rPr>
              <a:t> calls against </a:t>
            </a:r>
            <a:r>
              <a:rPr sz="1700" b="0" i="0">
                <a:solidFill>
                  <a:srgbClr val="1C252B"/>
                </a:solidFill>
                <a:latin typeface="Cambria"/>
              </a:rPr>
              <a:t>64</a:t>
            </a:r>
            <a:r>
              <a:rPr sz="1700" b="0" i="0">
                <a:solidFill>
                  <a:srgbClr val="1C252B"/>
                </a:solidFill>
                <a:latin typeface="Segoe UI"/>
              </a:rPr>
              <a:t> enumerations here, with no branching at all.</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Cambria"/>
              </a:rPr>
              <a:t>KB</a:t>
            </a:r>
            <a:r>
              <a:rPr sz="1700" b="0" i="0">
                <a:solidFill>
                  <a:srgbClr val="1C252B"/>
                </a:solidFill>
                <a:latin typeface="Cambria"/>
              </a:rPr>
              <a:t> ⊨ α</a:t>
            </a:r>
            <a:r>
              <a:rPr sz="1700" b="0" i="0">
                <a:solidFill>
                  <a:srgbClr val="1C252B"/>
                </a:solidFill>
                <a:latin typeface="Segoe UI"/>
              </a:rPr>
              <a:t> if and only if </a:t>
            </a:r>
            <a:r>
              <a:rPr sz="1700" b="0" i="1">
                <a:solidFill>
                  <a:srgbClr val="1C252B"/>
                </a:solidFill>
                <a:latin typeface="Cambria"/>
              </a:rPr>
              <a:t>KB</a:t>
            </a:r>
            <a:r>
              <a:rPr sz="1700" b="0" i="0">
                <a:solidFill>
                  <a:srgbClr val="1C252B"/>
                </a:solidFill>
                <a:latin typeface="Cambria"/>
              </a:rPr>
              <a:t> ∧ ¬α</a:t>
            </a:r>
            <a:r>
              <a:rPr sz="1700" b="0" i="0">
                <a:solidFill>
                  <a:srgbClr val="1C252B"/>
                </a:solidFill>
                <a:latin typeface="Segoe UI"/>
              </a:rPr>
              <a:t> is unsatisfiable. Every refutation method rests on this.</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Resolution</a:t>
            </a:r>
            <a:r>
              <a:rPr sz="1700" b="0" i="0">
                <a:solidFill>
                  <a:srgbClr val="1C252B"/>
                </a:solidFill>
                <a:latin typeface="Segoe UI"/>
              </a:rPr>
              <a:t> on CNF is refutation complete. It is slower than DPLL (</a:t>
            </a:r>
            <a:r>
              <a:rPr sz="1700" b="0" i="0">
                <a:solidFill>
                  <a:srgbClr val="1C252B"/>
                </a:solidFill>
                <a:latin typeface="Cambria"/>
              </a:rPr>
              <a:t>105</a:t>
            </a:r>
            <a:r>
              <a:rPr sz="1700" b="0" i="0">
                <a:solidFill>
                  <a:srgbClr val="1C252B"/>
                </a:solidFill>
                <a:latin typeface="Segoe UI"/>
              </a:rPr>
              <a:t> steps against </a:t>
            </a:r>
            <a:r>
              <a:rPr sz="1700" b="0" i="0">
                <a:solidFill>
                  <a:srgbClr val="1C252B"/>
                </a:solidFill>
                <a:latin typeface="Cambria"/>
              </a:rPr>
              <a:t>6</a:t>
            </a:r>
            <a:r>
              <a:rPr sz="1700" b="0" i="0">
                <a:solidFill>
                  <a:srgbClr val="1C252B"/>
                </a:solidFill>
                <a:latin typeface="Segoe UI"/>
              </a:rPr>
              <a:t> calls) and is worth having because it yields an auditable proof and because it lifts to first-order logic.</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76933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F021B294-C67D-43EE-9CB8-0ECA97D99005}" type="slidenum">
              <a:rPr lang="en-GB" sz="1000">
                <a:solidFill>
                  <a:srgbClr val="8795A1"/>
                </a:solidFill>
                <a:latin typeface="Segoe UI"/>
              </a:rPr>
              <a:t>54</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When a conclusion does not follow, return the </a:t>
            </a:r>
            <a:r>
              <a:rPr sz="1700" b="1" i="0">
                <a:solidFill>
                  <a:srgbClr val="1A5276"/>
                </a:solidFill>
                <a:latin typeface="Segoe UI"/>
              </a:rPr>
              <a:t>countermodel</a:t>
            </a:r>
            <a:r>
              <a:rPr sz="1700" b="0" i="0">
                <a:solidFill>
                  <a:srgbClr val="1C252B"/>
                </a:solidFill>
                <a:latin typeface="Segoe UI"/>
              </a:rPr>
              <a:t>. And remember that inference is only as good as the axioms: an omitted condition produces a correct answer to a question you did not mean to ask.</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C00E9062-F3A5-46B9-9E36-39A2D5392EAC}" type="slidenum">
              <a:rPr lang="en-GB" sz="1000">
                <a:solidFill>
                  <a:srgbClr val="8795A1"/>
                </a:solidFill>
                <a:latin typeface="Segoe UI"/>
              </a:rPr>
              <a:t>55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KB</a:t>
            </a:r>
            <a:r>
              <a:rPr sz="2600" b="0" i="0">
                <a:solidFill>
                  <a:srgbClr val="1C252B"/>
                </a:solidFill>
                <a:latin typeface="Cambria"/>
              </a:rPr>
              <a:t> ⊨ α</a:t>
            </a:r>
            <a:r>
              <a:rPr sz="2600" b="0" i="0">
                <a:solidFill>
                  <a:srgbClr val="1C252B"/>
                </a:solidFill>
                <a:latin typeface="Segoe UI"/>
              </a:rPr>
              <a:t>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procedure derives </a:t>
            </a:r>
            <a:r>
              <a:rPr sz="2000" b="0" i="0">
                <a:solidFill>
                  <a:srgbClr val="1C252B"/>
                </a:solidFill>
                <a:latin typeface="Cambria"/>
              </a:rPr>
              <a:t>α</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α</a:t>
            </a:r>
            <a:r>
              <a:rPr sz="2000" b="0" i="0">
                <a:solidFill>
                  <a:srgbClr val="1C252B"/>
                </a:solidFill>
                <a:latin typeface="Segoe UI"/>
              </a:rPr>
              <a:t> is true in every model of </a:t>
            </a:r>
            <a:r>
              <a:rPr sz="2000" b="0" i="1">
                <a:solidFill>
                  <a:srgbClr val="1C252B"/>
                </a:solidFill>
                <a:latin typeface="Cambria"/>
              </a:rPr>
              <a:t>KB</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α</a:t>
            </a:r>
            <a:r>
              <a:rPr sz="2000" b="0" i="0">
                <a:solidFill>
                  <a:srgbClr val="1C252B"/>
                </a:solidFill>
                <a:latin typeface="Segoe UI"/>
              </a:rPr>
              <a:t> is valid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KB</a:t>
            </a:r>
            <a:r>
              <a:rPr sz="2000" b="0" i="0">
                <a:solidFill>
                  <a:srgbClr val="1C252B"/>
                </a:solidFill>
                <a:latin typeface="Segoe UI"/>
              </a:rPr>
              <a:t> is satisfiable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7572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F2A0540F-BD3C-48A3-B19D-A771BDE94761}" type="slidenum">
              <a:rPr lang="en-GB" sz="1000">
                <a:solidFill>
                  <a:srgbClr val="8795A1"/>
                </a:solidFill>
                <a:latin typeface="Segoe UI"/>
              </a:rPr>
              <a:t>56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sound inference procedure: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derives everything entailed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derives only things that are entailed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always terminates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complete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E61A0045-D783-4E86-893D-C1697A34C7A9}" type="slidenum">
              <a:rPr lang="en-GB" sz="1000">
                <a:solidFill>
                  <a:srgbClr val="8795A1"/>
                </a:solidFill>
                <a:latin typeface="Segoe UI"/>
              </a:rPr>
              <a:t>57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KB</a:t>
            </a:r>
            <a:r>
              <a:rPr sz="2600" b="0" i="0">
                <a:solidFill>
                  <a:srgbClr val="1C252B"/>
                </a:solidFill>
                <a:latin typeface="Cambria"/>
              </a:rPr>
              <a:t> ⊨ α</a:t>
            </a:r>
            <a:r>
              <a:rPr sz="2600" b="0" i="0">
                <a:solidFill>
                  <a:srgbClr val="1C252B"/>
                </a:solidFill>
                <a:latin typeface="Segoe UI"/>
              </a:rPr>
              <a:t> if and only if: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KB</a:t>
            </a:r>
            <a:r>
              <a:rPr sz="2000" b="0" i="0">
                <a:solidFill>
                  <a:srgbClr val="1C252B"/>
                </a:solidFill>
                <a:latin typeface="Cambria"/>
              </a:rPr>
              <a:t> ∧ α</a:t>
            </a:r>
            <a:r>
              <a:rPr sz="2000" b="0" i="0">
                <a:solidFill>
                  <a:srgbClr val="1C252B"/>
                </a:solidFill>
                <a:latin typeface="Segoe UI"/>
              </a:rPr>
              <a:t> is satisfiable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KB</a:t>
            </a:r>
            <a:r>
              <a:rPr sz="2000" b="0" i="0">
                <a:solidFill>
                  <a:srgbClr val="1C252B"/>
                </a:solidFill>
                <a:latin typeface="Cambria"/>
              </a:rPr>
              <a:t> ∧ ¬α</a:t>
            </a:r>
            <a:r>
              <a:rPr sz="2000" b="0" i="0">
                <a:solidFill>
                  <a:srgbClr val="1C252B"/>
                </a:solidFill>
                <a:latin typeface="Segoe UI"/>
              </a:rPr>
              <a:t> is unsatisfiable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KB</a:t>
            </a:r>
            <a:r>
              <a:rPr sz="2000" b="0" i="0">
                <a:solidFill>
                  <a:srgbClr val="1C252B"/>
                </a:solidFill>
                <a:latin typeface="Cambria"/>
              </a:rPr>
              <a:t> ∨ α</a:t>
            </a:r>
            <a:r>
              <a:rPr sz="2000" b="0" i="0">
                <a:solidFill>
                  <a:srgbClr val="1C252B"/>
                </a:solidFill>
                <a:latin typeface="Segoe UI"/>
              </a:rPr>
              <a:t> is valid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α</a:t>
            </a:r>
            <a:r>
              <a:rPr sz="2000" b="0" i="0">
                <a:solidFill>
                  <a:srgbClr val="1C252B"/>
                </a:solidFill>
                <a:latin typeface="Segoe UI"/>
              </a:rPr>
              <a:t> is a unit clause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CE4C4932-DA38-4720-A1AE-038D8BE362E0}" type="slidenum">
              <a:rPr lang="en-GB" sz="1000">
                <a:solidFill>
                  <a:srgbClr val="8795A1"/>
                </a:solidFill>
                <a:latin typeface="Segoe UI"/>
              </a:rPr>
              <a:t>58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Unit propagation applies when a clause has: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literals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exactly one literal left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only positive literals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duplicate literals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8530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11  ·  Propositional Logic and Inference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120     </a:t>
            </a:r>
            <a:fld id="{1380E344-01F9-4DBB-B662-DB0580805904}" type="slidenum">
              <a:rPr lang="en-GB" sz="1000">
                <a:solidFill>
                  <a:srgbClr val="8795A1"/>
                </a:solidFill>
                <a:latin typeface="Segoe UI"/>
              </a:rPr>
              <a:t>59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Convert </a:t>
            </a:r>
            <a:r>
              <a:rPr sz="1900" b="0" i="1">
                <a:solidFill>
                  <a:srgbClr val="1C252B"/>
                </a:solidFill>
                <a:latin typeface="Cambria"/>
              </a:rPr>
              <a:t>Staged</a:t>
            </a:r>
            <a:r>
              <a:rPr sz="1900" b="0" i="0">
                <a:solidFill>
                  <a:srgbClr val="1C252B"/>
                </a:solidFill>
                <a:latin typeface="Cambria"/>
              </a:rPr>
              <a:t> ∧ </a:t>
            </a:r>
            <a:r>
              <a:rPr sz="1900" b="0" i="1">
                <a:solidFill>
                  <a:srgbClr val="1C252B"/>
                </a:solidFill>
                <a:latin typeface="Cambria"/>
              </a:rPr>
              <a:t>SignedOff</a:t>
            </a:r>
            <a:r>
              <a:rPr sz="1900" b="0" i="0">
                <a:solidFill>
                  <a:srgbClr val="1C252B"/>
                </a:solidFill>
                <a:latin typeface="Cambria"/>
              </a:rPr>
              <a:t> ∧ ¬</a:t>
            </a:r>
            <a:r>
              <a:rPr sz="1900" b="0" i="1">
                <a:solidFill>
                  <a:srgbClr val="1C252B"/>
                </a:solidFill>
                <a:latin typeface="Cambria"/>
              </a:rPr>
              <a:t>Blocker</a:t>
            </a:r>
            <a:r>
              <a:rPr sz="1900" b="0" i="0">
                <a:solidFill>
                  <a:srgbClr val="1C252B"/>
                </a:solidFill>
                <a:latin typeface="Cambria"/>
              </a:rPr>
              <a:t> ⇒ </a:t>
            </a:r>
            <a:r>
              <a:rPr sz="1900" b="0" i="1">
                <a:solidFill>
                  <a:srgbClr val="1C252B"/>
                </a:solidFill>
                <a:latin typeface="Cambria"/>
              </a:rPr>
              <a:t>Deploy</a:t>
            </a:r>
            <a:r>
              <a:rPr sz="1900" b="0" i="0">
                <a:solidFill>
                  <a:srgbClr val="1C252B"/>
                </a:solidFill>
                <a:latin typeface="Segoe UI"/>
              </a:rPr>
              <a:t> to a clause, showing each step.</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 countermodel a more useful answer than “it does not follow”? Give the countermodel from this chapter and the sentence you would say to the delivery team.</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Resolution is slower than DPLL on propositional problems. Give the two reasons it is still the method developed in Chapter 12.</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Add the rule “a release with an open blocker may still deploy if the incident commander approves” to the gate, introducing one new symbol. Write it as a sentence, convert it to a clause, and determine — by hand, using unit propagation — whether </a:t>
            </a:r>
            <a:r>
              <a:rPr sz="1900" b="0" i="1">
                <a:solidFill>
                  <a:srgbClr val="1C252B"/>
                </a:solidFill>
                <a:latin typeface="Cambria"/>
              </a:rPr>
              <a:t>Deploy</a:t>
            </a:r>
            <a:r>
              <a:rPr sz="1900" b="0" i="0">
                <a:solidFill>
                  <a:srgbClr val="1C252B"/>
                </a:solidFill>
                <a:latin typeface="Segoe UI"/>
              </a:rPr>
              <a:t> follows from F1–F3 together with </a:t>
            </a:r>
            <a:r>
              <a:rPr sz="1900" b="0" i="1">
                <a:solidFill>
                  <a:srgbClr val="1C252B"/>
                </a:solidFill>
                <a:latin typeface="Cambria"/>
              </a:rPr>
              <a:t>Blocker</a:t>
            </a:r>
            <a:r>
              <a:rPr sz="1900" b="0" i="0">
                <a:solidFill>
                  <a:srgbClr val="1C252B"/>
                </a:solidFill>
                <a:latin typeface="Segoe UI"/>
              </a:rPr>
              <a:t> and the commander’s approval.</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885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12 — First-Order Logic and Resolution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11, pages 110–120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Three ways to decide a release gate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11  ·  Propositional Logic and Inference</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F1445080-5811-42D6-B872-2D8302517FEE}" type="slidenum">
              <a:rPr lang="en-GB" sz="1000">
                <a:solidFill>
                  <a:srgbClr val="D5DEE5"/>
                </a:solidFill>
                <a:latin typeface="Segoe UI"/>
              </a:rPr>
              <a:t>60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Propositional Logic and Inference</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