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6B13064-DB72-4CA9-BF52-75D76A1410C0}">
          <p14:sldIdLst>
            <p14:sldId id="256"/>
            <p14:sldId id="257"/>
            <p14:sldId id="258"/>
            <p14:sldId id="259"/>
            <p14:sldId id="260"/>
          </p14:sldIdLst>
        </p14:section>
        <p14:section name="20.5 Reading a Claim About AI" id="{C622E4FC-9B7A-4CB8-BA3D-F5739D4F514F}">
          <p14:sldIdLst>
            <p14:sldId id="261"/>
          </p14:sldIdLst>
        </p14:section>
        <p14:section name="Checkpoint" id="{177DAD11-2CE6-4F98-A8A1-85C9C2508B8E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C143CFDD-7EB0-456C-8E59-927582D38F38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20: Recent Trends and Applications. Part 6 — Learning, Language and Responsible AI. Week 16: Recent trends; responsible AI and its limits. Handout pages 125–126.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2 (agent architectures), Chapter 13 (rule engines, which reappear inside agent loops) and Chapter 17 (what learning 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large language model; token; prompt; tool use; agent loop; retrieval; neuro-symbolic; hallucination; grounding;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21 — Responsible AI and Its Limits. READ: Handout Chapter 20, pages 125–126. THIS WEEK'S LAB: A tool-using agent, offline; auditing the escalation rules. ASSESSMENT: Project report and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E6B1F"/>
                </a:solidFill>
                <a:latin typeface="Segoe UI Black"/>
              </a:rPr>
              <a:t>20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Recent Trends and Applications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PART VI  ·  LEARNING, LANGUAGE AND RESPONSIBLE AI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CHAPTER 20  ·  WEEK 16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DECD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142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BDB7A0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ECAB9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DB7A0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125     </a:t>
            </a:r>
            <a:fld id="{13CFADD6-1DBF-4C9A-81D8-E60CF8490336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58324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58324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198364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64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8701264" y="1755648"/>
            <a:ext cx="271319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05B06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01264" y="2029967"/>
            <a:ext cx="2713191" cy="45720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51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0537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468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4632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8535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1470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8062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5566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7588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9661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41435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6499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0961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05952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60488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4690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79158" y="2112264"/>
            <a:ext cx="566928" cy="566928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979158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568116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5B06"/>
                </a:solidFill>
                <a:latin typeface="Segoe UI"/>
              </a:rPr>
              <a:t>Recent Trends and Applications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2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Intelligent Agents and Task Environments</a:t>
            </a:r>
          </a:p>
        </p:txBody>
      </p:sp>
      <p:sp>
        <p:nvSpPr>
          <p:cNvPr id="68" name="!!chipBU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bBU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tBU13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Rule-Based Expert Systems</a:t>
            </a:r>
          </a:p>
        </p:txBody>
      </p:sp>
      <p:sp>
        <p:nvSpPr>
          <p:cNvPr id="71" name="!!chipBU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bBU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tBU17"/>
          <p:cNvSpPr txBox="1"/>
          <p:nvPr/>
        </p:nvSpPr>
        <p:spPr>
          <a:xfrm>
            <a:off x="859536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17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Learning from Examples</a:t>
            </a:r>
          </a:p>
        </p:txBody>
      </p:sp>
      <p:sp>
        <p:nvSpPr>
          <p:cNvPr id="74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5" name="!!dep-none-USED "/>
          <p:cNvSpPr txBox="1"/>
          <p:nvPr/>
        </p:nvSpPr>
        <p:spPr>
          <a:xfrm>
            <a:off x="6324447" y="3785616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8A4AE"/>
                </a:solidFill>
                <a:latin typeface="Segoe UI"/>
              </a:rPr>
              <a:t>—  no later chapter depends on it</a:t>
            </a:r>
          </a:p>
        </p:txBody>
      </p:sp>
      <p:sp>
        <p:nvSpPr>
          <p:cNvPr id="7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125     </a:t>
            </a:r>
            <a:fld id="{58F18243-BDF4-43E4-9799-E7CEE19AB182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Describe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a large language model is, in terms this course has established.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16352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structure of a tool-using agent,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relate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to the agent architectures of Chapter 2.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715207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Identify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which parts of a modern AI system are symbolic and which are learned.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318711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Assess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claim about an AI system against the history of Chapter 1.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125     </a:t>
            </a:r>
            <a:fld id="{927E7E5F-DD9D-4079-9AB7-9A023F8D947A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large langu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56463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large langu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large language"/>
          <p:cNvSpPr txBox="1"/>
          <p:nvPr/>
        </p:nvSpPr>
        <p:spPr>
          <a:xfrm>
            <a:off x="950976" y="1955291"/>
            <a:ext cx="238175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large language model</a:t>
            </a:r>
          </a:p>
        </p:txBody>
      </p:sp>
      <p:sp>
        <p:nvSpPr>
          <p:cNvPr id="10" name="!!term-tok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9303" y="1847088"/>
            <a:ext cx="99178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tok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731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token"/>
          <p:cNvSpPr txBox="1"/>
          <p:nvPr/>
        </p:nvSpPr>
        <p:spPr>
          <a:xfrm>
            <a:off x="3661911" y="1955291"/>
            <a:ext cx="80890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token</a:t>
            </a:r>
          </a:p>
        </p:txBody>
      </p:sp>
      <p:sp>
        <p:nvSpPr>
          <p:cNvPr id="13" name="!!term-promp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390" y="1847088"/>
            <a:ext cx="116778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promp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540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prompt"/>
          <p:cNvSpPr txBox="1"/>
          <p:nvPr/>
        </p:nvSpPr>
        <p:spPr>
          <a:xfrm>
            <a:off x="4799998" y="1955291"/>
            <a:ext cx="98490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prompt</a:t>
            </a:r>
          </a:p>
        </p:txBody>
      </p:sp>
      <p:sp>
        <p:nvSpPr>
          <p:cNvPr id="16" name="!!term-tool u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1483" y="1847088"/>
            <a:ext cx="121845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tool u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949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tool use"/>
          <p:cNvSpPr txBox="1"/>
          <p:nvPr/>
        </p:nvSpPr>
        <p:spPr>
          <a:xfrm>
            <a:off x="6114091" y="1955291"/>
            <a:ext cx="103557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tool use</a:t>
            </a:r>
          </a:p>
        </p:txBody>
      </p:sp>
      <p:sp>
        <p:nvSpPr>
          <p:cNvPr id="19" name="!!term-agent lo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86243" y="1847088"/>
            <a:ext cx="149639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agent loo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425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agent loop"/>
          <p:cNvSpPr txBox="1"/>
          <p:nvPr/>
        </p:nvSpPr>
        <p:spPr>
          <a:xfrm>
            <a:off x="7478851" y="1955291"/>
            <a:ext cx="131351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agent loop</a:t>
            </a:r>
          </a:p>
        </p:txBody>
      </p:sp>
      <p:sp>
        <p:nvSpPr>
          <p:cNvPr id="22" name="!!term-retriev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8946" y="1847088"/>
            <a:ext cx="122123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retriev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56962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retrieval"/>
          <p:cNvSpPr txBox="1"/>
          <p:nvPr/>
        </p:nvSpPr>
        <p:spPr>
          <a:xfrm>
            <a:off x="9121554" y="1955291"/>
            <a:ext cx="103835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retrieval</a:t>
            </a:r>
          </a:p>
        </p:txBody>
      </p:sp>
      <p:sp>
        <p:nvSpPr>
          <p:cNvPr id="25" name="!!term-neuro-symboli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95352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neuro-symboli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neuro-symbolic"/>
          <p:cNvSpPr txBox="1"/>
          <p:nvPr/>
        </p:nvSpPr>
        <p:spPr>
          <a:xfrm>
            <a:off x="950976" y="2577084"/>
            <a:ext cx="177064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neuro-symbolic</a:t>
            </a:r>
          </a:p>
        </p:txBody>
      </p:sp>
      <p:sp>
        <p:nvSpPr>
          <p:cNvPr id="28" name="!!term-hallucin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58198" y="2468880"/>
            <a:ext cx="168028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hallucin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621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hallucination"/>
          <p:cNvSpPr txBox="1"/>
          <p:nvPr/>
        </p:nvSpPr>
        <p:spPr>
          <a:xfrm>
            <a:off x="3050806" y="2577084"/>
            <a:ext cx="149740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hallucination</a:t>
            </a:r>
          </a:p>
        </p:txBody>
      </p:sp>
      <p:sp>
        <p:nvSpPr>
          <p:cNvPr id="31" name="!!term-groun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783" y="2468880"/>
            <a:ext cx="146089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groun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279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grounding"/>
          <p:cNvSpPr txBox="1"/>
          <p:nvPr/>
        </p:nvSpPr>
        <p:spPr>
          <a:xfrm>
            <a:off x="4877391" y="2577084"/>
            <a:ext cx="127801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grounding</a:t>
            </a:r>
          </a:p>
        </p:txBody>
      </p:sp>
      <p:sp>
        <p:nvSpPr>
          <p:cNvPr id="34" name="!!term-bench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1986" y="2468880"/>
            <a:ext cx="152238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bench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000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benchmark"/>
          <p:cNvSpPr txBox="1"/>
          <p:nvPr/>
        </p:nvSpPr>
        <p:spPr>
          <a:xfrm>
            <a:off x="6484594" y="2577084"/>
            <a:ext cx="133950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benchmark</a:t>
            </a:r>
          </a:p>
        </p:txBody>
      </p:sp>
      <p:sp>
        <p:nvSpPr>
          <p:cNvPr id="37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3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125–126     </a:t>
            </a:r>
            <a:fld id="{CB5B9827-4C25-4CE0-8340-600C824AE157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20.1 Where the Field Is Now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20.1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Where the Field Is Now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125  ›</a:t>
            </a:r>
          </a:p>
        </p:txBody>
      </p:sp>
      <p:sp>
        <p:nvSpPr>
          <p:cNvPr id="12" name="!!ag1" descr="Go to section 20.2 Large Language Models, Briefly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20.2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Large Language Models, Briefly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125  ›</a:t>
            </a:r>
          </a:p>
        </p:txBody>
      </p:sp>
      <p:sp>
        <p:nvSpPr>
          <p:cNvPr id="17" name="!!ag2" descr="Go to section 20.3 Tool-Using Agents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20.3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Tool-Using Agents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125  ›</a:t>
            </a:r>
          </a:p>
        </p:txBody>
      </p:sp>
      <p:sp>
        <p:nvSpPr>
          <p:cNvPr id="22" name="!!ag3" descr="Go to section 20.4 Neuro-Symbolic Systems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20.4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Neuro-Symbolic Systems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125  ›</a:t>
            </a:r>
          </a:p>
        </p:txBody>
      </p:sp>
      <p:sp>
        <p:nvSpPr>
          <p:cNvPr id="27" name="!!ag4" descr="Go to section 20.5 Reading a Claim About AI">
            <a:hlinkClick action="ppaction://hlinksldjump" r:id="rId5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20.5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Reading a Claim About AI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125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§20.5  ·  Handout p. 125     </a:t>
            </a:r>
            <a:fld id="{26F53D71-89BC-4063-94D8-8B8C8AF7E02E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126  ·  answers in Appendix D     </a:t>
            </a:r>
            <a:fld id="{6EDD46B8-D12F-439F-BEFB-52F98B55946C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126  ·  answers in Appendix D     </a:t>
            </a:r>
            <a:fld id="{3CEB37E9-F84A-462B-96A7-B26FD187E8A5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126  ·  answers in Appendix D     </a:t>
            </a:r>
            <a:fld id="{5721D25E-B1CD-415C-8FA2-3AA1CA433EFE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126  ·  answers in Appendix D     </a:t>
            </a:r>
            <a:fld id="{A13DBB3B-3B2A-489A-9F15-C9A619BAEFF9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126  ·  answers in Appendix D     </a:t>
            </a:r>
            <a:fld id="{3552E877-EDB1-4495-8DF3-F85F33B2FC1E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126  ·  answers in Appendix D     </a:t>
            </a:r>
            <a:fld id="{7A656F45-6842-4808-9BAE-68492FE72F65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126     </a:t>
            </a:r>
            <a:fld id="{0434BA57-4BB8-4F90-9DD3-19E0BABD7253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Where the Field Is Now.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Large Language Models, Briefly.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Tool-Using Agents.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Neuro-Symbolic Systems.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Reading a Claim About AI.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126     </a:t>
            </a:r>
            <a:fld id="{E372D065-F157-4E57-AE28-CC27D56B4DD8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B681A"/>
                </a:solidFill>
                <a:latin typeface="Segoe UI Black"/>
              </a:rPr>
              <a:t>20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20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21 — Responsible AI and Its Limits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20, pages 125–126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A tool-using agent, offline; auditing the escalation rules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Project report and presentation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20  ·  Recent Trends and Applications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E560FB78-7C71-4217-8018-7C87FD9CE30B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20: Recent Trends and Applications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