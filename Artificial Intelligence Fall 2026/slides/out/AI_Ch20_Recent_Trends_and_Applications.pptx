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20.svg" ContentType="image/svg+xml"/>
  <Override PartName="/ppt/media/image21.svg" ContentType="image/svg+xml"/>
  <Override PartName="/ppt/media/image23.svg" ContentType="image/svg+xml"/>
  <Override PartName="/ppt/media/image24.svg" ContentType="image/svg+xml"/>
  <Override PartName="/ppt/media/image25.svg" ContentType="image/svg+xml"/>
  <Override PartName="/ppt/media/image27.svg" ContentType="image/svg+xml"/>
  <Override PartName="/ppt/media/image29.svg" ContentType="image/svg+xml"/>
  <Override PartName="/ppt/media/image30.svg" ContentType="image/svg+xml"/>
  <Override PartName="/ppt/media/image31.svg" ContentType="image/svg+xml"/>
  <Override PartName="/ppt/media/image32.svg" ContentType="image/svg+xml"/>
  <Override PartName="/ppt/media/image33.svg" ContentType="image/svg+xml"/>
  <Override PartName="/ppt/media/image34.svg" ContentType="image/svg+xml"/>
  <Override PartName="/ppt/media/image35.svg" ContentType="image/svg+xml"/>
  <Override PartName="/ppt/media/image36.svg" ContentType="image/svg+xml"/>
  <Override PartName="/ppt/media/image37.svg" ContentType="image/svg+xml"/>
  <Override PartName="/ppt/media/image38.svg" ContentType="image/svg+xml"/>
  <Override PartName="/ppt/media/image39.svg" ContentType="image/svg+xml"/>
  <Override PartName="/ppt/media/image4.svg" ContentType="image/svg+xml"/>
  <Override PartName="/ppt/media/image40.svg" ContentType="image/svg+xml"/>
  <Override PartName="/ppt/media/image41.svg" ContentType="image/svg+xml"/>
  <Override PartName="/ppt/media/image42.svg" ContentType="image/svg+xml"/>
  <Override PartName="/ppt/media/image43.svg" ContentType="image/svg+xml"/>
  <Override PartName="/ppt/media/image44.svg" ContentType="image/svg+xml"/>
  <Override PartName="/ppt/media/image46.svg" ContentType="image/svg+xml"/>
  <Override PartName="/ppt/media/image48.svg" ContentType="image/svg+xml"/>
  <Override PartName="/ppt/media/image49.svg" ContentType="image/svg+xml"/>
  <Override PartName="/ppt/media/image50.svg" ContentType="image/svg+xml"/>
  <Override PartName="/ppt/media/image51.svg" ContentType="image/svg+xml"/>
  <Override PartName="/ppt/media/image52.svg" ContentType="image/svg+xml"/>
  <Override PartName="/ppt/media/image54.svg" ContentType="image/svg+xml"/>
  <Override PartName="/ppt/media/image55.svg" ContentType="image/svg+xml"/>
  <Override PartName="/ppt/media/image57.svg" ContentType="image/svg+xml"/>
  <Override PartName="/ppt/media/image58.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EA4F366-D523-481D-B21F-B9AE0DD7A7AD}">
          <p14:sldIdLst>
            <p14:sldId id="256"/>
            <p14:sldId id="257"/>
            <p14:sldId id="258"/>
            <p14:sldId id="259"/>
            <p14:sldId id="260"/>
          </p14:sldIdLst>
        </p14:section>
        <p14:section name="20.1 Where the Field Is Now" id="{1DD5FD94-5BFE-4E98-A78A-766912AB0C5F}">
          <p14:sldIdLst>
            <p14:sldId id="261"/>
          </p14:sldIdLst>
        </p14:section>
        <p14:section name="20.2 Large Language Models, Briefly" id="{497C3AEC-3B0C-4266-8249-C7417E1B7552}">
          <p14:sldIdLst>
            <p14:sldId id="262"/>
          </p14:sldIdLst>
        </p14:section>
        <p14:section name="20.3 Tool-Using Agents" id="{54A2617F-3B5A-4F18-8FC7-58F212863B74}">
          <p14:sldIdLst>
            <p14:sldId id="263"/>
          </p14:sldIdLst>
        </p14:section>
        <p14:section name="20.4 Neuro-Symbolic Systems" id="{3B717768-8D5C-475C-840F-5DEA94EC993D}">
          <p14:sldIdLst>
            <p14:sldId id="264"/>
            <p14:sldId id="265"/>
            <p14:sldId id="266"/>
          </p14:sldIdLst>
        </p14:section>
        <p14:section name="20.5 Reading a Claim About AI" id="{BC9E1020-BCFA-455D-82DC-DF6AFEB8C489}">
          <p14:sldIdLst>
            <p14:sldId id="267"/>
            <p14:sldId id="268"/>
            <p14:sldId id="269"/>
            <p14:sldId id="270"/>
            <p14:sldId id="271"/>
          </p14:sldIdLst>
        </p14:section>
        <p14:section name="Pitfalls" id="{BDF9A8F7-8079-4B10-B470-E9A8456C1F2D}">
          <p14:sldIdLst>
            <p14:sldId id="272"/>
          </p14:sldIdLst>
        </p14:section>
        <p14:section name="Lab" id="{8C011900-1927-4010-886B-48F65572F391}">
          <p14:sldIdLst>
            <p14:sldId id="273"/>
            <p14:sldId id="274"/>
            <p14:sldId id="275"/>
            <p14:sldId id="276"/>
            <p14:sldId id="277"/>
            <p14:sldId id="278"/>
            <p14:sldId id="279"/>
            <p14:sldId id="280"/>
            <p14:sldId id="281"/>
            <p14:sldId id="282"/>
            <p14:sldId id="283"/>
            <p14:sldId id="284"/>
            <p14:sldId id="285"/>
            <p14:sldId id="286"/>
            <p14:sldId id="287"/>
            <p14:sldId id="288"/>
          </p14:sldIdLst>
        </p14:section>
        <p14:section name="Checkpoint" id="{A3A00A58-E031-470B-B267-3A8D91E9520C}">
          <p14:sldIdLst>
            <p14:sldId id="289"/>
            <p14:sldId id="290"/>
            <p14:sldId id="291"/>
            <p14:sldId id="292"/>
            <p14:sldId id="293"/>
            <p14:sldId id="294"/>
          </p14:sldIdLst>
        </p14:section>
        <p14:section name="Wrap-up" id="{C0C434E7-8B61-4930-B9B3-8F7ABB492B91}">
          <p14:sldIdLst>
            <p14:sldId id="295"/>
            <p14:sldId id="296"/>
            <p14:sldId id="297"/>
            <p14:sldId id="298"/>
            <p14:sldId id="299"/>
            <p14:sldId id="300"/>
            <p14:sldId id="301"/>
            <p14:sldId id="302"/>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20: Recent Trends and Applications. Part 6 — Learning, Language and Responsible AI. Week 16: Recent trends; responsible AI and its limits. Handout pages 208–216.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2 (agent architectures), Chapter 13 (rule engines, which reappear inside agent loops), Chapter 18 (n-grams and the Eliza effect) and Chapter 17 (what learning is). This chapter is a signpost: it names what is current and connects it to what you have built.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large language model; token; context window; prompt; tool use; function calling; agent loop; retrieval-augmented generation; neuro-symbolic; hallucination; grounding; benchmark.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large language model predicts the next token — roughly, the next word-piece — given the tokens before it. That is the n-gram model of Chapter 18, with two differences that turn out to matter enormously. The window is much larger, and it is not fixed by counting. An n-gram model conditions on the previous two or three words because counting longer sequences is hopeless: the data is too sparse. A language model conditions on thousands of tokens, because it does not count — it learns a function, and the function generalises across contexts that never co-occurred in training. That directly addresses the limitation Chapter 18 said was unfixable by counting. The scale is different in kind. Hundreds of billions of parameters, trained on a substantial fraction of published text. The empirical finding of the last decade is that capabilities appear as this scales which nobody designed and few predicted.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Hallucination — fluent, confident, false output — is not a defect to be patched but the objective working as specified. The model was asked for likely text, and false text is often extremely likely. In Chapter 19’s framework, its failure mode is Eliza’s: none detectable by the system, which is the worst entry in that column. The interesting engineering development is not the model but the loop around it.</a:t>
            </a:r>
          </a:p>
          <a:p/>
          <a:p>
            <a:r>
              <a:t>Figure 20.1 (handout p. 209): A tool-using agent. The loop is Chapter 2’ goal-based agent; only the decision procedure at its centre has changed.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chapter’s lab builds this loop with a rule engine at its centre instead of a language model — deterministic, offline, and fully traceable. That substitution is the point of the exercise: it isolates what the loop contributes from what the model contributes, and the loop turns out to contribute most of the structure. Retrieval-augmented generation is the same idea with one tool: search a document collection, put what you find into the prompt, and generate from that. It is the standard response to hallucination and it is a partial one — the retrieved text grounds the answer, and nothing forces the answer to respect it. The current wave is strong exactly where this course’s methods are weak, and weak exactly where they are strong.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Neuro-symbolic systems combine them, and the combination that works commercially is unglamorous: use the model for what is genuinely hard to specify — turning messy natural language into a structured request — and a symbolic component for what must be right.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transferable thing this chapter can leave you with is a procedure for claims, because you will meet many and most will be overstated.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loop of Figure 20.1, with Chapter 13’s rule engine where a language model would sit. Deterministic, offline, and fully traceable — which is what makes it possible to see what the loop contributes.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The world the tools read.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Three tools. Each is cheap, local and honest about failure.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The decision procedure: Chapter 13's rule engine.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5: The decision procedure: Chapter 13's rule engine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6: The decision procedure: Chapter 13's rule engine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7: The decision procedure: Chapter 13's rule engine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8: The decision procedure: Chapter 13's rule engine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9: The decision procedure: Chapter 13's rule engine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10: The decision procedure: Chapter 13's rule engine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11: A tool that fails, handled.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12: And what happens without it.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13: And what happens without it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14: What is symbolic and what would be learned.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Because Chapter 13’s chain is a record of the inference that actually occurred: each line names the rule that fired and the facts it matched, and the conclusion was produced by exactly those steps. A language model’s explanation is generated by the same next-token process as the answer itself — it is text that resembles a derivation, produced independently of whatever computation led to the answer. In Chapter 11’s terms, it may display something shaped like ⊢ while carrying no guarantee of any relation to ⊨; a plausible-looking derivation is not a derivation.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The other five are the loop itself, the tools, the step budget, the termination test and the state the agent keeps between steps. Removing the policy’s handling of a failed tool call causes the commonest deployed failure: a tool returns nothing, no rule notices, and the None travels until it reaches arithmetic and crashes — or, with a policy that cannot terminate, the loop spins until the step budget stops it. Both failures live in the engineering around the model, not in the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First, what did the demonstration exclude? — every impressive demonstration is a microworld until shown otherwise, and the answer tells you what the vendor chose not to show. Second, how would anyone find out when it is wrong? — the failure-mode column. If the answer is that a human notices, ask how they notice when the output is fluent; if it is a test or a type checker, the system is safe in proportion to that checker’s coverage.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21 — Responsible AI and Its Limits. READ: Handout Chapter 20, pages 208–216. THIS WEEK'S LAB: A tool-using agent, offline; auditing the escalation rules. ASSESSMENT: Project report and presentation.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8.xml"/><Relationship Id="rId8" Type="http://schemas.openxmlformats.org/officeDocument/2006/relationships/slide" Target="slide9.xml"/><Relationship Id="rId9" Type="http://schemas.openxmlformats.org/officeDocument/2006/relationships/slide" Target="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5.png"/><Relationship Id="rId3" Type="http://schemas.openxmlformats.org/officeDocument/2006/relationships/image" Target="../media/image16.sv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9.png"/><Relationship Id="rId3" Type="http://schemas.openxmlformats.org/officeDocument/2006/relationships/image" Target="../media/image20.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21.sv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4.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5.sv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image" Target="../media/image27.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29.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0.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1.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2.sv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3.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4.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5.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6.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7.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8.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39.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40.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41.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42.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43.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8.png"/><Relationship Id="rId3" Type="http://schemas.openxmlformats.org/officeDocument/2006/relationships/image" Target="../media/image44.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6.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48.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9.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50.sv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51.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52.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4.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3.png"/><Relationship Id="rId3" Type="http://schemas.openxmlformats.org/officeDocument/2006/relationships/image" Target="../media/image55.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7.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8.sv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9.sv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60.sv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61.sv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7E6B1F"/>
                </a:solidFill>
                <a:latin typeface="Segoe UI Black"/>
              </a:rPr>
              <a:t>20</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Recent Trends and Applications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7D1B9"/>
                </a:solidFill>
                <a:latin typeface="Segoe UI"/>
              </a:rPr>
              <a:t>PART VI  ·  LEARNING, LANGUAGE AND RESPONSIBLE AI</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D7D1B9"/>
                </a:solidFill>
                <a:latin typeface="Segoe UI"/>
              </a:rPr>
              <a:t>CHAPTER 20  ·  WEEK 16</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E2DECD"/>
                </a:solidFill>
                <a:latin typeface="Segoe UI"/>
              </a:rPr>
              <a:t>Artificial Intelligence — Search, Knowledge and Reasoning</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51420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BDB7A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CECAB9"/>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BDB7A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208     </a:t>
            </a:r>
            <a:fld id="{72DFA07B-2B75-452F-899D-5185F895F7B4}" type="slidenum">
              <a:rPr lang="en-GB" sz="1000">
                <a:solidFill>
                  <a:srgbClr val="8795A1"/>
                </a:solidFill>
                <a:latin typeface="Segoe UI"/>
              </a:rPr>
              <a:t>2</a:t>
            </a:fld>
          </a:p>
        </p:txBody>
      </p:sp>
      <p:sp>
        <p:nvSpPr>
          <p:cNvPr id="7" name="!!rp1"/>
          <p:cNvSpPr txBox="1"/>
          <p:nvPr/>
        </p:nvSpPr>
        <p:spPr>
          <a:xfrm>
            <a:off x="7772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2801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2801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3783039"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3783039"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5285938"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5285938"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7198364"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7198364"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8701264" y="1755648"/>
            <a:ext cx="271319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705B06"/>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8701264" y="2029967"/>
            <a:ext cx="2713191" cy="4572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32031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22288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823210"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73177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423273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41412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32610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523466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735636"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64419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6145162"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60537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554689" y="2258568"/>
            <a:ext cx="274320" cy="274320"/>
          </a:xfrm>
          <a:prstGeom prst="ellipse">
            <a:avLst/>
          </a:prstGeom>
          <a:solidFill>
            <a:srgbClr val="9F60B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4632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13</a:t>
            </a:r>
          </a:p>
        </p:txBody>
      </p:sp>
      <p:sp>
        <p:nvSpPr>
          <p:cNvPr id="45" name="!!dot14">
            <a:extLst>
              <a:ext uri="{C183D7F6-B498-43B3-948B-1728B52AA6E4}">
                <adec:decorative xmlns:adec="http://schemas.microsoft.com/office/drawing/2017/decorative" val="1"/>
              </a:ext>
            </a:extLst>
          </p:cNvPr>
          <p:cNvSpPr/>
          <p:nvPr/>
        </p:nvSpPr>
        <p:spPr>
          <a:xfrm>
            <a:off x="7238535"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714709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48062"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5662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57588" y="2258568"/>
            <a:ext cx="274320" cy="274320"/>
          </a:xfrm>
          <a:prstGeom prst="ellipse">
            <a:avLst/>
          </a:prstGeom>
          <a:solidFill>
            <a:srgbClr val="358E7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796614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741435" y="2258568"/>
            <a:ext cx="274320" cy="274320"/>
          </a:xfrm>
          <a:prstGeom prst="ellipse">
            <a:avLst/>
          </a:prstGeom>
          <a:solidFill>
            <a:srgbClr val="C2A5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649995"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50961" y="2258568"/>
            <a:ext cx="274320" cy="274320"/>
          </a:xfrm>
          <a:prstGeom prst="ellipse">
            <a:avLst/>
          </a:prstGeom>
          <a:solidFill>
            <a:srgbClr val="C2A5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5952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60488" y="2258568"/>
            <a:ext cx="274320" cy="274320"/>
          </a:xfrm>
          <a:prstGeom prst="ellipse">
            <a:avLst/>
          </a:prstGeom>
          <a:solidFill>
            <a:srgbClr val="C2A5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46904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9979158" y="2112264"/>
            <a:ext cx="566928" cy="566928"/>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79158"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5681167"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705B06"/>
                </a:solidFill>
                <a:latin typeface="Segoe UI"/>
              </a:rPr>
              <a:t>Recent Trends and Applications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Intelligent Agents and Task Environments</a:t>
            </a:r>
          </a:p>
        </p:txBody>
      </p:sp>
      <p:sp>
        <p:nvSpPr>
          <p:cNvPr id="68" name="!!chipBU13">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13">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13"/>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13  </a:t>
            </a:r>
            <a:r>
              <a:rPr sz="1400" b="0" i="0">
                <a:solidFill>
                  <a:srgbClr val="1C252B"/>
                </a:solidFill>
                <a:latin typeface="Segoe UI"/>
              </a:rPr>
              <a:t>Rule-Based Expert Systems</a:t>
            </a:r>
          </a:p>
        </p:txBody>
      </p:sp>
      <p:sp>
        <p:nvSpPr>
          <p:cNvPr id="71" name="!!chipBU17">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17">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17"/>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17  </a:t>
            </a:r>
            <a:r>
              <a:rPr sz="1400" b="0" i="0">
                <a:solidFill>
                  <a:srgbClr val="1C252B"/>
                </a:solidFill>
                <a:latin typeface="Segoe UI"/>
              </a:rPr>
              <a:t>Learning from Examples</a:t>
            </a:r>
          </a:p>
        </p:txBody>
      </p:sp>
      <p:sp>
        <p:nvSpPr>
          <p:cNvPr id="74" name="!!chipBU18">
            <a:extLst>
              <a:ext uri="{C183D7F6-B498-43B3-948B-1728B52AA6E4}">
                <adec:decorative xmlns:adec="http://schemas.microsoft.com/office/drawing/2017/decorative" val="1"/>
              </a:ext>
            </a:extLst>
          </p:cNvPr>
          <p:cNvSpPr/>
          <p:nvPr/>
        </p:nvSpPr>
        <p:spPr>
          <a:xfrm>
            <a:off x="658368" y="5321808"/>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5" name="!!chipbBU18">
            <a:extLst>
              <a:ext uri="{C183D7F6-B498-43B3-948B-1728B52AA6E4}">
                <adec:decorative xmlns:adec="http://schemas.microsoft.com/office/drawing/2017/decorative" val="1"/>
              </a:ext>
            </a:extLst>
          </p:cNvPr>
          <p:cNvSpPr/>
          <p:nvPr/>
        </p:nvSpPr>
        <p:spPr>
          <a:xfrm>
            <a:off x="658368" y="5321808"/>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tBU18"/>
          <p:cNvSpPr txBox="1"/>
          <p:nvPr/>
        </p:nvSpPr>
        <p:spPr>
          <a:xfrm>
            <a:off x="859536" y="5413248"/>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18  </a:t>
            </a:r>
            <a:r>
              <a:rPr sz="1400" b="0" i="0">
                <a:solidFill>
                  <a:srgbClr val="1C252B"/>
                </a:solidFill>
                <a:latin typeface="Segoe UI"/>
              </a:rPr>
              <a:t>Natural Language Processing</a:t>
            </a:r>
          </a:p>
        </p:txBody>
      </p:sp>
      <p:sp>
        <p:nvSpPr>
          <p:cNvPr id="77"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8" name="!!chipUS21">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21">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21"/>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21  </a:t>
            </a:r>
            <a:r>
              <a:rPr sz="1400" b="0" i="0">
                <a:solidFill>
                  <a:srgbClr val="1C252B"/>
                </a:solidFill>
                <a:latin typeface="Segoe UI"/>
              </a:rPr>
              <a:t>Responsible AI and Its Limits</a:t>
            </a:r>
          </a:p>
        </p:txBody>
      </p:sp>
      <p:sp>
        <p:nvSpPr>
          <p:cNvPr id="81"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pfill">
            <a:extLst>
              <a:ext uri="{C183D7F6-B498-43B3-948B-1728B52AA6E4}">
                <adec:decorative xmlns:adec="http://schemas.microsoft.com/office/drawing/2017/decorative" val="1"/>
              </a:ext>
            </a:extLst>
          </p:cNvPr>
          <p:cNvSpPr/>
          <p:nvPr/>
        </p:nvSpPr>
        <p:spPr>
          <a:xfrm>
            <a:off x="0" y="0"/>
            <a:ext cx="51879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208     </a:t>
            </a:r>
            <a:fld id="{94323DEB-E95F-4F9F-BB4F-FE9228C88362}"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1284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Describe</a:t>
            </a:r>
            <a:r>
              <a:rPr sz="2100" b="0" i="0">
                <a:solidFill>
                  <a:srgbClr val="1C252B"/>
                </a:solidFill>
                <a:latin typeface="Segoe UI"/>
              </a:rPr>
              <a:t> what a large language model is, in terms this course has already established.</a:t>
            </a:r>
          </a:p>
        </p:txBody>
      </p:sp>
      <p:sp>
        <p:nvSpPr>
          <p:cNvPr id="11" name="!!ob1">
            <a:extLst>
              <a:ext uri="{C183D7F6-B498-43B3-948B-1728B52AA6E4}">
                <adec:decorative xmlns:adec="http://schemas.microsoft.com/office/drawing/2017/decorative" val="1"/>
              </a:ext>
            </a:extLst>
          </p:cNvPr>
          <p:cNvSpPr/>
          <p:nvPr/>
        </p:nvSpPr>
        <p:spPr>
          <a:xfrm>
            <a:off x="658368" y="3070555"/>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312999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3061411"/>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Explain</a:t>
            </a:r>
            <a:r>
              <a:rPr sz="2100" b="0" i="0">
                <a:solidFill>
                  <a:srgbClr val="1C252B"/>
                </a:solidFill>
                <a:latin typeface="Segoe UI"/>
              </a:rPr>
              <a:t> the structure of a tool-using agent, and </a:t>
            </a:r>
            <a:r>
              <a:rPr sz="2100" b="1" i="0">
                <a:solidFill>
                  <a:srgbClr val="1C252B"/>
                </a:solidFill>
                <a:latin typeface="Segoe UI"/>
              </a:rPr>
              <a:t>relate</a:t>
            </a:r>
            <a:r>
              <a:rPr sz="2100" b="0" i="0">
                <a:solidFill>
                  <a:srgbClr val="1C252B"/>
                </a:solidFill>
                <a:latin typeface="Segoe UI"/>
              </a:rPr>
              <a:t> it to the agent architectures of Chapter 2.</a:t>
            </a:r>
          </a:p>
        </p:txBody>
      </p:sp>
      <p:sp>
        <p:nvSpPr>
          <p:cNvPr id="14" name="!!ob2">
            <a:extLst>
              <a:ext uri="{C183D7F6-B498-43B3-948B-1728B52AA6E4}">
                <adec:decorative xmlns:adec="http://schemas.microsoft.com/office/drawing/2017/decorative" val="1"/>
              </a:ext>
            </a:extLst>
          </p:cNvPr>
          <p:cNvSpPr/>
          <p:nvPr/>
        </p:nvSpPr>
        <p:spPr>
          <a:xfrm>
            <a:off x="658368" y="3919118"/>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978554"/>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960266"/>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Identify</a:t>
            </a:r>
            <a:r>
              <a:rPr sz="2100" b="0" i="0">
                <a:solidFill>
                  <a:srgbClr val="1C252B"/>
                </a:solidFill>
                <a:latin typeface="Segoe UI"/>
              </a:rPr>
              <a:t> which parts of a modern AI system are symbolic and which are learned.</a:t>
            </a:r>
          </a:p>
        </p:txBody>
      </p:sp>
      <p:sp>
        <p:nvSpPr>
          <p:cNvPr id="17" name="!!ob3">
            <a:extLst>
              <a:ext uri="{C183D7F6-B498-43B3-948B-1728B52AA6E4}">
                <adec:decorative xmlns:adec="http://schemas.microsoft.com/office/drawing/2017/decorative" val="1"/>
              </a:ext>
            </a:extLst>
          </p:cNvPr>
          <p:cNvSpPr/>
          <p:nvPr/>
        </p:nvSpPr>
        <p:spPr>
          <a:xfrm>
            <a:off x="658368" y="4522622"/>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58205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513478"/>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Assess</a:t>
            </a:r>
            <a:r>
              <a:rPr sz="2100" b="0" i="0">
                <a:solidFill>
                  <a:srgbClr val="1C252B"/>
                </a:solidFill>
                <a:latin typeface="Segoe UI"/>
              </a:rPr>
              <a:t> a claim about an AI system using Chapter 1’s checklist and Chapter 19’s framework.</a:t>
            </a:r>
          </a:p>
        </p:txBody>
      </p:sp>
      <p:sp>
        <p:nvSpPr>
          <p:cNvPr id="20" name="!!ob4">
            <a:extLst>
              <a:ext uri="{C183D7F6-B498-43B3-948B-1728B52AA6E4}">
                <adec:decorative xmlns:adec="http://schemas.microsoft.com/office/drawing/2017/decorative" val="1"/>
              </a:ext>
            </a:extLst>
          </p:cNvPr>
          <p:cNvSpPr/>
          <p:nvPr/>
        </p:nvSpPr>
        <p:spPr>
          <a:xfrm>
            <a:off x="658368" y="5371185"/>
            <a:ext cx="420624" cy="420624"/>
          </a:xfrm>
          <a:prstGeom prst="ellipse">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5430621"/>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5412333"/>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705B06"/>
                </a:solidFill>
                <a:latin typeface="Segoe UI"/>
              </a:rPr>
              <a:t>Say</a:t>
            </a:r>
            <a:r>
              <a:rPr sz="2100" b="0" i="0">
                <a:solidFill>
                  <a:srgbClr val="1C252B"/>
                </a:solidFill>
                <a:latin typeface="Segoe UI"/>
              </a:rPr>
              <a:t> what this course’s material contributes to systems built today.</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7819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208     </a:t>
            </a:r>
            <a:fld id="{3933783B-3A45-4199-A5D5-6EB9B0A77BC5}" type="slidenum">
              <a:rPr lang="en-GB" sz="1000">
                <a:solidFill>
                  <a:srgbClr val="8795A1"/>
                </a:solidFill>
                <a:latin typeface="Segoe UI"/>
              </a:rPr>
              <a:t>4</a:t>
            </a:fld>
          </a:p>
        </p:txBody>
      </p:sp>
      <p:sp>
        <p:nvSpPr>
          <p:cNvPr id="7" name="!!term-large language">
            <a:extLst>
              <a:ext uri="{C183D7F6-B498-43B3-948B-1728B52AA6E4}">
                <adec:decorative xmlns:adec="http://schemas.microsoft.com/office/drawing/2017/decorative" val="1"/>
              </a:ext>
            </a:extLst>
          </p:cNvPr>
          <p:cNvSpPr/>
          <p:nvPr/>
        </p:nvSpPr>
        <p:spPr>
          <a:xfrm>
            <a:off x="658368" y="1847088"/>
            <a:ext cx="256463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large language">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large language"/>
          <p:cNvSpPr txBox="1"/>
          <p:nvPr/>
        </p:nvSpPr>
        <p:spPr>
          <a:xfrm>
            <a:off x="950976" y="1955291"/>
            <a:ext cx="2381751"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large language model</a:t>
            </a:r>
          </a:p>
        </p:txBody>
      </p:sp>
      <p:sp>
        <p:nvSpPr>
          <p:cNvPr id="10" name="!!term-token">
            <a:extLst>
              <a:ext uri="{C183D7F6-B498-43B3-948B-1728B52AA6E4}">
                <adec:decorative xmlns:adec="http://schemas.microsoft.com/office/drawing/2017/decorative" val="1"/>
              </a:ext>
            </a:extLst>
          </p:cNvPr>
          <p:cNvSpPr/>
          <p:nvPr/>
        </p:nvSpPr>
        <p:spPr>
          <a:xfrm>
            <a:off x="3369303" y="1847088"/>
            <a:ext cx="99178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token">
            <a:extLst>
              <a:ext uri="{C183D7F6-B498-43B3-948B-1728B52AA6E4}">
                <adec:decorative xmlns:adec="http://schemas.microsoft.com/office/drawing/2017/decorative" val="1"/>
              </a:ext>
            </a:extLst>
          </p:cNvPr>
          <p:cNvSpPr/>
          <p:nvPr/>
        </p:nvSpPr>
        <p:spPr>
          <a:xfrm>
            <a:off x="349731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token"/>
          <p:cNvSpPr txBox="1"/>
          <p:nvPr/>
        </p:nvSpPr>
        <p:spPr>
          <a:xfrm>
            <a:off x="3661911" y="1955291"/>
            <a:ext cx="808903"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token</a:t>
            </a:r>
          </a:p>
        </p:txBody>
      </p:sp>
      <p:sp>
        <p:nvSpPr>
          <p:cNvPr id="13" name="!!term-context window">
            <a:extLst>
              <a:ext uri="{C183D7F6-B498-43B3-948B-1728B52AA6E4}">
                <adec:decorative xmlns:adec="http://schemas.microsoft.com/office/drawing/2017/decorative" val="1"/>
              </a:ext>
            </a:extLst>
          </p:cNvPr>
          <p:cNvSpPr/>
          <p:nvPr/>
        </p:nvSpPr>
        <p:spPr>
          <a:xfrm>
            <a:off x="4507390" y="1847088"/>
            <a:ext cx="197534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context window">
            <a:extLst>
              <a:ext uri="{C183D7F6-B498-43B3-948B-1728B52AA6E4}">
                <adec:decorative xmlns:adec="http://schemas.microsoft.com/office/drawing/2017/decorative" val="1"/>
              </a:ext>
            </a:extLst>
          </p:cNvPr>
          <p:cNvSpPr/>
          <p:nvPr/>
        </p:nvSpPr>
        <p:spPr>
          <a:xfrm>
            <a:off x="463540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context window"/>
          <p:cNvSpPr txBox="1"/>
          <p:nvPr/>
        </p:nvSpPr>
        <p:spPr>
          <a:xfrm>
            <a:off x="4799998" y="1955291"/>
            <a:ext cx="1792465"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context window</a:t>
            </a:r>
          </a:p>
        </p:txBody>
      </p:sp>
      <p:sp>
        <p:nvSpPr>
          <p:cNvPr id="16" name="!!term-prompt">
            <a:extLst>
              <a:ext uri="{C183D7F6-B498-43B3-948B-1728B52AA6E4}">
                <adec:decorative xmlns:adec="http://schemas.microsoft.com/office/drawing/2017/decorative" val="1"/>
              </a:ext>
            </a:extLst>
          </p:cNvPr>
          <p:cNvSpPr/>
          <p:nvPr/>
        </p:nvSpPr>
        <p:spPr>
          <a:xfrm>
            <a:off x="6629040" y="1847088"/>
            <a:ext cx="116778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prompt">
            <a:extLst>
              <a:ext uri="{C183D7F6-B498-43B3-948B-1728B52AA6E4}">
                <adec:decorative xmlns:adec="http://schemas.microsoft.com/office/drawing/2017/decorative" val="1"/>
              </a:ext>
            </a:extLst>
          </p:cNvPr>
          <p:cNvSpPr/>
          <p:nvPr/>
        </p:nvSpPr>
        <p:spPr>
          <a:xfrm>
            <a:off x="675705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prompt"/>
          <p:cNvSpPr txBox="1"/>
          <p:nvPr/>
        </p:nvSpPr>
        <p:spPr>
          <a:xfrm>
            <a:off x="6921648" y="1955291"/>
            <a:ext cx="984908"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prompt</a:t>
            </a:r>
          </a:p>
        </p:txBody>
      </p:sp>
      <p:sp>
        <p:nvSpPr>
          <p:cNvPr id="19" name="!!term-tool use">
            <a:extLst>
              <a:ext uri="{C183D7F6-B498-43B3-948B-1728B52AA6E4}">
                <adec:decorative xmlns:adec="http://schemas.microsoft.com/office/drawing/2017/decorative" val="1"/>
              </a:ext>
            </a:extLst>
          </p:cNvPr>
          <p:cNvSpPr/>
          <p:nvPr/>
        </p:nvSpPr>
        <p:spPr>
          <a:xfrm>
            <a:off x="7943132" y="1847088"/>
            <a:ext cx="121845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tool use">
            <a:extLst>
              <a:ext uri="{C183D7F6-B498-43B3-948B-1728B52AA6E4}">
                <adec:decorative xmlns:adec="http://schemas.microsoft.com/office/drawing/2017/decorative" val="1"/>
              </a:ext>
            </a:extLst>
          </p:cNvPr>
          <p:cNvSpPr/>
          <p:nvPr/>
        </p:nvSpPr>
        <p:spPr>
          <a:xfrm>
            <a:off x="807114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tool use"/>
          <p:cNvSpPr txBox="1"/>
          <p:nvPr/>
        </p:nvSpPr>
        <p:spPr>
          <a:xfrm>
            <a:off x="8235740" y="1955291"/>
            <a:ext cx="1035576"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tool use</a:t>
            </a:r>
          </a:p>
        </p:txBody>
      </p:sp>
      <p:sp>
        <p:nvSpPr>
          <p:cNvPr id="22" name="!!term-function calli">
            <a:extLst>
              <a:ext uri="{C183D7F6-B498-43B3-948B-1728B52AA6E4}">
                <adec:decorative xmlns:adec="http://schemas.microsoft.com/office/drawing/2017/decorative" val="1"/>
              </a:ext>
            </a:extLst>
          </p:cNvPr>
          <p:cNvSpPr/>
          <p:nvPr/>
        </p:nvSpPr>
        <p:spPr>
          <a:xfrm>
            <a:off x="9307893" y="1847088"/>
            <a:ext cx="192890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function calli">
            <a:extLst>
              <a:ext uri="{C183D7F6-B498-43B3-948B-1728B52AA6E4}">
                <adec:decorative xmlns:adec="http://schemas.microsoft.com/office/drawing/2017/decorative" val="1"/>
              </a:ext>
            </a:extLst>
          </p:cNvPr>
          <p:cNvSpPr/>
          <p:nvPr/>
        </p:nvSpPr>
        <p:spPr>
          <a:xfrm>
            <a:off x="943590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function calli"/>
          <p:cNvSpPr txBox="1"/>
          <p:nvPr/>
        </p:nvSpPr>
        <p:spPr>
          <a:xfrm>
            <a:off x="9600501" y="1955291"/>
            <a:ext cx="1746026"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function calling</a:t>
            </a:r>
          </a:p>
        </p:txBody>
      </p:sp>
      <p:sp>
        <p:nvSpPr>
          <p:cNvPr id="25" name="!!term-agent loop">
            <a:extLst>
              <a:ext uri="{C183D7F6-B498-43B3-948B-1728B52AA6E4}">
                <adec:decorative xmlns:adec="http://schemas.microsoft.com/office/drawing/2017/decorative" val="1"/>
              </a:ext>
            </a:extLst>
          </p:cNvPr>
          <p:cNvSpPr/>
          <p:nvPr/>
        </p:nvSpPr>
        <p:spPr>
          <a:xfrm>
            <a:off x="658368" y="2468880"/>
            <a:ext cx="149639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agent loop">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agent loop"/>
          <p:cNvSpPr txBox="1"/>
          <p:nvPr/>
        </p:nvSpPr>
        <p:spPr>
          <a:xfrm>
            <a:off x="950976" y="2577084"/>
            <a:ext cx="1313518"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agent loop</a:t>
            </a:r>
          </a:p>
        </p:txBody>
      </p:sp>
      <p:sp>
        <p:nvSpPr>
          <p:cNvPr id="28" name="!!term-retrieval-augm">
            <a:extLst>
              <a:ext uri="{C183D7F6-B498-43B3-948B-1728B52AA6E4}">
                <adec:decorative xmlns:adec="http://schemas.microsoft.com/office/drawing/2017/decorative" val="1"/>
              </a:ext>
            </a:extLst>
          </p:cNvPr>
          <p:cNvSpPr/>
          <p:nvPr/>
        </p:nvSpPr>
        <p:spPr>
          <a:xfrm>
            <a:off x="2301070" y="2468880"/>
            <a:ext cx="354010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retrieval-augm">
            <a:extLst>
              <a:ext uri="{C183D7F6-B498-43B3-948B-1728B52AA6E4}">
                <adec:decorative xmlns:adec="http://schemas.microsoft.com/office/drawing/2017/decorative" val="1"/>
              </a:ext>
            </a:extLst>
          </p:cNvPr>
          <p:cNvSpPr/>
          <p:nvPr/>
        </p:nvSpPr>
        <p:spPr>
          <a:xfrm>
            <a:off x="2429086"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retrieval-augm"/>
          <p:cNvSpPr txBox="1"/>
          <p:nvPr/>
        </p:nvSpPr>
        <p:spPr>
          <a:xfrm>
            <a:off x="2593678" y="2577084"/>
            <a:ext cx="3357227"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retrieval-augmented generation</a:t>
            </a:r>
          </a:p>
        </p:txBody>
      </p:sp>
      <p:sp>
        <p:nvSpPr>
          <p:cNvPr id="31" name="!!term-neuro-symbolic">
            <a:extLst>
              <a:ext uri="{C183D7F6-B498-43B3-948B-1728B52AA6E4}">
                <adec:decorative xmlns:adec="http://schemas.microsoft.com/office/drawing/2017/decorative" val="1"/>
              </a:ext>
            </a:extLst>
          </p:cNvPr>
          <p:cNvSpPr/>
          <p:nvPr/>
        </p:nvSpPr>
        <p:spPr>
          <a:xfrm>
            <a:off x="5987482" y="2468880"/>
            <a:ext cx="195352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neuro-symbolic">
            <a:extLst>
              <a:ext uri="{C183D7F6-B498-43B3-948B-1728B52AA6E4}">
                <adec:decorative xmlns:adec="http://schemas.microsoft.com/office/drawing/2017/decorative" val="1"/>
              </a:ext>
            </a:extLst>
          </p:cNvPr>
          <p:cNvSpPr/>
          <p:nvPr/>
        </p:nvSpPr>
        <p:spPr>
          <a:xfrm>
            <a:off x="611549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neuro-symbolic"/>
          <p:cNvSpPr txBox="1"/>
          <p:nvPr/>
        </p:nvSpPr>
        <p:spPr>
          <a:xfrm>
            <a:off x="6280090" y="2577084"/>
            <a:ext cx="1770646"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neuro-symbolic</a:t>
            </a:r>
          </a:p>
        </p:txBody>
      </p:sp>
      <p:sp>
        <p:nvSpPr>
          <p:cNvPr id="34" name="!!term-hallucination">
            <a:extLst>
              <a:ext uri="{C183D7F6-B498-43B3-948B-1728B52AA6E4}">
                <adec:decorative xmlns:adec="http://schemas.microsoft.com/office/drawing/2017/decorative" val="1"/>
              </a:ext>
            </a:extLst>
          </p:cNvPr>
          <p:cNvSpPr/>
          <p:nvPr/>
        </p:nvSpPr>
        <p:spPr>
          <a:xfrm>
            <a:off x="8087313" y="2468880"/>
            <a:ext cx="168028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hallucination">
            <a:extLst>
              <a:ext uri="{C183D7F6-B498-43B3-948B-1728B52AA6E4}">
                <adec:decorative xmlns:adec="http://schemas.microsoft.com/office/drawing/2017/decorative" val="1"/>
              </a:ext>
            </a:extLst>
          </p:cNvPr>
          <p:cNvSpPr/>
          <p:nvPr/>
        </p:nvSpPr>
        <p:spPr>
          <a:xfrm>
            <a:off x="8215329"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hallucination"/>
          <p:cNvSpPr txBox="1"/>
          <p:nvPr/>
        </p:nvSpPr>
        <p:spPr>
          <a:xfrm>
            <a:off x="8379921" y="2577084"/>
            <a:ext cx="1497400"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hallucination</a:t>
            </a:r>
          </a:p>
        </p:txBody>
      </p:sp>
      <p:sp>
        <p:nvSpPr>
          <p:cNvPr id="37" name="!!term-grounding">
            <a:extLst>
              <a:ext uri="{C183D7F6-B498-43B3-948B-1728B52AA6E4}">
                <adec:decorative xmlns:adec="http://schemas.microsoft.com/office/drawing/2017/decorative" val="1"/>
              </a:ext>
            </a:extLst>
          </p:cNvPr>
          <p:cNvSpPr/>
          <p:nvPr/>
        </p:nvSpPr>
        <p:spPr>
          <a:xfrm>
            <a:off x="9913898" y="2468880"/>
            <a:ext cx="146089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grounding">
            <a:extLst>
              <a:ext uri="{C183D7F6-B498-43B3-948B-1728B52AA6E4}">
                <adec:decorative xmlns:adec="http://schemas.microsoft.com/office/drawing/2017/decorative" val="1"/>
              </a:ext>
            </a:extLst>
          </p:cNvPr>
          <p:cNvSpPr/>
          <p:nvPr/>
        </p:nvSpPr>
        <p:spPr>
          <a:xfrm>
            <a:off x="1004191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grounding"/>
          <p:cNvSpPr txBox="1"/>
          <p:nvPr/>
        </p:nvSpPr>
        <p:spPr>
          <a:xfrm>
            <a:off x="10206506" y="2577084"/>
            <a:ext cx="1278019"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grounding</a:t>
            </a:r>
          </a:p>
        </p:txBody>
      </p:sp>
      <p:sp>
        <p:nvSpPr>
          <p:cNvPr id="40" name="!!term-benchmark">
            <a:extLst>
              <a:ext uri="{C183D7F6-B498-43B3-948B-1728B52AA6E4}">
                <adec:decorative xmlns:adec="http://schemas.microsoft.com/office/drawing/2017/decorative" val="1"/>
              </a:ext>
            </a:extLst>
          </p:cNvPr>
          <p:cNvSpPr/>
          <p:nvPr/>
        </p:nvSpPr>
        <p:spPr>
          <a:xfrm>
            <a:off x="658368" y="3090672"/>
            <a:ext cx="152238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benchmark">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benchmark"/>
          <p:cNvSpPr txBox="1"/>
          <p:nvPr/>
        </p:nvSpPr>
        <p:spPr>
          <a:xfrm>
            <a:off x="950976" y="3198876"/>
            <a:ext cx="1339504" cy="310896"/>
          </a:xfrm>
          <a:prstGeom prst="rect">
            <a:avLst/>
          </a:prstGeom>
          <a:noFill/>
        </p:spPr>
        <p:txBody>
          <a:bodyPr wrap="none" anchor="t" lIns="0" rIns="0" tIns="0" bIns="0">
            <a:noAutofit/>
          </a:bodyPr>
          <a:lstStyle/>
          <a:p>
            <a:pPr algn="l">
              <a:lnSpc>
                <a:spcPct val="100000"/>
              </a:lnSpc>
              <a:spcBef>
                <a:spcPts val="0"/>
              </a:spcBef>
              <a:spcAft>
                <a:spcPts val="0"/>
              </a:spcAft>
            </a:pPr>
            <a:r>
              <a:rPr sz="1700" b="0" i="0">
                <a:solidFill>
                  <a:srgbClr val="1C252B"/>
                </a:solidFill>
                <a:latin typeface="Segoe UI"/>
              </a:rPr>
              <a:t>benchmark</a:t>
            </a:r>
          </a:p>
        </p:txBody>
      </p:sp>
      <p:sp>
        <p:nvSpPr>
          <p:cNvPr id="43"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4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pfill">
            <a:extLst>
              <a:ext uri="{C183D7F6-B498-43B3-948B-1728B52AA6E4}">
                <adec:decorative xmlns:adec="http://schemas.microsoft.com/office/drawing/2017/decorative" val="1"/>
              </a:ext>
            </a:extLst>
          </p:cNvPr>
          <p:cNvSpPr/>
          <p:nvPr/>
        </p:nvSpPr>
        <p:spPr>
          <a:xfrm>
            <a:off x="0" y="0"/>
            <a:ext cx="103759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208–216     </a:t>
            </a:r>
            <a:fld id="{5491C3EC-2835-4408-9B04-D1617FEDF415}" type="slidenum">
              <a:rPr lang="en-GB" sz="1000">
                <a:solidFill>
                  <a:srgbClr val="8795A1"/>
                </a:solidFill>
                <a:latin typeface="Segoe UI"/>
              </a:rPr>
              <a:t>5</a:t>
            </a:fld>
          </a:p>
        </p:txBody>
      </p:sp>
      <p:sp>
        <p:nvSpPr>
          <p:cNvPr id="7" name="!!ag0" descr="Go to section 20.1 Where the Field Is Now">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20.1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Where the Field Is Now</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208  ›</a:t>
            </a:r>
          </a:p>
        </p:txBody>
      </p:sp>
      <p:sp>
        <p:nvSpPr>
          <p:cNvPr id="12" name="!!ag1" descr="Go to section 20.2 Large Language Models, Briefly">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20.2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Large Language Models, Briefly</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208  ›</a:t>
            </a:r>
          </a:p>
        </p:txBody>
      </p:sp>
      <p:sp>
        <p:nvSpPr>
          <p:cNvPr id="17" name="!!ag2" descr="Go to section 20.3 Tool-Using Agents">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20.3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Tool-Using Agents</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209  ›</a:t>
            </a:r>
          </a:p>
        </p:txBody>
      </p:sp>
      <p:sp>
        <p:nvSpPr>
          <p:cNvPr id="22" name="!!ag3" descr="Go to section 20.4 Neuro-Symbolic Systems">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20.4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Neuro-Symbolic Systems</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210  ›</a:t>
            </a:r>
          </a:p>
        </p:txBody>
      </p:sp>
      <p:sp>
        <p:nvSpPr>
          <p:cNvPr id="27" name="!!ag4" descr="Go to section 20.5 Reading a Claim About AI">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705B06"/>
                </a:solidFill>
                <a:latin typeface="Segoe UI Semibold"/>
              </a:rPr>
              <a:t>20.5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Reading a Claim About AI</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210  ›</a:t>
            </a:r>
          </a:p>
        </p:txBody>
      </p:sp>
      <p:sp>
        <p:nvSpPr>
          <p:cNvPr id="3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pfill">
            <a:extLst>
              <a:ext uri="{C183D7F6-B498-43B3-948B-1728B52AA6E4}">
                <adec:decorative xmlns:adec="http://schemas.microsoft.com/office/drawing/2017/decorative" val="1"/>
              </a:ext>
            </a:extLst>
          </p:cNvPr>
          <p:cNvSpPr/>
          <p:nvPr/>
        </p:nvSpPr>
        <p:spPr>
          <a:xfrm>
            <a:off x="0" y="0"/>
            <a:ext cx="129698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the Field Is Now</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§20.1  ·  Handout p. 208     </a:t>
            </a:r>
            <a:fld id="{3B47A7C9-7DC5-4C8E-952F-EAA666FFC59A}"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302966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1694078"/>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This course has taught the symbolic half of artificial intelligence, and it has been honest about the fact that the systems in the news are not built that way. This chapter says what they are, in the vocabulary you now have, and what your material contributes to them.</a:t>
            </a:r>
          </a:p>
        </p:txBody>
      </p:sp>
      <p:sp>
        <p:nvSpPr>
          <p:cNvPr id="9" name="body-1"/>
          <p:cNvSpPr txBox="1"/>
          <p:nvPr/>
        </p:nvSpPr>
        <p:spPr>
          <a:xfrm>
            <a:off x="1042415" y="3622192"/>
            <a:ext cx="10417759" cy="1281988"/>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It is a signpost rather than a unit. A serious treatment of the current wave needs the statistics of </a:t>
            </a:r>
            <a:r>
              <a:rPr sz="2600" b="0" i="1">
                <a:solidFill>
                  <a:srgbClr val="1C252B"/>
                </a:solidFill>
                <a:latin typeface="Segoe UI"/>
              </a:rPr>
              <a:t>Machine Learning</a:t>
            </a:r>
            <a:r>
              <a:rPr sz="2600" b="0" i="0">
                <a:solidFill>
                  <a:srgbClr val="1C252B"/>
                </a:solidFill>
                <a:latin typeface="Segoe UI"/>
              </a:rPr>
              <a:t> and the architectures of </a:t>
            </a:r>
            <a:r>
              <a:rPr sz="2600" b="0" i="1">
                <a:solidFill>
                  <a:srgbClr val="1C252B"/>
                </a:solidFill>
                <a:latin typeface="Segoe UI"/>
              </a:rPr>
              <a:t>Data Science</a:t>
            </a:r>
            <a:r>
              <a:rPr sz="2600" b="0" i="0">
                <a:solidFill>
                  <a:srgbClr val="1C252B"/>
                </a:solidFill>
                <a:latin typeface="Segoe UI"/>
              </a:rPr>
              <a:t>; what can be done here is to place it.</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155638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it still is, and what follows</a:t>
            </a:r>
          </a:p>
        </p:txBody>
      </p:sp>
      <p:pic>
        <p:nvPicPr>
          <p:cNvPr id="3" name="!!kicker-icon" descr="exclamation-triang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45688"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WATCH OUT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§20.2  ·  Handout p. 208     </a:t>
            </a:r>
            <a:fld id="{EA6CDF6D-67E7-4DDA-8ECC-D6332A537A80}" type="slidenum">
              <a:rPr lang="en-GB" sz="1000">
                <a:solidFill>
                  <a:srgbClr val="8795A1"/>
                </a:solidFill>
                <a:latin typeface="Segoe UI"/>
              </a:rPr>
              <a:t>7</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858361"/>
          </a:xfrm>
          <a:prstGeom prst="roundRect">
            <a:avLst>
              <a:gd name="adj" fmla="val 2369"/>
            </a:avLst>
          </a:prstGeom>
          <a:solidFill>
            <a:srgbClr val="FDED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858361"/>
          </a:xfrm>
          <a:prstGeom prst="rect">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552907"/>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It is a next-token predictor. Everything else — answering questions, writing code, apparently reasoning — is a consequence of that objective being pursued at scale over text that contains people doing those things.</a:t>
            </a:r>
          </a:p>
        </p:txBody>
      </p:sp>
      <p:sp>
        <p:nvSpPr>
          <p:cNvPr id="10" name="body-1"/>
          <p:cNvSpPr txBox="1"/>
          <p:nvPr/>
        </p:nvSpPr>
        <p:spPr>
          <a:xfrm>
            <a:off x="1060704" y="2667203"/>
            <a:ext cx="10161727" cy="299313"/>
          </a:xfrm>
          <a:prstGeom prst="rect">
            <a:avLst/>
          </a:prstGeom>
          <a:noFill/>
        </p:spPr>
        <p:txBody>
          <a:bodyPr wrap="square" anchor="t" lIns="0" rIns="0" tIns="0" bIns="0">
            <a:noAutofit/>
          </a:bodyPr>
          <a:lstStyle/>
          <a:p>
            <a:pPr algn="l">
              <a:lnSpc>
                <a:spcPct val="104000"/>
              </a:lnSpc>
              <a:spcBef>
                <a:spcPts val="0"/>
              </a:spcBef>
              <a:spcAft>
                <a:spcPts val="0"/>
              </a:spcAft>
            </a:pPr>
            <a:r>
              <a:rPr sz="1600" b="0" i="0">
                <a:solidFill>
                  <a:srgbClr val="1C252B"/>
                </a:solidFill>
                <a:latin typeface="Segoe UI"/>
              </a:rPr>
              <a:t>Three consequences follow directly, and each one is visible in this course’s terms.</a:t>
            </a:r>
          </a:p>
        </p:txBody>
      </p:sp>
      <p:sp>
        <p:nvSpPr>
          <p:cNvPr id="11" name="body-2"/>
          <p:cNvSpPr txBox="1"/>
          <p:nvPr/>
        </p:nvSpPr>
        <p:spPr>
          <a:xfrm>
            <a:off x="1060704" y="3032556"/>
            <a:ext cx="10161727" cy="806500"/>
          </a:xfrm>
          <a:prstGeom prst="rect">
            <a:avLst/>
          </a:prstGeom>
          <a:noFill/>
        </p:spPr>
        <p:txBody>
          <a:bodyPr wrap="square" anchor="t" lIns="0" rIns="0" tIns="0" bIns="0">
            <a:noAutofit/>
          </a:bodyPr>
          <a:lstStyle/>
          <a:p>
            <a:pPr algn="l">
              <a:lnSpc>
                <a:spcPct val="104000"/>
              </a:lnSpc>
              <a:spcBef>
                <a:spcPts val="0"/>
              </a:spcBef>
              <a:spcAft>
                <a:spcPts val="0"/>
              </a:spcAft>
            </a:pPr>
            <a:r>
              <a:rPr sz="1600" b="0" i="1">
                <a:solidFill>
                  <a:srgbClr val="1C252B"/>
                </a:solidFill>
                <a:latin typeface="Segoe UI"/>
              </a:rPr>
              <a:t>There is no representation to inspect.</a:t>
            </a:r>
            <a:r>
              <a:rPr sz="1600" b="0" i="0">
                <a:solidFill>
                  <a:srgbClr val="1C252B"/>
                </a:solidFill>
                <a:latin typeface="Segoe UI"/>
              </a:rPr>
              <a:t> Nothing corresponds to Chapter 10’s semantic network or Chapter 15’ conditional probability table. So Chapter 1’s third test scores zero, and there is no artefact for a domain expert to correct.</a:t>
            </a:r>
          </a:p>
        </p:txBody>
      </p:sp>
      <p:sp>
        <p:nvSpPr>
          <p:cNvPr id="12" name="body-3"/>
          <p:cNvSpPr txBox="1"/>
          <p:nvPr/>
        </p:nvSpPr>
        <p:spPr>
          <a:xfrm>
            <a:off x="1060704" y="3905097"/>
            <a:ext cx="10161727" cy="806500"/>
          </a:xfrm>
          <a:prstGeom prst="rect">
            <a:avLst/>
          </a:prstGeom>
          <a:noFill/>
        </p:spPr>
        <p:txBody>
          <a:bodyPr wrap="square" anchor="t" lIns="0" rIns="0" tIns="0" bIns="0">
            <a:noAutofit/>
          </a:bodyPr>
          <a:lstStyle/>
          <a:p>
            <a:pPr algn="l">
              <a:lnSpc>
                <a:spcPct val="104000"/>
              </a:lnSpc>
              <a:spcBef>
                <a:spcPts val="0"/>
              </a:spcBef>
              <a:spcAft>
                <a:spcPts val="0"/>
              </a:spcAft>
            </a:pPr>
            <a:r>
              <a:rPr sz="1600" b="0" i="1">
                <a:solidFill>
                  <a:srgbClr val="1C252B"/>
                </a:solidFill>
                <a:latin typeface="Segoe UI"/>
              </a:rPr>
              <a:t>There is no proof and no trace.</a:t>
            </a:r>
            <a:r>
              <a:rPr sz="1600" b="0" i="0">
                <a:solidFill>
                  <a:srgbClr val="1C252B"/>
                </a:solidFill>
                <a:latin typeface="Segoe UI"/>
              </a:rPr>
              <a:t> A language model can </a:t>
            </a:r>
            <a:r>
              <a:rPr sz="1600" b="0" i="1">
                <a:solidFill>
                  <a:srgbClr val="1C252B"/>
                </a:solidFill>
                <a:latin typeface="Segoe UI"/>
              </a:rPr>
              <a:t>produce</a:t>
            </a:r>
            <a:r>
              <a:rPr sz="1600" b="0" i="0">
                <a:solidFill>
                  <a:srgbClr val="1C252B"/>
                </a:solidFill>
                <a:latin typeface="Segoe UI"/>
              </a:rPr>
              <a:t> text resembling Chapter 13’s explanation chain, and that text is generated by the same process as the answer — it is not a record of how the answer was reached. The distinction is exactly Chapter 11’s </a:t>
            </a:r>
            <a:r>
              <a:rPr sz="1600" b="0" i="0">
                <a:solidFill>
                  <a:srgbClr val="1C252B"/>
                </a:solidFill>
                <a:latin typeface="Cambria"/>
              </a:rPr>
              <a:t>⊨</a:t>
            </a:r>
            <a:r>
              <a:rPr sz="1600" b="0" i="0">
                <a:solidFill>
                  <a:srgbClr val="1C252B"/>
                </a:solidFill>
                <a:latin typeface="Segoe UI"/>
              </a:rPr>
              <a:t> against </a:t>
            </a:r>
            <a:r>
              <a:rPr sz="1600" b="0" i="0">
                <a:solidFill>
                  <a:srgbClr val="1C252B"/>
                </a:solidFill>
                <a:latin typeface="Cambria"/>
              </a:rPr>
              <a:t>⊢</a:t>
            </a:r>
            <a:r>
              <a:rPr sz="1600" b="0" i="0">
                <a:solidFill>
                  <a:srgbClr val="1C252B"/>
                </a:solidFill>
                <a:latin typeface="Segoe UI"/>
              </a:rPr>
              <a:t>: a plausible-looking derivation is not a derivation.</a:t>
            </a:r>
          </a:p>
        </p:txBody>
      </p:sp>
      <p:sp>
        <p:nvSpPr>
          <p:cNvPr id="13" name="body-4"/>
          <p:cNvSpPr txBox="1"/>
          <p:nvPr/>
        </p:nvSpPr>
        <p:spPr>
          <a:xfrm>
            <a:off x="1060704" y="4777638"/>
            <a:ext cx="10161727" cy="552907"/>
          </a:xfrm>
          <a:prstGeom prst="rect">
            <a:avLst/>
          </a:prstGeom>
          <a:noFill/>
        </p:spPr>
        <p:txBody>
          <a:bodyPr wrap="square" anchor="t" lIns="0" rIns="0" tIns="0" bIns="0">
            <a:noAutofit/>
          </a:bodyPr>
          <a:lstStyle/>
          <a:p>
            <a:pPr algn="l">
              <a:lnSpc>
                <a:spcPct val="104000"/>
              </a:lnSpc>
              <a:spcBef>
                <a:spcPts val="0"/>
              </a:spcBef>
              <a:spcAft>
                <a:spcPts val="0"/>
              </a:spcAft>
            </a:pPr>
            <a:r>
              <a:rPr sz="1600" b="0" i="1">
                <a:solidFill>
                  <a:srgbClr val="1C252B"/>
                </a:solidFill>
                <a:latin typeface="Segoe UI"/>
              </a:rPr>
              <a:t>Fluency is not evidence.</a:t>
            </a:r>
            <a:r>
              <a:rPr sz="1600" b="0" i="0">
                <a:solidFill>
                  <a:srgbClr val="1C252B"/>
                </a:solidFill>
                <a:latin typeface="Segoe UI"/>
              </a:rPr>
              <a:t> This is Chapter 18’s Eliza effect at scale, and your defence against it is Chapter 1’s checklist rather than your impression of the transcript.</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181578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tool-using agent</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705B06"/>
                </a:solidFill>
                <a:latin typeface="Segoe UI"/>
              </a:rPr>
              <a:t>FIGURE 20.1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§20.3  ·  Handout p. 209     </a:t>
            </a:r>
            <a:fld id="{6F40927F-8BF9-4E0E-AB91-35A2BE46FD0D}" type="slidenum">
              <a:rPr lang="en-GB" sz="1000">
                <a:solidFill>
                  <a:srgbClr val="8795A1"/>
                </a:solidFill>
                <a:latin typeface="Segoe UI"/>
              </a:rPr>
              <a:t>8</a:t>
            </a:fld>
          </a:p>
        </p:txBody>
      </p:sp>
      <p:pic>
        <p:nvPicPr>
          <p:cNvPr id="6" name="!!figure" descr="Figure 20.1. A tool-using agent. The loop is Chapter 2’ goal-based agent; only the decision procedure at its centre has changed."/>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764272" y="1737360"/>
            <a:ext cx="8663149" cy="4009948"/>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loop is Chapter 2’ goal-based agent; only the decision procedure at its centre has changed.</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07518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Neuro-Symbolic Systems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4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20.4</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20.1   Where the Field Is Now</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20.2   Large Language Models, Briefly</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20.3   Tool-Using Agents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20.4   Neuro-Symbolic Systems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20.5   Reading a Claim About AI</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§20.4     </a:t>
            </a:r>
            <a:fld id="{7574F29E-3A0F-4ECE-9A58-66BC3D1C126D}" type="slidenum">
              <a:rPr lang="en-GB" sz="1000">
                <a:solidFill>
                  <a:srgbClr val="8795A1"/>
                </a:solidFill>
                <a:latin typeface="Segoe UI"/>
              </a:rPr>
              <a:t>9</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233457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Neuro-Symbolic Systems</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§20.4  ·  Handout p. 210     </a:t>
            </a:r>
            <a:fld id="{7340C389-1211-4748-A363-F40BB08FB4B4}" type="slidenum">
              <a:rPr lang="en-GB" sz="1000">
                <a:solidFill>
                  <a:srgbClr val="8795A1"/>
                </a:solidFill>
                <a:latin typeface="Segoe UI"/>
              </a:rPr>
              <a:t>10</a:t>
            </a:fld>
          </a:p>
        </p:txBody>
      </p:sp>
      <p:graphicFrame>
        <p:nvGraphicFramePr>
          <p:cNvPr id="7" name="!!table"/>
          <p:cNvGraphicFramePr>
            <a:graphicFrameLocks noGrp="1"/>
          </p:cNvGraphicFramePr>
          <p:nvPr/>
        </p:nvGraphicFramePr>
        <p:xfrm>
          <a:off x="658368" y="1737360"/>
          <a:ext cx="10874957" cy="3468624"/>
        </p:xfrm>
        <a:graphic>
          <a:graphicData uri="http://schemas.openxmlformats.org/drawingml/2006/table">
            <a:tbl>
              <a:tblPr firstRow="0" bandRow="0" firstCol="0" lastRow="0" lastCol="0" bandCol="0">
                <a:tableStyleId>{2D5ABB26-0587-4C30-8999-92F81FD0307C}</a:tableStyleId>
              </a:tblPr>
              <a:tblGrid>
                <a:gridCol w="2885193"/>
                <a:gridCol w="3994882"/>
                <a:gridCol w="3994882"/>
              </a:tblGrid>
              <a:tr h="405384">
                <a:tc>
                  <a:txBody>
                    <a:bodyPr wrap="square"/>
                    <a:lstStyle/>
                    <a:p>
                      <a:pPr algn="l"/>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Symbolic (this course)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Learned (current wave)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664464">
                <a:tc>
                  <a:txBody>
                    <a:bodyPr wrap="square"/>
                    <a:lstStyle/>
                    <a:p>
                      <a:pPr algn="l"/>
                      <a:r>
                        <a:rPr sz="1700" b="0" i="0">
                          <a:solidFill>
                            <a:srgbClr val="1C252B"/>
                          </a:solidFill>
                          <a:latin typeface="Segoe UI"/>
                        </a:rPr>
                        <a:t>Where knowledge comes from</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A person writes it down; the knowledge acquisition bottleneck</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Data; no bottleneck, and no way to correct one fact</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Behaviour at the edge</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Brittle: confidently wrong or silent</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Degrades smoothly, and gives no signal either</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0" i="0">
                          <a:solidFill>
                            <a:srgbClr val="1C252B"/>
                          </a:solidFill>
                          <a:latin typeface="Segoe UI"/>
                        </a:rPr>
                        <a:t>Guarantees</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Real: a constraint solver proves no engineer is double-booked</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None</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Explanation</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A proof or a firing chain, checkable line by line</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Text resembling one, generated the same way as the answer</a:t>
                      </a:r>
                      <a:endParaRPr sz="1700"/>
                    </a:p>
                  </a:txBody>
                  <a:tcPr marL="109728" marR="109728" marT="64008" marB="45720" anchor="t">
                    <a:lnL w="0" cmpd="sng">
                      <a:noFill/>
                    </a:lnL>
                    <a:lnR w="0" cmpd="sng">
                      <a:noFill/>
                    </a:lnR>
                    <a:lnT w="9525" cmpd="sng">
                      <a:noFill/>
                    </a:lnT>
                    <a:lnB w="9525" cmpd="sng">
                      <a:noFill/>
                    </a:lnB>
                    <a:solidFill>
                      <a:srgbClr val="F2F8FC"/>
                    </a:solidFill>
                  </a:tcPr>
                </a:tc>
              </a:tr>
              <a:tr h="405384">
                <a:tc>
                  <a:txBody>
                    <a:bodyPr wrap="square"/>
                    <a:lstStyle/>
                    <a:p>
                      <a:pPr algn="l"/>
                      <a:r>
                        <a:rPr sz="1700" b="0" i="0">
                          <a:solidFill>
                            <a:srgbClr val="1C252B"/>
                          </a:solidFill>
                          <a:latin typeface="Segoe UI"/>
                        </a:rPr>
                        <a:t>Ambiguous or novel input</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Fails, often usefully</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Handles it, sometimes by inventing</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259397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Neuro-Symbolic Systems</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§20.4  ·  Handout p. 210     </a:t>
            </a:r>
            <a:fld id="{584F4604-0CBE-451E-8AF9-5E384B4A98B9}"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011472"/>
          </a:xfrm>
          <a:prstGeom prst="roundRect">
            <a:avLst>
              <a:gd name="adj" fmla="val 2279"/>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011472"/>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186891"/>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Concretely, in the terms of this handout: a language model reads the ticket subject and produces a structured request (Chapter 18’s stage 5, done better than any grammar manages); Chapter 7’s constraint solver then produces a schedule that provably violates nothing; Chapter 13’s rule engine applies the escalation policy and emits the chain that an auditor will read.</a:t>
            </a:r>
          </a:p>
        </p:txBody>
      </p:sp>
      <p:sp>
        <p:nvSpPr>
          <p:cNvPr id="10" name="body-1"/>
          <p:cNvSpPr txBox="1"/>
          <p:nvPr/>
        </p:nvSpPr>
        <p:spPr>
          <a:xfrm>
            <a:off x="1060704" y="3315157"/>
            <a:ext cx="10161727" cy="1186891"/>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Each component does the thing it is good at, and — this is the part worth remembering — </a:t>
            </a:r>
            <a:r>
              <a:rPr sz="1800" b="0" i="1">
                <a:solidFill>
                  <a:srgbClr val="1C252B"/>
                </a:solidFill>
                <a:latin typeface="Segoe UI"/>
              </a:rPr>
              <a:t>the guarantees come from the symbolic components</a:t>
            </a:r>
            <a:r>
              <a:rPr sz="1800" b="0" i="0">
                <a:solidFill>
                  <a:srgbClr val="1C252B"/>
                </a:solidFill>
                <a:latin typeface="Segoe UI"/>
              </a:rPr>
              <a:t>. A system that needs to demonstrate that no engineer was double-booked, or to show exactly why a ticket was escalated, gets that from Chapters 7 and 13 and cannot get it from the model.</a:t>
            </a:r>
          </a:p>
        </p:txBody>
      </p:sp>
      <p:sp>
        <p:nvSpPr>
          <p:cNvPr id="11" name="body-2"/>
          <p:cNvSpPr txBox="1"/>
          <p:nvPr/>
        </p:nvSpPr>
        <p:spPr>
          <a:xfrm>
            <a:off x="1060704" y="4582058"/>
            <a:ext cx="10161727" cy="901598"/>
          </a:xfrm>
          <a:prstGeom prst="rect">
            <a:avLst/>
          </a:prstGeom>
          <a:noFill/>
        </p:spPr>
        <p:txBody>
          <a:bodyPr wrap="square" anchor="t" lIns="0" rIns="0" tIns="0" bIns="0">
            <a:noAutofit/>
          </a:bodyPr>
          <a:lstStyle/>
          <a:p>
            <a:pPr algn="l">
              <a:lnSpc>
                <a:spcPct val="104000"/>
              </a:lnSpc>
              <a:spcBef>
                <a:spcPts val="0"/>
              </a:spcBef>
              <a:spcAft>
                <a:spcPts val="0"/>
              </a:spcAft>
            </a:pPr>
            <a:r>
              <a:rPr sz="1800" b="0" i="0">
                <a:solidFill>
                  <a:srgbClr val="1C252B"/>
                </a:solidFill>
                <a:latin typeface="Segoe UI"/>
              </a:rPr>
              <a:t>That is the concrete answer to “why did I learn this?” It is not that symbolic AI will displace the current wave. It is that the parts of a deployed system which have to be </a:t>
            </a:r>
            <a:r>
              <a:rPr sz="1800" b="0" i="1">
                <a:solidFill>
                  <a:srgbClr val="1C252B"/>
                </a:solidFill>
                <a:latin typeface="Segoe UI"/>
              </a:rPr>
              <a:t>correct</a:t>
            </a:r>
            <a:r>
              <a:rPr sz="1800" b="0" i="0">
                <a:solidFill>
                  <a:srgbClr val="1C252B"/>
                </a:solidFill>
                <a:latin typeface="Segoe UI"/>
              </a:rPr>
              <a:t> and </a:t>
            </a:r>
            <a:r>
              <a:rPr sz="1800" b="0" i="1">
                <a:solidFill>
                  <a:srgbClr val="1C252B"/>
                </a:solidFill>
                <a:latin typeface="Segoe UI"/>
              </a:rPr>
              <a:t>accountable</a:t>
            </a:r>
            <a:r>
              <a:rPr sz="1800" b="0" i="0">
                <a:solidFill>
                  <a:srgbClr val="1C252B"/>
                </a:solidFill>
                <a:latin typeface="Segoe UI"/>
              </a:rPr>
              <a:t> are still built the way this course builds them, and the people who can build both are rare.</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85337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Reading a Claim About AI</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D4CEB4"/>
                </a:solidFill>
                <a:latin typeface="Segoe UI"/>
              </a:rPr>
              <a:t>SECTION 5 OF 5</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20.5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20.1   Where the Field Is Now</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20.2   Large Language Models, Briefly</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20.3   Tool-Using Agents</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20.4   Neuro-Symbolic Systems</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705B06"/>
                </a:solidFill>
                <a:latin typeface="Segoe UI"/>
              </a:rPr>
              <a:t>20.5   Reading a Claim About AI</a:t>
            </a:r>
          </a:p>
        </p:txBody>
      </p:sp>
      <p:sp>
        <p:nvSpPr>
          <p:cNvPr id="11"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a:t>
            </a:r>
          </a:p>
        </p:txBody>
      </p:sp>
      <p:sp>
        <p:nvSpPr>
          <p:cNvPr id="12"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§20.5     </a:t>
            </a:r>
            <a:fld id="{82716703-6972-41EB-BD3C-1FD6D202F263}" type="slidenum">
              <a:rPr lang="en-GB" sz="1000">
                <a:solidFill>
                  <a:srgbClr val="8795A1"/>
                </a:solidFill>
                <a:latin typeface="Segoe UI"/>
              </a:rPr>
              <a:t>12</a:t>
            </a:fld>
          </a:p>
        </p:txBody>
      </p:sp>
      <p:sp>
        <p:nvSpPr>
          <p:cNvPr id="13"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fill">
            <a:extLst>
              <a:ext uri="{C183D7F6-B498-43B3-948B-1728B52AA6E4}">
                <adec:decorative xmlns:adec="http://schemas.microsoft.com/office/drawing/2017/decorative" val="1"/>
              </a:ext>
            </a:extLst>
          </p:cNvPr>
          <p:cNvSpPr/>
          <p:nvPr/>
        </p:nvSpPr>
        <p:spPr>
          <a:xfrm>
            <a:off x="0" y="0"/>
            <a:ext cx="311277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Reading a Claim About AI</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BRIEF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FBAA8017-5E59-48AF-BF65-2D99C616540F}"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65345"/>
          </a:xfrm>
          <a:prstGeom prst="roundRect">
            <a:avLst>
              <a:gd name="adj" fmla="val 2094"/>
            </a:avLst>
          </a:prstGeom>
          <a:solidFill>
            <a:srgbClr val="F2F6F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65345"/>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789273"/>
          </a:xfrm>
          <a:prstGeom prst="rect">
            <a:avLst/>
          </a:prstGeom>
          <a:noFill/>
        </p:spPr>
        <p:txBody>
          <a:bodyPr wrap="square" anchor="t" lIns="0" rIns="0" tIns="0" bIns="0">
            <a:noAutofit/>
          </a:bodyPr>
          <a:lstStyle/>
          <a:p>
            <a:pPr algn="l" marL="434207" indent="-434207">
              <a:lnSpc>
                <a:spcPct val="104000"/>
              </a:lnSpc>
              <a:spcBef>
                <a:spcPts val="0"/>
              </a:spcBef>
              <a:spcAft>
                <a:spcPts val="630"/>
              </a:spcAft>
            </a:pPr>
            <a:r>
              <a:rPr sz="1800" b="1">
                <a:solidFill>
                  <a:srgbClr val="1A5276"/>
                </a:solidFill>
                <a:latin typeface="Segoe UI"/>
              </a:rPr>
              <a:t>1.	</a:t>
            </a:r>
            <a:r>
              <a:rPr sz="1800" b="1" i="0">
                <a:solidFill>
                  <a:srgbClr val="1A5276"/>
                </a:solidFill>
                <a:latin typeface="Segoe UI"/>
              </a:rPr>
              <a:t>Apply the five-point checklist</a:t>
            </a:r>
            <a:r>
              <a:rPr sz="1800" b="0" i="0">
                <a:solidFill>
                  <a:srgbClr val="1C252B"/>
                </a:solidFill>
                <a:latin typeface="Segoe UI"/>
              </a:rPr>
              <a:t> (Chapter 1). Goal or procedure? Does it consider alternatives? Is there an inspectable representation? Does it adapt? Can it explain? The answers are usually more interesting than the marketing.</a:t>
            </a:r>
          </a:p>
          <a:p>
            <a:pPr algn="l" marL="434207" indent="-434207">
              <a:lnSpc>
                <a:spcPct val="104000"/>
              </a:lnSpc>
              <a:spcBef>
                <a:spcPts val="0"/>
              </a:spcBef>
              <a:spcAft>
                <a:spcPts val="630"/>
              </a:spcAft>
            </a:pPr>
            <a:r>
              <a:rPr sz="1800" b="1">
                <a:solidFill>
                  <a:srgbClr val="1A5276"/>
                </a:solidFill>
                <a:latin typeface="Segoe UI"/>
              </a:rPr>
              <a:t>2.	</a:t>
            </a:r>
            <a:r>
              <a:rPr sz="1800" b="1" i="0">
                <a:solidFill>
                  <a:srgbClr val="1A5276"/>
                </a:solidFill>
                <a:latin typeface="Segoe UI"/>
              </a:rPr>
              <a:t>Fill in the six columns</a:t>
            </a:r>
            <a:r>
              <a:rPr sz="1800" b="0" i="0">
                <a:solidFill>
                  <a:srgbClr val="1C252B"/>
                </a:solidFill>
                <a:latin typeface="Segoe UI"/>
              </a:rPr>
              <a:t> (Chapter 19), and do not skip </a:t>
            </a:r>
            <a:r>
              <a:rPr sz="1800" b="0" i="1">
                <a:solidFill>
                  <a:srgbClr val="1C252B"/>
                </a:solidFill>
                <a:latin typeface="Segoe UI"/>
              </a:rPr>
              <a:t>knowledge source</a:t>
            </a:r>
            <a:r>
              <a:rPr sz="1800" b="0" i="0">
                <a:solidFill>
                  <a:srgbClr val="1C252B"/>
                </a:solidFill>
                <a:latin typeface="Segoe UI"/>
              </a:rPr>
              <a:t> and </a:t>
            </a:r>
            <a:r>
              <a:rPr sz="1800" b="0" i="1">
                <a:solidFill>
                  <a:srgbClr val="1C252B"/>
                </a:solidFill>
                <a:latin typeface="Segoe UI"/>
              </a:rPr>
              <a:t>failure mode</a:t>
            </a:r>
            <a:r>
              <a:rPr sz="1800" b="0" i="0">
                <a:solidFill>
                  <a:srgbClr val="1C252B"/>
                </a:solidFill>
                <a:latin typeface="Segoe UI"/>
              </a:rPr>
              <a:t>. Ask specifically: when it is wrong, how would anyone find out?</a:t>
            </a:r>
          </a:p>
          <a:p>
            <a:pPr algn="l" marL="434207" indent="-434207">
              <a:lnSpc>
                <a:spcPct val="104000"/>
              </a:lnSpc>
              <a:spcBef>
                <a:spcPts val="0"/>
              </a:spcBef>
              <a:spcAft>
                <a:spcPts val="630"/>
              </a:spcAft>
            </a:pPr>
            <a:r>
              <a:rPr sz="1800" b="1">
                <a:solidFill>
                  <a:srgbClr val="1A5276"/>
                </a:solidFill>
                <a:latin typeface="Segoe UI"/>
              </a:rPr>
              <a:t>3.	</a:t>
            </a:r>
            <a:r>
              <a:rPr sz="1800" b="1" i="0">
                <a:solidFill>
                  <a:srgbClr val="1A5276"/>
                </a:solidFill>
                <a:latin typeface="Segoe UI"/>
              </a:rPr>
              <a:t>Ask what the demonstration excluded.</a:t>
            </a:r>
            <a:r>
              <a:rPr sz="1800" b="0" i="0">
                <a:solidFill>
                  <a:srgbClr val="1C252B"/>
                </a:solidFill>
                <a:latin typeface="Segoe UI"/>
              </a:rPr>
              <a:t> Student worked on a fragment of English. Every impressive demonstration is a microworld until shown otherwise.</a:t>
            </a:r>
          </a:p>
          <a:p>
            <a:pPr algn="l" marL="434207" indent="-434207">
              <a:lnSpc>
                <a:spcPct val="104000"/>
              </a:lnSpc>
              <a:spcBef>
                <a:spcPts val="0"/>
              </a:spcBef>
              <a:spcAft>
                <a:spcPts val="630"/>
              </a:spcAft>
            </a:pPr>
            <a:r>
              <a:rPr sz="1800" b="1">
                <a:solidFill>
                  <a:srgbClr val="1A5276"/>
                </a:solidFill>
                <a:latin typeface="Segoe UI"/>
              </a:rPr>
              <a:t>4.	</a:t>
            </a:r>
            <a:r>
              <a:rPr sz="1800" b="1" i="0">
                <a:solidFill>
                  <a:srgbClr val="1A5276"/>
                </a:solidFill>
                <a:latin typeface="Segoe UI"/>
              </a:rPr>
              <a:t>Distinguish a claim about capability from a claim about reach.</a:t>
            </a:r>
            <a:r>
              <a:rPr sz="1800" b="0" i="0">
                <a:solidFill>
                  <a:srgbClr val="1C252B"/>
                </a:solidFill>
                <a:latin typeface="Segoe UI"/>
              </a:rPr>
              <a:t> Chapter 1’s history is two winters caused by exactly this conflation, and Chapter 17 showed a correct result about perceptrons producing a wrong conclusion about neural networks.</a:t>
            </a:r>
          </a:p>
          <a:p>
            <a:pPr algn="l" marL="434207" indent="-434207">
              <a:lnSpc>
                <a:spcPct val="104000"/>
              </a:lnSpc>
              <a:spcBef>
                <a:spcPts val="0"/>
              </a:spcBef>
              <a:spcAft>
                <a:spcPts val="0"/>
              </a:spcAft>
            </a:pPr>
            <a:r>
              <a:rPr sz="1800" b="1">
                <a:solidFill>
                  <a:srgbClr val="1A5276"/>
                </a:solidFill>
                <a:latin typeface="Segoe UI"/>
              </a:rPr>
              <a:t>5.	</a:t>
            </a:r>
            <a:r>
              <a:rPr sz="1800" b="1" i="0">
                <a:solidFill>
                  <a:srgbClr val="1A5276"/>
                </a:solidFill>
                <a:latin typeface="Segoe UI"/>
              </a:rPr>
              <a:t>Ask what would falsify it.</a:t>
            </a:r>
            <a:r>
              <a:rPr sz="1800" b="0" i="0">
                <a:solidFill>
                  <a:srgbClr val="1C252B"/>
                </a:solidFill>
                <a:latin typeface="Segoe UI"/>
              </a:rPr>
              <a:t> A claim with no failing case is not a strong claim; it is an unfalsifiable one.</a:t>
            </a:r>
          </a:p>
        </p:txBody>
      </p:sp>
      <p:sp>
        <p:nvSpPr>
          <p:cNvPr id="2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pfill">
            <a:extLst>
              <a:ext uri="{C183D7F6-B498-43B3-948B-1728B52AA6E4}">
                <adec:decorative xmlns:adec="http://schemas.microsoft.com/office/drawing/2017/decorative" val="1"/>
              </a:ext>
            </a:extLst>
          </p:cNvPr>
          <p:cNvSpPr/>
          <p:nvPr/>
        </p:nvSpPr>
        <p:spPr>
          <a:xfrm>
            <a:off x="0" y="0"/>
            <a:ext cx="337217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8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8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8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8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80"/>
                                        <p:tgtEl>
                                          <p:spTgt spid="9">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Assessing a code-generation assistant</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0FCFC468-20AC-4AFE-93E9-FBE1E7FAFC62}" type="slidenum">
              <a:rPr lang="en-GB" sz="1000">
                <a:solidFill>
                  <a:srgbClr val="8795A1"/>
                </a:solidFill>
                <a:latin typeface="Segoe UI"/>
              </a:rPr>
              <a:t>14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825494"/>
          </a:xfrm>
          <a:prstGeom prst="roundRect">
            <a:avLst>
              <a:gd name="adj" fmla="val 2390"/>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82549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vendor claims their tool “understands your codebase and writes correct code”.</a:t>
            </a:r>
          </a:p>
        </p:txBody>
      </p:sp>
      <p:sp>
        <p:nvSpPr>
          <p:cNvPr id="10" name="body-1"/>
          <p:cNvSpPr txBox="1"/>
          <p:nvPr/>
        </p:nvSpPr>
        <p:spPr>
          <a:xfrm>
            <a:off x="1042416" y="2445537"/>
            <a:ext cx="10234879" cy="185257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Checklist.</a:t>
            </a:r>
            <a:r>
              <a:rPr sz="1900" b="0" i="0">
                <a:solidFill>
                  <a:srgbClr val="1C252B"/>
                </a:solidFill>
                <a:latin typeface="Segoe UI"/>
              </a:rPr>
              <a:t> </a:t>
            </a:r>
            <a:r>
              <a:rPr sz="1900" b="0" i="1">
                <a:solidFill>
                  <a:srgbClr val="1C252B"/>
                </a:solidFill>
                <a:latin typeface="Segoe UI"/>
              </a:rPr>
              <a:t>Goal:</a:t>
            </a:r>
            <a:r>
              <a:rPr sz="1900" b="0" i="0">
                <a:solidFill>
                  <a:srgbClr val="1C252B"/>
                </a:solidFill>
                <a:latin typeface="Segoe UI"/>
              </a:rPr>
              <a:t> no — it is given a procedure (complete this function), not an objective. </a:t>
            </a:r>
            <a:r>
              <a:rPr sz="1900" b="0" i="1">
                <a:solidFill>
                  <a:srgbClr val="1C252B"/>
                </a:solidFill>
                <a:latin typeface="Segoe UI"/>
              </a:rPr>
              <a:t>Search:</a:t>
            </a:r>
            <a:r>
              <a:rPr sz="1900" b="0" i="0">
                <a:solidFill>
                  <a:srgbClr val="1C252B"/>
                </a:solidFill>
                <a:latin typeface="Segoe UI"/>
              </a:rPr>
              <a:t> sometimes; several candidates may be generated and ranked. </a:t>
            </a:r>
            <a:r>
              <a:rPr sz="1900" b="0" i="1">
                <a:solidFill>
                  <a:srgbClr val="1C252B"/>
                </a:solidFill>
                <a:latin typeface="Segoe UI"/>
              </a:rPr>
              <a:t>Knowledge:</a:t>
            </a:r>
            <a:r>
              <a:rPr sz="1900" b="0" i="0">
                <a:solidFill>
                  <a:srgbClr val="1C252B"/>
                </a:solidFill>
                <a:latin typeface="Segoe UI"/>
              </a:rPr>
              <a:t> partially — if it uses the language server’s symbol table, that part is inspectable; the model’s parameters are not. </a:t>
            </a:r>
            <a:r>
              <a:rPr sz="1900" b="0" i="1">
                <a:solidFill>
                  <a:srgbClr val="1C252B"/>
                </a:solidFill>
                <a:latin typeface="Segoe UI"/>
              </a:rPr>
              <a:t>Adaptation:</a:t>
            </a:r>
            <a:r>
              <a:rPr sz="1900" b="0" i="0">
                <a:solidFill>
                  <a:srgbClr val="1C252B"/>
                </a:solidFill>
                <a:latin typeface="Segoe UI"/>
              </a:rPr>
              <a:t> not from your corrections, generally. </a:t>
            </a:r>
            <a:r>
              <a:rPr sz="1900" b="0" i="1">
                <a:solidFill>
                  <a:srgbClr val="1C252B"/>
                </a:solidFill>
                <a:latin typeface="Segoe UI"/>
              </a:rPr>
              <a:t>Explanation:</a:t>
            </a:r>
            <a:r>
              <a:rPr sz="1900" b="0" i="0">
                <a:solidFill>
                  <a:srgbClr val="1C252B"/>
                </a:solidFill>
                <a:latin typeface="Segoe UI"/>
              </a:rPr>
              <a:t> it will produce a rationale on request, and that rationale is generated, not recorded. Score around two, with the two most auditable tests failing.</a:t>
            </a:r>
          </a:p>
        </p:txBody>
      </p:sp>
      <p:sp>
        <p:nvSpPr>
          <p:cNvPr id="11" name="body-2"/>
          <p:cNvSpPr txBox="1"/>
          <p:nvPr/>
        </p:nvSpPr>
        <p:spPr>
          <a:xfrm>
            <a:off x="1042416" y="4385106"/>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Six columns.</a:t>
            </a:r>
            <a:r>
              <a:rPr sz="1900" b="0" i="0">
                <a:solidFill>
                  <a:srgbClr val="1C252B"/>
                </a:solidFill>
                <a:latin typeface="Segoe UI"/>
              </a:rPr>
              <a:t> </a:t>
            </a:r>
            <a:r>
              <a:rPr sz="1900" b="0" i="1">
                <a:solidFill>
                  <a:srgbClr val="1C252B"/>
                </a:solidFill>
                <a:latin typeface="Segoe UI"/>
              </a:rPr>
              <a:t>Failure mode</a:t>
            </a:r>
            <a:r>
              <a:rPr sz="1900" b="0" i="0">
                <a:solidFill>
                  <a:srgbClr val="1C252B"/>
                </a:solidFill>
                <a:latin typeface="Segoe UI"/>
              </a:rPr>
              <a:t> is the decisive one: it fails by producing fluent, plausible, wrong code. Compare a type checker, which fails by refusing to compile. The first needs an external detector; the second is one.</a:t>
            </a:r>
          </a:p>
        </p:txBody>
      </p:sp>
      <p:sp>
        <p:nvSpPr>
          <p:cNvPr id="1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pfill">
            <a:extLst>
              <a:ext uri="{C183D7F6-B498-43B3-948B-1728B52AA6E4}">
                <adec:decorative xmlns:adec="http://schemas.microsoft.com/office/drawing/2017/decorative" val="1"/>
              </a:ext>
            </a:extLst>
          </p:cNvPr>
          <p:cNvSpPr/>
          <p:nvPr/>
        </p:nvSpPr>
        <p:spPr>
          <a:xfrm>
            <a:off x="0" y="0"/>
            <a:ext cx="363156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Assessing a code-generation assistant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DCA53394-0F01-4C76-BF42-0CF2C61BB010}"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524351"/>
          </a:xfrm>
          <a:prstGeom prst="roundRect">
            <a:avLst>
              <a:gd name="adj" fmla="val 259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52435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949147"/>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What the demonstration excluded.</a:t>
            </a:r>
            <a:r>
              <a:rPr sz="1900" b="0" i="0">
                <a:solidFill>
                  <a:srgbClr val="1C252B"/>
                </a:solidFill>
                <a:latin typeface="Segoe UI"/>
              </a:rPr>
              <a:t> Almost certainly: a codebase with unusual conventions, a language with little public code, and any case where the right answer is “this function should not exist”.</a:t>
            </a:r>
          </a:p>
        </p:txBody>
      </p:sp>
      <p:sp>
        <p:nvSpPr>
          <p:cNvPr id="10" name="body-1"/>
          <p:cNvSpPr txBox="1"/>
          <p:nvPr/>
        </p:nvSpPr>
        <p:spPr>
          <a:xfrm>
            <a:off x="1042416" y="3047822"/>
            <a:ext cx="10234879" cy="1250289"/>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Capability or reach?</a:t>
            </a:r>
            <a:r>
              <a:rPr sz="1900" b="0" i="0">
                <a:solidFill>
                  <a:srgbClr val="1C252B"/>
                </a:solidFill>
                <a:latin typeface="Segoe UI"/>
              </a:rPr>
              <a:t> The capability claim — it writes usable code often — is well supported. The reach claim — it </a:t>
            </a:r>
            <a:r>
              <a:rPr sz="1900" b="0" i="1">
                <a:solidFill>
                  <a:srgbClr val="1C252B"/>
                </a:solidFill>
                <a:latin typeface="Segoe UI"/>
              </a:rPr>
              <a:t>understands</a:t>
            </a:r>
            <a:r>
              <a:rPr sz="1900" b="0" i="0">
                <a:solidFill>
                  <a:srgbClr val="1C252B"/>
                </a:solidFill>
                <a:latin typeface="Segoe UI"/>
              </a:rPr>
              <a:t> the codebase — is the Chapter 18 Eliza effect restated, and the test is not whether the output reads as understanding but whether there is a representation to point at.</a:t>
            </a:r>
          </a:p>
        </p:txBody>
      </p:sp>
      <p:sp>
        <p:nvSpPr>
          <p:cNvPr id="11" name="body-2"/>
          <p:cNvSpPr txBox="1"/>
          <p:nvPr/>
        </p:nvSpPr>
        <p:spPr>
          <a:xfrm>
            <a:off x="1042416" y="4385106"/>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What would falsify it?</a:t>
            </a:r>
            <a:r>
              <a:rPr sz="1900" b="0" i="0">
                <a:solidFill>
                  <a:srgbClr val="1C252B"/>
                </a:solidFill>
                <a:latin typeface="Segoe UI"/>
              </a:rPr>
              <a:t> “Correct code” is testable and the vendor has not offered a test. Ask for the acceptance criterion; the answer tells you whether they have one.</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389096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wipe(right)">
                                      <p:cBhvr>
                                        <p:cTn id="13" dur="420"/>
                                        <p:tgtEl>
                                          <p:spTgt spid="10"/>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wipe(right)">
                                      <p:cBhvr>
                                        <p:cTn id="18" dur="42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Assessing a code-generation assistant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6AAA7DE3-24D2-46CE-8936-A2DD598F37FC}"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54352"/>
          </a:xfrm>
          <a:prstGeom prst="roundRect">
            <a:avLst>
              <a:gd name="adj" fmla="val 4451"/>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54352"/>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155143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The useful conclusion.</a:t>
            </a:r>
            <a:r>
              <a:rPr sz="1900" b="0" i="0">
                <a:solidFill>
                  <a:srgbClr val="1C252B"/>
                </a:solidFill>
                <a:latin typeface="Segoe UI"/>
              </a:rPr>
              <a:t> Not “it is good” or “it is hype”, but an operational rule of the kind Chapter 19 produced: </a:t>
            </a:r>
            <a:r>
              <a:rPr sz="1900" b="0" i="1">
                <a:solidFill>
                  <a:srgbClr val="1C252B"/>
                </a:solidFill>
                <a:latin typeface="Segoe UI"/>
              </a:rPr>
              <a:t>this tool’s output goes through the same review and test gate as a junior developer’s, for the same reason, and any workflow that bypasses that gate has removed the only failure detector in the system</a:t>
            </a:r>
            <a:r>
              <a:rPr sz="1900" b="0" i="0">
                <a:solidFill>
                  <a:srgbClr val="1C252B"/>
                </a:solidFill>
                <a:latin typeface="Segoe UI"/>
              </a:rPr>
              <a:t>. That is a decision a team can act on, and it came from two checklists rather than from an opinion.</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15036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wipe(right)">
                                      <p:cBhvr>
                                        <p:cTn id="8" dur="42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C01CD684-2C07-471C-9700-B637E58952BF}" type="slidenum">
              <a:rPr lang="en-GB" sz="1000">
                <a:solidFill>
                  <a:srgbClr val="8795A1"/>
                </a:solidFill>
                <a:latin typeface="Segoe UI"/>
              </a:rPr>
              <a:t>17</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Treating generated text about reasoning as a trace of reasoning.</a:t>
            </a:r>
            <a:r>
              <a:rPr sz="1800" b="0" i="0">
                <a:solidFill>
                  <a:srgbClr val="1C252B"/>
                </a:solidFill>
                <a:latin typeface="Segoe UI"/>
              </a:rPr>
              <a:t> It is produced by the same process as the answer. Chapter 13’s firing chain is a record; this is not.</a:t>
            </a:r>
          </a:p>
        </p:txBody>
      </p:sp>
      <p:sp>
        <p:nvSpPr>
          <p:cNvPr id="10" name="!!pb1">
            <a:extLst>
              <a:ext uri="{C183D7F6-B498-43B3-948B-1728B52AA6E4}">
                <adec:decorative xmlns:adec="http://schemas.microsoft.com/office/drawing/2017/decorative" val="1"/>
              </a:ext>
            </a:extLst>
          </p:cNvPr>
          <p:cNvSpPr/>
          <p:nvPr/>
        </p:nvSpPr>
        <p:spPr>
          <a:xfrm>
            <a:off x="658368" y="25274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5502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509113"/>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Expecting hallucination to be patched away.</a:t>
            </a:r>
            <a:r>
              <a:rPr sz="1800" b="0" i="0">
                <a:solidFill>
                  <a:srgbClr val="1C252B"/>
                </a:solidFill>
                <a:latin typeface="Segoe UI"/>
              </a:rPr>
              <a:t> It is the objective working as specified. Mitigations reduce it; nothing removes it.</a:t>
            </a:r>
          </a:p>
        </p:txBody>
      </p:sp>
      <p:sp>
        <p:nvSpPr>
          <p:cNvPr id="13" name="!!pb2">
            <a:extLst>
              <a:ext uri="{C183D7F6-B498-43B3-948B-1728B52AA6E4}">
                <adec:decorative xmlns:adec="http://schemas.microsoft.com/office/drawing/2017/decorative" val="1"/>
              </a:ext>
            </a:extLst>
          </p:cNvPr>
          <p:cNvSpPr/>
          <p:nvPr/>
        </p:nvSpPr>
        <p:spPr>
          <a:xfrm>
            <a:off x="658368" y="3299155"/>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322015"/>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280867"/>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Assuming the agent loop is the model.</a:t>
            </a:r>
            <a:r>
              <a:rPr sz="1800" b="0" i="0">
                <a:solidFill>
                  <a:srgbClr val="1C252B"/>
                </a:solidFill>
                <a:latin typeface="Segoe UI"/>
              </a:rPr>
              <a:t> The loop, the tools, the budget and the termination test are ordinary engineering, and most failures live there.</a:t>
            </a:r>
          </a:p>
        </p:txBody>
      </p:sp>
      <p:sp>
        <p:nvSpPr>
          <p:cNvPr id="16" name="!!pb3">
            <a:extLst>
              <a:ext uri="{C183D7F6-B498-43B3-948B-1728B52AA6E4}">
                <adec:decorative xmlns:adec="http://schemas.microsoft.com/office/drawing/2017/decorative" val="1"/>
              </a:ext>
            </a:extLst>
          </p:cNvPr>
          <p:cNvSpPr/>
          <p:nvPr/>
        </p:nvSpPr>
        <p:spPr>
          <a:xfrm>
            <a:off x="658368" y="407090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093768"/>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052620"/>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Believing retrieval grounds an answer.</a:t>
            </a:r>
            <a:r>
              <a:rPr sz="1800" b="0" i="0">
                <a:solidFill>
                  <a:srgbClr val="1C252B"/>
                </a:solidFill>
                <a:latin typeface="Segoe UI"/>
              </a:rPr>
              <a:t> It puts text in the prompt. Nothing forces the answer to respect it.</a:t>
            </a:r>
          </a:p>
        </p:txBody>
      </p:sp>
      <p:sp>
        <p:nvSpPr>
          <p:cNvPr id="19" name="!!pb4">
            <a:extLst>
              <a:ext uri="{C183D7F6-B498-43B3-948B-1728B52AA6E4}">
                <adec:decorative xmlns:adec="http://schemas.microsoft.com/office/drawing/2017/decorative" val="1"/>
              </a:ext>
            </a:extLst>
          </p:cNvPr>
          <p:cNvSpPr/>
          <p:nvPr/>
        </p:nvSpPr>
        <p:spPr>
          <a:xfrm>
            <a:off x="658368" y="484266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486552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4824374"/>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Concluding symbolic methods are obsolete.</a:t>
            </a:r>
            <a:r>
              <a:rPr sz="1800" b="0" i="0">
                <a:solidFill>
                  <a:srgbClr val="1C252B"/>
                </a:solidFill>
                <a:latin typeface="Segoe UI"/>
              </a:rPr>
              <a:t> The guarantees and the audit trails in a deployed system come from them, and nothing else provides either.</a:t>
            </a:r>
          </a:p>
        </p:txBody>
      </p:sp>
      <p:sp>
        <p:nvSpPr>
          <p:cNvPr id="22" name="!!pb5">
            <a:extLst>
              <a:ext uri="{C183D7F6-B498-43B3-948B-1728B52AA6E4}">
                <adec:decorative xmlns:adec="http://schemas.microsoft.com/office/drawing/2017/decorative" val="1"/>
              </a:ext>
            </a:extLst>
          </p:cNvPr>
          <p:cNvSpPr/>
          <p:nvPr/>
        </p:nvSpPr>
        <p:spPr>
          <a:xfrm>
            <a:off x="658368" y="5614416"/>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x5"/>
          <p:cNvSpPr txBox="1"/>
          <p:nvPr/>
        </p:nvSpPr>
        <p:spPr>
          <a:xfrm>
            <a:off x="658368" y="5637276"/>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4" name="!!pt5"/>
          <p:cNvSpPr txBox="1"/>
          <p:nvPr/>
        </p:nvSpPr>
        <p:spPr>
          <a:xfrm>
            <a:off x="1261872" y="5596128"/>
            <a:ext cx="10271455" cy="570585"/>
          </a:xfrm>
          <a:prstGeom prst="rect">
            <a:avLst/>
          </a:prstGeom>
          <a:noFill/>
        </p:spPr>
        <p:txBody>
          <a:bodyPr wrap="square" anchor="t" lIns="0" rIns="0" tIns="0" bIns="0">
            <a:noAutofit/>
          </a:bodyPr>
          <a:lstStyle/>
          <a:p>
            <a:pPr algn="l">
              <a:lnSpc>
                <a:spcPct val="104000"/>
              </a:lnSpc>
              <a:spcBef>
                <a:spcPts val="0"/>
              </a:spcBef>
              <a:spcAft>
                <a:spcPts val="0"/>
              </a:spcAft>
            </a:pPr>
            <a:r>
              <a:rPr sz="1800" b="1" i="0">
                <a:solidFill>
                  <a:srgbClr val="A93226"/>
                </a:solidFill>
                <a:latin typeface="Segoe UI"/>
              </a:rPr>
              <a:t>Judging by the transcript.</a:t>
            </a:r>
            <a:r>
              <a:rPr sz="1800" b="0" i="0">
                <a:solidFill>
                  <a:srgbClr val="1C252B"/>
                </a:solidFill>
                <a:latin typeface="Segoe UI"/>
              </a:rPr>
              <a:t> That is the Eliza effect, and it worked on people who had read Eliza’s source code.</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440976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3D85265D-1EAA-4967-AA1E-121F02862492}" type="slidenum">
              <a:rPr lang="en-GB" sz="1000">
                <a:solidFill>
                  <a:srgbClr val="8795A1"/>
                </a:solidFill>
                <a:latin typeface="Segoe UI"/>
              </a:rPr>
              <a:t>18</a:t>
            </a:fld>
          </a:p>
        </p:txBody>
      </p:sp>
      <p:sp>
        <p:nvSpPr>
          <p:cNvPr id="7" name="body-0"/>
          <p:cNvSpPr txBox="1"/>
          <p:nvPr/>
        </p:nvSpPr>
        <p:spPr>
          <a:xfrm>
            <a:off x="658368" y="1737360"/>
            <a:ext cx="10874959" cy="996696"/>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The loop of Figure 20.1, with Chapter 13’s rule engine where a language model would sit. Deterministic, offline, and fully traceable — which is what makes it possible to see what the loop contributes.</a:t>
            </a:r>
          </a:p>
        </p:txBody>
      </p:sp>
      <p:sp>
        <p:nvSpPr>
          <p:cNvPr id="8" name="!!labsteps-h"/>
          <p:cNvSpPr txBox="1"/>
          <p:nvPr/>
        </p:nvSpPr>
        <p:spPr>
          <a:xfrm>
            <a:off x="658368" y="29992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9" name="!!labsteps"/>
          <p:cNvSpPr txBox="1"/>
          <p:nvPr/>
        </p:nvSpPr>
        <p:spPr>
          <a:xfrm>
            <a:off x="658368" y="3383280"/>
            <a:ext cx="10874959" cy="1638300"/>
          </a:xfrm>
          <a:prstGeom prst="rect">
            <a:avLst/>
          </a:prstGeom>
          <a:noFill/>
        </p:spPr>
        <p:txBody>
          <a:bodyPr wrap="square" anchor="t" lIns="0" rIns="0" tIns="0" bIns="0">
            <a:noAutofit/>
          </a:bodyPr>
          <a:lstStyle/>
          <a:p>
            <a:pPr algn="l" marL="367434" indent="-367434">
              <a:lnSpc>
                <a:spcPct val="100000"/>
              </a:lnSpc>
              <a:spcBef>
                <a:spcPts val="0"/>
              </a:spcBef>
              <a:spcAft>
                <a:spcPts val="420"/>
              </a:spcAft>
            </a:pPr>
            <a:r>
              <a:rPr sz="1400" b="1">
                <a:solidFill>
                  <a:srgbClr val="117A65"/>
                </a:solidFill>
                <a:latin typeface="Segoe UI"/>
              </a:rPr>
              <a:t>1.	</a:t>
            </a:r>
            <a:r>
              <a:rPr sz="1400" b="0" i="0">
                <a:solidFill>
                  <a:srgbClr val="1C252B"/>
                </a:solidFill>
                <a:latin typeface="Segoe UI"/>
              </a:rPr>
              <a:t>The world the tools read</a:t>
            </a:r>
          </a:p>
          <a:p>
            <a:pPr algn="l" marL="367434" indent="-367434">
              <a:lnSpc>
                <a:spcPct val="100000"/>
              </a:lnSpc>
              <a:spcBef>
                <a:spcPts val="0"/>
              </a:spcBef>
              <a:spcAft>
                <a:spcPts val="420"/>
              </a:spcAft>
            </a:pPr>
            <a:r>
              <a:rPr sz="1400" b="1">
                <a:solidFill>
                  <a:srgbClr val="117A65"/>
                </a:solidFill>
                <a:latin typeface="Segoe UI"/>
              </a:rPr>
              <a:t>2.	</a:t>
            </a:r>
            <a:r>
              <a:rPr sz="1400" b="0" i="0">
                <a:solidFill>
                  <a:srgbClr val="1C252B"/>
                </a:solidFill>
                <a:latin typeface="Segoe UI"/>
              </a:rPr>
              <a:t>Three tools. Each is cheap, local and honest about failure</a:t>
            </a:r>
          </a:p>
          <a:p>
            <a:pPr algn="l" marL="367434" indent="-367434">
              <a:lnSpc>
                <a:spcPct val="100000"/>
              </a:lnSpc>
              <a:spcBef>
                <a:spcPts val="0"/>
              </a:spcBef>
              <a:spcAft>
                <a:spcPts val="420"/>
              </a:spcAft>
            </a:pPr>
            <a:r>
              <a:rPr sz="1400" b="1">
                <a:solidFill>
                  <a:srgbClr val="117A65"/>
                </a:solidFill>
                <a:latin typeface="Segoe UI"/>
              </a:rPr>
              <a:t>3.	</a:t>
            </a:r>
            <a:r>
              <a:rPr sz="1400" b="0" i="0">
                <a:solidFill>
                  <a:srgbClr val="1C252B"/>
                </a:solidFill>
                <a:latin typeface="Segoe UI"/>
              </a:rPr>
              <a:t>The decision procedure: Chapter 13's rule engine</a:t>
            </a:r>
          </a:p>
          <a:p>
            <a:pPr algn="l" marL="367434" indent="-367434">
              <a:lnSpc>
                <a:spcPct val="100000"/>
              </a:lnSpc>
              <a:spcBef>
                <a:spcPts val="0"/>
              </a:spcBef>
              <a:spcAft>
                <a:spcPts val="420"/>
              </a:spcAft>
            </a:pPr>
            <a:r>
              <a:rPr sz="1400" b="1">
                <a:solidFill>
                  <a:srgbClr val="117A65"/>
                </a:solidFill>
                <a:latin typeface="Segoe UI"/>
              </a:rPr>
              <a:t>4.	</a:t>
            </a:r>
            <a:r>
              <a:rPr sz="1400" b="0" i="0">
                <a:solidFill>
                  <a:srgbClr val="1C252B"/>
                </a:solidFill>
                <a:latin typeface="Segoe UI"/>
              </a:rPr>
              <a:t>A tool that fails, handled</a:t>
            </a:r>
          </a:p>
          <a:p>
            <a:pPr algn="l" marL="367434" indent="-367434">
              <a:lnSpc>
                <a:spcPct val="100000"/>
              </a:lnSpc>
              <a:spcBef>
                <a:spcPts val="0"/>
              </a:spcBef>
              <a:spcAft>
                <a:spcPts val="420"/>
              </a:spcAft>
            </a:pPr>
            <a:r>
              <a:rPr sz="1400" b="1">
                <a:solidFill>
                  <a:srgbClr val="117A65"/>
                </a:solidFill>
                <a:latin typeface="Segoe UI"/>
              </a:rPr>
              <a:t>5.	</a:t>
            </a:r>
            <a:r>
              <a:rPr sz="1400" b="0" i="0">
                <a:solidFill>
                  <a:srgbClr val="1C252B"/>
                </a:solidFill>
                <a:latin typeface="Segoe UI"/>
              </a:rPr>
              <a:t>And what happens without it</a:t>
            </a:r>
          </a:p>
          <a:p>
            <a:pPr algn="l" marL="367434" indent="-367434">
              <a:lnSpc>
                <a:spcPct val="100000"/>
              </a:lnSpc>
              <a:spcBef>
                <a:spcPts val="0"/>
              </a:spcBef>
              <a:spcAft>
                <a:spcPts val="0"/>
              </a:spcAft>
            </a:pPr>
            <a:r>
              <a:rPr sz="1400" b="1">
                <a:solidFill>
                  <a:srgbClr val="117A65"/>
                </a:solidFill>
                <a:latin typeface="Segoe UI"/>
              </a:rPr>
              <a:t>6.	</a:t>
            </a:r>
            <a:r>
              <a:rPr sz="1400" b="0" i="0">
                <a:solidFill>
                  <a:srgbClr val="1C252B"/>
                </a:solidFill>
                <a:latin typeface="Segoe UI"/>
              </a:rPr>
              <a:t>What is symbolic and what would be learned</a:t>
            </a:r>
          </a:p>
        </p:txBody>
      </p:sp>
      <p:sp>
        <p:nvSpPr>
          <p:cNvPr id="34" name="!!lfTHIS">
            <a:extLst>
              <a:ext uri="{C183D7F6-B498-43B3-948B-1728B52AA6E4}">
                <adec:decorative xmlns:adec="http://schemas.microsoft.com/office/drawing/2017/decorative" val="1"/>
              </a:ext>
            </a:extLst>
          </p:cNvPr>
          <p:cNvSpPr/>
          <p:nvPr/>
        </p:nvSpPr>
        <p:spPr>
          <a:xfrm>
            <a:off x="658368" y="5241036"/>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lfbTHIS">
            <a:extLst>
              <a:ext uri="{C183D7F6-B498-43B3-948B-1728B52AA6E4}">
                <adec:decorative xmlns:adec="http://schemas.microsoft.com/office/drawing/2017/decorative" val="1"/>
              </a:ext>
            </a:extLst>
          </p:cNvPr>
          <p:cNvSpPr/>
          <p:nvPr/>
        </p:nvSpPr>
        <p:spPr>
          <a:xfrm>
            <a:off x="658368" y="5241036"/>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lflTHIS"/>
          <p:cNvSpPr txBox="1"/>
          <p:nvPr/>
        </p:nvSpPr>
        <p:spPr>
          <a:xfrm>
            <a:off x="932688" y="5405628"/>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37" name="!!lfvTHIS"/>
          <p:cNvSpPr txBox="1"/>
          <p:nvPr/>
        </p:nvSpPr>
        <p:spPr>
          <a:xfrm>
            <a:off x="932688" y="5698236"/>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400" b="0" i="0">
                <a:solidFill>
                  <a:srgbClr val="1C252B"/>
                </a:solidFill>
                <a:latin typeface="Segoe UI"/>
              </a:rPr>
              <a:t>Week 16: A tool-using agent, offline; auditing the escalation rules</a:t>
            </a:r>
          </a:p>
        </p:txBody>
      </p:sp>
      <p:sp>
        <p:nvSpPr>
          <p:cNvPr id="38" name="!!lfWHAT">
            <a:extLst>
              <a:ext uri="{C183D7F6-B498-43B3-948B-1728B52AA6E4}">
                <adec:decorative xmlns:adec="http://schemas.microsoft.com/office/drawing/2017/decorative" val="1"/>
              </a:ext>
            </a:extLst>
          </p:cNvPr>
          <p:cNvSpPr/>
          <p:nvPr/>
        </p:nvSpPr>
        <p:spPr>
          <a:xfrm>
            <a:off x="4374794" y="5241036"/>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lfbWHAT">
            <a:extLst>
              <a:ext uri="{C183D7F6-B498-43B3-948B-1728B52AA6E4}">
                <adec:decorative xmlns:adec="http://schemas.microsoft.com/office/drawing/2017/decorative" val="1"/>
              </a:ext>
            </a:extLst>
          </p:cNvPr>
          <p:cNvSpPr/>
          <p:nvPr/>
        </p:nvSpPr>
        <p:spPr>
          <a:xfrm>
            <a:off x="4374794" y="5241036"/>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lflWHAT"/>
          <p:cNvSpPr txBox="1"/>
          <p:nvPr/>
        </p:nvSpPr>
        <p:spPr>
          <a:xfrm>
            <a:off x="4649114" y="5405628"/>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41" name="!!lfvWHAT"/>
          <p:cNvSpPr txBox="1"/>
          <p:nvPr/>
        </p:nvSpPr>
        <p:spPr>
          <a:xfrm>
            <a:off x="4649114" y="5698236"/>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183 lines of Python</a:t>
            </a:r>
          </a:p>
        </p:txBody>
      </p:sp>
      <p:sp>
        <p:nvSpPr>
          <p:cNvPr id="42" name="!!lfRUNN">
            <a:extLst>
              <a:ext uri="{C183D7F6-B498-43B3-948B-1728B52AA6E4}">
                <adec:decorative xmlns:adec="http://schemas.microsoft.com/office/drawing/2017/decorative" val="1"/>
              </a:ext>
            </a:extLst>
          </p:cNvPr>
          <p:cNvSpPr/>
          <p:nvPr/>
        </p:nvSpPr>
        <p:spPr>
          <a:xfrm>
            <a:off x="8091220" y="5241036"/>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lfbRUNN">
            <a:extLst>
              <a:ext uri="{C183D7F6-B498-43B3-948B-1728B52AA6E4}">
                <adec:decorative xmlns:adec="http://schemas.microsoft.com/office/drawing/2017/decorative" val="1"/>
              </a:ext>
            </a:extLst>
          </p:cNvPr>
          <p:cNvSpPr/>
          <p:nvPr/>
        </p:nvSpPr>
        <p:spPr>
          <a:xfrm>
            <a:off x="8091220" y="5241036"/>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lflRUNN"/>
          <p:cNvSpPr txBox="1"/>
          <p:nvPr/>
        </p:nvSpPr>
        <p:spPr>
          <a:xfrm>
            <a:off x="8365540" y="5405628"/>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45" name="!!lfvRUNN"/>
          <p:cNvSpPr txBox="1"/>
          <p:nvPr/>
        </p:nvSpPr>
        <p:spPr>
          <a:xfrm>
            <a:off x="8365540" y="5698236"/>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code/ch20_tool_using_agent.py</a:t>
            </a:r>
          </a:p>
        </p:txBody>
      </p:sp>
      <p:sp>
        <p:nvSpPr>
          <p:cNvPr id="4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pfill">
            <a:extLst>
              <a:ext uri="{C183D7F6-B498-43B3-948B-1728B52AA6E4}">
                <adec:decorative xmlns:adec="http://schemas.microsoft.com/office/drawing/2017/decorative" val="1"/>
              </a:ext>
            </a:extLst>
          </p:cNvPr>
          <p:cNvSpPr/>
          <p:nvPr/>
        </p:nvSpPr>
        <p:spPr>
          <a:xfrm>
            <a:off x="0" y="0"/>
            <a:ext cx="466915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xEl>
                                              <p:pRg st="0" end="0"/>
                                            </p:txEl>
                                          </p:spTgt>
                                        </p:tgtEl>
                                        <p:attrNameLst>
                                          <p:attrName>style.visibility</p:attrName>
                                        </p:attrNameLst>
                                      </p:cBhvr>
                                      <p:to>
                                        <p:strVal val="visible"/>
                                      </p:to>
                                    </p:set>
                                    <p:animEffect transition="in" filter="fade">
                                      <p:cBhvr>
                                        <p:cTn id="8" dur="300"/>
                                        <p:tgtEl>
                                          <p:spTgt spid="9">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9">
                                            <p:txEl>
                                              <p:pRg st="1" end="1"/>
                                            </p:txEl>
                                          </p:spTgt>
                                        </p:tgtEl>
                                        <p:attrNameLst>
                                          <p:attrName>style.visibility</p:attrName>
                                        </p:attrNameLst>
                                      </p:cBhvr>
                                      <p:to>
                                        <p:strVal val="visible"/>
                                      </p:to>
                                    </p:set>
                                    <p:animEffect transition="in" filter="fade">
                                      <p:cBhvr>
                                        <p:cTn id="13" dur="300"/>
                                        <p:tgtEl>
                                          <p:spTgt spid="9">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9">
                                            <p:txEl>
                                              <p:pRg st="2" end="2"/>
                                            </p:txEl>
                                          </p:spTgt>
                                        </p:tgtEl>
                                        <p:attrNameLst>
                                          <p:attrName>style.visibility</p:attrName>
                                        </p:attrNameLst>
                                      </p:cBhvr>
                                      <p:to>
                                        <p:strVal val="visible"/>
                                      </p:to>
                                    </p:set>
                                    <p:animEffect transition="in" filter="fade">
                                      <p:cBhvr>
                                        <p:cTn id="18" dur="300"/>
                                        <p:tgtEl>
                                          <p:spTgt spid="9">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9">
                                            <p:txEl>
                                              <p:pRg st="3" end="3"/>
                                            </p:txEl>
                                          </p:spTgt>
                                        </p:tgtEl>
                                        <p:attrNameLst>
                                          <p:attrName>style.visibility</p:attrName>
                                        </p:attrNameLst>
                                      </p:cBhvr>
                                      <p:to>
                                        <p:strVal val="visible"/>
                                      </p:to>
                                    </p:set>
                                    <p:animEffect transition="in" filter="fade">
                                      <p:cBhvr>
                                        <p:cTn id="23" dur="300"/>
                                        <p:tgtEl>
                                          <p:spTgt spid="9">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9">
                                            <p:txEl>
                                              <p:pRg st="4" end="4"/>
                                            </p:txEl>
                                          </p:spTgt>
                                        </p:tgtEl>
                                        <p:attrNameLst>
                                          <p:attrName>style.visibility</p:attrName>
                                        </p:attrNameLst>
                                      </p:cBhvr>
                                      <p:to>
                                        <p:strVal val="visible"/>
                                      </p:to>
                                    </p:set>
                                    <p:animEffect transition="in" filter="fade">
                                      <p:cBhvr>
                                        <p:cTn id="28" dur="300"/>
                                        <p:tgtEl>
                                          <p:spTgt spid="9">
                                            <p:txEl>
                                              <p:pRg st="4" end="4"/>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9">
                                            <p:txEl>
                                              <p:pRg st="5" end="5"/>
                                            </p:txEl>
                                          </p:spTgt>
                                        </p:tgtEl>
                                        <p:attrNameLst>
                                          <p:attrName>style.visibility</p:attrName>
                                        </p:attrNameLst>
                                      </p:cBhvr>
                                      <p:to>
                                        <p:strVal val="visible"/>
                                      </p:to>
                                    </p:set>
                                    <p:animEffect transition="in" filter="fade">
                                      <p:cBhvr>
                                        <p:cTn id="33" dur="300"/>
                                        <p:tgtEl>
                                          <p:spTgt spid="9">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build="p"/>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39474DCF-B322-4720-B158-7FCB7D382842}" type="slidenum">
              <a:rPr lang="en-GB" sz="1000">
                <a:solidFill>
                  <a:srgbClr val="8795A1"/>
                </a:solidFill>
                <a:latin typeface="Segoe UI"/>
              </a:rPr>
              <a:t>19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041903"/>
          </a:xfrm>
          <a:prstGeom prst="roundRect">
            <a:avLst>
              <a:gd name="adj" fmla="val 300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code/ch20_tool_using_agent.py</a:t>
            </a:r>
          </a:p>
        </p:txBody>
      </p:sp>
      <p:sp>
        <p:nvSpPr>
          <p:cNvPr id="14" name="!!code-text" descr="&quot;&quot;&quot;Chapter 20 lab -- a tool-using agent with no model in it. The architecture of a modern agent: a goal, a set of tools, a loop that decides what to call next, a step budget and a termination test. The decision procedure here is Chapter 13's rule engine rather than a language model, so every run is reproducible and every step has a reason. No network, no API, no randomness. &quot;&quot;&quot;"/>
          <p:cNvSpPr txBox="1"/>
          <p:nvPr/>
        </p:nvSpPr>
        <p:spPr>
          <a:xfrm>
            <a:off x="1362456" y="2523744"/>
            <a:ext cx="9987991" cy="2548127"/>
          </a:xfrm>
          <a:prstGeom prst="rect">
            <a:avLst/>
          </a:prstGeom>
          <a:noFill/>
        </p:spPr>
        <p:txBody>
          <a:bodyPr wrap="none" anchor="t" lIns="0" rIns="0" tIns="0" bIns="0">
            <a:noAutofit/>
          </a:bodyPr>
          <a:lstStyle/>
          <a:p>
            <a:pPr>
              <a:lnSpc>
                <a:spcPct val="100000"/>
              </a:lnSpc>
              <a:spcAft>
                <a:spcPts val="0"/>
              </a:spcAft>
            </a:pPr>
            <a:r>
              <a:rPr sz="2000" i="0">
                <a:solidFill>
                  <a:srgbClr val="7DCEA0"/>
                </a:solidFill>
                <a:latin typeface="Consolas"/>
              </a:rPr>
              <a:t>"""Chapter 20 lab -- a tool-using agent with no model in it.</a:t>
            </a:r>
          </a:p>
          <a:p>
            <a:pPr>
              <a:lnSpc>
                <a:spcPct val="100000"/>
              </a:lnSpc>
              <a:spcAft>
                <a:spcPts val="0"/>
              </a:spcAft>
            </a:pPr>
            <a:r>
              <a:rPr sz="2000">
                <a:latin typeface="Consolas"/>
              </a:rPr>
              <a:t> </a:t>
            </a:r>
          </a:p>
          <a:p>
            <a:pPr>
              <a:lnSpc>
                <a:spcPct val="100000"/>
              </a:lnSpc>
              <a:spcAft>
                <a:spcPts val="0"/>
              </a:spcAft>
            </a:pPr>
            <a:r>
              <a:rPr sz="2000" i="0">
                <a:solidFill>
                  <a:srgbClr val="7DCEA0"/>
                </a:solidFill>
                <a:latin typeface="Consolas"/>
              </a:rPr>
              <a:t>The architecture of a modern agent: a goal, a set of tools, a loop</a:t>
            </a:r>
          </a:p>
          <a:p>
            <a:pPr>
              <a:lnSpc>
                <a:spcPct val="100000"/>
              </a:lnSpc>
              <a:spcAft>
                <a:spcPts val="0"/>
              </a:spcAft>
            </a:pPr>
            <a:r>
              <a:rPr sz="2000" i="0">
                <a:solidFill>
                  <a:srgbClr val="7DCEA0"/>
                </a:solidFill>
                <a:latin typeface="Consolas"/>
              </a:rPr>
              <a:t>that decides what to call next, a step budget and a termination test.</a:t>
            </a:r>
          </a:p>
          <a:p>
            <a:pPr>
              <a:lnSpc>
                <a:spcPct val="100000"/>
              </a:lnSpc>
              <a:spcAft>
                <a:spcPts val="0"/>
              </a:spcAft>
            </a:pPr>
            <a:r>
              <a:rPr sz="2000" i="0">
                <a:solidFill>
                  <a:srgbClr val="7DCEA0"/>
                </a:solidFill>
                <a:latin typeface="Consolas"/>
              </a:rPr>
              <a:t>The decision procedure here is Chapter 13's rule engine rather than a</a:t>
            </a:r>
          </a:p>
          <a:p>
            <a:pPr>
              <a:lnSpc>
                <a:spcPct val="100000"/>
              </a:lnSpc>
              <a:spcAft>
                <a:spcPts val="0"/>
              </a:spcAft>
            </a:pPr>
            <a:r>
              <a:rPr sz="2000" i="0">
                <a:solidFill>
                  <a:srgbClr val="7DCEA0"/>
                </a:solidFill>
                <a:latin typeface="Consolas"/>
              </a:rPr>
              <a:t>language model, so every run is reproducible and every step has a</a:t>
            </a:r>
          </a:p>
          <a:p>
            <a:pPr>
              <a:lnSpc>
                <a:spcPct val="100000"/>
              </a:lnSpc>
              <a:spcAft>
                <a:spcPts val="0"/>
              </a:spcAft>
            </a:pPr>
            <a:r>
              <a:rPr sz="2000" i="0">
                <a:solidFill>
                  <a:srgbClr val="7DCEA0"/>
                </a:solidFill>
                <a:latin typeface="Consolas"/>
              </a:rPr>
              <a:t>reason. No network, no API, no randomness.</a:t>
            </a:r>
          </a:p>
          <a:p>
            <a:pPr>
              <a:lnSpc>
                <a:spcPct val="100000"/>
              </a:lnSpc>
              <a:spcAft>
                <a:spcPts val="0"/>
              </a:spcAft>
            </a:pPr>
            <a:r>
              <a:rPr sz="2000" i="0">
                <a:solidFill>
                  <a:srgbClr val="7DCEA0"/>
                </a:solidFill>
                <a:latin typeface="Consolas"/>
              </a:rPr>
              <a:t>"""</a:t>
            </a:r>
          </a:p>
        </p:txBody>
      </p:sp>
      <p:sp>
        <p:nvSpPr>
          <p:cNvPr id="15" name="!!code-num"/>
          <p:cNvSpPr txBox="1"/>
          <p:nvPr/>
        </p:nvSpPr>
        <p:spPr>
          <a:xfrm>
            <a:off x="768096" y="2523744"/>
            <a:ext cx="393192" cy="25481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a:p>
            <a:pPr algn="r">
              <a:lnSpc>
                <a:spcPct val="100000"/>
              </a:lnSpc>
            </a:pPr>
            <a:r>
              <a:rPr sz="2000">
                <a:solidFill>
                  <a:srgbClr val="4F5D6A"/>
                </a:solidFill>
                <a:latin typeface="Consolas"/>
              </a:rPr>
              <a:t>7</a:t>
            </a:r>
          </a:p>
          <a:p>
            <a:pPr algn="r">
              <a:lnSpc>
                <a:spcPct val="100000"/>
              </a:lnSpc>
            </a:pPr>
            <a:r>
              <a:rPr sz="2000">
                <a:solidFill>
                  <a:srgbClr val="4F5D6A"/>
                </a:solidFill>
                <a:latin typeface="Consolas"/>
              </a:rPr>
              <a:t>8</a:t>
            </a:r>
          </a:p>
          <a:p>
            <a:pPr algn="r">
              <a:lnSpc>
                <a:spcPct val="100000"/>
              </a:lnSpc>
            </a:pPr>
            <a:r>
              <a:rPr sz="2000">
                <a:solidFill>
                  <a:srgbClr val="4F5D6A"/>
                </a:solidFill>
                <a:latin typeface="Consolas"/>
              </a:rPr>
              <a:t>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492855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071D52E2-BBC2-4B30-99BA-EBF6A537E55F}" type="slidenum">
              <a:rPr lang="en-GB" sz="1000">
                <a:solidFill>
                  <a:srgbClr val="8795A1"/>
                </a:solidFill>
                <a:latin typeface="Segoe UI"/>
              </a:rPr>
              <a:t>20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world the tools read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630424"/>
          </a:xfrm>
          <a:prstGeom prst="roundRect">
            <a:avLst>
              <a:gd name="adj" fmla="val 34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code/ch20_tool_using_agent.py</a:t>
            </a:r>
          </a:p>
        </p:txBody>
      </p:sp>
      <p:sp>
        <p:nvSpPr>
          <p:cNvPr id="14" name="!!code-text" descr="# ---- the world the tools read -------------------------------------- TASKS = { &quot;auth-refresh&quot;: {&quot;points&quot;: 5, &quot;depends&quot;: [&quot;schema-change&quot;]}, &quot;schema-change&quot;: {&quot;points&quot;: 3, &quot;depends&quot;: []}, &quot;ui-polish&quot;: {&quot;points&quot;: 2, &quot;depends&quot;: []}, } SPRINT_CAPACITY = 8"/>
          <p:cNvSpPr txBox="1"/>
          <p:nvPr/>
        </p:nvSpPr>
        <p:spPr>
          <a:xfrm>
            <a:off x="1362456" y="2523744"/>
            <a:ext cx="9987991" cy="2136648"/>
          </a:xfrm>
          <a:prstGeom prst="rect">
            <a:avLst/>
          </a:prstGeom>
          <a:noFill/>
        </p:spPr>
        <p:txBody>
          <a:bodyPr wrap="none" anchor="t" lIns="0" rIns="0" tIns="0" bIns="0">
            <a:noAutofit/>
          </a:bodyPr>
          <a:lstStyle/>
          <a:p>
            <a:pPr>
              <a:lnSpc>
                <a:spcPct val="100000"/>
              </a:lnSpc>
              <a:spcAft>
                <a:spcPts val="0"/>
              </a:spcAft>
            </a:pPr>
            <a:r>
              <a:rPr sz="1900" i="1">
                <a:solidFill>
                  <a:srgbClr val="8795A1"/>
                </a:solidFill>
                <a:latin typeface="Consolas"/>
              </a:rPr>
              <a:t># ---- the world the tools read --------------------------------------</a:t>
            </a:r>
          </a:p>
          <a:p>
            <a:pPr>
              <a:lnSpc>
                <a:spcPct val="100000"/>
              </a:lnSpc>
              <a:spcAft>
                <a:spcPts val="0"/>
              </a:spcAft>
            </a:pPr>
            <a:r>
              <a:rPr sz="1900" i="0">
                <a:solidFill>
                  <a:srgbClr val="E8EDF2"/>
                </a:solidFill>
                <a:latin typeface="Consolas"/>
              </a:rPr>
              <a:t>TASKS</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auth-refresh</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points</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5</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depends</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schema-change</a:t>
            </a:r>
            <a:r>
              <a:rPr sz="1900" i="0">
                <a:solidFill>
                  <a:srgbClr val="7DCEA0"/>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schema-change</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points</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3</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depends</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ui-polish</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points</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2</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depends</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AEB6BF"/>
                </a:solidFill>
                <a:latin typeface="Consolas"/>
              </a:rPr>
              <a:t>}</a:t>
            </a:r>
          </a:p>
          <a:p>
            <a:pPr>
              <a:lnSpc>
                <a:spcPct val="100000"/>
              </a:lnSpc>
              <a:spcAft>
                <a:spcPts val="0"/>
              </a:spcAft>
            </a:pPr>
            <a:r>
              <a:rPr sz="1900" i="0">
                <a:solidFill>
                  <a:srgbClr val="E8EDF2"/>
                </a:solidFill>
                <a:latin typeface="Consolas"/>
              </a:rPr>
              <a:t>SPRINT_CAPACITY</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F7DC6F"/>
                </a:solidFill>
                <a:latin typeface="Consolas"/>
              </a:rPr>
              <a:t>8</a:t>
            </a:r>
          </a:p>
        </p:txBody>
      </p:sp>
      <p:sp>
        <p:nvSpPr>
          <p:cNvPr id="15" name="!!code-num"/>
          <p:cNvSpPr txBox="1"/>
          <p:nvPr/>
        </p:nvSpPr>
        <p:spPr>
          <a:xfrm>
            <a:off x="768096" y="2523744"/>
            <a:ext cx="393192" cy="213664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11</a:t>
            </a:r>
          </a:p>
          <a:p>
            <a:pPr algn="r">
              <a:lnSpc>
                <a:spcPct val="100000"/>
              </a:lnSpc>
            </a:pPr>
            <a:r>
              <a:rPr sz="1900">
                <a:solidFill>
                  <a:srgbClr val="4F5D6A"/>
                </a:solidFill>
                <a:latin typeface="Consolas"/>
              </a:rPr>
              <a:t>12</a:t>
            </a:r>
          </a:p>
          <a:p>
            <a:pPr algn="r">
              <a:lnSpc>
                <a:spcPct val="100000"/>
              </a:lnSpc>
            </a:pPr>
            <a:r>
              <a:rPr sz="1900">
                <a:solidFill>
                  <a:srgbClr val="4F5D6A"/>
                </a:solidFill>
                <a:latin typeface="Consolas"/>
              </a:rPr>
              <a:t>13</a:t>
            </a:r>
          </a:p>
          <a:p>
            <a:pPr algn="r">
              <a:lnSpc>
                <a:spcPct val="100000"/>
              </a:lnSpc>
            </a:pPr>
            <a:r>
              <a:rPr sz="1900">
                <a:solidFill>
                  <a:srgbClr val="4F5D6A"/>
                </a:solidFill>
                <a:latin typeface="Consolas"/>
              </a:rPr>
              <a:t>14</a:t>
            </a:r>
          </a:p>
          <a:p>
            <a:pPr algn="r">
              <a:lnSpc>
                <a:spcPct val="100000"/>
              </a:lnSpc>
            </a:pPr>
            <a:r>
              <a:rPr sz="1900">
                <a:solidFill>
                  <a:srgbClr val="4F5D6A"/>
                </a:solidFill>
                <a:latin typeface="Consolas"/>
              </a:rPr>
              <a:t>15</a:t>
            </a:r>
          </a:p>
          <a:p>
            <a:pPr algn="r">
              <a:lnSpc>
                <a:spcPct val="100000"/>
              </a:lnSpc>
            </a:pPr>
            <a:r>
              <a:rPr sz="1900">
                <a:solidFill>
                  <a:srgbClr val="4F5D6A"/>
                </a:solidFill>
                <a:latin typeface="Consolas"/>
              </a:rPr>
              <a:t>16</a:t>
            </a:r>
          </a:p>
          <a:p>
            <a:pPr algn="r">
              <a:lnSpc>
                <a:spcPct val="100000"/>
              </a:lnSpc>
            </a:pPr>
            <a:r>
              <a:rPr sz="1900">
                <a:solidFill>
                  <a:srgbClr val="4F5D6A"/>
                </a:solidFill>
                <a:latin typeface="Consolas"/>
              </a:rPr>
              <a:t>17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18795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CBC24968-6FB1-4943-B0D0-4A5F9AEFEFB9}" type="slidenum">
              <a:rPr lang="en-GB" sz="1000">
                <a:solidFill>
                  <a:srgbClr val="8795A1"/>
                </a:solidFill>
                <a:latin typeface="Segoe UI"/>
              </a:rPr>
              <a:t>21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Three tools. Each is cheap, local and honest about failure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code/ch20_tool_using_agent.py</a:t>
            </a:r>
          </a:p>
        </p:txBody>
      </p:sp>
      <p:sp>
        <p:nvSpPr>
          <p:cNvPr id="14" name="!!code-text" descr="# ---- three tools. Each is cheap, local and honest about failure ---- def tool_estimate(task): t = TASKS.get(task) return t[&quot;points&quot;] if t else None def tool_dependencies(task): t = TASKS.get(task) return list(t[&quot;depends&quot;]) if t else None def tool_capacity(_): return SPRINT_CAPACITY TOOLS = { &quot;estimate&quot;: tool_estimate, &quot;dependencies&quot;: tool_dependencies, &quot;capacity&quot;: tool_capacity, }"/>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1">
                <a:solidFill>
                  <a:srgbClr val="8795A1"/>
                </a:solidFill>
                <a:latin typeface="Consolas"/>
              </a:rPr>
              <a:t># ---- three tools. Each is cheap, local and honest about failure ----</a:t>
            </a:r>
          </a:p>
          <a:p>
            <a:pPr>
              <a:lnSpc>
                <a:spcPct val="100000"/>
              </a:lnSpc>
              <a:spcAft>
                <a:spcPts val="0"/>
              </a:spcAft>
            </a:pPr>
            <a:r>
              <a:rPr sz="1100" i="0">
                <a:solidFill>
                  <a:srgbClr val="5DADE2"/>
                </a:solidFill>
                <a:latin typeface="Consolas"/>
              </a:rPr>
              <a:t>def</a:t>
            </a:r>
            <a:r>
              <a:rPr sz="1100" i="0">
                <a:solidFill>
                  <a:srgbClr val="E8EDF2"/>
                </a:solidFill>
                <a:latin typeface="Consolas"/>
              </a:rPr>
              <a:t> </a:t>
            </a:r>
            <a:r>
              <a:rPr sz="1100" i="0">
                <a:solidFill>
                  <a:srgbClr val="C39BD3"/>
                </a:solidFill>
                <a:latin typeface="Consolas"/>
              </a:rPr>
              <a:t>tool_estimate</a:t>
            </a:r>
            <a:r>
              <a:rPr sz="1100" i="0">
                <a:solidFill>
                  <a:srgbClr val="AEB6BF"/>
                </a:solidFill>
                <a:latin typeface="Consolas"/>
              </a:rPr>
              <a:t>(</a:t>
            </a:r>
            <a:r>
              <a:rPr sz="1100" i="0">
                <a:solidFill>
                  <a:srgbClr val="E8EDF2"/>
                </a:solidFill>
                <a:latin typeface="Consolas"/>
              </a:rPr>
              <a:t>task</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TASKS</a:t>
            </a:r>
            <a:r>
              <a:rPr sz="1100" i="0">
                <a:solidFill>
                  <a:srgbClr val="AEB6BF"/>
                </a:solidFill>
                <a:latin typeface="Consolas"/>
              </a:rPr>
              <a:t>.</a:t>
            </a:r>
            <a:r>
              <a:rPr sz="1100" i="0">
                <a:solidFill>
                  <a:srgbClr val="E8EDF2"/>
                </a:solidFill>
                <a:latin typeface="Consolas"/>
              </a:rPr>
              <a:t>get</a:t>
            </a:r>
            <a:r>
              <a:rPr sz="1100" i="0">
                <a:solidFill>
                  <a:srgbClr val="AEB6BF"/>
                </a:solidFill>
                <a:latin typeface="Consolas"/>
              </a:rPr>
              <a:t>(</a:t>
            </a:r>
            <a:r>
              <a:rPr sz="1100" i="0">
                <a:solidFill>
                  <a:srgbClr val="E8EDF2"/>
                </a:solidFill>
                <a:latin typeface="Consolas"/>
              </a:rPr>
              <a:t>task</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E8EDF2"/>
                </a:solidFill>
                <a:latin typeface="Consolas"/>
              </a:rPr>
              <a:t>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points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t</a:t>
            </a:r>
            <a:r>
              <a:rPr sz="1100" i="0">
                <a:solidFill>
                  <a:srgbClr val="E8EDF2"/>
                </a:solidFill>
                <a:latin typeface="Consolas"/>
              </a:rPr>
              <a:t> </a:t>
            </a:r>
            <a:r>
              <a:rPr sz="1100" i="0">
                <a:solidFill>
                  <a:srgbClr val="5DADE2"/>
                </a:solidFill>
                <a:latin typeface="Consolas"/>
              </a:rPr>
              <a:t>else</a:t>
            </a:r>
            <a:r>
              <a:rPr sz="1100" i="0">
                <a:solidFill>
                  <a:srgbClr val="E8EDF2"/>
                </a:solidFill>
                <a:latin typeface="Consolas"/>
              </a:rPr>
              <a:t> </a:t>
            </a:r>
            <a:r>
              <a:rPr sz="1100" i="0">
                <a:solidFill>
                  <a:srgbClr val="5DADE2"/>
                </a:solidFill>
                <a:latin typeface="Consolas"/>
              </a:rPr>
              <a:t>None</a:t>
            </a:r>
          </a:p>
          <a:p>
            <a:pPr>
              <a:lnSpc>
                <a:spcPct val="100000"/>
              </a:lnSpc>
              <a:spcAft>
                <a:spcPts val="0"/>
              </a:spcAft>
            </a:pPr>
            <a:r>
              <a:rPr sz="1100">
                <a:latin typeface="Consolas"/>
              </a:rPr>
              <a:t> </a:t>
            </a:r>
          </a:p>
          <a:p>
            <a:pPr>
              <a:lnSpc>
                <a:spcPct val="100000"/>
              </a:lnSpc>
              <a:spcAft>
                <a:spcPts val="0"/>
              </a:spcAft>
            </a:pPr>
            <a:r>
              <a:rPr sz="1100">
                <a:latin typeface="Consolas"/>
              </a:rPr>
              <a:t> </a:t>
            </a:r>
          </a:p>
          <a:p>
            <a:pPr>
              <a:lnSpc>
                <a:spcPct val="100000"/>
              </a:lnSpc>
              <a:spcAft>
                <a:spcPts val="0"/>
              </a:spcAft>
            </a:pPr>
            <a:r>
              <a:rPr sz="1100" i="0">
                <a:solidFill>
                  <a:srgbClr val="5DADE2"/>
                </a:solidFill>
                <a:latin typeface="Consolas"/>
              </a:rPr>
              <a:t>def</a:t>
            </a:r>
            <a:r>
              <a:rPr sz="1100" i="0">
                <a:solidFill>
                  <a:srgbClr val="E8EDF2"/>
                </a:solidFill>
                <a:latin typeface="Consolas"/>
              </a:rPr>
              <a:t> </a:t>
            </a:r>
            <a:r>
              <a:rPr sz="1100" i="0">
                <a:solidFill>
                  <a:srgbClr val="C39BD3"/>
                </a:solidFill>
                <a:latin typeface="Consolas"/>
              </a:rPr>
              <a:t>tool_dependencies</a:t>
            </a:r>
            <a:r>
              <a:rPr sz="1100" i="0">
                <a:solidFill>
                  <a:srgbClr val="AEB6BF"/>
                </a:solidFill>
                <a:latin typeface="Consolas"/>
              </a:rPr>
              <a:t>(</a:t>
            </a:r>
            <a:r>
              <a:rPr sz="1100" i="0">
                <a:solidFill>
                  <a:srgbClr val="E8EDF2"/>
                </a:solidFill>
                <a:latin typeface="Consolas"/>
              </a:rPr>
              <a:t>task</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TASKS</a:t>
            </a:r>
            <a:r>
              <a:rPr sz="1100" i="0">
                <a:solidFill>
                  <a:srgbClr val="AEB6BF"/>
                </a:solidFill>
                <a:latin typeface="Consolas"/>
              </a:rPr>
              <a:t>.</a:t>
            </a:r>
            <a:r>
              <a:rPr sz="1100" i="0">
                <a:solidFill>
                  <a:srgbClr val="E8EDF2"/>
                </a:solidFill>
                <a:latin typeface="Consolas"/>
              </a:rPr>
              <a:t>get</a:t>
            </a:r>
            <a:r>
              <a:rPr sz="1100" i="0">
                <a:solidFill>
                  <a:srgbClr val="AEB6BF"/>
                </a:solidFill>
                <a:latin typeface="Consolas"/>
              </a:rPr>
              <a:t>(</a:t>
            </a:r>
            <a:r>
              <a:rPr sz="1100" i="0">
                <a:solidFill>
                  <a:srgbClr val="E8EDF2"/>
                </a:solidFill>
                <a:latin typeface="Consolas"/>
              </a:rPr>
              <a:t>task</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C39BD3"/>
                </a:solidFill>
                <a:latin typeface="Consolas"/>
              </a:rPr>
              <a:t>list</a:t>
            </a:r>
            <a:r>
              <a:rPr sz="1100" i="0">
                <a:solidFill>
                  <a:srgbClr val="AEB6BF"/>
                </a:solidFill>
                <a:latin typeface="Consolas"/>
              </a:rPr>
              <a:t>(</a:t>
            </a:r>
            <a:r>
              <a:rPr sz="1100" i="0">
                <a:solidFill>
                  <a:srgbClr val="E8EDF2"/>
                </a:solidFill>
                <a:latin typeface="Consolas"/>
              </a:rPr>
              <a:t>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depends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t</a:t>
            </a:r>
            <a:r>
              <a:rPr sz="1100" i="0">
                <a:solidFill>
                  <a:srgbClr val="E8EDF2"/>
                </a:solidFill>
                <a:latin typeface="Consolas"/>
              </a:rPr>
              <a:t> </a:t>
            </a:r>
            <a:r>
              <a:rPr sz="1100" i="0">
                <a:solidFill>
                  <a:srgbClr val="5DADE2"/>
                </a:solidFill>
                <a:latin typeface="Consolas"/>
              </a:rPr>
              <a:t>else</a:t>
            </a:r>
            <a:r>
              <a:rPr sz="1100" i="0">
                <a:solidFill>
                  <a:srgbClr val="E8EDF2"/>
                </a:solidFill>
                <a:latin typeface="Consolas"/>
              </a:rPr>
              <a:t> </a:t>
            </a:r>
            <a:r>
              <a:rPr sz="1100" i="0">
                <a:solidFill>
                  <a:srgbClr val="5DADE2"/>
                </a:solidFill>
                <a:latin typeface="Consolas"/>
              </a:rPr>
              <a:t>None</a:t>
            </a:r>
          </a:p>
          <a:p>
            <a:pPr>
              <a:lnSpc>
                <a:spcPct val="100000"/>
              </a:lnSpc>
              <a:spcAft>
                <a:spcPts val="0"/>
              </a:spcAft>
            </a:pPr>
            <a:r>
              <a:rPr sz="1100">
                <a:latin typeface="Consolas"/>
              </a:rPr>
              <a:t> </a:t>
            </a:r>
          </a:p>
          <a:p>
            <a:pPr>
              <a:lnSpc>
                <a:spcPct val="100000"/>
              </a:lnSpc>
              <a:spcAft>
                <a:spcPts val="0"/>
              </a:spcAft>
            </a:pPr>
            <a:r>
              <a:rPr sz="1100">
                <a:latin typeface="Consolas"/>
              </a:rPr>
              <a:t> </a:t>
            </a:r>
          </a:p>
          <a:p>
            <a:pPr>
              <a:lnSpc>
                <a:spcPct val="100000"/>
              </a:lnSpc>
              <a:spcAft>
                <a:spcPts val="0"/>
              </a:spcAft>
            </a:pPr>
            <a:r>
              <a:rPr sz="1100" i="0">
                <a:solidFill>
                  <a:srgbClr val="5DADE2"/>
                </a:solidFill>
                <a:latin typeface="Consolas"/>
              </a:rPr>
              <a:t>def</a:t>
            </a:r>
            <a:r>
              <a:rPr sz="1100" i="0">
                <a:solidFill>
                  <a:srgbClr val="E8EDF2"/>
                </a:solidFill>
                <a:latin typeface="Consolas"/>
              </a:rPr>
              <a:t> </a:t>
            </a:r>
            <a:r>
              <a:rPr sz="1100" i="0">
                <a:solidFill>
                  <a:srgbClr val="C39BD3"/>
                </a:solidFill>
                <a:latin typeface="Consolas"/>
              </a:rPr>
              <a:t>tool_capacity</a:t>
            </a:r>
            <a:r>
              <a:rPr sz="1100" i="0">
                <a:solidFill>
                  <a:srgbClr val="AEB6BF"/>
                </a:solidFill>
                <a:latin typeface="Consolas"/>
              </a:rPr>
              <a:t>(</a:t>
            </a:r>
            <a:r>
              <a:rPr sz="1100" i="0">
                <a:solidFill>
                  <a:srgbClr val="E8EDF2"/>
                </a:solidFill>
                <a:latin typeface="Consolas"/>
              </a:rPr>
              <a:t>_</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return</a:t>
            </a:r>
            <a:r>
              <a:rPr sz="1100" i="0">
                <a:solidFill>
                  <a:srgbClr val="E8EDF2"/>
                </a:solidFill>
                <a:latin typeface="Consolas"/>
              </a:rPr>
              <a:t> </a:t>
            </a:r>
            <a:r>
              <a:rPr sz="1100" i="0">
                <a:solidFill>
                  <a:srgbClr val="E8EDF2"/>
                </a:solidFill>
                <a:latin typeface="Consolas"/>
              </a:rPr>
              <a:t>SPRINT_CAPACITY</a:t>
            </a:r>
          </a:p>
          <a:p>
            <a:pPr>
              <a:lnSpc>
                <a:spcPct val="100000"/>
              </a:lnSpc>
              <a:spcAft>
                <a:spcPts val="0"/>
              </a:spcAft>
            </a:pPr>
            <a:r>
              <a:rPr sz="1100">
                <a:latin typeface="Consolas"/>
              </a:rPr>
              <a:t> </a:t>
            </a:r>
          </a:p>
          <a:p>
            <a:pPr>
              <a:lnSpc>
                <a:spcPct val="100000"/>
              </a:lnSpc>
              <a:spcAft>
                <a:spcPts val="0"/>
              </a:spcAft>
            </a:pPr>
            <a:r>
              <a:rPr sz="1100">
                <a:latin typeface="Consolas"/>
              </a:rPr>
              <a:t> </a:t>
            </a:r>
          </a:p>
          <a:p>
            <a:pPr>
              <a:lnSpc>
                <a:spcPct val="100000"/>
              </a:lnSpc>
              <a:spcAft>
                <a:spcPts val="0"/>
              </a:spcAft>
            </a:pPr>
            <a:r>
              <a:rPr sz="1100" i="0">
                <a:solidFill>
                  <a:srgbClr val="E8EDF2"/>
                </a:solidFill>
                <a:latin typeface="Consolas"/>
              </a:rPr>
              <a:t>TOOLS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estimate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tool_estimate</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dependencies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tool_dependencies</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capacity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tool_capacity</a:t>
            </a:r>
            <a:r>
              <a:rPr sz="1100" i="0">
                <a:solidFill>
                  <a:srgbClr val="AEB6BF"/>
                </a:solidFill>
                <a:latin typeface="Consolas"/>
              </a:rPr>
              <a:t>,</a:t>
            </a:r>
          </a:p>
          <a:p>
            <a:pPr>
              <a:lnSpc>
                <a:spcPct val="100000"/>
              </a:lnSpc>
              <a:spcAft>
                <a:spcPts val="0"/>
              </a:spcAft>
            </a:pPr>
            <a:r>
              <a:rPr sz="11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20</a:t>
            </a:r>
          </a:p>
          <a:p>
            <a:pPr algn="r">
              <a:lnSpc>
                <a:spcPct val="100000"/>
              </a:lnSpc>
            </a:pPr>
            <a:r>
              <a:rPr sz="1100">
                <a:solidFill>
                  <a:srgbClr val="4F5D6A"/>
                </a:solidFill>
                <a:latin typeface="Consolas"/>
              </a:rPr>
              <a:t>21</a:t>
            </a:r>
          </a:p>
          <a:p>
            <a:pPr algn="r">
              <a:lnSpc>
                <a:spcPct val="100000"/>
              </a:lnSpc>
            </a:pPr>
            <a:r>
              <a:rPr sz="1100">
                <a:solidFill>
                  <a:srgbClr val="4F5D6A"/>
                </a:solidFill>
                <a:latin typeface="Consolas"/>
              </a:rPr>
              <a:t>22</a:t>
            </a:r>
          </a:p>
          <a:p>
            <a:pPr algn="r">
              <a:lnSpc>
                <a:spcPct val="100000"/>
              </a:lnSpc>
            </a:pPr>
            <a:r>
              <a:rPr sz="1100">
                <a:solidFill>
                  <a:srgbClr val="4F5D6A"/>
                </a:solidFill>
                <a:latin typeface="Consolas"/>
              </a:rPr>
              <a:t>23</a:t>
            </a:r>
          </a:p>
          <a:p>
            <a:pPr algn="r">
              <a:lnSpc>
                <a:spcPct val="100000"/>
              </a:lnSpc>
            </a:pPr>
            <a:r>
              <a:rPr sz="1100">
                <a:solidFill>
                  <a:srgbClr val="4F5D6A"/>
                </a:solidFill>
                <a:latin typeface="Consolas"/>
              </a:rPr>
              <a:t>24</a:t>
            </a:r>
          </a:p>
          <a:p>
            <a:pPr algn="r">
              <a:lnSpc>
                <a:spcPct val="100000"/>
              </a:lnSpc>
            </a:pPr>
            <a:r>
              <a:rPr sz="1100">
                <a:solidFill>
                  <a:srgbClr val="4F5D6A"/>
                </a:solidFill>
                <a:latin typeface="Consolas"/>
              </a:rPr>
              <a:t>25</a:t>
            </a:r>
          </a:p>
          <a:p>
            <a:pPr algn="r">
              <a:lnSpc>
                <a:spcPct val="100000"/>
              </a:lnSpc>
            </a:pPr>
            <a:r>
              <a:rPr sz="1100">
                <a:solidFill>
                  <a:srgbClr val="4F5D6A"/>
                </a:solidFill>
                <a:latin typeface="Consolas"/>
              </a:rPr>
              <a:t>26</a:t>
            </a:r>
          </a:p>
          <a:p>
            <a:pPr algn="r">
              <a:lnSpc>
                <a:spcPct val="100000"/>
              </a:lnSpc>
            </a:pPr>
            <a:r>
              <a:rPr sz="1100">
                <a:solidFill>
                  <a:srgbClr val="4F5D6A"/>
                </a:solidFill>
                <a:latin typeface="Consolas"/>
              </a:rPr>
              <a:t>27</a:t>
            </a:r>
          </a:p>
          <a:p>
            <a:pPr algn="r">
              <a:lnSpc>
                <a:spcPct val="100000"/>
              </a:lnSpc>
            </a:pPr>
            <a:r>
              <a:rPr sz="1100">
                <a:solidFill>
                  <a:srgbClr val="4F5D6A"/>
                </a:solidFill>
                <a:latin typeface="Consolas"/>
              </a:rPr>
              <a:t>28</a:t>
            </a:r>
          </a:p>
          <a:p>
            <a:pPr algn="r">
              <a:lnSpc>
                <a:spcPct val="100000"/>
              </a:lnSpc>
            </a:pPr>
            <a:r>
              <a:rPr sz="1100">
                <a:solidFill>
                  <a:srgbClr val="4F5D6A"/>
                </a:solidFill>
                <a:latin typeface="Consolas"/>
              </a:rPr>
              <a:t>29</a:t>
            </a:r>
          </a:p>
          <a:p>
            <a:pPr algn="r">
              <a:lnSpc>
                <a:spcPct val="100000"/>
              </a:lnSpc>
            </a:pPr>
            <a:r>
              <a:rPr sz="1100">
                <a:solidFill>
                  <a:srgbClr val="4F5D6A"/>
                </a:solidFill>
                <a:latin typeface="Consolas"/>
              </a:rPr>
              <a:t>30</a:t>
            </a:r>
          </a:p>
          <a:p>
            <a:pPr algn="r">
              <a:lnSpc>
                <a:spcPct val="100000"/>
              </a:lnSpc>
            </a:pPr>
            <a:r>
              <a:rPr sz="1100">
                <a:solidFill>
                  <a:srgbClr val="4F5D6A"/>
                </a:solidFill>
                <a:latin typeface="Consolas"/>
              </a:rPr>
              <a:t>31</a:t>
            </a:r>
          </a:p>
          <a:p>
            <a:pPr algn="r">
              <a:lnSpc>
                <a:spcPct val="100000"/>
              </a:lnSpc>
            </a:pPr>
            <a:r>
              <a:rPr sz="1100">
                <a:solidFill>
                  <a:srgbClr val="4F5D6A"/>
                </a:solidFill>
                <a:latin typeface="Consolas"/>
              </a:rPr>
              <a:t>32</a:t>
            </a:r>
          </a:p>
          <a:p>
            <a:pPr algn="r">
              <a:lnSpc>
                <a:spcPct val="100000"/>
              </a:lnSpc>
            </a:pPr>
            <a:r>
              <a:rPr sz="1100">
                <a:solidFill>
                  <a:srgbClr val="4F5D6A"/>
                </a:solidFill>
                <a:latin typeface="Consolas"/>
              </a:rPr>
              <a:t>33</a:t>
            </a:r>
          </a:p>
          <a:p>
            <a:pPr algn="r">
              <a:lnSpc>
                <a:spcPct val="100000"/>
              </a:lnSpc>
            </a:pPr>
            <a:r>
              <a:rPr sz="1100">
                <a:solidFill>
                  <a:srgbClr val="4F5D6A"/>
                </a:solidFill>
                <a:latin typeface="Consolas"/>
              </a:rPr>
              <a:t>34</a:t>
            </a:r>
          </a:p>
          <a:p>
            <a:pPr algn="r">
              <a:lnSpc>
                <a:spcPct val="100000"/>
              </a:lnSpc>
            </a:pPr>
            <a:r>
              <a:rPr sz="1100">
                <a:solidFill>
                  <a:srgbClr val="4F5D6A"/>
                </a:solidFill>
                <a:latin typeface="Consolas"/>
              </a:rPr>
              <a:t>35</a:t>
            </a:r>
          </a:p>
          <a:p>
            <a:pPr algn="r">
              <a:lnSpc>
                <a:spcPct val="100000"/>
              </a:lnSpc>
            </a:pPr>
            <a:r>
              <a:rPr sz="1100">
                <a:solidFill>
                  <a:srgbClr val="4F5D6A"/>
                </a:solidFill>
                <a:latin typeface="Consolas"/>
              </a:rPr>
              <a:t>36</a:t>
            </a:r>
          </a:p>
          <a:p>
            <a:pPr algn="r">
              <a:lnSpc>
                <a:spcPct val="100000"/>
              </a:lnSpc>
            </a:pPr>
            <a:r>
              <a:rPr sz="1100">
                <a:solidFill>
                  <a:srgbClr val="4F5D6A"/>
                </a:solidFill>
                <a:latin typeface="Consolas"/>
              </a:rPr>
              <a:t>37</a:t>
            </a:r>
          </a:p>
          <a:p>
            <a:pPr algn="r">
              <a:lnSpc>
                <a:spcPct val="100000"/>
              </a:lnSpc>
            </a:pPr>
            <a:r>
              <a:rPr sz="1100">
                <a:solidFill>
                  <a:srgbClr val="4F5D6A"/>
                </a:solidFill>
                <a:latin typeface="Consolas"/>
              </a:rPr>
              <a:t>38</a:t>
            </a:r>
          </a:p>
          <a:p>
            <a:pPr algn="r">
              <a:lnSpc>
                <a:spcPct val="100000"/>
              </a:lnSpc>
            </a:pPr>
            <a:r>
              <a:rPr sz="1100">
                <a:solidFill>
                  <a:srgbClr val="4F5D6A"/>
                </a:solidFill>
                <a:latin typeface="Consolas"/>
              </a:rPr>
              <a:t>39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44735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CAA3CAD6-D201-4CD9-BEE2-BCD515736B88}" type="slidenum">
              <a:rPr lang="en-GB" sz="1000">
                <a:solidFill>
                  <a:srgbClr val="8795A1"/>
                </a:solidFill>
                <a:latin typeface="Segoe UI"/>
              </a:rPr>
              <a:t>22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decision procedure: Chapter 13's rule engine</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code/ch20_tool_using_agent.py</a:t>
            </a:r>
          </a:p>
        </p:txBody>
      </p:sp>
      <p:sp>
        <p:nvSpPr>
          <p:cNvPr id="14" name="!!code-text" descr="# ---- the decision procedure: Chapter 13's rule engine --------------- # (name, [conditions on what we know], action) # an action is (&quot;call&quot;, tool, argument) or (&quot;answer&quot;,) POLICY = [ (&quot;need-deps&quot;, lambda k: &quot;deps&quot; not in k, lambda k: (&quot;call&quot;, &quot;dependencies&quot;, k[&quot;goal&quot;])), # a tool can fail. A policy with no rule for that is the commonest # defect in deployed agents -- see the second experiment below. (&quot;unknown-task&quot;, lambda k: k.get(&quot;deps&quot;, []) is None, lambda k: (&quot;give-up&quot;,)), (&quot;need-dep-estimates&quot;, lambda k: k.get(&quot;deps&quot;) and any(d not in k[&quot;points&quot;] for d in k[&quot;deps&quot;]), lambda k: (&quot;call&quot;, &quot;estimate&quot;, next(d for d in k[&quot;deps&quot;] if d not in k[&quot;points&quot;]))), (&quot;need-own-estimate&quot;, lambda k: &quot;deps&quot; in k and k[&quot;goal&quot;] not in k[&quot;points&quot;], lambda k: (&quot;call&quot;, &quot;estimate&quot;, k[&quot;goal&quot;])),"/>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1">
                <a:solidFill>
                  <a:srgbClr val="8795A1"/>
                </a:solidFill>
                <a:latin typeface="Consolas"/>
              </a:rPr>
              <a:t># ---- the decision procedure: Chapter 13's rule engine ---------------</a:t>
            </a:r>
          </a:p>
          <a:p>
            <a:pPr>
              <a:lnSpc>
                <a:spcPct val="100000"/>
              </a:lnSpc>
              <a:spcAft>
                <a:spcPts val="0"/>
              </a:spcAft>
            </a:pPr>
            <a:r>
              <a:rPr sz="1100" i="1">
                <a:solidFill>
                  <a:srgbClr val="8795A1"/>
                </a:solidFill>
                <a:latin typeface="Consolas"/>
              </a:rPr>
              <a:t># (name, [conditions on what we know], action)</a:t>
            </a:r>
          </a:p>
          <a:p>
            <a:pPr>
              <a:lnSpc>
                <a:spcPct val="100000"/>
              </a:lnSpc>
              <a:spcAft>
                <a:spcPts val="0"/>
              </a:spcAft>
            </a:pPr>
            <a:r>
              <a:rPr sz="1100" i="1">
                <a:solidFill>
                  <a:srgbClr val="8795A1"/>
                </a:solidFill>
                <a:latin typeface="Consolas"/>
              </a:rPr>
              <a:t># an action is ("call", tool, argument) or ("answer",)</a:t>
            </a:r>
          </a:p>
          <a:p>
            <a:pPr>
              <a:lnSpc>
                <a:spcPct val="100000"/>
              </a:lnSpc>
              <a:spcAft>
                <a:spcPts val="0"/>
              </a:spcAft>
            </a:pPr>
            <a:r>
              <a:rPr sz="1100" i="0">
                <a:solidFill>
                  <a:srgbClr val="E8EDF2"/>
                </a:solidFill>
                <a:latin typeface="Consolas"/>
              </a:rPr>
              <a:t>POLICY</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need-deps</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lambda</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deps</a:t>
            </a:r>
            <a:r>
              <a:rPr sz="1100" i="0">
                <a:solidFill>
                  <a:srgbClr val="7DCEA0"/>
                </a:solidFill>
                <a:latin typeface="Consolas"/>
              </a:rPr>
              <a:t>"</a:t>
            </a:r>
            <a:r>
              <a:rPr sz="1100" i="0">
                <a:solidFill>
                  <a:srgbClr val="E8EDF2"/>
                </a:solidFill>
                <a:latin typeface="Consolas"/>
              </a:rPr>
              <a:t> </a:t>
            </a:r>
            <a:r>
              <a:rPr sz="1100" i="0">
                <a:solidFill>
                  <a:srgbClr val="AEB6BF"/>
                </a:solidFill>
                <a:latin typeface="Consolas"/>
              </a:rPr>
              <a:t>not</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lambda</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call</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dependencies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goal</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1">
                <a:solidFill>
                  <a:srgbClr val="8795A1"/>
                </a:solidFill>
                <a:latin typeface="Consolas"/>
              </a:rPr>
              <a:t># a tool can fail. A policy with no rule for that is the commonest</a:t>
            </a:r>
          </a:p>
          <a:p>
            <a:pPr>
              <a:lnSpc>
                <a:spcPct val="100000"/>
              </a:lnSpc>
              <a:spcAft>
                <a:spcPts val="0"/>
              </a:spcAft>
            </a:pPr>
            <a:r>
              <a:rPr sz="1100" i="0">
                <a:solidFill>
                  <a:srgbClr val="E8EDF2"/>
                </a:solidFill>
                <a:latin typeface="Consolas"/>
              </a:rPr>
              <a:t>    </a:t>
            </a:r>
            <a:r>
              <a:rPr sz="1100" i="1">
                <a:solidFill>
                  <a:srgbClr val="8795A1"/>
                </a:solidFill>
                <a:latin typeface="Consolas"/>
              </a:rPr>
              <a:t># defect in deployed agents -- see the second experiment below.</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unknown-task</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lambda</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get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deps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is</a:t>
            </a:r>
            <a:r>
              <a:rPr sz="1100" i="0">
                <a:solidFill>
                  <a:srgbClr val="E8EDF2"/>
                </a:solidFill>
                <a:latin typeface="Consolas"/>
              </a:rPr>
              <a:t> </a:t>
            </a:r>
            <a:r>
              <a:rPr sz="1100" i="0">
                <a:solidFill>
                  <a:srgbClr val="5DADE2"/>
                </a:solidFill>
                <a:latin typeface="Consolas"/>
              </a:rPr>
              <a:t>None</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lambda</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give-up</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need-dep-estimates</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lambda</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get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deps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and</a:t>
            </a:r>
            <a:r>
              <a:rPr sz="1100" i="0">
                <a:solidFill>
                  <a:srgbClr val="E8EDF2"/>
                </a:solidFill>
                <a:latin typeface="Consolas"/>
              </a:rPr>
              <a:t> </a:t>
            </a:r>
            <a:r>
              <a:rPr sz="1100" i="0">
                <a:solidFill>
                  <a:srgbClr val="C39BD3"/>
                </a:solidFill>
                <a:latin typeface="Consolas"/>
              </a:rPr>
              <a:t>any</a:t>
            </a:r>
            <a:r>
              <a:rPr sz="1100" i="0">
                <a:solidFill>
                  <a:srgbClr val="AEB6BF"/>
                </a:solidFill>
                <a:latin typeface="Consolas"/>
              </a:rPr>
              <a:t>(</a:t>
            </a:r>
            <a:r>
              <a:rPr sz="1100" i="0">
                <a:solidFill>
                  <a:srgbClr val="E8EDF2"/>
                </a:solidFill>
                <a:latin typeface="Consolas"/>
              </a:rPr>
              <a:t>d</a:t>
            </a:r>
            <a:r>
              <a:rPr sz="1100" i="0">
                <a:solidFill>
                  <a:srgbClr val="E8EDF2"/>
                </a:solidFill>
                <a:latin typeface="Consolas"/>
              </a:rPr>
              <a:t> </a:t>
            </a:r>
            <a:r>
              <a:rPr sz="1100" i="0">
                <a:solidFill>
                  <a:srgbClr val="AEB6BF"/>
                </a:solidFill>
                <a:latin typeface="Consolas"/>
              </a:rPr>
              <a:t>not</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points</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d</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deps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lambda</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call</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estimate</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next</a:t>
            </a:r>
            <a:r>
              <a:rPr sz="1100" i="0">
                <a:solidFill>
                  <a:srgbClr val="AEB6BF"/>
                </a:solidFill>
                <a:latin typeface="Consolas"/>
              </a:rPr>
              <a:t>(</a:t>
            </a:r>
            <a:r>
              <a:rPr sz="1100" i="0">
                <a:solidFill>
                  <a:srgbClr val="E8EDF2"/>
                </a:solidFill>
                <a:latin typeface="Consolas"/>
              </a:rPr>
              <a:t>d</a:t>
            </a:r>
            <a:r>
              <a:rPr sz="1100" i="0">
                <a:solidFill>
                  <a:srgbClr val="E8EDF2"/>
                </a:solidFill>
                <a:latin typeface="Consolas"/>
              </a:rPr>
              <a:t> </a:t>
            </a: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d</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deps</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5DADE2"/>
                </a:solidFill>
                <a:latin typeface="Consolas"/>
              </a:rPr>
              <a:t>if</a:t>
            </a:r>
            <a:r>
              <a:rPr sz="1100" i="0">
                <a:solidFill>
                  <a:srgbClr val="E8EDF2"/>
                </a:solidFill>
                <a:latin typeface="Consolas"/>
              </a:rPr>
              <a:t> </a:t>
            </a:r>
            <a:r>
              <a:rPr sz="1100" i="0">
                <a:solidFill>
                  <a:srgbClr val="E8EDF2"/>
                </a:solidFill>
                <a:latin typeface="Consolas"/>
              </a:rPr>
              <a:t>d</a:t>
            </a:r>
            <a:r>
              <a:rPr sz="1100" i="0">
                <a:solidFill>
                  <a:srgbClr val="E8EDF2"/>
                </a:solidFill>
                <a:latin typeface="Consolas"/>
              </a:rPr>
              <a:t> </a:t>
            </a:r>
            <a:r>
              <a:rPr sz="1100" i="0">
                <a:solidFill>
                  <a:srgbClr val="AEB6BF"/>
                </a:solidFill>
                <a:latin typeface="Consolas"/>
              </a:rPr>
              <a:t>not</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points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need-own-estimate</a:t>
            </a:r>
            <a:r>
              <a:rPr sz="1100" i="0">
                <a:solidFill>
                  <a:srgbClr val="7DCEA0"/>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lambda</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deps</a:t>
            </a:r>
            <a:r>
              <a:rPr sz="1100" i="0">
                <a:solidFill>
                  <a:srgbClr val="7DCEA0"/>
                </a:solidFill>
                <a:latin typeface="Consolas"/>
              </a:rPr>
              <a:t>"</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k</a:t>
            </a:r>
            <a:r>
              <a:rPr sz="1100" i="0">
                <a:solidFill>
                  <a:srgbClr val="E8EDF2"/>
                </a:solidFill>
                <a:latin typeface="Consolas"/>
              </a:rPr>
              <a:t> </a:t>
            </a:r>
            <a:r>
              <a:rPr sz="1100" i="0">
                <a:solidFill>
                  <a:srgbClr val="AEB6BF"/>
                </a:solidFill>
                <a:latin typeface="Consolas"/>
              </a:rPr>
              <a:t>and</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goal</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not</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points</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5DADE2"/>
                </a:solidFill>
                <a:latin typeface="Consolas"/>
              </a:rPr>
              <a:t>lambda</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call</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7DCEA0"/>
                </a:solidFill>
                <a:latin typeface="Consolas"/>
              </a:rPr>
              <a:t>"</a:t>
            </a:r>
            <a:r>
              <a:rPr sz="1100" i="0">
                <a:solidFill>
                  <a:srgbClr val="7DCEA0"/>
                </a:solidFill>
                <a:latin typeface="Consolas"/>
              </a:rPr>
              <a:t>estimate</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k</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goal</a:t>
            </a:r>
            <a:r>
              <a:rPr sz="1100" i="0">
                <a:solidFill>
                  <a:srgbClr val="7DCEA0"/>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42</a:t>
            </a:r>
          </a:p>
          <a:p>
            <a:pPr algn="r">
              <a:lnSpc>
                <a:spcPct val="100000"/>
              </a:lnSpc>
            </a:pPr>
            <a:r>
              <a:rPr sz="1100">
                <a:solidFill>
                  <a:srgbClr val="4F5D6A"/>
                </a:solidFill>
                <a:latin typeface="Consolas"/>
              </a:rPr>
              <a:t>43</a:t>
            </a:r>
          </a:p>
          <a:p>
            <a:pPr algn="r">
              <a:lnSpc>
                <a:spcPct val="100000"/>
              </a:lnSpc>
            </a:pPr>
            <a:r>
              <a:rPr sz="1100">
                <a:solidFill>
                  <a:srgbClr val="4F5D6A"/>
                </a:solidFill>
                <a:latin typeface="Consolas"/>
              </a:rPr>
              <a:t>44</a:t>
            </a:r>
          </a:p>
          <a:p>
            <a:pPr algn="r">
              <a:lnSpc>
                <a:spcPct val="100000"/>
              </a:lnSpc>
            </a:pPr>
            <a:r>
              <a:rPr sz="1100">
                <a:solidFill>
                  <a:srgbClr val="4F5D6A"/>
                </a:solidFill>
                <a:latin typeface="Consolas"/>
              </a:rPr>
              <a:t>45</a:t>
            </a:r>
          </a:p>
          <a:p>
            <a:pPr algn="r">
              <a:lnSpc>
                <a:spcPct val="100000"/>
              </a:lnSpc>
            </a:pPr>
            <a:r>
              <a:rPr sz="1100">
                <a:solidFill>
                  <a:srgbClr val="4F5D6A"/>
                </a:solidFill>
                <a:latin typeface="Consolas"/>
              </a:rPr>
              <a:t>46</a:t>
            </a:r>
          </a:p>
          <a:p>
            <a:pPr algn="r">
              <a:lnSpc>
                <a:spcPct val="100000"/>
              </a:lnSpc>
            </a:pPr>
            <a:r>
              <a:rPr sz="1100">
                <a:solidFill>
                  <a:srgbClr val="4F5D6A"/>
                </a:solidFill>
                <a:latin typeface="Consolas"/>
              </a:rPr>
              <a:t>47</a:t>
            </a:r>
          </a:p>
          <a:p>
            <a:pPr algn="r">
              <a:lnSpc>
                <a:spcPct val="100000"/>
              </a:lnSpc>
            </a:pPr>
            <a:r>
              <a:rPr sz="1100">
                <a:solidFill>
                  <a:srgbClr val="4F5D6A"/>
                </a:solidFill>
                <a:latin typeface="Consolas"/>
              </a:rPr>
              <a:t>48</a:t>
            </a:r>
          </a:p>
          <a:p>
            <a:pPr algn="r">
              <a:lnSpc>
                <a:spcPct val="100000"/>
              </a:lnSpc>
            </a:pPr>
            <a:r>
              <a:rPr sz="1100">
                <a:solidFill>
                  <a:srgbClr val="4F5D6A"/>
                </a:solidFill>
                <a:latin typeface="Consolas"/>
              </a:rPr>
              <a:t>49</a:t>
            </a:r>
          </a:p>
          <a:p>
            <a:pPr algn="r">
              <a:lnSpc>
                <a:spcPct val="100000"/>
              </a:lnSpc>
            </a:pPr>
            <a:r>
              <a:rPr sz="1100">
                <a:solidFill>
                  <a:srgbClr val="4F5D6A"/>
                </a:solidFill>
                <a:latin typeface="Consolas"/>
              </a:rPr>
              <a:t>50</a:t>
            </a:r>
          </a:p>
          <a:p>
            <a:pPr algn="r">
              <a:lnSpc>
                <a:spcPct val="100000"/>
              </a:lnSpc>
            </a:pPr>
            <a:r>
              <a:rPr sz="1100">
                <a:solidFill>
                  <a:srgbClr val="4F5D6A"/>
                </a:solidFill>
                <a:latin typeface="Consolas"/>
              </a:rPr>
              <a:t>51</a:t>
            </a:r>
          </a:p>
          <a:p>
            <a:pPr algn="r">
              <a:lnSpc>
                <a:spcPct val="100000"/>
              </a:lnSpc>
            </a:pPr>
            <a:r>
              <a:rPr sz="1100">
                <a:solidFill>
                  <a:srgbClr val="4F5D6A"/>
                </a:solidFill>
                <a:latin typeface="Consolas"/>
              </a:rPr>
              <a:t>52</a:t>
            </a:r>
          </a:p>
          <a:p>
            <a:pPr algn="r">
              <a:lnSpc>
                <a:spcPct val="100000"/>
              </a:lnSpc>
            </a:pPr>
            <a:r>
              <a:rPr sz="1100">
                <a:solidFill>
                  <a:srgbClr val="4F5D6A"/>
                </a:solidFill>
                <a:latin typeface="Consolas"/>
              </a:rPr>
              <a:t>53</a:t>
            </a:r>
          </a:p>
          <a:p>
            <a:pPr algn="r">
              <a:lnSpc>
                <a:spcPct val="100000"/>
              </a:lnSpc>
            </a:pPr>
            <a:r>
              <a:rPr sz="1100">
                <a:solidFill>
                  <a:srgbClr val="4F5D6A"/>
                </a:solidFill>
                <a:latin typeface="Consolas"/>
              </a:rPr>
              <a:t>54</a:t>
            </a:r>
          </a:p>
          <a:p>
            <a:pPr algn="r">
              <a:lnSpc>
                <a:spcPct val="100000"/>
              </a:lnSpc>
            </a:pPr>
            <a:r>
              <a:rPr sz="1100">
                <a:solidFill>
                  <a:srgbClr val="4F5D6A"/>
                </a:solidFill>
                <a:latin typeface="Consolas"/>
              </a:rPr>
              <a:t>55</a:t>
            </a:r>
          </a:p>
          <a:p>
            <a:pPr algn="r">
              <a:lnSpc>
                <a:spcPct val="100000"/>
              </a:lnSpc>
            </a:pPr>
            <a:r>
              <a:rPr sz="1100">
                <a:solidFill>
                  <a:srgbClr val="4F5D6A"/>
                </a:solidFill>
                <a:latin typeface="Consolas"/>
              </a:rPr>
              <a:t>56</a:t>
            </a:r>
          </a:p>
          <a:p>
            <a:pPr algn="r">
              <a:lnSpc>
                <a:spcPct val="100000"/>
              </a:lnSpc>
            </a:pPr>
            <a:r>
              <a:rPr sz="1100">
                <a:solidFill>
                  <a:srgbClr val="4F5D6A"/>
                </a:solidFill>
                <a:latin typeface="Consolas"/>
              </a:rPr>
              <a:t>57</a:t>
            </a:r>
          </a:p>
          <a:p>
            <a:pPr algn="r">
              <a:lnSpc>
                <a:spcPct val="100000"/>
              </a:lnSpc>
            </a:pPr>
            <a:r>
              <a:rPr sz="1100">
                <a:solidFill>
                  <a:srgbClr val="4F5D6A"/>
                </a:solidFill>
                <a:latin typeface="Consolas"/>
              </a:rPr>
              <a:t>58</a:t>
            </a:r>
          </a:p>
          <a:p>
            <a:pPr algn="r">
              <a:lnSpc>
                <a:spcPct val="100000"/>
              </a:lnSpc>
            </a:pPr>
            <a:r>
              <a:rPr sz="1100">
                <a:solidFill>
                  <a:srgbClr val="4F5D6A"/>
                </a:solidFill>
                <a:latin typeface="Consolas"/>
              </a:rPr>
              <a:t>59</a:t>
            </a:r>
          </a:p>
          <a:p>
            <a:pPr algn="r">
              <a:lnSpc>
                <a:spcPct val="100000"/>
              </a:lnSpc>
            </a:pPr>
            <a:r>
              <a:rPr sz="1100">
                <a:solidFill>
                  <a:srgbClr val="4F5D6A"/>
                </a:solidFill>
                <a:latin typeface="Consolas"/>
              </a:rPr>
              <a:t>60</a:t>
            </a:r>
          </a:p>
          <a:p>
            <a:pPr algn="r">
              <a:lnSpc>
                <a:spcPct val="100000"/>
              </a:lnSpc>
            </a:pPr>
            <a:r>
              <a:rPr sz="1100">
                <a:solidFill>
                  <a:srgbClr val="4F5D6A"/>
                </a:solidFill>
                <a:latin typeface="Consolas"/>
              </a:rPr>
              <a:t>61</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70675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5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8FAFDAA3-3F57-4700-9CB4-3336093E83B3}" type="slidenum">
              <a:rPr lang="en-GB" sz="1000">
                <a:solidFill>
                  <a:srgbClr val="8795A1"/>
                </a:solidFill>
                <a:latin typeface="Segoe UI"/>
              </a:rPr>
              <a:t>23</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decision procedure: Chapter 13's rule engine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346703"/>
          </a:xfrm>
          <a:prstGeom prst="roundRect">
            <a:avLst>
              <a:gd name="adj" fmla="val 273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code/ch20_tool_using_agent.py</a:t>
            </a:r>
          </a:p>
        </p:txBody>
      </p:sp>
      <p:sp>
        <p:nvSpPr>
          <p:cNvPr id="14" name="!!code-text" descr="(&quot;need-capacity&quot;, lambda k: &quot;capacity&quot; not in k, lambda k: (&quot;call&quot;, &quot;capacity&quot;, None)), (&quot;have-everything&quot;, lambda k: True, lambda k: (&quot;answer&quot;,)), ] BUDGET = 8"/>
          <p:cNvSpPr txBox="1"/>
          <p:nvPr/>
        </p:nvSpPr>
        <p:spPr>
          <a:xfrm>
            <a:off x="1362456" y="2523744"/>
            <a:ext cx="9987991" cy="2852927"/>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need-capacity</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lambda</a:t>
            </a:r>
            <a:r>
              <a:rPr sz="2000" i="0">
                <a:solidFill>
                  <a:srgbClr val="E8EDF2"/>
                </a:solidFill>
                <a:latin typeface="Consolas"/>
              </a:rPr>
              <a:t> </a:t>
            </a:r>
            <a:r>
              <a:rPr sz="2000" i="0">
                <a:solidFill>
                  <a:srgbClr val="E8EDF2"/>
                </a:solidFill>
                <a:latin typeface="Consolas"/>
              </a:rPr>
              <a:t>k</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capacity</a:t>
            </a:r>
            <a:r>
              <a:rPr sz="2000" i="0">
                <a:solidFill>
                  <a:srgbClr val="7DCEA0"/>
                </a:solidFill>
                <a:latin typeface="Consolas"/>
              </a:rPr>
              <a:t>"</a:t>
            </a:r>
            <a:r>
              <a:rPr sz="2000" i="0">
                <a:solidFill>
                  <a:srgbClr val="E8EDF2"/>
                </a:solidFill>
                <a:latin typeface="Consolas"/>
              </a:rPr>
              <a:t> </a:t>
            </a:r>
            <a:r>
              <a:rPr sz="2000" i="0">
                <a:solidFill>
                  <a:srgbClr val="AEB6BF"/>
                </a:solidFill>
                <a:latin typeface="Consolas"/>
              </a:rPr>
              <a:t>not</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k</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lambda</a:t>
            </a:r>
            <a:r>
              <a:rPr sz="2000" i="0">
                <a:solidFill>
                  <a:srgbClr val="E8EDF2"/>
                </a:solidFill>
                <a:latin typeface="Consolas"/>
              </a:rPr>
              <a:t> </a:t>
            </a:r>
            <a:r>
              <a:rPr sz="2000" i="0">
                <a:solidFill>
                  <a:srgbClr val="E8EDF2"/>
                </a:solidFill>
                <a:latin typeface="Consolas"/>
              </a:rPr>
              <a:t>k</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call</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capacity</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None</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have-everything</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lambda</a:t>
            </a:r>
            <a:r>
              <a:rPr sz="2000" i="0">
                <a:solidFill>
                  <a:srgbClr val="E8EDF2"/>
                </a:solidFill>
                <a:latin typeface="Consolas"/>
              </a:rPr>
              <a:t> </a:t>
            </a:r>
            <a:r>
              <a:rPr sz="2000" i="0">
                <a:solidFill>
                  <a:srgbClr val="E8EDF2"/>
                </a:solidFill>
                <a:latin typeface="Consolas"/>
              </a:rPr>
              <a:t>k</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True</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lambda</a:t>
            </a:r>
            <a:r>
              <a:rPr sz="2000" i="0">
                <a:solidFill>
                  <a:srgbClr val="E8EDF2"/>
                </a:solidFill>
                <a:latin typeface="Consolas"/>
              </a:rPr>
              <a:t> </a:t>
            </a:r>
            <a:r>
              <a:rPr sz="2000" i="0">
                <a:solidFill>
                  <a:srgbClr val="E8EDF2"/>
                </a:solidFill>
                <a:latin typeface="Consolas"/>
              </a:rPr>
              <a:t>k</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answer</a:t>
            </a:r>
            <a:r>
              <a:rPr sz="2000" i="0">
                <a:solidFill>
                  <a:srgbClr val="7DCEA0"/>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AEB6BF"/>
                </a:solidFill>
                <a:latin typeface="Consolas"/>
              </a:rPr>
              <a:t>]</a:t>
            </a:r>
          </a:p>
          <a:p>
            <a:pPr>
              <a:lnSpc>
                <a:spcPct val="100000"/>
              </a:lnSpc>
              <a:spcAft>
                <a:spcPts val="0"/>
              </a:spcAft>
            </a:pPr>
            <a:r>
              <a:rPr sz="2000">
                <a:latin typeface="Consolas"/>
              </a:rPr>
              <a:t> </a:t>
            </a:r>
          </a:p>
          <a:p>
            <a:pPr>
              <a:lnSpc>
                <a:spcPct val="100000"/>
              </a:lnSpc>
              <a:spcAft>
                <a:spcPts val="0"/>
              </a:spcAft>
            </a:pPr>
            <a:r>
              <a:rPr sz="2000" i="0">
                <a:solidFill>
                  <a:srgbClr val="E8EDF2"/>
                </a:solidFill>
                <a:latin typeface="Consolas"/>
              </a:rPr>
              <a:t>BUDGET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F7DC6F"/>
                </a:solidFill>
                <a:latin typeface="Consolas"/>
              </a:rPr>
              <a:t>8</a:t>
            </a:r>
          </a:p>
        </p:txBody>
      </p:sp>
      <p:sp>
        <p:nvSpPr>
          <p:cNvPr id="15" name="!!code-num"/>
          <p:cNvSpPr txBox="1"/>
          <p:nvPr/>
        </p:nvSpPr>
        <p:spPr>
          <a:xfrm>
            <a:off x="768096" y="2523744"/>
            <a:ext cx="393192" cy="2852927"/>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62</a:t>
            </a:r>
          </a:p>
          <a:p>
            <a:pPr algn="r">
              <a:lnSpc>
                <a:spcPct val="100000"/>
              </a:lnSpc>
            </a:pPr>
            <a:r>
              <a:rPr sz="2000">
                <a:solidFill>
                  <a:srgbClr val="4F5D6A"/>
                </a:solidFill>
                <a:latin typeface="Consolas"/>
              </a:rPr>
              <a:t>63</a:t>
            </a:r>
          </a:p>
          <a:p>
            <a:pPr algn="r">
              <a:lnSpc>
                <a:spcPct val="100000"/>
              </a:lnSpc>
            </a:pPr>
            <a:r>
              <a:rPr sz="2000">
                <a:solidFill>
                  <a:srgbClr val="4F5D6A"/>
                </a:solidFill>
                <a:latin typeface="Consolas"/>
              </a:rPr>
              <a:t>64</a:t>
            </a:r>
          </a:p>
          <a:p>
            <a:pPr algn="r">
              <a:lnSpc>
                <a:spcPct val="100000"/>
              </a:lnSpc>
            </a:pPr>
            <a:r>
              <a:rPr sz="2000">
                <a:solidFill>
                  <a:srgbClr val="4F5D6A"/>
                </a:solidFill>
                <a:latin typeface="Consolas"/>
              </a:rPr>
              <a:t>65</a:t>
            </a:r>
          </a:p>
          <a:p>
            <a:pPr algn="r">
              <a:lnSpc>
                <a:spcPct val="100000"/>
              </a:lnSpc>
            </a:pPr>
            <a:r>
              <a:rPr sz="2000">
                <a:solidFill>
                  <a:srgbClr val="4F5D6A"/>
                </a:solidFill>
                <a:latin typeface="Consolas"/>
              </a:rPr>
              <a:t>66</a:t>
            </a:r>
          </a:p>
          <a:p>
            <a:pPr algn="r">
              <a:lnSpc>
                <a:spcPct val="100000"/>
              </a:lnSpc>
            </a:pPr>
            <a:r>
              <a:rPr sz="2000">
                <a:solidFill>
                  <a:srgbClr val="4F5D6A"/>
                </a:solidFill>
                <a:latin typeface="Consolas"/>
              </a:rPr>
              <a:t>67</a:t>
            </a:r>
          </a:p>
          <a:p>
            <a:pPr algn="r">
              <a:lnSpc>
                <a:spcPct val="100000"/>
              </a:lnSpc>
            </a:pPr>
            <a:r>
              <a:rPr sz="2000">
                <a:solidFill>
                  <a:srgbClr val="4F5D6A"/>
                </a:solidFill>
                <a:latin typeface="Consolas"/>
              </a:rPr>
              <a:t>68</a:t>
            </a:r>
          </a:p>
          <a:p>
            <a:pPr algn="r">
              <a:lnSpc>
                <a:spcPct val="100000"/>
              </a:lnSpc>
            </a:pPr>
            <a:r>
              <a:rPr sz="2000">
                <a:solidFill>
                  <a:srgbClr val="4F5D6A"/>
                </a:solidFill>
                <a:latin typeface="Consolas"/>
              </a:rPr>
              <a:t>69</a:t>
            </a:r>
          </a:p>
          <a:p>
            <a:pPr algn="r">
              <a:lnSpc>
                <a:spcPct val="100000"/>
              </a:lnSpc>
            </a:pPr>
            <a:r>
              <a:rPr sz="2000">
                <a:solidFill>
                  <a:srgbClr val="4F5D6A"/>
                </a:solidFill>
                <a:latin typeface="Consolas"/>
              </a:rPr>
              <a:t>70</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596614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6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4EDFF9E5-98F7-4B3D-B642-0704C55B5B43}" type="slidenum">
              <a:rPr lang="en-GB" sz="1000">
                <a:solidFill>
                  <a:srgbClr val="8795A1"/>
                </a:solidFill>
                <a:latin typeface="Segoe UI"/>
              </a:rPr>
              <a:t>24</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decision procedure: Chapter 13's rule engine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432304"/>
          </a:xfrm>
          <a:prstGeom prst="roundRect">
            <a:avLst>
              <a:gd name="adj" fmla="val 375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code/ch20_tool_using_agent.py</a:t>
            </a:r>
          </a:p>
        </p:txBody>
      </p:sp>
      <p:sp>
        <p:nvSpPr>
          <p:cNvPr id="14" name="!!code-text" descr="def agent(goal, policy=None, trace=True): &quot;&quot;&quot;The loop of Figure 20.1. Keeps state, holds a goal, selects actions -- Chapter 2's model-based, goal-based agent.&quot;&quot;&quot; policy = POLICY if policy is None else policy known = {&quot;goal&quot;: goal, &quot;points&quot;: {}} steps = []"/>
          <p:cNvSpPr txBox="1"/>
          <p:nvPr/>
        </p:nvSpPr>
        <p:spPr>
          <a:xfrm>
            <a:off x="1362456" y="2523744"/>
            <a:ext cx="9987991" cy="19385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def</a:t>
            </a:r>
            <a:r>
              <a:rPr sz="2000" i="0">
                <a:solidFill>
                  <a:srgbClr val="E8EDF2"/>
                </a:solidFill>
                <a:latin typeface="Consolas"/>
              </a:rPr>
              <a:t> </a:t>
            </a:r>
            <a:r>
              <a:rPr sz="2000" i="0">
                <a:solidFill>
                  <a:srgbClr val="C39BD3"/>
                </a:solidFill>
                <a:latin typeface="Consolas"/>
              </a:rPr>
              <a:t>agent</a:t>
            </a:r>
            <a:r>
              <a:rPr sz="2000" i="0">
                <a:solidFill>
                  <a:srgbClr val="AEB6BF"/>
                </a:solidFill>
                <a:latin typeface="Consolas"/>
              </a:rPr>
              <a:t>(</a:t>
            </a:r>
            <a:r>
              <a:rPr sz="2000" i="0">
                <a:solidFill>
                  <a:srgbClr val="E8EDF2"/>
                </a:solidFill>
                <a:latin typeface="Consolas"/>
              </a:rPr>
              <a:t>goal</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policy</a:t>
            </a:r>
            <a:r>
              <a:rPr sz="2000" i="0">
                <a:solidFill>
                  <a:srgbClr val="AEB6BF"/>
                </a:solidFill>
                <a:latin typeface="Consolas"/>
              </a:rPr>
              <a:t>=</a:t>
            </a:r>
            <a:r>
              <a:rPr sz="2000" i="0">
                <a:solidFill>
                  <a:srgbClr val="5DADE2"/>
                </a:solidFill>
                <a:latin typeface="Consolas"/>
              </a:rPr>
              <a:t>None</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trace</a:t>
            </a:r>
            <a:r>
              <a:rPr sz="2000" i="0">
                <a:solidFill>
                  <a:srgbClr val="AEB6BF"/>
                </a:solidFill>
                <a:latin typeface="Consolas"/>
              </a:rPr>
              <a:t>=</a:t>
            </a:r>
            <a:r>
              <a:rPr sz="2000" i="0">
                <a:solidFill>
                  <a:srgbClr val="5DADE2"/>
                </a:solidFill>
                <a:latin typeface="Consolas"/>
              </a:rPr>
              <a:t>True</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7DCEA0"/>
                </a:solidFill>
                <a:latin typeface="Consolas"/>
              </a:rPr>
              <a:t>"""The loop of Figure 20.1. Keeps state, holds a goal, selects</a:t>
            </a:r>
          </a:p>
          <a:p>
            <a:pPr>
              <a:lnSpc>
                <a:spcPct val="100000"/>
              </a:lnSpc>
              <a:spcAft>
                <a:spcPts val="0"/>
              </a:spcAft>
            </a:pPr>
            <a:r>
              <a:rPr sz="2000" i="0">
                <a:solidFill>
                  <a:srgbClr val="7DCEA0"/>
                </a:solidFill>
                <a:latin typeface="Consolas"/>
              </a:rPr>
              <a:t>    actions -- Chapter 2's model-based, goal-based agent."""</a:t>
            </a:r>
          </a:p>
          <a:p>
            <a:pPr>
              <a:lnSpc>
                <a:spcPct val="100000"/>
              </a:lnSpc>
              <a:spcAft>
                <a:spcPts val="0"/>
              </a:spcAft>
            </a:pPr>
            <a:r>
              <a:rPr sz="2000" i="0">
                <a:solidFill>
                  <a:srgbClr val="E8EDF2"/>
                </a:solidFill>
                <a:latin typeface="Consolas"/>
              </a:rPr>
              <a:t>    </a:t>
            </a:r>
            <a:r>
              <a:rPr sz="2000" i="0">
                <a:solidFill>
                  <a:srgbClr val="E8EDF2"/>
                </a:solidFill>
                <a:latin typeface="Consolas"/>
              </a:rPr>
              <a:t>policy</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POLICY</a:t>
            </a:r>
            <a:r>
              <a:rPr sz="2000" i="0">
                <a:solidFill>
                  <a:srgbClr val="E8EDF2"/>
                </a:solidFill>
                <a:latin typeface="Consolas"/>
              </a:rPr>
              <a:t> </a:t>
            </a:r>
            <a:r>
              <a:rPr sz="2000" i="0">
                <a:solidFill>
                  <a:srgbClr val="5DADE2"/>
                </a:solidFill>
                <a:latin typeface="Consolas"/>
              </a:rPr>
              <a:t>if</a:t>
            </a:r>
            <a:r>
              <a:rPr sz="2000" i="0">
                <a:solidFill>
                  <a:srgbClr val="E8EDF2"/>
                </a:solidFill>
                <a:latin typeface="Consolas"/>
              </a:rPr>
              <a:t> </a:t>
            </a:r>
            <a:r>
              <a:rPr sz="2000" i="0">
                <a:solidFill>
                  <a:srgbClr val="E8EDF2"/>
                </a:solidFill>
                <a:latin typeface="Consolas"/>
              </a:rPr>
              <a:t>policy</a:t>
            </a:r>
            <a:r>
              <a:rPr sz="2000" i="0">
                <a:solidFill>
                  <a:srgbClr val="E8EDF2"/>
                </a:solidFill>
                <a:latin typeface="Consolas"/>
              </a:rPr>
              <a:t> </a:t>
            </a:r>
            <a:r>
              <a:rPr sz="2000" i="0">
                <a:solidFill>
                  <a:srgbClr val="AEB6BF"/>
                </a:solidFill>
                <a:latin typeface="Consolas"/>
              </a:rPr>
              <a:t>is</a:t>
            </a:r>
            <a:r>
              <a:rPr sz="2000" i="0">
                <a:solidFill>
                  <a:srgbClr val="E8EDF2"/>
                </a:solidFill>
                <a:latin typeface="Consolas"/>
              </a:rPr>
              <a:t> </a:t>
            </a:r>
            <a:r>
              <a:rPr sz="2000" i="0">
                <a:solidFill>
                  <a:srgbClr val="5DADE2"/>
                </a:solidFill>
                <a:latin typeface="Consolas"/>
              </a:rPr>
              <a:t>None</a:t>
            </a:r>
            <a:r>
              <a:rPr sz="2000" i="0">
                <a:solidFill>
                  <a:srgbClr val="E8EDF2"/>
                </a:solidFill>
                <a:latin typeface="Consolas"/>
              </a:rPr>
              <a:t> </a:t>
            </a:r>
            <a:r>
              <a:rPr sz="2000" i="0">
                <a:solidFill>
                  <a:srgbClr val="5DADE2"/>
                </a:solidFill>
                <a:latin typeface="Consolas"/>
              </a:rPr>
              <a:t>else</a:t>
            </a:r>
            <a:r>
              <a:rPr sz="2000" i="0">
                <a:solidFill>
                  <a:srgbClr val="E8EDF2"/>
                </a:solidFill>
                <a:latin typeface="Consolas"/>
              </a:rPr>
              <a:t> </a:t>
            </a:r>
            <a:r>
              <a:rPr sz="2000" i="0">
                <a:solidFill>
                  <a:srgbClr val="E8EDF2"/>
                </a:solidFill>
                <a:latin typeface="Consolas"/>
              </a:rPr>
              <a:t>policy</a:t>
            </a:r>
          </a:p>
          <a:p>
            <a:pPr>
              <a:lnSpc>
                <a:spcPct val="100000"/>
              </a:lnSpc>
              <a:spcAft>
                <a:spcPts val="0"/>
              </a:spcAft>
            </a:pPr>
            <a:r>
              <a:rPr sz="2000" i="0">
                <a:solidFill>
                  <a:srgbClr val="E8EDF2"/>
                </a:solidFill>
                <a:latin typeface="Consolas"/>
              </a:rPr>
              <a:t>    </a:t>
            </a:r>
            <a:r>
              <a:rPr sz="2000" i="0">
                <a:solidFill>
                  <a:srgbClr val="E8EDF2"/>
                </a:solidFill>
                <a:latin typeface="Consolas"/>
              </a:rPr>
              <a:t>known</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goal</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goal</a:t>
            </a:r>
            <a:r>
              <a:rPr sz="2000" i="0">
                <a:solidFill>
                  <a:srgbClr val="AEB6BF"/>
                </a:solidFill>
                <a:latin typeface="Consolas"/>
              </a:rPr>
              <a:t>,</a:t>
            </a:r>
            <a:r>
              <a:rPr sz="2000" i="0">
                <a:solidFill>
                  <a:srgbClr val="E8EDF2"/>
                </a:solidFill>
                <a:latin typeface="Consolas"/>
              </a:rPr>
              <a:t> </a:t>
            </a:r>
            <a:r>
              <a:rPr sz="2000" i="0">
                <a:solidFill>
                  <a:srgbClr val="7DCEA0"/>
                </a:solidFill>
                <a:latin typeface="Consolas"/>
              </a:rPr>
              <a:t>"</a:t>
            </a:r>
            <a:r>
              <a:rPr sz="2000" i="0">
                <a:solidFill>
                  <a:srgbClr val="7DCEA0"/>
                </a:solidFill>
                <a:latin typeface="Consolas"/>
              </a:rPr>
              <a:t>points</a:t>
            </a:r>
            <a:r>
              <a:rPr sz="2000" i="0">
                <a:solidFill>
                  <a:srgbClr val="7DCEA0"/>
                </a:solidFill>
                <a:latin typeface="Consolas"/>
              </a:rPr>
              <a:t>"</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E8EDF2"/>
                </a:solidFill>
                <a:latin typeface="Consolas"/>
              </a:rPr>
              <a:t>steps</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AEB6BF"/>
                </a:solidFill>
                <a:latin typeface="Consolas"/>
              </a:rPr>
              <a:t>]</a:t>
            </a:r>
          </a:p>
        </p:txBody>
      </p:sp>
      <p:sp>
        <p:nvSpPr>
          <p:cNvPr id="15" name="!!code-num"/>
          <p:cNvSpPr txBox="1"/>
          <p:nvPr/>
        </p:nvSpPr>
        <p:spPr>
          <a:xfrm>
            <a:off x="768096" y="2523744"/>
            <a:ext cx="393192" cy="19385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73</a:t>
            </a:r>
          </a:p>
          <a:p>
            <a:pPr algn="r">
              <a:lnSpc>
                <a:spcPct val="100000"/>
              </a:lnSpc>
            </a:pPr>
            <a:r>
              <a:rPr sz="2000">
                <a:solidFill>
                  <a:srgbClr val="4F5D6A"/>
                </a:solidFill>
                <a:latin typeface="Consolas"/>
              </a:rPr>
              <a:t>74</a:t>
            </a:r>
          </a:p>
          <a:p>
            <a:pPr algn="r">
              <a:lnSpc>
                <a:spcPct val="100000"/>
              </a:lnSpc>
            </a:pPr>
            <a:r>
              <a:rPr sz="2000">
                <a:solidFill>
                  <a:srgbClr val="4F5D6A"/>
                </a:solidFill>
                <a:latin typeface="Consolas"/>
              </a:rPr>
              <a:t>75</a:t>
            </a:r>
          </a:p>
          <a:p>
            <a:pPr algn="r">
              <a:lnSpc>
                <a:spcPct val="100000"/>
              </a:lnSpc>
            </a:pPr>
            <a:r>
              <a:rPr sz="2000">
                <a:solidFill>
                  <a:srgbClr val="4F5D6A"/>
                </a:solidFill>
                <a:latin typeface="Consolas"/>
              </a:rPr>
              <a:t>76</a:t>
            </a:r>
          </a:p>
          <a:p>
            <a:pPr algn="r">
              <a:lnSpc>
                <a:spcPct val="100000"/>
              </a:lnSpc>
            </a:pPr>
            <a:r>
              <a:rPr sz="2000">
                <a:solidFill>
                  <a:srgbClr val="4F5D6A"/>
                </a:solidFill>
                <a:latin typeface="Consolas"/>
              </a:rPr>
              <a:t>77</a:t>
            </a:r>
          </a:p>
          <a:p>
            <a:pPr algn="r">
              <a:lnSpc>
                <a:spcPct val="100000"/>
              </a:lnSpc>
            </a:pPr>
            <a:r>
              <a:rPr sz="2000">
                <a:solidFill>
                  <a:srgbClr val="4F5D6A"/>
                </a:solidFill>
                <a:latin typeface="Consolas"/>
              </a:rPr>
              <a:t>78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22554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7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DE4A2C55-0F5B-4D94-8DA1-24FAE3F36643}" type="slidenum">
              <a:rPr lang="en-GB" sz="1000">
                <a:solidFill>
                  <a:srgbClr val="8795A1"/>
                </a:solidFill>
                <a:latin typeface="Segoe UI"/>
              </a:rPr>
              <a:t>25</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decision procedure: Chapter 13's rule engine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3"/>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code/ch20_tool_using_agent.py</a:t>
            </a:r>
          </a:p>
        </p:txBody>
      </p:sp>
      <p:sp>
        <p:nvSpPr>
          <p:cNvPr id="14" name="!!code-text" descr="for step in range(1, BUDGET + 1): # MATCH and RESOLVE: first rule whose conditions hold action, name = None, None for (nm, cond, act) in policy: if cond(known): action, name = act(known), nm break if action is None: return None, steps, &quot;no rule applies&quot; if action[0] == &quot;answer&quot;: steps.append((step, name, &quot;answer&quot;, None)) break if action[0] == &quot;give-up&quot;: steps.append((step, name, &quot;give up&quot;, None)) return None, steps, &quot;unknown task: %s&quot; % goal _, tool, arg = action result = TOOLS[tool](arg) steps.append((step, name, &quot;%s(%s)&quot; % (tool, arg), result))"/>
          <p:cNvSpPr txBox="1"/>
          <p:nvPr/>
        </p:nvSpPr>
        <p:spPr>
          <a:xfrm>
            <a:off x="1362456" y="2523744"/>
            <a:ext cx="9987991" cy="367588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E8EDF2"/>
                </a:solidFill>
                <a:latin typeface="Consolas"/>
              </a:rPr>
              <a:t>step</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C39BD3"/>
                </a:solidFill>
                <a:latin typeface="Consolas"/>
              </a:rPr>
              <a:t>range</a:t>
            </a:r>
            <a:r>
              <a:rPr sz="1300" i="0">
                <a:solidFill>
                  <a:srgbClr val="AEB6BF"/>
                </a:solidFill>
                <a:latin typeface="Consolas"/>
              </a:rPr>
              <a:t>(</a:t>
            </a:r>
            <a:r>
              <a:rPr sz="1300" i="0">
                <a:solidFill>
                  <a:srgbClr val="F7DC6F"/>
                </a:solidFill>
                <a:latin typeface="Consolas"/>
              </a:rPr>
              <a:t>1</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BUDGET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F7DC6F"/>
                </a:solidFill>
                <a:latin typeface="Consolas"/>
              </a:rPr>
              <a:t>1</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1">
                <a:solidFill>
                  <a:srgbClr val="8795A1"/>
                </a:solidFill>
                <a:latin typeface="Consolas"/>
              </a:rPr>
              <a:t># MATCH and RESOLVE: first rule whose conditions hold</a:t>
            </a:r>
          </a:p>
          <a:p>
            <a:pPr>
              <a:lnSpc>
                <a:spcPct val="100000"/>
              </a:lnSpc>
              <a:spcAft>
                <a:spcPts val="0"/>
              </a:spcAft>
            </a:pPr>
            <a:r>
              <a:rPr sz="1300" i="0">
                <a:solidFill>
                  <a:srgbClr val="E8EDF2"/>
                </a:solidFill>
                <a:latin typeface="Consolas"/>
              </a:rPr>
              <a:t>        </a:t>
            </a:r>
            <a:r>
              <a:rPr sz="1300" i="0">
                <a:solidFill>
                  <a:srgbClr val="E8EDF2"/>
                </a:solidFill>
                <a:latin typeface="Consolas"/>
              </a:rPr>
              <a:t>action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name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None</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None</a:t>
            </a:r>
          </a:p>
          <a:p>
            <a:pPr>
              <a:lnSpc>
                <a:spcPct val="100000"/>
              </a:lnSpc>
              <a:spcAft>
                <a:spcPts val="0"/>
              </a:spcAft>
            </a:pPr>
            <a:r>
              <a:rPr sz="1300" i="0">
                <a:solidFill>
                  <a:srgbClr val="E8EDF2"/>
                </a:solidFill>
                <a:latin typeface="Consolas"/>
              </a:rPr>
              <a:t>        </a:t>
            </a:r>
            <a:r>
              <a:rPr sz="1300" i="0">
                <a:solidFill>
                  <a:srgbClr val="5DADE2"/>
                </a:solidFill>
                <a:latin typeface="Consolas"/>
              </a:rPr>
              <a:t>for</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nm</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cond</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act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in</a:t>
            </a:r>
            <a:r>
              <a:rPr sz="1300" i="0">
                <a:solidFill>
                  <a:srgbClr val="E8EDF2"/>
                </a:solidFill>
                <a:latin typeface="Consolas"/>
              </a:rPr>
              <a:t> </a:t>
            </a:r>
            <a:r>
              <a:rPr sz="1300" i="0">
                <a:solidFill>
                  <a:srgbClr val="E8EDF2"/>
                </a:solidFill>
                <a:latin typeface="Consolas"/>
              </a:rPr>
              <a:t>policy</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cond</a:t>
            </a:r>
            <a:r>
              <a:rPr sz="1300" i="0">
                <a:solidFill>
                  <a:srgbClr val="AEB6BF"/>
                </a:solidFill>
                <a:latin typeface="Consolas"/>
              </a:rPr>
              <a:t>(</a:t>
            </a:r>
            <a:r>
              <a:rPr sz="1300" i="0">
                <a:solidFill>
                  <a:srgbClr val="E8EDF2"/>
                </a:solidFill>
                <a:latin typeface="Consolas"/>
              </a:rPr>
              <a:t>known</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action</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name</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act</a:t>
            </a:r>
            <a:r>
              <a:rPr sz="1300" i="0">
                <a:solidFill>
                  <a:srgbClr val="AEB6BF"/>
                </a:solidFill>
                <a:latin typeface="Consolas"/>
              </a:rPr>
              <a:t>(</a:t>
            </a:r>
            <a:r>
              <a:rPr sz="1300" i="0">
                <a:solidFill>
                  <a:srgbClr val="E8EDF2"/>
                </a:solidFill>
                <a:latin typeface="Consolas"/>
              </a:rPr>
              <a:t>known</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nm</a:t>
            </a:r>
          </a:p>
          <a:p>
            <a:pPr>
              <a:lnSpc>
                <a:spcPct val="100000"/>
              </a:lnSpc>
              <a:spcAft>
                <a:spcPts val="0"/>
              </a:spcAft>
            </a:pPr>
            <a:r>
              <a:rPr sz="1300" i="0">
                <a:solidFill>
                  <a:srgbClr val="E8EDF2"/>
                </a:solidFill>
                <a:latin typeface="Consolas"/>
              </a:rPr>
              <a:t>                </a:t>
            </a:r>
            <a:r>
              <a:rPr sz="1300" i="0">
                <a:solidFill>
                  <a:srgbClr val="5DADE2"/>
                </a:solidFill>
                <a:latin typeface="Consolas"/>
              </a:rPr>
              <a:t>break</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action</a:t>
            </a:r>
            <a:r>
              <a:rPr sz="1300" i="0">
                <a:solidFill>
                  <a:srgbClr val="E8EDF2"/>
                </a:solidFill>
                <a:latin typeface="Consolas"/>
              </a:rPr>
              <a:t> </a:t>
            </a:r>
            <a:r>
              <a:rPr sz="1300" i="0">
                <a:solidFill>
                  <a:srgbClr val="AEB6BF"/>
                </a:solidFill>
                <a:latin typeface="Consolas"/>
              </a:rPr>
              <a:t>is</a:t>
            </a:r>
            <a:r>
              <a:rPr sz="1300" i="0">
                <a:solidFill>
                  <a:srgbClr val="E8EDF2"/>
                </a:solidFill>
                <a:latin typeface="Consolas"/>
              </a:rPr>
              <a:t> </a:t>
            </a:r>
            <a:r>
              <a:rPr sz="1300" i="0">
                <a:solidFill>
                  <a:srgbClr val="5DADE2"/>
                </a:solidFill>
                <a:latin typeface="Consolas"/>
              </a:rPr>
              <a:t>None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None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steps</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no rule applies</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action</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answer</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steps</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step</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name</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answer</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None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break</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action</a:t>
            </a:r>
            <a:r>
              <a:rPr sz="1300" i="0">
                <a:solidFill>
                  <a:srgbClr val="AEB6BF"/>
                </a:solidFill>
                <a:latin typeface="Consolas"/>
              </a:rPr>
              <a:t>[</a:t>
            </a:r>
            <a:r>
              <a:rPr sz="1300" i="0">
                <a:solidFill>
                  <a:srgbClr val="F7DC6F"/>
                </a:solidFill>
                <a:latin typeface="Consolas"/>
              </a:rPr>
              <a:t>0</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give-up</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steps</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step</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name</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give up</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None</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None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steps</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unknown task: </a:t>
            </a:r>
            <a:r>
              <a:rPr sz="1300" i="0">
                <a:solidFill>
                  <a:srgbClr val="7DCEA0"/>
                </a:solidFill>
                <a:latin typeface="Consolas"/>
              </a:rPr>
              <a:t>%s</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goal</a:t>
            </a:r>
          </a:p>
          <a:p>
            <a:pPr>
              <a:lnSpc>
                <a:spcPct val="100000"/>
              </a:lnSpc>
              <a:spcAft>
                <a:spcPts val="0"/>
              </a:spcAft>
            </a:pPr>
            <a:r>
              <a:rPr sz="1300" i="0">
                <a:solidFill>
                  <a:srgbClr val="E8EDF2"/>
                </a:solidFill>
                <a:latin typeface="Consolas"/>
              </a:rPr>
              <a:t>        </a:t>
            </a:r>
            <a:r>
              <a:rPr sz="1300" i="0">
                <a:solidFill>
                  <a:srgbClr val="E8EDF2"/>
                </a:solidFill>
                <a:latin typeface="Consolas"/>
              </a:rPr>
              <a:t>_</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tool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arg</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action</a:t>
            </a:r>
          </a:p>
          <a:p>
            <a:pPr>
              <a:lnSpc>
                <a:spcPct val="100000"/>
              </a:lnSpc>
              <a:spcAft>
                <a:spcPts val="0"/>
              </a:spcAft>
            </a:pPr>
            <a:r>
              <a:rPr sz="1300" i="0">
                <a:solidFill>
                  <a:srgbClr val="E8EDF2"/>
                </a:solidFill>
                <a:latin typeface="Consolas"/>
              </a:rPr>
              <a:t>        </a:t>
            </a:r>
            <a:r>
              <a:rPr sz="1300" i="0">
                <a:solidFill>
                  <a:srgbClr val="E8EDF2"/>
                </a:solidFill>
                <a:latin typeface="Consolas"/>
              </a:rPr>
              <a:t>result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TOOLS</a:t>
            </a:r>
            <a:r>
              <a:rPr sz="1300" i="0">
                <a:solidFill>
                  <a:srgbClr val="AEB6BF"/>
                </a:solidFill>
                <a:latin typeface="Consolas"/>
              </a:rPr>
              <a:t>[</a:t>
            </a:r>
            <a:r>
              <a:rPr sz="1300" i="0">
                <a:solidFill>
                  <a:srgbClr val="E8EDF2"/>
                </a:solidFill>
                <a:latin typeface="Consolas"/>
              </a:rPr>
              <a:t>tool</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arg</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steps</a:t>
            </a:r>
            <a:r>
              <a:rPr sz="1300" i="0">
                <a:solidFill>
                  <a:srgbClr val="AEB6BF"/>
                </a:solidFill>
                <a:latin typeface="Consolas"/>
              </a:rPr>
              <a:t>.</a:t>
            </a:r>
            <a:r>
              <a:rPr sz="1300" i="0">
                <a:solidFill>
                  <a:srgbClr val="E8EDF2"/>
                </a:solidFill>
                <a:latin typeface="Consolas"/>
              </a:rPr>
              <a:t>append</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step</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name</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%s</a:t>
            </a:r>
            <a:r>
              <a:rPr sz="1300" i="0">
                <a:solidFill>
                  <a:srgbClr val="7DCEA0"/>
                </a:solidFill>
                <a:latin typeface="Consolas"/>
              </a:rPr>
              <a:t>(</a:t>
            </a:r>
            <a:r>
              <a:rPr sz="1300" i="0">
                <a:solidFill>
                  <a:srgbClr val="7DCEA0"/>
                </a:solidFill>
                <a:latin typeface="Consolas"/>
              </a:rPr>
              <a:t>%s</a:t>
            </a:r>
            <a:r>
              <a:rPr sz="1300" i="0">
                <a:solidFill>
                  <a:srgbClr val="7DCEA0"/>
                </a:solidFill>
                <a:latin typeface="Consolas"/>
              </a:rPr>
              <a:t>)</a:t>
            </a:r>
            <a:r>
              <a:rPr sz="1300" i="0">
                <a:solidFill>
                  <a:srgbClr val="7DCEA0"/>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tool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arg</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result</a:t>
            </a:r>
            <a:r>
              <a:rPr sz="1300" i="0">
                <a:solidFill>
                  <a:srgbClr val="AEB6BF"/>
                </a:solidFill>
                <a:latin typeface="Consolas"/>
              </a:rPr>
              <a:t>)</a:t>
            </a:r>
            <a:r>
              <a:rPr sz="1300" i="0">
                <a:solidFill>
                  <a:srgbClr val="AEB6BF"/>
                </a:solidFill>
                <a:latin typeface="Consolas"/>
              </a:rPr>
              <a:t>)</a:t>
            </a:r>
          </a:p>
        </p:txBody>
      </p:sp>
      <p:sp>
        <p:nvSpPr>
          <p:cNvPr id="15" name="!!code-num"/>
          <p:cNvSpPr txBox="1"/>
          <p:nvPr/>
        </p:nvSpPr>
        <p:spPr>
          <a:xfrm>
            <a:off x="768096" y="2523744"/>
            <a:ext cx="393192" cy="367588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79</a:t>
            </a:r>
          </a:p>
          <a:p>
            <a:pPr algn="r">
              <a:lnSpc>
                <a:spcPct val="100000"/>
              </a:lnSpc>
            </a:pPr>
            <a:r>
              <a:rPr sz="1300">
                <a:solidFill>
                  <a:srgbClr val="4F5D6A"/>
                </a:solidFill>
                <a:latin typeface="Consolas"/>
              </a:rPr>
              <a:t>80</a:t>
            </a:r>
          </a:p>
          <a:p>
            <a:pPr algn="r">
              <a:lnSpc>
                <a:spcPct val="100000"/>
              </a:lnSpc>
            </a:pPr>
            <a:r>
              <a:rPr sz="1300">
                <a:solidFill>
                  <a:srgbClr val="4F5D6A"/>
                </a:solidFill>
                <a:latin typeface="Consolas"/>
              </a:rPr>
              <a:t>81</a:t>
            </a:r>
          </a:p>
          <a:p>
            <a:pPr algn="r">
              <a:lnSpc>
                <a:spcPct val="100000"/>
              </a:lnSpc>
            </a:pPr>
            <a:r>
              <a:rPr sz="1300">
                <a:solidFill>
                  <a:srgbClr val="4F5D6A"/>
                </a:solidFill>
                <a:latin typeface="Consolas"/>
              </a:rPr>
              <a:t>82</a:t>
            </a:r>
          </a:p>
          <a:p>
            <a:pPr algn="r">
              <a:lnSpc>
                <a:spcPct val="100000"/>
              </a:lnSpc>
            </a:pPr>
            <a:r>
              <a:rPr sz="1300">
                <a:solidFill>
                  <a:srgbClr val="4F5D6A"/>
                </a:solidFill>
                <a:latin typeface="Consolas"/>
              </a:rPr>
              <a:t>83</a:t>
            </a:r>
          </a:p>
          <a:p>
            <a:pPr algn="r">
              <a:lnSpc>
                <a:spcPct val="100000"/>
              </a:lnSpc>
            </a:pPr>
            <a:r>
              <a:rPr sz="1300">
                <a:solidFill>
                  <a:srgbClr val="4F5D6A"/>
                </a:solidFill>
                <a:latin typeface="Consolas"/>
              </a:rPr>
              <a:t>84</a:t>
            </a:r>
          </a:p>
          <a:p>
            <a:pPr algn="r">
              <a:lnSpc>
                <a:spcPct val="100000"/>
              </a:lnSpc>
            </a:pPr>
            <a:r>
              <a:rPr sz="1300">
                <a:solidFill>
                  <a:srgbClr val="4F5D6A"/>
                </a:solidFill>
                <a:latin typeface="Consolas"/>
              </a:rPr>
              <a:t>85</a:t>
            </a:r>
          </a:p>
          <a:p>
            <a:pPr algn="r">
              <a:lnSpc>
                <a:spcPct val="100000"/>
              </a:lnSpc>
            </a:pPr>
            <a:r>
              <a:rPr sz="1300">
                <a:solidFill>
                  <a:srgbClr val="4F5D6A"/>
                </a:solidFill>
                <a:latin typeface="Consolas"/>
              </a:rPr>
              <a:t>86</a:t>
            </a:r>
          </a:p>
          <a:p>
            <a:pPr algn="r">
              <a:lnSpc>
                <a:spcPct val="100000"/>
              </a:lnSpc>
            </a:pPr>
            <a:r>
              <a:rPr sz="1300">
                <a:solidFill>
                  <a:srgbClr val="4F5D6A"/>
                </a:solidFill>
                <a:latin typeface="Consolas"/>
              </a:rPr>
              <a:t>87</a:t>
            </a:r>
          </a:p>
          <a:p>
            <a:pPr algn="r">
              <a:lnSpc>
                <a:spcPct val="100000"/>
              </a:lnSpc>
            </a:pPr>
            <a:r>
              <a:rPr sz="1300">
                <a:solidFill>
                  <a:srgbClr val="4F5D6A"/>
                </a:solidFill>
                <a:latin typeface="Consolas"/>
              </a:rPr>
              <a:t>88</a:t>
            </a:r>
          </a:p>
          <a:p>
            <a:pPr algn="r">
              <a:lnSpc>
                <a:spcPct val="100000"/>
              </a:lnSpc>
            </a:pPr>
            <a:r>
              <a:rPr sz="1300">
                <a:solidFill>
                  <a:srgbClr val="4F5D6A"/>
                </a:solidFill>
                <a:latin typeface="Consolas"/>
              </a:rPr>
              <a:t>89</a:t>
            </a:r>
          </a:p>
          <a:p>
            <a:pPr algn="r">
              <a:lnSpc>
                <a:spcPct val="100000"/>
              </a:lnSpc>
            </a:pPr>
            <a:r>
              <a:rPr sz="1300">
                <a:solidFill>
                  <a:srgbClr val="4F5D6A"/>
                </a:solidFill>
                <a:latin typeface="Consolas"/>
              </a:rPr>
              <a:t>90</a:t>
            </a:r>
          </a:p>
          <a:p>
            <a:pPr algn="r">
              <a:lnSpc>
                <a:spcPct val="100000"/>
              </a:lnSpc>
            </a:pPr>
            <a:r>
              <a:rPr sz="1300">
                <a:solidFill>
                  <a:srgbClr val="4F5D6A"/>
                </a:solidFill>
                <a:latin typeface="Consolas"/>
              </a:rPr>
              <a:t>91</a:t>
            </a:r>
          </a:p>
          <a:p>
            <a:pPr algn="r">
              <a:lnSpc>
                <a:spcPct val="100000"/>
              </a:lnSpc>
            </a:pPr>
            <a:r>
              <a:rPr sz="1300">
                <a:solidFill>
                  <a:srgbClr val="4F5D6A"/>
                </a:solidFill>
                <a:latin typeface="Consolas"/>
              </a:rPr>
              <a:t>92</a:t>
            </a:r>
          </a:p>
          <a:p>
            <a:pPr algn="r">
              <a:lnSpc>
                <a:spcPct val="100000"/>
              </a:lnSpc>
            </a:pPr>
            <a:r>
              <a:rPr sz="1300">
                <a:solidFill>
                  <a:srgbClr val="4F5D6A"/>
                </a:solidFill>
                <a:latin typeface="Consolas"/>
              </a:rPr>
              <a:t>93</a:t>
            </a:r>
          </a:p>
          <a:p>
            <a:pPr algn="r">
              <a:lnSpc>
                <a:spcPct val="100000"/>
              </a:lnSpc>
            </a:pPr>
            <a:r>
              <a:rPr sz="1300">
                <a:solidFill>
                  <a:srgbClr val="4F5D6A"/>
                </a:solidFill>
                <a:latin typeface="Consolas"/>
              </a:rPr>
              <a:t>94</a:t>
            </a:r>
          </a:p>
          <a:p>
            <a:pPr algn="r">
              <a:lnSpc>
                <a:spcPct val="100000"/>
              </a:lnSpc>
            </a:pPr>
            <a:r>
              <a:rPr sz="1300">
                <a:solidFill>
                  <a:srgbClr val="4F5D6A"/>
                </a:solidFill>
                <a:latin typeface="Consolas"/>
              </a:rPr>
              <a:t>95</a:t>
            </a:r>
          </a:p>
          <a:p>
            <a:pPr algn="r">
              <a:lnSpc>
                <a:spcPct val="100000"/>
              </a:lnSpc>
            </a:pPr>
            <a:r>
              <a:rPr sz="1300">
                <a:solidFill>
                  <a:srgbClr val="4F5D6A"/>
                </a:solidFill>
                <a:latin typeface="Consolas"/>
              </a:rPr>
              <a:t>96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48494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8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A80C0597-7EF9-4111-87A6-74ABCF77E9D0}" type="slidenum">
              <a:rPr lang="en-GB" sz="1000">
                <a:solidFill>
                  <a:srgbClr val="8795A1"/>
                </a:solidFill>
                <a:latin typeface="Segoe UI"/>
              </a:rPr>
              <a:t>26</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decision procedure: Chapter 13's rule engine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71543"/>
          </a:xfrm>
          <a:prstGeom prst="roundRect">
            <a:avLst>
              <a:gd name="adj" fmla="val 230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code/ch20_tool_using_agent.py</a:t>
            </a:r>
          </a:p>
        </p:txBody>
      </p:sp>
      <p:sp>
        <p:nvSpPr>
          <p:cNvPr id="14" name="!!code-text" descr="# ACT: fold the observation into what we know if tool == &quot;dependencies&quot;: known[&quot;deps&quot;] = result elif tool == &quot;estimate&quot;: known[&quot;points&quot;][arg] = result elif tool == &quot;capacity&quot;: known[&quot;capacity&quot;] = result else: return None, steps, &quot;budget exhausted&quot; total = sum(known[&quot;points&quot;].values()) fits = total &lt;= known[&quot;capacity&quot;] answer = (&quot;%s plus its dependencies is %d points against a &quot; &quot;capacity of %d: %s&quot; % (goal, total, known[&quot;capacity&quot;], &quot;it fits&quot; if fits else &quot;it does NOT fit&quot;)) return answer, steps, None"/>
          <p:cNvSpPr txBox="1"/>
          <p:nvPr/>
        </p:nvSpPr>
        <p:spPr>
          <a:xfrm>
            <a:off x="1362456" y="2523744"/>
            <a:ext cx="9987991" cy="3477767"/>
          </a:xfrm>
          <a:prstGeom prst="rect">
            <a:avLst/>
          </a:prstGeom>
          <a:noFill/>
        </p:spPr>
        <p:txBody>
          <a:bodyPr wrap="none" anchor="t" lIns="0" rIns="0" tIns="0" bIns="0">
            <a:noAutofit/>
          </a:bodyPr>
          <a:lstStyle/>
          <a:p>
            <a:pPr>
              <a:lnSpc>
                <a:spcPct val="100000"/>
              </a:lnSpc>
              <a:spcAft>
                <a:spcPts val="0"/>
              </a:spcAft>
            </a:pPr>
            <a:r>
              <a:rPr sz="1300" i="0">
                <a:solidFill>
                  <a:srgbClr val="E8EDF2"/>
                </a:solidFill>
                <a:latin typeface="Consolas"/>
              </a:rPr>
              <a:t>        </a:t>
            </a:r>
            <a:r>
              <a:rPr sz="1300" i="1">
                <a:solidFill>
                  <a:srgbClr val="8795A1"/>
                </a:solidFill>
                <a:latin typeface="Consolas"/>
              </a:rPr>
              <a:t># ACT: fold the observation into what we know</a:t>
            </a:r>
          </a:p>
          <a:p>
            <a:pPr>
              <a:lnSpc>
                <a:spcPct val="100000"/>
              </a:lnSpc>
              <a:spcAft>
                <a:spcPts val="0"/>
              </a:spcAft>
            </a:pP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tool</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dependencies</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known</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deps</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result</a:t>
            </a:r>
          </a:p>
          <a:p>
            <a:pPr>
              <a:lnSpc>
                <a:spcPct val="100000"/>
              </a:lnSpc>
              <a:spcAft>
                <a:spcPts val="0"/>
              </a:spcAft>
            </a:pPr>
            <a:r>
              <a:rPr sz="1300" i="0">
                <a:solidFill>
                  <a:srgbClr val="E8EDF2"/>
                </a:solidFill>
                <a:latin typeface="Consolas"/>
              </a:rPr>
              <a:t>        </a:t>
            </a:r>
            <a:r>
              <a:rPr sz="1300" i="0">
                <a:solidFill>
                  <a:srgbClr val="5DADE2"/>
                </a:solidFill>
                <a:latin typeface="Consolas"/>
              </a:rPr>
              <a:t>elif</a:t>
            </a:r>
            <a:r>
              <a:rPr sz="1300" i="0">
                <a:solidFill>
                  <a:srgbClr val="E8EDF2"/>
                </a:solidFill>
                <a:latin typeface="Consolas"/>
              </a:rPr>
              <a:t> </a:t>
            </a:r>
            <a:r>
              <a:rPr sz="1300" i="0">
                <a:solidFill>
                  <a:srgbClr val="E8EDF2"/>
                </a:solidFill>
                <a:latin typeface="Consolas"/>
              </a:rPr>
              <a:t>tool</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estimate</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known</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points</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arg</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result</a:t>
            </a:r>
          </a:p>
          <a:p>
            <a:pPr>
              <a:lnSpc>
                <a:spcPct val="100000"/>
              </a:lnSpc>
              <a:spcAft>
                <a:spcPts val="0"/>
              </a:spcAft>
            </a:pPr>
            <a:r>
              <a:rPr sz="1300" i="0">
                <a:solidFill>
                  <a:srgbClr val="E8EDF2"/>
                </a:solidFill>
                <a:latin typeface="Consolas"/>
              </a:rPr>
              <a:t>        </a:t>
            </a:r>
            <a:r>
              <a:rPr sz="1300" i="0">
                <a:solidFill>
                  <a:srgbClr val="5DADE2"/>
                </a:solidFill>
                <a:latin typeface="Consolas"/>
              </a:rPr>
              <a:t>elif</a:t>
            </a:r>
            <a:r>
              <a:rPr sz="1300" i="0">
                <a:solidFill>
                  <a:srgbClr val="E8EDF2"/>
                </a:solidFill>
                <a:latin typeface="Consolas"/>
              </a:rPr>
              <a:t> </a:t>
            </a:r>
            <a:r>
              <a:rPr sz="1300" i="0">
                <a:solidFill>
                  <a:srgbClr val="E8EDF2"/>
                </a:solidFill>
                <a:latin typeface="Consolas"/>
              </a:rPr>
              <a:t>tool</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capacity</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known</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capacity</a:t>
            </a:r>
            <a:r>
              <a:rPr sz="1300" i="0">
                <a:solidFill>
                  <a:srgbClr val="7DCEA0"/>
                </a:solidFill>
                <a:latin typeface="Consolas"/>
              </a:rPr>
              <a:t>"</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result</a:t>
            </a:r>
          </a:p>
          <a:p>
            <a:pPr>
              <a:lnSpc>
                <a:spcPct val="100000"/>
              </a:lnSpc>
              <a:spcAft>
                <a:spcPts val="0"/>
              </a:spcAft>
            </a:pPr>
            <a:r>
              <a:rPr sz="1300" i="0">
                <a:solidFill>
                  <a:srgbClr val="E8EDF2"/>
                </a:solidFill>
                <a:latin typeface="Consolas"/>
              </a:rPr>
              <a:t>    </a:t>
            </a:r>
            <a:r>
              <a:rPr sz="1300" i="0">
                <a:solidFill>
                  <a:srgbClr val="5DADE2"/>
                </a:solidFill>
                <a:latin typeface="Consolas"/>
              </a:rPr>
              <a:t>else</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5DADE2"/>
                </a:solidFill>
                <a:latin typeface="Consolas"/>
              </a:rPr>
              <a:t>None</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steps</a:t>
            </a:r>
            <a:r>
              <a:rPr sz="1300" i="0">
                <a:solidFill>
                  <a:srgbClr val="AEB6BF"/>
                </a:solidFill>
                <a:latin typeface="Consolas"/>
              </a:rPr>
              <a:t>,</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budget exhausted</a:t>
            </a:r>
            <a:r>
              <a:rPr sz="1300" i="0">
                <a:solidFill>
                  <a:srgbClr val="7DCEA0"/>
                </a:solidFill>
                <a:latin typeface="Consolas"/>
              </a:rPr>
              <a:t>"</a:t>
            </a:r>
          </a:p>
          <a:p>
            <a:pPr>
              <a:lnSpc>
                <a:spcPct val="100000"/>
              </a:lnSpc>
              <a:spcAft>
                <a:spcPts val="0"/>
              </a:spcAft>
            </a:pPr>
            <a:r>
              <a:rPr sz="1300">
                <a:latin typeface="Consolas"/>
              </a:rPr>
              <a:t> </a:t>
            </a:r>
          </a:p>
          <a:p>
            <a:pPr>
              <a:lnSpc>
                <a:spcPct val="100000"/>
              </a:lnSpc>
              <a:spcAft>
                <a:spcPts val="0"/>
              </a:spcAft>
            </a:pPr>
            <a:r>
              <a:rPr sz="1300" i="0">
                <a:solidFill>
                  <a:srgbClr val="E8EDF2"/>
                </a:solidFill>
                <a:latin typeface="Consolas"/>
              </a:rPr>
              <a:t>    </a:t>
            </a:r>
            <a:r>
              <a:rPr sz="1300" i="0">
                <a:solidFill>
                  <a:srgbClr val="E8EDF2"/>
                </a:solidFill>
                <a:latin typeface="Consolas"/>
              </a:rPr>
              <a:t>total</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C39BD3"/>
                </a:solidFill>
                <a:latin typeface="Consolas"/>
              </a:rPr>
              <a:t>sum</a:t>
            </a:r>
            <a:r>
              <a:rPr sz="1300" i="0">
                <a:solidFill>
                  <a:srgbClr val="AEB6BF"/>
                </a:solidFill>
                <a:latin typeface="Consolas"/>
              </a:rPr>
              <a:t>(</a:t>
            </a:r>
            <a:r>
              <a:rPr sz="1300" i="0">
                <a:solidFill>
                  <a:srgbClr val="E8EDF2"/>
                </a:solidFill>
                <a:latin typeface="Consolas"/>
              </a:rPr>
              <a:t>known</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points</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r>
              <a:rPr sz="1300" i="0">
                <a:solidFill>
                  <a:srgbClr val="E8EDF2"/>
                </a:solidFill>
                <a:latin typeface="Consolas"/>
              </a:rPr>
              <a:t>values</a:t>
            </a:r>
            <a:r>
              <a:rPr sz="1300" i="0">
                <a:solidFill>
                  <a:srgbClr val="AEB6BF"/>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fits</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total</a:t>
            </a:r>
            <a:r>
              <a:rPr sz="1300" i="0">
                <a:solidFill>
                  <a:srgbClr val="E8EDF2"/>
                </a:solidFill>
                <a:latin typeface="Consolas"/>
              </a:rPr>
              <a:t> </a:t>
            </a:r>
            <a:r>
              <a:rPr sz="1300" i="0">
                <a:solidFill>
                  <a:srgbClr val="AEB6BF"/>
                </a:solidFill>
                <a:latin typeface="Consolas"/>
              </a:rPr>
              <a:t>&lt;</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known</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capacity</a:t>
            </a:r>
            <a:r>
              <a:rPr sz="1300" i="0">
                <a:solidFill>
                  <a:srgbClr val="7DCEA0"/>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E8EDF2"/>
                </a:solidFill>
                <a:latin typeface="Consolas"/>
              </a:rPr>
              <a:t>answer</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%s</a:t>
            </a:r>
            <a:r>
              <a:rPr sz="1300" i="0">
                <a:solidFill>
                  <a:srgbClr val="7DCEA0"/>
                </a:solidFill>
                <a:latin typeface="Consolas"/>
              </a:rPr>
              <a:t> plus its dependencies is </a:t>
            </a:r>
            <a:r>
              <a:rPr sz="1300" i="0">
                <a:solidFill>
                  <a:srgbClr val="7DCEA0"/>
                </a:solidFill>
                <a:latin typeface="Consolas"/>
              </a:rPr>
              <a:t>%d</a:t>
            </a:r>
            <a:r>
              <a:rPr sz="1300" i="0">
                <a:solidFill>
                  <a:srgbClr val="7DCEA0"/>
                </a:solidFill>
                <a:latin typeface="Consolas"/>
              </a:rPr>
              <a:t> points against a </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capacity of </a:t>
            </a:r>
            <a:r>
              <a:rPr sz="1300" i="0">
                <a:solidFill>
                  <a:srgbClr val="7DCEA0"/>
                </a:solidFill>
                <a:latin typeface="Consolas"/>
              </a:rPr>
              <a:t>%d</a:t>
            </a:r>
            <a:r>
              <a:rPr sz="1300" i="0">
                <a:solidFill>
                  <a:srgbClr val="7DCEA0"/>
                </a:solidFill>
                <a:latin typeface="Consolas"/>
              </a:rPr>
              <a:t>: </a:t>
            </a:r>
            <a:r>
              <a:rPr sz="1300" i="0">
                <a:solidFill>
                  <a:srgbClr val="7DCEA0"/>
                </a:solidFill>
                <a:latin typeface="Consolas"/>
              </a:rPr>
              <a:t>%s</a:t>
            </a:r>
            <a:r>
              <a:rPr sz="1300" i="0">
                <a:solidFill>
                  <a:srgbClr val="7DCEA0"/>
                </a:solidFill>
                <a:latin typeface="Consolas"/>
              </a:rPr>
              <a:t>"</a:t>
            </a:r>
          </a:p>
          <a:p>
            <a:pPr>
              <a:lnSpc>
                <a:spcPct val="100000"/>
              </a:lnSpc>
              <a:spcAft>
                <a:spcPts val="0"/>
              </a:spcAft>
            </a:pP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 </a:t>
            </a:r>
            <a:r>
              <a:rPr sz="1300" i="0">
                <a:solidFill>
                  <a:srgbClr val="AEB6BF"/>
                </a:solidFill>
                <a:latin typeface="Consolas"/>
              </a:rPr>
              <a:t>(</a:t>
            </a:r>
            <a:r>
              <a:rPr sz="1300" i="0">
                <a:solidFill>
                  <a:srgbClr val="E8EDF2"/>
                </a:solidFill>
                <a:latin typeface="Consolas"/>
              </a:rPr>
              <a:t>goal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total</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known</a:t>
            </a:r>
            <a:r>
              <a:rPr sz="1300" i="0">
                <a:solidFill>
                  <a:srgbClr val="AEB6BF"/>
                </a:solidFill>
                <a:latin typeface="Consolas"/>
              </a:rPr>
              <a:t>[</a:t>
            </a:r>
            <a:r>
              <a:rPr sz="1300" i="0">
                <a:solidFill>
                  <a:srgbClr val="7DCEA0"/>
                </a:solidFill>
                <a:latin typeface="Consolas"/>
              </a:rPr>
              <a:t>"</a:t>
            </a:r>
            <a:r>
              <a:rPr sz="1300" i="0">
                <a:solidFill>
                  <a:srgbClr val="7DCEA0"/>
                </a:solidFill>
                <a:latin typeface="Consolas"/>
              </a:rPr>
              <a:t>capacity</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it fits</a:t>
            </a:r>
            <a:r>
              <a:rPr sz="1300" i="0">
                <a:solidFill>
                  <a:srgbClr val="7DCEA0"/>
                </a:solidFill>
                <a:latin typeface="Consolas"/>
              </a:rPr>
              <a:t>"</a:t>
            </a:r>
            <a:r>
              <a:rPr sz="1300" i="0">
                <a:solidFill>
                  <a:srgbClr val="E8EDF2"/>
                </a:solidFill>
                <a:latin typeface="Consolas"/>
              </a:rPr>
              <a:t> </a:t>
            </a:r>
            <a:r>
              <a:rPr sz="1300" i="0">
                <a:solidFill>
                  <a:srgbClr val="5DADE2"/>
                </a:solidFill>
                <a:latin typeface="Consolas"/>
              </a:rPr>
              <a:t>if</a:t>
            </a:r>
            <a:r>
              <a:rPr sz="1300" i="0">
                <a:solidFill>
                  <a:srgbClr val="E8EDF2"/>
                </a:solidFill>
                <a:latin typeface="Consolas"/>
              </a:rPr>
              <a:t> </a:t>
            </a:r>
            <a:r>
              <a:rPr sz="1300" i="0">
                <a:solidFill>
                  <a:srgbClr val="E8EDF2"/>
                </a:solidFill>
                <a:latin typeface="Consolas"/>
              </a:rPr>
              <a:t>fits</a:t>
            </a:r>
            <a:r>
              <a:rPr sz="1300" i="0">
                <a:solidFill>
                  <a:srgbClr val="E8EDF2"/>
                </a:solidFill>
                <a:latin typeface="Consolas"/>
              </a:rPr>
              <a:t> </a:t>
            </a:r>
            <a:r>
              <a:rPr sz="1300" i="0">
                <a:solidFill>
                  <a:srgbClr val="5DADE2"/>
                </a:solidFill>
                <a:latin typeface="Consolas"/>
              </a:rPr>
              <a:t>else</a:t>
            </a:r>
            <a:r>
              <a:rPr sz="1300" i="0">
                <a:solidFill>
                  <a:srgbClr val="E8EDF2"/>
                </a:solidFill>
                <a:latin typeface="Consolas"/>
              </a:rPr>
              <a:t> </a:t>
            </a:r>
            <a:r>
              <a:rPr sz="1300" i="0">
                <a:solidFill>
                  <a:srgbClr val="7DCEA0"/>
                </a:solidFill>
                <a:latin typeface="Consolas"/>
              </a:rPr>
              <a:t>"</a:t>
            </a:r>
            <a:r>
              <a:rPr sz="1300" i="0">
                <a:solidFill>
                  <a:srgbClr val="7DCEA0"/>
                </a:solidFill>
                <a:latin typeface="Consolas"/>
              </a:rPr>
              <a:t>it does NOT fit</a:t>
            </a:r>
            <a:r>
              <a:rPr sz="1300" i="0">
                <a:solidFill>
                  <a:srgbClr val="7DCEA0"/>
                </a:solidFill>
                <a:latin typeface="Consolas"/>
              </a:rPr>
              <a:t>"</a:t>
            </a:r>
            <a:r>
              <a:rPr sz="1300" i="0">
                <a:solidFill>
                  <a:srgbClr val="AEB6BF"/>
                </a:solidFill>
                <a:latin typeface="Consolas"/>
              </a:rPr>
              <a:t>)</a:t>
            </a:r>
            <a:r>
              <a:rPr sz="1300" i="0">
                <a:solidFill>
                  <a:srgbClr val="AEB6BF"/>
                </a:solidFill>
                <a:latin typeface="Consolas"/>
              </a:rPr>
              <a:t>)</a:t>
            </a:r>
          </a:p>
          <a:p>
            <a:pPr>
              <a:lnSpc>
                <a:spcPct val="100000"/>
              </a:lnSpc>
              <a:spcAft>
                <a:spcPts val="0"/>
              </a:spcAft>
            </a:pPr>
            <a:r>
              <a:rPr sz="1300" i="0">
                <a:solidFill>
                  <a:srgbClr val="E8EDF2"/>
                </a:solidFill>
                <a:latin typeface="Consolas"/>
              </a:rPr>
              <a:t>    </a:t>
            </a:r>
            <a:r>
              <a:rPr sz="1300" i="0">
                <a:solidFill>
                  <a:srgbClr val="5DADE2"/>
                </a:solidFill>
                <a:latin typeface="Consolas"/>
              </a:rPr>
              <a:t>return</a:t>
            </a:r>
            <a:r>
              <a:rPr sz="1300" i="0">
                <a:solidFill>
                  <a:srgbClr val="E8EDF2"/>
                </a:solidFill>
                <a:latin typeface="Consolas"/>
              </a:rPr>
              <a:t> </a:t>
            </a:r>
            <a:r>
              <a:rPr sz="1300" i="0">
                <a:solidFill>
                  <a:srgbClr val="E8EDF2"/>
                </a:solidFill>
                <a:latin typeface="Consolas"/>
              </a:rPr>
              <a:t>answer</a:t>
            </a:r>
            <a:r>
              <a:rPr sz="1300" i="0">
                <a:solidFill>
                  <a:srgbClr val="AEB6BF"/>
                </a:solidFill>
                <a:latin typeface="Consolas"/>
              </a:rPr>
              <a:t>,</a:t>
            </a:r>
            <a:r>
              <a:rPr sz="1300" i="0">
                <a:solidFill>
                  <a:srgbClr val="E8EDF2"/>
                </a:solidFill>
                <a:latin typeface="Consolas"/>
              </a:rPr>
              <a:t> </a:t>
            </a:r>
            <a:r>
              <a:rPr sz="1300" i="0">
                <a:solidFill>
                  <a:srgbClr val="E8EDF2"/>
                </a:solidFill>
                <a:latin typeface="Consolas"/>
              </a:rPr>
              <a:t>steps</a:t>
            </a:r>
            <a:r>
              <a:rPr sz="1300" i="0">
                <a:solidFill>
                  <a:srgbClr val="AEB6BF"/>
                </a:solidFill>
                <a:latin typeface="Consolas"/>
              </a:rPr>
              <a:t>,</a:t>
            </a:r>
            <a:r>
              <a:rPr sz="1300" i="0">
                <a:solidFill>
                  <a:srgbClr val="E8EDF2"/>
                </a:solidFill>
                <a:latin typeface="Consolas"/>
              </a:rPr>
              <a:t> </a:t>
            </a:r>
            <a:r>
              <a:rPr sz="1300" i="0">
                <a:solidFill>
                  <a:srgbClr val="5DADE2"/>
                </a:solidFill>
                <a:latin typeface="Consolas"/>
              </a:rPr>
              <a:t>None</a:t>
            </a:r>
          </a:p>
        </p:txBody>
      </p:sp>
      <p:sp>
        <p:nvSpPr>
          <p:cNvPr id="15" name="!!code-num"/>
          <p:cNvSpPr txBox="1"/>
          <p:nvPr/>
        </p:nvSpPr>
        <p:spPr>
          <a:xfrm>
            <a:off x="768096" y="2523744"/>
            <a:ext cx="393192" cy="3477767"/>
          </a:xfrm>
          <a:prstGeom prst="rect">
            <a:avLst/>
          </a:prstGeom>
          <a:noFill/>
        </p:spPr>
        <p:txBody>
          <a:bodyPr wrap="none" anchor="t" lIns="0" rIns="0" tIns="0" bIns="0">
            <a:noAutofit/>
          </a:bodyPr>
          <a:lstStyle/>
          <a:p>
            <a:pPr algn="r">
              <a:lnSpc>
                <a:spcPct val="100000"/>
              </a:lnSpc>
            </a:pPr>
            <a:r>
              <a:rPr sz="1300">
                <a:solidFill>
                  <a:srgbClr val="4F5D6A"/>
                </a:solidFill>
                <a:latin typeface="Consolas"/>
              </a:rPr>
              <a:t>97</a:t>
            </a:r>
          </a:p>
          <a:p>
            <a:pPr algn="r">
              <a:lnSpc>
                <a:spcPct val="100000"/>
              </a:lnSpc>
            </a:pPr>
            <a:r>
              <a:rPr sz="1300">
                <a:solidFill>
                  <a:srgbClr val="4F5D6A"/>
                </a:solidFill>
                <a:latin typeface="Consolas"/>
              </a:rPr>
              <a:t>98</a:t>
            </a:r>
          </a:p>
          <a:p>
            <a:pPr algn="r">
              <a:lnSpc>
                <a:spcPct val="100000"/>
              </a:lnSpc>
            </a:pPr>
            <a:r>
              <a:rPr sz="1300">
                <a:solidFill>
                  <a:srgbClr val="4F5D6A"/>
                </a:solidFill>
                <a:latin typeface="Consolas"/>
              </a:rPr>
              <a:t>99</a:t>
            </a:r>
          </a:p>
          <a:p>
            <a:pPr algn="r">
              <a:lnSpc>
                <a:spcPct val="100000"/>
              </a:lnSpc>
            </a:pPr>
            <a:r>
              <a:rPr sz="1300">
                <a:solidFill>
                  <a:srgbClr val="4F5D6A"/>
                </a:solidFill>
                <a:latin typeface="Consolas"/>
              </a:rPr>
              <a:t>100</a:t>
            </a:r>
          </a:p>
          <a:p>
            <a:pPr algn="r">
              <a:lnSpc>
                <a:spcPct val="100000"/>
              </a:lnSpc>
            </a:pPr>
            <a:r>
              <a:rPr sz="1300">
                <a:solidFill>
                  <a:srgbClr val="4F5D6A"/>
                </a:solidFill>
                <a:latin typeface="Consolas"/>
              </a:rPr>
              <a:t>101</a:t>
            </a:r>
          </a:p>
          <a:p>
            <a:pPr algn="r">
              <a:lnSpc>
                <a:spcPct val="100000"/>
              </a:lnSpc>
            </a:pPr>
            <a:r>
              <a:rPr sz="1300">
                <a:solidFill>
                  <a:srgbClr val="4F5D6A"/>
                </a:solidFill>
                <a:latin typeface="Consolas"/>
              </a:rPr>
              <a:t>102</a:t>
            </a:r>
          </a:p>
          <a:p>
            <a:pPr algn="r">
              <a:lnSpc>
                <a:spcPct val="100000"/>
              </a:lnSpc>
            </a:pPr>
            <a:r>
              <a:rPr sz="1300">
                <a:solidFill>
                  <a:srgbClr val="4F5D6A"/>
                </a:solidFill>
                <a:latin typeface="Consolas"/>
              </a:rPr>
              <a:t>103</a:t>
            </a:r>
          </a:p>
          <a:p>
            <a:pPr algn="r">
              <a:lnSpc>
                <a:spcPct val="100000"/>
              </a:lnSpc>
            </a:pPr>
            <a:r>
              <a:rPr sz="1300">
                <a:solidFill>
                  <a:srgbClr val="4F5D6A"/>
                </a:solidFill>
                <a:latin typeface="Consolas"/>
              </a:rPr>
              <a:t>104</a:t>
            </a:r>
          </a:p>
          <a:p>
            <a:pPr algn="r">
              <a:lnSpc>
                <a:spcPct val="100000"/>
              </a:lnSpc>
            </a:pPr>
            <a:r>
              <a:rPr sz="1300">
                <a:solidFill>
                  <a:srgbClr val="4F5D6A"/>
                </a:solidFill>
                <a:latin typeface="Consolas"/>
              </a:rPr>
              <a:t>105</a:t>
            </a:r>
          </a:p>
          <a:p>
            <a:pPr algn="r">
              <a:lnSpc>
                <a:spcPct val="100000"/>
              </a:lnSpc>
            </a:pPr>
            <a:r>
              <a:rPr sz="1300">
                <a:solidFill>
                  <a:srgbClr val="4F5D6A"/>
                </a:solidFill>
                <a:latin typeface="Consolas"/>
              </a:rPr>
              <a:t>106</a:t>
            </a:r>
          </a:p>
          <a:p>
            <a:pPr algn="r">
              <a:lnSpc>
                <a:spcPct val="100000"/>
              </a:lnSpc>
            </a:pPr>
            <a:r>
              <a:rPr sz="1300">
                <a:solidFill>
                  <a:srgbClr val="4F5D6A"/>
                </a:solidFill>
                <a:latin typeface="Consolas"/>
              </a:rPr>
              <a:t>107</a:t>
            </a:r>
          </a:p>
          <a:p>
            <a:pPr algn="r">
              <a:lnSpc>
                <a:spcPct val="100000"/>
              </a:lnSpc>
            </a:pPr>
            <a:r>
              <a:rPr sz="1300">
                <a:solidFill>
                  <a:srgbClr val="4F5D6A"/>
                </a:solidFill>
                <a:latin typeface="Consolas"/>
              </a:rPr>
              <a:t>108</a:t>
            </a:r>
          </a:p>
          <a:p>
            <a:pPr algn="r">
              <a:lnSpc>
                <a:spcPct val="100000"/>
              </a:lnSpc>
            </a:pPr>
            <a:r>
              <a:rPr sz="1300">
                <a:solidFill>
                  <a:srgbClr val="4F5D6A"/>
                </a:solidFill>
                <a:latin typeface="Consolas"/>
              </a:rPr>
              <a:t>109</a:t>
            </a:r>
          </a:p>
          <a:p>
            <a:pPr algn="r">
              <a:lnSpc>
                <a:spcPct val="100000"/>
              </a:lnSpc>
            </a:pPr>
            <a:r>
              <a:rPr sz="1300">
                <a:solidFill>
                  <a:srgbClr val="4F5D6A"/>
                </a:solidFill>
                <a:latin typeface="Consolas"/>
              </a:rPr>
              <a:t>110</a:t>
            </a:r>
          </a:p>
          <a:p>
            <a:pPr algn="r">
              <a:lnSpc>
                <a:spcPct val="100000"/>
              </a:lnSpc>
            </a:pPr>
            <a:r>
              <a:rPr sz="1300">
                <a:solidFill>
                  <a:srgbClr val="4F5D6A"/>
                </a:solidFill>
                <a:latin typeface="Consolas"/>
              </a:rPr>
              <a:t>111</a:t>
            </a:r>
          </a:p>
          <a:p>
            <a:pPr algn="r">
              <a:lnSpc>
                <a:spcPct val="100000"/>
              </a:lnSpc>
            </a:pPr>
            <a:r>
              <a:rPr sz="1300">
                <a:solidFill>
                  <a:srgbClr val="4F5D6A"/>
                </a:solidFill>
                <a:latin typeface="Consolas"/>
              </a:rPr>
              <a:t>112</a:t>
            </a:r>
          </a:p>
          <a:p>
            <a:pPr algn="r">
              <a:lnSpc>
                <a:spcPct val="100000"/>
              </a:lnSpc>
            </a:pPr>
            <a:r>
              <a:rPr sz="1300">
                <a:solidFill>
                  <a:srgbClr val="4F5D6A"/>
                </a:solidFill>
                <a:latin typeface="Consolas"/>
              </a:rPr>
              <a:t>113</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6744342"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9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66531572-6A1D-4B57-A557-CB86A0AA4AE8}"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decision procedure: Chapter 13's rule engine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code/ch20_tool_using_agent.py</a:t>
            </a:r>
          </a:p>
        </p:txBody>
      </p:sp>
      <p:sp>
        <p:nvSpPr>
          <p:cNvPr id="14" name="!!code-text" descr="if __name__ == &quot;__main__&quot;: print(&quot;goal: can we take 'auth-refresh' into the next sprint?&quot;) print() answer, steps, err = agent(&quot;auth-refresh&quot;) print(&quot;step rule action result&quot;) print(&quot;-&quot; * 66) for (n, rule, action, result) in steps: print(&quot;%4d %-20s %-24s %s&quot; % (n, rule, action, result)) print() print(&quot;ANSWER:&quot;, answer) assert err is None # 5 points for auth-refresh, 3 for the dependency it pulled in, # against a capacity of 8: it fits exactly, with nothing spare assert &quot;it fits&quot; in answer"/>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600" i="0">
                <a:solidFill>
                  <a:srgbClr val="5DADE2"/>
                </a:solidFill>
                <a:latin typeface="Consolas"/>
              </a:rPr>
              <a:t>if</a:t>
            </a:r>
            <a:r>
              <a:rPr sz="1600" i="0">
                <a:solidFill>
                  <a:srgbClr val="E8EDF2"/>
                </a:solidFill>
                <a:latin typeface="Consolas"/>
              </a:rPr>
              <a:t> </a:t>
            </a:r>
            <a:r>
              <a:rPr sz="1600" i="0">
                <a:solidFill>
                  <a:srgbClr val="E8EDF2"/>
                </a:solidFill>
                <a:latin typeface="Consolas"/>
              </a:rPr>
              <a:t>__name__</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__main__</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goal: can we take </a:t>
            </a:r>
            <a:r>
              <a:rPr sz="1600" i="0">
                <a:solidFill>
                  <a:srgbClr val="7DCEA0"/>
                </a:solidFill>
                <a:latin typeface="Consolas"/>
              </a:rPr>
              <a:t>'</a:t>
            </a:r>
            <a:r>
              <a:rPr sz="1600" i="0">
                <a:solidFill>
                  <a:srgbClr val="7DCEA0"/>
                </a:solidFill>
                <a:latin typeface="Consolas"/>
              </a:rPr>
              <a:t>auth-refresh</a:t>
            </a:r>
            <a:r>
              <a:rPr sz="1600" i="0">
                <a:solidFill>
                  <a:srgbClr val="7DCEA0"/>
                </a:solidFill>
                <a:latin typeface="Consolas"/>
              </a:rPr>
              <a:t>'</a:t>
            </a:r>
            <a:r>
              <a:rPr sz="1600" i="0">
                <a:solidFill>
                  <a:srgbClr val="7DCEA0"/>
                </a:solidFill>
                <a:latin typeface="Consolas"/>
              </a:rPr>
              <a:t> into the next sprint?</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answer</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steps</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err</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agent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auth-refresh</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step  rule                 action                   result</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a:t>
            </a:r>
            <a:r>
              <a:rPr sz="1600" i="0">
                <a:solidFill>
                  <a:srgbClr val="7DCEA0"/>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F7DC6F"/>
                </a:solidFill>
                <a:latin typeface="Consolas"/>
              </a:rPr>
              <a:t>66</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for</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n</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rule</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action</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result</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E8EDF2"/>
                </a:solidFill>
                <a:latin typeface="Consolas"/>
              </a:rPr>
              <a:t>steps</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%4d</a:t>
            </a:r>
            <a:r>
              <a:rPr sz="1600" i="0">
                <a:solidFill>
                  <a:srgbClr val="7DCEA0"/>
                </a:solidFill>
                <a:latin typeface="Consolas"/>
              </a:rPr>
              <a:t>  </a:t>
            </a:r>
            <a:r>
              <a:rPr sz="1600" i="0">
                <a:solidFill>
                  <a:srgbClr val="7DCEA0"/>
                </a:solidFill>
                <a:latin typeface="Consolas"/>
              </a:rPr>
              <a:t>%-20s</a:t>
            </a:r>
            <a:r>
              <a:rPr sz="1600" i="0">
                <a:solidFill>
                  <a:srgbClr val="7DCEA0"/>
                </a:solidFill>
                <a:latin typeface="Consolas"/>
              </a:rPr>
              <a:t> </a:t>
            </a:r>
            <a:r>
              <a:rPr sz="1600" i="0">
                <a:solidFill>
                  <a:srgbClr val="7DCEA0"/>
                </a:solidFill>
                <a:latin typeface="Consolas"/>
              </a:rPr>
              <a:t>%-24s</a:t>
            </a:r>
            <a:r>
              <a:rPr sz="1600" i="0">
                <a:solidFill>
                  <a:srgbClr val="7DCEA0"/>
                </a:solidFill>
                <a:latin typeface="Consolas"/>
              </a:rPr>
              <a:t> </a:t>
            </a:r>
            <a:r>
              <a:rPr sz="1600" i="0">
                <a:solidFill>
                  <a:srgbClr val="7DCEA0"/>
                </a:solidFill>
                <a:latin typeface="Consolas"/>
              </a:rPr>
              <a:t>%s</a:t>
            </a:r>
            <a:r>
              <a:rPr sz="1600" i="0">
                <a:solidFill>
                  <a:srgbClr val="7DCEA0"/>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n</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rule</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action</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result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ANSWER:</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answer</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assert</a:t>
            </a:r>
            <a:r>
              <a:rPr sz="1600" i="0">
                <a:solidFill>
                  <a:srgbClr val="E8EDF2"/>
                </a:solidFill>
                <a:latin typeface="Consolas"/>
              </a:rPr>
              <a:t> </a:t>
            </a:r>
            <a:r>
              <a:rPr sz="1600" i="0">
                <a:solidFill>
                  <a:srgbClr val="E8EDF2"/>
                </a:solidFill>
                <a:latin typeface="Consolas"/>
              </a:rPr>
              <a:t>err</a:t>
            </a:r>
            <a:r>
              <a:rPr sz="1600" i="0">
                <a:solidFill>
                  <a:srgbClr val="E8EDF2"/>
                </a:solidFill>
                <a:latin typeface="Consolas"/>
              </a:rPr>
              <a:t> </a:t>
            </a:r>
            <a:r>
              <a:rPr sz="1600" i="0">
                <a:solidFill>
                  <a:srgbClr val="AEB6BF"/>
                </a:solidFill>
                <a:latin typeface="Consolas"/>
              </a:rPr>
              <a:t>is</a:t>
            </a:r>
            <a:r>
              <a:rPr sz="1600" i="0">
                <a:solidFill>
                  <a:srgbClr val="E8EDF2"/>
                </a:solidFill>
                <a:latin typeface="Consolas"/>
              </a:rPr>
              <a:t> </a:t>
            </a:r>
            <a:r>
              <a:rPr sz="1600" i="0">
                <a:solidFill>
                  <a:srgbClr val="5DADE2"/>
                </a:solidFill>
                <a:latin typeface="Consolas"/>
              </a:rPr>
              <a:t>None</a:t>
            </a:r>
          </a:p>
          <a:p>
            <a:pPr>
              <a:lnSpc>
                <a:spcPct val="100000"/>
              </a:lnSpc>
              <a:spcAft>
                <a:spcPts val="0"/>
              </a:spcAft>
            </a:pPr>
            <a:r>
              <a:rPr sz="1600" i="0">
                <a:solidFill>
                  <a:srgbClr val="E8EDF2"/>
                </a:solidFill>
                <a:latin typeface="Consolas"/>
              </a:rPr>
              <a:t>    </a:t>
            </a:r>
            <a:r>
              <a:rPr sz="1600" i="1">
                <a:solidFill>
                  <a:srgbClr val="8795A1"/>
                </a:solidFill>
                <a:latin typeface="Consolas"/>
              </a:rPr>
              <a:t># 5 points for auth-refresh, 3 for the dependency it pulled in,</a:t>
            </a:r>
          </a:p>
          <a:p>
            <a:pPr>
              <a:lnSpc>
                <a:spcPct val="100000"/>
              </a:lnSpc>
              <a:spcAft>
                <a:spcPts val="0"/>
              </a:spcAft>
            </a:pPr>
            <a:r>
              <a:rPr sz="1600" i="0">
                <a:solidFill>
                  <a:srgbClr val="E8EDF2"/>
                </a:solidFill>
                <a:latin typeface="Consolas"/>
              </a:rPr>
              <a:t>    </a:t>
            </a:r>
            <a:r>
              <a:rPr sz="1600" i="1">
                <a:solidFill>
                  <a:srgbClr val="8795A1"/>
                </a:solidFill>
                <a:latin typeface="Consolas"/>
              </a:rPr>
              <a:t># against a capacity of 8: it fits exactly, with nothing spare</a:t>
            </a:r>
          </a:p>
          <a:p>
            <a:pPr>
              <a:lnSpc>
                <a:spcPct val="100000"/>
              </a:lnSpc>
              <a:spcAft>
                <a:spcPts val="0"/>
              </a:spcAft>
            </a:pPr>
            <a:r>
              <a:rPr sz="1600" i="0">
                <a:solidFill>
                  <a:srgbClr val="E8EDF2"/>
                </a:solidFill>
                <a:latin typeface="Consolas"/>
              </a:rPr>
              <a:t>    </a:t>
            </a:r>
            <a:r>
              <a:rPr sz="1600" i="0">
                <a:solidFill>
                  <a:srgbClr val="5DADE2"/>
                </a:solidFill>
                <a:latin typeface="Consolas"/>
              </a:rPr>
              <a:t>assert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it fits</a:t>
            </a:r>
            <a:r>
              <a:rPr sz="1600" i="0">
                <a:solidFill>
                  <a:srgbClr val="7DCEA0"/>
                </a:solidFill>
                <a:latin typeface="Consolas"/>
              </a:rPr>
              <a:t>"</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E8EDF2"/>
                </a:solidFill>
                <a:latin typeface="Consolas"/>
              </a:rPr>
              <a:t>answer</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116</a:t>
            </a:r>
          </a:p>
          <a:p>
            <a:pPr algn="r">
              <a:lnSpc>
                <a:spcPct val="100000"/>
              </a:lnSpc>
            </a:pPr>
            <a:r>
              <a:rPr sz="1600">
                <a:solidFill>
                  <a:srgbClr val="4F5D6A"/>
                </a:solidFill>
                <a:latin typeface="Consolas"/>
              </a:rPr>
              <a:t>117</a:t>
            </a:r>
          </a:p>
          <a:p>
            <a:pPr algn="r">
              <a:lnSpc>
                <a:spcPct val="100000"/>
              </a:lnSpc>
            </a:pPr>
            <a:r>
              <a:rPr sz="1600">
                <a:solidFill>
                  <a:srgbClr val="4F5D6A"/>
                </a:solidFill>
                <a:latin typeface="Consolas"/>
              </a:rPr>
              <a:t>118</a:t>
            </a:r>
          </a:p>
          <a:p>
            <a:pPr algn="r">
              <a:lnSpc>
                <a:spcPct val="100000"/>
              </a:lnSpc>
            </a:pPr>
            <a:r>
              <a:rPr sz="1600">
                <a:solidFill>
                  <a:srgbClr val="4F5D6A"/>
                </a:solidFill>
                <a:latin typeface="Consolas"/>
              </a:rPr>
              <a:t>119</a:t>
            </a:r>
          </a:p>
          <a:p>
            <a:pPr algn="r">
              <a:lnSpc>
                <a:spcPct val="100000"/>
              </a:lnSpc>
            </a:pPr>
            <a:r>
              <a:rPr sz="1600">
                <a:solidFill>
                  <a:srgbClr val="4F5D6A"/>
                </a:solidFill>
                <a:latin typeface="Consolas"/>
              </a:rPr>
              <a:t>120</a:t>
            </a:r>
          </a:p>
          <a:p>
            <a:pPr algn="r">
              <a:lnSpc>
                <a:spcPct val="100000"/>
              </a:lnSpc>
            </a:pPr>
            <a:r>
              <a:rPr sz="1600">
                <a:solidFill>
                  <a:srgbClr val="4F5D6A"/>
                </a:solidFill>
                <a:latin typeface="Consolas"/>
              </a:rPr>
              <a:t>121</a:t>
            </a:r>
          </a:p>
          <a:p>
            <a:pPr algn="r">
              <a:lnSpc>
                <a:spcPct val="100000"/>
              </a:lnSpc>
            </a:pPr>
            <a:r>
              <a:rPr sz="1600">
                <a:solidFill>
                  <a:srgbClr val="4F5D6A"/>
                </a:solidFill>
                <a:latin typeface="Consolas"/>
              </a:rPr>
              <a:t>122</a:t>
            </a:r>
          </a:p>
          <a:p>
            <a:pPr algn="r">
              <a:lnSpc>
                <a:spcPct val="100000"/>
              </a:lnSpc>
            </a:pPr>
            <a:r>
              <a:rPr sz="1600">
                <a:solidFill>
                  <a:srgbClr val="4F5D6A"/>
                </a:solidFill>
                <a:latin typeface="Consolas"/>
              </a:rPr>
              <a:t>123</a:t>
            </a:r>
          </a:p>
          <a:p>
            <a:pPr algn="r">
              <a:lnSpc>
                <a:spcPct val="100000"/>
              </a:lnSpc>
            </a:pPr>
            <a:r>
              <a:rPr sz="1600">
                <a:solidFill>
                  <a:srgbClr val="4F5D6A"/>
                </a:solidFill>
                <a:latin typeface="Consolas"/>
              </a:rPr>
              <a:t>124</a:t>
            </a:r>
          </a:p>
          <a:p>
            <a:pPr algn="r">
              <a:lnSpc>
                <a:spcPct val="100000"/>
              </a:lnSpc>
            </a:pPr>
            <a:r>
              <a:rPr sz="1600">
                <a:solidFill>
                  <a:srgbClr val="4F5D6A"/>
                </a:solidFill>
                <a:latin typeface="Consolas"/>
              </a:rPr>
              <a:t>125</a:t>
            </a:r>
          </a:p>
          <a:p>
            <a:pPr algn="r">
              <a:lnSpc>
                <a:spcPct val="100000"/>
              </a:lnSpc>
            </a:pPr>
            <a:r>
              <a:rPr sz="1600">
                <a:solidFill>
                  <a:srgbClr val="4F5D6A"/>
                </a:solidFill>
                <a:latin typeface="Consolas"/>
              </a:rPr>
              <a:t>126</a:t>
            </a:r>
          </a:p>
          <a:p>
            <a:pPr algn="r">
              <a:lnSpc>
                <a:spcPct val="100000"/>
              </a:lnSpc>
            </a:pPr>
            <a:r>
              <a:rPr sz="1600">
                <a:solidFill>
                  <a:srgbClr val="4F5D6A"/>
                </a:solidFill>
                <a:latin typeface="Consolas"/>
              </a:rPr>
              <a:t>127</a:t>
            </a:r>
          </a:p>
          <a:p>
            <a:pPr algn="r">
              <a:lnSpc>
                <a:spcPct val="100000"/>
              </a:lnSpc>
            </a:pPr>
            <a:r>
              <a:rPr sz="1600">
                <a:solidFill>
                  <a:srgbClr val="4F5D6A"/>
                </a:solidFill>
                <a:latin typeface="Consolas"/>
              </a:rPr>
              <a:t>128</a:t>
            </a:r>
          </a:p>
          <a:p>
            <a:pPr algn="r">
              <a:lnSpc>
                <a:spcPct val="100000"/>
              </a:lnSpc>
            </a:pPr>
            <a:r>
              <a:rPr sz="1600">
                <a:solidFill>
                  <a:srgbClr val="4F5D6A"/>
                </a:solidFill>
                <a:latin typeface="Consolas"/>
              </a:rPr>
              <a:t>129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00373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10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C83CAD14-ED93-4EDC-BD80-21182B967CEA}"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The decision procedure: Chapter 13's rule engine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37104"/>
          </a:xfrm>
          <a:prstGeom prst="roundRect">
            <a:avLst>
              <a:gd name="adj" fmla="val 3340"/>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code/ch20_tool_using_agent.py</a:t>
            </a:r>
          </a:p>
        </p:txBody>
      </p:sp>
      <p:sp>
        <p:nvSpPr>
          <p:cNvPr id="14" name="!!code-text" descr="# every step has a named reason, and the run is reproducible a2, s2, _ = agent(&quot;auth-refresh&quot;) assert [x[1] for x in s2] == [x[1] for x in steps] print() print(&quot;Run it again and the trace is identical: the decision&quot;) print(&quot;procedure is a rule base, so the agent is reproducible&quot;) print(&quot;and every step names the rule that caused it.&quot;)"/>
          <p:cNvSpPr txBox="1"/>
          <p:nvPr/>
        </p:nvSpPr>
        <p:spPr>
          <a:xfrm>
            <a:off x="1362456" y="2523744"/>
            <a:ext cx="9987991" cy="2243328"/>
          </a:xfrm>
          <a:prstGeom prst="rect">
            <a:avLst/>
          </a:prstGeom>
          <a:noFill/>
        </p:spPr>
        <p:txBody>
          <a:bodyPr wrap="none" anchor="t" lIns="0" rIns="0" tIns="0" bIns="0">
            <a:noAutofit/>
          </a:bodyPr>
          <a:lstStyle/>
          <a:p>
            <a:pPr>
              <a:lnSpc>
                <a:spcPct val="100000"/>
              </a:lnSpc>
              <a:spcAft>
                <a:spcPts val="0"/>
              </a:spcAft>
            </a:pPr>
            <a:r>
              <a:rPr sz="2000" i="0">
                <a:solidFill>
                  <a:srgbClr val="E8EDF2"/>
                </a:solidFill>
                <a:latin typeface="Consolas"/>
              </a:rPr>
              <a:t>    </a:t>
            </a:r>
            <a:r>
              <a:rPr sz="2000" i="1">
                <a:solidFill>
                  <a:srgbClr val="8795A1"/>
                </a:solidFill>
                <a:latin typeface="Consolas"/>
              </a:rPr>
              <a:t># every step has a named reason, and the run is reproducible</a:t>
            </a:r>
          </a:p>
          <a:p>
            <a:pPr>
              <a:lnSpc>
                <a:spcPct val="100000"/>
              </a:lnSpc>
              <a:spcAft>
                <a:spcPts val="0"/>
              </a:spcAft>
            </a:pPr>
            <a:r>
              <a:rPr sz="2000" i="0">
                <a:solidFill>
                  <a:srgbClr val="E8EDF2"/>
                </a:solidFill>
                <a:latin typeface="Consolas"/>
              </a:rPr>
              <a:t>    </a:t>
            </a:r>
            <a:r>
              <a:rPr sz="2000" i="0">
                <a:solidFill>
                  <a:srgbClr val="E8EDF2"/>
                </a:solidFill>
                <a:latin typeface="Consolas"/>
              </a:rPr>
              <a:t>a2</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s2</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_</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E8EDF2"/>
                </a:solidFill>
                <a:latin typeface="Consolas"/>
              </a:rPr>
              <a:t>agent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auth-refresh</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5DADE2"/>
                </a:solidFill>
                <a:latin typeface="Consolas"/>
              </a:rPr>
              <a:t>assert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x</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x</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s2</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 </a:t>
            </a:r>
            <a:r>
              <a:rPr sz="2000" i="0">
                <a:solidFill>
                  <a:srgbClr val="AEB6BF"/>
                </a:solidFill>
                <a:latin typeface="Consolas"/>
              </a:rPr>
              <a:t>[</a:t>
            </a:r>
            <a:r>
              <a:rPr sz="2000" i="0">
                <a:solidFill>
                  <a:srgbClr val="E8EDF2"/>
                </a:solidFill>
                <a:latin typeface="Consolas"/>
              </a:rPr>
              <a:t>x</a:t>
            </a:r>
            <a:r>
              <a:rPr sz="2000" i="0">
                <a:solidFill>
                  <a:srgbClr val="AEB6BF"/>
                </a:solidFill>
                <a:latin typeface="Consolas"/>
              </a:rPr>
              <a:t>[</a:t>
            </a:r>
            <a:r>
              <a:rPr sz="2000" i="0">
                <a:solidFill>
                  <a:srgbClr val="F7DC6F"/>
                </a:solidFill>
                <a:latin typeface="Consolas"/>
              </a:rPr>
              <a:t>1</a:t>
            </a:r>
            <a:r>
              <a:rPr sz="2000" i="0">
                <a:solidFill>
                  <a:srgbClr val="AEB6BF"/>
                </a:solidFill>
                <a:latin typeface="Consolas"/>
              </a:rPr>
              <a:t>]</a:t>
            </a:r>
            <a:r>
              <a:rPr sz="2000" i="0">
                <a:solidFill>
                  <a:srgbClr val="E8EDF2"/>
                </a:solidFill>
                <a:latin typeface="Consolas"/>
              </a:rPr>
              <a:t> </a:t>
            </a:r>
            <a:r>
              <a:rPr sz="2000" i="0">
                <a:solidFill>
                  <a:srgbClr val="5DADE2"/>
                </a:solidFill>
                <a:latin typeface="Consolas"/>
              </a:rPr>
              <a:t>for</a:t>
            </a:r>
            <a:r>
              <a:rPr sz="2000" i="0">
                <a:solidFill>
                  <a:srgbClr val="E8EDF2"/>
                </a:solidFill>
                <a:latin typeface="Consolas"/>
              </a:rPr>
              <a:t> </a:t>
            </a:r>
            <a:r>
              <a:rPr sz="2000" i="0">
                <a:solidFill>
                  <a:srgbClr val="E8EDF2"/>
                </a:solidFill>
                <a:latin typeface="Consolas"/>
              </a:rPr>
              <a:t>x</a:t>
            </a:r>
            <a:r>
              <a:rPr sz="2000" i="0">
                <a:solidFill>
                  <a:srgbClr val="E8EDF2"/>
                </a:solidFill>
                <a:latin typeface="Consolas"/>
              </a:rPr>
              <a:t> </a:t>
            </a:r>
            <a:r>
              <a:rPr sz="2000" i="0">
                <a:solidFill>
                  <a:srgbClr val="AEB6BF"/>
                </a:solidFill>
                <a:latin typeface="Consolas"/>
              </a:rPr>
              <a:t>in</a:t>
            </a:r>
            <a:r>
              <a:rPr sz="2000" i="0">
                <a:solidFill>
                  <a:srgbClr val="E8EDF2"/>
                </a:solidFill>
                <a:latin typeface="Consolas"/>
              </a:rPr>
              <a:t> </a:t>
            </a:r>
            <a:r>
              <a:rPr sz="2000" i="0">
                <a:solidFill>
                  <a:srgbClr val="E8EDF2"/>
                </a:solidFill>
                <a:latin typeface="Consolas"/>
              </a:rPr>
              <a:t>steps</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Run it again and the trace is identical: the decision</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procedure is a rule base, so the agent is reproducible</a:t>
            </a:r>
            <a:r>
              <a:rPr sz="2000" i="0">
                <a:solidFill>
                  <a:srgbClr val="7DCEA0"/>
                </a:solidFill>
                <a:latin typeface="Consolas"/>
              </a:rPr>
              <a:t>"</a:t>
            </a:r>
            <a:r>
              <a:rPr sz="2000" i="0">
                <a:solidFill>
                  <a:srgbClr val="AEB6BF"/>
                </a:solidFill>
                <a:latin typeface="Consolas"/>
              </a:rPr>
              <a:t>)</a:t>
            </a:r>
          </a:p>
          <a:p>
            <a:pPr>
              <a:lnSpc>
                <a:spcPct val="100000"/>
              </a:lnSpc>
              <a:spcAft>
                <a:spcPts val="0"/>
              </a:spcAft>
            </a:pPr>
            <a:r>
              <a:rPr sz="2000" i="0">
                <a:solidFill>
                  <a:srgbClr val="E8EDF2"/>
                </a:solidFill>
                <a:latin typeface="Consolas"/>
              </a:rPr>
              <a:t>    </a:t>
            </a:r>
            <a:r>
              <a:rPr sz="2000" i="0">
                <a:solidFill>
                  <a:srgbClr val="C39BD3"/>
                </a:solidFill>
                <a:latin typeface="Consolas"/>
              </a:rPr>
              <a:t>print</a:t>
            </a:r>
            <a:r>
              <a:rPr sz="2000" i="0">
                <a:solidFill>
                  <a:srgbClr val="AEB6BF"/>
                </a:solidFill>
                <a:latin typeface="Consolas"/>
              </a:rPr>
              <a:t>(</a:t>
            </a:r>
            <a:r>
              <a:rPr sz="2000" i="0">
                <a:solidFill>
                  <a:srgbClr val="7DCEA0"/>
                </a:solidFill>
                <a:latin typeface="Consolas"/>
              </a:rPr>
              <a:t>"</a:t>
            </a:r>
            <a:r>
              <a:rPr sz="2000" i="0">
                <a:solidFill>
                  <a:srgbClr val="7DCEA0"/>
                </a:solidFill>
                <a:latin typeface="Consolas"/>
              </a:rPr>
              <a:t>and every step names the rule that caused it.</a:t>
            </a:r>
            <a:r>
              <a:rPr sz="2000" i="0">
                <a:solidFill>
                  <a:srgbClr val="7DCEA0"/>
                </a:solidFill>
                <a:latin typeface="Consolas"/>
              </a:rPr>
              <a:t>"</a:t>
            </a:r>
            <a:r>
              <a:rPr sz="2000" i="0">
                <a:solidFill>
                  <a:srgbClr val="AEB6BF"/>
                </a:solidFill>
                <a:latin typeface="Consolas"/>
              </a:rPr>
              <a:t>)</a:t>
            </a:r>
          </a:p>
        </p:txBody>
      </p:sp>
      <p:sp>
        <p:nvSpPr>
          <p:cNvPr id="15" name="!!code-num"/>
          <p:cNvSpPr txBox="1"/>
          <p:nvPr/>
        </p:nvSpPr>
        <p:spPr>
          <a:xfrm>
            <a:off x="768096" y="2523744"/>
            <a:ext cx="393192" cy="22433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131</a:t>
            </a:r>
          </a:p>
          <a:p>
            <a:pPr algn="r">
              <a:lnSpc>
                <a:spcPct val="100000"/>
              </a:lnSpc>
            </a:pPr>
            <a:r>
              <a:rPr sz="2000">
                <a:solidFill>
                  <a:srgbClr val="4F5D6A"/>
                </a:solidFill>
                <a:latin typeface="Consolas"/>
              </a:rPr>
              <a:t>132</a:t>
            </a:r>
          </a:p>
          <a:p>
            <a:pPr algn="r">
              <a:lnSpc>
                <a:spcPct val="100000"/>
              </a:lnSpc>
            </a:pPr>
            <a:r>
              <a:rPr sz="2000">
                <a:solidFill>
                  <a:srgbClr val="4F5D6A"/>
                </a:solidFill>
                <a:latin typeface="Consolas"/>
              </a:rPr>
              <a:t>133</a:t>
            </a:r>
          </a:p>
          <a:p>
            <a:pPr algn="r">
              <a:lnSpc>
                <a:spcPct val="100000"/>
              </a:lnSpc>
            </a:pPr>
            <a:r>
              <a:rPr sz="2000">
                <a:solidFill>
                  <a:srgbClr val="4F5D6A"/>
                </a:solidFill>
                <a:latin typeface="Consolas"/>
              </a:rPr>
              <a:t>134</a:t>
            </a:r>
          </a:p>
          <a:p>
            <a:pPr algn="r">
              <a:lnSpc>
                <a:spcPct val="100000"/>
              </a:lnSpc>
            </a:pPr>
            <a:r>
              <a:rPr sz="2000">
                <a:solidFill>
                  <a:srgbClr val="4F5D6A"/>
                </a:solidFill>
                <a:latin typeface="Consolas"/>
              </a:rPr>
              <a:t>135</a:t>
            </a:r>
          </a:p>
          <a:p>
            <a:pPr algn="r">
              <a:lnSpc>
                <a:spcPct val="100000"/>
              </a:lnSpc>
            </a:pPr>
            <a:r>
              <a:rPr sz="2000">
                <a:solidFill>
                  <a:srgbClr val="4F5D6A"/>
                </a:solidFill>
                <a:latin typeface="Consolas"/>
              </a:rPr>
              <a:t>136</a:t>
            </a:r>
          </a:p>
          <a:p>
            <a:pPr algn="r">
              <a:lnSpc>
                <a:spcPct val="100000"/>
              </a:lnSpc>
            </a:pPr>
            <a:r>
              <a:rPr sz="2000">
                <a:solidFill>
                  <a:srgbClr val="4F5D6A"/>
                </a:solidFill>
                <a:latin typeface="Consolas"/>
              </a:rPr>
              <a:t>137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26313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11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ED5532FE-E8F9-4B6F-8D8C-68C3583C1A62}"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 tool that fails, handled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209544"/>
          </a:xfrm>
          <a:prstGeom prst="roundRect">
            <a:avLst>
              <a:gd name="adj" fmla="val 284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code/ch20_tool_using_agent.py</a:t>
            </a:r>
          </a:p>
        </p:txBody>
      </p:sp>
      <p:sp>
        <p:nvSpPr>
          <p:cNvPr id="14" name="!!code-text" descr="# --- a tool that fails, handled -------------------------------- print() print(&quot;=== when a tool returns nothing ===&quot;) a3, s3, err3 = agent(&quot;does-not-exist&quot;) print(&quot; goal 'does-not-exist' -&gt;&quot;, err3) print(&quot; rule that caught it:&quot;, s3[-1][1]) assert err3.startswith(&quot;unknown task&quot;) print(&quot; One rule, 'unknown-task', turns a failed tool call into&quot;) print(&quot; an honest answer rather than a crash.&quot;)"/>
          <p:cNvSpPr txBox="1"/>
          <p:nvPr/>
        </p:nvSpPr>
        <p:spPr>
          <a:xfrm>
            <a:off x="1362456" y="2523744"/>
            <a:ext cx="9987991" cy="2715768"/>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1">
                <a:solidFill>
                  <a:srgbClr val="8795A1"/>
                </a:solidFill>
                <a:latin typeface="Consolas"/>
              </a:rPr>
              <a:t># --- a tool that fails, handled --------------------------------</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when a tool returns nothing ===</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a3</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s3</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err3</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agent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does-not-exist</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goal </a:t>
            </a:r>
            <a:r>
              <a:rPr sz="1900" i="0">
                <a:solidFill>
                  <a:srgbClr val="7DCEA0"/>
                </a:solidFill>
                <a:latin typeface="Consolas"/>
              </a:rPr>
              <a:t>'</a:t>
            </a:r>
            <a:r>
              <a:rPr sz="1900" i="0">
                <a:solidFill>
                  <a:srgbClr val="7DCEA0"/>
                </a:solidFill>
                <a:latin typeface="Consolas"/>
              </a:rPr>
              <a:t>does-not-exist</a:t>
            </a:r>
            <a:r>
              <a:rPr sz="1900" i="0">
                <a:solidFill>
                  <a:srgbClr val="7DCEA0"/>
                </a:solidFill>
                <a:latin typeface="Consolas"/>
              </a:rPr>
              <a:t>'</a:t>
            </a:r>
            <a:r>
              <a:rPr sz="1900" i="0">
                <a:solidFill>
                  <a:srgbClr val="7DCEA0"/>
                </a:solidFill>
                <a:latin typeface="Consolas"/>
              </a:rPr>
              <a:t> -&gt;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err3</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rule that caught it: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s3</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r>
              <a:rPr sz="1900" i="0">
                <a:solidFill>
                  <a:srgbClr val="F7DC6F"/>
                </a:solidFill>
                <a:latin typeface="Consolas"/>
              </a:rPr>
              <a:t>1</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err3</a:t>
            </a:r>
            <a:r>
              <a:rPr sz="1900" i="0">
                <a:solidFill>
                  <a:srgbClr val="AEB6BF"/>
                </a:solidFill>
                <a:latin typeface="Consolas"/>
              </a:rPr>
              <a:t>.</a:t>
            </a:r>
            <a:r>
              <a:rPr sz="1900" i="0">
                <a:solidFill>
                  <a:srgbClr val="E8EDF2"/>
                </a:solidFill>
                <a:latin typeface="Consolas"/>
              </a:rPr>
              <a:t>startswith</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unknown task</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One rule, </a:t>
            </a:r>
            <a:r>
              <a:rPr sz="1900" i="0">
                <a:solidFill>
                  <a:srgbClr val="7DCEA0"/>
                </a:solidFill>
                <a:latin typeface="Consolas"/>
              </a:rPr>
              <a:t>'</a:t>
            </a:r>
            <a:r>
              <a:rPr sz="1900" i="0">
                <a:solidFill>
                  <a:srgbClr val="7DCEA0"/>
                </a:solidFill>
                <a:latin typeface="Consolas"/>
              </a:rPr>
              <a:t>unknown-task</a:t>
            </a:r>
            <a:r>
              <a:rPr sz="1900" i="0">
                <a:solidFill>
                  <a:srgbClr val="7DCEA0"/>
                </a:solidFill>
                <a:latin typeface="Consolas"/>
              </a:rPr>
              <a:t>'</a:t>
            </a:r>
            <a:r>
              <a:rPr sz="1900" i="0">
                <a:solidFill>
                  <a:srgbClr val="7DCEA0"/>
                </a:solidFill>
                <a:latin typeface="Consolas"/>
              </a:rPr>
              <a:t>, turns a failed tool call into</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an honest answer rather than a crash.</a:t>
            </a:r>
            <a:r>
              <a:rPr sz="1900" i="0">
                <a:solidFill>
                  <a:srgbClr val="7DCEA0"/>
                </a:solidFill>
                <a:latin typeface="Consolas"/>
              </a:rPr>
              <a:t>"</a:t>
            </a:r>
            <a:r>
              <a:rPr sz="1900" i="0">
                <a:solidFill>
                  <a:srgbClr val="AEB6BF"/>
                </a:solidFill>
                <a:latin typeface="Consolas"/>
              </a:rPr>
              <a:t>)</a:t>
            </a:r>
          </a:p>
        </p:txBody>
      </p:sp>
      <p:sp>
        <p:nvSpPr>
          <p:cNvPr id="15" name="!!code-num"/>
          <p:cNvSpPr txBox="1"/>
          <p:nvPr/>
        </p:nvSpPr>
        <p:spPr>
          <a:xfrm>
            <a:off x="768096" y="2523744"/>
            <a:ext cx="393192" cy="271576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139</a:t>
            </a:r>
          </a:p>
          <a:p>
            <a:pPr algn="r">
              <a:lnSpc>
                <a:spcPct val="100000"/>
              </a:lnSpc>
            </a:pPr>
            <a:r>
              <a:rPr sz="1900">
                <a:solidFill>
                  <a:srgbClr val="4F5D6A"/>
                </a:solidFill>
                <a:latin typeface="Consolas"/>
              </a:rPr>
              <a:t>140</a:t>
            </a:r>
          </a:p>
          <a:p>
            <a:pPr algn="r">
              <a:lnSpc>
                <a:spcPct val="100000"/>
              </a:lnSpc>
            </a:pPr>
            <a:r>
              <a:rPr sz="1900">
                <a:solidFill>
                  <a:srgbClr val="4F5D6A"/>
                </a:solidFill>
                <a:latin typeface="Consolas"/>
              </a:rPr>
              <a:t>141</a:t>
            </a:r>
          </a:p>
          <a:p>
            <a:pPr algn="r">
              <a:lnSpc>
                <a:spcPct val="100000"/>
              </a:lnSpc>
            </a:pPr>
            <a:r>
              <a:rPr sz="1900">
                <a:solidFill>
                  <a:srgbClr val="4F5D6A"/>
                </a:solidFill>
                <a:latin typeface="Consolas"/>
              </a:rPr>
              <a:t>142</a:t>
            </a:r>
          </a:p>
          <a:p>
            <a:pPr algn="r">
              <a:lnSpc>
                <a:spcPct val="100000"/>
              </a:lnSpc>
            </a:pPr>
            <a:r>
              <a:rPr sz="1900">
                <a:solidFill>
                  <a:srgbClr val="4F5D6A"/>
                </a:solidFill>
                <a:latin typeface="Consolas"/>
              </a:rPr>
              <a:t>143</a:t>
            </a:r>
          </a:p>
          <a:p>
            <a:pPr algn="r">
              <a:lnSpc>
                <a:spcPct val="100000"/>
              </a:lnSpc>
            </a:pPr>
            <a:r>
              <a:rPr sz="1900">
                <a:solidFill>
                  <a:srgbClr val="4F5D6A"/>
                </a:solidFill>
                <a:latin typeface="Consolas"/>
              </a:rPr>
              <a:t>144</a:t>
            </a:r>
          </a:p>
          <a:p>
            <a:pPr algn="r">
              <a:lnSpc>
                <a:spcPct val="100000"/>
              </a:lnSpc>
            </a:pPr>
            <a:r>
              <a:rPr sz="1900">
                <a:solidFill>
                  <a:srgbClr val="4F5D6A"/>
                </a:solidFill>
                <a:latin typeface="Consolas"/>
              </a:rPr>
              <a:t>145</a:t>
            </a:r>
          </a:p>
          <a:p>
            <a:pPr algn="r">
              <a:lnSpc>
                <a:spcPct val="100000"/>
              </a:lnSpc>
            </a:pPr>
            <a:r>
              <a:rPr sz="1900">
                <a:solidFill>
                  <a:srgbClr val="4F5D6A"/>
                </a:solidFill>
                <a:latin typeface="Consolas"/>
              </a:rPr>
              <a:t>146</a:t>
            </a:r>
          </a:p>
          <a:p>
            <a:pPr algn="r">
              <a:lnSpc>
                <a:spcPct val="100000"/>
              </a:lnSpc>
            </a:pPr>
            <a:r>
              <a:rPr sz="1900">
                <a:solidFill>
                  <a:srgbClr val="4F5D6A"/>
                </a:solidFill>
                <a:latin typeface="Consolas"/>
              </a:rPr>
              <a:t>147</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522535"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12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B9F33A9F-4DB5-4292-8EF2-8BCE5DC9D3FD}"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And what happens without it</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017264"/>
          </a:xfrm>
          <a:prstGeom prst="roundRect">
            <a:avLst>
              <a:gd name="adj" fmla="val 2276"/>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code/ch20_tool_using_agent.py</a:t>
            </a:r>
          </a:p>
        </p:txBody>
      </p:sp>
      <p:sp>
        <p:nvSpPr>
          <p:cNvPr id="14" name="!!code-text" descr="# --- and what happens without it ------------------------------- print() print(&quot;=== the same agent with that rule removed ===&quot;) careless = [r for r in POLICY if r[0] != &quot;unknown-task&quot;] try: a4, s4, err4 = agent(&quot;does-not-exist&quot;, policy=careless) print(&quot; result:&quot;, err4 or a4) except TypeError as exc: print(&quot; TypeError: %s&quot; % exc) print(&quot; The tool returned None, no rule noticed, and the&quot;) print(&quot; None travelled all the way to the arithmetic at the&quot;) print(&quot; end. This is the commonest failure in deployed agent&quot;) print(&quot; systems, and note where it lives: in the POLICY, not&quot;) print(&quot; in the model at the centre.&quot;)"/>
          <p:cNvSpPr txBox="1"/>
          <p:nvPr/>
        </p:nvSpPr>
        <p:spPr>
          <a:xfrm>
            <a:off x="1362456" y="2523744"/>
            <a:ext cx="9987991" cy="3523487"/>
          </a:xfrm>
          <a:prstGeom prst="rect">
            <a:avLst/>
          </a:prstGeom>
          <a:noFill/>
        </p:spPr>
        <p:txBody>
          <a:bodyPr wrap="none" anchor="t" lIns="0" rIns="0" tIns="0" bIns="0">
            <a:noAutofit/>
          </a:bodyPr>
          <a:lstStyle/>
          <a:p>
            <a:pPr>
              <a:lnSpc>
                <a:spcPct val="100000"/>
              </a:lnSpc>
              <a:spcAft>
                <a:spcPts val="0"/>
              </a:spcAft>
            </a:pPr>
            <a:r>
              <a:rPr sz="1600" i="0">
                <a:solidFill>
                  <a:srgbClr val="E8EDF2"/>
                </a:solidFill>
                <a:latin typeface="Consolas"/>
              </a:rPr>
              <a:t>    </a:t>
            </a:r>
            <a:r>
              <a:rPr sz="1600" i="1">
                <a:solidFill>
                  <a:srgbClr val="8795A1"/>
                </a:solidFill>
                <a:latin typeface="Consolas"/>
              </a:rPr>
              <a:t># --- and what happens without it -------------------------------</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the same agent with that rule removed ===</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careless</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r</a:t>
            </a:r>
            <a:r>
              <a:rPr sz="1600" i="0">
                <a:solidFill>
                  <a:srgbClr val="E8EDF2"/>
                </a:solidFill>
                <a:latin typeface="Consolas"/>
              </a:rPr>
              <a:t> </a:t>
            </a:r>
            <a:r>
              <a:rPr sz="1600" i="0">
                <a:solidFill>
                  <a:srgbClr val="5DADE2"/>
                </a:solidFill>
                <a:latin typeface="Consolas"/>
              </a:rPr>
              <a:t>for</a:t>
            </a:r>
            <a:r>
              <a:rPr sz="1600" i="0">
                <a:solidFill>
                  <a:srgbClr val="E8EDF2"/>
                </a:solidFill>
                <a:latin typeface="Consolas"/>
              </a:rPr>
              <a:t> </a:t>
            </a:r>
            <a:r>
              <a:rPr sz="1600" i="0">
                <a:solidFill>
                  <a:srgbClr val="E8EDF2"/>
                </a:solidFill>
                <a:latin typeface="Consolas"/>
              </a:rPr>
              <a:t>r</a:t>
            </a:r>
            <a:r>
              <a:rPr sz="1600" i="0">
                <a:solidFill>
                  <a:srgbClr val="E8EDF2"/>
                </a:solidFill>
                <a:latin typeface="Consolas"/>
              </a:rPr>
              <a:t> </a:t>
            </a:r>
            <a:r>
              <a:rPr sz="1600" i="0">
                <a:solidFill>
                  <a:srgbClr val="AEB6BF"/>
                </a:solidFill>
                <a:latin typeface="Consolas"/>
              </a:rPr>
              <a:t>in</a:t>
            </a:r>
            <a:r>
              <a:rPr sz="1600" i="0">
                <a:solidFill>
                  <a:srgbClr val="E8EDF2"/>
                </a:solidFill>
                <a:latin typeface="Consolas"/>
              </a:rPr>
              <a:t> </a:t>
            </a:r>
            <a:r>
              <a:rPr sz="1600" i="0">
                <a:solidFill>
                  <a:srgbClr val="E8EDF2"/>
                </a:solidFill>
                <a:latin typeface="Consolas"/>
              </a:rPr>
              <a:t>POLICY</a:t>
            </a:r>
            <a:r>
              <a:rPr sz="1600" i="0">
                <a:solidFill>
                  <a:srgbClr val="E8EDF2"/>
                </a:solidFill>
                <a:latin typeface="Consolas"/>
              </a:rPr>
              <a:t> </a:t>
            </a:r>
            <a:r>
              <a:rPr sz="1600" i="0">
                <a:solidFill>
                  <a:srgbClr val="5DADE2"/>
                </a:solidFill>
                <a:latin typeface="Consolas"/>
              </a:rPr>
              <a:t>if</a:t>
            </a:r>
            <a:r>
              <a:rPr sz="1600" i="0">
                <a:solidFill>
                  <a:srgbClr val="E8EDF2"/>
                </a:solidFill>
                <a:latin typeface="Consolas"/>
              </a:rPr>
              <a:t> </a:t>
            </a:r>
            <a:r>
              <a:rPr sz="1600" i="0">
                <a:solidFill>
                  <a:srgbClr val="E8EDF2"/>
                </a:solidFill>
                <a:latin typeface="Consolas"/>
              </a:rPr>
              <a:t>r</a:t>
            </a:r>
            <a:r>
              <a:rPr sz="1600" i="0">
                <a:solidFill>
                  <a:srgbClr val="AEB6BF"/>
                </a:solidFill>
                <a:latin typeface="Consolas"/>
              </a:rPr>
              <a:t>[</a:t>
            </a:r>
            <a:r>
              <a:rPr sz="1600" i="0">
                <a:solidFill>
                  <a:srgbClr val="F7DC6F"/>
                </a:solidFill>
                <a:latin typeface="Consolas"/>
              </a:rPr>
              <a:t>0</a:t>
            </a:r>
            <a:r>
              <a:rPr sz="1600" i="0">
                <a:solidFill>
                  <a:srgbClr val="AEB6BF"/>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7DCEA0"/>
                </a:solidFill>
                <a:latin typeface="Consolas"/>
              </a:rPr>
              <a:t>"</a:t>
            </a:r>
            <a:r>
              <a:rPr sz="1600" i="0">
                <a:solidFill>
                  <a:srgbClr val="7DCEA0"/>
                </a:solidFill>
                <a:latin typeface="Consolas"/>
              </a:rPr>
              <a:t>unknown-task</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try</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E8EDF2"/>
                </a:solidFill>
                <a:latin typeface="Consolas"/>
              </a:rPr>
              <a:t>a4</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s4</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err4</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agent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does-not-exist</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policy</a:t>
            </a:r>
            <a:r>
              <a:rPr sz="1600" i="0">
                <a:solidFill>
                  <a:srgbClr val="AEB6BF"/>
                </a:solidFill>
                <a:latin typeface="Consolas"/>
              </a:rPr>
              <a:t>=</a:t>
            </a:r>
            <a:r>
              <a:rPr sz="1600" i="0">
                <a:solidFill>
                  <a:srgbClr val="E8EDF2"/>
                </a:solidFill>
                <a:latin typeface="Consolas"/>
              </a:rPr>
              <a:t>careless</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result:</a:t>
            </a:r>
            <a:r>
              <a:rPr sz="1600" i="0">
                <a:solidFill>
                  <a:srgbClr val="7DCEA0"/>
                </a:solidFill>
                <a:latin typeface="Consolas"/>
              </a:rPr>
              <a:t>"</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err4</a:t>
            </a:r>
            <a:r>
              <a:rPr sz="1600" i="0">
                <a:solidFill>
                  <a:srgbClr val="E8EDF2"/>
                </a:solidFill>
                <a:latin typeface="Consolas"/>
              </a:rPr>
              <a:t> </a:t>
            </a:r>
            <a:r>
              <a:rPr sz="1600" i="0">
                <a:solidFill>
                  <a:srgbClr val="AEB6BF"/>
                </a:solidFill>
                <a:latin typeface="Consolas"/>
              </a:rPr>
              <a:t>or</a:t>
            </a:r>
            <a:r>
              <a:rPr sz="1600" i="0">
                <a:solidFill>
                  <a:srgbClr val="E8EDF2"/>
                </a:solidFill>
                <a:latin typeface="Consolas"/>
              </a:rPr>
              <a:t> </a:t>
            </a:r>
            <a:r>
              <a:rPr sz="1600" i="0">
                <a:solidFill>
                  <a:srgbClr val="E8EDF2"/>
                </a:solidFill>
                <a:latin typeface="Consolas"/>
              </a:rPr>
              <a:t>a4</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5DADE2"/>
                </a:solidFill>
                <a:latin typeface="Consolas"/>
              </a:rPr>
              <a:t>except</a:t>
            </a:r>
            <a:r>
              <a:rPr sz="1600" i="0">
                <a:solidFill>
                  <a:srgbClr val="E8EDF2"/>
                </a:solidFill>
                <a:latin typeface="Consolas"/>
              </a:rPr>
              <a:t> </a:t>
            </a:r>
            <a:r>
              <a:rPr sz="1600" i="0">
                <a:solidFill>
                  <a:srgbClr val="E8EDF2"/>
                </a:solidFill>
                <a:latin typeface="Consolas"/>
              </a:rPr>
              <a:t>TypeError</a:t>
            </a:r>
            <a:r>
              <a:rPr sz="1600" i="0">
                <a:solidFill>
                  <a:srgbClr val="E8EDF2"/>
                </a:solidFill>
                <a:latin typeface="Consolas"/>
              </a:rPr>
              <a:t> </a:t>
            </a:r>
            <a:r>
              <a:rPr sz="1600" i="0">
                <a:solidFill>
                  <a:srgbClr val="5DADE2"/>
                </a:solidFill>
                <a:latin typeface="Consolas"/>
              </a:rPr>
              <a:t>as</a:t>
            </a:r>
            <a:r>
              <a:rPr sz="1600" i="0">
                <a:solidFill>
                  <a:srgbClr val="E8EDF2"/>
                </a:solidFill>
                <a:latin typeface="Consolas"/>
              </a:rPr>
              <a:t> </a:t>
            </a:r>
            <a:r>
              <a:rPr sz="1600" i="0">
                <a:solidFill>
                  <a:srgbClr val="E8EDF2"/>
                </a:solidFill>
                <a:latin typeface="Consolas"/>
              </a:rPr>
              <a:t>exc</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TypeError: </a:t>
            </a:r>
            <a:r>
              <a:rPr sz="1600" i="0">
                <a:solidFill>
                  <a:srgbClr val="7DCEA0"/>
                </a:solidFill>
                <a:latin typeface="Consolas"/>
              </a:rPr>
              <a:t>%s</a:t>
            </a:r>
            <a:r>
              <a:rPr sz="1600" i="0">
                <a:solidFill>
                  <a:srgbClr val="7DCEA0"/>
                </a:solidFill>
                <a:latin typeface="Consolas"/>
              </a:rPr>
              <a:t>"</a:t>
            </a:r>
            <a:r>
              <a:rPr sz="1600" i="0">
                <a:solidFill>
                  <a:srgbClr val="E8EDF2"/>
                </a:solidFill>
                <a:latin typeface="Consolas"/>
              </a:rPr>
              <a:t> </a:t>
            </a:r>
            <a:r>
              <a:rPr sz="1600" i="0">
                <a:solidFill>
                  <a:srgbClr val="AEB6BF"/>
                </a:solidFill>
                <a:latin typeface="Consolas"/>
              </a:rPr>
              <a:t>%</a:t>
            </a:r>
            <a:r>
              <a:rPr sz="1600" i="0">
                <a:solidFill>
                  <a:srgbClr val="E8EDF2"/>
                </a:solidFill>
                <a:latin typeface="Consolas"/>
              </a:rPr>
              <a:t> </a:t>
            </a:r>
            <a:r>
              <a:rPr sz="1600" i="0">
                <a:solidFill>
                  <a:srgbClr val="E8EDF2"/>
                </a:solidFill>
                <a:latin typeface="Consolas"/>
              </a:rPr>
              <a:t>exc</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The tool returned None, no rule noticed, and the</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None travelled all the way to the arithmetic at the</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end. This is the commonest failure in deployed agent</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systems, and note where it lives: in the POLICY, not</a:t>
            </a:r>
            <a:r>
              <a:rPr sz="1600" i="0">
                <a:solidFill>
                  <a:srgbClr val="7DCEA0"/>
                </a:solidFill>
                <a:latin typeface="Consolas"/>
              </a:rPr>
              <a:t>"</a:t>
            </a:r>
            <a:r>
              <a:rPr sz="1600" i="0">
                <a:solidFill>
                  <a:srgbClr val="AEB6BF"/>
                </a:solidFill>
                <a:latin typeface="Consolas"/>
              </a:rPr>
              <a:t>)</a:t>
            </a:r>
          </a:p>
          <a:p>
            <a:pPr>
              <a:lnSpc>
                <a:spcPct val="100000"/>
              </a:lnSpc>
              <a:spcAft>
                <a:spcPts val="0"/>
              </a:spcAft>
            </a:pPr>
            <a:r>
              <a:rPr sz="1600" i="0">
                <a:solidFill>
                  <a:srgbClr val="E8EDF2"/>
                </a:solidFill>
                <a:latin typeface="Consolas"/>
              </a:rPr>
              <a:t>        </a:t>
            </a:r>
            <a:r>
              <a:rPr sz="1600" i="0">
                <a:solidFill>
                  <a:srgbClr val="C39BD3"/>
                </a:solidFill>
                <a:latin typeface="Consolas"/>
              </a:rPr>
              <a:t>print</a:t>
            </a:r>
            <a:r>
              <a:rPr sz="1600" i="0">
                <a:solidFill>
                  <a:srgbClr val="AEB6BF"/>
                </a:solidFill>
                <a:latin typeface="Consolas"/>
              </a:rPr>
              <a:t>(</a:t>
            </a:r>
            <a:r>
              <a:rPr sz="1600" i="0">
                <a:solidFill>
                  <a:srgbClr val="7DCEA0"/>
                </a:solidFill>
                <a:latin typeface="Consolas"/>
              </a:rPr>
              <a:t>"</a:t>
            </a:r>
            <a:r>
              <a:rPr sz="1600" i="0">
                <a:solidFill>
                  <a:srgbClr val="7DCEA0"/>
                </a:solidFill>
                <a:latin typeface="Consolas"/>
              </a:rPr>
              <a:t>   in the model at the centre.</a:t>
            </a:r>
            <a:r>
              <a:rPr sz="1600" i="0">
                <a:solidFill>
                  <a:srgbClr val="7DCEA0"/>
                </a:solidFill>
                <a:latin typeface="Consolas"/>
              </a:rPr>
              <a:t>"</a:t>
            </a:r>
            <a:r>
              <a:rPr sz="1600" i="0">
                <a:solidFill>
                  <a:srgbClr val="AEB6BF"/>
                </a:solidFill>
                <a:latin typeface="Consolas"/>
              </a:rPr>
              <a:t>)</a:t>
            </a:r>
          </a:p>
        </p:txBody>
      </p:sp>
      <p:sp>
        <p:nvSpPr>
          <p:cNvPr id="15" name="!!code-num"/>
          <p:cNvSpPr txBox="1"/>
          <p:nvPr/>
        </p:nvSpPr>
        <p:spPr>
          <a:xfrm>
            <a:off x="768096" y="2523744"/>
            <a:ext cx="393192" cy="3523487"/>
          </a:xfrm>
          <a:prstGeom prst="rect">
            <a:avLst/>
          </a:prstGeom>
          <a:noFill/>
        </p:spPr>
        <p:txBody>
          <a:bodyPr wrap="none" anchor="t" lIns="0" rIns="0" tIns="0" bIns="0">
            <a:noAutofit/>
          </a:bodyPr>
          <a:lstStyle/>
          <a:p>
            <a:pPr algn="r">
              <a:lnSpc>
                <a:spcPct val="100000"/>
              </a:lnSpc>
            </a:pPr>
            <a:r>
              <a:rPr sz="1600">
                <a:solidFill>
                  <a:srgbClr val="4F5D6A"/>
                </a:solidFill>
                <a:latin typeface="Consolas"/>
              </a:rPr>
              <a:t>149</a:t>
            </a:r>
          </a:p>
          <a:p>
            <a:pPr algn="r">
              <a:lnSpc>
                <a:spcPct val="100000"/>
              </a:lnSpc>
            </a:pPr>
            <a:r>
              <a:rPr sz="1600">
                <a:solidFill>
                  <a:srgbClr val="4F5D6A"/>
                </a:solidFill>
                <a:latin typeface="Consolas"/>
              </a:rPr>
              <a:t>150</a:t>
            </a:r>
          </a:p>
          <a:p>
            <a:pPr algn="r">
              <a:lnSpc>
                <a:spcPct val="100000"/>
              </a:lnSpc>
            </a:pPr>
            <a:r>
              <a:rPr sz="1600">
                <a:solidFill>
                  <a:srgbClr val="4F5D6A"/>
                </a:solidFill>
                <a:latin typeface="Consolas"/>
              </a:rPr>
              <a:t>151</a:t>
            </a:r>
          </a:p>
          <a:p>
            <a:pPr algn="r">
              <a:lnSpc>
                <a:spcPct val="100000"/>
              </a:lnSpc>
            </a:pPr>
            <a:r>
              <a:rPr sz="1600">
                <a:solidFill>
                  <a:srgbClr val="4F5D6A"/>
                </a:solidFill>
                <a:latin typeface="Consolas"/>
              </a:rPr>
              <a:t>152</a:t>
            </a:r>
          </a:p>
          <a:p>
            <a:pPr algn="r">
              <a:lnSpc>
                <a:spcPct val="100000"/>
              </a:lnSpc>
            </a:pPr>
            <a:r>
              <a:rPr sz="1600">
                <a:solidFill>
                  <a:srgbClr val="4F5D6A"/>
                </a:solidFill>
                <a:latin typeface="Consolas"/>
              </a:rPr>
              <a:t>153</a:t>
            </a:r>
          </a:p>
          <a:p>
            <a:pPr algn="r">
              <a:lnSpc>
                <a:spcPct val="100000"/>
              </a:lnSpc>
            </a:pPr>
            <a:r>
              <a:rPr sz="1600">
                <a:solidFill>
                  <a:srgbClr val="4F5D6A"/>
                </a:solidFill>
                <a:latin typeface="Consolas"/>
              </a:rPr>
              <a:t>154</a:t>
            </a:r>
          </a:p>
          <a:p>
            <a:pPr algn="r">
              <a:lnSpc>
                <a:spcPct val="100000"/>
              </a:lnSpc>
            </a:pPr>
            <a:r>
              <a:rPr sz="1600">
                <a:solidFill>
                  <a:srgbClr val="4F5D6A"/>
                </a:solidFill>
                <a:latin typeface="Consolas"/>
              </a:rPr>
              <a:t>155</a:t>
            </a:r>
          </a:p>
          <a:p>
            <a:pPr algn="r">
              <a:lnSpc>
                <a:spcPct val="100000"/>
              </a:lnSpc>
            </a:pPr>
            <a:r>
              <a:rPr sz="1600">
                <a:solidFill>
                  <a:srgbClr val="4F5D6A"/>
                </a:solidFill>
                <a:latin typeface="Consolas"/>
              </a:rPr>
              <a:t>156</a:t>
            </a:r>
          </a:p>
          <a:p>
            <a:pPr algn="r">
              <a:lnSpc>
                <a:spcPct val="100000"/>
              </a:lnSpc>
            </a:pPr>
            <a:r>
              <a:rPr sz="1600">
                <a:solidFill>
                  <a:srgbClr val="4F5D6A"/>
                </a:solidFill>
                <a:latin typeface="Consolas"/>
              </a:rPr>
              <a:t>157</a:t>
            </a:r>
          </a:p>
          <a:p>
            <a:pPr algn="r">
              <a:lnSpc>
                <a:spcPct val="100000"/>
              </a:lnSpc>
            </a:pPr>
            <a:r>
              <a:rPr sz="1600">
                <a:solidFill>
                  <a:srgbClr val="4F5D6A"/>
                </a:solidFill>
                <a:latin typeface="Consolas"/>
              </a:rPr>
              <a:t>158</a:t>
            </a:r>
          </a:p>
          <a:p>
            <a:pPr algn="r">
              <a:lnSpc>
                <a:spcPct val="100000"/>
              </a:lnSpc>
            </a:pPr>
            <a:r>
              <a:rPr sz="1600">
                <a:solidFill>
                  <a:srgbClr val="4F5D6A"/>
                </a:solidFill>
                <a:latin typeface="Consolas"/>
              </a:rPr>
              <a:t>159</a:t>
            </a:r>
          </a:p>
          <a:p>
            <a:pPr algn="r">
              <a:lnSpc>
                <a:spcPct val="100000"/>
              </a:lnSpc>
            </a:pPr>
            <a:r>
              <a:rPr sz="1600">
                <a:solidFill>
                  <a:srgbClr val="4F5D6A"/>
                </a:solidFill>
                <a:latin typeface="Consolas"/>
              </a:rPr>
              <a:t>160</a:t>
            </a:r>
          </a:p>
          <a:p>
            <a:pPr algn="r">
              <a:lnSpc>
                <a:spcPct val="100000"/>
              </a:lnSpc>
            </a:pPr>
            <a:r>
              <a:rPr sz="1600">
                <a:solidFill>
                  <a:srgbClr val="4F5D6A"/>
                </a:solidFill>
                <a:latin typeface="Consolas"/>
              </a:rPr>
              <a:t>161</a:t>
            </a:r>
          </a:p>
          <a:p>
            <a:pPr algn="r">
              <a:lnSpc>
                <a:spcPct val="100000"/>
              </a:lnSpc>
            </a:pPr>
            <a:r>
              <a:rPr sz="1600">
                <a:solidFill>
                  <a:srgbClr val="4F5D6A"/>
                </a:solidFill>
                <a:latin typeface="Consolas"/>
              </a:rPr>
              <a:t>162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78193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13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DACB342E-645F-4E00-BC3F-79E646FF1A99}" type="slidenum">
              <a:rPr lang="en-GB" sz="1000">
                <a:solidFill>
                  <a:srgbClr val="8795A1"/>
                </a:solidFill>
                <a:latin typeface="Segoe UI"/>
              </a:rPr>
              <a:t>31</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And what happens without it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209544"/>
          </a:xfrm>
          <a:prstGeom prst="roundRect">
            <a:avLst>
              <a:gd name="adj" fmla="val 2849"/>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code/ch20_tool_using_agent.py</a:t>
            </a:r>
          </a:p>
        </p:txBody>
      </p:sp>
      <p:sp>
        <p:nvSpPr>
          <p:cNvPr id="14" name="!!code-text" descr="# the step budget is the other guard print() print(&quot;=== what the step budget is for ===&quot;) spinner = [(&quot;always-ask&quot;, lambda k: True, lambda k: (&quot;call&quot;, &quot;capacity&quot;, None))] a5, s5, err5 = agent(&quot;auth-refresh&quot;, policy=spinner) print(&quot; a policy that never terminates -&gt;&quot;, err5) print(&quot; it ran %d steps and was stopped by the budget.&quot; % len(s5)) assert err5 == &quot;budget exhausted&quot; and len(s5) == BUDGET"/>
          <p:cNvSpPr txBox="1"/>
          <p:nvPr/>
        </p:nvSpPr>
        <p:spPr>
          <a:xfrm>
            <a:off x="1362456" y="2523744"/>
            <a:ext cx="9987991" cy="2715768"/>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1">
                <a:solidFill>
                  <a:srgbClr val="8795A1"/>
                </a:solidFill>
                <a:latin typeface="Consolas"/>
              </a:rPr>
              <a:t># the step budget is the other guard</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what the step budget is for ===</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spinner</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always-ask</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lambda</a:t>
            </a:r>
            <a:r>
              <a:rPr sz="1900" i="0">
                <a:solidFill>
                  <a:srgbClr val="E8EDF2"/>
                </a:solidFill>
                <a:latin typeface="Consolas"/>
              </a:rPr>
              <a:t> </a:t>
            </a:r>
            <a:r>
              <a:rPr sz="1900" i="0">
                <a:solidFill>
                  <a:srgbClr val="E8EDF2"/>
                </a:solidFill>
                <a:latin typeface="Consolas"/>
              </a:rPr>
              <a:t>k</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True</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lambda</a:t>
            </a:r>
            <a:r>
              <a:rPr sz="1900" i="0">
                <a:solidFill>
                  <a:srgbClr val="E8EDF2"/>
                </a:solidFill>
                <a:latin typeface="Consolas"/>
              </a:rPr>
              <a:t> </a:t>
            </a:r>
            <a:r>
              <a:rPr sz="1900" i="0">
                <a:solidFill>
                  <a:srgbClr val="E8EDF2"/>
                </a:solidFill>
                <a:latin typeface="Consolas"/>
              </a:rPr>
              <a:t>k</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call</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capacity</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5DADE2"/>
                </a:solidFill>
                <a:latin typeface="Consolas"/>
              </a:rPr>
              <a:t>None</a:t>
            </a:r>
            <a:r>
              <a:rPr sz="1900" i="0">
                <a:solidFill>
                  <a:srgbClr val="AEB6BF"/>
                </a:solidFill>
                <a:latin typeface="Consolas"/>
              </a:rPr>
              <a: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E8EDF2"/>
                </a:solidFill>
                <a:latin typeface="Consolas"/>
              </a:rPr>
              <a:t>a5</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s5</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err5</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agent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auth-refresh</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policy</a:t>
            </a:r>
            <a:r>
              <a:rPr sz="1900" i="0">
                <a:solidFill>
                  <a:srgbClr val="AEB6BF"/>
                </a:solidFill>
                <a:latin typeface="Consolas"/>
              </a:rPr>
              <a:t>=</a:t>
            </a:r>
            <a:r>
              <a:rPr sz="1900" i="0">
                <a:solidFill>
                  <a:srgbClr val="E8EDF2"/>
                </a:solidFill>
                <a:latin typeface="Consolas"/>
              </a:rPr>
              <a:t>spinner</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a policy that never terminates -&gt;</a:t>
            </a:r>
            <a:r>
              <a:rPr sz="1900" i="0">
                <a:solidFill>
                  <a:srgbClr val="7DCEA0"/>
                </a:solidFill>
                <a:latin typeface="Consolas"/>
              </a:rPr>
              <a:t>"</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err5</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it ran </a:t>
            </a:r>
            <a:r>
              <a:rPr sz="1900" i="0">
                <a:solidFill>
                  <a:srgbClr val="7DCEA0"/>
                </a:solidFill>
                <a:latin typeface="Consolas"/>
              </a:rPr>
              <a:t>%d</a:t>
            </a:r>
            <a:r>
              <a:rPr sz="1900" i="0">
                <a:solidFill>
                  <a:srgbClr val="7DCEA0"/>
                </a:solidFill>
                <a:latin typeface="Consolas"/>
              </a:rPr>
              <a:t> steps and was stopped by the budget.</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C39BD3"/>
                </a:solidFill>
                <a:latin typeface="Consolas"/>
              </a:rPr>
              <a:t>len</a:t>
            </a:r>
            <a:r>
              <a:rPr sz="1900" i="0">
                <a:solidFill>
                  <a:srgbClr val="AEB6BF"/>
                </a:solidFill>
                <a:latin typeface="Consolas"/>
              </a:rPr>
              <a:t>(</a:t>
            </a:r>
            <a:r>
              <a:rPr sz="1900" i="0">
                <a:solidFill>
                  <a:srgbClr val="E8EDF2"/>
                </a:solidFill>
                <a:latin typeface="Consolas"/>
              </a:rPr>
              <a:t>s5</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5DADE2"/>
                </a:solidFill>
                <a:latin typeface="Consolas"/>
              </a:rPr>
              <a:t>assert</a:t>
            </a:r>
            <a:r>
              <a:rPr sz="1900" i="0">
                <a:solidFill>
                  <a:srgbClr val="E8EDF2"/>
                </a:solidFill>
                <a:latin typeface="Consolas"/>
              </a:rPr>
              <a:t> </a:t>
            </a:r>
            <a:r>
              <a:rPr sz="1900" i="0">
                <a:solidFill>
                  <a:srgbClr val="E8EDF2"/>
                </a:solidFill>
                <a:latin typeface="Consolas"/>
              </a:rPr>
              <a:t>err5</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7DCEA0"/>
                </a:solidFill>
                <a:latin typeface="Consolas"/>
              </a:rPr>
              <a:t>"</a:t>
            </a:r>
            <a:r>
              <a:rPr sz="1900" i="0">
                <a:solidFill>
                  <a:srgbClr val="7DCEA0"/>
                </a:solidFill>
                <a:latin typeface="Consolas"/>
              </a:rPr>
              <a:t>budget exhausted</a:t>
            </a:r>
            <a:r>
              <a:rPr sz="1900" i="0">
                <a:solidFill>
                  <a:srgbClr val="7DCEA0"/>
                </a:solidFill>
                <a:latin typeface="Consolas"/>
              </a:rPr>
              <a:t>"</a:t>
            </a:r>
            <a:r>
              <a:rPr sz="1900" i="0">
                <a:solidFill>
                  <a:srgbClr val="E8EDF2"/>
                </a:solidFill>
                <a:latin typeface="Consolas"/>
              </a:rPr>
              <a:t> </a:t>
            </a:r>
            <a:r>
              <a:rPr sz="1900" i="0">
                <a:solidFill>
                  <a:srgbClr val="AEB6BF"/>
                </a:solidFill>
                <a:latin typeface="Consolas"/>
              </a:rPr>
              <a:t>and</a:t>
            </a:r>
            <a:r>
              <a:rPr sz="1900" i="0">
                <a:solidFill>
                  <a:srgbClr val="E8EDF2"/>
                </a:solidFill>
                <a:latin typeface="Consolas"/>
              </a:rPr>
              <a:t> </a:t>
            </a:r>
            <a:r>
              <a:rPr sz="1900" i="0">
                <a:solidFill>
                  <a:srgbClr val="C39BD3"/>
                </a:solidFill>
                <a:latin typeface="Consolas"/>
              </a:rPr>
              <a:t>len</a:t>
            </a:r>
            <a:r>
              <a:rPr sz="1900" i="0">
                <a:solidFill>
                  <a:srgbClr val="AEB6BF"/>
                </a:solidFill>
                <a:latin typeface="Consolas"/>
              </a:rPr>
              <a:t>(</a:t>
            </a:r>
            <a:r>
              <a:rPr sz="1900" i="0">
                <a:solidFill>
                  <a:srgbClr val="E8EDF2"/>
                </a:solidFill>
                <a:latin typeface="Consolas"/>
              </a:rPr>
              <a:t>s5</a:t>
            </a:r>
            <a:r>
              <a:rPr sz="1900" i="0">
                <a:solidFill>
                  <a:srgbClr val="AEB6BF"/>
                </a:solidFill>
                <a:latin typeface="Consolas"/>
              </a:rPr>
              <a:t>)</a:t>
            </a:r>
            <a:r>
              <a:rPr sz="1900" i="0">
                <a:solidFill>
                  <a:srgbClr val="E8EDF2"/>
                </a:solidFill>
                <a:latin typeface="Consolas"/>
              </a:rPr>
              <a:t> </a:t>
            </a:r>
            <a:r>
              <a:rPr sz="1900" i="0">
                <a:solidFill>
                  <a:srgbClr val="AEB6BF"/>
                </a:solidFill>
                <a:latin typeface="Consolas"/>
              </a:rPr>
              <a:t>==</a:t>
            </a:r>
            <a:r>
              <a:rPr sz="1900" i="0">
                <a:solidFill>
                  <a:srgbClr val="E8EDF2"/>
                </a:solidFill>
                <a:latin typeface="Consolas"/>
              </a:rPr>
              <a:t> </a:t>
            </a:r>
            <a:r>
              <a:rPr sz="1900" i="0">
                <a:solidFill>
                  <a:srgbClr val="E8EDF2"/>
                </a:solidFill>
                <a:latin typeface="Consolas"/>
              </a:rPr>
              <a:t>BUDGET</a:t>
            </a:r>
          </a:p>
        </p:txBody>
      </p:sp>
      <p:sp>
        <p:nvSpPr>
          <p:cNvPr id="15" name="!!code-num"/>
          <p:cNvSpPr txBox="1"/>
          <p:nvPr/>
        </p:nvSpPr>
        <p:spPr>
          <a:xfrm>
            <a:off x="768096" y="2523744"/>
            <a:ext cx="393192" cy="2715768"/>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164</a:t>
            </a:r>
          </a:p>
          <a:p>
            <a:pPr algn="r">
              <a:lnSpc>
                <a:spcPct val="100000"/>
              </a:lnSpc>
            </a:pPr>
            <a:r>
              <a:rPr sz="1900">
                <a:solidFill>
                  <a:srgbClr val="4F5D6A"/>
                </a:solidFill>
                <a:latin typeface="Consolas"/>
              </a:rPr>
              <a:t>165</a:t>
            </a:r>
          </a:p>
          <a:p>
            <a:pPr algn="r">
              <a:lnSpc>
                <a:spcPct val="100000"/>
              </a:lnSpc>
            </a:pPr>
            <a:r>
              <a:rPr sz="1900">
                <a:solidFill>
                  <a:srgbClr val="4F5D6A"/>
                </a:solidFill>
                <a:latin typeface="Consolas"/>
              </a:rPr>
              <a:t>166</a:t>
            </a:r>
          </a:p>
          <a:p>
            <a:pPr algn="r">
              <a:lnSpc>
                <a:spcPct val="100000"/>
              </a:lnSpc>
            </a:pPr>
            <a:r>
              <a:rPr sz="1900">
                <a:solidFill>
                  <a:srgbClr val="4F5D6A"/>
                </a:solidFill>
                <a:latin typeface="Consolas"/>
              </a:rPr>
              <a:t>167</a:t>
            </a:r>
          </a:p>
          <a:p>
            <a:pPr algn="r">
              <a:lnSpc>
                <a:spcPct val="100000"/>
              </a:lnSpc>
            </a:pPr>
            <a:r>
              <a:rPr sz="1900">
                <a:solidFill>
                  <a:srgbClr val="4F5D6A"/>
                </a:solidFill>
                <a:latin typeface="Consolas"/>
              </a:rPr>
              <a:t>168</a:t>
            </a:r>
          </a:p>
          <a:p>
            <a:pPr algn="r">
              <a:lnSpc>
                <a:spcPct val="100000"/>
              </a:lnSpc>
            </a:pPr>
            <a:r>
              <a:rPr sz="1900">
                <a:solidFill>
                  <a:srgbClr val="4F5D6A"/>
                </a:solidFill>
                <a:latin typeface="Consolas"/>
              </a:rPr>
              <a:t>169</a:t>
            </a:r>
          </a:p>
          <a:p>
            <a:pPr algn="r">
              <a:lnSpc>
                <a:spcPct val="100000"/>
              </a:lnSpc>
            </a:pPr>
            <a:r>
              <a:rPr sz="1900">
                <a:solidFill>
                  <a:srgbClr val="4F5D6A"/>
                </a:solidFill>
                <a:latin typeface="Consolas"/>
              </a:rPr>
              <a:t>170</a:t>
            </a:r>
          </a:p>
          <a:p>
            <a:pPr algn="r">
              <a:lnSpc>
                <a:spcPct val="100000"/>
              </a:lnSpc>
            </a:pPr>
            <a:r>
              <a:rPr sz="1900">
                <a:solidFill>
                  <a:srgbClr val="4F5D6A"/>
                </a:solidFill>
                <a:latin typeface="Consolas"/>
              </a:rPr>
              <a:t>171</a:t>
            </a:r>
          </a:p>
          <a:p>
            <a:pPr algn="r">
              <a:lnSpc>
                <a:spcPct val="100000"/>
              </a:lnSpc>
            </a:pPr>
            <a:r>
              <a:rPr sz="1900">
                <a:solidFill>
                  <a:srgbClr val="4F5D6A"/>
                </a:solidFill>
                <a:latin typeface="Consolas"/>
              </a:rPr>
              <a:t>172</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04133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A Tool-Using Agent, Offline</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14 OF 14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7F5C2B94-E44B-49F1-9FBB-0E14E8B9F5A5}" type="slidenum">
              <a:rPr lang="en-GB" sz="1000">
                <a:solidFill>
                  <a:srgbClr val="8795A1"/>
                </a:solidFill>
                <a:latin typeface="Segoe UI"/>
              </a:rPr>
              <a:t>32</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What is symbolic and what would be learned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788663"/>
          </a:xfrm>
          <a:prstGeom prst="roundRect">
            <a:avLst>
              <a:gd name="adj" fmla="val 2413"/>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code/ch20_tool_using_agent.py</a:t>
            </a:r>
          </a:p>
        </p:txBody>
      </p:sp>
      <p:sp>
        <p:nvSpPr>
          <p:cNvPr id="14" name="!!code-text" descr="# --- what is symbolic and what would be learned ---------------- print() print(&quot;=== which part would a language model replace? ===&quot;) print(&quot; the LOOP -- no, ordinary engineering&quot;) print(&quot; the TOOLS -- no, they read a database&quot;) print(&quot; the STEP BUDGET -- no, and it is load-bearing&quot;) print(&quot; the TERMINATION -- no&quot;) print(&quot; the DECISION RULE -- YES, this is the part&quot;) print() print(&quot; Five of the six components are unchanged. Most of what&quot;) print(&quot; makes an agent work or fail lives in the five.&quot;)"/>
          <p:cNvSpPr txBox="1"/>
          <p:nvPr/>
        </p:nvSpPr>
        <p:spPr>
          <a:xfrm>
            <a:off x="1362456" y="2523744"/>
            <a:ext cx="9987991" cy="3294887"/>
          </a:xfrm>
          <a:prstGeom prst="rect">
            <a:avLst/>
          </a:prstGeom>
          <a:noFill/>
        </p:spPr>
        <p:txBody>
          <a:bodyPr wrap="none" anchor="t" lIns="0" rIns="0" tIns="0" bIns="0">
            <a:noAutofit/>
          </a:bodyPr>
          <a:lstStyle/>
          <a:p>
            <a:pPr>
              <a:lnSpc>
                <a:spcPct val="100000"/>
              </a:lnSpc>
              <a:spcAft>
                <a:spcPts val="0"/>
              </a:spcAft>
            </a:pPr>
            <a:r>
              <a:rPr sz="1900" i="0">
                <a:solidFill>
                  <a:srgbClr val="E8EDF2"/>
                </a:solidFill>
                <a:latin typeface="Consolas"/>
              </a:rPr>
              <a:t>    </a:t>
            </a:r>
            <a:r>
              <a:rPr sz="1900" i="1">
                <a:solidFill>
                  <a:srgbClr val="8795A1"/>
                </a:solidFill>
                <a:latin typeface="Consolas"/>
              </a:rPr>
              <a:t># --- what is symbolic and what would be learned ----------------</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which part would a language model replace? ===</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the LOOP            -- no, ordinary engineering</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the TOOLS           -- no, they read a database</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the STEP BUDGET     -- no, and it is load-bearing</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the TERMINATION     -- no</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the DECISION RULE   -- YES, this is the part</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Five of the six components are unchanged. Most of what</a:t>
            </a:r>
            <a:r>
              <a:rPr sz="1900" i="0">
                <a:solidFill>
                  <a:srgbClr val="7DCEA0"/>
                </a:solidFill>
                <a:latin typeface="Consolas"/>
              </a:rPr>
              <a:t>"</a:t>
            </a:r>
            <a:r>
              <a:rPr sz="1900" i="0">
                <a:solidFill>
                  <a:srgbClr val="AEB6BF"/>
                </a:solidFill>
                <a:latin typeface="Consolas"/>
              </a:rPr>
              <a:t>)</a:t>
            </a:r>
          </a:p>
          <a:p>
            <a:pPr>
              <a:lnSpc>
                <a:spcPct val="100000"/>
              </a:lnSpc>
              <a:spcAft>
                <a:spcPts val="0"/>
              </a:spcAft>
            </a:pPr>
            <a:r>
              <a:rPr sz="1900" i="0">
                <a:solidFill>
                  <a:srgbClr val="E8EDF2"/>
                </a:solidFill>
                <a:latin typeface="Consolas"/>
              </a:rPr>
              <a:t>    </a:t>
            </a:r>
            <a:r>
              <a:rPr sz="1900" i="0">
                <a:solidFill>
                  <a:srgbClr val="C39BD3"/>
                </a:solidFill>
                <a:latin typeface="Consolas"/>
              </a:rPr>
              <a:t>print</a:t>
            </a:r>
            <a:r>
              <a:rPr sz="1900" i="0">
                <a:solidFill>
                  <a:srgbClr val="AEB6BF"/>
                </a:solidFill>
                <a:latin typeface="Consolas"/>
              </a:rPr>
              <a:t>(</a:t>
            </a:r>
            <a:r>
              <a:rPr sz="1900" i="0">
                <a:solidFill>
                  <a:srgbClr val="7DCEA0"/>
                </a:solidFill>
                <a:latin typeface="Consolas"/>
              </a:rPr>
              <a:t>"</a:t>
            </a:r>
            <a:r>
              <a:rPr sz="1900" i="0">
                <a:solidFill>
                  <a:srgbClr val="7DCEA0"/>
                </a:solidFill>
                <a:latin typeface="Consolas"/>
              </a:rPr>
              <a:t>   makes an agent work or fail lives in the five.</a:t>
            </a:r>
            <a:r>
              <a:rPr sz="1900" i="0">
                <a:solidFill>
                  <a:srgbClr val="7DCEA0"/>
                </a:solidFill>
                <a:latin typeface="Consolas"/>
              </a:rPr>
              <a:t>"</a:t>
            </a:r>
            <a:r>
              <a:rPr sz="1900" i="0">
                <a:solidFill>
                  <a:srgbClr val="AEB6BF"/>
                </a:solidFill>
                <a:latin typeface="Consolas"/>
              </a:rPr>
              <a:t>)</a:t>
            </a:r>
          </a:p>
        </p:txBody>
      </p:sp>
      <p:sp>
        <p:nvSpPr>
          <p:cNvPr id="15" name="!!code-num"/>
          <p:cNvSpPr txBox="1"/>
          <p:nvPr/>
        </p:nvSpPr>
        <p:spPr>
          <a:xfrm>
            <a:off x="768096" y="2523744"/>
            <a:ext cx="393192" cy="3294887"/>
          </a:xfrm>
          <a:prstGeom prst="rect">
            <a:avLst/>
          </a:prstGeom>
          <a:noFill/>
        </p:spPr>
        <p:txBody>
          <a:bodyPr wrap="none" anchor="t" lIns="0" rIns="0" tIns="0" bIns="0">
            <a:noAutofit/>
          </a:bodyPr>
          <a:lstStyle/>
          <a:p>
            <a:pPr algn="r">
              <a:lnSpc>
                <a:spcPct val="100000"/>
              </a:lnSpc>
            </a:pPr>
            <a:r>
              <a:rPr sz="1900">
                <a:solidFill>
                  <a:srgbClr val="4F5D6A"/>
                </a:solidFill>
                <a:latin typeface="Consolas"/>
              </a:rPr>
              <a:t>174</a:t>
            </a:r>
          </a:p>
          <a:p>
            <a:pPr algn="r">
              <a:lnSpc>
                <a:spcPct val="100000"/>
              </a:lnSpc>
            </a:pPr>
            <a:r>
              <a:rPr sz="1900">
                <a:solidFill>
                  <a:srgbClr val="4F5D6A"/>
                </a:solidFill>
                <a:latin typeface="Consolas"/>
              </a:rPr>
              <a:t>175</a:t>
            </a:r>
          </a:p>
          <a:p>
            <a:pPr algn="r">
              <a:lnSpc>
                <a:spcPct val="100000"/>
              </a:lnSpc>
            </a:pPr>
            <a:r>
              <a:rPr sz="1900">
                <a:solidFill>
                  <a:srgbClr val="4F5D6A"/>
                </a:solidFill>
                <a:latin typeface="Consolas"/>
              </a:rPr>
              <a:t>176</a:t>
            </a:r>
          </a:p>
          <a:p>
            <a:pPr algn="r">
              <a:lnSpc>
                <a:spcPct val="100000"/>
              </a:lnSpc>
            </a:pPr>
            <a:r>
              <a:rPr sz="1900">
                <a:solidFill>
                  <a:srgbClr val="4F5D6A"/>
                </a:solidFill>
                <a:latin typeface="Consolas"/>
              </a:rPr>
              <a:t>177</a:t>
            </a:r>
          </a:p>
          <a:p>
            <a:pPr algn="r">
              <a:lnSpc>
                <a:spcPct val="100000"/>
              </a:lnSpc>
            </a:pPr>
            <a:r>
              <a:rPr sz="1900">
                <a:solidFill>
                  <a:srgbClr val="4F5D6A"/>
                </a:solidFill>
                <a:latin typeface="Consolas"/>
              </a:rPr>
              <a:t>178</a:t>
            </a:r>
          </a:p>
          <a:p>
            <a:pPr algn="r">
              <a:lnSpc>
                <a:spcPct val="100000"/>
              </a:lnSpc>
            </a:pPr>
            <a:r>
              <a:rPr sz="1900">
                <a:solidFill>
                  <a:srgbClr val="4F5D6A"/>
                </a:solidFill>
                <a:latin typeface="Consolas"/>
              </a:rPr>
              <a:t>179</a:t>
            </a:r>
          </a:p>
          <a:p>
            <a:pPr algn="r">
              <a:lnSpc>
                <a:spcPct val="100000"/>
              </a:lnSpc>
            </a:pPr>
            <a:r>
              <a:rPr sz="1900">
                <a:solidFill>
                  <a:srgbClr val="4F5D6A"/>
                </a:solidFill>
                <a:latin typeface="Consolas"/>
              </a:rPr>
              <a:t>180</a:t>
            </a:r>
          </a:p>
          <a:p>
            <a:pPr algn="r">
              <a:lnSpc>
                <a:spcPct val="100000"/>
              </a:lnSpc>
            </a:pPr>
            <a:r>
              <a:rPr sz="1900">
                <a:solidFill>
                  <a:srgbClr val="4F5D6A"/>
                </a:solidFill>
                <a:latin typeface="Consolas"/>
              </a:rPr>
              <a:t>181</a:t>
            </a:r>
          </a:p>
          <a:p>
            <a:pPr algn="r">
              <a:lnSpc>
                <a:spcPct val="100000"/>
              </a:lnSpc>
            </a:pPr>
            <a:r>
              <a:rPr sz="1900">
                <a:solidFill>
                  <a:srgbClr val="4F5D6A"/>
                </a:solidFill>
                <a:latin typeface="Consolas"/>
              </a:rPr>
              <a:t>182</a:t>
            </a:r>
          </a:p>
          <a:p>
            <a:pPr algn="r">
              <a:lnSpc>
                <a:spcPct val="100000"/>
              </a:lnSpc>
            </a:pPr>
            <a:r>
              <a:rPr sz="1900">
                <a:solidFill>
                  <a:srgbClr val="4F5D6A"/>
                </a:solidFill>
                <a:latin typeface="Consolas"/>
              </a:rPr>
              <a:t>183</a:t>
            </a:r>
          </a:p>
          <a:p>
            <a:pPr algn="r">
              <a:lnSpc>
                <a:spcPct val="100000"/>
              </a:lnSpc>
            </a:pPr>
            <a:r>
              <a:rPr sz="1900">
                <a:solidFill>
                  <a:srgbClr val="4F5D6A"/>
                </a:solidFill>
                <a:latin typeface="Consolas"/>
              </a:rPr>
              <a:t>184</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30072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§20.5  ·  Handout p. 210     </a:t>
            </a:r>
            <a:fld id="{1090E38F-C518-421D-BCAC-84D8F38E65F2}" type="slidenum">
              <a:rPr lang="en-GB" sz="1000">
                <a:solidFill>
                  <a:srgbClr val="8795A1"/>
                </a:solidFill>
                <a:latin typeface="Segoe UI"/>
              </a:rPr>
              <a:t>33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079955"/>
          </a:xfrm>
          <a:prstGeom prst="roundRect">
            <a:avLst>
              <a:gd name="adj" fmla="val 4396"/>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079955"/>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Then delete the </a:t>
            </a:r>
            <a:r>
              <a:rPr sz="2150" b="0" i="0">
                <a:solidFill>
                  <a:srgbClr val="1F4E79"/>
                </a:solidFill>
                <a:latin typeface="Consolas"/>
              </a:rPr>
              <a:t>BUDGET</a:t>
            </a:r>
            <a:r>
              <a:rPr sz="2300" b="0" i="0">
                <a:solidFill>
                  <a:srgbClr val="1C252B"/>
                </a:solidFill>
                <a:latin typeface="Segoe UI"/>
              </a:rPr>
              <a:t> check and re-run the second example. The agent loops forever on a goal it cannot resolve, because no rule consumes a </a:t>
            </a:r>
            <a:r>
              <a:rPr sz="2150" b="0" i="0">
                <a:solidFill>
                  <a:srgbClr val="1F4E79"/>
                </a:solidFill>
                <a:latin typeface="Consolas"/>
              </a:rPr>
              <a:t>None</a:t>
            </a:r>
            <a:r>
              <a:rPr sz="2300" b="0" i="0">
                <a:solidFill>
                  <a:srgbClr val="1C252B"/>
                </a:solidFill>
                <a:latin typeface="Segoe UI"/>
              </a:rPr>
              <a:t>. That is the commonest failure in deployed agent systems, and it has nothing to do with the model at the centre.</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56012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language model produces a step-by-step explanation of its answer. State why this is not the same artefact as Chapter 13’s firing chain, using the distinction between </a:t>
            </a:r>
            <a:r>
              <a:rPr sz="3400" b="0" i="0">
                <a:solidFill>
                  <a:srgbClr val="FFFFFF"/>
                </a:solidFill>
                <a:latin typeface="Cambria"/>
              </a:rPr>
              <a:t>⊨</a:t>
            </a:r>
            <a:r>
              <a:rPr sz="3400" b="0" i="0">
                <a:solidFill>
                  <a:srgbClr val="FFFFFF"/>
                </a:solidFill>
                <a:latin typeface="Segoe UI Semibold"/>
              </a:rPr>
              <a:t> and </a:t>
            </a:r>
            <a:r>
              <a:rPr sz="3400" b="0" i="0">
                <a:solidFill>
                  <a:srgbClr val="FFFFFF"/>
                </a:solidFill>
                <a:latin typeface="Cambria"/>
              </a:rPr>
              <a:t>⊢</a:t>
            </a:r>
            <a:r>
              <a:rPr sz="3400" b="0" i="0">
                <a:solidFill>
                  <a:srgbClr val="FFFFFF"/>
                </a:solidFill>
                <a:latin typeface="Segoe UI Semibold"/>
              </a:rPr>
              <a:t> from Chapter 11.</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20  ·  Recent Trends and Applications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216  ·  answers in Appendix D     </a:t>
            </a:r>
            <a:fld id="{4388A549-6645-42D7-95BE-8CBF572B8A5F}"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 language model produces a step-by-step explanation of its answer. State why this is not the same artefact as Chapter 13’s firing chain, using the distinction between </a:t>
            </a:r>
            <a:r>
              <a:rPr sz="2400" b="0" i="0">
                <a:solidFill>
                  <a:srgbClr val="1A5276"/>
                </a:solidFill>
                <a:latin typeface="Cambria"/>
              </a:rPr>
              <a:t>⊨</a:t>
            </a:r>
            <a:r>
              <a:rPr sz="2400" b="0" i="0">
                <a:solidFill>
                  <a:srgbClr val="1A5276"/>
                </a:solidFill>
                <a:latin typeface="Segoe UI Semibold"/>
              </a:rPr>
              <a:t> and </a:t>
            </a:r>
            <a:r>
              <a:rPr sz="2400" b="0" i="0">
                <a:solidFill>
                  <a:srgbClr val="1A5276"/>
                </a:solidFill>
                <a:latin typeface="Cambria"/>
              </a:rPr>
              <a:t>⊢</a:t>
            </a:r>
            <a:r>
              <a:rPr sz="2400" b="0" i="0">
                <a:solidFill>
                  <a:srgbClr val="1A5276"/>
                </a:solidFill>
                <a:latin typeface="Segoe UI Semibold"/>
              </a:rPr>
              <a:t> from Chapter 11.</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44083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486558"/>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Because Chapter 13’s chain is a </a:t>
            </a:r>
            <a:r>
              <a:rPr sz="2200" b="0" i="1">
                <a:solidFill>
                  <a:srgbClr val="1C252B"/>
                </a:solidFill>
                <a:latin typeface="Segoe UI"/>
              </a:rPr>
              <a:t>record</a:t>
            </a:r>
            <a:r>
              <a:rPr sz="2200" b="0" i="0">
                <a:solidFill>
                  <a:srgbClr val="1C252B"/>
                </a:solidFill>
                <a:latin typeface="Segoe UI"/>
              </a:rPr>
              <a:t> of the inference that actually occurred: each line names the rule that fired and the facts it matched, and the conclusion was produced by exactly those steps. A language model’s explanation is generated by the same next-token process as the answer itself — it is text that resembles a derivation, produced independently of whatever computation led to the answer. In Chapter 11’s terms, it may display something shaped like </a:t>
            </a:r>
            <a:r>
              <a:rPr sz="2200" b="0" i="0">
                <a:solidFill>
                  <a:srgbClr val="1C252B"/>
                </a:solidFill>
                <a:latin typeface="Cambria"/>
              </a:rPr>
              <a:t>⊢</a:t>
            </a:r>
            <a:r>
              <a:rPr sz="2200" b="0" i="0">
                <a:solidFill>
                  <a:srgbClr val="1C252B"/>
                </a:solidFill>
                <a:latin typeface="Segoe UI"/>
              </a:rPr>
              <a:t> while carrying no guarantee of any relation to </a:t>
            </a:r>
            <a:r>
              <a:rPr sz="2200" b="0" i="0">
                <a:solidFill>
                  <a:srgbClr val="1C252B"/>
                </a:solidFill>
                <a:latin typeface="Cambria"/>
              </a:rPr>
              <a:t>⊨</a:t>
            </a:r>
            <a:r>
              <a:rPr sz="2200" b="0" i="0">
                <a:solidFill>
                  <a:srgbClr val="1C252B"/>
                </a:solidFill>
                <a:latin typeface="Segoe UI"/>
              </a:rPr>
              <a:t>; a plausible-looking derivation is not a derivation.</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216  ·  answers in Appendix D     </a:t>
            </a:r>
            <a:fld id="{8491D116-6C56-4ED0-944E-4817ACD22E4F}"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07892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The lab’s agent has six components and a language model would replace one. Name the other five and say which one, removed, causes the commonest deployed failure.</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20  ·  Recent Trends and Applications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216  ·  answers in Appendix D     </a:t>
            </a:r>
            <a:fld id="{60CC5D35-CF04-4EB4-BE1B-68F573B4451A}" type="slidenum">
              <a:rPr lang="en-GB" sz="1000">
                <a:solidFill>
                  <a:srgbClr val="D5DEE5"/>
                </a:solidFill>
                <a:latin typeface="Segoe UI"/>
              </a:rPr>
              <a:t>36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The lab’s agent has six components and a language model would replace one. Name the other five and say which one, removed, causes the commonest deployed failure.</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The other five are the loop itself, the tools, the step budget, the termination test and the state the agent keeps between steps. Removing the </a:t>
            </a:r>
            <a:r>
              <a:rPr sz="2200" b="0" i="1">
                <a:solidFill>
                  <a:srgbClr val="1C252B"/>
                </a:solidFill>
                <a:latin typeface="Segoe UI"/>
              </a:rPr>
              <a:t>policy’s handling of a failed tool call</a:t>
            </a:r>
            <a:r>
              <a:rPr sz="2200" b="0" i="0">
                <a:solidFill>
                  <a:srgbClr val="1C252B"/>
                </a:solidFill>
                <a:latin typeface="Segoe UI"/>
              </a:rPr>
              <a:t> causes the commonest deployed failure: a tool returns nothing, no rule notices, and the </a:t>
            </a:r>
            <a:r>
              <a:rPr sz="2050" b="0" i="0">
                <a:solidFill>
                  <a:srgbClr val="1F4E79"/>
                </a:solidFill>
                <a:latin typeface="Consolas"/>
              </a:rPr>
              <a:t>None</a:t>
            </a:r>
            <a:r>
              <a:rPr sz="2200" b="0" i="0">
                <a:solidFill>
                  <a:srgbClr val="1C252B"/>
                </a:solidFill>
                <a:latin typeface="Segoe UI"/>
              </a:rPr>
              <a:t> travels until it reaches arithmetic and crashes — or, with a policy that cannot terminate, the loop spins until the step budget stops it. Both failures live in the engineering around the model, not in the model.</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216  ·  answers in Appendix D     </a:t>
            </a:r>
            <a:fld id="{1C97F5DE-AD7C-4BFA-A555-0768F7BF0FC5}" type="slidenum">
              <a:rPr lang="en-GB" sz="1000">
                <a:solidFill>
                  <a:srgbClr val="8795A1"/>
                </a:solidFill>
                <a:latin typeface="Segoe UI"/>
              </a:rPr>
              <a:t>37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59771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vendor demonstrates a system that answers questions about your codebase fluently and correctly in the demonstration. Give the two questions from this chapter’s procedure that would tell you most, and say why.</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20  ·  Recent Trends and Applications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216  ·  answers in Appendix D     </a:t>
            </a:r>
            <a:fld id="{25703A57-DC4E-4921-82C5-386CA66FBAB0}" type="slidenum">
              <a:rPr lang="en-GB" sz="1000">
                <a:solidFill>
                  <a:srgbClr val="D5DEE5"/>
                </a:solidFill>
                <a:latin typeface="Segoe UI"/>
              </a:rPr>
              <a:t>38</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1099108"/>
          </a:xfrm>
        </p:spPr>
        <p:txBody>
          <a:bodyPr wrap="square" lIns="0" rIns="0" tIns="0" bIns="0" anchor="t">
            <a:noAutofit/>
          </a:bodyPr>
          <a:lstStyle/>
          <a:p>
            <a:pPr algn="l">
              <a:lnSpc>
                <a:spcPct val="96000"/>
              </a:lnSpc>
            </a:pPr>
            <a:r>
              <a:rPr sz="2400" b="0" i="0">
                <a:solidFill>
                  <a:srgbClr val="1A5276"/>
                </a:solidFill>
                <a:latin typeface="Segoe UI Semibold"/>
              </a:rPr>
              <a:t>A vendor demonstrates a system that answers questions about your codebase fluently and correctly in the demonstration. Give the two questions from this chapter’s procedure that would tell you most, and say why.</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2114092"/>
            <a:ext cx="64008" cy="2092147"/>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2114092"/>
            <a:ext cx="10509199" cy="2137867"/>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First, </a:t>
            </a:r>
            <a:r>
              <a:rPr sz="2200" b="0" i="1">
                <a:solidFill>
                  <a:srgbClr val="1C252B"/>
                </a:solidFill>
                <a:latin typeface="Segoe UI"/>
              </a:rPr>
              <a:t>what did the demonstration exclude?</a:t>
            </a:r>
            <a:r>
              <a:rPr sz="2200" b="0" i="0">
                <a:solidFill>
                  <a:srgbClr val="1C252B"/>
                </a:solidFill>
                <a:latin typeface="Segoe UI"/>
              </a:rPr>
              <a:t> — every impressive demonstration is a microworld until shown otherwise, and the answer tells you what the vendor chose not to show. Second, </a:t>
            </a:r>
            <a:r>
              <a:rPr sz="2200" b="0" i="1">
                <a:solidFill>
                  <a:srgbClr val="1C252B"/>
                </a:solidFill>
                <a:latin typeface="Segoe UI"/>
              </a:rPr>
              <a:t>how would anyone find out when it is wrong?</a:t>
            </a:r>
            <a:r>
              <a:rPr sz="2200" b="0" i="0">
                <a:solidFill>
                  <a:srgbClr val="1C252B"/>
                </a:solidFill>
                <a:latin typeface="Segoe UI"/>
              </a:rPr>
              <a:t> — the failure-mode column. If the answer is that a human notices, ask how they notice when the output is fluent; if it is a test or a type checker, the system is safe in proportion to that checker’s coverage.</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216  ·  answers in Appendix D     </a:t>
            </a:r>
            <a:fld id="{15A82336-3EA2-4F0E-BC10-37FA9E91B39D}" type="slidenum">
              <a:rPr lang="en-GB" sz="1000">
                <a:solidFill>
                  <a:srgbClr val="8795A1"/>
                </a:solidFill>
                <a:latin typeface="Segoe UI"/>
              </a:rPr>
              <a:t>39</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116513"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216     </a:t>
            </a:r>
            <a:fld id="{A8F4397D-82D9-44C7-92D8-0AB51EAA02C0}" type="slidenum">
              <a:rPr lang="en-GB" sz="1000">
                <a:solidFill>
                  <a:srgbClr val="8795A1"/>
                </a:solidFill>
                <a:latin typeface="Segoe UI"/>
              </a:rPr>
              <a:t>40</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large language model</a:t>
            </a:r>
            <a:r>
              <a:rPr sz="1700" b="0" i="0">
                <a:solidFill>
                  <a:srgbClr val="1C252B"/>
                </a:solidFill>
                <a:latin typeface="Segoe UI"/>
              </a:rPr>
              <a:t> predicts the next </a:t>
            </a:r>
            <a:r>
              <a:rPr sz="1700" b="1" i="0">
                <a:solidFill>
                  <a:srgbClr val="1A5276"/>
                </a:solidFill>
                <a:latin typeface="Segoe UI"/>
              </a:rPr>
              <a:t>token</a:t>
            </a:r>
            <a:r>
              <a:rPr sz="1700" b="0" i="0">
                <a:solidFill>
                  <a:srgbClr val="1C252B"/>
                </a:solidFill>
                <a:latin typeface="Segoe UI"/>
              </a:rPr>
              <a:t>. It is Chapter 18’s n-gram idea with a much larger window learned rather than counted, which addresses exactly the limitation counting could not.</a:t>
            </a:r>
          </a:p>
        </p:txBody>
      </p:sp>
      <p:sp>
        <p:nvSpPr>
          <p:cNvPr id="10" name="!!sb1">
            <a:extLst>
              <a:ext uri="{C183D7F6-B498-43B3-948B-1728B52AA6E4}">
                <adec:decorative xmlns:adec="http://schemas.microsoft.com/office/drawing/2017/decorative" val="1"/>
              </a:ext>
            </a:extLst>
          </p:cNvPr>
          <p:cNvSpPr/>
          <p:nvPr/>
        </p:nvSpPr>
        <p:spPr>
          <a:xfrm>
            <a:off x="658368" y="2468270"/>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23134"/>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459126"/>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There is no representation to inspect, no recorded derivation, and </a:t>
            </a:r>
            <a:r>
              <a:rPr sz="1700" b="1" i="0">
                <a:solidFill>
                  <a:srgbClr val="1A5276"/>
                </a:solidFill>
                <a:latin typeface="Segoe UI"/>
              </a:rPr>
              <a:t>hallucination</a:t>
            </a:r>
            <a:r>
              <a:rPr sz="1700" b="0" i="0">
                <a:solidFill>
                  <a:srgbClr val="1C252B"/>
                </a:solidFill>
                <a:latin typeface="Segoe UI"/>
              </a:rPr>
              <a:t> is the objective working as specified rather than a defect. Its failure mode is Eliza’s: none detectable by the system.</a:t>
            </a:r>
          </a:p>
        </p:txBody>
      </p:sp>
      <p:sp>
        <p:nvSpPr>
          <p:cNvPr id="13" name="!!sb2">
            <a:extLst>
              <a:ext uri="{C183D7F6-B498-43B3-948B-1728B52AA6E4}">
                <adec:decorative xmlns:adec="http://schemas.microsoft.com/office/drawing/2017/decorative" val="1"/>
              </a:ext>
            </a:extLst>
          </p:cNvPr>
          <p:cNvSpPr/>
          <p:nvPr/>
        </p:nvSpPr>
        <p:spPr>
          <a:xfrm>
            <a:off x="658368" y="319003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24490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180892"/>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A </a:t>
            </a:r>
            <a:r>
              <a:rPr sz="1700" b="1" i="0">
                <a:solidFill>
                  <a:srgbClr val="1A5276"/>
                </a:solidFill>
                <a:latin typeface="Segoe UI"/>
              </a:rPr>
              <a:t>tool-using agent</a:t>
            </a:r>
            <a:r>
              <a:rPr sz="1700" b="0" i="0">
                <a:solidFill>
                  <a:srgbClr val="1C252B"/>
                </a:solidFill>
                <a:latin typeface="Segoe UI"/>
              </a:rPr>
              <a:t> is Chapter 2’ model-based, goal-based agent. Only the decision procedure at its centre is new; the loop, tools, budget and termination test are ordinary engineering, and most failures live there.</a:t>
            </a:r>
          </a:p>
        </p:txBody>
      </p:sp>
      <p:sp>
        <p:nvSpPr>
          <p:cNvPr id="16" name="!!sb3">
            <a:extLst>
              <a:ext uri="{C183D7F6-B498-43B3-948B-1728B52AA6E4}">
                <adec:decorative xmlns:adec="http://schemas.microsoft.com/office/drawing/2017/decorative" val="1"/>
              </a:ext>
            </a:extLst>
          </p:cNvPr>
          <p:cNvSpPr/>
          <p:nvPr/>
        </p:nvSpPr>
        <p:spPr>
          <a:xfrm>
            <a:off x="658368" y="4181246"/>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236110"/>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172102"/>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1700" b="1" i="0">
                <a:solidFill>
                  <a:srgbClr val="1A5276"/>
                </a:solidFill>
                <a:latin typeface="Segoe UI"/>
              </a:rPr>
              <a:t>Retrieval</a:t>
            </a:r>
            <a:r>
              <a:rPr sz="1700" b="0" i="0">
                <a:solidFill>
                  <a:srgbClr val="1C252B"/>
                </a:solidFill>
                <a:latin typeface="Segoe UI"/>
              </a:rPr>
              <a:t> grounds an answer by putting text in the prompt. Nothing forces the answer to respect it.</a:t>
            </a:r>
          </a:p>
        </p:txBody>
      </p:sp>
      <p:sp>
        <p:nvSpPr>
          <p:cNvPr id="19" name="!!sb4">
            <a:extLst>
              <a:ext uri="{C183D7F6-B498-43B3-948B-1728B52AA6E4}">
                <adec:decorative xmlns:adec="http://schemas.microsoft.com/office/drawing/2017/decorative" val="1"/>
              </a:ext>
            </a:extLst>
          </p:cNvPr>
          <p:cNvSpPr/>
          <p:nvPr/>
        </p:nvSpPr>
        <p:spPr>
          <a:xfrm>
            <a:off x="658368" y="4766462"/>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821326"/>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757318"/>
            <a:ext cx="10234879" cy="80832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The two traditions fail in opposite directions. </a:t>
            </a:r>
            <a:r>
              <a:rPr sz="1700" b="1" i="0">
                <a:solidFill>
                  <a:srgbClr val="1A5276"/>
                </a:solidFill>
                <a:latin typeface="Segoe UI"/>
              </a:rPr>
              <a:t>Neuro-symbolic</a:t>
            </a:r>
            <a:r>
              <a:rPr sz="1700" b="0" i="0">
                <a:solidFill>
                  <a:srgbClr val="1C252B"/>
                </a:solidFill>
                <a:latin typeface="Segoe UI"/>
              </a:rPr>
              <a:t> systems use the model where specification is hard and a symbolic component where the answer must be right — and </a:t>
            </a:r>
            <a:r>
              <a:rPr sz="1700" b="0" i="1">
                <a:solidFill>
                  <a:srgbClr val="1C252B"/>
                </a:solidFill>
                <a:latin typeface="Segoe UI"/>
              </a:rPr>
              <a:t>the guarantees and the audit trails come from the symbolic components</a:t>
            </a:r>
            <a:r>
              <a:rPr sz="1700" b="0" i="0">
                <a:solidFill>
                  <a:srgbClr val="1C252B"/>
                </a:solidFill>
                <a:latin typeface="Segoe UI"/>
              </a:rPr>
              <a:t>.</a:t>
            </a:r>
          </a:p>
        </p:txBody>
      </p:sp>
      <p:sp>
        <p:nvSpPr>
          <p:cNvPr id="22" name="!!sb5">
            <a:extLst>
              <a:ext uri="{C183D7F6-B498-43B3-948B-1728B52AA6E4}">
                <adec:decorative xmlns:adec="http://schemas.microsoft.com/office/drawing/2017/decorative" val="1"/>
              </a:ext>
            </a:extLst>
          </p:cNvPr>
          <p:cNvSpPr/>
          <p:nvPr/>
        </p:nvSpPr>
        <p:spPr>
          <a:xfrm>
            <a:off x="658368" y="5757671"/>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812535"/>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748527"/>
            <a:ext cx="10234879" cy="53888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To assess a claim: apply Chapter 1’s checklist, fill Chapter 19’s six columns, ask what the demonstration excluded, separate capability from reach, and ask what would falsify it.</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375910"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 (continued)</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216     </a:t>
            </a:r>
            <a:fld id="{2F2149C9-C31B-4DA0-A0E7-E31932FF1565}" type="slidenum">
              <a:rPr lang="en-GB" sz="1000">
                <a:solidFill>
                  <a:srgbClr val="8795A1"/>
                </a:solidFill>
                <a:latin typeface="Segoe UI"/>
              </a:rPr>
              <a:t>41</a:t>
            </a:fld>
          </a:p>
        </p:txBody>
      </p:sp>
      <p:sp>
        <p:nvSpPr>
          <p:cNvPr id="7" name="!!sb6">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6"/>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7</a:t>
            </a:r>
          </a:p>
        </p:txBody>
      </p:sp>
      <p:sp>
        <p:nvSpPr>
          <p:cNvPr id="9" name="!!st6"/>
          <p:cNvSpPr txBox="1"/>
          <p:nvPr/>
        </p:nvSpPr>
        <p:spPr>
          <a:xfrm>
            <a:off x="1298448" y="1737360"/>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1C252B"/>
                </a:solidFill>
                <a:latin typeface="Segoe UI"/>
              </a:rPr>
              <a:t>Judging by the transcript is the Eliza effect. It worked on people who had read the source code.</a:t>
            </a:r>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0635308"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216     </a:t>
            </a:r>
            <a:fld id="{9914D629-E524-4043-B142-2BA8E5F480D6}" type="slidenum">
              <a:rPr lang="en-GB" sz="1000">
                <a:solidFill>
                  <a:srgbClr val="8795A1"/>
                </a:solidFill>
                <a:latin typeface="Segoe UI"/>
              </a:rPr>
              <a:t>42</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A large language model’s training objective is to:</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answer questions correctly</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predict the next token</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maximise expected utility</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satisfy constraints</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0894706"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216     </a:t>
            </a:r>
            <a:fld id="{F7CCF773-092C-47A3-94E2-92EFB992E19A}" type="slidenum">
              <a:rPr lang="en-GB" sz="1000">
                <a:solidFill>
                  <a:srgbClr val="8795A1"/>
                </a:solidFill>
                <a:latin typeface="Segoe UI"/>
              </a:rPr>
              <a:t>43</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Hallucination is best described as: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bug to be patched</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7133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training objective working as specified</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retrieval failure</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 tokenisation error</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154104"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216     </a:t>
            </a:r>
            <a:fld id="{8605F124-AA1A-426B-99EB-08B2F7FCBE64}" type="slidenum">
              <a:rPr lang="en-GB" sz="1000">
                <a:solidFill>
                  <a:srgbClr val="8795A1"/>
                </a:solidFill>
                <a:latin typeface="Segoe UI"/>
              </a:rPr>
              <a:t>44</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 a tool-using agent, a language model typically replaces: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tools</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loop</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decision about what to do next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step budget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413501"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4 of 4</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216     </a:t>
            </a:r>
            <a:fld id="{083A87FD-2441-4D67-B563-6E1550C9E01B}" type="slidenum">
              <a:rPr lang="en-GB" sz="1000">
                <a:solidFill>
                  <a:srgbClr val="8795A1"/>
                </a:solidFill>
                <a:latin typeface="Segoe UI"/>
              </a:rPr>
              <a:t>45</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In a neuro-symbolic system, the guarantees come from:</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model</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symbolic component</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retrieval</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the prompt</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72899"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Artificial Intelligence  ·  Chapter 20  ·  Recent Trends and Applications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216     </a:t>
            </a:r>
            <a:fld id="{9A00D5BD-F58D-4C03-8F6A-B13D585720DE}" type="slidenum">
              <a:rPr lang="en-GB" sz="1000">
                <a:solidFill>
                  <a:srgbClr val="8795A1"/>
                </a:solidFill>
                <a:latin typeface="Segoe UI"/>
              </a:rPr>
              <a:t>46</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how a large language model addresses the n-gram limitation of Chapter 18, and what it gives up that a grammar provided.</a:t>
            </a:r>
          </a:p>
        </p:txBody>
      </p:sp>
      <p:sp>
        <p:nvSpPr>
          <p:cNvPr id="10" name="!!rt1">
            <a:extLst>
              <a:ext uri="{C183D7F6-B498-43B3-948B-1728B52AA6E4}">
                <adec:decorative xmlns:adec="http://schemas.microsoft.com/office/drawing/2017/decorative" val="1"/>
              </a:ext>
            </a:extLst>
          </p:cNvPr>
          <p:cNvSpPr/>
          <p:nvPr/>
        </p:nvSpPr>
        <p:spPr>
          <a:xfrm>
            <a:off x="658368" y="257738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61853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55910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is a generated explanation not a trace? Answer using the </a:t>
            </a:r>
            <a:r>
              <a:rPr sz="1900" b="0" i="0">
                <a:solidFill>
                  <a:srgbClr val="1C252B"/>
                </a:solidFill>
                <a:latin typeface="Cambria"/>
              </a:rPr>
              <a:t>⊨</a:t>
            </a:r>
            <a:r>
              <a:rPr sz="1900" b="0" i="0">
                <a:solidFill>
                  <a:srgbClr val="1C252B"/>
                </a:solidFill>
                <a:latin typeface="Segoe UI"/>
              </a:rPr>
              <a:t> / </a:t>
            </a:r>
            <a:r>
              <a:rPr sz="1900" b="0" i="0">
                <a:solidFill>
                  <a:srgbClr val="1C252B"/>
                </a:solidFill>
                <a:latin typeface="Cambria"/>
              </a:rPr>
              <a:t>⊢</a:t>
            </a:r>
            <a:r>
              <a:rPr sz="1900" b="0" i="0">
                <a:solidFill>
                  <a:srgbClr val="1C252B"/>
                </a:solidFill>
                <a:latin typeface="Segoe UI"/>
              </a:rPr>
              <a:t> distinction.</a:t>
            </a:r>
          </a:p>
        </p:txBody>
      </p:sp>
      <p:sp>
        <p:nvSpPr>
          <p:cNvPr id="13" name="!!rt2">
            <a:extLst>
              <a:ext uri="{C183D7F6-B498-43B3-948B-1728B52AA6E4}">
                <adec:decorative xmlns:adec="http://schemas.microsoft.com/office/drawing/2017/decorative" val="1"/>
              </a:ext>
            </a:extLst>
          </p:cNvPr>
          <p:cNvSpPr/>
          <p:nvPr/>
        </p:nvSpPr>
        <p:spPr>
          <a:xfrm>
            <a:off x="658368" y="3097987"/>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313913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3079699"/>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a delivery task you would hand to a model and one you would hand to a constraint solver, and justify each in one sentence.</a:t>
            </a:r>
          </a:p>
        </p:txBody>
      </p:sp>
      <p:sp>
        <p:nvSpPr>
          <p:cNvPr id="16" name="!!rt3">
            <a:extLst>
              <a:ext uri="{C183D7F6-B498-43B3-948B-1728B52AA6E4}">
                <adec:decorative xmlns:adec="http://schemas.microsoft.com/office/drawing/2017/decorative" val="1"/>
              </a:ext>
            </a:extLst>
          </p:cNvPr>
          <p:cNvSpPr/>
          <p:nvPr/>
        </p:nvSpPr>
        <p:spPr>
          <a:xfrm>
            <a:off x="658368" y="3919727"/>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960876"/>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901440"/>
            <a:ext cx="9549079" cy="903427"/>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Take a current AI product you have used. Fill in Chapter 19’s six columns for it, filling what you can from outside, and state the one operational rule your failure-mode analysis produces.</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11932297" cy="5486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705B06"/>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7B681A"/>
                </a:solidFill>
                <a:latin typeface="Segoe UI Black"/>
              </a:rPr>
              <a:t>20</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20</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Chapter 21 — Responsible AI and Its Limits</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20, pages 208–216</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1900" b="0" i="0">
                <a:solidFill>
                  <a:srgbClr val="FFFFFF"/>
                </a:solidFill>
                <a:latin typeface="Segoe UI Semibold"/>
              </a:rPr>
              <a:t>A tool-using agent, offline; auditing the escalation rules</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574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C9C1A0"/>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Project report and presentation</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Artificial Intelligence  ·  Chapter 20  ·  Recent Trends and Applications</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F7902029-D17A-431B-BEB6-4E8987C984E9}" type="slidenum">
              <a:rPr lang="en-GB" sz="1000">
                <a:solidFill>
                  <a:srgbClr val="D5DEE5"/>
                </a:solidFill>
                <a:latin typeface="Segoe UI"/>
              </a:rPr>
              <a:t>47</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Artificial Intelligence Fall 2026">
  <a:themeElements>
    <a:clrScheme name="Artificial Intelligence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Artificial Intelligence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20: Recent Trends and Applications</dc:title>
  <dc:subject>Artificial Intelligence — Search, Knowledge and Reasoning · BSIT · Fall 2026</dc:subject>
  <dc:creator>Dr. Mustafa Hameed</dc:creator>
  <cp:keywords>artificial intelligence;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