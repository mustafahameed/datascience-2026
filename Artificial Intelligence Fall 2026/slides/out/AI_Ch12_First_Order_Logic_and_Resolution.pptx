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FFCDCC1-453F-4A3A-9EF8-B7841E850027}">
          <p14:sldIdLst>
            <p14:sldId id="256"/>
            <p14:sldId id="257"/>
            <p14:sldId id="258"/>
            <p14:sldId id="259"/>
            <p14:sldId id="260"/>
          </p14:sldIdLst>
        </p14:section>
        <p14:section name="12.5 Resolution Refutation" id="{E6D75972-AF7B-4BE2-85D1-7B0483B89766}">
          <p14:sldIdLst>
            <p14:sldId id="261"/>
          </p14:sldIdLst>
        </p14:section>
        <p14:section name="Checkpoint" id="{D2A74C13-F395-4513-B62B-FF61B7E14093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rap-up" id="{617F130D-96E6-4F49-AF94-F29AE1D8A984}">
          <p14:sldIdLst>
            <p14:sldId id="268"/>
            <p14:sldId id="269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12: First-Order Logic and Resolution. Part 4 — Knowledge, Logic and Reasoning. Week 11: First-order logic and resolution; the project brief. Handout pages 105–106.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the chapter. Before you start: Chapter 11 (entailment, CNF, resolution). Everything here is the propositional machinery with objects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out: they are the chapter's contract with the room. Each click adds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now; they arrive one at a time. This slide is for the students' notes. Terms: first-order logic; term; predicate; quantifier; universal and existential; substitution; unification; occurs check; most general unifier; skolemisation; clause form; resolution refutation; factoring.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route through the chapter. Each row is a link: click it to jump to that section in the slide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to say each takeaway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these for independent study. Model answers are not printed in the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NEXT: Chapter 13 — Rule-Based Expert Systems. READ: Handout Chapter 12, pages 105–106. THIS WEEK'S LAB: Unification and a resolution proof. ASSESSMENT: Project set, proposal due; Assignment 2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000" kern="1200" b="0">
          <a:solidFill>
            <a:srgbClr val="1A5276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notesSlide" Target="../notesSlides/notesSlide5.xml"/><Relationship Id="rId5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7.sv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8.sv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9.sv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20.sv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3A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874EA0"/>
                </a:solidFill>
                <a:latin typeface="Segoe UI Black"/>
              </a:rPr>
              <a:t>12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2304288"/>
            <a:ext cx="8503920" cy="192024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Segoe UI Semibold"/>
              </a:rPr>
              <a:t>First-Order Logic and Resolution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29844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tpart"/>
          <p:cNvSpPr txBox="1"/>
          <p:nvPr/>
        </p:nvSpPr>
        <p:spPr>
          <a:xfrm>
            <a:off x="658368" y="151790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DAC8E1"/>
                </a:solidFill>
                <a:latin typeface="Segoe UI"/>
              </a:rPr>
              <a:t>PART IV  ·  KNOWLEDGE, LOGIC AND REASONING</a:t>
            </a:r>
          </a:p>
        </p:txBody>
      </p:sp>
      <p:sp>
        <p:nvSpPr>
          <p:cNvPr id="6" name="!!tch"/>
          <p:cNvSpPr txBox="1"/>
          <p:nvPr/>
        </p:nvSpPr>
        <p:spPr>
          <a:xfrm>
            <a:off x="658368" y="186537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DAC8E1"/>
                </a:solidFill>
                <a:latin typeface="Segoe UI"/>
              </a:rPr>
              <a:t>CHAPTER 12  ·  WEEK 11</a:t>
            </a:r>
          </a:p>
        </p:txBody>
      </p:sp>
      <p:sp>
        <p:nvSpPr>
          <p:cNvPr id="7" name="!!tsub"/>
          <p:cNvSpPr txBox="1"/>
          <p:nvPr/>
        </p:nvSpPr>
        <p:spPr>
          <a:xfrm>
            <a:off x="658368" y="4315968"/>
            <a:ext cx="85039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4D8EA"/>
                </a:solidFill>
                <a:latin typeface="Segoe UI"/>
              </a:rPr>
              <a:t>Artificial Intelligence — Search, Knowledge and Reasoning</a:t>
            </a:r>
          </a:p>
        </p:txBody>
      </p:sp>
      <p:sp>
        <p:nvSpPr>
          <p:cNvPr id="8" name="!!ba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285232"/>
            <a:ext cx="12191695" cy="1572767"/>
          </a:xfrm>
          <a:prstGeom prst="rect">
            <a:avLst/>
          </a:prstGeom>
          <a:solidFill>
            <a:srgbClr val="582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ab"/>
          <p:cNvSpPr txBox="1"/>
          <p:nvPr/>
        </p:nvSpPr>
        <p:spPr>
          <a:xfrm>
            <a:off x="658368" y="554126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C0AEC7"/>
                </a:solidFill>
                <a:latin typeface="Segoe UI"/>
              </a:rPr>
              <a:t>LECTURER</a:t>
            </a:r>
          </a:p>
        </p:txBody>
      </p:sp>
      <p:sp>
        <p:nvSpPr>
          <p:cNvPr id="10" name="!!author"/>
          <p:cNvSpPr txBox="1"/>
          <p:nvPr/>
        </p:nvSpPr>
        <p:spPr>
          <a:xfrm>
            <a:off x="658368" y="57790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Dr. Mustafa Hameed</a:t>
            </a:r>
          </a:p>
        </p:txBody>
      </p:sp>
      <p:sp>
        <p:nvSpPr>
          <p:cNvPr id="11" name="!!dept"/>
          <p:cNvSpPr txBox="1"/>
          <p:nvPr/>
        </p:nvSpPr>
        <p:spPr>
          <a:xfrm>
            <a:off x="658368" y="618134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0C3D6"/>
                </a:solidFill>
                <a:latin typeface="Segoe UI"/>
              </a:rPr>
              <a:t>Department of Information Technology  ·  BSIT · Fall 2026</a:t>
            </a:r>
          </a:p>
        </p:txBody>
      </p:sp>
      <p:sp>
        <p:nvSpPr>
          <p:cNvPr id="12" name="!!uni"/>
          <p:cNvSpPr txBox="1"/>
          <p:nvPr/>
        </p:nvSpPr>
        <p:spPr>
          <a:xfrm>
            <a:off x="5205818" y="568756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6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3" name="!!uni2"/>
          <p:cNvSpPr txBox="1"/>
          <p:nvPr/>
        </p:nvSpPr>
        <p:spPr>
          <a:xfrm>
            <a:off x="5205818" y="596188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0AEC7"/>
                </a:solidFill>
                <a:latin typeface="Segoe UI"/>
              </a:rPr>
              <a:t>Bahawalpur, Pakistan</a:t>
            </a:r>
          </a:p>
        </p:txBody>
      </p:sp>
      <p:pic>
        <p:nvPicPr>
          <p:cNvPr id="14" name="!!logo-iub-logo-white" descr="The Islamia University of Bahawalpu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3498" y="5486400"/>
            <a:ext cx="904084" cy="896112"/>
          </a:xfrm>
          <a:prstGeom prst="rect">
            <a:avLst/>
          </a:prstGeom>
        </p:spPr>
      </p:pic>
      <p:pic>
        <p:nvPicPr>
          <p:cNvPr id="15" name="!!logo-dit-logo" descr="Department of Information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614" y="5486400"/>
            <a:ext cx="869712" cy="8961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Where this chapter sits</a:t>
            </a:r>
          </a:p>
        </p:txBody>
      </p:sp>
      <p:pic>
        <p:nvPicPr>
          <p:cNvPr id="3" name="!!kicker-icon" descr="map-signs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 COURSE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105     </a:t>
            </a:r>
            <a:fld id="{E399A865-7DB1-402E-9418-0EBA2D6DFA8E}" type="slidenum">
              <a:rPr lang="en-GB" sz="1000">
                <a:solidFill>
                  <a:srgbClr val="8795A1"/>
                </a:solidFill>
                <a:latin typeface="Segoe UI"/>
              </a:rPr>
              <a:t>2</a:t>
            </a:fld>
          </a:p>
        </p:txBody>
      </p:sp>
      <p:sp>
        <p:nvSpPr>
          <p:cNvPr id="7" name="!!rp1"/>
          <p:cNvSpPr txBox="1"/>
          <p:nvPr/>
        </p:nvSpPr>
        <p:spPr>
          <a:xfrm>
            <a:off x="7772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</a:t>
            </a:r>
          </a:p>
        </p:txBody>
      </p:sp>
      <p:sp>
        <p:nvSpPr>
          <p:cNvPr id="8" name="!!rp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rp2"/>
          <p:cNvSpPr txBox="1"/>
          <p:nvPr/>
        </p:nvSpPr>
        <p:spPr>
          <a:xfrm>
            <a:off x="22801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</a:t>
            </a:r>
          </a:p>
        </p:txBody>
      </p:sp>
      <p:sp>
        <p:nvSpPr>
          <p:cNvPr id="10" name="!!rp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01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p3"/>
          <p:cNvSpPr txBox="1"/>
          <p:nvPr/>
        </p:nvSpPr>
        <p:spPr>
          <a:xfrm>
            <a:off x="37830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III</a:t>
            </a:r>
          </a:p>
        </p:txBody>
      </p:sp>
      <p:sp>
        <p:nvSpPr>
          <p:cNvPr id="12" name="!!rp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830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rp4"/>
          <p:cNvSpPr txBox="1"/>
          <p:nvPr/>
        </p:nvSpPr>
        <p:spPr>
          <a:xfrm>
            <a:off x="5285938" y="1755648"/>
            <a:ext cx="189413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7A3A95"/>
                </a:solidFill>
                <a:latin typeface="Segoe UI"/>
              </a:rPr>
              <a:t>PART IV</a:t>
            </a:r>
          </a:p>
        </p:txBody>
      </p:sp>
      <p:sp>
        <p:nvSpPr>
          <p:cNvPr id="14" name="!!rpl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85938" y="2029967"/>
            <a:ext cx="1894138" cy="45720"/>
          </a:xfrm>
          <a:prstGeom prst="rect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rp5"/>
          <p:cNvSpPr txBox="1"/>
          <p:nvPr/>
        </p:nvSpPr>
        <p:spPr>
          <a:xfrm>
            <a:off x="7509260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</a:t>
            </a:r>
          </a:p>
        </p:txBody>
      </p:sp>
      <p:sp>
        <p:nvSpPr>
          <p:cNvPr id="16" name="!!rpl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09260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p6"/>
          <p:cNvSpPr txBox="1"/>
          <p:nvPr/>
        </p:nvSpPr>
        <p:spPr>
          <a:xfrm>
            <a:off x="9012160" y="1755648"/>
            <a:ext cx="240229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VI</a:t>
            </a:r>
          </a:p>
        </p:txBody>
      </p:sp>
      <p:sp>
        <p:nvSpPr>
          <p:cNvPr id="18" name="!!rpl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12160" y="2029967"/>
            <a:ext cx="240229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411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dotn1"/>
          <p:cNvSpPr txBox="1"/>
          <p:nvPr/>
        </p:nvSpPr>
        <p:spPr>
          <a:xfrm>
            <a:off x="72597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!!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6937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dotn2"/>
          <p:cNvSpPr txBox="1"/>
          <p:nvPr/>
        </p:nvSpPr>
        <p:spPr>
          <a:xfrm>
            <a:off x="11354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3" name="!!do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464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dotn3"/>
          <p:cNvSpPr txBox="1"/>
          <p:nvPr/>
        </p:nvSpPr>
        <p:spPr>
          <a:xfrm>
            <a:off x="15450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!!do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20310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dotn4"/>
          <p:cNvSpPr txBox="1"/>
          <p:nvPr/>
        </p:nvSpPr>
        <p:spPr>
          <a:xfrm>
            <a:off x="22288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!!dot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29837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dotn5"/>
          <p:cNvSpPr txBox="1"/>
          <p:nvPr/>
        </p:nvSpPr>
        <p:spPr>
          <a:xfrm>
            <a:off x="26383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!!dot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39363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dotn6"/>
          <p:cNvSpPr txBox="1"/>
          <p:nvPr/>
        </p:nvSpPr>
        <p:spPr>
          <a:xfrm>
            <a:off x="30479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!!dot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23210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dotn7"/>
          <p:cNvSpPr txBox="1"/>
          <p:nvPr/>
        </p:nvSpPr>
        <p:spPr>
          <a:xfrm>
            <a:off x="37317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3" name="!!dot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32736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dotn8"/>
          <p:cNvSpPr txBox="1"/>
          <p:nvPr/>
        </p:nvSpPr>
        <p:spPr>
          <a:xfrm>
            <a:off x="414129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5" name="!!dot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42263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dotn9"/>
          <p:cNvSpPr txBox="1"/>
          <p:nvPr/>
        </p:nvSpPr>
        <p:spPr>
          <a:xfrm>
            <a:off x="45508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7" name="!!dot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26109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dotn10"/>
          <p:cNvSpPr txBox="1"/>
          <p:nvPr/>
        </p:nvSpPr>
        <p:spPr>
          <a:xfrm>
            <a:off x="523466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9" name="!!dot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35636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!!dotn11"/>
          <p:cNvSpPr txBox="1"/>
          <p:nvPr/>
        </p:nvSpPr>
        <p:spPr>
          <a:xfrm>
            <a:off x="564419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41" name="!!dot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54306" y="2112264"/>
            <a:ext cx="566928" cy="566928"/>
          </a:xfrm>
          <a:prstGeom prst="ellipse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dotn12"/>
          <p:cNvSpPr txBox="1"/>
          <p:nvPr/>
        </p:nvSpPr>
        <p:spPr>
          <a:xfrm>
            <a:off x="6154306" y="2240280"/>
            <a:ext cx="56692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12</a:t>
            </a:r>
          </a:p>
        </p:txBody>
      </p:sp>
      <p:sp>
        <p:nvSpPr>
          <p:cNvPr id="43" name="!!dot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65585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dotn13"/>
          <p:cNvSpPr txBox="1"/>
          <p:nvPr/>
        </p:nvSpPr>
        <p:spPr>
          <a:xfrm>
            <a:off x="677414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13</a:t>
            </a:r>
          </a:p>
        </p:txBody>
      </p:sp>
      <p:sp>
        <p:nvSpPr>
          <p:cNvPr id="45" name="!!dot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4943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!!dotn14"/>
          <p:cNvSpPr txBox="1"/>
          <p:nvPr/>
        </p:nvSpPr>
        <p:spPr>
          <a:xfrm>
            <a:off x="745799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14</a:t>
            </a:r>
          </a:p>
        </p:txBody>
      </p:sp>
      <p:sp>
        <p:nvSpPr>
          <p:cNvPr id="47" name="!!dot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58958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dotn15"/>
          <p:cNvSpPr txBox="1"/>
          <p:nvPr/>
        </p:nvSpPr>
        <p:spPr>
          <a:xfrm>
            <a:off x="786751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15</a:t>
            </a:r>
          </a:p>
        </p:txBody>
      </p:sp>
      <p:sp>
        <p:nvSpPr>
          <p:cNvPr id="49" name="!!dot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6848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dotn16"/>
          <p:cNvSpPr txBox="1"/>
          <p:nvPr/>
        </p:nvSpPr>
        <p:spPr>
          <a:xfrm>
            <a:off x="827704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16</a:t>
            </a:r>
          </a:p>
        </p:txBody>
      </p:sp>
      <p:sp>
        <p:nvSpPr>
          <p:cNvPr id="51" name="!!dot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5233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!!dotn17"/>
          <p:cNvSpPr txBox="1"/>
          <p:nvPr/>
        </p:nvSpPr>
        <p:spPr>
          <a:xfrm>
            <a:off x="896089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17</a:t>
            </a:r>
          </a:p>
        </p:txBody>
      </p:sp>
      <p:sp>
        <p:nvSpPr>
          <p:cNvPr id="53" name="!!dot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6185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dotn18"/>
          <p:cNvSpPr txBox="1"/>
          <p:nvPr/>
        </p:nvSpPr>
        <p:spPr>
          <a:xfrm>
            <a:off x="937041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18</a:t>
            </a:r>
          </a:p>
        </p:txBody>
      </p:sp>
      <p:sp>
        <p:nvSpPr>
          <p:cNvPr id="55" name="!!dot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138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!!dotn19"/>
          <p:cNvSpPr txBox="1"/>
          <p:nvPr/>
        </p:nvSpPr>
        <p:spPr>
          <a:xfrm>
            <a:off x="977994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19</a:t>
            </a:r>
          </a:p>
        </p:txBody>
      </p:sp>
      <p:sp>
        <p:nvSpPr>
          <p:cNvPr id="57" name="!!dot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80910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!!dotn20"/>
          <p:cNvSpPr txBox="1"/>
          <p:nvPr/>
        </p:nvSpPr>
        <p:spPr>
          <a:xfrm>
            <a:off x="101894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20</a:t>
            </a:r>
          </a:p>
        </p:txBody>
      </p:sp>
      <p:sp>
        <p:nvSpPr>
          <p:cNvPr id="59" name="!!dot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9043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dotn21"/>
          <p:cNvSpPr txBox="1"/>
          <p:nvPr/>
        </p:nvSpPr>
        <p:spPr>
          <a:xfrm>
            <a:off x="105989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21</a:t>
            </a:r>
          </a:p>
        </p:txBody>
      </p:sp>
      <p:sp>
        <p:nvSpPr>
          <p:cNvPr id="61" name="!!dot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9996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!!dotn22"/>
          <p:cNvSpPr txBox="1"/>
          <p:nvPr/>
        </p:nvSpPr>
        <p:spPr>
          <a:xfrm>
            <a:off x="110085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22</a:t>
            </a:r>
          </a:p>
        </p:txBody>
      </p:sp>
      <p:sp>
        <p:nvSpPr>
          <p:cNvPr id="63" name="!!dotlabel"/>
          <p:cNvSpPr txBox="1"/>
          <p:nvPr/>
        </p:nvSpPr>
        <p:spPr>
          <a:xfrm>
            <a:off x="3511690" y="2798064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A3A95"/>
                </a:solidFill>
                <a:latin typeface="Segoe UI"/>
              </a:rPr>
              <a:t>First-Order Logic and Resolution</a:t>
            </a:r>
          </a:p>
        </p:txBody>
      </p:sp>
      <p:sp>
        <p:nvSpPr>
          <p:cNvPr id="64" name="!!dep-BUILD"/>
          <p:cNvSpPr txBox="1"/>
          <p:nvPr/>
        </p:nvSpPr>
        <p:spPr>
          <a:xfrm>
            <a:off x="658368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BUILDS ON</a:t>
            </a:r>
          </a:p>
        </p:txBody>
      </p:sp>
      <p:sp>
        <p:nvSpPr>
          <p:cNvPr id="65" name="!!chipBU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F2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!!chipbBU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64008" cy="420624"/>
          </a:xfrm>
          <a:prstGeom prst="rect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!!chiptBU11"/>
          <p:cNvSpPr txBox="1"/>
          <p:nvPr/>
        </p:nvSpPr>
        <p:spPr>
          <a:xfrm>
            <a:off x="859536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3A95"/>
                </a:solidFill>
                <a:latin typeface="Segoe UI"/>
              </a:rPr>
              <a:t>Ch 11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Propositional Logic and Inference</a:t>
            </a:r>
          </a:p>
        </p:txBody>
      </p:sp>
      <p:sp>
        <p:nvSpPr>
          <p:cNvPr id="68" name="!!dep-USED "/>
          <p:cNvSpPr txBox="1"/>
          <p:nvPr/>
        </p:nvSpPr>
        <p:spPr>
          <a:xfrm>
            <a:off x="6324447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USED LATER IN</a:t>
            </a:r>
          </a:p>
        </p:txBody>
      </p:sp>
      <p:sp>
        <p:nvSpPr>
          <p:cNvPr id="69" name="!!chipUS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F2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!!chipbUS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64008" cy="420624"/>
          </a:xfrm>
          <a:prstGeom prst="rect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chiptUS13"/>
          <p:cNvSpPr txBox="1"/>
          <p:nvPr/>
        </p:nvSpPr>
        <p:spPr>
          <a:xfrm>
            <a:off x="6525615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A3A95"/>
                </a:solidFill>
                <a:latin typeface="Segoe UI"/>
              </a:rPr>
              <a:t>Ch 13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Rule-Based Expert Systems</a:t>
            </a:r>
          </a:p>
        </p:txBody>
      </p:sp>
      <p:sp>
        <p:nvSpPr>
          <p:cNvPr id="72" name="!!chipUS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297680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F1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!!chipbUS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297680"/>
            <a:ext cx="64008" cy="420624"/>
          </a:xfrm>
          <a:prstGeom prst="rect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!!chiptUS18"/>
          <p:cNvSpPr txBox="1"/>
          <p:nvPr/>
        </p:nvSpPr>
        <p:spPr>
          <a:xfrm>
            <a:off x="6525615" y="4389120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05B06"/>
                </a:solidFill>
                <a:latin typeface="Segoe UI"/>
              </a:rPr>
              <a:t>Ch 18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Natural Language Processing</a:t>
            </a:r>
          </a:p>
        </p:txBody>
      </p:sp>
      <p:sp>
        <p:nvSpPr>
          <p:cNvPr id="75" name="!!chipUS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809744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F1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!!chipbUS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809744"/>
            <a:ext cx="64008" cy="420624"/>
          </a:xfrm>
          <a:prstGeom prst="rect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!!chiptUS19"/>
          <p:cNvSpPr txBox="1"/>
          <p:nvPr/>
        </p:nvSpPr>
        <p:spPr>
          <a:xfrm>
            <a:off x="6525615" y="4901184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05B06"/>
                </a:solidFill>
                <a:latin typeface="Segoe UI"/>
              </a:rPr>
              <a:t>Ch 19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Classic AI Systems and How to Analyse Them</a:t>
            </a:r>
          </a:p>
        </p:txBody>
      </p:sp>
      <p:sp>
        <p:nvSpPr>
          <p:cNvPr id="7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625559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you will be able to do</a:t>
            </a:r>
          </a:p>
        </p:txBody>
      </p:sp>
      <p:pic>
        <p:nvPicPr>
          <p:cNvPr id="3" name="!!kicker-icon" descr="bullsey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LEARNING OUTCOMES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105     </a:t>
            </a:r>
            <a:fld id="{009B4A0F-EB5E-4A04-9A91-2896641E5BFD}" type="slidenum">
              <a:rPr lang="en-GB" sz="1000">
                <a:solidFill>
                  <a:srgbClr val="8795A1"/>
                </a:solidFill>
                <a:latin typeface="Segoe UI"/>
              </a:rPr>
              <a:t>3</a:t>
            </a:fld>
          </a:p>
        </p:txBody>
      </p:sp>
      <p:sp>
        <p:nvSpPr>
          <p:cNvPr id="7" name="!!olead"/>
          <p:cNvSpPr txBox="1"/>
          <p:nvPr/>
        </p:nvSpPr>
        <p:spPr>
          <a:xfrm>
            <a:off x="658368" y="173736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6F7B"/>
                </a:solidFill>
                <a:latin typeface="Segoe UI"/>
              </a:rPr>
              <a:t>By the end of this chapter you will be able to:</a:t>
            </a:r>
          </a:p>
        </p:txBody>
      </p:sp>
      <p:sp>
        <p:nvSpPr>
          <p:cNvPr id="8" name="!!o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21991"/>
            <a:ext cx="420624" cy="420624"/>
          </a:xfrm>
          <a:prstGeom prst="ellipse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obn0"/>
          <p:cNvSpPr txBox="1"/>
          <p:nvPr/>
        </p:nvSpPr>
        <p:spPr>
          <a:xfrm>
            <a:off x="658368" y="228142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!!ot0"/>
          <p:cNvSpPr txBox="1"/>
          <p:nvPr/>
        </p:nvSpPr>
        <p:spPr>
          <a:xfrm>
            <a:off x="1316736" y="2263140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A3A95"/>
                </a:solidFill>
                <a:latin typeface="Segoe UI"/>
              </a:rPr>
              <a:t>Express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statements about objects and relations using quantifiers.</a:t>
            </a:r>
          </a:p>
        </p:txBody>
      </p:sp>
      <p:sp>
        <p:nvSpPr>
          <p:cNvPr id="11" name="!!o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825496"/>
            <a:ext cx="420624" cy="420624"/>
          </a:xfrm>
          <a:prstGeom prst="ellipse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obn1"/>
          <p:cNvSpPr txBox="1"/>
          <p:nvPr/>
        </p:nvSpPr>
        <p:spPr>
          <a:xfrm>
            <a:off x="658368" y="2884932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!!ot1"/>
          <p:cNvSpPr txBox="1"/>
          <p:nvPr/>
        </p:nvSpPr>
        <p:spPr>
          <a:xfrm>
            <a:off x="1316736" y="2866644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A3A95"/>
                </a:solidFill>
                <a:latin typeface="Segoe UI"/>
              </a:rPr>
              <a:t>Unify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two expressions, applying the occurs check,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explain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why it is needed.</a:t>
            </a:r>
          </a:p>
        </p:txBody>
      </p:sp>
      <p:sp>
        <p:nvSpPr>
          <p:cNvPr id="14" name="!!o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429000"/>
            <a:ext cx="420624" cy="420624"/>
          </a:xfrm>
          <a:prstGeom prst="ellipse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obn2"/>
          <p:cNvSpPr txBox="1"/>
          <p:nvPr/>
        </p:nvSpPr>
        <p:spPr>
          <a:xfrm>
            <a:off x="658368" y="3488436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!!ot2"/>
          <p:cNvSpPr txBox="1"/>
          <p:nvPr/>
        </p:nvSpPr>
        <p:spPr>
          <a:xfrm>
            <a:off x="1316736" y="3470148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A3A95"/>
                </a:solidFill>
                <a:latin typeface="Segoe UI"/>
              </a:rPr>
              <a:t>Convert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first-order sentence to clause form, including skolemisation.</a:t>
            </a:r>
          </a:p>
        </p:txBody>
      </p:sp>
      <p:sp>
        <p:nvSpPr>
          <p:cNvPr id="17" name="!!o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032504"/>
            <a:ext cx="420624" cy="420624"/>
          </a:xfrm>
          <a:prstGeom prst="ellipse">
            <a:avLst/>
          </a:prstGeom>
          <a:solidFill>
            <a:srgbClr val="7A3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obn3"/>
          <p:cNvSpPr txBox="1"/>
          <p:nvPr/>
        </p:nvSpPr>
        <p:spPr>
          <a:xfrm>
            <a:off x="658368" y="4091940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9" name="!!ot3"/>
          <p:cNvSpPr txBox="1"/>
          <p:nvPr/>
        </p:nvSpPr>
        <p:spPr>
          <a:xfrm>
            <a:off x="1316736" y="4073652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A3A95"/>
                </a:solidFill>
                <a:latin typeface="Segoe UI"/>
              </a:rPr>
              <a:t>Prove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conclusion by resolution refutation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present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proof.</a:t>
            </a:r>
          </a:p>
        </p:txBody>
      </p:sp>
      <p:sp>
        <p:nvSpPr>
          <p:cNvPr id="4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438339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Vocabulary for this chapter</a:t>
            </a:r>
          </a:p>
        </p:txBody>
      </p:sp>
      <p:pic>
        <p:nvPicPr>
          <p:cNvPr id="3" name="!!kicker-icon" descr="tags-8E44AD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7256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8E44AD"/>
                </a:solidFill>
                <a:latin typeface="Segoe UI"/>
              </a:rPr>
              <a:t>KEY TERMS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105     </a:t>
            </a:r>
            <a:fld id="{F2EACBA6-53EE-44CB-A8A7-4CE034BA4EFA}" type="slidenum">
              <a:rPr lang="en-GB" sz="1000">
                <a:solidFill>
                  <a:srgbClr val="8795A1"/>
                </a:solidFill>
                <a:latin typeface="Segoe UI"/>
              </a:rPr>
              <a:t>4</a:t>
            </a:fld>
          </a:p>
        </p:txBody>
      </p:sp>
      <p:sp>
        <p:nvSpPr>
          <p:cNvPr id="7" name="!!term-first-order l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847088"/>
            <a:ext cx="185950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ermd-first-order l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termt-first-order lo"/>
          <p:cNvSpPr txBox="1"/>
          <p:nvPr/>
        </p:nvSpPr>
        <p:spPr>
          <a:xfrm>
            <a:off x="950976" y="1962911"/>
            <a:ext cx="167662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first-order logic</a:t>
            </a:r>
          </a:p>
        </p:txBody>
      </p:sp>
      <p:sp>
        <p:nvSpPr>
          <p:cNvPr id="10" name="!!term-ter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64181" y="1847088"/>
            <a:ext cx="86812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termd-ter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92197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termt-term"/>
          <p:cNvSpPr txBox="1"/>
          <p:nvPr/>
        </p:nvSpPr>
        <p:spPr>
          <a:xfrm>
            <a:off x="2956789" y="1962911"/>
            <a:ext cx="68524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term</a:t>
            </a:r>
          </a:p>
        </p:txBody>
      </p:sp>
      <p:sp>
        <p:nvSpPr>
          <p:cNvPr id="13" name="!!term-predicat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78608" y="1847088"/>
            <a:ext cx="129339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termd-predicat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0662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termt-predicate"/>
          <p:cNvSpPr txBox="1"/>
          <p:nvPr/>
        </p:nvSpPr>
        <p:spPr>
          <a:xfrm>
            <a:off x="3971216" y="1962911"/>
            <a:ext cx="111051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predicate</a:t>
            </a:r>
          </a:p>
        </p:txBody>
      </p:sp>
      <p:sp>
        <p:nvSpPr>
          <p:cNvPr id="16" name="!!term-quantifi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18305" y="1847088"/>
            <a:ext cx="131708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termd-quantifi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46321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termt-quantifier"/>
          <p:cNvSpPr txBox="1"/>
          <p:nvPr/>
        </p:nvSpPr>
        <p:spPr>
          <a:xfrm>
            <a:off x="5410913" y="1962911"/>
            <a:ext cx="113420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quantifier</a:t>
            </a:r>
          </a:p>
        </p:txBody>
      </p:sp>
      <p:sp>
        <p:nvSpPr>
          <p:cNvPr id="19" name="!!term-universal and 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1699" y="1847088"/>
            <a:ext cx="261909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termd-universal and 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09715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termt-universal and "/>
          <p:cNvSpPr txBox="1"/>
          <p:nvPr/>
        </p:nvSpPr>
        <p:spPr>
          <a:xfrm>
            <a:off x="6874307" y="1962911"/>
            <a:ext cx="243621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universal and existential</a:t>
            </a:r>
          </a:p>
        </p:txBody>
      </p:sp>
      <p:sp>
        <p:nvSpPr>
          <p:cNvPr id="22" name="!!term-substitu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7102" y="1847088"/>
            <a:ext cx="152103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termd-substitu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75118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termt-substitution"/>
          <p:cNvSpPr txBox="1"/>
          <p:nvPr/>
        </p:nvSpPr>
        <p:spPr>
          <a:xfrm>
            <a:off x="9639710" y="1962911"/>
            <a:ext cx="133815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substitution</a:t>
            </a:r>
          </a:p>
        </p:txBody>
      </p:sp>
      <p:sp>
        <p:nvSpPr>
          <p:cNvPr id="25" name="!!term-unific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68880"/>
            <a:ext cx="139916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termd-unific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termt-unification"/>
          <p:cNvSpPr txBox="1"/>
          <p:nvPr/>
        </p:nvSpPr>
        <p:spPr>
          <a:xfrm>
            <a:off x="950976" y="2584704"/>
            <a:ext cx="121628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unification</a:t>
            </a:r>
          </a:p>
        </p:txBody>
      </p:sp>
      <p:sp>
        <p:nvSpPr>
          <p:cNvPr id="28" name="!!term-occurs che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03838" y="2468880"/>
            <a:ext cx="160624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termd-occurs che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3185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termt-occurs check"/>
          <p:cNvSpPr txBox="1"/>
          <p:nvPr/>
        </p:nvSpPr>
        <p:spPr>
          <a:xfrm>
            <a:off x="2496446" y="2584704"/>
            <a:ext cx="142336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occurs check</a:t>
            </a:r>
          </a:p>
        </p:txBody>
      </p:sp>
      <p:sp>
        <p:nvSpPr>
          <p:cNvPr id="31" name="!!term-most general u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56387" y="2468880"/>
            <a:ext cx="227485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termd-most general u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84403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termt-most general u"/>
          <p:cNvSpPr txBox="1"/>
          <p:nvPr/>
        </p:nvSpPr>
        <p:spPr>
          <a:xfrm>
            <a:off x="4248995" y="2584704"/>
            <a:ext cx="209197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most general unifier</a:t>
            </a:r>
          </a:p>
        </p:txBody>
      </p:sp>
      <p:sp>
        <p:nvSpPr>
          <p:cNvPr id="34" name="!!term-skolemis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77548" y="2468880"/>
            <a:ext cx="169092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!!termd-skolemis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0556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termt-skolemisation"/>
          <p:cNvSpPr txBox="1"/>
          <p:nvPr/>
        </p:nvSpPr>
        <p:spPr>
          <a:xfrm>
            <a:off x="6670156" y="2584704"/>
            <a:ext cx="150804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skolemisation</a:t>
            </a:r>
          </a:p>
        </p:txBody>
      </p:sp>
      <p:sp>
        <p:nvSpPr>
          <p:cNvPr id="37" name="!!term-clause for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14781" y="2468880"/>
            <a:ext cx="1497610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termd-clause for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42797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termt-clause form"/>
          <p:cNvSpPr txBox="1"/>
          <p:nvPr/>
        </p:nvSpPr>
        <p:spPr>
          <a:xfrm>
            <a:off x="8507389" y="2584704"/>
            <a:ext cx="131473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clause form</a:t>
            </a:r>
          </a:p>
        </p:txBody>
      </p:sp>
      <p:sp>
        <p:nvSpPr>
          <p:cNvPr id="40" name="!!term-resolution ref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90672"/>
            <a:ext cx="230979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!!termd-resolution ref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termt-resolution ref"/>
          <p:cNvSpPr txBox="1"/>
          <p:nvPr/>
        </p:nvSpPr>
        <p:spPr>
          <a:xfrm>
            <a:off x="950976" y="3206496"/>
            <a:ext cx="212691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resolution refutation</a:t>
            </a:r>
          </a:p>
        </p:txBody>
      </p:sp>
      <p:sp>
        <p:nvSpPr>
          <p:cNvPr id="43" name="!!term-factor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4471" y="3090672"/>
            <a:ext cx="125840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termd-factor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2487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!!termt-factoring"/>
          <p:cNvSpPr txBox="1"/>
          <p:nvPr/>
        </p:nvSpPr>
        <p:spPr>
          <a:xfrm>
            <a:off x="3407079" y="3206496"/>
            <a:ext cx="107552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factoring</a:t>
            </a:r>
          </a:p>
        </p:txBody>
      </p:sp>
      <p:sp>
        <p:nvSpPr>
          <p:cNvPr id="46" name="!!termnote"/>
          <p:cNvSpPr txBox="1"/>
          <p:nvPr/>
        </p:nvSpPr>
        <p:spPr>
          <a:xfrm>
            <a:off x="658368" y="391363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F6F7B"/>
                </a:solidFill>
                <a:latin typeface="Segoe UI"/>
              </a:rPr>
              <a:t>Each term is defined where it first matters — not here.</a:t>
            </a:r>
          </a:p>
        </p:txBody>
      </p:sp>
      <p:sp>
        <p:nvSpPr>
          <p:cNvPr id="47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251118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 this chapter</a:t>
            </a:r>
          </a:p>
        </p:txBody>
      </p:sp>
      <p:pic>
        <p:nvPicPr>
          <p:cNvPr id="3" name="!!kicker-icon" descr="list-ul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6883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IN THIS CHAPTER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pp. 105–106     </a:t>
            </a:r>
            <a:fld id="{FFB52024-FABC-4564-BDAF-FF5FBD6B0336}" type="slidenum">
              <a:rPr lang="en-GB" sz="1000">
                <a:solidFill>
                  <a:srgbClr val="8795A1"/>
                </a:solidFill>
                <a:latin typeface="Segoe UI"/>
              </a:rPr>
              <a:t>5</a:t>
            </a:fld>
          </a:p>
        </p:txBody>
      </p:sp>
      <p:sp>
        <p:nvSpPr>
          <p:cNvPr id="7" name="!!ag0" descr="Go to section 12.1 Why Propositional Logic Runs Out"/>
          <p:cNvSpPr/>
          <p:nvPr/>
        </p:nvSpPr>
        <p:spPr>
          <a:xfrm>
            <a:off x="658368" y="177393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ag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73936"/>
            <a:ext cx="64008" cy="56692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agn0"/>
          <p:cNvSpPr txBox="1"/>
          <p:nvPr/>
        </p:nvSpPr>
        <p:spPr>
          <a:xfrm>
            <a:off x="932688" y="192024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3A95"/>
                </a:solidFill>
                <a:latin typeface="Segoe UI Semibold"/>
              </a:rPr>
              <a:t>12.1</a:t>
            </a:r>
          </a:p>
        </p:txBody>
      </p:sp>
      <p:sp>
        <p:nvSpPr>
          <p:cNvPr id="10" name="!!agt0"/>
          <p:cNvSpPr txBox="1"/>
          <p:nvPr/>
        </p:nvSpPr>
        <p:spPr>
          <a:xfrm>
            <a:off x="1847088" y="192024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Why Propositional Logic Runs Out</a:t>
            </a:r>
          </a:p>
        </p:txBody>
      </p:sp>
      <p:sp>
        <p:nvSpPr>
          <p:cNvPr id="11" name="!!agp0"/>
          <p:cNvSpPr txBox="1"/>
          <p:nvPr/>
        </p:nvSpPr>
        <p:spPr>
          <a:xfrm>
            <a:off x="9795967" y="194767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105  ›</a:t>
            </a:r>
          </a:p>
        </p:txBody>
      </p:sp>
      <p:sp>
        <p:nvSpPr>
          <p:cNvPr id="12" name="!!ag1" descr="Go to section 12.2 Syntax and Semantics of First-Order Logic"/>
          <p:cNvSpPr/>
          <p:nvPr/>
        </p:nvSpPr>
        <p:spPr>
          <a:xfrm>
            <a:off x="658368" y="2414015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ag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14015"/>
            <a:ext cx="64008" cy="56692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agn1"/>
          <p:cNvSpPr txBox="1"/>
          <p:nvPr/>
        </p:nvSpPr>
        <p:spPr>
          <a:xfrm>
            <a:off x="932688" y="256032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3A95"/>
                </a:solidFill>
                <a:latin typeface="Segoe UI Semibold"/>
              </a:rPr>
              <a:t>12.2</a:t>
            </a:r>
          </a:p>
        </p:txBody>
      </p:sp>
      <p:sp>
        <p:nvSpPr>
          <p:cNvPr id="15" name="!!agt1"/>
          <p:cNvSpPr txBox="1"/>
          <p:nvPr/>
        </p:nvSpPr>
        <p:spPr>
          <a:xfrm>
            <a:off x="1847088" y="256032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Syntax and Semantics of First-Order Logic</a:t>
            </a:r>
          </a:p>
        </p:txBody>
      </p:sp>
      <p:sp>
        <p:nvSpPr>
          <p:cNvPr id="16" name="!!agp1"/>
          <p:cNvSpPr txBox="1"/>
          <p:nvPr/>
        </p:nvSpPr>
        <p:spPr>
          <a:xfrm>
            <a:off x="9795967" y="2587751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105  ›</a:t>
            </a:r>
          </a:p>
        </p:txBody>
      </p:sp>
      <p:sp>
        <p:nvSpPr>
          <p:cNvPr id="17" name="!!ag2" descr="Go to section 12.3 Unification"/>
          <p:cNvSpPr/>
          <p:nvPr/>
        </p:nvSpPr>
        <p:spPr>
          <a:xfrm>
            <a:off x="658368" y="305409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ag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54096"/>
            <a:ext cx="64008" cy="56692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agn2"/>
          <p:cNvSpPr txBox="1"/>
          <p:nvPr/>
        </p:nvSpPr>
        <p:spPr>
          <a:xfrm>
            <a:off x="932688" y="320040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3A95"/>
                </a:solidFill>
                <a:latin typeface="Segoe UI Semibold"/>
              </a:rPr>
              <a:t>12.3</a:t>
            </a:r>
          </a:p>
        </p:txBody>
      </p:sp>
      <p:sp>
        <p:nvSpPr>
          <p:cNvPr id="20" name="!!agt2"/>
          <p:cNvSpPr txBox="1"/>
          <p:nvPr/>
        </p:nvSpPr>
        <p:spPr>
          <a:xfrm>
            <a:off x="1847088" y="320040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Unification</a:t>
            </a:r>
          </a:p>
        </p:txBody>
      </p:sp>
      <p:sp>
        <p:nvSpPr>
          <p:cNvPr id="21" name="!!agp2"/>
          <p:cNvSpPr txBox="1"/>
          <p:nvPr/>
        </p:nvSpPr>
        <p:spPr>
          <a:xfrm>
            <a:off x="9795967" y="322783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105  ›</a:t>
            </a:r>
          </a:p>
        </p:txBody>
      </p:sp>
      <p:sp>
        <p:nvSpPr>
          <p:cNvPr id="22" name="!!ag3" descr="Go to section 12.4 Clause Form and Skolemisation"/>
          <p:cNvSpPr/>
          <p:nvPr/>
        </p:nvSpPr>
        <p:spPr>
          <a:xfrm>
            <a:off x="658368" y="369417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ag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94176"/>
            <a:ext cx="64008" cy="56692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agn3"/>
          <p:cNvSpPr txBox="1"/>
          <p:nvPr/>
        </p:nvSpPr>
        <p:spPr>
          <a:xfrm>
            <a:off x="932688" y="384048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3A95"/>
                </a:solidFill>
                <a:latin typeface="Segoe UI Semibold"/>
              </a:rPr>
              <a:t>12.4</a:t>
            </a:r>
          </a:p>
        </p:txBody>
      </p:sp>
      <p:sp>
        <p:nvSpPr>
          <p:cNvPr id="25" name="!!agt3"/>
          <p:cNvSpPr txBox="1"/>
          <p:nvPr/>
        </p:nvSpPr>
        <p:spPr>
          <a:xfrm>
            <a:off x="1847088" y="384048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Clause Form and Skolemisation</a:t>
            </a:r>
          </a:p>
        </p:txBody>
      </p:sp>
      <p:sp>
        <p:nvSpPr>
          <p:cNvPr id="26" name="!!agp3"/>
          <p:cNvSpPr txBox="1"/>
          <p:nvPr/>
        </p:nvSpPr>
        <p:spPr>
          <a:xfrm>
            <a:off x="9795967" y="386791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105  ›</a:t>
            </a:r>
          </a:p>
        </p:txBody>
      </p:sp>
      <p:sp>
        <p:nvSpPr>
          <p:cNvPr id="27" name="!!ag4" descr="Go to section 12.5 Resolution Refutation">
            <a:hlinkClick action="ppaction://hlinksldjump" r:id="rId5"/>
          </p:cNvPr>
          <p:cNvSpPr/>
          <p:nvPr/>
        </p:nvSpPr>
        <p:spPr>
          <a:xfrm>
            <a:off x="658368" y="433425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ag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334256"/>
            <a:ext cx="64008" cy="56692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agn4"/>
          <p:cNvSpPr txBox="1"/>
          <p:nvPr/>
        </p:nvSpPr>
        <p:spPr>
          <a:xfrm>
            <a:off x="932688" y="448056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3A95"/>
                </a:solidFill>
                <a:latin typeface="Segoe UI Semibold"/>
              </a:rPr>
              <a:t>12.5</a:t>
            </a:r>
          </a:p>
        </p:txBody>
      </p:sp>
      <p:sp>
        <p:nvSpPr>
          <p:cNvPr id="30" name="!!agt4"/>
          <p:cNvSpPr txBox="1"/>
          <p:nvPr/>
        </p:nvSpPr>
        <p:spPr>
          <a:xfrm>
            <a:off x="1847088" y="448056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Resolution Refutation</a:t>
            </a:r>
          </a:p>
        </p:txBody>
      </p:sp>
      <p:sp>
        <p:nvSpPr>
          <p:cNvPr id="31" name="!!agp4"/>
          <p:cNvSpPr txBox="1"/>
          <p:nvPr/>
        </p:nvSpPr>
        <p:spPr>
          <a:xfrm>
            <a:off x="9795967" y="450799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105  ›</a:t>
            </a:r>
          </a:p>
        </p:txBody>
      </p:sp>
      <p:sp>
        <p:nvSpPr>
          <p:cNvPr id="3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063898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Chapter in preparation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§12.5  ·  Handout p. 105     </a:t>
            </a:r>
            <a:fld id="{030C56C5-CA1D-4EDE-8935-16DB09305809}" type="slidenum">
              <a:rPr lang="en-GB" sz="1000">
                <a:solidFill>
                  <a:srgbClr val="8795A1"/>
                </a:solidFill>
                <a:latin typeface="Segoe UI"/>
              </a:rPr>
              <a:t>6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079955"/>
          </a:xfrm>
          <a:prstGeom prst="roundRect">
            <a:avLst>
              <a:gd name="adj" fmla="val 4396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079955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full text of this chapter — prose, figures, worked example, laboratory and review questions — is being written. The outcomes, prerequisites, key terms and section structure above are settled and match the Course Specification and Appendix G.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876678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1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106  ·  answers in Appendix D     </a:t>
            </a:r>
            <a:fld id="{9D5EBDD6-7906-45B5-83F4-382611025B78}" type="slidenum">
              <a:rPr lang="en-GB" sz="1000">
                <a:solidFill>
                  <a:srgbClr val="D5DEE5"/>
                </a:solidFill>
                <a:latin typeface="Segoe UI"/>
              </a:rPr>
              <a:t>7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1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106  ·  answers in Appendix D     </a:t>
            </a:r>
            <a:fld id="{862F25F6-E6D1-48AC-B73C-4EFAFC1D9C4F}" type="slidenum">
              <a:rPr lang="en-GB" sz="1000">
                <a:solidFill>
                  <a:srgbClr val="8795A1"/>
                </a:solidFill>
                <a:latin typeface="Segoe UI"/>
              </a:rPr>
              <a:t>8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502237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2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106  ·  answers in Appendix D     </a:t>
            </a:r>
            <a:fld id="{4180AE60-245A-4F7F-B170-157807F1594F}" type="slidenum">
              <a:rPr lang="en-GB" sz="1000">
                <a:solidFill>
                  <a:srgbClr val="D5DEE5"/>
                </a:solidFill>
                <a:latin typeface="Segoe UI"/>
              </a:rPr>
              <a:t>9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2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106  ·  answers in Appendix D     </a:t>
            </a:r>
            <a:fld id="{91D3EE1B-7CBA-4318-8AA4-937E055AD51E}" type="slidenum">
              <a:rPr lang="en-GB" sz="1000">
                <a:solidFill>
                  <a:srgbClr val="8795A1"/>
                </a:solidFill>
                <a:latin typeface="Segoe UI"/>
              </a:rPr>
              <a:t>10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127796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3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106  ·  answers in Appendix D     </a:t>
            </a:r>
            <a:fld id="{00C4EFC8-F72A-44D3-A2D8-F3726B528722}" type="slidenum">
              <a:rPr lang="en-GB" sz="1000">
                <a:solidFill>
                  <a:srgbClr val="D5DEE5"/>
                </a:solidFill>
                <a:latin typeface="Segoe UI"/>
              </a:rPr>
              <a:t>11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3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106  ·  answers in Appendix D     </a:t>
            </a:r>
            <a:fld id="{5FC9F431-7D23-49F8-9A88-9C210CEF4E0A}" type="slidenum">
              <a:rPr lang="en-GB" sz="1000">
                <a:solidFill>
                  <a:srgbClr val="8795A1"/>
                </a:solidFill>
                <a:latin typeface="Segoe UI"/>
              </a:rPr>
              <a:t>12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753356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to take away</a:t>
            </a:r>
          </a:p>
        </p:txBody>
      </p:sp>
      <p:pic>
        <p:nvPicPr>
          <p:cNvPr id="3" name="!!kicker-icon" descr="clipboard-check-15425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5425E"/>
                </a:solidFill>
                <a:latin typeface="Segoe UI"/>
              </a:rPr>
              <a:t>CHAPTER SUMMARY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106     </a:t>
            </a:r>
            <a:fld id="{DC6422AC-E3E7-4B15-ACF2-EA1719C482CE}" type="slidenum">
              <a:rPr lang="en-GB" sz="1000">
                <a:solidFill>
                  <a:srgbClr val="8795A1"/>
                </a:solidFill>
                <a:latin typeface="Segoe UI"/>
              </a:rPr>
              <a:t>13</a:t>
            </a:fld>
          </a:p>
        </p:txBody>
      </p:sp>
      <p:sp>
        <p:nvSpPr>
          <p:cNvPr id="7" name="!!s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sbn0"/>
          <p:cNvSpPr txBox="1"/>
          <p:nvPr/>
        </p:nvSpPr>
        <p:spPr>
          <a:xfrm>
            <a:off x="658368" y="180136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!!st0"/>
          <p:cNvSpPr txBox="1"/>
          <p:nvPr/>
        </p:nvSpPr>
        <p:spPr>
          <a:xfrm>
            <a:off x="1298448" y="1737360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Why Propositional Logic Runs Out.</a:t>
            </a:r>
          </a:p>
        </p:txBody>
      </p:sp>
      <p:sp>
        <p:nvSpPr>
          <p:cNvPr id="10" name="!!s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3317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sbn1"/>
          <p:cNvSpPr txBox="1"/>
          <p:nvPr/>
        </p:nvSpPr>
        <p:spPr>
          <a:xfrm>
            <a:off x="658368" y="2386584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!!st1"/>
          <p:cNvSpPr txBox="1"/>
          <p:nvPr/>
        </p:nvSpPr>
        <p:spPr>
          <a:xfrm>
            <a:off x="1298448" y="2322576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Syntax and Semantics of First-Order Logic.</a:t>
            </a:r>
          </a:p>
        </p:txBody>
      </p:sp>
      <p:sp>
        <p:nvSpPr>
          <p:cNvPr id="13" name="!!s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91693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sbn2"/>
          <p:cNvSpPr txBox="1"/>
          <p:nvPr/>
        </p:nvSpPr>
        <p:spPr>
          <a:xfrm>
            <a:off x="658368" y="297180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5" name="!!st2"/>
          <p:cNvSpPr txBox="1"/>
          <p:nvPr/>
        </p:nvSpPr>
        <p:spPr>
          <a:xfrm>
            <a:off x="1298448" y="2907792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Unification.</a:t>
            </a:r>
          </a:p>
        </p:txBody>
      </p:sp>
      <p:sp>
        <p:nvSpPr>
          <p:cNvPr id="16" name="!!s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021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sbn3"/>
          <p:cNvSpPr txBox="1"/>
          <p:nvPr/>
        </p:nvSpPr>
        <p:spPr>
          <a:xfrm>
            <a:off x="658368" y="3557016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8" name="!!st3"/>
          <p:cNvSpPr txBox="1"/>
          <p:nvPr/>
        </p:nvSpPr>
        <p:spPr>
          <a:xfrm>
            <a:off x="1298448" y="3493008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Clause Form and Skolemisation.</a:t>
            </a:r>
          </a:p>
        </p:txBody>
      </p:sp>
      <p:sp>
        <p:nvSpPr>
          <p:cNvPr id="19" name="!!s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0873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sbn4"/>
          <p:cNvSpPr txBox="1"/>
          <p:nvPr/>
        </p:nvSpPr>
        <p:spPr>
          <a:xfrm>
            <a:off x="658368" y="414223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1" name="!!st4"/>
          <p:cNvSpPr txBox="1"/>
          <p:nvPr/>
        </p:nvSpPr>
        <p:spPr>
          <a:xfrm>
            <a:off x="1298448" y="4078224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Resolution Refutation.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566135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For your notebook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QUESTIONS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106     </a:t>
            </a:r>
            <a:fld id="{3478707D-51AA-4C90-835E-912B3492816A}" type="slidenum">
              <a:rPr lang="en-GB" sz="1000">
                <a:solidFill>
                  <a:srgbClr val="8795A1"/>
                </a:solidFill>
                <a:latin typeface="Segoe UI"/>
              </a:rPr>
              <a:t>14</a:t>
            </a:fld>
          </a:p>
        </p:txBody>
      </p:sp>
      <p:sp>
        <p:nvSpPr>
          <p:cNvPr id="7" name="!!r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rtt0"/>
          <p:cNvSpPr txBox="1"/>
          <p:nvPr/>
        </p:nvSpPr>
        <p:spPr>
          <a:xfrm>
            <a:off x="658368" y="179679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9" name="!!rq0"/>
          <p:cNvSpPr txBox="1"/>
          <p:nvPr/>
        </p:nvSpPr>
        <p:spPr>
          <a:xfrm>
            <a:off x="1892807" y="1737360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10" name="!!r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7624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tt1"/>
          <p:cNvSpPr txBox="1"/>
          <p:nvPr/>
        </p:nvSpPr>
        <p:spPr>
          <a:xfrm>
            <a:off x="658368" y="2317394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12" name="!!rq1"/>
          <p:cNvSpPr txBox="1"/>
          <p:nvPr/>
        </p:nvSpPr>
        <p:spPr>
          <a:xfrm>
            <a:off x="1892807" y="2257958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13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378915" cy="5486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3A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854A9D"/>
                </a:solidFill>
                <a:latin typeface="Segoe UI Black"/>
              </a:rPr>
              <a:t>12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1243584"/>
            <a:ext cx="8229600" cy="82296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000" b="0">
                <a:solidFill>
                  <a:srgbClr val="FFFFFF"/>
                </a:solidFill>
                <a:latin typeface="Segoe UI Semibold"/>
              </a:rPr>
              <a:t>End of Chapter 12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02412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c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F2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cll0"/>
          <p:cNvSpPr txBox="1"/>
          <p:nvPr/>
        </p:nvSpPr>
        <p:spPr>
          <a:xfrm>
            <a:off x="932688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CB4D7"/>
                </a:solidFill>
                <a:latin typeface="Segoe UI"/>
              </a:rPr>
              <a:t>NEXT</a:t>
            </a:r>
          </a:p>
        </p:txBody>
      </p:sp>
      <p:sp>
        <p:nvSpPr>
          <p:cNvPr id="7" name="!!clv0"/>
          <p:cNvSpPr txBox="1"/>
          <p:nvPr/>
        </p:nvSpPr>
        <p:spPr>
          <a:xfrm>
            <a:off x="932688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Chapter 13 — Rule-Based Expert Systems</a:t>
            </a:r>
          </a:p>
        </p:txBody>
      </p:sp>
      <p:sp>
        <p:nvSpPr>
          <p:cNvPr id="8" name="!!c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F2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ll1"/>
          <p:cNvSpPr txBox="1"/>
          <p:nvPr/>
        </p:nvSpPr>
        <p:spPr>
          <a:xfrm>
            <a:off x="6507327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CB4D7"/>
                </a:solidFill>
                <a:latin typeface="Segoe UI"/>
              </a:rPr>
              <a:t>READ</a:t>
            </a:r>
          </a:p>
        </p:txBody>
      </p:sp>
      <p:sp>
        <p:nvSpPr>
          <p:cNvPr id="10" name="!!clv1"/>
          <p:cNvSpPr txBox="1"/>
          <p:nvPr/>
        </p:nvSpPr>
        <p:spPr>
          <a:xfrm>
            <a:off x="6507327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Handout Chapter 12, pages 105–106</a:t>
            </a:r>
          </a:p>
        </p:txBody>
      </p:sp>
      <p:sp>
        <p:nvSpPr>
          <p:cNvPr id="11" name="!!c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F2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ll2"/>
          <p:cNvSpPr txBox="1"/>
          <p:nvPr/>
        </p:nvSpPr>
        <p:spPr>
          <a:xfrm>
            <a:off x="932688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CB4D7"/>
                </a:solidFill>
                <a:latin typeface="Segoe UI"/>
              </a:rPr>
              <a:t>THIS WEEK'S LAB</a:t>
            </a:r>
          </a:p>
        </p:txBody>
      </p:sp>
      <p:sp>
        <p:nvSpPr>
          <p:cNvPr id="13" name="!!clv2"/>
          <p:cNvSpPr txBox="1"/>
          <p:nvPr/>
        </p:nvSpPr>
        <p:spPr>
          <a:xfrm>
            <a:off x="932688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Unification and a resolution proof</a:t>
            </a:r>
          </a:p>
        </p:txBody>
      </p:sp>
      <p:sp>
        <p:nvSpPr>
          <p:cNvPr id="14" name="!!c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F2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cll3"/>
          <p:cNvSpPr txBox="1"/>
          <p:nvPr/>
        </p:nvSpPr>
        <p:spPr>
          <a:xfrm>
            <a:off x="6507327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CB4D7"/>
                </a:solidFill>
                <a:latin typeface="Segoe UI"/>
              </a:rPr>
              <a:t>ASSESSMENT</a:t>
            </a:r>
          </a:p>
        </p:txBody>
      </p:sp>
      <p:sp>
        <p:nvSpPr>
          <p:cNvPr id="16" name="!!clv3"/>
          <p:cNvSpPr txBox="1"/>
          <p:nvPr/>
        </p:nvSpPr>
        <p:spPr>
          <a:xfrm>
            <a:off x="6507327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Project set, proposal due; Assignment 2 set</a:t>
            </a:r>
          </a:p>
        </p:txBody>
      </p:sp>
      <p:sp>
        <p:nvSpPr>
          <p:cNvPr id="1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12  ·  First-Order Logic and Resolution</a:t>
            </a:r>
          </a:p>
        </p:txBody>
      </p:sp>
      <p:sp>
        <p:nvSpPr>
          <p:cNvPr id="1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fld id="{CFCDF7FC-8065-43FC-A6A7-2C59D41D422A}" type="slidenum">
              <a:rPr lang="en-GB" sz="1000">
                <a:solidFill>
                  <a:srgbClr val="D5DEE5"/>
                </a:solidFill>
                <a:latin typeface="Segoe UI"/>
              </a:rPr>
              <a:t>15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rtificial Intelligence Fall 2026">
  <a:themeElements>
    <a:clrScheme name="Artificial Intelligence Fall 2026">
      <a:dk1>
        <a:srgbClr val="1C252B"/>
      </a:dk1>
      <a:lt1>
        <a:srgbClr val="FFFFFF"/>
      </a:lt1>
      <a:dk2>
        <a:srgbClr val="1A5276"/>
      </a:dk2>
      <a:lt2>
        <a:srgbClr val="EBF5FB"/>
      </a:lt2>
      <a:accent1>
        <a:srgbClr val="1A5276"/>
      </a:accent1>
      <a:accent2>
        <a:srgbClr val="2E86C1"/>
      </a:accent2>
      <a:accent3>
        <a:srgbClr val="E74C3C"/>
      </a:accent3>
      <a:accent4>
        <a:srgbClr val="27AE60"/>
      </a:accent4>
      <a:accent5>
        <a:srgbClr val="8E44AD"/>
      </a:accent5>
      <a:accent6>
        <a:srgbClr val="B7950B"/>
      </a:accent6>
      <a:hlink>
        <a:srgbClr val="2E86C1"/>
      </a:hlink>
      <a:folHlink>
        <a:srgbClr val="8E44AD"/>
      </a:folHlink>
    </a:clrScheme>
    <a:fontScheme name="Artificial Intelligence Fall 2026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12: First-Order Logic and Resolution</dc:title>
  <dc:subject>Artificial Intelligence — Search, Knowledge and Reasoning · BSIT · Fall 2026</dc:subject>
  <dc:creator>Dr. Mustafa Hameed</dc:creator>
  <cp:keywords>artificial intelligence; lecture slides; BSIT; HEC; Fall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Lecture slides</cp:category>
</cp:coreProperties>
</file>