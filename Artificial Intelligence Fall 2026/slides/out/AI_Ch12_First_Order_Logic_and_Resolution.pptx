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8.svg" ContentType="image/svg+xml"/>
  <Override PartName="/ppt/media/image29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0.svg" ContentType="image/svg+xml"/>
  <Override PartName="/ppt/media/image72.svg" ContentType="image/svg+xml"/>
  <Override PartName="/ppt/media/image73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A2EC1F0-63B0-488F-A031-C8CE36B6DD92}">
          <p14:sldIdLst>
            <p14:sldId id="256"/>
            <p14:sldId id="257"/>
            <p14:sldId id="258"/>
            <p14:sldId id="259"/>
            <p14:sldId id="260"/>
          </p14:sldIdLst>
        </p14:section>
        <p14:section name="12.1 Where Propositional Logic Runs Out" id="{31529CC1-BD61-4BEB-8F0A-38CCC8DD4149}">
          <p14:sldIdLst>
            <p14:sldId id="261"/>
          </p14:sldIdLst>
        </p14:section>
        <p14:section name="12.2 Syntax and Semantics" id="{BD324CC1-A615-412B-A741-EB36EBA509E9}">
          <p14:sldIdLst>
            <p14:sldId id="262"/>
            <p14:sldId id="263"/>
          </p14:sldIdLst>
        </p14:section>
        <p14:section name="12.3 Unification" id="{1AC0F963-F6C5-4193-B648-DE1E39701DFA}">
          <p14:sldIdLst>
            <p14:sldId id="264"/>
            <p14:sldId id="265"/>
            <p14:sldId id="266"/>
          </p14:sldIdLst>
        </p14:section>
        <p14:section name="12.4 Clause Form" id="{08A2FB39-8EFC-4958-85C6-B430407B885D}">
          <p14:sldIdLst>
            <p14:sldId id="267"/>
            <p14:sldId id="268"/>
            <p14:sldId id="269"/>
            <p14:sldId id="270"/>
          </p14:sldIdLst>
        </p14:section>
        <p14:section name="12.5 Resolution Refutation" id="{146C2E9E-F7EA-4E2E-8E3D-203262462D0E}">
          <p14:sldIdLst>
            <p14:sldId id="271"/>
            <p14:sldId id="272"/>
            <p14:sldId id="273"/>
            <p14:sldId id="274"/>
            <p14:sldId id="275"/>
          </p14:sldIdLst>
        </p14:section>
        <p14:section name="12.6 What This Buys, and What It Costs" id="{246A1DED-661B-4B41-907C-C08ABAE7B57E}">
          <p14:sldIdLst>
            <p14:sldId id="276"/>
            <p14:sldId id="277"/>
          </p14:sldIdLst>
        </p14:section>
        <p14:section name="Pitfalls" id="{45058379-E55C-45D5-9859-8775A96176DC}">
          <p14:sldIdLst>
            <p14:sldId id="278"/>
          </p14:sldIdLst>
        </p14:section>
        <p14:section name="Lab" id="{EFFE1B5E-EE1F-47FB-BCEE-32AC6E769E72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Checkpoint" id="{77EF5260-20AA-47D1-B3D3-9382E01CA707}">
          <p14:sldIdLst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Wrap-up" id="{365A8464-A7FB-4EB0-8595-42731DD16CEC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12: First-Order Logic and Resolution. Part 4 — Knowledge, Logic and Reasoning. Week 11: First-order logic and resolution; the project brief. Handout pages 121–131.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11 — entailment and derivation, conjunctive normal form, the resolution rule, and the equivalence KB ⊨ α ⇔ (KB ∧ ¬α) unsatisfiable. Everything here is that machinery with objects added, and Chapter 3 supplies the recursion that unification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first-order logic; constant; variable; function symbol; term; predicate; atom; universal quantifier; existential quantifier; substitution; unification; most general unifier; occurs check; standardising apart; skolemisation; clause form; resolution refutation; set of support; subsumption.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11 settled the release gate. Now a rule the delivery team uses constantly: if something you depend on is delayed, you are delayed. Propositional logic cannot say that. It has no way to talk about “something” — only about specific, named facts. So the rule has to be written out once per pair: DependsRelease47Payments ∧ DelayedPayments ⇒ DelayedRelease47 DependsPaymentsAuth ∧ DelayedAuth ⇒ DelayedPayments … and so on With n services that is n2 sentences for one rule, each of which must be maintained by hand, and a new service means writing 2n more. At forty services the single rule above becomes 1,600 sentences. The knowledge is not large; the encoding is, and it is an encoding no domain expert would agree to maintain.</a:t>
            </a:r>
          </a:p>
          <a:p/>
          <a:p>
            <a:r>
              <a:t>Figure 12.1 (handout p. 122): The delay chain. Quantifiers buy the ability to state a rule once, which is the difference between a knowledge base a team can maintain and one it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First-order logic adds three things to the propositional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quantifiers pair with different connectives, and getting this wrong is the most common beginner’s error: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Universal with implication; existential with conjunction. Writing ∀ x service(x) ∧ monitored(x) claims that everything in the universe is a monitored service — including Ayesha and the number seven. Writing ∃ x service(x) ⇒ unmonitored(x) is satisfied by any object that is not a service, and so says essentially nothing. Resolution needs to know when two atoms can be made identical. That is unification.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12.2 (handout p. 123): Three unification problems. The third is why every implementation needs an occurs check, and why many production Prolog systems omit it for speed and document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Resolution works on clauses, so first-order sentences must be converted. The procedure extends Chapter 11’s with two steps for quantifiers.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delay rule needs no skolemisation — it is purely universal: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becomes the single clause ¬ depends(x,y) ∨ ¬ delayed(y) ∨ delayed(x). The rule is Chapter 11’s, with unification doing the matching: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each resolution the two clauses are standardised apart, so that an x in one is not accidentally identified with an x in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First-order logic is strictly more expressive than propositional logic, and the price is paid in decidability. Propositional entailment is decidable: model checking always terminates, if slowly. First-order entailment is only semi-decidable. If the conclusion follows, resolution will eventually find a proof. If it does not, the procedure may run forever without ever being able to report that fact — there are infinitely many models and it cannot enumerate them to find a countermodel. So Chapter 11’s most practically useful output, the countermodel, is in general unavailable here. That is a real loss, and it is one reason production systems often restrict themselves to a decidable fragment — Horn clauses, which is what Chapter 13 uses and what makes Prolog work.</a:t>
            </a:r>
          </a:p>
          <a:p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unifier with the occurs check, first-order resolution, and the set-of-support strategy measured against naive saturation.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Set-up.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Set-up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Set-up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Set-up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Set-up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Set-up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Set-up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8: The knowledge base.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9: The knowledge base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10: The knowledge base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11: The knowledge base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12: The knowledge base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13: The knowledge base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14: The knowledge base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15: The knowledge base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16: The knowledge base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∀ x service(x) ⇒ ∃ y owns(y, x). Eliminating ⇒ gives ∀ x ¬service(x) ∨ ∃ y owns(y,x); skolemising y and dropping the universal gives ¬service(x) ∨ owns(owner(x), x). The existential variable lies inside the universal quantifier over x, so the owner depends on which service we are talking about. Skolemising to a constant Sk would give ¬service(x) ∨ owns(Sk, x) — “one particular person owns every service” — which is a different and much stronger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n2 sentences: one for each ordered pair of services, since the rule relates a depender to a dependee. Adding one service means writing 2n more by hand and getting none of them wrong. In first-order logic the rule is a single sentence and adding a service means adding a fact; the rule is untouched. That is the difference between a knowledge base a team can maintain and one it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Because first-order entailment is only semi-decidable. If the conclusion follows, resolution will eventually derive the empty clause; if it does not, the procedure may search forever, and it cannot in general report that no proof exists. A countermodel would require exhibiting an interpretation in which the knowledge base holds and the query fails, and first-order interpretations can have infinite domains — there are infinitely many to consider and no way to enumerate them. Propositional logic has finitely many models, which is exactly why Chapter 11 could hand one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13 — Rule-Based Expert Systems. READ: Handout Chapter 12, pages 121–131. THIS WEEK'S LAB: Unification and a resolution proof. ASSESSMENT: Project set, proposal due; Assignment 2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9.xml"/><Relationship Id="rId8" Type="http://schemas.openxmlformats.org/officeDocument/2006/relationships/slide" Target="slide12.xml"/><Relationship Id="rId9" Type="http://schemas.openxmlformats.org/officeDocument/2006/relationships/slide" Target="slide16.xml"/><Relationship Id="rId10" Type="http://schemas.openxmlformats.org/officeDocument/2006/relationships/slide" Target="slide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3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21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26.svg"/><Relationship Id="rId4" Type="http://schemas.openxmlformats.org/officeDocument/2006/relationships/image" Target="../media/image27.png"/><Relationship Id="rId5" Type="http://schemas.openxmlformats.org/officeDocument/2006/relationships/image" Target="../media/image28.sv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29.svg"/><Relationship Id="rId4" Type="http://schemas.openxmlformats.org/officeDocument/2006/relationships/image" Target="../media/image30.png"/><Relationship Id="rId5" Type="http://schemas.openxmlformats.org/officeDocument/2006/relationships/image" Target="../media/image31.sv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32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3" Type="http://schemas.openxmlformats.org/officeDocument/2006/relationships/image" Target="../media/image36.sv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43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5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6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7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8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9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0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1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2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3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4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5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6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7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8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59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60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61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62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Relationship Id="rId3" Type="http://schemas.openxmlformats.org/officeDocument/2006/relationships/image" Target="../media/image64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3" Type="http://schemas.openxmlformats.org/officeDocument/2006/relationships/image" Target="../media/image66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Relationship Id="rId3" Type="http://schemas.openxmlformats.org/officeDocument/2006/relationships/image" Target="../media/image67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3" Type="http://schemas.openxmlformats.org/officeDocument/2006/relationships/image" Target="../media/image68.sv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Relationship Id="rId3" Type="http://schemas.openxmlformats.org/officeDocument/2006/relationships/image" Target="../media/image69.sv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3" Type="http://schemas.openxmlformats.org/officeDocument/2006/relationships/image" Target="../media/image70.sv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png"/><Relationship Id="rId3" Type="http://schemas.openxmlformats.org/officeDocument/2006/relationships/image" Target="../media/image72.sv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png"/><Relationship Id="rId3" Type="http://schemas.openxmlformats.org/officeDocument/2006/relationships/image" Target="../media/image73.sv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5.sv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6.sv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7.svg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8.svg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9.sv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74EA0"/>
                </a:solidFill>
                <a:latin typeface="Segoe UI Black"/>
              </a:rPr>
              <a:t>12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First-Order Logic and Resolution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PART IV  ·  KNOWLEDGE, LOGIC AND REASONING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CHAPTER 12  ·  WEEK 11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4D8EA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8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C0AE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0C3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0AE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05C17D74-A943-468F-9898-D4DA0D68C613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89413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A3A95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894138" cy="4572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509260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09260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9012160" y="1755648"/>
            <a:ext cx="24022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2160" y="2029967"/>
            <a:ext cx="240229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4306" y="2112264"/>
            <a:ext cx="566928" cy="566928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154306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558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77414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943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45799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89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8675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84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82770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5233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96089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185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3704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13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7799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091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101894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3511690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A3A95"/>
                </a:solidFill>
                <a:latin typeface="Segoe UI"/>
              </a:rPr>
              <a:t>First-Order Logic and Resolution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3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Representations and Search in Python</a:t>
            </a:r>
          </a:p>
        </p:txBody>
      </p:sp>
      <p:sp>
        <p:nvSpPr>
          <p:cNvPr id="68" name="!!chipBU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bBU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tBU11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Propositional Logic and Inference</a:t>
            </a:r>
          </a:p>
        </p:txBody>
      </p:sp>
      <p:sp>
        <p:nvSpPr>
          <p:cNvPr id="71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2" name="!!chipUS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bUS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chiptUS13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Rule-Based Expert Systems</a:t>
            </a:r>
          </a:p>
        </p:txBody>
      </p:sp>
      <p:sp>
        <p:nvSpPr>
          <p:cNvPr id="75" name="!!chipUS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bUS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!!chiptUS18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18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Natural Language Processing</a:t>
            </a:r>
          </a:p>
        </p:txBody>
      </p:sp>
      <p:sp>
        <p:nvSpPr>
          <p:cNvPr id="78" name="!!chipUS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bUS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!!chiptUS19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19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Classic AI Systems and How to Analyse Them</a:t>
            </a:r>
          </a:p>
        </p:txBody>
      </p:sp>
      <p:sp>
        <p:nvSpPr>
          <p:cNvPr id="81" name="!!chipUS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chipbUS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!!chiptUS21"/>
          <p:cNvSpPr txBox="1"/>
          <p:nvPr/>
        </p:nvSpPr>
        <p:spPr>
          <a:xfrm>
            <a:off x="6525615" y="5413248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Responsible AI and Its Limits</a:t>
            </a:r>
          </a:p>
        </p:txBody>
      </p:sp>
      <p:sp>
        <p:nvSpPr>
          <p:cNvPr id="84" name="!!chipUS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833872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!!chipbUS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833872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!!chiptUS22"/>
          <p:cNvSpPr txBox="1"/>
          <p:nvPr/>
        </p:nvSpPr>
        <p:spPr>
          <a:xfrm>
            <a:off x="6525615" y="5925312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Artificial Intelligence Project</a:t>
            </a:r>
          </a:p>
        </p:txBody>
      </p:sp>
      <p:sp>
        <p:nvSpPr>
          <p:cNvPr id="8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333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376BFC45-7CD8-4B83-AAE8-1A81BBDF66B0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propositional logic cannot state a general rule,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quantify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it costs to try.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11170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Express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statements about objects and relations using quantifiers.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715207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Unify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two expressions,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occurs check,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say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goes wrong without it.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318711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Convert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first-order sentence to clause form, including skolemisation.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81067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4940503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4871923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Prove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conclusion by resolution refutation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present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proof as an auditable table.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6500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D74F5F5E-0B7F-4970-A6E0-AADDCD1B170C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first-order 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77072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first-order 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first-order lo"/>
          <p:cNvSpPr txBox="1"/>
          <p:nvPr/>
        </p:nvSpPr>
        <p:spPr>
          <a:xfrm>
            <a:off x="950976" y="1970532"/>
            <a:ext cx="158784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first-order logic</a:t>
            </a:r>
          </a:p>
        </p:txBody>
      </p:sp>
      <p:sp>
        <p:nvSpPr>
          <p:cNvPr id="10" name="!!term-consta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5393" y="1847088"/>
            <a:ext cx="117554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consta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0340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constant"/>
          <p:cNvSpPr txBox="1"/>
          <p:nvPr/>
        </p:nvSpPr>
        <p:spPr>
          <a:xfrm>
            <a:off x="2868001" y="1970532"/>
            <a:ext cx="99266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constant</a:t>
            </a:r>
          </a:p>
        </p:txBody>
      </p:sp>
      <p:sp>
        <p:nvSpPr>
          <p:cNvPr id="13" name="!!term-variab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97239" y="1847088"/>
            <a:ext cx="110728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variab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5255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variable"/>
          <p:cNvSpPr txBox="1"/>
          <p:nvPr/>
        </p:nvSpPr>
        <p:spPr>
          <a:xfrm>
            <a:off x="4189847" y="1970532"/>
            <a:ext cx="92440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variable</a:t>
            </a:r>
          </a:p>
        </p:txBody>
      </p:sp>
      <p:sp>
        <p:nvSpPr>
          <p:cNvPr id="16" name="!!term-function symb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0826" y="1847088"/>
            <a:ext cx="181831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function symb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8842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function symbo"/>
          <p:cNvSpPr txBox="1"/>
          <p:nvPr/>
        </p:nvSpPr>
        <p:spPr>
          <a:xfrm>
            <a:off x="5443434" y="1970532"/>
            <a:ext cx="163543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function symbol</a:t>
            </a:r>
          </a:p>
        </p:txBody>
      </p:sp>
      <p:sp>
        <p:nvSpPr>
          <p:cNvPr id="19" name="!!term-ter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5449" y="1847088"/>
            <a:ext cx="84129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ter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43465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term"/>
          <p:cNvSpPr txBox="1"/>
          <p:nvPr/>
        </p:nvSpPr>
        <p:spPr>
          <a:xfrm>
            <a:off x="7408057" y="1970532"/>
            <a:ext cx="65841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term</a:t>
            </a:r>
          </a:p>
        </p:txBody>
      </p:sp>
      <p:sp>
        <p:nvSpPr>
          <p:cNvPr id="22" name="!!term-predic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3051" y="1847088"/>
            <a:ext cx="123998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predic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3106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predicate"/>
          <p:cNvSpPr txBox="1"/>
          <p:nvPr/>
        </p:nvSpPr>
        <p:spPr>
          <a:xfrm>
            <a:off x="8395659" y="1970532"/>
            <a:ext cx="105710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predicate</a:t>
            </a:r>
          </a:p>
        </p:txBody>
      </p:sp>
      <p:sp>
        <p:nvSpPr>
          <p:cNvPr id="25" name="!!term-ato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9343" y="1847088"/>
            <a:ext cx="88482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ato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1735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atom"/>
          <p:cNvSpPr txBox="1"/>
          <p:nvPr/>
        </p:nvSpPr>
        <p:spPr>
          <a:xfrm>
            <a:off x="9781951" y="1970532"/>
            <a:ext cx="70194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atom</a:t>
            </a:r>
          </a:p>
        </p:txBody>
      </p:sp>
      <p:sp>
        <p:nvSpPr>
          <p:cNvPr id="28" name="!!term-universal qu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207306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universal qu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universal quan"/>
          <p:cNvSpPr txBox="1"/>
          <p:nvPr/>
        </p:nvSpPr>
        <p:spPr>
          <a:xfrm>
            <a:off x="950976" y="2592324"/>
            <a:ext cx="189018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universal quantifier</a:t>
            </a:r>
          </a:p>
        </p:txBody>
      </p:sp>
      <p:sp>
        <p:nvSpPr>
          <p:cNvPr id="31" name="!!term-existential q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7734" y="2468880"/>
            <a:ext cx="217193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existential q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05750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existential qu"/>
          <p:cNvSpPr txBox="1"/>
          <p:nvPr/>
        </p:nvSpPr>
        <p:spPr>
          <a:xfrm>
            <a:off x="3170342" y="2592324"/>
            <a:ext cx="198905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existential quantifier</a:t>
            </a:r>
          </a:p>
        </p:txBody>
      </p:sp>
      <p:sp>
        <p:nvSpPr>
          <p:cNvPr id="34" name="!!term-substitu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5976" y="2468880"/>
            <a:ext cx="145340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substitu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399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substitution"/>
          <p:cNvSpPr txBox="1"/>
          <p:nvPr/>
        </p:nvSpPr>
        <p:spPr>
          <a:xfrm>
            <a:off x="5488584" y="2592324"/>
            <a:ext cx="127052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substitution</a:t>
            </a:r>
          </a:p>
        </p:txBody>
      </p:sp>
      <p:sp>
        <p:nvSpPr>
          <p:cNvPr id="37" name="!!term-unific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95685" y="2468880"/>
            <a:ext cx="133915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unific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2370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unification"/>
          <p:cNvSpPr txBox="1"/>
          <p:nvPr/>
        </p:nvSpPr>
        <p:spPr>
          <a:xfrm>
            <a:off x="7088293" y="2592324"/>
            <a:ext cx="115627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unification</a:t>
            </a:r>
          </a:p>
        </p:txBody>
      </p:sp>
      <p:sp>
        <p:nvSpPr>
          <p:cNvPr id="40" name="!!term-most general 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1139" y="2468880"/>
            <a:ext cx="216010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most general 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0915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most general u"/>
          <p:cNvSpPr txBox="1"/>
          <p:nvPr/>
        </p:nvSpPr>
        <p:spPr>
          <a:xfrm>
            <a:off x="8573747" y="2592324"/>
            <a:ext cx="197722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most general unifier</a:t>
            </a:r>
          </a:p>
        </p:txBody>
      </p:sp>
      <p:sp>
        <p:nvSpPr>
          <p:cNvPr id="43" name="!!term-occurs che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153328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termd-occurs che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termt-occurs check"/>
          <p:cNvSpPr txBox="1"/>
          <p:nvPr/>
        </p:nvSpPr>
        <p:spPr>
          <a:xfrm>
            <a:off x="950976" y="3214116"/>
            <a:ext cx="135040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occurs check</a:t>
            </a:r>
          </a:p>
        </p:txBody>
      </p:sp>
      <p:sp>
        <p:nvSpPr>
          <p:cNvPr id="46" name="!!term-standardising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7959" y="3090672"/>
            <a:ext cx="209113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!!termd-standardising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5975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termt-standardising "/>
          <p:cNvSpPr txBox="1"/>
          <p:nvPr/>
        </p:nvSpPr>
        <p:spPr>
          <a:xfrm>
            <a:off x="2630567" y="3214116"/>
            <a:ext cx="190825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standardising apart</a:t>
            </a:r>
          </a:p>
        </p:txBody>
      </p:sp>
      <p:sp>
        <p:nvSpPr>
          <p:cNvPr id="49" name="!!term-skolemis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5402" y="3090672"/>
            <a:ext cx="161267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termd-skolemis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3418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!!termt-skolemisation"/>
          <p:cNvSpPr txBox="1"/>
          <p:nvPr/>
        </p:nvSpPr>
        <p:spPr>
          <a:xfrm>
            <a:off x="4868010" y="3214116"/>
            <a:ext cx="142979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skolemisation</a:t>
            </a:r>
          </a:p>
        </p:txBody>
      </p:sp>
      <p:sp>
        <p:nvSpPr>
          <p:cNvPr id="52" name="!!term-clause for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34384" y="3090672"/>
            <a:ext cx="143144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!!termd-clause for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2400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termt-clause form"/>
          <p:cNvSpPr txBox="1"/>
          <p:nvPr/>
        </p:nvSpPr>
        <p:spPr>
          <a:xfrm>
            <a:off x="6626992" y="3214116"/>
            <a:ext cx="124856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clause form</a:t>
            </a:r>
          </a:p>
        </p:txBody>
      </p:sp>
      <p:sp>
        <p:nvSpPr>
          <p:cNvPr id="55" name="!!term-resolution re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12129" y="3090672"/>
            <a:ext cx="219286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termd-resolution re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0145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!!termt-resolution ref"/>
          <p:cNvSpPr txBox="1"/>
          <p:nvPr/>
        </p:nvSpPr>
        <p:spPr>
          <a:xfrm>
            <a:off x="8204737" y="3214116"/>
            <a:ext cx="200998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resolution refutation</a:t>
            </a:r>
          </a:p>
        </p:txBody>
      </p:sp>
      <p:sp>
        <p:nvSpPr>
          <p:cNvPr id="58" name="!!term-set of supp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12464"/>
            <a:ext cx="163822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!!termd-set of supp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904488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termt-set of support"/>
          <p:cNvSpPr txBox="1"/>
          <p:nvPr/>
        </p:nvSpPr>
        <p:spPr>
          <a:xfrm>
            <a:off x="950976" y="3835908"/>
            <a:ext cx="145534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set of support</a:t>
            </a:r>
          </a:p>
        </p:txBody>
      </p:sp>
      <p:sp>
        <p:nvSpPr>
          <p:cNvPr id="61" name="!!term-subsump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42898" y="3712464"/>
            <a:ext cx="155619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termd-subsump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0914" y="3904488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!!termt-subsumption"/>
          <p:cNvSpPr txBox="1"/>
          <p:nvPr/>
        </p:nvSpPr>
        <p:spPr>
          <a:xfrm>
            <a:off x="2735506" y="3835908"/>
            <a:ext cx="137331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subsumption</a:t>
            </a:r>
          </a:p>
        </p:txBody>
      </p:sp>
      <p:sp>
        <p:nvSpPr>
          <p:cNvPr id="64" name="!!termnote"/>
          <p:cNvSpPr txBox="1"/>
          <p:nvPr/>
        </p:nvSpPr>
        <p:spPr>
          <a:xfrm>
            <a:off x="658368" y="453542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6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8666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121–131     </a:t>
            </a:r>
            <a:fld id="{CFBF148D-6AC6-46FC-8AB6-9F014B69AD3F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2.1 Where Propositional Logic Runs Out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12.1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Where Propositional Logic Runs Out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121  ›</a:t>
            </a:r>
          </a:p>
        </p:txBody>
      </p:sp>
      <p:sp>
        <p:nvSpPr>
          <p:cNvPr id="12" name="!!ag1" descr="Go to section 12.2 Syntax and Semantics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12.2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Syntax and Semantics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122  ›</a:t>
            </a:r>
          </a:p>
        </p:txBody>
      </p:sp>
      <p:sp>
        <p:nvSpPr>
          <p:cNvPr id="17" name="!!ag2" descr="Go to section 12.3 Unification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12.3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Unification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122  ›</a:t>
            </a:r>
          </a:p>
        </p:txBody>
      </p:sp>
      <p:sp>
        <p:nvSpPr>
          <p:cNvPr id="22" name="!!ag3" descr="Go to section 12.4 Clause Form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12.4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Clause Form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27" name="!!ag4" descr="Go to section 12.5 Resolution Refutation">
            <a:hlinkClick action="ppaction://hlinksldjump" r:id="rId9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12.5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Resolution Refutation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124  ›</a:t>
            </a:r>
          </a:p>
        </p:txBody>
      </p:sp>
      <p:sp>
        <p:nvSpPr>
          <p:cNvPr id="32" name="!!ag5" descr="Go to section 12.6 What This Buys, and What It Costs">
            <a:hlinkClick action="ppaction://hlinksldjump" r:id="rId10"/>
          </p:cNvPr>
          <p:cNvSpPr/>
          <p:nvPr/>
        </p:nvSpPr>
        <p:spPr>
          <a:xfrm>
            <a:off x="658368" y="49743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ag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7433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agn5"/>
          <p:cNvSpPr txBox="1"/>
          <p:nvPr/>
        </p:nvSpPr>
        <p:spPr>
          <a:xfrm>
            <a:off x="932688" y="51206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12.6</a:t>
            </a:r>
          </a:p>
        </p:txBody>
      </p:sp>
      <p:sp>
        <p:nvSpPr>
          <p:cNvPr id="35" name="!!agt5"/>
          <p:cNvSpPr txBox="1"/>
          <p:nvPr/>
        </p:nvSpPr>
        <p:spPr>
          <a:xfrm>
            <a:off x="1847088" y="51206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What This Buys, and What It Costs</a:t>
            </a:r>
          </a:p>
        </p:txBody>
      </p:sp>
      <p:sp>
        <p:nvSpPr>
          <p:cNvPr id="36" name="!!agp5"/>
          <p:cNvSpPr txBox="1"/>
          <p:nvPr/>
        </p:nvSpPr>
        <p:spPr>
          <a:xfrm>
            <a:off x="9795967" y="51480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125  ›</a:t>
            </a:r>
          </a:p>
        </p:txBody>
      </p:sp>
      <p:sp>
        <p:nvSpPr>
          <p:cNvPr id="3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0833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delay chain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7A3A95"/>
                </a:solidFill>
                <a:latin typeface="Segoe UI"/>
              </a:rPr>
              <a:t>FIGURE 12.1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§12.1  ·  Handout p. 121     </a:t>
            </a:r>
            <a:fld id="{33D0443D-33EA-4D65-8A5F-D4C155F35B3D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pic>
        <p:nvPicPr>
          <p:cNvPr id="6" name="!!figure" descr="Figure 12.1. The delay chain. Quantifiers buy the ability to state a rule once, which is the difference between a knowledge base a team can maintain and one it cannot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972982"/>
            <a:ext cx="10874959" cy="2394091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Quantifiers buy the ability to state a rule once, which is the difference between a knowledge base a team can maintain and one it cannot.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33000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Syntax and Semantics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BRIEF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§12.2  ·  Handout p. 122     </a:t>
            </a:r>
            <a:fld id="{0375462D-FFD8-49F0-8E33-CB9632D435AB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648966"/>
          </a:xfrm>
          <a:prstGeom prst="roundRect">
            <a:avLst>
              <a:gd name="adj" fmla="val 3451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648966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2072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Terms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denote objects: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constants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Auth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),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variables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), and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function symbols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applied to terms 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owner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).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Predicates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denote relations: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depends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true or false of a pair of objects.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Quantifiers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∀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(for all)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∃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(there exists).</a:t>
            </a:r>
          </a:p>
        </p:txBody>
      </p:sp>
      <p:sp>
        <p:nvSpPr>
          <p:cNvPr id="1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55167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Syntax and Semantics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BRIEF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§12.2  ·  Handout p. 122     </a:t>
            </a:r>
            <a:fld id="{9CCA83C1-49C6-4B2D-B89E-7272EBA82CC2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904354"/>
          </a:xfrm>
          <a:prstGeom prst="roundRect">
            <a:avLst>
              <a:gd name="adj" fmla="val 4801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90435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two quantifiers pair with different connectives, and getting this wrong is the most common beginner’s error:</a:t>
            </a:r>
          </a:p>
        </p:txBody>
      </p:sp>
      <p:pic>
        <p:nvPicPr>
          <p:cNvPr id="10" name="body-1" descr="\forall x \; \mathit{service}(x) \Rightarrow \mathit{monitored}(x) \qquad\text{but}\qquad \exists x \; \mathit{service}(x) \wedge \mathit{unmonitored}(x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937992"/>
            <a:ext cx="10161727" cy="392826"/>
          </a:xfrm>
          <a:prstGeom prst="rect">
            <a:avLst/>
          </a:prstGeom>
        </p:spPr>
      </p:pic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77333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Unification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3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12.3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12.1   Where Propositional Logic Runs Out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12.2   Syntax and Semantics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12.3   Unification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12.4   Clause Form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12.5   Resolution Refutation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12.6   What This Buys, and What It Costs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§12.3     </a:t>
            </a:r>
            <a:fld id="{E80107DB-A6DF-4251-980B-9E80BB5997AD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99500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Unification and the most general unifier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122     </a:t>
            </a:r>
            <a:fld id="{ADBA510D-FD4C-4F06-82A1-FFF965E94C4E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130346"/>
          </a:xfrm>
          <a:prstGeom prst="roundRect">
            <a:avLst>
              <a:gd name="adj" fmla="val 2921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130346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substitution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maps variables to terms. Unify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q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returns a substitution with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q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or failure.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Among all unifiers there is a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most general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one, which commits to as little as possible. That matters: a unifier that binds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Auth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when it only needed to bind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throws away conclusions.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192270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occurs check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refuses to bind a variable to a term containing it.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1667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Three unification problems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7A3A95"/>
                </a:solidFill>
                <a:latin typeface="Segoe UI"/>
              </a:rPr>
              <a:t>FIGURE 12.2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122     </a:t>
            </a:r>
            <a:fld id="{BA61C898-3512-40EC-BC0A-736430256E60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pic>
        <p:nvPicPr>
          <p:cNvPr id="6" name="!!figure" descr="Figure 12.2. Three unification problems. The third is why every implementation needs an occurs check, and why many production Prolog systems omit it for speed and document the risk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3823" y="1737360"/>
            <a:ext cx="8924048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The third is why every implementation needs an occurs check, and why many production Prolog systems omit it for speed and document the risk.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Clause Form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4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12.4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12.1   Where Propositional Logic Runs Out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12.2   Syntax and Semantics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12.3   Unification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12.4   Clause Form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12.5   Resolution Refutation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12.6   What This Buys, and What It Costs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§12.4     </a:t>
            </a:r>
            <a:fld id="{6F96CA53-5451-43F5-8456-986440D9BEC8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66000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Clause Form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BRIEF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123     </a:t>
            </a:r>
            <a:fld id="{8796A13B-260B-49F7-95AC-294A7AAA4C86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11599"/>
          </a:xfrm>
          <a:prstGeom prst="roundRect">
            <a:avLst>
              <a:gd name="adj" fmla="val 212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11599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7355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1.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Eliminate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⇔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as before.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2.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Drive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¬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inwards. Over quantifiers: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¬ ∀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≡ ∃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 ¬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¬ ∃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≡ ∀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 ¬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3.	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Standardise apart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rename so no two quantifiers bind the same variable name.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4.	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Skolemise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replace each existentially quantified variable by a new constant, or — if it lies inside any universal quantifiers — by a new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function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of those universally quantified variables.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5.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Drop the universal quantifiers (everything left is implicitly universal) and distribute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∨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over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∧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2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8167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Skolemisation, and why the function is necessary</a:t>
            </a:r>
          </a:p>
        </p:txBody>
      </p:sp>
      <p:pic>
        <p:nvPicPr>
          <p:cNvPr id="3" name="!!kicker-icon" descr="code-27AE6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7AE60"/>
                </a:solidFill>
                <a:latin typeface="Segoe UI"/>
              </a:rPr>
              <a:t>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123     </a:t>
            </a:r>
            <a:fld id="{47F8C2C6-3014-4805-8BC8-D8A94D599B6A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01819"/>
          </a:xfrm>
          <a:prstGeom prst="roundRect">
            <a:avLst>
              <a:gd name="adj" fmla="val 2077"/>
            </a:avLst>
          </a:prstGeom>
          <a:solidFill>
            <a:srgbClr val="EAF7EF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01819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“Every service has an owner”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∀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service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⇒ ∃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owns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50617"/>
            <a:ext cx="10161727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Skolemising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to a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constant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050" b="0" i="0">
                <a:solidFill>
                  <a:srgbClr val="1F4E79"/>
                </a:solidFill>
                <a:latin typeface="Consolas"/>
              </a:rPr>
              <a:t>Sk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gives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¬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service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∨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owns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Sk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which claims one person owns every service. That is a different and much stronger statement, and it is wrong.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750360"/>
            <a:ext cx="10161727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depends on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so it must become a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function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of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pic>
        <p:nvPicPr>
          <p:cNvPr id="12" name="body-3" descr="\neg \mathit{service}(x) \vee \mathit{owns}(\mathit{owner}(x),\, x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4252722"/>
            <a:ext cx="10161727" cy="375818"/>
          </a:xfrm>
          <a:prstGeom prst="rect">
            <a:avLst/>
          </a:prstGeom>
        </p:spPr>
      </p:pic>
      <p:sp>
        <p:nvSpPr>
          <p:cNvPr id="13" name="body-4"/>
          <p:cNvSpPr txBox="1"/>
          <p:nvPr/>
        </p:nvSpPr>
        <p:spPr>
          <a:xfrm>
            <a:off x="1060704" y="4782210"/>
            <a:ext cx="10161727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where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owner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a new function symbol meaning “the owner of”. Now each service has its own. The rule is mechanical: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skolemise to a function of every universal quantifier you are inside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10334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Clause Form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BRIEF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123     </a:t>
            </a:r>
            <a:fld id="{5D4151FA-6A4D-46DF-BB3F-EF54FCCA835A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539814"/>
          </a:xfrm>
          <a:prstGeom prst="roundRect">
            <a:avLst>
              <a:gd name="adj" fmla="val 5938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53981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delay rule needs no skolemisation — it is purely universal:</a:t>
            </a:r>
          </a:p>
        </p:txBody>
      </p:sp>
      <p:pic>
        <p:nvPicPr>
          <p:cNvPr id="10" name="body-1" descr="\forall x, y \;\; \mathit{depends}(x,y) \wedge \mathit{delayed}(y) \Rightarrow \mathit{delayed}(x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573451"/>
            <a:ext cx="10161727" cy="392826"/>
          </a:xfrm>
          <a:prstGeom prst="rect">
            <a:avLst/>
          </a:prstGeom>
        </p:spPr>
      </p:pic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32500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Resolution Refutation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5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12.5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12.1   Where Propositional Logic Runs Out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12.2   Syntax and Semantics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12.3   Unification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12.4   Clause Form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12.5   Resolution Refutation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12.6   What This Buys, and What It Costs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§12.5     </a:t>
            </a:r>
            <a:fld id="{520B17C2-FB1B-445C-A901-CFD0AE2741E4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54667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Resolution Refutation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BRIEF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§12.5  ·  Handout p. 124     </a:t>
            </a:r>
            <a:fld id="{D13BB19C-0DF9-4744-B56F-0ABD1D047BEC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900453"/>
          </a:xfrm>
          <a:prstGeom prst="roundRect">
            <a:avLst>
              <a:gd name="adj" fmla="val 4811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900453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rule is Chapter 11’s, with unification doing the matching:</a:t>
            </a:r>
          </a:p>
        </p:txBody>
      </p:sp>
      <p:pic>
        <p:nvPicPr>
          <p:cNvPr id="10" name="body-1" descr="\frac{\alpha \vee \ell \qquad \beta \vee \neg m \qquad \theta = \mathrm{Unify}(\ell, m)} {(\alpha \vee \beta)\theta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573451"/>
            <a:ext cx="10161727" cy="753465"/>
          </a:xfrm>
          <a:prstGeom prst="rect">
            <a:avLst/>
          </a:prstGeom>
        </p:spPr>
      </p:pic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76834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knowledge base</a:t>
            </a:r>
          </a:p>
        </p:txBody>
      </p:sp>
      <p:pic>
        <p:nvPicPr>
          <p:cNvPr id="3" name="!!kicker-icon" descr="code-27AE6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7AE60"/>
                </a:solidFill>
                <a:latin typeface="Segoe UI"/>
              </a:rPr>
              <a:t>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§12.5  ·  Handout p. 124     </a:t>
            </a:r>
            <a:fld id="{DEB78F26-8516-477C-AD5D-75B102409941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11856"/>
          </a:xfrm>
          <a:prstGeom prst="roundRect">
            <a:avLst>
              <a:gd name="adj" fmla="val 3140"/>
            </a:avLst>
          </a:prstGeom>
          <a:solidFill>
            <a:srgbClr val="EAF7EF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118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8105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E8449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R1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¬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depends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,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∨ ¬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∨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E8449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F1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depends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Release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47,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E8449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F2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depends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Auth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E8449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F3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Auth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973779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Query: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Release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47)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is the release late?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99000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Resolution Refutation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AT A GLANCE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§12.5  ·  Handout p. 124     </a:t>
            </a:r>
            <a:fld id="{A843D464-7545-4482-ADDF-C6ECD71EF4D5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7366609" cy="429158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30352"/>
                <a:gridCol w="3936833"/>
                <a:gridCol w="2899424"/>
              </a:tblGrid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#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Clause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Derived from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¬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depends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x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,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 ∨ ¬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delayed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 ∨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delayed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x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given (R1)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depends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Release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47,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Payments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given (F1)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depends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Payments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,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Auth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given (F2)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delayed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Auth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given (F3)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¬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delayed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Release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47)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assumed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: negated query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¬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depends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x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,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Auth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 ∨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delayed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x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1, 4 with 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θ = {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/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Auth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}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delayed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Payments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3, 6 with 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θ = {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x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/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Payments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}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¬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depends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x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,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Payments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 ∨ 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delayed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x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1, 7 with 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θ = {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/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Payments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}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delayed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Release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47)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2, 8 with 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θ = {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x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/</a:t>
                      </a:r>
                      <a:r>
                        <a:rPr sz="1600" b="0" i="1">
                          <a:solidFill>
                            <a:srgbClr val="1C252B"/>
                          </a:solidFill>
                          <a:latin typeface="Cambria"/>
                        </a:rPr>
                        <a:t>Release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47}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□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 (the empty clause)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5, 9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1167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Finding that proof is much harder than checking it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§12.5  ·  Handout p. 124     </a:t>
            </a:r>
            <a:fld id="{D014B6AF-AA7A-4E82-8D95-6B5FA694CD04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00930"/>
          </a:xfrm>
          <a:prstGeom prst="roundRect">
            <a:avLst>
              <a:gd name="adj" fmla="val 2031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0093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Table 12.1 is five derived lines. A naive implementation — resolve every pair, keep everything new, repeat — reaches the empty clause in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705 resolution steps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783255"/>
            <a:ext cx="10161727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standard first remedy is </a:t>
            </a:r>
            <a:r>
              <a:rPr sz="1900" b="1" i="0">
                <a:solidFill>
                  <a:srgbClr val="1A5276"/>
                </a:solidFill>
                <a:latin typeface="Segoe UI"/>
              </a:rPr>
              <a:t>set of support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 require every resolution to involve a clause descended from the negated query. Nothing else is relevant to proving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this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conclusion, and the restriction preserves refutation completeness. It cuts the search to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202 steps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 factor of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3.5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120540"/>
            <a:ext cx="10161727" cy="18525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Even that is far from five, and the reason is visible in the lab’s trace: the same clause is derived repeatedly with different variable names, because standardising apart creates fresh names each time and a set of clauses does not recognise alpha-variants as equal. Real provers add </a:t>
            </a:r>
            <a:r>
              <a:rPr sz="1900" b="1" i="0">
                <a:solidFill>
                  <a:srgbClr val="1A5276"/>
                </a:solidFill>
                <a:latin typeface="Segoe UI"/>
              </a:rPr>
              <a:t>subsumption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discard a clause if a more general one is already present — along with unit preference and indexing. That is the subject of automated theorem proving, and it is where this course stops.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3334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Following the unifiers through the proof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E23946B0-DF40-409C-A63F-2C08430970C9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114302"/>
          </a:xfrm>
          <a:prstGeom prst="roundRect">
            <a:avLst>
              <a:gd name="adj" fmla="val 2222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11430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point of this trace is that the general rule R1 is used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three times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with three different substitutions, which is exactly what propositional logic could not do.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746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6: resolve R1 with F3.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R1 contains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¬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F3 is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Auth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Unifying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Auth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gives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 = {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Auth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}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Remove the complementary pair and apply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to what remains:</a:t>
            </a:r>
          </a:p>
        </p:txBody>
      </p:sp>
      <p:pic>
        <p:nvPicPr>
          <p:cNvPr id="11" name="body-2" descr="\neg \mathit{depends}(x, \texttt{Auth}) \vee \mathit{delayed}(x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3782821"/>
            <a:ext cx="10234879" cy="324520"/>
          </a:xfrm>
          <a:prstGeom prst="rect">
            <a:avLst/>
          </a:prstGeom>
        </p:spPr>
      </p:pic>
      <p:sp>
        <p:nvSpPr>
          <p:cNvPr id="12" name="body-3"/>
          <p:cNvSpPr txBox="1"/>
          <p:nvPr/>
        </p:nvSpPr>
        <p:spPr>
          <a:xfrm>
            <a:off x="1042416" y="4240057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Read it in English: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anything that depends on Auth is delayed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A new general rule, derived from a general rule and one fact.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42416" y="4975057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7: resolve that with F2.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depends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Auth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unifies with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depends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Auth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under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 = {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}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leaving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chain has advanced one link.</a:t>
            </a:r>
          </a:p>
        </p:txBody>
      </p:sp>
      <p:sp>
        <p:nvSpPr>
          <p:cNvPr id="14" name="body-4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993345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5501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Following the unifiers through the proof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71AF1B3F-295B-4D44-9B23-380E94FCDF10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958209"/>
          </a:xfrm>
          <a:prstGeom prst="roundRect">
            <a:avLst>
              <a:gd name="adj" fmla="val 2310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95820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8: resolve R1 with that.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fresh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copy of R1 — standardised apart, so its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are new variables — resolves against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under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 = {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}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giving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¬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depends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∨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3047822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9: resolve with F1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 = {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Release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47}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giving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Release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47)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066110"/>
            <a:ext cx="54864" cy="2828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2"/>
          <p:cNvSpPr txBox="1"/>
          <p:nvPr/>
        </p:nvSpPr>
        <p:spPr>
          <a:xfrm>
            <a:off x="1042416" y="348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10: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that contradicts the assumed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¬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Release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47)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so the empty clause follows and the query is proved.</a:t>
            </a:r>
          </a:p>
        </p:txBody>
      </p:sp>
      <p:sp>
        <p:nvSpPr>
          <p:cNvPr id="14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499967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body-3"/>
          <p:cNvSpPr txBox="1"/>
          <p:nvPr/>
        </p:nvSpPr>
        <p:spPr>
          <a:xfrm>
            <a:off x="1042416" y="4216679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Why standardising apart matters.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At step 8, R1’s variables must be renamed. If the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in the fresh copy were identified with the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already bound to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Payments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at step 7, the copy would be unusable for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Release47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the proof would fail. The variables in a clause are local to it, and forgetting that is a bug whose symptom is proofs that mysteriously do not close.</a:t>
            </a:r>
          </a:p>
        </p:txBody>
      </p:sp>
      <p:sp>
        <p:nvSpPr>
          <p:cNvPr id="16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34967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23F7AC1B-D4A5-4AB2-B5A8-1D8285BE25D5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Cambria"/>
              </a:rPr>
              <a:t>∀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 with </a:t>
            </a:r>
            <a:r>
              <a:rPr sz="1800" b="1" i="0">
                <a:solidFill>
                  <a:srgbClr val="1C252B"/>
                </a:solidFill>
                <a:latin typeface="Cambria"/>
              </a:rPr>
              <a:t>∧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∀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 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service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 ∧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monitored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claims everything in the universe is a monitored service. Use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∀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∧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∃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27401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550261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509113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Omitting the occurs check.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Unify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then succeeds with an infinite term, and the symptom is a hang rather than a wrong answer.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299155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32201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280867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Skolemising to a constant inside a universal.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“Every service has an owner” becomes “one person owns every service”.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7090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40937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4052620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Forgetting to standardise apart.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Two clauses sharing a variable name become accidentally linked, and proofs fail for reasons invisible in the output.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4266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86552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824374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Expecting a countermodel when the proof fails.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First-order entailment is only semi-decidable: failing to find a proof is not evidence that none exists.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1441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56372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5596128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Assuming naive resolution will scale.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705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steps for a five-line proof. Set of support, subsumption and indexing are not optional extras.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09834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6C6ECC3A-A5C7-45C7-BF85-A5B41CC39BAF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679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real unifier with the occurs check, first-order resolution, and the set-of-support strategy measured against naive saturation.</a:t>
            </a:r>
          </a:p>
        </p:txBody>
      </p:sp>
      <p:sp>
        <p:nvSpPr>
          <p:cNvPr id="8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68224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68224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lflTHIS"/>
          <p:cNvSpPr txBox="1"/>
          <p:nvPr/>
        </p:nvSpPr>
        <p:spPr>
          <a:xfrm>
            <a:off x="932688" y="284683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11" name="!!lfvTHIS"/>
          <p:cNvSpPr txBox="1"/>
          <p:nvPr/>
        </p:nvSpPr>
        <p:spPr>
          <a:xfrm>
            <a:off x="932688" y="313944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11: Unification and a resolution proof</a:t>
            </a:r>
          </a:p>
        </p:txBody>
      </p:sp>
      <p:sp>
        <p:nvSpPr>
          <p:cNvPr id="12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268224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268224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flWHAT"/>
          <p:cNvSpPr txBox="1"/>
          <p:nvPr/>
        </p:nvSpPr>
        <p:spPr>
          <a:xfrm>
            <a:off x="4649114" y="284683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15" name="!!lfvWHAT"/>
          <p:cNvSpPr txBox="1"/>
          <p:nvPr/>
        </p:nvSpPr>
        <p:spPr>
          <a:xfrm>
            <a:off x="4649114" y="313944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261 lines of Python</a:t>
            </a:r>
          </a:p>
        </p:txBody>
      </p:sp>
      <p:sp>
        <p:nvSpPr>
          <p:cNvPr id="16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268224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268224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lflRUNN"/>
          <p:cNvSpPr txBox="1"/>
          <p:nvPr/>
        </p:nvSpPr>
        <p:spPr>
          <a:xfrm>
            <a:off x="8365540" y="284683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19" name="!!lfvRUNN"/>
          <p:cNvSpPr txBox="1"/>
          <p:nvPr/>
        </p:nvSpPr>
        <p:spPr>
          <a:xfrm>
            <a:off x="8365540" y="313944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code/ch12_unification_resolution.py</a:t>
            </a:r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2001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058C03FD-BAB3-4C86-9C51-EF6637E2228A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3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&quot;&quot;&quot;Chapter 12 lab -- first-order resolution on a delay chain. Representation: a constant is a string; a variable is (&quot;?&quot;, name); a compound term is (functor, arg, ...); a literal is (sign, predicate, args). &quot;&quot;&quot; def var(n): return (&quot;?&quot;, n) def is_var(t): return isinstance(t, tuple) and len(t) == 2 and t[0] == &quot;?&quot; def is_compound(t): return isinstance(t, tuple) and not is_var(t)"/>
          <p:cNvSpPr txBox="1"/>
          <p:nvPr/>
        </p:nvSpPr>
        <p:spPr>
          <a:xfrm>
            <a:off x="1362456" y="2523744"/>
            <a:ext cx="9987991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7DCEA0"/>
                </a:solidFill>
                <a:latin typeface="Consolas"/>
              </a:rPr>
              <a:t>"""Chapter 12 lab -- first-order resolution on a delay chain.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7DCEA0"/>
                </a:solidFill>
                <a:latin typeface="Consolas"/>
              </a:rPr>
              <a:t>Representation: a constant is a string; a variable is ("?", name);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7DCEA0"/>
                </a:solidFill>
                <a:latin typeface="Consolas"/>
              </a:rPr>
              <a:t>a compound term is (functor, arg, ...); a literal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7DCEA0"/>
                </a:solidFill>
                <a:latin typeface="Consolas"/>
              </a:rPr>
              <a:t>(sign, predicate, args).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7DCEA0"/>
                </a:solidFill>
                <a:latin typeface="Consolas"/>
              </a:rPr>
              <a:t>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def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var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?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def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is_var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t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isinstance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t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tuple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and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len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t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2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and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t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?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def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is_compound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t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isinstance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t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tuple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and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not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is_var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t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4167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B69E7336-FF4C-4363-AFF1-50D0058C0D4A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32504"/>
          </a:xfrm>
          <a:prstGeom prst="roundRect">
            <a:avLst>
              <a:gd name="adj" fmla="val 2267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def walk(t, s): while is_var(t) and t in s: t = s[t] return t def occurs(v, t, s): &quot;&quot;&quot;The occurs check: is v inside t? Omit this and unify(x, f(x)) succeeds with a term that does not exist.&quot;&quot;&quot; t = walk(t, s) if t == v: return True if is_compound(t): return any(occurs(v, a, s) for a in t[1:]) return False"/>
          <p:cNvSpPr txBox="1"/>
          <p:nvPr/>
        </p:nvSpPr>
        <p:spPr>
          <a:xfrm>
            <a:off x="1362456" y="2523744"/>
            <a:ext cx="9987991" cy="35387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5DADE2"/>
                </a:solidFill>
                <a:latin typeface="Consolas"/>
              </a:rPr>
              <a:t>def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C39BD3"/>
                </a:solidFill>
                <a:latin typeface="Consolas"/>
              </a:rPr>
              <a:t>walk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while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is_var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and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in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5DADE2"/>
                </a:solidFill>
                <a:latin typeface="Consolas"/>
              </a:rPr>
              <a:t>def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C39BD3"/>
                </a:solidFill>
                <a:latin typeface="Consolas"/>
              </a:rPr>
              <a:t>occurs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v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7DCEA0"/>
                </a:solidFill>
                <a:latin typeface="Consolas"/>
              </a:rPr>
              <a:t>"""The occurs check: is v inside t? Omit this and unify(x, f(x))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7DCEA0"/>
                </a:solidFill>
                <a:latin typeface="Consolas"/>
              </a:rPr>
              <a:t>    succeeds with a term that does not exist."""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walk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if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v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5DADE2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if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is_compound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C39BD3"/>
                </a:solidFill>
                <a:latin typeface="Consolas"/>
              </a:rPr>
              <a:t>any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occurs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v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a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5DADE2"/>
                </a:solidFill>
                <a:latin typeface="Consolas"/>
              </a:rPr>
              <a:t>for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a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in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F7DC6F"/>
                </a:solidFill>
                <a:latin typeface="Consolas"/>
              </a:rPr>
              <a:t>1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5DADE2"/>
                </a:solidFill>
                <a:latin typeface="Consolas"/>
              </a:rPr>
              <a:t>False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387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31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34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35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36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76334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26FDAE12-49AE-404B-A010-4B80598680BA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32504"/>
          </a:xfrm>
          <a:prstGeom prst="roundRect">
            <a:avLst>
              <a:gd name="adj" fmla="val 2267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def unify(x, y, s): &quot;&quot;&quot;Most general unifier, or None.&quot;&quot;&quot; if s is None: return None x, y = walk(x, s), walk(y, s) if x == y: return s if is_var(x): if occurs(x, y, s): return None s = dict(s) s[x] = y return s if is_var(y): return unify(y, x, s)"/>
          <p:cNvSpPr txBox="1"/>
          <p:nvPr/>
        </p:nvSpPr>
        <p:spPr>
          <a:xfrm>
            <a:off x="1362456" y="2523744"/>
            <a:ext cx="9987991" cy="35387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5DADE2"/>
                </a:solidFill>
                <a:latin typeface="Consolas"/>
              </a:rPr>
              <a:t>def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C39BD3"/>
                </a:solidFill>
                <a:latin typeface="Consolas"/>
              </a:rPr>
              <a:t>unify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7DCEA0"/>
                </a:solidFill>
                <a:latin typeface="Consolas"/>
              </a:rPr>
              <a:t>"""Most general unifier, or None."""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if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is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5DADE2"/>
                </a:solidFill>
                <a:latin typeface="Consolas"/>
              </a:rPr>
              <a:t>None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5DADE2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walk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walk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if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if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is_var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if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occurs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5DADE2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C39BD3"/>
                </a:solidFill>
                <a:latin typeface="Consolas"/>
              </a:rPr>
              <a:t>dict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if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is_var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unify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387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42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43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45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46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47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48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49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50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51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52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53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8501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9960584A-D679-43EF-96BC-D8B93E9B335B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17264"/>
          </a:xfrm>
          <a:prstGeom prst="roundRect">
            <a:avLst>
              <a:gd name="adj" fmla="val 227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if is_compound(x) and is_compound(y): if x[0] != y[0] or len(x) != len(y): return None for a, b in zip(x[1:], y[1:]): s = unify(a, b, s) if s is None: return None return s return None def subst(t, s): t = walk(t, s) if is_compound(t): return (t[0],) + tuple(subst(a, s) for a in t[1:]) return t"/>
          <p:cNvSpPr txBox="1"/>
          <p:nvPr/>
        </p:nvSpPr>
        <p:spPr>
          <a:xfrm>
            <a:off x="1362456" y="2523744"/>
            <a:ext cx="9987991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if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is_compound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x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and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is_compound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y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if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x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!=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y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or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C39BD3"/>
                </a:solidFill>
                <a:latin typeface="Consolas"/>
              </a:rPr>
              <a:t>len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x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!=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C39BD3"/>
                </a:solidFill>
                <a:latin typeface="Consolas"/>
              </a:rPr>
              <a:t>len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y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for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a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b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in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C39BD3"/>
                </a:solidFill>
                <a:latin typeface="Consolas"/>
              </a:rPr>
              <a:t>zip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x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F7DC6F"/>
                </a:solidFill>
                <a:latin typeface="Consolas"/>
              </a:rPr>
              <a:t>1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y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F7DC6F"/>
                </a:solidFill>
                <a:latin typeface="Consolas"/>
              </a:rPr>
              <a:t>1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unify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a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b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if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is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None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def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C39BD3"/>
                </a:solidFill>
                <a:latin typeface="Consolas"/>
              </a:rPr>
              <a:t>subst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t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E8EDF2"/>
                </a:solidFill>
                <a:latin typeface="Consolas"/>
              </a:rPr>
              <a:t>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walk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t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if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is_compound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t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t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C39BD3"/>
                </a:solidFill>
                <a:latin typeface="Consolas"/>
              </a:rPr>
              <a:t>tuple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subst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a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for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a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in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t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F7DC6F"/>
                </a:solidFill>
                <a:latin typeface="Consolas"/>
              </a:rPr>
              <a:t>1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t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54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55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56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57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58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59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60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61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66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67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68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20668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98281D47-6F24-4198-93DE-5CE75C8A44C9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4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def lit_subst(lit, s): sign, pred, args = lit return (sign, pred, tuple(subst(a, s) for a in args)) def standardise(clause, n): &quot;&quot;&quot;Rename every variable, so two clauses never share one.&quot;&quot;&quot; out = [] for (sign, pred, args) in clause: out.append((sign, pred, tuple((&quot;?&quot;, &quot;%s#%d&quot; % (a[1], n)) if is_var(a) else a for a in args))) return frozenset(out)"/>
          <p:cNvSpPr txBox="1"/>
          <p:nvPr/>
        </p:nvSpPr>
        <p:spPr>
          <a:xfrm>
            <a:off x="1362456" y="2523744"/>
            <a:ext cx="9987991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5DADE2"/>
                </a:solidFill>
                <a:latin typeface="Consolas"/>
              </a:rPr>
              <a:t>def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lit_subst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lit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sign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pred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args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sign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pred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tuple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subst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for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in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args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5DADE2"/>
                </a:solidFill>
                <a:latin typeface="Consolas"/>
              </a:rPr>
              <a:t>def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standardise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clause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7DCEA0"/>
                </a:solidFill>
                <a:latin typeface="Consolas"/>
              </a:rPr>
              <a:t>"""Rename every variable, so two clauses never share one."""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out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[</a:t>
            </a:r>
            <a:r>
              <a:rPr sz="18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for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sign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pred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args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in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clause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out</a:t>
            </a:r>
            <a:r>
              <a:rPr sz="1800" i="0">
                <a:solidFill>
                  <a:srgbClr val="AEB6BF"/>
                </a:solidFill>
                <a:latin typeface="Consolas"/>
              </a:rPr>
              <a:t>.</a:t>
            </a:r>
            <a:r>
              <a:rPr sz="1800" i="0">
                <a:solidFill>
                  <a:srgbClr val="E8EDF2"/>
                </a:solidFill>
                <a:latin typeface="Consolas"/>
              </a:rPr>
              <a:t>append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sign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pred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800" i="0">
                <a:solidFill>
                  <a:srgbClr val="C39BD3"/>
                </a:solidFill>
                <a:latin typeface="Consolas"/>
              </a:rPr>
              <a:t>tuple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7DCEA0"/>
                </a:solidFill>
                <a:latin typeface="Consolas"/>
              </a:rPr>
              <a:t>"</a:t>
            </a:r>
            <a:r>
              <a:rPr sz="1800" i="0">
                <a:solidFill>
                  <a:srgbClr val="7DCEA0"/>
                </a:solidFill>
                <a:latin typeface="Consolas"/>
              </a:rPr>
              <a:t>?</a:t>
            </a:r>
            <a:r>
              <a:rPr sz="1800" i="0">
                <a:solidFill>
                  <a:srgbClr val="7DCEA0"/>
                </a:solidFill>
                <a:latin typeface="Consolas"/>
              </a:rPr>
              <a:t>"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7DCEA0"/>
                </a:solidFill>
                <a:latin typeface="Consolas"/>
              </a:rPr>
              <a:t>"</a:t>
            </a:r>
            <a:r>
              <a:rPr sz="1800" i="0">
                <a:solidFill>
                  <a:srgbClr val="7DCEA0"/>
                </a:solidFill>
                <a:latin typeface="Consolas"/>
              </a:rPr>
              <a:t>%s</a:t>
            </a:r>
            <a:r>
              <a:rPr sz="1800" i="0">
                <a:solidFill>
                  <a:srgbClr val="7DCEA0"/>
                </a:solidFill>
                <a:latin typeface="Consolas"/>
              </a:rPr>
              <a:t>#</a:t>
            </a:r>
            <a:r>
              <a:rPr sz="1800" i="0">
                <a:solidFill>
                  <a:srgbClr val="7DCEA0"/>
                </a:solidFill>
                <a:latin typeface="Consolas"/>
              </a:rPr>
              <a:t>%d</a:t>
            </a:r>
            <a:r>
              <a:rPr sz="1800" i="0">
                <a:solidFill>
                  <a:srgbClr val="7DCEA0"/>
                </a:solidFill>
                <a:latin typeface="Consolas"/>
              </a:rPr>
              <a:t>"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%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[</a:t>
            </a:r>
            <a:r>
              <a:rPr sz="1800" i="0">
                <a:solidFill>
                  <a:srgbClr val="F7DC6F"/>
                </a:solidFill>
                <a:latin typeface="Consolas"/>
              </a:rPr>
              <a:t>1</a:t>
            </a:r>
            <a:r>
              <a:rPr sz="1800" i="0">
                <a:solidFill>
                  <a:srgbClr val="AEB6BF"/>
                </a:solidFill>
                <a:latin typeface="Consolas"/>
              </a:rPr>
              <a:t>]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if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is_var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else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              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for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in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args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out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72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73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74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75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76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77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78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79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80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81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82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83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84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2834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6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BD65D70C-C251-4452-B503-50035299C9A9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78224"/>
          </a:xfrm>
          <a:prstGeom prst="roundRect">
            <a:avLst>
              <a:gd name="adj" fmla="val 224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def resolve(ci, cj, n): ci, cj = standardise(ci, n), standardise(cj, n + 500000) out = [] for li in ci: for lj in cj: if li[0] == lj[0] or li[1] != lj[1]: continue if len(li[2]) != len(lj[2]): continue s, ok = {}, True for a, b in zip(li[2], lj[2]): s = unify(a, b, s) if s is None: ok = False break if ok: out.append(frozenset( lit_subst(l, s) for l in (ci - {li}) | (cj - {lj}))) return out"/>
          <p:cNvSpPr txBox="1"/>
          <p:nvPr/>
        </p:nvSpPr>
        <p:spPr>
          <a:xfrm>
            <a:off x="1362456" y="2523744"/>
            <a:ext cx="9987991" cy="35844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5DADE2"/>
                </a:solidFill>
                <a:latin typeface="Consolas"/>
              </a:rPr>
              <a:t>def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C39BD3"/>
                </a:solidFill>
                <a:latin typeface="Consolas"/>
              </a:rPr>
              <a:t>resolve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ci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cj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n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ci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cj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standardise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ci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n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standardise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cj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n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+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F7DC6F"/>
                </a:solidFill>
                <a:latin typeface="Consolas"/>
              </a:rPr>
              <a:t>500000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out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for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li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in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ci</a:t>
            </a:r>
            <a:r>
              <a:rPr sz="12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for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lj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in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cj</a:t>
            </a:r>
            <a:r>
              <a:rPr sz="12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li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F7DC6F"/>
                </a:solidFill>
                <a:latin typeface="Consolas"/>
              </a:rPr>
              <a:t>0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lj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F7DC6F"/>
                </a:solidFill>
                <a:latin typeface="Consolas"/>
              </a:rPr>
              <a:t>0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or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li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F7DC6F"/>
                </a:solidFill>
                <a:latin typeface="Consolas"/>
              </a:rPr>
              <a:t>1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!=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lj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F7DC6F"/>
                </a:solidFill>
                <a:latin typeface="Consolas"/>
              </a:rPr>
              <a:t>1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continue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C39BD3"/>
                </a:solidFill>
                <a:latin typeface="Consolas"/>
              </a:rPr>
              <a:t>len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li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F7DC6F"/>
                </a:solidFill>
                <a:latin typeface="Consolas"/>
              </a:rPr>
              <a:t>2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!=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C39BD3"/>
                </a:solidFill>
                <a:latin typeface="Consolas"/>
              </a:rPr>
              <a:t>len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lj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F7DC6F"/>
                </a:solidFill>
                <a:latin typeface="Consolas"/>
              </a:rPr>
              <a:t>2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continue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s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ok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5DADE2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for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a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b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in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C39BD3"/>
                </a:solidFill>
                <a:latin typeface="Consolas"/>
              </a:rPr>
              <a:t>zip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li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F7DC6F"/>
                </a:solidFill>
                <a:latin typeface="Consolas"/>
              </a:rPr>
              <a:t>2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lj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F7DC6F"/>
                </a:solidFill>
                <a:latin typeface="Consolas"/>
              </a:rPr>
              <a:t>2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s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unify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a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b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s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s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is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5DADE2"/>
                </a:solidFill>
                <a:latin typeface="Consolas"/>
              </a:rPr>
              <a:t>None</a:t>
            </a:r>
            <a:r>
              <a:rPr sz="12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ok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5DADE2"/>
                </a:solidFill>
                <a:latin typeface="Consolas"/>
              </a:rPr>
              <a:t>False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break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ok</a:t>
            </a:r>
            <a:r>
              <a:rPr sz="12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out</a:t>
            </a:r>
            <a:r>
              <a:rPr sz="1200" i="0">
                <a:solidFill>
                  <a:srgbClr val="AEB6BF"/>
                </a:solidFill>
                <a:latin typeface="Consolas"/>
              </a:rPr>
              <a:t>.</a:t>
            </a:r>
            <a:r>
              <a:rPr sz="1200" i="0">
                <a:solidFill>
                  <a:srgbClr val="E8EDF2"/>
                </a:solidFill>
                <a:latin typeface="Consolas"/>
              </a:rPr>
              <a:t>append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lit_subst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l</a:t>
            </a:r>
            <a:r>
              <a:rPr sz="1200" i="0">
                <a:solidFill>
                  <a:srgbClr val="AEB6BF"/>
                </a:solidFill>
                <a:latin typeface="Consolas"/>
              </a:rPr>
              <a:t>,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s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5DADE2"/>
                </a:solidFill>
                <a:latin typeface="Consolas"/>
              </a:rPr>
              <a:t>for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in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ci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-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  <a:r>
              <a:rPr sz="1200" i="0">
                <a:solidFill>
                  <a:srgbClr val="E8EDF2"/>
                </a:solidFill>
                <a:latin typeface="Consolas"/>
              </a:rPr>
              <a:t>li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|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cj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-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  <a:r>
              <a:rPr sz="1200" i="0">
                <a:solidFill>
                  <a:srgbClr val="E8EDF2"/>
                </a:solidFill>
                <a:latin typeface="Consolas"/>
              </a:rPr>
              <a:t>lj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out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844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87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88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89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90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91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92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93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94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95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96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97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98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99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100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101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102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103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104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105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65001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7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862AA100-07AA-4F70-80B8-BCDCDFFEC317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971543"/>
          </a:xfrm>
          <a:prstGeom prst="roundRect">
            <a:avLst>
              <a:gd name="adj" fmla="val 230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def show_term(a): if is_var(a): return a[1] if is_compound(a): return &quot;%s(%s)&quot; % (a[0], &quot;,&quot;.join(show_term(x) for x in a[1:])) return a def show(clause): if not clause: return &quot;[] (the empty clause)&quot; parts = [] for (sign, pred, args) in clause: parts.append((&quot;&quot; if sign else &quot;-&quot;) + &quot;%s(%s)&quot; % (pred, &quot;,&quot;.join(show_term(a) for a in args))) return &quot; OR &quot;.join(sorted(parts))"/>
          <p:cNvSpPr txBox="1"/>
          <p:nvPr/>
        </p:nvSpPr>
        <p:spPr>
          <a:xfrm>
            <a:off x="1362456" y="2523744"/>
            <a:ext cx="9987991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def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show_term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is_var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is_compound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)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%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,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join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show_term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x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x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def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show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clause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not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clause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[]  (the empty clause)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parts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sign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pred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args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clause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parts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append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sign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else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-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)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%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pred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            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,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join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show_term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args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OR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join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C39BD3"/>
                </a:solidFill>
                <a:latin typeface="Consolas"/>
              </a:rPr>
              <a:t>sorted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parts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108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109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7168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8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C6A52AC7-438F-4AD2-A67F-7907DEEB85E8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651504"/>
          </a:xfrm>
          <a:prstGeom prst="roundRect">
            <a:avLst>
              <a:gd name="adj" fmla="val 2504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# --- the knowledge base ------------------------------------------- x, y = var(&quot;x&quot;), var(&quot;y&quot;) R1 = frozenset({(False, &quot;depends&quot;, (x, y)), (False, &quot;delayed&quot;, (y,)), (True, &quot;delayed&quot;, (x,))}) F1 = frozenset({(True, &quot;depends&quot;, (&quot;Release47&quot;, &quot;Payments&quot;))}) F2 = frozenset({(True, &quot;depends&quot;, (&quot;Payments&quot;, &quot;Auth&quot;))}) F3 = frozenset({(True, &quot;delayed&quot;, (&quot;Auth&quot;,))}) KB = [R1, F1, F2, F3] QUERY = (True, &quot;delayed&quot;, (&quot;Release47&quot;,))"/>
          <p:cNvSpPr txBox="1"/>
          <p:nvPr/>
        </p:nvSpPr>
        <p:spPr>
          <a:xfrm>
            <a:off x="1362456" y="2523744"/>
            <a:ext cx="9987991" cy="31577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1">
                <a:solidFill>
                  <a:srgbClr val="8795A1"/>
                </a:solidFill>
                <a:latin typeface="Consolas"/>
              </a:rPr>
              <a:t># --- the knowledge base -------------------------------------------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x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y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var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x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var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y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R1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5DADE2"/>
                </a:solidFill>
                <a:latin typeface="Consolas"/>
              </a:rPr>
              <a:t>False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depends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x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y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5DADE2"/>
                </a:solidFill>
                <a:latin typeface="Consolas"/>
              </a:rPr>
              <a:t>False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y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5DADE2"/>
                </a:solidFill>
                <a:latin typeface="Consolas"/>
              </a:rPr>
              <a:t>True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x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F1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5DADE2"/>
                </a:solidFill>
                <a:latin typeface="Consolas"/>
              </a:rPr>
              <a:t>True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depends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Release47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Payments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F2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5DADE2"/>
                </a:solidFill>
                <a:latin typeface="Consolas"/>
              </a:rPr>
              <a:t>True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depends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Payments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Auth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F3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5DADE2"/>
                </a:solidFill>
                <a:latin typeface="Consolas"/>
              </a:rPr>
              <a:t>True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Auth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KB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[</a:t>
            </a:r>
            <a:r>
              <a:rPr sz="2000" i="0">
                <a:solidFill>
                  <a:srgbClr val="E8EDF2"/>
                </a:solidFill>
                <a:latin typeface="Consolas"/>
              </a:rPr>
              <a:t>R1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F1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F2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F3</a:t>
            </a:r>
            <a:r>
              <a:rPr sz="20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QUERY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5DADE2"/>
                </a:solidFill>
                <a:latin typeface="Consolas"/>
              </a:rPr>
              <a:t>True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Release47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1577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127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128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129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130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131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132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133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134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135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136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9334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9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5E2ECEE8-F3DD-4B08-A5A7-4AEE3C214D03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956303"/>
          </a:xfrm>
          <a:prstGeom prst="roundRect">
            <a:avLst>
              <a:gd name="adj" fmla="val 23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def refute_naive(kb, query, rounds=6): &quot;&quot;&quot;Resolve every pair, keep everything new, repeat.&quot;&quot;&quot; clauses = list(kb) + [frozenset({(not query[0], query[1], query[2])})] steps = 0 for _ in range(rounds): new = [] for i in range(len(clauses)): for j in range(len(clauses)): if i == j: continue for r in resolve(clauses[i], clauses[j], steps): steps += 1 if not r: return True, steps if r not in clauses and r not in new: new.append(r) if not new: return False, steps clauses += new return False, steps"/>
          <p:cNvSpPr txBox="1"/>
          <p:nvPr/>
        </p:nvSpPr>
        <p:spPr>
          <a:xfrm>
            <a:off x="1362456" y="2523744"/>
            <a:ext cx="9987991" cy="34625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5DADE2"/>
                </a:solidFill>
                <a:latin typeface="Consolas"/>
              </a:rPr>
              <a:t>def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refute_naive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kb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query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rounds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F7DC6F"/>
                </a:solidFill>
                <a:latin typeface="Consolas"/>
              </a:rPr>
              <a:t>6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7DCEA0"/>
                </a:solidFill>
                <a:latin typeface="Consolas"/>
              </a:rPr>
              <a:t>"""Resolve every pair, keep everything new, repeat."""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clauses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list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kb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+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[</a:t>
            </a:r>
            <a:r>
              <a:rPr sz="11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AEB6BF"/>
                </a:solidFill>
                <a:latin typeface="Consolas"/>
              </a:rPr>
              <a:t>{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AEB6BF"/>
                </a:solidFill>
                <a:latin typeface="Consolas"/>
              </a:rPr>
              <a:t>not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query</a:t>
            </a:r>
            <a:r>
              <a:rPr sz="1100" i="0">
                <a:solidFill>
                  <a:srgbClr val="AEB6BF"/>
                </a:solidFill>
                <a:latin typeface="Consolas"/>
              </a:rPr>
              <a:t>[</a:t>
            </a:r>
            <a:r>
              <a:rPr sz="1100" i="0">
                <a:solidFill>
                  <a:srgbClr val="F7DC6F"/>
                </a:solidFill>
                <a:latin typeface="Consolas"/>
              </a:rPr>
              <a:t>0</a:t>
            </a:r>
            <a:r>
              <a:rPr sz="1100" i="0">
                <a:solidFill>
                  <a:srgbClr val="AEB6BF"/>
                </a:solidFill>
                <a:latin typeface="Consolas"/>
              </a:rPr>
              <a:t>]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query</a:t>
            </a:r>
            <a:r>
              <a:rPr sz="1100" i="0">
                <a:solidFill>
                  <a:srgbClr val="AEB6BF"/>
                </a:solidFill>
                <a:latin typeface="Consolas"/>
              </a:rPr>
              <a:t>[</a:t>
            </a:r>
            <a:r>
              <a:rPr sz="1100" i="0">
                <a:solidFill>
                  <a:srgbClr val="F7DC6F"/>
                </a:solidFill>
                <a:latin typeface="Consolas"/>
              </a:rPr>
              <a:t>1</a:t>
            </a:r>
            <a:r>
              <a:rPr sz="1100" i="0">
                <a:solidFill>
                  <a:srgbClr val="AEB6BF"/>
                </a:solidFill>
                <a:latin typeface="Consolas"/>
              </a:rPr>
              <a:t>]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query</a:t>
            </a:r>
            <a:r>
              <a:rPr sz="1100" i="0">
                <a:solidFill>
                  <a:srgbClr val="AEB6BF"/>
                </a:solidFill>
                <a:latin typeface="Consolas"/>
              </a:rPr>
              <a:t>[</a:t>
            </a:r>
            <a:r>
              <a:rPr sz="1100" i="0">
                <a:solidFill>
                  <a:srgbClr val="F7DC6F"/>
                </a:solidFill>
                <a:latin typeface="Consolas"/>
              </a:rPr>
              <a:t>2</a:t>
            </a:r>
            <a:r>
              <a:rPr sz="1100" i="0">
                <a:solidFill>
                  <a:srgbClr val="AEB6BF"/>
                </a:solidFill>
                <a:latin typeface="Consolas"/>
              </a:rPr>
              <a:t>]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}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steps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F7DC6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for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_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in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range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rounds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new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[</a:t>
            </a:r>
            <a:r>
              <a:rPr sz="11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for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i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in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range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C39BD3"/>
                </a:solidFill>
                <a:latin typeface="Consolas"/>
              </a:rPr>
              <a:t>len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clauses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for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j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in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range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C39BD3"/>
                </a:solidFill>
                <a:latin typeface="Consolas"/>
              </a:rPr>
              <a:t>len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clauses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if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i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j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continue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for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in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resolve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clauses</a:t>
            </a:r>
            <a:r>
              <a:rPr sz="1100" i="0">
                <a:solidFill>
                  <a:srgbClr val="AEB6BF"/>
                </a:solidFill>
                <a:latin typeface="Consolas"/>
              </a:rPr>
              <a:t>[</a:t>
            </a:r>
            <a:r>
              <a:rPr sz="1100" i="0">
                <a:solidFill>
                  <a:srgbClr val="E8EDF2"/>
                </a:solidFill>
                <a:latin typeface="Consolas"/>
              </a:rPr>
              <a:t>i</a:t>
            </a:r>
            <a:r>
              <a:rPr sz="1100" i="0">
                <a:solidFill>
                  <a:srgbClr val="AEB6BF"/>
                </a:solidFill>
                <a:latin typeface="Consolas"/>
              </a:rPr>
              <a:t>]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clauses</a:t>
            </a:r>
            <a:r>
              <a:rPr sz="1100" i="0">
                <a:solidFill>
                  <a:srgbClr val="AEB6BF"/>
                </a:solidFill>
                <a:latin typeface="Consolas"/>
              </a:rPr>
              <a:t>[</a:t>
            </a:r>
            <a:r>
              <a:rPr sz="1100" i="0">
                <a:solidFill>
                  <a:srgbClr val="E8EDF2"/>
                </a:solidFill>
                <a:latin typeface="Consolas"/>
              </a:rPr>
              <a:t>j</a:t>
            </a:r>
            <a:r>
              <a:rPr sz="1100" i="0">
                <a:solidFill>
                  <a:srgbClr val="AEB6BF"/>
                </a:solidFill>
                <a:latin typeface="Consolas"/>
              </a:rPr>
              <a:t>]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steps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steps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+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F7DC6F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if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not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5DADE2"/>
                </a:solidFill>
                <a:latin typeface="Consolas"/>
              </a:rPr>
              <a:t>True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steps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if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not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in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clauses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and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not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in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new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    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new</a:t>
            </a:r>
            <a:r>
              <a:rPr sz="1100" i="0">
                <a:solidFill>
                  <a:srgbClr val="AEB6BF"/>
                </a:solidFill>
                <a:latin typeface="Consolas"/>
              </a:rPr>
              <a:t>.</a:t>
            </a:r>
            <a:r>
              <a:rPr sz="1100" i="0">
                <a:solidFill>
                  <a:srgbClr val="E8EDF2"/>
                </a:solidFill>
                <a:latin typeface="Consolas"/>
              </a:rPr>
              <a:t>append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r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if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not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new</a:t>
            </a:r>
            <a:r>
              <a:rPr sz="11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5DADE2"/>
                </a:solidFill>
                <a:latin typeface="Consolas"/>
              </a:rPr>
              <a:t>False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steps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clauses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+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new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5DADE2"/>
                </a:solidFill>
                <a:latin typeface="Consolas"/>
              </a:rPr>
              <a:t>False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steps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4625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139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140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141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142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143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144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145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146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147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148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149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150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151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152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153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154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155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156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157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158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1501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10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CBB16848-BD0F-4690-AFCD-6309F59E765C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041903"/>
          </a:xfrm>
          <a:prstGeom prst="roundRect">
            <a:avLst>
              <a:gd name="adj" fmla="val 300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def refute_sos(kb, query, rounds=8): &quot;&quot;&quot;Set of support: every resolution must involve a clause descended from the negated query. Nothing else is relevant to proving THIS conclusion, and completeness is preserved.&quot;&quot;&quot; neg_q = frozenset({(not query[0], query[1], query[2])}) base, sos = list(kb), [neg_q] seen = set(base) | {neg_q} steps = 0"/>
          <p:cNvSpPr txBox="1"/>
          <p:nvPr/>
        </p:nvSpPr>
        <p:spPr>
          <a:xfrm>
            <a:off x="1362456" y="2523744"/>
            <a:ext cx="9987991" cy="25481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5DADE2"/>
                </a:solidFill>
                <a:latin typeface="Consolas"/>
              </a:rPr>
              <a:t>def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C39BD3"/>
                </a:solidFill>
                <a:latin typeface="Consolas"/>
              </a:rPr>
              <a:t>refute_sos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kb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query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rounds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F7DC6F"/>
                </a:solidFill>
                <a:latin typeface="Consolas"/>
              </a:rPr>
              <a:t>8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7DCEA0"/>
                </a:solidFill>
                <a:latin typeface="Consolas"/>
              </a:rPr>
              <a:t>"""Set of support: every resolution must involve a clause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7DCEA0"/>
                </a:solidFill>
                <a:latin typeface="Consolas"/>
              </a:rPr>
              <a:t>    descended from the negated query. Nothing else is relevant to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7DCEA0"/>
                </a:solidFill>
                <a:latin typeface="Consolas"/>
              </a:rPr>
              <a:t>    proving THIS conclusion, and completeness is preserved."""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E8EDF2"/>
                </a:solidFill>
                <a:latin typeface="Consolas"/>
              </a:rPr>
              <a:t>neg_q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not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query</a:t>
            </a:r>
            <a:r>
              <a:rPr sz="2000" i="0">
                <a:solidFill>
                  <a:srgbClr val="AEB6BF"/>
                </a:solidFill>
                <a:latin typeface="Consolas"/>
              </a:rPr>
              <a:t>[</a:t>
            </a:r>
            <a:r>
              <a:rPr sz="2000" i="0">
                <a:solidFill>
                  <a:srgbClr val="F7DC6F"/>
                </a:solidFill>
                <a:latin typeface="Consolas"/>
              </a:rPr>
              <a:t>0</a:t>
            </a:r>
            <a:r>
              <a:rPr sz="2000" i="0">
                <a:solidFill>
                  <a:srgbClr val="AEB6BF"/>
                </a:solidFill>
                <a:latin typeface="Consolas"/>
              </a:rPr>
              <a:t>]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query</a:t>
            </a:r>
            <a:r>
              <a:rPr sz="2000" i="0">
                <a:solidFill>
                  <a:srgbClr val="AEB6BF"/>
                </a:solidFill>
                <a:latin typeface="Consolas"/>
              </a:rPr>
              <a:t>[</a:t>
            </a:r>
            <a:r>
              <a:rPr sz="2000" i="0">
                <a:solidFill>
                  <a:srgbClr val="F7DC6F"/>
                </a:solidFill>
                <a:latin typeface="Consolas"/>
              </a:rPr>
              <a:t>1</a:t>
            </a:r>
            <a:r>
              <a:rPr sz="2000" i="0">
                <a:solidFill>
                  <a:srgbClr val="AEB6BF"/>
                </a:solidFill>
                <a:latin typeface="Consolas"/>
              </a:rPr>
              <a:t>]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query</a:t>
            </a:r>
            <a:r>
              <a:rPr sz="2000" i="0">
                <a:solidFill>
                  <a:srgbClr val="AEB6BF"/>
                </a:solidFill>
                <a:latin typeface="Consolas"/>
              </a:rPr>
              <a:t>[</a:t>
            </a:r>
            <a:r>
              <a:rPr sz="2000" i="0">
                <a:solidFill>
                  <a:srgbClr val="F7DC6F"/>
                </a:solidFill>
                <a:latin typeface="Consolas"/>
              </a:rPr>
              <a:t>2</a:t>
            </a:r>
            <a:r>
              <a:rPr sz="2000" i="0">
                <a:solidFill>
                  <a:srgbClr val="AEB6BF"/>
                </a:solidFill>
                <a:latin typeface="Consolas"/>
              </a:rPr>
              <a:t>]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E8EDF2"/>
                </a:solidFill>
                <a:latin typeface="Consolas"/>
              </a:rPr>
              <a:t>base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sos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C39BD3"/>
                </a:solidFill>
                <a:latin typeface="Consolas"/>
              </a:rPr>
              <a:t>list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kb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[</a:t>
            </a:r>
            <a:r>
              <a:rPr sz="2000" i="0">
                <a:solidFill>
                  <a:srgbClr val="E8EDF2"/>
                </a:solidFill>
                <a:latin typeface="Consolas"/>
              </a:rPr>
              <a:t>neg_q</a:t>
            </a:r>
            <a:r>
              <a:rPr sz="20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E8EDF2"/>
                </a:solidFill>
                <a:latin typeface="Consolas"/>
              </a:rPr>
              <a:t>seen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C39BD3"/>
                </a:solidFill>
                <a:latin typeface="Consolas"/>
              </a:rPr>
              <a:t>set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base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|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E8EDF2"/>
                </a:solidFill>
                <a:latin typeface="Consolas"/>
              </a:rPr>
              <a:t>neg_q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E8EDF2"/>
                </a:solidFill>
                <a:latin typeface="Consolas"/>
              </a:rPr>
              <a:t>steps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F7DC6F"/>
                </a:solidFill>
                <a:latin typeface="Consolas"/>
              </a:rPr>
              <a:t>0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25481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161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162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163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164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165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166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167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168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53668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11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B219BAD2-10F7-4C91-A827-36ECC95F02C0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971543"/>
          </a:xfrm>
          <a:prstGeom prst="roundRect">
            <a:avLst>
              <a:gd name="adj" fmla="val 230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for _ in range(rounds): new = [] for s in sos: for b in base + sos: if b is s: continue for r in resolve(s, b, steps): steps += 1 if not r: return True, steps if r not in seen: seen.add(r) new.append(r) if not new: return False, steps sos += new return False, steps"/>
          <p:cNvSpPr txBox="1"/>
          <p:nvPr/>
        </p:nvSpPr>
        <p:spPr>
          <a:xfrm>
            <a:off x="1362456" y="2523744"/>
            <a:ext cx="9987991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_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range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rounds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new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sos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base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sos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continue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resolve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steps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steps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not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True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steps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not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seen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seen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add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new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append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not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new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False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steps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sos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new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False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steps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169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185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5835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12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62A1DB1D-A49E-45BB-9650-CC4396450C58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3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if __name__ == &quot;__main__&quot;: print(&quot;=== unification ===&quot;) cases = [ (&quot;blocks(x, Auth) vs blocks(Release47, y)&quot;, (&quot;blocks&quot;, x, &quot;Auth&quot;), (&quot;blocks&quot;, &quot;Release47&quot;, y)), (&quot;blocks(x, x) vs blocks(Auth, Payments)&quot;, (&quot;blocks&quot;, x, x), (&quot;blocks&quot;, &quot;Auth&quot;, &quot;Payments&quot;)), (&quot;x vs f(x) [occurs check]&quot;, x, (&quot;f&quot;, x)), ] for label, a, b in cases: s = unify(a, b, {}) if s is None: print(&quot; %-42s FAIL&quot; % label) else: binding = &quot;, &quot;.join(&quot;%s/%s&quot; % (k[1], show_term(v)) for k, v in sorted(s.items())) print(&quot; %-42s {%s}&quot; % (label, binding))"/>
          <p:cNvSpPr txBox="1"/>
          <p:nvPr/>
        </p:nvSpPr>
        <p:spPr>
          <a:xfrm>
            <a:off x="1362456" y="2523744"/>
            <a:ext cx="9987991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__name__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__main__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=== unification ===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cases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blocks(x, Auth) vs blocks(Release47, y)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blocks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x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Auth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blocks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Release47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y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blocks(x, x)   vs blocks(Auth, Payments)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blocks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x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x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blocks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Auth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Payments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x              vs f(x)   [occurs check]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x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f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x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label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cases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unify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None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</a:t>
            </a:r>
            <a:r>
              <a:rPr sz="1300" i="0">
                <a:solidFill>
                  <a:srgbClr val="7DCEA0"/>
                </a:solidFill>
                <a:latin typeface="Consolas"/>
              </a:rPr>
              <a:t>%-42s</a:t>
            </a:r>
            <a:r>
              <a:rPr sz="1300" i="0">
                <a:solidFill>
                  <a:srgbClr val="7DCEA0"/>
                </a:solidFill>
                <a:latin typeface="Consolas"/>
              </a:rPr>
              <a:t> FAIL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%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label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else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binding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,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join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/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%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show_term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v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v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sorted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items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</a:t>
            </a:r>
            <a:r>
              <a:rPr sz="1300" i="0">
                <a:solidFill>
                  <a:srgbClr val="7DCEA0"/>
                </a:solidFill>
                <a:latin typeface="Consolas"/>
              </a:rPr>
              <a:t>%-42s</a:t>
            </a:r>
            <a:r>
              <a:rPr sz="1300" i="0">
                <a:solidFill>
                  <a:srgbClr val="7DCEA0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{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}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%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label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binding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200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201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202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203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204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205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98001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13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A7702405-8E29-4410-BE23-8D1EC53BE53C}" type="slidenum">
              <a:rPr lang="en-GB" sz="1000">
                <a:solidFill>
                  <a:srgbClr val="8795A1"/>
                </a:solidFill>
                <a:latin typeface="Segoe UI"/>
              </a:rPr>
              <a:t>37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2432304"/>
          </a:xfrm>
          <a:prstGeom prst="roundRect">
            <a:avLst>
              <a:gd name="adj" fmla="val 3759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# the three results the chapter claims assert unify((&quot;blocks&quot;, x, &quot;Auth&quot;), (&quot;blocks&quot;, &quot;Release47&quot;, y), {}) is not None assert unify((&quot;blocks&quot;, x, x), (&quot;blocks&quot;, &quot;Auth&quot;, &quot;Payments&quot;), {}) is None assert unify(x, (&quot;f&quot;, x), {}) is None"/>
          <p:cNvSpPr txBox="1"/>
          <p:nvPr/>
        </p:nvSpPr>
        <p:spPr>
          <a:xfrm>
            <a:off x="1362456" y="2523744"/>
            <a:ext cx="9987991" cy="1938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1">
                <a:solidFill>
                  <a:srgbClr val="8795A1"/>
                </a:solidFill>
                <a:latin typeface="Consolas"/>
              </a:rPr>
              <a:t># the three results the chapter claims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5DADE2"/>
                </a:solidFill>
                <a:latin typeface="Consolas"/>
              </a:rPr>
              <a:t>assert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unify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blocks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x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Auth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            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blocks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Release47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y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is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not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5DADE2"/>
                </a:solidFill>
                <a:latin typeface="Consolas"/>
              </a:rPr>
              <a:t>assert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unify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blocks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x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x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            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blocks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Auth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Payments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is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5DADE2"/>
                </a:solidFill>
                <a:latin typeface="Consolas"/>
              </a:rPr>
              <a:t>assert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unify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x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f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x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{</a:t>
            </a:r>
            <a:r>
              <a:rPr sz="2000" i="0">
                <a:solidFill>
                  <a:srgbClr val="AEB6BF"/>
                </a:solidFill>
                <a:latin typeface="Consolas"/>
              </a:rPr>
              <a:t>}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is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None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938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207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208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209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210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211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212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20168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14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D07769AB-8AA3-41CB-961B-C0855E42243E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956303"/>
          </a:xfrm>
          <a:prstGeom prst="roundRect">
            <a:avLst>
              <a:gd name="adj" fmla="val 23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print() print(&quot;=== the proof, by hand ===&quot;) # step 6: R1 with F3 s6 = unify((&quot;delayed&quot;, y), (&quot;delayed&quot;, &quot;Auth&quot;), {}) c6 = frozenset(lit_subst(l, s6) for l in R1 - {(False, &quot;delayed&quot;, (y,))}) print(&quot; 6.&quot;, show(c6), &quot; theta = {y/Auth}&quot;) # step 7: that with F2 got = resolve(c6, F2, 1) c7 = min(got, key=len) print(&quot; 7.&quot;, show(c7), &quot; theta = {x/Payments}&quot;) assert c7 == frozenset({(True, &quot;delayed&quot;, (&quot;Payments&quot;,))}) # step 8: R1 with step 7 c8 = min((c for c in resolve(R1, c7, 2) if len(c) == 2), key=len) print(&quot; 8.&quot;, show(c8), &quot; theta = {y/Payments}&quot;) # step 9: that with F1 c9 = min(resolve(c8, F1, 3), key=len) print(&quot; 9.&quot;, show(c9), &quot; theta = {x/Release47}&quot;) assert c9 == frozenset({(True, &quot;delayed&quot;, (&quot;Release47&quot;,))}) print(&quot; 10. [] -- contradicts the assumed -delayed(Release47)&quot;)"/>
          <p:cNvSpPr txBox="1"/>
          <p:nvPr/>
        </p:nvSpPr>
        <p:spPr>
          <a:xfrm>
            <a:off x="1362456" y="2523744"/>
            <a:ext cx="9987991" cy="34625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=== the proof, by hand ===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1">
                <a:solidFill>
                  <a:srgbClr val="8795A1"/>
                </a:solidFill>
                <a:latin typeface="Consolas"/>
              </a:rPr>
              <a:t># step 6: R1 with F3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s6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unify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y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Auth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{</a:t>
            </a:r>
            <a:r>
              <a:rPr sz="1100" i="0">
                <a:solidFill>
                  <a:srgbClr val="AEB6BF"/>
                </a:solidFill>
                <a:latin typeface="Consolas"/>
              </a:rPr>
              <a:t>}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c6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lit_subst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l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s6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           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for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l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in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R1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-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{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5DADE2"/>
                </a:solidFill>
                <a:latin typeface="Consolas"/>
              </a:rPr>
              <a:t>False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y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}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 6.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show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c6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 theta = </a:t>
            </a:r>
            <a:r>
              <a:rPr sz="1100" i="0">
                <a:solidFill>
                  <a:srgbClr val="7DCEA0"/>
                </a:solidFill>
                <a:latin typeface="Consolas"/>
              </a:rPr>
              <a:t>{</a:t>
            </a:r>
            <a:r>
              <a:rPr sz="1100" i="0">
                <a:solidFill>
                  <a:srgbClr val="7DCEA0"/>
                </a:solidFill>
                <a:latin typeface="Consolas"/>
              </a:rPr>
              <a:t>y/Auth}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1">
                <a:solidFill>
                  <a:srgbClr val="8795A1"/>
                </a:solidFill>
                <a:latin typeface="Consolas"/>
              </a:rPr>
              <a:t># step 7: that with F2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got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resolve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c6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F2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F7DC6F"/>
                </a:solidFill>
                <a:latin typeface="Consolas"/>
              </a:rPr>
              <a:t>1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c7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min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got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key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C39BD3"/>
                </a:solidFill>
                <a:latin typeface="Consolas"/>
              </a:rPr>
              <a:t>len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 7.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show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c7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 theta = </a:t>
            </a:r>
            <a:r>
              <a:rPr sz="1100" i="0">
                <a:solidFill>
                  <a:srgbClr val="7DCEA0"/>
                </a:solidFill>
                <a:latin typeface="Consolas"/>
              </a:rPr>
              <a:t>{</a:t>
            </a:r>
            <a:r>
              <a:rPr sz="1100" i="0">
                <a:solidFill>
                  <a:srgbClr val="7DCEA0"/>
                </a:solidFill>
                <a:latin typeface="Consolas"/>
              </a:rPr>
              <a:t>x/Payments}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assert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c7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AEB6BF"/>
                </a:solidFill>
                <a:latin typeface="Consolas"/>
              </a:rPr>
              <a:t>{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5DADE2"/>
                </a:solidFill>
                <a:latin typeface="Consolas"/>
              </a:rPr>
              <a:t>True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Payments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}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1">
                <a:solidFill>
                  <a:srgbClr val="8795A1"/>
                </a:solidFill>
                <a:latin typeface="Consolas"/>
              </a:rPr>
              <a:t># step 8: R1 with step 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c8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min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5DADE2"/>
                </a:solidFill>
                <a:latin typeface="Consolas"/>
              </a:rPr>
              <a:t>for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c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in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resolve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R1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c7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F7DC6F"/>
                </a:solidFill>
                <a:latin typeface="Consolas"/>
              </a:rPr>
              <a:t>2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5DADE2"/>
                </a:solidFill>
                <a:latin typeface="Consolas"/>
              </a:rPr>
              <a:t>if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len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F7DC6F"/>
                </a:solidFill>
                <a:latin typeface="Consolas"/>
              </a:rPr>
              <a:t>2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key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C39BD3"/>
                </a:solidFill>
                <a:latin typeface="Consolas"/>
              </a:rPr>
              <a:t>len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 8.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show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c8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 theta = </a:t>
            </a:r>
            <a:r>
              <a:rPr sz="1100" i="0">
                <a:solidFill>
                  <a:srgbClr val="7DCEA0"/>
                </a:solidFill>
                <a:latin typeface="Consolas"/>
              </a:rPr>
              <a:t>{</a:t>
            </a:r>
            <a:r>
              <a:rPr sz="1100" i="0">
                <a:solidFill>
                  <a:srgbClr val="7DCEA0"/>
                </a:solidFill>
                <a:latin typeface="Consolas"/>
              </a:rPr>
              <a:t>y/Payments}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1">
                <a:solidFill>
                  <a:srgbClr val="8795A1"/>
                </a:solidFill>
                <a:latin typeface="Consolas"/>
              </a:rPr>
              <a:t># step 9: that with F1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E8EDF2"/>
                </a:solidFill>
                <a:latin typeface="Consolas"/>
              </a:rPr>
              <a:t>c9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min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resolve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c8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F1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F7DC6F"/>
                </a:solidFill>
                <a:latin typeface="Consolas"/>
              </a:rPr>
              <a:t>3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key</a:t>
            </a:r>
            <a:r>
              <a:rPr sz="1100" i="0">
                <a:solidFill>
                  <a:srgbClr val="AEB6BF"/>
                </a:solidFill>
                <a:latin typeface="Consolas"/>
              </a:rPr>
              <a:t>=</a:t>
            </a:r>
            <a:r>
              <a:rPr sz="1100" i="0">
                <a:solidFill>
                  <a:srgbClr val="C39BD3"/>
                </a:solidFill>
                <a:latin typeface="Consolas"/>
              </a:rPr>
              <a:t>len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 9.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show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E8EDF2"/>
                </a:solidFill>
                <a:latin typeface="Consolas"/>
              </a:rPr>
              <a:t>c9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 theta = </a:t>
            </a:r>
            <a:r>
              <a:rPr sz="1100" i="0">
                <a:solidFill>
                  <a:srgbClr val="7DCEA0"/>
                </a:solidFill>
                <a:latin typeface="Consolas"/>
              </a:rPr>
              <a:t>{</a:t>
            </a:r>
            <a:r>
              <a:rPr sz="1100" i="0">
                <a:solidFill>
                  <a:srgbClr val="7DCEA0"/>
                </a:solidFill>
                <a:latin typeface="Consolas"/>
              </a:rPr>
              <a:t>x/Release47}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5DADE2"/>
                </a:solidFill>
                <a:latin typeface="Consolas"/>
              </a:rPr>
              <a:t>assert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E8EDF2"/>
                </a:solidFill>
                <a:latin typeface="Consolas"/>
              </a:rPr>
              <a:t>c9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==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C39BD3"/>
                </a:solidFill>
                <a:latin typeface="Consolas"/>
              </a:rPr>
              <a:t>frozenset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AEB6BF"/>
                </a:solidFill>
                <a:latin typeface="Consolas"/>
              </a:rPr>
              <a:t>{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5DADE2"/>
                </a:solidFill>
                <a:latin typeface="Consolas"/>
              </a:rPr>
              <a:t>True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E8EDF2"/>
                </a:solidFill>
                <a:latin typeface="Consolas"/>
              </a:rPr>
              <a:t> 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Release47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,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  <a:r>
              <a:rPr sz="1100" i="0">
                <a:solidFill>
                  <a:srgbClr val="AEB6BF"/>
                </a:solidFill>
                <a:latin typeface="Consolas"/>
              </a:rPr>
              <a:t>}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i="0">
                <a:solidFill>
                  <a:srgbClr val="E8EDF2"/>
                </a:solidFill>
                <a:latin typeface="Consolas"/>
              </a:rPr>
              <a:t>    </a:t>
            </a:r>
            <a:r>
              <a:rPr sz="11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100" i="0">
                <a:solidFill>
                  <a:srgbClr val="AEB6BF"/>
                </a:solidFill>
                <a:latin typeface="Consolas"/>
              </a:rPr>
              <a:t>(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7DCEA0"/>
                </a:solidFill>
                <a:latin typeface="Consolas"/>
              </a:rPr>
              <a:t>  10. [] -- contradicts the assumed -delayed(Release47)</a:t>
            </a:r>
            <a:r>
              <a:rPr sz="1100" i="0">
                <a:solidFill>
                  <a:srgbClr val="7DCEA0"/>
                </a:solidFill>
                <a:latin typeface="Consolas"/>
              </a:rPr>
              <a:t>"</a:t>
            </a:r>
            <a:r>
              <a:rPr sz="11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4625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214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215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216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217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218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219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220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221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222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223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224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225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226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227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228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229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230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231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232</a:t>
            </a:r>
          </a:p>
          <a:p>
            <a:pPr algn="r">
              <a:lnSpc>
                <a:spcPct val="100000"/>
              </a:lnSpc>
            </a:pPr>
            <a:r>
              <a:rPr sz="1100">
                <a:solidFill>
                  <a:srgbClr val="4F5D6A"/>
                </a:solidFill>
                <a:latin typeface="Consolas"/>
              </a:rPr>
              <a:t>233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2335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15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CA4AA712-6EE5-44ED-B390-2EE97080E621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3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print() print(&quot; R1 was used three times, with three different unifiers.&quot;) print(&quot; That is exactly what propositional logic cannot do.&quot;) print() print(&quot;=== finding it automatically ===&quot;) ok1, n1 = refute_naive(KB, QUERY) ok2, n2 = refute_sos(KB, QUERY) print(&quot; naive saturation : proved %s in %4d resolution steps&quot; % (ok1, n1)) print(&quot; set of support : proved %s in %4d resolution steps&quot; % (ok2, n2)) print(&quot; set of support is %.1fx cheaper&quot; % (n1 / n2)) assert ok1 and ok2 and n2 &lt; n1 print() print(&quot; Both find a five-line proof. Checking a proof is easy;&quot;) print(&quot; finding one is the hard part, and real provers add&quot;) print(&quot; subsumption and indexing on top of this.&quot;)"/>
          <p:cNvSpPr txBox="1"/>
          <p:nvPr/>
        </p:nvSpPr>
        <p:spPr>
          <a:xfrm>
            <a:off x="1362456" y="2523744"/>
            <a:ext cx="9987991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R1 was used three times, with three different unifiers.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That is exactly what propositional logic cannot do.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=== finding it automatically ===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ok1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n1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refute_naive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KB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QUERY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ok2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n2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refute_sos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KB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QUERY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naive saturation : proved 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 in </a:t>
            </a:r>
            <a:r>
              <a:rPr sz="1300" i="0">
                <a:solidFill>
                  <a:srgbClr val="7DCEA0"/>
                </a:solidFill>
                <a:latin typeface="Consolas"/>
              </a:rPr>
              <a:t>%4d</a:t>
            </a:r>
            <a:r>
              <a:rPr sz="1300" i="0">
                <a:solidFill>
                  <a:srgbClr val="7DCEA0"/>
                </a:solidFill>
                <a:latin typeface="Consolas"/>
              </a:rPr>
              <a:t> resolution steps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%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ok1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n1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set of support   : proved </a:t>
            </a:r>
            <a:r>
              <a:rPr sz="1300" i="0">
                <a:solidFill>
                  <a:srgbClr val="7DCEA0"/>
                </a:solidFill>
                <a:latin typeface="Consolas"/>
              </a:rPr>
              <a:t>%s</a:t>
            </a:r>
            <a:r>
              <a:rPr sz="1300" i="0">
                <a:solidFill>
                  <a:srgbClr val="7DCEA0"/>
                </a:solidFill>
                <a:latin typeface="Consolas"/>
              </a:rPr>
              <a:t> in </a:t>
            </a:r>
            <a:r>
              <a:rPr sz="1300" i="0">
                <a:solidFill>
                  <a:srgbClr val="7DCEA0"/>
                </a:solidFill>
                <a:latin typeface="Consolas"/>
              </a:rPr>
              <a:t>%4d</a:t>
            </a:r>
            <a:r>
              <a:rPr sz="1300" i="0">
                <a:solidFill>
                  <a:srgbClr val="7DCEA0"/>
                </a:solidFill>
                <a:latin typeface="Consolas"/>
              </a:rPr>
              <a:t> resolution steps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%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ok2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n2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set of support is </a:t>
            </a:r>
            <a:r>
              <a:rPr sz="1300" i="0">
                <a:solidFill>
                  <a:srgbClr val="7DCEA0"/>
                </a:solidFill>
                <a:latin typeface="Consolas"/>
              </a:rPr>
              <a:t>%.1f</a:t>
            </a:r>
            <a:r>
              <a:rPr sz="1300" i="0">
                <a:solidFill>
                  <a:srgbClr val="7DCEA0"/>
                </a:solidFill>
                <a:latin typeface="Consolas"/>
              </a:rPr>
              <a:t>x cheaper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%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n1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/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n2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assert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ok1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and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ok2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and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n2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Both find a five-line proof. Checking a proof is easy;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finding one is the hard part, and real provers add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 subsumption and indexing on top of this.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234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235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236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237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238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239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249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250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251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64502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Unification and a Resolution Proof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16 OF 16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04E22FF5-048C-444F-B984-6B1844377FEA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knowledge base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499103"/>
          </a:xfrm>
          <a:prstGeom prst="roundRect">
            <a:avLst>
              <a:gd name="adj" fmla="val 2613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  ·  code/ch12_unification_resolution.py</a:t>
            </a:r>
          </a:p>
        </p:txBody>
      </p:sp>
      <p:sp>
        <p:nvSpPr>
          <p:cNvPr id="14" name="!!code-text" descr="# and a query that does NOT follow print() print(&quot;=== a query that does not follow ===&quot;) ok3, n3 = refute_sos(KB, (True, &quot;delayed&quot;, (&quot;Billing&quot;,)), rounds=4) print(&quot; delayed(Billing): proved %s after %d steps&quot; % (ok3, n3)) assert not ok3 print(&quot; No proof was found -- but first-order entailment is only&quot;) print(&quot; semi-decidable, so 'no proof yet' is not the same as&quot;) print(&quot; 'no proof exists'. Chapter 11 could hand back a&quot;) print(&quot; countermodel here; in general this chapter cannot.&quot;)"/>
          <p:cNvSpPr txBox="1"/>
          <p:nvPr/>
        </p:nvSpPr>
        <p:spPr>
          <a:xfrm>
            <a:off x="1362456" y="2523744"/>
            <a:ext cx="9987991" cy="30053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1">
                <a:solidFill>
                  <a:srgbClr val="8795A1"/>
                </a:solidFill>
                <a:latin typeface="Consolas"/>
              </a:rPr>
              <a:t># and a query that does NOT follow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=== a query that does not follow ===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E8EDF2"/>
                </a:solidFill>
                <a:latin typeface="Consolas"/>
              </a:rPr>
              <a:t>ok3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n3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refute_sos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KB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True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delayed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Billing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rounds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F7DC6F"/>
                </a:solidFill>
                <a:latin typeface="Consolas"/>
              </a:rPr>
              <a:t>4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   delayed(Billing): proved </a:t>
            </a:r>
            <a:r>
              <a:rPr sz="1900" i="0">
                <a:solidFill>
                  <a:srgbClr val="7DCEA0"/>
                </a:solidFill>
                <a:latin typeface="Consolas"/>
              </a:rPr>
              <a:t>%s</a:t>
            </a:r>
            <a:r>
              <a:rPr sz="1900" i="0">
                <a:solidFill>
                  <a:srgbClr val="7DCEA0"/>
                </a:solidFill>
                <a:latin typeface="Consolas"/>
              </a:rPr>
              <a:t> after </a:t>
            </a:r>
            <a:r>
              <a:rPr sz="1900" i="0">
                <a:solidFill>
                  <a:srgbClr val="7DCEA0"/>
                </a:solidFill>
                <a:latin typeface="Consolas"/>
              </a:rPr>
              <a:t>%d</a:t>
            </a:r>
            <a:r>
              <a:rPr sz="1900" i="0">
                <a:solidFill>
                  <a:srgbClr val="7DCEA0"/>
                </a:solidFill>
                <a:latin typeface="Consolas"/>
              </a:rPr>
              <a:t> steps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%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ok3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n3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assert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not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ok3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   No proof was found -- but first-order entailment is only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   semi-decidable, so </a:t>
            </a:r>
            <a:r>
              <a:rPr sz="1900" i="0">
                <a:solidFill>
                  <a:srgbClr val="7DCEA0"/>
                </a:solidFill>
                <a:latin typeface="Consolas"/>
              </a:rPr>
              <a:t>'</a:t>
            </a:r>
            <a:r>
              <a:rPr sz="1900" i="0">
                <a:solidFill>
                  <a:srgbClr val="7DCEA0"/>
                </a:solidFill>
                <a:latin typeface="Consolas"/>
              </a:rPr>
              <a:t>no proof yet</a:t>
            </a:r>
            <a:r>
              <a:rPr sz="1900" i="0">
                <a:solidFill>
                  <a:srgbClr val="7DCEA0"/>
                </a:solidFill>
                <a:latin typeface="Consolas"/>
              </a:rPr>
              <a:t>'</a:t>
            </a:r>
            <a:r>
              <a:rPr sz="1900" i="0">
                <a:solidFill>
                  <a:srgbClr val="7DCEA0"/>
                </a:solidFill>
                <a:latin typeface="Consolas"/>
              </a:rPr>
              <a:t> is not the same as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   </a:t>
            </a:r>
            <a:r>
              <a:rPr sz="1900" i="0">
                <a:solidFill>
                  <a:srgbClr val="7DCEA0"/>
                </a:solidFill>
                <a:latin typeface="Consolas"/>
              </a:rPr>
              <a:t>'</a:t>
            </a:r>
            <a:r>
              <a:rPr sz="1900" i="0">
                <a:solidFill>
                  <a:srgbClr val="7DCEA0"/>
                </a:solidFill>
                <a:latin typeface="Consolas"/>
              </a:rPr>
              <a:t>no proof exists</a:t>
            </a:r>
            <a:r>
              <a:rPr sz="1900" i="0">
                <a:solidFill>
                  <a:srgbClr val="7DCEA0"/>
                </a:solidFill>
                <a:latin typeface="Consolas"/>
              </a:rPr>
              <a:t>'</a:t>
            </a:r>
            <a:r>
              <a:rPr sz="1900" i="0">
                <a:solidFill>
                  <a:srgbClr val="7DCEA0"/>
                </a:solidFill>
                <a:latin typeface="Consolas"/>
              </a:rPr>
              <a:t>. Chapter 11 could hand back a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   countermodel here; in general this chapter cannot.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0053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260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261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262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86668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§12.6  ·  Handout p. 125     </a:t>
            </a:r>
            <a:fld id="{4F3A2B84-3E11-4506-9C52-27AE2BBDF838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Then remove the occurs check from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unify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delete the two lines that call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occurs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and re-run. The first two cases are unchanged and the third now “succeeds” with a binding that denotes no finite term. That is the bug, and the reason it is worth a name.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08835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Write “every service has an owner” in first-order logic and convert it to clause form. Explain why the existential variable must become a function of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x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rather than a constant.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131  ·  answers in Appendix D     </a:t>
            </a:r>
            <a:fld id="{E89BE9CF-DDE1-40E9-8B4A-EF681FD10787}" type="slidenum">
              <a:rPr lang="en-GB" sz="1000">
                <a:solidFill>
                  <a:srgbClr val="D5DEE5"/>
                </a:solidFill>
                <a:latin typeface="Segoe UI"/>
              </a:rPr>
              <a:t>42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109910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Write “every service has an owner” in first-order logic and convert it to clause form. Explain why the existential variable must become a function of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x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rather than a constant.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14092"/>
            <a:ext cx="64008" cy="2092147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2114092"/>
            <a:ext cx="10509199" cy="21378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Cambria"/>
              </a:rPr>
              <a:t>∀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service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⇒ ∃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owns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Eliminating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gives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∀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¬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service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∨ ∃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owns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,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; skolemising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and dropping the universal gives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¬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service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∨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owns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owner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The existential variable lies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inside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the universal quantifier over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so the owner depends on which service we are talking about. Skolemising to a constant </a:t>
            </a:r>
            <a:r>
              <a:rPr sz="2050" b="0" i="0">
                <a:solidFill>
                  <a:srgbClr val="1F4E79"/>
                </a:solidFill>
                <a:latin typeface="Consolas"/>
              </a:rPr>
              <a:t>Sk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would give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¬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service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∨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owns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Sk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— “one particular person owns every service” — which is a different and much stronger claim.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·  answers in Appendix D     </a:t>
            </a:r>
            <a:fld id="{CC98098B-1FFD-47FF-833A-299BFDE37843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53168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In the proof of Table 12.1, rule R1 is used three times. State how many propositional sentences would be needed to say the same thing over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services, and what happens when a service is added.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131  ·  answers in Appendix D     </a:t>
            </a:r>
            <a:fld id="{F620474A-975D-44F5-A9C4-AC925BCCDFF5}" type="slidenum">
              <a:rPr lang="en-GB" sz="1000">
                <a:solidFill>
                  <a:srgbClr val="D5DEE5"/>
                </a:solidFill>
                <a:latin typeface="Segoe UI"/>
              </a:rPr>
              <a:t>44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109910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In the proof of Table 12.1, rule R1 is used three times. State how many propositional sentences would be needed to say the same thing over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services, and what happens when a service is added.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14092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2114092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sentences: one for each ordered pair of services, since the rule relates a depender to a dependee. Adding one service means writing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more by hand and getting none of them wrong. In first-order logic the rule is a single sentence and adding a service means adding a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fact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; the rule is untouched. That is the difference between a knowledge base a team can maintain and one it cannot.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·  answers in Appendix D     </a:t>
            </a:r>
            <a:fld id="{C8F331E8-A258-481D-9A78-5505D363F9BB}" type="slidenum">
              <a:rPr lang="en-GB" sz="1000">
                <a:solidFill>
                  <a:srgbClr val="8795A1"/>
                </a:solidFill>
                <a:latin typeface="Segoe UI"/>
              </a:rPr>
              <a:t>45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97502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Chapter 11 could return a countermodel when a conclusion did not follow. Explain why this chapter generally cannot, and name the property of first-order entailment responsible.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131  ·  answers in Appendix D     </a:t>
            </a:r>
            <a:fld id="{797BB919-DF56-4D36-9AA5-99A32B245653}" type="slidenum">
              <a:rPr lang="en-GB" sz="1000">
                <a:solidFill>
                  <a:srgbClr val="D5DEE5"/>
                </a:solidFill>
                <a:latin typeface="Segoe UI"/>
              </a:rPr>
              <a:t>46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109910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Chapter 11 could return a countermodel when a conclusion did not follow. Explain why this chapter generally cannot, and name the property of first-order entailment responsible.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14092"/>
            <a:ext cx="64008" cy="24408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2114092"/>
            <a:ext cx="10509199" cy="24865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Because first-order entailment is only </a:t>
            </a:r>
            <a:r>
              <a:rPr sz="2200" b="1" i="0">
                <a:solidFill>
                  <a:srgbClr val="1A5276"/>
                </a:solidFill>
                <a:latin typeface="Segoe UI"/>
              </a:rPr>
              <a:t>semi-decidable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If the conclusion follows, resolution will eventually derive the empty clause; if it does not, the procedure may search forever, and it cannot in general report that no proof exists. A countermodel would require exhibiting an interpretation in which the knowledge base holds and the query fails, and first-order interpretations can have infinite domains — there are infinitely many to consider and no way to enumerate them. Propositional logic has finitely many models, which is exactly why Chapter 11 could hand one back.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·  answers in Appendix D     </a:t>
            </a:r>
            <a:fld id="{3D0D623B-2C2C-4D15-B0F5-D907E34C93B2}" type="slidenum">
              <a:rPr lang="en-GB" sz="1000">
                <a:solidFill>
                  <a:srgbClr val="8795A1"/>
                </a:solidFill>
                <a:latin typeface="Segoe UI"/>
              </a:rPr>
              <a:t>47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41835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   </a:t>
            </a:r>
            <a:fld id="{6B680AE7-4473-461E-B15C-20AF39C48113}" type="slidenum">
              <a:rPr lang="en-GB" sz="1000">
                <a:solidFill>
                  <a:srgbClr val="8795A1"/>
                </a:solidFill>
                <a:latin typeface="Segoe UI"/>
              </a:rPr>
              <a:t>48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First-order logic adds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terms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(constants, variables, functions),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predicates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quantifiers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One quantified sentence replaces the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propositional ones a general rule would otherwise need.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Pair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∀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∃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∧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The other combinations say something much stronger, or nothing at all.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348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10835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044342"/>
            <a:ext cx="10234879" cy="80832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5276"/>
                </a:solidFill>
                <a:latin typeface="Segoe UI"/>
              </a:rPr>
              <a:t>Unification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finds a substitution making two atoms identical, and the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most general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one commits to as little as possible. The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occurs check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refuses to bind a variable inside a term containing it; omitting it produces a hang, not a wrong answer.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4469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409956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4035552"/>
            <a:ext cx="10234879" cy="80832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Clause form adds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standardising apart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skolemisation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Chapter 11’s procedure. An existential inside a universal must become a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function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of it, or a rule about every service collapses into a claim about one.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3590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509076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5026761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5276"/>
                </a:solidFill>
                <a:latin typeface="Segoe UI"/>
              </a:rPr>
              <a:t>Resolution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lifts to first-order logic by unifying the complementary literals. The proof is an auditable table: each line names its parents and its unifier.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7576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81253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748528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Checking a proof is easy; finding one is not. Naive saturation took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705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steps for a five-line proof;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set of support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reduced it to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202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and real provers add </a:t>
            </a:r>
            <a:r>
              <a:rPr sz="1700" b="1" i="0">
                <a:solidFill>
                  <a:srgbClr val="1A5276"/>
                </a:solidFill>
                <a:latin typeface="Segoe UI"/>
              </a:rPr>
              <a:t>subsumption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indexing.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64002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 (continued)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   </a:t>
            </a:r>
            <a:fld id="{AB8B1B81-EA0B-4AB7-855D-FFB185E46D25}" type="slidenum">
              <a:rPr lang="en-GB" sz="1000">
                <a:solidFill>
                  <a:srgbClr val="8795A1"/>
                </a:solidFill>
                <a:latin typeface="Segoe UI"/>
              </a:rPr>
              <a:t>49</a:t>
            </a:fld>
          </a:p>
        </p:txBody>
      </p:sp>
      <p:sp>
        <p:nvSpPr>
          <p:cNvPr id="7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6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9" name="!!st6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First-order entailment is only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semi-decidable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Failing to find a proof is not evidence that none exists, and the countermodel of Chapter 11 is generally unavailable.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6169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4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   </a:t>
            </a:r>
            <a:fld id="{0D8CD19F-2231-4715-9C7A-663DB58E606A}" type="slidenum">
              <a:rPr lang="en-GB" sz="1000">
                <a:solidFill>
                  <a:srgbClr val="8795A1"/>
                </a:solidFill>
                <a:latin typeface="Segoe UI"/>
              </a:rPr>
              <a:t>50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The occurs check prevents: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two constants unifying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7133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binding a variable to a term containing it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skolemisation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variable capture between clauses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08335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4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   </a:t>
            </a:r>
            <a:fld id="{98299293-4000-41E8-9C39-0194B02BA4FE}" type="slidenum">
              <a:rPr lang="en-GB" sz="1000">
                <a:solidFill>
                  <a:srgbClr val="8795A1"/>
                </a:solidFill>
                <a:latin typeface="Segoe UI"/>
              </a:rPr>
              <a:t>51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Cambria"/>
              </a:rPr>
              <a:t>∀ 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service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) ∧ 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monitored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 claims that: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every service is monitored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everything is a monitored service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some service is monitored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nothing is monitored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0502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3 of 4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   </a:t>
            </a:r>
            <a:fld id="{A9EBDEE7-DC15-4F6D-8F8D-C49EEAA5FDE0}" type="slidenum">
              <a:rPr lang="en-GB" sz="1000">
                <a:solidFill>
                  <a:srgbClr val="8795A1"/>
                </a:solidFill>
                <a:latin typeface="Segoe UI"/>
              </a:rPr>
              <a:t>52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An existential variable inside a universal quantifier skolemises to: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new constant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7133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new function of the universally quantified variables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same variable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predicate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52669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4 of 4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   </a:t>
            </a:r>
            <a:fld id="{DAC3851F-513F-4064-B6FB-2B1557926BAE}" type="slidenum">
              <a:rPr lang="en-GB" sz="1000">
                <a:solidFill>
                  <a:srgbClr val="8795A1"/>
                </a:solidFill>
                <a:latin typeface="Segoe UI"/>
              </a:rPr>
              <a:t>53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First-order entailment is: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decidable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semi-decidable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undecidable in both directions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decidable only for finite domains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74836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131     </a:t>
            </a:r>
            <a:fld id="{260298AA-CFD6-45D3-978B-973427279A08}" type="slidenum">
              <a:rPr lang="en-GB" sz="1000">
                <a:solidFill>
                  <a:srgbClr val="8795A1"/>
                </a:solidFill>
                <a:latin typeface="Segoe UI"/>
              </a:rPr>
              <a:t>54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why clauses must be standardised apart before resolution, and describe the symptom when they are not.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Give the most general unifier of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owns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svc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owns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Ayesha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svc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Auth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say what a less general unifier would throw away.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399129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440277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380841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Set of support cut the search from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705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steps to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202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State the restriction it imposes and why it does not lose completeness.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2087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426201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4202582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Add the fact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depends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Billing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Payments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to the knowledge base and prove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delayed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Billing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 resolution. Present the proof as a table with parents and unifiers, and say which earlier derived clause you were able to reuse.</a:t>
            </a:r>
          </a:p>
        </p:txBody>
      </p:sp>
      <p:sp>
        <p:nvSpPr>
          <p:cNvPr id="1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7002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54A9D"/>
                </a:solidFill>
                <a:latin typeface="Segoe UI Black"/>
              </a:rPr>
              <a:t>12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12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13 — Rule-Based Expert Systems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12, pages 121–131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Unification and a resolution proof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Project set, proposal due; Assignment 2 set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12  ·  First-Order Logic and Resolution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EA2FD860-409B-4739-95FC-6E37FBB105E4}" type="slidenum">
              <a:rPr lang="en-GB" sz="1000">
                <a:solidFill>
                  <a:srgbClr val="D5DEE5"/>
                </a:solidFill>
                <a:latin typeface="Segoe UI"/>
              </a:rPr>
              <a:t>55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12: First-Order Logic and Resolution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