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1.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8.svg" ContentType="image/svg+xml"/>
  <Override PartName="/ppt/media/image29.svg" ContentType="image/svg+xml"/>
  <Override PartName="/ppt/media/image31.svg" ContentType="image/svg+xml"/>
  <Override PartName="/ppt/media/image32.svg" ContentType="image/svg+xml"/>
  <Override PartName="/ppt/media/image34.svg" ContentType="image/svg+xml"/>
  <Override PartName="/ppt/media/image36.svg" ContentType="image/svg+xml"/>
  <Override PartName="/ppt/media/image37.svg" ContentType="image/svg+xml"/>
  <Override PartName="/ppt/media/image38.svg" ContentType="image/svg+xml"/>
  <Override PartName="/ppt/media/image39.svg" ContentType="image/svg+xml"/>
  <Override PartName="/ppt/media/image4.svg" ContentType="image/svg+xml"/>
  <Override PartName="/ppt/media/image40.svg" ContentType="image/svg+xml"/>
  <Override PartName="/ppt/media/image41.svg" ContentType="image/svg+xml"/>
  <Override PartName="/ppt/media/image42.svg" ContentType="image/svg+xml"/>
  <Override PartName="/ppt/media/image43.svg" ContentType="image/svg+xml"/>
  <Override PartName="/ppt/media/image44.svg" ContentType="image/svg+xml"/>
  <Override PartName="/ppt/media/image45.svg" ContentType="image/svg+xml"/>
  <Override PartName="/ppt/media/image46.svg" ContentType="image/svg+xml"/>
  <Override PartName="/ppt/media/image47.svg" ContentType="image/svg+xml"/>
  <Override PartName="/ppt/media/image48.svg" ContentType="image/svg+xml"/>
  <Override PartName="/ppt/media/image49.svg" ContentType="image/svg+xml"/>
  <Override PartName="/ppt/media/image50.svg" ContentType="image/svg+xml"/>
  <Override PartName="/ppt/media/image51.svg" ContentType="image/svg+xml"/>
  <Override PartName="/ppt/media/image53.svg" ContentType="image/svg+xml"/>
  <Override PartName="/ppt/media/image55.svg" ContentType="image/svg+xml"/>
  <Override PartName="/ppt/media/image56.svg" ContentType="image/svg+xml"/>
  <Override PartName="/ppt/media/image57.svg" ContentType="image/svg+xml"/>
  <Override PartName="/ppt/media/image58.svg" ContentType="image/svg+xml"/>
  <Override PartName="/ppt/media/image59.svg" ContentType="image/svg+xml"/>
  <Override PartName="/ppt/media/image6.svg" ContentType="image/svg+xml"/>
  <Override PartName="/ppt/media/image61.svg" ContentType="image/svg+xml"/>
  <Override PartName="/ppt/media/image62.svg" ContentType="image/svg+xml"/>
  <Override PartName="/ppt/media/image64.svg" ContentType="image/svg+xml"/>
  <Override PartName="/ppt/media/image65.svg" ContentType="image/svg+xml"/>
  <Override PartName="/ppt/media/image66.svg" ContentType="image/svg+xml"/>
  <Override PartName="/ppt/media/image67.svg" ContentType="image/svg+xml"/>
  <Override PartName="/ppt/media/image68.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62483B8-1292-4E98-AF2E-EA1ED6E54B53}">
          <p14:sldIdLst>
            <p14:sldId id="256"/>
            <p14:sldId id="257"/>
            <p14:sldId id="258"/>
            <p14:sldId id="259"/>
            <p14:sldId id="260"/>
          </p14:sldIdLst>
        </p14:section>
        <p14:section name="3.1 Why This Chapter Exists" id="{10E011D7-A29E-4553-B323-552342C388DE}">
          <p14:sldIdLst>
            <p14:sldId id="261"/>
          </p14:sldIdLst>
        </p14:section>
        <p14:section name="3.2 A State Is a Value" id="{FA8F4ED7-3521-4095-8330-897132D0F3F0}">
          <p14:sldIdLst>
            <p14:sldId id="262"/>
            <p14:sldId id="263"/>
            <p14:sldId id="264"/>
          </p14:sldIdLst>
        </p14:section>
        <p14:section name="3.3 The Problem Interface" id="{D0586868-F284-4537-94DE-AFF8E24E901A}">
          <p14:sldIdLst>
            <p14:sldId id="265"/>
            <p14:sldId id="266"/>
            <p14:sldId id="267"/>
            <p14:sldId id="268"/>
          </p14:sldIdLst>
        </p14:section>
        <p14:section name="3.4 Frontiers: Three Structures, Three Strategies" id="{0FAA5BF3-AEE5-46A3-8623-721DC54903C5}">
          <p14:sldIdLst>
            <p14:sldId id="269"/>
            <p14:sldId id="270"/>
            <p14:sldId id="271"/>
          </p14:sldIdLst>
        </p14:section>
        <p14:section name="3.5 Representing the Project" id="{97C63D02-9B8A-4189-93BB-B7F591144D8B}">
          <p14:sldIdLst>
            <p14:sldId id="272"/>
            <p14:sldId id="273"/>
          </p14:sldIdLst>
        </p14:section>
        <p14:section name="3.6 Generators and Memoisation" id="{2A8442E9-00D4-47C3-9696-A2DFE8766403}">
          <p14:sldIdLst>
            <p14:sldId id="274"/>
            <p14:sldId id="275"/>
            <p14:sldId id="276"/>
          </p14:sldIdLst>
        </p14:section>
        <p14:section name="Pitfalls" id="{CEDD760B-BAC7-45B4-94B1-73881D388CF2}">
          <p14:sldIdLst>
            <p14:sldId id="277"/>
          </p14:sldIdLst>
        </p14:section>
        <p14:section name="Lab" id="{F7C1A43B-8A55-424C-AF27-30AA0868C09E}">
          <p14:sldIdLst>
            <p14:sldId id="278"/>
            <p14:sldId id="279"/>
            <p14:sldId id="280"/>
            <p14:sldId id="281"/>
            <p14:sldId id="282"/>
            <p14:sldId id="283"/>
            <p14:sldId id="284"/>
            <p14:sldId id="285"/>
            <p14:sldId id="286"/>
            <p14:sldId id="287"/>
            <p14:sldId id="288"/>
            <p14:sldId id="289"/>
            <p14:sldId id="290"/>
            <p14:sldId id="291"/>
            <p14:sldId id="292"/>
            <p14:sldId id="293"/>
          </p14:sldIdLst>
        </p14:section>
        <p14:section name="Checkpoint" id="{C260DA41-6169-4BFE-9BE0-77268F41E6EC}">
          <p14:sldIdLst>
            <p14:sldId id="294"/>
            <p14:sldId id="295"/>
            <p14:sldId id="296"/>
            <p14:sldId id="297"/>
            <p14:sldId id="298"/>
            <p14:sldId id="299"/>
          </p14:sldIdLst>
        </p14:section>
        <p14:section name="Wrap-up" id="{EC5AD7F9-13B1-4B5C-94E5-866B94F1DAE2}">
          <p14:sldIdLst>
            <p14:sldId id="300"/>
            <p14:sldId id="301"/>
            <p14:sldId id="302"/>
            <p14:sldId id="303"/>
            <p14:sldId id="304"/>
            <p14:sldId id="305"/>
            <p14:sldId id="306"/>
            <p14:sldId id="307"/>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3: Representations and Search in Python. Part 1 — Foundations of Intelligent Systems. Week 2: Representations and search in Python. Handout pages 22–33.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2 (agent, percept, action, goal-based agent). Object Oriented Programming: classes, inheritance, abstract methods, and the difference between a value and a reference. Appendix A is the reference for every standard-library call used here.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state; immutability; hashability; frozenset; namedtuple; the Problem interface; successor function; node; frontier; explored set; deque; heapq; priority queue; adjacency dictionary; generator; memoisation; lru_cache.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prerequisite for this course is Object Oriented Programming, so you can already write Python. This chapter is not a Python tutorial. It is the chapter that fixes the four data structures the rest of the book is written in, so that Chapters 4 to 9 can say “push the successor onto the frontier” and mean something precise. Every search algorithm in Part II is about twenty lines long. They are short only because the representation carries the weight. Get the representation wrong and the algorithm triples in size and starts to produce wrong answers for reasons that are extremely hard to see. That is the whole content of this chapter, and it is worth a week.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the state of a release: which components have been coded, reviewed, tested and deployed. The obvious first attempt is a class with mutable attributes. It is wrong for three reasons, and all three matter.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states are built from Python’s immutable, hashable types: tuple, frozenset, str, numbers, and namedtuple. Figure 3.1 shows the three representations this book uses and when each is right.</a:t>
            </a:r>
          </a:p>
          <a:p/>
          <a:p>
            <a:r>
              <a:t>Figure 3.1 (handout p. 23): Three state representations, and the situation each one is for. All three are immutable and hashable; that is the property the algorithms depend 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search problem in Chapters 4 to 9 is the same five things. Fixing them as one small class means the algorithms can be written once and reused unchanged.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node is not a state. A node is a state plus the bookkeeping the search needs: the parent it came from, the action that produced it, and the cost so far. States get compared and stored in sets; nodes get put on frontiers and walked backwards to build the solution. Confusing the two is the second most common bug in this material, after mutable states. The frontier holds the nodes that have been generated but not yet expanded. Remarkably, the choice of frontier structure is the choice of search strategy: the algorithm body does not change at all between breadth-first, depth-first and best-first search. Only the container does. Figure 3.2 shows the three, with the operation costs that decide the matter.</a:t>
            </a:r>
          </a:p>
          <a:p/>
          <a:p>
            <a:r>
              <a:t>Figure 3.2 (handout p. 25): Three frontier structures. Choosing the container chooses the strategy, and the operation costs are the reason each one is matched to its search.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the domain data in this book is one small software project: nine tasks with a duration and a set of dependencies each. It lives in plain dictionaries, deliberately, so that every lab can be read without reference to a data file.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standard-library habits pay for themselves repeatedly in this course. A generator successor function yields states one at a time instead of building a list. In search this matters because most successors are never used: a depth-first search that finds its goal in the first branch has generated one successor of each node on the path, not all of them. Writing yield instead of result.append is the whole change. Memoisation caches a function’s result against its arguments. functools.lru_cache does it in one decorator, and it requires exactly the property Section 2 insisted on: the arguments must be hashable. Chapter 5’s heuristic is called many times on the same state, Chapter 8’s minimax re-reaches the same position by different move orders, and Chapter 11’s model counting revisits the same partial assignment. In all three, one decorator changes the running time by an order of magnitude and nothing else in the code.</a:t>
            </a:r>
          </a:p>
          <a:p/>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later chapters import. Build it once, assert that it behaves as documented, and measure the claim of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The project, as data.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The interface every later chapter subclasses.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The interface every later chapter subclasses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The interface every later chapter subclasses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The three frontiers, behind one small interface.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7: The three frontiers, behind one small interface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8: The three frontiers, behind one small interface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9: The three frontiers, behind one small interface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10: The three frontiers, behind one small interface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11: The measurement of the worked example.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12: The measurement of the worked example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13: The measurement of the worked example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14: The measurement of the worked example (continued).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A list is mutable, and Python makes mutable built-in types unhashable, because an object whose hash could change while it sits in a set would become unfindable. Without a usable explored set the search cannot ask “have I seen this state?”. Every state is then re-expanded once for each distinct path that reaches it, so the search explores the search tree rather than the state graph — and on a space with a cycle that tree is infinite, so the search never terminates.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The heap entries are tuples such as (cost, node). When two costs are equal Python moves on to compare the second elements, and Node defines no ordering, so it raises TypeError. It is intermittent because it needs a tie, which most inputs do not produce. The fix is one element: push (cost, next(counter), node) with a monotonically increasing counter, so ties are broken by insertion order and two nodes are never compared.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It multiplies the state space by the number of distinct step counts at which each situation can be reached. Two searches that arrive at the same set of finished tasks after 7 and after 9 steps now hold different states, so the explored set never matches, nothing is pruned, and the search degenerates towards enumerating paths. The rule is in the chapter: if the goal test cannot see it, it does not belong in the state.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4 — Problem Formulation and Uninformed Search. READ: Handout Chapter 3, pages 22–33. THIS WEEK'S LAB: The frontier and the graph: the course toolkit.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10.xml"/><Relationship Id="rId8" Type="http://schemas.openxmlformats.org/officeDocument/2006/relationships/slide" Target="slide14.xml"/><Relationship Id="rId9" Type="http://schemas.openxmlformats.org/officeDocument/2006/relationships/slide" Target="slide17.xml"/><Relationship Id="rId10" Type="http://schemas.openxmlformats.org/officeDocument/2006/relationships/slide" Target="slide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0.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1.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24.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5.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6.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 Id="rId3" Type="http://schemas.openxmlformats.org/officeDocument/2006/relationships/image" Target="../media/image28.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 Id="rId3" Type="http://schemas.openxmlformats.org/officeDocument/2006/relationships/image" Target="../media/image29.svg"/><Relationship Id="rId4" Type="http://schemas.openxmlformats.org/officeDocument/2006/relationships/image" Target="../media/image30.png"/><Relationship Id="rId5" Type="http://schemas.openxmlformats.org/officeDocument/2006/relationships/image" Target="../media/image31.svg"/><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 Id="rId3" Type="http://schemas.openxmlformats.org/officeDocument/2006/relationships/image" Target="../media/image32.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 Id="rId3" Type="http://schemas.openxmlformats.org/officeDocument/2006/relationships/image" Target="../media/image34.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36.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37.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38.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39.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40.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41.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42.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43.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44.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45.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46.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47.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48.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49.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50.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51.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2.png"/><Relationship Id="rId3" Type="http://schemas.openxmlformats.org/officeDocument/2006/relationships/image" Target="../media/image53.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png"/><Relationship Id="rId3" Type="http://schemas.openxmlformats.org/officeDocument/2006/relationships/image" Target="../media/image55.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2.png"/><Relationship Id="rId3" Type="http://schemas.openxmlformats.org/officeDocument/2006/relationships/image" Target="../media/image56.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png"/><Relationship Id="rId3" Type="http://schemas.openxmlformats.org/officeDocument/2006/relationships/image" Target="../media/image57.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2.png"/><Relationship Id="rId3" Type="http://schemas.openxmlformats.org/officeDocument/2006/relationships/image" Target="../media/image58.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png"/><Relationship Id="rId3" Type="http://schemas.openxmlformats.org/officeDocument/2006/relationships/image" Target="../media/image59.sv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0.png"/><Relationship Id="rId3" Type="http://schemas.openxmlformats.org/officeDocument/2006/relationships/image" Target="../media/image61.sv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0.png"/><Relationship Id="rId3" Type="http://schemas.openxmlformats.org/officeDocument/2006/relationships/image" Target="../media/image62.sv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 Id="rId3" Type="http://schemas.openxmlformats.org/officeDocument/2006/relationships/image" Target="../media/image64.sv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 Id="rId3" Type="http://schemas.openxmlformats.org/officeDocument/2006/relationships/image" Target="../media/image65.sv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 Id="rId3" Type="http://schemas.openxmlformats.org/officeDocument/2006/relationships/image" Target="../media/image66.sv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 Id="rId3" Type="http://schemas.openxmlformats.org/officeDocument/2006/relationships/image" Target="../media/image67.svg"/><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 Id="rId3" Type="http://schemas.openxmlformats.org/officeDocument/2006/relationships/image" Target="../media/image68.sv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16384"/>
                </a:solidFill>
                <a:latin typeface="Segoe UI Black"/>
              </a:rPr>
              <a:t>03</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Representations and Search in Python</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CFD9"/>
                </a:solidFill>
                <a:latin typeface="Segoe UI"/>
              </a:rPr>
              <a:t>PART I  ·  FOUNDATIONS OF INTELLIGENT SYSTEMS</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CFD9"/>
                </a:solidFill>
                <a:latin typeface="Segoe UI"/>
              </a:rPr>
              <a:t>CHAPTER 3  ·  WEEK 2</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D1DCE4"/>
                </a:solidFill>
                <a:latin typeface="Segoe UI"/>
              </a:rPr>
              <a:t>Artificial Intelligence — Search, Knowledge and Reasoning</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133B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5B5BE"/>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DC8CF"/>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5B5BE"/>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3  ·  Representations and Search in Python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22     </a:t>
            </a:r>
            <a:fld id="{FDAA7E0D-AED5-453D-A10B-E5D34D2D935E}" type="slidenum">
              <a:rPr lang="en-GB" sz="1000">
                <a:solidFill>
                  <a:srgbClr val="8795A1"/>
                </a:solidFill>
                <a:latin typeface="Segoe UI"/>
              </a:rPr>
              <a:t>2</a:t>
            </a:fld>
          </a:p>
        </p:txBody>
      </p:sp>
      <p:sp>
        <p:nvSpPr>
          <p:cNvPr id="7" name="!!rp1"/>
          <p:cNvSpPr txBox="1"/>
          <p:nvPr/>
        </p:nvSpPr>
        <p:spPr>
          <a:xfrm>
            <a:off x="777239" y="1755648"/>
            <a:ext cx="132916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A5276"/>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39" y="2029967"/>
            <a:ext cx="1329163" cy="4572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591035"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591035"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093935"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093935"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5596834" y="1755648"/>
            <a:ext cx="158324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5596834" y="2029967"/>
            <a:ext cx="158324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7509260"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7509260"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9012160" y="1755648"/>
            <a:ext cx="240229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9012160" y="2029967"/>
            <a:ext cx="240229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1741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2597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26937"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354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645608" y="2112264"/>
            <a:ext cx="566928" cy="566928"/>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645608"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25" name="!!dot4">
            <a:extLst>
              <a:ext uri="{C183D7F6-B498-43B3-948B-1728B52AA6E4}">
                <adec:decorative xmlns:adec="http://schemas.microsoft.com/office/drawing/2017/decorative" val="1"/>
              </a:ext>
            </a:extLst>
          </p:cNvPr>
          <p:cNvSpPr/>
          <p:nvPr/>
        </p:nvSpPr>
        <p:spPr>
          <a:xfrm>
            <a:off x="2631206"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253976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3040733"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94929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450259"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335881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4134106"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404266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4543632"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445219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953159"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86171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5637005"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554556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6046532"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95509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645605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63646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865585"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77414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7549431"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745799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958958"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8675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8368484"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827704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9052331"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96089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9461857"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937041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987138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77994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10280910"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1018947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690437"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5989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109996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10085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label"/>
          <p:cNvSpPr txBox="1"/>
          <p:nvPr/>
        </p:nvSpPr>
        <p:spPr>
          <a:xfrm>
            <a:off x="658368"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1A5276"/>
                </a:solidFill>
                <a:latin typeface="Segoe UI"/>
              </a:rPr>
              <a:t>Representations and Search in Python</a:t>
            </a:r>
          </a:p>
        </p:txBody>
      </p:sp>
      <p:sp>
        <p:nvSpPr>
          <p:cNvPr id="6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5" name="!!chipBU2">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chipbBU2">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7" name="!!chiptBU2"/>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2  </a:t>
            </a:r>
            <a:r>
              <a:rPr sz="1400" b="0" i="0">
                <a:solidFill>
                  <a:srgbClr val="1C252B"/>
                </a:solidFill>
                <a:latin typeface="Segoe UI"/>
              </a:rPr>
              <a:t>Intelligent Agents and Task Environments</a:t>
            </a:r>
          </a:p>
        </p:txBody>
      </p:sp>
      <p:sp>
        <p:nvSpPr>
          <p:cNvPr id="68"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69" name="!!chipUS4">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chipbUS4">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chiptUS4"/>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4  </a:t>
            </a:r>
            <a:r>
              <a:rPr sz="1400" b="0" i="0">
                <a:solidFill>
                  <a:srgbClr val="1C252B"/>
                </a:solidFill>
                <a:latin typeface="Segoe UI"/>
              </a:rPr>
              <a:t>Problem Formulation and Uninformed Search</a:t>
            </a:r>
          </a:p>
        </p:txBody>
      </p:sp>
      <p:sp>
        <p:nvSpPr>
          <p:cNvPr id="72" name="!!chipUS5">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3" name="!!chipbUS5">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chiptUS5"/>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5  </a:t>
            </a:r>
            <a:r>
              <a:rPr sz="1400" b="0" i="0">
                <a:solidFill>
                  <a:srgbClr val="1C252B"/>
                </a:solidFill>
                <a:latin typeface="Segoe UI"/>
              </a:rPr>
              <a:t>Informed Search and Heuristics</a:t>
            </a:r>
          </a:p>
        </p:txBody>
      </p:sp>
      <p:sp>
        <p:nvSpPr>
          <p:cNvPr id="75" name="!!chipUS6">
            <a:extLst>
              <a:ext uri="{C183D7F6-B498-43B3-948B-1728B52AA6E4}">
                <adec:decorative xmlns:adec="http://schemas.microsoft.com/office/drawing/2017/decorative" val="1"/>
              </a:ext>
            </a:extLst>
          </p:cNvPr>
          <p:cNvSpPr/>
          <p:nvPr/>
        </p:nvSpPr>
        <p:spPr>
          <a:xfrm>
            <a:off x="6324447" y="4809744"/>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chipbUS6">
            <a:extLst>
              <a:ext uri="{C183D7F6-B498-43B3-948B-1728B52AA6E4}">
                <adec:decorative xmlns:adec="http://schemas.microsoft.com/office/drawing/2017/decorative" val="1"/>
              </a:ext>
            </a:extLst>
          </p:cNvPr>
          <p:cNvSpPr/>
          <p:nvPr/>
        </p:nvSpPr>
        <p:spPr>
          <a:xfrm>
            <a:off x="6324447" y="4809744"/>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7" name="!!chiptUS6"/>
          <p:cNvSpPr txBox="1"/>
          <p:nvPr/>
        </p:nvSpPr>
        <p:spPr>
          <a:xfrm>
            <a:off x="6525615"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6  </a:t>
            </a:r>
            <a:r>
              <a:rPr sz="1400" b="0" i="0">
                <a:solidFill>
                  <a:srgbClr val="1C252B"/>
                </a:solidFill>
                <a:latin typeface="Segoe UI"/>
              </a:rPr>
              <a:t>Local Search and Optimisation</a:t>
            </a:r>
          </a:p>
        </p:txBody>
      </p:sp>
      <p:sp>
        <p:nvSpPr>
          <p:cNvPr id="78" name="!!chipUS7">
            <a:extLst>
              <a:ext uri="{C183D7F6-B498-43B3-948B-1728B52AA6E4}">
                <adec:decorative xmlns:adec="http://schemas.microsoft.com/office/drawing/2017/decorative" val="1"/>
              </a:ext>
            </a:extLst>
          </p:cNvPr>
          <p:cNvSpPr/>
          <p:nvPr/>
        </p:nvSpPr>
        <p:spPr>
          <a:xfrm>
            <a:off x="6324447" y="5321808"/>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9" name="!!chipbUS7">
            <a:extLst>
              <a:ext uri="{C183D7F6-B498-43B3-948B-1728B52AA6E4}">
                <adec:decorative xmlns:adec="http://schemas.microsoft.com/office/drawing/2017/decorative" val="1"/>
              </a:ext>
            </a:extLst>
          </p:cNvPr>
          <p:cNvSpPr/>
          <p:nvPr/>
        </p:nvSpPr>
        <p:spPr>
          <a:xfrm>
            <a:off x="6324447" y="5321808"/>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0" name="!!chiptUS7"/>
          <p:cNvSpPr txBox="1"/>
          <p:nvPr/>
        </p:nvSpPr>
        <p:spPr>
          <a:xfrm>
            <a:off x="6525615" y="5413248"/>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7  </a:t>
            </a:r>
            <a:r>
              <a:rPr sz="1400" b="0" i="0">
                <a:solidFill>
                  <a:srgbClr val="1C252B"/>
                </a:solidFill>
                <a:latin typeface="Segoe UI"/>
              </a:rPr>
              <a:t>Constraint Satisfaction</a:t>
            </a:r>
          </a:p>
        </p:txBody>
      </p:sp>
      <p:sp>
        <p:nvSpPr>
          <p:cNvPr id="81" name="!!chipUS9">
            <a:extLst>
              <a:ext uri="{C183D7F6-B498-43B3-948B-1728B52AA6E4}">
                <adec:decorative xmlns:adec="http://schemas.microsoft.com/office/drawing/2017/decorative" val="1"/>
              </a:ext>
            </a:extLst>
          </p:cNvPr>
          <p:cNvSpPr/>
          <p:nvPr/>
        </p:nvSpPr>
        <p:spPr>
          <a:xfrm>
            <a:off x="6324447" y="5833872"/>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chipbUS9">
            <a:extLst>
              <a:ext uri="{C183D7F6-B498-43B3-948B-1728B52AA6E4}">
                <adec:decorative xmlns:adec="http://schemas.microsoft.com/office/drawing/2017/decorative" val="1"/>
              </a:ext>
            </a:extLst>
          </p:cNvPr>
          <p:cNvSpPr/>
          <p:nvPr/>
        </p:nvSpPr>
        <p:spPr>
          <a:xfrm>
            <a:off x="6324447" y="5833872"/>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3" name="!!chiptUS9"/>
          <p:cNvSpPr txBox="1"/>
          <p:nvPr/>
        </p:nvSpPr>
        <p:spPr>
          <a:xfrm>
            <a:off x="6525615" y="5925312"/>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9  </a:t>
            </a:r>
            <a:r>
              <a:rPr sz="1400" b="0" i="0">
                <a:solidFill>
                  <a:srgbClr val="1C252B"/>
                </a:solidFill>
                <a:latin typeface="Segoe UI"/>
              </a:rPr>
              <a:t>Planning</a:t>
            </a:r>
          </a:p>
        </p:txBody>
      </p:sp>
      <p:sp>
        <p:nvSpPr>
          <p:cNvPr id="8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5" name="!!pfill">
            <a:extLst>
              <a:ext uri="{C183D7F6-B498-43B3-948B-1728B52AA6E4}">
                <adec:decorative xmlns:adec="http://schemas.microsoft.com/office/drawing/2017/decorative" val="1"/>
              </a:ext>
            </a:extLst>
          </p:cNvPr>
          <p:cNvSpPr/>
          <p:nvPr/>
        </p:nvSpPr>
        <p:spPr>
          <a:xfrm>
            <a:off x="0" y="0"/>
            <a:ext cx="46891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3  ·  Representations and Search in Python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22     </a:t>
            </a:r>
            <a:fld id="{65A85864-22DF-43B1-A411-719FCDF8D5BD}"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Represent</a:t>
            </a:r>
            <a:r>
              <a:rPr sz="2100" b="0" i="0">
                <a:solidFill>
                  <a:srgbClr val="1C252B"/>
                </a:solidFill>
                <a:latin typeface="Segoe UI"/>
              </a:rPr>
              <a:t> a state as an immutable, hashable value, and </a:t>
            </a:r>
            <a:r>
              <a:rPr sz="2100" b="1" i="0">
                <a:solidFill>
                  <a:srgbClr val="1C252B"/>
                </a:solidFill>
                <a:latin typeface="Segoe UI"/>
              </a:rPr>
              <a:t>explain</a:t>
            </a:r>
            <a:r>
              <a:rPr sz="2100" b="0" i="0">
                <a:solidFill>
                  <a:srgbClr val="1C252B"/>
                </a:solidFill>
                <a:latin typeface="Segoe UI"/>
              </a:rPr>
              <a:t> why every search algorithm in this book requires it.</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061411"/>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Implement</a:t>
            </a:r>
            <a:r>
              <a:rPr sz="2100" b="0" i="0">
                <a:solidFill>
                  <a:srgbClr val="1C252B"/>
                </a:solidFill>
                <a:latin typeface="Segoe UI"/>
              </a:rPr>
              <a:t> the </a:t>
            </a:r>
            <a:r>
              <a:rPr sz="1950" b="0" i="0">
                <a:solidFill>
                  <a:srgbClr val="1F4E79"/>
                </a:solidFill>
                <a:latin typeface="Consolas"/>
              </a:rPr>
              <a:t>Problem</a:t>
            </a:r>
            <a:r>
              <a:rPr sz="2100" b="0" i="0">
                <a:solidFill>
                  <a:srgbClr val="1C252B"/>
                </a:solidFill>
                <a:latin typeface="Segoe UI"/>
              </a:rPr>
              <a:t> interface — initial state, goal test, actions, result, step cost — that every later chapter subclasses.</a:t>
            </a:r>
          </a:p>
        </p:txBody>
      </p:sp>
      <p:sp>
        <p:nvSpPr>
          <p:cNvPr id="14" name="!!ob2">
            <a:extLst>
              <a:ext uri="{C183D7F6-B498-43B3-948B-1728B52AA6E4}">
                <adec:decorative xmlns:adec="http://schemas.microsoft.com/office/drawing/2017/decorative" val="1"/>
              </a:ext>
            </a:extLst>
          </p:cNvPr>
          <p:cNvSpPr/>
          <p:nvPr/>
        </p:nvSpPr>
        <p:spPr>
          <a:xfrm>
            <a:off x="658368" y="3919118"/>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978554"/>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909974"/>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Choose</a:t>
            </a:r>
            <a:r>
              <a:rPr sz="2100" b="0" i="0">
                <a:solidFill>
                  <a:srgbClr val="1C252B"/>
                </a:solidFill>
                <a:latin typeface="Segoe UI"/>
              </a:rPr>
              <a:t> the right frontier structure for a search strategy, and </a:t>
            </a:r>
            <a:r>
              <a:rPr sz="2100" b="1" i="0">
                <a:solidFill>
                  <a:srgbClr val="1C252B"/>
                </a:solidFill>
                <a:latin typeface="Segoe UI"/>
              </a:rPr>
              <a:t>justify</a:t>
            </a:r>
            <a:r>
              <a:rPr sz="2100" b="0" i="0">
                <a:solidFill>
                  <a:srgbClr val="1C252B"/>
                </a:solidFill>
                <a:latin typeface="Segoe UI"/>
              </a:rPr>
              <a:t> the choice by its cost: </a:t>
            </a:r>
            <a:r>
              <a:rPr sz="1950" b="0" i="0">
                <a:solidFill>
                  <a:srgbClr val="1F4E79"/>
                </a:solidFill>
                <a:latin typeface="Consolas"/>
              </a:rPr>
              <a:t>deque</a:t>
            </a:r>
            <a:r>
              <a:rPr sz="2100" b="0" i="0">
                <a:solidFill>
                  <a:srgbClr val="1C252B"/>
                </a:solidFill>
                <a:latin typeface="Segoe UI"/>
              </a:rPr>
              <a:t> for first-in first-out, list for last-in first-out, </a:t>
            </a:r>
            <a:r>
              <a:rPr sz="1950" b="0" i="0">
                <a:solidFill>
                  <a:srgbClr val="1F4E79"/>
                </a:solidFill>
                <a:latin typeface="Consolas"/>
              </a:rPr>
              <a:t>heapq</a:t>
            </a:r>
            <a:r>
              <a:rPr sz="2100" b="0" i="0">
                <a:solidFill>
                  <a:srgbClr val="1C252B"/>
                </a:solidFill>
                <a:latin typeface="Segoe UI"/>
              </a:rPr>
              <a:t> for best-first.</a:t>
            </a:r>
          </a:p>
        </p:txBody>
      </p:sp>
      <p:sp>
        <p:nvSpPr>
          <p:cNvPr id="17" name="!!ob3">
            <a:extLst>
              <a:ext uri="{C183D7F6-B498-43B3-948B-1728B52AA6E4}">
                <adec:decorative xmlns:adec="http://schemas.microsoft.com/office/drawing/2017/decorative" val="1"/>
              </a:ext>
            </a:extLst>
          </p:cNvPr>
          <p:cNvSpPr/>
          <p:nvPr/>
        </p:nvSpPr>
        <p:spPr>
          <a:xfrm>
            <a:off x="658368" y="4767681"/>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827117"/>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758537"/>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Encode</a:t>
            </a:r>
            <a:r>
              <a:rPr sz="2100" b="0" i="0">
                <a:solidFill>
                  <a:srgbClr val="1C252B"/>
                </a:solidFill>
                <a:latin typeface="Segoe UI"/>
              </a:rPr>
              <a:t> a project’s task dependencies as a graph and </a:t>
            </a:r>
            <a:r>
              <a:rPr sz="2100" b="1" i="0">
                <a:solidFill>
                  <a:srgbClr val="1C252B"/>
                </a:solidFill>
                <a:latin typeface="Segoe UI"/>
              </a:rPr>
              <a:t>separate</a:t>
            </a:r>
            <a:r>
              <a:rPr sz="2100" b="0" i="0">
                <a:solidFill>
                  <a:srgbClr val="1C252B"/>
                </a:solidFill>
                <a:latin typeface="Segoe UI"/>
              </a:rPr>
              <a:t> the problem’s data from the algorithm that searches it.</a:t>
            </a:r>
          </a:p>
        </p:txBody>
      </p:sp>
      <p:sp>
        <p:nvSpPr>
          <p:cNvPr id="20" name="!!ob4">
            <a:extLst>
              <a:ext uri="{C183D7F6-B498-43B3-948B-1728B52AA6E4}">
                <adec:decorative xmlns:adec="http://schemas.microsoft.com/office/drawing/2017/decorative" val="1"/>
              </a:ext>
            </a:extLst>
          </p:cNvPr>
          <p:cNvSpPr/>
          <p:nvPr/>
        </p:nvSpPr>
        <p:spPr>
          <a:xfrm>
            <a:off x="658368" y="5616244"/>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675680"/>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607100"/>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Use</a:t>
            </a:r>
            <a:r>
              <a:rPr sz="2100" b="0" i="0">
                <a:solidFill>
                  <a:srgbClr val="1C252B"/>
                </a:solidFill>
                <a:latin typeface="Segoe UI"/>
              </a:rPr>
              <a:t> generators for successor functions and </a:t>
            </a:r>
            <a:r>
              <a:rPr sz="1950" b="0" i="0">
                <a:solidFill>
                  <a:srgbClr val="1F4E79"/>
                </a:solidFill>
                <a:latin typeface="Consolas"/>
              </a:rPr>
              <a:t>lru_cache</a:t>
            </a:r>
            <a:r>
              <a:rPr sz="2100" b="0" i="0">
                <a:solidFill>
                  <a:srgbClr val="1C252B"/>
                </a:solidFill>
                <a:latin typeface="Segoe UI"/>
              </a:rPr>
              <a:t> for repeated subproblems, and </a:t>
            </a:r>
            <a:r>
              <a:rPr sz="2100" b="1" i="0">
                <a:solidFill>
                  <a:srgbClr val="1C252B"/>
                </a:solidFill>
                <a:latin typeface="Segoe UI"/>
              </a:rPr>
              <a:t>measure</a:t>
            </a:r>
            <a:r>
              <a:rPr sz="2100" b="0" i="0">
                <a:solidFill>
                  <a:srgbClr val="1C252B"/>
                </a:solidFill>
                <a:latin typeface="Segoe UI"/>
              </a:rPr>
              <a:t> what each one saves.</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70336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3  ·  Representations and Search in Python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22     </a:t>
            </a:r>
            <a:fld id="{7EDEA671-B66B-4651-AB88-29BED2D59BA4}" type="slidenum">
              <a:rPr lang="en-GB" sz="1000">
                <a:solidFill>
                  <a:srgbClr val="8795A1"/>
                </a:solidFill>
                <a:latin typeface="Segoe UI"/>
              </a:rPr>
              <a:t>4</a:t>
            </a:fld>
          </a:p>
        </p:txBody>
      </p:sp>
      <p:sp>
        <p:nvSpPr>
          <p:cNvPr id="7" name="!!term-state">
            <a:extLst>
              <a:ext uri="{C183D7F6-B498-43B3-948B-1728B52AA6E4}">
                <adec:decorative xmlns:adec="http://schemas.microsoft.com/office/drawing/2017/decorative" val="1"/>
              </a:ext>
            </a:extLst>
          </p:cNvPr>
          <p:cNvSpPr/>
          <p:nvPr/>
        </p:nvSpPr>
        <p:spPr>
          <a:xfrm>
            <a:off x="658368" y="1847088"/>
            <a:ext cx="85354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state">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state"/>
          <p:cNvSpPr txBox="1"/>
          <p:nvPr/>
        </p:nvSpPr>
        <p:spPr>
          <a:xfrm>
            <a:off x="950976" y="1970532"/>
            <a:ext cx="67066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state</a:t>
            </a:r>
          </a:p>
        </p:txBody>
      </p:sp>
      <p:sp>
        <p:nvSpPr>
          <p:cNvPr id="10" name="!!term-immutability">
            <a:extLst>
              <a:ext uri="{C183D7F6-B498-43B3-948B-1728B52AA6E4}">
                <adec:decorative xmlns:adec="http://schemas.microsoft.com/office/drawing/2017/decorative" val="1"/>
              </a:ext>
            </a:extLst>
          </p:cNvPr>
          <p:cNvSpPr/>
          <p:nvPr/>
        </p:nvSpPr>
        <p:spPr>
          <a:xfrm>
            <a:off x="1658217" y="1847088"/>
            <a:ext cx="151053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immutability">
            <a:extLst>
              <a:ext uri="{C183D7F6-B498-43B3-948B-1728B52AA6E4}">
                <adec:decorative xmlns:adec="http://schemas.microsoft.com/office/drawing/2017/decorative" val="1"/>
              </a:ext>
            </a:extLst>
          </p:cNvPr>
          <p:cNvSpPr/>
          <p:nvPr/>
        </p:nvSpPr>
        <p:spPr>
          <a:xfrm>
            <a:off x="1786233"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immutability"/>
          <p:cNvSpPr txBox="1"/>
          <p:nvPr/>
        </p:nvSpPr>
        <p:spPr>
          <a:xfrm>
            <a:off x="1950825" y="1970532"/>
            <a:ext cx="132765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immutability</a:t>
            </a:r>
          </a:p>
        </p:txBody>
      </p:sp>
      <p:sp>
        <p:nvSpPr>
          <p:cNvPr id="13" name="!!term-hashability">
            <a:extLst>
              <a:ext uri="{C183D7F6-B498-43B3-948B-1728B52AA6E4}">
                <adec:decorative xmlns:adec="http://schemas.microsoft.com/office/drawing/2017/decorative" val="1"/>
              </a:ext>
            </a:extLst>
          </p:cNvPr>
          <p:cNvSpPr/>
          <p:nvPr/>
        </p:nvSpPr>
        <p:spPr>
          <a:xfrm>
            <a:off x="3315052" y="1847088"/>
            <a:ext cx="135430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hashability">
            <a:extLst>
              <a:ext uri="{C183D7F6-B498-43B3-948B-1728B52AA6E4}">
                <adec:decorative xmlns:adec="http://schemas.microsoft.com/office/drawing/2017/decorative" val="1"/>
              </a:ext>
            </a:extLst>
          </p:cNvPr>
          <p:cNvSpPr/>
          <p:nvPr/>
        </p:nvSpPr>
        <p:spPr>
          <a:xfrm>
            <a:off x="344306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hashability"/>
          <p:cNvSpPr txBox="1"/>
          <p:nvPr/>
        </p:nvSpPr>
        <p:spPr>
          <a:xfrm>
            <a:off x="3607660" y="1970532"/>
            <a:ext cx="117142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hashability</a:t>
            </a:r>
          </a:p>
        </p:txBody>
      </p:sp>
      <p:sp>
        <p:nvSpPr>
          <p:cNvPr id="16" name="!!term-frozenset">
            <a:extLst>
              <a:ext uri="{C183D7F6-B498-43B3-948B-1728B52AA6E4}">
                <adec:decorative xmlns:adec="http://schemas.microsoft.com/office/drawing/2017/decorative" val="1"/>
              </a:ext>
            </a:extLst>
          </p:cNvPr>
          <p:cNvSpPr/>
          <p:nvPr/>
        </p:nvSpPr>
        <p:spPr>
          <a:xfrm>
            <a:off x="4815663" y="1847088"/>
            <a:ext cx="123049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frozenset">
            <a:extLst>
              <a:ext uri="{C183D7F6-B498-43B3-948B-1728B52AA6E4}">
                <adec:decorative xmlns:adec="http://schemas.microsoft.com/office/drawing/2017/decorative" val="1"/>
              </a:ext>
            </a:extLst>
          </p:cNvPr>
          <p:cNvSpPr/>
          <p:nvPr/>
        </p:nvSpPr>
        <p:spPr>
          <a:xfrm>
            <a:off x="4943679"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frozenset"/>
          <p:cNvSpPr txBox="1"/>
          <p:nvPr/>
        </p:nvSpPr>
        <p:spPr>
          <a:xfrm>
            <a:off x="5108271" y="1970532"/>
            <a:ext cx="104761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frozenset</a:t>
            </a:r>
          </a:p>
        </p:txBody>
      </p:sp>
      <p:sp>
        <p:nvSpPr>
          <p:cNvPr id="19" name="!!term-namedtuple">
            <a:extLst>
              <a:ext uri="{C183D7F6-B498-43B3-948B-1728B52AA6E4}">
                <adec:decorative xmlns:adec="http://schemas.microsoft.com/office/drawing/2017/decorative" val="1"/>
              </a:ext>
            </a:extLst>
          </p:cNvPr>
          <p:cNvSpPr/>
          <p:nvPr/>
        </p:nvSpPr>
        <p:spPr>
          <a:xfrm>
            <a:off x="6192458" y="1847088"/>
            <a:ext cx="146992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namedtuple">
            <a:extLst>
              <a:ext uri="{C183D7F6-B498-43B3-948B-1728B52AA6E4}">
                <adec:decorative xmlns:adec="http://schemas.microsoft.com/office/drawing/2017/decorative" val="1"/>
              </a:ext>
            </a:extLst>
          </p:cNvPr>
          <p:cNvSpPr/>
          <p:nvPr/>
        </p:nvSpPr>
        <p:spPr>
          <a:xfrm>
            <a:off x="632047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namedtuple"/>
          <p:cNvSpPr txBox="1"/>
          <p:nvPr/>
        </p:nvSpPr>
        <p:spPr>
          <a:xfrm>
            <a:off x="6485066" y="1970532"/>
            <a:ext cx="128704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namedtuple</a:t>
            </a:r>
          </a:p>
        </p:txBody>
      </p:sp>
      <p:sp>
        <p:nvSpPr>
          <p:cNvPr id="22" name="!!term-the Problem in">
            <a:extLst>
              <a:ext uri="{C183D7F6-B498-43B3-948B-1728B52AA6E4}">
                <adec:decorative xmlns:adec="http://schemas.microsoft.com/office/drawing/2017/decorative" val="1"/>
              </a:ext>
            </a:extLst>
          </p:cNvPr>
          <p:cNvSpPr/>
          <p:nvPr/>
        </p:nvSpPr>
        <p:spPr>
          <a:xfrm>
            <a:off x="7808683" y="1847088"/>
            <a:ext cx="228659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the Problem in">
            <a:extLst>
              <a:ext uri="{C183D7F6-B498-43B3-948B-1728B52AA6E4}">
                <adec:decorative xmlns:adec="http://schemas.microsoft.com/office/drawing/2017/decorative" val="1"/>
              </a:ext>
            </a:extLst>
          </p:cNvPr>
          <p:cNvSpPr/>
          <p:nvPr/>
        </p:nvSpPr>
        <p:spPr>
          <a:xfrm>
            <a:off x="7936699"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the Problem in"/>
          <p:cNvSpPr txBox="1"/>
          <p:nvPr/>
        </p:nvSpPr>
        <p:spPr>
          <a:xfrm>
            <a:off x="8101291" y="1970532"/>
            <a:ext cx="210371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the Problem interface</a:t>
            </a:r>
          </a:p>
        </p:txBody>
      </p:sp>
      <p:sp>
        <p:nvSpPr>
          <p:cNvPr id="25" name="!!term-successor func">
            <a:extLst>
              <a:ext uri="{C183D7F6-B498-43B3-948B-1728B52AA6E4}">
                <adec:decorative xmlns:adec="http://schemas.microsoft.com/office/drawing/2017/decorative" val="1"/>
              </a:ext>
            </a:extLst>
          </p:cNvPr>
          <p:cNvSpPr/>
          <p:nvPr/>
        </p:nvSpPr>
        <p:spPr>
          <a:xfrm>
            <a:off x="658368" y="2468880"/>
            <a:ext cx="201923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successor func">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successor func"/>
          <p:cNvSpPr txBox="1"/>
          <p:nvPr/>
        </p:nvSpPr>
        <p:spPr>
          <a:xfrm>
            <a:off x="950976" y="2592324"/>
            <a:ext cx="183635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successor function</a:t>
            </a:r>
          </a:p>
        </p:txBody>
      </p:sp>
      <p:sp>
        <p:nvSpPr>
          <p:cNvPr id="28" name="!!term-node">
            <a:extLst>
              <a:ext uri="{C183D7F6-B498-43B3-948B-1728B52AA6E4}">
                <adec:decorative xmlns:adec="http://schemas.microsoft.com/office/drawing/2017/decorative" val="1"/>
              </a:ext>
            </a:extLst>
          </p:cNvPr>
          <p:cNvSpPr/>
          <p:nvPr/>
        </p:nvSpPr>
        <p:spPr>
          <a:xfrm>
            <a:off x="2823907" y="2468880"/>
            <a:ext cx="87882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node">
            <a:extLst>
              <a:ext uri="{C183D7F6-B498-43B3-948B-1728B52AA6E4}">
                <adec:decorative xmlns:adec="http://schemas.microsoft.com/office/drawing/2017/decorative" val="1"/>
              </a:ext>
            </a:extLst>
          </p:cNvPr>
          <p:cNvSpPr/>
          <p:nvPr/>
        </p:nvSpPr>
        <p:spPr>
          <a:xfrm>
            <a:off x="295192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node"/>
          <p:cNvSpPr txBox="1"/>
          <p:nvPr/>
        </p:nvSpPr>
        <p:spPr>
          <a:xfrm>
            <a:off x="3116515" y="2592324"/>
            <a:ext cx="69594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node</a:t>
            </a:r>
          </a:p>
        </p:txBody>
      </p:sp>
      <p:sp>
        <p:nvSpPr>
          <p:cNvPr id="31" name="!!term-frontier">
            <a:extLst>
              <a:ext uri="{C183D7F6-B498-43B3-948B-1728B52AA6E4}">
                <adec:decorative xmlns:adec="http://schemas.microsoft.com/office/drawing/2017/decorative" val="1"/>
              </a:ext>
            </a:extLst>
          </p:cNvPr>
          <p:cNvSpPr/>
          <p:nvPr/>
        </p:nvSpPr>
        <p:spPr>
          <a:xfrm>
            <a:off x="3849041" y="2468880"/>
            <a:ext cx="107329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frontier">
            <a:extLst>
              <a:ext uri="{C183D7F6-B498-43B3-948B-1728B52AA6E4}">
                <adec:decorative xmlns:adec="http://schemas.microsoft.com/office/drawing/2017/decorative" val="1"/>
              </a:ext>
            </a:extLst>
          </p:cNvPr>
          <p:cNvSpPr/>
          <p:nvPr/>
        </p:nvSpPr>
        <p:spPr>
          <a:xfrm>
            <a:off x="3977057"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frontier"/>
          <p:cNvSpPr txBox="1"/>
          <p:nvPr/>
        </p:nvSpPr>
        <p:spPr>
          <a:xfrm>
            <a:off x="4141649" y="2592324"/>
            <a:ext cx="89041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frontier</a:t>
            </a:r>
          </a:p>
        </p:txBody>
      </p:sp>
      <p:sp>
        <p:nvSpPr>
          <p:cNvPr id="34" name="!!term-explored set">
            <a:extLst>
              <a:ext uri="{C183D7F6-B498-43B3-948B-1728B52AA6E4}">
                <adec:decorative xmlns:adec="http://schemas.microsoft.com/office/drawing/2017/decorative" val="1"/>
              </a:ext>
            </a:extLst>
          </p:cNvPr>
          <p:cNvSpPr/>
          <p:nvPr/>
        </p:nvSpPr>
        <p:spPr>
          <a:xfrm>
            <a:off x="5068639" y="2468880"/>
            <a:ext cx="149164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explored set">
            <a:extLst>
              <a:ext uri="{C183D7F6-B498-43B3-948B-1728B52AA6E4}">
                <adec:decorative xmlns:adec="http://schemas.microsoft.com/office/drawing/2017/decorative" val="1"/>
              </a:ext>
            </a:extLst>
          </p:cNvPr>
          <p:cNvSpPr/>
          <p:nvPr/>
        </p:nvSpPr>
        <p:spPr>
          <a:xfrm>
            <a:off x="5196655"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explored set"/>
          <p:cNvSpPr txBox="1"/>
          <p:nvPr/>
        </p:nvSpPr>
        <p:spPr>
          <a:xfrm>
            <a:off x="5361247" y="2592324"/>
            <a:ext cx="130876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explored set</a:t>
            </a:r>
          </a:p>
        </p:txBody>
      </p:sp>
      <p:sp>
        <p:nvSpPr>
          <p:cNvPr id="37" name="!!term-deque">
            <a:extLst>
              <a:ext uri="{C183D7F6-B498-43B3-948B-1728B52AA6E4}">
                <adec:decorative xmlns:adec="http://schemas.microsoft.com/office/drawing/2017/decorative" val="1"/>
              </a:ext>
            </a:extLst>
          </p:cNvPr>
          <p:cNvSpPr/>
          <p:nvPr/>
        </p:nvSpPr>
        <p:spPr>
          <a:xfrm>
            <a:off x="6706587" y="2468880"/>
            <a:ext cx="98103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deque">
            <a:extLst>
              <a:ext uri="{C183D7F6-B498-43B3-948B-1728B52AA6E4}">
                <adec:decorative xmlns:adec="http://schemas.microsoft.com/office/drawing/2017/decorative" val="1"/>
              </a:ext>
            </a:extLst>
          </p:cNvPr>
          <p:cNvSpPr/>
          <p:nvPr/>
        </p:nvSpPr>
        <p:spPr>
          <a:xfrm>
            <a:off x="683460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deque"/>
          <p:cNvSpPr txBox="1"/>
          <p:nvPr/>
        </p:nvSpPr>
        <p:spPr>
          <a:xfrm>
            <a:off x="6999195" y="2592324"/>
            <a:ext cx="79815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deque</a:t>
            </a:r>
          </a:p>
        </p:txBody>
      </p:sp>
      <p:sp>
        <p:nvSpPr>
          <p:cNvPr id="40" name="!!term-heapq">
            <a:extLst>
              <a:ext uri="{C183D7F6-B498-43B3-948B-1728B52AA6E4}">
                <adec:decorative xmlns:adec="http://schemas.microsoft.com/office/drawing/2017/decorative" val="1"/>
              </a:ext>
            </a:extLst>
          </p:cNvPr>
          <p:cNvSpPr/>
          <p:nvPr/>
        </p:nvSpPr>
        <p:spPr>
          <a:xfrm>
            <a:off x="7833928" y="2468880"/>
            <a:ext cx="97812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heapq">
            <a:extLst>
              <a:ext uri="{C183D7F6-B498-43B3-948B-1728B52AA6E4}">
                <adec:decorative xmlns:adec="http://schemas.microsoft.com/office/drawing/2017/decorative" val="1"/>
              </a:ext>
            </a:extLst>
          </p:cNvPr>
          <p:cNvSpPr/>
          <p:nvPr/>
        </p:nvSpPr>
        <p:spPr>
          <a:xfrm>
            <a:off x="796194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heapq"/>
          <p:cNvSpPr txBox="1"/>
          <p:nvPr/>
        </p:nvSpPr>
        <p:spPr>
          <a:xfrm>
            <a:off x="8126536" y="2592324"/>
            <a:ext cx="79524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heapq</a:t>
            </a:r>
          </a:p>
        </p:txBody>
      </p:sp>
      <p:sp>
        <p:nvSpPr>
          <p:cNvPr id="43" name="!!term-priority queue">
            <a:extLst>
              <a:ext uri="{C183D7F6-B498-43B3-948B-1728B52AA6E4}">
                <adec:decorative xmlns:adec="http://schemas.microsoft.com/office/drawing/2017/decorative" val="1"/>
              </a:ext>
            </a:extLst>
          </p:cNvPr>
          <p:cNvSpPr/>
          <p:nvPr/>
        </p:nvSpPr>
        <p:spPr>
          <a:xfrm>
            <a:off x="8958355" y="2468880"/>
            <a:ext cx="164713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priority queue">
            <a:extLst>
              <a:ext uri="{C183D7F6-B498-43B3-948B-1728B52AA6E4}">
                <adec:decorative xmlns:adec="http://schemas.microsoft.com/office/drawing/2017/decorative" val="1"/>
              </a:ext>
            </a:extLst>
          </p:cNvPr>
          <p:cNvSpPr/>
          <p:nvPr/>
        </p:nvSpPr>
        <p:spPr>
          <a:xfrm>
            <a:off x="9086371"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priority queue"/>
          <p:cNvSpPr txBox="1"/>
          <p:nvPr/>
        </p:nvSpPr>
        <p:spPr>
          <a:xfrm>
            <a:off x="9250963" y="2592324"/>
            <a:ext cx="146425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priority queue</a:t>
            </a:r>
          </a:p>
        </p:txBody>
      </p:sp>
      <p:sp>
        <p:nvSpPr>
          <p:cNvPr id="46" name="!!term-adjacency dict">
            <a:extLst>
              <a:ext uri="{C183D7F6-B498-43B3-948B-1728B52AA6E4}">
                <adec:decorative xmlns:adec="http://schemas.microsoft.com/office/drawing/2017/decorative" val="1"/>
              </a:ext>
            </a:extLst>
          </p:cNvPr>
          <p:cNvSpPr/>
          <p:nvPr/>
        </p:nvSpPr>
        <p:spPr>
          <a:xfrm>
            <a:off x="658368" y="3090672"/>
            <a:ext cx="218529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adjacency dict">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adjacency dict"/>
          <p:cNvSpPr txBox="1"/>
          <p:nvPr/>
        </p:nvSpPr>
        <p:spPr>
          <a:xfrm>
            <a:off x="950976" y="3214116"/>
            <a:ext cx="200241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adjacency dictionary</a:t>
            </a:r>
          </a:p>
        </p:txBody>
      </p:sp>
      <p:sp>
        <p:nvSpPr>
          <p:cNvPr id="49" name="!!term-generator">
            <a:extLst>
              <a:ext uri="{C183D7F6-B498-43B3-948B-1728B52AA6E4}">
                <adec:decorative xmlns:adec="http://schemas.microsoft.com/office/drawing/2017/decorative" val="1"/>
              </a:ext>
            </a:extLst>
          </p:cNvPr>
          <p:cNvSpPr/>
          <p:nvPr/>
        </p:nvSpPr>
        <p:spPr>
          <a:xfrm>
            <a:off x="2989969" y="3090672"/>
            <a:ext cx="128044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rmd-generator">
            <a:extLst>
              <a:ext uri="{C183D7F6-B498-43B3-948B-1728B52AA6E4}">
                <adec:decorative xmlns:adec="http://schemas.microsoft.com/office/drawing/2017/decorative" val="1"/>
              </a:ext>
            </a:extLst>
          </p:cNvPr>
          <p:cNvSpPr/>
          <p:nvPr/>
        </p:nvSpPr>
        <p:spPr>
          <a:xfrm>
            <a:off x="3117985"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rmt-generator"/>
          <p:cNvSpPr txBox="1"/>
          <p:nvPr/>
        </p:nvSpPr>
        <p:spPr>
          <a:xfrm>
            <a:off x="3282577" y="3214116"/>
            <a:ext cx="109756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generator</a:t>
            </a:r>
          </a:p>
        </p:txBody>
      </p:sp>
      <p:sp>
        <p:nvSpPr>
          <p:cNvPr id="52" name="!!term-memoisation">
            <a:extLst>
              <a:ext uri="{C183D7F6-B498-43B3-948B-1728B52AA6E4}">
                <adec:decorative xmlns:adec="http://schemas.microsoft.com/office/drawing/2017/decorative" val="1"/>
              </a:ext>
            </a:extLst>
          </p:cNvPr>
          <p:cNvSpPr/>
          <p:nvPr/>
        </p:nvSpPr>
        <p:spPr>
          <a:xfrm>
            <a:off x="4416717" y="3090672"/>
            <a:ext cx="155405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termd-memoisation">
            <a:extLst>
              <a:ext uri="{C183D7F6-B498-43B3-948B-1728B52AA6E4}">
                <adec:decorative xmlns:adec="http://schemas.microsoft.com/office/drawing/2017/decorative" val="1"/>
              </a:ext>
            </a:extLst>
          </p:cNvPr>
          <p:cNvSpPr/>
          <p:nvPr/>
        </p:nvSpPr>
        <p:spPr>
          <a:xfrm>
            <a:off x="4544733"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termt-memoisation"/>
          <p:cNvSpPr txBox="1"/>
          <p:nvPr/>
        </p:nvSpPr>
        <p:spPr>
          <a:xfrm>
            <a:off x="4709325" y="3214116"/>
            <a:ext cx="137117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memoisation</a:t>
            </a:r>
          </a:p>
        </p:txBody>
      </p:sp>
      <p:sp>
        <p:nvSpPr>
          <p:cNvPr id="55" name="!!term-lru_cache">
            <a:extLst>
              <a:ext uri="{C183D7F6-B498-43B3-948B-1728B52AA6E4}">
                <adec:decorative xmlns:adec="http://schemas.microsoft.com/office/drawing/2017/decorative" val="1"/>
              </a:ext>
            </a:extLst>
          </p:cNvPr>
          <p:cNvSpPr/>
          <p:nvPr/>
        </p:nvSpPr>
        <p:spPr>
          <a:xfrm>
            <a:off x="6117078" y="3090672"/>
            <a:ext cx="123422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termd-lru_cache">
            <a:extLst>
              <a:ext uri="{C183D7F6-B498-43B3-948B-1728B52AA6E4}">
                <adec:decorative xmlns:adec="http://schemas.microsoft.com/office/drawing/2017/decorative" val="1"/>
              </a:ext>
            </a:extLst>
          </p:cNvPr>
          <p:cNvSpPr/>
          <p:nvPr/>
        </p:nvSpPr>
        <p:spPr>
          <a:xfrm>
            <a:off x="624509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7" name="!!termt-lru_cache"/>
          <p:cNvSpPr txBox="1"/>
          <p:nvPr/>
        </p:nvSpPr>
        <p:spPr>
          <a:xfrm>
            <a:off x="6409686" y="3214116"/>
            <a:ext cx="105134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lru_cache</a:t>
            </a:r>
          </a:p>
        </p:txBody>
      </p:sp>
      <p:sp>
        <p:nvSpPr>
          <p:cNvPr id="58" name="!!termnote"/>
          <p:cNvSpPr txBox="1"/>
          <p:nvPr/>
        </p:nvSpPr>
        <p:spPr>
          <a:xfrm>
            <a:off x="658368" y="3913632"/>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93782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3  ·  Representations and Search in Python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22–33     </a:t>
            </a:r>
            <a:fld id="{F2455C0B-83A6-42D3-BC46-CA83158D1A46}" type="slidenum">
              <a:rPr lang="en-GB" sz="1000">
                <a:solidFill>
                  <a:srgbClr val="8795A1"/>
                </a:solidFill>
                <a:latin typeface="Segoe UI"/>
              </a:rPr>
              <a:t>5</a:t>
            </a:fld>
          </a:p>
        </p:txBody>
      </p:sp>
      <p:sp>
        <p:nvSpPr>
          <p:cNvPr id="7" name="!!ag0" descr="Go to section 3.1 Why This Chapter Exists">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3.1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Why This Chapter Exists</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22  ›</a:t>
            </a:r>
          </a:p>
        </p:txBody>
      </p:sp>
      <p:sp>
        <p:nvSpPr>
          <p:cNvPr id="12" name="!!ag1" descr="Go to section 3.2 A State Is a Value">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3.2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A State Is a Value</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23  ›</a:t>
            </a:r>
          </a:p>
        </p:txBody>
      </p:sp>
      <p:sp>
        <p:nvSpPr>
          <p:cNvPr id="17" name="!!ag2" descr="Go to section 3.3 The Problem Interface">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3.3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Problem Interface</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23  ›</a:t>
            </a:r>
          </a:p>
        </p:txBody>
      </p:sp>
      <p:sp>
        <p:nvSpPr>
          <p:cNvPr id="22" name="!!ag3" descr="Go to section 3.4 Frontiers: Three Structures, Three Strategies">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3.4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Frontiers: Three Structures, Three Strategies</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24  ›</a:t>
            </a:r>
          </a:p>
        </p:txBody>
      </p:sp>
      <p:sp>
        <p:nvSpPr>
          <p:cNvPr id="27" name="!!ag4" descr="Go to section 3.5 Representing the Project">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3.5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Representing the Project</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25  ›</a:t>
            </a:r>
          </a:p>
        </p:txBody>
      </p:sp>
      <p:sp>
        <p:nvSpPr>
          <p:cNvPr id="32" name="!!ag5" descr="Go to section 3.6 Generators and Memoisation">
            <a:hlinkClick action="ppaction://hlinksldjump" r:id="rId10"/>
          </p:cNvPr>
          <p:cNvSpPr/>
          <p:nvPr/>
        </p:nvSpPr>
        <p:spPr>
          <a:xfrm>
            <a:off x="658368" y="49743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agb5">
            <a:extLst>
              <a:ext uri="{C183D7F6-B498-43B3-948B-1728B52AA6E4}">
                <adec:decorative xmlns:adec="http://schemas.microsoft.com/office/drawing/2017/decorative" val="1"/>
              </a:ext>
            </a:extLst>
          </p:cNvPr>
          <p:cNvSpPr/>
          <p:nvPr/>
        </p:nvSpPr>
        <p:spPr>
          <a:xfrm>
            <a:off x="658368" y="497433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agn5"/>
          <p:cNvSpPr txBox="1"/>
          <p:nvPr/>
        </p:nvSpPr>
        <p:spPr>
          <a:xfrm>
            <a:off x="932688" y="51206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3.6</a:t>
            </a:r>
          </a:p>
        </p:txBody>
      </p:sp>
      <p:sp>
        <p:nvSpPr>
          <p:cNvPr id="35" name="!!agt5"/>
          <p:cNvSpPr txBox="1"/>
          <p:nvPr/>
        </p:nvSpPr>
        <p:spPr>
          <a:xfrm>
            <a:off x="1847088" y="51206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Generators and Memoisation</a:t>
            </a:r>
          </a:p>
        </p:txBody>
      </p:sp>
      <p:sp>
        <p:nvSpPr>
          <p:cNvPr id="36" name="!!agp5"/>
          <p:cNvSpPr txBox="1"/>
          <p:nvPr/>
        </p:nvSpPr>
        <p:spPr>
          <a:xfrm>
            <a:off x="9795967" y="51480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25  ›</a:t>
            </a:r>
          </a:p>
        </p:txBody>
      </p:sp>
      <p:sp>
        <p:nvSpPr>
          <p:cNvPr id="3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pfill">
            <a:extLst>
              <a:ext uri="{C183D7F6-B498-43B3-948B-1728B52AA6E4}">
                <adec:decorative xmlns:adec="http://schemas.microsoft.com/office/drawing/2017/decorative" val="1"/>
              </a:ext>
            </a:extLst>
          </p:cNvPr>
          <p:cNvSpPr/>
          <p:nvPr/>
        </p:nvSpPr>
        <p:spPr>
          <a:xfrm>
            <a:off x="0" y="0"/>
            <a:ext cx="117227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This Chapter Exists</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3  ·  Representations and Search in Python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§3.1  ·  Handout p. 22     </a:t>
            </a:r>
            <a:fld id="{7000B1ED-1931-4FD0-A50D-8C50275E11E3}" type="slidenum">
              <a:rPr lang="en-GB" sz="1000">
                <a:solidFill>
                  <a:srgbClr val="8795A1"/>
                </a:solidFill>
                <a:latin typeface="Segoe UI"/>
              </a:rPr>
              <a:t>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809036"/>
          </a:xfrm>
          <a:prstGeom prst="roundRect">
            <a:avLst>
              <a:gd name="adj" fmla="val 3255"/>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809036"/>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23296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Here is the judgement to take away, before the details. </a:t>
            </a:r>
            <a:r>
              <a:rPr sz="2300" b="0" i="1">
                <a:solidFill>
                  <a:srgbClr val="1C252B"/>
                </a:solidFill>
                <a:latin typeface="Segoe UI"/>
              </a:rPr>
              <a:t>A state is a value, not an object.</a:t>
            </a:r>
            <a:r>
              <a:rPr sz="2300" b="0" i="0">
                <a:solidFill>
                  <a:srgbClr val="1C252B"/>
                </a:solidFill>
                <a:latin typeface="Segoe UI"/>
              </a:rPr>
              <a:t> Two states that describe the same situation must be equal and must hash the same, whether or not they are the same object in memory. If you find yourself writing </a:t>
            </a:r>
            <a:r>
              <a:rPr sz="2150" b="0" i="0">
                <a:solidFill>
                  <a:srgbClr val="1F4E79"/>
                </a:solidFill>
                <a:latin typeface="Consolas"/>
              </a:rPr>
              <a:t>if state1.tasks == state2.tasks and state1.hours == state2.hours</a:t>
            </a:r>
            <a:r>
              <a:rPr sz="2300" b="0" i="0">
                <a:solidFill>
                  <a:srgbClr val="1C252B"/>
                </a:solidFill>
                <a:latin typeface="Segoe UI"/>
              </a:rPr>
              <a:t>, you have already lost: the language will do that for you, correctly and once, if the state is a tuple or a </a:t>
            </a:r>
            <a:r>
              <a:rPr sz="2150" b="0" i="0">
                <a:solidFill>
                  <a:srgbClr val="1F4E79"/>
                </a:solidFill>
                <a:latin typeface="Consolas"/>
              </a:rPr>
              <a:t>frozenset</a:t>
            </a:r>
            <a:r>
              <a:rPr sz="2300" b="0" i="0">
                <a:solidFill>
                  <a:srgbClr val="1C252B"/>
                </a:solidFill>
                <a:latin typeface="Segoe UI"/>
              </a:rPr>
              <a: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140673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A State Is a Value</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2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3.2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3.1   Why This Chapter Exists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3.2   A State Is a Value</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3.3   The Problem Interface</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3.4   Frontiers: Three Structures, Three Strategies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3.5   Representing the Project</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3.6   Generators and Memoisation</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3</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§3.2     </a:t>
            </a:r>
            <a:fld id="{CEE94DBB-F743-4E2D-9567-35F4EADDC4B3}" type="slidenum">
              <a:rPr lang="en-GB" sz="1000">
                <a:solidFill>
                  <a:srgbClr val="8795A1"/>
                </a:solidFill>
                <a:latin typeface="Segoe UI"/>
              </a:rPr>
              <a:t>7</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164118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Three reasons a mutable state object breaks search</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3  ·  Representations and Search in Python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§3.2  ·  Handout p. 23     </a:t>
            </a:r>
            <a:fld id="{BEC672B8-B06E-4596-8294-DBA8F49E12FF}"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802126"/>
          </a:xfrm>
          <a:prstGeom prst="roundRect">
            <a:avLst>
              <a:gd name="adj" fmla="val 2404"/>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802126"/>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3226053"/>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A93226"/>
                </a:solidFill>
                <a:latin typeface="Segoe UI"/>
              </a:rPr>
              <a:t>•	</a:t>
            </a:r>
            <a:r>
              <a:rPr sz="1900" b="1" i="0">
                <a:solidFill>
                  <a:srgbClr val="A93226"/>
                </a:solidFill>
                <a:latin typeface="Segoe UI"/>
              </a:rPr>
              <a:t>You cannot put it in a set.</a:t>
            </a:r>
            <a:r>
              <a:rPr sz="1900" b="0" i="0">
                <a:solidFill>
                  <a:srgbClr val="1C252B"/>
                </a:solidFill>
                <a:latin typeface="Segoe UI"/>
              </a:rPr>
              <a:t> Search must ask “have I seen this state before?” millions of times. That question is a set membership test, and Python can only put hashable objects in a set. A class with mutable attributes is hashable only by identity, so two identical situations look different and the search explores the same state again and again — usually forever.</a:t>
            </a:r>
          </a:p>
          <a:p>
            <a:pPr algn="l" marL="212450" indent="-212450">
              <a:lnSpc>
                <a:spcPct val="104000"/>
              </a:lnSpc>
              <a:spcBef>
                <a:spcPts val="0"/>
              </a:spcBef>
              <a:spcAft>
                <a:spcPts val="665"/>
              </a:spcAft>
            </a:pPr>
            <a:r>
              <a:rPr sz="1900" b="1">
                <a:solidFill>
                  <a:srgbClr val="A93226"/>
                </a:solidFill>
                <a:latin typeface="Segoe UI"/>
              </a:rPr>
              <a:t>•	</a:t>
            </a:r>
            <a:r>
              <a:rPr sz="1900" b="1" i="0">
                <a:solidFill>
                  <a:srgbClr val="A93226"/>
                </a:solidFill>
                <a:latin typeface="Segoe UI"/>
              </a:rPr>
              <a:t>Mutation corrupts the frontier.</a:t>
            </a:r>
            <a:r>
              <a:rPr sz="1900" b="0" i="0">
                <a:solidFill>
                  <a:srgbClr val="1C252B"/>
                </a:solidFill>
                <a:latin typeface="Segoe UI"/>
              </a:rPr>
              <a:t> If a successor is produced by changing the parent in place, every node already sitting in the frontier that shares that object silently changes too. The bug appears as a search that returns a path that does not work when executed.</a:t>
            </a:r>
          </a:p>
          <a:p>
            <a:pPr algn="l" marL="212450" indent="-212450">
              <a:lnSpc>
                <a:spcPct val="104000"/>
              </a:lnSpc>
              <a:spcBef>
                <a:spcPts val="0"/>
              </a:spcBef>
              <a:spcAft>
                <a:spcPts val="0"/>
              </a:spcAft>
            </a:pPr>
            <a:r>
              <a:rPr sz="1900" b="1">
                <a:solidFill>
                  <a:srgbClr val="A93226"/>
                </a:solidFill>
                <a:latin typeface="Segoe UI"/>
              </a:rPr>
              <a:t>•	</a:t>
            </a:r>
            <a:r>
              <a:rPr sz="1900" b="1" i="0">
                <a:solidFill>
                  <a:srgbClr val="A93226"/>
                </a:solidFill>
                <a:latin typeface="Segoe UI"/>
              </a:rPr>
              <a:t>You cannot reconstruct the path.</a:t>
            </a:r>
            <a:r>
              <a:rPr sz="1900" b="0" i="0">
                <a:solidFill>
                  <a:srgbClr val="1C252B"/>
                </a:solidFill>
                <a:latin typeface="Segoe UI"/>
              </a:rPr>
              <a:t> Solutions are recovered by walking parent pointers back to the root. If the states were mutated on the way down, the ancestors no longer hold the values they had.</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187564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8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8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8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Three state representations, and the situation each one is for</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3.1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3  ·  Representations and Search in Python</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§3.2  ·  Handout p. 23     </a:t>
            </a:r>
            <a:fld id="{FC877E0D-F95C-4A87-8934-BD93E60D83B5}" type="slidenum">
              <a:rPr lang="en-GB" sz="1000">
                <a:solidFill>
                  <a:srgbClr val="8795A1"/>
                </a:solidFill>
                <a:latin typeface="Segoe UI"/>
              </a:rPr>
              <a:t>9</a:t>
            </a:fld>
          </a:p>
        </p:txBody>
      </p:sp>
      <p:pic>
        <p:nvPicPr>
          <p:cNvPr id="6" name="!!figure" descr="Figure 3.1. Three state representations, and the situation each one is for. All three are immutable and hashable; that is the property the algorithms depend on."/>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72639" y="1737360"/>
            <a:ext cx="10246416" cy="4009948"/>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930188"/>
            <a:ext cx="54864" cy="306019"/>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911900"/>
            <a:ext cx="10600639" cy="48889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All three are immutable and hashable; that is the property the algorithms depend on.</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11010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Problem Interface</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3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3.3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3.1   Why This Chapter Exists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3.2   A State Is a Value</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3.3   The Problem Interface</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3.4   Frontiers: Three Structures, Three Strategies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3.5   Representing the Project</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3.6   Generators and Memoisation</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3</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§3.3     </a:t>
            </a:r>
            <a:fld id="{7E5EB739-1B5A-409B-A726-8868F10F56C6}" type="slidenum">
              <a:rPr lang="en-GB" sz="1000">
                <a:solidFill>
                  <a:srgbClr val="8795A1"/>
                </a:solidFill>
                <a:latin typeface="Segoe UI"/>
              </a:rPr>
              <a:t>10</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234455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 search problem</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3  ·  Representations and Search in Python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§3.3  ·  Handout p. 23     </a:t>
            </a:r>
            <a:fld id="{A561A325-08BB-4018-8D1F-DE3D2ADEDBBD}"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26712"/>
          </a:xfrm>
          <a:prstGeom prst="roundRect">
            <a:avLst>
              <a:gd name="adj" fmla="val 2065"/>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26712"/>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362712"/>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A search problem is a five-tuple:</a:t>
            </a:r>
          </a:p>
        </p:txBody>
      </p:sp>
      <p:sp>
        <p:nvSpPr>
          <p:cNvPr id="10" name="body-1"/>
          <p:cNvSpPr txBox="1"/>
          <p:nvPr/>
        </p:nvSpPr>
        <p:spPr>
          <a:xfrm>
            <a:off x="1060704" y="2504947"/>
            <a:ext cx="10161727" cy="2620264"/>
          </a:xfrm>
          <a:prstGeom prst="rect">
            <a:avLst/>
          </a:prstGeom>
          <a:noFill/>
        </p:spPr>
        <p:txBody>
          <a:bodyPr wrap="square" anchor="t" lIns="0" rIns="0" tIns="0" bIns="0">
            <a:noAutofit/>
          </a:bodyPr>
          <a:lstStyle/>
          <a:p>
            <a:pPr algn="l" marL="223631" indent="-223631">
              <a:lnSpc>
                <a:spcPct val="104000"/>
              </a:lnSpc>
              <a:spcBef>
                <a:spcPts val="0"/>
              </a:spcBef>
              <a:spcAft>
                <a:spcPts val="700"/>
              </a:spcAft>
            </a:pPr>
            <a:r>
              <a:rPr sz="2000" b="1">
                <a:solidFill>
                  <a:srgbClr val="8A4500"/>
                </a:solidFill>
                <a:latin typeface="Segoe UI"/>
              </a:rPr>
              <a:t>•	</a:t>
            </a:r>
            <a:r>
              <a:rPr sz="2000" b="0" i="0">
                <a:solidFill>
                  <a:srgbClr val="1C252B"/>
                </a:solidFill>
                <a:latin typeface="Segoe UI"/>
              </a:rPr>
              <a:t>an </a:t>
            </a:r>
            <a:r>
              <a:rPr sz="2000" b="1" i="0">
                <a:solidFill>
                  <a:srgbClr val="1A5276"/>
                </a:solidFill>
                <a:latin typeface="Segoe UI"/>
              </a:rPr>
              <a:t>initial state</a:t>
            </a:r>
            <a:r>
              <a:rPr sz="2000" b="0" i="0">
                <a:solidFill>
                  <a:srgbClr val="1C252B"/>
                </a:solidFill>
                <a:latin typeface="Segoe UI"/>
              </a:rPr>
              <a:t>;</a:t>
            </a:r>
          </a:p>
          <a:p>
            <a:pPr algn="l" marL="223631" indent="-223631">
              <a:lnSpc>
                <a:spcPct val="104000"/>
              </a:lnSpc>
              <a:spcBef>
                <a:spcPts val="0"/>
              </a:spcBef>
              <a:spcAft>
                <a:spcPts val="700"/>
              </a:spcAft>
            </a:pPr>
            <a:r>
              <a:rPr sz="2000" b="1">
                <a:solidFill>
                  <a:srgbClr val="8A4500"/>
                </a:solidFill>
                <a:latin typeface="Segoe UI"/>
              </a:rPr>
              <a:t>•	</a:t>
            </a:r>
            <a:r>
              <a:rPr sz="2000" b="0" i="0">
                <a:solidFill>
                  <a:srgbClr val="1C252B"/>
                </a:solidFill>
                <a:latin typeface="Segoe UI"/>
              </a:rPr>
              <a:t>a </a:t>
            </a:r>
            <a:r>
              <a:rPr sz="2000" b="1" i="0">
                <a:solidFill>
                  <a:srgbClr val="1A5276"/>
                </a:solidFill>
                <a:latin typeface="Segoe UI"/>
              </a:rPr>
              <a:t>goal test</a:t>
            </a:r>
            <a:r>
              <a:rPr sz="2000" b="0" i="0">
                <a:solidFill>
                  <a:srgbClr val="1C252B"/>
                </a:solidFill>
                <a:latin typeface="Segoe UI"/>
              </a:rPr>
              <a:t>, a predicate on states — not necessarily a single goal state, because “every component deployed” describes many states;</a:t>
            </a:r>
          </a:p>
          <a:p>
            <a:pPr algn="l" marL="223631" indent="-223631">
              <a:lnSpc>
                <a:spcPct val="104000"/>
              </a:lnSpc>
              <a:spcBef>
                <a:spcPts val="0"/>
              </a:spcBef>
              <a:spcAft>
                <a:spcPts val="700"/>
              </a:spcAft>
            </a:pPr>
            <a:r>
              <a:rPr sz="2000" b="1">
                <a:solidFill>
                  <a:srgbClr val="8A4500"/>
                </a:solidFill>
                <a:latin typeface="Segoe UI"/>
              </a:rPr>
              <a:t>•	</a:t>
            </a:r>
            <a:r>
              <a:rPr sz="2000" b="0" i="0">
                <a:solidFill>
                  <a:srgbClr val="1C252B"/>
                </a:solidFill>
                <a:latin typeface="Segoe UI"/>
              </a:rPr>
              <a:t>an </a:t>
            </a:r>
            <a:r>
              <a:rPr sz="2000" b="1" i="0">
                <a:solidFill>
                  <a:srgbClr val="1A5276"/>
                </a:solidFill>
                <a:latin typeface="Segoe UI"/>
              </a:rPr>
              <a:t>actions</a:t>
            </a:r>
            <a:r>
              <a:rPr sz="2000" b="0" i="0">
                <a:solidFill>
                  <a:srgbClr val="1C252B"/>
                </a:solidFill>
                <a:latin typeface="Segoe UI"/>
              </a:rPr>
              <a:t> function giving the actions legal in a state;</a:t>
            </a:r>
          </a:p>
          <a:p>
            <a:pPr algn="l" marL="223631" indent="-223631">
              <a:lnSpc>
                <a:spcPct val="104000"/>
              </a:lnSpc>
              <a:spcBef>
                <a:spcPts val="0"/>
              </a:spcBef>
              <a:spcAft>
                <a:spcPts val="700"/>
              </a:spcAft>
            </a:pPr>
            <a:r>
              <a:rPr sz="2000" b="1">
                <a:solidFill>
                  <a:srgbClr val="8A4500"/>
                </a:solidFill>
                <a:latin typeface="Segoe UI"/>
              </a:rPr>
              <a:t>•	</a:t>
            </a:r>
            <a:r>
              <a:rPr sz="2000" b="0" i="0">
                <a:solidFill>
                  <a:srgbClr val="1C252B"/>
                </a:solidFill>
                <a:latin typeface="Segoe UI"/>
              </a:rPr>
              <a:t>a </a:t>
            </a:r>
            <a:r>
              <a:rPr sz="2000" b="1" i="0">
                <a:solidFill>
                  <a:srgbClr val="1A5276"/>
                </a:solidFill>
                <a:latin typeface="Segoe UI"/>
              </a:rPr>
              <a:t>result</a:t>
            </a:r>
            <a:r>
              <a:rPr sz="2000" b="0" i="0">
                <a:solidFill>
                  <a:srgbClr val="1C252B"/>
                </a:solidFill>
                <a:latin typeface="Segoe UI"/>
              </a:rPr>
              <a:t> function giving the state that follows from applying an action — the </a:t>
            </a:r>
            <a:r>
              <a:rPr sz="2000" b="1" i="0">
                <a:solidFill>
                  <a:srgbClr val="1A5276"/>
                </a:solidFill>
                <a:latin typeface="Segoe UI"/>
              </a:rPr>
              <a:t>successor function</a:t>
            </a:r>
            <a:r>
              <a:rPr sz="2000" b="0" i="0">
                <a:solidFill>
                  <a:srgbClr val="1C252B"/>
                </a:solidFill>
                <a:latin typeface="Segoe UI"/>
              </a:rPr>
              <a:t>, and the only place the rules of the domain live;</a:t>
            </a:r>
          </a:p>
          <a:p>
            <a:pPr algn="l" marL="223631" indent="-223631">
              <a:lnSpc>
                <a:spcPct val="104000"/>
              </a:lnSpc>
              <a:spcBef>
                <a:spcPts val="0"/>
              </a:spcBef>
              <a:spcAft>
                <a:spcPts val="0"/>
              </a:spcAft>
            </a:pPr>
            <a:r>
              <a:rPr sz="2000" b="1">
                <a:solidFill>
                  <a:srgbClr val="8A4500"/>
                </a:solidFill>
                <a:latin typeface="Segoe UI"/>
              </a:rPr>
              <a:t>•	</a:t>
            </a:r>
            <a:r>
              <a:rPr sz="2000" b="0" i="0">
                <a:solidFill>
                  <a:srgbClr val="1C252B"/>
                </a:solidFill>
                <a:latin typeface="Segoe UI"/>
              </a:rPr>
              <a:t>a </a:t>
            </a:r>
            <a:r>
              <a:rPr sz="2000" b="1" i="0">
                <a:solidFill>
                  <a:srgbClr val="1A5276"/>
                </a:solidFill>
                <a:latin typeface="Segoe UI"/>
              </a:rPr>
              <a:t>step cost</a:t>
            </a:r>
            <a:r>
              <a:rPr sz="2000" b="0" i="0">
                <a:solidFill>
                  <a:srgbClr val="1C252B"/>
                </a:solidFill>
                <a:latin typeface="Segoe UI"/>
              </a:rPr>
              <a:t> for taking an action in a state.</a:t>
            </a:r>
          </a:p>
        </p:txBody>
      </p:sp>
      <p:sp>
        <p:nvSpPr>
          <p:cNvPr id="11" name="body-2"/>
          <p:cNvSpPr txBox="1"/>
          <p:nvPr/>
        </p:nvSpPr>
        <p:spPr>
          <a:xfrm>
            <a:off x="1060704" y="5219192"/>
            <a:ext cx="10161727"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Nothing else. Notably </a:t>
            </a:r>
            <a:r>
              <a:rPr sz="2000" b="0" i="1">
                <a:solidFill>
                  <a:srgbClr val="1C252B"/>
                </a:solidFill>
                <a:latin typeface="Segoe UI"/>
              </a:rPr>
              <a:t>not</a:t>
            </a:r>
            <a:r>
              <a:rPr sz="2000" b="0" i="0">
                <a:solidFill>
                  <a:srgbClr val="1C252B"/>
                </a:solidFill>
                <a:latin typeface="Segoe UI"/>
              </a:rPr>
              <a:t> part of the problem: how to search it. That separation is the point.</a:t>
            </a:r>
          </a:p>
        </p:txBody>
      </p:sp>
      <p:sp>
        <p:nvSpPr>
          <p:cNvPr id="2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pfill">
            <a:extLst>
              <a:ext uri="{C183D7F6-B498-43B3-948B-1728B52AA6E4}">
                <adec:decorative xmlns:adec="http://schemas.microsoft.com/office/drawing/2017/decorative" val="1"/>
              </a:ext>
            </a:extLst>
          </p:cNvPr>
          <p:cNvSpPr/>
          <p:nvPr/>
        </p:nvSpPr>
        <p:spPr>
          <a:xfrm>
            <a:off x="0" y="0"/>
            <a:ext cx="257901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fade">
                                      <p:cBhvr>
                                        <p:cTn id="18" dur="380"/>
                                        <p:tgtEl>
                                          <p:spTgt spid="10">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xEl>
                                              <p:pRg st="3" end="3"/>
                                            </p:txEl>
                                          </p:spTgt>
                                        </p:tgtEl>
                                        <p:attrNameLst>
                                          <p:attrName>style.visibility</p:attrName>
                                        </p:attrNameLst>
                                      </p:cBhvr>
                                      <p:to>
                                        <p:strVal val="visible"/>
                                      </p:to>
                                    </p:set>
                                    <p:animEffect transition="in" filter="fade">
                                      <p:cBhvr>
                                        <p:cTn id="23" dur="380"/>
                                        <p:tgtEl>
                                          <p:spTgt spid="10">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0">
                                            <p:txEl>
                                              <p:pRg st="4" end="4"/>
                                            </p:txEl>
                                          </p:spTgt>
                                        </p:tgtEl>
                                        <p:attrNameLst>
                                          <p:attrName>style.visibility</p:attrName>
                                        </p:attrNameLst>
                                      </p:cBhvr>
                                      <p:to>
                                        <p:strVal val="visible"/>
                                      </p:to>
                                    </p:set>
                                    <p:animEffect transition="in" filter="fade">
                                      <p:cBhvr>
                                        <p:cTn id="28" dur="380"/>
                                        <p:tgtEl>
                                          <p:spTgt spid="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interface, once, for the whole book</a:t>
            </a:r>
          </a:p>
        </p:txBody>
      </p:sp>
      <p:pic>
        <p:nvPicPr>
          <p:cNvPr id="3" name="!!kicker-icon" descr="code-27AE6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7AE60"/>
                </a:solidFill>
                <a:latin typeface="Segoe UI"/>
              </a:rPr>
              <a:t>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3  ·  Representations and Search in Python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§3.3  ·  Handout p. 23     </a:t>
            </a:r>
            <a:fld id="{85D26406-5606-453E-BB41-43B73A155317}" type="slidenum">
              <a:rPr lang="en-GB" sz="1000">
                <a:solidFill>
                  <a:srgbClr val="8795A1"/>
                </a:solidFill>
                <a:latin typeface="Segoe UI"/>
              </a:rPr>
              <a:t>12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797551"/>
          </a:xfrm>
          <a:prstGeom prst="roundRect">
            <a:avLst>
              <a:gd name="adj" fmla="val 1905"/>
            </a:avLst>
          </a:prstGeom>
          <a:solidFill>
            <a:srgbClr val="EAF7EF"/>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797551"/>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bg">
            <a:extLst>
              <a:ext uri="{C183D7F6-B498-43B3-948B-1728B52AA6E4}">
                <adec:decorative xmlns:adec="http://schemas.microsoft.com/office/drawing/2017/decorative" val="1"/>
              </a:ext>
            </a:extLst>
          </p:cNvPr>
          <p:cNvSpPr/>
          <p:nvPr/>
        </p:nvSpPr>
        <p:spPr>
          <a:xfrm>
            <a:off x="1060704" y="2048255"/>
            <a:ext cx="10161727" cy="4175760"/>
          </a:xfrm>
          <a:prstGeom prst="roundRect">
            <a:avLst>
              <a:gd name="adj" fmla="val 2189"/>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body-0-sep">
            <a:extLst>
              <a:ext uri="{C183D7F6-B498-43B3-948B-1728B52AA6E4}">
                <adec:decorative xmlns:adec="http://schemas.microsoft.com/office/drawing/2017/decorative" val="1"/>
              </a:ext>
            </a:extLst>
          </p:cNvPr>
          <p:cNvSpPr/>
          <p:nvPr/>
        </p:nvSpPr>
        <p:spPr>
          <a:xfrm>
            <a:off x="1078992" y="2368296"/>
            <a:ext cx="10125151"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body-0-dot0">
            <a:extLst>
              <a:ext uri="{C183D7F6-B498-43B3-948B-1728B52AA6E4}">
                <adec:decorative xmlns:adec="http://schemas.microsoft.com/office/drawing/2017/decorative" val="1"/>
              </a:ext>
            </a:extLst>
          </p:cNvPr>
          <p:cNvSpPr/>
          <p:nvPr/>
        </p:nvSpPr>
        <p:spPr>
          <a:xfrm>
            <a:off x="1261872" y="2162556"/>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body-0-dot1">
            <a:extLst>
              <a:ext uri="{C183D7F6-B498-43B3-948B-1728B52AA6E4}">
                <adec:decorative xmlns:adec="http://schemas.microsoft.com/office/drawing/2017/decorative" val="1"/>
              </a:ext>
            </a:extLst>
          </p:cNvPr>
          <p:cNvSpPr/>
          <p:nvPr/>
        </p:nvSpPr>
        <p:spPr>
          <a:xfrm>
            <a:off x="1444752" y="2162556"/>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body-0-dot2">
            <a:extLst>
              <a:ext uri="{C183D7F6-B498-43B3-948B-1728B52AA6E4}">
                <adec:decorative xmlns:adec="http://schemas.microsoft.com/office/drawing/2017/decorative" val="1"/>
              </a:ext>
            </a:extLst>
          </p:cNvPr>
          <p:cNvSpPr/>
          <p:nvPr/>
        </p:nvSpPr>
        <p:spPr>
          <a:xfrm>
            <a:off x="1627632" y="2162556"/>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body-0-label"/>
          <p:cNvSpPr txBox="1"/>
          <p:nvPr/>
        </p:nvSpPr>
        <p:spPr>
          <a:xfrm>
            <a:off x="1929384" y="2112263"/>
            <a:ext cx="9064447"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5" name="!!body-0-text" descr="class Problem: &quot;&quot;&quot;What every search algorithm in Chapters 4-9 is given.&quot;&quot;&quot; def __init__(self, initial, goal=None): self.initial, self.goal = initial, goal def actions(self, state): # -&gt; iterable of actions raise NotImplementedError def result(self, state, action): # -&gt; new state (never mutated) raise NotImplementedError def goal_test(self, state): return state == self.goal def step_cost(self, state, action, nxt): return 1 # override for weighted problems"/>
          <p:cNvSpPr txBox="1"/>
          <p:nvPr/>
        </p:nvSpPr>
        <p:spPr>
          <a:xfrm>
            <a:off x="1764792" y="2487168"/>
            <a:ext cx="9274759" cy="3681983"/>
          </a:xfrm>
          <a:prstGeom prst="rect">
            <a:avLst/>
          </a:prstGeom>
          <a:noFill/>
        </p:spPr>
        <p:txBody>
          <a:bodyPr wrap="none" anchor="t" lIns="0" rIns="0" tIns="0" bIns="0">
            <a:noAutofit/>
          </a:bodyPr>
          <a:lstStyle/>
          <a:p>
            <a:pPr>
              <a:lnSpc>
                <a:spcPct val="100000"/>
              </a:lnSpc>
              <a:spcAft>
                <a:spcPts val="0"/>
              </a:spcAft>
            </a:pPr>
            <a:r>
              <a:rPr sz="1400" i="0">
                <a:solidFill>
                  <a:srgbClr val="5DADE2"/>
                </a:solidFill>
                <a:latin typeface="Consolas"/>
              </a:rPr>
              <a:t>class</a:t>
            </a:r>
            <a:r>
              <a:rPr sz="1400" i="0">
                <a:solidFill>
                  <a:srgbClr val="E8EDF2"/>
                </a:solidFill>
                <a:latin typeface="Consolas"/>
              </a:rPr>
              <a:t> </a:t>
            </a:r>
            <a:r>
              <a:rPr sz="1400" i="0">
                <a:solidFill>
                  <a:srgbClr val="76D7C4"/>
                </a:solidFill>
                <a:latin typeface="Consolas"/>
              </a:rPr>
              <a:t>Problem</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7DCEA0"/>
                </a:solidFill>
                <a:latin typeface="Consolas"/>
              </a:rPr>
              <a:t>"""What every search algorithm in Chapters 4-9 is given."""</a:t>
            </a:r>
          </a:p>
          <a:p>
            <a:pPr>
              <a:lnSpc>
                <a:spcPct val="100000"/>
              </a:lnSpc>
              <a:spcAft>
                <a:spcPts val="0"/>
              </a:spcAft>
            </a:pPr>
            <a:r>
              <a:rPr sz="1400">
                <a:latin typeface="Consolas"/>
              </a:rPr>
              <a:t> </a:t>
            </a:r>
          </a:p>
          <a:p>
            <a:pPr>
              <a:lnSpc>
                <a:spcPct val="100000"/>
              </a:lnSpc>
              <a:spcAft>
                <a:spcPts val="0"/>
              </a:spcAft>
            </a:pPr>
            <a:r>
              <a:rPr sz="1400" i="0">
                <a:solidFill>
                  <a:srgbClr val="E8EDF2"/>
                </a:solidFill>
                <a:latin typeface="Consolas"/>
              </a:rPr>
              <a:t>    </a:t>
            </a:r>
            <a:r>
              <a:rPr sz="1400" i="0">
                <a:solidFill>
                  <a:srgbClr val="5DADE2"/>
                </a:solidFill>
                <a:latin typeface="Consolas"/>
              </a:rPr>
              <a:t>def</a:t>
            </a:r>
            <a:r>
              <a:rPr sz="1400" i="0">
                <a:solidFill>
                  <a:srgbClr val="E8EDF2"/>
                </a:solidFill>
                <a:latin typeface="Consolas"/>
              </a:rPr>
              <a:t> </a:t>
            </a:r>
            <a:r>
              <a:rPr sz="1400" i="0">
                <a:solidFill>
                  <a:srgbClr val="C39BD3"/>
                </a:solidFill>
                <a:latin typeface="Consolas"/>
              </a:rPr>
              <a:t>__init__</a:t>
            </a:r>
            <a:r>
              <a:rPr sz="1400" i="0">
                <a:solidFill>
                  <a:srgbClr val="AEB6BF"/>
                </a:solidFill>
                <a:latin typeface="Consolas"/>
              </a:rPr>
              <a:t>(</a:t>
            </a:r>
            <a:r>
              <a:rPr sz="1400" i="0">
                <a:solidFill>
                  <a:srgbClr val="C39BD3"/>
                </a:solidFill>
                <a:latin typeface="Consolas"/>
              </a:rPr>
              <a:t>self</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initial</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goal</a:t>
            </a:r>
            <a:r>
              <a:rPr sz="1400" i="0">
                <a:solidFill>
                  <a:srgbClr val="AEB6BF"/>
                </a:solidFill>
                <a:latin typeface="Consolas"/>
              </a:rPr>
              <a:t>=</a:t>
            </a:r>
            <a:r>
              <a:rPr sz="1400" i="0">
                <a:solidFill>
                  <a:srgbClr val="5DADE2"/>
                </a:solidFill>
                <a:latin typeface="Consolas"/>
              </a:rPr>
              <a:t>None</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C39BD3"/>
                </a:solidFill>
                <a:latin typeface="Consolas"/>
              </a:rPr>
              <a:t>self</a:t>
            </a:r>
            <a:r>
              <a:rPr sz="1400" i="0">
                <a:solidFill>
                  <a:srgbClr val="AEB6BF"/>
                </a:solidFill>
                <a:latin typeface="Consolas"/>
              </a:rPr>
              <a:t>.</a:t>
            </a:r>
            <a:r>
              <a:rPr sz="1400" i="0">
                <a:solidFill>
                  <a:srgbClr val="E8EDF2"/>
                </a:solidFill>
                <a:latin typeface="Consolas"/>
              </a:rPr>
              <a:t>initial</a:t>
            </a:r>
            <a:r>
              <a:rPr sz="1400" i="0">
                <a:solidFill>
                  <a:srgbClr val="AEB6BF"/>
                </a:solidFill>
                <a:latin typeface="Consolas"/>
              </a:rPr>
              <a:t>,</a:t>
            </a:r>
            <a:r>
              <a:rPr sz="1400" i="0">
                <a:solidFill>
                  <a:srgbClr val="E8EDF2"/>
                </a:solidFill>
                <a:latin typeface="Consolas"/>
              </a:rPr>
              <a:t> </a:t>
            </a:r>
            <a:r>
              <a:rPr sz="1400" i="0">
                <a:solidFill>
                  <a:srgbClr val="C39BD3"/>
                </a:solidFill>
                <a:latin typeface="Consolas"/>
              </a:rPr>
              <a:t>self</a:t>
            </a:r>
            <a:r>
              <a:rPr sz="1400" i="0">
                <a:solidFill>
                  <a:srgbClr val="AEB6BF"/>
                </a:solidFill>
                <a:latin typeface="Consolas"/>
              </a:rPr>
              <a:t>.</a:t>
            </a:r>
            <a:r>
              <a:rPr sz="1400" i="0">
                <a:solidFill>
                  <a:srgbClr val="E8EDF2"/>
                </a:solidFill>
                <a:latin typeface="Consolas"/>
              </a:rPr>
              <a:t>goal</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initial</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goal</a:t>
            </a:r>
          </a:p>
          <a:p>
            <a:pPr>
              <a:lnSpc>
                <a:spcPct val="100000"/>
              </a:lnSpc>
              <a:spcAft>
                <a:spcPts val="0"/>
              </a:spcAft>
            </a:pPr>
            <a:r>
              <a:rPr sz="1400">
                <a:latin typeface="Consolas"/>
              </a:rPr>
              <a:t> </a:t>
            </a:r>
          </a:p>
          <a:p>
            <a:pPr>
              <a:lnSpc>
                <a:spcPct val="100000"/>
              </a:lnSpc>
              <a:spcAft>
                <a:spcPts val="0"/>
              </a:spcAft>
            </a:pPr>
            <a:r>
              <a:rPr sz="1400" i="0">
                <a:solidFill>
                  <a:srgbClr val="E8EDF2"/>
                </a:solidFill>
                <a:latin typeface="Consolas"/>
              </a:rPr>
              <a:t>    </a:t>
            </a:r>
            <a:r>
              <a:rPr sz="1400" i="0">
                <a:solidFill>
                  <a:srgbClr val="5DADE2"/>
                </a:solidFill>
                <a:latin typeface="Consolas"/>
              </a:rPr>
              <a:t>def</a:t>
            </a:r>
            <a:r>
              <a:rPr sz="1400" i="0">
                <a:solidFill>
                  <a:srgbClr val="E8EDF2"/>
                </a:solidFill>
                <a:latin typeface="Consolas"/>
              </a:rPr>
              <a:t> </a:t>
            </a:r>
            <a:r>
              <a:rPr sz="1400" i="0">
                <a:solidFill>
                  <a:srgbClr val="C39BD3"/>
                </a:solidFill>
                <a:latin typeface="Consolas"/>
              </a:rPr>
              <a:t>actions</a:t>
            </a:r>
            <a:r>
              <a:rPr sz="1400" i="0">
                <a:solidFill>
                  <a:srgbClr val="AEB6BF"/>
                </a:solidFill>
                <a:latin typeface="Consolas"/>
              </a:rPr>
              <a:t>(</a:t>
            </a:r>
            <a:r>
              <a:rPr sz="1400" i="0">
                <a:solidFill>
                  <a:srgbClr val="C39BD3"/>
                </a:solidFill>
                <a:latin typeface="Consolas"/>
              </a:rPr>
              <a:t>self</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state</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1">
                <a:solidFill>
                  <a:srgbClr val="8795A1"/>
                </a:solidFill>
                <a:latin typeface="Consolas"/>
              </a:rPr>
              <a:t># -&gt; iterable of actions</a:t>
            </a:r>
          </a:p>
          <a:p>
            <a:pPr>
              <a:lnSpc>
                <a:spcPct val="100000"/>
              </a:lnSpc>
              <a:spcAft>
                <a:spcPts val="0"/>
              </a:spcAft>
            </a:pPr>
            <a:r>
              <a:rPr sz="1400" i="0">
                <a:solidFill>
                  <a:srgbClr val="E8EDF2"/>
                </a:solidFill>
                <a:latin typeface="Consolas"/>
              </a:rPr>
              <a:t>        </a:t>
            </a:r>
            <a:r>
              <a:rPr sz="1400" i="0">
                <a:solidFill>
                  <a:srgbClr val="5DADE2"/>
                </a:solidFill>
                <a:latin typeface="Consolas"/>
              </a:rPr>
              <a:t>raise</a:t>
            </a:r>
            <a:r>
              <a:rPr sz="1400" i="0">
                <a:solidFill>
                  <a:srgbClr val="E8EDF2"/>
                </a:solidFill>
                <a:latin typeface="Consolas"/>
              </a:rPr>
              <a:t> </a:t>
            </a:r>
            <a:r>
              <a:rPr sz="1400" i="0">
                <a:solidFill>
                  <a:srgbClr val="E8EDF2"/>
                </a:solidFill>
                <a:latin typeface="Consolas"/>
              </a:rPr>
              <a:t>NotImplementedError</a:t>
            </a:r>
          </a:p>
          <a:p>
            <a:pPr>
              <a:lnSpc>
                <a:spcPct val="100000"/>
              </a:lnSpc>
              <a:spcAft>
                <a:spcPts val="0"/>
              </a:spcAft>
            </a:pPr>
            <a:r>
              <a:rPr sz="1400">
                <a:latin typeface="Consolas"/>
              </a:rPr>
              <a:t> </a:t>
            </a:r>
          </a:p>
          <a:p>
            <a:pPr>
              <a:lnSpc>
                <a:spcPct val="100000"/>
              </a:lnSpc>
              <a:spcAft>
                <a:spcPts val="0"/>
              </a:spcAft>
            </a:pPr>
            <a:r>
              <a:rPr sz="1400" i="0">
                <a:solidFill>
                  <a:srgbClr val="E8EDF2"/>
                </a:solidFill>
                <a:latin typeface="Consolas"/>
              </a:rPr>
              <a:t>    </a:t>
            </a:r>
            <a:r>
              <a:rPr sz="1400" i="0">
                <a:solidFill>
                  <a:srgbClr val="5DADE2"/>
                </a:solidFill>
                <a:latin typeface="Consolas"/>
              </a:rPr>
              <a:t>def</a:t>
            </a:r>
            <a:r>
              <a:rPr sz="1400" i="0">
                <a:solidFill>
                  <a:srgbClr val="E8EDF2"/>
                </a:solidFill>
                <a:latin typeface="Consolas"/>
              </a:rPr>
              <a:t> </a:t>
            </a:r>
            <a:r>
              <a:rPr sz="1400" i="0">
                <a:solidFill>
                  <a:srgbClr val="C39BD3"/>
                </a:solidFill>
                <a:latin typeface="Consolas"/>
              </a:rPr>
              <a:t>result</a:t>
            </a:r>
            <a:r>
              <a:rPr sz="1400" i="0">
                <a:solidFill>
                  <a:srgbClr val="AEB6BF"/>
                </a:solidFill>
                <a:latin typeface="Consolas"/>
              </a:rPr>
              <a:t>(</a:t>
            </a:r>
            <a:r>
              <a:rPr sz="1400" i="0">
                <a:solidFill>
                  <a:srgbClr val="C39BD3"/>
                </a:solidFill>
                <a:latin typeface="Consolas"/>
              </a:rPr>
              <a:t>self</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state</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action</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1">
                <a:solidFill>
                  <a:srgbClr val="8795A1"/>
                </a:solidFill>
                <a:latin typeface="Consolas"/>
              </a:rPr>
              <a:t># -&gt; new state (never mutated)</a:t>
            </a:r>
          </a:p>
          <a:p>
            <a:pPr>
              <a:lnSpc>
                <a:spcPct val="100000"/>
              </a:lnSpc>
              <a:spcAft>
                <a:spcPts val="0"/>
              </a:spcAft>
            </a:pPr>
            <a:r>
              <a:rPr sz="1400" i="0">
                <a:solidFill>
                  <a:srgbClr val="E8EDF2"/>
                </a:solidFill>
                <a:latin typeface="Consolas"/>
              </a:rPr>
              <a:t>        </a:t>
            </a:r>
            <a:r>
              <a:rPr sz="1400" i="0">
                <a:solidFill>
                  <a:srgbClr val="5DADE2"/>
                </a:solidFill>
                <a:latin typeface="Consolas"/>
              </a:rPr>
              <a:t>raise</a:t>
            </a:r>
            <a:r>
              <a:rPr sz="1400" i="0">
                <a:solidFill>
                  <a:srgbClr val="E8EDF2"/>
                </a:solidFill>
                <a:latin typeface="Consolas"/>
              </a:rPr>
              <a:t> </a:t>
            </a:r>
            <a:r>
              <a:rPr sz="1400" i="0">
                <a:solidFill>
                  <a:srgbClr val="E8EDF2"/>
                </a:solidFill>
                <a:latin typeface="Consolas"/>
              </a:rPr>
              <a:t>NotImplementedError</a:t>
            </a:r>
          </a:p>
          <a:p>
            <a:pPr>
              <a:lnSpc>
                <a:spcPct val="100000"/>
              </a:lnSpc>
              <a:spcAft>
                <a:spcPts val="0"/>
              </a:spcAft>
            </a:pPr>
            <a:r>
              <a:rPr sz="1400">
                <a:latin typeface="Consolas"/>
              </a:rPr>
              <a:t> </a:t>
            </a:r>
          </a:p>
          <a:p>
            <a:pPr>
              <a:lnSpc>
                <a:spcPct val="100000"/>
              </a:lnSpc>
              <a:spcAft>
                <a:spcPts val="0"/>
              </a:spcAft>
            </a:pPr>
            <a:r>
              <a:rPr sz="1400" i="0">
                <a:solidFill>
                  <a:srgbClr val="E8EDF2"/>
                </a:solidFill>
                <a:latin typeface="Consolas"/>
              </a:rPr>
              <a:t>    </a:t>
            </a:r>
            <a:r>
              <a:rPr sz="1400" i="0">
                <a:solidFill>
                  <a:srgbClr val="5DADE2"/>
                </a:solidFill>
                <a:latin typeface="Consolas"/>
              </a:rPr>
              <a:t>def</a:t>
            </a:r>
            <a:r>
              <a:rPr sz="1400" i="0">
                <a:solidFill>
                  <a:srgbClr val="E8EDF2"/>
                </a:solidFill>
                <a:latin typeface="Consolas"/>
              </a:rPr>
              <a:t> </a:t>
            </a:r>
            <a:r>
              <a:rPr sz="1400" i="0">
                <a:solidFill>
                  <a:srgbClr val="C39BD3"/>
                </a:solidFill>
                <a:latin typeface="Consolas"/>
              </a:rPr>
              <a:t>goal_test</a:t>
            </a:r>
            <a:r>
              <a:rPr sz="1400" i="0">
                <a:solidFill>
                  <a:srgbClr val="AEB6BF"/>
                </a:solidFill>
                <a:latin typeface="Consolas"/>
              </a:rPr>
              <a:t>(</a:t>
            </a:r>
            <a:r>
              <a:rPr sz="1400" i="0">
                <a:solidFill>
                  <a:srgbClr val="C39BD3"/>
                </a:solidFill>
                <a:latin typeface="Consolas"/>
              </a:rPr>
              <a:t>self</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state</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return</a:t>
            </a:r>
            <a:r>
              <a:rPr sz="1400" i="0">
                <a:solidFill>
                  <a:srgbClr val="E8EDF2"/>
                </a:solidFill>
                <a:latin typeface="Consolas"/>
              </a:rPr>
              <a:t> </a:t>
            </a:r>
            <a:r>
              <a:rPr sz="1400" i="0">
                <a:solidFill>
                  <a:srgbClr val="E8EDF2"/>
                </a:solidFill>
                <a:latin typeface="Consolas"/>
              </a:rPr>
              <a:t>state</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C39BD3"/>
                </a:solidFill>
                <a:latin typeface="Consolas"/>
              </a:rPr>
              <a:t>self</a:t>
            </a:r>
            <a:r>
              <a:rPr sz="1400" i="0">
                <a:solidFill>
                  <a:srgbClr val="AEB6BF"/>
                </a:solidFill>
                <a:latin typeface="Consolas"/>
              </a:rPr>
              <a:t>.</a:t>
            </a:r>
            <a:r>
              <a:rPr sz="1400" i="0">
                <a:solidFill>
                  <a:srgbClr val="E8EDF2"/>
                </a:solidFill>
                <a:latin typeface="Consolas"/>
              </a:rPr>
              <a:t>goal</a:t>
            </a:r>
          </a:p>
          <a:p>
            <a:pPr>
              <a:lnSpc>
                <a:spcPct val="100000"/>
              </a:lnSpc>
              <a:spcAft>
                <a:spcPts val="0"/>
              </a:spcAft>
            </a:pPr>
            <a:r>
              <a:rPr sz="1400">
                <a:latin typeface="Consolas"/>
              </a:rPr>
              <a:t> </a:t>
            </a:r>
          </a:p>
          <a:p>
            <a:pPr>
              <a:lnSpc>
                <a:spcPct val="100000"/>
              </a:lnSpc>
              <a:spcAft>
                <a:spcPts val="0"/>
              </a:spcAft>
            </a:pPr>
            <a:r>
              <a:rPr sz="1400" i="0">
                <a:solidFill>
                  <a:srgbClr val="E8EDF2"/>
                </a:solidFill>
                <a:latin typeface="Consolas"/>
              </a:rPr>
              <a:t>    </a:t>
            </a:r>
            <a:r>
              <a:rPr sz="1400" i="0">
                <a:solidFill>
                  <a:srgbClr val="5DADE2"/>
                </a:solidFill>
                <a:latin typeface="Consolas"/>
              </a:rPr>
              <a:t>def</a:t>
            </a:r>
            <a:r>
              <a:rPr sz="1400" i="0">
                <a:solidFill>
                  <a:srgbClr val="E8EDF2"/>
                </a:solidFill>
                <a:latin typeface="Consolas"/>
              </a:rPr>
              <a:t> </a:t>
            </a:r>
            <a:r>
              <a:rPr sz="1400" i="0">
                <a:solidFill>
                  <a:srgbClr val="C39BD3"/>
                </a:solidFill>
                <a:latin typeface="Consolas"/>
              </a:rPr>
              <a:t>step_cost</a:t>
            </a:r>
            <a:r>
              <a:rPr sz="1400" i="0">
                <a:solidFill>
                  <a:srgbClr val="AEB6BF"/>
                </a:solidFill>
                <a:latin typeface="Consolas"/>
              </a:rPr>
              <a:t>(</a:t>
            </a:r>
            <a:r>
              <a:rPr sz="1400" i="0">
                <a:solidFill>
                  <a:srgbClr val="C39BD3"/>
                </a:solidFill>
                <a:latin typeface="Consolas"/>
              </a:rPr>
              <a:t>self</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state</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action</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nxt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return</a:t>
            </a:r>
            <a:r>
              <a:rPr sz="1400" i="0">
                <a:solidFill>
                  <a:srgbClr val="E8EDF2"/>
                </a:solidFill>
                <a:latin typeface="Consolas"/>
              </a:rPr>
              <a:t> </a:t>
            </a:r>
            <a:r>
              <a:rPr sz="1400" i="0">
                <a:solidFill>
                  <a:srgbClr val="F7DC6F"/>
                </a:solidFill>
                <a:latin typeface="Consolas"/>
              </a:rPr>
              <a:t>1</a:t>
            </a:r>
            <a:r>
              <a:rPr sz="1400" i="0">
                <a:solidFill>
                  <a:srgbClr val="E8EDF2"/>
                </a:solidFill>
                <a:latin typeface="Consolas"/>
              </a:rPr>
              <a:t>                      </a:t>
            </a:r>
            <a:r>
              <a:rPr sz="1400" i="1">
                <a:solidFill>
                  <a:srgbClr val="8795A1"/>
                </a:solidFill>
                <a:latin typeface="Consolas"/>
              </a:rPr>
              <a:t># override for weighted problems</a:t>
            </a:r>
          </a:p>
        </p:txBody>
      </p:sp>
      <p:sp>
        <p:nvSpPr>
          <p:cNvPr id="16" name="!!body-0-num"/>
          <p:cNvSpPr txBox="1"/>
          <p:nvPr/>
        </p:nvSpPr>
        <p:spPr>
          <a:xfrm>
            <a:off x="1170432" y="2487168"/>
            <a:ext cx="393192" cy="3681983"/>
          </a:xfrm>
          <a:prstGeom prst="rect">
            <a:avLst/>
          </a:prstGeom>
          <a:noFill/>
        </p:spPr>
        <p:txBody>
          <a:bodyPr wrap="none" anchor="t" lIns="0" rIns="0" tIns="0" bIns="0">
            <a:noAutofit/>
          </a:bodyPr>
          <a:lstStyle/>
          <a:p>
            <a:pPr algn="r">
              <a:lnSpc>
                <a:spcPct val="100000"/>
              </a:lnSpc>
            </a:pPr>
            <a:r>
              <a:rPr sz="1400">
                <a:solidFill>
                  <a:srgbClr val="4F5D6A"/>
                </a:solidFill>
                <a:latin typeface="Consolas"/>
              </a:rPr>
              <a:t>1</a:t>
            </a:r>
          </a:p>
          <a:p>
            <a:pPr algn="r">
              <a:lnSpc>
                <a:spcPct val="100000"/>
              </a:lnSpc>
            </a:pPr>
            <a:r>
              <a:rPr sz="1400">
                <a:solidFill>
                  <a:srgbClr val="4F5D6A"/>
                </a:solidFill>
                <a:latin typeface="Consolas"/>
              </a:rPr>
              <a:t>2</a:t>
            </a:r>
          </a:p>
          <a:p>
            <a:pPr algn="r">
              <a:lnSpc>
                <a:spcPct val="100000"/>
              </a:lnSpc>
            </a:pPr>
            <a:r>
              <a:rPr sz="1400">
                <a:solidFill>
                  <a:srgbClr val="4F5D6A"/>
                </a:solidFill>
                <a:latin typeface="Consolas"/>
              </a:rPr>
              <a:t>3</a:t>
            </a:r>
          </a:p>
          <a:p>
            <a:pPr algn="r">
              <a:lnSpc>
                <a:spcPct val="100000"/>
              </a:lnSpc>
            </a:pPr>
            <a:r>
              <a:rPr sz="1400">
                <a:solidFill>
                  <a:srgbClr val="4F5D6A"/>
                </a:solidFill>
                <a:latin typeface="Consolas"/>
              </a:rPr>
              <a:t>4</a:t>
            </a:r>
          </a:p>
          <a:p>
            <a:pPr algn="r">
              <a:lnSpc>
                <a:spcPct val="100000"/>
              </a:lnSpc>
            </a:pPr>
            <a:r>
              <a:rPr sz="1400">
                <a:solidFill>
                  <a:srgbClr val="4F5D6A"/>
                </a:solidFill>
                <a:latin typeface="Consolas"/>
              </a:rPr>
              <a:t>5</a:t>
            </a:r>
          </a:p>
          <a:p>
            <a:pPr algn="r">
              <a:lnSpc>
                <a:spcPct val="100000"/>
              </a:lnSpc>
            </a:pPr>
            <a:r>
              <a:rPr sz="1400">
                <a:solidFill>
                  <a:srgbClr val="4F5D6A"/>
                </a:solidFill>
                <a:latin typeface="Consolas"/>
              </a:rPr>
              <a:t>6</a:t>
            </a:r>
          </a:p>
          <a:p>
            <a:pPr algn="r">
              <a:lnSpc>
                <a:spcPct val="100000"/>
              </a:lnSpc>
            </a:pPr>
            <a:r>
              <a:rPr sz="1400">
                <a:solidFill>
                  <a:srgbClr val="4F5D6A"/>
                </a:solidFill>
                <a:latin typeface="Consolas"/>
              </a:rPr>
              <a:t>7</a:t>
            </a:r>
          </a:p>
          <a:p>
            <a:pPr algn="r">
              <a:lnSpc>
                <a:spcPct val="100000"/>
              </a:lnSpc>
            </a:pPr>
            <a:r>
              <a:rPr sz="1400">
                <a:solidFill>
                  <a:srgbClr val="4F5D6A"/>
                </a:solidFill>
                <a:latin typeface="Consolas"/>
              </a:rPr>
              <a:t>8</a:t>
            </a:r>
          </a:p>
          <a:p>
            <a:pPr algn="r">
              <a:lnSpc>
                <a:spcPct val="100000"/>
              </a:lnSpc>
            </a:pPr>
            <a:r>
              <a:rPr sz="1400">
                <a:solidFill>
                  <a:srgbClr val="4F5D6A"/>
                </a:solidFill>
                <a:latin typeface="Consolas"/>
              </a:rPr>
              <a:t>9</a:t>
            </a:r>
          </a:p>
          <a:p>
            <a:pPr algn="r">
              <a:lnSpc>
                <a:spcPct val="100000"/>
              </a:lnSpc>
            </a:pPr>
            <a:r>
              <a:rPr sz="1400">
                <a:solidFill>
                  <a:srgbClr val="4F5D6A"/>
                </a:solidFill>
                <a:latin typeface="Consolas"/>
              </a:rPr>
              <a:t>10</a:t>
            </a:r>
          </a:p>
          <a:p>
            <a:pPr algn="r">
              <a:lnSpc>
                <a:spcPct val="100000"/>
              </a:lnSpc>
            </a:pPr>
            <a:r>
              <a:rPr sz="1400">
                <a:solidFill>
                  <a:srgbClr val="4F5D6A"/>
                </a:solidFill>
                <a:latin typeface="Consolas"/>
              </a:rPr>
              <a:t>11</a:t>
            </a:r>
          </a:p>
          <a:p>
            <a:pPr algn="r">
              <a:lnSpc>
                <a:spcPct val="100000"/>
              </a:lnSpc>
            </a:pPr>
            <a:r>
              <a:rPr sz="1400">
                <a:solidFill>
                  <a:srgbClr val="4F5D6A"/>
                </a:solidFill>
                <a:latin typeface="Consolas"/>
              </a:rPr>
              <a:t>12</a:t>
            </a:r>
          </a:p>
          <a:p>
            <a:pPr algn="r">
              <a:lnSpc>
                <a:spcPct val="100000"/>
              </a:lnSpc>
            </a:pPr>
            <a:r>
              <a:rPr sz="1400">
                <a:solidFill>
                  <a:srgbClr val="4F5D6A"/>
                </a:solidFill>
                <a:latin typeface="Consolas"/>
              </a:rPr>
              <a:t>13</a:t>
            </a:r>
          </a:p>
          <a:p>
            <a:pPr algn="r">
              <a:lnSpc>
                <a:spcPct val="100000"/>
              </a:lnSpc>
            </a:pPr>
            <a:r>
              <a:rPr sz="1400">
                <a:solidFill>
                  <a:srgbClr val="4F5D6A"/>
                </a:solidFill>
                <a:latin typeface="Consolas"/>
              </a:rPr>
              <a:t>14</a:t>
            </a:r>
          </a:p>
          <a:p>
            <a:pPr algn="r">
              <a:lnSpc>
                <a:spcPct val="100000"/>
              </a:lnSpc>
            </a:pPr>
            <a:r>
              <a:rPr sz="1400">
                <a:solidFill>
                  <a:srgbClr val="4F5D6A"/>
                </a:solidFill>
                <a:latin typeface="Consolas"/>
              </a:rPr>
              <a:t>15</a:t>
            </a:r>
          </a:p>
          <a:p>
            <a:pPr algn="r">
              <a:lnSpc>
                <a:spcPct val="100000"/>
              </a:lnSpc>
            </a:pPr>
            <a:r>
              <a:rPr sz="1400">
                <a:solidFill>
                  <a:srgbClr val="4F5D6A"/>
                </a:solidFill>
                <a:latin typeface="Consolas"/>
              </a:rPr>
              <a:t>16</a:t>
            </a:r>
          </a:p>
          <a:p>
            <a:pPr algn="r">
              <a:lnSpc>
                <a:spcPct val="100000"/>
              </a:lnSpc>
            </a:pPr>
            <a:r>
              <a:rPr sz="1400">
                <a:solidFill>
                  <a:srgbClr val="4F5D6A"/>
                </a:solidFill>
                <a:latin typeface="Consolas"/>
              </a:rPr>
              <a:t>17</a:t>
            </a:r>
          </a:p>
        </p:txBody>
      </p:sp>
      <p:sp>
        <p:nvSpPr>
          <p:cNvPr id="1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pfill">
            <a:extLst>
              <a:ext uri="{C183D7F6-B498-43B3-948B-1728B52AA6E4}">
                <adec:decorative xmlns:adec="http://schemas.microsoft.com/office/drawing/2017/decorative" val="1"/>
              </a:ext>
            </a:extLst>
          </p:cNvPr>
          <p:cNvSpPr/>
          <p:nvPr/>
        </p:nvSpPr>
        <p:spPr>
          <a:xfrm>
            <a:off x="0" y="0"/>
            <a:ext cx="281346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interface, once, for the whole book (continued)</a:t>
            </a:r>
          </a:p>
        </p:txBody>
      </p:sp>
      <p:pic>
        <p:nvPicPr>
          <p:cNvPr id="3" name="!!kicker-icon" descr="code-27AE6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7AE60"/>
                </a:solidFill>
                <a:latin typeface="Segoe UI"/>
              </a:rPr>
              <a:t>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3  ·  Representations and Search in Python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§3.3  ·  Handout p. 23     </a:t>
            </a:r>
            <a:fld id="{5F1DEA4E-7079-4007-9758-F76F7DF2941E}" type="slidenum">
              <a:rPr lang="en-GB" sz="1000">
                <a:solidFill>
                  <a:srgbClr val="8795A1"/>
                </a:solidFill>
                <a:latin typeface="Segoe UI"/>
              </a:rPr>
              <a:t>13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620316"/>
          </a:xfrm>
          <a:prstGeom prst="roundRect">
            <a:avLst>
              <a:gd name="adj" fmla="val 5643"/>
            </a:avLst>
          </a:prstGeom>
          <a:solidFill>
            <a:srgbClr val="EAF7EF"/>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620316"/>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044244"/>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A concrete problem overrides three methods and inherits the rest. Chapter 4’s task-ordering problem, Chapter 5’s sprint problem and Chapter 9’s release planner are all subclasses of this, and the identical </a:t>
            </a:r>
            <a:r>
              <a:rPr sz="1950" b="0" i="0">
                <a:solidFill>
                  <a:srgbClr val="1F4E79"/>
                </a:solidFill>
                <a:latin typeface="Consolas"/>
              </a:rPr>
              <a:t>breadth_first</a:t>
            </a:r>
            <a:r>
              <a:rPr sz="2100" b="0" i="0">
                <a:solidFill>
                  <a:srgbClr val="1C252B"/>
                </a:solidFill>
                <a:latin typeface="Segoe UI"/>
              </a:rPr>
              <a:t> function solves all three.</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304792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Frontiers: Three Structures, Three Strategies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4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3.4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3.1   Why This Chapter Exists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3.2   A State Is a Value</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3.3   The Problem Interface</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3.4   Frontiers: Three Structures, Three Strategies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3.5   Representing the Project</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3.6   Generators and Memoisation</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3</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§3.4     </a:t>
            </a:r>
            <a:fld id="{CF362615-24A8-47DE-AEA5-DC734046CE79}" type="slidenum">
              <a:rPr lang="en-GB" sz="1000">
                <a:solidFill>
                  <a:srgbClr val="8795A1"/>
                </a:solidFill>
                <a:latin typeface="Segoe UI"/>
              </a:rPr>
              <a:t>14</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328237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Three frontier structures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3.2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3  ·  Representations and Search in Python</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§3.4  ·  Handout p. 24     </a:t>
            </a:r>
            <a:fld id="{4491AFAE-822F-4C2B-A9BB-206047A3827B}" type="slidenum">
              <a:rPr lang="en-GB" sz="1000">
                <a:solidFill>
                  <a:srgbClr val="8795A1"/>
                </a:solidFill>
                <a:latin typeface="Segoe UI"/>
              </a:rPr>
              <a:t>15</a:t>
            </a:fld>
          </a:p>
        </p:txBody>
      </p:sp>
      <p:pic>
        <p:nvPicPr>
          <p:cNvPr id="6" name="!!figure" descr="Figure 3.2. Three frontier structures. Choosing the container chooses the strategy, and the operation costs are the reason each one is matched to its search."/>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44962" y="1737360"/>
            <a:ext cx="10501769"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Choosing the container chooses the strategy, and the operation costs are the reason each one is matched to its search.</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351683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Two frontier mistakes that cost real time</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3  ·  Representations and Search in Python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§3.4  ·  Handout p. 24     </a:t>
            </a:r>
            <a:fld id="{1DC7AB72-6F7A-4B8A-9170-77D17368403C}"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62373"/>
          </a:xfrm>
          <a:prstGeom prst="roundRect">
            <a:avLst>
              <a:gd name="adj" fmla="val 2145"/>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62373"/>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1" i="0">
                <a:solidFill>
                  <a:srgbClr val="A93226"/>
                </a:solidFill>
                <a:latin typeface="Segoe UI"/>
              </a:rPr>
              <a:t>Using a list as a queue.</a:t>
            </a:r>
            <a:r>
              <a:rPr sz="2200" b="0" i="0">
                <a:solidFill>
                  <a:srgbClr val="1C252B"/>
                </a:solidFill>
                <a:latin typeface="Segoe UI"/>
              </a:rPr>
              <a:t> </a:t>
            </a:r>
            <a:r>
              <a:rPr sz="2050" b="0" i="0">
                <a:solidFill>
                  <a:srgbClr val="1F4E79"/>
                </a:solidFill>
                <a:latin typeface="Consolas"/>
              </a:rPr>
              <a:t>frontier.pop(0)</a:t>
            </a:r>
            <a:r>
              <a:rPr sz="2200" b="0" i="0">
                <a:solidFill>
                  <a:srgbClr val="1C252B"/>
                </a:solidFill>
                <a:latin typeface="Segoe UI"/>
              </a:rPr>
              <a:t> on a list moves every remaining element one place left. It is </a:t>
            </a:r>
            <a:r>
              <a:rPr sz="2200" b="0" i="1">
                <a:solidFill>
                  <a:srgbClr val="1C252B"/>
                </a:solidFill>
                <a:latin typeface="Cambria"/>
              </a:rPr>
              <a:t>O</a:t>
            </a:r>
            <a:r>
              <a:rPr sz="2200" b="0" i="0">
                <a:solidFill>
                  <a:srgbClr val="1C252B"/>
                </a:solidFill>
                <a:latin typeface="Cambria"/>
              </a:rPr>
              <a:t>(</a:t>
            </a:r>
            <a:r>
              <a:rPr sz="2200" b="0" i="1">
                <a:solidFill>
                  <a:srgbClr val="1C252B"/>
                </a:solidFill>
                <a:latin typeface="Cambria"/>
              </a:rPr>
              <a:t>n</a:t>
            </a:r>
            <a:r>
              <a:rPr sz="2200" b="0" i="0">
                <a:solidFill>
                  <a:srgbClr val="1C252B"/>
                </a:solidFill>
                <a:latin typeface="Cambria"/>
              </a:rPr>
              <a:t>)</a:t>
            </a:r>
            <a:r>
              <a:rPr sz="2200" b="0" i="0">
                <a:solidFill>
                  <a:srgbClr val="1C252B"/>
                </a:solidFill>
                <a:latin typeface="Segoe UI"/>
              </a:rPr>
              <a:t> per pop, so a breadth-first search generating </a:t>
            </a:r>
            <a:r>
              <a:rPr sz="2200" b="0" i="1">
                <a:solidFill>
                  <a:srgbClr val="1C252B"/>
                </a:solidFill>
                <a:latin typeface="Cambria"/>
              </a:rPr>
              <a:t>n</a:t>
            </a:r>
            <a:r>
              <a:rPr sz="2200" b="0" i="0">
                <a:solidFill>
                  <a:srgbClr val="1C252B"/>
                </a:solidFill>
                <a:latin typeface="Segoe UI"/>
              </a:rPr>
              <a:t> nodes does </a:t>
            </a:r>
            <a:r>
              <a:rPr sz="2200" b="0" i="1">
                <a:solidFill>
                  <a:srgbClr val="1C252B"/>
                </a:solidFill>
                <a:latin typeface="Cambria"/>
              </a:rPr>
              <a:t>O</a:t>
            </a:r>
            <a:r>
              <a:rPr sz="2200" b="0" i="0">
                <a:solidFill>
                  <a:srgbClr val="1C252B"/>
                </a:solidFill>
                <a:latin typeface="Cambria"/>
              </a:rPr>
              <a:t>(</a:t>
            </a:r>
            <a:r>
              <a:rPr sz="2200" b="0" i="1">
                <a:solidFill>
                  <a:srgbClr val="1C252B"/>
                </a:solidFill>
                <a:latin typeface="Cambria"/>
              </a:rPr>
              <a:t>n</a:t>
            </a:r>
            <a:r>
              <a:rPr sz="2200" b="0" i="0" baseline="30000">
                <a:solidFill>
                  <a:srgbClr val="1C252B"/>
                </a:solidFill>
                <a:latin typeface="Cambria"/>
              </a:rPr>
              <a:t>2</a:t>
            </a:r>
            <a:r>
              <a:rPr sz="2200" b="0" i="0">
                <a:solidFill>
                  <a:srgbClr val="1C252B"/>
                </a:solidFill>
                <a:latin typeface="Cambria"/>
              </a:rPr>
              <a:t>)</a:t>
            </a:r>
            <a:r>
              <a:rPr sz="2200" b="0" i="0">
                <a:solidFill>
                  <a:srgbClr val="1C252B"/>
                </a:solidFill>
                <a:latin typeface="Segoe UI"/>
              </a:rPr>
              <a:t> pointless work. The cost is invisible on this chapter’s nine tasks and decisive on anything the size of a real backlog. Use </a:t>
            </a:r>
            <a:r>
              <a:rPr sz="2050" b="0" i="0">
                <a:solidFill>
                  <a:srgbClr val="1F4E79"/>
                </a:solidFill>
                <a:latin typeface="Consolas"/>
              </a:rPr>
              <a:t>deque.popleft()</a:t>
            </a:r>
            <a:r>
              <a:rPr sz="2200" b="0" i="0">
                <a:solidFill>
                  <a:srgbClr val="1C252B"/>
                </a:solidFill>
                <a:latin typeface="Segoe UI"/>
              </a:rPr>
              <a:t>.</a:t>
            </a:r>
          </a:p>
        </p:txBody>
      </p:sp>
      <p:sp>
        <p:nvSpPr>
          <p:cNvPr id="10" name="body-1"/>
          <p:cNvSpPr txBox="1"/>
          <p:nvPr/>
        </p:nvSpPr>
        <p:spPr>
          <a:xfrm>
            <a:off x="1060704" y="3596690"/>
            <a:ext cx="10161727"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1" i="0">
                <a:solidFill>
                  <a:srgbClr val="A93226"/>
                </a:solidFill>
                <a:latin typeface="Segoe UI"/>
              </a:rPr>
              <a:t>Pushing bare tuples onto a heap.</a:t>
            </a:r>
            <a:r>
              <a:rPr sz="2200" b="0" i="0">
                <a:solidFill>
                  <a:srgbClr val="1C252B"/>
                </a:solidFill>
                <a:latin typeface="Segoe UI"/>
              </a:rPr>
              <a:t> </a:t>
            </a:r>
            <a:r>
              <a:rPr sz="2050" b="0" i="0">
                <a:solidFill>
                  <a:srgbClr val="1F4E79"/>
                </a:solidFill>
                <a:latin typeface="Consolas"/>
              </a:rPr>
              <a:t>heappush(h, (cost, node))</a:t>
            </a:r>
            <a:r>
              <a:rPr sz="2200" b="0" i="0">
                <a:solidFill>
                  <a:srgbClr val="1C252B"/>
                </a:solidFill>
                <a:latin typeface="Segoe UI"/>
              </a:rPr>
              <a:t> compares the second element whenever two costs are equal, and if </a:t>
            </a:r>
            <a:r>
              <a:rPr sz="2050" b="0" i="0">
                <a:solidFill>
                  <a:srgbClr val="1F4E79"/>
                </a:solidFill>
                <a:latin typeface="Consolas"/>
              </a:rPr>
              <a:t>node</a:t>
            </a:r>
            <a:r>
              <a:rPr sz="2200" b="0" i="0">
                <a:solidFill>
                  <a:srgbClr val="1C252B"/>
                </a:solidFill>
                <a:latin typeface="Segoe UI"/>
              </a:rPr>
              <a:t> is a class without ordering, Python raises </a:t>
            </a:r>
            <a:r>
              <a:rPr sz="2050" b="0" i="0">
                <a:solidFill>
                  <a:srgbClr val="1F4E79"/>
                </a:solidFill>
                <a:latin typeface="Consolas"/>
              </a:rPr>
              <a:t>TypeError</a:t>
            </a:r>
            <a:r>
              <a:rPr sz="2200" b="0" i="0">
                <a:solidFill>
                  <a:srgbClr val="1C252B"/>
                </a:solidFill>
                <a:latin typeface="Segoe UI"/>
              </a:rPr>
              <a:t> — intermittently, only on inputs that happen to tie. Always push </a:t>
            </a:r>
            <a:r>
              <a:rPr sz="2050" b="0" i="0">
                <a:solidFill>
                  <a:srgbClr val="1F4E79"/>
                </a:solidFill>
                <a:latin typeface="Consolas"/>
              </a:rPr>
              <a:t>(priority, next(counter), node)</a:t>
            </a:r>
            <a:r>
              <a:rPr sz="2200" b="0" i="0">
                <a:solidFill>
                  <a:srgbClr val="1C252B"/>
                </a:solidFill>
                <a:latin typeface="Segoe UI"/>
              </a:rPr>
              <a:t>, with a monotonically increasing counter in the middle. The tie is then broken by insertion order and the node is never compared.</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375129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project, as data</a:t>
            </a:r>
          </a:p>
        </p:txBody>
      </p:sp>
      <p:pic>
        <p:nvPicPr>
          <p:cNvPr id="3" name="!!kicker-icon" descr="code-27AE6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7AE60"/>
                </a:solidFill>
                <a:latin typeface="Segoe UI"/>
              </a:rPr>
              <a:t>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3  ·  Representations and Search in Python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§3.5  ·  Handout p. 25     </a:t>
            </a:r>
            <a:fld id="{93E88A9F-5337-43D1-B7D5-53BE2B05376F}"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5010911"/>
          </a:xfrm>
          <a:prstGeom prst="roundRect">
            <a:avLst>
              <a:gd name="adj" fmla="val 1824"/>
            </a:avLst>
          </a:prstGeom>
          <a:solidFill>
            <a:srgbClr val="EAF7EF"/>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5010911"/>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bg">
            <a:extLst>
              <a:ext uri="{C183D7F6-B498-43B3-948B-1728B52AA6E4}">
                <adec:decorative xmlns:adec="http://schemas.microsoft.com/office/drawing/2017/decorative" val="1"/>
              </a:ext>
            </a:extLst>
          </p:cNvPr>
          <p:cNvSpPr/>
          <p:nvPr/>
        </p:nvSpPr>
        <p:spPr>
          <a:xfrm>
            <a:off x="1060704" y="2048255"/>
            <a:ext cx="10161727" cy="4389119"/>
          </a:xfrm>
          <a:prstGeom prst="roundRect">
            <a:avLst>
              <a:gd name="adj" fmla="val 2083"/>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body-0-sep">
            <a:extLst>
              <a:ext uri="{C183D7F6-B498-43B3-948B-1728B52AA6E4}">
                <adec:decorative xmlns:adec="http://schemas.microsoft.com/office/drawing/2017/decorative" val="1"/>
              </a:ext>
            </a:extLst>
          </p:cNvPr>
          <p:cNvSpPr/>
          <p:nvPr/>
        </p:nvSpPr>
        <p:spPr>
          <a:xfrm>
            <a:off x="1078992" y="2368296"/>
            <a:ext cx="10125151"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body-0-dot0">
            <a:extLst>
              <a:ext uri="{C183D7F6-B498-43B3-948B-1728B52AA6E4}">
                <adec:decorative xmlns:adec="http://schemas.microsoft.com/office/drawing/2017/decorative" val="1"/>
              </a:ext>
            </a:extLst>
          </p:cNvPr>
          <p:cNvSpPr/>
          <p:nvPr/>
        </p:nvSpPr>
        <p:spPr>
          <a:xfrm>
            <a:off x="1261872" y="2162556"/>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body-0-dot1">
            <a:extLst>
              <a:ext uri="{C183D7F6-B498-43B3-948B-1728B52AA6E4}">
                <adec:decorative xmlns:adec="http://schemas.microsoft.com/office/drawing/2017/decorative" val="1"/>
              </a:ext>
            </a:extLst>
          </p:cNvPr>
          <p:cNvSpPr/>
          <p:nvPr/>
        </p:nvSpPr>
        <p:spPr>
          <a:xfrm>
            <a:off x="1444752" y="2162556"/>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body-0-dot2">
            <a:extLst>
              <a:ext uri="{C183D7F6-B498-43B3-948B-1728B52AA6E4}">
                <adec:decorative xmlns:adec="http://schemas.microsoft.com/office/drawing/2017/decorative" val="1"/>
              </a:ext>
            </a:extLst>
          </p:cNvPr>
          <p:cNvSpPr/>
          <p:nvPr/>
        </p:nvSpPr>
        <p:spPr>
          <a:xfrm>
            <a:off x="1627632" y="2162556"/>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body-0-label"/>
          <p:cNvSpPr txBox="1"/>
          <p:nvPr/>
        </p:nvSpPr>
        <p:spPr>
          <a:xfrm>
            <a:off x="1929384" y="2112263"/>
            <a:ext cx="9064447"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a:t>
            </a:r>
          </a:p>
        </p:txBody>
      </p:sp>
      <p:sp>
        <p:nvSpPr>
          <p:cNvPr id="15" name="!!body-0-text" descr="# task -&gt; (duration in days, set of tasks that must finish first) TASKS = { &quot;spec&quot;: (3, set()), &quot;schema&quot;: (2, {&quot;spec&quot;}), &quot;api&quot;: (5, {&quot;schema&quot;}), &quot;ui&quot;: (4, {&quot;spec&quot;}), &quot;auth&quot;: (3, {&quot;schema&quot;}), &quot;tests&quot;: (4, {&quot;api&quot;, &quot;auth&quot;}), &quot;docs&quot;: (2, {&quot;api&quot;}), &quot;uat&quot;: (3, {&quot;tests&quot;, &quot;ui&quot;}), &quot;release&quot;: (1, {&quot;uat&quot;, &quot;docs&quot;}), } def ready(done): &quot;&quot;&quot;Tasks whose dependencies are all satisfied -- the successor function of Chapter 4, in one line.&quot;&quot;&quot; return {t for t, (_, deps) in TASKS.items() if t not in done and deps &lt;= done}"/>
          <p:cNvSpPr txBox="1"/>
          <p:nvPr/>
        </p:nvSpPr>
        <p:spPr>
          <a:xfrm>
            <a:off x="1764792" y="2487168"/>
            <a:ext cx="9274759" cy="3895343"/>
          </a:xfrm>
          <a:prstGeom prst="rect">
            <a:avLst/>
          </a:prstGeom>
          <a:noFill/>
        </p:spPr>
        <p:txBody>
          <a:bodyPr wrap="none" anchor="t" lIns="0" rIns="0" tIns="0" bIns="0">
            <a:noAutofit/>
          </a:bodyPr>
          <a:lstStyle/>
          <a:p>
            <a:pPr>
              <a:lnSpc>
                <a:spcPct val="100000"/>
              </a:lnSpc>
              <a:spcAft>
                <a:spcPts val="0"/>
              </a:spcAft>
            </a:pPr>
            <a:r>
              <a:rPr sz="1400" i="1">
                <a:solidFill>
                  <a:srgbClr val="8795A1"/>
                </a:solidFill>
                <a:latin typeface="Consolas"/>
              </a:rPr>
              <a:t># task -&gt; (duration in days, set of tasks that must finish first)</a:t>
            </a:r>
          </a:p>
          <a:p>
            <a:pPr>
              <a:lnSpc>
                <a:spcPct val="100000"/>
              </a:lnSpc>
              <a:spcAft>
                <a:spcPts val="0"/>
              </a:spcAft>
            </a:pPr>
            <a:r>
              <a:rPr sz="1400" i="0">
                <a:solidFill>
                  <a:srgbClr val="E8EDF2"/>
                </a:solidFill>
                <a:latin typeface="Consolas"/>
              </a:rPr>
              <a:t>TASKS</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spec</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F7DC6F"/>
                </a:solidFill>
                <a:latin typeface="Consolas"/>
              </a:rPr>
              <a:t>3</a:t>
            </a:r>
            <a:r>
              <a:rPr sz="1400" i="0">
                <a:solidFill>
                  <a:srgbClr val="AEB6BF"/>
                </a:solidFill>
                <a:latin typeface="Consolas"/>
              </a:rPr>
              <a:t>,</a:t>
            </a:r>
            <a:r>
              <a:rPr sz="1400" i="0">
                <a:solidFill>
                  <a:srgbClr val="E8EDF2"/>
                </a:solidFill>
                <a:latin typeface="Consolas"/>
              </a:rPr>
              <a:t> </a:t>
            </a:r>
            <a:r>
              <a:rPr sz="1400" i="0">
                <a:solidFill>
                  <a:srgbClr val="C39BD3"/>
                </a:solidFill>
                <a:latin typeface="Consolas"/>
              </a:rPr>
              <a:t>set</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schema</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F7DC6F"/>
                </a:solidFill>
                <a:latin typeface="Consolas"/>
              </a:rPr>
              <a:t>2</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spec</a:t>
            </a:r>
            <a:r>
              <a:rPr sz="1400" i="0">
                <a:solidFill>
                  <a:srgbClr val="7DCEA0"/>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api</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F7DC6F"/>
                </a:solidFill>
                <a:latin typeface="Consolas"/>
              </a:rPr>
              <a:t>5</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schema</a:t>
            </a:r>
            <a:r>
              <a:rPr sz="1400" i="0">
                <a:solidFill>
                  <a:srgbClr val="7DCEA0"/>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ui</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F7DC6F"/>
                </a:solidFill>
                <a:latin typeface="Consolas"/>
              </a:rPr>
              <a:t>4</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spec</a:t>
            </a:r>
            <a:r>
              <a:rPr sz="1400" i="0">
                <a:solidFill>
                  <a:srgbClr val="7DCEA0"/>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auth</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F7DC6F"/>
                </a:solidFill>
                <a:latin typeface="Consolas"/>
              </a:rPr>
              <a:t>3</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schema</a:t>
            </a:r>
            <a:r>
              <a:rPr sz="1400" i="0">
                <a:solidFill>
                  <a:srgbClr val="7DCEA0"/>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tests</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F7DC6F"/>
                </a:solidFill>
                <a:latin typeface="Consolas"/>
              </a:rPr>
              <a:t>4</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api</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auth</a:t>
            </a:r>
            <a:r>
              <a:rPr sz="1400" i="0">
                <a:solidFill>
                  <a:srgbClr val="7DCEA0"/>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docs</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F7DC6F"/>
                </a:solidFill>
                <a:latin typeface="Consolas"/>
              </a:rPr>
              <a:t>2</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api</a:t>
            </a:r>
            <a:r>
              <a:rPr sz="1400" i="0">
                <a:solidFill>
                  <a:srgbClr val="7DCEA0"/>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uat</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F7DC6F"/>
                </a:solidFill>
                <a:latin typeface="Consolas"/>
              </a:rPr>
              <a:t>3</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tests</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ui</a:t>
            </a:r>
            <a:r>
              <a:rPr sz="1400" i="0">
                <a:solidFill>
                  <a:srgbClr val="7DCEA0"/>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release</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F7DC6F"/>
                </a:solidFill>
                <a:latin typeface="Consolas"/>
              </a:rPr>
              <a:t>1</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uat</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docs</a:t>
            </a:r>
            <a:r>
              <a:rPr sz="1400" i="0">
                <a:solidFill>
                  <a:srgbClr val="7DCEA0"/>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AEB6BF"/>
                </a:solidFill>
                <a:latin typeface="Consolas"/>
              </a:rPr>
              <a:t>}</a:t>
            </a:r>
          </a:p>
          <a:p>
            <a:pPr>
              <a:lnSpc>
                <a:spcPct val="100000"/>
              </a:lnSpc>
              <a:spcAft>
                <a:spcPts val="0"/>
              </a:spcAft>
            </a:pPr>
            <a:r>
              <a:rPr sz="1400">
                <a:latin typeface="Consolas"/>
              </a:rPr>
              <a:t> </a:t>
            </a:r>
          </a:p>
          <a:p>
            <a:pPr>
              <a:lnSpc>
                <a:spcPct val="100000"/>
              </a:lnSpc>
              <a:spcAft>
                <a:spcPts val="0"/>
              </a:spcAft>
            </a:pPr>
            <a:r>
              <a:rPr sz="1400" i="0">
                <a:solidFill>
                  <a:srgbClr val="5DADE2"/>
                </a:solidFill>
                <a:latin typeface="Consolas"/>
              </a:rPr>
              <a:t>def</a:t>
            </a:r>
            <a:r>
              <a:rPr sz="1400" i="0">
                <a:solidFill>
                  <a:srgbClr val="E8EDF2"/>
                </a:solidFill>
                <a:latin typeface="Consolas"/>
              </a:rPr>
              <a:t> </a:t>
            </a:r>
            <a:r>
              <a:rPr sz="1400" i="0">
                <a:solidFill>
                  <a:srgbClr val="C39BD3"/>
                </a:solidFill>
                <a:latin typeface="Consolas"/>
              </a:rPr>
              <a:t>ready</a:t>
            </a:r>
            <a:r>
              <a:rPr sz="1400" i="0">
                <a:solidFill>
                  <a:srgbClr val="AEB6BF"/>
                </a:solidFill>
                <a:latin typeface="Consolas"/>
              </a:rPr>
              <a:t>(</a:t>
            </a:r>
            <a:r>
              <a:rPr sz="1400" i="0">
                <a:solidFill>
                  <a:srgbClr val="E8EDF2"/>
                </a:solidFill>
                <a:latin typeface="Consolas"/>
              </a:rPr>
              <a:t>done</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7DCEA0"/>
                </a:solidFill>
                <a:latin typeface="Consolas"/>
              </a:rPr>
              <a:t>"""Tasks whose dependencies are all satisfied -- the successor</a:t>
            </a:r>
          </a:p>
          <a:p>
            <a:pPr>
              <a:lnSpc>
                <a:spcPct val="100000"/>
              </a:lnSpc>
              <a:spcAft>
                <a:spcPts val="0"/>
              </a:spcAft>
            </a:pPr>
            <a:r>
              <a:rPr sz="1400" i="0">
                <a:solidFill>
                  <a:srgbClr val="7DCEA0"/>
                </a:solidFill>
                <a:latin typeface="Consolas"/>
              </a:rPr>
              <a:t>    function of Chapter 4, in one line."""</a:t>
            </a:r>
          </a:p>
          <a:p>
            <a:pPr>
              <a:lnSpc>
                <a:spcPct val="100000"/>
              </a:lnSpc>
              <a:spcAft>
                <a:spcPts val="0"/>
              </a:spcAft>
            </a:pPr>
            <a:r>
              <a:rPr sz="1400" i="0">
                <a:solidFill>
                  <a:srgbClr val="E8EDF2"/>
                </a:solidFill>
                <a:latin typeface="Consolas"/>
              </a:rPr>
              <a:t>    </a:t>
            </a:r>
            <a:r>
              <a:rPr sz="1400" i="0">
                <a:solidFill>
                  <a:srgbClr val="5DADE2"/>
                </a:solidFill>
                <a:latin typeface="Consolas"/>
              </a:rPr>
              <a:t>return</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t</a:t>
            </a:r>
            <a:r>
              <a:rPr sz="1400" i="0">
                <a:solidFill>
                  <a:srgbClr val="E8EDF2"/>
                </a:solidFill>
                <a:latin typeface="Consolas"/>
              </a:rPr>
              <a:t> </a:t>
            </a:r>
            <a:r>
              <a:rPr sz="1400" i="0">
                <a:solidFill>
                  <a:srgbClr val="5DADE2"/>
                </a:solidFill>
                <a:latin typeface="Consolas"/>
              </a:rPr>
              <a:t>for</a:t>
            </a:r>
            <a:r>
              <a:rPr sz="1400" i="0">
                <a:solidFill>
                  <a:srgbClr val="E8EDF2"/>
                </a:solidFill>
                <a:latin typeface="Consolas"/>
              </a:rPr>
              <a:t> </a:t>
            </a:r>
            <a:r>
              <a:rPr sz="1400" i="0">
                <a:solidFill>
                  <a:srgbClr val="E8EDF2"/>
                </a:solidFill>
                <a:latin typeface="Consolas"/>
              </a:rPr>
              <a:t>t</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_</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deps</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in</a:t>
            </a:r>
            <a:r>
              <a:rPr sz="1400" i="0">
                <a:solidFill>
                  <a:srgbClr val="E8EDF2"/>
                </a:solidFill>
                <a:latin typeface="Consolas"/>
              </a:rPr>
              <a:t> </a:t>
            </a:r>
            <a:r>
              <a:rPr sz="1400" i="0">
                <a:solidFill>
                  <a:srgbClr val="E8EDF2"/>
                </a:solidFill>
                <a:latin typeface="Consolas"/>
              </a:rPr>
              <a:t>TASKS</a:t>
            </a:r>
            <a:r>
              <a:rPr sz="1400" i="0">
                <a:solidFill>
                  <a:srgbClr val="AEB6BF"/>
                </a:solidFill>
                <a:latin typeface="Consolas"/>
              </a:rPr>
              <a:t>.</a:t>
            </a:r>
            <a:r>
              <a:rPr sz="1400" i="0">
                <a:solidFill>
                  <a:srgbClr val="E8EDF2"/>
                </a:solidFill>
                <a:latin typeface="Consolas"/>
              </a:rPr>
              <a:t>items</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if</a:t>
            </a:r>
            <a:r>
              <a:rPr sz="1400" i="0">
                <a:solidFill>
                  <a:srgbClr val="E8EDF2"/>
                </a:solidFill>
                <a:latin typeface="Consolas"/>
              </a:rPr>
              <a:t> </a:t>
            </a:r>
            <a:r>
              <a:rPr sz="1400" i="0">
                <a:solidFill>
                  <a:srgbClr val="E8EDF2"/>
                </a:solidFill>
                <a:latin typeface="Consolas"/>
              </a:rPr>
              <a:t>t</a:t>
            </a:r>
            <a:r>
              <a:rPr sz="1400" i="0">
                <a:solidFill>
                  <a:srgbClr val="E8EDF2"/>
                </a:solidFill>
                <a:latin typeface="Consolas"/>
              </a:rPr>
              <a:t> </a:t>
            </a:r>
            <a:r>
              <a:rPr sz="1400" i="0">
                <a:solidFill>
                  <a:srgbClr val="AEB6BF"/>
                </a:solidFill>
                <a:latin typeface="Consolas"/>
              </a:rPr>
              <a:t>not</a:t>
            </a:r>
            <a:r>
              <a:rPr sz="1400" i="0">
                <a:solidFill>
                  <a:srgbClr val="E8EDF2"/>
                </a:solidFill>
                <a:latin typeface="Consolas"/>
              </a:rPr>
              <a:t> </a:t>
            </a:r>
            <a:r>
              <a:rPr sz="1400" i="0">
                <a:solidFill>
                  <a:srgbClr val="AEB6BF"/>
                </a:solidFill>
                <a:latin typeface="Consolas"/>
              </a:rPr>
              <a:t>in</a:t>
            </a:r>
            <a:r>
              <a:rPr sz="1400" i="0">
                <a:solidFill>
                  <a:srgbClr val="E8EDF2"/>
                </a:solidFill>
                <a:latin typeface="Consolas"/>
              </a:rPr>
              <a:t> </a:t>
            </a:r>
            <a:r>
              <a:rPr sz="1400" i="0">
                <a:solidFill>
                  <a:srgbClr val="E8EDF2"/>
                </a:solidFill>
                <a:latin typeface="Consolas"/>
              </a:rPr>
              <a:t>done</a:t>
            </a:r>
            <a:r>
              <a:rPr sz="1400" i="0">
                <a:solidFill>
                  <a:srgbClr val="E8EDF2"/>
                </a:solidFill>
                <a:latin typeface="Consolas"/>
              </a:rPr>
              <a:t> </a:t>
            </a:r>
            <a:r>
              <a:rPr sz="1400" i="0">
                <a:solidFill>
                  <a:srgbClr val="AEB6BF"/>
                </a:solidFill>
                <a:latin typeface="Consolas"/>
              </a:rPr>
              <a:t>and</a:t>
            </a:r>
            <a:r>
              <a:rPr sz="1400" i="0">
                <a:solidFill>
                  <a:srgbClr val="E8EDF2"/>
                </a:solidFill>
                <a:latin typeface="Consolas"/>
              </a:rPr>
              <a:t> </a:t>
            </a:r>
            <a:r>
              <a:rPr sz="1400" i="0">
                <a:solidFill>
                  <a:srgbClr val="E8EDF2"/>
                </a:solidFill>
                <a:latin typeface="Consolas"/>
              </a:rPr>
              <a:t>deps</a:t>
            </a:r>
            <a:r>
              <a:rPr sz="1400" i="0">
                <a:solidFill>
                  <a:srgbClr val="E8EDF2"/>
                </a:solidFill>
                <a:latin typeface="Consolas"/>
              </a:rPr>
              <a:t> </a:t>
            </a:r>
            <a:r>
              <a:rPr sz="1400" i="0">
                <a:solidFill>
                  <a:srgbClr val="AEB6BF"/>
                </a:solidFill>
                <a:latin typeface="Consolas"/>
              </a:rPr>
              <a:t>&lt;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done</a:t>
            </a:r>
            <a:r>
              <a:rPr sz="1400" i="0">
                <a:solidFill>
                  <a:srgbClr val="AEB6BF"/>
                </a:solidFill>
                <a:latin typeface="Consolas"/>
              </a:rPr>
              <a:t>}</a:t>
            </a:r>
          </a:p>
        </p:txBody>
      </p:sp>
      <p:sp>
        <p:nvSpPr>
          <p:cNvPr id="16" name="!!body-0-num"/>
          <p:cNvSpPr txBox="1"/>
          <p:nvPr/>
        </p:nvSpPr>
        <p:spPr>
          <a:xfrm>
            <a:off x="1170432" y="2487168"/>
            <a:ext cx="393192" cy="3895343"/>
          </a:xfrm>
          <a:prstGeom prst="rect">
            <a:avLst/>
          </a:prstGeom>
          <a:noFill/>
        </p:spPr>
        <p:txBody>
          <a:bodyPr wrap="none" anchor="t" lIns="0" rIns="0" tIns="0" bIns="0">
            <a:noAutofit/>
          </a:bodyPr>
          <a:lstStyle/>
          <a:p>
            <a:pPr algn="r">
              <a:lnSpc>
                <a:spcPct val="100000"/>
              </a:lnSpc>
            </a:pPr>
            <a:r>
              <a:rPr sz="1400">
                <a:solidFill>
                  <a:srgbClr val="4F5D6A"/>
                </a:solidFill>
                <a:latin typeface="Consolas"/>
              </a:rPr>
              <a:t>1</a:t>
            </a:r>
          </a:p>
          <a:p>
            <a:pPr algn="r">
              <a:lnSpc>
                <a:spcPct val="100000"/>
              </a:lnSpc>
            </a:pPr>
            <a:r>
              <a:rPr sz="1400">
                <a:solidFill>
                  <a:srgbClr val="4F5D6A"/>
                </a:solidFill>
                <a:latin typeface="Consolas"/>
              </a:rPr>
              <a:t>2</a:t>
            </a:r>
          </a:p>
          <a:p>
            <a:pPr algn="r">
              <a:lnSpc>
                <a:spcPct val="100000"/>
              </a:lnSpc>
            </a:pPr>
            <a:r>
              <a:rPr sz="1400">
                <a:solidFill>
                  <a:srgbClr val="4F5D6A"/>
                </a:solidFill>
                <a:latin typeface="Consolas"/>
              </a:rPr>
              <a:t>3</a:t>
            </a:r>
          </a:p>
          <a:p>
            <a:pPr algn="r">
              <a:lnSpc>
                <a:spcPct val="100000"/>
              </a:lnSpc>
            </a:pPr>
            <a:r>
              <a:rPr sz="1400">
                <a:solidFill>
                  <a:srgbClr val="4F5D6A"/>
                </a:solidFill>
                <a:latin typeface="Consolas"/>
              </a:rPr>
              <a:t>4</a:t>
            </a:r>
          </a:p>
          <a:p>
            <a:pPr algn="r">
              <a:lnSpc>
                <a:spcPct val="100000"/>
              </a:lnSpc>
            </a:pPr>
            <a:r>
              <a:rPr sz="1400">
                <a:solidFill>
                  <a:srgbClr val="4F5D6A"/>
                </a:solidFill>
                <a:latin typeface="Consolas"/>
              </a:rPr>
              <a:t>5</a:t>
            </a:r>
          </a:p>
          <a:p>
            <a:pPr algn="r">
              <a:lnSpc>
                <a:spcPct val="100000"/>
              </a:lnSpc>
            </a:pPr>
            <a:r>
              <a:rPr sz="1400">
                <a:solidFill>
                  <a:srgbClr val="4F5D6A"/>
                </a:solidFill>
                <a:latin typeface="Consolas"/>
              </a:rPr>
              <a:t>6</a:t>
            </a:r>
          </a:p>
          <a:p>
            <a:pPr algn="r">
              <a:lnSpc>
                <a:spcPct val="100000"/>
              </a:lnSpc>
            </a:pPr>
            <a:r>
              <a:rPr sz="1400">
                <a:solidFill>
                  <a:srgbClr val="4F5D6A"/>
                </a:solidFill>
                <a:latin typeface="Consolas"/>
              </a:rPr>
              <a:t>7</a:t>
            </a:r>
          </a:p>
          <a:p>
            <a:pPr algn="r">
              <a:lnSpc>
                <a:spcPct val="100000"/>
              </a:lnSpc>
            </a:pPr>
            <a:r>
              <a:rPr sz="1400">
                <a:solidFill>
                  <a:srgbClr val="4F5D6A"/>
                </a:solidFill>
                <a:latin typeface="Consolas"/>
              </a:rPr>
              <a:t>8</a:t>
            </a:r>
          </a:p>
          <a:p>
            <a:pPr algn="r">
              <a:lnSpc>
                <a:spcPct val="100000"/>
              </a:lnSpc>
            </a:pPr>
            <a:r>
              <a:rPr sz="1400">
                <a:solidFill>
                  <a:srgbClr val="4F5D6A"/>
                </a:solidFill>
                <a:latin typeface="Consolas"/>
              </a:rPr>
              <a:t>9</a:t>
            </a:r>
          </a:p>
          <a:p>
            <a:pPr algn="r">
              <a:lnSpc>
                <a:spcPct val="100000"/>
              </a:lnSpc>
            </a:pPr>
            <a:r>
              <a:rPr sz="1400">
                <a:solidFill>
                  <a:srgbClr val="4F5D6A"/>
                </a:solidFill>
                <a:latin typeface="Consolas"/>
              </a:rPr>
              <a:t>10</a:t>
            </a:r>
          </a:p>
          <a:p>
            <a:pPr algn="r">
              <a:lnSpc>
                <a:spcPct val="100000"/>
              </a:lnSpc>
            </a:pPr>
            <a:r>
              <a:rPr sz="1400">
                <a:solidFill>
                  <a:srgbClr val="4F5D6A"/>
                </a:solidFill>
                <a:latin typeface="Consolas"/>
              </a:rPr>
              <a:t>11</a:t>
            </a:r>
          </a:p>
          <a:p>
            <a:pPr algn="r">
              <a:lnSpc>
                <a:spcPct val="100000"/>
              </a:lnSpc>
            </a:pPr>
            <a:r>
              <a:rPr sz="1400">
                <a:solidFill>
                  <a:srgbClr val="4F5D6A"/>
                </a:solidFill>
                <a:latin typeface="Consolas"/>
              </a:rPr>
              <a:t>12</a:t>
            </a:r>
          </a:p>
          <a:p>
            <a:pPr algn="r">
              <a:lnSpc>
                <a:spcPct val="100000"/>
              </a:lnSpc>
            </a:pPr>
            <a:r>
              <a:rPr sz="1400">
                <a:solidFill>
                  <a:srgbClr val="4F5D6A"/>
                </a:solidFill>
                <a:latin typeface="Consolas"/>
              </a:rPr>
              <a:t>13</a:t>
            </a:r>
          </a:p>
          <a:p>
            <a:pPr algn="r">
              <a:lnSpc>
                <a:spcPct val="100000"/>
              </a:lnSpc>
            </a:pPr>
            <a:r>
              <a:rPr sz="1400">
                <a:solidFill>
                  <a:srgbClr val="4F5D6A"/>
                </a:solidFill>
                <a:latin typeface="Consolas"/>
              </a:rPr>
              <a:t>14</a:t>
            </a:r>
          </a:p>
          <a:p>
            <a:pPr algn="r">
              <a:lnSpc>
                <a:spcPct val="100000"/>
              </a:lnSpc>
            </a:pPr>
            <a:r>
              <a:rPr sz="1400">
                <a:solidFill>
                  <a:srgbClr val="4F5D6A"/>
                </a:solidFill>
                <a:latin typeface="Consolas"/>
              </a:rPr>
              <a:t>15</a:t>
            </a:r>
          </a:p>
          <a:p>
            <a:pPr algn="r">
              <a:lnSpc>
                <a:spcPct val="100000"/>
              </a:lnSpc>
            </a:pPr>
            <a:r>
              <a:rPr sz="1400">
                <a:solidFill>
                  <a:srgbClr val="4F5D6A"/>
                </a:solidFill>
                <a:latin typeface="Consolas"/>
              </a:rPr>
              <a:t>16</a:t>
            </a:r>
          </a:p>
          <a:p>
            <a:pPr algn="r">
              <a:lnSpc>
                <a:spcPct val="100000"/>
              </a:lnSpc>
            </a:pPr>
            <a:r>
              <a:rPr sz="1400">
                <a:solidFill>
                  <a:srgbClr val="4F5D6A"/>
                </a:solidFill>
                <a:latin typeface="Consolas"/>
              </a:rPr>
              <a:t>17</a:t>
            </a:r>
          </a:p>
          <a:p>
            <a:pPr algn="r">
              <a:lnSpc>
                <a:spcPct val="100000"/>
              </a:lnSpc>
            </a:pPr>
            <a:r>
              <a:rPr sz="1400">
                <a:solidFill>
                  <a:srgbClr val="4F5D6A"/>
                </a:solidFill>
                <a:latin typeface="Consolas"/>
              </a:rPr>
              <a:t>18</a:t>
            </a:r>
          </a:p>
        </p:txBody>
      </p:sp>
      <p:sp>
        <p:nvSpPr>
          <p:cNvPr id="1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pfill">
            <a:extLst>
              <a:ext uri="{C183D7F6-B498-43B3-948B-1728B52AA6E4}">
                <adec:decorative xmlns:adec="http://schemas.microsoft.com/office/drawing/2017/decorative" val="1"/>
              </a:ext>
            </a:extLst>
          </p:cNvPr>
          <p:cNvSpPr/>
          <p:nvPr/>
        </p:nvSpPr>
        <p:spPr>
          <a:xfrm>
            <a:off x="0" y="0"/>
            <a:ext cx="398574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project, as data (continued)</a:t>
            </a:r>
          </a:p>
        </p:txBody>
      </p:sp>
      <p:pic>
        <p:nvPicPr>
          <p:cNvPr id="3" name="!!kicker-icon" descr="code-27AE6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7AE60"/>
                </a:solidFill>
                <a:latin typeface="Segoe UI"/>
              </a:rPr>
              <a:t>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3  ·  Representations and Search in Python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§3.5  ·  Handout p. 25     </a:t>
            </a:r>
            <a:fld id="{B67438A1-73A8-4CE5-A4AE-47CB0991140F}" type="slidenum">
              <a:rPr lang="en-GB" sz="1000">
                <a:solidFill>
                  <a:srgbClr val="8795A1"/>
                </a:solidFill>
                <a:latin typeface="Segoe UI"/>
              </a:rPr>
              <a:t>18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953158"/>
          </a:xfrm>
          <a:prstGeom prst="roundRect">
            <a:avLst>
              <a:gd name="adj" fmla="val 4681"/>
            </a:avLst>
          </a:prstGeom>
          <a:solidFill>
            <a:srgbClr val="EAF7EF"/>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95315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377086"/>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Two things to notice. </a:t>
            </a:r>
            <a:r>
              <a:rPr sz="1950" b="0" i="0">
                <a:solidFill>
                  <a:srgbClr val="1F4E79"/>
                </a:solidFill>
                <a:latin typeface="Consolas"/>
              </a:rPr>
              <a:t>deps &lt;= done</a:t>
            </a:r>
            <a:r>
              <a:rPr sz="2100" b="0" i="0">
                <a:solidFill>
                  <a:srgbClr val="1C252B"/>
                </a:solidFill>
                <a:latin typeface="Segoe UI"/>
              </a:rPr>
              <a:t> is subset containment, which reads as “every dependency is done” — this is why dependencies are sets. And </a:t>
            </a:r>
            <a:r>
              <a:rPr sz="1950" b="0" i="0">
                <a:solidFill>
                  <a:srgbClr val="1F4E79"/>
                </a:solidFill>
                <a:latin typeface="Consolas"/>
              </a:rPr>
              <a:t>ready</a:t>
            </a:r>
            <a:r>
              <a:rPr sz="2100" b="0" i="0">
                <a:solidFill>
                  <a:srgbClr val="1C252B"/>
                </a:solidFill>
                <a:latin typeface="Segoe UI"/>
              </a:rPr>
              <a:t> returns the legal actions for a state, so it </a:t>
            </a:r>
            <a:r>
              <a:rPr sz="2100" b="0" i="1">
                <a:solidFill>
                  <a:srgbClr val="1C252B"/>
                </a:solidFill>
                <a:latin typeface="Segoe UI"/>
              </a:rPr>
              <a:t>is</a:t>
            </a:r>
            <a:r>
              <a:rPr sz="2100" b="0" i="0">
                <a:solidFill>
                  <a:srgbClr val="1C252B"/>
                </a:solidFill>
                <a:latin typeface="Segoe UI"/>
              </a:rPr>
              <a:t> the </a:t>
            </a:r>
            <a:r>
              <a:rPr sz="1950" b="0" i="0">
                <a:solidFill>
                  <a:srgbClr val="1F4E79"/>
                </a:solidFill>
                <a:latin typeface="Consolas"/>
              </a:rPr>
              <a:t>actions</a:t>
            </a:r>
            <a:r>
              <a:rPr sz="2100" b="0" i="0">
                <a:solidFill>
                  <a:srgbClr val="1C252B"/>
                </a:solidFill>
                <a:latin typeface="Segoe UI"/>
              </a:rPr>
              <a:t> method of a </a:t>
            </a:r>
            <a:r>
              <a:rPr sz="1950" b="0" i="0">
                <a:solidFill>
                  <a:srgbClr val="1F4E79"/>
                </a:solidFill>
                <a:latin typeface="Consolas"/>
              </a:rPr>
              <a:t>Problem</a:t>
            </a:r>
            <a:r>
              <a:rPr sz="2100" b="0" i="0">
                <a:solidFill>
                  <a:srgbClr val="1C252B"/>
                </a:solidFill>
                <a:latin typeface="Segoe UI"/>
              </a:rPr>
              <a:t>; Chapter 4 does no more than wrap it.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22020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the state representation decides whether search terminates</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3  ·  Representations and Search in Python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§3.6  ·  Handout p. 25     </a:t>
            </a:r>
            <a:fld id="{833DDF65-AF89-4FF6-AF64-53B1610D6CD8}" type="slidenum">
              <a:rPr lang="en-GB" sz="1000">
                <a:solidFill>
                  <a:srgbClr val="8795A1"/>
                </a:solidFill>
                <a:latin typeface="Segoe UI"/>
              </a:rPr>
              <a:t>19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76521"/>
          </a:xfrm>
          <a:prstGeom prst="roundRect">
            <a:avLst>
              <a:gd name="adj" fmla="val 2042"/>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7652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Two representations of “</a:t>
            </a:r>
            <a:r>
              <a:rPr sz="1800" b="0" i="0">
                <a:solidFill>
                  <a:srgbClr val="1F4E79"/>
                </a:solidFill>
                <a:latin typeface="Consolas"/>
              </a:rPr>
              <a:t>spec</a:t>
            </a:r>
            <a:r>
              <a:rPr sz="1900" b="0" i="0">
                <a:solidFill>
                  <a:srgbClr val="1C252B"/>
                </a:solidFill>
                <a:latin typeface="Segoe UI"/>
              </a:rPr>
              <a:t> and </a:t>
            </a:r>
            <a:r>
              <a:rPr sz="1800" b="0" i="0">
                <a:solidFill>
                  <a:srgbClr val="1F4E79"/>
                </a:solidFill>
                <a:latin typeface="Consolas"/>
              </a:rPr>
              <a:t>schema</a:t>
            </a:r>
            <a:r>
              <a:rPr sz="1900" b="0" i="0">
                <a:solidFill>
                  <a:srgbClr val="1C252B"/>
                </a:solidFill>
                <a:latin typeface="Segoe UI"/>
              </a:rPr>
              <a:t> are done”. Work out what each does to the search.</a:t>
            </a:r>
          </a:p>
        </p:txBody>
      </p:sp>
      <p:sp>
        <p:nvSpPr>
          <p:cNvPr id="10" name="body-1"/>
          <p:cNvSpPr txBox="1"/>
          <p:nvPr/>
        </p:nvSpPr>
        <p:spPr>
          <a:xfrm>
            <a:off x="1042416" y="2445537"/>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Representation A — a list, in completion order.</a:t>
            </a:r>
          </a:p>
        </p:txBody>
      </p:sp>
      <p:sp>
        <p:nvSpPr>
          <p:cNvPr id="11" name="body-2"/>
          <p:cNvSpPr txBox="1"/>
          <p:nvPr/>
        </p:nvSpPr>
        <p:spPr>
          <a:xfrm>
            <a:off x="1042416" y="2879394"/>
            <a:ext cx="10234879" cy="1033602"/>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Route 1: do </a:t>
            </a:r>
            <a:r>
              <a:rPr sz="1800" b="0" i="0">
                <a:solidFill>
                  <a:srgbClr val="1F4E79"/>
                </a:solidFill>
                <a:latin typeface="Consolas"/>
              </a:rPr>
              <a:t>spec</a:t>
            </a:r>
            <a:r>
              <a:rPr sz="1900" b="0" i="0">
                <a:solidFill>
                  <a:srgbClr val="1C252B"/>
                </a:solidFill>
                <a:latin typeface="Segoe UI"/>
              </a:rPr>
              <a:t>, then </a:t>
            </a:r>
            <a:r>
              <a:rPr sz="1800" b="0" i="0">
                <a:solidFill>
                  <a:srgbClr val="1F4E79"/>
                </a:solidFill>
                <a:latin typeface="Consolas"/>
              </a:rPr>
              <a:t>schema</a:t>
            </a:r>
            <a:r>
              <a:rPr sz="1900" b="0" i="0">
                <a:solidFill>
                  <a:srgbClr val="1C252B"/>
                </a:solidFill>
                <a:latin typeface="Segoe UI"/>
              </a:rPr>
              <a:t> </a:t>
            </a:r>
            <a:r>
              <a:rPr sz="1900" b="0" i="0">
                <a:solidFill>
                  <a:srgbClr val="1C252B"/>
                </a:solidFill>
                <a:latin typeface="Cambria"/>
              </a:rPr>
              <a:t>⇒ </a:t>
            </a:r>
            <a:r>
              <a:rPr sz="1800" b="0" i="0">
                <a:solidFill>
                  <a:srgbClr val="1F4E79"/>
                </a:solidFill>
                <a:latin typeface="Consolas"/>
              </a:rPr>
              <a:t>["spec", "schema"]</a:t>
            </a:r>
          </a:p>
          <a:p>
            <a:pPr algn="l" marL="212450" indent="-212450">
              <a:lnSpc>
                <a:spcPct val="104000"/>
              </a:lnSpc>
              <a:spcBef>
                <a:spcPts val="0"/>
              </a:spcBef>
              <a:spcAft>
                <a:spcPts val="0"/>
              </a:spcAft>
            </a:pPr>
            <a:r>
              <a:rPr sz="1900" b="1">
                <a:solidFill>
                  <a:srgbClr val="7D6608"/>
                </a:solidFill>
                <a:latin typeface="Segoe UI"/>
              </a:rPr>
              <a:t>•	</a:t>
            </a:r>
            <a:r>
              <a:rPr sz="1900" b="0" i="0">
                <a:solidFill>
                  <a:srgbClr val="1C252B"/>
                </a:solidFill>
                <a:latin typeface="Segoe UI"/>
              </a:rPr>
              <a:t>Route 2: not possible here, since </a:t>
            </a:r>
            <a:r>
              <a:rPr sz="1800" b="0" i="0">
                <a:solidFill>
                  <a:srgbClr val="1F4E79"/>
                </a:solidFill>
                <a:latin typeface="Consolas"/>
              </a:rPr>
              <a:t>schema</a:t>
            </a:r>
            <a:r>
              <a:rPr sz="1900" b="0" i="0">
                <a:solidFill>
                  <a:srgbClr val="1C252B"/>
                </a:solidFill>
                <a:latin typeface="Segoe UI"/>
              </a:rPr>
              <a:t> depends on </a:t>
            </a:r>
            <a:r>
              <a:rPr sz="1800" b="0" i="0">
                <a:solidFill>
                  <a:srgbClr val="1F4E79"/>
                </a:solidFill>
                <a:latin typeface="Consolas"/>
              </a:rPr>
              <a:t>spec</a:t>
            </a:r>
            <a:r>
              <a:rPr sz="1900" b="0" i="0">
                <a:solidFill>
                  <a:srgbClr val="1C252B"/>
                </a:solidFill>
                <a:latin typeface="Segoe UI"/>
              </a:rPr>
              <a:t> — so extend the example by one task. With </a:t>
            </a:r>
            <a:r>
              <a:rPr sz="1800" b="0" i="0">
                <a:solidFill>
                  <a:srgbClr val="1F4E79"/>
                </a:solidFill>
                <a:latin typeface="Consolas"/>
              </a:rPr>
              <a:t>ui</a:t>
            </a:r>
            <a:r>
              <a:rPr sz="1900" b="0" i="0">
                <a:solidFill>
                  <a:srgbClr val="1C252B"/>
                </a:solidFill>
                <a:latin typeface="Segoe UI"/>
              </a:rPr>
              <a:t> also done: </a:t>
            </a:r>
            <a:r>
              <a:rPr sz="1800" b="0" i="0">
                <a:solidFill>
                  <a:srgbClr val="1F4E79"/>
                </a:solidFill>
                <a:latin typeface="Consolas"/>
              </a:rPr>
              <a:t>["spec", "schema", "ui"]</a:t>
            </a:r>
            <a:r>
              <a:rPr sz="1900" b="0" i="0">
                <a:solidFill>
                  <a:srgbClr val="1C252B"/>
                </a:solidFill>
                <a:latin typeface="Segoe UI"/>
              </a:rPr>
              <a:t> and </a:t>
            </a:r>
            <a:r>
              <a:rPr sz="1800" b="0" i="0">
                <a:solidFill>
                  <a:srgbClr val="1F4E79"/>
                </a:solidFill>
                <a:latin typeface="Consolas"/>
              </a:rPr>
              <a:t>["spec", "ui", "schema"]</a:t>
            </a:r>
            <a:r>
              <a:rPr sz="1900" b="0" i="0">
                <a:solidFill>
                  <a:srgbClr val="1C252B"/>
                </a:solidFill>
                <a:latin typeface="Segoe UI"/>
              </a:rPr>
              <a:t>.</a:t>
            </a:r>
          </a:p>
        </p:txBody>
      </p:sp>
      <p:sp>
        <p:nvSpPr>
          <p:cNvPr id="12" name="body-3"/>
          <p:cNvSpPr txBox="1"/>
          <p:nvPr/>
        </p:nvSpPr>
        <p:spPr>
          <a:xfrm>
            <a:off x="1042416" y="3999992"/>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These two lists are not equal. A list is also unhashable, so they cannot go in a set at all. Both routes are explored separately, and everything below them is explored twice.</a:t>
            </a:r>
          </a:p>
        </p:txBody>
      </p:sp>
      <p:sp>
        <p:nvSpPr>
          <p:cNvPr id="13" name="body-4"/>
          <p:cNvSpPr txBox="1"/>
          <p:nvPr/>
        </p:nvSpPr>
        <p:spPr>
          <a:xfrm>
            <a:off x="1042416" y="4734991"/>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Counting the damage.</a:t>
            </a:r>
            <a:r>
              <a:rPr sz="1900" b="0" i="0">
                <a:solidFill>
                  <a:srgbClr val="1C252B"/>
                </a:solidFill>
                <a:latin typeface="Segoe UI"/>
              </a:rPr>
              <a:t> With </a:t>
            </a:r>
            <a:r>
              <a:rPr sz="1900" b="0" i="1">
                <a:solidFill>
                  <a:srgbClr val="1C252B"/>
                </a:solidFill>
                <a:latin typeface="Cambria"/>
              </a:rPr>
              <a:t>n</a:t>
            </a:r>
            <a:r>
              <a:rPr sz="1900" b="0" i="0">
                <a:solidFill>
                  <a:srgbClr val="1C252B"/>
                </a:solidFill>
                <a:latin typeface="Segoe UI"/>
              </a:rPr>
              <a:t> mutually independent tasks completed in any order, the number of distinct </a:t>
            </a:r>
            <a:r>
              <a:rPr sz="1900" b="0" i="1">
                <a:solidFill>
                  <a:srgbClr val="1C252B"/>
                </a:solidFill>
                <a:latin typeface="Segoe UI"/>
              </a:rPr>
              <a:t>orderings</a:t>
            </a:r>
            <a:r>
              <a:rPr sz="1900" b="0" i="0">
                <a:solidFill>
                  <a:srgbClr val="1C252B"/>
                </a:solidFill>
                <a:latin typeface="Segoe UI"/>
              </a:rPr>
              <a:t> is </a:t>
            </a:r>
            <a:r>
              <a:rPr sz="1900" b="0" i="1">
                <a:solidFill>
                  <a:srgbClr val="1C252B"/>
                </a:solidFill>
                <a:latin typeface="Cambria"/>
              </a:rPr>
              <a:t>n</a:t>
            </a:r>
            <a:r>
              <a:rPr sz="1900" b="0" i="0">
                <a:solidFill>
                  <a:srgbClr val="1C252B"/>
                </a:solidFill>
                <a:latin typeface="Cambria"/>
              </a:rPr>
              <a:t>!</a:t>
            </a:r>
            <a:r>
              <a:rPr sz="1900" b="0" i="0">
                <a:solidFill>
                  <a:srgbClr val="1C252B"/>
                </a:solidFill>
                <a:latin typeface="Segoe UI"/>
              </a:rPr>
              <a:t> while the number of distinct </a:t>
            </a:r>
            <a:r>
              <a:rPr sz="1900" b="0" i="1">
                <a:solidFill>
                  <a:srgbClr val="1C252B"/>
                </a:solidFill>
                <a:latin typeface="Segoe UI"/>
              </a:rPr>
              <a:t>situations</a:t>
            </a:r>
            <a:r>
              <a:rPr sz="1900" b="0" i="0">
                <a:solidFill>
                  <a:srgbClr val="1C252B"/>
                </a:solidFill>
                <a:latin typeface="Segoe UI"/>
              </a:rPr>
              <a:t> is </a:t>
            </a:r>
            <a:r>
              <a:rPr sz="1900" b="0" i="0">
                <a:solidFill>
                  <a:srgbClr val="1C252B"/>
                </a:solidFill>
                <a:latin typeface="Cambria"/>
              </a:rPr>
              <a:t>1</a:t>
            </a:r>
            <a:r>
              <a:rPr sz="1900" b="0" i="0">
                <a:solidFill>
                  <a:srgbClr val="1C252B"/>
                </a:solidFill>
                <a:latin typeface="Segoe UI"/>
              </a:rPr>
              <a:t>. The dependencies in this project rule out most orderings, so the real gap is smaller than </a:t>
            </a:r>
            <a:r>
              <a:rPr sz="1900" b="0" i="1">
                <a:solidFill>
                  <a:srgbClr val="1C252B"/>
                </a:solidFill>
                <a:latin typeface="Cambria"/>
              </a:rPr>
              <a:t>n</a:t>
            </a:r>
            <a:r>
              <a:rPr sz="1900" b="0" i="0">
                <a:solidFill>
                  <a:srgbClr val="1C252B"/>
                </a:solidFill>
                <a:latin typeface="Cambria"/>
              </a:rPr>
              <a:t>!</a:t>
            </a:r>
            <a:r>
              <a:rPr sz="1900" b="0" i="0">
                <a:solidFill>
                  <a:srgbClr val="1C252B"/>
                </a:solidFill>
                <a:latin typeface="Segoe UI"/>
              </a:rPr>
              <a:t> but still large: the lab counts </a:t>
            </a:r>
            <a:r>
              <a:rPr sz="1900" b="0" i="0">
                <a:solidFill>
                  <a:srgbClr val="1C252B"/>
                </a:solidFill>
                <a:latin typeface="Cambria"/>
              </a:rPr>
              <a:t>184</a:t>
            </a:r>
            <a:r>
              <a:rPr sz="1900" b="0" i="0">
                <a:solidFill>
                  <a:srgbClr val="1C252B"/>
                </a:solidFill>
                <a:latin typeface="Segoe UI"/>
              </a:rPr>
              <a:t> reachable sequences against </a:t>
            </a:r>
            <a:r>
              <a:rPr sz="1900" b="0" i="0">
                <a:solidFill>
                  <a:srgbClr val="1C252B"/>
                </a:solidFill>
                <a:latin typeface="Cambria"/>
              </a:rPr>
              <a:t>22</a:t>
            </a:r>
            <a:r>
              <a:rPr sz="1900" b="0" i="0">
                <a:solidFill>
                  <a:srgbClr val="1C252B"/>
                </a:solidFill>
                <a:latin typeface="Segoe UI"/>
              </a:rPr>
              <a:t> reachable states, a factor of </a:t>
            </a:r>
            <a:r>
              <a:rPr sz="1900" b="0" i="0">
                <a:solidFill>
                  <a:srgbClr val="1C252B"/>
                </a:solidFill>
                <a:latin typeface="Cambria"/>
              </a:rPr>
              <a:t>8</a:t>
            </a:r>
            <a:r>
              <a:rPr sz="1900" b="0" i="0">
                <a:solidFill>
                  <a:srgbClr val="1C252B"/>
                </a:solidFill>
                <a:latin typeface="Segoe UI"/>
              </a:rPr>
              <a:t>.</a:t>
            </a:r>
          </a:p>
        </p:txBody>
      </p:sp>
      <p:sp>
        <p:nvSpPr>
          <p:cNvPr id="14" name="body-4bar">
            <a:extLst>
              <a:ext uri="{C183D7F6-B498-43B3-948B-1728B52AA6E4}">
                <adec:decorative xmlns:adec="http://schemas.microsoft.com/office/drawing/2017/decorative" val="1"/>
              </a:ext>
            </a:extLst>
          </p:cNvPr>
          <p:cNvSpPr/>
          <p:nvPr/>
        </p:nvSpPr>
        <p:spPr>
          <a:xfrm>
            <a:off x="841248" y="4753279"/>
            <a:ext cx="54864" cy="11862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pfill">
            <a:extLst>
              <a:ext uri="{C183D7F6-B498-43B3-948B-1728B52AA6E4}">
                <adec:decorative xmlns:adec="http://schemas.microsoft.com/office/drawing/2017/decorative" val="1"/>
              </a:ext>
            </a:extLst>
          </p:cNvPr>
          <p:cNvSpPr/>
          <p:nvPr/>
        </p:nvSpPr>
        <p:spPr>
          <a:xfrm>
            <a:off x="0" y="0"/>
            <a:ext cx="445465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xEl>
                                              <p:pRg st="0" end="0"/>
                                            </p:txEl>
                                          </p:spTgt>
                                        </p:tgtEl>
                                        <p:attrNameLst>
                                          <p:attrName>style.visibility</p:attrName>
                                        </p:attrNameLst>
                                      </p:cBhvr>
                                      <p:to>
                                        <p:strVal val="visible"/>
                                      </p:to>
                                    </p:set>
                                    <p:animEffect transition="in" filter="fade">
                                      <p:cBhvr>
                                        <p:cTn id="13" dur="350"/>
                                        <p:tgtEl>
                                          <p:spTgt spid="11">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xEl>
                                              <p:pRg st="1" end="1"/>
                                            </p:txEl>
                                          </p:spTgt>
                                        </p:tgtEl>
                                        <p:attrNameLst>
                                          <p:attrName>style.visibility</p:attrName>
                                        </p:attrNameLst>
                                      </p:cBhvr>
                                      <p:to>
                                        <p:strVal val="visible"/>
                                      </p:to>
                                    </p:set>
                                    <p:animEffect transition="in" filter="fade">
                                      <p:cBhvr>
                                        <p:cTn id="18" dur="350"/>
                                        <p:tgtEl>
                                          <p:spTgt spid="11">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right)">
                                      <p:cBhvr>
                                        <p:cTn id="23" dur="42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right)">
                                      <p:cBhvr>
                                        <p:cTn id="28" dur="420"/>
                                        <p:tgtEl>
                                          <p:spTgt spid="1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42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the state representation decides whether search terminates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3  ·  Representations and Search in Python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§3.6  ·  Handout p. 25     </a:t>
            </a:r>
            <a:fld id="{BB7AB766-A129-46F8-B8DC-9208CAF7C1BD}" type="slidenum">
              <a:rPr lang="en-GB" sz="1000">
                <a:solidFill>
                  <a:srgbClr val="8795A1"/>
                </a:solidFill>
                <a:latin typeface="Segoe UI"/>
              </a:rPr>
              <a:t>20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078159"/>
          </a:xfrm>
          <a:prstGeom prst="roundRect">
            <a:avLst>
              <a:gd name="adj" fmla="val 2970"/>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07815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Representation B — a </a:t>
            </a:r>
            <a:r>
              <a:rPr sz="1800" b="1" i="0">
                <a:solidFill>
                  <a:srgbClr val="1F4E79"/>
                </a:solidFill>
                <a:latin typeface="Consolas"/>
              </a:rPr>
              <a:t>frozenset</a:t>
            </a:r>
            <a:r>
              <a:rPr sz="1900" b="1" i="0">
                <a:solidFill>
                  <a:srgbClr val="1C252B"/>
                </a:solidFill>
                <a:latin typeface="Segoe UI"/>
              </a:rPr>
              <a:t>.</a:t>
            </a:r>
          </a:p>
        </p:txBody>
      </p:sp>
      <p:sp>
        <p:nvSpPr>
          <p:cNvPr id="10" name="body-0bar">
            <a:extLst>
              <a:ext uri="{C183D7F6-B498-43B3-948B-1728B52AA6E4}">
                <adec:decorative xmlns:adec="http://schemas.microsoft.com/office/drawing/2017/decorative" val="1"/>
              </a:ext>
            </a:extLst>
          </p:cNvPr>
          <p:cNvSpPr/>
          <p:nvPr/>
        </p:nvSpPr>
        <p:spPr>
          <a:xfrm>
            <a:off x="841248" y="2029967"/>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1" name="body-1" descr="\texttt{frozenset(\{&quot;spec&quot;,&quot;schema&quot;,&quot;ui&quot;\})} \;=\; \texttt{frozenset(\{&quot;spec&quot;,&quot;ui&quot;,&quot;schema&quot;\})}"/>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2445537"/>
            <a:ext cx="10234879" cy="324520"/>
          </a:xfrm>
          <a:prstGeom prst="rect">
            <a:avLst/>
          </a:prstGeom>
        </p:spPr>
      </p:pic>
      <p:sp>
        <p:nvSpPr>
          <p:cNvPr id="12" name="body-2"/>
          <p:cNvSpPr txBox="1"/>
          <p:nvPr/>
        </p:nvSpPr>
        <p:spPr>
          <a:xfrm>
            <a:off x="1042416" y="2902772"/>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Equal, and equal hashes. So the second route arrives at a state already in the explored set and is cut off immediately.</a:t>
            </a:r>
          </a:p>
        </p:txBody>
      </p:sp>
      <p:sp>
        <p:nvSpPr>
          <p:cNvPr id="13" name="body-3"/>
          <p:cNvSpPr txBox="1"/>
          <p:nvPr/>
        </p:nvSpPr>
        <p:spPr>
          <a:xfrm>
            <a:off x="1042416" y="3637772"/>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measurement.</a:t>
            </a:r>
            <a:r>
              <a:rPr sz="1900" b="0" i="0">
                <a:solidFill>
                  <a:srgbClr val="1C252B"/>
                </a:solidFill>
                <a:latin typeface="Segoe UI"/>
              </a:rPr>
              <a:t> This chapter’s lab reports both numbers on this project: </a:t>
            </a:r>
            <a:r>
              <a:rPr sz="1900" b="0" i="0">
                <a:solidFill>
                  <a:srgbClr val="1C252B"/>
                </a:solidFill>
                <a:latin typeface="Cambria"/>
              </a:rPr>
              <a:t>22</a:t>
            </a:r>
            <a:r>
              <a:rPr sz="1900" b="0" i="0">
                <a:solidFill>
                  <a:srgbClr val="1C252B"/>
                </a:solidFill>
                <a:latin typeface="Segoe UI"/>
              </a:rPr>
              <a:t> states reachable as sets against </a:t>
            </a:r>
            <a:r>
              <a:rPr sz="1900" b="0" i="0">
                <a:solidFill>
                  <a:srgbClr val="1C252B"/>
                </a:solidFill>
                <a:latin typeface="Cambria"/>
              </a:rPr>
              <a:t>184</a:t>
            </a:r>
            <a:r>
              <a:rPr sz="1900" b="0" i="0">
                <a:solidFill>
                  <a:srgbClr val="1C252B"/>
                </a:solidFill>
                <a:latin typeface="Segoe UI"/>
              </a:rPr>
              <a:t> paths as sequences. The search is the same search. </a:t>
            </a:r>
            <a:r>
              <a:rPr sz="1900" b="0" i="1">
                <a:solidFill>
                  <a:srgbClr val="1C252B"/>
                </a:solidFill>
                <a:latin typeface="Segoe UI"/>
              </a:rPr>
              <a:t>The representation bought a factor of eight, and not one line of algorithm changed.</a:t>
            </a:r>
          </a:p>
        </p:txBody>
      </p:sp>
      <p:sp>
        <p:nvSpPr>
          <p:cNvPr id="14" name="body-3bar">
            <a:extLst>
              <a:ext uri="{C183D7F6-B498-43B3-948B-1728B52AA6E4}">
                <adec:decorative xmlns:adec="http://schemas.microsoft.com/office/drawing/2017/decorative" val="1"/>
              </a:ext>
            </a:extLst>
          </p:cNvPr>
          <p:cNvSpPr/>
          <p:nvPr/>
        </p:nvSpPr>
        <p:spPr>
          <a:xfrm>
            <a:off x="841248" y="3656060"/>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 name="!!pfill">
            <a:extLst>
              <a:ext uri="{C183D7F6-B498-43B3-948B-1728B52AA6E4}">
                <adec:decorative xmlns:adec="http://schemas.microsoft.com/office/drawing/2017/decorative" val="1"/>
              </a:ext>
            </a:extLst>
          </p:cNvPr>
          <p:cNvSpPr/>
          <p:nvPr/>
        </p:nvSpPr>
        <p:spPr>
          <a:xfrm>
            <a:off x="0" y="0"/>
            <a:ext cx="468911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right)">
                                      <p:cBhvr>
                                        <p:cTn id="16" dur="42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right)">
                                      <p:cBhvr>
                                        <p:cTn id="21" dur="42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wipe(right)">
                                      <p:cBhvr>
                                        <p:cTn id="26" dur="420"/>
                                        <p:tgtEl>
                                          <p:spTgt spid="1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2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the state representation decides whether search terminates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3  ·  Representations and Search in Python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§3.6  ·  Handout p. 25     </a:t>
            </a:r>
            <a:fld id="{9A8D8350-A1E3-4A66-B2AC-DAA4530BFEE0}" type="slidenum">
              <a:rPr lang="en-GB" sz="1000">
                <a:solidFill>
                  <a:srgbClr val="8795A1"/>
                </a:solidFill>
                <a:latin typeface="Segoe UI"/>
              </a:rPr>
              <a:t>21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391636"/>
          </a:xfrm>
          <a:prstGeom prst="roundRect">
            <a:avLst>
              <a:gd name="adj" fmla="val 2696"/>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39163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155143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And the factor grows with the project. Add one task that depends on nothing and is required by nothing, and it can be inserted at any point in every existing sequence: the sequence count multiplies by roughly the plan length, while the state count merely doubles. On a realistic backlog of forty loosely coupled stories the ratio is no longer eight but astronomical, which is why this is a representation decision and not a micro-optimisation.</a:t>
            </a:r>
          </a:p>
        </p:txBody>
      </p:sp>
      <p:sp>
        <p:nvSpPr>
          <p:cNvPr id="10" name="body-1"/>
          <p:cNvSpPr txBox="1"/>
          <p:nvPr/>
        </p:nvSpPr>
        <p:spPr>
          <a:xfrm>
            <a:off x="1042416" y="3650107"/>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lesson to carry forward.</a:t>
            </a:r>
            <a:r>
              <a:rPr sz="1900" b="0" i="0">
                <a:solidFill>
                  <a:srgbClr val="1C252B"/>
                </a:solidFill>
                <a:latin typeface="Segoe UI"/>
              </a:rPr>
              <a:t> When a search is too slow, look at the state representation </a:t>
            </a:r>
            <a:r>
              <a:rPr sz="1900" b="0" i="1">
                <a:solidFill>
                  <a:srgbClr val="1C252B"/>
                </a:solidFill>
                <a:latin typeface="Segoe UI"/>
              </a:rPr>
              <a:t>before</a:t>
            </a:r>
            <a:r>
              <a:rPr sz="1900" b="0" i="0">
                <a:solidFill>
                  <a:srgbClr val="1C252B"/>
                </a:solidFill>
                <a:latin typeface="Segoe UI"/>
              </a:rPr>
              <a:t> looking at the algorithm. Ask: does my state record anything the goal test does not care about? Here, the order tasks were finished in is such a thing. Removing it is called </a:t>
            </a:r>
            <a:r>
              <a:rPr sz="1900" b="0" i="1">
                <a:solidFill>
                  <a:srgbClr val="1C252B"/>
                </a:solidFill>
                <a:latin typeface="Segoe UI"/>
              </a:rPr>
              <a:t>abstraction</a:t>
            </a:r>
            <a:r>
              <a:rPr sz="1900" b="0" i="0">
                <a:solidFill>
                  <a:srgbClr val="1C252B"/>
                </a:solidFill>
                <a:latin typeface="Segoe UI"/>
              </a:rPr>
              <a:t>, and it is the most effective single optimisation in this book.</a:t>
            </a:r>
          </a:p>
        </p:txBody>
      </p:sp>
      <p:sp>
        <p:nvSpPr>
          <p:cNvPr id="11" name="body-1bar">
            <a:extLst>
              <a:ext uri="{C183D7F6-B498-43B3-948B-1728B52AA6E4}">
                <adec:decorative xmlns:adec="http://schemas.microsoft.com/office/drawing/2017/decorative" val="1"/>
              </a:ext>
            </a:extLst>
          </p:cNvPr>
          <p:cNvSpPr/>
          <p:nvPr/>
        </p:nvSpPr>
        <p:spPr>
          <a:xfrm>
            <a:off x="841248" y="3668394"/>
            <a:ext cx="54864" cy="11862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pfill">
            <a:extLst>
              <a:ext uri="{C183D7F6-B498-43B3-948B-1728B52AA6E4}">
                <adec:decorative xmlns:adec="http://schemas.microsoft.com/office/drawing/2017/decorative" val="1"/>
              </a:ext>
            </a:extLst>
          </p:cNvPr>
          <p:cNvSpPr/>
          <p:nvPr/>
        </p:nvSpPr>
        <p:spPr>
          <a:xfrm>
            <a:off x="0" y="0"/>
            <a:ext cx="492356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2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3  ·  Representations and Search in Python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§3.6  ·  Handout p. 25     </a:t>
            </a:r>
            <a:fld id="{DF852E68-D2FC-4E66-BF37-E56C496BD79B}" type="slidenum">
              <a:rPr lang="en-GB" sz="1000">
                <a:solidFill>
                  <a:srgbClr val="8795A1"/>
                </a:solidFill>
                <a:latin typeface="Segoe UI"/>
              </a:rPr>
              <a:t>22</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570585"/>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A93226"/>
                </a:solidFill>
                <a:latin typeface="Segoe UI"/>
              </a:rPr>
              <a:t>A state class with mutable attributes.</a:t>
            </a:r>
            <a:r>
              <a:rPr sz="1800" b="0" i="0">
                <a:solidFill>
                  <a:srgbClr val="1C252B"/>
                </a:solidFill>
                <a:latin typeface="Segoe UI"/>
              </a:rPr>
              <a:t> Unhashable in practice, hashable by identity at worst, and the resulting search never terminates. Use a tuple, </a:t>
            </a:r>
            <a:r>
              <a:rPr sz="1700" b="0" i="0">
                <a:solidFill>
                  <a:srgbClr val="1F4E79"/>
                </a:solidFill>
                <a:latin typeface="Consolas"/>
              </a:rPr>
              <a:t>namedtuple</a:t>
            </a:r>
            <a:r>
              <a:rPr sz="1800" b="0" i="0">
                <a:solidFill>
                  <a:srgbClr val="1C252B"/>
                </a:solidFill>
                <a:latin typeface="Segoe UI"/>
              </a:rPr>
              <a:t> or </a:t>
            </a:r>
            <a:r>
              <a:rPr sz="1700" b="0" i="0">
                <a:solidFill>
                  <a:srgbClr val="1F4E79"/>
                </a:solidFill>
                <a:latin typeface="Consolas"/>
              </a:rPr>
              <a:t>frozenset</a:t>
            </a:r>
            <a:r>
              <a:rPr sz="1800" b="0" i="0">
                <a:solidFill>
                  <a:srgbClr val="1C252B"/>
                </a:solidFill>
                <a:latin typeface="Segoe UI"/>
              </a:rPr>
              <a:t>.</a:t>
            </a:r>
          </a:p>
        </p:txBody>
      </p:sp>
      <p:sp>
        <p:nvSpPr>
          <p:cNvPr id="10" name="!!pb1">
            <a:extLst>
              <a:ext uri="{C183D7F6-B498-43B3-948B-1728B52AA6E4}">
                <adec:decorative xmlns:adec="http://schemas.microsoft.com/office/drawing/2017/decorative" val="1"/>
              </a:ext>
            </a:extLst>
          </p:cNvPr>
          <p:cNvSpPr/>
          <p:nvPr/>
        </p:nvSpPr>
        <p:spPr>
          <a:xfrm>
            <a:off x="658368" y="2527401"/>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550261"/>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509113"/>
            <a:ext cx="10271455" cy="570585"/>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A93226"/>
                </a:solidFill>
                <a:latin typeface="Segoe UI"/>
              </a:rPr>
              <a:t>Mutating a state to make a successor.</a:t>
            </a:r>
            <a:r>
              <a:rPr sz="1800" b="0" i="0">
                <a:solidFill>
                  <a:srgbClr val="1C252B"/>
                </a:solidFill>
                <a:latin typeface="Segoe UI"/>
              </a:rPr>
              <a:t> </a:t>
            </a:r>
            <a:r>
              <a:rPr sz="1700" b="0" i="0">
                <a:solidFill>
                  <a:srgbClr val="1F4E79"/>
                </a:solidFill>
                <a:latin typeface="Consolas"/>
              </a:rPr>
              <a:t>done.add(t)</a:t>
            </a:r>
            <a:r>
              <a:rPr sz="1800" b="0" i="0">
                <a:solidFill>
                  <a:srgbClr val="1C252B"/>
                </a:solidFill>
                <a:latin typeface="Segoe UI"/>
              </a:rPr>
              <a:t> changes the parent that other frontier nodes point at. Write </a:t>
            </a:r>
            <a:r>
              <a:rPr sz="1700" b="0" i="0">
                <a:solidFill>
                  <a:srgbClr val="1F4E79"/>
                </a:solidFill>
                <a:latin typeface="Consolas"/>
              </a:rPr>
              <a:t>done | {t}</a:t>
            </a:r>
            <a:r>
              <a:rPr sz="1800" b="0" i="0">
                <a:solidFill>
                  <a:srgbClr val="1C252B"/>
                </a:solidFill>
                <a:latin typeface="Segoe UI"/>
              </a:rPr>
              <a:t>, which builds a new set.</a:t>
            </a:r>
          </a:p>
        </p:txBody>
      </p:sp>
      <p:sp>
        <p:nvSpPr>
          <p:cNvPr id="13" name="!!pb2">
            <a:extLst>
              <a:ext uri="{C183D7F6-B498-43B3-948B-1728B52AA6E4}">
                <adec:decorative xmlns:adec="http://schemas.microsoft.com/office/drawing/2017/decorative" val="1"/>
              </a:ext>
            </a:extLst>
          </p:cNvPr>
          <p:cNvSpPr/>
          <p:nvPr/>
        </p:nvSpPr>
        <p:spPr>
          <a:xfrm>
            <a:off x="658368" y="3299155"/>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322015"/>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280867"/>
            <a:ext cx="10271455" cy="570585"/>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A93226"/>
                </a:solidFill>
                <a:latin typeface="Segoe UI"/>
              </a:rPr>
              <a:t>Recording in the state something the goal test ignores.</a:t>
            </a:r>
            <a:r>
              <a:rPr sz="1800" b="0" i="0">
                <a:solidFill>
                  <a:srgbClr val="1C252B"/>
                </a:solidFill>
                <a:latin typeface="Segoe UI"/>
              </a:rPr>
              <a:t> Completion order, a timestamp, a counter of loop iterations. Each one multiplies the state space.</a:t>
            </a:r>
          </a:p>
        </p:txBody>
      </p:sp>
      <p:sp>
        <p:nvSpPr>
          <p:cNvPr id="16" name="!!pb3">
            <a:extLst>
              <a:ext uri="{C183D7F6-B498-43B3-948B-1728B52AA6E4}">
                <adec:decorative xmlns:adec="http://schemas.microsoft.com/office/drawing/2017/decorative" val="1"/>
              </a:ext>
            </a:extLst>
          </p:cNvPr>
          <p:cNvSpPr/>
          <p:nvPr/>
        </p:nvSpPr>
        <p:spPr>
          <a:xfrm>
            <a:off x="658368" y="407090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4093768"/>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4052620"/>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1F4E79"/>
                </a:solidFill>
                <a:latin typeface="Consolas"/>
              </a:rPr>
              <a:t>list.pop(0)</a:t>
            </a:r>
            <a:r>
              <a:rPr sz="1800" b="1" i="0">
                <a:solidFill>
                  <a:srgbClr val="1C252B"/>
                </a:solidFill>
                <a:latin typeface="Segoe UI"/>
              </a:rPr>
              <a:t> as a queue.</a:t>
            </a:r>
            <a:r>
              <a:rPr sz="1800" b="0" i="0">
                <a:solidFill>
                  <a:srgbClr val="1C252B"/>
                </a:solidFill>
                <a:latin typeface="Segoe UI"/>
              </a:rPr>
              <a:t> Quadratic. Use </a:t>
            </a:r>
            <a:r>
              <a:rPr sz="1700" b="0" i="0">
                <a:solidFill>
                  <a:srgbClr val="1F4E79"/>
                </a:solidFill>
                <a:latin typeface="Consolas"/>
              </a:rPr>
              <a:t>collections.deque</a:t>
            </a:r>
            <a:r>
              <a:rPr sz="1800" b="0" i="0">
                <a:solidFill>
                  <a:srgbClr val="1C252B"/>
                </a:solidFill>
                <a:latin typeface="Segoe UI"/>
              </a:rPr>
              <a:t>.</a:t>
            </a:r>
          </a:p>
        </p:txBody>
      </p:sp>
      <p:sp>
        <p:nvSpPr>
          <p:cNvPr id="19" name="!!pb4">
            <a:extLst>
              <a:ext uri="{C183D7F6-B498-43B3-948B-1728B52AA6E4}">
                <adec:decorative xmlns:adec="http://schemas.microsoft.com/office/drawing/2017/decorative" val="1"/>
              </a:ext>
            </a:extLst>
          </p:cNvPr>
          <p:cNvSpPr/>
          <p:nvPr/>
        </p:nvSpPr>
        <p:spPr>
          <a:xfrm>
            <a:off x="658368" y="4637836"/>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4660696"/>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4619548"/>
            <a:ext cx="10271455" cy="570585"/>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A93226"/>
                </a:solidFill>
                <a:latin typeface="Segoe UI"/>
              </a:rPr>
              <a:t>Heap entries without a tie-breaker.</a:t>
            </a:r>
            <a:r>
              <a:rPr sz="1800" b="0" i="0">
                <a:solidFill>
                  <a:srgbClr val="1C252B"/>
                </a:solidFill>
                <a:latin typeface="Segoe UI"/>
              </a:rPr>
              <a:t> Works until two priorities are equal, then raises </a:t>
            </a:r>
            <a:r>
              <a:rPr sz="1700" b="0" i="0">
                <a:solidFill>
                  <a:srgbClr val="1F4E79"/>
                </a:solidFill>
                <a:latin typeface="Consolas"/>
              </a:rPr>
              <a:t>TypeError</a:t>
            </a:r>
            <a:r>
              <a:rPr sz="1800" b="0" i="0">
                <a:solidFill>
                  <a:srgbClr val="1C252B"/>
                </a:solidFill>
                <a:latin typeface="Segoe UI"/>
              </a:rPr>
              <a:t> on unorderable nodes — intermittently, which is the worst way for a bug to behave.</a:t>
            </a:r>
          </a:p>
        </p:txBody>
      </p:sp>
      <p:sp>
        <p:nvSpPr>
          <p:cNvPr id="22" name="!!pb5">
            <a:extLst>
              <a:ext uri="{C183D7F6-B498-43B3-948B-1728B52AA6E4}">
                <adec:decorative xmlns:adec="http://schemas.microsoft.com/office/drawing/2017/decorative" val="1"/>
              </a:ext>
            </a:extLst>
          </p:cNvPr>
          <p:cNvSpPr/>
          <p:nvPr/>
        </p:nvSpPr>
        <p:spPr>
          <a:xfrm>
            <a:off x="658368" y="5409590"/>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x5"/>
          <p:cNvSpPr txBox="1"/>
          <p:nvPr/>
        </p:nvSpPr>
        <p:spPr>
          <a:xfrm>
            <a:off x="658368" y="5432450"/>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4" name="!!pt5"/>
          <p:cNvSpPr txBox="1"/>
          <p:nvPr/>
        </p:nvSpPr>
        <p:spPr>
          <a:xfrm>
            <a:off x="1261872" y="5391302"/>
            <a:ext cx="10271455" cy="570585"/>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1F4E79"/>
                </a:solidFill>
                <a:latin typeface="Consolas"/>
              </a:rPr>
              <a:t>lru_cache</a:t>
            </a:r>
            <a:r>
              <a:rPr sz="1800" b="1" i="0">
                <a:solidFill>
                  <a:srgbClr val="1C252B"/>
                </a:solidFill>
                <a:latin typeface="Segoe UI"/>
              </a:rPr>
              <a:t> on a function taking a list.</a:t>
            </a:r>
            <a:r>
              <a:rPr sz="1800" b="0" i="0">
                <a:solidFill>
                  <a:srgbClr val="1C252B"/>
                </a:solidFill>
                <a:latin typeface="Segoe UI"/>
              </a:rPr>
              <a:t> Raises </a:t>
            </a:r>
            <a:r>
              <a:rPr sz="1700" b="0" i="0">
                <a:solidFill>
                  <a:srgbClr val="1F4E79"/>
                </a:solidFill>
                <a:latin typeface="Consolas"/>
              </a:rPr>
              <a:t>TypeError: unhashable type</a:t>
            </a:r>
            <a:r>
              <a:rPr sz="1800" b="0" i="0">
                <a:solidFill>
                  <a:srgbClr val="1C252B"/>
                </a:solidFill>
                <a:latin typeface="Segoe UI"/>
              </a:rPr>
              <a:t>. This is the same discipline as the states, enforced by the standard library.</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515802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The Frontier and the Graph: The Course Toolkit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3  ·  Representations and Search in Python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§3.6  ·  Handout p. 25     </a:t>
            </a:r>
            <a:fld id="{0D6D0C02-D3CA-4BC1-9509-6A1D02D5E193}" type="slidenum">
              <a:rPr lang="en-GB" sz="1000">
                <a:solidFill>
                  <a:srgbClr val="8795A1"/>
                </a:solidFill>
                <a:latin typeface="Segoe UI"/>
              </a:rPr>
              <a:t>23</a:t>
            </a:fld>
          </a:p>
        </p:txBody>
      </p:sp>
      <p:sp>
        <p:nvSpPr>
          <p:cNvPr id="7" name="body-0"/>
          <p:cNvSpPr txBox="1"/>
          <p:nvPr/>
        </p:nvSpPr>
        <p:spPr>
          <a:xfrm>
            <a:off x="658368" y="1737360"/>
            <a:ext cx="10874959"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Everything later chapters import. Build it once, assert that it behaves as documented, and measure the claim of the worked example.</a:t>
            </a:r>
          </a:p>
        </p:txBody>
      </p:sp>
      <p:sp>
        <p:nvSpPr>
          <p:cNvPr id="8" name="!!labsteps-h"/>
          <p:cNvSpPr txBox="1"/>
          <p:nvPr/>
        </p:nvSpPr>
        <p:spPr>
          <a:xfrm>
            <a:off x="658368" y="268224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9" name="!!labsteps"/>
          <p:cNvSpPr txBox="1"/>
          <p:nvPr/>
        </p:nvSpPr>
        <p:spPr>
          <a:xfrm>
            <a:off x="658368" y="3066288"/>
            <a:ext cx="10874959" cy="1466849"/>
          </a:xfrm>
          <a:prstGeom prst="rect">
            <a:avLst/>
          </a:prstGeom>
          <a:noFill/>
        </p:spPr>
        <p:txBody>
          <a:bodyPr wrap="square" anchor="t" lIns="0" rIns="0" tIns="0" bIns="0">
            <a:noAutofit/>
          </a:bodyPr>
          <a:lstStyle/>
          <a:p>
            <a:pPr algn="l" marL="459473" indent="-459473">
              <a:lnSpc>
                <a:spcPct val="100000"/>
              </a:lnSpc>
              <a:spcBef>
                <a:spcPts val="0"/>
              </a:spcBef>
              <a:spcAft>
                <a:spcPts val="570"/>
              </a:spcAft>
            </a:pPr>
            <a:r>
              <a:rPr sz="1900" b="1">
                <a:solidFill>
                  <a:srgbClr val="117A65"/>
                </a:solidFill>
                <a:latin typeface="Segoe UI"/>
              </a:rPr>
              <a:t>1.	</a:t>
            </a:r>
            <a:r>
              <a:rPr sz="1900" b="0" i="0">
                <a:solidFill>
                  <a:srgbClr val="1C252B"/>
                </a:solidFill>
                <a:latin typeface="Segoe UI"/>
              </a:rPr>
              <a:t>The project, as data</a:t>
            </a:r>
          </a:p>
          <a:p>
            <a:pPr algn="l" marL="459473" indent="-459473">
              <a:lnSpc>
                <a:spcPct val="100000"/>
              </a:lnSpc>
              <a:spcBef>
                <a:spcPts val="0"/>
              </a:spcBef>
              <a:spcAft>
                <a:spcPts val="570"/>
              </a:spcAft>
            </a:pPr>
            <a:r>
              <a:rPr sz="1900" b="1">
                <a:solidFill>
                  <a:srgbClr val="117A65"/>
                </a:solidFill>
                <a:latin typeface="Segoe UI"/>
              </a:rPr>
              <a:t>2.	</a:t>
            </a:r>
            <a:r>
              <a:rPr sz="1900" b="0" i="0">
                <a:solidFill>
                  <a:srgbClr val="1C252B"/>
                </a:solidFill>
                <a:latin typeface="Segoe UI"/>
              </a:rPr>
              <a:t>The interface every later chapter subclasses</a:t>
            </a:r>
          </a:p>
          <a:p>
            <a:pPr algn="l" marL="459473" indent="-459473">
              <a:lnSpc>
                <a:spcPct val="100000"/>
              </a:lnSpc>
              <a:spcBef>
                <a:spcPts val="0"/>
              </a:spcBef>
              <a:spcAft>
                <a:spcPts val="570"/>
              </a:spcAft>
            </a:pPr>
            <a:r>
              <a:rPr sz="1900" b="1">
                <a:solidFill>
                  <a:srgbClr val="117A65"/>
                </a:solidFill>
                <a:latin typeface="Segoe UI"/>
              </a:rPr>
              <a:t>3.	</a:t>
            </a:r>
            <a:r>
              <a:rPr sz="1900" b="0" i="0">
                <a:solidFill>
                  <a:srgbClr val="1C252B"/>
                </a:solidFill>
                <a:latin typeface="Segoe UI"/>
              </a:rPr>
              <a:t>The three frontiers, behind one small interface</a:t>
            </a:r>
          </a:p>
          <a:p>
            <a:pPr algn="l" marL="459473" indent="-459473">
              <a:lnSpc>
                <a:spcPct val="100000"/>
              </a:lnSpc>
              <a:spcBef>
                <a:spcPts val="0"/>
              </a:spcBef>
              <a:spcAft>
                <a:spcPts val="0"/>
              </a:spcAft>
            </a:pPr>
            <a:r>
              <a:rPr sz="1900" b="1">
                <a:solidFill>
                  <a:srgbClr val="117A65"/>
                </a:solidFill>
                <a:latin typeface="Segoe UI"/>
              </a:rPr>
              <a:t>4.	</a:t>
            </a:r>
            <a:r>
              <a:rPr sz="1900" b="0" i="0">
                <a:solidFill>
                  <a:srgbClr val="1C252B"/>
                </a:solidFill>
                <a:latin typeface="Segoe UI"/>
              </a:rPr>
              <a:t>The measurement of the worked example</a:t>
            </a:r>
          </a:p>
        </p:txBody>
      </p:sp>
      <p:sp>
        <p:nvSpPr>
          <p:cNvPr id="24" name="!!lfTHIS">
            <a:extLst>
              <a:ext uri="{C183D7F6-B498-43B3-948B-1728B52AA6E4}">
                <adec:decorative xmlns:adec="http://schemas.microsoft.com/office/drawing/2017/decorative" val="1"/>
              </a:ext>
            </a:extLst>
          </p:cNvPr>
          <p:cNvSpPr/>
          <p:nvPr/>
        </p:nvSpPr>
        <p:spPr>
          <a:xfrm>
            <a:off x="658368"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fbTHIS">
            <a:extLst>
              <a:ext uri="{C183D7F6-B498-43B3-948B-1728B52AA6E4}">
                <adec:decorative xmlns:adec="http://schemas.microsoft.com/office/drawing/2017/decorative" val="1"/>
              </a:ext>
            </a:extLst>
          </p:cNvPr>
          <p:cNvSpPr/>
          <p:nvPr/>
        </p:nvSpPr>
        <p:spPr>
          <a:xfrm>
            <a:off x="658368"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lflTHIS"/>
          <p:cNvSpPr txBox="1"/>
          <p:nvPr/>
        </p:nvSpPr>
        <p:spPr>
          <a:xfrm>
            <a:off x="932688"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27" name="!!lfvTHIS"/>
          <p:cNvSpPr txBox="1"/>
          <p:nvPr/>
        </p:nvSpPr>
        <p:spPr>
          <a:xfrm>
            <a:off x="932688"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2: The frontier and the graph: the course toolkit</a:t>
            </a:r>
          </a:p>
        </p:txBody>
      </p:sp>
      <p:sp>
        <p:nvSpPr>
          <p:cNvPr id="28" name="!!lfWHAT">
            <a:extLst>
              <a:ext uri="{C183D7F6-B498-43B3-948B-1728B52AA6E4}">
                <adec:decorative xmlns:adec="http://schemas.microsoft.com/office/drawing/2017/decorative" val="1"/>
              </a:ext>
            </a:extLst>
          </p:cNvPr>
          <p:cNvSpPr/>
          <p:nvPr/>
        </p:nvSpPr>
        <p:spPr>
          <a:xfrm>
            <a:off x="4374794"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lfbWHAT">
            <a:extLst>
              <a:ext uri="{C183D7F6-B498-43B3-948B-1728B52AA6E4}">
                <adec:decorative xmlns:adec="http://schemas.microsoft.com/office/drawing/2017/decorative" val="1"/>
              </a:ext>
            </a:extLst>
          </p:cNvPr>
          <p:cNvSpPr/>
          <p:nvPr/>
        </p:nvSpPr>
        <p:spPr>
          <a:xfrm>
            <a:off x="4374794"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lflWHAT"/>
          <p:cNvSpPr txBox="1"/>
          <p:nvPr/>
        </p:nvSpPr>
        <p:spPr>
          <a:xfrm>
            <a:off x="4649114"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31" name="!!lfvWHAT"/>
          <p:cNvSpPr txBox="1"/>
          <p:nvPr/>
        </p:nvSpPr>
        <p:spPr>
          <a:xfrm>
            <a:off x="4649114"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212 lines of Python</a:t>
            </a:r>
          </a:p>
        </p:txBody>
      </p:sp>
      <p:sp>
        <p:nvSpPr>
          <p:cNvPr id="32" name="!!lfRUNN">
            <a:extLst>
              <a:ext uri="{C183D7F6-B498-43B3-948B-1728B52AA6E4}">
                <adec:decorative xmlns:adec="http://schemas.microsoft.com/office/drawing/2017/decorative" val="1"/>
              </a:ext>
            </a:extLst>
          </p:cNvPr>
          <p:cNvSpPr/>
          <p:nvPr/>
        </p:nvSpPr>
        <p:spPr>
          <a:xfrm>
            <a:off x="8091220"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lfbRUNN">
            <a:extLst>
              <a:ext uri="{C183D7F6-B498-43B3-948B-1728B52AA6E4}">
                <adec:decorative xmlns:adec="http://schemas.microsoft.com/office/drawing/2017/decorative" val="1"/>
              </a:ext>
            </a:extLst>
          </p:cNvPr>
          <p:cNvSpPr/>
          <p:nvPr/>
        </p:nvSpPr>
        <p:spPr>
          <a:xfrm>
            <a:off x="8091220"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lflRUNN"/>
          <p:cNvSpPr txBox="1"/>
          <p:nvPr/>
        </p:nvSpPr>
        <p:spPr>
          <a:xfrm>
            <a:off x="8365540"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RUNNABLE COPY</a:t>
            </a:r>
          </a:p>
        </p:txBody>
      </p:sp>
      <p:sp>
        <p:nvSpPr>
          <p:cNvPr id="35" name="!!lfvRUNN"/>
          <p:cNvSpPr txBox="1"/>
          <p:nvPr/>
        </p:nvSpPr>
        <p:spPr>
          <a:xfrm>
            <a:off x="8365540"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Consolas"/>
              </a:rPr>
              <a:t>code/ch03_frontier_graph_course.py</a:t>
            </a:r>
          </a:p>
        </p:txBody>
      </p:sp>
      <p:sp>
        <p:nvSpPr>
          <p:cNvPr id="3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7" name="!!pfill">
            <a:extLst>
              <a:ext uri="{C183D7F6-B498-43B3-948B-1728B52AA6E4}">
                <adec:decorative xmlns:adec="http://schemas.microsoft.com/office/drawing/2017/decorative" val="1"/>
              </a:ext>
            </a:extLst>
          </p:cNvPr>
          <p:cNvSpPr/>
          <p:nvPr/>
        </p:nvSpPr>
        <p:spPr>
          <a:xfrm>
            <a:off x="0" y="0"/>
            <a:ext cx="539248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0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0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0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00"/>
                                        <p:tgtEl>
                                          <p:spTgt spid="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Frontier and the Graph: The Course Toolkit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14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3  ·  Representations and Search in Python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§3.6  ·  Handout p. 25     </a:t>
            </a:r>
            <a:fld id="{BC3691B5-BE0A-44CF-A000-D6ED8576E7CF}" type="slidenum">
              <a:rPr lang="en-GB" sz="1000">
                <a:solidFill>
                  <a:srgbClr val="8795A1"/>
                </a:solidFill>
                <a:latin typeface="Segoe UI"/>
              </a:rPr>
              <a:t>24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651504"/>
          </a:xfrm>
          <a:prstGeom prst="roundRect">
            <a:avLst>
              <a:gd name="adj" fmla="val 2504"/>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code/ch03_frontier_graph_course.py</a:t>
            </a:r>
          </a:p>
        </p:txBody>
      </p:sp>
      <p:sp>
        <p:nvSpPr>
          <p:cNvPr id="14" name="!!code-text" descr="&quot;&quot;&quot;Chapter 3 lab -- the course toolkit. The Problem interface, three frontiers, the project graph, and the measurement that justifies using frozensets for states. Every later chapter builds on exactly these shapes. &quot;&quot;&quot; import heapq import itertools from collections import deque, namedtuple"/>
          <p:cNvSpPr txBox="1"/>
          <p:nvPr/>
        </p:nvSpPr>
        <p:spPr>
          <a:xfrm>
            <a:off x="1362456" y="2523744"/>
            <a:ext cx="9987991" cy="3157728"/>
          </a:xfrm>
          <a:prstGeom prst="rect">
            <a:avLst/>
          </a:prstGeom>
          <a:noFill/>
        </p:spPr>
        <p:txBody>
          <a:bodyPr wrap="none" anchor="t" lIns="0" rIns="0" tIns="0" bIns="0">
            <a:noAutofit/>
          </a:bodyPr>
          <a:lstStyle/>
          <a:p>
            <a:pPr>
              <a:lnSpc>
                <a:spcPct val="100000"/>
              </a:lnSpc>
              <a:spcAft>
                <a:spcPts val="0"/>
              </a:spcAft>
            </a:pPr>
            <a:r>
              <a:rPr sz="2000" i="0">
                <a:solidFill>
                  <a:srgbClr val="7DCEA0"/>
                </a:solidFill>
                <a:latin typeface="Consolas"/>
              </a:rPr>
              <a:t>"""Chapter 3 lab -- the course toolkit.</a:t>
            </a:r>
          </a:p>
          <a:p>
            <a:pPr>
              <a:lnSpc>
                <a:spcPct val="100000"/>
              </a:lnSpc>
              <a:spcAft>
                <a:spcPts val="0"/>
              </a:spcAft>
            </a:pPr>
            <a:r>
              <a:rPr sz="2000">
                <a:latin typeface="Consolas"/>
              </a:rPr>
              <a:t> </a:t>
            </a:r>
          </a:p>
          <a:p>
            <a:pPr>
              <a:lnSpc>
                <a:spcPct val="100000"/>
              </a:lnSpc>
              <a:spcAft>
                <a:spcPts val="0"/>
              </a:spcAft>
            </a:pPr>
            <a:r>
              <a:rPr sz="2000" i="0">
                <a:solidFill>
                  <a:srgbClr val="7DCEA0"/>
                </a:solidFill>
                <a:latin typeface="Consolas"/>
              </a:rPr>
              <a:t>The Problem interface, three frontiers, the project graph, and the</a:t>
            </a:r>
          </a:p>
          <a:p>
            <a:pPr>
              <a:lnSpc>
                <a:spcPct val="100000"/>
              </a:lnSpc>
              <a:spcAft>
                <a:spcPts val="0"/>
              </a:spcAft>
            </a:pPr>
            <a:r>
              <a:rPr sz="2000" i="0">
                <a:solidFill>
                  <a:srgbClr val="7DCEA0"/>
                </a:solidFill>
                <a:latin typeface="Consolas"/>
              </a:rPr>
              <a:t>measurement that justifies using frozensets for states. Every later</a:t>
            </a:r>
          </a:p>
          <a:p>
            <a:pPr>
              <a:lnSpc>
                <a:spcPct val="100000"/>
              </a:lnSpc>
              <a:spcAft>
                <a:spcPts val="0"/>
              </a:spcAft>
            </a:pPr>
            <a:r>
              <a:rPr sz="2000" i="0">
                <a:solidFill>
                  <a:srgbClr val="7DCEA0"/>
                </a:solidFill>
                <a:latin typeface="Consolas"/>
              </a:rPr>
              <a:t>chapter builds on exactly these shapes.</a:t>
            </a:r>
          </a:p>
          <a:p>
            <a:pPr>
              <a:lnSpc>
                <a:spcPct val="100000"/>
              </a:lnSpc>
              <a:spcAft>
                <a:spcPts val="0"/>
              </a:spcAft>
            </a:pPr>
            <a:r>
              <a:rPr sz="2000" i="0">
                <a:solidFill>
                  <a:srgbClr val="7DCEA0"/>
                </a:solidFill>
                <a:latin typeface="Consolas"/>
              </a:rPr>
              <a:t>"""</a:t>
            </a:r>
          </a:p>
          <a:p>
            <a:pPr>
              <a:lnSpc>
                <a:spcPct val="100000"/>
              </a:lnSpc>
              <a:spcAft>
                <a:spcPts val="0"/>
              </a:spcAft>
            </a:pPr>
            <a:r>
              <a:rPr sz="2000">
                <a:latin typeface="Consolas"/>
              </a:rPr>
              <a:t> </a:t>
            </a:r>
          </a:p>
          <a:p>
            <a:pPr>
              <a:lnSpc>
                <a:spcPct val="100000"/>
              </a:lnSpc>
              <a:spcAft>
                <a:spcPts val="0"/>
              </a:spcAft>
            </a:pPr>
            <a:r>
              <a:rPr sz="2000" i="0">
                <a:solidFill>
                  <a:srgbClr val="5DADE2"/>
                </a:solidFill>
                <a:latin typeface="Consolas"/>
              </a:rPr>
              <a:t>import</a:t>
            </a:r>
            <a:r>
              <a:rPr sz="2000" i="0">
                <a:solidFill>
                  <a:srgbClr val="E8EDF2"/>
                </a:solidFill>
                <a:latin typeface="Consolas"/>
              </a:rPr>
              <a:t> </a:t>
            </a:r>
            <a:r>
              <a:rPr sz="2000" i="0">
                <a:solidFill>
                  <a:srgbClr val="76D7C4"/>
                </a:solidFill>
                <a:latin typeface="Consolas"/>
              </a:rPr>
              <a:t>heapq</a:t>
            </a:r>
          </a:p>
          <a:p>
            <a:pPr>
              <a:lnSpc>
                <a:spcPct val="100000"/>
              </a:lnSpc>
              <a:spcAft>
                <a:spcPts val="0"/>
              </a:spcAft>
            </a:pPr>
            <a:r>
              <a:rPr sz="2000" i="0">
                <a:solidFill>
                  <a:srgbClr val="5DADE2"/>
                </a:solidFill>
                <a:latin typeface="Consolas"/>
              </a:rPr>
              <a:t>import</a:t>
            </a:r>
            <a:r>
              <a:rPr sz="2000" i="0">
                <a:solidFill>
                  <a:srgbClr val="E8EDF2"/>
                </a:solidFill>
                <a:latin typeface="Consolas"/>
              </a:rPr>
              <a:t> </a:t>
            </a:r>
            <a:r>
              <a:rPr sz="2000" i="0">
                <a:solidFill>
                  <a:srgbClr val="76D7C4"/>
                </a:solidFill>
                <a:latin typeface="Consolas"/>
              </a:rPr>
              <a:t>itertools</a:t>
            </a:r>
          </a:p>
          <a:p>
            <a:pPr>
              <a:lnSpc>
                <a:spcPct val="100000"/>
              </a:lnSpc>
              <a:spcAft>
                <a:spcPts val="0"/>
              </a:spcAft>
            </a:pPr>
            <a:r>
              <a:rPr sz="2000" i="0">
                <a:solidFill>
                  <a:srgbClr val="5DADE2"/>
                </a:solidFill>
                <a:latin typeface="Consolas"/>
              </a:rPr>
              <a:t>from</a:t>
            </a:r>
            <a:r>
              <a:rPr sz="2000" i="0">
                <a:solidFill>
                  <a:srgbClr val="E8EDF2"/>
                </a:solidFill>
                <a:latin typeface="Consolas"/>
              </a:rPr>
              <a:t> </a:t>
            </a:r>
            <a:r>
              <a:rPr sz="2000" i="0">
                <a:solidFill>
                  <a:srgbClr val="76D7C4"/>
                </a:solidFill>
                <a:latin typeface="Consolas"/>
              </a:rPr>
              <a:t>collections</a:t>
            </a:r>
            <a:r>
              <a:rPr sz="2000" i="0">
                <a:solidFill>
                  <a:srgbClr val="E8EDF2"/>
                </a:solidFill>
                <a:latin typeface="Consolas"/>
              </a:rPr>
              <a:t> </a:t>
            </a:r>
            <a:r>
              <a:rPr sz="2000" i="0">
                <a:solidFill>
                  <a:srgbClr val="5DADE2"/>
                </a:solidFill>
                <a:latin typeface="Consolas"/>
              </a:rPr>
              <a:t>import</a:t>
            </a:r>
            <a:r>
              <a:rPr sz="2000" i="0">
                <a:solidFill>
                  <a:srgbClr val="E8EDF2"/>
                </a:solidFill>
                <a:latin typeface="Consolas"/>
              </a:rPr>
              <a:t> </a:t>
            </a:r>
            <a:r>
              <a:rPr sz="2000" i="0">
                <a:solidFill>
                  <a:srgbClr val="E8EDF2"/>
                </a:solidFill>
                <a:latin typeface="Consolas"/>
              </a:rPr>
              <a:t>deque</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namedtuple</a:t>
            </a:r>
          </a:p>
        </p:txBody>
      </p:sp>
      <p:sp>
        <p:nvSpPr>
          <p:cNvPr id="15" name="!!code-num"/>
          <p:cNvSpPr txBox="1"/>
          <p:nvPr/>
        </p:nvSpPr>
        <p:spPr>
          <a:xfrm>
            <a:off x="768096" y="2523744"/>
            <a:ext cx="393192" cy="3157728"/>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2</a:t>
            </a:r>
          </a:p>
          <a:p>
            <a:pPr algn="r">
              <a:lnSpc>
                <a:spcPct val="100000"/>
              </a:lnSpc>
            </a:pPr>
            <a:r>
              <a:rPr sz="2000">
                <a:solidFill>
                  <a:srgbClr val="4F5D6A"/>
                </a:solidFill>
                <a:latin typeface="Consolas"/>
              </a:rPr>
              <a:t>3</a:t>
            </a:r>
          </a:p>
          <a:p>
            <a:pPr algn="r">
              <a:lnSpc>
                <a:spcPct val="100000"/>
              </a:lnSpc>
            </a:pPr>
            <a:r>
              <a:rPr sz="2000">
                <a:solidFill>
                  <a:srgbClr val="4F5D6A"/>
                </a:solidFill>
                <a:latin typeface="Consolas"/>
              </a:rPr>
              <a:t>4</a:t>
            </a:r>
          </a:p>
          <a:p>
            <a:pPr algn="r">
              <a:lnSpc>
                <a:spcPct val="100000"/>
              </a:lnSpc>
            </a:pPr>
            <a:r>
              <a:rPr sz="2000">
                <a:solidFill>
                  <a:srgbClr val="4F5D6A"/>
                </a:solidFill>
                <a:latin typeface="Consolas"/>
              </a:rPr>
              <a:t>5</a:t>
            </a:r>
          </a:p>
          <a:p>
            <a:pPr algn="r">
              <a:lnSpc>
                <a:spcPct val="100000"/>
              </a:lnSpc>
            </a:pPr>
            <a:r>
              <a:rPr sz="2000">
                <a:solidFill>
                  <a:srgbClr val="4F5D6A"/>
                </a:solidFill>
                <a:latin typeface="Consolas"/>
              </a:rPr>
              <a:t>6</a:t>
            </a:r>
          </a:p>
          <a:p>
            <a:pPr algn="r">
              <a:lnSpc>
                <a:spcPct val="100000"/>
              </a:lnSpc>
            </a:pPr>
            <a:r>
              <a:rPr sz="2000">
                <a:solidFill>
                  <a:srgbClr val="4F5D6A"/>
                </a:solidFill>
                <a:latin typeface="Consolas"/>
              </a:rPr>
              <a:t>7</a:t>
            </a:r>
          </a:p>
          <a:p>
            <a:pPr algn="r">
              <a:lnSpc>
                <a:spcPct val="100000"/>
              </a:lnSpc>
            </a:pPr>
            <a:r>
              <a:rPr sz="2000">
                <a:solidFill>
                  <a:srgbClr val="4F5D6A"/>
                </a:solidFill>
                <a:latin typeface="Consolas"/>
              </a:rPr>
              <a:t>8</a:t>
            </a:r>
          </a:p>
          <a:p>
            <a:pPr algn="r">
              <a:lnSpc>
                <a:spcPct val="100000"/>
              </a:lnSpc>
            </a:pPr>
            <a:r>
              <a:rPr sz="2000">
                <a:solidFill>
                  <a:srgbClr val="4F5D6A"/>
                </a:solidFill>
                <a:latin typeface="Consolas"/>
              </a:rPr>
              <a:t>9</a:t>
            </a:r>
          </a:p>
          <a:p>
            <a:pPr algn="r">
              <a:lnSpc>
                <a:spcPct val="100000"/>
              </a:lnSpc>
            </a:pPr>
            <a:r>
              <a:rPr sz="2000">
                <a:solidFill>
                  <a:srgbClr val="4F5D6A"/>
                </a:solidFill>
                <a:latin typeface="Consolas"/>
              </a:rPr>
              <a:t>10</a:t>
            </a:r>
          </a:p>
          <a:p>
            <a:pPr algn="r">
              <a:lnSpc>
                <a:spcPct val="100000"/>
              </a:lnSpc>
            </a:pPr>
            <a:r>
              <a:rPr sz="2000">
                <a:solidFill>
                  <a:srgbClr val="4F5D6A"/>
                </a:solidFill>
                <a:latin typeface="Consolas"/>
              </a:rPr>
              <a:t>11</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562693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Frontier and the Graph: The Course Toolkit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14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3  ·  Representations and Search in Python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§3.6  ·  Handout p. 25     </a:t>
            </a:r>
            <a:fld id="{A12EBE3D-A565-423A-8DFD-FB82C0E71053}" type="slidenum">
              <a:rPr lang="en-GB" sz="1000">
                <a:solidFill>
                  <a:srgbClr val="8795A1"/>
                </a:solidFill>
                <a:latin typeface="Segoe UI"/>
              </a:rPr>
              <a:t>25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project, as data</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169664"/>
          </a:xfrm>
          <a:prstGeom prst="roundRect">
            <a:avLst>
              <a:gd name="adj" fmla="val 219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code/ch03_frontier_graph_course.py</a:t>
            </a:r>
          </a:p>
        </p:txBody>
      </p:sp>
      <p:sp>
        <p:nvSpPr>
          <p:cNvPr id="14" name="!!code-text" descr="# --- the project, as data ------------------------------------------ TASKS = { &quot;spec&quot;: (3, set()), &quot;schema&quot;: (2, {&quot;spec&quot;}), &quot;api&quot;: (5, {&quot;schema&quot;}), &quot;ui&quot;: (4, {&quot;spec&quot;}), &quot;auth&quot;: (3, {&quot;schema&quot;}), &quot;tests&quot;: (4, {&quot;api&quot;, &quot;auth&quot;}), &quot;docs&quot;: (2, {&quot;api&quot;}), &quot;uat&quot;: (3, {&quot;tests&quot;, &quot;ui&quot;}), &quot;release&quot;: (1, {&quot;uat&quot;, &quot;docs&quot;}), } ALL = frozenset(TASKS)"/>
          <p:cNvSpPr txBox="1"/>
          <p:nvPr/>
        </p:nvSpPr>
        <p:spPr>
          <a:xfrm>
            <a:off x="1362456" y="2523744"/>
            <a:ext cx="9987991" cy="367588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the project, as data ------------------------------------------</a:t>
            </a:r>
          </a:p>
          <a:p>
            <a:pPr>
              <a:lnSpc>
                <a:spcPct val="100000"/>
              </a:lnSpc>
              <a:spcAft>
                <a:spcPts val="0"/>
              </a:spcAft>
            </a:pPr>
            <a:r>
              <a:rPr sz="1800" i="0">
                <a:solidFill>
                  <a:srgbClr val="E8EDF2"/>
                </a:solidFill>
                <a:latin typeface="Consolas"/>
              </a:rPr>
              <a:t>TASKS</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spec</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3</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set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schema</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2</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spec</a:t>
            </a:r>
            <a:r>
              <a:rPr sz="1800" i="0">
                <a:solidFill>
                  <a:srgbClr val="7DCEA0"/>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api</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5</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schema</a:t>
            </a:r>
            <a:r>
              <a:rPr sz="1800" i="0">
                <a:solidFill>
                  <a:srgbClr val="7DCEA0"/>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ui</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4</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spec</a:t>
            </a:r>
            <a:r>
              <a:rPr sz="1800" i="0">
                <a:solidFill>
                  <a:srgbClr val="7DCEA0"/>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auth</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3</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schema</a:t>
            </a:r>
            <a:r>
              <a:rPr sz="1800" i="0">
                <a:solidFill>
                  <a:srgbClr val="7DCEA0"/>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tests</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4</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api</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auth</a:t>
            </a:r>
            <a:r>
              <a:rPr sz="1800" i="0">
                <a:solidFill>
                  <a:srgbClr val="7DCEA0"/>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docs</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2</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api</a:t>
            </a:r>
            <a:r>
              <a:rPr sz="1800" i="0">
                <a:solidFill>
                  <a:srgbClr val="7DCEA0"/>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uat</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3</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tests</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ui</a:t>
            </a:r>
            <a:r>
              <a:rPr sz="1800" i="0">
                <a:solidFill>
                  <a:srgbClr val="7DCEA0"/>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release</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uat</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docs</a:t>
            </a:r>
            <a:r>
              <a:rPr sz="1800" i="0">
                <a:solidFill>
                  <a:srgbClr val="7DCEA0"/>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AEB6BF"/>
                </a:solidFill>
                <a:latin typeface="Consolas"/>
              </a:rPr>
              <a:t>}</a:t>
            </a:r>
          </a:p>
          <a:p>
            <a:pPr>
              <a:lnSpc>
                <a:spcPct val="100000"/>
              </a:lnSpc>
              <a:spcAft>
                <a:spcPts val="0"/>
              </a:spcAft>
            </a:pPr>
            <a:r>
              <a:rPr sz="1800" i="0">
                <a:solidFill>
                  <a:srgbClr val="E8EDF2"/>
                </a:solidFill>
                <a:latin typeface="Consolas"/>
              </a:rPr>
              <a:t>ALL</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frozenset</a:t>
            </a:r>
            <a:r>
              <a:rPr sz="1800" i="0">
                <a:solidFill>
                  <a:srgbClr val="AEB6BF"/>
                </a:solidFill>
                <a:latin typeface="Consolas"/>
              </a:rPr>
              <a:t>(</a:t>
            </a:r>
            <a:r>
              <a:rPr sz="1800" i="0">
                <a:solidFill>
                  <a:srgbClr val="E8EDF2"/>
                </a:solidFill>
                <a:latin typeface="Consolas"/>
              </a:rPr>
              <a:t>TASKS</a:t>
            </a:r>
            <a:r>
              <a:rPr sz="1800" i="0">
                <a:solidFill>
                  <a:srgbClr val="AEB6BF"/>
                </a:solidFill>
                <a:latin typeface="Consolas"/>
              </a:rPr>
              <a:t>)</a:t>
            </a:r>
          </a:p>
        </p:txBody>
      </p:sp>
      <p:sp>
        <p:nvSpPr>
          <p:cNvPr id="15" name="!!code-num"/>
          <p:cNvSpPr txBox="1"/>
          <p:nvPr/>
        </p:nvSpPr>
        <p:spPr>
          <a:xfrm>
            <a:off x="768096" y="2523744"/>
            <a:ext cx="393192" cy="367588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13</a:t>
            </a:r>
          </a:p>
          <a:p>
            <a:pPr algn="r">
              <a:lnSpc>
                <a:spcPct val="100000"/>
              </a:lnSpc>
            </a:pPr>
            <a:r>
              <a:rPr sz="1800">
                <a:solidFill>
                  <a:srgbClr val="4F5D6A"/>
                </a:solidFill>
                <a:latin typeface="Consolas"/>
              </a:rPr>
              <a:t>14</a:t>
            </a:r>
          </a:p>
          <a:p>
            <a:pPr algn="r">
              <a:lnSpc>
                <a:spcPct val="100000"/>
              </a:lnSpc>
            </a:pPr>
            <a:r>
              <a:rPr sz="1800">
                <a:solidFill>
                  <a:srgbClr val="4F5D6A"/>
                </a:solidFill>
                <a:latin typeface="Consolas"/>
              </a:rPr>
              <a:t>15</a:t>
            </a:r>
          </a:p>
          <a:p>
            <a:pPr algn="r">
              <a:lnSpc>
                <a:spcPct val="100000"/>
              </a:lnSpc>
            </a:pPr>
            <a:r>
              <a:rPr sz="1800">
                <a:solidFill>
                  <a:srgbClr val="4F5D6A"/>
                </a:solidFill>
                <a:latin typeface="Consolas"/>
              </a:rPr>
              <a:t>16</a:t>
            </a:r>
          </a:p>
          <a:p>
            <a:pPr algn="r">
              <a:lnSpc>
                <a:spcPct val="100000"/>
              </a:lnSpc>
            </a:pPr>
            <a:r>
              <a:rPr sz="1800">
                <a:solidFill>
                  <a:srgbClr val="4F5D6A"/>
                </a:solidFill>
                <a:latin typeface="Consolas"/>
              </a:rPr>
              <a:t>17</a:t>
            </a:r>
          </a:p>
          <a:p>
            <a:pPr algn="r">
              <a:lnSpc>
                <a:spcPct val="100000"/>
              </a:lnSpc>
            </a:pPr>
            <a:r>
              <a:rPr sz="1800">
                <a:solidFill>
                  <a:srgbClr val="4F5D6A"/>
                </a:solidFill>
                <a:latin typeface="Consolas"/>
              </a:rPr>
              <a:t>18</a:t>
            </a:r>
          </a:p>
          <a:p>
            <a:pPr algn="r">
              <a:lnSpc>
                <a:spcPct val="100000"/>
              </a:lnSpc>
            </a:pPr>
            <a:r>
              <a:rPr sz="1800">
                <a:solidFill>
                  <a:srgbClr val="4F5D6A"/>
                </a:solidFill>
                <a:latin typeface="Consolas"/>
              </a:rPr>
              <a:t>19</a:t>
            </a:r>
          </a:p>
          <a:p>
            <a:pPr algn="r">
              <a:lnSpc>
                <a:spcPct val="100000"/>
              </a:lnSpc>
            </a:pPr>
            <a:r>
              <a:rPr sz="1800">
                <a:solidFill>
                  <a:srgbClr val="4F5D6A"/>
                </a:solidFill>
                <a:latin typeface="Consolas"/>
              </a:rPr>
              <a:t>20</a:t>
            </a:r>
          </a:p>
          <a:p>
            <a:pPr algn="r">
              <a:lnSpc>
                <a:spcPct val="100000"/>
              </a:lnSpc>
            </a:pPr>
            <a:r>
              <a:rPr sz="1800">
                <a:solidFill>
                  <a:srgbClr val="4F5D6A"/>
                </a:solidFill>
                <a:latin typeface="Consolas"/>
              </a:rPr>
              <a:t>21</a:t>
            </a:r>
          </a:p>
          <a:p>
            <a:pPr algn="r">
              <a:lnSpc>
                <a:spcPct val="100000"/>
              </a:lnSpc>
            </a:pPr>
            <a:r>
              <a:rPr sz="1800">
                <a:solidFill>
                  <a:srgbClr val="4F5D6A"/>
                </a:solidFill>
                <a:latin typeface="Consolas"/>
              </a:rPr>
              <a:t>22</a:t>
            </a:r>
          </a:p>
          <a:p>
            <a:pPr algn="r">
              <a:lnSpc>
                <a:spcPct val="100000"/>
              </a:lnSpc>
            </a:pPr>
            <a:r>
              <a:rPr sz="1800">
                <a:solidFill>
                  <a:srgbClr val="4F5D6A"/>
                </a:solidFill>
                <a:latin typeface="Consolas"/>
              </a:rPr>
              <a:t>23</a:t>
            </a:r>
          </a:p>
          <a:p>
            <a:pPr algn="r">
              <a:lnSpc>
                <a:spcPct val="100000"/>
              </a:lnSpc>
            </a:pPr>
            <a:r>
              <a:rPr sz="1800">
                <a:solidFill>
                  <a:srgbClr val="4F5D6A"/>
                </a:solidFill>
                <a:latin typeface="Consolas"/>
              </a:rPr>
              <a:t>24</a:t>
            </a:r>
          </a:p>
          <a:p>
            <a:pPr algn="r">
              <a:lnSpc>
                <a:spcPct val="100000"/>
              </a:lnSpc>
            </a:pPr>
            <a:r>
              <a:rPr sz="1800">
                <a:solidFill>
                  <a:srgbClr val="4F5D6A"/>
                </a:solidFill>
                <a:latin typeface="Consolas"/>
              </a:rPr>
              <a:t>25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586139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Frontier and the Graph: The Course Toolkit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14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3  ·  Representations and Search in Python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§3.6  ·  Handout p. 25     </a:t>
            </a:r>
            <a:fld id="{C45C2FFE-0BCF-486D-A2A6-84C1FFC8575B}" type="slidenum">
              <a:rPr lang="en-GB" sz="1000">
                <a:solidFill>
                  <a:srgbClr val="8795A1"/>
                </a:solidFill>
                <a:latin typeface="Segoe UI"/>
              </a:rPr>
              <a:t>26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interface every later chapter subclasses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169663"/>
          </a:xfrm>
          <a:prstGeom prst="roundRect">
            <a:avLst>
              <a:gd name="adj" fmla="val 219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code/ch03_frontier_graph_course.py</a:t>
            </a:r>
          </a:p>
        </p:txBody>
      </p:sp>
      <p:sp>
        <p:nvSpPr>
          <p:cNvPr id="14" name="!!code-text" descr="# --- the interface every later chapter subclasses ------------------- class Problem: &quot;&quot;&quot;A search problem: five things, and no search strategy.&quot;&quot;&quot; def __init__(self, initial, goal=None): self.initial, self.goal = initial, goal def actions(self, state): raise NotImplementedError def result(self, state, action): raise NotImplementedError def goal_test(self, state): return state == self.goal def step_cost(self, state, action, nxt): return 1"/>
          <p:cNvSpPr txBox="1"/>
          <p:nvPr/>
        </p:nvSpPr>
        <p:spPr>
          <a:xfrm>
            <a:off x="1362456" y="2523744"/>
            <a:ext cx="9987991" cy="3675887"/>
          </a:xfrm>
          <a:prstGeom prst="rect">
            <a:avLst/>
          </a:prstGeom>
          <a:noFill/>
        </p:spPr>
        <p:txBody>
          <a:bodyPr wrap="none" anchor="t" lIns="0" rIns="0" tIns="0" bIns="0">
            <a:noAutofit/>
          </a:bodyPr>
          <a:lstStyle/>
          <a:p>
            <a:pPr>
              <a:lnSpc>
                <a:spcPct val="100000"/>
              </a:lnSpc>
              <a:spcAft>
                <a:spcPts val="0"/>
              </a:spcAft>
            </a:pPr>
            <a:r>
              <a:rPr sz="1300" i="1">
                <a:solidFill>
                  <a:srgbClr val="8795A1"/>
                </a:solidFill>
                <a:latin typeface="Consolas"/>
              </a:rPr>
              <a:t># --- the interface every later chapter subclasses -------------------</a:t>
            </a:r>
          </a:p>
          <a:p>
            <a:pPr>
              <a:lnSpc>
                <a:spcPct val="100000"/>
              </a:lnSpc>
              <a:spcAft>
                <a:spcPts val="0"/>
              </a:spcAft>
            </a:pPr>
            <a:r>
              <a:rPr sz="1300" i="0">
                <a:solidFill>
                  <a:srgbClr val="5DADE2"/>
                </a:solidFill>
                <a:latin typeface="Consolas"/>
              </a:rPr>
              <a:t>class</a:t>
            </a:r>
            <a:r>
              <a:rPr sz="1300" i="0">
                <a:solidFill>
                  <a:srgbClr val="E8EDF2"/>
                </a:solidFill>
                <a:latin typeface="Consolas"/>
              </a:rPr>
              <a:t> </a:t>
            </a:r>
            <a:r>
              <a:rPr sz="1300" i="0">
                <a:solidFill>
                  <a:srgbClr val="76D7C4"/>
                </a:solidFill>
                <a:latin typeface="Consolas"/>
              </a:rPr>
              <a:t>Problem</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7DCEA0"/>
                </a:solidFill>
                <a:latin typeface="Consolas"/>
              </a:rPr>
              <a:t>"""A search problem: five things, and no search strategy."""</a:t>
            </a:r>
          </a:p>
          <a:p>
            <a:pPr>
              <a:lnSpc>
                <a:spcPct val="100000"/>
              </a:lnSpc>
              <a:spcAft>
                <a:spcPts val="0"/>
              </a:spcAft>
            </a:pPr>
            <a:r>
              <a:rPr sz="1300">
                <a:latin typeface="Consolas"/>
              </a:rPr>
              <a:t> </a:t>
            </a:r>
          </a:p>
          <a:p>
            <a:pPr>
              <a:lnSpc>
                <a:spcPct val="100000"/>
              </a:lnSpc>
              <a:spcAft>
                <a:spcPts val="0"/>
              </a:spcAft>
            </a:pPr>
            <a:r>
              <a:rPr sz="1300" i="0">
                <a:solidFill>
                  <a:srgbClr val="E8EDF2"/>
                </a:solidFill>
                <a:latin typeface="Consolas"/>
              </a:rPr>
              <a:t>    </a:t>
            </a:r>
            <a:r>
              <a:rPr sz="1300" i="0">
                <a:solidFill>
                  <a:srgbClr val="5DADE2"/>
                </a:solidFill>
                <a:latin typeface="Consolas"/>
              </a:rPr>
              <a:t>def</a:t>
            </a:r>
            <a:r>
              <a:rPr sz="1300" i="0">
                <a:solidFill>
                  <a:srgbClr val="E8EDF2"/>
                </a:solidFill>
                <a:latin typeface="Consolas"/>
              </a:rPr>
              <a:t> </a:t>
            </a:r>
            <a:r>
              <a:rPr sz="1300" i="0">
                <a:solidFill>
                  <a:srgbClr val="C39BD3"/>
                </a:solidFill>
                <a:latin typeface="Consolas"/>
              </a:rPr>
              <a:t>__init__</a:t>
            </a:r>
            <a:r>
              <a:rPr sz="1300" i="0">
                <a:solidFill>
                  <a:srgbClr val="AEB6BF"/>
                </a:solidFill>
                <a:latin typeface="Consolas"/>
              </a:rPr>
              <a:t>(</a:t>
            </a:r>
            <a:r>
              <a:rPr sz="1300" i="0">
                <a:solidFill>
                  <a:srgbClr val="C39BD3"/>
                </a:solidFill>
                <a:latin typeface="Consolas"/>
              </a:rPr>
              <a:t>self</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initial</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goal</a:t>
            </a:r>
            <a:r>
              <a:rPr sz="1300" i="0">
                <a:solidFill>
                  <a:srgbClr val="AEB6BF"/>
                </a:solidFill>
                <a:latin typeface="Consolas"/>
              </a:rPr>
              <a:t>=</a:t>
            </a:r>
            <a:r>
              <a:rPr sz="1300" i="0">
                <a:solidFill>
                  <a:srgbClr val="5DADE2"/>
                </a:solidFill>
                <a:latin typeface="Consolas"/>
              </a:rPr>
              <a:t>None</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C39BD3"/>
                </a:solidFill>
                <a:latin typeface="Consolas"/>
              </a:rPr>
              <a:t>self</a:t>
            </a:r>
            <a:r>
              <a:rPr sz="1300" i="0">
                <a:solidFill>
                  <a:srgbClr val="AEB6BF"/>
                </a:solidFill>
                <a:latin typeface="Consolas"/>
              </a:rPr>
              <a:t>.</a:t>
            </a:r>
            <a:r>
              <a:rPr sz="1300" i="0">
                <a:solidFill>
                  <a:srgbClr val="E8EDF2"/>
                </a:solidFill>
                <a:latin typeface="Consolas"/>
              </a:rPr>
              <a:t>initial</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self</a:t>
            </a:r>
            <a:r>
              <a:rPr sz="1300" i="0">
                <a:solidFill>
                  <a:srgbClr val="AEB6BF"/>
                </a:solidFill>
                <a:latin typeface="Consolas"/>
              </a:rPr>
              <a:t>.</a:t>
            </a:r>
            <a:r>
              <a:rPr sz="1300" i="0">
                <a:solidFill>
                  <a:srgbClr val="E8EDF2"/>
                </a:solidFill>
                <a:latin typeface="Consolas"/>
              </a:rPr>
              <a:t>goal</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initial</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goal</a:t>
            </a:r>
          </a:p>
          <a:p>
            <a:pPr>
              <a:lnSpc>
                <a:spcPct val="100000"/>
              </a:lnSpc>
              <a:spcAft>
                <a:spcPts val="0"/>
              </a:spcAft>
            </a:pPr>
            <a:r>
              <a:rPr sz="1300">
                <a:latin typeface="Consolas"/>
              </a:rPr>
              <a:t> </a:t>
            </a:r>
          </a:p>
          <a:p>
            <a:pPr>
              <a:lnSpc>
                <a:spcPct val="100000"/>
              </a:lnSpc>
              <a:spcAft>
                <a:spcPts val="0"/>
              </a:spcAft>
            </a:pPr>
            <a:r>
              <a:rPr sz="1300" i="0">
                <a:solidFill>
                  <a:srgbClr val="E8EDF2"/>
                </a:solidFill>
                <a:latin typeface="Consolas"/>
              </a:rPr>
              <a:t>    </a:t>
            </a:r>
            <a:r>
              <a:rPr sz="1300" i="0">
                <a:solidFill>
                  <a:srgbClr val="5DADE2"/>
                </a:solidFill>
                <a:latin typeface="Consolas"/>
              </a:rPr>
              <a:t>def</a:t>
            </a:r>
            <a:r>
              <a:rPr sz="1300" i="0">
                <a:solidFill>
                  <a:srgbClr val="E8EDF2"/>
                </a:solidFill>
                <a:latin typeface="Consolas"/>
              </a:rPr>
              <a:t> </a:t>
            </a:r>
            <a:r>
              <a:rPr sz="1300" i="0">
                <a:solidFill>
                  <a:srgbClr val="C39BD3"/>
                </a:solidFill>
                <a:latin typeface="Consolas"/>
              </a:rPr>
              <a:t>actions</a:t>
            </a:r>
            <a:r>
              <a:rPr sz="1300" i="0">
                <a:solidFill>
                  <a:srgbClr val="AEB6BF"/>
                </a:solidFill>
                <a:latin typeface="Consolas"/>
              </a:rPr>
              <a:t>(</a:t>
            </a:r>
            <a:r>
              <a:rPr sz="1300" i="0">
                <a:solidFill>
                  <a:srgbClr val="C39BD3"/>
                </a:solidFill>
                <a:latin typeface="Consolas"/>
              </a:rPr>
              <a:t>self</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state</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raise</a:t>
            </a:r>
            <a:r>
              <a:rPr sz="1300" i="0">
                <a:solidFill>
                  <a:srgbClr val="E8EDF2"/>
                </a:solidFill>
                <a:latin typeface="Consolas"/>
              </a:rPr>
              <a:t> </a:t>
            </a:r>
            <a:r>
              <a:rPr sz="1300" i="0">
                <a:solidFill>
                  <a:srgbClr val="E8EDF2"/>
                </a:solidFill>
                <a:latin typeface="Consolas"/>
              </a:rPr>
              <a:t>NotImplementedError</a:t>
            </a:r>
          </a:p>
          <a:p>
            <a:pPr>
              <a:lnSpc>
                <a:spcPct val="100000"/>
              </a:lnSpc>
              <a:spcAft>
                <a:spcPts val="0"/>
              </a:spcAft>
            </a:pPr>
            <a:r>
              <a:rPr sz="1300">
                <a:latin typeface="Consolas"/>
              </a:rPr>
              <a:t> </a:t>
            </a:r>
          </a:p>
          <a:p>
            <a:pPr>
              <a:lnSpc>
                <a:spcPct val="100000"/>
              </a:lnSpc>
              <a:spcAft>
                <a:spcPts val="0"/>
              </a:spcAft>
            </a:pPr>
            <a:r>
              <a:rPr sz="1300" i="0">
                <a:solidFill>
                  <a:srgbClr val="E8EDF2"/>
                </a:solidFill>
                <a:latin typeface="Consolas"/>
              </a:rPr>
              <a:t>    </a:t>
            </a:r>
            <a:r>
              <a:rPr sz="1300" i="0">
                <a:solidFill>
                  <a:srgbClr val="5DADE2"/>
                </a:solidFill>
                <a:latin typeface="Consolas"/>
              </a:rPr>
              <a:t>def</a:t>
            </a:r>
            <a:r>
              <a:rPr sz="1300" i="0">
                <a:solidFill>
                  <a:srgbClr val="E8EDF2"/>
                </a:solidFill>
                <a:latin typeface="Consolas"/>
              </a:rPr>
              <a:t> </a:t>
            </a:r>
            <a:r>
              <a:rPr sz="1300" i="0">
                <a:solidFill>
                  <a:srgbClr val="C39BD3"/>
                </a:solidFill>
                <a:latin typeface="Consolas"/>
              </a:rPr>
              <a:t>result</a:t>
            </a:r>
            <a:r>
              <a:rPr sz="1300" i="0">
                <a:solidFill>
                  <a:srgbClr val="AEB6BF"/>
                </a:solidFill>
                <a:latin typeface="Consolas"/>
              </a:rPr>
              <a:t>(</a:t>
            </a:r>
            <a:r>
              <a:rPr sz="1300" i="0">
                <a:solidFill>
                  <a:srgbClr val="C39BD3"/>
                </a:solidFill>
                <a:latin typeface="Consolas"/>
              </a:rPr>
              <a:t>self</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state</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action</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raise</a:t>
            </a:r>
            <a:r>
              <a:rPr sz="1300" i="0">
                <a:solidFill>
                  <a:srgbClr val="E8EDF2"/>
                </a:solidFill>
                <a:latin typeface="Consolas"/>
              </a:rPr>
              <a:t> </a:t>
            </a:r>
            <a:r>
              <a:rPr sz="1300" i="0">
                <a:solidFill>
                  <a:srgbClr val="E8EDF2"/>
                </a:solidFill>
                <a:latin typeface="Consolas"/>
              </a:rPr>
              <a:t>NotImplementedError</a:t>
            </a:r>
          </a:p>
          <a:p>
            <a:pPr>
              <a:lnSpc>
                <a:spcPct val="100000"/>
              </a:lnSpc>
              <a:spcAft>
                <a:spcPts val="0"/>
              </a:spcAft>
            </a:pPr>
            <a:r>
              <a:rPr sz="1300">
                <a:latin typeface="Consolas"/>
              </a:rPr>
              <a:t> </a:t>
            </a:r>
          </a:p>
          <a:p>
            <a:pPr>
              <a:lnSpc>
                <a:spcPct val="100000"/>
              </a:lnSpc>
              <a:spcAft>
                <a:spcPts val="0"/>
              </a:spcAft>
            </a:pPr>
            <a:r>
              <a:rPr sz="1300" i="0">
                <a:solidFill>
                  <a:srgbClr val="E8EDF2"/>
                </a:solidFill>
                <a:latin typeface="Consolas"/>
              </a:rPr>
              <a:t>    </a:t>
            </a:r>
            <a:r>
              <a:rPr sz="1300" i="0">
                <a:solidFill>
                  <a:srgbClr val="5DADE2"/>
                </a:solidFill>
                <a:latin typeface="Consolas"/>
              </a:rPr>
              <a:t>def</a:t>
            </a:r>
            <a:r>
              <a:rPr sz="1300" i="0">
                <a:solidFill>
                  <a:srgbClr val="E8EDF2"/>
                </a:solidFill>
                <a:latin typeface="Consolas"/>
              </a:rPr>
              <a:t> </a:t>
            </a:r>
            <a:r>
              <a:rPr sz="1300" i="0">
                <a:solidFill>
                  <a:srgbClr val="C39BD3"/>
                </a:solidFill>
                <a:latin typeface="Consolas"/>
              </a:rPr>
              <a:t>goal_test</a:t>
            </a:r>
            <a:r>
              <a:rPr sz="1300" i="0">
                <a:solidFill>
                  <a:srgbClr val="AEB6BF"/>
                </a:solidFill>
                <a:latin typeface="Consolas"/>
              </a:rPr>
              <a:t>(</a:t>
            </a:r>
            <a:r>
              <a:rPr sz="1300" i="0">
                <a:solidFill>
                  <a:srgbClr val="C39BD3"/>
                </a:solidFill>
                <a:latin typeface="Consolas"/>
              </a:rPr>
              <a:t>self</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state</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return</a:t>
            </a:r>
            <a:r>
              <a:rPr sz="1300" i="0">
                <a:solidFill>
                  <a:srgbClr val="E8EDF2"/>
                </a:solidFill>
                <a:latin typeface="Consolas"/>
              </a:rPr>
              <a:t> </a:t>
            </a:r>
            <a:r>
              <a:rPr sz="1300" i="0">
                <a:solidFill>
                  <a:srgbClr val="E8EDF2"/>
                </a:solidFill>
                <a:latin typeface="Consolas"/>
              </a:rPr>
              <a:t>state</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self</a:t>
            </a:r>
            <a:r>
              <a:rPr sz="1300" i="0">
                <a:solidFill>
                  <a:srgbClr val="AEB6BF"/>
                </a:solidFill>
                <a:latin typeface="Consolas"/>
              </a:rPr>
              <a:t>.</a:t>
            </a:r>
            <a:r>
              <a:rPr sz="1300" i="0">
                <a:solidFill>
                  <a:srgbClr val="E8EDF2"/>
                </a:solidFill>
                <a:latin typeface="Consolas"/>
              </a:rPr>
              <a:t>goal</a:t>
            </a:r>
          </a:p>
          <a:p>
            <a:pPr>
              <a:lnSpc>
                <a:spcPct val="100000"/>
              </a:lnSpc>
              <a:spcAft>
                <a:spcPts val="0"/>
              </a:spcAft>
            </a:pPr>
            <a:r>
              <a:rPr sz="1300">
                <a:latin typeface="Consolas"/>
              </a:rPr>
              <a:t> </a:t>
            </a:r>
          </a:p>
          <a:p>
            <a:pPr>
              <a:lnSpc>
                <a:spcPct val="100000"/>
              </a:lnSpc>
              <a:spcAft>
                <a:spcPts val="0"/>
              </a:spcAft>
            </a:pPr>
            <a:r>
              <a:rPr sz="1300" i="0">
                <a:solidFill>
                  <a:srgbClr val="E8EDF2"/>
                </a:solidFill>
                <a:latin typeface="Consolas"/>
              </a:rPr>
              <a:t>    </a:t>
            </a:r>
            <a:r>
              <a:rPr sz="1300" i="0">
                <a:solidFill>
                  <a:srgbClr val="5DADE2"/>
                </a:solidFill>
                <a:latin typeface="Consolas"/>
              </a:rPr>
              <a:t>def</a:t>
            </a:r>
            <a:r>
              <a:rPr sz="1300" i="0">
                <a:solidFill>
                  <a:srgbClr val="E8EDF2"/>
                </a:solidFill>
                <a:latin typeface="Consolas"/>
              </a:rPr>
              <a:t> </a:t>
            </a:r>
            <a:r>
              <a:rPr sz="1300" i="0">
                <a:solidFill>
                  <a:srgbClr val="C39BD3"/>
                </a:solidFill>
                <a:latin typeface="Consolas"/>
              </a:rPr>
              <a:t>step_cost</a:t>
            </a:r>
            <a:r>
              <a:rPr sz="1300" i="0">
                <a:solidFill>
                  <a:srgbClr val="AEB6BF"/>
                </a:solidFill>
                <a:latin typeface="Consolas"/>
              </a:rPr>
              <a:t>(</a:t>
            </a:r>
            <a:r>
              <a:rPr sz="1300" i="0">
                <a:solidFill>
                  <a:srgbClr val="C39BD3"/>
                </a:solidFill>
                <a:latin typeface="Consolas"/>
              </a:rPr>
              <a:t>self</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state</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action</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nxt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return</a:t>
            </a:r>
            <a:r>
              <a:rPr sz="1300" i="0">
                <a:solidFill>
                  <a:srgbClr val="E8EDF2"/>
                </a:solidFill>
                <a:latin typeface="Consolas"/>
              </a:rPr>
              <a:t> </a:t>
            </a:r>
            <a:r>
              <a:rPr sz="1300" i="0">
                <a:solidFill>
                  <a:srgbClr val="F7DC6F"/>
                </a:solidFill>
                <a:latin typeface="Consolas"/>
              </a:rPr>
              <a:t>1</a:t>
            </a:r>
          </a:p>
        </p:txBody>
      </p:sp>
      <p:sp>
        <p:nvSpPr>
          <p:cNvPr id="15" name="!!code-num"/>
          <p:cNvSpPr txBox="1"/>
          <p:nvPr/>
        </p:nvSpPr>
        <p:spPr>
          <a:xfrm>
            <a:off x="768096" y="2523744"/>
            <a:ext cx="393192" cy="3675887"/>
          </a:xfrm>
          <a:prstGeom prst="rect">
            <a:avLst/>
          </a:prstGeom>
          <a:noFill/>
        </p:spPr>
        <p:txBody>
          <a:bodyPr wrap="none" anchor="t" lIns="0" rIns="0" tIns="0" bIns="0">
            <a:noAutofit/>
          </a:bodyPr>
          <a:lstStyle/>
          <a:p>
            <a:pPr algn="r">
              <a:lnSpc>
                <a:spcPct val="100000"/>
              </a:lnSpc>
            </a:pPr>
            <a:r>
              <a:rPr sz="1300">
                <a:solidFill>
                  <a:srgbClr val="4F5D6A"/>
                </a:solidFill>
                <a:latin typeface="Consolas"/>
              </a:rPr>
              <a:t>28</a:t>
            </a:r>
          </a:p>
          <a:p>
            <a:pPr algn="r">
              <a:lnSpc>
                <a:spcPct val="100000"/>
              </a:lnSpc>
            </a:pPr>
            <a:r>
              <a:rPr sz="1300">
                <a:solidFill>
                  <a:srgbClr val="4F5D6A"/>
                </a:solidFill>
                <a:latin typeface="Consolas"/>
              </a:rPr>
              <a:t>29</a:t>
            </a:r>
          </a:p>
          <a:p>
            <a:pPr algn="r">
              <a:lnSpc>
                <a:spcPct val="100000"/>
              </a:lnSpc>
            </a:pPr>
            <a:r>
              <a:rPr sz="1300">
                <a:solidFill>
                  <a:srgbClr val="4F5D6A"/>
                </a:solidFill>
                <a:latin typeface="Consolas"/>
              </a:rPr>
              <a:t>30</a:t>
            </a:r>
          </a:p>
          <a:p>
            <a:pPr algn="r">
              <a:lnSpc>
                <a:spcPct val="100000"/>
              </a:lnSpc>
            </a:pPr>
            <a:r>
              <a:rPr sz="1300">
                <a:solidFill>
                  <a:srgbClr val="4F5D6A"/>
                </a:solidFill>
                <a:latin typeface="Consolas"/>
              </a:rPr>
              <a:t>31</a:t>
            </a:r>
          </a:p>
          <a:p>
            <a:pPr algn="r">
              <a:lnSpc>
                <a:spcPct val="100000"/>
              </a:lnSpc>
            </a:pPr>
            <a:r>
              <a:rPr sz="1300">
                <a:solidFill>
                  <a:srgbClr val="4F5D6A"/>
                </a:solidFill>
                <a:latin typeface="Consolas"/>
              </a:rPr>
              <a:t>32</a:t>
            </a:r>
          </a:p>
          <a:p>
            <a:pPr algn="r">
              <a:lnSpc>
                <a:spcPct val="100000"/>
              </a:lnSpc>
            </a:pPr>
            <a:r>
              <a:rPr sz="1300">
                <a:solidFill>
                  <a:srgbClr val="4F5D6A"/>
                </a:solidFill>
                <a:latin typeface="Consolas"/>
              </a:rPr>
              <a:t>33</a:t>
            </a:r>
          </a:p>
          <a:p>
            <a:pPr algn="r">
              <a:lnSpc>
                <a:spcPct val="100000"/>
              </a:lnSpc>
            </a:pPr>
            <a:r>
              <a:rPr sz="1300">
                <a:solidFill>
                  <a:srgbClr val="4F5D6A"/>
                </a:solidFill>
                <a:latin typeface="Consolas"/>
              </a:rPr>
              <a:t>34</a:t>
            </a:r>
          </a:p>
          <a:p>
            <a:pPr algn="r">
              <a:lnSpc>
                <a:spcPct val="100000"/>
              </a:lnSpc>
            </a:pPr>
            <a:r>
              <a:rPr sz="1300">
                <a:solidFill>
                  <a:srgbClr val="4F5D6A"/>
                </a:solidFill>
                <a:latin typeface="Consolas"/>
              </a:rPr>
              <a:t>35</a:t>
            </a:r>
          </a:p>
          <a:p>
            <a:pPr algn="r">
              <a:lnSpc>
                <a:spcPct val="100000"/>
              </a:lnSpc>
            </a:pPr>
            <a:r>
              <a:rPr sz="1300">
                <a:solidFill>
                  <a:srgbClr val="4F5D6A"/>
                </a:solidFill>
                <a:latin typeface="Consolas"/>
              </a:rPr>
              <a:t>36</a:t>
            </a:r>
          </a:p>
          <a:p>
            <a:pPr algn="r">
              <a:lnSpc>
                <a:spcPct val="100000"/>
              </a:lnSpc>
            </a:pPr>
            <a:r>
              <a:rPr sz="1300">
                <a:solidFill>
                  <a:srgbClr val="4F5D6A"/>
                </a:solidFill>
                <a:latin typeface="Consolas"/>
              </a:rPr>
              <a:t>37</a:t>
            </a:r>
          </a:p>
          <a:p>
            <a:pPr algn="r">
              <a:lnSpc>
                <a:spcPct val="100000"/>
              </a:lnSpc>
            </a:pPr>
            <a:r>
              <a:rPr sz="1300">
                <a:solidFill>
                  <a:srgbClr val="4F5D6A"/>
                </a:solidFill>
                <a:latin typeface="Consolas"/>
              </a:rPr>
              <a:t>38</a:t>
            </a:r>
          </a:p>
          <a:p>
            <a:pPr algn="r">
              <a:lnSpc>
                <a:spcPct val="100000"/>
              </a:lnSpc>
            </a:pPr>
            <a:r>
              <a:rPr sz="1300">
                <a:solidFill>
                  <a:srgbClr val="4F5D6A"/>
                </a:solidFill>
                <a:latin typeface="Consolas"/>
              </a:rPr>
              <a:t>39</a:t>
            </a:r>
          </a:p>
          <a:p>
            <a:pPr algn="r">
              <a:lnSpc>
                <a:spcPct val="100000"/>
              </a:lnSpc>
            </a:pPr>
            <a:r>
              <a:rPr sz="1300">
                <a:solidFill>
                  <a:srgbClr val="4F5D6A"/>
                </a:solidFill>
                <a:latin typeface="Consolas"/>
              </a:rPr>
              <a:t>40</a:t>
            </a:r>
          </a:p>
          <a:p>
            <a:pPr algn="r">
              <a:lnSpc>
                <a:spcPct val="100000"/>
              </a:lnSpc>
            </a:pPr>
            <a:r>
              <a:rPr sz="1300">
                <a:solidFill>
                  <a:srgbClr val="4F5D6A"/>
                </a:solidFill>
                <a:latin typeface="Consolas"/>
              </a:rPr>
              <a:t>41</a:t>
            </a:r>
          </a:p>
          <a:p>
            <a:pPr algn="r">
              <a:lnSpc>
                <a:spcPct val="100000"/>
              </a:lnSpc>
            </a:pPr>
            <a:r>
              <a:rPr sz="1300">
                <a:solidFill>
                  <a:srgbClr val="4F5D6A"/>
                </a:solidFill>
                <a:latin typeface="Consolas"/>
              </a:rPr>
              <a:t>42</a:t>
            </a:r>
          </a:p>
          <a:p>
            <a:pPr algn="r">
              <a:lnSpc>
                <a:spcPct val="100000"/>
              </a:lnSpc>
            </a:pPr>
            <a:r>
              <a:rPr sz="1300">
                <a:solidFill>
                  <a:srgbClr val="4F5D6A"/>
                </a:solidFill>
                <a:latin typeface="Consolas"/>
              </a:rPr>
              <a:t>43</a:t>
            </a:r>
          </a:p>
          <a:p>
            <a:pPr algn="r">
              <a:lnSpc>
                <a:spcPct val="100000"/>
              </a:lnSpc>
            </a:pPr>
            <a:r>
              <a:rPr sz="1300">
                <a:solidFill>
                  <a:srgbClr val="4F5D6A"/>
                </a:solidFill>
                <a:latin typeface="Consolas"/>
              </a:rPr>
              <a:t>44</a:t>
            </a:r>
          </a:p>
          <a:p>
            <a:pPr algn="r">
              <a:lnSpc>
                <a:spcPct val="100000"/>
              </a:lnSpc>
            </a:pPr>
            <a:r>
              <a:rPr sz="1300">
                <a:solidFill>
                  <a:srgbClr val="4F5D6A"/>
                </a:solidFill>
                <a:latin typeface="Consolas"/>
              </a:rPr>
              <a:t>45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09584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Frontier and the Graph: The Course Toolkit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14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3  ·  Representations and Search in Python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§3.6  ·  Handout p. 25     </a:t>
            </a:r>
            <a:fld id="{16D847F8-780F-4461-8EEE-D21C96A5E373}" type="slidenum">
              <a:rPr lang="en-GB" sz="1000">
                <a:solidFill>
                  <a:srgbClr val="8795A1"/>
                </a:solidFill>
                <a:latin typeface="Segoe UI"/>
              </a:rPr>
              <a:t>27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interface every later chapter subclasses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956303"/>
          </a:xfrm>
          <a:prstGeom prst="roundRect">
            <a:avLst>
              <a:gd name="adj" fmla="val 2311"/>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code/ch03_frontier_graph_course.py</a:t>
            </a:r>
          </a:p>
        </p:txBody>
      </p:sp>
      <p:sp>
        <p:nvSpPr>
          <p:cNvPr id="14" name="!!code-text" descr="class TaskOrder(Problem): &quot;&quot;&quot;Finish every task, respecting dependencies. A state is the frozenset of finished tasks -- nothing else. The order they were finished in is deliberately not recorded. &quot;&quot;&quot; def __init__(self): super().__init__(frozenset(), ALL) def actions(self, state): for t, (_, deps) in TASKS.items(): if t not in state and deps &lt;= state: yield t # a generator, not a list def result(self, state, action): return state | {action} # new value, never mutated def step_cost(self, state, action, nxt): return TASKS[action][0] # duration in days"/>
          <p:cNvSpPr txBox="1"/>
          <p:nvPr/>
        </p:nvSpPr>
        <p:spPr>
          <a:xfrm>
            <a:off x="1362456" y="2523744"/>
            <a:ext cx="9987991" cy="3462527"/>
          </a:xfrm>
          <a:prstGeom prst="rect">
            <a:avLst/>
          </a:prstGeom>
          <a:noFill/>
        </p:spPr>
        <p:txBody>
          <a:bodyPr wrap="none" anchor="t" lIns="0" rIns="0" tIns="0" bIns="0">
            <a:noAutofit/>
          </a:bodyPr>
          <a:lstStyle/>
          <a:p>
            <a:pPr>
              <a:lnSpc>
                <a:spcPct val="100000"/>
              </a:lnSpc>
              <a:spcAft>
                <a:spcPts val="0"/>
              </a:spcAft>
            </a:pPr>
            <a:r>
              <a:rPr sz="1100" i="0">
                <a:solidFill>
                  <a:srgbClr val="5DADE2"/>
                </a:solidFill>
                <a:latin typeface="Consolas"/>
              </a:rPr>
              <a:t>class</a:t>
            </a:r>
            <a:r>
              <a:rPr sz="1100" i="0">
                <a:solidFill>
                  <a:srgbClr val="E8EDF2"/>
                </a:solidFill>
                <a:latin typeface="Consolas"/>
              </a:rPr>
              <a:t> </a:t>
            </a:r>
            <a:r>
              <a:rPr sz="1100" i="0">
                <a:solidFill>
                  <a:srgbClr val="76D7C4"/>
                </a:solidFill>
                <a:latin typeface="Consolas"/>
              </a:rPr>
              <a:t>TaskOrder</a:t>
            </a:r>
            <a:r>
              <a:rPr sz="1100" i="0">
                <a:solidFill>
                  <a:srgbClr val="AEB6BF"/>
                </a:solidFill>
                <a:latin typeface="Consolas"/>
              </a:rPr>
              <a:t>(</a:t>
            </a:r>
            <a:r>
              <a:rPr sz="1100" i="0">
                <a:solidFill>
                  <a:srgbClr val="E8EDF2"/>
                </a:solidFill>
                <a:latin typeface="Consolas"/>
              </a:rPr>
              <a:t>Problem</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7DCEA0"/>
                </a:solidFill>
                <a:latin typeface="Consolas"/>
              </a:rPr>
              <a:t>"""Finish every task, respecting dependencies.</a:t>
            </a:r>
          </a:p>
          <a:p>
            <a:pPr>
              <a:lnSpc>
                <a:spcPct val="100000"/>
              </a:lnSpc>
              <a:spcAft>
                <a:spcPts val="0"/>
              </a:spcAft>
            </a:pPr>
            <a:r>
              <a:rPr sz="1100">
                <a:latin typeface="Consolas"/>
              </a:rPr>
              <a:t> </a:t>
            </a:r>
          </a:p>
          <a:p>
            <a:pPr>
              <a:lnSpc>
                <a:spcPct val="100000"/>
              </a:lnSpc>
              <a:spcAft>
                <a:spcPts val="0"/>
              </a:spcAft>
            </a:pPr>
            <a:r>
              <a:rPr sz="1100" i="0">
                <a:solidFill>
                  <a:srgbClr val="7DCEA0"/>
                </a:solidFill>
                <a:latin typeface="Consolas"/>
              </a:rPr>
              <a:t>    A state is the frozenset of finished tasks -- nothing else. The</a:t>
            </a:r>
          </a:p>
          <a:p>
            <a:pPr>
              <a:lnSpc>
                <a:spcPct val="100000"/>
              </a:lnSpc>
              <a:spcAft>
                <a:spcPts val="0"/>
              </a:spcAft>
            </a:pPr>
            <a:r>
              <a:rPr sz="1100" i="0">
                <a:solidFill>
                  <a:srgbClr val="7DCEA0"/>
                </a:solidFill>
                <a:latin typeface="Consolas"/>
              </a:rPr>
              <a:t>    order they were finished in is deliberately not recorded.</a:t>
            </a:r>
          </a:p>
          <a:p>
            <a:pPr>
              <a:lnSpc>
                <a:spcPct val="100000"/>
              </a:lnSpc>
              <a:spcAft>
                <a:spcPts val="0"/>
              </a:spcAft>
            </a:pPr>
            <a:r>
              <a:rPr sz="1100" i="0">
                <a:solidFill>
                  <a:srgbClr val="7DCEA0"/>
                </a:solidFill>
                <a:latin typeface="Consolas"/>
              </a:rPr>
              <a:t>    """</a:t>
            </a:r>
          </a:p>
          <a:p>
            <a:pPr>
              <a:lnSpc>
                <a:spcPct val="100000"/>
              </a:lnSpc>
              <a:spcAft>
                <a:spcPts val="0"/>
              </a:spcAft>
            </a:pPr>
            <a:r>
              <a:rPr sz="1100">
                <a:latin typeface="Consolas"/>
              </a:rPr>
              <a:t> </a:t>
            </a:r>
          </a:p>
          <a:p>
            <a:pPr>
              <a:lnSpc>
                <a:spcPct val="100000"/>
              </a:lnSpc>
              <a:spcAft>
                <a:spcPts val="0"/>
              </a:spcAft>
            </a:pPr>
            <a:r>
              <a:rPr sz="1100" i="0">
                <a:solidFill>
                  <a:srgbClr val="E8EDF2"/>
                </a:solidFill>
                <a:latin typeface="Consolas"/>
              </a:rPr>
              <a:t>    </a:t>
            </a:r>
            <a:r>
              <a:rPr sz="1100" i="0">
                <a:solidFill>
                  <a:srgbClr val="5DADE2"/>
                </a:solidFill>
                <a:latin typeface="Consolas"/>
              </a:rPr>
              <a:t>def</a:t>
            </a:r>
            <a:r>
              <a:rPr sz="1100" i="0">
                <a:solidFill>
                  <a:srgbClr val="E8EDF2"/>
                </a:solidFill>
                <a:latin typeface="Consolas"/>
              </a:rPr>
              <a:t> </a:t>
            </a:r>
            <a:r>
              <a:rPr sz="1100" i="0">
                <a:solidFill>
                  <a:srgbClr val="C39BD3"/>
                </a:solidFill>
                <a:latin typeface="Consolas"/>
              </a:rPr>
              <a:t>__init__</a:t>
            </a:r>
            <a:r>
              <a:rPr sz="1100" i="0">
                <a:solidFill>
                  <a:srgbClr val="AEB6BF"/>
                </a:solidFill>
                <a:latin typeface="Consolas"/>
              </a:rPr>
              <a:t>(</a:t>
            </a:r>
            <a:r>
              <a:rPr sz="1100" i="0">
                <a:solidFill>
                  <a:srgbClr val="C39BD3"/>
                </a:solidFill>
                <a:latin typeface="Consolas"/>
              </a:rPr>
              <a:t>self</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C39BD3"/>
                </a:solidFill>
                <a:latin typeface="Consolas"/>
              </a:rPr>
              <a:t>super</a:t>
            </a:r>
            <a:r>
              <a:rPr sz="1100" i="0">
                <a:solidFill>
                  <a:srgbClr val="AEB6BF"/>
                </a:solidFill>
                <a:latin typeface="Consolas"/>
              </a:rPr>
              <a:t>(</a:t>
            </a:r>
            <a:r>
              <a:rPr sz="1100" i="0">
                <a:solidFill>
                  <a:srgbClr val="AEB6BF"/>
                </a:solidFill>
                <a:latin typeface="Consolas"/>
              </a:rPr>
              <a:t>)</a:t>
            </a:r>
            <a:r>
              <a:rPr sz="1100" i="0">
                <a:solidFill>
                  <a:srgbClr val="AEB6BF"/>
                </a:solidFill>
                <a:latin typeface="Consolas"/>
              </a:rPr>
              <a:t>.</a:t>
            </a:r>
            <a:r>
              <a:rPr sz="1100" i="0">
                <a:solidFill>
                  <a:srgbClr val="C39BD3"/>
                </a:solidFill>
                <a:latin typeface="Consolas"/>
              </a:rPr>
              <a:t>__init__</a:t>
            </a:r>
            <a:r>
              <a:rPr sz="1100" i="0">
                <a:solidFill>
                  <a:srgbClr val="AEB6BF"/>
                </a:solidFill>
                <a:latin typeface="Consolas"/>
              </a:rPr>
              <a:t>(</a:t>
            </a:r>
            <a:r>
              <a:rPr sz="1100" i="0">
                <a:solidFill>
                  <a:srgbClr val="C39BD3"/>
                </a:solidFill>
                <a:latin typeface="Consolas"/>
              </a:rPr>
              <a:t>frozenset</a:t>
            </a:r>
            <a:r>
              <a:rPr sz="1100" i="0">
                <a:solidFill>
                  <a:srgbClr val="AEB6BF"/>
                </a:solidFill>
                <a:latin typeface="Consolas"/>
              </a:rPr>
              <a:t>(</a:t>
            </a:r>
            <a:r>
              <a:rPr sz="1100" i="0">
                <a:solidFill>
                  <a:srgbClr val="AEB6BF"/>
                </a:solidFill>
                <a:latin typeface="Consolas"/>
              </a:rPr>
              <a:t>)</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ALL</a:t>
            </a:r>
            <a:r>
              <a:rPr sz="1100" i="0">
                <a:solidFill>
                  <a:srgbClr val="AEB6BF"/>
                </a:solidFill>
                <a:latin typeface="Consolas"/>
              </a:rPr>
              <a:t>)</a:t>
            </a:r>
          </a:p>
          <a:p>
            <a:pPr>
              <a:lnSpc>
                <a:spcPct val="100000"/>
              </a:lnSpc>
              <a:spcAft>
                <a:spcPts val="0"/>
              </a:spcAft>
            </a:pPr>
            <a:r>
              <a:rPr sz="1100">
                <a:latin typeface="Consolas"/>
              </a:rPr>
              <a:t> </a:t>
            </a:r>
          </a:p>
          <a:p>
            <a:pPr>
              <a:lnSpc>
                <a:spcPct val="100000"/>
              </a:lnSpc>
              <a:spcAft>
                <a:spcPts val="0"/>
              </a:spcAft>
            </a:pPr>
            <a:r>
              <a:rPr sz="1100" i="0">
                <a:solidFill>
                  <a:srgbClr val="E8EDF2"/>
                </a:solidFill>
                <a:latin typeface="Consolas"/>
              </a:rPr>
              <a:t>    </a:t>
            </a:r>
            <a:r>
              <a:rPr sz="1100" i="0">
                <a:solidFill>
                  <a:srgbClr val="5DADE2"/>
                </a:solidFill>
                <a:latin typeface="Consolas"/>
              </a:rPr>
              <a:t>def</a:t>
            </a:r>
            <a:r>
              <a:rPr sz="1100" i="0">
                <a:solidFill>
                  <a:srgbClr val="E8EDF2"/>
                </a:solidFill>
                <a:latin typeface="Consolas"/>
              </a:rPr>
              <a:t> </a:t>
            </a:r>
            <a:r>
              <a:rPr sz="1100" i="0">
                <a:solidFill>
                  <a:srgbClr val="C39BD3"/>
                </a:solidFill>
                <a:latin typeface="Consolas"/>
              </a:rPr>
              <a:t>actions</a:t>
            </a:r>
            <a:r>
              <a:rPr sz="1100" i="0">
                <a:solidFill>
                  <a:srgbClr val="AEB6BF"/>
                </a:solidFill>
                <a:latin typeface="Consolas"/>
              </a:rPr>
              <a:t>(</a:t>
            </a:r>
            <a:r>
              <a:rPr sz="1100" i="0">
                <a:solidFill>
                  <a:srgbClr val="C39BD3"/>
                </a:solidFill>
                <a:latin typeface="Consolas"/>
              </a:rPr>
              <a:t>self</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state</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5DADE2"/>
                </a:solidFill>
                <a:latin typeface="Consolas"/>
              </a:rPr>
              <a:t>for</a:t>
            </a:r>
            <a:r>
              <a:rPr sz="1100" i="0">
                <a:solidFill>
                  <a:srgbClr val="E8EDF2"/>
                </a:solidFill>
                <a:latin typeface="Consolas"/>
              </a:rPr>
              <a:t> </a:t>
            </a:r>
            <a:r>
              <a:rPr sz="1100" i="0">
                <a:solidFill>
                  <a:srgbClr val="E8EDF2"/>
                </a:solidFill>
                <a:latin typeface="Consolas"/>
              </a:rPr>
              <a:t>t</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_</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deps</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in</a:t>
            </a:r>
            <a:r>
              <a:rPr sz="1100" i="0">
                <a:solidFill>
                  <a:srgbClr val="E8EDF2"/>
                </a:solidFill>
                <a:latin typeface="Consolas"/>
              </a:rPr>
              <a:t> </a:t>
            </a:r>
            <a:r>
              <a:rPr sz="1100" i="0">
                <a:solidFill>
                  <a:srgbClr val="E8EDF2"/>
                </a:solidFill>
                <a:latin typeface="Consolas"/>
              </a:rPr>
              <a:t>TASKS</a:t>
            </a:r>
            <a:r>
              <a:rPr sz="1100" i="0">
                <a:solidFill>
                  <a:srgbClr val="AEB6BF"/>
                </a:solidFill>
                <a:latin typeface="Consolas"/>
              </a:rPr>
              <a:t>.</a:t>
            </a:r>
            <a:r>
              <a:rPr sz="1100" i="0">
                <a:solidFill>
                  <a:srgbClr val="E8EDF2"/>
                </a:solidFill>
                <a:latin typeface="Consolas"/>
              </a:rPr>
              <a:t>items</a:t>
            </a:r>
            <a:r>
              <a:rPr sz="1100" i="0">
                <a:solidFill>
                  <a:srgbClr val="AEB6BF"/>
                </a:solidFill>
                <a:latin typeface="Consolas"/>
              </a:rPr>
              <a:t>(</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5DADE2"/>
                </a:solidFill>
                <a:latin typeface="Consolas"/>
              </a:rPr>
              <a:t>if</a:t>
            </a:r>
            <a:r>
              <a:rPr sz="1100" i="0">
                <a:solidFill>
                  <a:srgbClr val="E8EDF2"/>
                </a:solidFill>
                <a:latin typeface="Consolas"/>
              </a:rPr>
              <a:t> </a:t>
            </a:r>
            <a:r>
              <a:rPr sz="1100" i="0">
                <a:solidFill>
                  <a:srgbClr val="E8EDF2"/>
                </a:solidFill>
                <a:latin typeface="Consolas"/>
              </a:rPr>
              <a:t>t</a:t>
            </a:r>
            <a:r>
              <a:rPr sz="1100" i="0">
                <a:solidFill>
                  <a:srgbClr val="E8EDF2"/>
                </a:solidFill>
                <a:latin typeface="Consolas"/>
              </a:rPr>
              <a:t> </a:t>
            </a:r>
            <a:r>
              <a:rPr sz="1100" i="0">
                <a:solidFill>
                  <a:srgbClr val="AEB6BF"/>
                </a:solidFill>
                <a:latin typeface="Consolas"/>
              </a:rPr>
              <a:t>not</a:t>
            </a:r>
            <a:r>
              <a:rPr sz="1100" i="0">
                <a:solidFill>
                  <a:srgbClr val="E8EDF2"/>
                </a:solidFill>
                <a:latin typeface="Consolas"/>
              </a:rPr>
              <a:t> </a:t>
            </a:r>
            <a:r>
              <a:rPr sz="1100" i="0">
                <a:solidFill>
                  <a:srgbClr val="AEB6BF"/>
                </a:solidFill>
                <a:latin typeface="Consolas"/>
              </a:rPr>
              <a:t>in</a:t>
            </a:r>
            <a:r>
              <a:rPr sz="1100" i="0">
                <a:solidFill>
                  <a:srgbClr val="E8EDF2"/>
                </a:solidFill>
                <a:latin typeface="Consolas"/>
              </a:rPr>
              <a:t> </a:t>
            </a:r>
            <a:r>
              <a:rPr sz="1100" i="0">
                <a:solidFill>
                  <a:srgbClr val="E8EDF2"/>
                </a:solidFill>
                <a:latin typeface="Consolas"/>
              </a:rPr>
              <a:t>state</a:t>
            </a:r>
            <a:r>
              <a:rPr sz="1100" i="0">
                <a:solidFill>
                  <a:srgbClr val="E8EDF2"/>
                </a:solidFill>
                <a:latin typeface="Consolas"/>
              </a:rPr>
              <a:t> </a:t>
            </a:r>
            <a:r>
              <a:rPr sz="1100" i="0">
                <a:solidFill>
                  <a:srgbClr val="AEB6BF"/>
                </a:solidFill>
                <a:latin typeface="Consolas"/>
              </a:rPr>
              <a:t>and</a:t>
            </a:r>
            <a:r>
              <a:rPr sz="1100" i="0">
                <a:solidFill>
                  <a:srgbClr val="E8EDF2"/>
                </a:solidFill>
                <a:latin typeface="Consolas"/>
              </a:rPr>
              <a:t> </a:t>
            </a:r>
            <a:r>
              <a:rPr sz="1100" i="0">
                <a:solidFill>
                  <a:srgbClr val="E8EDF2"/>
                </a:solidFill>
                <a:latin typeface="Consolas"/>
              </a:rPr>
              <a:t>deps</a:t>
            </a:r>
            <a:r>
              <a:rPr sz="1100" i="0">
                <a:solidFill>
                  <a:srgbClr val="E8EDF2"/>
                </a:solidFill>
                <a:latin typeface="Consolas"/>
              </a:rPr>
              <a:t> </a:t>
            </a:r>
            <a:r>
              <a:rPr sz="1100" i="0">
                <a:solidFill>
                  <a:srgbClr val="AEB6BF"/>
                </a:solidFill>
                <a:latin typeface="Consolas"/>
              </a:rPr>
              <a:t>&lt;</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state</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5DADE2"/>
                </a:solidFill>
                <a:latin typeface="Consolas"/>
              </a:rPr>
              <a:t>yield</a:t>
            </a:r>
            <a:r>
              <a:rPr sz="1100" i="0">
                <a:solidFill>
                  <a:srgbClr val="E8EDF2"/>
                </a:solidFill>
                <a:latin typeface="Consolas"/>
              </a:rPr>
              <a:t> </a:t>
            </a:r>
            <a:r>
              <a:rPr sz="1100" i="0">
                <a:solidFill>
                  <a:srgbClr val="E8EDF2"/>
                </a:solidFill>
                <a:latin typeface="Consolas"/>
              </a:rPr>
              <a:t>t</a:t>
            </a:r>
            <a:r>
              <a:rPr sz="1100" i="0">
                <a:solidFill>
                  <a:srgbClr val="E8EDF2"/>
                </a:solidFill>
                <a:latin typeface="Consolas"/>
              </a:rPr>
              <a:t>                      </a:t>
            </a:r>
            <a:r>
              <a:rPr sz="1100" i="1">
                <a:solidFill>
                  <a:srgbClr val="8795A1"/>
                </a:solidFill>
                <a:latin typeface="Consolas"/>
              </a:rPr>
              <a:t># a generator, not a list</a:t>
            </a:r>
          </a:p>
          <a:p>
            <a:pPr>
              <a:lnSpc>
                <a:spcPct val="100000"/>
              </a:lnSpc>
              <a:spcAft>
                <a:spcPts val="0"/>
              </a:spcAft>
            </a:pPr>
            <a:r>
              <a:rPr sz="1100">
                <a:latin typeface="Consolas"/>
              </a:rPr>
              <a:t> </a:t>
            </a:r>
          </a:p>
          <a:p>
            <a:pPr>
              <a:lnSpc>
                <a:spcPct val="100000"/>
              </a:lnSpc>
              <a:spcAft>
                <a:spcPts val="0"/>
              </a:spcAft>
            </a:pPr>
            <a:r>
              <a:rPr sz="1100" i="0">
                <a:solidFill>
                  <a:srgbClr val="E8EDF2"/>
                </a:solidFill>
                <a:latin typeface="Consolas"/>
              </a:rPr>
              <a:t>    </a:t>
            </a:r>
            <a:r>
              <a:rPr sz="1100" i="0">
                <a:solidFill>
                  <a:srgbClr val="5DADE2"/>
                </a:solidFill>
                <a:latin typeface="Consolas"/>
              </a:rPr>
              <a:t>def</a:t>
            </a:r>
            <a:r>
              <a:rPr sz="1100" i="0">
                <a:solidFill>
                  <a:srgbClr val="E8EDF2"/>
                </a:solidFill>
                <a:latin typeface="Consolas"/>
              </a:rPr>
              <a:t> </a:t>
            </a:r>
            <a:r>
              <a:rPr sz="1100" i="0">
                <a:solidFill>
                  <a:srgbClr val="C39BD3"/>
                </a:solidFill>
                <a:latin typeface="Consolas"/>
              </a:rPr>
              <a:t>result</a:t>
            </a:r>
            <a:r>
              <a:rPr sz="1100" i="0">
                <a:solidFill>
                  <a:srgbClr val="AEB6BF"/>
                </a:solidFill>
                <a:latin typeface="Consolas"/>
              </a:rPr>
              <a:t>(</a:t>
            </a:r>
            <a:r>
              <a:rPr sz="1100" i="0">
                <a:solidFill>
                  <a:srgbClr val="C39BD3"/>
                </a:solidFill>
                <a:latin typeface="Consolas"/>
              </a:rPr>
              <a:t>self</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state</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action</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5DADE2"/>
                </a:solidFill>
                <a:latin typeface="Consolas"/>
              </a:rPr>
              <a:t>return</a:t>
            </a:r>
            <a:r>
              <a:rPr sz="1100" i="0">
                <a:solidFill>
                  <a:srgbClr val="E8EDF2"/>
                </a:solidFill>
                <a:latin typeface="Consolas"/>
              </a:rPr>
              <a:t> </a:t>
            </a:r>
            <a:r>
              <a:rPr sz="1100" i="0">
                <a:solidFill>
                  <a:srgbClr val="E8EDF2"/>
                </a:solidFill>
                <a:latin typeface="Consolas"/>
              </a:rPr>
              <a:t>state</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 </a:t>
            </a:r>
            <a:r>
              <a:rPr sz="1100" i="0">
                <a:solidFill>
                  <a:srgbClr val="AEB6BF"/>
                </a:solidFill>
                <a:latin typeface="Consolas"/>
              </a:rPr>
              <a:t>{</a:t>
            </a:r>
            <a:r>
              <a:rPr sz="1100" i="0">
                <a:solidFill>
                  <a:srgbClr val="E8EDF2"/>
                </a:solidFill>
                <a:latin typeface="Consolas"/>
              </a:rPr>
              <a:t>action</a:t>
            </a:r>
            <a:r>
              <a:rPr sz="1100" i="0">
                <a:solidFill>
                  <a:srgbClr val="AEB6BF"/>
                </a:solidFill>
                <a:latin typeface="Consolas"/>
              </a:rPr>
              <a:t>}</a:t>
            </a:r>
            <a:r>
              <a:rPr sz="1100" i="0">
                <a:solidFill>
                  <a:srgbClr val="E8EDF2"/>
                </a:solidFill>
                <a:latin typeface="Consolas"/>
              </a:rPr>
              <a:t>              </a:t>
            </a:r>
            <a:r>
              <a:rPr sz="1100" i="1">
                <a:solidFill>
                  <a:srgbClr val="8795A1"/>
                </a:solidFill>
                <a:latin typeface="Consolas"/>
              </a:rPr>
              <a:t># new value, never mutated</a:t>
            </a:r>
          </a:p>
          <a:p>
            <a:pPr>
              <a:lnSpc>
                <a:spcPct val="100000"/>
              </a:lnSpc>
              <a:spcAft>
                <a:spcPts val="0"/>
              </a:spcAft>
            </a:pPr>
            <a:r>
              <a:rPr sz="1100">
                <a:latin typeface="Consolas"/>
              </a:rPr>
              <a:t> </a:t>
            </a:r>
          </a:p>
          <a:p>
            <a:pPr>
              <a:lnSpc>
                <a:spcPct val="100000"/>
              </a:lnSpc>
              <a:spcAft>
                <a:spcPts val="0"/>
              </a:spcAft>
            </a:pPr>
            <a:r>
              <a:rPr sz="1100" i="0">
                <a:solidFill>
                  <a:srgbClr val="E8EDF2"/>
                </a:solidFill>
                <a:latin typeface="Consolas"/>
              </a:rPr>
              <a:t>    </a:t>
            </a:r>
            <a:r>
              <a:rPr sz="1100" i="0">
                <a:solidFill>
                  <a:srgbClr val="5DADE2"/>
                </a:solidFill>
                <a:latin typeface="Consolas"/>
              </a:rPr>
              <a:t>def</a:t>
            </a:r>
            <a:r>
              <a:rPr sz="1100" i="0">
                <a:solidFill>
                  <a:srgbClr val="E8EDF2"/>
                </a:solidFill>
                <a:latin typeface="Consolas"/>
              </a:rPr>
              <a:t> </a:t>
            </a:r>
            <a:r>
              <a:rPr sz="1100" i="0">
                <a:solidFill>
                  <a:srgbClr val="C39BD3"/>
                </a:solidFill>
                <a:latin typeface="Consolas"/>
              </a:rPr>
              <a:t>step_cost</a:t>
            </a:r>
            <a:r>
              <a:rPr sz="1100" i="0">
                <a:solidFill>
                  <a:srgbClr val="AEB6BF"/>
                </a:solidFill>
                <a:latin typeface="Consolas"/>
              </a:rPr>
              <a:t>(</a:t>
            </a:r>
            <a:r>
              <a:rPr sz="1100" i="0">
                <a:solidFill>
                  <a:srgbClr val="C39BD3"/>
                </a:solidFill>
                <a:latin typeface="Consolas"/>
              </a:rPr>
              <a:t>self</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state</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action</a:t>
            </a:r>
            <a:r>
              <a:rPr sz="1100" i="0">
                <a:solidFill>
                  <a:srgbClr val="AEB6BF"/>
                </a:solidFill>
                <a:latin typeface="Consolas"/>
              </a:rPr>
              <a:t>,</a:t>
            </a:r>
            <a:r>
              <a:rPr sz="1100" i="0">
                <a:solidFill>
                  <a:srgbClr val="E8EDF2"/>
                </a:solidFill>
                <a:latin typeface="Consolas"/>
              </a:rPr>
              <a:t> </a:t>
            </a:r>
            <a:r>
              <a:rPr sz="1100" i="0">
                <a:solidFill>
                  <a:srgbClr val="E8EDF2"/>
                </a:solidFill>
                <a:latin typeface="Consolas"/>
              </a:rPr>
              <a:t>nxt</a:t>
            </a:r>
            <a:r>
              <a:rPr sz="1100" i="0">
                <a:solidFill>
                  <a:srgbClr val="AEB6BF"/>
                </a:solidFill>
                <a:latin typeface="Consolas"/>
              </a:rPr>
              <a:t>)</a:t>
            </a:r>
            <a:r>
              <a:rPr sz="1100" i="0">
                <a:solidFill>
                  <a:srgbClr val="AEB6BF"/>
                </a:solidFill>
                <a:latin typeface="Consolas"/>
              </a:rPr>
              <a:t>:</a:t>
            </a:r>
          </a:p>
          <a:p>
            <a:pPr>
              <a:lnSpc>
                <a:spcPct val="100000"/>
              </a:lnSpc>
              <a:spcAft>
                <a:spcPts val="0"/>
              </a:spcAft>
            </a:pPr>
            <a:r>
              <a:rPr sz="1100" i="0">
                <a:solidFill>
                  <a:srgbClr val="E8EDF2"/>
                </a:solidFill>
                <a:latin typeface="Consolas"/>
              </a:rPr>
              <a:t>        </a:t>
            </a:r>
            <a:r>
              <a:rPr sz="1100" i="0">
                <a:solidFill>
                  <a:srgbClr val="5DADE2"/>
                </a:solidFill>
                <a:latin typeface="Consolas"/>
              </a:rPr>
              <a:t>return</a:t>
            </a:r>
            <a:r>
              <a:rPr sz="1100" i="0">
                <a:solidFill>
                  <a:srgbClr val="E8EDF2"/>
                </a:solidFill>
                <a:latin typeface="Consolas"/>
              </a:rPr>
              <a:t> </a:t>
            </a:r>
            <a:r>
              <a:rPr sz="1100" i="0">
                <a:solidFill>
                  <a:srgbClr val="E8EDF2"/>
                </a:solidFill>
                <a:latin typeface="Consolas"/>
              </a:rPr>
              <a:t>TASKS</a:t>
            </a:r>
            <a:r>
              <a:rPr sz="1100" i="0">
                <a:solidFill>
                  <a:srgbClr val="AEB6BF"/>
                </a:solidFill>
                <a:latin typeface="Consolas"/>
              </a:rPr>
              <a:t>[</a:t>
            </a:r>
            <a:r>
              <a:rPr sz="1100" i="0">
                <a:solidFill>
                  <a:srgbClr val="E8EDF2"/>
                </a:solidFill>
                <a:latin typeface="Consolas"/>
              </a:rPr>
              <a:t>action</a:t>
            </a:r>
            <a:r>
              <a:rPr sz="1100" i="0">
                <a:solidFill>
                  <a:srgbClr val="AEB6BF"/>
                </a:solidFill>
                <a:latin typeface="Consolas"/>
              </a:rPr>
              <a:t>]</a:t>
            </a:r>
            <a:r>
              <a:rPr sz="1100" i="0">
                <a:solidFill>
                  <a:srgbClr val="AEB6BF"/>
                </a:solidFill>
                <a:latin typeface="Consolas"/>
              </a:rPr>
              <a:t>[</a:t>
            </a:r>
            <a:r>
              <a:rPr sz="1100" i="0">
                <a:solidFill>
                  <a:srgbClr val="F7DC6F"/>
                </a:solidFill>
                <a:latin typeface="Consolas"/>
              </a:rPr>
              <a:t>0</a:t>
            </a:r>
            <a:r>
              <a:rPr sz="1100" i="0">
                <a:solidFill>
                  <a:srgbClr val="AEB6BF"/>
                </a:solidFill>
                <a:latin typeface="Consolas"/>
              </a:rPr>
              <a:t>]</a:t>
            </a:r>
            <a:r>
              <a:rPr sz="1100" i="0">
                <a:solidFill>
                  <a:srgbClr val="E8EDF2"/>
                </a:solidFill>
                <a:latin typeface="Consolas"/>
              </a:rPr>
              <a:t>              </a:t>
            </a:r>
            <a:r>
              <a:rPr sz="1100" i="1">
                <a:solidFill>
                  <a:srgbClr val="8795A1"/>
                </a:solidFill>
                <a:latin typeface="Consolas"/>
              </a:rPr>
              <a:t># duration in days</a:t>
            </a:r>
          </a:p>
        </p:txBody>
      </p:sp>
      <p:sp>
        <p:nvSpPr>
          <p:cNvPr id="15" name="!!code-num"/>
          <p:cNvSpPr txBox="1"/>
          <p:nvPr/>
        </p:nvSpPr>
        <p:spPr>
          <a:xfrm>
            <a:off x="768096" y="2523744"/>
            <a:ext cx="393192" cy="3462527"/>
          </a:xfrm>
          <a:prstGeom prst="rect">
            <a:avLst/>
          </a:prstGeom>
          <a:noFill/>
        </p:spPr>
        <p:txBody>
          <a:bodyPr wrap="none" anchor="t" lIns="0" rIns="0" tIns="0" bIns="0">
            <a:noAutofit/>
          </a:bodyPr>
          <a:lstStyle/>
          <a:p>
            <a:pPr algn="r">
              <a:lnSpc>
                <a:spcPct val="100000"/>
              </a:lnSpc>
            </a:pPr>
            <a:r>
              <a:rPr sz="1100">
                <a:solidFill>
                  <a:srgbClr val="4F5D6A"/>
                </a:solidFill>
                <a:latin typeface="Consolas"/>
              </a:rPr>
              <a:t>48</a:t>
            </a:r>
          </a:p>
          <a:p>
            <a:pPr algn="r">
              <a:lnSpc>
                <a:spcPct val="100000"/>
              </a:lnSpc>
            </a:pPr>
            <a:r>
              <a:rPr sz="1100">
                <a:solidFill>
                  <a:srgbClr val="4F5D6A"/>
                </a:solidFill>
                <a:latin typeface="Consolas"/>
              </a:rPr>
              <a:t>49</a:t>
            </a:r>
          </a:p>
          <a:p>
            <a:pPr algn="r">
              <a:lnSpc>
                <a:spcPct val="100000"/>
              </a:lnSpc>
            </a:pPr>
            <a:r>
              <a:rPr sz="1100">
                <a:solidFill>
                  <a:srgbClr val="4F5D6A"/>
                </a:solidFill>
                <a:latin typeface="Consolas"/>
              </a:rPr>
              <a:t>50</a:t>
            </a:r>
          </a:p>
          <a:p>
            <a:pPr algn="r">
              <a:lnSpc>
                <a:spcPct val="100000"/>
              </a:lnSpc>
            </a:pPr>
            <a:r>
              <a:rPr sz="1100">
                <a:solidFill>
                  <a:srgbClr val="4F5D6A"/>
                </a:solidFill>
                <a:latin typeface="Consolas"/>
              </a:rPr>
              <a:t>51</a:t>
            </a:r>
          </a:p>
          <a:p>
            <a:pPr algn="r">
              <a:lnSpc>
                <a:spcPct val="100000"/>
              </a:lnSpc>
            </a:pPr>
            <a:r>
              <a:rPr sz="1100">
                <a:solidFill>
                  <a:srgbClr val="4F5D6A"/>
                </a:solidFill>
                <a:latin typeface="Consolas"/>
              </a:rPr>
              <a:t>52</a:t>
            </a:r>
          </a:p>
          <a:p>
            <a:pPr algn="r">
              <a:lnSpc>
                <a:spcPct val="100000"/>
              </a:lnSpc>
            </a:pPr>
            <a:r>
              <a:rPr sz="1100">
                <a:solidFill>
                  <a:srgbClr val="4F5D6A"/>
                </a:solidFill>
                <a:latin typeface="Consolas"/>
              </a:rPr>
              <a:t>53</a:t>
            </a:r>
          </a:p>
          <a:p>
            <a:pPr algn="r">
              <a:lnSpc>
                <a:spcPct val="100000"/>
              </a:lnSpc>
            </a:pPr>
            <a:r>
              <a:rPr sz="1100">
                <a:solidFill>
                  <a:srgbClr val="4F5D6A"/>
                </a:solidFill>
                <a:latin typeface="Consolas"/>
              </a:rPr>
              <a:t>54</a:t>
            </a:r>
          </a:p>
          <a:p>
            <a:pPr algn="r">
              <a:lnSpc>
                <a:spcPct val="100000"/>
              </a:lnSpc>
            </a:pPr>
            <a:r>
              <a:rPr sz="1100">
                <a:solidFill>
                  <a:srgbClr val="4F5D6A"/>
                </a:solidFill>
                <a:latin typeface="Consolas"/>
              </a:rPr>
              <a:t>55</a:t>
            </a:r>
          </a:p>
          <a:p>
            <a:pPr algn="r">
              <a:lnSpc>
                <a:spcPct val="100000"/>
              </a:lnSpc>
            </a:pPr>
            <a:r>
              <a:rPr sz="1100">
                <a:solidFill>
                  <a:srgbClr val="4F5D6A"/>
                </a:solidFill>
                <a:latin typeface="Consolas"/>
              </a:rPr>
              <a:t>56</a:t>
            </a:r>
          </a:p>
          <a:p>
            <a:pPr algn="r">
              <a:lnSpc>
                <a:spcPct val="100000"/>
              </a:lnSpc>
            </a:pPr>
            <a:r>
              <a:rPr sz="1100">
                <a:solidFill>
                  <a:srgbClr val="4F5D6A"/>
                </a:solidFill>
                <a:latin typeface="Consolas"/>
              </a:rPr>
              <a:t>57</a:t>
            </a:r>
          </a:p>
          <a:p>
            <a:pPr algn="r">
              <a:lnSpc>
                <a:spcPct val="100000"/>
              </a:lnSpc>
            </a:pPr>
            <a:r>
              <a:rPr sz="1100">
                <a:solidFill>
                  <a:srgbClr val="4F5D6A"/>
                </a:solidFill>
                <a:latin typeface="Consolas"/>
              </a:rPr>
              <a:t>58</a:t>
            </a:r>
          </a:p>
          <a:p>
            <a:pPr algn="r">
              <a:lnSpc>
                <a:spcPct val="100000"/>
              </a:lnSpc>
            </a:pPr>
            <a:r>
              <a:rPr sz="1100">
                <a:solidFill>
                  <a:srgbClr val="4F5D6A"/>
                </a:solidFill>
                <a:latin typeface="Consolas"/>
              </a:rPr>
              <a:t>59</a:t>
            </a:r>
          </a:p>
          <a:p>
            <a:pPr algn="r">
              <a:lnSpc>
                <a:spcPct val="100000"/>
              </a:lnSpc>
            </a:pPr>
            <a:r>
              <a:rPr sz="1100">
                <a:solidFill>
                  <a:srgbClr val="4F5D6A"/>
                </a:solidFill>
                <a:latin typeface="Consolas"/>
              </a:rPr>
              <a:t>60</a:t>
            </a:r>
          </a:p>
          <a:p>
            <a:pPr algn="r">
              <a:lnSpc>
                <a:spcPct val="100000"/>
              </a:lnSpc>
            </a:pPr>
            <a:r>
              <a:rPr sz="1100">
                <a:solidFill>
                  <a:srgbClr val="4F5D6A"/>
                </a:solidFill>
                <a:latin typeface="Consolas"/>
              </a:rPr>
              <a:t>61</a:t>
            </a:r>
          </a:p>
          <a:p>
            <a:pPr algn="r">
              <a:lnSpc>
                <a:spcPct val="100000"/>
              </a:lnSpc>
            </a:pPr>
            <a:r>
              <a:rPr sz="1100">
                <a:solidFill>
                  <a:srgbClr val="4F5D6A"/>
                </a:solidFill>
                <a:latin typeface="Consolas"/>
              </a:rPr>
              <a:t>62</a:t>
            </a:r>
          </a:p>
          <a:p>
            <a:pPr algn="r">
              <a:lnSpc>
                <a:spcPct val="100000"/>
              </a:lnSpc>
            </a:pPr>
            <a:r>
              <a:rPr sz="1100">
                <a:solidFill>
                  <a:srgbClr val="4F5D6A"/>
                </a:solidFill>
                <a:latin typeface="Consolas"/>
              </a:rPr>
              <a:t>63</a:t>
            </a:r>
          </a:p>
          <a:p>
            <a:pPr algn="r">
              <a:lnSpc>
                <a:spcPct val="100000"/>
              </a:lnSpc>
            </a:pPr>
            <a:r>
              <a:rPr sz="1100">
                <a:solidFill>
                  <a:srgbClr val="4F5D6A"/>
                </a:solidFill>
                <a:latin typeface="Consolas"/>
              </a:rPr>
              <a:t>64</a:t>
            </a:r>
          </a:p>
          <a:p>
            <a:pPr algn="r">
              <a:lnSpc>
                <a:spcPct val="100000"/>
              </a:lnSpc>
            </a:pPr>
            <a:r>
              <a:rPr sz="1100">
                <a:solidFill>
                  <a:srgbClr val="4F5D6A"/>
                </a:solidFill>
                <a:latin typeface="Consolas"/>
              </a:rPr>
              <a:t>65</a:t>
            </a:r>
          </a:p>
          <a:p>
            <a:pPr algn="r">
              <a:lnSpc>
                <a:spcPct val="100000"/>
              </a:lnSpc>
            </a:pPr>
            <a:r>
              <a:rPr sz="1100">
                <a:solidFill>
                  <a:srgbClr val="4F5D6A"/>
                </a:solidFill>
                <a:latin typeface="Consolas"/>
              </a:rPr>
              <a:t>66</a:t>
            </a:r>
          </a:p>
          <a:p>
            <a:pPr algn="r">
              <a:lnSpc>
                <a:spcPct val="100000"/>
              </a:lnSpc>
            </a:pPr>
            <a:r>
              <a:rPr sz="1100">
                <a:solidFill>
                  <a:srgbClr val="4F5D6A"/>
                </a:solidFill>
                <a:latin typeface="Consolas"/>
              </a:rPr>
              <a:t>67</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33030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Frontier and the Graph: The Course Toolkit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14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3  ·  Representations and Search in Python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§3.6  ·  Handout p. 25     </a:t>
            </a:r>
            <a:fld id="{3292B30A-C5BE-4B61-B6E1-F8225CB9778A}" type="slidenum">
              <a:rPr lang="en-GB" sz="1000">
                <a:solidFill>
                  <a:srgbClr val="8795A1"/>
                </a:solidFill>
                <a:latin typeface="Segoe UI"/>
              </a:rPr>
              <a:t>28</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interface every later chapter subclasses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651504"/>
          </a:xfrm>
          <a:prstGeom prst="roundRect">
            <a:avLst>
              <a:gd name="adj" fmla="val 2504"/>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code/ch03_frontier_graph_course.py</a:t>
            </a:r>
          </a:p>
        </p:txBody>
      </p:sp>
      <p:sp>
        <p:nvSpPr>
          <p:cNvPr id="14" name="!!code-text" descr="Node = namedtuple(&quot;Node&quot;, &quot;state parent action cost&quot;) def path(node): &quot;&quot;&quot;Walk parent pointers back to the root.&quot;&quot;&quot; out = [] while node.parent is not None: out.append(node.action) node = node.parent return list(reversed(out))"/>
          <p:cNvSpPr txBox="1"/>
          <p:nvPr/>
        </p:nvSpPr>
        <p:spPr>
          <a:xfrm>
            <a:off x="1362456" y="2523744"/>
            <a:ext cx="9987991" cy="3157728"/>
          </a:xfrm>
          <a:prstGeom prst="rect">
            <a:avLst/>
          </a:prstGeom>
          <a:noFill/>
        </p:spPr>
        <p:txBody>
          <a:bodyPr wrap="none" anchor="t" lIns="0" rIns="0" tIns="0" bIns="0">
            <a:noAutofit/>
          </a:bodyPr>
          <a:lstStyle/>
          <a:p>
            <a:pPr>
              <a:lnSpc>
                <a:spcPct val="100000"/>
              </a:lnSpc>
              <a:spcAft>
                <a:spcPts val="0"/>
              </a:spcAft>
            </a:pPr>
            <a:r>
              <a:rPr sz="2000" i="0">
                <a:solidFill>
                  <a:srgbClr val="E8EDF2"/>
                </a:solidFill>
                <a:latin typeface="Consolas"/>
              </a:rPr>
              <a:t>Node</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namedtuple</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Node</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state parent action cost</a:t>
            </a:r>
            <a:r>
              <a:rPr sz="2000" i="0">
                <a:solidFill>
                  <a:srgbClr val="7DCEA0"/>
                </a:solidFill>
                <a:latin typeface="Consolas"/>
              </a:rPr>
              <a:t>"</a:t>
            </a:r>
            <a:r>
              <a:rPr sz="2000" i="0">
                <a:solidFill>
                  <a:srgbClr val="AEB6BF"/>
                </a:solidFill>
                <a:latin typeface="Consolas"/>
              </a:rPr>
              <a:t>)</a:t>
            </a:r>
          </a:p>
          <a:p>
            <a:pPr>
              <a:lnSpc>
                <a:spcPct val="100000"/>
              </a:lnSpc>
              <a:spcAft>
                <a:spcPts val="0"/>
              </a:spcAft>
            </a:pPr>
            <a:r>
              <a:rPr sz="2000">
                <a:latin typeface="Consolas"/>
              </a:rPr>
              <a:t> </a:t>
            </a:r>
          </a:p>
          <a:p>
            <a:pPr>
              <a:lnSpc>
                <a:spcPct val="100000"/>
              </a:lnSpc>
              <a:spcAft>
                <a:spcPts val="0"/>
              </a:spcAft>
            </a:pPr>
            <a:r>
              <a:rPr sz="2000">
                <a:latin typeface="Consolas"/>
              </a:rPr>
              <a:t> </a:t>
            </a:r>
          </a:p>
          <a:p>
            <a:pPr>
              <a:lnSpc>
                <a:spcPct val="100000"/>
              </a:lnSpc>
              <a:spcAft>
                <a:spcPts val="0"/>
              </a:spcAft>
            </a:pPr>
            <a:r>
              <a:rPr sz="2000" i="0">
                <a:solidFill>
                  <a:srgbClr val="5DADE2"/>
                </a:solidFill>
                <a:latin typeface="Consolas"/>
              </a:rPr>
              <a:t>def</a:t>
            </a:r>
            <a:r>
              <a:rPr sz="2000" i="0">
                <a:solidFill>
                  <a:srgbClr val="E8EDF2"/>
                </a:solidFill>
                <a:latin typeface="Consolas"/>
              </a:rPr>
              <a:t> </a:t>
            </a:r>
            <a:r>
              <a:rPr sz="2000" i="0">
                <a:solidFill>
                  <a:srgbClr val="C39BD3"/>
                </a:solidFill>
                <a:latin typeface="Consolas"/>
              </a:rPr>
              <a:t>path</a:t>
            </a:r>
            <a:r>
              <a:rPr sz="2000" i="0">
                <a:solidFill>
                  <a:srgbClr val="AEB6BF"/>
                </a:solidFill>
                <a:latin typeface="Consolas"/>
              </a:rPr>
              <a:t>(</a:t>
            </a:r>
            <a:r>
              <a:rPr sz="2000" i="0">
                <a:solidFill>
                  <a:srgbClr val="E8EDF2"/>
                </a:solidFill>
                <a:latin typeface="Consolas"/>
              </a:rPr>
              <a:t>node</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7DCEA0"/>
                </a:solidFill>
                <a:latin typeface="Consolas"/>
              </a:rPr>
              <a:t>"""Walk parent pointers back to the root."""</a:t>
            </a:r>
          </a:p>
          <a:p>
            <a:pPr>
              <a:lnSpc>
                <a:spcPct val="100000"/>
              </a:lnSpc>
              <a:spcAft>
                <a:spcPts val="0"/>
              </a:spcAft>
            </a:pPr>
            <a:r>
              <a:rPr sz="2000" i="0">
                <a:solidFill>
                  <a:srgbClr val="E8EDF2"/>
                </a:solidFill>
                <a:latin typeface="Consolas"/>
              </a:rPr>
              <a:t>    </a:t>
            </a:r>
            <a:r>
              <a:rPr sz="2000" i="0">
                <a:solidFill>
                  <a:srgbClr val="E8EDF2"/>
                </a:solidFill>
                <a:latin typeface="Consolas"/>
              </a:rPr>
              <a:t>out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while</a:t>
            </a:r>
            <a:r>
              <a:rPr sz="2000" i="0">
                <a:solidFill>
                  <a:srgbClr val="E8EDF2"/>
                </a:solidFill>
                <a:latin typeface="Consolas"/>
              </a:rPr>
              <a:t> </a:t>
            </a:r>
            <a:r>
              <a:rPr sz="2000" i="0">
                <a:solidFill>
                  <a:srgbClr val="E8EDF2"/>
                </a:solidFill>
                <a:latin typeface="Consolas"/>
              </a:rPr>
              <a:t>node</a:t>
            </a:r>
            <a:r>
              <a:rPr sz="2000" i="0">
                <a:solidFill>
                  <a:srgbClr val="AEB6BF"/>
                </a:solidFill>
                <a:latin typeface="Consolas"/>
              </a:rPr>
              <a:t>.</a:t>
            </a:r>
            <a:r>
              <a:rPr sz="2000" i="0">
                <a:solidFill>
                  <a:srgbClr val="E8EDF2"/>
                </a:solidFill>
                <a:latin typeface="Consolas"/>
              </a:rPr>
              <a:t>parent</a:t>
            </a:r>
            <a:r>
              <a:rPr sz="2000" i="0">
                <a:solidFill>
                  <a:srgbClr val="E8EDF2"/>
                </a:solidFill>
                <a:latin typeface="Consolas"/>
              </a:rPr>
              <a:t> </a:t>
            </a:r>
            <a:r>
              <a:rPr sz="2000" i="0">
                <a:solidFill>
                  <a:srgbClr val="AEB6BF"/>
                </a:solidFill>
                <a:latin typeface="Consolas"/>
              </a:rPr>
              <a:t>is</a:t>
            </a:r>
            <a:r>
              <a:rPr sz="2000" i="0">
                <a:solidFill>
                  <a:srgbClr val="E8EDF2"/>
                </a:solidFill>
                <a:latin typeface="Consolas"/>
              </a:rPr>
              <a:t> </a:t>
            </a:r>
            <a:r>
              <a:rPr sz="2000" i="0">
                <a:solidFill>
                  <a:srgbClr val="AEB6BF"/>
                </a:solidFill>
                <a:latin typeface="Consolas"/>
              </a:rPr>
              <a:t>not</a:t>
            </a:r>
            <a:r>
              <a:rPr sz="2000" i="0">
                <a:solidFill>
                  <a:srgbClr val="E8EDF2"/>
                </a:solidFill>
                <a:latin typeface="Consolas"/>
              </a:rPr>
              <a:t> </a:t>
            </a:r>
            <a:r>
              <a:rPr sz="2000" i="0">
                <a:solidFill>
                  <a:srgbClr val="5DADE2"/>
                </a:solidFill>
                <a:latin typeface="Consolas"/>
              </a:rPr>
              <a:t>None</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out</a:t>
            </a:r>
            <a:r>
              <a:rPr sz="2000" i="0">
                <a:solidFill>
                  <a:srgbClr val="AEB6BF"/>
                </a:solidFill>
                <a:latin typeface="Consolas"/>
              </a:rPr>
              <a:t>.</a:t>
            </a:r>
            <a:r>
              <a:rPr sz="2000" i="0">
                <a:solidFill>
                  <a:srgbClr val="E8EDF2"/>
                </a:solidFill>
                <a:latin typeface="Consolas"/>
              </a:rPr>
              <a:t>append</a:t>
            </a:r>
            <a:r>
              <a:rPr sz="2000" i="0">
                <a:solidFill>
                  <a:srgbClr val="AEB6BF"/>
                </a:solidFill>
                <a:latin typeface="Consolas"/>
              </a:rPr>
              <a:t>(</a:t>
            </a:r>
            <a:r>
              <a:rPr sz="2000" i="0">
                <a:solidFill>
                  <a:srgbClr val="E8EDF2"/>
                </a:solidFill>
                <a:latin typeface="Consolas"/>
              </a:rPr>
              <a:t>node</a:t>
            </a:r>
            <a:r>
              <a:rPr sz="2000" i="0">
                <a:solidFill>
                  <a:srgbClr val="AEB6BF"/>
                </a:solidFill>
                <a:latin typeface="Consolas"/>
              </a:rPr>
              <a:t>.</a:t>
            </a:r>
            <a:r>
              <a:rPr sz="2000" i="0">
                <a:solidFill>
                  <a:srgbClr val="E8EDF2"/>
                </a:solidFill>
                <a:latin typeface="Consolas"/>
              </a:rPr>
              <a:t>action</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node</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node</a:t>
            </a:r>
            <a:r>
              <a:rPr sz="2000" i="0">
                <a:solidFill>
                  <a:srgbClr val="AEB6BF"/>
                </a:solidFill>
                <a:latin typeface="Consolas"/>
              </a:rPr>
              <a:t>.</a:t>
            </a:r>
            <a:r>
              <a:rPr sz="2000" i="0">
                <a:solidFill>
                  <a:srgbClr val="E8EDF2"/>
                </a:solidFill>
                <a:latin typeface="Consolas"/>
              </a:rPr>
              <a:t>parent</a:t>
            </a:r>
          </a:p>
          <a:p>
            <a:pPr>
              <a:lnSpc>
                <a:spcPct val="100000"/>
              </a:lnSpc>
              <a:spcAft>
                <a:spcPts val="0"/>
              </a:spcAft>
            </a:pPr>
            <a:r>
              <a:rPr sz="2000" i="0">
                <a:solidFill>
                  <a:srgbClr val="E8EDF2"/>
                </a:solidFill>
                <a:latin typeface="Consolas"/>
              </a:rPr>
              <a:t>    </a:t>
            </a:r>
            <a:r>
              <a:rPr sz="2000" i="0">
                <a:solidFill>
                  <a:srgbClr val="5DADE2"/>
                </a:solidFill>
                <a:latin typeface="Consolas"/>
              </a:rPr>
              <a:t>return</a:t>
            </a:r>
            <a:r>
              <a:rPr sz="2000" i="0">
                <a:solidFill>
                  <a:srgbClr val="E8EDF2"/>
                </a:solidFill>
                <a:latin typeface="Consolas"/>
              </a:rPr>
              <a:t> </a:t>
            </a:r>
            <a:r>
              <a:rPr sz="2000" i="0">
                <a:solidFill>
                  <a:srgbClr val="C39BD3"/>
                </a:solidFill>
                <a:latin typeface="Consolas"/>
              </a:rPr>
              <a:t>list</a:t>
            </a:r>
            <a:r>
              <a:rPr sz="2000" i="0">
                <a:solidFill>
                  <a:srgbClr val="AEB6BF"/>
                </a:solidFill>
                <a:latin typeface="Consolas"/>
              </a:rPr>
              <a:t>(</a:t>
            </a:r>
            <a:r>
              <a:rPr sz="2000" i="0">
                <a:solidFill>
                  <a:srgbClr val="C39BD3"/>
                </a:solidFill>
                <a:latin typeface="Consolas"/>
              </a:rPr>
              <a:t>reversed</a:t>
            </a:r>
            <a:r>
              <a:rPr sz="2000" i="0">
                <a:solidFill>
                  <a:srgbClr val="AEB6BF"/>
                </a:solidFill>
                <a:latin typeface="Consolas"/>
              </a:rPr>
              <a:t>(</a:t>
            </a:r>
            <a:r>
              <a:rPr sz="2000" i="0">
                <a:solidFill>
                  <a:srgbClr val="E8EDF2"/>
                </a:solidFill>
                <a:latin typeface="Consolas"/>
              </a:rPr>
              <a:t>out</a:t>
            </a:r>
            <a:r>
              <a:rPr sz="2000" i="0">
                <a:solidFill>
                  <a:srgbClr val="AEB6BF"/>
                </a:solidFill>
                <a:latin typeface="Consolas"/>
              </a:rPr>
              <a:t>)</a:t>
            </a:r>
            <a:r>
              <a:rPr sz="2000" i="0">
                <a:solidFill>
                  <a:srgbClr val="AEB6BF"/>
                </a:solidFill>
                <a:latin typeface="Consolas"/>
              </a:rPr>
              <a:t>)</a:t>
            </a:r>
          </a:p>
        </p:txBody>
      </p:sp>
      <p:sp>
        <p:nvSpPr>
          <p:cNvPr id="15" name="!!code-num"/>
          <p:cNvSpPr txBox="1"/>
          <p:nvPr/>
        </p:nvSpPr>
        <p:spPr>
          <a:xfrm>
            <a:off x="768096" y="2523744"/>
            <a:ext cx="393192" cy="3157728"/>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70</a:t>
            </a:r>
          </a:p>
          <a:p>
            <a:pPr algn="r">
              <a:lnSpc>
                <a:spcPct val="100000"/>
              </a:lnSpc>
            </a:pPr>
            <a:r>
              <a:rPr sz="2000">
                <a:solidFill>
                  <a:srgbClr val="4F5D6A"/>
                </a:solidFill>
                <a:latin typeface="Consolas"/>
              </a:rPr>
              <a:t>71</a:t>
            </a:r>
          </a:p>
          <a:p>
            <a:pPr algn="r">
              <a:lnSpc>
                <a:spcPct val="100000"/>
              </a:lnSpc>
            </a:pPr>
            <a:r>
              <a:rPr sz="2000">
                <a:solidFill>
                  <a:srgbClr val="4F5D6A"/>
                </a:solidFill>
                <a:latin typeface="Consolas"/>
              </a:rPr>
              <a:t>72</a:t>
            </a:r>
          </a:p>
          <a:p>
            <a:pPr algn="r">
              <a:lnSpc>
                <a:spcPct val="100000"/>
              </a:lnSpc>
            </a:pPr>
            <a:r>
              <a:rPr sz="2000">
                <a:solidFill>
                  <a:srgbClr val="4F5D6A"/>
                </a:solidFill>
                <a:latin typeface="Consolas"/>
              </a:rPr>
              <a:t>73</a:t>
            </a:r>
          </a:p>
          <a:p>
            <a:pPr algn="r">
              <a:lnSpc>
                <a:spcPct val="100000"/>
              </a:lnSpc>
            </a:pPr>
            <a:r>
              <a:rPr sz="2000">
                <a:solidFill>
                  <a:srgbClr val="4F5D6A"/>
                </a:solidFill>
                <a:latin typeface="Consolas"/>
              </a:rPr>
              <a:t>74</a:t>
            </a:r>
          </a:p>
          <a:p>
            <a:pPr algn="r">
              <a:lnSpc>
                <a:spcPct val="100000"/>
              </a:lnSpc>
            </a:pPr>
            <a:r>
              <a:rPr sz="2000">
                <a:solidFill>
                  <a:srgbClr val="4F5D6A"/>
                </a:solidFill>
                <a:latin typeface="Consolas"/>
              </a:rPr>
              <a:t>75</a:t>
            </a:r>
          </a:p>
          <a:p>
            <a:pPr algn="r">
              <a:lnSpc>
                <a:spcPct val="100000"/>
              </a:lnSpc>
            </a:pPr>
            <a:r>
              <a:rPr sz="2000">
                <a:solidFill>
                  <a:srgbClr val="4F5D6A"/>
                </a:solidFill>
                <a:latin typeface="Consolas"/>
              </a:rPr>
              <a:t>76</a:t>
            </a:r>
          </a:p>
          <a:p>
            <a:pPr algn="r">
              <a:lnSpc>
                <a:spcPct val="100000"/>
              </a:lnSpc>
            </a:pPr>
            <a:r>
              <a:rPr sz="2000">
                <a:solidFill>
                  <a:srgbClr val="4F5D6A"/>
                </a:solidFill>
                <a:latin typeface="Consolas"/>
              </a:rPr>
              <a:t>77</a:t>
            </a:r>
          </a:p>
          <a:p>
            <a:pPr algn="r">
              <a:lnSpc>
                <a:spcPct val="100000"/>
              </a:lnSpc>
            </a:pPr>
            <a:r>
              <a:rPr sz="2000">
                <a:solidFill>
                  <a:srgbClr val="4F5D6A"/>
                </a:solidFill>
                <a:latin typeface="Consolas"/>
              </a:rPr>
              <a:t>78</a:t>
            </a:r>
          </a:p>
          <a:p>
            <a:pPr algn="r">
              <a:lnSpc>
                <a:spcPct val="100000"/>
              </a:lnSpc>
            </a:pPr>
            <a:r>
              <a:rPr sz="2000">
                <a:solidFill>
                  <a:srgbClr val="4F5D6A"/>
                </a:solidFill>
                <a:latin typeface="Consolas"/>
              </a:rPr>
              <a:t>79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56475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Frontier and the Graph: The Course Toolkit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6 OF 14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3  ·  Representations and Search in Python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§3.6  ·  Handout p. 25     </a:t>
            </a:r>
            <a:fld id="{D7219FCB-2D26-488C-818F-8C81BA56073E}" type="slidenum">
              <a:rPr lang="en-GB" sz="1000">
                <a:solidFill>
                  <a:srgbClr val="8795A1"/>
                </a:solidFill>
                <a:latin typeface="Segoe UI"/>
              </a:rPr>
              <a:t>29</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three frontiers, behind one small interface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169664"/>
          </a:xfrm>
          <a:prstGeom prst="roundRect">
            <a:avLst>
              <a:gd name="adj" fmla="val 219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code/ch03_frontier_graph_course.py</a:t>
            </a:r>
          </a:p>
        </p:txBody>
      </p:sp>
      <p:sp>
        <p:nvSpPr>
          <p:cNvPr id="14" name="!!code-text" descr="# --- the three frontiers, behind one small interface ---------------- class FIFO: def __init__(self): self.q = deque() def push(self, node): self.q.append(node) def pop(self): return self.q.popleft() # O(1); list.pop(0) is O(n) def __len__(self): return len(self.q)"/>
          <p:cNvSpPr txBox="1"/>
          <p:nvPr/>
        </p:nvSpPr>
        <p:spPr>
          <a:xfrm>
            <a:off x="1362456" y="2523744"/>
            <a:ext cx="9987991" cy="367588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the three frontiers, behind one small interface ----------------</a:t>
            </a:r>
          </a:p>
          <a:p>
            <a:pPr>
              <a:lnSpc>
                <a:spcPct val="100000"/>
              </a:lnSpc>
              <a:spcAft>
                <a:spcPts val="0"/>
              </a:spcAft>
            </a:pPr>
            <a:r>
              <a:rPr sz="1800" i="0">
                <a:solidFill>
                  <a:srgbClr val="5DADE2"/>
                </a:solidFill>
                <a:latin typeface="Consolas"/>
              </a:rPr>
              <a:t>class</a:t>
            </a:r>
            <a:r>
              <a:rPr sz="1800" i="0">
                <a:solidFill>
                  <a:srgbClr val="E8EDF2"/>
                </a:solidFill>
                <a:latin typeface="Consolas"/>
              </a:rPr>
              <a:t> </a:t>
            </a:r>
            <a:r>
              <a:rPr sz="1800" i="0">
                <a:solidFill>
                  <a:srgbClr val="76D7C4"/>
                </a:solidFill>
                <a:latin typeface="Consolas"/>
              </a:rPr>
              <a:t>FIFO</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def</a:t>
            </a:r>
            <a:r>
              <a:rPr sz="1800" i="0">
                <a:solidFill>
                  <a:srgbClr val="E8EDF2"/>
                </a:solidFill>
                <a:latin typeface="Consolas"/>
              </a:rPr>
              <a:t> </a:t>
            </a:r>
            <a:r>
              <a:rPr sz="1800" i="0">
                <a:solidFill>
                  <a:srgbClr val="C39BD3"/>
                </a:solidFill>
                <a:latin typeface="Consolas"/>
              </a:rPr>
              <a:t>__init__</a:t>
            </a:r>
            <a:r>
              <a:rPr sz="1800" i="0">
                <a:solidFill>
                  <a:srgbClr val="AEB6BF"/>
                </a:solidFill>
                <a:latin typeface="Consolas"/>
              </a:rPr>
              <a:t>(</a:t>
            </a:r>
            <a:r>
              <a:rPr sz="1800" i="0">
                <a:solidFill>
                  <a:srgbClr val="C39BD3"/>
                </a:solidFill>
                <a:latin typeface="Consolas"/>
              </a:rPr>
              <a:t>self</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C39BD3"/>
                </a:solidFill>
                <a:latin typeface="Consolas"/>
              </a:rPr>
              <a:t>self</a:t>
            </a:r>
            <a:r>
              <a:rPr sz="1800" i="0">
                <a:solidFill>
                  <a:srgbClr val="AEB6BF"/>
                </a:solidFill>
                <a:latin typeface="Consolas"/>
              </a:rPr>
              <a:t>.</a:t>
            </a:r>
            <a:r>
              <a:rPr sz="1800" i="0">
                <a:solidFill>
                  <a:srgbClr val="E8EDF2"/>
                </a:solidFill>
                <a:latin typeface="Consolas"/>
              </a:rPr>
              <a:t>q</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deque</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a:latin typeface="Consolas"/>
              </a:rPr>
              <a:t> </a:t>
            </a:r>
          </a:p>
          <a:p>
            <a:pPr>
              <a:lnSpc>
                <a:spcPct val="100000"/>
              </a:lnSpc>
              <a:spcAft>
                <a:spcPts val="0"/>
              </a:spcAft>
            </a:pPr>
            <a:r>
              <a:rPr sz="1800" i="0">
                <a:solidFill>
                  <a:srgbClr val="E8EDF2"/>
                </a:solidFill>
                <a:latin typeface="Consolas"/>
              </a:rPr>
              <a:t>    </a:t>
            </a:r>
            <a:r>
              <a:rPr sz="1800" i="0">
                <a:solidFill>
                  <a:srgbClr val="5DADE2"/>
                </a:solidFill>
                <a:latin typeface="Consolas"/>
              </a:rPr>
              <a:t>def</a:t>
            </a:r>
            <a:r>
              <a:rPr sz="1800" i="0">
                <a:solidFill>
                  <a:srgbClr val="E8EDF2"/>
                </a:solidFill>
                <a:latin typeface="Consolas"/>
              </a:rPr>
              <a:t> </a:t>
            </a:r>
            <a:r>
              <a:rPr sz="1800" i="0">
                <a:solidFill>
                  <a:srgbClr val="C39BD3"/>
                </a:solidFill>
                <a:latin typeface="Consolas"/>
              </a:rPr>
              <a:t>push</a:t>
            </a:r>
            <a:r>
              <a:rPr sz="1800" i="0">
                <a:solidFill>
                  <a:srgbClr val="AEB6BF"/>
                </a:solidFill>
                <a:latin typeface="Consolas"/>
              </a:rPr>
              <a:t>(</a:t>
            </a:r>
            <a:r>
              <a:rPr sz="1800" i="0">
                <a:solidFill>
                  <a:srgbClr val="C39BD3"/>
                </a:solidFill>
                <a:latin typeface="Consolas"/>
              </a:rPr>
              <a:t>self</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node</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C39BD3"/>
                </a:solidFill>
                <a:latin typeface="Consolas"/>
              </a:rPr>
              <a:t>self</a:t>
            </a:r>
            <a:r>
              <a:rPr sz="1800" i="0">
                <a:solidFill>
                  <a:srgbClr val="AEB6BF"/>
                </a:solidFill>
                <a:latin typeface="Consolas"/>
              </a:rPr>
              <a:t>.</a:t>
            </a:r>
            <a:r>
              <a:rPr sz="1800" i="0">
                <a:solidFill>
                  <a:srgbClr val="E8EDF2"/>
                </a:solidFill>
                <a:latin typeface="Consolas"/>
              </a:rPr>
              <a:t>q</a:t>
            </a:r>
            <a:r>
              <a:rPr sz="1800" i="0">
                <a:solidFill>
                  <a:srgbClr val="AEB6BF"/>
                </a:solidFill>
                <a:latin typeface="Consolas"/>
              </a:rPr>
              <a:t>.</a:t>
            </a:r>
            <a:r>
              <a:rPr sz="1800" i="0">
                <a:solidFill>
                  <a:srgbClr val="E8EDF2"/>
                </a:solidFill>
                <a:latin typeface="Consolas"/>
              </a:rPr>
              <a:t>append</a:t>
            </a:r>
            <a:r>
              <a:rPr sz="1800" i="0">
                <a:solidFill>
                  <a:srgbClr val="AEB6BF"/>
                </a:solidFill>
                <a:latin typeface="Consolas"/>
              </a:rPr>
              <a:t>(</a:t>
            </a:r>
            <a:r>
              <a:rPr sz="1800" i="0">
                <a:solidFill>
                  <a:srgbClr val="E8EDF2"/>
                </a:solidFill>
                <a:latin typeface="Consolas"/>
              </a:rPr>
              <a:t>node</a:t>
            </a:r>
            <a:r>
              <a:rPr sz="1800" i="0">
                <a:solidFill>
                  <a:srgbClr val="AEB6BF"/>
                </a:solidFill>
                <a:latin typeface="Consolas"/>
              </a:rPr>
              <a:t>)</a:t>
            </a:r>
          </a:p>
          <a:p>
            <a:pPr>
              <a:lnSpc>
                <a:spcPct val="100000"/>
              </a:lnSpc>
              <a:spcAft>
                <a:spcPts val="0"/>
              </a:spcAft>
            </a:pPr>
            <a:r>
              <a:rPr sz="1800">
                <a:latin typeface="Consolas"/>
              </a:rPr>
              <a:t> </a:t>
            </a:r>
          </a:p>
          <a:p>
            <a:pPr>
              <a:lnSpc>
                <a:spcPct val="100000"/>
              </a:lnSpc>
              <a:spcAft>
                <a:spcPts val="0"/>
              </a:spcAft>
            </a:pPr>
            <a:r>
              <a:rPr sz="1800" i="0">
                <a:solidFill>
                  <a:srgbClr val="E8EDF2"/>
                </a:solidFill>
                <a:latin typeface="Consolas"/>
              </a:rPr>
              <a:t>    </a:t>
            </a:r>
            <a:r>
              <a:rPr sz="1800" i="0">
                <a:solidFill>
                  <a:srgbClr val="5DADE2"/>
                </a:solidFill>
                <a:latin typeface="Consolas"/>
              </a:rPr>
              <a:t>def</a:t>
            </a:r>
            <a:r>
              <a:rPr sz="1800" i="0">
                <a:solidFill>
                  <a:srgbClr val="E8EDF2"/>
                </a:solidFill>
                <a:latin typeface="Consolas"/>
              </a:rPr>
              <a:t> </a:t>
            </a:r>
            <a:r>
              <a:rPr sz="1800" i="0">
                <a:solidFill>
                  <a:srgbClr val="C39BD3"/>
                </a:solidFill>
                <a:latin typeface="Consolas"/>
              </a:rPr>
              <a:t>pop</a:t>
            </a:r>
            <a:r>
              <a:rPr sz="1800" i="0">
                <a:solidFill>
                  <a:srgbClr val="AEB6BF"/>
                </a:solidFill>
                <a:latin typeface="Consolas"/>
              </a:rPr>
              <a:t>(</a:t>
            </a:r>
            <a:r>
              <a:rPr sz="1800" i="0">
                <a:solidFill>
                  <a:srgbClr val="C39BD3"/>
                </a:solidFill>
                <a:latin typeface="Consolas"/>
              </a:rPr>
              <a:t>self</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return</a:t>
            </a:r>
            <a:r>
              <a:rPr sz="1800" i="0">
                <a:solidFill>
                  <a:srgbClr val="E8EDF2"/>
                </a:solidFill>
                <a:latin typeface="Consolas"/>
              </a:rPr>
              <a:t> </a:t>
            </a:r>
            <a:r>
              <a:rPr sz="1800" i="0">
                <a:solidFill>
                  <a:srgbClr val="C39BD3"/>
                </a:solidFill>
                <a:latin typeface="Consolas"/>
              </a:rPr>
              <a:t>self</a:t>
            </a:r>
            <a:r>
              <a:rPr sz="1800" i="0">
                <a:solidFill>
                  <a:srgbClr val="AEB6BF"/>
                </a:solidFill>
                <a:latin typeface="Consolas"/>
              </a:rPr>
              <a:t>.</a:t>
            </a:r>
            <a:r>
              <a:rPr sz="1800" i="0">
                <a:solidFill>
                  <a:srgbClr val="E8EDF2"/>
                </a:solidFill>
                <a:latin typeface="Consolas"/>
              </a:rPr>
              <a:t>q</a:t>
            </a:r>
            <a:r>
              <a:rPr sz="1800" i="0">
                <a:solidFill>
                  <a:srgbClr val="AEB6BF"/>
                </a:solidFill>
                <a:latin typeface="Consolas"/>
              </a:rPr>
              <a:t>.</a:t>
            </a:r>
            <a:r>
              <a:rPr sz="1800" i="0">
                <a:solidFill>
                  <a:srgbClr val="E8EDF2"/>
                </a:solidFill>
                <a:latin typeface="Consolas"/>
              </a:rPr>
              <a:t>popleft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1">
                <a:solidFill>
                  <a:srgbClr val="8795A1"/>
                </a:solidFill>
                <a:latin typeface="Consolas"/>
              </a:rPr>
              <a:t># O(1); list.pop(0) is O(n)</a:t>
            </a:r>
          </a:p>
          <a:p>
            <a:pPr>
              <a:lnSpc>
                <a:spcPct val="100000"/>
              </a:lnSpc>
              <a:spcAft>
                <a:spcPts val="0"/>
              </a:spcAft>
            </a:pPr>
            <a:r>
              <a:rPr sz="1800">
                <a:latin typeface="Consolas"/>
              </a:rPr>
              <a:t> </a:t>
            </a:r>
          </a:p>
          <a:p>
            <a:pPr>
              <a:lnSpc>
                <a:spcPct val="100000"/>
              </a:lnSpc>
              <a:spcAft>
                <a:spcPts val="0"/>
              </a:spcAft>
            </a:pPr>
            <a:r>
              <a:rPr sz="1800" i="0">
                <a:solidFill>
                  <a:srgbClr val="E8EDF2"/>
                </a:solidFill>
                <a:latin typeface="Consolas"/>
              </a:rPr>
              <a:t>    </a:t>
            </a:r>
            <a:r>
              <a:rPr sz="1800" i="0">
                <a:solidFill>
                  <a:srgbClr val="5DADE2"/>
                </a:solidFill>
                <a:latin typeface="Consolas"/>
              </a:rPr>
              <a:t>def</a:t>
            </a:r>
            <a:r>
              <a:rPr sz="1800" i="0">
                <a:solidFill>
                  <a:srgbClr val="E8EDF2"/>
                </a:solidFill>
                <a:latin typeface="Consolas"/>
              </a:rPr>
              <a:t> </a:t>
            </a:r>
            <a:r>
              <a:rPr sz="1800" i="0">
                <a:solidFill>
                  <a:srgbClr val="C39BD3"/>
                </a:solidFill>
                <a:latin typeface="Consolas"/>
              </a:rPr>
              <a:t>__len__</a:t>
            </a:r>
            <a:r>
              <a:rPr sz="1800" i="0">
                <a:solidFill>
                  <a:srgbClr val="AEB6BF"/>
                </a:solidFill>
                <a:latin typeface="Consolas"/>
              </a:rPr>
              <a:t>(</a:t>
            </a:r>
            <a:r>
              <a:rPr sz="1800" i="0">
                <a:solidFill>
                  <a:srgbClr val="C39BD3"/>
                </a:solidFill>
                <a:latin typeface="Consolas"/>
              </a:rPr>
              <a:t>self</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return</a:t>
            </a:r>
            <a:r>
              <a:rPr sz="1800" i="0">
                <a:solidFill>
                  <a:srgbClr val="E8EDF2"/>
                </a:solidFill>
                <a:latin typeface="Consolas"/>
              </a:rPr>
              <a:t> </a:t>
            </a:r>
            <a:r>
              <a:rPr sz="1800" i="0">
                <a:solidFill>
                  <a:srgbClr val="C39BD3"/>
                </a:solidFill>
                <a:latin typeface="Consolas"/>
              </a:rPr>
              <a:t>len</a:t>
            </a:r>
            <a:r>
              <a:rPr sz="1800" i="0">
                <a:solidFill>
                  <a:srgbClr val="AEB6BF"/>
                </a:solidFill>
                <a:latin typeface="Consolas"/>
              </a:rPr>
              <a:t>(</a:t>
            </a:r>
            <a:r>
              <a:rPr sz="1800" i="0">
                <a:solidFill>
                  <a:srgbClr val="C39BD3"/>
                </a:solidFill>
                <a:latin typeface="Consolas"/>
              </a:rPr>
              <a:t>self</a:t>
            </a:r>
            <a:r>
              <a:rPr sz="1800" i="0">
                <a:solidFill>
                  <a:srgbClr val="AEB6BF"/>
                </a:solidFill>
                <a:latin typeface="Consolas"/>
              </a:rPr>
              <a:t>.</a:t>
            </a:r>
            <a:r>
              <a:rPr sz="1800" i="0">
                <a:solidFill>
                  <a:srgbClr val="E8EDF2"/>
                </a:solidFill>
                <a:latin typeface="Consolas"/>
              </a:rPr>
              <a:t>q</a:t>
            </a:r>
            <a:r>
              <a:rPr sz="1800" i="0">
                <a:solidFill>
                  <a:srgbClr val="AEB6BF"/>
                </a:solidFill>
                <a:latin typeface="Consolas"/>
              </a:rPr>
              <a:t>)</a:t>
            </a:r>
          </a:p>
        </p:txBody>
      </p:sp>
      <p:sp>
        <p:nvSpPr>
          <p:cNvPr id="15" name="!!code-num"/>
          <p:cNvSpPr txBox="1"/>
          <p:nvPr/>
        </p:nvSpPr>
        <p:spPr>
          <a:xfrm>
            <a:off x="768096" y="2523744"/>
            <a:ext cx="393192" cy="367588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82</a:t>
            </a:r>
          </a:p>
          <a:p>
            <a:pPr algn="r">
              <a:lnSpc>
                <a:spcPct val="100000"/>
              </a:lnSpc>
            </a:pPr>
            <a:r>
              <a:rPr sz="1800">
                <a:solidFill>
                  <a:srgbClr val="4F5D6A"/>
                </a:solidFill>
                <a:latin typeface="Consolas"/>
              </a:rPr>
              <a:t>83</a:t>
            </a:r>
          </a:p>
          <a:p>
            <a:pPr algn="r">
              <a:lnSpc>
                <a:spcPct val="100000"/>
              </a:lnSpc>
            </a:pPr>
            <a:r>
              <a:rPr sz="1800">
                <a:solidFill>
                  <a:srgbClr val="4F5D6A"/>
                </a:solidFill>
                <a:latin typeface="Consolas"/>
              </a:rPr>
              <a:t>84</a:t>
            </a:r>
          </a:p>
          <a:p>
            <a:pPr algn="r">
              <a:lnSpc>
                <a:spcPct val="100000"/>
              </a:lnSpc>
            </a:pPr>
            <a:r>
              <a:rPr sz="1800">
                <a:solidFill>
                  <a:srgbClr val="4F5D6A"/>
                </a:solidFill>
                <a:latin typeface="Consolas"/>
              </a:rPr>
              <a:t>85</a:t>
            </a:r>
          </a:p>
          <a:p>
            <a:pPr algn="r">
              <a:lnSpc>
                <a:spcPct val="100000"/>
              </a:lnSpc>
            </a:pPr>
            <a:r>
              <a:rPr sz="1800">
                <a:solidFill>
                  <a:srgbClr val="4F5D6A"/>
                </a:solidFill>
                <a:latin typeface="Consolas"/>
              </a:rPr>
              <a:t>86</a:t>
            </a:r>
          </a:p>
          <a:p>
            <a:pPr algn="r">
              <a:lnSpc>
                <a:spcPct val="100000"/>
              </a:lnSpc>
            </a:pPr>
            <a:r>
              <a:rPr sz="1800">
                <a:solidFill>
                  <a:srgbClr val="4F5D6A"/>
                </a:solidFill>
                <a:latin typeface="Consolas"/>
              </a:rPr>
              <a:t>87</a:t>
            </a:r>
          </a:p>
          <a:p>
            <a:pPr algn="r">
              <a:lnSpc>
                <a:spcPct val="100000"/>
              </a:lnSpc>
            </a:pPr>
            <a:r>
              <a:rPr sz="1800">
                <a:solidFill>
                  <a:srgbClr val="4F5D6A"/>
                </a:solidFill>
                <a:latin typeface="Consolas"/>
              </a:rPr>
              <a:t>88</a:t>
            </a:r>
          </a:p>
          <a:p>
            <a:pPr algn="r">
              <a:lnSpc>
                <a:spcPct val="100000"/>
              </a:lnSpc>
            </a:pPr>
            <a:r>
              <a:rPr sz="1800">
                <a:solidFill>
                  <a:srgbClr val="4F5D6A"/>
                </a:solidFill>
                <a:latin typeface="Consolas"/>
              </a:rPr>
              <a:t>89</a:t>
            </a:r>
          </a:p>
          <a:p>
            <a:pPr algn="r">
              <a:lnSpc>
                <a:spcPct val="100000"/>
              </a:lnSpc>
            </a:pPr>
            <a:r>
              <a:rPr sz="1800">
                <a:solidFill>
                  <a:srgbClr val="4F5D6A"/>
                </a:solidFill>
                <a:latin typeface="Consolas"/>
              </a:rPr>
              <a:t>90</a:t>
            </a:r>
          </a:p>
          <a:p>
            <a:pPr algn="r">
              <a:lnSpc>
                <a:spcPct val="100000"/>
              </a:lnSpc>
            </a:pPr>
            <a:r>
              <a:rPr sz="1800">
                <a:solidFill>
                  <a:srgbClr val="4F5D6A"/>
                </a:solidFill>
                <a:latin typeface="Consolas"/>
              </a:rPr>
              <a:t>91</a:t>
            </a:r>
          </a:p>
          <a:p>
            <a:pPr algn="r">
              <a:lnSpc>
                <a:spcPct val="100000"/>
              </a:lnSpc>
            </a:pPr>
            <a:r>
              <a:rPr sz="1800">
                <a:solidFill>
                  <a:srgbClr val="4F5D6A"/>
                </a:solidFill>
                <a:latin typeface="Consolas"/>
              </a:rPr>
              <a:t>92</a:t>
            </a:r>
          </a:p>
          <a:p>
            <a:pPr algn="r">
              <a:lnSpc>
                <a:spcPct val="100000"/>
              </a:lnSpc>
            </a:pPr>
            <a:r>
              <a:rPr sz="1800">
                <a:solidFill>
                  <a:srgbClr val="4F5D6A"/>
                </a:solidFill>
                <a:latin typeface="Consolas"/>
              </a:rPr>
              <a:t>93</a:t>
            </a:r>
          </a:p>
          <a:p>
            <a:pPr algn="r">
              <a:lnSpc>
                <a:spcPct val="100000"/>
              </a:lnSpc>
            </a:pPr>
            <a:r>
              <a:rPr sz="1800">
                <a:solidFill>
                  <a:srgbClr val="4F5D6A"/>
                </a:solidFill>
                <a:latin typeface="Consolas"/>
              </a:rPr>
              <a:t>94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79921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Frontier and the Graph: The Course Toolkit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7 OF 14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3  ·  Representations and Search in Python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§3.6  ·  Handout p. 25     </a:t>
            </a:r>
            <a:fld id="{B9B676CF-903A-4BEA-9CC7-497DDE87A2EA}" type="slidenum">
              <a:rPr lang="en-GB" sz="1000">
                <a:solidFill>
                  <a:srgbClr val="8795A1"/>
                </a:solidFill>
                <a:latin typeface="Segoe UI"/>
              </a:rPr>
              <a:t>30</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three frontiers, behind one small interface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78223"/>
          </a:xfrm>
          <a:prstGeom prst="roundRect">
            <a:avLst>
              <a:gd name="adj" fmla="val 224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code/ch03_frontier_graph_course.py</a:t>
            </a:r>
          </a:p>
        </p:txBody>
      </p:sp>
      <p:sp>
        <p:nvSpPr>
          <p:cNvPr id="14" name="!!code-text" descr="class LIFO: def __init__(self): self.q = [] def push(self, node): self.q.append(node) def pop(self): return self.q.pop() def __len__(self): return len(self.q)"/>
          <p:cNvSpPr txBox="1"/>
          <p:nvPr/>
        </p:nvSpPr>
        <p:spPr>
          <a:xfrm>
            <a:off x="1362456" y="2523744"/>
            <a:ext cx="9987991" cy="3584447"/>
          </a:xfrm>
          <a:prstGeom prst="rect">
            <a:avLst/>
          </a:prstGeom>
          <a:noFill/>
        </p:spPr>
        <p:txBody>
          <a:bodyPr wrap="none" anchor="t" lIns="0" rIns="0" tIns="0" bIns="0">
            <a:noAutofit/>
          </a:bodyPr>
          <a:lstStyle/>
          <a:p>
            <a:pPr>
              <a:lnSpc>
                <a:spcPct val="100000"/>
              </a:lnSpc>
              <a:spcAft>
                <a:spcPts val="0"/>
              </a:spcAft>
            </a:pPr>
            <a:r>
              <a:rPr sz="1900" i="0">
                <a:solidFill>
                  <a:srgbClr val="5DADE2"/>
                </a:solidFill>
                <a:latin typeface="Consolas"/>
              </a:rPr>
              <a:t>class</a:t>
            </a:r>
            <a:r>
              <a:rPr sz="1900" i="0">
                <a:solidFill>
                  <a:srgbClr val="E8EDF2"/>
                </a:solidFill>
                <a:latin typeface="Consolas"/>
              </a:rPr>
              <a:t> </a:t>
            </a:r>
            <a:r>
              <a:rPr sz="1900" i="0">
                <a:solidFill>
                  <a:srgbClr val="76D7C4"/>
                </a:solidFill>
                <a:latin typeface="Consolas"/>
              </a:rPr>
              <a:t>LIFO</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5DADE2"/>
                </a:solidFill>
                <a:latin typeface="Consolas"/>
              </a:rPr>
              <a:t>def</a:t>
            </a:r>
            <a:r>
              <a:rPr sz="1900" i="0">
                <a:solidFill>
                  <a:srgbClr val="E8EDF2"/>
                </a:solidFill>
                <a:latin typeface="Consolas"/>
              </a:rPr>
              <a:t> </a:t>
            </a:r>
            <a:r>
              <a:rPr sz="1900" i="0">
                <a:solidFill>
                  <a:srgbClr val="C39BD3"/>
                </a:solidFill>
                <a:latin typeface="Consolas"/>
              </a:rPr>
              <a:t>__init__</a:t>
            </a:r>
            <a:r>
              <a:rPr sz="1900" i="0">
                <a:solidFill>
                  <a:srgbClr val="AEB6BF"/>
                </a:solidFill>
                <a:latin typeface="Consolas"/>
              </a:rPr>
              <a:t>(</a:t>
            </a:r>
            <a:r>
              <a:rPr sz="1900" i="0">
                <a:solidFill>
                  <a:srgbClr val="C39BD3"/>
                </a:solidFill>
                <a:latin typeface="Consolas"/>
              </a:rPr>
              <a:t>self</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C39BD3"/>
                </a:solidFill>
                <a:latin typeface="Consolas"/>
              </a:rPr>
              <a:t>self</a:t>
            </a:r>
            <a:r>
              <a:rPr sz="1900" i="0">
                <a:solidFill>
                  <a:srgbClr val="AEB6BF"/>
                </a:solidFill>
                <a:latin typeface="Consolas"/>
              </a:rPr>
              <a:t>.</a:t>
            </a:r>
            <a:r>
              <a:rPr sz="1900" i="0">
                <a:solidFill>
                  <a:srgbClr val="E8EDF2"/>
                </a:solidFill>
                <a:latin typeface="Consolas"/>
              </a:rPr>
              <a:t>q</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a:latin typeface="Consolas"/>
              </a:rPr>
              <a:t> </a:t>
            </a:r>
          </a:p>
          <a:p>
            <a:pPr>
              <a:lnSpc>
                <a:spcPct val="100000"/>
              </a:lnSpc>
              <a:spcAft>
                <a:spcPts val="0"/>
              </a:spcAft>
            </a:pPr>
            <a:r>
              <a:rPr sz="1900" i="0">
                <a:solidFill>
                  <a:srgbClr val="E8EDF2"/>
                </a:solidFill>
                <a:latin typeface="Consolas"/>
              </a:rPr>
              <a:t>    </a:t>
            </a:r>
            <a:r>
              <a:rPr sz="1900" i="0">
                <a:solidFill>
                  <a:srgbClr val="5DADE2"/>
                </a:solidFill>
                <a:latin typeface="Consolas"/>
              </a:rPr>
              <a:t>def</a:t>
            </a:r>
            <a:r>
              <a:rPr sz="1900" i="0">
                <a:solidFill>
                  <a:srgbClr val="E8EDF2"/>
                </a:solidFill>
                <a:latin typeface="Consolas"/>
              </a:rPr>
              <a:t> </a:t>
            </a:r>
            <a:r>
              <a:rPr sz="1900" i="0">
                <a:solidFill>
                  <a:srgbClr val="C39BD3"/>
                </a:solidFill>
                <a:latin typeface="Consolas"/>
              </a:rPr>
              <a:t>push</a:t>
            </a:r>
            <a:r>
              <a:rPr sz="1900" i="0">
                <a:solidFill>
                  <a:srgbClr val="AEB6BF"/>
                </a:solidFill>
                <a:latin typeface="Consolas"/>
              </a:rPr>
              <a:t>(</a:t>
            </a:r>
            <a:r>
              <a:rPr sz="1900" i="0">
                <a:solidFill>
                  <a:srgbClr val="C39BD3"/>
                </a:solidFill>
                <a:latin typeface="Consolas"/>
              </a:rPr>
              <a:t>self</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node</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C39BD3"/>
                </a:solidFill>
                <a:latin typeface="Consolas"/>
              </a:rPr>
              <a:t>self</a:t>
            </a:r>
            <a:r>
              <a:rPr sz="1900" i="0">
                <a:solidFill>
                  <a:srgbClr val="AEB6BF"/>
                </a:solidFill>
                <a:latin typeface="Consolas"/>
              </a:rPr>
              <a:t>.</a:t>
            </a:r>
            <a:r>
              <a:rPr sz="1900" i="0">
                <a:solidFill>
                  <a:srgbClr val="E8EDF2"/>
                </a:solidFill>
                <a:latin typeface="Consolas"/>
              </a:rPr>
              <a:t>q</a:t>
            </a:r>
            <a:r>
              <a:rPr sz="1900" i="0">
                <a:solidFill>
                  <a:srgbClr val="AEB6BF"/>
                </a:solidFill>
                <a:latin typeface="Consolas"/>
              </a:rPr>
              <a:t>.</a:t>
            </a:r>
            <a:r>
              <a:rPr sz="1900" i="0">
                <a:solidFill>
                  <a:srgbClr val="E8EDF2"/>
                </a:solidFill>
                <a:latin typeface="Consolas"/>
              </a:rPr>
              <a:t>append</a:t>
            </a:r>
            <a:r>
              <a:rPr sz="1900" i="0">
                <a:solidFill>
                  <a:srgbClr val="AEB6BF"/>
                </a:solidFill>
                <a:latin typeface="Consolas"/>
              </a:rPr>
              <a:t>(</a:t>
            </a:r>
            <a:r>
              <a:rPr sz="1900" i="0">
                <a:solidFill>
                  <a:srgbClr val="E8EDF2"/>
                </a:solidFill>
                <a:latin typeface="Consolas"/>
              </a:rPr>
              <a:t>node</a:t>
            </a:r>
            <a:r>
              <a:rPr sz="1900" i="0">
                <a:solidFill>
                  <a:srgbClr val="AEB6BF"/>
                </a:solidFill>
                <a:latin typeface="Consolas"/>
              </a:rPr>
              <a:t>)</a:t>
            </a:r>
          </a:p>
          <a:p>
            <a:pPr>
              <a:lnSpc>
                <a:spcPct val="100000"/>
              </a:lnSpc>
              <a:spcAft>
                <a:spcPts val="0"/>
              </a:spcAft>
            </a:pPr>
            <a:r>
              <a:rPr sz="1900">
                <a:latin typeface="Consolas"/>
              </a:rPr>
              <a:t> </a:t>
            </a:r>
          </a:p>
          <a:p>
            <a:pPr>
              <a:lnSpc>
                <a:spcPct val="100000"/>
              </a:lnSpc>
              <a:spcAft>
                <a:spcPts val="0"/>
              </a:spcAft>
            </a:pPr>
            <a:r>
              <a:rPr sz="1900" i="0">
                <a:solidFill>
                  <a:srgbClr val="E8EDF2"/>
                </a:solidFill>
                <a:latin typeface="Consolas"/>
              </a:rPr>
              <a:t>    </a:t>
            </a:r>
            <a:r>
              <a:rPr sz="1900" i="0">
                <a:solidFill>
                  <a:srgbClr val="5DADE2"/>
                </a:solidFill>
                <a:latin typeface="Consolas"/>
              </a:rPr>
              <a:t>def</a:t>
            </a:r>
            <a:r>
              <a:rPr sz="1900" i="0">
                <a:solidFill>
                  <a:srgbClr val="E8EDF2"/>
                </a:solidFill>
                <a:latin typeface="Consolas"/>
              </a:rPr>
              <a:t> </a:t>
            </a:r>
            <a:r>
              <a:rPr sz="1900" i="0">
                <a:solidFill>
                  <a:srgbClr val="C39BD3"/>
                </a:solidFill>
                <a:latin typeface="Consolas"/>
              </a:rPr>
              <a:t>pop</a:t>
            </a:r>
            <a:r>
              <a:rPr sz="1900" i="0">
                <a:solidFill>
                  <a:srgbClr val="AEB6BF"/>
                </a:solidFill>
                <a:latin typeface="Consolas"/>
              </a:rPr>
              <a:t>(</a:t>
            </a:r>
            <a:r>
              <a:rPr sz="1900" i="0">
                <a:solidFill>
                  <a:srgbClr val="C39BD3"/>
                </a:solidFill>
                <a:latin typeface="Consolas"/>
              </a:rPr>
              <a:t>self</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5DADE2"/>
                </a:solidFill>
                <a:latin typeface="Consolas"/>
              </a:rPr>
              <a:t>return</a:t>
            </a:r>
            <a:r>
              <a:rPr sz="1900" i="0">
                <a:solidFill>
                  <a:srgbClr val="E8EDF2"/>
                </a:solidFill>
                <a:latin typeface="Consolas"/>
              </a:rPr>
              <a:t> </a:t>
            </a:r>
            <a:r>
              <a:rPr sz="1900" i="0">
                <a:solidFill>
                  <a:srgbClr val="C39BD3"/>
                </a:solidFill>
                <a:latin typeface="Consolas"/>
              </a:rPr>
              <a:t>self</a:t>
            </a:r>
            <a:r>
              <a:rPr sz="1900" i="0">
                <a:solidFill>
                  <a:srgbClr val="AEB6BF"/>
                </a:solidFill>
                <a:latin typeface="Consolas"/>
              </a:rPr>
              <a:t>.</a:t>
            </a:r>
            <a:r>
              <a:rPr sz="1900" i="0">
                <a:solidFill>
                  <a:srgbClr val="E8EDF2"/>
                </a:solidFill>
                <a:latin typeface="Consolas"/>
              </a:rPr>
              <a:t>q</a:t>
            </a:r>
            <a:r>
              <a:rPr sz="1900" i="0">
                <a:solidFill>
                  <a:srgbClr val="AEB6BF"/>
                </a:solidFill>
                <a:latin typeface="Consolas"/>
              </a:rPr>
              <a:t>.</a:t>
            </a:r>
            <a:r>
              <a:rPr sz="1900" i="0">
                <a:solidFill>
                  <a:srgbClr val="E8EDF2"/>
                </a:solidFill>
                <a:latin typeface="Consolas"/>
              </a:rPr>
              <a:t>pop</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a:latin typeface="Consolas"/>
              </a:rPr>
              <a:t> </a:t>
            </a:r>
          </a:p>
          <a:p>
            <a:pPr>
              <a:lnSpc>
                <a:spcPct val="100000"/>
              </a:lnSpc>
              <a:spcAft>
                <a:spcPts val="0"/>
              </a:spcAft>
            </a:pPr>
            <a:r>
              <a:rPr sz="1900" i="0">
                <a:solidFill>
                  <a:srgbClr val="E8EDF2"/>
                </a:solidFill>
                <a:latin typeface="Consolas"/>
              </a:rPr>
              <a:t>    </a:t>
            </a:r>
            <a:r>
              <a:rPr sz="1900" i="0">
                <a:solidFill>
                  <a:srgbClr val="5DADE2"/>
                </a:solidFill>
                <a:latin typeface="Consolas"/>
              </a:rPr>
              <a:t>def</a:t>
            </a:r>
            <a:r>
              <a:rPr sz="1900" i="0">
                <a:solidFill>
                  <a:srgbClr val="E8EDF2"/>
                </a:solidFill>
                <a:latin typeface="Consolas"/>
              </a:rPr>
              <a:t> </a:t>
            </a:r>
            <a:r>
              <a:rPr sz="1900" i="0">
                <a:solidFill>
                  <a:srgbClr val="C39BD3"/>
                </a:solidFill>
                <a:latin typeface="Consolas"/>
              </a:rPr>
              <a:t>__len__</a:t>
            </a:r>
            <a:r>
              <a:rPr sz="1900" i="0">
                <a:solidFill>
                  <a:srgbClr val="AEB6BF"/>
                </a:solidFill>
                <a:latin typeface="Consolas"/>
              </a:rPr>
              <a:t>(</a:t>
            </a:r>
            <a:r>
              <a:rPr sz="1900" i="0">
                <a:solidFill>
                  <a:srgbClr val="C39BD3"/>
                </a:solidFill>
                <a:latin typeface="Consolas"/>
              </a:rPr>
              <a:t>self</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5DADE2"/>
                </a:solidFill>
                <a:latin typeface="Consolas"/>
              </a:rPr>
              <a:t>return</a:t>
            </a:r>
            <a:r>
              <a:rPr sz="1900" i="0">
                <a:solidFill>
                  <a:srgbClr val="E8EDF2"/>
                </a:solidFill>
                <a:latin typeface="Consolas"/>
              </a:rPr>
              <a:t> </a:t>
            </a:r>
            <a:r>
              <a:rPr sz="1900" i="0">
                <a:solidFill>
                  <a:srgbClr val="C39BD3"/>
                </a:solidFill>
                <a:latin typeface="Consolas"/>
              </a:rPr>
              <a:t>len</a:t>
            </a:r>
            <a:r>
              <a:rPr sz="1900" i="0">
                <a:solidFill>
                  <a:srgbClr val="AEB6BF"/>
                </a:solidFill>
                <a:latin typeface="Consolas"/>
              </a:rPr>
              <a:t>(</a:t>
            </a:r>
            <a:r>
              <a:rPr sz="1900" i="0">
                <a:solidFill>
                  <a:srgbClr val="C39BD3"/>
                </a:solidFill>
                <a:latin typeface="Consolas"/>
              </a:rPr>
              <a:t>self</a:t>
            </a:r>
            <a:r>
              <a:rPr sz="1900" i="0">
                <a:solidFill>
                  <a:srgbClr val="AEB6BF"/>
                </a:solidFill>
                <a:latin typeface="Consolas"/>
              </a:rPr>
              <a:t>.</a:t>
            </a:r>
            <a:r>
              <a:rPr sz="1900" i="0">
                <a:solidFill>
                  <a:srgbClr val="E8EDF2"/>
                </a:solidFill>
                <a:latin typeface="Consolas"/>
              </a:rPr>
              <a:t>q</a:t>
            </a:r>
            <a:r>
              <a:rPr sz="1900" i="0">
                <a:solidFill>
                  <a:srgbClr val="AEB6BF"/>
                </a:solidFill>
                <a:latin typeface="Consolas"/>
              </a:rPr>
              <a:t>)</a:t>
            </a:r>
          </a:p>
        </p:txBody>
      </p:sp>
      <p:sp>
        <p:nvSpPr>
          <p:cNvPr id="15" name="!!code-num"/>
          <p:cNvSpPr txBox="1"/>
          <p:nvPr/>
        </p:nvSpPr>
        <p:spPr>
          <a:xfrm>
            <a:off x="768096" y="2523744"/>
            <a:ext cx="393192" cy="358444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97</a:t>
            </a:r>
          </a:p>
          <a:p>
            <a:pPr algn="r">
              <a:lnSpc>
                <a:spcPct val="100000"/>
              </a:lnSpc>
            </a:pPr>
            <a:r>
              <a:rPr sz="1900">
                <a:solidFill>
                  <a:srgbClr val="4F5D6A"/>
                </a:solidFill>
                <a:latin typeface="Consolas"/>
              </a:rPr>
              <a:t>98</a:t>
            </a:r>
          </a:p>
          <a:p>
            <a:pPr algn="r">
              <a:lnSpc>
                <a:spcPct val="100000"/>
              </a:lnSpc>
            </a:pPr>
            <a:r>
              <a:rPr sz="1900">
                <a:solidFill>
                  <a:srgbClr val="4F5D6A"/>
                </a:solidFill>
                <a:latin typeface="Consolas"/>
              </a:rPr>
              <a:t>99</a:t>
            </a:r>
          </a:p>
          <a:p>
            <a:pPr algn="r">
              <a:lnSpc>
                <a:spcPct val="100000"/>
              </a:lnSpc>
            </a:pPr>
            <a:r>
              <a:rPr sz="1900">
                <a:solidFill>
                  <a:srgbClr val="4F5D6A"/>
                </a:solidFill>
                <a:latin typeface="Consolas"/>
              </a:rPr>
              <a:t>100</a:t>
            </a:r>
          </a:p>
          <a:p>
            <a:pPr algn="r">
              <a:lnSpc>
                <a:spcPct val="100000"/>
              </a:lnSpc>
            </a:pPr>
            <a:r>
              <a:rPr sz="1900">
                <a:solidFill>
                  <a:srgbClr val="4F5D6A"/>
                </a:solidFill>
                <a:latin typeface="Consolas"/>
              </a:rPr>
              <a:t>101</a:t>
            </a:r>
          </a:p>
          <a:p>
            <a:pPr algn="r">
              <a:lnSpc>
                <a:spcPct val="100000"/>
              </a:lnSpc>
            </a:pPr>
            <a:r>
              <a:rPr sz="1900">
                <a:solidFill>
                  <a:srgbClr val="4F5D6A"/>
                </a:solidFill>
                <a:latin typeface="Consolas"/>
              </a:rPr>
              <a:t>102</a:t>
            </a:r>
          </a:p>
          <a:p>
            <a:pPr algn="r">
              <a:lnSpc>
                <a:spcPct val="100000"/>
              </a:lnSpc>
            </a:pPr>
            <a:r>
              <a:rPr sz="1900">
                <a:solidFill>
                  <a:srgbClr val="4F5D6A"/>
                </a:solidFill>
                <a:latin typeface="Consolas"/>
              </a:rPr>
              <a:t>103</a:t>
            </a:r>
          </a:p>
          <a:p>
            <a:pPr algn="r">
              <a:lnSpc>
                <a:spcPct val="100000"/>
              </a:lnSpc>
            </a:pPr>
            <a:r>
              <a:rPr sz="1900">
                <a:solidFill>
                  <a:srgbClr val="4F5D6A"/>
                </a:solidFill>
                <a:latin typeface="Consolas"/>
              </a:rPr>
              <a:t>104</a:t>
            </a:r>
          </a:p>
          <a:p>
            <a:pPr algn="r">
              <a:lnSpc>
                <a:spcPct val="100000"/>
              </a:lnSpc>
            </a:pPr>
            <a:r>
              <a:rPr sz="1900">
                <a:solidFill>
                  <a:srgbClr val="4F5D6A"/>
                </a:solidFill>
                <a:latin typeface="Consolas"/>
              </a:rPr>
              <a:t>105</a:t>
            </a:r>
          </a:p>
          <a:p>
            <a:pPr algn="r">
              <a:lnSpc>
                <a:spcPct val="100000"/>
              </a:lnSpc>
            </a:pPr>
            <a:r>
              <a:rPr sz="1900">
                <a:solidFill>
                  <a:srgbClr val="4F5D6A"/>
                </a:solidFill>
                <a:latin typeface="Consolas"/>
              </a:rPr>
              <a:t>106</a:t>
            </a:r>
          </a:p>
          <a:p>
            <a:pPr algn="r">
              <a:lnSpc>
                <a:spcPct val="100000"/>
              </a:lnSpc>
            </a:pPr>
            <a:r>
              <a:rPr sz="1900">
                <a:solidFill>
                  <a:srgbClr val="4F5D6A"/>
                </a:solidFill>
                <a:latin typeface="Consolas"/>
              </a:rPr>
              <a:t>107</a:t>
            </a:r>
          </a:p>
          <a:p>
            <a:pPr algn="r">
              <a:lnSpc>
                <a:spcPct val="100000"/>
              </a:lnSpc>
            </a:pPr>
            <a:r>
              <a:rPr sz="1900">
                <a:solidFill>
                  <a:srgbClr val="4F5D6A"/>
                </a:solidFill>
                <a:latin typeface="Consolas"/>
              </a:rPr>
              <a:t>108</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03367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Frontier and the Graph: The Course Toolkit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8 OF 14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3  ·  Representations and Search in Python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§3.6  ·  Handout p. 25     </a:t>
            </a:r>
            <a:fld id="{5C72D36C-989C-4F9E-B729-8BBF1E0BCE02}" type="slidenum">
              <a:rPr lang="en-GB" sz="1000">
                <a:solidFill>
                  <a:srgbClr val="8795A1"/>
                </a:solidFill>
                <a:latin typeface="Segoe UI"/>
              </a:rPr>
              <a:t>31</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three frontiers, behind one small interface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32504"/>
          </a:xfrm>
          <a:prstGeom prst="roundRect">
            <a:avLst>
              <a:gd name="adj" fmla="val 226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code/ch03_frontier_graph_course.py</a:t>
            </a:r>
          </a:p>
        </p:txBody>
      </p:sp>
      <p:sp>
        <p:nvSpPr>
          <p:cNvPr id="14" name="!!code-text" descr="class Cheapest: &quot;&quot;&quot;A heap of (priority, tie, node). The counter keeps the heap from ever comparing two nodes.&quot;&quot;&quot; def __init__(self): self.h, self.tie = [], itertools.count() def push(self, node): heapq.heappush(self.h, (node.cost, next(self.tie), node)) def pop(self): return heapq.heappop(self.h)[2] def __len__(self): return len(self.h)"/>
          <p:cNvSpPr txBox="1"/>
          <p:nvPr/>
        </p:nvSpPr>
        <p:spPr>
          <a:xfrm>
            <a:off x="1362456" y="2523744"/>
            <a:ext cx="9987991" cy="3538727"/>
          </a:xfrm>
          <a:prstGeom prst="rect">
            <a:avLst/>
          </a:prstGeom>
          <a:noFill/>
        </p:spPr>
        <p:txBody>
          <a:bodyPr wrap="none" anchor="t" lIns="0" rIns="0" tIns="0" bIns="0">
            <a:noAutofit/>
          </a:bodyPr>
          <a:lstStyle/>
          <a:p>
            <a:pPr>
              <a:lnSpc>
                <a:spcPct val="100000"/>
              </a:lnSpc>
              <a:spcAft>
                <a:spcPts val="0"/>
              </a:spcAft>
            </a:pPr>
            <a:r>
              <a:rPr sz="1500" i="0">
                <a:solidFill>
                  <a:srgbClr val="5DADE2"/>
                </a:solidFill>
                <a:latin typeface="Consolas"/>
              </a:rPr>
              <a:t>class</a:t>
            </a:r>
            <a:r>
              <a:rPr sz="1500" i="0">
                <a:solidFill>
                  <a:srgbClr val="E8EDF2"/>
                </a:solidFill>
                <a:latin typeface="Consolas"/>
              </a:rPr>
              <a:t> </a:t>
            </a:r>
            <a:r>
              <a:rPr sz="1500" i="0">
                <a:solidFill>
                  <a:srgbClr val="76D7C4"/>
                </a:solidFill>
                <a:latin typeface="Consolas"/>
              </a:rPr>
              <a:t>Cheapest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7DCEA0"/>
                </a:solidFill>
                <a:latin typeface="Consolas"/>
              </a:rPr>
              <a:t>"""A heap of (priority, tie, node). The counter keeps the heap</a:t>
            </a:r>
          </a:p>
          <a:p>
            <a:pPr>
              <a:lnSpc>
                <a:spcPct val="100000"/>
              </a:lnSpc>
              <a:spcAft>
                <a:spcPts val="0"/>
              </a:spcAft>
            </a:pPr>
            <a:r>
              <a:rPr sz="1500" i="0">
                <a:solidFill>
                  <a:srgbClr val="7DCEA0"/>
                </a:solidFill>
                <a:latin typeface="Consolas"/>
              </a:rPr>
              <a:t>    from ever comparing two nodes."""</a:t>
            </a:r>
          </a:p>
          <a:p>
            <a:pPr>
              <a:lnSpc>
                <a:spcPct val="100000"/>
              </a:lnSpc>
              <a:spcAft>
                <a:spcPts val="0"/>
              </a:spcAft>
            </a:pPr>
            <a:r>
              <a:rPr sz="1500">
                <a:latin typeface="Consolas"/>
              </a:rPr>
              <a:t> </a:t>
            </a:r>
          </a:p>
          <a:p>
            <a:pPr>
              <a:lnSpc>
                <a:spcPct val="100000"/>
              </a:lnSpc>
              <a:spcAft>
                <a:spcPts val="0"/>
              </a:spcAft>
            </a:pPr>
            <a:r>
              <a:rPr sz="1500" i="0">
                <a:solidFill>
                  <a:srgbClr val="E8EDF2"/>
                </a:solidFill>
                <a:latin typeface="Consolas"/>
              </a:rPr>
              <a:t>    </a:t>
            </a:r>
            <a:r>
              <a:rPr sz="1500" i="0">
                <a:solidFill>
                  <a:srgbClr val="5DADE2"/>
                </a:solidFill>
                <a:latin typeface="Consolas"/>
              </a:rPr>
              <a:t>def</a:t>
            </a:r>
            <a:r>
              <a:rPr sz="1500" i="0">
                <a:solidFill>
                  <a:srgbClr val="E8EDF2"/>
                </a:solidFill>
                <a:latin typeface="Consolas"/>
              </a:rPr>
              <a:t> </a:t>
            </a:r>
            <a:r>
              <a:rPr sz="1500" i="0">
                <a:solidFill>
                  <a:srgbClr val="C39BD3"/>
                </a:solidFill>
                <a:latin typeface="Consolas"/>
              </a:rPr>
              <a:t>__init__</a:t>
            </a:r>
            <a:r>
              <a:rPr sz="1500" i="0">
                <a:solidFill>
                  <a:srgbClr val="AEB6BF"/>
                </a:solidFill>
                <a:latin typeface="Consolas"/>
              </a:rPr>
              <a:t>(</a:t>
            </a:r>
            <a:r>
              <a:rPr sz="1500" i="0">
                <a:solidFill>
                  <a:srgbClr val="C39BD3"/>
                </a:solidFill>
                <a:latin typeface="Consolas"/>
              </a:rPr>
              <a:t>self</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C39BD3"/>
                </a:solidFill>
                <a:latin typeface="Consolas"/>
              </a:rPr>
              <a:t>self</a:t>
            </a:r>
            <a:r>
              <a:rPr sz="1500" i="0">
                <a:solidFill>
                  <a:srgbClr val="AEB6BF"/>
                </a:solidFill>
                <a:latin typeface="Consolas"/>
              </a:rPr>
              <a:t>.</a:t>
            </a:r>
            <a:r>
              <a:rPr sz="1500" i="0">
                <a:solidFill>
                  <a:srgbClr val="E8EDF2"/>
                </a:solidFill>
                <a:latin typeface="Consolas"/>
              </a:rPr>
              <a:t>h</a:t>
            </a:r>
            <a:r>
              <a:rPr sz="1500" i="0">
                <a:solidFill>
                  <a:srgbClr val="AEB6BF"/>
                </a:solidFill>
                <a:latin typeface="Consolas"/>
              </a:rPr>
              <a:t>,</a:t>
            </a:r>
            <a:r>
              <a:rPr sz="1500" i="0">
                <a:solidFill>
                  <a:srgbClr val="E8EDF2"/>
                </a:solidFill>
                <a:latin typeface="Consolas"/>
              </a:rPr>
              <a:t> </a:t>
            </a:r>
            <a:r>
              <a:rPr sz="1500" i="0">
                <a:solidFill>
                  <a:srgbClr val="C39BD3"/>
                </a:solidFill>
                <a:latin typeface="Consolas"/>
              </a:rPr>
              <a:t>self</a:t>
            </a:r>
            <a:r>
              <a:rPr sz="1500" i="0">
                <a:solidFill>
                  <a:srgbClr val="AEB6BF"/>
                </a:solidFill>
                <a:latin typeface="Consolas"/>
              </a:rPr>
              <a:t>.</a:t>
            </a:r>
            <a:r>
              <a:rPr sz="1500" i="0">
                <a:solidFill>
                  <a:srgbClr val="E8EDF2"/>
                </a:solidFill>
                <a:latin typeface="Consolas"/>
              </a:rPr>
              <a:t>tie</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itertools</a:t>
            </a:r>
            <a:r>
              <a:rPr sz="1500" i="0">
                <a:solidFill>
                  <a:srgbClr val="AEB6BF"/>
                </a:solidFill>
                <a:latin typeface="Consolas"/>
              </a:rPr>
              <a:t>.</a:t>
            </a:r>
            <a:r>
              <a:rPr sz="1500" i="0">
                <a:solidFill>
                  <a:srgbClr val="E8EDF2"/>
                </a:solidFill>
                <a:latin typeface="Consolas"/>
              </a:rPr>
              <a:t>count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a:latin typeface="Consolas"/>
              </a:rPr>
              <a:t> </a:t>
            </a:r>
          </a:p>
          <a:p>
            <a:pPr>
              <a:lnSpc>
                <a:spcPct val="100000"/>
              </a:lnSpc>
              <a:spcAft>
                <a:spcPts val="0"/>
              </a:spcAft>
            </a:pPr>
            <a:r>
              <a:rPr sz="1500" i="0">
                <a:solidFill>
                  <a:srgbClr val="E8EDF2"/>
                </a:solidFill>
                <a:latin typeface="Consolas"/>
              </a:rPr>
              <a:t>    </a:t>
            </a:r>
            <a:r>
              <a:rPr sz="1500" i="0">
                <a:solidFill>
                  <a:srgbClr val="5DADE2"/>
                </a:solidFill>
                <a:latin typeface="Consolas"/>
              </a:rPr>
              <a:t>def</a:t>
            </a:r>
            <a:r>
              <a:rPr sz="1500" i="0">
                <a:solidFill>
                  <a:srgbClr val="E8EDF2"/>
                </a:solidFill>
                <a:latin typeface="Consolas"/>
              </a:rPr>
              <a:t> </a:t>
            </a:r>
            <a:r>
              <a:rPr sz="1500" i="0">
                <a:solidFill>
                  <a:srgbClr val="C39BD3"/>
                </a:solidFill>
                <a:latin typeface="Consolas"/>
              </a:rPr>
              <a:t>push</a:t>
            </a:r>
            <a:r>
              <a:rPr sz="1500" i="0">
                <a:solidFill>
                  <a:srgbClr val="AEB6BF"/>
                </a:solidFill>
                <a:latin typeface="Consolas"/>
              </a:rPr>
              <a:t>(</a:t>
            </a:r>
            <a:r>
              <a:rPr sz="1500" i="0">
                <a:solidFill>
                  <a:srgbClr val="C39BD3"/>
                </a:solidFill>
                <a:latin typeface="Consolas"/>
              </a:rPr>
              <a:t>self</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node</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heapq</a:t>
            </a:r>
            <a:r>
              <a:rPr sz="1500" i="0">
                <a:solidFill>
                  <a:srgbClr val="AEB6BF"/>
                </a:solidFill>
                <a:latin typeface="Consolas"/>
              </a:rPr>
              <a:t>.</a:t>
            </a:r>
            <a:r>
              <a:rPr sz="1500" i="0">
                <a:solidFill>
                  <a:srgbClr val="E8EDF2"/>
                </a:solidFill>
                <a:latin typeface="Consolas"/>
              </a:rPr>
              <a:t>heappush</a:t>
            </a:r>
            <a:r>
              <a:rPr sz="1500" i="0">
                <a:solidFill>
                  <a:srgbClr val="AEB6BF"/>
                </a:solidFill>
                <a:latin typeface="Consolas"/>
              </a:rPr>
              <a:t>(</a:t>
            </a:r>
            <a:r>
              <a:rPr sz="1500" i="0">
                <a:solidFill>
                  <a:srgbClr val="C39BD3"/>
                </a:solidFill>
                <a:latin typeface="Consolas"/>
              </a:rPr>
              <a:t>self</a:t>
            </a:r>
            <a:r>
              <a:rPr sz="1500" i="0">
                <a:solidFill>
                  <a:srgbClr val="AEB6BF"/>
                </a:solidFill>
                <a:latin typeface="Consolas"/>
              </a:rPr>
              <a:t>.</a:t>
            </a:r>
            <a:r>
              <a:rPr sz="1500" i="0">
                <a:solidFill>
                  <a:srgbClr val="E8EDF2"/>
                </a:solidFill>
                <a:latin typeface="Consolas"/>
              </a:rPr>
              <a:t>h</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node</a:t>
            </a:r>
            <a:r>
              <a:rPr sz="1500" i="0">
                <a:solidFill>
                  <a:srgbClr val="AEB6BF"/>
                </a:solidFill>
                <a:latin typeface="Consolas"/>
              </a:rPr>
              <a:t>.</a:t>
            </a:r>
            <a:r>
              <a:rPr sz="1500" i="0">
                <a:solidFill>
                  <a:srgbClr val="E8EDF2"/>
                </a:solidFill>
                <a:latin typeface="Consolas"/>
              </a:rPr>
              <a:t>cost</a:t>
            </a:r>
            <a:r>
              <a:rPr sz="1500" i="0">
                <a:solidFill>
                  <a:srgbClr val="AEB6BF"/>
                </a:solidFill>
                <a:latin typeface="Consolas"/>
              </a:rPr>
              <a:t>,</a:t>
            </a:r>
            <a:r>
              <a:rPr sz="1500" i="0">
                <a:solidFill>
                  <a:srgbClr val="E8EDF2"/>
                </a:solidFill>
                <a:latin typeface="Consolas"/>
              </a:rPr>
              <a:t> </a:t>
            </a:r>
            <a:r>
              <a:rPr sz="1500" i="0">
                <a:solidFill>
                  <a:srgbClr val="C39BD3"/>
                </a:solidFill>
                <a:latin typeface="Consolas"/>
              </a:rPr>
              <a:t>next</a:t>
            </a:r>
            <a:r>
              <a:rPr sz="1500" i="0">
                <a:solidFill>
                  <a:srgbClr val="AEB6BF"/>
                </a:solidFill>
                <a:latin typeface="Consolas"/>
              </a:rPr>
              <a:t>(</a:t>
            </a:r>
            <a:r>
              <a:rPr sz="1500" i="0">
                <a:solidFill>
                  <a:srgbClr val="C39BD3"/>
                </a:solidFill>
                <a:latin typeface="Consolas"/>
              </a:rPr>
              <a:t>self</a:t>
            </a:r>
            <a:r>
              <a:rPr sz="1500" i="0">
                <a:solidFill>
                  <a:srgbClr val="AEB6BF"/>
                </a:solidFill>
                <a:latin typeface="Consolas"/>
              </a:rPr>
              <a:t>.</a:t>
            </a:r>
            <a:r>
              <a:rPr sz="1500" i="0">
                <a:solidFill>
                  <a:srgbClr val="E8EDF2"/>
                </a:solidFill>
                <a:latin typeface="Consolas"/>
              </a:rPr>
              <a:t>tie</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node</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a:latin typeface="Consolas"/>
              </a:rPr>
              <a:t> </a:t>
            </a:r>
          </a:p>
          <a:p>
            <a:pPr>
              <a:lnSpc>
                <a:spcPct val="100000"/>
              </a:lnSpc>
              <a:spcAft>
                <a:spcPts val="0"/>
              </a:spcAft>
            </a:pPr>
            <a:r>
              <a:rPr sz="1500" i="0">
                <a:solidFill>
                  <a:srgbClr val="E8EDF2"/>
                </a:solidFill>
                <a:latin typeface="Consolas"/>
              </a:rPr>
              <a:t>    </a:t>
            </a:r>
            <a:r>
              <a:rPr sz="1500" i="0">
                <a:solidFill>
                  <a:srgbClr val="5DADE2"/>
                </a:solidFill>
                <a:latin typeface="Consolas"/>
              </a:rPr>
              <a:t>def</a:t>
            </a:r>
            <a:r>
              <a:rPr sz="1500" i="0">
                <a:solidFill>
                  <a:srgbClr val="E8EDF2"/>
                </a:solidFill>
                <a:latin typeface="Consolas"/>
              </a:rPr>
              <a:t> </a:t>
            </a:r>
            <a:r>
              <a:rPr sz="1500" i="0">
                <a:solidFill>
                  <a:srgbClr val="C39BD3"/>
                </a:solidFill>
                <a:latin typeface="Consolas"/>
              </a:rPr>
              <a:t>pop</a:t>
            </a:r>
            <a:r>
              <a:rPr sz="1500" i="0">
                <a:solidFill>
                  <a:srgbClr val="AEB6BF"/>
                </a:solidFill>
                <a:latin typeface="Consolas"/>
              </a:rPr>
              <a:t>(</a:t>
            </a:r>
            <a:r>
              <a:rPr sz="1500" i="0">
                <a:solidFill>
                  <a:srgbClr val="C39BD3"/>
                </a:solidFill>
                <a:latin typeface="Consolas"/>
              </a:rPr>
              <a:t>self</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return</a:t>
            </a:r>
            <a:r>
              <a:rPr sz="1500" i="0">
                <a:solidFill>
                  <a:srgbClr val="E8EDF2"/>
                </a:solidFill>
                <a:latin typeface="Consolas"/>
              </a:rPr>
              <a:t> </a:t>
            </a:r>
            <a:r>
              <a:rPr sz="1500" i="0">
                <a:solidFill>
                  <a:srgbClr val="E8EDF2"/>
                </a:solidFill>
                <a:latin typeface="Consolas"/>
              </a:rPr>
              <a:t>heapq</a:t>
            </a:r>
            <a:r>
              <a:rPr sz="1500" i="0">
                <a:solidFill>
                  <a:srgbClr val="AEB6BF"/>
                </a:solidFill>
                <a:latin typeface="Consolas"/>
              </a:rPr>
              <a:t>.</a:t>
            </a:r>
            <a:r>
              <a:rPr sz="1500" i="0">
                <a:solidFill>
                  <a:srgbClr val="E8EDF2"/>
                </a:solidFill>
                <a:latin typeface="Consolas"/>
              </a:rPr>
              <a:t>heappop</a:t>
            </a:r>
            <a:r>
              <a:rPr sz="1500" i="0">
                <a:solidFill>
                  <a:srgbClr val="AEB6BF"/>
                </a:solidFill>
                <a:latin typeface="Consolas"/>
              </a:rPr>
              <a:t>(</a:t>
            </a:r>
            <a:r>
              <a:rPr sz="1500" i="0">
                <a:solidFill>
                  <a:srgbClr val="C39BD3"/>
                </a:solidFill>
                <a:latin typeface="Consolas"/>
              </a:rPr>
              <a:t>self</a:t>
            </a:r>
            <a:r>
              <a:rPr sz="1500" i="0">
                <a:solidFill>
                  <a:srgbClr val="AEB6BF"/>
                </a:solidFill>
                <a:latin typeface="Consolas"/>
              </a:rPr>
              <a:t>.</a:t>
            </a:r>
            <a:r>
              <a:rPr sz="1500" i="0">
                <a:solidFill>
                  <a:srgbClr val="E8EDF2"/>
                </a:solidFill>
                <a:latin typeface="Consolas"/>
              </a:rPr>
              <a:t>h</a:t>
            </a:r>
            <a:r>
              <a:rPr sz="1500" i="0">
                <a:solidFill>
                  <a:srgbClr val="AEB6BF"/>
                </a:solidFill>
                <a:latin typeface="Consolas"/>
              </a:rPr>
              <a:t>)</a:t>
            </a:r>
            <a:r>
              <a:rPr sz="1500" i="0">
                <a:solidFill>
                  <a:srgbClr val="AEB6BF"/>
                </a:solidFill>
                <a:latin typeface="Consolas"/>
              </a:rPr>
              <a:t>[</a:t>
            </a:r>
            <a:r>
              <a:rPr sz="1500" i="0">
                <a:solidFill>
                  <a:srgbClr val="F7DC6F"/>
                </a:solidFill>
                <a:latin typeface="Consolas"/>
              </a:rPr>
              <a:t>2</a:t>
            </a:r>
            <a:r>
              <a:rPr sz="1500" i="0">
                <a:solidFill>
                  <a:srgbClr val="AEB6BF"/>
                </a:solidFill>
                <a:latin typeface="Consolas"/>
              </a:rPr>
              <a:t>]</a:t>
            </a:r>
          </a:p>
          <a:p>
            <a:pPr>
              <a:lnSpc>
                <a:spcPct val="100000"/>
              </a:lnSpc>
              <a:spcAft>
                <a:spcPts val="0"/>
              </a:spcAft>
            </a:pPr>
            <a:r>
              <a:rPr sz="1500">
                <a:latin typeface="Consolas"/>
              </a:rPr>
              <a:t> </a:t>
            </a:r>
          </a:p>
          <a:p>
            <a:pPr>
              <a:lnSpc>
                <a:spcPct val="100000"/>
              </a:lnSpc>
              <a:spcAft>
                <a:spcPts val="0"/>
              </a:spcAft>
            </a:pPr>
            <a:r>
              <a:rPr sz="1500" i="0">
                <a:solidFill>
                  <a:srgbClr val="E8EDF2"/>
                </a:solidFill>
                <a:latin typeface="Consolas"/>
              </a:rPr>
              <a:t>    </a:t>
            </a:r>
            <a:r>
              <a:rPr sz="1500" i="0">
                <a:solidFill>
                  <a:srgbClr val="5DADE2"/>
                </a:solidFill>
                <a:latin typeface="Consolas"/>
              </a:rPr>
              <a:t>def</a:t>
            </a:r>
            <a:r>
              <a:rPr sz="1500" i="0">
                <a:solidFill>
                  <a:srgbClr val="E8EDF2"/>
                </a:solidFill>
                <a:latin typeface="Consolas"/>
              </a:rPr>
              <a:t> </a:t>
            </a:r>
            <a:r>
              <a:rPr sz="1500" i="0">
                <a:solidFill>
                  <a:srgbClr val="C39BD3"/>
                </a:solidFill>
                <a:latin typeface="Consolas"/>
              </a:rPr>
              <a:t>__len__</a:t>
            </a:r>
            <a:r>
              <a:rPr sz="1500" i="0">
                <a:solidFill>
                  <a:srgbClr val="AEB6BF"/>
                </a:solidFill>
                <a:latin typeface="Consolas"/>
              </a:rPr>
              <a:t>(</a:t>
            </a:r>
            <a:r>
              <a:rPr sz="1500" i="0">
                <a:solidFill>
                  <a:srgbClr val="C39BD3"/>
                </a:solidFill>
                <a:latin typeface="Consolas"/>
              </a:rPr>
              <a:t>self</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return</a:t>
            </a:r>
            <a:r>
              <a:rPr sz="1500" i="0">
                <a:solidFill>
                  <a:srgbClr val="E8EDF2"/>
                </a:solidFill>
                <a:latin typeface="Consolas"/>
              </a:rPr>
              <a:t> </a:t>
            </a:r>
            <a:r>
              <a:rPr sz="1500" i="0">
                <a:solidFill>
                  <a:srgbClr val="C39BD3"/>
                </a:solidFill>
                <a:latin typeface="Consolas"/>
              </a:rPr>
              <a:t>len</a:t>
            </a:r>
            <a:r>
              <a:rPr sz="1500" i="0">
                <a:solidFill>
                  <a:srgbClr val="AEB6BF"/>
                </a:solidFill>
                <a:latin typeface="Consolas"/>
              </a:rPr>
              <a:t>(</a:t>
            </a:r>
            <a:r>
              <a:rPr sz="1500" i="0">
                <a:solidFill>
                  <a:srgbClr val="C39BD3"/>
                </a:solidFill>
                <a:latin typeface="Consolas"/>
              </a:rPr>
              <a:t>self</a:t>
            </a:r>
            <a:r>
              <a:rPr sz="1500" i="0">
                <a:solidFill>
                  <a:srgbClr val="AEB6BF"/>
                </a:solidFill>
                <a:latin typeface="Consolas"/>
              </a:rPr>
              <a:t>.</a:t>
            </a:r>
            <a:r>
              <a:rPr sz="1500" i="0">
                <a:solidFill>
                  <a:srgbClr val="E8EDF2"/>
                </a:solidFill>
                <a:latin typeface="Consolas"/>
              </a:rPr>
              <a:t>h</a:t>
            </a:r>
            <a:r>
              <a:rPr sz="1500" i="0">
                <a:solidFill>
                  <a:srgbClr val="AEB6BF"/>
                </a:solidFill>
                <a:latin typeface="Consolas"/>
              </a:rPr>
              <a:t>)</a:t>
            </a:r>
          </a:p>
        </p:txBody>
      </p:sp>
      <p:sp>
        <p:nvSpPr>
          <p:cNvPr id="15" name="!!code-num"/>
          <p:cNvSpPr txBox="1"/>
          <p:nvPr/>
        </p:nvSpPr>
        <p:spPr>
          <a:xfrm>
            <a:off x="768096" y="2523744"/>
            <a:ext cx="393192" cy="3538727"/>
          </a:xfrm>
          <a:prstGeom prst="rect">
            <a:avLst/>
          </a:prstGeom>
          <a:noFill/>
        </p:spPr>
        <p:txBody>
          <a:bodyPr wrap="none" anchor="t" lIns="0" rIns="0" tIns="0" bIns="0">
            <a:noAutofit/>
          </a:bodyPr>
          <a:lstStyle/>
          <a:p>
            <a:pPr algn="r">
              <a:lnSpc>
                <a:spcPct val="100000"/>
              </a:lnSpc>
            </a:pPr>
            <a:r>
              <a:rPr sz="1500">
                <a:solidFill>
                  <a:srgbClr val="4F5D6A"/>
                </a:solidFill>
                <a:latin typeface="Consolas"/>
              </a:rPr>
              <a:t>111</a:t>
            </a:r>
          </a:p>
          <a:p>
            <a:pPr algn="r">
              <a:lnSpc>
                <a:spcPct val="100000"/>
              </a:lnSpc>
            </a:pPr>
            <a:r>
              <a:rPr sz="1500">
                <a:solidFill>
                  <a:srgbClr val="4F5D6A"/>
                </a:solidFill>
                <a:latin typeface="Consolas"/>
              </a:rPr>
              <a:t>112</a:t>
            </a:r>
          </a:p>
          <a:p>
            <a:pPr algn="r">
              <a:lnSpc>
                <a:spcPct val="100000"/>
              </a:lnSpc>
            </a:pPr>
            <a:r>
              <a:rPr sz="1500">
                <a:solidFill>
                  <a:srgbClr val="4F5D6A"/>
                </a:solidFill>
                <a:latin typeface="Consolas"/>
              </a:rPr>
              <a:t>113</a:t>
            </a:r>
          </a:p>
          <a:p>
            <a:pPr algn="r">
              <a:lnSpc>
                <a:spcPct val="100000"/>
              </a:lnSpc>
            </a:pPr>
            <a:r>
              <a:rPr sz="1500">
                <a:solidFill>
                  <a:srgbClr val="4F5D6A"/>
                </a:solidFill>
                <a:latin typeface="Consolas"/>
              </a:rPr>
              <a:t>114</a:t>
            </a:r>
          </a:p>
          <a:p>
            <a:pPr algn="r">
              <a:lnSpc>
                <a:spcPct val="100000"/>
              </a:lnSpc>
            </a:pPr>
            <a:r>
              <a:rPr sz="1500">
                <a:solidFill>
                  <a:srgbClr val="4F5D6A"/>
                </a:solidFill>
                <a:latin typeface="Consolas"/>
              </a:rPr>
              <a:t>115</a:t>
            </a:r>
          </a:p>
          <a:p>
            <a:pPr algn="r">
              <a:lnSpc>
                <a:spcPct val="100000"/>
              </a:lnSpc>
            </a:pPr>
            <a:r>
              <a:rPr sz="1500">
                <a:solidFill>
                  <a:srgbClr val="4F5D6A"/>
                </a:solidFill>
                <a:latin typeface="Consolas"/>
              </a:rPr>
              <a:t>116</a:t>
            </a:r>
          </a:p>
          <a:p>
            <a:pPr algn="r">
              <a:lnSpc>
                <a:spcPct val="100000"/>
              </a:lnSpc>
            </a:pPr>
            <a:r>
              <a:rPr sz="1500">
                <a:solidFill>
                  <a:srgbClr val="4F5D6A"/>
                </a:solidFill>
                <a:latin typeface="Consolas"/>
              </a:rPr>
              <a:t>117</a:t>
            </a:r>
          </a:p>
          <a:p>
            <a:pPr algn="r">
              <a:lnSpc>
                <a:spcPct val="100000"/>
              </a:lnSpc>
            </a:pPr>
            <a:r>
              <a:rPr sz="1500">
                <a:solidFill>
                  <a:srgbClr val="4F5D6A"/>
                </a:solidFill>
                <a:latin typeface="Consolas"/>
              </a:rPr>
              <a:t>118</a:t>
            </a:r>
          </a:p>
          <a:p>
            <a:pPr algn="r">
              <a:lnSpc>
                <a:spcPct val="100000"/>
              </a:lnSpc>
            </a:pPr>
            <a:r>
              <a:rPr sz="1500">
                <a:solidFill>
                  <a:srgbClr val="4F5D6A"/>
                </a:solidFill>
                <a:latin typeface="Consolas"/>
              </a:rPr>
              <a:t>119</a:t>
            </a:r>
          </a:p>
          <a:p>
            <a:pPr algn="r">
              <a:lnSpc>
                <a:spcPct val="100000"/>
              </a:lnSpc>
            </a:pPr>
            <a:r>
              <a:rPr sz="1500">
                <a:solidFill>
                  <a:srgbClr val="4F5D6A"/>
                </a:solidFill>
                <a:latin typeface="Consolas"/>
              </a:rPr>
              <a:t>120</a:t>
            </a:r>
          </a:p>
          <a:p>
            <a:pPr algn="r">
              <a:lnSpc>
                <a:spcPct val="100000"/>
              </a:lnSpc>
            </a:pPr>
            <a:r>
              <a:rPr sz="1500">
                <a:solidFill>
                  <a:srgbClr val="4F5D6A"/>
                </a:solidFill>
                <a:latin typeface="Consolas"/>
              </a:rPr>
              <a:t>121</a:t>
            </a:r>
          </a:p>
          <a:p>
            <a:pPr algn="r">
              <a:lnSpc>
                <a:spcPct val="100000"/>
              </a:lnSpc>
            </a:pPr>
            <a:r>
              <a:rPr sz="1500">
                <a:solidFill>
                  <a:srgbClr val="4F5D6A"/>
                </a:solidFill>
                <a:latin typeface="Consolas"/>
              </a:rPr>
              <a:t>122</a:t>
            </a:r>
          </a:p>
          <a:p>
            <a:pPr algn="r">
              <a:lnSpc>
                <a:spcPct val="100000"/>
              </a:lnSpc>
            </a:pPr>
            <a:r>
              <a:rPr sz="1500">
                <a:solidFill>
                  <a:srgbClr val="4F5D6A"/>
                </a:solidFill>
                <a:latin typeface="Consolas"/>
              </a:rPr>
              <a:t>123</a:t>
            </a:r>
          </a:p>
          <a:p>
            <a:pPr algn="r">
              <a:lnSpc>
                <a:spcPct val="100000"/>
              </a:lnSpc>
            </a:pPr>
            <a:r>
              <a:rPr sz="1500">
                <a:solidFill>
                  <a:srgbClr val="4F5D6A"/>
                </a:solidFill>
                <a:latin typeface="Consolas"/>
              </a:rPr>
              <a:t>124</a:t>
            </a:r>
          </a:p>
          <a:p>
            <a:pPr algn="r">
              <a:lnSpc>
                <a:spcPct val="100000"/>
              </a:lnSpc>
            </a:pPr>
            <a:r>
              <a:rPr sz="1500">
                <a:solidFill>
                  <a:srgbClr val="4F5D6A"/>
                </a:solidFill>
                <a:latin typeface="Consolas"/>
              </a:rPr>
              <a:t>125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26812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Frontier and the Graph: The Course Toolkit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9 OF 14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3  ·  Representations and Search in Python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§3.6  ·  Handout p. 25     </a:t>
            </a:r>
            <a:fld id="{BC7BE02B-6801-4FA6-9D29-1B789660C5DD}" type="slidenum">
              <a:rPr lang="en-GB" sz="1000">
                <a:solidFill>
                  <a:srgbClr val="8795A1"/>
                </a:solidFill>
                <a:latin typeface="Segoe UI"/>
              </a:rPr>
              <a:t>32</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three frontiers, behind one small interface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737104"/>
          </a:xfrm>
          <a:prstGeom prst="roundRect">
            <a:avLst>
              <a:gd name="adj" fmla="val 3340"/>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code/ch03_frontier_graph_course.py</a:t>
            </a:r>
          </a:p>
        </p:txBody>
      </p:sp>
      <p:sp>
        <p:nvSpPr>
          <p:cNvPr id="14" name="!!code-text" descr="def search(problem, Frontier): &quot;&quot;&quot;One body; the container decides the strategy. Chapter 4 proves this by calling it three times.&quot;&quot;&quot; start = Node(problem.initial, None, None, 0) frontier, seen = Frontier(), {problem.initial} frontier.push(start) expanded, peak = 0, 1"/>
          <p:cNvSpPr txBox="1"/>
          <p:nvPr/>
        </p:nvSpPr>
        <p:spPr>
          <a:xfrm>
            <a:off x="1362456" y="2523744"/>
            <a:ext cx="9987991" cy="2243328"/>
          </a:xfrm>
          <a:prstGeom prst="rect">
            <a:avLst/>
          </a:prstGeom>
          <a:noFill/>
        </p:spPr>
        <p:txBody>
          <a:bodyPr wrap="none" anchor="t" lIns="0" rIns="0" tIns="0" bIns="0">
            <a:noAutofit/>
          </a:bodyPr>
          <a:lstStyle/>
          <a:p>
            <a:pPr>
              <a:lnSpc>
                <a:spcPct val="100000"/>
              </a:lnSpc>
              <a:spcAft>
                <a:spcPts val="0"/>
              </a:spcAft>
            </a:pPr>
            <a:r>
              <a:rPr sz="2000" i="0">
                <a:solidFill>
                  <a:srgbClr val="5DADE2"/>
                </a:solidFill>
                <a:latin typeface="Consolas"/>
              </a:rPr>
              <a:t>def</a:t>
            </a:r>
            <a:r>
              <a:rPr sz="2000" i="0">
                <a:solidFill>
                  <a:srgbClr val="E8EDF2"/>
                </a:solidFill>
                <a:latin typeface="Consolas"/>
              </a:rPr>
              <a:t> </a:t>
            </a:r>
            <a:r>
              <a:rPr sz="2000" i="0">
                <a:solidFill>
                  <a:srgbClr val="C39BD3"/>
                </a:solidFill>
                <a:latin typeface="Consolas"/>
              </a:rPr>
              <a:t>search</a:t>
            </a:r>
            <a:r>
              <a:rPr sz="2000" i="0">
                <a:solidFill>
                  <a:srgbClr val="AEB6BF"/>
                </a:solidFill>
                <a:latin typeface="Consolas"/>
              </a:rPr>
              <a:t>(</a:t>
            </a:r>
            <a:r>
              <a:rPr sz="2000" i="0">
                <a:solidFill>
                  <a:srgbClr val="E8EDF2"/>
                </a:solidFill>
                <a:latin typeface="Consolas"/>
              </a:rPr>
              <a:t>problem</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Frontier</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7DCEA0"/>
                </a:solidFill>
                <a:latin typeface="Consolas"/>
              </a:rPr>
              <a:t>"""One body; the container decides the strategy. Chapter 4 proves</a:t>
            </a:r>
          </a:p>
          <a:p>
            <a:pPr>
              <a:lnSpc>
                <a:spcPct val="100000"/>
              </a:lnSpc>
              <a:spcAft>
                <a:spcPts val="0"/>
              </a:spcAft>
            </a:pPr>
            <a:r>
              <a:rPr sz="2000" i="0">
                <a:solidFill>
                  <a:srgbClr val="7DCEA0"/>
                </a:solidFill>
                <a:latin typeface="Consolas"/>
              </a:rPr>
              <a:t>    this by calling it three times."""</a:t>
            </a:r>
          </a:p>
          <a:p>
            <a:pPr>
              <a:lnSpc>
                <a:spcPct val="100000"/>
              </a:lnSpc>
              <a:spcAft>
                <a:spcPts val="0"/>
              </a:spcAft>
            </a:pPr>
            <a:r>
              <a:rPr sz="2000" i="0">
                <a:solidFill>
                  <a:srgbClr val="E8EDF2"/>
                </a:solidFill>
                <a:latin typeface="Consolas"/>
              </a:rPr>
              <a:t>    </a:t>
            </a:r>
            <a:r>
              <a:rPr sz="2000" i="0">
                <a:solidFill>
                  <a:srgbClr val="E8EDF2"/>
                </a:solidFill>
                <a:latin typeface="Consolas"/>
              </a:rPr>
              <a:t>start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Node</a:t>
            </a:r>
            <a:r>
              <a:rPr sz="2000" i="0">
                <a:solidFill>
                  <a:srgbClr val="AEB6BF"/>
                </a:solidFill>
                <a:latin typeface="Consolas"/>
              </a:rPr>
              <a:t>(</a:t>
            </a:r>
            <a:r>
              <a:rPr sz="2000" i="0">
                <a:solidFill>
                  <a:srgbClr val="E8EDF2"/>
                </a:solidFill>
                <a:latin typeface="Consolas"/>
              </a:rPr>
              <a:t>problem</a:t>
            </a:r>
            <a:r>
              <a:rPr sz="2000" i="0">
                <a:solidFill>
                  <a:srgbClr val="AEB6BF"/>
                </a:solidFill>
                <a:latin typeface="Consolas"/>
              </a:rPr>
              <a:t>.</a:t>
            </a:r>
            <a:r>
              <a:rPr sz="2000" i="0">
                <a:solidFill>
                  <a:srgbClr val="E8EDF2"/>
                </a:solidFill>
                <a:latin typeface="Consolas"/>
              </a:rPr>
              <a:t>initial</a:t>
            </a:r>
            <a:r>
              <a:rPr sz="2000" i="0">
                <a:solidFill>
                  <a:srgbClr val="AEB6BF"/>
                </a:solidFill>
                <a:latin typeface="Consolas"/>
              </a:rPr>
              <a:t>,</a:t>
            </a:r>
            <a:r>
              <a:rPr sz="2000" i="0">
                <a:solidFill>
                  <a:srgbClr val="E8EDF2"/>
                </a:solidFill>
                <a:latin typeface="Consolas"/>
              </a:rPr>
              <a:t> </a:t>
            </a:r>
            <a:r>
              <a:rPr sz="2000" i="0">
                <a:solidFill>
                  <a:srgbClr val="5DADE2"/>
                </a:solidFill>
                <a:latin typeface="Consolas"/>
              </a:rPr>
              <a:t>None</a:t>
            </a:r>
            <a:r>
              <a:rPr sz="2000" i="0">
                <a:solidFill>
                  <a:srgbClr val="AEB6BF"/>
                </a:solidFill>
                <a:latin typeface="Consolas"/>
              </a:rPr>
              <a:t>,</a:t>
            </a:r>
            <a:r>
              <a:rPr sz="2000" i="0">
                <a:solidFill>
                  <a:srgbClr val="E8EDF2"/>
                </a:solidFill>
                <a:latin typeface="Consolas"/>
              </a:rPr>
              <a:t> </a:t>
            </a:r>
            <a:r>
              <a:rPr sz="2000" i="0">
                <a:solidFill>
                  <a:srgbClr val="5DADE2"/>
                </a:solidFill>
                <a:latin typeface="Consolas"/>
              </a:rPr>
              <a:t>None</a:t>
            </a:r>
            <a:r>
              <a:rPr sz="2000" i="0">
                <a:solidFill>
                  <a:srgbClr val="AEB6BF"/>
                </a:solidFill>
                <a:latin typeface="Consolas"/>
              </a:rPr>
              <a:t>,</a:t>
            </a:r>
            <a:r>
              <a:rPr sz="2000" i="0">
                <a:solidFill>
                  <a:srgbClr val="E8EDF2"/>
                </a:solidFill>
                <a:latin typeface="Consolas"/>
              </a:rPr>
              <a:t> </a:t>
            </a:r>
            <a:r>
              <a:rPr sz="2000" i="0">
                <a:solidFill>
                  <a:srgbClr val="F7DC6F"/>
                </a:solidFill>
                <a:latin typeface="Consolas"/>
              </a:rPr>
              <a:t>0</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frontier</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seen</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Frontier</a:t>
            </a:r>
            <a:r>
              <a:rPr sz="2000" i="0">
                <a:solidFill>
                  <a:srgbClr val="AEB6BF"/>
                </a:solidFill>
                <a:latin typeface="Consolas"/>
              </a:rPr>
              <a:t>(</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problem</a:t>
            </a:r>
            <a:r>
              <a:rPr sz="2000" i="0">
                <a:solidFill>
                  <a:srgbClr val="AEB6BF"/>
                </a:solidFill>
                <a:latin typeface="Consolas"/>
              </a:rPr>
              <a:t>.</a:t>
            </a:r>
            <a:r>
              <a:rPr sz="2000" i="0">
                <a:solidFill>
                  <a:srgbClr val="E8EDF2"/>
                </a:solidFill>
                <a:latin typeface="Consolas"/>
              </a:rPr>
              <a:t>initial</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frontier</a:t>
            </a:r>
            <a:r>
              <a:rPr sz="2000" i="0">
                <a:solidFill>
                  <a:srgbClr val="AEB6BF"/>
                </a:solidFill>
                <a:latin typeface="Consolas"/>
              </a:rPr>
              <a:t>.</a:t>
            </a:r>
            <a:r>
              <a:rPr sz="2000" i="0">
                <a:solidFill>
                  <a:srgbClr val="E8EDF2"/>
                </a:solidFill>
                <a:latin typeface="Consolas"/>
              </a:rPr>
              <a:t>push</a:t>
            </a:r>
            <a:r>
              <a:rPr sz="2000" i="0">
                <a:solidFill>
                  <a:srgbClr val="AEB6BF"/>
                </a:solidFill>
                <a:latin typeface="Consolas"/>
              </a:rPr>
              <a:t>(</a:t>
            </a:r>
            <a:r>
              <a:rPr sz="2000" i="0">
                <a:solidFill>
                  <a:srgbClr val="E8EDF2"/>
                </a:solidFill>
                <a:latin typeface="Consolas"/>
              </a:rPr>
              <a:t>start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expanded</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peak</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F7DC6F"/>
                </a:solidFill>
                <a:latin typeface="Consolas"/>
              </a:rPr>
              <a:t>0</a:t>
            </a:r>
            <a:r>
              <a:rPr sz="2000" i="0">
                <a:solidFill>
                  <a:srgbClr val="AEB6BF"/>
                </a:solidFill>
                <a:latin typeface="Consolas"/>
              </a:rPr>
              <a:t>,</a:t>
            </a:r>
            <a:r>
              <a:rPr sz="2000" i="0">
                <a:solidFill>
                  <a:srgbClr val="E8EDF2"/>
                </a:solidFill>
                <a:latin typeface="Consolas"/>
              </a:rPr>
              <a:t> </a:t>
            </a:r>
            <a:r>
              <a:rPr sz="2000" i="0">
                <a:solidFill>
                  <a:srgbClr val="F7DC6F"/>
                </a:solidFill>
                <a:latin typeface="Consolas"/>
              </a:rPr>
              <a:t>1</a:t>
            </a:r>
          </a:p>
        </p:txBody>
      </p:sp>
      <p:sp>
        <p:nvSpPr>
          <p:cNvPr id="15" name="!!code-num"/>
          <p:cNvSpPr txBox="1"/>
          <p:nvPr/>
        </p:nvSpPr>
        <p:spPr>
          <a:xfrm>
            <a:off x="768096" y="2523744"/>
            <a:ext cx="393192" cy="2243328"/>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128</a:t>
            </a:r>
          </a:p>
          <a:p>
            <a:pPr algn="r">
              <a:lnSpc>
                <a:spcPct val="100000"/>
              </a:lnSpc>
            </a:pPr>
            <a:r>
              <a:rPr sz="2000">
                <a:solidFill>
                  <a:srgbClr val="4F5D6A"/>
                </a:solidFill>
                <a:latin typeface="Consolas"/>
              </a:rPr>
              <a:t>129</a:t>
            </a:r>
          </a:p>
          <a:p>
            <a:pPr algn="r">
              <a:lnSpc>
                <a:spcPct val="100000"/>
              </a:lnSpc>
            </a:pPr>
            <a:r>
              <a:rPr sz="2000">
                <a:solidFill>
                  <a:srgbClr val="4F5D6A"/>
                </a:solidFill>
                <a:latin typeface="Consolas"/>
              </a:rPr>
              <a:t>130</a:t>
            </a:r>
          </a:p>
          <a:p>
            <a:pPr algn="r">
              <a:lnSpc>
                <a:spcPct val="100000"/>
              </a:lnSpc>
            </a:pPr>
            <a:r>
              <a:rPr sz="2000">
                <a:solidFill>
                  <a:srgbClr val="4F5D6A"/>
                </a:solidFill>
                <a:latin typeface="Consolas"/>
              </a:rPr>
              <a:t>131</a:t>
            </a:r>
          </a:p>
          <a:p>
            <a:pPr algn="r">
              <a:lnSpc>
                <a:spcPct val="100000"/>
              </a:lnSpc>
            </a:pPr>
            <a:r>
              <a:rPr sz="2000">
                <a:solidFill>
                  <a:srgbClr val="4F5D6A"/>
                </a:solidFill>
                <a:latin typeface="Consolas"/>
              </a:rPr>
              <a:t>132</a:t>
            </a:r>
          </a:p>
          <a:p>
            <a:pPr algn="r">
              <a:lnSpc>
                <a:spcPct val="100000"/>
              </a:lnSpc>
            </a:pPr>
            <a:r>
              <a:rPr sz="2000">
                <a:solidFill>
                  <a:srgbClr val="4F5D6A"/>
                </a:solidFill>
                <a:latin typeface="Consolas"/>
              </a:rPr>
              <a:t>133</a:t>
            </a:r>
          </a:p>
          <a:p>
            <a:pPr algn="r">
              <a:lnSpc>
                <a:spcPct val="100000"/>
              </a:lnSpc>
            </a:pPr>
            <a:r>
              <a:rPr sz="2000">
                <a:solidFill>
                  <a:srgbClr val="4F5D6A"/>
                </a:solidFill>
                <a:latin typeface="Consolas"/>
              </a:rPr>
              <a:t>134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50258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Frontier and the Graph: The Course Toolkit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10 OF 14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3  ·  Representations and Search in Python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§3.6  ·  Handout p. 25     </a:t>
            </a:r>
            <a:fld id="{25A31721-FBF1-4BB3-BAD4-65B687147959}" type="slidenum">
              <a:rPr lang="en-GB" sz="1000">
                <a:solidFill>
                  <a:srgbClr val="8795A1"/>
                </a:solidFill>
                <a:latin typeface="Segoe UI"/>
              </a:rPr>
              <a:t>33</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three frontiers, behind one small interface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17264"/>
          </a:xfrm>
          <a:prstGeom prst="roundRect">
            <a:avLst>
              <a:gd name="adj" fmla="val 22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code/ch03_frontier_graph_course.py</a:t>
            </a:r>
          </a:p>
        </p:txBody>
      </p:sp>
      <p:sp>
        <p:nvSpPr>
          <p:cNvPr id="14" name="!!code-text" descr="while len(frontier): node = frontier.pop() if problem.goal_test(node.state): return path(node), node.cost, expanded, peak expanded += 1 for a in problem.actions(node.state): nxt = problem.result(node.state, a) if nxt not in seen: seen.add(nxt) frontier.push(Node(nxt, node, a, node.cost + problem.step_cost( node.state, a, nxt))) peak = max(peak, len(frontier)) return None, None, expanded, peak"/>
          <p:cNvSpPr txBox="1"/>
          <p:nvPr/>
        </p:nvSpPr>
        <p:spPr>
          <a:xfrm>
            <a:off x="1362456" y="2523744"/>
            <a:ext cx="9987991" cy="3523487"/>
          </a:xfrm>
          <a:prstGeom prst="rect">
            <a:avLst/>
          </a:prstGeom>
          <a:noFill/>
        </p:spPr>
        <p:txBody>
          <a:bodyPr wrap="none" anchor="t" lIns="0" rIns="0" tIns="0" bIns="0">
            <a:noAutofit/>
          </a:bodyPr>
          <a:lstStyle/>
          <a:p>
            <a:pPr>
              <a:lnSpc>
                <a:spcPct val="100000"/>
              </a:lnSpc>
              <a:spcAft>
                <a:spcPts val="0"/>
              </a:spcAft>
            </a:pPr>
            <a:r>
              <a:rPr sz="1600" i="0">
                <a:solidFill>
                  <a:srgbClr val="E8EDF2"/>
                </a:solidFill>
                <a:latin typeface="Consolas"/>
              </a:rPr>
              <a:t>    </a:t>
            </a:r>
            <a:r>
              <a:rPr sz="1600" i="0">
                <a:solidFill>
                  <a:srgbClr val="5DADE2"/>
                </a:solidFill>
                <a:latin typeface="Consolas"/>
              </a:rPr>
              <a:t>while</a:t>
            </a:r>
            <a:r>
              <a:rPr sz="1600" i="0">
                <a:solidFill>
                  <a:srgbClr val="E8EDF2"/>
                </a:solidFill>
                <a:latin typeface="Consolas"/>
              </a:rPr>
              <a:t> </a:t>
            </a:r>
            <a:r>
              <a:rPr sz="1600" i="0">
                <a:solidFill>
                  <a:srgbClr val="C39BD3"/>
                </a:solidFill>
                <a:latin typeface="Consolas"/>
              </a:rPr>
              <a:t>len</a:t>
            </a:r>
            <a:r>
              <a:rPr sz="1600" i="0">
                <a:solidFill>
                  <a:srgbClr val="AEB6BF"/>
                </a:solidFill>
                <a:latin typeface="Consolas"/>
              </a:rPr>
              <a:t>(</a:t>
            </a:r>
            <a:r>
              <a:rPr sz="1600" i="0">
                <a:solidFill>
                  <a:srgbClr val="E8EDF2"/>
                </a:solidFill>
                <a:latin typeface="Consolas"/>
              </a:rPr>
              <a:t>frontier</a:t>
            </a:r>
            <a:r>
              <a:rPr sz="1600" i="0">
                <a:solidFill>
                  <a:srgbClr val="AEB6BF"/>
                </a:solidFill>
                <a:latin typeface="Consolas"/>
              </a:rPr>
              <a:t>)</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E8EDF2"/>
                </a:solidFill>
                <a:latin typeface="Consolas"/>
              </a:rPr>
              <a:t>node</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frontier</a:t>
            </a:r>
            <a:r>
              <a:rPr sz="1600" i="0">
                <a:solidFill>
                  <a:srgbClr val="AEB6BF"/>
                </a:solidFill>
                <a:latin typeface="Consolas"/>
              </a:rPr>
              <a:t>.</a:t>
            </a:r>
            <a:r>
              <a:rPr sz="1600" i="0">
                <a:solidFill>
                  <a:srgbClr val="E8EDF2"/>
                </a:solidFill>
                <a:latin typeface="Consolas"/>
              </a:rPr>
              <a:t>pop</a:t>
            </a:r>
            <a:r>
              <a:rPr sz="1600" i="0">
                <a:solidFill>
                  <a:srgbClr val="AEB6BF"/>
                </a:solidFill>
                <a:latin typeface="Consolas"/>
              </a:rPr>
              <a:t>(</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5DADE2"/>
                </a:solidFill>
                <a:latin typeface="Consolas"/>
              </a:rPr>
              <a:t>if</a:t>
            </a:r>
            <a:r>
              <a:rPr sz="1600" i="0">
                <a:solidFill>
                  <a:srgbClr val="E8EDF2"/>
                </a:solidFill>
                <a:latin typeface="Consolas"/>
              </a:rPr>
              <a:t> </a:t>
            </a:r>
            <a:r>
              <a:rPr sz="1600" i="0">
                <a:solidFill>
                  <a:srgbClr val="E8EDF2"/>
                </a:solidFill>
                <a:latin typeface="Consolas"/>
              </a:rPr>
              <a:t>problem</a:t>
            </a:r>
            <a:r>
              <a:rPr sz="1600" i="0">
                <a:solidFill>
                  <a:srgbClr val="AEB6BF"/>
                </a:solidFill>
                <a:latin typeface="Consolas"/>
              </a:rPr>
              <a:t>.</a:t>
            </a:r>
            <a:r>
              <a:rPr sz="1600" i="0">
                <a:solidFill>
                  <a:srgbClr val="E8EDF2"/>
                </a:solidFill>
                <a:latin typeface="Consolas"/>
              </a:rPr>
              <a:t>goal_test</a:t>
            </a:r>
            <a:r>
              <a:rPr sz="1600" i="0">
                <a:solidFill>
                  <a:srgbClr val="AEB6BF"/>
                </a:solidFill>
                <a:latin typeface="Consolas"/>
              </a:rPr>
              <a:t>(</a:t>
            </a:r>
            <a:r>
              <a:rPr sz="1600" i="0">
                <a:solidFill>
                  <a:srgbClr val="E8EDF2"/>
                </a:solidFill>
                <a:latin typeface="Consolas"/>
              </a:rPr>
              <a:t>node</a:t>
            </a:r>
            <a:r>
              <a:rPr sz="1600" i="0">
                <a:solidFill>
                  <a:srgbClr val="AEB6BF"/>
                </a:solidFill>
                <a:latin typeface="Consolas"/>
              </a:rPr>
              <a:t>.</a:t>
            </a:r>
            <a:r>
              <a:rPr sz="1600" i="0">
                <a:solidFill>
                  <a:srgbClr val="E8EDF2"/>
                </a:solidFill>
                <a:latin typeface="Consolas"/>
              </a:rPr>
              <a:t>state</a:t>
            </a:r>
            <a:r>
              <a:rPr sz="1600" i="0">
                <a:solidFill>
                  <a:srgbClr val="AEB6BF"/>
                </a:solidFill>
                <a:latin typeface="Consolas"/>
              </a:rPr>
              <a:t>)</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5DADE2"/>
                </a:solidFill>
                <a:latin typeface="Consolas"/>
              </a:rPr>
              <a:t>return</a:t>
            </a:r>
            <a:r>
              <a:rPr sz="1600" i="0">
                <a:solidFill>
                  <a:srgbClr val="E8EDF2"/>
                </a:solidFill>
                <a:latin typeface="Consolas"/>
              </a:rPr>
              <a:t> </a:t>
            </a:r>
            <a:r>
              <a:rPr sz="1600" i="0">
                <a:solidFill>
                  <a:srgbClr val="E8EDF2"/>
                </a:solidFill>
                <a:latin typeface="Consolas"/>
              </a:rPr>
              <a:t>path</a:t>
            </a:r>
            <a:r>
              <a:rPr sz="1600" i="0">
                <a:solidFill>
                  <a:srgbClr val="AEB6BF"/>
                </a:solidFill>
                <a:latin typeface="Consolas"/>
              </a:rPr>
              <a:t>(</a:t>
            </a:r>
            <a:r>
              <a:rPr sz="1600" i="0">
                <a:solidFill>
                  <a:srgbClr val="E8EDF2"/>
                </a:solidFill>
                <a:latin typeface="Consolas"/>
              </a:rPr>
              <a:t>node</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node</a:t>
            </a:r>
            <a:r>
              <a:rPr sz="1600" i="0">
                <a:solidFill>
                  <a:srgbClr val="AEB6BF"/>
                </a:solidFill>
                <a:latin typeface="Consolas"/>
              </a:rPr>
              <a:t>.</a:t>
            </a:r>
            <a:r>
              <a:rPr sz="1600" i="0">
                <a:solidFill>
                  <a:srgbClr val="E8EDF2"/>
                </a:solidFill>
                <a:latin typeface="Consolas"/>
              </a:rPr>
              <a:t>cost</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expanded</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peak</a:t>
            </a:r>
          </a:p>
          <a:p>
            <a:pPr>
              <a:lnSpc>
                <a:spcPct val="100000"/>
              </a:lnSpc>
              <a:spcAft>
                <a:spcPts val="0"/>
              </a:spcAft>
            </a:pPr>
            <a:r>
              <a:rPr sz="1600" i="0">
                <a:solidFill>
                  <a:srgbClr val="E8EDF2"/>
                </a:solidFill>
                <a:latin typeface="Consolas"/>
              </a:rPr>
              <a:t>        </a:t>
            </a:r>
            <a:r>
              <a:rPr sz="1600" i="0">
                <a:solidFill>
                  <a:srgbClr val="E8EDF2"/>
                </a:solidFill>
                <a:latin typeface="Consolas"/>
              </a:rPr>
              <a:t>expanded</a:t>
            </a:r>
            <a:r>
              <a:rPr sz="1600" i="0">
                <a:solidFill>
                  <a:srgbClr val="E8EDF2"/>
                </a:solidFill>
                <a:latin typeface="Consolas"/>
              </a:rPr>
              <a:t> </a:t>
            </a:r>
            <a:r>
              <a:rPr sz="1600" i="0">
                <a:solidFill>
                  <a:srgbClr val="AEB6BF"/>
                </a:solidFill>
                <a:latin typeface="Consolas"/>
              </a:rPr>
              <a:t>+</a:t>
            </a:r>
            <a:r>
              <a:rPr sz="1600" i="0">
                <a:solidFill>
                  <a:srgbClr val="AEB6BF"/>
                </a:solidFill>
                <a:latin typeface="Consolas"/>
              </a:rPr>
              <a:t>=</a:t>
            </a:r>
            <a:r>
              <a:rPr sz="1600" i="0">
                <a:solidFill>
                  <a:srgbClr val="E8EDF2"/>
                </a:solidFill>
                <a:latin typeface="Consolas"/>
              </a:rPr>
              <a:t> </a:t>
            </a:r>
            <a:r>
              <a:rPr sz="1600" i="0">
                <a:solidFill>
                  <a:srgbClr val="F7DC6F"/>
                </a:solidFill>
                <a:latin typeface="Consolas"/>
              </a:rPr>
              <a:t>1</a:t>
            </a:r>
          </a:p>
          <a:p>
            <a:pPr>
              <a:lnSpc>
                <a:spcPct val="100000"/>
              </a:lnSpc>
              <a:spcAft>
                <a:spcPts val="0"/>
              </a:spcAft>
            </a:pPr>
            <a:r>
              <a:rPr sz="1600" i="0">
                <a:solidFill>
                  <a:srgbClr val="E8EDF2"/>
                </a:solidFill>
                <a:latin typeface="Consolas"/>
              </a:rPr>
              <a:t>        </a:t>
            </a:r>
            <a:r>
              <a:rPr sz="1600" i="0">
                <a:solidFill>
                  <a:srgbClr val="5DADE2"/>
                </a:solidFill>
                <a:latin typeface="Consolas"/>
              </a:rPr>
              <a:t>for</a:t>
            </a:r>
            <a:r>
              <a:rPr sz="1600" i="0">
                <a:solidFill>
                  <a:srgbClr val="E8EDF2"/>
                </a:solidFill>
                <a:latin typeface="Consolas"/>
              </a:rPr>
              <a:t> </a:t>
            </a:r>
            <a:r>
              <a:rPr sz="1600" i="0">
                <a:solidFill>
                  <a:srgbClr val="E8EDF2"/>
                </a:solidFill>
                <a:latin typeface="Consolas"/>
              </a:rPr>
              <a:t>a</a:t>
            </a:r>
            <a:r>
              <a:rPr sz="1600" i="0">
                <a:solidFill>
                  <a:srgbClr val="E8EDF2"/>
                </a:solidFill>
                <a:latin typeface="Consolas"/>
              </a:rPr>
              <a:t> </a:t>
            </a:r>
            <a:r>
              <a:rPr sz="1600" i="0">
                <a:solidFill>
                  <a:srgbClr val="AEB6BF"/>
                </a:solidFill>
                <a:latin typeface="Consolas"/>
              </a:rPr>
              <a:t>in</a:t>
            </a:r>
            <a:r>
              <a:rPr sz="1600" i="0">
                <a:solidFill>
                  <a:srgbClr val="E8EDF2"/>
                </a:solidFill>
                <a:latin typeface="Consolas"/>
              </a:rPr>
              <a:t> </a:t>
            </a:r>
            <a:r>
              <a:rPr sz="1600" i="0">
                <a:solidFill>
                  <a:srgbClr val="E8EDF2"/>
                </a:solidFill>
                <a:latin typeface="Consolas"/>
              </a:rPr>
              <a:t>problem</a:t>
            </a:r>
            <a:r>
              <a:rPr sz="1600" i="0">
                <a:solidFill>
                  <a:srgbClr val="AEB6BF"/>
                </a:solidFill>
                <a:latin typeface="Consolas"/>
              </a:rPr>
              <a:t>.</a:t>
            </a:r>
            <a:r>
              <a:rPr sz="1600" i="0">
                <a:solidFill>
                  <a:srgbClr val="E8EDF2"/>
                </a:solidFill>
                <a:latin typeface="Consolas"/>
              </a:rPr>
              <a:t>actions</a:t>
            </a:r>
            <a:r>
              <a:rPr sz="1600" i="0">
                <a:solidFill>
                  <a:srgbClr val="AEB6BF"/>
                </a:solidFill>
                <a:latin typeface="Consolas"/>
              </a:rPr>
              <a:t>(</a:t>
            </a:r>
            <a:r>
              <a:rPr sz="1600" i="0">
                <a:solidFill>
                  <a:srgbClr val="E8EDF2"/>
                </a:solidFill>
                <a:latin typeface="Consolas"/>
              </a:rPr>
              <a:t>node</a:t>
            </a:r>
            <a:r>
              <a:rPr sz="1600" i="0">
                <a:solidFill>
                  <a:srgbClr val="AEB6BF"/>
                </a:solidFill>
                <a:latin typeface="Consolas"/>
              </a:rPr>
              <a:t>.</a:t>
            </a:r>
            <a:r>
              <a:rPr sz="1600" i="0">
                <a:solidFill>
                  <a:srgbClr val="E8EDF2"/>
                </a:solidFill>
                <a:latin typeface="Consolas"/>
              </a:rPr>
              <a:t>state</a:t>
            </a:r>
            <a:r>
              <a:rPr sz="1600" i="0">
                <a:solidFill>
                  <a:srgbClr val="AEB6BF"/>
                </a:solidFill>
                <a:latin typeface="Consolas"/>
              </a:rPr>
              <a:t>)</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E8EDF2"/>
                </a:solidFill>
                <a:latin typeface="Consolas"/>
              </a:rPr>
              <a:t>nxt</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problem</a:t>
            </a:r>
            <a:r>
              <a:rPr sz="1600" i="0">
                <a:solidFill>
                  <a:srgbClr val="AEB6BF"/>
                </a:solidFill>
                <a:latin typeface="Consolas"/>
              </a:rPr>
              <a:t>.</a:t>
            </a:r>
            <a:r>
              <a:rPr sz="1600" i="0">
                <a:solidFill>
                  <a:srgbClr val="E8EDF2"/>
                </a:solidFill>
                <a:latin typeface="Consolas"/>
              </a:rPr>
              <a:t>result</a:t>
            </a:r>
            <a:r>
              <a:rPr sz="1600" i="0">
                <a:solidFill>
                  <a:srgbClr val="AEB6BF"/>
                </a:solidFill>
                <a:latin typeface="Consolas"/>
              </a:rPr>
              <a:t>(</a:t>
            </a:r>
            <a:r>
              <a:rPr sz="1600" i="0">
                <a:solidFill>
                  <a:srgbClr val="E8EDF2"/>
                </a:solidFill>
                <a:latin typeface="Consolas"/>
              </a:rPr>
              <a:t>node</a:t>
            </a:r>
            <a:r>
              <a:rPr sz="1600" i="0">
                <a:solidFill>
                  <a:srgbClr val="AEB6BF"/>
                </a:solidFill>
                <a:latin typeface="Consolas"/>
              </a:rPr>
              <a:t>.</a:t>
            </a:r>
            <a:r>
              <a:rPr sz="1600" i="0">
                <a:solidFill>
                  <a:srgbClr val="E8EDF2"/>
                </a:solidFill>
                <a:latin typeface="Consolas"/>
              </a:rPr>
              <a:t>state</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a</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5DADE2"/>
                </a:solidFill>
                <a:latin typeface="Consolas"/>
              </a:rPr>
              <a:t>if</a:t>
            </a:r>
            <a:r>
              <a:rPr sz="1600" i="0">
                <a:solidFill>
                  <a:srgbClr val="E8EDF2"/>
                </a:solidFill>
                <a:latin typeface="Consolas"/>
              </a:rPr>
              <a:t> </a:t>
            </a:r>
            <a:r>
              <a:rPr sz="1600" i="0">
                <a:solidFill>
                  <a:srgbClr val="E8EDF2"/>
                </a:solidFill>
                <a:latin typeface="Consolas"/>
              </a:rPr>
              <a:t>nxt</a:t>
            </a:r>
            <a:r>
              <a:rPr sz="1600" i="0">
                <a:solidFill>
                  <a:srgbClr val="E8EDF2"/>
                </a:solidFill>
                <a:latin typeface="Consolas"/>
              </a:rPr>
              <a:t> </a:t>
            </a:r>
            <a:r>
              <a:rPr sz="1600" i="0">
                <a:solidFill>
                  <a:srgbClr val="AEB6BF"/>
                </a:solidFill>
                <a:latin typeface="Consolas"/>
              </a:rPr>
              <a:t>not</a:t>
            </a:r>
            <a:r>
              <a:rPr sz="1600" i="0">
                <a:solidFill>
                  <a:srgbClr val="E8EDF2"/>
                </a:solidFill>
                <a:latin typeface="Consolas"/>
              </a:rPr>
              <a:t> </a:t>
            </a:r>
            <a:r>
              <a:rPr sz="1600" i="0">
                <a:solidFill>
                  <a:srgbClr val="AEB6BF"/>
                </a:solidFill>
                <a:latin typeface="Consolas"/>
              </a:rPr>
              <a:t>in</a:t>
            </a:r>
            <a:r>
              <a:rPr sz="1600" i="0">
                <a:solidFill>
                  <a:srgbClr val="E8EDF2"/>
                </a:solidFill>
                <a:latin typeface="Consolas"/>
              </a:rPr>
              <a:t> </a:t>
            </a:r>
            <a:r>
              <a:rPr sz="1600" i="0">
                <a:solidFill>
                  <a:srgbClr val="E8EDF2"/>
                </a:solidFill>
                <a:latin typeface="Consolas"/>
              </a:rPr>
              <a:t>seen</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E8EDF2"/>
                </a:solidFill>
                <a:latin typeface="Consolas"/>
              </a:rPr>
              <a:t>seen</a:t>
            </a:r>
            <a:r>
              <a:rPr sz="1600" i="0">
                <a:solidFill>
                  <a:srgbClr val="AEB6BF"/>
                </a:solidFill>
                <a:latin typeface="Consolas"/>
              </a:rPr>
              <a:t>.</a:t>
            </a:r>
            <a:r>
              <a:rPr sz="1600" i="0">
                <a:solidFill>
                  <a:srgbClr val="E8EDF2"/>
                </a:solidFill>
                <a:latin typeface="Consolas"/>
              </a:rPr>
              <a:t>add</a:t>
            </a:r>
            <a:r>
              <a:rPr sz="1600" i="0">
                <a:solidFill>
                  <a:srgbClr val="AEB6BF"/>
                </a:solidFill>
                <a:latin typeface="Consolas"/>
              </a:rPr>
              <a:t>(</a:t>
            </a:r>
            <a:r>
              <a:rPr sz="1600" i="0">
                <a:solidFill>
                  <a:srgbClr val="E8EDF2"/>
                </a:solidFill>
                <a:latin typeface="Consolas"/>
              </a:rPr>
              <a:t>nxt</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E8EDF2"/>
                </a:solidFill>
                <a:latin typeface="Consolas"/>
              </a:rPr>
              <a:t>frontier</a:t>
            </a:r>
            <a:r>
              <a:rPr sz="1600" i="0">
                <a:solidFill>
                  <a:srgbClr val="AEB6BF"/>
                </a:solidFill>
                <a:latin typeface="Consolas"/>
              </a:rPr>
              <a:t>.</a:t>
            </a:r>
            <a:r>
              <a:rPr sz="1600" i="0">
                <a:solidFill>
                  <a:srgbClr val="E8EDF2"/>
                </a:solidFill>
                <a:latin typeface="Consolas"/>
              </a:rPr>
              <a:t>push</a:t>
            </a:r>
            <a:r>
              <a:rPr sz="1600" i="0">
                <a:solidFill>
                  <a:srgbClr val="AEB6BF"/>
                </a:solidFill>
                <a:latin typeface="Consolas"/>
              </a:rPr>
              <a:t>(</a:t>
            </a:r>
            <a:r>
              <a:rPr sz="1600" i="0">
                <a:solidFill>
                  <a:srgbClr val="E8EDF2"/>
                </a:solidFill>
                <a:latin typeface="Consolas"/>
              </a:rPr>
              <a:t>Node</a:t>
            </a:r>
            <a:r>
              <a:rPr sz="1600" i="0">
                <a:solidFill>
                  <a:srgbClr val="AEB6BF"/>
                </a:solidFill>
                <a:latin typeface="Consolas"/>
              </a:rPr>
              <a:t>(</a:t>
            </a:r>
            <a:r>
              <a:rPr sz="1600" i="0">
                <a:solidFill>
                  <a:srgbClr val="E8EDF2"/>
                </a:solidFill>
                <a:latin typeface="Consolas"/>
              </a:rPr>
              <a:t>nxt</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node</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a</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E8EDF2"/>
                </a:solidFill>
                <a:latin typeface="Consolas"/>
              </a:rPr>
              <a:t>node</a:t>
            </a:r>
            <a:r>
              <a:rPr sz="1600" i="0">
                <a:solidFill>
                  <a:srgbClr val="AEB6BF"/>
                </a:solidFill>
                <a:latin typeface="Consolas"/>
              </a:rPr>
              <a:t>.</a:t>
            </a:r>
            <a:r>
              <a:rPr sz="1600" i="0">
                <a:solidFill>
                  <a:srgbClr val="E8EDF2"/>
                </a:solidFill>
                <a:latin typeface="Consolas"/>
              </a:rPr>
              <a:t>cost</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problem</a:t>
            </a:r>
            <a:r>
              <a:rPr sz="1600" i="0">
                <a:solidFill>
                  <a:srgbClr val="AEB6BF"/>
                </a:solidFill>
                <a:latin typeface="Consolas"/>
              </a:rPr>
              <a:t>.</a:t>
            </a:r>
            <a:r>
              <a:rPr sz="1600" i="0">
                <a:solidFill>
                  <a:srgbClr val="E8EDF2"/>
                </a:solidFill>
                <a:latin typeface="Consolas"/>
              </a:rPr>
              <a:t>step_cost</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E8EDF2"/>
                </a:solidFill>
                <a:latin typeface="Consolas"/>
              </a:rPr>
              <a:t>node</a:t>
            </a:r>
            <a:r>
              <a:rPr sz="1600" i="0">
                <a:solidFill>
                  <a:srgbClr val="AEB6BF"/>
                </a:solidFill>
                <a:latin typeface="Consolas"/>
              </a:rPr>
              <a:t>.</a:t>
            </a:r>
            <a:r>
              <a:rPr sz="1600" i="0">
                <a:solidFill>
                  <a:srgbClr val="E8EDF2"/>
                </a:solidFill>
                <a:latin typeface="Consolas"/>
              </a:rPr>
              <a:t>state</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a</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nxt</a:t>
            </a:r>
            <a:r>
              <a:rPr sz="1600" i="0">
                <a:solidFill>
                  <a:srgbClr val="AEB6BF"/>
                </a:solidFill>
                <a:latin typeface="Consolas"/>
              </a:rPr>
              <a:t>)</a:t>
            </a:r>
            <a:r>
              <a:rPr sz="1600" i="0">
                <a:solidFill>
                  <a:srgbClr val="AEB6BF"/>
                </a:solidFill>
                <a:latin typeface="Consolas"/>
              </a:rPr>
              <a:t>)</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E8EDF2"/>
                </a:solidFill>
                <a:latin typeface="Consolas"/>
              </a:rPr>
              <a:t>peak</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C39BD3"/>
                </a:solidFill>
                <a:latin typeface="Consolas"/>
              </a:rPr>
              <a:t>max</a:t>
            </a:r>
            <a:r>
              <a:rPr sz="1600" i="0">
                <a:solidFill>
                  <a:srgbClr val="AEB6BF"/>
                </a:solidFill>
                <a:latin typeface="Consolas"/>
              </a:rPr>
              <a:t>(</a:t>
            </a:r>
            <a:r>
              <a:rPr sz="1600" i="0">
                <a:solidFill>
                  <a:srgbClr val="E8EDF2"/>
                </a:solidFill>
                <a:latin typeface="Consolas"/>
              </a:rPr>
              <a:t>peak</a:t>
            </a:r>
            <a:r>
              <a:rPr sz="1600" i="0">
                <a:solidFill>
                  <a:srgbClr val="AEB6BF"/>
                </a:solidFill>
                <a:latin typeface="Consolas"/>
              </a:rPr>
              <a:t>,</a:t>
            </a:r>
            <a:r>
              <a:rPr sz="1600" i="0">
                <a:solidFill>
                  <a:srgbClr val="E8EDF2"/>
                </a:solidFill>
                <a:latin typeface="Consolas"/>
              </a:rPr>
              <a:t> </a:t>
            </a:r>
            <a:r>
              <a:rPr sz="1600" i="0">
                <a:solidFill>
                  <a:srgbClr val="C39BD3"/>
                </a:solidFill>
                <a:latin typeface="Consolas"/>
              </a:rPr>
              <a:t>len</a:t>
            </a:r>
            <a:r>
              <a:rPr sz="1600" i="0">
                <a:solidFill>
                  <a:srgbClr val="AEB6BF"/>
                </a:solidFill>
                <a:latin typeface="Consolas"/>
              </a:rPr>
              <a:t>(</a:t>
            </a:r>
            <a:r>
              <a:rPr sz="1600" i="0">
                <a:solidFill>
                  <a:srgbClr val="E8EDF2"/>
                </a:solidFill>
                <a:latin typeface="Consolas"/>
              </a:rPr>
              <a:t>frontier</a:t>
            </a:r>
            <a:r>
              <a:rPr sz="1600" i="0">
                <a:solidFill>
                  <a:srgbClr val="AEB6BF"/>
                </a:solidFill>
                <a:latin typeface="Consolas"/>
              </a:rPr>
              <a:t>)</a:t>
            </a:r>
            <a:r>
              <a:rPr sz="1600" i="0">
                <a:solidFill>
                  <a:srgbClr val="AEB6BF"/>
                </a:solidFill>
                <a:latin typeface="Consolas"/>
              </a:rPr>
              <a:t>)</a:t>
            </a:r>
          </a:p>
          <a:p>
            <a:pPr>
              <a:lnSpc>
                <a:spcPct val="100000"/>
              </a:lnSpc>
              <a:spcAft>
                <a:spcPts val="0"/>
              </a:spcAft>
            </a:pPr>
            <a:r>
              <a:rPr sz="1600" i="0">
                <a:solidFill>
                  <a:srgbClr val="E8EDF2"/>
                </a:solidFill>
                <a:latin typeface="Consolas"/>
              </a:rPr>
              <a:t>    </a:t>
            </a:r>
            <a:r>
              <a:rPr sz="1600" i="0">
                <a:solidFill>
                  <a:srgbClr val="5DADE2"/>
                </a:solidFill>
                <a:latin typeface="Consolas"/>
              </a:rPr>
              <a:t>return</a:t>
            </a:r>
            <a:r>
              <a:rPr sz="1600" i="0">
                <a:solidFill>
                  <a:srgbClr val="E8EDF2"/>
                </a:solidFill>
                <a:latin typeface="Consolas"/>
              </a:rPr>
              <a:t> </a:t>
            </a:r>
            <a:r>
              <a:rPr sz="1600" i="0">
                <a:solidFill>
                  <a:srgbClr val="5DADE2"/>
                </a:solidFill>
                <a:latin typeface="Consolas"/>
              </a:rPr>
              <a:t>None</a:t>
            </a:r>
            <a:r>
              <a:rPr sz="1600" i="0">
                <a:solidFill>
                  <a:srgbClr val="AEB6BF"/>
                </a:solidFill>
                <a:latin typeface="Consolas"/>
              </a:rPr>
              <a:t>,</a:t>
            </a:r>
            <a:r>
              <a:rPr sz="1600" i="0">
                <a:solidFill>
                  <a:srgbClr val="E8EDF2"/>
                </a:solidFill>
                <a:latin typeface="Consolas"/>
              </a:rPr>
              <a:t> </a:t>
            </a:r>
            <a:r>
              <a:rPr sz="1600" i="0">
                <a:solidFill>
                  <a:srgbClr val="5DADE2"/>
                </a:solidFill>
                <a:latin typeface="Consolas"/>
              </a:rPr>
              <a:t>None</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expanded</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peak</a:t>
            </a:r>
          </a:p>
        </p:txBody>
      </p:sp>
      <p:sp>
        <p:nvSpPr>
          <p:cNvPr id="15" name="!!code-num"/>
          <p:cNvSpPr txBox="1"/>
          <p:nvPr/>
        </p:nvSpPr>
        <p:spPr>
          <a:xfrm>
            <a:off x="768096" y="2523744"/>
            <a:ext cx="393192" cy="3523487"/>
          </a:xfrm>
          <a:prstGeom prst="rect">
            <a:avLst/>
          </a:prstGeom>
          <a:noFill/>
        </p:spPr>
        <p:txBody>
          <a:bodyPr wrap="none" anchor="t" lIns="0" rIns="0" tIns="0" bIns="0">
            <a:noAutofit/>
          </a:bodyPr>
          <a:lstStyle/>
          <a:p>
            <a:pPr algn="r">
              <a:lnSpc>
                <a:spcPct val="100000"/>
              </a:lnSpc>
            </a:pPr>
            <a:r>
              <a:rPr sz="1600">
                <a:solidFill>
                  <a:srgbClr val="4F5D6A"/>
                </a:solidFill>
                <a:latin typeface="Consolas"/>
              </a:rPr>
              <a:t>135</a:t>
            </a:r>
          </a:p>
          <a:p>
            <a:pPr algn="r">
              <a:lnSpc>
                <a:spcPct val="100000"/>
              </a:lnSpc>
            </a:pPr>
            <a:r>
              <a:rPr sz="1600">
                <a:solidFill>
                  <a:srgbClr val="4F5D6A"/>
                </a:solidFill>
                <a:latin typeface="Consolas"/>
              </a:rPr>
              <a:t>136</a:t>
            </a:r>
          </a:p>
          <a:p>
            <a:pPr algn="r">
              <a:lnSpc>
                <a:spcPct val="100000"/>
              </a:lnSpc>
            </a:pPr>
            <a:r>
              <a:rPr sz="1600">
                <a:solidFill>
                  <a:srgbClr val="4F5D6A"/>
                </a:solidFill>
                <a:latin typeface="Consolas"/>
              </a:rPr>
              <a:t>137</a:t>
            </a:r>
          </a:p>
          <a:p>
            <a:pPr algn="r">
              <a:lnSpc>
                <a:spcPct val="100000"/>
              </a:lnSpc>
            </a:pPr>
            <a:r>
              <a:rPr sz="1600">
                <a:solidFill>
                  <a:srgbClr val="4F5D6A"/>
                </a:solidFill>
                <a:latin typeface="Consolas"/>
              </a:rPr>
              <a:t>138</a:t>
            </a:r>
          </a:p>
          <a:p>
            <a:pPr algn="r">
              <a:lnSpc>
                <a:spcPct val="100000"/>
              </a:lnSpc>
            </a:pPr>
            <a:r>
              <a:rPr sz="1600">
                <a:solidFill>
                  <a:srgbClr val="4F5D6A"/>
                </a:solidFill>
                <a:latin typeface="Consolas"/>
              </a:rPr>
              <a:t>139</a:t>
            </a:r>
          </a:p>
          <a:p>
            <a:pPr algn="r">
              <a:lnSpc>
                <a:spcPct val="100000"/>
              </a:lnSpc>
            </a:pPr>
            <a:r>
              <a:rPr sz="1600">
                <a:solidFill>
                  <a:srgbClr val="4F5D6A"/>
                </a:solidFill>
                <a:latin typeface="Consolas"/>
              </a:rPr>
              <a:t>140</a:t>
            </a:r>
          </a:p>
          <a:p>
            <a:pPr algn="r">
              <a:lnSpc>
                <a:spcPct val="100000"/>
              </a:lnSpc>
            </a:pPr>
            <a:r>
              <a:rPr sz="1600">
                <a:solidFill>
                  <a:srgbClr val="4F5D6A"/>
                </a:solidFill>
                <a:latin typeface="Consolas"/>
              </a:rPr>
              <a:t>141</a:t>
            </a:r>
          </a:p>
          <a:p>
            <a:pPr algn="r">
              <a:lnSpc>
                <a:spcPct val="100000"/>
              </a:lnSpc>
            </a:pPr>
            <a:r>
              <a:rPr sz="1600">
                <a:solidFill>
                  <a:srgbClr val="4F5D6A"/>
                </a:solidFill>
                <a:latin typeface="Consolas"/>
              </a:rPr>
              <a:t>142</a:t>
            </a:r>
          </a:p>
          <a:p>
            <a:pPr algn="r">
              <a:lnSpc>
                <a:spcPct val="100000"/>
              </a:lnSpc>
            </a:pPr>
            <a:r>
              <a:rPr sz="1600">
                <a:solidFill>
                  <a:srgbClr val="4F5D6A"/>
                </a:solidFill>
                <a:latin typeface="Consolas"/>
              </a:rPr>
              <a:t>143</a:t>
            </a:r>
          </a:p>
          <a:p>
            <a:pPr algn="r">
              <a:lnSpc>
                <a:spcPct val="100000"/>
              </a:lnSpc>
            </a:pPr>
            <a:r>
              <a:rPr sz="1600">
                <a:solidFill>
                  <a:srgbClr val="4F5D6A"/>
                </a:solidFill>
                <a:latin typeface="Consolas"/>
              </a:rPr>
              <a:t>144</a:t>
            </a:r>
          </a:p>
          <a:p>
            <a:pPr algn="r">
              <a:lnSpc>
                <a:spcPct val="100000"/>
              </a:lnSpc>
            </a:pPr>
            <a:r>
              <a:rPr sz="1600">
                <a:solidFill>
                  <a:srgbClr val="4F5D6A"/>
                </a:solidFill>
                <a:latin typeface="Consolas"/>
              </a:rPr>
              <a:t>145</a:t>
            </a:r>
          </a:p>
          <a:p>
            <a:pPr algn="r">
              <a:lnSpc>
                <a:spcPct val="100000"/>
              </a:lnSpc>
            </a:pPr>
            <a:r>
              <a:rPr sz="1600">
                <a:solidFill>
                  <a:srgbClr val="4F5D6A"/>
                </a:solidFill>
                <a:latin typeface="Consolas"/>
              </a:rPr>
              <a:t>146</a:t>
            </a:r>
          </a:p>
          <a:p>
            <a:pPr algn="r">
              <a:lnSpc>
                <a:spcPct val="100000"/>
              </a:lnSpc>
            </a:pPr>
            <a:r>
              <a:rPr sz="1600">
                <a:solidFill>
                  <a:srgbClr val="4F5D6A"/>
                </a:solidFill>
                <a:latin typeface="Consolas"/>
              </a:rPr>
              <a:t>147</a:t>
            </a:r>
          </a:p>
          <a:p>
            <a:pPr algn="r">
              <a:lnSpc>
                <a:spcPct val="100000"/>
              </a:lnSpc>
            </a:pPr>
            <a:r>
              <a:rPr sz="1600">
                <a:solidFill>
                  <a:srgbClr val="4F5D6A"/>
                </a:solidFill>
                <a:latin typeface="Consolas"/>
              </a:rPr>
              <a:t>148</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73703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Frontier and the Graph: The Course Toolkit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11 OF 14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3  ·  Representations and Search in Python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§3.6  ·  Handout p. 25     </a:t>
            </a:r>
            <a:fld id="{65BA9B07-D666-4F20-9531-02EDAF19A82A}" type="slidenum">
              <a:rPr lang="en-GB" sz="1000">
                <a:solidFill>
                  <a:srgbClr val="8795A1"/>
                </a:solidFill>
                <a:latin typeface="Segoe UI"/>
              </a:rPr>
              <a:t>34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measurement of the worked example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169664"/>
          </a:xfrm>
          <a:prstGeom prst="roundRect">
            <a:avLst>
              <a:gd name="adj" fmla="val 219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code/ch03_frontier_graph_course.py</a:t>
            </a:r>
          </a:p>
        </p:txBody>
      </p:sp>
      <p:sp>
        <p:nvSpPr>
          <p:cNvPr id="14" name="!!code-text" descr="# --- the measurement of the worked example ------------------------- def count_states(): &quot;&quot;&quot;Reachable situations, when a state is a set of finished tasks.&quot;&quot;&quot; seen, stack = {frozenset()}, [frozenset()] while stack: s = stack.pop() for t, (_, deps) in TASKS.items(): if t not in s and deps &lt;= s: n = s | {t} if n not in seen: seen.add(n) stack.append(n) return len(seen)"/>
          <p:cNvSpPr txBox="1"/>
          <p:nvPr/>
        </p:nvSpPr>
        <p:spPr>
          <a:xfrm>
            <a:off x="1362456" y="2523744"/>
            <a:ext cx="9987991" cy="367588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the measurement of the worked example -------------------------</a:t>
            </a:r>
          </a:p>
          <a:p>
            <a:pPr>
              <a:lnSpc>
                <a:spcPct val="100000"/>
              </a:lnSpc>
              <a:spcAft>
                <a:spcPts val="0"/>
              </a:spcAft>
            </a:pPr>
            <a:r>
              <a:rPr sz="1800" i="0">
                <a:solidFill>
                  <a:srgbClr val="5DADE2"/>
                </a:solidFill>
                <a:latin typeface="Consolas"/>
              </a:rPr>
              <a:t>def</a:t>
            </a:r>
            <a:r>
              <a:rPr sz="1800" i="0">
                <a:solidFill>
                  <a:srgbClr val="E8EDF2"/>
                </a:solidFill>
                <a:latin typeface="Consolas"/>
              </a:rPr>
              <a:t> </a:t>
            </a:r>
            <a:r>
              <a:rPr sz="1800" i="0">
                <a:solidFill>
                  <a:srgbClr val="C39BD3"/>
                </a:solidFill>
                <a:latin typeface="Consolas"/>
              </a:rPr>
              <a:t>count_states</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7DCEA0"/>
                </a:solidFill>
                <a:latin typeface="Consolas"/>
              </a:rPr>
              <a:t>"""Reachable situations, when a state is a set of finished tasks."""</a:t>
            </a:r>
          </a:p>
          <a:p>
            <a:pPr>
              <a:lnSpc>
                <a:spcPct val="100000"/>
              </a:lnSpc>
              <a:spcAft>
                <a:spcPts val="0"/>
              </a:spcAft>
            </a:pPr>
            <a:r>
              <a:rPr sz="1800" i="0">
                <a:solidFill>
                  <a:srgbClr val="E8EDF2"/>
                </a:solidFill>
                <a:latin typeface="Consolas"/>
              </a:rPr>
              <a:t>    </a:t>
            </a:r>
            <a:r>
              <a:rPr sz="1800" i="0">
                <a:solidFill>
                  <a:srgbClr val="E8EDF2"/>
                </a:solidFill>
                <a:latin typeface="Consolas"/>
              </a:rPr>
              <a:t>seen</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stack</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C39BD3"/>
                </a:solidFill>
                <a:latin typeface="Consolas"/>
              </a:rPr>
              <a:t>frozenset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C39BD3"/>
                </a:solidFill>
                <a:latin typeface="Consolas"/>
              </a:rPr>
              <a:t>frozenset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while</a:t>
            </a:r>
            <a:r>
              <a:rPr sz="1800" i="0">
                <a:solidFill>
                  <a:srgbClr val="E8EDF2"/>
                </a:solidFill>
                <a:latin typeface="Consolas"/>
              </a:rPr>
              <a:t> </a:t>
            </a:r>
            <a:r>
              <a:rPr sz="1800" i="0">
                <a:solidFill>
                  <a:srgbClr val="E8EDF2"/>
                </a:solidFill>
                <a:latin typeface="Consolas"/>
              </a:rPr>
              <a:t>stack</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s</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stack</a:t>
            </a:r>
            <a:r>
              <a:rPr sz="1800" i="0">
                <a:solidFill>
                  <a:srgbClr val="AEB6BF"/>
                </a:solidFill>
                <a:latin typeface="Consolas"/>
              </a:rPr>
              <a:t>.</a:t>
            </a:r>
            <a:r>
              <a:rPr sz="1800" i="0">
                <a:solidFill>
                  <a:srgbClr val="E8EDF2"/>
                </a:solidFill>
                <a:latin typeface="Consolas"/>
              </a:rPr>
              <a:t>pop</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_</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deps</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in</a:t>
            </a:r>
            <a:r>
              <a:rPr sz="1800" i="0">
                <a:solidFill>
                  <a:srgbClr val="E8EDF2"/>
                </a:solidFill>
                <a:latin typeface="Consolas"/>
              </a:rPr>
              <a:t> </a:t>
            </a:r>
            <a:r>
              <a:rPr sz="1800" i="0">
                <a:solidFill>
                  <a:srgbClr val="E8EDF2"/>
                </a:solidFill>
                <a:latin typeface="Consolas"/>
              </a:rPr>
              <a:t>TASKS</a:t>
            </a:r>
            <a:r>
              <a:rPr sz="1800" i="0">
                <a:solidFill>
                  <a:srgbClr val="AEB6BF"/>
                </a:solidFill>
                <a:latin typeface="Consolas"/>
              </a:rPr>
              <a:t>.</a:t>
            </a:r>
            <a:r>
              <a:rPr sz="1800" i="0">
                <a:solidFill>
                  <a:srgbClr val="E8EDF2"/>
                </a:solidFill>
                <a:latin typeface="Consolas"/>
              </a:rPr>
              <a:t>items</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if</a:t>
            </a:r>
            <a:r>
              <a:rPr sz="1800" i="0">
                <a:solidFill>
                  <a:srgbClr val="E8EDF2"/>
                </a:solidFill>
                <a:latin typeface="Consolas"/>
              </a:rPr>
              <a:t> </a:t>
            </a:r>
            <a:r>
              <a:rPr sz="1800" i="0">
                <a:solidFill>
                  <a:srgbClr val="E8EDF2"/>
                </a:solidFill>
                <a:latin typeface="Consolas"/>
              </a:rPr>
              <a:t>t</a:t>
            </a:r>
            <a:r>
              <a:rPr sz="1800" i="0">
                <a:solidFill>
                  <a:srgbClr val="E8EDF2"/>
                </a:solidFill>
                <a:latin typeface="Consolas"/>
              </a:rPr>
              <a:t> </a:t>
            </a:r>
            <a:r>
              <a:rPr sz="1800" i="0">
                <a:solidFill>
                  <a:srgbClr val="AEB6BF"/>
                </a:solidFill>
                <a:latin typeface="Consolas"/>
              </a:rPr>
              <a:t>not</a:t>
            </a:r>
            <a:r>
              <a:rPr sz="1800" i="0">
                <a:solidFill>
                  <a:srgbClr val="E8EDF2"/>
                </a:solidFill>
                <a:latin typeface="Consolas"/>
              </a:rPr>
              <a:t> </a:t>
            </a:r>
            <a:r>
              <a:rPr sz="1800" i="0">
                <a:solidFill>
                  <a:srgbClr val="AEB6BF"/>
                </a:solidFill>
                <a:latin typeface="Consolas"/>
              </a:rPr>
              <a:t>in</a:t>
            </a:r>
            <a:r>
              <a:rPr sz="1800" i="0">
                <a:solidFill>
                  <a:srgbClr val="E8EDF2"/>
                </a:solidFill>
                <a:latin typeface="Consolas"/>
              </a:rPr>
              <a:t> </a:t>
            </a:r>
            <a:r>
              <a:rPr sz="1800" i="0">
                <a:solidFill>
                  <a:srgbClr val="E8EDF2"/>
                </a:solidFill>
                <a:latin typeface="Consolas"/>
              </a:rPr>
              <a:t>s</a:t>
            </a:r>
            <a:r>
              <a:rPr sz="1800" i="0">
                <a:solidFill>
                  <a:srgbClr val="E8EDF2"/>
                </a:solidFill>
                <a:latin typeface="Consolas"/>
              </a:rPr>
              <a:t> </a:t>
            </a:r>
            <a:r>
              <a:rPr sz="1800" i="0">
                <a:solidFill>
                  <a:srgbClr val="AEB6BF"/>
                </a:solidFill>
                <a:latin typeface="Consolas"/>
              </a:rPr>
              <a:t>and</a:t>
            </a:r>
            <a:r>
              <a:rPr sz="1800" i="0">
                <a:solidFill>
                  <a:srgbClr val="E8EDF2"/>
                </a:solidFill>
                <a:latin typeface="Consolas"/>
              </a:rPr>
              <a:t> </a:t>
            </a:r>
            <a:r>
              <a:rPr sz="1800" i="0">
                <a:solidFill>
                  <a:srgbClr val="E8EDF2"/>
                </a:solidFill>
                <a:latin typeface="Consolas"/>
              </a:rPr>
              <a:t>deps</a:t>
            </a:r>
            <a:r>
              <a:rPr sz="1800" i="0">
                <a:solidFill>
                  <a:srgbClr val="E8EDF2"/>
                </a:solidFill>
                <a:latin typeface="Consolas"/>
              </a:rPr>
              <a:t> </a:t>
            </a:r>
            <a:r>
              <a:rPr sz="1800" i="0">
                <a:solidFill>
                  <a:srgbClr val="AEB6BF"/>
                </a:solidFill>
                <a:latin typeface="Consolas"/>
              </a:rPr>
              <a:t>&lt;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n</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if</a:t>
            </a:r>
            <a:r>
              <a:rPr sz="1800" i="0">
                <a:solidFill>
                  <a:srgbClr val="E8EDF2"/>
                </a:solidFill>
                <a:latin typeface="Consolas"/>
              </a:rPr>
              <a:t> </a:t>
            </a:r>
            <a:r>
              <a:rPr sz="1800" i="0">
                <a:solidFill>
                  <a:srgbClr val="E8EDF2"/>
                </a:solidFill>
                <a:latin typeface="Consolas"/>
              </a:rPr>
              <a:t>n</a:t>
            </a:r>
            <a:r>
              <a:rPr sz="1800" i="0">
                <a:solidFill>
                  <a:srgbClr val="E8EDF2"/>
                </a:solidFill>
                <a:latin typeface="Consolas"/>
              </a:rPr>
              <a:t> </a:t>
            </a:r>
            <a:r>
              <a:rPr sz="1800" i="0">
                <a:solidFill>
                  <a:srgbClr val="AEB6BF"/>
                </a:solidFill>
                <a:latin typeface="Consolas"/>
              </a:rPr>
              <a:t>not</a:t>
            </a:r>
            <a:r>
              <a:rPr sz="1800" i="0">
                <a:solidFill>
                  <a:srgbClr val="E8EDF2"/>
                </a:solidFill>
                <a:latin typeface="Consolas"/>
              </a:rPr>
              <a:t> </a:t>
            </a:r>
            <a:r>
              <a:rPr sz="1800" i="0">
                <a:solidFill>
                  <a:srgbClr val="AEB6BF"/>
                </a:solidFill>
                <a:latin typeface="Consolas"/>
              </a:rPr>
              <a:t>in</a:t>
            </a:r>
            <a:r>
              <a:rPr sz="1800" i="0">
                <a:solidFill>
                  <a:srgbClr val="E8EDF2"/>
                </a:solidFill>
                <a:latin typeface="Consolas"/>
              </a:rPr>
              <a:t> </a:t>
            </a:r>
            <a:r>
              <a:rPr sz="1800" i="0">
                <a:solidFill>
                  <a:srgbClr val="E8EDF2"/>
                </a:solidFill>
                <a:latin typeface="Consolas"/>
              </a:rPr>
              <a:t>seen</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seen</a:t>
            </a:r>
            <a:r>
              <a:rPr sz="1800" i="0">
                <a:solidFill>
                  <a:srgbClr val="AEB6BF"/>
                </a:solidFill>
                <a:latin typeface="Consolas"/>
              </a:rPr>
              <a:t>.</a:t>
            </a:r>
            <a:r>
              <a:rPr sz="1800" i="0">
                <a:solidFill>
                  <a:srgbClr val="E8EDF2"/>
                </a:solidFill>
                <a:latin typeface="Consolas"/>
              </a:rPr>
              <a:t>add</a:t>
            </a:r>
            <a:r>
              <a:rPr sz="1800" i="0">
                <a:solidFill>
                  <a:srgbClr val="AEB6BF"/>
                </a:solidFill>
                <a:latin typeface="Consolas"/>
              </a:rPr>
              <a:t>(</a:t>
            </a:r>
            <a:r>
              <a:rPr sz="1800" i="0">
                <a:solidFill>
                  <a:srgbClr val="E8EDF2"/>
                </a:solidFill>
                <a:latin typeface="Consolas"/>
              </a:rPr>
              <a:t>n</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stack</a:t>
            </a:r>
            <a:r>
              <a:rPr sz="1800" i="0">
                <a:solidFill>
                  <a:srgbClr val="AEB6BF"/>
                </a:solidFill>
                <a:latin typeface="Consolas"/>
              </a:rPr>
              <a:t>.</a:t>
            </a:r>
            <a:r>
              <a:rPr sz="1800" i="0">
                <a:solidFill>
                  <a:srgbClr val="E8EDF2"/>
                </a:solidFill>
                <a:latin typeface="Consolas"/>
              </a:rPr>
              <a:t>append</a:t>
            </a:r>
            <a:r>
              <a:rPr sz="1800" i="0">
                <a:solidFill>
                  <a:srgbClr val="AEB6BF"/>
                </a:solidFill>
                <a:latin typeface="Consolas"/>
              </a:rPr>
              <a:t>(</a:t>
            </a:r>
            <a:r>
              <a:rPr sz="1800" i="0">
                <a:solidFill>
                  <a:srgbClr val="E8EDF2"/>
                </a:solidFill>
                <a:latin typeface="Consolas"/>
              </a:rPr>
              <a:t>n</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5DADE2"/>
                </a:solidFill>
                <a:latin typeface="Consolas"/>
              </a:rPr>
              <a:t>return</a:t>
            </a:r>
            <a:r>
              <a:rPr sz="1800" i="0">
                <a:solidFill>
                  <a:srgbClr val="E8EDF2"/>
                </a:solidFill>
                <a:latin typeface="Consolas"/>
              </a:rPr>
              <a:t> </a:t>
            </a:r>
            <a:r>
              <a:rPr sz="1800" i="0">
                <a:solidFill>
                  <a:srgbClr val="C39BD3"/>
                </a:solidFill>
                <a:latin typeface="Consolas"/>
              </a:rPr>
              <a:t>len</a:t>
            </a:r>
            <a:r>
              <a:rPr sz="1800" i="0">
                <a:solidFill>
                  <a:srgbClr val="AEB6BF"/>
                </a:solidFill>
                <a:latin typeface="Consolas"/>
              </a:rPr>
              <a:t>(</a:t>
            </a:r>
            <a:r>
              <a:rPr sz="1800" i="0">
                <a:solidFill>
                  <a:srgbClr val="E8EDF2"/>
                </a:solidFill>
                <a:latin typeface="Consolas"/>
              </a:rPr>
              <a:t>seen</a:t>
            </a:r>
            <a:r>
              <a:rPr sz="1800" i="0">
                <a:solidFill>
                  <a:srgbClr val="AEB6BF"/>
                </a:solidFill>
                <a:latin typeface="Consolas"/>
              </a:rPr>
              <a:t>)</a:t>
            </a:r>
          </a:p>
        </p:txBody>
      </p:sp>
      <p:sp>
        <p:nvSpPr>
          <p:cNvPr id="15" name="!!code-num"/>
          <p:cNvSpPr txBox="1"/>
          <p:nvPr/>
        </p:nvSpPr>
        <p:spPr>
          <a:xfrm>
            <a:off x="768096" y="2523744"/>
            <a:ext cx="393192" cy="367588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151</a:t>
            </a:r>
          </a:p>
          <a:p>
            <a:pPr algn="r">
              <a:lnSpc>
                <a:spcPct val="100000"/>
              </a:lnSpc>
            </a:pPr>
            <a:r>
              <a:rPr sz="1800">
                <a:solidFill>
                  <a:srgbClr val="4F5D6A"/>
                </a:solidFill>
                <a:latin typeface="Consolas"/>
              </a:rPr>
              <a:t>152</a:t>
            </a:r>
          </a:p>
          <a:p>
            <a:pPr algn="r">
              <a:lnSpc>
                <a:spcPct val="100000"/>
              </a:lnSpc>
            </a:pPr>
            <a:r>
              <a:rPr sz="1800">
                <a:solidFill>
                  <a:srgbClr val="4F5D6A"/>
                </a:solidFill>
                <a:latin typeface="Consolas"/>
              </a:rPr>
              <a:t>153</a:t>
            </a:r>
          </a:p>
          <a:p>
            <a:pPr algn="r">
              <a:lnSpc>
                <a:spcPct val="100000"/>
              </a:lnSpc>
            </a:pPr>
            <a:r>
              <a:rPr sz="1800">
                <a:solidFill>
                  <a:srgbClr val="4F5D6A"/>
                </a:solidFill>
                <a:latin typeface="Consolas"/>
              </a:rPr>
              <a:t>154</a:t>
            </a:r>
          </a:p>
          <a:p>
            <a:pPr algn="r">
              <a:lnSpc>
                <a:spcPct val="100000"/>
              </a:lnSpc>
            </a:pPr>
            <a:r>
              <a:rPr sz="1800">
                <a:solidFill>
                  <a:srgbClr val="4F5D6A"/>
                </a:solidFill>
                <a:latin typeface="Consolas"/>
              </a:rPr>
              <a:t>155</a:t>
            </a:r>
          </a:p>
          <a:p>
            <a:pPr algn="r">
              <a:lnSpc>
                <a:spcPct val="100000"/>
              </a:lnSpc>
            </a:pPr>
            <a:r>
              <a:rPr sz="1800">
                <a:solidFill>
                  <a:srgbClr val="4F5D6A"/>
                </a:solidFill>
                <a:latin typeface="Consolas"/>
              </a:rPr>
              <a:t>156</a:t>
            </a:r>
          </a:p>
          <a:p>
            <a:pPr algn="r">
              <a:lnSpc>
                <a:spcPct val="100000"/>
              </a:lnSpc>
            </a:pPr>
            <a:r>
              <a:rPr sz="1800">
                <a:solidFill>
                  <a:srgbClr val="4F5D6A"/>
                </a:solidFill>
                <a:latin typeface="Consolas"/>
              </a:rPr>
              <a:t>157</a:t>
            </a:r>
          </a:p>
          <a:p>
            <a:pPr algn="r">
              <a:lnSpc>
                <a:spcPct val="100000"/>
              </a:lnSpc>
            </a:pPr>
            <a:r>
              <a:rPr sz="1800">
                <a:solidFill>
                  <a:srgbClr val="4F5D6A"/>
                </a:solidFill>
                <a:latin typeface="Consolas"/>
              </a:rPr>
              <a:t>158</a:t>
            </a:r>
          </a:p>
          <a:p>
            <a:pPr algn="r">
              <a:lnSpc>
                <a:spcPct val="100000"/>
              </a:lnSpc>
            </a:pPr>
            <a:r>
              <a:rPr sz="1800">
                <a:solidFill>
                  <a:srgbClr val="4F5D6A"/>
                </a:solidFill>
                <a:latin typeface="Consolas"/>
              </a:rPr>
              <a:t>159</a:t>
            </a:r>
          </a:p>
          <a:p>
            <a:pPr algn="r">
              <a:lnSpc>
                <a:spcPct val="100000"/>
              </a:lnSpc>
            </a:pPr>
            <a:r>
              <a:rPr sz="1800">
                <a:solidFill>
                  <a:srgbClr val="4F5D6A"/>
                </a:solidFill>
                <a:latin typeface="Consolas"/>
              </a:rPr>
              <a:t>160</a:t>
            </a:r>
          </a:p>
          <a:p>
            <a:pPr algn="r">
              <a:lnSpc>
                <a:spcPct val="100000"/>
              </a:lnSpc>
            </a:pPr>
            <a:r>
              <a:rPr sz="1800">
                <a:solidFill>
                  <a:srgbClr val="4F5D6A"/>
                </a:solidFill>
                <a:latin typeface="Consolas"/>
              </a:rPr>
              <a:t>161</a:t>
            </a:r>
          </a:p>
          <a:p>
            <a:pPr algn="r">
              <a:lnSpc>
                <a:spcPct val="100000"/>
              </a:lnSpc>
            </a:pPr>
            <a:r>
              <a:rPr sz="1800">
                <a:solidFill>
                  <a:srgbClr val="4F5D6A"/>
                </a:solidFill>
                <a:latin typeface="Consolas"/>
              </a:rPr>
              <a:t>162</a:t>
            </a:r>
          </a:p>
          <a:p>
            <a:pPr algn="r">
              <a:lnSpc>
                <a:spcPct val="100000"/>
              </a:lnSpc>
            </a:pPr>
            <a:r>
              <a:rPr sz="1800">
                <a:solidFill>
                  <a:srgbClr val="4F5D6A"/>
                </a:solidFill>
                <a:latin typeface="Consolas"/>
              </a:rPr>
              <a:t>163</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97149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Frontier and the Graph: The Course Toolkit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12 OF 14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3  ·  Representations and Search in Python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§3.6  ·  Handout p. 25     </a:t>
            </a:r>
            <a:fld id="{183E4C28-B45C-4D7B-9F6B-808A434E95F8}" type="slidenum">
              <a:rPr lang="en-GB" sz="1000">
                <a:solidFill>
                  <a:srgbClr val="8795A1"/>
                </a:solidFill>
                <a:latin typeface="Segoe UI"/>
              </a:rPr>
              <a:t>35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measurement of the worked example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78223"/>
          </a:xfrm>
          <a:prstGeom prst="roundRect">
            <a:avLst>
              <a:gd name="adj" fmla="val 224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code/ch03_frontier_graph_course.py</a:t>
            </a:r>
          </a:p>
        </p:txBody>
      </p:sp>
      <p:sp>
        <p:nvSpPr>
          <p:cNvPr id="14" name="!!code-text" descr="def count_orderings(): &quot;&quot;&quot;Reachable sequences, when order is (wrongly) part of the state.&quot;&quot;&quot; total = 0 stack = [frozenset()] while stack: s = stack.pop() total += 1 for t, (_, deps) in TASKS.items(): if t not in s and deps &lt;= s: stack.append(s | {t}) return total"/>
          <p:cNvSpPr txBox="1"/>
          <p:nvPr/>
        </p:nvSpPr>
        <p:spPr>
          <a:xfrm>
            <a:off x="1362456" y="2523744"/>
            <a:ext cx="9987991" cy="3584447"/>
          </a:xfrm>
          <a:prstGeom prst="rect">
            <a:avLst/>
          </a:prstGeom>
          <a:noFill/>
        </p:spPr>
        <p:txBody>
          <a:bodyPr wrap="none" anchor="t" lIns="0" rIns="0" tIns="0" bIns="0">
            <a:noAutofit/>
          </a:bodyPr>
          <a:lstStyle/>
          <a:p>
            <a:pPr>
              <a:lnSpc>
                <a:spcPct val="100000"/>
              </a:lnSpc>
              <a:spcAft>
                <a:spcPts val="0"/>
              </a:spcAft>
            </a:pPr>
            <a:r>
              <a:rPr sz="1900" i="0">
                <a:solidFill>
                  <a:srgbClr val="5DADE2"/>
                </a:solidFill>
                <a:latin typeface="Consolas"/>
              </a:rPr>
              <a:t>def</a:t>
            </a:r>
            <a:r>
              <a:rPr sz="1900" i="0">
                <a:solidFill>
                  <a:srgbClr val="E8EDF2"/>
                </a:solidFill>
                <a:latin typeface="Consolas"/>
              </a:rPr>
              <a:t> </a:t>
            </a:r>
            <a:r>
              <a:rPr sz="1900" i="0">
                <a:solidFill>
                  <a:srgbClr val="C39BD3"/>
                </a:solidFill>
                <a:latin typeface="Consolas"/>
              </a:rPr>
              <a:t>count_orderings</a:t>
            </a:r>
            <a:r>
              <a:rPr sz="1900" i="0">
                <a:solidFill>
                  <a:srgbClr val="AEB6BF"/>
                </a:solidFill>
                <a:latin typeface="Consolas"/>
              </a:rPr>
              <a:t>(</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7DCEA0"/>
                </a:solidFill>
                <a:latin typeface="Consolas"/>
              </a:rPr>
              <a:t>"""Reachable sequences, when order is (wrongly) part of the</a:t>
            </a:r>
          </a:p>
          <a:p>
            <a:pPr>
              <a:lnSpc>
                <a:spcPct val="100000"/>
              </a:lnSpc>
              <a:spcAft>
                <a:spcPts val="0"/>
              </a:spcAft>
            </a:pPr>
            <a:r>
              <a:rPr sz="1900" i="0">
                <a:solidFill>
                  <a:srgbClr val="7DCEA0"/>
                </a:solidFill>
                <a:latin typeface="Consolas"/>
              </a:rPr>
              <a:t>    state."""</a:t>
            </a:r>
          </a:p>
          <a:p>
            <a:pPr>
              <a:lnSpc>
                <a:spcPct val="100000"/>
              </a:lnSpc>
              <a:spcAft>
                <a:spcPts val="0"/>
              </a:spcAft>
            </a:pPr>
            <a:r>
              <a:rPr sz="1900" i="0">
                <a:solidFill>
                  <a:srgbClr val="E8EDF2"/>
                </a:solidFill>
                <a:latin typeface="Consolas"/>
              </a:rPr>
              <a:t>    </a:t>
            </a:r>
            <a:r>
              <a:rPr sz="1900" i="0">
                <a:solidFill>
                  <a:srgbClr val="E8EDF2"/>
                </a:solidFill>
                <a:latin typeface="Consolas"/>
              </a:rPr>
              <a:t>total</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0</a:t>
            </a:r>
          </a:p>
          <a:p>
            <a:pPr>
              <a:lnSpc>
                <a:spcPct val="100000"/>
              </a:lnSpc>
              <a:spcAft>
                <a:spcPts val="0"/>
              </a:spcAft>
            </a:pPr>
            <a:r>
              <a:rPr sz="1900" i="0">
                <a:solidFill>
                  <a:srgbClr val="E8EDF2"/>
                </a:solidFill>
                <a:latin typeface="Consolas"/>
              </a:rPr>
              <a:t>    </a:t>
            </a:r>
            <a:r>
              <a:rPr sz="1900" i="0">
                <a:solidFill>
                  <a:srgbClr val="E8EDF2"/>
                </a:solidFill>
                <a:latin typeface="Consolas"/>
              </a:rPr>
              <a:t>stack</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C39BD3"/>
                </a:solidFill>
                <a:latin typeface="Consolas"/>
              </a:rPr>
              <a:t>frozenset</a:t>
            </a:r>
            <a:r>
              <a:rPr sz="1900" i="0">
                <a:solidFill>
                  <a:srgbClr val="AEB6BF"/>
                </a:solidFill>
                <a:latin typeface="Consolas"/>
              </a:rPr>
              <a:t>(</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5DADE2"/>
                </a:solidFill>
                <a:latin typeface="Consolas"/>
              </a:rPr>
              <a:t>while</a:t>
            </a:r>
            <a:r>
              <a:rPr sz="1900" i="0">
                <a:solidFill>
                  <a:srgbClr val="E8EDF2"/>
                </a:solidFill>
                <a:latin typeface="Consolas"/>
              </a:rPr>
              <a:t> </a:t>
            </a:r>
            <a:r>
              <a:rPr sz="1900" i="0">
                <a:solidFill>
                  <a:srgbClr val="E8EDF2"/>
                </a:solidFill>
                <a:latin typeface="Consolas"/>
              </a:rPr>
              <a:t>stack</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s</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stack</a:t>
            </a:r>
            <a:r>
              <a:rPr sz="1900" i="0">
                <a:solidFill>
                  <a:srgbClr val="AEB6BF"/>
                </a:solidFill>
                <a:latin typeface="Consolas"/>
              </a:rPr>
              <a:t>.</a:t>
            </a:r>
            <a:r>
              <a:rPr sz="1900" i="0">
                <a:solidFill>
                  <a:srgbClr val="E8EDF2"/>
                </a:solidFill>
                <a:latin typeface="Consolas"/>
              </a:rPr>
              <a:t>pop</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total</a:t>
            </a:r>
            <a:r>
              <a:rPr sz="1900" i="0">
                <a:solidFill>
                  <a:srgbClr val="E8EDF2"/>
                </a:solidFill>
                <a:latin typeface="Consolas"/>
              </a:rPr>
              <a:t> </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F7DC6F"/>
                </a:solidFill>
                <a:latin typeface="Consolas"/>
              </a:rPr>
              <a:t>1</a:t>
            </a:r>
          </a:p>
          <a:p>
            <a:pPr>
              <a:lnSpc>
                <a:spcPct val="100000"/>
              </a:lnSpc>
              <a:spcAft>
                <a:spcPts val="0"/>
              </a:spcAft>
            </a:pPr>
            <a:r>
              <a:rPr sz="1900" i="0">
                <a:solidFill>
                  <a:srgbClr val="E8EDF2"/>
                </a:solidFill>
                <a:latin typeface="Consolas"/>
              </a:rPr>
              <a:t>        </a:t>
            </a:r>
            <a:r>
              <a:rPr sz="1900" i="0">
                <a:solidFill>
                  <a:srgbClr val="5DADE2"/>
                </a:solidFill>
                <a:latin typeface="Consolas"/>
              </a:rPr>
              <a:t>for</a:t>
            </a:r>
            <a:r>
              <a:rPr sz="1900" i="0">
                <a:solidFill>
                  <a:srgbClr val="E8EDF2"/>
                </a:solidFill>
                <a:latin typeface="Consolas"/>
              </a:rPr>
              <a:t> </a:t>
            </a:r>
            <a:r>
              <a:rPr sz="1900" i="0">
                <a:solidFill>
                  <a:srgbClr val="E8EDF2"/>
                </a:solidFill>
                <a:latin typeface="Consolas"/>
              </a:rPr>
              <a:t>t</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_</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deps</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in</a:t>
            </a:r>
            <a:r>
              <a:rPr sz="1900" i="0">
                <a:solidFill>
                  <a:srgbClr val="E8EDF2"/>
                </a:solidFill>
                <a:latin typeface="Consolas"/>
              </a:rPr>
              <a:t> </a:t>
            </a:r>
            <a:r>
              <a:rPr sz="1900" i="0">
                <a:solidFill>
                  <a:srgbClr val="E8EDF2"/>
                </a:solidFill>
                <a:latin typeface="Consolas"/>
              </a:rPr>
              <a:t>TASKS</a:t>
            </a:r>
            <a:r>
              <a:rPr sz="1900" i="0">
                <a:solidFill>
                  <a:srgbClr val="AEB6BF"/>
                </a:solidFill>
                <a:latin typeface="Consolas"/>
              </a:rPr>
              <a:t>.</a:t>
            </a:r>
            <a:r>
              <a:rPr sz="1900" i="0">
                <a:solidFill>
                  <a:srgbClr val="E8EDF2"/>
                </a:solidFill>
                <a:latin typeface="Consolas"/>
              </a:rPr>
              <a:t>items</a:t>
            </a:r>
            <a:r>
              <a:rPr sz="1900" i="0">
                <a:solidFill>
                  <a:srgbClr val="AEB6BF"/>
                </a:solidFill>
                <a:latin typeface="Consolas"/>
              </a:rPr>
              <a:t>(</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5DADE2"/>
                </a:solidFill>
                <a:latin typeface="Consolas"/>
              </a:rPr>
              <a:t>if</a:t>
            </a:r>
            <a:r>
              <a:rPr sz="1900" i="0">
                <a:solidFill>
                  <a:srgbClr val="E8EDF2"/>
                </a:solidFill>
                <a:latin typeface="Consolas"/>
              </a:rPr>
              <a:t> </a:t>
            </a:r>
            <a:r>
              <a:rPr sz="1900" i="0">
                <a:solidFill>
                  <a:srgbClr val="E8EDF2"/>
                </a:solidFill>
                <a:latin typeface="Consolas"/>
              </a:rPr>
              <a:t>t</a:t>
            </a:r>
            <a:r>
              <a:rPr sz="1900" i="0">
                <a:solidFill>
                  <a:srgbClr val="E8EDF2"/>
                </a:solidFill>
                <a:latin typeface="Consolas"/>
              </a:rPr>
              <a:t> </a:t>
            </a:r>
            <a:r>
              <a:rPr sz="1900" i="0">
                <a:solidFill>
                  <a:srgbClr val="AEB6BF"/>
                </a:solidFill>
                <a:latin typeface="Consolas"/>
              </a:rPr>
              <a:t>not</a:t>
            </a:r>
            <a:r>
              <a:rPr sz="1900" i="0">
                <a:solidFill>
                  <a:srgbClr val="E8EDF2"/>
                </a:solidFill>
                <a:latin typeface="Consolas"/>
              </a:rPr>
              <a:t> </a:t>
            </a:r>
            <a:r>
              <a:rPr sz="1900" i="0">
                <a:solidFill>
                  <a:srgbClr val="AEB6BF"/>
                </a:solidFill>
                <a:latin typeface="Consolas"/>
              </a:rPr>
              <a:t>in</a:t>
            </a:r>
            <a:r>
              <a:rPr sz="1900" i="0">
                <a:solidFill>
                  <a:srgbClr val="E8EDF2"/>
                </a:solidFill>
                <a:latin typeface="Consolas"/>
              </a:rPr>
              <a:t> </a:t>
            </a:r>
            <a:r>
              <a:rPr sz="1900" i="0">
                <a:solidFill>
                  <a:srgbClr val="E8EDF2"/>
                </a:solidFill>
                <a:latin typeface="Consolas"/>
              </a:rPr>
              <a:t>s</a:t>
            </a:r>
            <a:r>
              <a:rPr sz="1900" i="0">
                <a:solidFill>
                  <a:srgbClr val="E8EDF2"/>
                </a:solidFill>
                <a:latin typeface="Consolas"/>
              </a:rPr>
              <a:t> </a:t>
            </a:r>
            <a:r>
              <a:rPr sz="1900" i="0">
                <a:solidFill>
                  <a:srgbClr val="AEB6BF"/>
                </a:solidFill>
                <a:latin typeface="Consolas"/>
              </a:rPr>
              <a:t>and</a:t>
            </a:r>
            <a:r>
              <a:rPr sz="1900" i="0">
                <a:solidFill>
                  <a:srgbClr val="E8EDF2"/>
                </a:solidFill>
                <a:latin typeface="Consolas"/>
              </a:rPr>
              <a:t> </a:t>
            </a:r>
            <a:r>
              <a:rPr sz="1900" i="0">
                <a:solidFill>
                  <a:srgbClr val="E8EDF2"/>
                </a:solidFill>
                <a:latin typeface="Consolas"/>
              </a:rPr>
              <a:t>deps</a:t>
            </a:r>
            <a:r>
              <a:rPr sz="1900" i="0">
                <a:solidFill>
                  <a:srgbClr val="E8EDF2"/>
                </a:solidFill>
                <a:latin typeface="Consolas"/>
              </a:rPr>
              <a:t> </a:t>
            </a:r>
            <a:r>
              <a:rPr sz="1900" i="0">
                <a:solidFill>
                  <a:srgbClr val="AEB6BF"/>
                </a:solidFill>
                <a:latin typeface="Consolas"/>
              </a:rPr>
              <a:t>&lt;</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s</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stack</a:t>
            </a:r>
            <a:r>
              <a:rPr sz="1900" i="0">
                <a:solidFill>
                  <a:srgbClr val="AEB6BF"/>
                </a:solidFill>
                <a:latin typeface="Consolas"/>
              </a:rPr>
              <a:t>.</a:t>
            </a:r>
            <a:r>
              <a:rPr sz="1900" i="0">
                <a:solidFill>
                  <a:srgbClr val="E8EDF2"/>
                </a:solidFill>
                <a:latin typeface="Consolas"/>
              </a:rPr>
              <a:t>append</a:t>
            </a:r>
            <a:r>
              <a:rPr sz="1900" i="0">
                <a:solidFill>
                  <a:srgbClr val="AEB6BF"/>
                </a:solidFill>
                <a:latin typeface="Consolas"/>
              </a:rPr>
              <a:t>(</a:t>
            </a:r>
            <a:r>
              <a:rPr sz="1900" i="0">
                <a:solidFill>
                  <a:srgbClr val="E8EDF2"/>
                </a:solidFill>
                <a:latin typeface="Consolas"/>
              </a:rPr>
              <a:t>s</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t</a:t>
            </a:r>
            <a:r>
              <a:rPr sz="1900" i="0">
                <a:solidFill>
                  <a:srgbClr val="AEB6BF"/>
                </a:solidFill>
                <a:latin typeface="Consolas"/>
              </a:rPr>
              <a:t>}</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5DADE2"/>
                </a:solidFill>
                <a:latin typeface="Consolas"/>
              </a:rPr>
              <a:t>return</a:t>
            </a:r>
            <a:r>
              <a:rPr sz="1900" i="0">
                <a:solidFill>
                  <a:srgbClr val="E8EDF2"/>
                </a:solidFill>
                <a:latin typeface="Consolas"/>
              </a:rPr>
              <a:t> </a:t>
            </a:r>
            <a:r>
              <a:rPr sz="1900" i="0">
                <a:solidFill>
                  <a:srgbClr val="E8EDF2"/>
                </a:solidFill>
                <a:latin typeface="Consolas"/>
              </a:rPr>
              <a:t>total</a:t>
            </a:r>
          </a:p>
        </p:txBody>
      </p:sp>
      <p:sp>
        <p:nvSpPr>
          <p:cNvPr id="15" name="!!code-num"/>
          <p:cNvSpPr txBox="1"/>
          <p:nvPr/>
        </p:nvSpPr>
        <p:spPr>
          <a:xfrm>
            <a:off x="768096" y="2523744"/>
            <a:ext cx="393192" cy="358444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166</a:t>
            </a:r>
          </a:p>
          <a:p>
            <a:pPr algn="r">
              <a:lnSpc>
                <a:spcPct val="100000"/>
              </a:lnSpc>
            </a:pPr>
            <a:r>
              <a:rPr sz="1900">
                <a:solidFill>
                  <a:srgbClr val="4F5D6A"/>
                </a:solidFill>
                <a:latin typeface="Consolas"/>
              </a:rPr>
              <a:t>167</a:t>
            </a:r>
          </a:p>
          <a:p>
            <a:pPr algn="r">
              <a:lnSpc>
                <a:spcPct val="100000"/>
              </a:lnSpc>
            </a:pPr>
            <a:r>
              <a:rPr sz="1900">
                <a:solidFill>
                  <a:srgbClr val="4F5D6A"/>
                </a:solidFill>
                <a:latin typeface="Consolas"/>
              </a:rPr>
              <a:t>168</a:t>
            </a:r>
          </a:p>
          <a:p>
            <a:pPr algn="r">
              <a:lnSpc>
                <a:spcPct val="100000"/>
              </a:lnSpc>
            </a:pPr>
            <a:r>
              <a:rPr sz="1900">
                <a:solidFill>
                  <a:srgbClr val="4F5D6A"/>
                </a:solidFill>
                <a:latin typeface="Consolas"/>
              </a:rPr>
              <a:t>169</a:t>
            </a:r>
          </a:p>
          <a:p>
            <a:pPr algn="r">
              <a:lnSpc>
                <a:spcPct val="100000"/>
              </a:lnSpc>
            </a:pPr>
            <a:r>
              <a:rPr sz="1900">
                <a:solidFill>
                  <a:srgbClr val="4F5D6A"/>
                </a:solidFill>
                <a:latin typeface="Consolas"/>
              </a:rPr>
              <a:t>170</a:t>
            </a:r>
          </a:p>
          <a:p>
            <a:pPr algn="r">
              <a:lnSpc>
                <a:spcPct val="100000"/>
              </a:lnSpc>
            </a:pPr>
            <a:r>
              <a:rPr sz="1900">
                <a:solidFill>
                  <a:srgbClr val="4F5D6A"/>
                </a:solidFill>
                <a:latin typeface="Consolas"/>
              </a:rPr>
              <a:t>171</a:t>
            </a:r>
          </a:p>
          <a:p>
            <a:pPr algn="r">
              <a:lnSpc>
                <a:spcPct val="100000"/>
              </a:lnSpc>
            </a:pPr>
            <a:r>
              <a:rPr sz="1900">
                <a:solidFill>
                  <a:srgbClr val="4F5D6A"/>
                </a:solidFill>
                <a:latin typeface="Consolas"/>
              </a:rPr>
              <a:t>172</a:t>
            </a:r>
          </a:p>
          <a:p>
            <a:pPr algn="r">
              <a:lnSpc>
                <a:spcPct val="100000"/>
              </a:lnSpc>
            </a:pPr>
            <a:r>
              <a:rPr sz="1900">
                <a:solidFill>
                  <a:srgbClr val="4F5D6A"/>
                </a:solidFill>
                <a:latin typeface="Consolas"/>
              </a:rPr>
              <a:t>173</a:t>
            </a:r>
          </a:p>
          <a:p>
            <a:pPr algn="r">
              <a:lnSpc>
                <a:spcPct val="100000"/>
              </a:lnSpc>
            </a:pPr>
            <a:r>
              <a:rPr sz="1900">
                <a:solidFill>
                  <a:srgbClr val="4F5D6A"/>
                </a:solidFill>
                <a:latin typeface="Consolas"/>
              </a:rPr>
              <a:t>174</a:t>
            </a:r>
          </a:p>
          <a:p>
            <a:pPr algn="r">
              <a:lnSpc>
                <a:spcPct val="100000"/>
              </a:lnSpc>
            </a:pPr>
            <a:r>
              <a:rPr sz="1900">
                <a:solidFill>
                  <a:srgbClr val="4F5D6A"/>
                </a:solidFill>
                <a:latin typeface="Consolas"/>
              </a:rPr>
              <a:t>175</a:t>
            </a:r>
          </a:p>
          <a:p>
            <a:pPr algn="r">
              <a:lnSpc>
                <a:spcPct val="100000"/>
              </a:lnSpc>
            </a:pPr>
            <a:r>
              <a:rPr sz="1900">
                <a:solidFill>
                  <a:srgbClr val="4F5D6A"/>
                </a:solidFill>
                <a:latin typeface="Consolas"/>
              </a:rPr>
              <a:t>176</a:t>
            </a:r>
          </a:p>
          <a:p>
            <a:pPr algn="r">
              <a:lnSpc>
                <a:spcPct val="100000"/>
              </a:lnSpc>
            </a:pPr>
            <a:r>
              <a:rPr sz="1900">
                <a:solidFill>
                  <a:srgbClr val="4F5D6A"/>
                </a:solidFill>
                <a:latin typeface="Consolas"/>
              </a:rPr>
              <a:t>177</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20594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Frontier and the Graph: The Course Toolkit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13 OF 14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3  ·  Representations and Search in Python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§3.6  ·  Handout p. 25     </a:t>
            </a:r>
            <a:fld id="{5C873EAA-5C00-42D1-917B-DAF84B9D119F}" type="slidenum">
              <a:rPr lang="en-GB" sz="1000">
                <a:solidFill>
                  <a:srgbClr val="8795A1"/>
                </a:solidFill>
                <a:latin typeface="Segoe UI"/>
              </a:rPr>
              <a:t>36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measurement of the worked example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17264"/>
          </a:xfrm>
          <a:prstGeom prst="roundRect">
            <a:avLst>
              <a:gd name="adj" fmla="val 22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code/ch03_frontier_graph_course.py</a:t>
            </a:r>
          </a:p>
        </p:txBody>
      </p:sp>
      <p:sp>
        <p:nvSpPr>
          <p:cNvPr id="14" name="!!code-text" descr="if __name__ == &quot;__main__&quot;: # 1. the representation test of Figure 3.1 a = frozenset({&quot;spec&quot;, &quot;schema&quot;, &quot;ui&quot;}) b = frozenset({&quot;spec&quot;, &quot;ui&quot;, &quot;schema&quot;}) assert a == b and len({a, b}) == 1 print(&quot;states equal by two routes:&quot;, a == b) # 2. the three frontiers on the same problem p = TaskOrder() print() print(&quot;frontier plan len days expanded peak&quot;) print(&quot;-&quot; * 50) for name, F in ((&quot;FIFO &quot;, FIFO), (&quot;LIFO &quot;, LIFO), (&quot;Cheapest &quot;, Cheapest)): plan, cost, exp, peak = search(p, F) print(&quot;%s %9d %6d %10d %6d&quot; % (name, len(plan), cost, exp, peak))"/>
          <p:cNvSpPr txBox="1"/>
          <p:nvPr/>
        </p:nvSpPr>
        <p:spPr>
          <a:xfrm>
            <a:off x="1362456" y="2523744"/>
            <a:ext cx="9987991" cy="3523487"/>
          </a:xfrm>
          <a:prstGeom prst="rect">
            <a:avLst/>
          </a:prstGeom>
          <a:noFill/>
        </p:spPr>
        <p:txBody>
          <a:bodyPr wrap="none" anchor="t" lIns="0" rIns="0" tIns="0" bIns="0">
            <a:noAutofit/>
          </a:bodyPr>
          <a:lstStyle/>
          <a:p>
            <a:pPr>
              <a:lnSpc>
                <a:spcPct val="100000"/>
              </a:lnSpc>
              <a:spcAft>
                <a:spcPts val="0"/>
              </a:spcAft>
            </a:pPr>
            <a:r>
              <a:rPr sz="1400" i="0">
                <a:solidFill>
                  <a:srgbClr val="5DADE2"/>
                </a:solidFill>
                <a:latin typeface="Consolas"/>
              </a:rPr>
              <a:t>if</a:t>
            </a:r>
            <a:r>
              <a:rPr sz="1400" i="0">
                <a:solidFill>
                  <a:srgbClr val="E8EDF2"/>
                </a:solidFill>
                <a:latin typeface="Consolas"/>
              </a:rPr>
              <a:t> </a:t>
            </a:r>
            <a:r>
              <a:rPr sz="1400" i="0">
                <a:solidFill>
                  <a:srgbClr val="E8EDF2"/>
                </a:solidFill>
                <a:latin typeface="Consolas"/>
              </a:rPr>
              <a:t>__name__</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__main__</a:t>
            </a:r>
            <a:r>
              <a:rPr sz="1400" i="0">
                <a:solidFill>
                  <a:srgbClr val="7DCEA0"/>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1">
                <a:solidFill>
                  <a:srgbClr val="8795A1"/>
                </a:solidFill>
                <a:latin typeface="Consolas"/>
              </a:rPr>
              <a:t># 1. the representation test of Figure 3.1</a:t>
            </a:r>
          </a:p>
          <a:p>
            <a:pPr>
              <a:lnSpc>
                <a:spcPct val="100000"/>
              </a:lnSpc>
              <a:spcAft>
                <a:spcPts val="0"/>
              </a:spcAft>
            </a:pPr>
            <a:r>
              <a:rPr sz="1400" i="0">
                <a:solidFill>
                  <a:srgbClr val="E8EDF2"/>
                </a:solidFill>
                <a:latin typeface="Consolas"/>
              </a:rPr>
              <a:t>    </a:t>
            </a:r>
            <a:r>
              <a:rPr sz="1400" i="0">
                <a:solidFill>
                  <a:srgbClr val="E8EDF2"/>
                </a:solidFill>
                <a:latin typeface="Consolas"/>
              </a:rPr>
              <a:t>a</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C39BD3"/>
                </a:solidFill>
                <a:latin typeface="Consolas"/>
              </a:rPr>
              <a:t>frozenset</a:t>
            </a:r>
            <a:r>
              <a:rPr sz="1400" i="0">
                <a:solidFill>
                  <a:srgbClr val="AEB6BF"/>
                </a:solidFill>
                <a:latin typeface="Consolas"/>
              </a:rPr>
              <a:t>(</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spec</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schema</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ui</a:t>
            </a:r>
            <a:r>
              <a:rPr sz="1400" i="0">
                <a:solidFill>
                  <a:srgbClr val="7DCEA0"/>
                </a:solidFill>
                <a:latin typeface="Consolas"/>
              </a:rPr>
              <a: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b</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C39BD3"/>
                </a:solidFill>
                <a:latin typeface="Consolas"/>
              </a:rPr>
              <a:t>frozenset</a:t>
            </a:r>
            <a:r>
              <a:rPr sz="1400" i="0">
                <a:solidFill>
                  <a:srgbClr val="AEB6BF"/>
                </a:solidFill>
                <a:latin typeface="Consolas"/>
              </a:rPr>
              <a:t>(</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spec</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ui</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7DCEA0"/>
                </a:solidFill>
                <a:latin typeface="Consolas"/>
              </a:rPr>
              <a:t>"</a:t>
            </a:r>
            <a:r>
              <a:rPr sz="1400" i="0">
                <a:solidFill>
                  <a:srgbClr val="7DCEA0"/>
                </a:solidFill>
                <a:latin typeface="Consolas"/>
              </a:rPr>
              <a:t>schema</a:t>
            </a:r>
            <a:r>
              <a:rPr sz="1400" i="0">
                <a:solidFill>
                  <a:srgbClr val="7DCEA0"/>
                </a:solidFill>
                <a:latin typeface="Consolas"/>
              </a:rPr>
              <a: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assert</a:t>
            </a:r>
            <a:r>
              <a:rPr sz="1400" i="0">
                <a:solidFill>
                  <a:srgbClr val="E8EDF2"/>
                </a:solidFill>
                <a:latin typeface="Consolas"/>
              </a:rPr>
              <a:t> </a:t>
            </a:r>
            <a:r>
              <a:rPr sz="1400" i="0">
                <a:solidFill>
                  <a:srgbClr val="E8EDF2"/>
                </a:solidFill>
                <a:latin typeface="Consolas"/>
              </a:rPr>
              <a:t>a</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b</a:t>
            </a:r>
            <a:r>
              <a:rPr sz="1400" i="0">
                <a:solidFill>
                  <a:srgbClr val="E8EDF2"/>
                </a:solidFill>
                <a:latin typeface="Consolas"/>
              </a:rPr>
              <a:t> </a:t>
            </a:r>
            <a:r>
              <a:rPr sz="1400" i="0">
                <a:solidFill>
                  <a:srgbClr val="AEB6BF"/>
                </a:solidFill>
                <a:latin typeface="Consolas"/>
              </a:rPr>
              <a:t>and</a:t>
            </a:r>
            <a:r>
              <a:rPr sz="1400" i="0">
                <a:solidFill>
                  <a:srgbClr val="E8EDF2"/>
                </a:solidFill>
                <a:latin typeface="Consolas"/>
              </a:rPr>
              <a:t> </a:t>
            </a:r>
            <a:r>
              <a:rPr sz="1400" i="0">
                <a:solidFill>
                  <a:srgbClr val="C39BD3"/>
                </a:solidFill>
                <a:latin typeface="Consolas"/>
              </a:rPr>
              <a:t>len</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a</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b</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1</a:t>
            </a:r>
          </a:p>
          <a:p>
            <a:pPr>
              <a:lnSpc>
                <a:spcPct val="100000"/>
              </a:lnSpc>
              <a:spcAft>
                <a:spcPts val="0"/>
              </a:spcAft>
            </a:pPr>
            <a:r>
              <a:rPr sz="1400" i="0">
                <a:solidFill>
                  <a:srgbClr val="E8EDF2"/>
                </a:solidFill>
                <a:latin typeface="Consolas"/>
              </a:rPr>
              <a:t>    </a:t>
            </a:r>
            <a:r>
              <a:rPr sz="1400" i="0">
                <a:solidFill>
                  <a:srgbClr val="C39BD3"/>
                </a:solidFill>
                <a:latin typeface="Consolas"/>
              </a:rPr>
              <a:t>print</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states equal by two routes:</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a</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b</a:t>
            </a:r>
            <a:r>
              <a:rPr sz="1400" i="0">
                <a:solidFill>
                  <a:srgbClr val="AEB6BF"/>
                </a:solidFill>
                <a:latin typeface="Consolas"/>
              </a:rPr>
              <a:t>)</a:t>
            </a:r>
          </a:p>
          <a:p>
            <a:pPr>
              <a:lnSpc>
                <a:spcPct val="100000"/>
              </a:lnSpc>
              <a:spcAft>
                <a:spcPts val="0"/>
              </a:spcAft>
            </a:pPr>
            <a:r>
              <a:rPr sz="1400">
                <a:latin typeface="Consolas"/>
              </a:rPr>
              <a:t> </a:t>
            </a:r>
          </a:p>
          <a:p>
            <a:pPr>
              <a:lnSpc>
                <a:spcPct val="100000"/>
              </a:lnSpc>
              <a:spcAft>
                <a:spcPts val="0"/>
              </a:spcAft>
            </a:pPr>
            <a:r>
              <a:rPr sz="1400" i="0">
                <a:solidFill>
                  <a:srgbClr val="E8EDF2"/>
                </a:solidFill>
                <a:latin typeface="Consolas"/>
              </a:rPr>
              <a:t>    </a:t>
            </a:r>
            <a:r>
              <a:rPr sz="1400" i="1">
                <a:solidFill>
                  <a:srgbClr val="8795A1"/>
                </a:solidFill>
                <a:latin typeface="Consolas"/>
              </a:rPr>
              <a:t># 2. the three frontiers on the same problem</a:t>
            </a:r>
          </a:p>
          <a:p>
            <a:pPr>
              <a:lnSpc>
                <a:spcPct val="100000"/>
              </a:lnSpc>
              <a:spcAft>
                <a:spcPts val="0"/>
              </a:spcAft>
            </a:pPr>
            <a:r>
              <a:rPr sz="1400" i="0">
                <a:solidFill>
                  <a:srgbClr val="E8EDF2"/>
                </a:solidFill>
                <a:latin typeface="Consolas"/>
              </a:rPr>
              <a:t>    </a:t>
            </a:r>
            <a:r>
              <a:rPr sz="1400" i="0">
                <a:solidFill>
                  <a:srgbClr val="E8EDF2"/>
                </a:solidFill>
                <a:latin typeface="Consolas"/>
              </a:rPr>
              <a:t>p</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TaskOrder</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C39BD3"/>
                </a:solidFill>
                <a:latin typeface="Consolas"/>
              </a:rPr>
              <a:t>print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C39BD3"/>
                </a:solidFill>
                <a:latin typeface="Consolas"/>
              </a:rPr>
              <a:t>print</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frontier      plan len   days   expanded   peak</a:t>
            </a:r>
            <a:r>
              <a:rPr sz="1400" i="0">
                <a:solidFill>
                  <a:srgbClr val="7DCEA0"/>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C39BD3"/>
                </a:solidFill>
                <a:latin typeface="Consolas"/>
              </a:rPr>
              <a:t>print</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a:t>
            </a:r>
            <a:r>
              <a:rPr sz="1400" i="0">
                <a:solidFill>
                  <a:srgbClr val="7DCEA0"/>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F7DC6F"/>
                </a:solidFill>
                <a:latin typeface="Consolas"/>
              </a:rPr>
              <a:t>50</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for</a:t>
            </a:r>
            <a:r>
              <a:rPr sz="1400" i="0">
                <a:solidFill>
                  <a:srgbClr val="E8EDF2"/>
                </a:solidFill>
                <a:latin typeface="Consolas"/>
              </a:rPr>
              <a:t> </a:t>
            </a:r>
            <a:r>
              <a:rPr sz="1400" i="0">
                <a:solidFill>
                  <a:srgbClr val="E8EDF2"/>
                </a:solidFill>
                <a:latin typeface="Consolas"/>
              </a:rPr>
              <a:t>name</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F</a:t>
            </a:r>
            <a:r>
              <a:rPr sz="1400" i="0">
                <a:solidFill>
                  <a:srgbClr val="E8EDF2"/>
                </a:solidFill>
                <a:latin typeface="Consolas"/>
              </a:rPr>
              <a:t> </a:t>
            </a:r>
            <a:r>
              <a:rPr sz="1400" i="0">
                <a:solidFill>
                  <a:srgbClr val="AEB6BF"/>
                </a:solidFill>
                <a:latin typeface="Consolas"/>
              </a:rPr>
              <a:t>in</a:t>
            </a:r>
            <a:r>
              <a:rPr sz="1400" i="0">
                <a:solidFill>
                  <a:srgbClr val="E8EDF2"/>
                </a:solidFill>
                <a:latin typeface="Consolas"/>
              </a:rPr>
              <a:t> </a:t>
            </a:r>
            <a:r>
              <a:rPr sz="1400" i="0">
                <a:solidFill>
                  <a:srgbClr val="AEB6BF"/>
                </a:solidFill>
                <a:latin typeface="Consolas"/>
              </a:rPr>
              <a:t>(</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FIFO     </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FIFO</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LIFO     </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LIFO</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Cheapest </a:t>
            </a:r>
            <a:r>
              <a:rPr sz="1400" i="0">
                <a:solidFill>
                  <a:srgbClr val="7DCEA0"/>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Cheapest</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plan</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cost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exp</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peak</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search</a:t>
            </a:r>
            <a:r>
              <a:rPr sz="1400" i="0">
                <a:solidFill>
                  <a:srgbClr val="AEB6BF"/>
                </a:solidFill>
                <a:latin typeface="Consolas"/>
              </a:rPr>
              <a:t>(</a:t>
            </a:r>
            <a:r>
              <a:rPr sz="1400" i="0">
                <a:solidFill>
                  <a:srgbClr val="E8EDF2"/>
                </a:solidFill>
                <a:latin typeface="Consolas"/>
              </a:rPr>
              <a:t>p</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F</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C39BD3"/>
                </a:solidFill>
                <a:latin typeface="Consolas"/>
              </a:rPr>
              <a:t>print</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%s</a:t>
            </a:r>
            <a:r>
              <a:rPr sz="1400" i="0">
                <a:solidFill>
                  <a:srgbClr val="7DCEA0"/>
                </a:solidFill>
                <a:latin typeface="Consolas"/>
              </a:rPr>
              <a:t> </a:t>
            </a:r>
            <a:r>
              <a:rPr sz="1400" i="0">
                <a:solidFill>
                  <a:srgbClr val="7DCEA0"/>
                </a:solidFill>
                <a:latin typeface="Consolas"/>
              </a:rPr>
              <a:t>%9d</a:t>
            </a:r>
            <a:r>
              <a:rPr sz="1400" i="0">
                <a:solidFill>
                  <a:srgbClr val="7DCEA0"/>
                </a:solidFill>
                <a:latin typeface="Consolas"/>
              </a:rPr>
              <a:t> </a:t>
            </a:r>
            <a:r>
              <a:rPr sz="1400" i="0">
                <a:solidFill>
                  <a:srgbClr val="7DCEA0"/>
                </a:solidFill>
                <a:latin typeface="Consolas"/>
              </a:rPr>
              <a:t>%6d</a:t>
            </a:r>
            <a:r>
              <a:rPr sz="1400" i="0">
                <a:solidFill>
                  <a:srgbClr val="7DCEA0"/>
                </a:solidFill>
                <a:latin typeface="Consolas"/>
              </a:rPr>
              <a:t> </a:t>
            </a:r>
            <a:r>
              <a:rPr sz="1400" i="0">
                <a:solidFill>
                  <a:srgbClr val="7DCEA0"/>
                </a:solidFill>
                <a:latin typeface="Consolas"/>
              </a:rPr>
              <a:t>%10d</a:t>
            </a:r>
            <a:r>
              <a:rPr sz="1400" i="0">
                <a:solidFill>
                  <a:srgbClr val="7DCEA0"/>
                </a:solidFill>
                <a:latin typeface="Consolas"/>
              </a:rPr>
              <a:t> </a:t>
            </a:r>
            <a:r>
              <a:rPr sz="1400" i="0">
                <a:solidFill>
                  <a:srgbClr val="7DCEA0"/>
                </a:solidFill>
                <a:latin typeface="Consolas"/>
              </a:rPr>
              <a:t>%6d</a:t>
            </a:r>
            <a:r>
              <a:rPr sz="1400" i="0">
                <a:solidFill>
                  <a:srgbClr val="7DCEA0"/>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name</a:t>
            </a:r>
            <a:r>
              <a:rPr sz="1400" i="0">
                <a:solidFill>
                  <a:srgbClr val="AEB6BF"/>
                </a:solidFill>
                <a:latin typeface="Consolas"/>
              </a:rPr>
              <a:t>,</a:t>
            </a:r>
            <a:r>
              <a:rPr sz="1400" i="0">
                <a:solidFill>
                  <a:srgbClr val="E8EDF2"/>
                </a:solidFill>
                <a:latin typeface="Consolas"/>
              </a:rPr>
              <a:t> </a:t>
            </a:r>
            <a:r>
              <a:rPr sz="1400" i="0">
                <a:solidFill>
                  <a:srgbClr val="C39BD3"/>
                </a:solidFill>
                <a:latin typeface="Consolas"/>
              </a:rPr>
              <a:t>len</a:t>
            </a:r>
            <a:r>
              <a:rPr sz="1400" i="0">
                <a:solidFill>
                  <a:srgbClr val="AEB6BF"/>
                </a:solidFill>
                <a:latin typeface="Consolas"/>
              </a:rPr>
              <a:t>(</a:t>
            </a:r>
            <a:r>
              <a:rPr sz="1400" i="0">
                <a:solidFill>
                  <a:srgbClr val="E8EDF2"/>
                </a:solidFill>
                <a:latin typeface="Consolas"/>
              </a:rPr>
              <a:t>plan</a:t>
            </a:r>
            <a:r>
              <a:rPr sz="1400" i="0">
                <a:solidFill>
                  <a:srgbClr val="AEB6BF"/>
                </a:solidFill>
                <a:latin typeface="Consolas"/>
              </a:rPr>
              <a: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cost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exp</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peak</a:t>
            </a:r>
            <a:r>
              <a:rPr sz="1400" i="0">
                <a:solidFill>
                  <a:srgbClr val="AEB6BF"/>
                </a:solidFill>
                <a:latin typeface="Consolas"/>
              </a:rPr>
              <a:t>)</a:t>
            </a:r>
            <a:r>
              <a:rPr sz="1400" i="0">
                <a:solidFill>
                  <a:srgbClr val="AEB6BF"/>
                </a:solidFill>
                <a:latin typeface="Consolas"/>
              </a:rPr>
              <a:t>)</a:t>
            </a:r>
          </a:p>
        </p:txBody>
      </p:sp>
      <p:sp>
        <p:nvSpPr>
          <p:cNvPr id="15" name="!!code-num"/>
          <p:cNvSpPr txBox="1"/>
          <p:nvPr/>
        </p:nvSpPr>
        <p:spPr>
          <a:xfrm>
            <a:off x="768096" y="2523744"/>
            <a:ext cx="393192" cy="3523487"/>
          </a:xfrm>
          <a:prstGeom prst="rect">
            <a:avLst/>
          </a:prstGeom>
          <a:noFill/>
        </p:spPr>
        <p:txBody>
          <a:bodyPr wrap="none" anchor="t" lIns="0" rIns="0" tIns="0" bIns="0">
            <a:noAutofit/>
          </a:bodyPr>
          <a:lstStyle/>
          <a:p>
            <a:pPr algn="r">
              <a:lnSpc>
                <a:spcPct val="100000"/>
              </a:lnSpc>
            </a:pPr>
            <a:r>
              <a:rPr sz="1400">
                <a:solidFill>
                  <a:srgbClr val="4F5D6A"/>
                </a:solidFill>
                <a:latin typeface="Consolas"/>
              </a:rPr>
              <a:t>180</a:t>
            </a:r>
          </a:p>
          <a:p>
            <a:pPr algn="r">
              <a:lnSpc>
                <a:spcPct val="100000"/>
              </a:lnSpc>
            </a:pPr>
            <a:r>
              <a:rPr sz="1400">
                <a:solidFill>
                  <a:srgbClr val="4F5D6A"/>
                </a:solidFill>
                <a:latin typeface="Consolas"/>
              </a:rPr>
              <a:t>181</a:t>
            </a:r>
          </a:p>
          <a:p>
            <a:pPr algn="r">
              <a:lnSpc>
                <a:spcPct val="100000"/>
              </a:lnSpc>
            </a:pPr>
            <a:r>
              <a:rPr sz="1400">
                <a:solidFill>
                  <a:srgbClr val="4F5D6A"/>
                </a:solidFill>
                <a:latin typeface="Consolas"/>
              </a:rPr>
              <a:t>182</a:t>
            </a:r>
          </a:p>
          <a:p>
            <a:pPr algn="r">
              <a:lnSpc>
                <a:spcPct val="100000"/>
              </a:lnSpc>
            </a:pPr>
            <a:r>
              <a:rPr sz="1400">
                <a:solidFill>
                  <a:srgbClr val="4F5D6A"/>
                </a:solidFill>
                <a:latin typeface="Consolas"/>
              </a:rPr>
              <a:t>183</a:t>
            </a:r>
          </a:p>
          <a:p>
            <a:pPr algn="r">
              <a:lnSpc>
                <a:spcPct val="100000"/>
              </a:lnSpc>
            </a:pPr>
            <a:r>
              <a:rPr sz="1400">
                <a:solidFill>
                  <a:srgbClr val="4F5D6A"/>
                </a:solidFill>
                <a:latin typeface="Consolas"/>
              </a:rPr>
              <a:t>184</a:t>
            </a:r>
          </a:p>
          <a:p>
            <a:pPr algn="r">
              <a:lnSpc>
                <a:spcPct val="100000"/>
              </a:lnSpc>
            </a:pPr>
            <a:r>
              <a:rPr sz="1400">
                <a:solidFill>
                  <a:srgbClr val="4F5D6A"/>
                </a:solidFill>
                <a:latin typeface="Consolas"/>
              </a:rPr>
              <a:t>185</a:t>
            </a:r>
          </a:p>
          <a:p>
            <a:pPr algn="r">
              <a:lnSpc>
                <a:spcPct val="100000"/>
              </a:lnSpc>
            </a:pPr>
            <a:r>
              <a:rPr sz="1400">
                <a:solidFill>
                  <a:srgbClr val="4F5D6A"/>
                </a:solidFill>
                <a:latin typeface="Consolas"/>
              </a:rPr>
              <a:t>186</a:t>
            </a:r>
          </a:p>
          <a:p>
            <a:pPr algn="r">
              <a:lnSpc>
                <a:spcPct val="100000"/>
              </a:lnSpc>
            </a:pPr>
            <a:r>
              <a:rPr sz="1400">
                <a:solidFill>
                  <a:srgbClr val="4F5D6A"/>
                </a:solidFill>
                <a:latin typeface="Consolas"/>
              </a:rPr>
              <a:t>187</a:t>
            </a:r>
          </a:p>
          <a:p>
            <a:pPr algn="r">
              <a:lnSpc>
                <a:spcPct val="100000"/>
              </a:lnSpc>
            </a:pPr>
            <a:r>
              <a:rPr sz="1400">
                <a:solidFill>
                  <a:srgbClr val="4F5D6A"/>
                </a:solidFill>
                <a:latin typeface="Consolas"/>
              </a:rPr>
              <a:t>188</a:t>
            </a:r>
          </a:p>
          <a:p>
            <a:pPr algn="r">
              <a:lnSpc>
                <a:spcPct val="100000"/>
              </a:lnSpc>
            </a:pPr>
            <a:r>
              <a:rPr sz="1400">
                <a:solidFill>
                  <a:srgbClr val="4F5D6A"/>
                </a:solidFill>
                <a:latin typeface="Consolas"/>
              </a:rPr>
              <a:t>189</a:t>
            </a:r>
          </a:p>
          <a:p>
            <a:pPr algn="r">
              <a:lnSpc>
                <a:spcPct val="100000"/>
              </a:lnSpc>
            </a:pPr>
            <a:r>
              <a:rPr sz="1400">
                <a:solidFill>
                  <a:srgbClr val="4F5D6A"/>
                </a:solidFill>
                <a:latin typeface="Consolas"/>
              </a:rPr>
              <a:t>190</a:t>
            </a:r>
          </a:p>
          <a:p>
            <a:pPr algn="r">
              <a:lnSpc>
                <a:spcPct val="100000"/>
              </a:lnSpc>
            </a:pPr>
            <a:r>
              <a:rPr sz="1400">
                <a:solidFill>
                  <a:srgbClr val="4F5D6A"/>
                </a:solidFill>
                <a:latin typeface="Consolas"/>
              </a:rPr>
              <a:t>191</a:t>
            </a:r>
          </a:p>
          <a:p>
            <a:pPr algn="r">
              <a:lnSpc>
                <a:spcPct val="100000"/>
              </a:lnSpc>
            </a:pPr>
            <a:r>
              <a:rPr sz="1400">
                <a:solidFill>
                  <a:srgbClr val="4F5D6A"/>
                </a:solidFill>
                <a:latin typeface="Consolas"/>
              </a:rPr>
              <a:t>192</a:t>
            </a:r>
          </a:p>
          <a:p>
            <a:pPr algn="r">
              <a:lnSpc>
                <a:spcPct val="100000"/>
              </a:lnSpc>
            </a:pPr>
            <a:r>
              <a:rPr sz="1400">
                <a:solidFill>
                  <a:srgbClr val="4F5D6A"/>
                </a:solidFill>
                <a:latin typeface="Consolas"/>
              </a:rPr>
              <a:t>193</a:t>
            </a:r>
          </a:p>
          <a:p>
            <a:pPr algn="r">
              <a:lnSpc>
                <a:spcPct val="100000"/>
              </a:lnSpc>
            </a:pPr>
            <a:r>
              <a:rPr sz="1400">
                <a:solidFill>
                  <a:srgbClr val="4F5D6A"/>
                </a:solidFill>
                <a:latin typeface="Consolas"/>
              </a:rPr>
              <a:t>194</a:t>
            </a:r>
          </a:p>
          <a:p>
            <a:pPr algn="r">
              <a:lnSpc>
                <a:spcPct val="100000"/>
              </a:lnSpc>
            </a:pPr>
            <a:r>
              <a:rPr sz="1400">
                <a:solidFill>
                  <a:srgbClr val="4F5D6A"/>
                </a:solidFill>
                <a:latin typeface="Consolas"/>
              </a:rPr>
              <a:t>195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44040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Frontier and the Graph: The Course Toolkit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14 OF 14</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3  ·  Representations and Search in Python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§3.6  ·  Handout p. 25     </a:t>
            </a:r>
            <a:fld id="{622425FA-F564-4FF8-80E6-D1AB71A22B1C}" type="slidenum">
              <a:rPr lang="en-GB" sz="1000">
                <a:solidFill>
                  <a:srgbClr val="8795A1"/>
                </a:solidFill>
                <a:latin typeface="Segoe UI"/>
              </a:rPr>
              <a:t>37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measurement of the worked example (continued)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971543"/>
          </a:xfrm>
          <a:prstGeom prst="roundRect">
            <a:avLst>
              <a:gd name="adj" fmla="val 230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code/ch03_frontier_graph_course.py</a:t>
            </a:r>
          </a:p>
        </p:txBody>
      </p:sp>
      <p:sp>
        <p:nvSpPr>
          <p:cNvPr id="14" name="!!code-text" descr="# 3. the factor the representation buys s, o = count_states(), count_orderings() print() print(&quot;situations (frozenset states):&quot;, s) print(&quot;sequences (order in state) :&quot;, o) print(&quot;factor saved : %.0fx&quot; % (o / s)) assert o &gt; 5 * s, &quot;sets should collapse many sequences into one&quot; # 4. every plan is a legal ordering plan, _, _, _ = search(p, FIFO) done = set() for t in plan: assert TASKS[t][1] &lt;= done, &quot;dependency violated: &quot; + t done.add(t) assert done == set(TASKS) print() print(&quot;plan is a legal topological order:&quot;, &quot; -&gt; &quot;.join(plan))"/>
          <p:cNvSpPr txBox="1"/>
          <p:nvPr/>
        </p:nvSpPr>
        <p:spPr>
          <a:xfrm>
            <a:off x="1362456" y="2523744"/>
            <a:ext cx="9987991" cy="3477767"/>
          </a:xfrm>
          <a:prstGeom prst="rect">
            <a:avLst/>
          </a:prstGeom>
          <a:noFill/>
        </p:spPr>
        <p:txBody>
          <a:bodyPr wrap="none" anchor="t" lIns="0" rIns="0" tIns="0" bIns="0">
            <a:noAutofit/>
          </a:bodyPr>
          <a:lstStyle/>
          <a:p>
            <a:pPr>
              <a:lnSpc>
                <a:spcPct val="100000"/>
              </a:lnSpc>
              <a:spcAft>
                <a:spcPts val="0"/>
              </a:spcAft>
            </a:pPr>
            <a:r>
              <a:rPr sz="1300" i="0">
                <a:solidFill>
                  <a:srgbClr val="E8EDF2"/>
                </a:solidFill>
                <a:latin typeface="Consolas"/>
              </a:rPr>
              <a:t>    </a:t>
            </a:r>
            <a:r>
              <a:rPr sz="1300" i="1">
                <a:solidFill>
                  <a:srgbClr val="8795A1"/>
                </a:solidFill>
                <a:latin typeface="Consolas"/>
              </a:rPr>
              <a:t># 3. the factor the representation buys</a:t>
            </a:r>
          </a:p>
          <a:p>
            <a:pPr>
              <a:lnSpc>
                <a:spcPct val="100000"/>
              </a:lnSpc>
              <a:spcAft>
                <a:spcPts val="0"/>
              </a:spcAft>
            </a:pPr>
            <a:r>
              <a:rPr sz="1300" i="0">
                <a:solidFill>
                  <a:srgbClr val="E8EDF2"/>
                </a:solidFill>
                <a:latin typeface="Consolas"/>
              </a:rPr>
              <a:t>    </a:t>
            </a:r>
            <a:r>
              <a:rPr sz="1300" i="0">
                <a:solidFill>
                  <a:srgbClr val="E8EDF2"/>
                </a:solidFill>
                <a:latin typeface="Consolas"/>
              </a:rPr>
              <a:t>s</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o</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count_states</a:t>
            </a:r>
            <a:r>
              <a:rPr sz="1300" i="0">
                <a:solidFill>
                  <a:srgbClr val="AEB6BF"/>
                </a:solidFill>
                <a:latin typeface="Consolas"/>
              </a:rPr>
              <a:t>(</a:t>
            </a:r>
            <a:r>
              <a:rPr sz="1300" i="0">
                <a:solidFill>
                  <a:srgbClr val="AEB6BF"/>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count_orderings</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C39BD3"/>
                </a:solidFill>
                <a:latin typeface="Consolas"/>
              </a:rPr>
              <a:t>print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C39BD3"/>
                </a:solidFill>
                <a:latin typeface="Consolas"/>
              </a:rPr>
              <a:t>print</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situations (frozenset states):</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s</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C39BD3"/>
                </a:solidFill>
                <a:latin typeface="Consolas"/>
              </a:rPr>
              <a:t>print</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sequences  (order in state)  :</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o</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C39BD3"/>
                </a:solidFill>
                <a:latin typeface="Consolas"/>
              </a:rPr>
              <a:t>print</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factor saved                 : </a:t>
            </a:r>
            <a:r>
              <a:rPr sz="1300" i="0">
                <a:solidFill>
                  <a:srgbClr val="7DCEA0"/>
                </a:solidFill>
                <a:latin typeface="Consolas"/>
              </a:rPr>
              <a:t>%.0f</a:t>
            </a:r>
            <a:r>
              <a:rPr sz="1300" i="0">
                <a:solidFill>
                  <a:srgbClr val="7DCEA0"/>
                </a:solidFill>
                <a:latin typeface="Consolas"/>
              </a:rPr>
              <a:t>x</a:t>
            </a:r>
            <a:r>
              <a:rPr sz="1300" i="0">
                <a:solidFill>
                  <a:srgbClr val="7DCEA0"/>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o</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s</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assert</a:t>
            </a:r>
            <a:r>
              <a:rPr sz="1300" i="0">
                <a:solidFill>
                  <a:srgbClr val="E8EDF2"/>
                </a:solidFill>
                <a:latin typeface="Consolas"/>
              </a:rPr>
              <a:t> </a:t>
            </a:r>
            <a:r>
              <a:rPr sz="1300" i="0">
                <a:solidFill>
                  <a:srgbClr val="E8EDF2"/>
                </a:solidFill>
                <a:latin typeface="Consolas"/>
              </a:rPr>
              <a:t>o</a:t>
            </a:r>
            <a:r>
              <a:rPr sz="1300" i="0">
                <a:solidFill>
                  <a:srgbClr val="E8EDF2"/>
                </a:solidFill>
                <a:latin typeface="Consolas"/>
              </a:rPr>
              <a:t> </a:t>
            </a:r>
            <a:r>
              <a:rPr sz="1300" i="0">
                <a:solidFill>
                  <a:srgbClr val="AEB6BF"/>
                </a:solidFill>
                <a:latin typeface="Consolas"/>
              </a:rPr>
              <a:t>&gt;</a:t>
            </a:r>
            <a:r>
              <a:rPr sz="1300" i="0">
                <a:solidFill>
                  <a:srgbClr val="E8EDF2"/>
                </a:solidFill>
                <a:latin typeface="Consolas"/>
              </a:rPr>
              <a:t> </a:t>
            </a:r>
            <a:r>
              <a:rPr sz="1300" i="0">
                <a:solidFill>
                  <a:srgbClr val="F7DC6F"/>
                </a:solidFill>
                <a:latin typeface="Consolas"/>
              </a:rPr>
              <a:t>5</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s</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sets should collapse many sequences into one</a:t>
            </a:r>
            <a:r>
              <a:rPr sz="1300" i="0">
                <a:solidFill>
                  <a:srgbClr val="7DCEA0"/>
                </a:solidFill>
                <a:latin typeface="Consolas"/>
              </a:rPr>
              <a:t>"</a:t>
            </a:r>
          </a:p>
          <a:p>
            <a:pPr>
              <a:lnSpc>
                <a:spcPct val="100000"/>
              </a:lnSpc>
              <a:spcAft>
                <a:spcPts val="0"/>
              </a:spcAft>
            </a:pPr>
            <a:r>
              <a:rPr sz="1300">
                <a:latin typeface="Consolas"/>
              </a:rPr>
              <a:t> </a:t>
            </a:r>
          </a:p>
          <a:p>
            <a:pPr>
              <a:lnSpc>
                <a:spcPct val="100000"/>
              </a:lnSpc>
              <a:spcAft>
                <a:spcPts val="0"/>
              </a:spcAft>
            </a:pPr>
            <a:r>
              <a:rPr sz="1300" i="0">
                <a:solidFill>
                  <a:srgbClr val="E8EDF2"/>
                </a:solidFill>
                <a:latin typeface="Consolas"/>
              </a:rPr>
              <a:t>    </a:t>
            </a:r>
            <a:r>
              <a:rPr sz="1300" i="1">
                <a:solidFill>
                  <a:srgbClr val="8795A1"/>
                </a:solidFill>
                <a:latin typeface="Consolas"/>
              </a:rPr>
              <a:t># 4. every plan is a legal ordering</a:t>
            </a:r>
          </a:p>
          <a:p>
            <a:pPr>
              <a:lnSpc>
                <a:spcPct val="100000"/>
              </a:lnSpc>
              <a:spcAft>
                <a:spcPts val="0"/>
              </a:spcAft>
            </a:pPr>
            <a:r>
              <a:rPr sz="1300" i="0">
                <a:solidFill>
                  <a:srgbClr val="E8EDF2"/>
                </a:solidFill>
                <a:latin typeface="Consolas"/>
              </a:rPr>
              <a:t>    </a:t>
            </a:r>
            <a:r>
              <a:rPr sz="1300" i="0">
                <a:solidFill>
                  <a:srgbClr val="E8EDF2"/>
                </a:solidFill>
                <a:latin typeface="Consolas"/>
              </a:rPr>
              <a:t>plan</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_</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_</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_</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search</a:t>
            </a:r>
            <a:r>
              <a:rPr sz="1300" i="0">
                <a:solidFill>
                  <a:srgbClr val="AEB6BF"/>
                </a:solidFill>
                <a:latin typeface="Consolas"/>
              </a:rPr>
              <a:t>(</a:t>
            </a:r>
            <a:r>
              <a:rPr sz="1300" i="0">
                <a:solidFill>
                  <a:srgbClr val="E8EDF2"/>
                </a:solidFill>
                <a:latin typeface="Consolas"/>
              </a:rPr>
              <a:t>p</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FIFO</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E8EDF2"/>
                </a:solidFill>
                <a:latin typeface="Consolas"/>
              </a:rPr>
              <a:t>done</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set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for</a:t>
            </a:r>
            <a:r>
              <a:rPr sz="1300" i="0">
                <a:solidFill>
                  <a:srgbClr val="E8EDF2"/>
                </a:solidFill>
                <a:latin typeface="Consolas"/>
              </a:rPr>
              <a:t> </a:t>
            </a:r>
            <a:r>
              <a:rPr sz="1300" i="0">
                <a:solidFill>
                  <a:srgbClr val="E8EDF2"/>
                </a:solidFill>
                <a:latin typeface="Consolas"/>
              </a:rPr>
              <a:t>t</a:t>
            </a:r>
            <a:r>
              <a:rPr sz="1300" i="0">
                <a:solidFill>
                  <a:srgbClr val="E8EDF2"/>
                </a:solidFill>
                <a:latin typeface="Consolas"/>
              </a:rPr>
              <a:t> </a:t>
            </a:r>
            <a:r>
              <a:rPr sz="1300" i="0">
                <a:solidFill>
                  <a:srgbClr val="AEB6BF"/>
                </a:solidFill>
                <a:latin typeface="Consolas"/>
              </a:rPr>
              <a:t>in</a:t>
            </a:r>
            <a:r>
              <a:rPr sz="1300" i="0">
                <a:solidFill>
                  <a:srgbClr val="E8EDF2"/>
                </a:solidFill>
                <a:latin typeface="Consolas"/>
              </a:rPr>
              <a:t> </a:t>
            </a:r>
            <a:r>
              <a:rPr sz="1300" i="0">
                <a:solidFill>
                  <a:srgbClr val="E8EDF2"/>
                </a:solidFill>
                <a:latin typeface="Consolas"/>
              </a:rPr>
              <a:t>plan</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assert</a:t>
            </a:r>
            <a:r>
              <a:rPr sz="1300" i="0">
                <a:solidFill>
                  <a:srgbClr val="E8EDF2"/>
                </a:solidFill>
                <a:latin typeface="Consolas"/>
              </a:rPr>
              <a:t> </a:t>
            </a:r>
            <a:r>
              <a:rPr sz="1300" i="0">
                <a:solidFill>
                  <a:srgbClr val="E8EDF2"/>
                </a:solidFill>
                <a:latin typeface="Consolas"/>
              </a:rPr>
              <a:t>TASKS</a:t>
            </a:r>
            <a:r>
              <a:rPr sz="1300" i="0">
                <a:solidFill>
                  <a:srgbClr val="AEB6BF"/>
                </a:solidFill>
                <a:latin typeface="Consolas"/>
              </a:rPr>
              <a:t>[</a:t>
            </a:r>
            <a:r>
              <a:rPr sz="1300" i="0">
                <a:solidFill>
                  <a:srgbClr val="E8EDF2"/>
                </a:solidFill>
                <a:latin typeface="Consolas"/>
              </a:rPr>
              <a:t>t</a:t>
            </a:r>
            <a:r>
              <a:rPr sz="1300" i="0">
                <a:solidFill>
                  <a:srgbClr val="AEB6BF"/>
                </a:solidFill>
                <a:latin typeface="Consolas"/>
              </a:rPr>
              <a:t>]</a:t>
            </a:r>
            <a:r>
              <a:rPr sz="1300" i="0">
                <a:solidFill>
                  <a:srgbClr val="AEB6BF"/>
                </a:solidFill>
                <a:latin typeface="Consolas"/>
              </a:rPr>
              <a:t>[</a:t>
            </a:r>
            <a:r>
              <a:rPr sz="1300" i="0">
                <a:solidFill>
                  <a:srgbClr val="F7DC6F"/>
                </a:solidFill>
                <a:latin typeface="Consolas"/>
              </a:rPr>
              <a:t>1</a:t>
            </a:r>
            <a:r>
              <a:rPr sz="1300" i="0">
                <a:solidFill>
                  <a:srgbClr val="AEB6BF"/>
                </a:solidFill>
                <a:latin typeface="Consolas"/>
              </a:rPr>
              <a:t>]</a:t>
            </a:r>
            <a:r>
              <a:rPr sz="1300" i="0">
                <a:solidFill>
                  <a:srgbClr val="E8EDF2"/>
                </a:solidFill>
                <a:latin typeface="Consolas"/>
              </a:rPr>
              <a:t> </a:t>
            </a:r>
            <a:r>
              <a:rPr sz="1300" i="0">
                <a:solidFill>
                  <a:srgbClr val="AEB6BF"/>
                </a:solidFill>
                <a:latin typeface="Consolas"/>
              </a:rPr>
              <a:t>&lt;</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done</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dependency violated: </a:t>
            </a:r>
            <a:r>
              <a:rPr sz="1300" i="0">
                <a:solidFill>
                  <a:srgbClr val="7DCEA0"/>
                </a:solidFill>
                <a:latin typeface="Consolas"/>
              </a:rPr>
              <a:t>"</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E8EDF2"/>
                </a:solidFill>
                <a:latin typeface="Consolas"/>
              </a:rPr>
              <a:t>t</a:t>
            </a:r>
          </a:p>
          <a:p>
            <a:pPr>
              <a:lnSpc>
                <a:spcPct val="100000"/>
              </a:lnSpc>
              <a:spcAft>
                <a:spcPts val="0"/>
              </a:spcAft>
            </a:pPr>
            <a:r>
              <a:rPr sz="1300" i="0">
                <a:solidFill>
                  <a:srgbClr val="E8EDF2"/>
                </a:solidFill>
                <a:latin typeface="Consolas"/>
              </a:rPr>
              <a:t>        </a:t>
            </a:r>
            <a:r>
              <a:rPr sz="1300" i="0">
                <a:solidFill>
                  <a:srgbClr val="E8EDF2"/>
                </a:solidFill>
                <a:latin typeface="Consolas"/>
              </a:rPr>
              <a:t>done</a:t>
            </a:r>
            <a:r>
              <a:rPr sz="1300" i="0">
                <a:solidFill>
                  <a:srgbClr val="AEB6BF"/>
                </a:solidFill>
                <a:latin typeface="Consolas"/>
              </a:rPr>
              <a:t>.</a:t>
            </a:r>
            <a:r>
              <a:rPr sz="1300" i="0">
                <a:solidFill>
                  <a:srgbClr val="E8EDF2"/>
                </a:solidFill>
                <a:latin typeface="Consolas"/>
              </a:rPr>
              <a:t>add</a:t>
            </a:r>
            <a:r>
              <a:rPr sz="1300" i="0">
                <a:solidFill>
                  <a:srgbClr val="AEB6BF"/>
                </a:solidFill>
                <a:latin typeface="Consolas"/>
              </a:rPr>
              <a:t>(</a:t>
            </a:r>
            <a:r>
              <a:rPr sz="1300" i="0">
                <a:solidFill>
                  <a:srgbClr val="E8EDF2"/>
                </a:solidFill>
                <a:latin typeface="Consolas"/>
              </a:rPr>
              <a:t>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5DADE2"/>
                </a:solidFill>
                <a:latin typeface="Consolas"/>
              </a:rPr>
              <a:t>assert</a:t>
            </a:r>
            <a:r>
              <a:rPr sz="1300" i="0">
                <a:solidFill>
                  <a:srgbClr val="E8EDF2"/>
                </a:solidFill>
                <a:latin typeface="Consolas"/>
              </a:rPr>
              <a:t> </a:t>
            </a:r>
            <a:r>
              <a:rPr sz="1300" i="0">
                <a:solidFill>
                  <a:srgbClr val="E8EDF2"/>
                </a:solidFill>
                <a:latin typeface="Consolas"/>
              </a:rPr>
              <a:t>done</a:t>
            </a:r>
            <a:r>
              <a:rPr sz="1300" i="0">
                <a:solidFill>
                  <a:srgbClr val="E8EDF2"/>
                </a:solidFill>
                <a:latin typeface="Consolas"/>
              </a:rPr>
              <a:t> </a:t>
            </a:r>
            <a:r>
              <a:rPr sz="1300" i="0">
                <a:solidFill>
                  <a:srgbClr val="AEB6BF"/>
                </a:solidFill>
                <a:latin typeface="Consolas"/>
              </a:rPr>
              <a:t>==</a:t>
            </a:r>
            <a:r>
              <a:rPr sz="1300" i="0">
                <a:solidFill>
                  <a:srgbClr val="E8EDF2"/>
                </a:solidFill>
                <a:latin typeface="Consolas"/>
              </a:rPr>
              <a:t> </a:t>
            </a:r>
            <a:r>
              <a:rPr sz="1300" i="0">
                <a:solidFill>
                  <a:srgbClr val="C39BD3"/>
                </a:solidFill>
                <a:latin typeface="Consolas"/>
              </a:rPr>
              <a:t>set</a:t>
            </a:r>
            <a:r>
              <a:rPr sz="1300" i="0">
                <a:solidFill>
                  <a:srgbClr val="AEB6BF"/>
                </a:solidFill>
                <a:latin typeface="Consolas"/>
              </a:rPr>
              <a:t>(</a:t>
            </a:r>
            <a:r>
              <a:rPr sz="1300" i="0">
                <a:solidFill>
                  <a:srgbClr val="E8EDF2"/>
                </a:solidFill>
                <a:latin typeface="Consolas"/>
              </a:rPr>
              <a:t>TASKS</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C39BD3"/>
                </a:solidFill>
                <a:latin typeface="Consolas"/>
              </a:rPr>
              <a:t>print</a:t>
            </a:r>
            <a:r>
              <a:rPr sz="1300" i="0">
                <a:solidFill>
                  <a:srgbClr val="AEB6BF"/>
                </a:solidFill>
                <a:latin typeface="Consolas"/>
              </a:rPr>
              <a:t>(</a:t>
            </a:r>
            <a:r>
              <a:rPr sz="1300" i="0">
                <a:solidFill>
                  <a:srgbClr val="AEB6BF"/>
                </a:solidFill>
                <a:latin typeface="Consolas"/>
              </a:rPr>
              <a:t>)</a:t>
            </a:r>
          </a:p>
          <a:p>
            <a:pPr>
              <a:lnSpc>
                <a:spcPct val="100000"/>
              </a:lnSpc>
              <a:spcAft>
                <a:spcPts val="0"/>
              </a:spcAft>
            </a:pPr>
            <a:r>
              <a:rPr sz="1300" i="0">
                <a:solidFill>
                  <a:srgbClr val="E8EDF2"/>
                </a:solidFill>
                <a:latin typeface="Consolas"/>
              </a:rPr>
              <a:t>    </a:t>
            </a:r>
            <a:r>
              <a:rPr sz="1300" i="0">
                <a:solidFill>
                  <a:srgbClr val="C39BD3"/>
                </a:solidFill>
                <a:latin typeface="Consolas"/>
              </a:rPr>
              <a:t>print</a:t>
            </a:r>
            <a:r>
              <a:rPr sz="1300" i="0">
                <a:solidFill>
                  <a:srgbClr val="AEB6BF"/>
                </a:solidFill>
                <a:latin typeface="Consolas"/>
              </a:rPr>
              <a:t>(</a:t>
            </a:r>
            <a:r>
              <a:rPr sz="1300" i="0">
                <a:solidFill>
                  <a:srgbClr val="7DCEA0"/>
                </a:solidFill>
                <a:latin typeface="Consolas"/>
              </a:rPr>
              <a:t>"</a:t>
            </a:r>
            <a:r>
              <a:rPr sz="1300" i="0">
                <a:solidFill>
                  <a:srgbClr val="7DCEA0"/>
                </a:solidFill>
                <a:latin typeface="Consolas"/>
              </a:rPr>
              <a:t>plan is a legal topological order:</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 </a:t>
            </a:r>
            <a:r>
              <a:rPr sz="1300" i="0">
                <a:solidFill>
                  <a:srgbClr val="7DCEA0"/>
                </a:solidFill>
                <a:latin typeface="Consolas"/>
              </a:rPr>
              <a:t>"</a:t>
            </a:r>
            <a:r>
              <a:rPr sz="1300" i="0">
                <a:solidFill>
                  <a:srgbClr val="7DCEA0"/>
                </a:solidFill>
                <a:latin typeface="Consolas"/>
              </a:rPr>
              <a:t> -&gt; </a:t>
            </a:r>
            <a:r>
              <a:rPr sz="1300" i="0">
                <a:solidFill>
                  <a:srgbClr val="7DCEA0"/>
                </a:solidFill>
                <a:latin typeface="Consolas"/>
              </a:rPr>
              <a:t>"</a:t>
            </a:r>
            <a:r>
              <a:rPr sz="1300" i="0">
                <a:solidFill>
                  <a:srgbClr val="AEB6BF"/>
                </a:solidFill>
                <a:latin typeface="Consolas"/>
              </a:rPr>
              <a:t>.</a:t>
            </a:r>
            <a:r>
              <a:rPr sz="1300" i="0">
                <a:solidFill>
                  <a:srgbClr val="E8EDF2"/>
                </a:solidFill>
                <a:latin typeface="Consolas"/>
              </a:rPr>
              <a:t>join</a:t>
            </a:r>
            <a:r>
              <a:rPr sz="1300" i="0">
                <a:solidFill>
                  <a:srgbClr val="AEB6BF"/>
                </a:solidFill>
                <a:latin typeface="Consolas"/>
              </a:rPr>
              <a:t>(</a:t>
            </a:r>
            <a:r>
              <a:rPr sz="1300" i="0">
                <a:solidFill>
                  <a:srgbClr val="E8EDF2"/>
                </a:solidFill>
                <a:latin typeface="Consolas"/>
              </a:rPr>
              <a:t>plan</a:t>
            </a:r>
            <a:r>
              <a:rPr sz="1300" i="0">
                <a:solidFill>
                  <a:srgbClr val="AEB6BF"/>
                </a:solidFill>
                <a:latin typeface="Consolas"/>
              </a:rPr>
              <a:t>)</a:t>
            </a:r>
            <a:r>
              <a:rPr sz="1300" i="0">
                <a:solidFill>
                  <a:srgbClr val="AEB6BF"/>
                </a:solidFill>
                <a:latin typeface="Consolas"/>
              </a:rPr>
              <a:t>)</a:t>
            </a:r>
          </a:p>
        </p:txBody>
      </p:sp>
      <p:sp>
        <p:nvSpPr>
          <p:cNvPr id="15" name="!!code-num"/>
          <p:cNvSpPr txBox="1"/>
          <p:nvPr/>
        </p:nvSpPr>
        <p:spPr>
          <a:xfrm>
            <a:off x="768096" y="2523744"/>
            <a:ext cx="393192" cy="3477767"/>
          </a:xfrm>
          <a:prstGeom prst="rect">
            <a:avLst/>
          </a:prstGeom>
          <a:noFill/>
        </p:spPr>
        <p:txBody>
          <a:bodyPr wrap="none" anchor="t" lIns="0" rIns="0" tIns="0" bIns="0">
            <a:noAutofit/>
          </a:bodyPr>
          <a:lstStyle/>
          <a:p>
            <a:pPr algn="r">
              <a:lnSpc>
                <a:spcPct val="100000"/>
              </a:lnSpc>
            </a:pPr>
            <a:r>
              <a:rPr sz="1300">
                <a:solidFill>
                  <a:srgbClr val="4F5D6A"/>
                </a:solidFill>
                <a:latin typeface="Consolas"/>
              </a:rPr>
              <a:t>197</a:t>
            </a:r>
          </a:p>
          <a:p>
            <a:pPr algn="r">
              <a:lnSpc>
                <a:spcPct val="100000"/>
              </a:lnSpc>
            </a:pPr>
            <a:r>
              <a:rPr sz="1300">
                <a:solidFill>
                  <a:srgbClr val="4F5D6A"/>
                </a:solidFill>
                <a:latin typeface="Consolas"/>
              </a:rPr>
              <a:t>198</a:t>
            </a:r>
          </a:p>
          <a:p>
            <a:pPr algn="r">
              <a:lnSpc>
                <a:spcPct val="100000"/>
              </a:lnSpc>
            </a:pPr>
            <a:r>
              <a:rPr sz="1300">
                <a:solidFill>
                  <a:srgbClr val="4F5D6A"/>
                </a:solidFill>
                <a:latin typeface="Consolas"/>
              </a:rPr>
              <a:t>199</a:t>
            </a:r>
          </a:p>
          <a:p>
            <a:pPr algn="r">
              <a:lnSpc>
                <a:spcPct val="100000"/>
              </a:lnSpc>
            </a:pPr>
            <a:r>
              <a:rPr sz="1300">
                <a:solidFill>
                  <a:srgbClr val="4F5D6A"/>
                </a:solidFill>
                <a:latin typeface="Consolas"/>
              </a:rPr>
              <a:t>200</a:t>
            </a:r>
          </a:p>
          <a:p>
            <a:pPr algn="r">
              <a:lnSpc>
                <a:spcPct val="100000"/>
              </a:lnSpc>
            </a:pPr>
            <a:r>
              <a:rPr sz="1300">
                <a:solidFill>
                  <a:srgbClr val="4F5D6A"/>
                </a:solidFill>
                <a:latin typeface="Consolas"/>
              </a:rPr>
              <a:t>201</a:t>
            </a:r>
          </a:p>
          <a:p>
            <a:pPr algn="r">
              <a:lnSpc>
                <a:spcPct val="100000"/>
              </a:lnSpc>
            </a:pPr>
            <a:r>
              <a:rPr sz="1300">
                <a:solidFill>
                  <a:srgbClr val="4F5D6A"/>
                </a:solidFill>
                <a:latin typeface="Consolas"/>
              </a:rPr>
              <a:t>202</a:t>
            </a:r>
          </a:p>
          <a:p>
            <a:pPr algn="r">
              <a:lnSpc>
                <a:spcPct val="100000"/>
              </a:lnSpc>
            </a:pPr>
            <a:r>
              <a:rPr sz="1300">
                <a:solidFill>
                  <a:srgbClr val="4F5D6A"/>
                </a:solidFill>
                <a:latin typeface="Consolas"/>
              </a:rPr>
              <a:t>203</a:t>
            </a:r>
          </a:p>
          <a:p>
            <a:pPr algn="r">
              <a:lnSpc>
                <a:spcPct val="100000"/>
              </a:lnSpc>
            </a:pPr>
            <a:r>
              <a:rPr sz="1300">
                <a:solidFill>
                  <a:srgbClr val="4F5D6A"/>
                </a:solidFill>
                <a:latin typeface="Consolas"/>
              </a:rPr>
              <a:t>204</a:t>
            </a:r>
          </a:p>
          <a:p>
            <a:pPr algn="r">
              <a:lnSpc>
                <a:spcPct val="100000"/>
              </a:lnSpc>
            </a:pPr>
            <a:r>
              <a:rPr sz="1300">
                <a:solidFill>
                  <a:srgbClr val="4F5D6A"/>
                </a:solidFill>
                <a:latin typeface="Consolas"/>
              </a:rPr>
              <a:t>205</a:t>
            </a:r>
          </a:p>
          <a:p>
            <a:pPr algn="r">
              <a:lnSpc>
                <a:spcPct val="100000"/>
              </a:lnSpc>
            </a:pPr>
            <a:r>
              <a:rPr sz="1300">
                <a:solidFill>
                  <a:srgbClr val="4F5D6A"/>
                </a:solidFill>
                <a:latin typeface="Consolas"/>
              </a:rPr>
              <a:t>206</a:t>
            </a:r>
          </a:p>
          <a:p>
            <a:pPr algn="r">
              <a:lnSpc>
                <a:spcPct val="100000"/>
              </a:lnSpc>
            </a:pPr>
            <a:r>
              <a:rPr sz="1300">
                <a:solidFill>
                  <a:srgbClr val="4F5D6A"/>
                </a:solidFill>
                <a:latin typeface="Consolas"/>
              </a:rPr>
              <a:t>207</a:t>
            </a:r>
          </a:p>
          <a:p>
            <a:pPr algn="r">
              <a:lnSpc>
                <a:spcPct val="100000"/>
              </a:lnSpc>
            </a:pPr>
            <a:r>
              <a:rPr sz="1300">
                <a:solidFill>
                  <a:srgbClr val="4F5D6A"/>
                </a:solidFill>
                <a:latin typeface="Consolas"/>
              </a:rPr>
              <a:t>208</a:t>
            </a:r>
          </a:p>
          <a:p>
            <a:pPr algn="r">
              <a:lnSpc>
                <a:spcPct val="100000"/>
              </a:lnSpc>
            </a:pPr>
            <a:r>
              <a:rPr sz="1300">
                <a:solidFill>
                  <a:srgbClr val="4F5D6A"/>
                </a:solidFill>
                <a:latin typeface="Consolas"/>
              </a:rPr>
              <a:t>209</a:t>
            </a:r>
          </a:p>
          <a:p>
            <a:pPr algn="r">
              <a:lnSpc>
                <a:spcPct val="100000"/>
              </a:lnSpc>
            </a:pPr>
            <a:r>
              <a:rPr sz="1300">
                <a:solidFill>
                  <a:srgbClr val="4F5D6A"/>
                </a:solidFill>
                <a:latin typeface="Consolas"/>
              </a:rPr>
              <a:t>210</a:t>
            </a:r>
          </a:p>
          <a:p>
            <a:pPr algn="r">
              <a:lnSpc>
                <a:spcPct val="100000"/>
              </a:lnSpc>
            </a:pPr>
            <a:r>
              <a:rPr sz="1300">
                <a:solidFill>
                  <a:srgbClr val="4F5D6A"/>
                </a:solidFill>
                <a:latin typeface="Consolas"/>
              </a:rPr>
              <a:t>211</a:t>
            </a:r>
          </a:p>
          <a:p>
            <a:pPr algn="r">
              <a:lnSpc>
                <a:spcPct val="100000"/>
              </a:lnSpc>
            </a:pPr>
            <a:r>
              <a:rPr sz="1300">
                <a:solidFill>
                  <a:srgbClr val="4F5D6A"/>
                </a:solidFill>
                <a:latin typeface="Consolas"/>
              </a:rPr>
              <a:t>212</a:t>
            </a:r>
          </a:p>
          <a:p>
            <a:pPr algn="r">
              <a:lnSpc>
                <a:spcPct val="100000"/>
              </a:lnSpc>
            </a:pPr>
            <a:r>
              <a:rPr sz="1300">
                <a:solidFill>
                  <a:srgbClr val="4F5D6A"/>
                </a:solidFill>
                <a:latin typeface="Consolas"/>
              </a:rPr>
              <a:t>213</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67486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3  ·  Representations and Search in Python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§3.6  ·  Handout p. 25     </a:t>
            </a:r>
            <a:fld id="{7E90D1BD-EA98-4EEA-A814-C9E8D4262F3E}" type="slidenum">
              <a:rPr lang="en-GB" sz="1000">
                <a:solidFill>
                  <a:srgbClr val="8795A1"/>
                </a:solidFill>
                <a:latin typeface="Segoe UI"/>
              </a:rPr>
              <a:t>38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27855"/>
          </a:xfrm>
          <a:prstGeom prst="roundRect">
            <a:avLst>
              <a:gd name="adj" fmla="val 2065"/>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27855"/>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59750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All three frontiers find a legal ordering of all nine tasks, and all three report a cost of </a:t>
            </a:r>
            <a:r>
              <a:rPr sz="2300" b="0" i="0">
                <a:solidFill>
                  <a:srgbClr val="1C252B"/>
                </a:solidFill>
                <a:latin typeface="Cambria"/>
              </a:rPr>
              <a:t>27</a:t>
            </a:r>
            <a:r>
              <a:rPr sz="2300" b="0" i="0">
                <a:solidFill>
                  <a:srgbClr val="1C252B"/>
                </a:solidFill>
                <a:latin typeface="Segoe UI"/>
              </a:rPr>
              <a:t> days — every task has to be done, so the total duration does not depend on the order. That is precisely why cost only becomes interesting in Chapter 5, where not every action is taken. Where the three differ is work done: breadth-first and uniform-cost expand </a:t>
            </a:r>
            <a:r>
              <a:rPr sz="2300" b="0" i="0">
                <a:solidFill>
                  <a:srgbClr val="1C252B"/>
                </a:solidFill>
                <a:latin typeface="Cambria"/>
              </a:rPr>
              <a:t>21</a:t>
            </a:r>
            <a:r>
              <a:rPr sz="2300" b="0" i="0">
                <a:solidFill>
                  <a:srgbClr val="1C252B"/>
                </a:solidFill>
                <a:latin typeface="Segoe UI"/>
              </a:rPr>
              <a:t> states with a peak frontier of </a:t>
            </a:r>
            <a:r>
              <a:rPr sz="2300" b="0" i="0">
                <a:solidFill>
                  <a:srgbClr val="1C252B"/>
                </a:solidFill>
                <a:latin typeface="Cambria"/>
              </a:rPr>
              <a:t>6</a:t>
            </a:r>
            <a:r>
              <a:rPr sz="2300" b="0" i="0">
                <a:solidFill>
                  <a:srgbClr val="1C252B"/>
                </a:solidFill>
                <a:latin typeface="Segoe UI"/>
              </a:rPr>
              <a:t> and </a:t>
            </a:r>
            <a:r>
              <a:rPr sz="2300" b="0" i="0">
                <a:solidFill>
                  <a:srgbClr val="1C252B"/>
                </a:solidFill>
                <a:latin typeface="Cambria"/>
              </a:rPr>
              <a:t>5</a:t>
            </a:r>
            <a:r>
              <a:rPr sz="2300" b="0" i="0">
                <a:solidFill>
                  <a:srgbClr val="1C252B"/>
                </a:solidFill>
                <a:latin typeface="Segoe UI"/>
              </a:rPr>
              <a:t>, depth-first expands </a:t>
            </a:r>
            <a:r>
              <a:rPr sz="2300" b="0" i="0">
                <a:solidFill>
                  <a:srgbClr val="1C252B"/>
                </a:solidFill>
                <a:latin typeface="Cambria"/>
              </a:rPr>
              <a:t>9</a:t>
            </a:r>
            <a:r>
              <a:rPr sz="2300" b="0" i="0">
                <a:solidFill>
                  <a:srgbClr val="1C252B"/>
                </a:solidFill>
                <a:latin typeface="Segoe UI"/>
              </a:rPr>
              <a:t> with a peak of </a:t>
            </a:r>
            <a:r>
              <a:rPr sz="2300" b="0" i="0">
                <a:solidFill>
                  <a:srgbClr val="1C252B"/>
                </a:solidFill>
                <a:latin typeface="Cambria"/>
              </a:rPr>
              <a:t>4</a:t>
            </a:r>
            <a:r>
              <a:rPr sz="2300" b="0" i="0">
                <a:solidFill>
                  <a:srgbClr val="1C252B"/>
                </a:solidFill>
                <a:latin typeface="Segoe UI"/>
              </a:rPr>
              <a:t>. The representation measurement comes out at </a:t>
            </a:r>
            <a:r>
              <a:rPr sz="2300" b="0" i="0">
                <a:solidFill>
                  <a:srgbClr val="1C252B"/>
                </a:solidFill>
                <a:latin typeface="Cambria"/>
              </a:rPr>
              <a:t>22</a:t>
            </a:r>
            <a:r>
              <a:rPr sz="2300" b="0" i="0">
                <a:solidFill>
                  <a:srgbClr val="1C252B"/>
                </a:solidFill>
                <a:latin typeface="Segoe UI"/>
              </a:rPr>
              <a:t> states against </a:t>
            </a:r>
            <a:r>
              <a:rPr sz="2300" b="0" i="0">
                <a:solidFill>
                  <a:srgbClr val="1C252B"/>
                </a:solidFill>
                <a:latin typeface="Cambria"/>
              </a:rPr>
              <a:t>184</a:t>
            </a:r>
            <a:r>
              <a:rPr sz="2300" b="0" i="0">
                <a:solidFill>
                  <a:srgbClr val="1C252B"/>
                </a:solidFill>
                <a:latin typeface="Segoe UI"/>
              </a:rPr>
              <a:t> sequences.</a:t>
            </a:r>
          </a:p>
        </p:txBody>
      </p:sp>
      <p:sp>
        <p:nvSpPr>
          <p:cNvPr id="10" name="body-1"/>
          <p:cNvSpPr txBox="1"/>
          <p:nvPr/>
        </p:nvSpPr>
        <p:spPr>
          <a:xfrm>
            <a:off x="1060704" y="4760696"/>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Now break it on purpose: change </a:t>
            </a:r>
            <a:r>
              <a:rPr sz="2150" b="0" i="0">
                <a:solidFill>
                  <a:srgbClr val="1F4E79"/>
                </a:solidFill>
                <a:latin typeface="Consolas"/>
              </a:rPr>
              <a:t>result</a:t>
            </a:r>
            <a:r>
              <a:rPr sz="2300" b="0" i="0">
                <a:solidFill>
                  <a:srgbClr val="1C252B"/>
                </a:solidFill>
                <a:latin typeface="Segoe UI"/>
              </a:rPr>
              <a:t> to return </a:t>
            </a:r>
            <a:r>
              <a:rPr sz="2150" b="0" i="0">
                <a:solidFill>
                  <a:srgbClr val="1F4E79"/>
                </a:solidFill>
                <a:latin typeface="Consolas"/>
              </a:rPr>
              <a:t>state + (action,)</a:t>
            </a:r>
            <a:r>
              <a:rPr sz="2300" b="0" i="0">
                <a:solidFill>
                  <a:srgbClr val="1C252B"/>
                </a:solidFill>
                <a:latin typeface="Segoe UI"/>
              </a:rPr>
              <a:t> over a tuple state, and watch </a:t>
            </a:r>
            <a:r>
              <a:rPr sz="2150" b="0" i="0">
                <a:solidFill>
                  <a:srgbClr val="1F4E79"/>
                </a:solidFill>
                <a:latin typeface="Consolas"/>
              </a:rPr>
              <a:t>expanded</a:t>
            </a:r>
            <a:r>
              <a:rPr sz="2300" b="0" i="0">
                <a:solidFill>
                  <a:srgbClr val="1C252B"/>
                </a:solidFill>
                <a:latin typeface="Segoe UI"/>
              </a:rPr>
              <a:t> climb towards the sequence count while the answer stays the same. That experiment is the chapter.</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890931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Why can a Python </a:t>
            </a:r>
            <a:r>
              <a:rPr sz="3200" b="0" i="0">
                <a:solidFill>
                  <a:srgbClr val="FFFFFF"/>
                </a:solidFill>
                <a:latin typeface="Consolas"/>
              </a:rPr>
              <a:t>set</a:t>
            </a:r>
            <a:r>
              <a:rPr sz="3400" b="0" i="0">
                <a:solidFill>
                  <a:srgbClr val="FFFFFF"/>
                </a:solidFill>
                <a:latin typeface="Segoe UI Semibold"/>
              </a:rPr>
              <a:t> not hold a state represented as a list, and what goes wrong in a search when the explored set cannot be built?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Artificial Intelligence  ·  Chapter 3  ·  Representations and Search in Python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33  ·  answers in Appendix D     </a:t>
            </a:r>
            <a:fld id="{2317B4C5-9243-4694-A725-0847D4F20C57}" type="slidenum">
              <a:rPr lang="en-GB" sz="1000">
                <a:solidFill>
                  <a:srgbClr val="D5DEE5"/>
                </a:solidFill>
                <a:latin typeface="Segoe UI"/>
              </a:rPr>
              <a:t>39</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Why can a Python </a:t>
            </a:r>
            <a:r>
              <a:rPr sz="2250" b="0" i="0">
                <a:solidFill>
                  <a:srgbClr val="1A5276"/>
                </a:solidFill>
                <a:latin typeface="Consolas"/>
              </a:rPr>
              <a:t>set</a:t>
            </a:r>
            <a:r>
              <a:rPr sz="2400" b="0" i="0">
                <a:solidFill>
                  <a:srgbClr val="1A5276"/>
                </a:solidFill>
                <a:latin typeface="Segoe UI Semibold"/>
              </a:rPr>
              <a:t> not hold a state represented as a list, and what goes wrong in a search when the explored set cannot be built?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2092147"/>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 list is mutable, and Python makes mutable built-in types unhashable, because an object whose hash could change while it sits in a set would become unfindable. Without a usable explored set the search cannot ask “have I seen this state?”. Every state is then re-expanded once for each distinct path that reaches it, so the search explores the search </a:t>
            </a:r>
            <a:r>
              <a:rPr sz="2200" b="0" i="1">
                <a:solidFill>
                  <a:srgbClr val="1C252B"/>
                </a:solidFill>
                <a:latin typeface="Segoe UI"/>
              </a:rPr>
              <a:t>tree</a:t>
            </a:r>
            <a:r>
              <a:rPr sz="2200" b="0" i="0">
                <a:solidFill>
                  <a:srgbClr val="1C252B"/>
                </a:solidFill>
                <a:latin typeface="Segoe UI"/>
              </a:rPr>
              <a:t> rather than the state </a:t>
            </a:r>
            <a:r>
              <a:rPr sz="2200" b="0" i="1">
                <a:solidFill>
                  <a:srgbClr val="1C252B"/>
                </a:solidFill>
                <a:latin typeface="Segoe UI"/>
              </a:rPr>
              <a:t>graph</a:t>
            </a:r>
            <a:r>
              <a:rPr sz="2200" b="0" i="0">
                <a:solidFill>
                  <a:srgbClr val="1C252B"/>
                </a:solidFill>
                <a:latin typeface="Segoe UI"/>
              </a:rPr>
              <a:t> — and on a space with a cycle that tree is infinite, so the search never terminates.</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3  ·  Representations and Search in Python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33  ·  answers in Appendix D     </a:t>
            </a:r>
            <a:fld id="{A30CD57E-8B16-416B-B802-03B694B79636}" type="slidenum">
              <a:rPr lang="en-GB" sz="1000">
                <a:solidFill>
                  <a:srgbClr val="8795A1"/>
                </a:solidFill>
                <a:latin typeface="Segoe UI"/>
              </a:rPr>
              <a:t>40</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37822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colleague’s best-first search raises a </a:t>
            </a:r>
            <a:r>
              <a:rPr sz="3200" b="0" i="0">
                <a:solidFill>
                  <a:srgbClr val="FFFFFF"/>
                </a:solidFill>
                <a:latin typeface="Consolas"/>
              </a:rPr>
              <a:t>TypeError</a:t>
            </a:r>
            <a:r>
              <a:rPr sz="3400" b="0" i="0">
                <a:solidFill>
                  <a:srgbClr val="FFFFFF"/>
                </a:solidFill>
                <a:latin typeface="Segoe UI Semibold"/>
              </a:rPr>
              <a:t> about comparing two </a:t>
            </a:r>
            <a:r>
              <a:rPr sz="3200" b="0" i="0">
                <a:solidFill>
                  <a:srgbClr val="FFFFFF"/>
                </a:solidFill>
                <a:latin typeface="Consolas"/>
              </a:rPr>
              <a:t>Node</a:t>
            </a:r>
            <a:r>
              <a:rPr sz="3400" b="0" i="0">
                <a:solidFill>
                  <a:srgbClr val="FFFFFF"/>
                </a:solidFill>
                <a:latin typeface="Segoe UI Semibold"/>
              </a:rPr>
              <a:t> objects, but only on about one input in twenty. Explain the bug and give the one-line fix.</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Artificial Intelligence  ·  Chapter 3  ·  Representations and Search in Python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33  ·  answers in Appendix D     </a:t>
            </a:r>
            <a:fld id="{1FE9E027-D6D3-4598-B9AD-10E6147971F5}" type="slidenum">
              <a:rPr lang="en-GB" sz="1000">
                <a:solidFill>
                  <a:srgbClr val="D5DEE5"/>
                </a:solidFill>
                <a:latin typeface="Segoe UI"/>
              </a:rPr>
              <a:t>41</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A colleague’s best-first search raises a </a:t>
            </a:r>
            <a:r>
              <a:rPr sz="2250" b="0" i="0">
                <a:solidFill>
                  <a:srgbClr val="1A5276"/>
                </a:solidFill>
                <a:latin typeface="Consolas"/>
              </a:rPr>
              <a:t>TypeError</a:t>
            </a:r>
            <a:r>
              <a:rPr sz="2400" b="0" i="0">
                <a:solidFill>
                  <a:srgbClr val="1A5276"/>
                </a:solidFill>
                <a:latin typeface="Segoe UI Semibold"/>
              </a:rPr>
              <a:t> about comparing two </a:t>
            </a:r>
            <a:r>
              <a:rPr sz="2250" b="0" i="0">
                <a:solidFill>
                  <a:srgbClr val="1A5276"/>
                </a:solidFill>
                <a:latin typeface="Consolas"/>
              </a:rPr>
              <a:t>Node</a:t>
            </a:r>
            <a:r>
              <a:rPr sz="2400" b="0" i="0">
                <a:solidFill>
                  <a:srgbClr val="1A5276"/>
                </a:solidFill>
                <a:latin typeface="Segoe UI Semibold"/>
              </a:rPr>
              <a:t> objects, but only on about one input in twenty. Explain the bug and give the one-line fix.</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2092147"/>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heap entries are tuples such as </a:t>
            </a:r>
            <a:r>
              <a:rPr sz="2050" b="0" i="0">
                <a:solidFill>
                  <a:srgbClr val="1F4E79"/>
                </a:solidFill>
                <a:latin typeface="Consolas"/>
              </a:rPr>
              <a:t>(cost, node)</a:t>
            </a:r>
            <a:r>
              <a:rPr sz="2200" b="0" i="0">
                <a:solidFill>
                  <a:srgbClr val="1C252B"/>
                </a:solidFill>
                <a:latin typeface="Segoe UI"/>
              </a:rPr>
              <a:t>. When two costs are equal Python moves on to compare the second elements, and </a:t>
            </a:r>
            <a:r>
              <a:rPr sz="2050" b="0" i="0">
                <a:solidFill>
                  <a:srgbClr val="1F4E79"/>
                </a:solidFill>
                <a:latin typeface="Consolas"/>
              </a:rPr>
              <a:t>Node</a:t>
            </a:r>
            <a:r>
              <a:rPr sz="2200" b="0" i="0">
                <a:solidFill>
                  <a:srgbClr val="1C252B"/>
                </a:solidFill>
                <a:latin typeface="Segoe UI"/>
              </a:rPr>
              <a:t> defines no ordering, so it raises </a:t>
            </a:r>
            <a:r>
              <a:rPr sz="2050" b="0" i="0">
                <a:solidFill>
                  <a:srgbClr val="1F4E79"/>
                </a:solidFill>
                <a:latin typeface="Consolas"/>
              </a:rPr>
              <a:t>TypeError</a:t>
            </a:r>
            <a:r>
              <a:rPr sz="2200" b="0" i="0">
                <a:solidFill>
                  <a:srgbClr val="1C252B"/>
                </a:solidFill>
                <a:latin typeface="Segoe UI"/>
              </a:rPr>
              <a:t>. It is intermittent because it needs a tie, which most inputs do not produce. The fix is one element: push </a:t>
            </a:r>
            <a:r>
              <a:rPr sz="2050" b="0" i="0">
                <a:solidFill>
                  <a:srgbClr val="1F4E79"/>
                </a:solidFill>
                <a:latin typeface="Consolas"/>
              </a:rPr>
              <a:t>(cost, next(counter), node)</a:t>
            </a:r>
            <a:r>
              <a:rPr sz="2200" b="0" i="0">
                <a:solidFill>
                  <a:srgbClr val="1C252B"/>
                </a:solidFill>
                <a:latin typeface="Segoe UI"/>
              </a:rPr>
              <a:t> with a monotonically increasing counter, so ties are broken by insertion order and two nodes are never compared.</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3  ·  Representations and Search in Python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33  ·  answers in Appendix D     </a:t>
            </a:r>
            <a:fld id="{C90DDE97-EE02-49A7-97AB-D7729FEC3857}" type="slidenum">
              <a:rPr lang="en-GB" sz="1000">
                <a:solidFill>
                  <a:srgbClr val="8795A1"/>
                </a:solidFill>
                <a:latin typeface="Segoe UI"/>
              </a:rPr>
              <a:t>42</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84713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state records the set of finished tasks </a:t>
            </a:r>
            <a:r>
              <a:rPr sz="3400" b="0" i="1">
                <a:solidFill>
                  <a:srgbClr val="FFFFFF"/>
                </a:solidFill>
                <a:latin typeface="Segoe UI Semibold"/>
              </a:rPr>
              <a:t>and</a:t>
            </a:r>
            <a:r>
              <a:rPr sz="3400" b="0" i="0">
                <a:solidFill>
                  <a:srgbClr val="FFFFFF"/>
                </a:solidFill>
                <a:latin typeface="Segoe UI Semibold"/>
              </a:rPr>
              <a:t> the number of search steps taken so far. The goal test looks only at the finished tasks. What does the extra field do to the size of the state space, and why?</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Artificial Intelligence  ·  Chapter 3  ·  Representations and Search in Python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33  ·  answers in Appendix D     </a:t>
            </a:r>
            <a:fld id="{1693FF3D-77AA-43C4-9024-C5150B33FFCC}" type="slidenum">
              <a:rPr lang="en-GB" sz="1000">
                <a:solidFill>
                  <a:srgbClr val="D5DEE5"/>
                </a:solidFill>
                <a:latin typeface="Segoe UI"/>
              </a:rPr>
              <a:t>43</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A state records the set of finished tasks </a:t>
            </a:r>
            <a:r>
              <a:rPr sz="2400" b="0" i="1">
                <a:solidFill>
                  <a:srgbClr val="1A5276"/>
                </a:solidFill>
                <a:latin typeface="Segoe UI Semibold"/>
              </a:rPr>
              <a:t>and</a:t>
            </a:r>
            <a:r>
              <a:rPr sz="2400" b="0" i="0">
                <a:solidFill>
                  <a:srgbClr val="1A5276"/>
                </a:solidFill>
                <a:latin typeface="Segoe UI Semibold"/>
              </a:rPr>
              <a:t> the number of search steps taken so far. The goal test looks only at the finished tasks. What does the extra field do to the size of the state space, and why?</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2092147"/>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It multiplies the state space by the number of distinct step counts at which each situation can be reached. Two searches that arrive at the same set of finished tasks after </a:t>
            </a:r>
            <a:r>
              <a:rPr sz="2200" b="0" i="0">
                <a:solidFill>
                  <a:srgbClr val="1C252B"/>
                </a:solidFill>
                <a:latin typeface="Cambria"/>
              </a:rPr>
              <a:t>7</a:t>
            </a:r>
            <a:r>
              <a:rPr sz="2200" b="0" i="0">
                <a:solidFill>
                  <a:srgbClr val="1C252B"/>
                </a:solidFill>
                <a:latin typeface="Segoe UI"/>
              </a:rPr>
              <a:t> and after </a:t>
            </a:r>
            <a:r>
              <a:rPr sz="2200" b="0" i="0">
                <a:solidFill>
                  <a:srgbClr val="1C252B"/>
                </a:solidFill>
                <a:latin typeface="Cambria"/>
              </a:rPr>
              <a:t>9</a:t>
            </a:r>
            <a:r>
              <a:rPr sz="2200" b="0" i="0">
                <a:solidFill>
                  <a:srgbClr val="1C252B"/>
                </a:solidFill>
                <a:latin typeface="Segoe UI"/>
              </a:rPr>
              <a:t> steps now hold </a:t>
            </a:r>
            <a:r>
              <a:rPr sz="2200" b="0" i="1">
                <a:solidFill>
                  <a:srgbClr val="1C252B"/>
                </a:solidFill>
                <a:latin typeface="Segoe UI"/>
              </a:rPr>
              <a:t>different</a:t>
            </a:r>
            <a:r>
              <a:rPr sz="2200" b="0" i="0">
                <a:solidFill>
                  <a:srgbClr val="1C252B"/>
                </a:solidFill>
                <a:latin typeface="Segoe UI"/>
              </a:rPr>
              <a:t> states, so the explored set never matches, nothing is pruned, and the search degenerates towards enumerating paths. The rule is in the chapter: if the goal test cannot see it, it does not belong in the state.</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3  ·  Representations and Search in Python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33  ·  answers in Appendix D     </a:t>
            </a:r>
            <a:fld id="{856E976F-EDE2-466A-BC0A-E2AEDEE5C028}" type="slidenum">
              <a:rPr lang="en-GB" sz="1000">
                <a:solidFill>
                  <a:srgbClr val="8795A1"/>
                </a:solidFill>
                <a:latin typeface="Segoe UI"/>
              </a:rPr>
              <a:t>44</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31604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3  ·  Representations and Search in Python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33     </a:t>
            </a:r>
            <a:fld id="{C1AB47AF-C47D-49D4-A243-3DC35C885535}" type="slidenum">
              <a:rPr lang="en-GB" sz="1000">
                <a:solidFill>
                  <a:srgbClr val="8795A1"/>
                </a:solidFill>
                <a:latin typeface="Segoe UI"/>
              </a:rPr>
              <a:t>45</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80832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A state is a </a:t>
            </a:r>
            <a:r>
              <a:rPr sz="1700" b="0" i="1">
                <a:solidFill>
                  <a:srgbClr val="1C252B"/>
                </a:solidFill>
                <a:latin typeface="Segoe UI"/>
              </a:rPr>
              <a:t>value</a:t>
            </a:r>
            <a:r>
              <a:rPr sz="1700" b="0" i="0">
                <a:solidFill>
                  <a:srgbClr val="1C252B"/>
                </a:solidFill>
                <a:latin typeface="Segoe UI"/>
              </a:rPr>
              <a:t>: immutable and hashable, so that two descriptions of the same situation are equal and hash alike. Use </a:t>
            </a:r>
            <a:r>
              <a:rPr sz="1600" b="0" i="0">
                <a:solidFill>
                  <a:srgbClr val="1F4E79"/>
                </a:solidFill>
                <a:latin typeface="Consolas"/>
              </a:rPr>
              <a:t>frozenset</a:t>
            </a:r>
            <a:r>
              <a:rPr sz="1700" b="0" i="0">
                <a:solidFill>
                  <a:srgbClr val="1C252B"/>
                </a:solidFill>
                <a:latin typeface="Segoe UI"/>
              </a:rPr>
              <a:t> for sets of completed things, </a:t>
            </a:r>
            <a:r>
              <a:rPr sz="1600" b="0" i="0">
                <a:solidFill>
                  <a:srgbClr val="1F4E79"/>
                </a:solidFill>
                <a:latin typeface="Consolas"/>
              </a:rPr>
              <a:t>namedtuple</a:t>
            </a:r>
            <a:r>
              <a:rPr sz="1700" b="0" i="0">
                <a:solidFill>
                  <a:srgbClr val="1C252B"/>
                </a:solidFill>
                <a:latin typeface="Segoe UI"/>
              </a:rPr>
              <a:t> for fixed named slots, and a tuple of slots for assignments.</a:t>
            </a:r>
          </a:p>
        </p:txBody>
      </p:sp>
      <p:sp>
        <p:nvSpPr>
          <p:cNvPr id="10" name="!!sb1">
            <a:extLst>
              <a:ext uri="{C183D7F6-B498-43B3-948B-1728B52AA6E4}">
                <adec:decorative xmlns:adec="http://schemas.microsoft.com/office/drawing/2017/decorative" val="1"/>
              </a:ext>
            </a:extLst>
          </p:cNvPr>
          <p:cNvSpPr/>
          <p:nvPr/>
        </p:nvSpPr>
        <p:spPr>
          <a:xfrm>
            <a:off x="658368" y="273771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79257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728569"/>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A </a:t>
            </a:r>
            <a:r>
              <a:rPr sz="1700" b="1" i="0">
                <a:solidFill>
                  <a:srgbClr val="1A5276"/>
                </a:solidFill>
                <a:latin typeface="Segoe UI"/>
              </a:rPr>
              <a:t>node</a:t>
            </a:r>
            <a:r>
              <a:rPr sz="1700" b="0" i="0">
                <a:solidFill>
                  <a:srgbClr val="1C252B"/>
                </a:solidFill>
                <a:latin typeface="Segoe UI"/>
              </a:rPr>
              <a:t> is a state plus parent, action and cost. States go in sets; nodes go on frontiers and are walked backwards to recover the solution.</a:t>
            </a:r>
          </a:p>
        </p:txBody>
      </p:sp>
      <p:sp>
        <p:nvSpPr>
          <p:cNvPr id="13" name="!!sb2">
            <a:extLst>
              <a:ext uri="{C183D7F6-B498-43B3-948B-1728B52AA6E4}">
                <adec:decorative xmlns:adec="http://schemas.microsoft.com/office/drawing/2017/decorative" val="1"/>
              </a:ext>
            </a:extLst>
          </p:cNvPr>
          <p:cNvSpPr/>
          <p:nvPr/>
        </p:nvSpPr>
        <p:spPr>
          <a:xfrm>
            <a:off x="658368" y="345948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51434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450336"/>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Every search problem is five things: initial state, goal test, actions, result and step cost. The strategy is not one of them — which is why one search body serves every chapter of Part II.</a:t>
            </a:r>
          </a:p>
        </p:txBody>
      </p:sp>
      <p:sp>
        <p:nvSpPr>
          <p:cNvPr id="16" name="!!sb3">
            <a:extLst>
              <a:ext uri="{C183D7F6-B498-43B3-948B-1728B52AA6E4}">
                <adec:decorative xmlns:adec="http://schemas.microsoft.com/office/drawing/2017/decorative" val="1"/>
              </a:ext>
            </a:extLst>
          </p:cNvPr>
          <p:cNvSpPr/>
          <p:nvPr/>
        </p:nvSpPr>
        <p:spPr>
          <a:xfrm>
            <a:off x="658368" y="418124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23611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4172102"/>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The frontier structure </a:t>
            </a:r>
            <a:r>
              <a:rPr sz="1700" b="0" i="1">
                <a:solidFill>
                  <a:srgbClr val="1C252B"/>
                </a:solidFill>
                <a:latin typeface="Segoe UI"/>
              </a:rPr>
              <a:t>is</a:t>
            </a:r>
            <a:r>
              <a:rPr sz="1700" b="0" i="0">
                <a:solidFill>
                  <a:srgbClr val="1C252B"/>
                </a:solidFill>
                <a:latin typeface="Segoe UI"/>
              </a:rPr>
              <a:t> the strategy: </a:t>
            </a:r>
            <a:r>
              <a:rPr sz="1600" b="0" i="0">
                <a:solidFill>
                  <a:srgbClr val="1F4E79"/>
                </a:solidFill>
                <a:latin typeface="Consolas"/>
              </a:rPr>
              <a:t>deque</a:t>
            </a:r>
            <a:r>
              <a:rPr sz="1700" b="0" i="0">
                <a:solidFill>
                  <a:srgbClr val="1C252B"/>
                </a:solidFill>
                <a:latin typeface="Segoe UI"/>
              </a:rPr>
              <a:t> for breadth-first, list for depth-first, </a:t>
            </a:r>
            <a:r>
              <a:rPr sz="1600" b="0" i="0">
                <a:solidFill>
                  <a:srgbClr val="1F4E79"/>
                </a:solidFill>
                <a:latin typeface="Consolas"/>
              </a:rPr>
              <a:t>heapq</a:t>
            </a:r>
            <a:r>
              <a:rPr sz="1700" b="0" i="0">
                <a:solidFill>
                  <a:srgbClr val="1C252B"/>
                </a:solidFill>
                <a:latin typeface="Segoe UI"/>
              </a:rPr>
              <a:t> for best-first. Never use </a:t>
            </a:r>
            <a:r>
              <a:rPr sz="1600" b="0" i="0">
                <a:solidFill>
                  <a:srgbClr val="1F4E79"/>
                </a:solidFill>
                <a:latin typeface="Consolas"/>
              </a:rPr>
              <a:t>list.pop(0)</a:t>
            </a:r>
            <a:r>
              <a:rPr sz="1700" b="0" i="0">
                <a:solidFill>
                  <a:srgbClr val="1C252B"/>
                </a:solidFill>
                <a:latin typeface="Segoe UI"/>
              </a:rPr>
              <a:t>, and always give heap entries a tie-breaking counter.</a:t>
            </a:r>
          </a:p>
        </p:txBody>
      </p:sp>
      <p:sp>
        <p:nvSpPr>
          <p:cNvPr id="19" name="!!sb4">
            <a:extLst>
              <a:ext uri="{C183D7F6-B498-43B3-948B-1728B52AA6E4}">
                <adec:decorative xmlns:adec="http://schemas.microsoft.com/office/drawing/2017/decorative" val="1"/>
              </a:ext>
            </a:extLst>
          </p:cNvPr>
          <p:cNvSpPr/>
          <p:nvPr/>
        </p:nvSpPr>
        <p:spPr>
          <a:xfrm>
            <a:off x="658368" y="4903012"/>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957876"/>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893868"/>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Successor functions are generators, because most successors are never needed. </a:t>
            </a:r>
            <a:r>
              <a:rPr sz="1600" b="0" i="0">
                <a:solidFill>
                  <a:srgbClr val="1F4E79"/>
                </a:solidFill>
                <a:latin typeface="Consolas"/>
              </a:rPr>
              <a:t>lru_cache</a:t>
            </a:r>
            <a:r>
              <a:rPr sz="1700" b="0" i="0">
                <a:solidFill>
                  <a:srgbClr val="1C252B"/>
                </a:solidFill>
                <a:latin typeface="Segoe UI"/>
              </a:rPr>
              <a:t> removes repeated subproblems for one line, and requires the same hashability the states already have.</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1055050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 (continued)</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3  ·  Representations and Search in Python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33     </a:t>
            </a:r>
            <a:fld id="{78C362BD-221A-4766-815C-63B82502F88A}" type="slidenum">
              <a:rPr lang="en-GB" sz="1000">
                <a:solidFill>
                  <a:srgbClr val="8795A1"/>
                </a:solidFill>
                <a:latin typeface="Segoe UI"/>
              </a:rPr>
              <a:t>46</a:t>
            </a:fld>
          </a:p>
        </p:txBody>
      </p:sp>
      <p:sp>
        <p:nvSpPr>
          <p:cNvPr id="7" name="!!sb5">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5"/>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9" name="!!st5"/>
          <p:cNvSpPr txBox="1"/>
          <p:nvPr/>
        </p:nvSpPr>
        <p:spPr>
          <a:xfrm>
            <a:off x="1298448" y="1737360"/>
            <a:ext cx="10234879" cy="80832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When a search is too slow, look first at what the state records that the goal test does not care about. Removing completion order collapsed </a:t>
            </a:r>
            <a:r>
              <a:rPr sz="1700" b="0" i="0">
                <a:solidFill>
                  <a:srgbClr val="1C252B"/>
                </a:solidFill>
                <a:latin typeface="Cambria"/>
              </a:rPr>
              <a:t>184</a:t>
            </a:r>
            <a:r>
              <a:rPr sz="1700" b="0" i="0">
                <a:solidFill>
                  <a:srgbClr val="1C252B"/>
                </a:solidFill>
                <a:latin typeface="Segoe UI"/>
              </a:rPr>
              <a:t> sequences into </a:t>
            </a:r>
            <a:r>
              <a:rPr sz="1700" b="0" i="0">
                <a:solidFill>
                  <a:srgbClr val="1C252B"/>
                </a:solidFill>
                <a:latin typeface="Cambria"/>
              </a:rPr>
              <a:t>22</a:t>
            </a:r>
            <a:r>
              <a:rPr sz="1700" b="0" i="0">
                <a:solidFill>
                  <a:srgbClr val="1C252B"/>
                </a:solidFill>
                <a:latin typeface="Segoe UI"/>
              </a:rPr>
              <a:t> states on this chapter’s project, and the saving grows with the size of the backlog.</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1078496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4</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3  ·  Representations and Search in Python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33     </a:t>
            </a:r>
            <a:fld id="{3469CC84-2F26-4DB2-A510-BE68F8C6EC65}" type="slidenum">
              <a:rPr lang="en-GB" sz="1000">
                <a:solidFill>
                  <a:srgbClr val="8795A1"/>
                </a:solidFill>
                <a:latin typeface="Segoe UI"/>
              </a:rPr>
              <a:t>47</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Which type is </a:t>
            </a:r>
            <a:r>
              <a:rPr sz="2600" b="0" i="1">
                <a:solidFill>
                  <a:srgbClr val="1C252B"/>
                </a:solidFill>
                <a:latin typeface="Segoe UI"/>
              </a:rPr>
              <a:t>not</a:t>
            </a:r>
            <a:r>
              <a:rPr sz="2600" b="0" i="0">
                <a:solidFill>
                  <a:srgbClr val="1C252B"/>
                </a:solidFill>
                <a:latin typeface="Segoe UI"/>
              </a:rPr>
              <a:t> usable as a search state?</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1F4E79"/>
                </a:solidFill>
                <a:latin typeface="Consolas"/>
              </a:rPr>
              <a:t>tuple</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1F4E79"/>
                </a:solidFill>
                <a:latin typeface="Consolas"/>
              </a:rPr>
              <a:t>frozenset</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1F4E79"/>
                </a:solidFill>
                <a:latin typeface="Consolas"/>
              </a:rPr>
              <a:t>list</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1F4E79"/>
                </a:solidFill>
                <a:latin typeface="Consolas"/>
              </a:rPr>
              <a:t>namedtuple</a:t>
            </a:r>
            <a:r>
              <a:rPr sz="2000" b="0" i="0">
                <a:solidFill>
                  <a:srgbClr val="1C252B"/>
                </a:solidFill>
                <a:latin typeface="Segoe UI"/>
              </a:rPr>
              <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01941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4</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3  ·  Representations and Search in Python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33     </a:t>
            </a:r>
            <a:fld id="{EF248326-341C-4A89-A990-1B131FAE529C}" type="slidenum">
              <a:rPr lang="en-GB" sz="1000">
                <a:solidFill>
                  <a:srgbClr val="8795A1"/>
                </a:solidFill>
                <a:latin typeface="Segoe UI"/>
              </a:rPr>
              <a:t>48</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Popping the oldest node from the frontier gives: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depth-first search</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breadth-first search</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uniform-cost search</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best-first search</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25387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3 of 4</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3  ·  Representations and Search in Python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33     </a:t>
            </a:r>
            <a:fld id="{EABE3BA3-51EE-4064-8D45-E7239AE8FB9F}" type="slidenum">
              <a:rPr lang="en-GB" sz="1000">
                <a:solidFill>
                  <a:srgbClr val="8795A1"/>
                </a:solidFill>
                <a:latin typeface="Segoe UI"/>
              </a:rPr>
              <a:t>49</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450" b="0" i="0">
                <a:solidFill>
                  <a:srgbClr val="1F4E79"/>
                </a:solidFill>
                <a:latin typeface="Consolas"/>
              </a:rPr>
              <a:t>deps &lt;= done</a:t>
            </a:r>
            <a:r>
              <a:rPr sz="2600" b="0" i="0">
                <a:solidFill>
                  <a:srgbClr val="1C252B"/>
                </a:solidFill>
                <a:latin typeface="Segoe UI"/>
              </a:rPr>
              <a:t> where both are sets tests that:</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1F4E79"/>
                </a:solidFill>
                <a:latin typeface="Consolas"/>
              </a:rPr>
              <a:t>done</a:t>
            </a:r>
            <a:r>
              <a:rPr sz="2000" b="0" i="0">
                <a:solidFill>
                  <a:srgbClr val="1C252B"/>
                </a:solidFill>
                <a:latin typeface="Segoe UI"/>
              </a:rPr>
              <a:t> has fewer elements</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every dependency is finished</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sets are equal</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1F4E79"/>
                </a:solidFill>
                <a:latin typeface="Consolas"/>
              </a:rPr>
              <a:t>deps</a:t>
            </a:r>
            <a:r>
              <a:rPr sz="2000" b="0" i="0">
                <a:solidFill>
                  <a:srgbClr val="1C252B"/>
                </a:solidFill>
                <a:latin typeface="Segoe UI"/>
              </a:rPr>
              <a:t> is sorted before </a:t>
            </a:r>
            <a:r>
              <a:rPr sz="1900" b="0" i="0">
                <a:solidFill>
                  <a:srgbClr val="1F4E79"/>
                </a:solidFill>
                <a:latin typeface="Consolas"/>
              </a:rPr>
              <a:t>done</a:t>
            </a:r>
            <a:r>
              <a:rPr sz="2000" b="0" i="0">
                <a:solidFill>
                  <a:srgbClr val="1C252B"/>
                </a:solidFill>
                <a:latin typeface="Segoe UI"/>
              </a:rPr>
              <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48832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4 of 4</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3  ·  Representations and Search in Python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33     </a:t>
            </a:r>
            <a:fld id="{D2E22EE6-EA1B-42FC-B69A-5F65DB4FA5CE}" type="slidenum">
              <a:rPr lang="en-GB" sz="1000">
                <a:solidFill>
                  <a:srgbClr val="8795A1"/>
                </a:solidFill>
                <a:latin typeface="Segoe UI"/>
              </a:rPr>
              <a:t>50</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The middle element of a heap entry </a:t>
            </a:r>
            <a:r>
              <a:rPr sz="2450" b="0" i="0">
                <a:solidFill>
                  <a:srgbClr val="1F4E79"/>
                </a:solidFill>
                <a:latin typeface="Consolas"/>
              </a:rPr>
              <a:t>(cost, counter, node)</a:t>
            </a:r>
            <a:r>
              <a:rPr sz="2600" b="0" i="0">
                <a:solidFill>
                  <a:srgbClr val="1C252B"/>
                </a:solidFill>
                <a:latin typeface="Segoe UI"/>
              </a:rPr>
              <a:t> exists to:</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speed up the heap</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record insertion time for reporting</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39020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stop Python comparing two nodes when costs tie</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allow duplicate states</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72278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3  ·  Representations and Search in Python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33     </a:t>
            </a:r>
            <a:fld id="{0719C448-2FFE-4364-8035-6DE04AA9086E}" type="slidenum">
              <a:rPr lang="en-GB" sz="1000">
                <a:solidFill>
                  <a:srgbClr val="8795A1"/>
                </a:solidFill>
                <a:latin typeface="Segoe UI"/>
              </a:rPr>
              <a:t>51</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State the difference between a state and a node, and name one thing each is used for that the other cannot do.</a:t>
            </a:r>
          </a:p>
        </p:txBody>
      </p:sp>
      <p:sp>
        <p:nvSpPr>
          <p:cNvPr id="10" name="!!rt1">
            <a:extLst>
              <a:ext uri="{C183D7F6-B498-43B3-948B-1728B52AA6E4}">
                <adec:decorative xmlns:adec="http://schemas.microsoft.com/office/drawing/2017/decorative" val="1"/>
              </a:ext>
            </a:extLst>
          </p:cNvPr>
          <p:cNvSpPr/>
          <p:nvPr/>
        </p:nvSpPr>
        <p:spPr>
          <a:xfrm>
            <a:off x="658368" y="257738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61853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55910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why making a successor by mutating the parent state produces a plan that fails when executed, even though the search reports success.</a:t>
            </a:r>
          </a:p>
        </p:txBody>
      </p:sp>
      <p:sp>
        <p:nvSpPr>
          <p:cNvPr id="13" name="!!rt2">
            <a:extLst>
              <a:ext uri="{C183D7F6-B498-43B3-948B-1728B52AA6E4}">
                <adec:decorative xmlns:adec="http://schemas.microsoft.com/office/drawing/2017/decorative" val="1"/>
              </a:ext>
            </a:extLst>
          </p:cNvPr>
          <p:cNvSpPr/>
          <p:nvPr/>
        </p:nvSpPr>
        <p:spPr>
          <a:xfrm>
            <a:off x="658368" y="3399129"/>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440277"/>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380841"/>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Why is a generator the right shape for a successor function? Name the search strategy that benefits most, and say why.</a:t>
            </a:r>
          </a:p>
        </p:txBody>
      </p:sp>
      <p:sp>
        <p:nvSpPr>
          <p:cNvPr id="16" name="!!rt3">
            <a:extLst>
              <a:ext uri="{C183D7F6-B498-43B3-948B-1728B52AA6E4}">
                <adec:decorative xmlns:adec="http://schemas.microsoft.com/office/drawing/2017/decorative" val="1"/>
              </a:ext>
            </a:extLst>
          </p:cNvPr>
          <p:cNvSpPr/>
          <p:nvPr/>
        </p:nvSpPr>
        <p:spPr>
          <a:xfrm>
            <a:off x="658368" y="4220870"/>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4262018"/>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4202582"/>
            <a:ext cx="9549079" cy="1204569"/>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Add a task </a:t>
            </a:r>
            <a:r>
              <a:rPr sz="1800" b="0" i="0">
                <a:solidFill>
                  <a:srgbClr val="1F4E79"/>
                </a:solidFill>
                <a:latin typeface="Consolas"/>
              </a:rPr>
              <a:t>perf</a:t>
            </a:r>
            <a:r>
              <a:rPr sz="1900" b="0" i="0">
                <a:solidFill>
                  <a:srgbClr val="1C252B"/>
                </a:solidFill>
                <a:latin typeface="Segoe UI"/>
              </a:rPr>
              <a:t> of duration 2, depending on </a:t>
            </a:r>
            <a:r>
              <a:rPr sz="1800" b="0" i="0">
                <a:solidFill>
                  <a:srgbClr val="1F4E79"/>
                </a:solidFill>
                <a:latin typeface="Consolas"/>
              </a:rPr>
              <a:t>api</a:t>
            </a:r>
            <a:r>
              <a:rPr sz="1900" b="0" i="0">
                <a:solidFill>
                  <a:srgbClr val="1C252B"/>
                </a:solidFill>
                <a:latin typeface="Segoe UI"/>
              </a:rPr>
              <a:t> and </a:t>
            </a:r>
            <a:r>
              <a:rPr sz="1800" b="0" i="0">
                <a:solidFill>
                  <a:srgbClr val="1F4E79"/>
                </a:solidFill>
                <a:latin typeface="Consolas"/>
              </a:rPr>
              <a:t>ui</a:t>
            </a:r>
            <a:r>
              <a:rPr sz="1900" b="0" i="0">
                <a:solidFill>
                  <a:srgbClr val="1C252B"/>
                </a:solidFill>
                <a:latin typeface="Segoe UI"/>
              </a:rPr>
              <a:t>, and required before </a:t>
            </a:r>
            <a:r>
              <a:rPr sz="1800" b="0" i="0">
                <a:solidFill>
                  <a:srgbClr val="1F4E79"/>
                </a:solidFill>
                <a:latin typeface="Consolas"/>
              </a:rPr>
              <a:t>release</a:t>
            </a:r>
            <a:r>
              <a:rPr sz="1900" b="0" i="0">
                <a:solidFill>
                  <a:srgbClr val="1C252B"/>
                </a:solidFill>
                <a:latin typeface="Segoe UI"/>
              </a:rPr>
              <a:t>. Write the new </a:t>
            </a:r>
            <a:r>
              <a:rPr sz="1800" b="0" i="0">
                <a:solidFill>
                  <a:srgbClr val="1F4E79"/>
                </a:solidFill>
                <a:latin typeface="Consolas"/>
              </a:rPr>
              <a:t>TASKS</a:t>
            </a:r>
            <a:r>
              <a:rPr sz="1900" b="0" i="0">
                <a:solidFill>
                  <a:srgbClr val="1C252B"/>
                </a:solidFill>
                <a:latin typeface="Segoe UI"/>
              </a:rPr>
              <a:t> entry and the changed </a:t>
            </a:r>
            <a:r>
              <a:rPr sz="1800" b="0" i="0">
                <a:solidFill>
                  <a:srgbClr val="1F4E79"/>
                </a:solidFill>
                <a:latin typeface="Consolas"/>
              </a:rPr>
              <a:t>release</a:t>
            </a:r>
            <a:r>
              <a:rPr sz="1900" b="0" i="0">
                <a:solidFill>
                  <a:srgbClr val="1C252B"/>
                </a:solidFill>
                <a:latin typeface="Segoe UI"/>
              </a:rPr>
              <a:t> entry, then predict — before running it — whether the number of reachable </a:t>
            </a:r>
            <a:r>
              <a:rPr sz="1800" b="0" i="0">
                <a:solidFill>
                  <a:srgbClr val="1F4E79"/>
                </a:solidFill>
                <a:latin typeface="Consolas"/>
              </a:rPr>
              <a:t>frozenset</a:t>
            </a:r>
            <a:r>
              <a:rPr sz="1900" b="0" i="0">
                <a:solidFill>
                  <a:srgbClr val="1C252B"/>
                </a:solidFill>
                <a:latin typeface="Segoe UI"/>
              </a:rPr>
              <a:t> states goes up by more or less than a factor of two, and justify your prediction.</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1195723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C6081"/>
                </a:solidFill>
                <a:latin typeface="Segoe UI Black"/>
              </a:rPr>
              <a:t>03</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3</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4 — Problem Formulation and Uninformed Search</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3, pages 22–33</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The frontier and the graph: the course toolkit</a:t>
            </a:r>
          </a:p>
        </p:txBody>
      </p:sp>
      <p:sp>
        <p:nvSpPr>
          <p:cNvPr id="1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Artificial Intelligence  ·  Chapter 3  ·  Representations and Search in Python</a:t>
            </a:r>
          </a:p>
        </p:txBody>
      </p:sp>
      <p:sp>
        <p:nvSpPr>
          <p:cNvPr id="15" name="!!footR"/>
          <p:cNvSpPr txBox="1"/>
          <p:nvPr/>
        </p:nvSpPr>
        <p:spPr>
          <a:xfrm>
            <a:off x="6639595" y="6437376"/>
            <a:ext cx="4893731" cy="237744"/>
          </a:xfrm>
          <a:prstGeom prst="rect">
            <a:avLst/>
          </a:prstGeom>
          <a:noFill/>
        </p:spPr>
        <p:txBody>
          <a:bodyPr wrap="square" anchor="t" lIns="0" rIns="0" tIns="0" bIns="0">
            <a:noAutofit/>
          </a:bodyPr>
          <a:lstStyle/>
          <a:p>
            <a:pPr algn="r"/>
            <a:fld id="{0ED81F3D-AC5D-4BE5-AF43-BE834B273581}" type="slidenum">
              <a:rPr lang="en-GB" sz="1000">
                <a:solidFill>
                  <a:srgbClr val="D5DEE5"/>
                </a:solidFill>
                <a:latin typeface="Segoe UI"/>
              </a:rPr>
              <a:t>52</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Artificial Intelligence Fall 2026">
  <a:themeElements>
    <a:clrScheme name="Artificial Intelligence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Artificial Intelligence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 Representations and Search in Python</dc:title>
  <dc:subject>Artificial Intelligence — Search, Knowledge and Reasoning · BSIT · Fall 2026</dc:subject>
  <dc:creator>Dr. Mustafa Hameed</dc:creator>
  <cp:keywords>artificial intelligence;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