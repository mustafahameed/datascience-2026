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49A6A70-AEFA-4030-B9F3-FB640EFD9A43}">
          <p14:sldIdLst>
            <p14:sldId id="256"/>
            <p14:sldId id="257"/>
            <p14:sldId id="258"/>
            <p14:sldId id="259"/>
            <p14:sldId id="260"/>
          </p14:sldIdLst>
        </p14:section>
        <p14:section name="22.5 Reporting It" id="{8759C2A6-C5FF-4896-BDFA-479207BDB41E}">
          <p14:sldIdLst>
            <p14:sldId id="261"/>
          </p14:sldIdLst>
        </p14:section>
        <p14:section name="Checkpoint" id="{3400AB8B-D31B-40E7-90C3-F1B60FE89717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Wrap-up" id="{8B63AE36-6543-4E30-8A8C-91B10A1C4644}">
          <p14:sldIdLst>
            <p14:sldId id="268"/>
            <p14:sldId id="269"/>
            <p14:sldId id="27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22: The Artificial Intelligence Project. Part 6 — Learning, Language and Responsible AI. Week 11: First-order logic and resolution; the project brief. Handout pages 129–131.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 the chapter. Before you start: The whole course. The project is set in Week 11 and presented in Week 16 (Appendix 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these out: they are the chapter's contract with the room. Each click adds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define these now; they arrive one at a time. This slide is for the students' notes. Terms: problem scoping; proposal; PEAS specification; baseline; evaluation measure; reproducibility; project report; demonstration;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route through the chapter. Each row is a link: click it to jump to that section in the slide 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To be written with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To be written with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To be written with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to say each takeaway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these for independent study. Model answers are not printed in the handout.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THE COURSE: 22 chapters  ·  six parts  ·  one project. READ: Handout Chapter 22, pages 129–131. THIS WEEK'S LAB: Unification and a resolution proof. ASSESSMENT: Project set, proposal due; Assignment 2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000" kern="1200" b="0">
          <a:solidFill>
            <a:srgbClr val="1A5276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notesSlide" Target="../notesSlides/notesSlide5.xml"/><Relationship Id="rId5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12.sv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17.sv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Relationship Id="rId3" Type="http://schemas.openxmlformats.org/officeDocument/2006/relationships/image" Target="../media/image18.sv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19.sv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Relationship Id="rId3" Type="http://schemas.openxmlformats.org/officeDocument/2006/relationships/image" Target="../media/image20.sv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Relationship Id="rId3" Type="http://schemas.openxmlformats.org/officeDocument/2006/relationships/image" Target="../media/image22.sv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Relationship Id="rId3" Type="http://schemas.openxmlformats.org/officeDocument/2006/relationships/image" Target="../media/image24.sv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05B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!!w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430975" y="-50292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0" b="0" i="0">
                <a:solidFill>
                  <a:srgbClr val="7E6B1F"/>
                </a:solidFill>
                <a:latin typeface="Segoe UI Black"/>
              </a:rPr>
              <a:t>22</a:t>
            </a:r>
          </a:p>
        </p:txBody>
      </p:sp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2304288"/>
            <a:ext cx="8503920" cy="192024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4600" b="0">
                <a:solidFill>
                  <a:srgbClr val="FFFFFF"/>
                </a:solidFill>
                <a:latin typeface="Segoe UI Semibold"/>
              </a:rPr>
              <a:t>The Artificial Intelligence Project</a:t>
            </a:r>
          </a:p>
        </p:txBody>
      </p:sp>
      <p:sp>
        <p:nvSpPr>
          <p:cNvPr id="4" name="!!t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298448"/>
            <a:ext cx="822960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!!tpart"/>
          <p:cNvSpPr txBox="1"/>
          <p:nvPr/>
        </p:nvSpPr>
        <p:spPr>
          <a:xfrm>
            <a:off x="658368" y="151790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80">
                <a:solidFill>
                  <a:srgbClr val="D7D1B9"/>
                </a:solidFill>
                <a:latin typeface="Segoe UI"/>
              </a:rPr>
              <a:t>PART VI  ·  LEARNING, LANGUAGE AND RESPONSIBLE AI</a:t>
            </a:r>
          </a:p>
        </p:txBody>
      </p:sp>
      <p:sp>
        <p:nvSpPr>
          <p:cNvPr id="6" name="!!tch"/>
          <p:cNvSpPr txBox="1"/>
          <p:nvPr/>
        </p:nvSpPr>
        <p:spPr>
          <a:xfrm>
            <a:off x="658368" y="186537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80">
                <a:solidFill>
                  <a:srgbClr val="D7D1B9"/>
                </a:solidFill>
                <a:latin typeface="Segoe UI"/>
              </a:rPr>
              <a:t>CHAPTER 22  ·  WEEK 11</a:t>
            </a:r>
          </a:p>
        </p:txBody>
      </p:sp>
      <p:sp>
        <p:nvSpPr>
          <p:cNvPr id="7" name="!!tsub"/>
          <p:cNvSpPr txBox="1"/>
          <p:nvPr/>
        </p:nvSpPr>
        <p:spPr>
          <a:xfrm>
            <a:off x="658368" y="4315968"/>
            <a:ext cx="85039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2DECD"/>
                </a:solidFill>
                <a:latin typeface="Segoe UI"/>
              </a:rPr>
              <a:t>Artificial Intelligence — Search, Knowledge and Reasoning</a:t>
            </a:r>
          </a:p>
        </p:txBody>
      </p:sp>
      <p:sp>
        <p:nvSpPr>
          <p:cNvPr id="8" name="!!ban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285232"/>
            <a:ext cx="12191695" cy="1572767"/>
          </a:xfrm>
          <a:prstGeom prst="rect">
            <a:avLst/>
          </a:prstGeom>
          <a:solidFill>
            <a:srgbClr val="5142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lab"/>
          <p:cNvSpPr txBox="1"/>
          <p:nvPr/>
        </p:nvSpPr>
        <p:spPr>
          <a:xfrm>
            <a:off x="658368" y="5541264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BDB7A0"/>
                </a:solidFill>
                <a:latin typeface="Segoe UI"/>
              </a:rPr>
              <a:t>LECTURER</a:t>
            </a:r>
          </a:p>
        </p:txBody>
      </p:sp>
      <p:sp>
        <p:nvSpPr>
          <p:cNvPr id="10" name="!!author"/>
          <p:cNvSpPr txBox="1"/>
          <p:nvPr/>
        </p:nvSpPr>
        <p:spPr>
          <a:xfrm>
            <a:off x="658368" y="577900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Dr. Mustafa Hameed</a:t>
            </a:r>
          </a:p>
        </p:txBody>
      </p:sp>
      <p:sp>
        <p:nvSpPr>
          <p:cNvPr id="11" name="!!dept"/>
          <p:cNvSpPr txBox="1"/>
          <p:nvPr/>
        </p:nvSpPr>
        <p:spPr>
          <a:xfrm>
            <a:off x="658368" y="6181344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ECAB9"/>
                </a:solidFill>
                <a:latin typeface="Segoe UI"/>
              </a:rPr>
              <a:t>Department of Information Technology  ·  BSIT · Fall 2026</a:t>
            </a:r>
          </a:p>
        </p:txBody>
      </p:sp>
      <p:sp>
        <p:nvSpPr>
          <p:cNvPr id="12" name="!!uni"/>
          <p:cNvSpPr txBox="1"/>
          <p:nvPr/>
        </p:nvSpPr>
        <p:spPr>
          <a:xfrm>
            <a:off x="5205818" y="568756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60">
                <a:solidFill>
                  <a:srgbClr val="FFFFFF"/>
                </a:solidFill>
                <a:latin typeface="Segoe UI"/>
              </a:rPr>
              <a:t>THE ISLAMIA UNIVERSITY OF BAHAWALPUR</a:t>
            </a:r>
          </a:p>
        </p:txBody>
      </p:sp>
      <p:sp>
        <p:nvSpPr>
          <p:cNvPr id="13" name="!!uni2"/>
          <p:cNvSpPr txBox="1"/>
          <p:nvPr/>
        </p:nvSpPr>
        <p:spPr>
          <a:xfrm>
            <a:off x="5205818" y="596188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DB7A0"/>
                </a:solidFill>
                <a:latin typeface="Segoe UI"/>
              </a:rPr>
              <a:t>Bahawalpur, Pakistan</a:t>
            </a:r>
          </a:p>
        </p:txBody>
      </p:sp>
      <p:pic>
        <p:nvPicPr>
          <p:cNvPr id="14" name="!!logo-iub-logo-white" descr="The Islamia University of Bahawalpu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3498" y="5486400"/>
            <a:ext cx="904084" cy="896112"/>
          </a:xfrm>
          <a:prstGeom prst="rect">
            <a:avLst/>
          </a:prstGeom>
        </p:spPr>
      </p:pic>
      <p:pic>
        <p:nvPicPr>
          <p:cNvPr id="15" name="!!logo-dit-logo" descr="Department of Information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614" y="5486400"/>
            <a:ext cx="869712" cy="8961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Where this chapter sits</a:t>
            </a:r>
          </a:p>
        </p:txBody>
      </p:sp>
      <p:pic>
        <p:nvPicPr>
          <p:cNvPr id="3" name="!!kicker-icon" descr="map-signs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THE COURSE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22  ·  The Artificial Intelligence Project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129     </a:t>
            </a:r>
            <a:fld id="{027E2CE2-A876-4071-B7ED-DD8560D5A56F}" type="slidenum">
              <a:rPr lang="en-GB" sz="1000">
                <a:solidFill>
                  <a:srgbClr val="8795A1"/>
                </a:solidFill>
                <a:latin typeface="Segoe UI"/>
              </a:rPr>
              <a:t>2</a:t>
            </a:fld>
          </a:p>
        </p:txBody>
      </p:sp>
      <p:sp>
        <p:nvSpPr>
          <p:cNvPr id="7" name="!!rp1"/>
          <p:cNvSpPr txBox="1"/>
          <p:nvPr/>
        </p:nvSpPr>
        <p:spPr>
          <a:xfrm>
            <a:off x="777239" y="1755648"/>
            <a:ext cx="117371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</a:t>
            </a:r>
          </a:p>
        </p:txBody>
      </p:sp>
      <p:sp>
        <p:nvSpPr>
          <p:cNvPr id="8" name="!!rp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39" y="2029967"/>
            <a:ext cx="117371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rp2"/>
          <p:cNvSpPr txBox="1"/>
          <p:nvPr/>
        </p:nvSpPr>
        <p:spPr>
          <a:xfrm>
            <a:off x="2280139" y="1755648"/>
            <a:ext cx="117371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II</a:t>
            </a:r>
          </a:p>
        </p:txBody>
      </p:sp>
      <p:sp>
        <p:nvSpPr>
          <p:cNvPr id="10" name="!!rp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0139" y="2029967"/>
            <a:ext cx="117371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rp3"/>
          <p:cNvSpPr txBox="1"/>
          <p:nvPr/>
        </p:nvSpPr>
        <p:spPr>
          <a:xfrm>
            <a:off x="3783039" y="1755648"/>
            <a:ext cx="117371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III</a:t>
            </a:r>
          </a:p>
        </p:txBody>
      </p:sp>
      <p:sp>
        <p:nvSpPr>
          <p:cNvPr id="12" name="!!rp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83039" y="2029967"/>
            <a:ext cx="117371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rp4"/>
          <p:cNvSpPr txBox="1"/>
          <p:nvPr/>
        </p:nvSpPr>
        <p:spPr>
          <a:xfrm>
            <a:off x="5285938" y="1755648"/>
            <a:ext cx="1583242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IV</a:t>
            </a:r>
          </a:p>
        </p:txBody>
      </p:sp>
      <p:sp>
        <p:nvSpPr>
          <p:cNvPr id="14" name="!!rpl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85938" y="2029967"/>
            <a:ext cx="1583242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rp5"/>
          <p:cNvSpPr txBox="1"/>
          <p:nvPr/>
        </p:nvSpPr>
        <p:spPr>
          <a:xfrm>
            <a:off x="7198364" y="1755648"/>
            <a:ext cx="117371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V</a:t>
            </a:r>
          </a:p>
        </p:txBody>
      </p:sp>
      <p:sp>
        <p:nvSpPr>
          <p:cNvPr id="16" name="!!rpl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98364" y="2029967"/>
            <a:ext cx="117371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rp6"/>
          <p:cNvSpPr txBox="1"/>
          <p:nvPr/>
        </p:nvSpPr>
        <p:spPr>
          <a:xfrm>
            <a:off x="8701264" y="1755648"/>
            <a:ext cx="2557743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705B06"/>
                </a:solidFill>
                <a:latin typeface="Segoe UI"/>
              </a:rPr>
              <a:t>PART VI</a:t>
            </a:r>
          </a:p>
        </p:txBody>
      </p:sp>
      <p:sp>
        <p:nvSpPr>
          <p:cNvPr id="18" name="!!rpl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01264" y="2029967"/>
            <a:ext cx="2557743" cy="45720"/>
          </a:xfrm>
          <a:prstGeom prst="rect">
            <a:avLst/>
          </a:prstGeom>
          <a:solidFill>
            <a:srgbClr val="705B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!!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7411" y="2258568"/>
            <a:ext cx="274320" cy="274320"/>
          </a:xfrm>
          <a:prstGeom prst="ellipse">
            <a:avLst/>
          </a:prstGeom>
          <a:solidFill>
            <a:srgbClr val="3C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dotn1"/>
          <p:cNvSpPr txBox="1"/>
          <p:nvPr/>
        </p:nvSpPr>
        <p:spPr>
          <a:xfrm>
            <a:off x="725971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1" name="!!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6937" y="2258568"/>
            <a:ext cx="274320" cy="274320"/>
          </a:xfrm>
          <a:prstGeom prst="ellipse">
            <a:avLst/>
          </a:prstGeom>
          <a:solidFill>
            <a:srgbClr val="3C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!!dotn2"/>
          <p:cNvSpPr txBox="1"/>
          <p:nvPr/>
        </p:nvSpPr>
        <p:spPr>
          <a:xfrm>
            <a:off x="113549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3" name="!!dot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36464" y="2258568"/>
            <a:ext cx="274320" cy="274320"/>
          </a:xfrm>
          <a:prstGeom prst="ellipse">
            <a:avLst/>
          </a:prstGeom>
          <a:solidFill>
            <a:srgbClr val="3C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dotn3"/>
          <p:cNvSpPr txBox="1"/>
          <p:nvPr/>
        </p:nvSpPr>
        <p:spPr>
          <a:xfrm>
            <a:off x="1545024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5" name="!!dot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320310" y="2258568"/>
            <a:ext cx="274320" cy="274320"/>
          </a:xfrm>
          <a:prstGeom prst="ellipse">
            <a:avLst/>
          </a:prstGeom>
          <a:solidFill>
            <a:srgbClr val="4D9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!!dotn4"/>
          <p:cNvSpPr txBox="1"/>
          <p:nvPr/>
        </p:nvSpPr>
        <p:spPr>
          <a:xfrm>
            <a:off x="2228870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7" name="!!dot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29837" y="2258568"/>
            <a:ext cx="274320" cy="274320"/>
          </a:xfrm>
          <a:prstGeom prst="ellipse">
            <a:avLst/>
          </a:prstGeom>
          <a:solidFill>
            <a:srgbClr val="4D9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dotn5"/>
          <p:cNvSpPr txBox="1"/>
          <p:nvPr/>
        </p:nvSpPr>
        <p:spPr>
          <a:xfrm>
            <a:off x="263839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9" name="!!dot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39363" y="2258568"/>
            <a:ext cx="274320" cy="274320"/>
          </a:xfrm>
          <a:prstGeom prst="ellipse">
            <a:avLst/>
          </a:prstGeom>
          <a:solidFill>
            <a:srgbClr val="4D9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!!dotn6"/>
          <p:cNvSpPr txBox="1"/>
          <p:nvPr/>
        </p:nvSpPr>
        <p:spPr>
          <a:xfrm>
            <a:off x="3047923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1" name="!!dot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23210" y="2258568"/>
            <a:ext cx="274320" cy="274320"/>
          </a:xfrm>
          <a:prstGeom prst="ellipse">
            <a:avLst/>
          </a:prstGeom>
          <a:solidFill>
            <a:srgbClr val="47B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!!dotn7"/>
          <p:cNvSpPr txBox="1"/>
          <p:nvPr/>
        </p:nvSpPr>
        <p:spPr>
          <a:xfrm>
            <a:off x="3731770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33" name="!!dot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32736" y="2258568"/>
            <a:ext cx="274320" cy="274320"/>
          </a:xfrm>
          <a:prstGeom prst="ellipse">
            <a:avLst/>
          </a:prstGeom>
          <a:solidFill>
            <a:srgbClr val="47B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!!dotn8"/>
          <p:cNvSpPr txBox="1"/>
          <p:nvPr/>
        </p:nvSpPr>
        <p:spPr>
          <a:xfrm>
            <a:off x="4141296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35" name="!!dot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42263" y="2258568"/>
            <a:ext cx="274320" cy="274320"/>
          </a:xfrm>
          <a:prstGeom prst="ellipse">
            <a:avLst/>
          </a:prstGeom>
          <a:solidFill>
            <a:srgbClr val="47B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!!dotn9"/>
          <p:cNvSpPr txBox="1"/>
          <p:nvPr/>
        </p:nvSpPr>
        <p:spPr>
          <a:xfrm>
            <a:off x="4550823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37" name="!!dot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26109" y="2258568"/>
            <a:ext cx="274320" cy="274320"/>
          </a:xfrm>
          <a:prstGeom prst="ellipse">
            <a:avLst/>
          </a:prstGeom>
          <a:solidFill>
            <a:srgbClr val="9F6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!!dotn10"/>
          <p:cNvSpPr txBox="1"/>
          <p:nvPr/>
        </p:nvSpPr>
        <p:spPr>
          <a:xfrm>
            <a:off x="5234669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39" name="!!dot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35636" y="2258568"/>
            <a:ext cx="274320" cy="274320"/>
          </a:xfrm>
          <a:prstGeom prst="ellipse">
            <a:avLst/>
          </a:prstGeom>
          <a:solidFill>
            <a:srgbClr val="9F6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!!dotn11"/>
          <p:cNvSpPr txBox="1"/>
          <p:nvPr/>
        </p:nvSpPr>
        <p:spPr>
          <a:xfrm>
            <a:off x="5644196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41" name="!!dot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45162" y="2258568"/>
            <a:ext cx="274320" cy="274320"/>
          </a:xfrm>
          <a:prstGeom prst="ellipse">
            <a:avLst/>
          </a:prstGeom>
          <a:solidFill>
            <a:srgbClr val="9F6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!!dotn12"/>
          <p:cNvSpPr txBox="1"/>
          <p:nvPr/>
        </p:nvSpPr>
        <p:spPr>
          <a:xfrm>
            <a:off x="6053722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43" name="!!dot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54689" y="2258568"/>
            <a:ext cx="274320" cy="274320"/>
          </a:xfrm>
          <a:prstGeom prst="ellipse">
            <a:avLst/>
          </a:prstGeom>
          <a:solidFill>
            <a:srgbClr val="9F6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!!dotn13"/>
          <p:cNvSpPr txBox="1"/>
          <p:nvPr/>
        </p:nvSpPr>
        <p:spPr>
          <a:xfrm>
            <a:off x="6463249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45" name="!!dot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38535" y="2258568"/>
            <a:ext cx="274320" cy="274320"/>
          </a:xfrm>
          <a:prstGeom prst="ellipse">
            <a:avLst/>
          </a:prstGeom>
          <a:solidFill>
            <a:srgbClr val="358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!!dotn14"/>
          <p:cNvSpPr txBox="1"/>
          <p:nvPr/>
        </p:nvSpPr>
        <p:spPr>
          <a:xfrm>
            <a:off x="7147095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47" name="!!dot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8062" y="2258568"/>
            <a:ext cx="274320" cy="274320"/>
          </a:xfrm>
          <a:prstGeom prst="ellipse">
            <a:avLst/>
          </a:prstGeom>
          <a:solidFill>
            <a:srgbClr val="358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!!dotn15"/>
          <p:cNvSpPr txBox="1"/>
          <p:nvPr/>
        </p:nvSpPr>
        <p:spPr>
          <a:xfrm>
            <a:off x="7556622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49" name="!!dot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57588" y="2258568"/>
            <a:ext cx="274320" cy="274320"/>
          </a:xfrm>
          <a:prstGeom prst="ellipse">
            <a:avLst/>
          </a:prstGeom>
          <a:solidFill>
            <a:srgbClr val="358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!!dotn16"/>
          <p:cNvSpPr txBox="1"/>
          <p:nvPr/>
        </p:nvSpPr>
        <p:spPr>
          <a:xfrm>
            <a:off x="7966148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16</a:t>
            </a:r>
          </a:p>
        </p:txBody>
      </p:sp>
      <p:sp>
        <p:nvSpPr>
          <p:cNvPr id="51" name="!!dot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41435" y="2258568"/>
            <a:ext cx="274320" cy="274320"/>
          </a:xfrm>
          <a:prstGeom prst="ellipse">
            <a:avLst/>
          </a:prstGeom>
          <a:solidFill>
            <a:srgbClr val="C2A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!!dotn17"/>
          <p:cNvSpPr txBox="1"/>
          <p:nvPr/>
        </p:nvSpPr>
        <p:spPr>
          <a:xfrm>
            <a:off x="8649995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53" name="!!dot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50961" y="2258568"/>
            <a:ext cx="274320" cy="274320"/>
          </a:xfrm>
          <a:prstGeom prst="ellipse">
            <a:avLst/>
          </a:prstGeom>
          <a:solidFill>
            <a:srgbClr val="C2A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!!dotn18"/>
          <p:cNvSpPr txBox="1"/>
          <p:nvPr/>
        </p:nvSpPr>
        <p:spPr>
          <a:xfrm>
            <a:off x="9059521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55" name="!!dot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60488" y="2258568"/>
            <a:ext cx="274320" cy="274320"/>
          </a:xfrm>
          <a:prstGeom prst="ellipse">
            <a:avLst/>
          </a:prstGeom>
          <a:solidFill>
            <a:srgbClr val="C2A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!!dotn19"/>
          <p:cNvSpPr txBox="1"/>
          <p:nvPr/>
        </p:nvSpPr>
        <p:spPr>
          <a:xfrm>
            <a:off x="9469048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sp>
        <p:nvSpPr>
          <p:cNvPr id="57" name="!!dot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70014" y="2258568"/>
            <a:ext cx="274320" cy="274320"/>
          </a:xfrm>
          <a:prstGeom prst="ellipse">
            <a:avLst/>
          </a:prstGeom>
          <a:solidFill>
            <a:srgbClr val="C2A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!!dotn20"/>
          <p:cNvSpPr txBox="1"/>
          <p:nvPr/>
        </p:nvSpPr>
        <p:spPr>
          <a:xfrm>
            <a:off x="9878574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20</a:t>
            </a:r>
          </a:p>
        </p:txBody>
      </p:sp>
      <p:sp>
        <p:nvSpPr>
          <p:cNvPr id="59" name="!!dot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379541" y="2258568"/>
            <a:ext cx="274320" cy="274320"/>
          </a:xfrm>
          <a:prstGeom prst="ellipse">
            <a:avLst/>
          </a:prstGeom>
          <a:solidFill>
            <a:srgbClr val="C2A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!!dotn21"/>
          <p:cNvSpPr txBox="1"/>
          <p:nvPr/>
        </p:nvSpPr>
        <p:spPr>
          <a:xfrm>
            <a:off x="10288101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21</a:t>
            </a:r>
          </a:p>
        </p:txBody>
      </p:sp>
      <p:sp>
        <p:nvSpPr>
          <p:cNvPr id="61" name="!!dot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798211" y="2112264"/>
            <a:ext cx="566928" cy="566928"/>
          </a:xfrm>
          <a:prstGeom prst="ellipse">
            <a:avLst/>
          </a:prstGeom>
          <a:solidFill>
            <a:srgbClr val="705B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!!dotn22"/>
          <p:cNvSpPr txBox="1"/>
          <p:nvPr/>
        </p:nvSpPr>
        <p:spPr>
          <a:xfrm>
            <a:off x="10798211" y="2240280"/>
            <a:ext cx="566928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22</a:t>
            </a:r>
          </a:p>
        </p:txBody>
      </p:sp>
      <p:sp>
        <p:nvSpPr>
          <p:cNvPr id="63" name="!!dotlabel"/>
          <p:cNvSpPr txBox="1"/>
          <p:nvPr/>
        </p:nvSpPr>
        <p:spPr>
          <a:xfrm>
            <a:off x="5681167" y="2798064"/>
            <a:ext cx="5852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05B06"/>
                </a:solidFill>
                <a:latin typeface="Segoe UI"/>
              </a:rPr>
              <a:t>The Artificial Intelligence Project</a:t>
            </a:r>
          </a:p>
        </p:txBody>
      </p:sp>
      <p:sp>
        <p:nvSpPr>
          <p:cNvPr id="64" name="!!dep-BUILD"/>
          <p:cNvSpPr txBox="1"/>
          <p:nvPr/>
        </p:nvSpPr>
        <p:spPr>
          <a:xfrm>
            <a:off x="658368" y="3419856"/>
            <a:ext cx="520887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5F6F7B"/>
                </a:solidFill>
                <a:latin typeface="Segoe UI"/>
              </a:rPr>
              <a:t>BUILDS ON</a:t>
            </a:r>
          </a:p>
        </p:txBody>
      </p:sp>
      <p:sp>
        <p:nvSpPr>
          <p:cNvPr id="65" name="!!dep-none-BUILD"/>
          <p:cNvSpPr txBox="1"/>
          <p:nvPr/>
        </p:nvSpPr>
        <p:spPr>
          <a:xfrm>
            <a:off x="658368" y="3785616"/>
            <a:ext cx="520887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8A4AE"/>
                </a:solidFill>
                <a:latin typeface="Segoe UI"/>
              </a:rPr>
              <a:t>—  nothing earlier in the course</a:t>
            </a:r>
          </a:p>
        </p:txBody>
      </p:sp>
      <p:sp>
        <p:nvSpPr>
          <p:cNvPr id="66" name="!!dep-USED "/>
          <p:cNvSpPr txBox="1"/>
          <p:nvPr/>
        </p:nvSpPr>
        <p:spPr>
          <a:xfrm>
            <a:off x="6324447" y="3419856"/>
            <a:ext cx="520887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5F6F7B"/>
                </a:solidFill>
                <a:latin typeface="Segoe UI"/>
              </a:rPr>
              <a:t>USED LATER IN</a:t>
            </a:r>
          </a:p>
        </p:txBody>
      </p:sp>
      <p:sp>
        <p:nvSpPr>
          <p:cNvPr id="67" name="!!dep-none-USED "/>
          <p:cNvSpPr txBox="1"/>
          <p:nvPr/>
        </p:nvSpPr>
        <p:spPr>
          <a:xfrm>
            <a:off x="6324447" y="3785616"/>
            <a:ext cx="520887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8A4AE"/>
                </a:solidFill>
                <a:latin typeface="Segoe UI"/>
              </a:rPr>
              <a:t>—  the course ends here</a:t>
            </a:r>
          </a:p>
        </p:txBody>
      </p:sp>
      <p:sp>
        <p:nvSpPr>
          <p:cNvPr id="68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625559" cy="54864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you will be able to do</a:t>
            </a:r>
          </a:p>
        </p:txBody>
      </p:sp>
      <p:pic>
        <p:nvPicPr>
          <p:cNvPr id="3" name="!!kicker-icon" descr="bullseye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LEARNING OUTCOMES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22  ·  The Artificial Intelligence Project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129     </a:t>
            </a:r>
            <a:fld id="{86ED594E-484D-4AF2-8B0B-666ECFD0E760}" type="slidenum">
              <a:rPr lang="en-GB" sz="1000">
                <a:solidFill>
                  <a:srgbClr val="8795A1"/>
                </a:solidFill>
                <a:latin typeface="Segoe UI"/>
              </a:rPr>
              <a:t>3</a:t>
            </a:fld>
          </a:p>
        </p:txBody>
      </p:sp>
      <p:sp>
        <p:nvSpPr>
          <p:cNvPr id="7" name="!!olead"/>
          <p:cNvSpPr txBox="1"/>
          <p:nvPr/>
        </p:nvSpPr>
        <p:spPr>
          <a:xfrm>
            <a:off x="658368" y="1737360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F6F7B"/>
                </a:solidFill>
                <a:latin typeface="Segoe UI"/>
              </a:rPr>
              <a:t>By the end of this chapter you will be able to:</a:t>
            </a:r>
          </a:p>
        </p:txBody>
      </p:sp>
      <p:sp>
        <p:nvSpPr>
          <p:cNvPr id="8" name="!!o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21991"/>
            <a:ext cx="420624" cy="420624"/>
          </a:xfrm>
          <a:prstGeom prst="ellipse">
            <a:avLst/>
          </a:prstGeom>
          <a:solidFill>
            <a:srgbClr val="705B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obn0"/>
          <p:cNvSpPr txBox="1"/>
          <p:nvPr/>
        </p:nvSpPr>
        <p:spPr>
          <a:xfrm>
            <a:off x="658368" y="2281428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!!ot0"/>
          <p:cNvSpPr txBox="1"/>
          <p:nvPr/>
        </p:nvSpPr>
        <p:spPr>
          <a:xfrm>
            <a:off x="1316736" y="2263140"/>
            <a:ext cx="10216591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05B06"/>
                </a:solidFill>
                <a:latin typeface="Segoe UI"/>
              </a:rPr>
              <a:t>Choose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scope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 problem that the methods of this course can actually solve.</a:t>
            </a:r>
          </a:p>
        </p:txBody>
      </p:sp>
      <p:sp>
        <p:nvSpPr>
          <p:cNvPr id="11" name="!!o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825496"/>
            <a:ext cx="420624" cy="420624"/>
          </a:xfrm>
          <a:prstGeom prst="ellipse">
            <a:avLst/>
          </a:prstGeom>
          <a:solidFill>
            <a:srgbClr val="705B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obn1"/>
          <p:cNvSpPr txBox="1"/>
          <p:nvPr/>
        </p:nvSpPr>
        <p:spPr>
          <a:xfrm>
            <a:off x="658368" y="2884932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!!ot1"/>
          <p:cNvSpPr txBox="1"/>
          <p:nvPr/>
        </p:nvSpPr>
        <p:spPr>
          <a:xfrm>
            <a:off x="1316736" y="2816352"/>
            <a:ext cx="10216591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05B06"/>
                </a:solidFill>
                <a:latin typeface="Segoe UI"/>
              </a:rPr>
              <a:t>Write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 project proposal stating the PEAS specification, the method and the measure of success.</a:t>
            </a:r>
          </a:p>
        </p:txBody>
      </p:sp>
      <p:sp>
        <p:nvSpPr>
          <p:cNvPr id="14" name="!!o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674059"/>
            <a:ext cx="420624" cy="420624"/>
          </a:xfrm>
          <a:prstGeom prst="ellipse">
            <a:avLst/>
          </a:prstGeom>
          <a:solidFill>
            <a:srgbClr val="705B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obn2"/>
          <p:cNvSpPr txBox="1"/>
          <p:nvPr/>
        </p:nvSpPr>
        <p:spPr>
          <a:xfrm>
            <a:off x="658368" y="3733495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6" name="!!ot2"/>
          <p:cNvSpPr txBox="1"/>
          <p:nvPr/>
        </p:nvSpPr>
        <p:spPr>
          <a:xfrm>
            <a:off x="1316736" y="3715207"/>
            <a:ext cx="10216591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05B06"/>
                </a:solidFill>
                <a:latin typeface="Segoe UI"/>
              </a:rPr>
              <a:t>Implement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 working solution with a baseline to compare it against.</a:t>
            </a:r>
          </a:p>
        </p:txBody>
      </p:sp>
      <p:sp>
        <p:nvSpPr>
          <p:cNvPr id="17" name="!!o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277563"/>
            <a:ext cx="420624" cy="420624"/>
          </a:xfrm>
          <a:prstGeom prst="ellipse">
            <a:avLst/>
          </a:prstGeom>
          <a:solidFill>
            <a:srgbClr val="705B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obn3"/>
          <p:cNvSpPr txBox="1"/>
          <p:nvPr/>
        </p:nvSpPr>
        <p:spPr>
          <a:xfrm>
            <a:off x="658368" y="4336999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9" name="!!ot3"/>
          <p:cNvSpPr txBox="1"/>
          <p:nvPr/>
        </p:nvSpPr>
        <p:spPr>
          <a:xfrm>
            <a:off x="1316736" y="4268419"/>
            <a:ext cx="10216591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05B06"/>
                </a:solidFill>
                <a:latin typeface="Segoe UI"/>
              </a:rPr>
              <a:t>Report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result honestly, including what did not work,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audit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system as Chapter 21 requires.</a:t>
            </a:r>
          </a:p>
        </p:txBody>
      </p:sp>
      <p:sp>
        <p:nvSpPr>
          <p:cNvPr id="48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438339" cy="54864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3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4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Vocabulary for this chapter</a:t>
            </a:r>
          </a:p>
        </p:txBody>
      </p:sp>
      <p:pic>
        <p:nvPicPr>
          <p:cNvPr id="3" name="!!kicker-icon" descr="tags-8E44AD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7256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8E44AD"/>
                </a:solidFill>
                <a:latin typeface="Segoe UI"/>
              </a:rPr>
              <a:t>KEY TERMS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22  ·  The Artificial Intelligence Project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129     </a:t>
            </a:r>
            <a:fld id="{9F8C81B5-41FF-48E9-BCBB-644476FD33C3}" type="slidenum">
              <a:rPr lang="en-GB" sz="1000">
                <a:solidFill>
                  <a:srgbClr val="8795A1"/>
                </a:solidFill>
                <a:latin typeface="Segoe UI"/>
              </a:rPr>
              <a:t>4</a:t>
            </a:fld>
          </a:p>
        </p:txBody>
      </p:sp>
      <p:sp>
        <p:nvSpPr>
          <p:cNvPr id="7" name="!!term-problem scopi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847088"/>
            <a:ext cx="2083235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termd-problem scopi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termt-problem scopin"/>
          <p:cNvSpPr txBox="1"/>
          <p:nvPr/>
        </p:nvSpPr>
        <p:spPr>
          <a:xfrm>
            <a:off x="950976" y="1955291"/>
            <a:ext cx="1900355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problem scoping</a:t>
            </a:r>
          </a:p>
        </p:txBody>
      </p:sp>
      <p:sp>
        <p:nvSpPr>
          <p:cNvPr id="10" name="!!term-proposa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87907" y="1847088"/>
            <a:ext cx="1291331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termd-proposa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5923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termt-proposal"/>
          <p:cNvSpPr txBox="1"/>
          <p:nvPr/>
        </p:nvSpPr>
        <p:spPr>
          <a:xfrm>
            <a:off x="3180515" y="1955291"/>
            <a:ext cx="1108451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proposal</a:t>
            </a:r>
          </a:p>
        </p:txBody>
      </p:sp>
      <p:sp>
        <p:nvSpPr>
          <p:cNvPr id="13" name="!!term-PEAS specific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25542" y="1847088"/>
            <a:ext cx="2203756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termd-PEAS specific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53558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termt-PEAS specifica"/>
          <p:cNvSpPr txBox="1"/>
          <p:nvPr/>
        </p:nvSpPr>
        <p:spPr>
          <a:xfrm>
            <a:off x="4618150" y="1955291"/>
            <a:ext cx="2020876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PEAS specification</a:t>
            </a:r>
          </a:p>
        </p:txBody>
      </p:sp>
      <p:sp>
        <p:nvSpPr>
          <p:cNvPr id="16" name="!!term-base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75602" y="1847088"/>
            <a:ext cx="1235395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termd-base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03618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termt-baseline"/>
          <p:cNvSpPr txBox="1"/>
          <p:nvPr/>
        </p:nvSpPr>
        <p:spPr>
          <a:xfrm>
            <a:off x="6968210" y="1955291"/>
            <a:ext cx="1052515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baseline</a:t>
            </a:r>
          </a:p>
        </p:txBody>
      </p:sp>
      <p:sp>
        <p:nvSpPr>
          <p:cNvPr id="19" name="!!term-evaluation me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57302" y="1847088"/>
            <a:ext cx="2330257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termd-evaluation me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85318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termt-evaluation mea"/>
          <p:cNvSpPr txBox="1"/>
          <p:nvPr/>
        </p:nvSpPr>
        <p:spPr>
          <a:xfrm>
            <a:off x="8349910" y="1955291"/>
            <a:ext cx="2147377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evaluation measure</a:t>
            </a:r>
          </a:p>
        </p:txBody>
      </p:sp>
      <p:sp>
        <p:nvSpPr>
          <p:cNvPr id="22" name="!!term-reproducibili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468880"/>
            <a:ext cx="1845795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termd-reproducibili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termt-reproducibilit"/>
          <p:cNvSpPr txBox="1"/>
          <p:nvPr/>
        </p:nvSpPr>
        <p:spPr>
          <a:xfrm>
            <a:off x="950976" y="2577084"/>
            <a:ext cx="1662915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reproducibility</a:t>
            </a:r>
          </a:p>
        </p:txBody>
      </p:sp>
      <p:sp>
        <p:nvSpPr>
          <p:cNvPr id="25" name="!!term-project repor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50467" y="2468880"/>
            <a:ext cx="1780930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!!termd-project repor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8483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!!termt-project report"/>
          <p:cNvSpPr txBox="1"/>
          <p:nvPr/>
        </p:nvSpPr>
        <p:spPr>
          <a:xfrm>
            <a:off x="2943075" y="2577084"/>
            <a:ext cx="159805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project report</a:t>
            </a:r>
          </a:p>
        </p:txBody>
      </p:sp>
      <p:sp>
        <p:nvSpPr>
          <p:cNvPr id="28" name="!!term-demonstrat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7702" y="2468880"/>
            <a:ext cx="1865484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termd-demonstrat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05718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!!termt-demonstration"/>
          <p:cNvSpPr txBox="1"/>
          <p:nvPr/>
        </p:nvSpPr>
        <p:spPr>
          <a:xfrm>
            <a:off x="4870310" y="2577084"/>
            <a:ext cx="1682604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demonstration</a:t>
            </a:r>
          </a:p>
        </p:txBody>
      </p:sp>
      <p:sp>
        <p:nvSpPr>
          <p:cNvPr id="31" name="!!term-audi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9490" y="2468880"/>
            <a:ext cx="933301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!!termd-audi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17506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!!termt-audit"/>
          <p:cNvSpPr txBox="1"/>
          <p:nvPr/>
        </p:nvSpPr>
        <p:spPr>
          <a:xfrm>
            <a:off x="6882098" y="2577084"/>
            <a:ext cx="750421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audit</a:t>
            </a:r>
          </a:p>
        </p:txBody>
      </p:sp>
      <p:sp>
        <p:nvSpPr>
          <p:cNvPr id="34" name="!!termnote"/>
          <p:cNvSpPr txBox="1"/>
          <p:nvPr/>
        </p:nvSpPr>
        <p:spPr>
          <a:xfrm>
            <a:off x="658368" y="329184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F6F7B"/>
                </a:solidFill>
                <a:latin typeface="Segoe UI"/>
              </a:rPr>
              <a:t>Each term is defined where it first matters — not here.</a:t>
            </a:r>
          </a:p>
        </p:txBody>
      </p:sp>
      <p:sp>
        <p:nvSpPr>
          <p:cNvPr id="35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251118" cy="54864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In this chapter</a:t>
            </a:r>
          </a:p>
        </p:txBody>
      </p:sp>
      <p:pic>
        <p:nvPicPr>
          <p:cNvPr id="3" name="!!kicker-icon" descr="list-ul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6883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IN THIS CHAPTER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22  ·  The Artificial Intelligence Project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pp. 129–131     </a:t>
            </a:r>
            <a:fld id="{A6DEEE89-584A-46EC-9B65-263E0AEF3B6E}" type="slidenum">
              <a:rPr lang="en-GB" sz="1000">
                <a:solidFill>
                  <a:srgbClr val="8795A1"/>
                </a:solidFill>
                <a:latin typeface="Segoe UI"/>
              </a:rPr>
              <a:t>5</a:t>
            </a:fld>
          </a:p>
        </p:txBody>
      </p:sp>
      <p:sp>
        <p:nvSpPr>
          <p:cNvPr id="7" name="!!ag0" descr="Go to section 22.1 The Brief"/>
          <p:cNvSpPr/>
          <p:nvPr/>
        </p:nvSpPr>
        <p:spPr>
          <a:xfrm>
            <a:off x="658368" y="177393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ag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73936"/>
            <a:ext cx="64008" cy="566928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agn0"/>
          <p:cNvSpPr txBox="1"/>
          <p:nvPr/>
        </p:nvSpPr>
        <p:spPr>
          <a:xfrm>
            <a:off x="932688" y="192024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05B06"/>
                </a:solidFill>
                <a:latin typeface="Segoe UI Semibold"/>
              </a:rPr>
              <a:t>22.1</a:t>
            </a:r>
          </a:p>
        </p:txBody>
      </p:sp>
      <p:sp>
        <p:nvSpPr>
          <p:cNvPr id="10" name="!!agt0"/>
          <p:cNvSpPr txBox="1"/>
          <p:nvPr/>
        </p:nvSpPr>
        <p:spPr>
          <a:xfrm>
            <a:off x="1847088" y="192024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The Brief</a:t>
            </a:r>
          </a:p>
        </p:txBody>
      </p:sp>
      <p:sp>
        <p:nvSpPr>
          <p:cNvPr id="11" name="!!agp0"/>
          <p:cNvSpPr txBox="1"/>
          <p:nvPr/>
        </p:nvSpPr>
        <p:spPr>
          <a:xfrm>
            <a:off x="9795967" y="194767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129  ›</a:t>
            </a:r>
          </a:p>
        </p:txBody>
      </p:sp>
      <p:sp>
        <p:nvSpPr>
          <p:cNvPr id="12" name="!!ag1" descr="Go to section 22.2 Choosing a Problem"/>
          <p:cNvSpPr/>
          <p:nvPr/>
        </p:nvSpPr>
        <p:spPr>
          <a:xfrm>
            <a:off x="658368" y="2414015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ag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414015"/>
            <a:ext cx="64008" cy="566928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agn1"/>
          <p:cNvSpPr txBox="1"/>
          <p:nvPr/>
        </p:nvSpPr>
        <p:spPr>
          <a:xfrm>
            <a:off x="932688" y="256032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05B06"/>
                </a:solidFill>
                <a:latin typeface="Segoe UI Semibold"/>
              </a:rPr>
              <a:t>22.2</a:t>
            </a:r>
          </a:p>
        </p:txBody>
      </p:sp>
      <p:sp>
        <p:nvSpPr>
          <p:cNvPr id="15" name="!!agt1"/>
          <p:cNvSpPr txBox="1"/>
          <p:nvPr/>
        </p:nvSpPr>
        <p:spPr>
          <a:xfrm>
            <a:off x="1847088" y="256032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Choosing a Problem</a:t>
            </a:r>
          </a:p>
        </p:txBody>
      </p:sp>
      <p:sp>
        <p:nvSpPr>
          <p:cNvPr id="16" name="!!agp1"/>
          <p:cNvSpPr txBox="1"/>
          <p:nvPr/>
        </p:nvSpPr>
        <p:spPr>
          <a:xfrm>
            <a:off x="9795967" y="2587751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129  ›</a:t>
            </a:r>
          </a:p>
        </p:txBody>
      </p:sp>
      <p:sp>
        <p:nvSpPr>
          <p:cNvPr id="17" name="!!ag2" descr="Go to section 22.3 The Proposal"/>
          <p:cNvSpPr/>
          <p:nvPr/>
        </p:nvSpPr>
        <p:spPr>
          <a:xfrm>
            <a:off x="658368" y="305409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ag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054096"/>
            <a:ext cx="64008" cy="566928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!!agn2"/>
          <p:cNvSpPr txBox="1"/>
          <p:nvPr/>
        </p:nvSpPr>
        <p:spPr>
          <a:xfrm>
            <a:off x="932688" y="320040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05B06"/>
                </a:solidFill>
                <a:latin typeface="Segoe UI Semibold"/>
              </a:rPr>
              <a:t>22.3</a:t>
            </a:r>
          </a:p>
        </p:txBody>
      </p:sp>
      <p:sp>
        <p:nvSpPr>
          <p:cNvPr id="20" name="!!agt2"/>
          <p:cNvSpPr txBox="1"/>
          <p:nvPr/>
        </p:nvSpPr>
        <p:spPr>
          <a:xfrm>
            <a:off x="1847088" y="320040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The Proposal</a:t>
            </a:r>
          </a:p>
        </p:txBody>
      </p:sp>
      <p:sp>
        <p:nvSpPr>
          <p:cNvPr id="21" name="!!agp2"/>
          <p:cNvSpPr txBox="1"/>
          <p:nvPr/>
        </p:nvSpPr>
        <p:spPr>
          <a:xfrm>
            <a:off x="9795967" y="322783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129  ›</a:t>
            </a:r>
          </a:p>
        </p:txBody>
      </p:sp>
      <p:sp>
        <p:nvSpPr>
          <p:cNvPr id="22" name="!!ag3" descr="Go to section 22.4 Building It"/>
          <p:cNvSpPr/>
          <p:nvPr/>
        </p:nvSpPr>
        <p:spPr>
          <a:xfrm>
            <a:off x="658368" y="369417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ag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694176"/>
            <a:ext cx="64008" cy="566928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agn3"/>
          <p:cNvSpPr txBox="1"/>
          <p:nvPr/>
        </p:nvSpPr>
        <p:spPr>
          <a:xfrm>
            <a:off x="932688" y="384048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05B06"/>
                </a:solidFill>
                <a:latin typeface="Segoe UI Semibold"/>
              </a:rPr>
              <a:t>22.4</a:t>
            </a:r>
          </a:p>
        </p:txBody>
      </p:sp>
      <p:sp>
        <p:nvSpPr>
          <p:cNvPr id="25" name="!!agt3"/>
          <p:cNvSpPr txBox="1"/>
          <p:nvPr/>
        </p:nvSpPr>
        <p:spPr>
          <a:xfrm>
            <a:off x="1847088" y="384048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Building It</a:t>
            </a:r>
          </a:p>
        </p:txBody>
      </p:sp>
      <p:sp>
        <p:nvSpPr>
          <p:cNvPr id="26" name="!!agp3"/>
          <p:cNvSpPr txBox="1"/>
          <p:nvPr/>
        </p:nvSpPr>
        <p:spPr>
          <a:xfrm>
            <a:off x="9795967" y="386791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129  ›</a:t>
            </a:r>
          </a:p>
        </p:txBody>
      </p:sp>
      <p:sp>
        <p:nvSpPr>
          <p:cNvPr id="27" name="!!ag4" descr="Go to section 22.5 Reporting It">
            <a:hlinkClick action="ppaction://hlinksldjump" r:id="rId5"/>
          </p:cNvPr>
          <p:cNvSpPr/>
          <p:nvPr/>
        </p:nvSpPr>
        <p:spPr>
          <a:xfrm>
            <a:off x="658368" y="433425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ag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334256"/>
            <a:ext cx="64008" cy="566928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agn4"/>
          <p:cNvSpPr txBox="1"/>
          <p:nvPr/>
        </p:nvSpPr>
        <p:spPr>
          <a:xfrm>
            <a:off x="932688" y="448056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05B06"/>
                </a:solidFill>
                <a:latin typeface="Segoe UI Semibold"/>
              </a:rPr>
              <a:t>22.5</a:t>
            </a:r>
          </a:p>
        </p:txBody>
      </p:sp>
      <p:sp>
        <p:nvSpPr>
          <p:cNvPr id="30" name="!!agt4"/>
          <p:cNvSpPr txBox="1"/>
          <p:nvPr/>
        </p:nvSpPr>
        <p:spPr>
          <a:xfrm>
            <a:off x="1847088" y="448056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Reporting It</a:t>
            </a:r>
          </a:p>
        </p:txBody>
      </p:sp>
      <p:sp>
        <p:nvSpPr>
          <p:cNvPr id="31" name="!!agp4"/>
          <p:cNvSpPr txBox="1"/>
          <p:nvPr/>
        </p:nvSpPr>
        <p:spPr>
          <a:xfrm>
            <a:off x="9795967" y="450799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129  ›</a:t>
            </a:r>
          </a:p>
        </p:txBody>
      </p:sp>
      <p:sp>
        <p:nvSpPr>
          <p:cNvPr id="32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063898" cy="54864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Chapter in preparation</a:t>
            </a:r>
          </a:p>
        </p:txBody>
      </p:sp>
      <p:pic>
        <p:nvPicPr>
          <p:cNvPr id="3" name="!!kicker-icon" descr="exclamation-triangle-E74C3C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45688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E74C3C"/>
                </a:solidFill>
                <a:latin typeface="Segoe UI"/>
              </a:rPr>
              <a:t>WATCH OUT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22  ·  The Artificial Intelligence Project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§22.5  ·  Handout p. 129     </a:t>
            </a:r>
            <a:fld id="{9668337A-D39C-4E4F-836B-DDEDE624EFFE}" type="slidenum">
              <a:rPr lang="en-GB" sz="1000">
                <a:solidFill>
                  <a:srgbClr val="8795A1"/>
                </a:solidFill>
                <a:latin typeface="Segoe UI"/>
              </a:rPr>
              <a:t>6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079955"/>
          </a:xfrm>
          <a:prstGeom prst="roundRect">
            <a:avLst>
              <a:gd name="adj" fmla="val 4396"/>
            </a:avLst>
          </a:prstGeom>
          <a:solidFill>
            <a:srgbClr val="FDED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079955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5038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The full text of this chapter — prose, figures, worked example, laboratory and review questions — is being written. The outcomes, prerequisites, key terms and section structure above are settled and match the Course Specification and Appendix G.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876678" cy="54864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1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Artificial Intelligence  ·  Chapter 22  ·  The Artificial Intelligence Project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131  ·  answers in Appendix D     </a:t>
            </a:r>
            <a:fld id="{095BA6A7-E91C-47F9-8391-534073CFDFF9}" type="slidenum">
              <a:rPr lang="en-GB" sz="1000">
                <a:solidFill>
                  <a:srgbClr val="D5DEE5"/>
                </a:solidFill>
                <a:latin typeface="Segoe UI"/>
              </a:rPr>
              <a:t>7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45720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1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411833"/>
            <a:ext cx="64008" cy="348691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411833"/>
            <a:ext cx="10509199" cy="3944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To be written with the chapter.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22  ·  The Artificial Intelligence Project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131  ·  answers in Appendix D     </a:t>
            </a:r>
            <a:fld id="{00F34D46-2C61-4687-BD5A-41FB50503A73}" type="slidenum">
              <a:rPr lang="en-GB" sz="1000">
                <a:solidFill>
                  <a:srgbClr val="8795A1"/>
                </a:solidFill>
                <a:latin typeface="Segoe UI"/>
              </a:rPr>
              <a:t>8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502237" cy="54864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2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Artificial Intelligence  ·  Chapter 22  ·  The Artificial Intelligence Project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131  ·  answers in Appendix D     </a:t>
            </a:r>
            <a:fld id="{7AB76A78-D897-46A2-BF23-9D9687AE7F3B}" type="slidenum">
              <a:rPr lang="en-GB" sz="1000">
                <a:solidFill>
                  <a:srgbClr val="D5DEE5"/>
                </a:solidFill>
                <a:latin typeface="Segoe UI"/>
              </a:rPr>
              <a:t>9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45720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2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411833"/>
            <a:ext cx="64008" cy="348691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411833"/>
            <a:ext cx="10509199" cy="3944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To be written with the chapter.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22  ·  The Artificial Intelligence Project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131  ·  answers in Appendix D     </a:t>
            </a:r>
            <a:fld id="{B0B18931-AFF6-4DA0-9F2A-54233F32D75A}" type="slidenum">
              <a:rPr lang="en-GB" sz="1000">
                <a:solidFill>
                  <a:srgbClr val="8795A1"/>
                </a:solidFill>
                <a:latin typeface="Segoe UI"/>
              </a:rPr>
              <a:t>10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127796" cy="54864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3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Artificial Intelligence  ·  Chapter 22  ·  The Artificial Intelligence Project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131  ·  answers in Appendix D     </a:t>
            </a:r>
            <a:fld id="{15290566-2E08-4DA2-B886-2E5C6AD5E0DA}" type="slidenum">
              <a:rPr lang="en-GB" sz="1000">
                <a:solidFill>
                  <a:srgbClr val="D5DEE5"/>
                </a:solidFill>
                <a:latin typeface="Segoe UI"/>
              </a:rPr>
              <a:t>11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45720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3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411833"/>
            <a:ext cx="64008" cy="348691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411833"/>
            <a:ext cx="10509199" cy="3944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To be written with the chapter.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22  ·  The Artificial Intelligence Project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131  ·  answers in Appendix D     </a:t>
            </a:r>
            <a:fld id="{10CC8A26-E026-469D-B0BB-81ED952E360F}" type="slidenum">
              <a:rPr lang="en-GB" sz="1000">
                <a:solidFill>
                  <a:srgbClr val="8795A1"/>
                </a:solidFill>
                <a:latin typeface="Segoe UI"/>
              </a:rPr>
              <a:t>12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753356" cy="54864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to take away</a:t>
            </a:r>
          </a:p>
        </p:txBody>
      </p:sp>
      <p:pic>
        <p:nvPicPr>
          <p:cNvPr id="3" name="!!kicker-icon" descr="clipboard-check-15425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6683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5425E"/>
                </a:solidFill>
                <a:latin typeface="Segoe UI"/>
              </a:rPr>
              <a:t>CHAPTER SUMMARY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22  ·  The Artificial Intelligence Project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131     </a:t>
            </a:r>
            <a:fld id="{C6213E08-BB55-463E-BD88-5E6FD4125C16}" type="slidenum">
              <a:rPr lang="en-GB" sz="1000">
                <a:solidFill>
                  <a:srgbClr val="8795A1"/>
                </a:solidFill>
                <a:latin typeface="Segoe UI"/>
              </a:rPr>
              <a:t>13</a:t>
            </a:fld>
          </a:p>
        </p:txBody>
      </p:sp>
      <p:sp>
        <p:nvSpPr>
          <p:cNvPr id="7" name="!!s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4650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sbn0"/>
          <p:cNvSpPr txBox="1"/>
          <p:nvPr/>
        </p:nvSpPr>
        <p:spPr>
          <a:xfrm>
            <a:off x="658368" y="1801368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!!st0"/>
          <p:cNvSpPr txBox="1"/>
          <p:nvPr/>
        </p:nvSpPr>
        <p:spPr>
          <a:xfrm>
            <a:off x="1298448" y="1737360"/>
            <a:ext cx="1023487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The Brief.</a:t>
            </a:r>
          </a:p>
        </p:txBody>
      </p:sp>
      <p:sp>
        <p:nvSpPr>
          <p:cNvPr id="10" name="!!s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33172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sbn1"/>
          <p:cNvSpPr txBox="1"/>
          <p:nvPr/>
        </p:nvSpPr>
        <p:spPr>
          <a:xfrm>
            <a:off x="658368" y="2386584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!!st1"/>
          <p:cNvSpPr txBox="1"/>
          <p:nvPr/>
        </p:nvSpPr>
        <p:spPr>
          <a:xfrm>
            <a:off x="1298448" y="2322576"/>
            <a:ext cx="1023487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Choosing a Problem.</a:t>
            </a:r>
          </a:p>
        </p:txBody>
      </p:sp>
      <p:sp>
        <p:nvSpPr>
          <p:cNvPr id="13" name="!!s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91693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sbn2"/>
          <p:cNvSpPr txBox="1"/>
          <p:nvPr/>
        </p:nvSpPr>
        <p:spPr>
          <a:xfrm>
            <a:off x="658368" y="2971800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5" name="!!st2"/>
          <p:cNvSpPr txBox="1"/>
          <p:nvPr/>
        </p:nvSpPr>
        <p:spPr>
          <a:xfrm>
            <a:off x="1298448" y="2907792"/>
            <a:ext cx="1023487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The Proposal.</a:t>
            </a:r>
          </a:p>
        </p:txBody>
      </p:sp>
      <p:sp>
        <p:nvSpPr>
          <p:cNvPr id="16" name="!!s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5021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sbn3"/>
          <p:cNvSpPr txBox="1"/>
          <p:nvPr/>
        </p:nvSpPr>
        <p:spPr>
          <a:xfrm>
            <a:off x="658368" y="3557016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8" name="!!st3"/>
          <p:cNvSpPr txBox="1"/>
          <p:nvPr/>
        </p:nvSpPr>
        <p:spPr>
          <a:xfrm>
            <a:off x="1298448" y="3493008"/>
            <a:ext cx="1023487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Building It.</a:t>
            </a:r>
          </a:p>
        </p:txBody>
      </p:sp>
      <p:sp>
        <p:nvSpPr>
          <p:cNvPr id="19" name="!!s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08736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sbn4"/>
          <p:cNvSpPr txBox="1"/>
          <p:nvPr/>
        </p:nvSpPr>
        <p:spPr>
          <a:xfrm>
            <a:off x="658368" y="4142232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1" name="!!st4"/>
          <p:cNvSpPr txBox="1"/>
          <p:nvPr/>
        </p:nvSpPr>
        <p:spPr>
          <a:xfrm>
            <a:off x="1298448" y="4078224"/>
            <a:ext cx="1023487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Reporting It.</a:t>
            </a:r>
          </a:p>
        </p:txBody>
      </p:sp>
      <p:sp>
        <p:nvSpPr>
          <p:cNvPr id="5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0566135" cy="54864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8" dur="26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9" dur="2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30" dur="2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41" dur="2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52" dur="2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For your notebook</a:t>
            </a:r>
          </a:p>
        </p:txBody>
      </p:sp>
      <p:pic>
        <p:nvPicPr>
          <p:cNvPr id="3" name="!!kicker-icon" descr="pen-fancy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REVIEW QUESTIONS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22  ·  The Artificial Intelligence Project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131     </a:t>
            </a:r>
            <a:fld id="{4714CDBA-508D-4CD4-AD34-2C759B8E3C65}" type="slidenum">
              <a:rPr lang="en-GB" sz="1000">
                <a:solidFill>
                  <a:srgbClr val="8795A1"/>
                </a:solidFill>
                <a:latin typeface="Segoe UI"/>
              </a:rPr>
              <a:t>14</a:t>
            </a:fld>
          </a:p>
        </p:txBody>
      </p:sp>
      <p:sp>
        <p:nvSpPr>
          <p:cNvPr id="7" name="!!r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5564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rtt0"/>
          <p:cNvSpPr txBox="1"/>
          <p:nvPr/>
        </p:nvSpPr>
        <p:spPr>
          <a:xfrm>
            <a:off x="658368" y="1796795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236794"/>
                </a:solidFill>
                <a:latin typeface="Segoe UI"/>
              </a:rPr>
              <a:t>SHORT</a:t>
            </a:r>
          </a:p>
        </p:txBody>
      </p:sp>
      <p:sp>
        <p:nvSpPr>
          <p:cNvPr id="9" name="!!rq0"/>
          <p:cNvSpPr txBox="1"/>
          <p:nvPr/>
        </p:nvSpPr>
        <p:spPr>
          <a:xfrm>
            <a:off x="1892807" y="1737360"/>
            <a:ext cx="9549079" cy="3011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To be written with the chapter.</a:t>
            </a:r>
          </a:p>
        </p:txBody>
      </p:sp>
      <p:sp>
        <p:nvSpPr>
          <p:cNvPr id="10" name="!!r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76246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rtt1"/>
          <p:cNvSpPr txBox="1"/>
          <p:nvPr/>
        </p:nvSpPr>
        <p:spPr>
          <a:xfrm>
            <a:off x="658368" y="2317394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107964"/>
                </a:solidFill>
                <a:latin typeface="Segoe UI"/>
              </a:rPr>
              <a:t>APPLIED</a:t>
            </a:r>
          </a:p>
        </p:txBody>
      </p:sp>
      <p:sp>
        <p:nvSpPr>
          <p:cNvPr id="12" name="!!rq1"/>
          <p:cNvSpPr txBox="1"/>
          <p:nvPr/>
        </p:nvSpPr>
        <p:spPr>
          <a:xfrm>
            <a:off x="1892807" y="2257958"/>
            <a:ext cx="9549079" cy="3011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To be written with the chapter.</a:t>
            </a:r>
          </a:p>
        </p:txBody>
      </p:sp>
      <p:sp>
        <p:nvSpPr>
          <p:cNvPr id="13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378915" cy="54864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05B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!!w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430975" y="-50292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0" b="0" i="0">
                <a:solidFill>
                  <a:srgbClr val="7B681A"/>
                </a:solidFill>
                <a:latin typeface="Segoe UI Black"/>
              </a:rPr>
              <a:t>22</a:t>
            </a:r>
          </a:p>
        </p:txBody>
      </p:sp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1243584"/>
            <a:ext cx="8229600" cy="82296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4000" b="0">
                <a:solidFill>
                  <a:srgbClr val="FFFFFF"/>
                </a:solidFill>
                <a:latin typeface="Segoe UI Semibold"/>
              </a:rPr>
              <a:t>End of the course</a:t>
            </a:r>
          </a:p>
        </p:txBody>
      </p:sp>
      <p:sp>
        <p:nvSpPr>
          <p:cNvPr id="4" name="!!t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024128"/>
            <a:ext cx="822960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!!cl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86000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574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cll0"/>
          <p:cNvSpPr txBox="1"/>
          <p:nvPr/>
        </p:nvSpPr>
        <p:spPr>
          <a:xfrm>
            <a:off x="932688" y="2468880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C9C1A0"/>
                </a:solidFill>
                <a:latin typeface="Segoe UI"/>
              </a:rPr>
              <a:t>THE COURSE</a:t>
            </a:r>
          </a:p>
        </p:txBody>
      </p:sp>
      <p:sp>
        <p:nvSpPr>
          <p:cNvPr id="7" name="!!clv0"/>
          <p:cNvSpPr txBox="1"/>
          <p:nvPr/>
        </p:nvSpPr>
        <p:spPr>
          <a:xfrm>
            <a:off x="932688" y="2761488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Segoe UI Semibold"/>
              </a:rPr>
              <a:t>22 chapters  ·  six parts  ·  one project</a:t>
            </a:r>
          </a:p>
        </p:txBody>
      </p:sp>
      <p:sp>
        <p:nvSpPr>
          <p:cNvPr id="8" name="!!c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7" y="2286000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574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ll1"/>
          <p:cNvSpPr txBox="1"/>
          <p:nvPr/>
        </p:nvSpPr>
        <p:spPr>
          <a:xfrm>
            <a:off x="6507327" y="2468880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C9C1A0"/>
                </a:solidFill>
                <a:latin typeface="Segoe UI"/>
              </a:rPr>
              <a:t>READ</a:t>
            </a:r>
          </a:p>
        </p:txBody>
      </p:sp>
      <p:sp>
        <p:nvSpPr>
          <p:cNvPr id="10" name="!!clv1"/>
          <p:cNvSpPr txBox="1"/>
          <p:nvPr/>
        </p:nvSpPr>
        <p:spPr>
          <a:xfrm>
            <a:off x="6507327" y="2761488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Segoe UI Semibold"/>
              </a:rPr>
              <a:t>Handout Chapter 22, pages 129–131</a:t>
            </a:r>
          </a:p>
        </p:txBody>
      </p:sp>
      <p:sp>
        <p:nvSpPr>
          <p:cNvPr id="11" name="!!c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584448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574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ll2"/>
          <p:cNvSpPr txBox="1"/>
          <p:nvPr/>
        </p:nvSpPr>
        <p:spPr>
          <a:xfrm>
            <a:off x="932688" y="3767328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C9C1A0"/>
                </a:solidFill>
                <a:latin typeface="Segoe UI"/>
              </a:rPr>
              <a:t>THIS WEEK'S LAB</a:t>
            </a:r>
          </a:p>
        </p:txBody>
      </p:sp>
      <p:sp>
        <p:nvSpPr>
          <p:cNvPr id="13" name="!!clv2"/>
          <p:cNvSpPr txBox="1"/>
          <p:nvPr/>
        </p:nvSpPr>
        <p:spPr>
          <a:xfrm>
            <a:off x="932688" y="4059935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Segoe UI Semibold"/>
              </a:rPr>
              <a:t>Unification and a resolution proof</a:t>
            </a:r>
          </a:p>
        </p:txBody>
      </p:sp>
      <p:sp>
        <p:nvSpPr>
          <p:cNvPr id="14" name="!!c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7" y="3584448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574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cll3"/>
          <p:cNvSpPr txBox="1"/>
          <p:nvPr/>
        </p:nvSpPr>
        <p:spPr>
          <a:xfrm>
            <a:off x="6507327" y="3767328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C9C1A0"/>
                </a:solidFill>
                <a:latin typeface="Segoe UI"/>
              </a:rPr>
              <a:t>ASSESSMENT</a:t>
            </a:r>
          </a:p>
        </p:txBody>
      </p:sp>
      <p:sp>
        <p:nvSpPr>
          <p:cNvPr id="16" name="!!clv3"/>
          <p:cNvSpPr txBox="1"/>
          <p:nvPr/>
        </p:nvSpPr>
        <p:spPr>
          <a:xfrm>
            <a:off x="6507327" y="4059935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Segoe UI Semibold"/>
              </a:rPr>
              <a:t>Project set, proposal due; Assignment 2 set</a:t>
            </a:r>
          </a:p>
        </p:txBody>
      </p:sp>
      <p:sp>
        <p:nvSpPr>
          <p:cNvPr id="1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Artificial Intelligence  ·  Chapter 22  ·  The Artificial Intelligence Project</a:t>
            </a:r>
          </a:p>
        </p:txBody>
      </p:sp>
      <p:sp>
        <p:nvSpPr>
          <p:cNvPr id="1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fld id="{147FBE1D-D6DF-4FD6-A481-5A4D5E735BD3}" type="slidenum">
              <a:rPr lang="en-GB" sz="1000">
                <a:solidFill>
                  <a:srgbClr val="D5DEE5"/>
                </a:solidFill>
                <a:latin typeface="Segoe UI"/>
              </a:rPr>
              <a:t>15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rtificial Intelligence Fall 2026">
  <a:themeElements>
    <a:clrScheme name="Artificial Intelligence Fall 2026">
      <a:dk1>
        <a:srgbClr val="1C252B"/>
      </a:dk1>
      <a:lt1>
        <a:srgbClr val="FFFFFF"/>
      </a:lt1>
      <a:dk2>
        <a:srgbClr val="1A5276"/>
      </a:dk2>
      <a:lt2>
        <a:srgbClr val="EBF5FB"/>
      </a:lt2>
      <a:accent1>
        <a:srgbClr val="1A5276"/>
      </a:accent1>
      <a:accent2>
        <a:srgbClr val="2E86C1"/>
      </a:accent2>
      <a:accent3>
        <a:srgbClr val="E74C3C"/>
      </a:accent3>
      <a:accent4>
        <a:srgbClr val="27AE60"/>
      </a:accent4>
      <a:accent5>
        <a:srgbClr val="8E44AD"/>
      </a:accent5>
      <a:accent6>
        <a:srgbClr val="B7950B"/>
      </a:accent6>
      <a:hlink>
        <a:srgbClr val="2E86C1"/>
      </a:hlink>
      <a:folHlink>
        <a:srgbClr val="8E44AD"/>
      </a:folHlink>
    </a:clrScheme>
    <a:fontScheme name="Artificial Intelligence Fall 2026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22: The Artificial Intelligence Project</dc:title>
  <dc:subject>Artificial Intelligence — Search, Knowledge and Reasoning · BSIT · Fall 2026</dc:subject>
  <dc:creator>Dr. Mustafa Hameed</dc:creator>
  <cp:keywords>artificial intelligence; lecture slides; BSIT; HEC; Fall 2026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Lecture slides</cp:category>
</cp:coreProperties>
</file>