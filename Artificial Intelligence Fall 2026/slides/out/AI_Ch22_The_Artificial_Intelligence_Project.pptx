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7.svg" ContentType="image/svg+xml"/>
  <Override PartName="/ppt/media/image19.svg" ContentType="image/svg+xml"/>
  <Override PartName="/ppt/media/image20.svg" ContentType="image/svg+xml"/>
  <Override PartName="/ppt/media/image21.svg" ContentType="image/svg+xml"/>
  <Override PartName="/ppt/media/image22.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29.svg" ContentType="image/svg+xml"/>
  <Override PartName="/ppt/media/image31.svg" ContentType="image/svg+xml"/>
  <Override PartName="/ppt/media/image32.svg" ContentType="image/svg+xml"/>
  <Override PartName="/ppt/media/image33.svg" ContentType="image/svg+xml"/>
  <Override PartName="/ppt/media/image34.svg" ContentType="image/svg+xml"/>
  <Override PartName="/ppt/media/image35.svg" ContentType="image/svg+xml"/>
  <Override PartName="/ppt/media/image36.svg" ContentType="image/svg+xml"/>
  <Override PartName="/ppt/media/image37.svg" ContentType="image/svg+xml"/>
  <Override PartName="/ppt/media/image38.svg" ContentType="image/svg+xml"/>
  <Override PartName="/ppt/media/image39.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F01C49A-4EC6-47A0-AD3B-4EFBDCBEF536}">
          <p14:sldIdLst>
            <p14:sldId id="256"/>
            <p14:sldId id="257"/>
            <p14:sldId id="258"/>
            <p14:sldId id="259"/>
            <p14:sldId id="260"/>
          </p14:sldIdLst>
        </p14:section>
        <p14:section name="22.1 The Brief" id="{590F9B0A-489A-4817-8E77-0D6CF96DBA5C}">
          <p14:sldIdLst>
            <p14:sldId id="261"/>
          </p14:sldIdLst>
        </p14:section>
        <p14:section name="22.2 Choosing a Problem" id="{A34F9067-A713-4EB3-8360-F1376FC32B8B}">
          <p14:sldIdLst>
            <p14:sldId id="262"/>
            <p14:sldId id="263"/>
            <p14:sldId id="264"/>
          </p14:sldIdLst>
        </p14:section>
        <p14:section name="22.3 The Proposal" id="{6798C225-D71B-4FB1-BE71-BBD96E90718F}">
          <p14:sldIdLst>
            <p14:sldId id="265"/>
            <p14:sldId id="266"/>
            <p14:sldId id="267"/>
          </p14:sldIdLst>
        </p14:section>
        <p14:section name="22.4 Building It" id="{246E68B4-1BE4-420B-998F-E0B29CA25C7A}">
          <p14:sldIdLst>
            <p14:sldId id="268"/>
          </p14:sldIdLst>
        </p14:section>
        <p14:section name="22.5 Reporting It" id="{F4E511D4-5825-4EE5-AEDB-86425019BCC0}">
          <p14:sldIdLst>
            <p14:sldId id="269"/>
            <p14:sldId id="270"/>
            <p14:sldId id="271"/>
          </p14:sldIdLst>
        </p14:section>
        <p14:section name="22.6 The Demonstration" id="{971404CC-BF5B-40C1-9C1E-1B6727045036}">
          <p14:sldIdLst>
            <p14:sldId id="272"/>
            <p14:sldId id="273"/>
            <p14:sldId id="274"/>
          </p14:sldIdLst>
        </p14:section>
        <p14:section name="Pitfalls" id="{3D4B745B-D6E5-4F70-B6FD-C91A2DCA7425}">
          <p14:sldIdLst>
            <p14:sldId id="275"/>
            <p14:sldId id="276"/>
          </p14:sldIdLst>
        </p14:section>
        <p14:section name="Lab" id="{2624DC2B-B32C-4B52-ABEC-8C300E4DFCC3}">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Lst>
        </p14:section>
        <p14:section name="Checkpoint" id="{BCF57B16-29FF-4CB3-97F2-54CE33820BE9}">
          <p14:sldIdLst>
            <p14:sldId id="297"/>
            <p14:sldId id="298"/>
            <p14:sldId id="299"/>
            <p14:sldId id="300"/>
            <p14:sldId id="301"/>
            <p14:sldId id="302"/>
          </p14:sldIdLst>
        </p14:section>
        <p14:section name="Wrap-up" id="{2A68F29D-37EA-481E-BAB4-0DB4373EB37D}">
          <p14:sldIdLst>
            <p14:sldId id="303"/>
            <p14:sldId id="304"/>
            <p14:sldId id="305"/>
            <p14:sldId id="306"/>
            <p14:sldId id="307"/>
            <p14:sldId id="308"/>
            <p14:sldId id="30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22: The Artificial Intelligence Project. Part 6 — Learning, Language and Responsible AI. Week 11: First-order logic and resolution; the project brief. Handout pages 228–237.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The whole course. The project is set in Week 11 and presented in Week 16 (Appendix G); the proposal is due the week it is 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problem scoping; PEAS specification; proposal; baseline; evaluation measure; ablation; reproducibility; project report; demonstration;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 a working AI system for a problem you can describe in one sentence, using one or more of the methods from this course. Demonstrate it, report honestly on what it does and does not do, and audit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commonest failure is not technical. It is choosing a problem whose difficulty lies somewhere this course did not go — almost always in acquiring data or in integrating with something.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page, due the week the project is set. Five headings, and the fifth is the one students leave out.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to twelve pages. The structure below is not a suggestion; reports that depart from it lose marks for the sections they omit.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in Week 16. Run the system live on an input the audience chooses within the constraints you state. Show the trace. Then answer one hard question, which will be some version of: how do you know it is right? Prepare for that question specifically. The good answer names the baseline, the measure and the margin, and says where the system stops working.</a:t>
            </a:r>
          </a:p>
          <a:p/>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scaffold to start from. It runs as given, with a trivial problem in place, so that the structure is working before any of your own code exists.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fails the second test: the rules do not exist and would have to be learned from historical tickets, which makes it a Machine Learning project rather than one this course has the machinery for. The advice is to keep the domain and change the question to one whose rules can be written down — for example decide which open tickets to escalate tonight given a stated escalation policy (Chapter 13), or schedule this sprint’s stories without violating capacity or precedence (Chapter 7). Both are one sentence, both have rules an operations lead can state in an afternoon, and both have an embarrassing baseline.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 measure chosen after the results are in will be chosen — honestly and without anyone noticing — to be one the system does well on. The failure mode is a report that demonstrates rather than evaluates: it shows the system succeeding at whatever it happens to be good at, and provides no evidence about the question that was originally asked. Writing the measure and the failure condition down in advance is the only practical defence, and changing them later is acceptable provided the change and its reason are reported.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The baseline it was compared against, the measure it was compared on with evidence that the measure was fixed in advance, and the size of the margin relative to the variability — a small margin on one instance with a seeded run is not a result. Ideally also the ablation showing which component of the system produced the margin, since without it the claim is about the whole program rather than about the method being taught.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COURSE: 22 chapters  ·  six parts  ·  one project. READ: Handout Chapter 22, pages 228–237. THIS WEEK'S LAB: Unification and a resolution proof. ASSESSMENT: Project set, proposal due;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0.xml"/><Relationship Id="rId8" Type="http://schemas.openxmlformats.org/officeDocument/2006/relationships/slide" Target="slide13.xml"/><Relationship Id="rId9" Type="http://schemas.openxmlformats.org/officeDocument/2006/relationships/slide" Target="slide14.xml"/><Relationship Id="rId10" Type="http://schemas.openxmlformats.org/officeDocument/2006/relationships/slide" Target="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7.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9.sv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20.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21.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2.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4.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5.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image" Target="../media/image26.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9.sv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2.sv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3.sv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8.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39.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0.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1.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2.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7.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8.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49.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0.png"/><Relationship Id="rId3" Type="http://schemas.openxmlformats.org/officeDocument/2006/relationships/image" Target="../media/image50.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5.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6.sv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7.sv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3.png"/><Relationship Id="rId3" Type="http://schemas.openxmlformats.org/officeDocument/2006/relationships/image" Target="../media/image58.svg"/><Relationship Id="rId4"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9.png"/><Relationship Id="rId3" Type="http://schemas.openxmlformats.org/officeDocument/2006/relationships/image" Target="../media/image60.sv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2.svg"/><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3.svg"/><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4.svg"/><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5.sv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1.png"/><Relationship Id="rId3" Type="http://schemas.openxmlformats.org/officeDocument/2006/relationships/image" Target="../media/image66.svg"/><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22</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The Artificial Intelligence Project</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LEARNING, LANGUAGE AND RESPONSIBLE AI</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22  ·  WEEK 11</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Artificial Intelligence — Search, Knowledge and Reasoning</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228     </a:t>
            </a:r>
            <a:fld id="{CCD27F1D-A6B7-4AD6-B7DB-5FD43EF28FB0}" type="slidenum">
              <a:rPr lang="en-GB" sz="1000">
                <a:solidFill>
                  <a:srgbClr val="8795A1"/>
                </a:solidFill>
                <a:latin typeface="Segoe UI"/>
              </a:rPr>
              <a:t>2</a:t>
            </a:fld>
          </a:p>
        </p:txBody>
      </p:sp>
      <p:sp>
        <p:nvSpPr>
          <p:cNvPr id="7" name="!!rp1"/>
          <p:cNvSpPr txBox="1"/>
          <p:nvPr/>
        </p:nvSpPr>
        <p:spPr>
          <a:xfrm>
            <a:off x="7772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2801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2801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3783039"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3783039"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5285938"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5285938"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7198364"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7198364"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8701264" y="1755648"/>
            <a:ext cx="255774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8701264" y="2029967"/>
            <a:ext cx="2557743"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32031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22288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823210"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73177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423273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41412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32610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523466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735636"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64419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614516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537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54689"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632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238535"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71470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48062"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5662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57588"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79661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741435"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64999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50961"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5952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6048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4690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9970014"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87857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379541"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28810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0798211"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0798211"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22</a:t>
            </a:r>
          </a:p>
        </p:txBody>
      </p:sp>
      <p:sp>
        <p:nvSpPr>
          <p:cNvPr id="63" name="!!dotlabel"/>
          <p:cNvSpPr txBox="1"/>
          <p:nvPr/>
        </p:nvSpPr>
        <p:spPr>
          <a:xfrm>
            <a:off x="5681167"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The Artificial Intelligence Project</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dep-none-BUILD"/>
          <p:cNvSpPr txBox="1"/>
          <p:nvPr/>
        </p:nvSpPr>
        <p:spPr>
          <a:xfrm>
            <a:off x="658368"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nothing earlier in the course</a:t>
            </a:r>
          </a:p>
        </p:txBody>
      </p:sp>
      <p:sp>
        <p:nvSpPr>
          <p:cNvPr id="66"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67"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6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pfill">
            <a:extLst>
              <a:ext uri="{C183D7F6-B498-43B3-948B-1728B52AA6E4}">
                <adec:decorative xmlns:adec="http://schemas.microsoft.com/office/drawing/2017/decorative" val="1"/>
              </a:ext>
            </a:extLst>
          </p:cNvPr>
          <p:cNvSpPr/>
          <p:nvPr/>
        </p:nvSpPr>
        <p:spPr>
          <a:xfrm>
            <a:off x="0" y="0"/>
            <a:ext cx="45154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228     </a:t>
            </a:r>
            <a:fld id="{A8B82D22-0E40-4D3A-9348-ACB4ED4C79C2}"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Choose</a:t>
            </a:r>
            <a:r>
              <a:rPr sz="2100" b="0" i="0">
                <a:solidFill>
                  <a:srgbClr val="1C252B"/>
                </a:solidFill>
                <a:latin typeface="Segoe UI"/>
              </a:rPr>
              <a:t> and </a:t>
            </a:r>
            <a:r>
              <a:rPr sz="2100" b="1" i="0">
                <a:solidFill>
                  <a:srgbClr val="1C252B"/>
                </a:solidFill>
                <a:latin typeface="Segoe UI"/>
              </a:rPr>
              <a:t>scope</a:t>
            </a:r>
            <a:r>
              <a:rPr sz="2100" b="0" i="0">
                <a:solidFill>
                  <a:srgbClr val="1C252B"/>
                </a:solidFill>
                <a:latin typeface="Segoe UI"/>
              </a:rPr>
              <a:t> a problem that the methods of this course can actually solve.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Write</a:t>
            </a:r>
            <a:r>
              <a:rPr sz="2100" b="0" i="0">
                <a:solidFill>
                  <a:srgbClr val="1C252B"/>
                </a:solidFill>
                <a:latin typeface="Segoe UI"/>
              </a:rPr>
              <a:t> a proposal stating the PEAS specification, the method and the measure of success.</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Implement</a:t>
            </a:r>
            <a:r>
              <a:rPr sz="2100" b="0" i="0">
                <a:solidFill>
                  <a:srgbClr val="1C252B"/>
                </a:solidFill>
                <a:latin typeface="Segoe UI"/>
              </a:rPr>
              <a:t> a working solution with a baseline to compare it against.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Report</a:t>
            </a:r>
            <a:r>
              <a:rPr sz="2100" b="0" i="0">
                <a:solidFill>
                  <a:srgbClr val="1C252B"/>
                </a:solidFill>
                <a:latin typeface="Segoe UI"/>
              </a:rPr>
              <a:t> the result honestly, including what did not work.</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922215"/>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Audit</a:t>
            </a:r>
            <a:r>
              <a:rPr sz="2100" b="0" i="0">
                <a:solidFill>
                  <a:srgbClr val="1C252B"/>
                </a:solidFill>
                <a:latin typeface="Segoe UI"/>
              </a:rPr>
              <a:t> your own system as Chapter 21 requires.</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67731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228     </a:t>
            </a:r>
            <a:fld id="{370A1C27-4F50-4EF7-9D8C-BE8C93D6FFE2}" type="slidenum">
              <a:rPr lang="en-GB" sz="1000">
                <a:solidFill>
                  <a:srgbClr val="8795A1"/>
                </a:solidFill>
                <a:latin typeface="Segoe UI"/>
              </a:rPr>
              <a:t>4</a:t>
            </a:fld>
          </a:p>
        </p:txBody>
      </p:sp>
      <p:sp>
        <p:nvSpPr>
          <p:cNvPr id="7" name="!!term-problem scopin">
            <a:extLst>
              <a:ext uri="{C183D7F6-B498-43B3-948B-1728B52AA6E4}">
                <adec:decorative xmlns:adec="http://schemas.microsoft.com/office/drawing/2017/decorative" val="1"/>
              </a:ext>
            </a:extLst>
          </p:cNvPr>
          <p:cNvSpPr/>
          <p:nvPr/>
        </p:nvSpPr>
        <p:spPr>
          <a:xfrm>
            <a:off x="658368" y="1847088"/>
            <a:ext cx="208323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problem scopin">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problem scopin"/>
          <p:cNvSpPr txBox="1"/>
          <p:nvPr/>
        </p:nvSpPr>
        <p:spPr>
          <a:xfrm>
            <a:off x="950976" y="1955291"/>
            <a:ext cx="190035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problem scoping</a:t>
            </a:r>
          </a:p>
        </p:txBody>
      </p:sp>
      <p:sp>
        <p:nvSpPr>
          <p:cNvPr id="10" name="!!term-PEAS specifica">
            <a:extLst>
              <a:ext uri="{C183D7F6-B498-43B3-948B-1728B52AA6E4}">
                <adec:decorative xmlns:adec="http://schemas.microsoft.com/office/drawing/2017/decorative" val="1"/>
              </a:ext>
            </a:extLst>
          </p:cNvPr>
          <p:cNvSpPr/>
          <p:nvPr/>
        </p:nvSpPr>
        <p:spPr>
          <a:xfrm>
            <a:off x="2887907" y="1847088"/>
            <a:ext cx="22037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PEAS specifica">
            <a:extLst>
              <a:ext uri="{C183D7F6-B498-43B3-948B-1728B52AA6E4}">
                <adec:decorative xmlns:adec="http://schemas.microsoft.com/office/drawing/2017/decorative" val="1"/>
              </a:ext>
            </a:extLst>
          </p:cNvPr>
          <p:cNvSpPr/>
          <p:nvPr/>
        </p:nvSpPr>
        <p:spPr>
          <a:xfrm>
            <a:off x="301592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PEAS specifica"/>
          <p:cNvSpPr txBox="1"/>
          <p:nvPr/>
        </p:nvSpPr>
        <p:spPr>
          <a:xfrm>
            <a:off x="3180515" y="1955291"/>
            <a:ext cx="202087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PEAS specification</a:t>
            </a:r>
          </a:p>
        </p:txBody>
      </p:sp>
      <p:sp>
        <p:nvSpPr>
          <p:cNvPr id="13" name="!!term-proposal">
            <a:extLst>
              <a:ext uri="{C183D7F6-B498-43B3-948B-1728B52AA6E4}">
                <adec:decorative xmlns:adec="http://schemas.microsoft.com/office/drawing/2017/decorative" val="1"/>
              </a:ext>
            </a:extLst>
          </p:cNvPr>
          <p:cNvSpPr/>
          <p:nvPr/>
        </p:nvSpPr>
        <p:spPr>
          <a:xfrm>
            <a:off x="5237967" y="1847088"/>
            <a:ext cx="129133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proposal">
            <a:extLst>
              <a:ext uri="{C183D7F6-B498-43B3-948B-1728B52AA6E4}">
                <adec:decorative xmlns:adec="http://schemas.microsoft.com/office/drawing/2017/decorative" val="1"/>
              </a:ext>
            </a:extLst>
          </p:cNvPr>
          <p:cNvSpPr/>
          <p:nvPr/>
        </p:nvSpPr>
        <p:spPr>
          <a:xfrm>
            <a:off x="5365983"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proposal"/>
          <p:cNvSpPr txBox="1"/>
          <p:nvPr/>
        </p:nvSpPr>
        <p:spPr>
          <a:xfrm>
            <a:off x="5530575" y="1955291"/>
            <a:ext cx="110845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proposal</a:t>
            </a:r>
          </a:p>
        </p:txBody>
      </p:sp>
      <p:sp>
        <p:nvSpPr>
          <p:cNvPr id="16" name="!!term-baseline">
            <a:extLst>
              <a:ext uri="{C183D7F6-B498-43B3-948B-1728B52AA6E4}">
                <adec:decorative xmlns:adec="http://schemas.microsoft.com/office/drawing/2017/decorative" val="1"/>
              </a:ext>
            </a:extLst>
          </p:cNvPr>
          <p:cNvSpPr/>
          <p:nvPr/>
        </p:nvSpPr>
        <p:spPr>
          <a:xfrm>
            <a:off x="6675602" y="1847088"/>
            <a:ext cx="12353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baseline">
            <a:extLst>
              <a:ext uri="{C183D7F6-B498-43B3-948B-1728B52AA6E4}">
                <adec:decorative xmlns:adec="http://schemas.microsoft.com/office/drawing/2017/decorative" val="1"/>
              </a:ext>
            </a:extLst>
          </p:cNvPr>
          <p:cNvSpPr/>
          <p:nvPr/>
        </p:nvSpPr>
        <p:spPr>
          <a:xfrm>
            <a:off x="68036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baseline"/>
          <p:cNvSpPr txBox="1"/>
          <p:nvPr/>
        </p:nvSpPr>
        <p:spPr>
          <a:xfrm>
            <a:off x="6968210" y="1955291"/>
            <a:ext cx="10525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baseline</a:t>
            </a:r>
          </a:p>
        </p:txBody>
      </p:sp>
      <p:sp>
        <p:nvSpPr>
          <p:cNvPr id="19" name="!!term-evaluation mea">
            <a:extLst>
              <a:ext uri="{C183D7F6-B498-43B3-948B-1728B52AA6E4}">
                <adec:decorative xmlns:adec="http://schemas.microsoft.com/office/drawing/2017/decorative" val="1"/>
              </a:ext>
            </a:extLst>
          </p:cNvPr>
          <p:cNvSpPr/>
          <p:nvPr/>
        </p:nvSpPr>
        <p:spPr>
          <a:xfrm>
            <a:off x="8057302" y="1847088"/>
            <a:ext cx="2330257"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evaluation mea">
            <a:extLst>
              <a:ext uri="{C183D7F6-B498-43B3-948B-1728B52AA6E4}">
                <adec:decorative xmlns:adec="http://schemas.microsoft.com/office/drawing/2017/decorative" val="1"/>
              </a:ext>
            </a:extLst>
          </p:cNvPr>
          <p:cNvSpPr/>
          <p:nvPr/>
        </p:nvSpPr>
        <p:spPr>
          <a:xfrm>
            <a:off x="818531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evaluation mea"/>
          <p:cNvSpPr txBox="1"/>
          <p:nvPr/>
        </p:nvSpPr>
        <p:spPr>
          <a:xfrm>
            <a:off x="8349910" y="1955291"/>
            <a:ext cx="2147377"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evaluation measure</a:t>
            </a:r>
          </a:p>
        </p:txBody>
      </p:sp>
      <p:sp>
        <p:nvSpPr>
          <p:cNvPr id="22" name="!!term-ablation">
            <a:extLst>
              <a:ext uri="{C183D7F6-B498-43B3-948B-1728B52AA6E4}">
                <adec:decorative xmlns:adec="http://schemas.microsoft.com/office/drawing/2017/decorative" val="1"/>
              </a:ext>
            </a:extLst>
          </p:cNvPr>
          <p:cNvSpPr/>
          <p:nvPr/>
        </p:nvSpPr>
        <p:spPr>
          <a:xfrm>
            <a:off x="658368" y="2468880"/>
            <a:ext cx="122751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ablation">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ablation"/>
          <p:cNvSpPr txBox="1"/>
          <p:nvPr/>
        </p:nvSpPr>
        <p:spPr>
          <a:xfrm>
            <a:off x="950976" y="2577084"/>
            <a:ext cx="104463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ablation</a:t>
            </a:r>
          </a:p>
        </p:txBody>
      </p:sp>
      <p:sp>
        <p:nvSpPr>
          <p:cNvPr id="25" name="!!term-reproducibilit">
            <a:extLst>
              <a:ext uri="{C183D7F6-B498-43B3-948B-1728B52AA6E4}">
                <adec:decorative xmlns:adec="http://schemas.microsoft.com/office/drawing/2017/decorative" val="1"/>
              </a:ext>
            </a:extLst>
          </p:cNvPr>
          <p:cNvSpPr/>
          <p:nvPr/>
        </p:nvSpPr>
        <p:spPr>
          <a:xfrm>
            <a:off x="2032184" y="2468880"/>
            <a:ext cx="184579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reproducibilit">
            <a:extLst>
              <a:ext uri="{C183D7F6-B498-43B3-948B-1728B52AA6E4}">
                <adec:decorative xmlns:adec="http://schemas.microsoft.com/office/drawing/2017/decorative" val="1"/>
              </a:ext>
            </a:extLst>
          </p:cNvPr>
          <p:cNvSpPr/>
          <p:nvPr/>
        </p:nvSpPr>
        <p:spPr>
          <a:xfrm>
            <a:off x="216020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reproducibilit"/>
          <p:cNvSpPr txBox="1"/>
          <p:nvPr/>
        </p:nvSpPr>
        <p:spPr>
          <a:xfrm>
            <a:off x="2324792" y="2577084"/>
            <a:ext cx="166291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reproducibility</a:t>
            </a:r>
          </a:p>
        </p:txBody>
      </p:sp>
      <p:sp>
        <p:nvSpPr>
          <p:cNvPr id="28" name="!!term-project report">
            <a:extLst>
              <a:ext uri="{C183D7F6-B498-43B3-948B-1728B52AA6E4}">
                <adec:decorative xmlns:adec="http://schemas.microsoft.com/office/drawing/2017/decorative" val="1"/>
              </a:ext>
            </a:extLst>
          </p:cNvPr>
          <p:cNvSpPr/>
          <p:nvPr/>
        </p:nvSpPr>
        <p:spPr>
          <a:xfrm>
            <a:off x="4024283" y="2468880"/>
            <a:ext cx="178093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project report">
            <a:extLst>
              <a:ext uri="{C183D7F6-B498-43B3-948B-1728B52AA6E4}">
                <adec:decorative xmlns:adec="http://schemas.microsoft.com/office/drawing/2017/decorative" val="1"/>
              </a:ext>
            </a:extLst>
          </p:cNvPr>
          <p:cNvSpPr/>
          <p:nvPr/>
        </p:nvSpPr>
        <p:spPr>
          <a:xfrm>
            <a:off x="415229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project report"/>
          <p:cNvSpPr txBox="1"/>
          <p:nvPr/>
        </p:nvSpPr>
        <p:spPr>
          <a:xfrm>
            <a:off x="4316891" y="2577084"/>
            <a:ext cx="159805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project report</a:t>
            </a:r>
          </a:p>
        </p:txBody>
      </p:sp>
      <p:sp>
        <p:nvSpPr>
          <p:cNvPr id="31" name="!!term-demonstration">
            <a:extLst>
              <a:ext uri="{C183D7F6-B498-43B3-948B-1728B52AA6E4}">
                <adec:decorative xmlns:adec="http://schemas.microsoft.com/office/drawing/2017/decorative" val="1"/>
              </a:ext>
            </a:extLst>
          </p:cNvPr>
          <p:cNvSpPr/>
          <p:nvPr/>
        </p:nvSpPr>
        <p:spPr>
          <a:xfrm>
            <a:off x="5951518" y="2468880"/>
            <a:ext cx="186548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monstration">
            <a:extLst>
              <a:ext uri="{C183D7F6-B498-43B3-948B-1728B52AA6E4}">
                <adec:decorative xmlns:adec="http://schemas.microsoft.com/office/drawing/2017/decorative" val="1"/>
              </a:ext>
            </a:extLst>
          </p:cNvPr>
          <p:cNvSpPr/>
          <p:nvPr/>
        </p:nvSpPr>
        <p:spPr>
          <a:xfrm>
            <a:off x="607953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monstration"/>
          <p:cNvSpPr txBox="1"/>
          <p:nvPr/>
        </p:nvSpPr>
        <p:spPr>
          <a:xfrm>
            <a:off x="6244126" y="2577084"/>
            <a:ext cx="168260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demonstration</a:t>
            </a:r>
          </a:p>
        </p:txBody>
      </p:sp>
      <p:sp>
        <p:nvSpPr>
          <p:cNvPr id="34" name="!!term-audit">
            <a:extLst>
              <a:ext uri="{C183D7F6-B498-43B3-948B-1728B52AA6E4}">
                <adec:decorative xmlns:adec="http://schemas.microsoft.com/office/drawing/2017/decorative" val="1"/>
              </a:ext>
            </a:extLst>
          </p:cNvPr>
          <p:cNvSpPr/>
          <p:nvPr/>
        </p:nvSpPr>
        <p:spPr>
          <a:xfrm>
            <a:off x="7963307" y="2468880"/>
            <a:ext cx="9333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audit">
            <a:extLst>
              <a:ext uri="{C183D7F6-B498-43B3-948B-1728B52AA6E4}">
                <adec:decorative xmlns:adec="http://schemas.microsoft.com/office/drawing/2017/decorative" val="1"/>
              </a:ext>
            </a:extLst>
          </p:cNvPr>
          <p:cNvSpPr/>
          <p:nvPr/>
        </p:nvSpPr>
        <p:spPr>
          <a:xfrm>
            <a:off x="809132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audit"/>
          <p:cNvSpPr txBox="1"/>
          <p:nvPr/>
        </p:nvSpPr>
        <p:spPr>
          <a:xfrm>
            <a:off x="8255915" y="2577084"/>
            <a:ext cx="75042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audit</a:t>
            </a:r>
          </a:p>
        </p:txBody>
      </p:sp>
      <p:sp>
        <p:nvSpPr>
          <p:cNvPr id="37" name="!!termnote"/>
          <p:cNvSpPr txBox="1"/>
          <p:nvPr/>
        </p:nvSpPr>
        <p:spPr>
          <a:xfrm>
            <a:off x="658368" y="329184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90308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228–237     </a:t>
            </a:r>
            <a:fld id="{9EFF94D9-2695-4187-99D7-F7ED9476B7B2}" type="slidenum">
              <a:rPr lang="en-GB" sz="1000">
                <a:solidFill>
                  <a:srgbClr val="8795A1"/>
                </a:solidFill>
                <a:latin typeface="Segoe UI"/>
              </a:rPr>
              <a:t>5</a:t>
            </a:fld>
          </a:p>
        </p:txBody>
      </p:sp>
      <p:sp>
        <p:nvSpPr>
          <p:cNvPr id="7" name="!!ag0" descr="Go to section 22.1 The Brief">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Brief</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228  ›</a:t>
            </a:r>
          </a:p>
        </p:txBody>
      </p:sp>
      <p:sp>
        <p:nvSpPr>
          <p:cNvPr id="12" name="!!ag1" descr="Go to section 22.2 Choosing a Problem">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a Problem</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229  ›</a:t>
            </a:r>
          </a:p>
        </p:txBody>
      </p:sp>
      <p:sp>
        <p:nvSpPr>
          <p:cNvPr id="17" name="!!ag2" descr="Go to section 22.3 The Proposal">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Proposal</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229  ›</a:t>
            </a:r>
          </a:p>
        </p:txBody>
      </p:sp>
      <p:sp>
        <p:nvSpPr>
          <p:cNvPr id="22" name="!!ag3" descr="Go to section 22.4 Building It">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Building It</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230  ›</a:t>
            </a:r>
          </a:p>
        </p:txBody>
      </p:sp>
      <p:sp>
        <p:nvSpPr>
          <p:cNvPr id="27" name="!!ag4" descr="Go to section 22.5 Reporting It">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Reporting It</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230  ›</a:t>
            </a:r>
          </a:p>
        </p:txBody>
      </p:sp>
      <p:sp>
        <p:nvSpPr>
          <p:cNvPr id="32" name="!!ag5" descr="Go to section 22.6 The Demonstration">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22.6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Demonstration</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231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1288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is being assessed</a:t>
            </a:r>
          </a:p>
        </p:txBody>
      </p:sp>
      <p:pic>
        <p:nvPicPr>
          <p:cNvPr id="3" name="!!kicker-icon" descr="code-27AE6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7AE60"/>
                </a:solidFill>
                <a:latin typeface="Segoe UI"/>
              </a:rPr>
              <a:t>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§22.1  ·  Handout p. 228     </a:t>
            </a:r>
            <a:fld id="{D1E457E5-376F-4A1D-B1CC-B6F2E264841E}"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32224"/>
          </a:xfrm>
          <a:prstGeom prst="roundRect">
            <a:avLst>
              <a:gd name="adj" fmla="val 2160"/>
            </a:avLst>
          </a:prstGeom>
          <a:solidFill>
            <a:srgbClr val="EAF7EF"/>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3222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graphicFrame>
        <p:nvGraphicFramePr>
          <p:cNvPr id="9" name="body-0"/>
          <p:cNvGraphicFramePr>
            <a:graphicFrameLocks noGrp="1"/>
          </p:cNvGraphicFramePr>
          <p:nvPr/>
        </p:nvGraphicFramePr>
        <p:xfrm>
          <a:off x="1060704" y="2048255"/>
          <a:ext cx="10161726" cy="2798059"/>
        </p:xfrm>
        <a:graphic>
          <a:graphicData uri="http://schemas.openxmlformats.org/drawingml/2006/table">
            <a:tbl>
              <a:tblPr firstRow="0" bandRow="0" firstCol="0" lastRow="0" lastCol="0" bandCol="0">
                <a:tableStyleId>{2D5ABB26-0587-4C30-8999-92F81FD0307C}</a:tableStyleId>
              </a:tblPr>
              <a:tblGrid>
                <a:gridCol w="2703776"/>
                <a:gridCol w="1158761"/>
                <a:gridCol w="6299189"/>
              </a:tblGrid>
              <a:tr h="420623">
                <a:tc>
                  <a:txBody>
                    <a:bodyPr wrap="square"/>
                    <a:lstStyle/>
                    <a:p>
                      <a:pPr algn="l"/>
                      <a:r>
                        <a:rPr sz="1800" b="1" i="0">
                          <a:solidFill>
                            <a:srgbClr val="1A5276"/>
                          </a:solidFill>
                          <a:latin typeface="Segoe UI"/>
                        </a:rPr>
                        <a:t>Component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Weight</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800" b="1" i="0">
                          <a:solidFill>
                            <a:srgbClr val="1A5276"/>
                          </a:solidFill>
                          <a:latin typeface="Segoe UI"/>
                        </a:rPr>
                        <a:t>What it means</a:t>
                      </a:r>
                      <a:endParaRPr sz="18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20623">
                <a:tc>
                  <a:txBody>
                    <a:bodyPr wrap="square"/>
                    <a:lstStyle/>
                    <a:p>
                      <a:pPr algn="l"/>
                      <a:r>
                        <a:rPr sz="1800" b="0" i="0">
                          <a:solidFill>
                            <a:srgbClr val="1C252B"/>
                          </a:solidFill>
                          <a:latin typeface="Segoe UI"/>
                        </a:rPr>
                        <a:t>Proposal</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10%</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PEAS, method, measure, baseline — before any code</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Implementation</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30%</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It runs, it is reproducible, somebody else can read it</a:t>
                      </a:r>
                      <a:endParaRPr sz="1800"/>
                    </a:p>
                  </a:txBody>
                  <a:tcPr marL="109728" marR="109728" marT="64008" marB="45720" anchor="t">
                    <a:lnL w="0" cmpd="sng">
                      <a:noFill/>
                    </a:lnL>
                    <a:lnR w="0" cmpd="sng">
                      <a:noFill/>
                    </a:lnR>
                    <a:lnT w="9525" cmpd="sng">
                      <a:noFill/>
                    </a:lnT>
                    <a:lnB w="9525" cmpd="sng">
                      <a:noFill/>
                    </a:lnB>
                    <a:solidFill>
                      <a:srgbClr val="F2F8FC"/>
                    </a:solidFill>
                  </a:tcPr>
                </a:tc>
              </a:tr>
              <a:tr h="694944">
                <a:tc>
                  <a:txBody>
                    <a:bodyPr wrap="square"/>
                    <a:lstStyle/>
                    <a:p>
                      <a:pPr algn="l"/>
                      <a:r>
                        <a:rPr sz="1800" b="0" i="0">
                          <a:solidFill>
                            <a:srgbClr val="1C252B"/>
                          </a:solidFill>
                          <a:latin typeface="Segoe UI"/>
                        </a:rPr>
                        <a:t>Evaluation</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25%</a:t>
                      </a:r>
                      <a:endParaRPr sz="18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800" b="0" i="0">
                          <a:solidFill>
                            <a:srgbClr val="1C252B"/>
                          </a:solidFill>
                          <a:latin typeface="Segoe UI"/>
                        </a:rPr>
                        <a:t>Compared against a baseline, on a measure you defined in advance</a:t>
                      </a:r>
                      <a:endParaRPr sz="1800"/>
                    </a:p>
                  </a:txBody>
                  <a:tcPr marL="109728" marR="109728" marT="64008" marB="45720" anchor="t">
                    <a:lnL w="0" cmpd="sng">
                      <a:noFill/>
                    </a:lnL>
                    <a:lnR w="0" cmpd="sng">
                      <a:noFill/>
                    </a:lnR>
                    <a:lnT w="9525" cmpd="sng">
                      <a:noFill/>
                    </a:lnT>
                    <a:lnB w="9525" cmpd="sng">
                      <a:noFill/>
                    </a:lnB>
                    <a:solidFill>
                      <a:srgbClr val="FFFFFF"/>
                    </a:solidFill>
                  </a:tcPr>
                </a:tc>
              </a:tr>
              <a:tr h="420623">
                <a:tc>
                  <a:txBody>
                    <a:bodyPr wrap="square"/>
                    <a:lstStyle/>
                    <a:p>
                      <a:pPr algn="l"/>
                      <a:r>
                        <a:rPr sz="1800" b="0" i="0">
                          <a:solidFill>
                            <a:srgbClr val="1C252B"/>
                          </a:solidFill>
                          <a:latin typeface="Segoe UI"/>
                        </a:rPr>
                        <a:t>Report</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25%</a:t>
                      </a:r>
                      <a:endParaRPr sz="18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800" b="0" i="0">
                          <a:solidFill>
                            <a:srgbClr val="1C252B"/>
                          </a:solidFill>
                          <a:latin typeface="Segoe UI"/>
                        </a:rPr>
                        <a:t>Including what failed and why</a:t>
                      </a:r>
                      <a:endParaRPr sz="1800"/>
                    </a:p>
                  </a:txBody>
                  <a:tcPr marL="109728" marR="109728" marT="64008" marB="45720" anchor="t">
                    <a:lnL w="0" cmpd="sng">
                      <a:noFill/>
                    </a:lnL>
                    <a:lnR w="0" cmpd="sng">
                      <a:noFill/>
                    </a:lnR>
                    <a:lnT w="9525" cmpd="sng">
                      <a:noFill/>
                    </a:lnT>
                    <a:lnB w="9525" cmpd="sng">
                      <a:noFill/>
                    </a:lnB>
                    <a:solidFill>
                      <a:srgbClr val="F2F8FC"/>
                    </a:solidFill>
                  </a:tcPr>
                </a:tc>
              </a:tr>
              <a:tr h="420623">
                <a:tc>
                  <a:txBody>
                    <a:bodyPr wrap="square"/>
                    <a:lstStyle/>
                    <a:p>
                      <a:pPr algn="l"/>
                      <a:r>
                        <a:rPr sz="1800" b="0" i="0">
                          <a:solidFill>
                            <a:srgbClr val="1C252B"/>
                          </a:solidFill>
                          <a:latin typeface="Segoe UI"/>
                        </a:rPr>
                        <a:t>Demonstration</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10%</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800" b="0" i="0">
                          <a:solidFill>
                            <a:srgbClr val="1C252B"/>
                          </a:solidFill>
                          <a:latin typeface="Segoe UI"/>
                        </a:rPr>
                        <a:t>Ten minutes, live, with one hard question answered</a:t>
                      </a:r>
                      <a:endParaRPr sz="18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10" name="body-1"/>
          <p:cNvSpPr txBox="1"/>
          <p:nvPr/>
        </p:nvSpPr>
        <p:spPr>
          <a:xfrm>
            <a:off x="1060704" y="4993005"/>
            <a:ext cx="10161727" cy="711403"/>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Note the weights: the code is under a third. A working system with no baseline and no honest evaluation scores worse than a modest one with both.</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Choosing a Problem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2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The Brief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22.2   Choosing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The Proposal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Building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Reporting It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The Demonstration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§22.2     </a:t>
            </a:r>
            <a:fld id="{1192D7E7-F337-42FB-812D-090B3C224828}" type="slidenum">
              <a:rPr lang="en-GB" sz="1000">
                <a:solidFill>
                  <a:srgbClr val="8795A1"/>
                </a:solidFill>
                <a:latin typeface="Segoe UI"/>
              </a:rPr>
              <a:t>7</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15804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 Problem</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229     </a:t>
            </a:r>
            <a:fld id="{A46EEDC1-E39A-43A0-ABF4-2CCB233331A2}"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90263"/>
          </a:xfrm>
          <a:prstGeom prst="roundRect">
            <a:avLst>
              <a:gd name="adj" fmla="val 2082"/>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90263"/>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561"/>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Three tests for a candidate problem, in order.</a:t>
            </a:r>
          </a:p>
        </p:txBody>
      </p:sp>
      <p:sp>
        <p:nvSpPr>
          <p:cNvPr id="10" name="body-1"/>
          <p:cNvSpPr txBox="1"/>
          <p:nvPr/>
        </p:nvSpPr>
        <p:spPr>
          <a:xfrm>
            <a:off x="1060704" y="252778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Segoe UI"/>
              </a:rPr>
              <a:t>Can you state the goal in one sentence, without the word “and”?</a:t>
            </a:r>
            <a:r>
              <a:rPr sz="2100" b="0" i="0">
                <a:solidFill>
                  <a:srgbClr val="1C252B"/>
                </a:solidFill>
                <a:latin typeface="Segoe UI"/>
              </a:rPr>
              <a:t> “Schedule a sprint respecting precedence and capacity” passes. “Predict delays and route tickets and suggest owners” is three projects.</a:t>
            </a:r>
          </a:p>
        </p:txBody>
      </p:sp>
      <p:sp>
        <p:nvSpPr>
          <p:cNvPr id="11" name="body-2"/>
          <p:cNvSpPr txBox="1"/>
          <p:nvPr/>
        </p:nvSpPr>
        <p:spPr>
          <a:xfrm>
            <a:off x="1060704" y="367299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Segoe UI"/>
              </a:rPr>
              <a:t>Do the rules exist, and can you write them down in an afternoon?</a:t>
            </a:r>
            <a:r>
              <a:rPr sz="2100" b="0" i="0">
                <a:solidFill>
                  <a:srgbClr val="1C252B"/>
                </a:solidFill>
                <a:latin typeface="Segoe UI"/>
              </a:rPr>
              <a:t> This course builds agents that are </a:t>
            </a:r>
            <a:r>
              <a:rPr sz="2100" b="0" i="1">
                <a:solidFill>
                  <a:srgbClr val="1C252B"/>
                </a:solidFill>
                <a:latin typeface="Segoe UI"/>
              </a:rPr>
              <a:t>told</a:t>
            </a:r>
            <a:r>
              <a:rPr sz="2100" b="0" i="0">
                <a:solidFill>
                  <a:srgbClr val="1C252B"/>
                </a:solidFill>
                <a:latin typeface="Segoe UI"/>
              </a:rPr>
              <a:t> the rules. If the rules would have to be learned from data, you have chosen a </a:t>
            </a:r>
            <a:r>
              <a:rPr sz="2100" b="0" i="1">
                <a:solidFill>
                  <a:srgbClr val="1C252B"/>
                </a:solidFill>
                <a:latin typeface="Segoe UI"/>
              </a:rPr>
              <a:t>Machine Learning</a:t>
            </a:r>
            <a:r>
              <a:rPr sz="2100" b="0" i="0">
                <a:solidFill>
                  <a:srgbClr val="1C252B"/>
                </a:solidFill>
                <a:latin typeface="Segoe UI"/>
              </a:rPr>
              <a:t> project and you do not yet have the machinery.</a:t>
            </a:r>
          </a:p>
        </p:txBody>
      </p:sp>
      <p:sp>
        <p:nvSpPr>
          <p:cNvPr id="12" name="body-3"/>
          <p:cNvSpPr txBox="1"/>
          <p:nvPr/>
        </p:nvSpPr>
        <p:spPr>
          <a:xfrm>
            <a:off x="1060704" y="4818202"/>
            <a:ext cx="10161727" cy="1044244"/>
          </a:xfrm>
          <a:prstGeom prst="rect">
            <a:avLst/>
          </a:prstGeom>
          <a:noFill/>
        </p:spPr>
        <p:txBody>
          <a:bodyPr wrap="square" anchor="t" lIns="0" rIns="0" tIns="0" bIns="0">
            <a:noAutofit/>
          </a:bodyPr>
          <a:lstStyle/>
          <a:p>
            <a:pPr algn="l">
              <a:lnSpc>
                <a:spcPct val="104000"/>
              </a:lnSpc>
              <a:spcBef>
                <a:spcPts val="0"/>
              </a:spcBef>
              <a:spcAft>
                <a:spcPts val="0"/>
              </a:spcAft>
            </a:pPr>
            <a:r>
              <a:rPr sz="2100" b="0" i="1">
                <a:solidFill>
                  <a:srgbClr val="1C252B"/>
                </a:solidFill>
                <a:latin typeface="Segoe UI"/>
              </a:rPr>
              <a:t>Is there a baseline you would be embarrassed to lose to?</a:t>
            </a:r>
            <a:r>
              <a:rPr sz="2100" b="0" i="0">
                <a:solidFill>
                  <a:srgbClr val="1C252B"/>
                </a:solidFill>
                <a:latin typeface="Segoe UI"/>
              </a:rPr>
              <a:t> First-come first-served, a greedy heuristic, or the current manual process. If you cannot name one, you will not be able to show that your system helped.</a:t>
            </a:r>
          </a:p>
        </p:txBody>
      </p:sp>
      <p:sp>
        <p:nvSpPr>
          <p:cNvPr id="13"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fill">
            <a:extLst>
              <a:ext uri="{C183D7F6-B498-43B3-948B-1728B52AA6E4}">
                <adec:decorative xmlns:adec="http://schemas.microsoft.com/office/drawing/2017/decorative" val="1"/>
              </a:ext>
            </a:extLst>
          </p:cNvPr>
          <p:cNvSpPr/>
          <p:nvPr/>
        </p:nvSpPr>
        <p:spPr>
          <a:xfrm>
            <a:off x="0" y="0"/>
            <a:ext cx="180617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Choosing a Problem</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§22.2  ·  Handout p. 229     </a:t>
            </a:r>
            <a:fld id="{3FCF3463-8379-4E16-BB51-F090FBC7ED55}" type="slidenum">
              <a:rPr lang="en-GB" sz="1000">
                <a:solidFill>
                  <a:srgbClr val="8795A1"/>
                </a:solidFill>
                <a:latin typeface="Segoe UI"/>
              </a:rPr>
              <a:t>9</a:t>
            </a:fld>
          </a:p>
        </p:txBody>
      </p:sp>
      <p:graphicFrame>
        <p:nvGraphicFramePr>
          <p:cNvPr id="7" name="!!table"/>
          <p:cNvGraphicFramePr>
            <a:graphicFrameLocks noGrp="1"/>
          </p:cNvGraphicFramePr>
          <p:nvPr/>
        </p:nvGraphicFramePr>
        <p:xfrm>
          <a:off x="658368" y="1737360"/>
          <a:ext cx="10874958" cy="3998976"/>
        </p:xfrm>
        <a:graphic>
          <a:graphicData uri="http://schemas.openxmlformats.org/drawingml/2006/table">
            <a:tbl>
              <a:tblPr firstRow="0" bandRow="0" firstCol="0" lastRow="0" lastCol="0" bandCol="0">
                <a:tableStyleId>{2D5ABB26-0587-4C30-8999-92F81FD0307C}</a:tableStyleId>
              </a:tblPr>
              <a:tblGrid>
                <a:gridCol w="4828659"/>
                <a:gridCol w="1591131"/>
                <a:gridCol w="4455168"/>
              </a:tblGrid>
              <a:tr h="390144">
                <a:tc>
                  <a:txBody>
                    <a:bodyPr wrap="square"/>
                    <a:lstStyle/>
                    <a:p>
                      <a:pPr algn="l"/>
                      <a:r>
                        <a:rPr sz="1600" b="1" i="0">
                          <a:solidFill>
                            <a:srgbClr val="1A5276"/>
                          </a:solidFill>
                          <a:latin typeface="Segoe UI"/>
                        </a:rPr>
                        <a:t>Problem</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Method</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600" b="1" i="0">
                          <a:solidFill>
                            <a:srgbClr val="1A5276"/>
                          </a:solidFill>
                          <a:latin typeface="Segoe UI"/>
                        </a:rPr>
                        <a:t>Baseline to beat</a:t>
                      </a:r>
                      <a:endParaRPr sz="16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33984">
                <a:tc>
                  <a:txBody>
                    <a:bodyPr wrap="square"/>
                    <a:lstStyle/>
                    <a:p>
                      <a:pPr algn="l"/>
                      <a:r>
                        <a:rPr sz="1600" b="0" i="0">
                          <a:solidFill>
                            <a:srgbClr val="1C252B"/>
                          </a:solidFill>
                          <a:latin typeface="Segoe UI"/>
                        </a:rPr>
                        <a:t>Timetable a set of lab sessions against rooms and staff</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 7</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Greedy assignment in enrolment order</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Plan a deployment from operator descriptions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Chapter 9</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The runbook’s fixed order</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Route service-desk tickets to a queue</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 13</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The current manual triage</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Diagnose the likely cause of a recurring failure</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Chapter 15</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Always blame the most common cause</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Choose which of a backlog to take into a sprint</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 5</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Highest priority first</a:t>
                      </a:r>
                      <a:endParaRPr sz="1600"/>
                    </a:p>
                  </a:txBody>
                  <a:tcPr marL="109728" marR="109728" marT="64008" marB="45720" anchor="t">
                    <a:lnL w="0" cmpd="sng">
                      <a:noFill/>
                    </a:lnL>
                    <a:lnR w="0" cmpd="sng">
                      <a:noFill/>
                    </a:lnR>
                    <a:lnT w="9525" cmpd="sng">
                      <a:noFill/>
                    </a:lnT>
                    <a:lnB w="9525" cmpd="sng">
                      <a:noFill/>
                    </a:lnB>
                    <a:solidFill>
                      <a:srgbClr val="FFFFFF"/>
                    </a:solidFill>
                  </a:tcPr>
                </a:tc>
              </a:tr>
              <a:tr h="390144">
                <a:tc>
                  <a:txBody>
                    <a:bodyPr wrap="square"/>
                    <a:lstStyle/>
                    <a:p>
                      <a:pPr algn="l"/>
                      <a:r>
                        <a:rPr sz="1600" b="0" i="0">
                          <a:solidFill>
                            <a:srgbClr val="1C252B"/>
                          </a:solidFill>
                          <a:latin typeface="Segoe UI"/>
                        </a:rPr>
                        <a:t>Rate risk for a portfolio of projects</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Chapter 16</a:t>
                      </a:r>
                      <a:endParaRPr sz="16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600" b="0" i="0">
                          <a:solidFill>
                            <a:srgbClr val="1C252B"/>
                          </a:solidFill>
                          <a:latin typeface="Segoe UI"/>
                        </a:rPr>
                        <a:t>A threshold rule</a:t>
                      </a:r>
                      <a:endParaRPr sz="1600"/>
                    </a:p>
                  </a:txBody>
                  <a:tcPr marL="109728" marR="109728" marT="64008" marB="45720" anchor="t">
                    <a:lnL w="0" cmpd="sng">
                      <a:noFill/>
                    </a:lnL>
                    <a:lnR w="0" cmpd="sng">
                      <a:noFill/>
                    </a:lnR>
                    <a:lnT w="9525" cmpd="sng">
                      <a:noFill/>
                    </a:lnT>
                    <a:lnB w="9525" cmpd="sng">
                      <a:noFill/>
                    </a:lnB>
                    <a:solidFill>
                      <a:srgbClr val="F2F8FC"/>
                    </a:solidFill>
                  </a:tcPr>
                </a:tc>
              </a:tr>
              <a:tr h="390144">
                <a:tc>
                  <a:txBody>
                    <a:bodyPr wrap="square"/>
                    <a:lstStyle/>
                    <a:p>
                      <a:pPr algn="l"/>
                      <a:r>
                        <a:rPr sz="1600" b="0" i="0">
                          <a:solidFill>
                            <a:srgbClr val="1C252B"/>
                          </a:solidFill>
                          <a:latin typeface="Segoe UI"/>
                        </a:rPr>
                        <a:t>Play a two-player scheduling game against a tutor</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Chapter 8</a:t>
                      </a:r>
                      <a:endParaRPr sz="16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600" b="0" i="0">
                          <a:solidFill>
                            <a:srgbClr val="1C252B"/>
                          </a:solidFill>
                          <a:latin typeface="Segoe UI"/>
                        </a:rPr>
                        <a:t>Random legal move</a:t>
                      </a:r>
                      <a:endParaRPr sz="1600"/>
                    </a:p>
                  </a:txBody>
                  <a:tcPr marL="109728" marR="109728" marT="64008" marB="45720" anchor="t">
                    <a:lnL w="0" cmpd="sng">
                      <a:noFill/>
                    </a:lnL>
                    <a:lnR w="0" cmpd="sng">
                      <a:noFill/>
                    </a:lnR>
                    <a:lnT w="9525" cmpd="sng">
                      <a:noFill/>
                    </a:lnT>
                    <a:lnB w="9525" cmpd="sng">
                      <a:noFill/>
                    </a:lnB>
                    <a:solidFill>
                      <a:srgbClr val="FFFFFF"/>
                    </a:solidFill>
                  </a:tcPr>
                </a:tc>
              </a:tr>
              <a:tr h="633984">
                <a:tc>
                  <a:txBody>
                    <a:bodyPr wrap="square"/>
                    <a:lstStyle/>
                    <a:p>
                      <a:pPr algn="l"/>
                      <a:r>
                        <a:rPr sz="1600" b="0" i="0">
                          <a:solidFill>
                            <a:srgbClr val="1C252B"/>
                          </a:solidFill>
                          <a:latin typeface="Segoe UI"/>
                        </a:rPr>
                        <a:t>Answer questions about a domain from a knowledge base</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Chapter 12</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c>
                  <a:txBody>
                    <a:bodyPr wrap="square"/>
                    <a:lstStyle/>
                    <a:p>
                      <a:pPr algn="l"/>
                      <a:r>
                        <a:rPr sz="1600" b="0" i="0">
                          <a:solidFill>
                            <a:srgbClr val="1C252B"/>
                          </a:solidFill>
                          <a:latin typeface="Segoe UI"/>
                        </a:rPr>
                        <a:t>Keyword search</a:t>
                      </a:r>
                      <a:endParaRPr sz="1600"/>
                    </a:p>
                  </a:txBody>
                  <a:tcPr marL="109728" marR="109728" marT="64008" marB="45720" anchor="t">
                    <a:lnL w="0" cmpd="sng">
                      <a:noFill/>
                    </a:lnL>
                    <a:lnR w="0" cmpd="sng">
                      <a:noFill/>
                    </a:lnR>
                    <a:lnT w="19050" cmpd="sng">
                      <a:noFill/>
                    </a:lnT>
                    <a:lnB w="19050" cmpd="sng">
                      <a:solidFill>
                        <a:srgbClr val="1A5276"/>
                      </a:solidFill>
                    </a:lnB>
                    <a:solidFill>
                      <a:srgbClr val="F2F8FC"/>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203194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Proposal</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The Brief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Choosing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22.3   The Proposal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Building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22.5   Reporting It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The Demonstration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§22.3     </a:t>
            </a:r>
            <a:fld id="{8B5C69E3-75F0-406D-886B-966D804813CD}" type="slidenum">
              <a:rPr lang="en-GB" sz="1000">
                <a:solidFill>
                  <a:srgbClr val="8795A1"/>
                </a:solidFill>
                <a:latin typeface="Segoe UI"/>
              </a:rPr>
              <a:t>10</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2577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Proposal</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229     </a:t>
            </a:r>
            <a:fld id="{B4ECCAE8-F9DA-4F33-9D2B-1CB356C6EB2B}"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99863"/>
          </a:xfrm>
          <a:prstGeom prst="roundRect">
            <a:avLst>
              <a:gd name="adj" fmla="val 2032"/>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99863"/>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923791"/>
          </a:xfrm>
          <a:prstGeom prst="rect">
            <a:avLst/>
          </a:prstGeom>
          <a:noFill/>
        </p:spPr>
        <p:txBody>
          <a:bodyPr wrap="square" anchor="t" lIns="0" rIns="0" tIns="0" bIns="0">
            <a:noAutofit/>
          </a:bodyPr>
          <a:lstStyle/>
          <a:p>
            <a:pPr algn="l" marL="530697" indent="-530697">
              <a:lnSpc>
                <a:spcPct val="104000"/>
              </a:lnSpc>
              <a:spcBef>
                <a:spcPts val="0"/>
              </a:spcBef>
              <a:spcAft>
                <a:spcPts val="769"/>
              </a:spcAft>
            </a:pPr>
            <a:r>
              <a:rPr sz="2200" b="1">
                <a:solidFill>
                  <a:srgbClr val="1A5276"/>
                </a:solidFill>
                <a:latin typeface="Segoe UI"/>
              </a:rPr>
              <a:t>1.	</a:t>
            </a:r>
            <a:r>
              <a:rPr sz="2200" b="1" i="0">
                <a:solidFill>
                  <a:srgbClr val="1A5276"/>
                </a:solidFill>
                <a:latin typeface="Segoe UI"/>
              </a:rPr>
              <a:t>The problem</a:t>
            </a:r>
            <a:r>
              <a:rPr sz="2200" b="0" i="0">
                <a:solidFill>
                  <a:srgbClr val="1C252B"/>
                </a:solidFill>
                <a:latin typeface="Segoe UI"/>
              </a:rPr>
              <a:t>, in one sentence.</a:t>
            </a:r>
          </a:p>
          <a:p>
            <a:pPr algn="l" marL="530697" indent="-530697">
              <a:lnSpc>
                <a:spcPct val="104000"/>
              </a:lnSpc>
              <a:spcBef>
                <a:spcPts val="0"/>
              </a:spcBef>
              <a:spcAft>
                <a:spcPts val="769"/>
              </a:spcAft>
            </a:pPr>
            <a:r>
              <a:rPr sz="2200" b="1">
                <a:solidFill>
                  <a:srgbClr val="1A5276"/>
                </a:solidFill>
                <a:latin typeface="Segoe UI"/>
              </a:rPr>
              <a:t>2.	</a:t>
            </a:r>
            <a:r>
              <a:rPr sz="2200" b="1" i="0">
                <a:solidFill>
                  <a:srgbClr val="1A5276"/>
                </a:solidFill>
                <a:latin typeface="Segoe UI"/>
              </a:rPr>
              <a:t>PEAS</a:t>
            </a:r>
            <a:r>
              <a:rPr sz="2200" b="0" i="0">
                <a:solidFill>
                  <a:srgbClr val="1C252B"/>
                </a:solidFill>
                <a:latin typeface="Segoe UI"/>
              </a:rPr>
              <a:t> (Chapter 2): performance measure, environment, actuators, sensors. The performance measure must describe the state of the environment, not the activity of your program.</a:t>
            </a:r>
          </a:p>
          <a:p>
            <a:pPr algn="l" marL="530697" indent="-530697">
              <a:lnSpc>
                <a:spcPct val="104000"/>
              </a:lnSpc>
              <a:spcBef>
                <a:spcPts val="0"/>
              </a:spcBef>
              <a:spcAft>
                <a:spcPts val="769"/>
              </a:spcAft>
            </a:pPr>
            <a:r>
              <a:rPr sz="2200" b="1">
                <a:solidFill>
                  <a:srgbClr val="1A5276"/>
                </a:solidFill>
                <a:latin typeface="Segoe UI"/>
              </a:rPr>
              <a:t>3.	</a:t>
            </a:r>
            <a:r>
              <a:rPr sz="2200" b="1" i="0">
                <a:solidFill>
                  <a:srgbClr val="1A5276"/>
                </a:solidFill>
                <a:latin typeface="Segoe UI"/>
              </a:rPr>
              <a:t>Method</a:t>
            </a:r>
            <a:r>
              <a:rPr sz="2200" b="0" i="0">
                <a:solidFill>
                  <a:srgbClr val="1C252B"/>
                </a:solidFill>
                <a:latin typeface="Segoe UI"/>
              </a:rPr>
              <a:t>, and why. Name the chapter. If two methods could work, say which you chose and what you gave up.</a:t>
            </a:r>
          </a:p>
          <a:p>
            <a:pPr algn="l" marL="530697" indent="-530697">
              <a:lnSpc>
                <a:spcPct val="104000"/>
              </a:lnSpc>
              <a:spcBef>
                <a:spcPts val="0"/>
              </a:spcBef>
              <a:spcAft>
                <a:spcPts val="769"/>
              </a:spcAft>
            </a:pPr>
            <a:r>
              <a:rPr sz="2200" b="1">
                <a:solidFill>
                  <a:srgbClr val="1A5276"/>
                </a:solidFill>
                <a:latin typeface="Segoe UI"/>
              </a:rPr>
              <a:t>4.	</a:t>
            </a:r>
            <a:r>
              <a:rPr sz="2200" b="1" i="0">
                <a:solidFill>
                  <a:srgbClr val="1A5276"/>
                </a:solidFill>
                <a:latin typeface="Segoe UI"/>
              </a:rPr>
              <a:t>Baseline</a:t>
            </a:r>
            <a:r>
              <a:rPr sz="2200" b="0" i="0">
                <a:solidFill>
                  <a:srgbClr val="1C252B"/>
                </a:solidFill>
                <a:latin typeface="Segoe UI"/>
              </a:rPr>
              <a:t>, and how you will implement it.</a:t>
            </a:r>
          </a:p>
          <a:p>
            <a:pPr algn="l" marL="530697" indent="-530697">
              <a:lnSpc>
                <a:spcPct val="104000"/>
              </a:lnSpc>
              <a:spcBef>
                <a:spcPts val="0"/>
              </a:spcBef>
              <a:spcAft>
                <a:spcPts val="0"/>
              </a:spcAft>
            </a:pPr>
            <a:r>
              <a:rPr sz="2200" b="1">
                <a:solidFill>
                  <a:srgbClr val="1A5276"/>
                </a:solidFill>
                <a:latin typeface="Segoe UI"/>
              </a:rPr>
              <a:t>5.	</a:t>
            </a:r>
            <a:r>
              <a:rPr sz="2200" b="1" i="0">
                <a:solidFill>
                  <a:srgbClr val="1A5276"/>
                </a:solidFill>
                <a:latin typeface="Segoe UI"/>
              </a:rPr>
              <a:t>What would count as failure.</a:t>
            </a:r>
            <a:r>
              <a:rPr sz="2200" b="0" i="0">
                <a:solidFill>
                  <a:srgbClr val="1C252B"/>
                </a:solidFill>
                <a:latin typeface="Segoe UI"/>
              </a:rPr>
              <a:t> Write down, in advance, the result that would make you say the approach did not work. This is the heading that turns an evaluation into evidence rather than a demonstration.</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48349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Decide the measure before you build</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§22.3  ·  Handout p. 229     </a:t>
            </a:r>
            <a:fld id="{73FBF87F-34CB-4E7A-B4FB-96E02190E64F}" type="slidenum">
              <a:rPr lang="en-GB" sz="1000">
                <a:solidFill>
                  <a:srgbClr val="8795A1"/>
                </a:solidFill>
                <a:latin typeface="Segoe UI"/>
              </a:rPr>
              <a:t>12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the measure is chosen afterwards, it will be chosen — unconsciously and honestly — to be one the system does well on. That is not dishonesty; it is how people work, and the only defence is to write the measure down first and then not change it.</a:t>
            </a:r>
          </a:p>
        </p:txBody>
      </p:sp>
      <p:sp>
        <p:nvSpPr>
          <p:cNvPr id="10" name="body-1"/>
          <p:cNvSpPr txBox="1"/>
          <p:nvPr/>
        </p:nvSpPr>
        <p:spPr>
          <a:xfrm>
            <a:off x="1060704" y="3667074"/>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If you do change it, say so in the report and say why. A report that says “we originally measured X, found it was the wrong question for this reason, and switched to Y” is </a:t>
            </a:r>
            <a:r>
              <a:rPr sz="2300" b="0" i="1">
                <a:solidFill>
                  <a:srgbClr val="1C252B"/>
                </a:solidFill>
                <a:latin typeface="Segoe UI"/>
              </a:rPr>
              <a:t>stronger</a:t>
            </a:r>
            <a:r>
              <a:rPr sz="2300" b="0" i="0">
                <a:solidFill>
                  <a:srgbClr val="1C252B"/>
                </a:solidFill>
                <a:latin typeface="Segoe UI"/>
              </a:rPr>
              <a:t> than one that never mentions it, because it shows you understood what you were measuring.</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Building It</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BRIEF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§22.4  ·  Handout p. 230     </a:t>
            </a:r>
            <a:fld id="{C4A9BAEA-5B6F-4746-9EA2-504157196C4D}"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365345"/>
          </a:xfrm>
          <a:prstGeom prst="roundRect">
            <a:avLst>
              <a:gd name="adj" fmla="val 2094"/>
            </a:avLst>
          </a:prstGeom>
          <a:solidFill>
            <a:srgbClr val="F2F6F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365345"/>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789273"/>
          </a:xfrm>
          <a:prstGeom prst="rect">
            <a:avLst/>
          </a:prstGeom>
          <a:noFill/>
        </p:spPr>
        <p:txBody>
          <a:bodyPr wrap="square" anchor="t" lIns="0" rIns="0" tIns="0" bIns="0">
            <a:noAutofit/>
          </a:bodyPr>
          <a:lstStyle/>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The baseline first.</a:t>
            </a:r>
            <a:r>
              <a:rPr sz="1800" b="0" i="0">
                <a:solidFill>
                  <a:srgbClr val="1C252B"/>
                </a:solidFill>
                <a:latin typeface="Segoe UI"/>
              </a:rPr>
              <a:t> It takes an hour and it is the only thing that makes your result interpretable. Build it before the interesting part, or you will not build it at all.</a:t>
            </a:r>
          </a:p>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Seed everything.</a:t>
            </a:r>
            <a:r>
              <a:rPr sz="1800" b="0" i="0">
                <a:solidFill>
                  <a:srgbClr val="1C252B"/>
                </a:solidFill>
                <a:latin typeface="Segoe UI"/>
              </a:rPr>
              <a:t> Any randomness gets an explicit seed, as every lab in this book does. A result nobody can reproduce is not a result.</a:t>
            </a:r>
          </a:p>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Keep the domain separate from the algorithm.</a:t>
            </a:r>
            <a:r>
              <a:rPr sz="1800" b="0" i="0">
                <a:solidFill>
                  <a:srgbClr val="1C252B"/>
                </a:solidFill>
                <a:latin typeface="Segoe UI"/>
              </a:rPr>
              <a:t> The constraints, the operators, the rules go in data. This is Chapter 1’s third test, it is what makes the system correctable, and it is visibly assessed.</a:t>
            </a:r>
          </a:p>
          <a:p>
            <a:pPr algn="l" marL="201268" indent="-201268">
              <a:lnSpc>
                <a:spcPct val="104000"/>
              </a:lnSpc>
              <a:spcBef>
                <a:spcPts val="0"/>
              </a:spcBef>
              <a:spcAft>
                <a:spcPts val="630"/>
              </a:spcAft>
            </a:pPr>
            <a:r>
              <a:rPr sz="1800" b="1">
                <a:solidFill>
                  <a:srgbClr val="1A5276"/>
                </a:solidFill>
                <a:latin typeface="Segoe UI"/>
              </a:rPr>
              <a:t>•	</a:t>
            </a:r>
            <a:r>
              <a:rPr sz="1800" b="1" i="0">
                <a:solidFill>
                  <a:srgbClr val="1A5276"/>
                </a:solidFill>
                <a:latin typeface="Segoe UI"/>
              </a:rPr>
              <a:t>Log a trace.</a:t>
            </a:r>
            <a:r>
              <a:rPr sz="1800" b="0" i="0">
                <a:solidFill>
                  <a:srgbClr val="1C252B"/>
                </a:solidFill>
                <a:latin typeface="Segoe UI"/>
              </a:rPr>
              <a:t> Whatever your method, record why it did what it did. You will need it for the report, for the demonstration’s hard question, and for the audit.</a:t>
            </a:r>
          </a:p>
          <a:p>
            <a:pPr algn="l" marL="201268" indent="-201268">
              <a:lnSpc>
                <a:spcPct val="104000"/>
              </a:lnSpc>
              <a:spcBef>
                <a:spcPts val="0"/>
              </a:spcBef>
              <a:spcAft>
                <a:spcPts val="0"/>
              </a:spcAft>
            </a:pPr>
            <a:r>
              <a:rPr sz="1800" b="1">
                <a:solidFill>
                  <a:srgbClr val="1A5276"/>
                </a:solidFill>
                <a:latin typeface="Segoe UI"/>
              </a:rPr>
              <a:t>•	</a:t>
            </a:r>
            <a:r>
              <a:rPr sz="1800" b="1" i="0">
                <a:solidFill>
                  <a:srgbClr val="1A5276"/>
                </a:solidFill>
                <a:latin typeface="Segoe UI"/>
              </a:rPr>
              <a:t>Measure at the size you will demonstrate at.</a:t>
            </a:r>
            <a:r>
              <a:rPr sz="1800" b="0" i="0">
                <a:solidFill>
                  <a:srgbClr val="1C252B"/>
                </a:solidFill>
                <a:latin typeface="Segoe UI"/>
              </a:rPr>
              <a:t> Chapter 7, Chapter 9 and Chapter 15 each contained a technique that </a:t>
            </a:r>
            <a:r>
              <a:rPr sz="1800" b="0" i="1">
                <a:solidFill>
                  <a:srgbClr val="1C252B"/>
                </a:solidFill>
                <a:latin typeface="Segoe UI"/>
              </a:rPr>
              <a:t>lost</a:t>
            </a:r>
            <a:r>
              <a:rPr sz="1800" b="0" i="0">
                <a:solidFill>
                  <a:srgbClr val="1C252B"/>
                </a:solidFill>
                <a:latin typeface="Segoe UI"/>
              </a:rPr>
              <a:t> on a small instance and won on a large one. Do not tune on a toy.</a:t>
            </a:r>
          </a:p>
        </p:txBody>
      </p:sp>
      <p:sp>
        <p:nvSpPr>
          <p:cNvPr id="2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pfill">
            <a:extLst>
              <a:ext uri="{C183D7F6-B498-43B3-948B-1728B52AA6E4}">
                <adec:decorative xmlns:adec="http://schemas.microsoft.com/office/drawing/2017/decorative" val="1"/>
              </a:ext>
            </a:extLst>
          </p:cNvPr>
          <p:cNvSpPr/>
          <p:nvPr/>
        </p:nvSpPr>
        <p:spPr>
          <a:xfrm>
            <a:off x="0" y="0"/>
            <a:ext cx="29350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xEl>
                                              <p:pRg st="0" end="0"/>
                                            </p:txEl>
                                          </p:spTgt>
                                        </p:tgtEl>
                                        <p:attrNameLst>
                                          <p:attrName>style.visibility</p:attrName>
                                        </p:attrNameLst>
                                      </p:cBhvr>
                                      <p:to>
                                        <p:strVal val="visible"/>
                                      </p:to>
                                    </p:set>
                                    <p:animEffect transition="in" filter="fade">
                                      <p:cBhvr>
                                        <p:cTn id="8" dur="380"/>
                                        <p:tgtEl>
                                          <p:spTgt spid="9">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animEffect transition="in" filter="fade">
                                      <p:cBhvr>
                                        <p:cTn id="13" dur="380"/>
                                        <p:tgtEl>
                                          <p:spTgt spid="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9">
                                            <p:txEl>
                                              <p:pRg st="2" end="2"/>
                                            </p:txEl>
                                          </p:spTgt>
                                        </p:tgtEl>
                                        <p:attrNameLst>
                                          <p:attrName>style.visibility</p:attrName>
                                        </p:attrNameLst>
                                      </p:cBhvr>
                                      <p:to>
                                        <p:strVal val="visible"/>
                                      </p:to>
                                    </p:set>
                                    <p:animEffect transition="in" filter="fade">
                                      <p:cBhvr>
                                        <p:cTn id="18" dur="380"/>
                                        <p:tgtEl>
                                          <p:spTgt spid="9">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xEl>
                                              <p:pRg st="3" end="3"/>
                                            </p:txEl>
                                          </p:spTgt>
                                        </p:tgtEl>
                                        <p:attrNameLst>
                                          <p:attrName>style.visibility</p:attrName>
                                        </p:attrNameLst>
                                      </p:cBhvr>
                                      <p:to>
                                        <p:strVal val="visible"/>
                                      </p:to>
                                    </p:set>
                                    <p:animEffect transition="in" filter="fade">
                                      <p:cBhvr>
                                        <p:cTn id="23" dur="380"/>
                                        <p:tgtEl>
                                          <p:spTgt spid="9">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9">
                                            <p:txEl>
                                              <p:pRg st="4" end="4"/>
                                            </p:txEl>
                                          </p:spTgt>
                                        </p:tgtEl>
                                        <p:attrNameLst>
                                          <p:attrName>style.visibility</p:attrName>
                                        </p:attrNameLst>
                                      </p:cBhvr>
                                      <p:to>
                                        <p:strVal val="visible"/>
                                      </p:to>
                                    </p:set>
                                    <p:animEffect transition="in" filter="fade">
                                      <p:cBhvr>
                                        <p:cTn id="28" dur="38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Reporting It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22.5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22.1   The Brief</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22.2   Choosing a Problem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22.3   The Proposal</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22.4   Building It</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22.5   Reporting It</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22.6   The Demonstration</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§22.5     </a:t>
            </a:r>
            <a:fld id="{74BAE154-27C2-4DC1-ABA5-3D716C4ABD29}" type="slidenum">
              <a:rPr lang="en-GB" sz="1000">
                <a:solidFill>
                  <a:srgbClr val="8795A1"/>
                </a:solidFill>
                <a:latin typeface="Segoe UI"/>
              </a:rPr>
              <a:t>14</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16080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Reporting It</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230     </a:t>
            </a:r>
            <a:fld id="{5E976373-DCAC-413D-BE5D-1AEA7BFBB9B7}" type="slidenum">
              <a:rPr lang="en-GB" sz="1000">
                <a:solidFill>
                  <a:srgbClr val="8795A1"/>
                </a:solidFill>
                <a:latin typeface="Segoe UI"/>
              </a:rPr>
              <a:t>15</a:t>
            </a:fld>
          </a:p>
        </p:txBody>
      </p:sp>
      <p:graphicFrame>
        <p:nvGraphicFramePr>
          <p:cNvPr id="7" name="!!table"/>
          <p:cNvGraphicFramePr>
            <a:graphicFrameLocks noGrp="1"/>
          </p:cNvGraphicFramePr>
          <p:nvPr/>
        </p:nvGraphicFramePr>
        <p:xfrm>
          <a:off x="658368" y="1737360"/>
          <a:ext cx="10874958" cy="4279392"/>
        </p:xfrm>
        <a:graphic>
          <a:graphicData uri="http://schemas.openxmlformats.org/drawingml/2006/table">
            <a:tbl>
              <a:tblPr firstRow="0" bandRow="0" firstCol="0" lastRow="0" lastCol="0" bandCol="0">
                <a:tableStyleId>{2D5ABB26-0587-4C30-8999-92F81FD0307C}</a:tableStyleId>
              </a:tblPr>
              <a:tblGrid>
                <a:gridCol w="2532524"/>
                <a:gridCol w="8342434"/>
              </a:tblGrid>
              <a:tr h="405384">
                <a:tc>
                  <a:txBody>
                    <a:bodyPr wrap="square"/>
                    <a:lstStyle/>
                    <a:p>
                      <a:pPr algn="l"/>
                      <a:r>
                        <a:rPr sz="1700" b="1" i="0">
                          <a:solidFill>
                            <a:srgbClr val="1A5276"/>
                          </a:solidFill>
                          <a:latin typeface="Segoe UI"/>
                        </a:rPr>
                        <a:t>Section</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What goes in it</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405384">
                <a:tc>
                  <a:txBody>
                    <a:bodyPr wrap="square"/>
                    <a:lstStyle/>
                    <a:p>
                      <a:pPr algn="l"/>
                      <a:r>
                        <a:rPr sz="1700" b="0" i="0">
                          <a:solidFill>
                            <a:srgbClr val="1C252B"/>
                          </a:solidFill>
                          <a:latin typeface="Segoe UI"/>
                        </a:rPr>
                        <a:t>Problem and PEAS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One page. The same specification as the proposal, corrected if it changed</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Method</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Which chapter’s machinery, and why this one. State the alternative you rejected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Implementation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Representation first, algorithm second. A figure of the data structure is worth a page of prose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Evaluation</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baseline, your system, on the measure you fixed in advance. A table and one figure</a:t>
                      </a:r>
                      <a:endParaRPr sz="1700"/>
                    </a:p>
                  </a:txBody>
                  <a:tcPr marL="109728" marR="109728" marT="64008" marB="45720" anchor="t">
                    <a:lnL w="0" cmpd="sng">
                      <a:noFill/>
                    </a:lnL>
                    <a:lnR w="0" cmpd="sng">
                      <a:noFill/>
                    </a:lnR>
                    <a:lnT w="9525" cmpd="sng">
                      <a:noFill/>
                    </a:lnT>
                    <a:lnB w="9525" cmpd="sng">
                      <a:noFill/>
                    </a:lnB>
                    <a:solidFill>
                      <a:srgbClr val="F2F8FC"/>
                    </a:solidFill>
                  </a:tcPr>
                </a:tc>
              </a:tr>
              <a:tr h="405384">
                <a:tc>
                  <a:txBody>
                    <a:bodyPr wrap="square"/>
                    <a:lstStyle/>
                    <a:p>
                      <a:pPr algn="l"/>
                      <a:r>
                        <a:rPr sz="1700" b="0" i="0">
                          <a:solidFill>
                            <a:srgbClr val="1C252B"/>
                          </a:solidFill>
                          <a:latin typeface="Segoe UI"/>
                        </a:rPr>
                        <a:t>What did not work</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Required. Every project has some, and its absence is read as not having looked</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Audit</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Chapter 21: outcomes by group where that applies, and the situations your system does not cover</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Limits</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Where it breaks, and the size at which it stops being usable. Be specific and quantitative</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338658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Reporting It</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§22.5  ·  Handout p. 230     </a:t>
            </a:r>
            <a:fld id="{BF60D466-7654-4412-9C2E-B3462C2004E4}" type="slidenum">
              <a:rPr lang="en-GB" sz="1000">
                <a:solidFill>
                  <a:srgbClr val="8795A1"/>
                </a:solidFill>
                <a:latin typeface="Segoe UI"/>
              </a:rPr>
              <a:t>16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071111"/>
          </a:xfrm>
          <a:prstGeom prst="roundRect">
            <a:avLst>
              <a:gd name="adj" fmla="val 224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071111"/>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362712"/>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On the </a:t>
            </a:r>
            <a:r>
              <a:rPr sz="2000" b="0" i="1">
                <a:solidFill>
                  <a:srgbClr val="1C252B"/>
                </a:solidFill>
                <a:latin typeface="Segoe UI"/>
              </a:rPr>
              <a:t>what did not work</a:t>
            </a:r>
            <a:r>
              <a:rPr sz="2000" b="0" i="0">
                <a:solidFill>
                  <a:srgbClr val="1C252B"/>
                </a:solidFill>
                <a:latin typeface="Segoe UI"/>
              </a:rPr>
              <a:t> section, since it is the one people resist.</a:t>
            </a:r>
          </a:p>
        </p:txBody>
      </p:sp>
      <p:sp>
        <p:nvSpPr>
          <p:cNvPr id="10" name="body-1"/>
          <p:cNvSpPr txBox="1"/>
          <p:nvPr/>
        </p:nvSpPr>
        <p:spPr>
          <a:xfrm>
            <a:off x="1060704" y="2504947"/>
            <a:ext cx="10161727" cy="1313688"/>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Every project in this course will have a component that failed, an approach abandoned, or a measurement that came out the wrong way. Reporting it costs nothing — it is not marked as failure — and omitting it costs a great deal, because a report in which everything worked first time is not believed by anybody who has built anything.</a:t>
            </a:r>
          </a:p>
        </p:txBody>
      </p:sp>
      <p:sp>
        <p:nvSpPr>
          <p:cNvPr id="11" name="body-2"/>
          <p:cNvSpPr txBox="1"/>
          <p:nvPr/>
        </p:nvSpPr>
        <p:spPr>
          <a:xfrm>
            <a:off x="1060704" y="3912615"/>
            <a:ext cx="10161727" cy="1630680"/>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This book has tried to model the habit. Chapter 7’s ordering heuristic made things worse; Chapter 9’s heuristic bought under one per cent; Chapter 15’ variable elimination lost on the small network; Chapter 21’s ablation was fooled by a rule whose removal abolished the outcome. Each of those is a real measurement that contradicted the tidy expectation, and each taught more than the tidy version would have.</a:t>
            </a:r>
          </a:p>
        </p:txBody>
      </p:sp>
      <p:sp>
        <p:nvSpPr>
          <p:cNvPr id="1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pfill">
            <a:extLst>
              <a:ext uri="{C183D7F6-B498-43B3-948B-1728B52AA6E4}">
                <adec:decorative xmlns:adec="http://schemas.microsoft.com/office/drawing/2017/decorative" val="1"/>
              </a:ext>
            </a:extLst>
          </p:cNvPr>
          <p:cNvSpPr/>
          <p:nvPr/>
        </p:nvSpPr>
        <p:spPr>
          <a:xfrm>
            <a:off x="0" y="0"/>
            <a:ext cx="361235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proposal that would score well</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A9D10D1E-BE29-43A9-BCF9-392436AF73A4}"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Problem.</a:t>
            </a:r>
            <a:r>
              <a:rPr sz="1900" b="0" i="0">
                <a:solidFill>
                  <a:srgbClr val="1C252B"/>
                </a:solidFill>
                <a:latin typeface="Segoe UI"/>
              </a:rPr>
              <a:t> Assign this department’s laboratory sessions to rooms and demonstrators without clashes.</a:t>
            </a:r>
          </a:p>
        </p:txBody>
      </p:sp>
      <p:sp>
        <p:nvSpPr>
          <p:cNvPr id="10" name="body-1"/>
          <p:cNvSpPr txBox="1"/>
          <p:nvPr/>
        </p:nvSpPr>
        <p:spPr>
          <a:xfrm>
            <a:off x="1042416" y="2746679"/>
            <a:ext cx="10234879" cy="1852574"/>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PEAS.</a:t>
            </a:r>
            <a:r>
              <a:rPr sz="1900" b="0" i="0">
                <a:solidFill>
                  <a:srgbClr val="1C252B"/>
                </a:solidFill>
                <a:latin typeface="Segoe UI"/>
              </a:rPr>
              <a:t> </a:t>
            </a:r>
            <a:r>
              <a:rPr sz="1900" b="0" i="1">
                <a:solidFill>
                  <a:srgbClr val="1C252B"/>
                </a:solidFill>
                <a:latin typeface="Segoe UI"/>
              </a:rPr>
              <a:t>Performance measure:</a:t>
            </a:r>
            <a:r>
              <a:rPr sz="1900" b="0" i="0">
                <a:solidFill>
                  <a:srgbClr val="1C252B"/>
                </a:solidFill>
                <a:latin typeface="Segoe UI"/>
              </a:rPr>
              <a:t> number of sessions placed, zero hard constraint violations, and the spread of load across demonstrators measured by the difference between the busiest and least busy. Note this describes the timetable, not the program. </a:t>
            </a:r>
            <a:r>
              <a:rPr sz="1900" b="0" i="1">
                <a:solidFill>
                  <a:srgbClr val="1C252B"/>
                </a:solidFill>
                <a:latin typeface="Segoe UI"/>
              </a:rPr>
              <a:t>Environment:</a:t>
            </a:r>
            <a:r>
              <a:rPr sz="1900" b="0" i="0">
                <a:solidFill>
                  <a:srgbClr val="1C252B"/>
                </a:solidFill>
                <a:latin typeface="Segoe UI"/>
              </a:rPr>
              <a:t> the session list, room capacities, staff availability, the week. Fully observable, deterministic, static for the duration of a solve, discrete, single-agent. </a:t>
            </a:r>
            <a:r>
              <a:rPr sz="1900" b="0" i="1">
                <a:solidFill>
                  <a:srgbClr val="1C252B"/>
                </a:solidFill>
                <a:latin typeface="Segoe UI"/>
              </a:rPr>
              <a:t>Actuators:</a:t>
            </a:r>
            <a:r>
              <a:rPr sz="1900" b="0" i="0">
                <a:solidFill>
                  <a:srgbClr val="1C252B"/>
                </a:solidFill>
                <a:latin typeface="Segoe UI"/>
              </a:rPr>
              <a:t> assign a session to a (room, slot, demonstrator) triple; unassign. </a:t>
            </a:r>
            <a:r>
              <a:rPr sz="1900" b="0" i="1">
                <a:solidFill>
                  <a:srgbClr val="1C252B"/>
                </a:solidFill>
                <a:latin typeface="Segoe UI"/>
              </a:rPr>
              <a:t>Sensors:</a:t>
            </a:r>
            <a:r>
              <a:rPr sz="1900" b="0" i="0">
                <a:solidFill>
                  <a:srgbClr val="1C252B"/>
                </a:solidFill>
                <a:latin typeface="Segoe UI"/>
              </a:rPr>
              <a:t> the full session list and all constraints.</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383812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proposal that would score well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12CF65A8-702F-427F-8E5D-1C6ACDB4233C}" type="slidenum">
              <a:rPr lang="en-GB" sz="1000">
                <a:solidFill>
                  <a:srgbClr val="8795A1"/>
                </a:solidFill>
                <a:latin typeface="Segoe UI"/>
              </a:rPr>
              <a:t>18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524351"/>
          </a:xfrm>
          <a:prstGeom prst="roundRect">
            <a:avLst>
              <a:gd name="adj" fmla="val 2594"/>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524351"/>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Method.</a:t>
            </a:r>
            <a:r>
              <a:rPr sz="1900" b="0" i="0">
                <a:solidFill>
                  <a:srgbClr val="1C252B"/>
                </a:solidFill>
                <a:latin typeface="Segoe UI"/>
              </a:rPr>
              <a:t> Constraint satisfaction (Chapter 7). Variables are sessions, domains are legal triples, constraints are room capacity, no double-booking of a room or a person, and precedence where a lab must follow its lecture. Backtracking with minimum remaining values and forward checking — and Chapter 7’s measured result says the propagation is what will make MRV worth having.</a:t>
            </a:r>
          </a:p>
        </p:txBody>
      </p:sp>
      <p:sp>
        <p:nvSpPr>
          <p:cNvPr id="10" name="body-1"/>
          <p:cNvSpPr txBox="1"/>
          <p:nvPr/>
        </p:nvSpPr>
        <p:spPr>
          <a:xfrm>
            <a:off x="1042416" y="365010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Alternative rejected:</a:t>
            </a:r>
            <a:r>
              <a:rPr sz="1900" b="0" i="0">
                <a:solidFill>
                  <a:srgbClr val="1C252B"/>
                </a:solidFill>
                <a:latin typeface="Segoe UI"/>
              </a:rPr>
              <a:t> local search (Chapter 6) would produce a good timetable faster, and could not </a:t>
            </a:r>
            <a:r>
              <a:rPr sz="1900" b="0" i="1">
                <a:solidFill>
                  <a:srgbClr val="1C252B"/>
                </a:solidFill>
                <a:latin typeface="Segoe UI"/>
              </a:rPr>
              <a:t>prove</a:t>
            </a:r>
            <a:r>
              <a:rPr sz="1900" b="0" i="0">
                <a:solidFill>
                  <a:srgbClr val="1C252B"/>
                </a:solidFill>
                <a:latin typeface="Segoe UI"/>
              </a:rPr>
              <a:t> the absence of a clash. A timetable with a clash is worthless however good its load balance, so the guarantee matters more than the speed here.</a:t>
            </a:r>
          </a:p>
        </p:txBody>
      </p:sp>
      <p:sp>
        <p:nvSpPr>
          <p:cNvPr id="11" name="body-2"/>
          <p:cNvSpPr txBox="1"/>
          <p:nvPr/>
        </p:nvSpPr>
        <p:spPr>
          <a:xfrm>
            <a:off x="1042416" y="468624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Baseline.</a:t>
            </a:r>
            <a:r>
              <a:rPr sz="1900" b="0" i="0">
                <a:solidFill>
                  <a:srgbClr val="1C252B"/>
                </a:solidFill>
                <a:latin typeface="Segoe UI"/>
              </a:rPr>
              <a:t> Greedy assignment in enrolment order, taking the first legal triple. About thirty lines.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 proposal that would score well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18D325C9-3150-4CD7-9248-4241C4281352}"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090494"/>
          </a:xfrm>
          <a:prstGeom prst="roundRect">
            <a:avLst>
              <a:gd name="adj" fmla="val 295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09049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would count as failure.</a:t>
            </a:r>
            <a:r>
              <a:rPr sz="1900" b="0" i="0">
                <a:solidFill>
                  <a:srgbClr val="1C252B"/>
                </a:solidFill>
                <a:latin typeface="Segoe UI"/>
              </a:rPr>
              <a:t> If the greedy baseline places as many sessions with a load spread within two of mine, constraint satisfaction has not earned its complexity on this instance and I will say so. If the solver cannot place the full set within sixty seconds, I will report the largest instance it does handle.</a:t>
            </a:r>
          </a:p>
        </p:txBody>
      </p:sp>
      <p:sp>
        <p:nvSpPr>
          <p:cNvPr id="10" name="body-1"/>
          <p:cNvSpPr txBox="1"/>
          <p:nvPr/>
        </p:nvSpPr>
        <p:spPr>
          <a:xfrm>
            <a:off x="1042416" y="3348964"/>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Why this proposal is good.</a:t>
            </a:r>
            <a:r>
              <a:rPr sz="1900" b="0" i="0">
                <a:solidFill>
                  <a:srgbClr val="1C252B"/>
                </a:solidFill>
                <a:latin typeface="Segoe UI"/>
              </a:rPr>
              <a:t> The goal is one sentence. The rules exist and are already written down in the department handbook. There is an embarrassing baseline. The performance measure describes the world. And the failure condition is stated in advance, in numbers, so the evaluation cannot be quietly reshaped to flatter the result.</a:t>
            </a:r>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428967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47ACF54D-DC15-49C8-960B-87DEC4C3CFD9}"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a problem whose difficulty is the data.</a:t>
            </a:r>
            <a:r>
              <a:rPr sz="1700" b="0" i="0">
                <a:solidFill>
                  <a:srgbClr val="1C252B"/>
                </a:solidFill>
                <a:latin typeface="Segoe UI"/>
              </a:rPr>
              <a:t> If the rules must be learned, it is a </a:t>
            </a:r>
            <a:r>
              <a:rPr sz="1700" b="0" i="1">
                <a:solidFill>
                  <a:srgbClr val="1C252B"/>
                </a:solidFill>
                <a:latin typeface="Segoe UI"/>
              </a:rPr>
              <a:t>Machine Learning</a:t>
            </a:r>
            <a:r>
              <a:rPr sz="1700" b="0" i="0">
                <a:solidFill>
                  <a:srgbClr val="1C252B"/>
                </a:solidFill>
                <a:latin typeface="Segoe UI"/>
              </a:rPr>
              <a:t> project.</a:t>
            </a:r>
          </a:p>
        </p:txBody>
      </p:sp>
      <p:sp>
        <p:nvSpPr>
          <p:cNvPr id="10" name="!!pb1">
            <a:extLst>
              <a:ext uri="{C183D7F6-B498-43B3-948B-1728B52AA6E4}">
                <adec:decorative xmlns:adec="http://schemas.microsoft.com/office/drawing/2017/decorative" val="1"/>
              </a:ext>
            </a:extLst>
          </p:cNvPr>
          <p:cNvSpPr/>
          <p:nvPr/>
        </p:nvSpPr>
        <p:spPr>
          <a:xfrm>
            <a:off x="658368" y="249570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51856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47741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 baseline.</a:t>
            </a:r>
            <a:r>
              <a:rPr sz="1700" b="0" i="0">
                <a:solidFill>
                  <a:srgbClr val="1C252B"/>
                </a:solidFill>
                <a:latin typeface="Segoe UI"/>
              </a:rPr>
              <a:t> Then your result has no units. Build it first.</a:t>
            </a:r>
          </a:p>
        </p:txBody>
      </p:sp>
      <p:sp>
        <p:nvSpPr>
          <p:cNvPr id="13" name="!!pb2">
            <a:extLst>
              <a:ext uri="{C183D7F6-B498-43B3-948B-1728B52AA6E4}">
                <adec:decorative xmlns:adec="http://schemas.microsoft.com/office/drawing/2017/decorative" val="1"/>
              </a:ext>
            </a:extLst>
          </p:cNvPr>
          <p:cNvSpPr/>
          <p:nvPr/>
        </p:nvSpPr>
        <p:spPr>
          <a:xfrm>
            <a:off x="658368" y="306263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08549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044342"/>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Choosing the measure afterwards.</a:t>
            </a:r>
            <a:r>
              <a:rPr sz="1700" b="0" i="0">
                <a:solidFill>
                  <a:srgbClr val="1C252B"/>
                </a:solidFill>
                <a:latin typeface="Segoe UI"/>
              </a:rPr>
              <a:t> It will be a measure your system does well on, and you will not notice.</a:t>
            </a:r>
          </a:p>
        </p:txBody>
      </p:sp>
      <p:sp>
        <p:nvSpPr>
          <p:cNvPr id="16" name="!!pb3">
            <a:extLst>
              <a:ext uri="{C183D7F6-B498-43B3-948B-1728B52AA6E4}">
                <adec:decorative xmlns:adec="http://schemas.microsoft.com/office/drawing/2017/decorative" val="1"/>
              </a:ext>
            </a:extLst>
          </p:cNvPr>
          <p:cNvSpPr/>
          <p:nvPr/>
        </p:nvSpPr>
        <p:spPr>
          <a:xfrm>
            <a:off x="658368" y="380268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8255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784396"/>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Knowledge inside the algorithm.</a:t>
            </a:r>
            <a:r>
              <a:rPr sz="1700" b="0" i="0">
                <a:solidFill>
                  <a:srgbClr val="1C252B"/>
                </a:solidFill>
                <a:latin typeface="Segoe UI"/>
              </a:rPr>
              <a:t> Constraints and rules belong in data. This is assessed, and it is what makes your system correctable.</a:t>
            </a:r>
          </a:p>
        </p:txBody>
      </p:sp>
      <p:sp>
        <p:nvSpPr>
          <p:cNvPr id="19" name="!!pb4">
            <a:extLst>
              <a:ext uri="{C183D7F6-B498-43B3-948B-1728B52AA6E4}">
                <adec:decorative xmlns:adec="http://schemas.microsoft.com/office/drawing/2017/decorative" val="1"/>
              </a:ext>
            </a:extLst>
          </p:cNvPr>
          <p:cNvSpPr/>
          <p:nvPr/>
        </p:nvSpPr>
        <p:spPr>
          <a:xfrm>
            <a:off x="658368" y="454273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565599"/>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524451"/>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No trace.</a:t>
            </a:r>
            <a:r>
              <a:rPr sz="1700" b="0" i="0">
                <a:solidFill>
                  <a:srgbClr val="1C252B"/>
                </a:solidFill>
                <a:latin typeface="Segoe UI"/>
              </a:rPr>
              <a:t> You will need it for the report, for the hard question, and for the audit. Retrofitting one is much harder than logging as you go.</a:t>
            </a:r>
          </a:p>
        </p:txBody>
      </p:sp>
      <p:sp>
        <p:nvSpPr>
          <p:cNvPr id="22" name="!!pb5">
            <a:extLst>
              <a:ext uri="{C183D7F6-B498-43B3-948B-1728B52AA6E4}">
                <adec:decorative xmlns:adec="http://schemas.microsoft.com/office/drawing/2017/decorative" val="1"/>
              </a:ext>
            </a:extLst>
          </p:cNvPr>
          <p:cNvSpPr/>
          <p:nvPr/>
        </p:nvSpPr>
        <p:spPr>
          <a:xfrm>
            <a:off x="658368" y="528279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30565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264505"/>
            <a:ext cx="10271455" cy="538886"/>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Tuning on a toy instance.</a:t>
            </a:r>
            <a:r>
              <a:rPr sz="1700" b="0" i="0">
                <a:solidFill>
                  <a:srgbClr val="1C252B"/>
                </a:solidFill>
                <a:latin typeface="Segoe UI"/>
              </a:rPr>
              <a:t> Three chapters of this book contain a technique that loses on a small instance and wins on a large one.</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4515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 (continued)</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DE7B79F8-513A-424A-B3BB-3A5E061D9125}" type="slidenum">
              <a:rPr lang="en-GB" sz="1000">
                <a:solidFill>
                  <a:srgbClr val="8795A1"/>
                </a:solidFill>
                <a:latin typeface="Segoe UI"/>
              </a:rPr>
              <a:t>21</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1700" b="1" i="0">
                <a:solidFill>
                  <a:srgbClr val="A93226"/>
                </a:solidFill>
                <a:latin typeface="Segoe UI"/>
              </a:rPr>
              <a:t>Omitting “what did not work”.</a:t>
            </a:r>
            <a:r>
              <a:rPr sz="1700" b="0" i="0">
                <a:solidFill>
                  <a:srgbClr val="1C252B"/>
                </a:solidFill>
                <a:latin typeface="Segoe UI"/>
              </a:rPr>
              <a:t> It is required, it costs no marks, and its absence is conspicuous.</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74121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43250C3C-92BE-4523-AB84-9B407ACAA800}" type="slidenum">
              <a:rPr lang="en-GB" sz="1000">
                <a:solidFill>
                  <a:srgbClr val="8795A1"/>
                </a:solidFill>
                <a:latin typeface="Segoe UI"/>
              </a:rPr>
              <a:t>22</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scaffold to start from. It runs as given, with a trivial problem in place, so that the structure is working before any of your own code exists.</a:t>
            </a:r>
          </a:p>
        </p:txBody>
      </p:sp>
      <p:sp>
        <p:nvSpPr>
          <p:cNvPr id="8" name="!!lfTHIS">
            <a:extLst>
              <a:ext uri="{C183D7F6-B498-43B3-948B-1728B52AA6E4}">
                <adec:decorative xmlns:adec="http://schemas.microsoft.com/office/drawing/2017/decorative" val="1"/>
              </a:ext>
            </a:extLst>
          </p:cNvPr>
          <p:cNvSpPr/>
          <p:nvPr/>
        </p:nvSpPr>
        <p:spPr>
          <a:xfrm>
            <a:off x="658368"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11: Unification and a resolution proof</a:t>
            </a:r>
          </a:p>
        </p:txBody>
      </p:sp>
      <p:sp>
        <p:nvSpPr>
          <p:cNvPr id="12" name="!!lfWHAT">
            <a:extLst>
              <a:ext uri="{C183D7F6-B498-43B3-948B-1728B52AA6E4}">
                <adec:decorative xmlns:adec="http://schemas.microsoft.com/office/drawing/2017/decorative" val="1"/>
              </a:ext>
            </a:extLst>
          </p:cNvPr>
          <p:cNvSpPr/>
          <p:nvPr/>
        </p:nvSpPr>
        <p:spPr>
          <a:xfrm>
            <a:off x="4374794"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4374794"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4649114"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4649114"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192 lines of Python</a:t>
            </a:r>
          </a:p>
        </p:txBody>
      </p:sp>
      <p:sp>
        <p:nvSpPr>
          <p:cNvPr id="16" name="!!lfRUNN">
            <a:extLst>
              <a:ext uri="{C183D7F6-B498-43B3-948B-1728B52AA6E4}">
                <adec:decorative xmlns:adec="http://schemas.microsoft.com/office/drawing/2017/decorative" val="1"/>
              </a:ext>
            </a:extLst>
          </p:cNvPr>
          <p:cNvSpPr/>
          <p:nvPr/>
        </p:nvSpPr>
        <p:spPr>
          <a:xfrm>
            <a:off x="8091220" y="268224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lfbRUNN">
            <a:extLst>
              <a:ext uri="{C183D7F6-B498-43B3-948B-1728B52AA6E4}">
                <adec:decorative xmlns:adec="http://schemas.microsoft.com/office/drawing/2017/decorative" val="1"/>
              </a:ext>
            </a:extLst>
          </p:cNvPr>
          <p:cNvSpPr/>
          <p:nvPr/>
        </p:nvSpPr>
        <p:spPr>
          <a:xfrm>
            <a:off x="8091220"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lflRUNN"/>
          <p:cNvSpPr txBox="1"/>
          <p:nvPr/>
        </p:nvSpPr>
        <p:spPr>
          <a:xfrm>
            <a:off x="8365540" y="284683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19" name="!!lfvRUNN"/>
          <p:cNvSpPr txBox="1"/>
          <p:nvPr/>
        </p:nvSpPr>
        <p:spPr>
          <a:xfrm>
            <a:off x="8365540" y="313944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code/ch22_project_template.py</a:t>
            </a: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496698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15279A95-D3FB-4DB6-9294-39F753828E06}" type="slidenum">
              <a:rPr lang="en-GB" sz="1000">
                <a:solidFill>
                  <a:srgbClr val="8795A1"/>
                </a:solidFill>
                <a:latin typeface="Segoe UI"/>
              </a:rPr>
              <a:t>23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quot;&quot;&quot;Chapter 22 -- the project template. Replace the marked sections. Everything else is the shape every project in this course should have: a PEAS specification you can print, a baseline, a measure fixed in advance, a trace, an audit and a reproducible run. &quot;&quot;&quot; import json import os import random SEED = 0 # every random choice, reproducible"/>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0">
                <a:solidFill>
                  <a:srgbClr val="7DCEA0"/>
                </a:solidFill>
                <a:latin typeface="Consolas"/>
              </a:rPr>
              <a:t>"""Chapter 22 -- the project template.</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Replace the marked sections. Everything else is the shape every</a:t>
            </a:r>
          </a:p>
          <a:p>
            <a:pPr>
              <a:lnSpc>
                <a:spcPct val="100000"/>
              </a:lnSpc>
              <a:spcAft>
                <a:spcPts val="0"/>
              </a:spcAft>
            </a:pPr>
            <a:r>
              <a:rPr sz="2000" i="0">
                <a:solidFill>
                  <a:srgbClr val="7DCEA0"/>
                </a:solidFill>
                <a:latin typeface="Consolas"/>
              </a:rPr>
              <a:t>project in this course should have: a PEAS specification you can</a:t>
            </a:r>
          </a:p>
          <a:p>
            <a:pPr>
              <a:lnSpc>
                <a:spcPct val="100000"/>
              </a:lnSpc>
              <a:spcAft>
                <a:spcPts val="0"/>
              </a:spcAft>
            </a:pPr>
            <a:r>
              <a:rPr sz="2000" i="0">
                <a:solidFill>
                  <a:srgbClr val="7DCEA0"/>
                </a:solidFill>
                <a:latin typeface="Consolas"/>
              </a:rPr>
              <a:t>print, a baseline, a measure fixed in advance, a trace, an audit and</a:t>
            </a:r>
          </a:p>
          <a:p>
            <a:pPr>
              <a:lnSpc>
                <a:spcPct val="100000"/>
              </a:lnSpc>
              <a:spcAft>
                <a:spcPts val="0"/>
              </a:spcAft>
            </a:pPr>
            <a:r>
              <a:rPr sz="2000" i="0">
                <a:solidFill>
                  <a:srgbClr val="7DCEA0"/>
                </a:solidFill>
                <a:latin typeface="Consolas"/>
              </a:rPr>
              <a:t>a reproducible run.</a:t>
            </a:r>
          </a:p>
          <a:p>
            <a:pPr>
              <a:lnSpc>
                <a:spcPct val="100000"/>
              </a:lnSpc>
              <a:spcAft>
                <a:spcPts val="0"/>
              </a:spcAft>
            </a:pPr>
            <a:r>
              <a:rPr sz="2000" i="0">
                <a:solidFill>
                  <a:srgbClr val="7DCEA0"/>
                </a:solidFill>
                <a:latin typeface="Consolas"/>
              </a:rPr>
              <a:t>"""</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json</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os</a:t>
            </a:r>
          </a:p>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random</a:t>
            </a:r>
          </a:p>
          <a:p>
            <a:pPr>
              <a:lnSpc>
                <a:spcPct val="100000"/>
              </a:lnSpc>
              <a:spcAft>
                <a:spcPts val="0"/>
              </a:spcAft>
            </a:pPr>
            <a:r>
              <a:rPr sz="2000">
                <a:latin typeface="Consolas"/>
              </a:rPr>
              <a:t> </a:t>
            </a:r>
          </a:p>
          <a:p>
            <a:pPr>
              <a:lnSpc>
                <a:spcPct val="100000"/>
              </a:lnSpc>
              <a:spcAft>
                <a:spcPts val="0"/>
              </a:spcAft>
            </a:pPr>
            <a:r>
              <a:rPr sz="2000" i="0">
                <a:solidFill>
                  <a:srgbClr val="E8EDF2"/>
                </a:solidFill>
                <a:latin typeface="Consolas"/>
              </a:rPr>
              <a:t>SEED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E8EDF2"/>
                </a:solidFill>
                <a:latin typeface="Consolas"/>
              </a:rPr>
              <a:t>                      </a:t>
            </a:r>
            <a:r>
              <a:rPr sz="2000" i="1">
                <a:solidFill>
                  <a:srgbClr val="8795A1"/>
                </a:solidFill>
                <a:latin typeface="Consolas"/>
              </a:rPr>
              <a:t># every random choice, reproducible</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a:p>
            <a:pPr algn="r">
              <a:lnSpc>
                <a:spcPct val="100000"/>
              </a:lnSpc>
            </a:pPr>
            <a:r>
              <a:rPr sz="2000">
                <a:solidFill>
                  <a:srgbClr val="4F5D6A"/>
                </a:solidFill>
                <a:latin typeface="Consolas"/>
              </a:rPr>
              <a:t>8</a:t>
            </a:r>
          </a:p>
          <a:p>
            <a:pPr algn="r">
              <a:lnSpc>
                <a:spcPct val="100000"/>
              </a:lnSpc>
            </a:pPr>
            <a:r>
              <a:rPr sz="2000">
                <a:solidFill>
                  <a:srgbClr val="4F5D6A"/>
                </a:solidFill>
                <a:latin typeface="Consolas"/>
              </a:rPr>
              <a:t>9</a:t>
            </a:r>
          </a:p>
          <a:p>
            <a:pPr algn="r">
              <a:lnSpc>
                <a:spcPct val="100000"/>
              </a:lnSpc>
            </a:pPr>
            <a:r>
              <a:rPr sz="2000">
                <a:solidFill>
                  <a:srgbClr val="4F5D6A"/>
                </a:solidFill>
                <a:latin typeface="Consolas"/>
              </a:rPr>
              <a:t>10</a:t>
            </a:r>
          </a:p>
          <a:p>
            <a:pPr algn="r">
              <a:lnSpc>
                <a:spcPct val="100000"/>
              </a:lnSpc>
            </a:pPr>
            <a:r>
              <a:rPr sz="2000">
                <a:solidFill>
                  <a:srgbClr val="4F5D6A"/>
                </a:solidFill>
                <a:latin typeface="Consolas"/>
              </a:rPr>
              <a:t>11</a:t>
            </a:r>
          </a:p>
          <a:p>
            <a:pPr algn="r">
              <a:lnSpc>
                <a:spcPct val="100000"/>
              </a:lnSpc>
            </a:pPr>
            <a:r>
              <a:rPr sz="2000">
                <a:solidFill>
                  <a:srgbClr val="4F5D6A"/>
                </a:solidFill>
                <a:latin typeface="Consolas"/>
              </a:rPr>
              <a:t>12</a:t>
            </a:r>
          </a:p>
          <a:p>
            <a:pPr algn="r">
              <a:lnSpc>
                <a:spcPct val="100000"/>
              </a:lnSpc>
            </a:pPr>
            <a:r>
              <a:rPr sz="2000">
                <a:solidFill>
                  <a:srgbClr val="4F5D6A"/>
                </a:solidFill>
                <a:latin typeface="Consolas"/>
              </a:rPr>
              <a:t>13</a:t>
            </a:r>
          </a:p>
          <a:p>
            <a:pPr algn="r">
              <a:lnSpc>
                <a:spcPct val="100000"/>
              </a:lnSpc>
            </a:pPr>
            <a:r>
              <a:rPr sz="2000">
                <a:solidFill>
                  <a:srgbClr val="4F5D6A"/>
                </a:solidFill>
                <a:latin typeface="Consolas"/>
              </a:rPr>
              <a:t>14</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19275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BD471057-5169-4992-B1E1-A73D25B00299}" type="slidenum">
              <a:rPr lang="en-GB" sz="1000">
                <a:solidFill>
                  <a:srgbClr val="8795A1"/>
                </a:solidFill>
                <a:latin typeface="Segoe UI"/>
              </a:rPr>
              <a:t>24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1. PEAS -- fill this in, and print it in the report"/>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1. PEAS -- fill this in, and print it in the report</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16</a:t>
            </a:r>
          </a:p>
          <a:p>
            <a:pPr algn="r">
              <a:lnSpc>
                <a:spcPct val="100000"/>
              </a:lnSpc>
            </a:pPr>
            <a:r>
              <a:rPr sz="2000">
                <a:solidFill>
                  <a:srgbClr val="4F5D6A"/>
                </a:solidFill>
                <a:latin typeface="Consolas"/>
              </a:rPr>
              <a:t>17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B4B192D6-D6CF-4528-8231-82E3E2F17BA3}" type="slidenum">
              <a:rPr lang="en-GB" sz="1000">
                <a:solidFill>
                  <a:srgbClr val="8795A1"/>
                </a:solidFill>
                <a:latin typeface="Segoe UI"/>
              </a:rPr>
              <a:t>25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PEAS = { &quot;performance&quot;: &quot;sessions placed; zero clashes; load spread&quot;, &quot;environment&quot;: &quot;sessions, rooms, staff, slots; static, discrete&quot;, &quot;actuators&quot;: &quot;assign(session, room, slot, staff); unassign&quot;, &quot;sensors&quot;: &quot;the full session list and all constraints&quot;, } # what would count as FAILURE -- written down BEFORE building FAILURE_CONDITION = ( &quot;the baseline places as many sessions with a load spread within &quot; &quot;2 of ours&quot; )"/>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E8EDF2"/>
                </a:solidFill>
                <a:latin typeface="Consolas"/>
              </a:rPr>
              <a:t>PEAS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performance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sessions placed; zero clashes; load spread</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environment</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sessions, rooms, staff, slots; static, discrete</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actuators</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assign(session, room, slot, staff); unassign</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sensors</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the full session list and all constraints</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i="1">
                <a:solidFill>
                  <a:srgbClr val="8795A1"/>
                </a:solidFill>
                <a:latin typeface="Consolas"/>
              </a:rPr>
              <a:t># what would count as FAILURE -- written down BEFORE building</a:t>
            </a:r>
          </a:p>
          <a:p>
            <a:pPr>
              <a:lnSpc>
                <a:spcPct val="100000"/>
              </a:lnSpc>
              <a:spcAft>
                <a:spcPts val="0"/>
              </a:spcAft>
            </a:pPr>
            <a:r>
              <a:rPr sz="2000" i="0">
                <a:solidFill>
                  <a:srgbClr val="E8EDF2"/>
                </a:solidFill>
                <a:latin typeface="Consolas"/>
              </a:rPr>
              <a:t>FAILURE_CONDITION</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the baseline places as many sessions with a load spread within </a:t>
            </a:r>
            <a:r>
              <a:rPr sz="2000" i="0">
                <a:solidFill>
                  <a:srgbClr val="7DCEA0"/>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2 of ours</a:t>
            </a:r>
            <a:r>
              <a:rPr sz="2000" i="0">
                <a:solidFill>
                  <a:srgbClr val="7DCEA0"/>
                </a:solidFill>
                <a:latin typeface="Consolas"/>
              </a:rPr>
              <a:t>"</a:t>
            </a:r>
          </a:p>
          <a:p>
            <a:pPr>
              <a:lnSpc>
                <a:spcPct val="100000"/>
              </a:lnSpc>
              <a:spcAft>
                <a:spcPts val="0"/>
              </a:spcAft>
            </a:pPr>
            <a:r>
              <a:rPr sz="2000" i="0">
                <a:solidFill>
                  <a:srgbClr val="AEB6BF"/>
                </a:solidFill>
                <a:latin typeface="Consolas"/>
              </a:rPr>
              <a: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18</a:t>
            </a:r>
          </a:p>
          <a:p>
            <a:pPr algn="r">
              <a:lnSpc>
                <a:spcPct val="100000"/>
              </a:lnSpc>
            </a:pPr>
            <a:r>
              <a:rPr sz="2000">
                <a:solidFill>
                  <a:srgbClr val="4F5D6A"/>
                </a:solidFill>
                <a:latin typeface="Consolas"/>
              </a:rPr>
              <a:t>19</a:t>
            </a:r>
          </a:p>
          <a:p>
            <a:pPr algn="r">
              <a:lnSpc>
                <a:spcPct val="100000"/>
              </a:lnSpc>
            </a:pPr>
            <a:r>
              <a:rPr sz="2000">
                <a:solidFill>
                  <a:srgbClr val="4F5D6A"/>
                </a:solidFill>
                <a:latin typeface="Consolas"/>
              </a:rPr>
              <a:t>20</a:t>
            </a:r>
          </a:p>
          <a:p>
            <a:pPr algn="r">
              <a:lnSpc>
                <a:spcPct val="100000"/>
              </a:lnSpc>
            </a:pPr>
            <a:r>
              <a:rPr sz="2000">
                <a:solidFill>
                  <a:srgbClr val="4F5D6A"/>
                </a:solidFill>
                <a:latin typeface="Consolas"/>
              </a:rPr>
              <a:t>21</a:t>
            </a:r>
          </a:p>
          <a:p>
            <a:pPr algn="r">
              <a:lnSpc>
                <a:spcPct val="100000"/>
              </a:lnSpc>
            </a:pPr>
            <a:r>
              <a:rPr sz="2000">
                <a:solidFill>
                  <a:srgbClr val="4F5D6A"/>
                </a:solidFill>
                <a:latin typeface="Consolas"/>
              </a:rPr>
              <a:t>22</a:t>
            </a:r>
          </a:p>
          <a:p>
            <a:pPr algn="r">
              <a:lnSpc>
                <a:spcPct val="100000"/>
              </a:lnSpc>
            </a:pPr>
            <a:r>
              <a:rPr sz="2000">
                <a:solidFill>
                  <a:srgbClr val="4F5D6A"/>
                </a:solidFill>
                <a:latin typeface="Consolas"/>
              </a:rPr>
              <a:t>23</a:t>
            </a:r>
          </a:p>
          <a:p>
            <a:pPr algn="r">
              <a:lnSpc>
                <a:spcPct val="100000"/>
              </a:lnSpc>
            </a:pPr>
            <a:r>
              <a:rPr sz="2000">
                <a:solidFill>
                  <a:srgbClr val="4F5D6A"/>
                </a:solidFill>
                <a:latin typeface="Consolas"/>
              </a:rPr>
              <a:t>24</a:t>
            </a:r>
          </a:p>
          <a:p>
            <a:pPr algn="r">
              <a:lnSpc>
                <a:spcPct val="100000"/>
              </a:lnSpc>
            </a:pPr>
            <a:r>
              <a:rPr sz="2000">
                <a:solidFill>
                  <a:srgbClr val="4F5D6A"/>
                </a:solidFill>
                <a:latin typeface="Consolas"/>
              </a:rPr>
              <a:t>25</a:t>
            </a:r>
          </a:p>
          <a:p>
            <a:pPr algn="r">
              <a:lnSpc>
                <a:spcPct val="100000"/>
              </a:lnSpc>
            </a:pPr>
            <a:r>
              <a:rPr sz="2000">
                <a:solidFill>
                  <a:srgbClr val="4F5D6A"/>
                </a:solidFill>
                <a:latin typeface="Consolas"/>
              </a:rPr>
              <a:t>26</a:t>
            </a:r>
          </a:p>
          <a:p>
            <a:pPr algn="r">
              <a:lnSpc>
                <a:spcPct val="100000"/>
              </a:lnSpc>
            </a:pPr>
            <a:r>
              <a:rPr sz="2000">
                <a:solidFill>
                  <a:srgbClr val="4F5D6A"/>
                </a:solidFill>
                <a:latin typeface="Consolas"/>
              </a:rPr>
              <a:t>27</a:t>
            </a:r>
          </a:p>
          <a:p>
            <a:pPr algn="r">
              <a:lnSpc>
                <a:spcPct val="100000"/>
              </a:lnSpc>
            </a:pPr>
            <a:r>
              <a:rPr sz="2000">
                <a:solidFill>
                  <a:srgbClr val="4F5D6A"/>
                </a:solidFill>
                <a:latin typeface="Consolas"/>
              </a:rPr>
              <a:t>28</a:t>
            </a:r>
          </a:p>
          <a:p>
            <a:pPr algn="r">
              <a:lnSpc>
                <a:spcPct val="100000"/>
              </a:lnSpc>
            </a:pPr>
            <a:r>
              <a:rPr sz="2000">
                <a:solidFill>
                  <a:srgbClr val="4F5D6A"/>
                </a:solidFill>
                <a:latin typeface="Consolas"/>
              </a:rPr>
              <a:t>29</a:t>
            </a:r>
          </a:p>
          <a:p>
            <a:pPr algn="r">
              <a:lnSpc>
                <a:spcPct val="100000"/>
              </a:lnSpc>
            </a:pPr>
            <a:r>
              <a:rPr sz="2000">
                <a:solidFill>
                  <a:srgbClr val="4F5D6A"/>
                </a:solidFill>
                <a:latin typeface="Consolas"/>
              </a:rPr>
              <a:t>30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64430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983AF8B3-D152-4F28-AA1C-CDA2983BF374}" type="slidenum">
              <a:rPr lang="en-GB" sz="1000">
                <a:solidFill>
                  <a:srgbClr val="8795A1"/>
                </a:solidFill>
                <a:latin typeface="Segoe UI"/>
              </a:rPr>
              <a:t>26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2. The domain, as DATA -- never inside the algorithm"/>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2. The domain, as DATA -- never inside the algorithm</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32</a:t>
            </a:r>
          </a:p>
          <a:p>
            <a:pPr algn="r">
              <a:lnSpc>
                <a:spcPct val="100000"/>
              </a:lnSpc>
            </a:pPr>
            <a:r>
              <a:rPr sz="2000">
                <a:solidFill>
                  <a:srgbClr val="4F5D6A"/>
                </a:solidFill>
                <a:latin typeface="Consolas"/>
              </a:rPr>
              <a:t>33</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5870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44AFA79D-700E-4608-83D4-329B5A0D9514}"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SESSIONS = [&quot;ai-lab-1&quot;, &quot;ai-lab-2&quot;, &quot;ds-lab-1&quot;, &quot;ml-lab-1&quot;] SLOTS = [&quot;mon-am&quot;, &quot;mon-pm&quot;, &quot;tue-am&quot;] STAFF = [&quot;ayesha&quot;, &quot;bilal&quot;] def legal(assignment, session, slot, who): &quot;&quot;&quot;The constraints. Reading this should tell a domain expert exactly what the system believes.&quot;&quot;&quot; for (s, (sl, w)) in assignment.items(): if sl == slot and w == who: return False # one person, one slot return True"/>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E8EDF2"/>
                </a:solidFill>
                <a:latin typeface="Consolas"/>
              </a:rPr>
              <a:t>SESSIONS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ai-lab-1</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ai-lab-2</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ds-lab-1</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ml-lab-1</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SLOTS</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mon-am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mon-pm</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tue-am</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STAFF</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ayesha</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bilal</a:t>
            </a:r>
            <a:r>
              <a:rPr sz="2000" i="0">
                <a:solidFill>
                  <a:srgbClr val="7DCEA0"/>
                </a:solidFill>
                <a:latin typeface="Consolas"/>
              </a:rPr>
              <a:t>"</a:t>
            </a:r>
            <a:r>
              <a:rPr sz="2000" i="0">
                <a:solidFill>
                  <a:srgbClr val="AEB6BF"/>
                </a:solidFill>
                <a:latin typeface="Consolas"/>
              </a:rPr>
              <a:t>]</a:t>
            </a:r>
          </a:p>
          <a:p>
            <a:pPr>
              <a:lnSpc>
                <a:spcPct val="100000"/>
              </a:lnSpc>
              <a:spcAft>
                <a:spcPts val="0"/>
              </a:spcAft>
            </a:pPr>
            <a:r>
              <a:rPr sz="2000">
                <a:latin typeface="Consolas"/>
              </a:rPr>
              <a:t> </a:t>
            </a:r>
          </a:p>
          <a:p>
            <a:pPr>
              <a:lnSpc>
                <a:spcPct val="100000"/>
              </a:lnSpc>
              <a:spcAft>
                <a:spcPts val="0"/>
              </a:spcAft>
            </a:pPr>
            <a:r>
              <a:rPr sz="2000">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legal</a:t>
            </a:r>
            <a:r>
              <a:rPr sz="2000" i="0">
                <a:solidFill>
                  <a:srgbClr val="AEB6BF"/>
                </a:solidFill>
                <a:latin typeface="Consolas"/>
              </a:rPr>
              <a:t>(</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session</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slot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"""The constraints. Reading this should tell a domain expert</a:t>
            </a:r>
          </a:p>
          <a:p>
            <a:pPr>
              <a:lnSpc>
                <a:spcPct val="100000"/>
              </a:lnSpc>
              <a:spcAft>
                <a:spcPts val="0"/>
              </a:spcAft>
            </a:pPr>
            <a:r>
              <a:rPr sz="2000" i="0">
                <a:solidFill>
                  <a:srgbClr val="7DCEA0"/>
                </a:solidFill>
                <a:latin typeface="Consolas"/>
              </a:rPr>
              <a:t>    exactly what the system believes."""</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sl</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sl</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slot</a:t>
            </a:r>
            <a:r>
              <a:rPr sz="2000" i="0">
                <a:solidFill>
                  <a:srgbClr val="E8EDF2"/>
                </a:solidFill>
                <a:latin typeface="Consolas"/>
              </a:rPr>
              <a:t> </a:t>
            </a:r>
            <a:r>
              <a:rPr sz="2000" i="0">
                <a:solidFill>
                  <a:srgbClr val="AEB6BF"/>
                </a:solidFill>
                <a:latin typeface="Consolas"/>
              </a:rPr>
              <a:t>and</a:t>
            </a:r>
            <a:r>
              <a:rPr sz="2000" i="0">
                <a:solidFill>
                  <a:srgbClr val="E8EDF2"/>
                </a:solidFill>
                <a:latin typeface="Consolas"/>
              </a:rPr>
              <a:t> </a:t>
            </a:r>
            <a:r>
              <a:rPr sz="2000" i="0">
                <a:solidFill>
                  <a:srgbClr val="E8EDF2"/>
                </a:solidFill>
                <a:latin typeface="Consolas"/>
              </a:rPr>
              <a:t>w</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5DADE2"/>
                </a:solidFill>
                <a:latin typeface="Consolas"/>
              </a:rPr>
              <a:t>False</a:t>
            </a:r>
            <a:r>
              <a:rPr sz="2000" i="0">
                <a:solidFill>
                  <a:srgbClr val="E8EDF2"/>
                </a:solidFill>
                <a:latin typeface="Consolas"/>
              </a:rPr>
              <a:t>              </a:t>
            </a:r>
            <a:r>
              <a:rPr sz="2000" i="1">
                <a:solidFill>
                  <a:srgbClr val="8795A1"/>
                </a:solidFill>
                <a:latin typeface="Consolas"/>
              </a:rPr>
              <a:t># one person, one slot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5DADE2"/>
                </a:solidFill>
                <a:latin typeface="Consolas"/>
              </a:rPr>
              <a:t>True</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34</a:t>
            </a:r>
          </a:p>
          <a:p>
            <a:pPr algn="r">
              <a:lnSpc>
                <a:spcPct val="100000"/>
              </a:lnSpc>
            </a:pPr>
            <a:r>
              <a:rPr sz="2000">
                <a:solidFill>
                  <a:srgbClr val="4F5D6A"/>
                </a:solidFill>
                <a:latin typeface="Consolas"/>
              </a:rPr>
              <a:t>35</a:t>
            </a:r>
          </a:p>
          <a:p>
            <a:pPr algn="r">
              <a:lnSpc>
                <a:spcPct val="100000"/>
              </a:lnSpc>
            </a:pPr>
            <a:r>
              <a:rPr sz="2000">
                <a:solidFill>
                  <a:srgbClr val="4F5D6A"/>
                </a:solidFill>
                <a:latin typeface="Consolas"/>
              </a:rPr>
              <a:t>36</a:t>
            </a:r>
          </a:p>
          <a:p>
            <a:pPr algn="r">
              <a:lnSpc>
                <a:spcPct val="100000"/>
              </a:lnSpc>
            </a:pPr>
            <a:r>
              <a:rPr sz="2000">
                <a:solidFill>
                  <a:srgbClr val="4F5D6A"/>
                </a:solidFill>
                <a:latin typeface="Consolas"/>
              </a:rPr>
              <a:t>37</a:t>
            </a:r>
          </a:p>
          <a:p>
            <a:pPr algn="r">
              <a:lnSpc>
                <a:spcPct val="100000"/>
              </a:lnSpc>
            </a:pPr>
            <a:r>
              <a:rPr sz="2000">
                <a:solidFill>
                  <a:srgbClr val="4F5D6A"/>
                </a:solidFill>
                <a:latin typeface="Consolas"/>
              </a:rPr>
              <a:t>38</a:t>
            </a:r>
          </a:p>
          <a:p>
            <a:pPr algn="r">
              <a:lnSpc>
                <a:spcPct val="100000"/>
              </a:lnSpc>
            </a:pPr>
            <a:r>
              <a:rPr sz="2000">
                <a:solidFill>
                  <a:srgbClr val="4F5D6A"/>
                </a:solidFill>
                <a:latin typeface="Consolas"/>
              </a:rPr>
              <a:t>39</a:t>
            </a:r>
          </a:p>
          <a:p>
            <a:pPr algn="r">
              <a:lnSpc>
                <a:spcPct val="100000"/>
              </a:lnSpc>
            </a:pPr>
            <a:r>
              <a:rPr sz="2000">
                <a:solidFill>
                  <a:srgbClr val="4F5D6A"/>
                </a:solidFill>
                <a:latin typeface="Consolas"/>
              </a:rPr>
              <a:t>40</a:t>
            </a:r>
          </a:p>
          <a:p>
            <a:pPr algn="r">
              <a:lnSpc>
                <a:spcPct val="100000"/>
              </a:lnSpc>
            </a:pPr>
            <a:r>
              <a:rPr sz="2000">
                <a:solidFill>
                  <a:srgbClr val="4F5D6A"/>
                </a:solidFill>
                <a:latin typeface="Consolas"/>
              </a:rPr>
              <a:t>41</a:t>
            </a:r>
          </a:p>
          <a:p>
            <a:pPr algn="r">
              <a:lnSpc>
                <a:spcPct val="100000"/>
              </a:lnSpc>
            </a:pPr>
            <a:r>
              <a:rPr sz="2000">
                <a:solidFill>
                  <a:srgbClr val="4F5D6A"/>
                </a:solidFill>
                <a:latin typeface="Consolas"/>
              </a:rPr>
              <a:t>42</a:t>
            </a:r>
          </a:p>
          <a:p>
            <a:pPr algn="r">
              <a:lnSpc>
                <a:spcPct val="100000"/>
              </a:lnSpc>
            </a:pPr>
            <a:r>
              <a:rPr sz="2000">
                <a:solidFill>
                  <a:srgbClr val="4F5D6A"/>
                </a:solidFill>
                <a:latin typeface="Consolas"/>
              </a:rPr>
              <a:t>43</a:t>
            </a:r>
          </a:p>
          <a:p>
            <a:pPr algn="r">
              <a:lnSpc>
                <a:spcPct val="100000"/>
              </a:lnSpc>
            </a:pPr>
            <a:r>
              <a:rPr sz="2000">
                <a:solidFill>
                  <a:srgbClr val="4F5D6A"/>
                </a:solidFill>
                <a:latin typeface="Consolas"/>
              </a:rPr>
              <a:t>44</a:t>
            </a:r>
          </a:p>
          <a:p>
            <a:pPr algn="r">
              <a:lnSpc>
                <a:spcPct val="100000"/>
              </a:lnSpc>
            </a:pPr>
            <a:r>
              <a:rPr sz="2000">
                <a:solidFill>
                  <a:srgbClr val="4F5D6A"/>
                </a:solidFill>
                <a:latin typeface="Consolas"/>
              </a:rPr>
              <a:t>45</a:t>
            </a:r>
          </a:p>
          <a:p>
            <a:pPr algn="r">
              <a:lnSpc>
                <a:spcPct val="100000"/>
              </a:lnSpc>
            </a:pPr>
            <a:r>
              <a:rPr sz="2000">
                <a:solidFill>
                  <a:srgbClr val="4F5D6A"/>
                </a:solidFill>
                <a:latin typeface="Consolas"/>
              </a:rPr>
              <a:t>46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09584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6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0926828B-26C1-42C1-80FA-56CF74E90B06}" type="slidenum">
              <a:rPr lang="en-GB" sz="1000">
                <a:solidFill>
                  <a:srgbClr val="8795A1"/>
                </a:solidFill>
                <a:latin typeface="Segoe UI"/>
              </a:rPr>
              <a:t>28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3. The BASELINE -- build this first, always"/>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3. The BASELINE -- build this first, always</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49</a:t>
            </a:r>
          </a:p>
          <a:p>
            <a:pPr algn="r">
              <a:lnSpc>
                <a:spcPct val="100000"/>
              </a:lnSpc>
            </a:pPr>
            <a:r>
              <a:rPr sz="2000">
                <a:solidFill>
                  <a:srgbClr val="4F5D6A"/>
                </a:solidFill>
                <a:latin typeface="Consolas"/>
              </a:rPr>
              <a:t>50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32161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7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C9AF4055-6EB7-4E39-9A5B-8603322617DE}" type="slidenum">
              <a:rPr lang="en-GB" sz="1000">
                <a:solidFill>
                  <a:srgbClr val="8795A1"/>
                </a:solidFill>
                <a:latin typeface="Segoe UI"/>
              </a:rPr>
              <a:t>29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565904"/>
          </a:xfrm>
          <a:prstGeom prst="roundRect">
            <a:avLst>
              <a:gd name="adj" fmla="val 200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def baseline(sessions): &quot;&quot;&quot;Greedy: first legal option, in the order given.&quot;&quot;&quot; assignment = {} for s in sessions: for slot in SLOTS: for who in STAFF: if legal(assignment, s, slot, who): assignment[s] = (slot, who) break if s in assignment: break return assignment"/>
          <p:cNvSpPr txBox="1"/>
          <p:nvPr/>
        </p:nvSpPr>
        <p:spPr>
          <a:xfrm>
            <a:off x="1362456" y="2066543"/>
            <a:ext cx="9987991" cy="40721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baseline</a:t>
            </a:r>
            <a:r>
              <a:rPr sz="2000" i="0">
                <a:solidFill>
                  <a:srgbClr val="AEB6BF"/>
                </a:solidFill>
                <a:latin typeface="Consolas"/>
              </a:rPr>
              <a:t>(</a:t>
            </a:r>
            <a:r>
              <a:rPr sz="2000" i="0">
                <a:solidFill>
                  <a:srgbClr val="E8EDF2"/>
                </a:solidFill>
                <a:latin typeface="Consolas"/>
              </a:rPr>
              <a:t>sessions</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"""Greedy: first legal option, in the order given."""</a:t>
            </a:r>
          </a:p>
          <a:p>
            <a:pPr>
              <a:lnSpc>
                <a:spcPct val="100000"/>
              </a:lnSpc>
              <a:spcAft>
                <a:spcPts val="0"/>
              </a:spcAft>
            </a:pPr>
            <a:r>
              <a:rPr sz="2000" i="0">
                <a:solidFill>
                  <a:srgbClr val="E8EDF2"/>
                </a:solidFill>
                <a:latin typeface="Consolas"/>
              </a:rPr>
              <a:t>    </a:t>
            </a:r>
            <a:r>
              <a:rPr sz="2000" i="0">
                <a:solidFill>
                  <a:srgbClr val="E8EDF2"/>
                </a:solidFill>
                <a:latin typeface="Consolas"/>
              </a:rPr>
              <a:t>assignment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sessions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slot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SLOTS</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who</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STAFF</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legal</a:t>
            </a:r>
            <a:r>
              <a:rPr sz="2000" i="0">
                <a:solidFill>
                  <a:srgbClr val="AEB6BF"/>
                </a:solidFill>
                <a:latin typeface="Consolas"/>
              </a:rPr>
              <a:t>(</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slot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slot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break</a:t>
            </a:r>
          </a:p>
          <a:p>
            <a:pPr>
              <a:lnSpc>
                <a:spcPct val="100000"/>
              </a:lnSpc>
              <a:spcAft>
                <a:spcPts val="0"/>
              </a:spcAft>
            </a:pP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break</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E8EDF2"/>
                </a:solidFill>
                <a:latin typeface="Consolas"/>
              </a:rPr>
              <a:t>assignment</a:t>
            </a:r>
          </a:p>
        </p:txBody>
      </p:sp>
      <p:sp>
        <p:nvSpPr>
          <p:cNvPr id="14" name="!!code-num"/>
          <p:cNvSpPr txBox="1"/>
          <p:nvPr/>
        </p:nvSpPr>
        <p:spPr>
          <a:xfrm>
            <a:off x="768096" y="2066543"/>
            <a:ext cx="393192" cy="40721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51</a:t>
            </a:r>
          </a:p>
          <a:p>
            <a:pPr algn="r">
              <a:lnSpc>
                <a:spcPct val="100000"/>
              </a:lnSpc>
            </a:pPr>
            <a:r>
              <a:rPr sz="2000">
                <a:solidFill>
                  <a:srgbClr val="4F5D6A"/>
                </a:solidFill>
                <a:latin typeface="Consolas"/>
              </a:rPr>
              <a:t>52</a:t>
            </a:r>
          </a:p>
          <a:p>
            <a:pPr algn="r">
              <a:lnSpc>
                <a:spcPct val="100000"/>
              </a:lnSpc>
            </a:pPr>
            <a:r>
              <a:rPr sz="2000">
                <a:solidFill>
                  <a:srgbClr val="4F5D6A"/>
                </a:solidFill>
                <a:latin typeface="Consolas"/>
              </a:rPr>
              <a:t>53</a:t>
            </a:r>
          </a:p>
          <a:p>
            <a:pPr algn="r">
              <a:lnSpc>
                <a:spcPct val="100000"/>
              </a:lnSpc>
            </a:pPr>
            <a:r>
              <a:rPr sz="2000">
                <a:solidFill>
                  <a:srgbClr val="4F5D6A"/>
                </a:solidFill>
                <a:latin typeface="Consolas"/>
              </a:rPr>
              <a:t>54</a:t>
            </a:r>
          </a:p>
          <a:p>
            <a:pPr algn="r">
              <a:lnSpc>
                <a:spcPct val="100000"/>
              </a:lnSpc>
            </a:pPr>
            <a:r>
              <a:rPr sz="2000">
                <a:solidFill>
                  <a:srgbClr val="4F5D6A"/>
                </a:solidFill>
                <a:latin typeface="Consolas"/>
              </a:rPr>
              <a:t>55</a:t>
            </a:r>
          </a:p>
          <a:p>
            <a:pPr algn="r">
              <a:lnSpc>
                <a:spcPct val="100000"/>
              </a:lnSpc>
            </a:pPr>
            <a:r>
              <a:rPr sz="2000">
                <a:solidFill>
                  <a:srgbClr val="4F5D6A"/>
                </a:solidFill>
                <a:latin typeface="Consolas"/>
              </a:rPr>
              <a:t>56</a:t>
            </a:r>
          </a:p>
          <a:p>
            <a:pPr algn="r">
              <a:lnSpc>
                <a:spcPct val="100000"/>
              </a:lnSpc>
            </a:pPr>
            <a:r>
              <a:rPr sz="2000">
                <a:solidFill>
                  <a:srgbClr val="4F5D6A"/>
                </a:solidFill>
                <a:latin typeface="Consolas"/>
              </a:rPr>
              <a:t>57</a:t>
            </a:r>
          </a:p>
          <a:p>
            <a:pPr algn="r">
              <a:lnSpc>
                <a:spcPct val="100000"/>
              </a:lnSpc>
            </a:pPr>
            <a:r>
              <a:rPr sz="2000">
                <a:solidFill>
                  <a:srgbClr val="4F5D6A"/>
                </a:solidFill>
                <a:latin typeface="Consolas"/>
              </a:rPr>
              <a:t>58</a:t>
            </a:r>
          </a:p>
          <a:p>
            <a:pPr algn="r">
              <a:lnSpc>
                <a:spcPct val="100000"/>
              </a:lnSpc>
            </a:pPr>
            <a:r>
              <a:rPr sz="2000">
                <a:solidFill>
                  <a:srgbClr val="4F5D6A"/>
                </a:solidFill>
                <a:latin typeface="Consolas"/>
              </a:rPr>
              <a:t>59</a:t>
            </a:r>
          </a:p>
          <a:p>
            <a:pPr algn="r">
              <a:lnSpc>
                <a:spcPct val="100000"/>
              </a:lnSpc>
            </a:pPr>
            <a:r>
              <a:rPr sz="2000">
                <a:solidFill>
                  <a:srgbClr val="4F5D6A"/>
                </a:solidFill>
                <a:latin typeface="Consolas"/>
              </a:rPr>
              <a:t>60</a:t>
            </a:r>
          </a:p>
          <a:p>
            <a:pPr algn="r">
              <a:lnSpc>
                <a:spcPct val="100000"/>
              </a:lnSpc>
            </a:pPr>
            <a:r>
              <a:rPr sz="2000">
                <a:solidFill>
                  <a:srgbClr val="4F5D6A"/>
                </a:solidFill>
                <a:latin typeface="Consolas"/>
              </a:rPr>
              <a:t>61</a:t>
            </a:r>
          </a:p>
          <a:p>
            <a:pPr algn="r">
              <a:lnSpc>
                <a:spcPct val="100000"/>
              </a:lnSpc>
            </a:pPr>
            <a:r>
              <a:rPr sz="2000">
                <a:solidFill>
                  <a:srgbClr val="4F5D6A"/>
                </a:solidFill>
                <a:latin typeface="Consolas"/>
              </a:rPr>
              <a:t>62</a:t>
            </a:r>
          </a:p>
          <a:p>
            <a:pPr algn="r">
              <a:lnSpc>
                <a:spcPct val="100000"/>
              </a:lnSpc>
            </a:pPr>
            <a:r>
              <a:rPr sz="2000">
                <a:solidFill>
                  <a:srgbClr val="4F5D6A"/>
                </a:solidFill>
                <a:latin typeface="Consolas"/>
              </a:rPr>
              <a:t>63</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54739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8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F76E973A-C312-476C-876C-A582856F8806}" type="slidenum">
              <a:rPr lang="en-GB" sz="1000">
                <a:solidFill>
                  <a:srgbClr val="8795A1"/>
                </a:solidFill>
                <a:latin typeface="Segoe UI"/>
              </a:rPr>
              <a:t>30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4. YOUR SYSTEM -- replace this with the real method"/>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4. YOUR SYSTEM -- replace this with the real method</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66</a:t>
            </a:r>
          </a:p>
          <a:p>
            <a:pPr algn="r">
              <a:lnSpc>
                <a:spcPct val="100000"/>
              </a:lnSpc>
            </a:pPr>
            <a:r>
              <a:rPr sz="2000">
                <a:solidFill>
                  <a:srgbClr val="4F5D6A"/>
                </a:solidFill>
                <a:latin typeface="Consolas"/>
              </a:rPr>
              <a:t>67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9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67024131-FF8D-4C0C-A7CC-00A3407CC55E}" type="slidenum">
              <a:rPr lang="en-GB" sz="1000">
                <a:solidFill>
                  <a:srgbClr val="8795A1"/>
                </a:solidFill>
                <a:latin typeface="Segoe UI"/>
              </a:rPr>
              <a:t>31</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def solve(sessions, trace): &quot;&quot;&quot;Backtracking with minimum remaining values would go here. The template uses plain backtracking so the scaffold runs; the point is that it LOGS, and that the log is what the report, the demonstration and the audit are all built from. &quot;&quot;&quot; assignment = {}"/>
          <p:cNvSpPr txBox="1"/>
          <p:nvPr/>
        </p:nvSpPr>
        <p:spPr>
          <a:xfrm>
            <a:off x="1362456" y="2066543"/>
            <a:ext cx="9987991" cy="28529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solve</a:t>
            </a:r>
            <a:r>
              <a:rPr sz="2000" i="0">
                <a:solidFill>
                  <a:srgbClr val="AEB6BF"/>
                </a:solidFill>
                <a:latin typeface="Consolas"/>
              </a:rPr>
              <a:t>(</a:t>
            </a:r>
            <a:r>
              <a:rPr sz="2000" i="0">
                <a:solidFill>
                  <a:srgbClr val="E8EDF2"/>
                </a:solidFill>
                <a:latin typeface="Consolas"/>
              </a:rPr>
              <a:t>sessions</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trace</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"""Backtracking with minimum remaining values would go here.</a:t>
            </a:r>
          </a:p>
          <a:p>
            <a:pPr>
              <a:lnSpc>
                <a:spcPct val="100000"/>
              </a:lnSpc>
              <a:spcAft>
                <a:spcPts val="0"/>
              </a:spcAft>
            </a:pPr>
            <a:r>
              <a:rPr sz="2000">
                <a:latin typeface="Consolas"/>
              </a:rPr>
              <a:t> </a:t>
            </a:r>
          </a:p>
          <a:p>
            <a:pPr>
              <a:lnSpc>
                <a:spcPct val="100000"/>
              </a:lnSpc>
              <a:spcAft>
                <a:spcPts val="0"/>
              </a:spcAft>
            </a:pPr>
            <a:r>
              <a:rPr sz="2000" i="0">
                <a:solidFill>
                  <a:srgbClr val="7DCEA0"/>
                </a:solidFill>
                <a:latin typeface="Consolas"/>
              </a:rPr>
              <a:t>    The template uses plain backtracking so the scaffold runs; the</a:t>
            </a:r>
          </a:p>
          <a:p>
            <a:pPr>
              <a:lnSpc>
                <a:spcPct val="100000"/>
              </a:lnSpc>
              <a:spcAft>
                <a:spcPts val="0"/>
              </a:spcAft>
            </a:pPr>
            <a:r>
              <a:rPr sz="2000" i="0">
                <a:solidFill>
                  <a:srgbClr val="7DCEA0"/>
                </a:solidFill>
                <a:latin typeface="Consolas"/>
              </a:rPr>
              <a:t>    point is that it LOGS, and that the log is what the report,</a:t>
            </a:r>
          </a:p>
          <a:p>
            <a:pPr>
              <a:lnSpc>
                <a:spcPct val="100000"/>
              </a:lnSpc>
              <a:spcAft>
                <a:spcPts val="0"/>
              </a:spcAft>
            </a:pPr>
            <a:r>
              <a:rPr sz="2000" i="0">
                <a:solidFill>
                  <a:srgbClr val="7DCEA0"/>
                </a:solidFill>
                <a:latin typeface="Consolas"/>
              </a:rPr>
              <a:t>    the demonstration and the audit are all built from.</a:t>
            </a:r>
          </a:p>
          <a:p>
            <a:pPr>
              <a:lnSpc>
                <a:spcPct val="100000"/>
              </a:lnSpc>
              <a:spcAft>
                <a:spcPts val="0"/>
              </a:spcAft>
            </a:pPr>
            <a:r>
              <a:rPr sz="2000" i="0">
                <a:solidFill>
                  <a:srgbClr val="7DCEA0"/>
                </a:solidFill>
                <a:latin typeface="Consolas"/>
              </a:rPr>
              <a:t>    """</a:t>
            </a:r>
          </a:p>
          <a:p>
            <a:pPr>
              <a:lnSpc>
                <a:spcPct val="100000"/>
              </a:lnSpc>
              <a:spcAft>
                <a:spcPts val="0"/>
              </a:spcAft>
            </a:pPr>
            <a:r>
              <a:rPr sz="2000" i="0">
                <a:solidFill>
                  <a:srgbClr val="E8EDF2"/>
                </a:solidFill>
                <a:latin typeface="Consolas"/>
              </a:rPr>
              <a:t>    </a:t>
            </a:r>
            <a:r>
              <a:rPr sz="2000" i="0">
                <a:solidFill>
                  <a:srgbClr val="E8EDF2"/>
                </a:solidFill>
                <a:latin typeface="Consolas"/>
              </a:rPr>
              <a:t>assignment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p:txBody>
      </p:sp>
      <p:sp>
        <p:nvSpPr>
          <p:cNvPr id="14" name="!!code-num"/>
          <p:cNvSpPr txBox="1"/>
          <p:nvPr/>
        </p:nvSpPr>
        <p:spPr>
          <a:xfrm>
            <a:off x="768096" y="2066543"/>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68</a:t>
            </a:r>
          </a:p>
          <a:p>
            <a:pPr algn="r">
              <a:lnSpc>
                <a:spcPct val="100000"/>
              </a:lnSpc>
            </a:pPr>
            <a:r>
              <a:rPr sz="2000">
                <a:solidFill>
                  <a:srgbClr val="4F5D6A"/>
                </a:solidFill>
                <a:latin typeface="Consolas"/>
              </a:rPr>
              <a:t>69</a:t>
            </a:r>
          </a:p>
          <a:p>
            <a:pPr algn="r">
              <a:lnSpc>
                <a:spcPct val="100000"/>
              </a:lnSpc>
            </a:pPr>
            <a:r>
              <a:rPr sz="2000">
                <a:solidFill>
                  <a:srgbClr val="4F5D6A"/>
                </a:solidFill>
                <a:latin typeface="Consolas"/>
              </a:rPr>
              <a:t>70</a:t>
            </a:r>
          </a:p>
          <a:p>
            <a:pPr algn="r">
              <a:lnSpc>
                <a:spcPct val="100000"/>
              </a:lnSpc>
            </a:pPr>
            <a:r>
              <a:rPr sz="2000">
                <a:solidFill>
                  <a:srgbClr val="4F5D6A"/>
                </a:solidFill>
                <a:latin typeface="Consolas"/>
              </a:rPr>
              <a:t>71</a:t>
            </a:r>
          </a:p>
          <a:p>
            <a:pPr algn="r">
              <a:lnSpc>
                <a:spcPct val="100000"/>
              </a:lnSpc>
            </a:pPr>
            <a:r>
              <a:rPr sz="2000">
                <a:solidFill>
                  <a:srgbClr val="4F5D6A"/>
                </a:solidFill>
                <a:latin typeface="Consolas"/>
              </a:rPr>
              <a:t>72</a:t>
            </a:r>
          </a:p>
          <a:p>
            <a:pPr algn="r">
              <a:lnSpc>
                <a:spcPct val="100000"/>
              </a:lnSpc>
            </a:pPr>
            <a:r>
              <a:rPr sz="2000">
                <a:solidFill>
                  <a:srgbClr val="4F5D6A"/>
                </a:solidFill>
                <a:latin typeface="Consolas"/>
              </a:rPr>
              <a:t>73</a:t>
            </a:r>
          </a:p>
          <a:p>
            <a:pPr algn="r">
              <a:lnSpc>
                <a:spcPct val="100000"/>
              </a:lnSpc>
            </a:pPr>
            <a:r>
              <a:rPr sz="2000">
                <a:solidFill>
                  <a:srgbClr val="4F5D6A"/>
                </a:solidFill>
                <a:latin typeface="Consolas"/>
              </a:rPr>
              <a:t>74</a:t>
            </a:r>
          </a:p>
          <a:p>
            <a:pPr algn="r">
              <a:lnSpc>
                <a:spcPct val="100000"/>
              </a:lnSpc>
            </a:pPr>
            <a:r>
              <a:rPr sz="2000">
                <a:solidFill>
                  <a:srgbClr val="4F5D6A"/>
                </a:solidFill>
                <a:latin typeface="Consolas"/>
              </a:rPr>
              <a:t>75</a:t>
            </a:r>
          </a:p>
          <a:p>
            <a:pPr algn="r">
              <a:lnSpc>
                <a:spcPct val="100000"/>
              </a:lnSpc>
            </a:pPr>
            <a:r>
              <a:rPr sz="2000">
                <a:solidFill>
                  <a:srgbClr val="4F5D6A"/>
                </a:solidFill>
                <a:latin typeface="Consolas"/>
              </a:rPr>
              <a:t>76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69989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10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796EFAD1-6D22-427E-9BFD-D2673E9CFFC7}" type="slidenum">
              <a:rPr lang="en-GB" sz="1000">
                <a:solidFill>
                  <a:srgbClr val="8795A1"/>
                </a:solidFill>
                <a:latin typeface="Segoe UI"/>
              </a:rPr>
              <a:t>32</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43983"/>
          </a:xfrm>
          <a:prstGeom prst="roundRect">
            <a:avLst>
              <a:gd name="adj" fmla="val 205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def bt(remaining): if not remaining: return True # MRV would order 'remaining' here s = remaining[0] for slot in SLOTS: for who in STAFF: if legal(assignment, s, slot, who): assignment[s] = (slot, who) trace.append(&quot;assign %s -&gt; %s, %s&quot; % (s, slot, who)) if bt(remaining[1:]): return True trace.append(&quot;undo %s&quot; % s) del assignment[s] return False bt(list(sessions)) return assignment"/>
          <p:cNvSpPr txBox="1"/>
          <p:nvPr/>
        </p:nvSpPr>
        <p:spPr>
          <a:xfrm>
            <a:off x="1362456" y="2066543"/>
            <a:ext cx="9987991" cy="3950207"/>
          </a:xfrm>
          <a:prstGeom prst="rect">
            <a:avLst/>
          </a:prstGeom>
          <a:noFill/>
        </p:spPr>
        <p:txBody>
          <a:bodyPr wrap="none" anchor="t" lIns="0" rIns="0" tIns="0" bIns="0">
            <a:noAutofit/>
          </a:bodyPr>
          <a:lstStyle/>
          <a:p>
            <a:pPr>
              <a:lnSpc>
                <a:spcPct val="100000"/>
              </a:lnSpc>
              <a:spcAft>
                <a:spcPts val="0"/>
              </a:spcAft>
            </a:pPr>
            <a:r>
              <a:rPr sz="1400" i="0">
                <a:solidFill>
                  <a:srgbClr val="E8EDF2"/>
                </a:solidFill>
                <a:latin typeface="Consolas"/>
              </a:rPr>
              <a:t>    </a:t>
            </a:r>
            <a:r>
              <a:rPr sz="1400" i="0">
                <a:solidFill>
                  <a:srgbClr val="5DADE2"/>
                </a:solidFill>
                <a:latin typeface="Consolas"/>
              </a:rPr>
              <a:t>def</a:t>
            </a:r>
            <a:r>
              <a:rPr sz="1400" i="0">
                <a:solidFill>
                  <a:srgbClr val="E8EDF2"/>
                </a:solidFill>
                <a:latin typeface="Consolas"/>
              </a:rPr>
              <a:t> </a:t>
            </a:r>
            <a:r>
              <a:rPr sz="1400" i="0">
                <a:solidFill>
                  <a:srgbClr val="C39BD3"/>
                </a:solidFill>
                <a:latin typeface="Consolas"/>
              </a:rPr>
              <a:t>bt</a:t>
            </a:r>
            <a:r>
              <a:rPr sz="1400" i="0">
                <a:solidFill>
                  <a:srgbClr val="AEB6BF"/>
                </a:solidFill>
                <a:latin typeface="Consolas"/>
              </a:rPr>
              <a:t>(</a:t>
            </a:r>
            <a:r>
              <a:rPr sz="1400" i="0">
                <a:solidFill>
                  <a:srgbClr val="E8EDF2"/>
                </a:solidFill>
                <a:latin typeface="Consolas"/>
              </a:rPr>
              <a:t>remaining</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AEB6BF"/>
                </a:solidFill>
                <a:latin typeface="Consolas"/>
              </a:rPr>
              <a:t>not</a:t>
            </a:r>
            <a:r>
              <a:rPr sz="1400" i="0">
                <a:solidFill>
                  <a:srgbClr val="E8EDF2"/>
                </a:solidFill>
                <a:latin typeface="Consolas"/>
              </a:rPr>
              <a:t> </a:t>
            </a:r>
            <a:r>
              <a:rPr sz="1400" i="0">
                <a:solidFill>
                  <a:srgbClr val="E8EDF2"/>
                </a:solidFill>
                <a:latin typeface="Consolas"/>
              </a:rPr>
              <a:t>remaining</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True</a:t>
            </a:r>
          </a:p>
          <a:p>
            <a:pPr>
              <a:lnSpc>
                <a:spcPct val="100000"/>
              </a:lnSpc>
              <a:spcAft>
                <a:spcPts val="0"/>
              </a:spcAft>
            </a:pPr>
            <a:r>
              <a:rPr sz="1400" i="0">
                <a:solidFill>
                  <a:srgbClr val="E8EDF2"/>
                </a:solidFill>
                <a:latin typeface="Consolas"/>
              </a:rPr>
              <a:t>        </a:t>
            </a:r>
            <a:r>
              <a:rPr sz="1400" i="1">
                <a:solidFill>
                  <a:srgbClr val="8795A1"/>
                </a:solidFill>
                <a:latin typeface="Consolas"/>
              </a:rPr>
              <a:t># MRV would order 'remaining' here</a:t>
            </a:r>
          </a:p>
          <a:p>
            <a:pPr>
              <a:lnSpc>
                <a:spcPct val="100000"/>
              </a:lnSpc>
              <a:spcAft>
                <a:spcPts val="0"/>
              </a:spcAft>
            </a:pPr>
            <a:r>
              <a:rPr sz="1400" i="0">
                <a:solidFill>
                  <a:srgbClr val="E8EDF2"/>
                </a:solidFill>
                <a:latin typeface="Consolas"/>
              </a:rPr>
              <a:t>        </a:t>
            </a:r>
            <a:r>
              <a:rPr sz="1400" i="0">
                <a:solidFill>
                  <a:srgbClr val="E8EDF2"/>
                </a:solidFill>
                <a:latin typeface="Consolas"/>
              </a:rPr>
              <a:t>s</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remaining</a:t>
            </a:r>
            <a:r>
              <a:rPr sz="1400" i="0">
                <a:solidFill>
                  <a:srgbClr val="AEB6BF"/>
                </a:solidFill>
                <a:latin typeface="Consolas"/>
              </a:rPr>
              <a:t>[</a:t>
            </a:r>
            <a:r>
              <a:rPr sz="1400" i="0">
                <a:solidFill>
                  <a:srgbClr val="F7DC6F"/>
                </a:solidFill>
                <a:latin typeface="Consolas"/>
              </a:rPr>
              <a:t>0</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slot</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SLOTS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for</a:t>
            </a:r>
            <a:r>
              <a:rPr sz="1400" i="0">
                <a:solidFill>
                  <a:srgbClr val="E8EDF2"/>
                </a:solidFill>
                <a:latin typeface="Consolas"/>
              </a:rPr>
              <a:t> </a:t>
            </a:r>
            <a:r>
              <a:rPr sz="1400" i="0">
                <a:solidFill>
                  <a:srgbClr val="E8EDF2"/>
                </a:solidFill>
                <a:latin typeface="Consolas"/>
              </a:rPr>
              <a:t>who</a:t>
            </a:r>
            <a:r>
              <a:rPr sz="1400" i="0">
                <a:solidFill>
                  <a:srgbClr val="E8EDF2"/>
                </a:solidFill>
                <a:latin typeface="Consolas"/>
              </a:rPr>
              <a:t> </a:t>
            </a:r>
            <a:r>
              <a:rPr sz="1400" i="0">
                <a:solidFill>
                  <a:srgbClr val="AEB6BF"/>
                </a:solidFill>
                <a:latin typeface="Consolas"/>
              </a:rPr>
              <a:t>in</a:t>
            </a:r>
            <a:r>
              <a:rPr sz="1400" i="0">
                <a:solidFill>
                  <a:srgbClr val="E8EDF2"/>
                </a:solidFill>
                <a:latin typeface="Consolas"/>
              </a:rPr>
              <a:t> </a:t>
            </a:r>
            <a:r>
              <a:rPr sz="1400" i="0">
                <a:solidFill>
                  <a:srgbClr val="E8EDF2"/>
                </a:solidFill>
                <a:latin typeface="Consolas"/>
              </a:rPr>
              <a:t>STAFF</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legal</a:t>
            </a:r>
            <a:r>
              <a:rPr sz="1400" i="0">
                <a:solidFill>
                  <a:srgbClr val="AEB6BF"/>
                </a:solidFill>
                <a:latin typeface="Consolas"/>
              </a:rPr>
              <a:t>(</a:t>
            </a:r>
            <a:r>
              <a:rPr sz="1400" i="0">
                <a:solidFill>
                  <a:srgbClr val="E8EDF2"/>
                </a:solidFill>
                <a:latin typeface="Consolas"/>
              </a:rPr>
              <a:t>assignment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slot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who</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assignment</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slot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who</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E8EDF2"/>
                </a:solidFill>
                <a:latin typeface="Consolas"/>
              </a:rPr>
              <a:t>trace</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assign </a:t>
            </a:r>
            <a:r>
              <a:rPr sz="1400" i="0">
                <a:solidFill>
                  <a:srgbClr val="7DCEA0"/>
                </a:solidFill>
                <a:latin typeface="Consolas"/>
              </a:rPr>
              <a:t>%s</a:t>
            </a:r>
            <a:r>
              <a:rPr sz="1400" i="0">
                <a:solidFill>
                  <a:srgbClr val="7DCEA0"/>
                </a:solidFill>
                <a:latin typeface="Consolas"/>
              </a:rPr>
              <a:t> -&gt; </a:t>
            </a:r>
            <a:r>
              <a:rPr sz="1400" i="0">
                <a:solidFill>
                  <a:srgbClr val="7DCEA0"/>
                </a:solidFill>
                <a:latin typeface="Consolas"/>
              </a:rPr>
              <a:t>%s</a:t>
            </a:r>
            <a:r>
              <a:rPr sz="1400" i="0">
                <a:solidFill>
                  <a:srgbClr val="7DCEA0"/>
                </a:solidFill>
                <a:latin typeface="Consolas"/>
              </a:rPr>
              <a:t>,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slot</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who</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if</a:t>
            </a:r>
            <a:r>
              <a:rPr sz="1400" i="0">
                <a:solidFill>
                  <a:srgbClr val="E8EDF2"/>
                </a:solidFill>
                <a:latin typeface="Consolas"/>
              </a:rPr>
              <a:t> </a:t>
            </a:r>
            <a:r>
              <a:rPr sz="1400" i="0">
                <a:solidFill>
                  <a:srgbClr val="E8EDF2"/>
                </a:solidFill>
                <a:latin typeface="Consolas"/>
              </a:rPr>
              <a:t>bt</a:t>
            </a:r>
            <a:r>
              <a:rPr sz="1400" i="0">
                <a:solidFill>
                  <a:srgbClr val="AEB6BF"/>
                </a:solidFill>
                <a:latin typeface="Consolas"/>
              </a:rPr>
              <a:t>(</a:t>
            </a:r>
            <a:r>
              <a:rPr sz="1400" i="0">
                <a:solidFill>
                  <a:srgbClr val="E8EDF2"/>
                </a:solidFill>
                <a:latin typeface="Consolas"/>
              </a:rPr>
              <a:t>remaining</a:t>
            </a:r>
            <a:r>
              <a:rPr sz="1400" i="0">
                <a:solidFill>
                  <a:srgbClr val="AEB6BF"/>
                </a:solidFill>
                <a:latin typeface="Consolas"/>
              </a:rPr>
              <a:t>[</a:t>
            </a:r>
            <a:r>
              <a:rPr sz="1400" i="0">
                <a:solidFill>
                  <a:srgbClr val="F7DC6F"/>
                </a:solidFill>
                <a:latin typeface="Consolas"/>
              </a:rPr>
              <a:t>1</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True</a:t>
            </a:r>
          </a:p>
          <a:p>
            <a:pPr>
              <a:lnSpc>
                <a:spcPct val="100000"/>
              </a:lnSpc>
              <a:spcAft>
                <a:spcPts val="0"/>
              </a:spcAft>
            </a:pPr>
            <a:r>
              <a:rPr sz="1400" i="0">
                <a:solidFill>
                  <a:srgbClr val="E8EDF2"/>
                </a:solidFill>
                <a:latin typeface="Consolas"/>
              </a:rPr>
              <a:t>                    </a:t>
            </a:r>
            <a:r>
              <a:rPr sz="1400" i="0">
                <a:solidFill>
                  <a:srgbClr val="E8EDF2"/>
                </a:solidFill>
                <a:latin typeface="Consolas"/>
              </a:rPr>
              <a:t>trace</a:t>
            </a:r>
            <a:r>
              <a:rPr sz="1400" i="0">
                <a:solidFill>
                  <a:srgbClr val="AEB6BF"/>
                </a:solidFill>
                <a:latin typeface="Consolas"/>
              </a:rPr>
              <a:t>.</a:t>
            </a:r>
            <a:r>
              <a:rPr sz="1400" i="0">
                <a:solidFill>
                  <a:srgbClr val="E8EDF2"/>
                </a:solidFill>
                <a:latin typeface="Consolas"/>
              </a:rPr>
              <a:t>append</a:t>
            </a:r>
            <a:r>
              <a:rPr sz="1400" i="0">
                <a:solidFill>
                  <a:srgbClr val="AEB6BF"/>
                </a:solidFill>
                <a:latin typeface="Consolas"/>
              </a:rPr>
              <a:t>(</a:t>
            </a:r>
            <a:r>
              <a:rPr sz="1400" i="0">
                <a:solidFill>
                  <a:srgbClr val="7DCEA0"/>
                </a:solidFill>
                <a:latin typeface="Consolas"/>
              </a:rPr>
              <a:t>"</a:t>
            </a:r>
            <a:r>
              <a:rPr sz="1400" i="0">
                <a:solidFill>
                  <a:srgbClr val="7DCEA0"/>
                </a:solidFill>
                <a:latin typeface="Consolas"/>
              </a:rPr>
              <a:t>undo </a:t>
            </a:r>
            <a:r>
              <a:rPr sz="1400" i="0">
                <a:solidFill>
                  <a:srgbClr val="7DCEA0"/>
                </a:solidFill>
                <a:latin typeface="Consolas"/>
              </a:rPr>
              <a:t>%s</a:t>
            </a:r>
            <a:r>
              <a:rPr sz="1400" i="0">
                <a:solidFill>
                  <a:srgbClr val="7DCEA0"/>
                </a:solidFill>
                <a:latin typeface="Consolas"/>
              </a:rPr>
              <a:t>"</a:t>
            </a:r>
            <a:r>
              <a:rPr sz="1400" i="0">
                <a:solidFill>
                  <a:srgbClr val="E8EDF2"/>
                </a:solidFill>
                <a:latin typeface="Consolas"/>
              </a:rPr>
              <a:t> </a:t>
            </a:r>
            <a:r>
              <a:rPr sz="1400" i="0">
                <a:solidFill>
                  <a:srgbClr val="AEB6BF"/>
                </a:solidFill>
                <a:latin typeface="Consolas"/>
              </a:rPr>
              <a:t>%</a:t>
            </a:r>
            <a:r>
              <a:rPr sz="1400" i="0">
                <a:solidFill>
                  <a:srgbClr val="E8EDF2"/>
                </a:solidFill>
                <a:latin typeface="Consolas"/>
              </a:rPr>
              <a:t> </a:t>
            </a:r>
            <a:r>
              <a:rPr sz="1400" i="0">
                <a:solidFill>
                  <a:srgbClr val="E8EDF2"/>
                </a:solidFill>
                <a:latin typeface="Consolas"/>
              </a:rPr>
              <a: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del</a:t>
            </a:r>
            <a:r>
              <a:rPr sz="1400" i="0">
                <a:solidFill>
                  <a:srgbClr val="E8EDF2"/>
                </a:solidFill>
                <a:latin typeface="Consolas"/>
              </a:rPr>
              <a:t> </a:t>
            </a:r>
            <a:r>
              <a:rPr sz="1400" i="0">
                <a:solidFill>
                  <a:srgbClr val="E8EDF2"/>
                </a:solidFill>
                <a:latin typeface="Consolas"/>
              </a:rPr>
              <a:t>assignment</a:t>
            </a:r>
            <a:r>
              <a:rPr sz="1400" i="0">
                <a:solidFill>
                  <a:srgbClr val="AEB6BF"/>
                </a:solidFill>
                <a:latin typeface="Consolas"/>
              </a:rPr>
              <a:t>[</a:t>
            </a:r>
            <a:r>
              <a:rPr sz="1400" i="0">
                <a:solidFill>
                  <a:srgbClr val="E8EDF2"/>
                </a:solidFill>
                <a:latin typeface="Consolas"/>
              </a:rPr>
              <a:t>s</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5DADE2"/>
                </a:solidFill>
                <a:latin typeface="Consolas"/>
              </a:rPr>
              <a:t>False</a:t>
            </a:r>
          </a:p>
          <a:p>
            <a:pPr>
              <a:lnSpc>
                <a:spcPct val="100000"/>
              </a:lnSpc>
              <a:spcAft>
                <a:spcPts val="0"/>
              </a:spcAft>
            </a:pPr>
            <a:r>
              <a:rPr sz="1400">
                <a:latin typeface="Consolas"/>
              </a:rPr>
              <a:t> </a:t>
            </a:r>
          </a:p>
          <a:p>
            <a:pPr>
              <a:lnSpc>
                <a:spcPct val="100000"/>
              </a:lnSpc>
              <a:spcAft>
                <a:spcPts val="0"/>
              </a:spcAft>
            </a:pPr>
            <a:r>
              <a:rPr sz="1400" i="0">
                <a:solidFill>
                  <a:srgbClr val="E8EDF2"/>
                </a:solidFill>
                <a:latin typeface="Consolas"/>
              </a:rPr>
              <a:t>    </a:t>
            </a:r>
            <a:r>
              <a:rPr sz="1400" i="0">
                <a:solidFill>
                  <a:srgbClr val="E8EDF2"/>
                </a:solidFill>
                <a:latin typeface="Consolas"/>
              </a:rPr>
              <a:t>bt</a:t>
            </a:r>
            <a:r>
              <a:rPr sz="1400" i="0">
                <a:solidFill>
                  <a:srgbClr val="AEB6BF"/>
                </a:solidFill>
                <a:latin typeface="Consolas"/>
              </a:rPr>
              <a:t>(</a:t>
            </a:r>
            <a:r>
              <a:rPr sz="1400" i="0">
                <a:solidFill>
                  <a:srgbClr val="C39BD3"/>
                </a:solidFill>
                <a:latin typeface="Consolas"/>
              </a:rPr>
              <a:t>list</a:t>
            </a:r>
            <a:r>
              <a:rPr sz="1400" i="0">
                <a:solidFill>
                  <a:srgbClr val="AEB6BF"/>
                </a:solidFill>
                <a:latin typeface="Consolas"/>
              </a:rPr>
              <a:t>(</a:t>
            </a:r>
            <a:r>
              <a:rPr sz="1400" i="0">
                <a:solidFill>
                  <a:srgbClr val="E8EDF2"/>
                </a:solidFill>
                <a:latin typeface="Consolas"/>
              </a:rPr>
              <a:t>sessions</a:t>
            </a:r>
            <a:r>
              <a:rPr sz="1400" i="0">
                <a:solidFill>
                  <a:srgbClr val="AEB6BF"/>
                </a:solidFill>
                <a:latin typeface="Consolas"/>
              </a:rPr>
              <a:t>)</a:t>
            </a:r>
            <a:r>
              <a:rPr sz="1400" i="0">
                <a:solidFill>
                  <a:srgbClr val="AEB6BF"/>
                </a:solidFill>
                <a:latin typeface="Consolas"/>
              </a:rPr>
              <a:t>)</a:t>
            </a:r>
          </a:p>
          <a:p>
            <a:pPr>
              <a:lnSpc>
                <a:spcPct val="100000"/>
              </a:lnSpc>
              <a:spcAft>
                <a:spcPts val="0"/>
              </a:spcAft>
            </a:pPr>
            <a:r>
              <a:rPr sz="1400" i="0">
                <a:solidFill>
                  <a:srgbClr val="E8EDF2"/>
                </a:solidFill>
                <a:latin typeface="Consolas"/>
              </a:rPr>
              <a:t>    </a:t>
            </a:r>
            <a:r>
              <a:rPr sz="1400" i="0">
                <a:solidFill>
                  <a:srgbClr val="5DADE2"/>
                </a:solidFill>
                <a:latin typeface="Consolas"/>
              </a:rPr>
              <a:t>return</a:t>
            </a:r>
            <a:r>
              <a:rPr sz="1400" i="0">
                <a:solidFill>
                  <a:srgbClr val="E8EDF2"/>
                </a:solidFill>
                <a:latin typeface="Consolas"/>
              </a:rPr>
              <a:t> </a:t>
            </a:r>
            <a:r>
              <a:rPr sz="1400" i="0">
                <a:solidFill>
                  <a:srgbClr val="E8EDF2"/>
                </a:solidFill>
                <a:latin typeface="Consolas"/>
              </a:rPr>
              <a:t>assignment</a:t>
            </a:r>
          </a:p>
        </p:txBody>
      </p:sp>
      <p:sp>
        <p:nvSpPr>
          <p:cNvPr id="14" name="!!code-num"/>
          <p:cNvSpPr txBox="1"/>
          <p:nvPr/>
        </p:nvSpPr>
        <p:spPr>
          <a:xfrm>
            <a:off x="768096" y="2066543"/>
            <a:ext cx="393192" cy="3950207"/>
          </a:xfrm>
          <a:prstGeom prst="rect">
            <a:avLst/>
          </a:prstGeom>
          <a:noFill/>
        </p:spPr>
        <p:txBody>
          <a:bodyPr wrap="none" anchor="t" lIns="0" rIns="0" tIns="0" bIns="0">
            <a:noAutofit/>
          </a:bodyPr>
          <a:lstStyle/>
          <a:p>
            <a:pPr algn="r">
              <a:lnSpc>
                <a:spcPct val="100000"/>
              </a:lnSpc>
            </a:pPr>
            <a:r>
              <a:rPr sz="1400">
                <a:solidFill>
                  <a:srgbClr val="4F5D6A"/>
                </a:solidFill>
                <a:latin typeface="Consolas"/>
              </a:rPr>
              <a:t>78</a:t>
            </a:r>
          </a:p>
          <a:p>
            <a:pPr algn="r">
              <a:lnSpc>
                <a:spcPct val="100000"/>
              </a:lnSpc>
            </a:pPr>
            <a:r>
              <a:rPr sz="1400">
                <a:solidFill>
                  <a:srgbClr val="4F5D6A"/>
                </a:solidFill>
                <a:latin typeface="Consolas"/>
              </a:rPr>
              <a:t>79</a:t>
            </a:r>
          </a:p>
          <a:p>
            <a:pPr algn="r">
              <a:lnSpc>
                <a:spcPct val="100000"/>
              </a:lnSpc>
            </a:pPr>
            <a:r>
              <a:rPr sz="1400">
                <a:solidFill>
                  <a:srgbClr val="4F5D6A"/>
                </a:solidFill>
                <a:latin typeface="Consolas"/>
              </a:rPr>
              <a:t>80</a:t>
            </a:r>
          </a:p>
          <a:p>
            <a:pPr algn="r">
              <a:lnSpc>
                <a:spcPct val="100000"/>
              </a:lnSpc>
            </a:pPr>
            <a:r>
              <a:rPr sz="1400">
                <a:solidFill>
                  <a:srgbClr val="4F5D6A"/>
                </a:solidFill>
                <a:latin typeface="Consolas"/>
              </a:rPr>
              <a:t>81</a:t>
            </a:r>
          </a:p>
          <a:p>
            <a:pPr algn="r">
              <a:lnSpc>
                <a:spcPct val="100000"/>
              </a:lnSpc>
            </a:pPr>
            <a:r>
              <a:rPr sz="1400">
                <a:solidFill>
                  <a:srgbClr val="4F5D6A"/>
                </a:solidFill>
                <a:latin typeface="Consolas"/>
              </a:rPr>
              <a:t>82</a:t>
            </a:r>
          </a:p>
          <a:p>
            <a:pPr algn="r">
              <a:lnSpc>
                <a:spcPct val="100000"/>
              </a:lnSpc>
            </a:pPr>
            <a:r>
              <a:rPr sz="1400">
                <a:solidFill>
                  <a:srgbClr val="4F5D6A"/>
                </a:solidFill>
                <a:latin typeface="Consolas"/>
              </a:rPr>
              <a:t>83</a:t>
            </a:r>
          </a:p>
          <a:p>
            <a:pPr algn="r">
              <a:lnSpc>
                <a:spcPct val="100000"/>
              </a:lnSpc>
            </a:pPr>
            <a:r>
              <a:rPr sz="1400">
                <a:solidFill>
                  <a:srgbClr val="4F5D6A"/>
                </a:solidFill>
                <a:latin typeface="Consolas"/>
              </a:rPr>
              <a:t>84</a:t>
            </a:r>
          </a:p>
          <a:p>
            <a:pPr algn="r">
              <a:lnSpc>
                <a:spcPct val="100000"/>
              </a:lnSpc>
            </a:pPr>
            <a:r>
              <a:rPr sz="1400">
                <a:solidFill>
                  <a:srgbClr val="4F5D6A"/>
                </a:solidFill>
                <a:latin typeface="Consolas"/>
              </a:rPr>
              <a:t>85</a:t>
            </a:r>
          </a:p>
          <a:p>
            <a:pPr algn="r">
              <a:lnSpc>
                <a:spcPct val="100000"/>
              </a:lnSpc>
            </a:pPr>
            <a:r>
              <a:rPr sz="1400">
                <a:solidFill>
                  <a:srgbClr val="4F5D6A"/>
                </a:solidFill>
                <a:latin typeface="Consolas"/>
              </a:rPr>
              <a:t>86</a:t>
            </a:r>
          </a:p>
          <a:p>
            <a:pPr algn="r">
              <a:lnSpc>
                <a:spcPct val="100000"/>
              </a:lnSpc>
            </a:pPr>
            <a:r>
              <a:rPr sz="1400">
                <a:solidFill>
                  <a:srgbClr val="4F5D6A"/>
                </a:solidFill>
                <a:latin typeface="Consolas"/>
              </a:rPr>
              <a:t>87</a:t>
            </a:r>
          </a:p>
          <a:p>
            <a:pPr algn="r">
              <a:lnSpc>
                <a:spcPct val="100000"/>
              </a:lnSpc>
            </a:pPr>
            <a:r>
              <a:rPr sz="1400">
                <a:solidFill>
                  <a:srgbClr val="4F5D6A"/>
                </a:solidFill>
                <a:latin typeface="Consolas"/>
              </a:rPr>
              <a:t>88</a:t>
            </a:r>
          </a:p>
          <a:p>
            <a:pPr algn="r">
              <a:lnSpc>
                <a:spcPct val="100000"/>
              </a:lnSpc>
            </a:pPr>
            <a:r>
              <a:rPr sz="1400">
                <a:solidFill>
                  <a:srgbClr val="4F5D6A"/>
                </a:solidFill>
                <a:latin typeface="Consolas"/>
              </a:rPr>
              <a:t>89</a:t>
            </a:r>
          </a:p>
          <a:p>
            <a:pPr algn="r">
              <a:lnSpc>
                <a:spcPct val="100000"/>
              </a:lnSpc>
            </a:pPr>
            <a:r>
              <a:rPr sz="1400">
                <a:solidFill>
                  <a:srgbClr val="4F5D6A"/>
                </a:solidFill>
                <a:latin typeface="Consolas"/>
              </a:rPr>
              <a:t>90</a:t>
            </a:r>
          </a:p>
          <a:p>
            <a:pPr algn="r">
              <a:lnSpc>
                <a:spcPct val="100000"/>
              </a:lnSpc>
            </a:pPr>
            <a:r>
              <a:rPr sz="1400">
                <a:solidFill>
                  <a:srgbClr val="4F5D6A"/>
                </a:solidFill>
                <a:latin typeface="Consolas"/>
              </a:rPr>
              <a:t>91</a:t>
            </a:r>
          </a:p>
          <a:p>
            <a:pPr algn="r">
              <a:lnSpc>
                <a:spcPct val="100000"/>
              </a:lnSpc>
            </a:pPr>
            <a:r>
              <a:rPr sz="1400">
                <a:solidFill>
                  <a:srgbClr val="4F5D6A"/>
                </a:solidFill>
                <a:latin typeface="Consolas"/>
              </a:rPr>
              <a:t>92</a:t>
            </a:r>
          </a:p>
          <a:p>
            <a:pPr algn="r">
              <a:lnSpc>
                <a:spcPct val="100000"/>
              </a:lnSpc>
            </a:pPr>
            <a:r>
              <a:rPr sz="1400">
                <a:solidFill>
                  <a:srgbClr val="4F5D6A"/>
                </a:solidFill>
                <a:latin typeface="Consolas"/>
              </a:rPr>
              <a:t>93</a:t>
            </a:r>
          </a:p>
          <a:p>
            <a:pPr algn="r">
              <a:lnSpc>
                <a:spcPct val="100000"/>
              </a:lnSpc>
            </a:pPr>
            <a:r>
              <a:rPr sz="1400">
                <a:solidFill>
                  <a:srgbClr val="4F5D6A"/>
                </a:solidFill>
                <a:latin typeface="Consolas"/>
              </a:rPr>
              <a:t>94</a:t>
            </a:r>
          </a:p>
          <a:p>
            <a:pPr algn="r">
              <a:lnSpc>
                <a:spcPct val="100000"/>
              </a:lnSpc>
            </a:pPr>
            <a:r>
              <a:rPr sz="1400">
                <a:solidFill>
                  <a:srgbClr val="4F5D6A"/>
                </a:solidFill>
                <a:latin typeface="Consolas"/>
              </a:rPr>
              <a:t>95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22470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11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E525857C-9F8D-405D-9295-8DE7446D888B}" type="slidenum">
              <a:rPr lang="en-GB" sz="1000">
                <a:solidFill>
                  <a:srgbClr val="8795A1"/>
                </a:solidFill>
                <a:latin typeface="Segoe UI"/>
              </a:rPr>
              <a:t>33</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5. The MEASURE -- fixed in advance, and the same for both"/>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5. The MEASURE -- fixed in advance, and the same for both</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98</a:t>
            </a:r>
          </a:p>
          <a:p>
            <a:pPr algn="r">
              <a:lnSpc>
                <a:spcPct val="100000"/>
              </a:lnSpc>
            </a:pPr>
            <a:r>
              <a:rPr sz="2000">
                <a:solidFill>
                  <a:srgbClr val="4F5D6A"/>
                </a:solidFill>
                <a:latin typeface="Consolas"/>
              </a:rPr>
              <a:t>99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45048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12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90B62C60-F648-46AE-812D-B907477251A0}" type="slidenum">
              <a:rPr lang="en-GB" sz="1000">
                <a:solidFill>
                  <a:srgbClr val="8795A1"/>
                </a:solidFill>
                <a:latin typeface="Segoe UI"/>
              </a:rPr>
              <a:t>34</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041903"/>
          </a:xfrm>
          <a:prstGeom prst="roundRect">
            <a:avLst>
              <a:gd name="adj" fmla="val 300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def measure(assignment): placed = len(assignment) load = {w: 0 for w in STAFF} for (_, who) in assignment.values(): load[who] += 1 spread = max(load.values()) - min(load.values()) if load else 0 return {&quot;placed&quot;: placed, &quot;spread&quot;: spread, &quot;load&quot;: load}"/>
          <p:cNvSpPr txBox="1"/>
          <p:nvPr/>
        </p:nvSpPr>
        <p:spPr>
          <a:xfrm>
            <a:off x="1362456" y="2066543"/>
            <a:ext cx="9987991" cy="25481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measure</a:t>
            </a:r>
            <a:r>
              <a:rPr sz="2000" i="0">
                <a:solidFill>
                  <a:srgbClr val="AEB6BF"/>
                </a:solidFill>
                <a:latin typeface="Consolas"/>
              </a:rPr>
              <a:t>(</a:t>
            </a:r>
            <a:r>
              <a:rPr sz="2000" i="0">
                <a:solidFill>
                  <a:srgbClr val="E8EDF2"/>
                </a:solidFill>
                <a:latin typeface="Consolas"/>
              </a:rPr>
              <a:t>assignment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placed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len</a:t>
            </a:r>
            <a:r>
              <a:rPr sz="2000" i="0">
                <a:solidFill>
                  <a:srgbClr val="AEB6BF"/>
                </a:solidFill>
                <a:latin typeface="Consolas"/>
              </a:rPr>
              <a:t>(</a:t>
            </a:r>
            <a:r>
              <a:rPr sz="2000" i="0">
                <a:solidFill>
                  <a:srgbClr val="E8EDF2"/>
                </a:solidFill>
                <a:latin typeface="Consolas"/>
              </a:rPr>
              <a:t>assignment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load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w</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0</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w</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STAFF</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_</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values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load</a:t>
            </a:r>
            <a:r>
              <a:rPr sz="2000" i="0">
                <a:solidFill>
                  <a:srgbClr val="AEB6BF"/>
                </a:solidFill>
                <a:latin typeface="Consolas"/>
              </a:rPr>
              <a:t>[</a:t>
            </a:r>
            <a:r>
              <a:rPr sz="2000" i="0">
                <a:solidFill>
                  <a:srgbClr val="E8EDF2"/>
                </a:solidFill>
                <a:latin typeface="Consolas"/>
              </a:rPr>
              <a:t>who</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F7DC6F"/>
                </a:solidFill>
                <a:latin typeface="Consolas"/>
              </a:rPr>
              <a:t>1</a:t>
            </a:r>
          </a:p>
          <a:p>
            <a:pPr>
              <a:lnSpc>
                <a:spcPct val="100000"/>
              </a:lnSpc>
              <a:spcAft>
                <a:spcPts val="0"/>
              </a:spcAft>
            </a:pPr>
            <a:r>
              <a:rPr sz="2000" i="0">
                <a:solidFill>
                  <a:srgbClr val="E8EDF2"/>
                </a:solidFill>
                <a:latin typeface="Consolas"/>
              </a:rPr>
              <a:t>    </a:t>
            </a:r>
            <a:r>
              <a:rPr sz="2000" i="0">
                <a:solidFill>
                  <a:srgbClr val="E8EDF2"/>
                </a:solidFill>
                <a:latin typeface="Consolas"/>
              </a:rPr>
              <a:t>spread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max</a:t>
            </a:r>
            <a:r>
              <a:rPr sz="2000" i="0">
                <a:solidFill>
                  <a:srgbClr val="AEB6BF"/>
                </a:solidFill>
                <a:latin typeface="Consolas"/>
              </a:rPr>
              <a:t>(</a:t>
            </a:r>
            <a:r>
              <a:rPr sz="2000" i="0">
                <a:solidFill>
                  <a:srgbClr val="E8EDF2"/>
                </a:solidFill>
                <a:latin typeface="Consolas"/>
              </a:rPr>
              <a:t>load</a:t>
            </a:r>
            <a:r>
              <a:rPr sz="2000" i="0">
                <a:solidFill>
                  <a:srgbClr val="AEB6BF"/>
                </a:solidFill>
                <a:latin typeface="Consolas"/>
              </a:rPr>
              <a:t>.</a:t>
            </a:r>
            <a:r>
              <a:rPr sz="2000" i="0">
                <a:solidFill>
                  <a:srgbClr val="E8EDF2"/>
                </a:solidFill>
                <a:latin typeface="Consolas"/>
              </a:rPr>
              <a:t>values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C39BD3"/>
                </a:solidFill>
                <a:latin typeface="Consolas"/>
              </a:rPr>
              <a:t>min</a:t>
            </a:r>
            <a:r>
              <a:rPr sz="2000" i="0">
                <a:solidFill>
                  <a:srgbClr val="AEB6BF"/>
                </a:solidFill>
                <a:latin typeface="Consolas"/>
              </a:rPr>
              <a:t>(</a:t>
            </a:r>
            <a:r>
              <a:rPr sz="2000" i="0">
                <a:solidFill>
                  <a:srgbClr val="E8EDF2"/>
                </a:solidFill>
                <a:latin typeface="Consolas"/>
              </a:rPr>
              <a:t>load</a:t>
            </a:r>
            <a:r>
              <a:rPr sz="2000" i="0">
                <a:solidFill>
                  <a:srgbClr val="AEB6BF"/>
                </a:solidFill>
                <a:latin typeface="Consolas"/>
              </a:rPr>
              <a:t>.</a:t>
            </a:r>
            <a:r>
              <a:rPr sz="2000" i="0">
                <a:solidFill>
                  <a:srgbClr val="E8EDF2"/>
                </a:solidFill>
                <a:latin typeface="Consolas"/>
              </a:rPr>
              <a:t>values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load</a:t>
            </a:r>
            <a:r>
              <a:rPr sz="2000" i="0">
                <a:solidFill>
                  <a:srgbClr val="E8EDF2"/>
                </a:solidFill>
                <a:latin typeface="Consolas"/>
              </a:rPr>
              <a:t> </a:t>
            </a:r>
            <a:r>
              <a:rPr sz="2000" i="0">
                <a:solidFill>
                  <a:srgbClr val="5DADE2"/>
                </a:solidFill>
                <a:latin typeface="Consolas"/>
              </a:rPr>
              <a:t>else</a:t>
            </a:r>
            <a:r>
              <a:rPr sz="2000" i="0">
                <a:solidFill>
                  <a:srgbClr val="E8EDF2"/>
                </a:solidFill>
                <a:latin typeface="Consolas"/>
              </a:rPr>
              <a:t> </a:t>
            </a:r>
            <a:r>
              <a:rPr sz="2000" i="0">
                <a:solidFill>
                  <a:srgbClr val="F7DC6F"/>
                </a:solidFill>
                <a:latin typeface="Consolas"/>
              </a:rPr>
              <a:t>0</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placed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placed</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spread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spread</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load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load</a:t>
            </a:r>
            <a:r>
              <a:rPr sz="2000" i="0">
                <a:solidFill>
                  <a:srgbClr val="AEB6BF"/>
                </a:solidFill>
                <a:latin typeface="Consolas"/>
              </a:rPr>
              <a:t>}</a:t>
            </a:r>
          </a:p>
        </p:txBody>
      </p:sp>
      <p:sp>
        <p:nvSpPr>
          <p:cNvPr id="14" name="!!code-num"/>
          <p:cNvSpPr txBox="1"/>
          <p:nvPr/>
        </p:nvSpPr>
        <p:spPr>
          <a:xfrm>
            <a:off x="768096" y="2066543"/>
            <a:ext cx="393192" cy="25481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100</a:t>
            </a:r>
          </a:p>
          <a:p>
            <a:pPr algn="r">
              <a:lnSpc>
                <a:spcPct val="100000"/>
              </a:lnSpc>
            </a:pPr>
            <a:r>
              <a:rPr sz="2000">
                <a:solidFill>
                  <a:srgbClr val="4F5D6A"/>
                </a:solidFill>
                <a:latin typeface="Consolas"/>
              </a:rPr>
              <a:t>101</a:t>
            </a:r>
          </a:p>
          <a:p>
            <a:pPr algn="r">
              <a:lnSpc>
                <a:spcPct val="100000"/>
              </a:lnSpc>
            </a:pPr>
            <a:r>
              <a:rPr sz="2000">
                <a:solidFill>
                  <a:srgbClr val="4F5D6A"/>
                </a:solidFill>
                <a:latin typeface="Consolas"/>
              </a:rPr>
              <a:t>102</a:t>
            </a:r>
          </a:p>
          <a:p>
            <a:pPr algn="r">
              <a:lnSpc>
                <a:spcPct val="100000"/>
              </a:lnSpc>
            </a:pPr>
            <a:r>
              <a:rPr sz="2000">
                <a:solidFill>
                  <a:srgbClr val="4F5D6A"/>
                </a:solidFill>
                <a:latin typeface="Consolas"/>
              </a:rPr>
              <a:t>103</a:t>
            </a:r>
          </a:p>
          <a:p>
            <a:pPr algn="r">
              <a:lnSpc>
                <a:spcPct val="100000"/>
              </a:lnSpc>
            </a:pPr>
            <a:r>
              <a:rPr sz="2000">
                <a:solidFill>
                  <a:srgbClr val="4F5D6A"/>
                </a:solidFill>
                <a:latin typeface="Consolas"/>
              </a:rPr>
              <a:t>104</a:t>
            </a:r>
          </a:p>
          <a:p>
            <a:pPr algn="r">
              <a:lnSpc>
                <a:spcPct val="100000"/>
              </a:lnSpc>
            </a:pPr>
            <a:r>
              <a:rPr sz="2000">
                <a:solidFill>
                  <a:srgbClr val="4F5D6A"/>
                </a:solidFill>
                <a:latin typeface="Consolas"/>
              </a:rPr>
              <a:t>105</a:t>
            </a:r>
          </a:p>
          <a:p>
            <a:pPr algn="r">
              <a:lnSpc>
                <a:spcPct val="100000"/>
              </a:lnSpc>
            </a:pPr>
            <a:r>
              <a:rPr sz="2000">
                <a:solidFill>
                  <a:srgbClr val="4F5D6A"/>
                </a:solidFill>
                <a:latin typeface="Consolas"/>
              </a:rPr>
              <a:t>106</a:t>
            </a:r>
          </a:p>
          <a:p>
            <a:pPr algn="r">
              <a:lnSpc>
                <a:spcPct val="100000"/>
              </a:lnSpc>
            </a:pPr>
            <a:r>
              <a:rPr sz="2000">
                <a:solidFill>
                  <a:srgbClr val="4F5D6A"/>
                </a:solidFill>
                <a:latin typeface="Consolas"/>
              </a:rPr>
              <a:t>107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676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13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5ED1A8BE-02CD-4975-9D2B-6CEA12205F34}" type="slidenum">
              <a:rPr lang="en-GB" sz="1000">
                <a:solidFill>
                  <a:srgbClr val="8795A1"/>
                </a:solidFill>
                <a:latin typeface="Segoe UI"/>
              </a:rPr>
              <a:t>35</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1213104"/>
          </a:xfrm>
          <a:prstGeom prst="roundRect">
            <a:avLst>
              <a:gd name="adj" fmla="val 753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 6. The AUDIT -- Chapter 21"/>
          <p:cNvSpPr txBox="1"/>
          <p:nvPr/>
        </p:nvSpPr>
        <p:spPr>
          <a:xfrm>
            <a:off x="1362456" y="2066543"/>
            <a:ext cx="9987991" cy="719328"/>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1">
                <a:solidFill>
                  <a:srgbClr val="8795A1"/>
                </a:solidFill>
                <a:latin typeface="Consolas"/>
              </a:rPr>
              <a:t># 6. The AUDIT -- Chapter 21</a:t>
            </a:r>
          </a:p>
        </p:txBody>
      </p:sp>
      <p:sp>
        <p:nvSpPr>
          <p:cNvPr id="14" name="!!code-num"/>
          <p:cNvSpPr txBox="1"/>
          <p:nvPr/>
        </p:nvSpPr>
        <p:spPr>
          <a:xfrm>
            <a:off x="768096" y="2066543"/>
            <a:ext cx="393192" cy="7193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110</a:t>
            </a:r>
          </a:p>
          <a:p>
            <a:pPr algn="r">
              <a:lnSpc>
                <a:spcPct val="100000"/>
              </a:lnSpc>
            </a:pPr>
            <a:r>
              <a:rPr sz="2000">
                <a:solidFill>
                  <a:srgbClr val="4F5D6A"/>
                </a:solidFill>
                <a:latin typeface="Consolas"/>
              </a:rPr>
              <a:t>111</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790202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14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A45B3E68-53FD-4411-82D2-503F4433BFD4}" type="slidenum">
              <a:rPr lang="en-GB" sz="1000">
                <a:solidFill>
                  <a:srgbClr val="8795A1"/>
                </a:solidFill>
                <a:latin typeface="Segoe UI"/>
              </a:rPr>
              <a:t>36</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3346703"/>
          </a:xfrm>
          <a:prstGeom prst="roundRect">
            <a:avLst>
              <a:gd name="adj" fmla="val 2732"/>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 def audit(assignment): &quot;&quot;&quot;Outcomes by group, and the situations not covered.&quot;&quot;&quot; by_course = {} for s, (slot, who) in assignment.items(): course = s.split(&quot;-&quot;)[0] by_course.setdefault(course, []).append(slot) unplaced = [s for s in SESSIONS if s not in assignment] return {&quot;by_course&quot;: by_course, &quot;unplaced&quot;: unplaced}"/>
          <p:cNvSpPr txBox="1"/>
          <p:nvPr/>
        </p:nvSpPr>
        <p:spPr>
          <a:xfrm>
            <a:off x="1362456" y="2066543"/>
            <a:ext cx="9987991" cy="2852927"/>
          </a:xfrm>
          <a:prstGeom prst="rect">
            <a:avLst/>
          </a:prstGeom>
          <a:noFill/>
        </p:spPr>
        <p:txBody>
          <a:bodyPr wrap="none" anchor="t" lIns="0" rIns="0" tIns="0" bIns="0">
            <a:noAutofit/>
          </a:bodyPr>
          <a:lstStyle/>
          <a:p>
            <a:pPr>
              <a:lnSpc>
                <a:spcPct val="100000"/>
              </a:lnSpc>
              <a:spcAft>
                <a:spcPts val="0"/>
              </a:spcAft>
            </a:pPr>
            <a:r>
              <a:rPr sz="2000" i="1">
                <a:solidFill>
                  <a:srgbClr val="8795A1"/>
                </a:solidFill>
                <a:latin typeface="Consolas"/>
              </a:rPr>
              <a:t># ===================================================================</a:t>
            </a:r>
          </a:p>
          <a:p>
            <a:pPr>
              <a:lnSpc>
                <a:spcPct val="100000"/>
              </a:lnSpc>
              <a:spcAft>
                <a:spcPts val="0"/>
              </a:spcAft>
            </a:pPr>
            <a:r>
              <a:rPr sz="2000" i="0">
                <a:solidFill>
                  <a:srgbClr val="5DADE2"/>
                </a:solidFill>
                <a:latin typeface="Consolas"/>
              </a:rPr>
              <a:t>def</a:t>
            </a:r>
            <a:r>
              <a:rPr sz="2000" i="0">
                <a:solidFill>
                  <a:srgbClr val="E8EDF2"/>
                </a:solidFill>
                <a:latin typeface="Consolas"/>
              </a:rPr>
              <a:t> </a:t>
            </a:r>
            <a:r>
              <a:rPr sz="2000" i="0">
                <a:solidFill>
                  <a:srgbClr val="C39BD3"/>
                </a:solidFill>
                <a:latin typeface="Consolas"/>
              </a:rPr>
              <a:t>audit</a:t>
            </a:r>
            <a:r>
              <a:rPr sz="2000" i="0">
                <a:solidFill>
                  <a:srgbClr val="AEB6BF"/>
                </a:solidFill>
                <a:latin typeface="Consolas"/>
              </a:rPr>
              <a:t>(</a:t>
            </a:r>
            <a:r>
              <a:rPr sz="2000" i="0">
                <a:solidFill>
                  <a:srgbClr val="E8EDF2"/>
                </a:solidFill>
                <a:latin typeface="Consolas"/>
              </a:rPr>
              <a:t>assignment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7DCEA0"/>
                </a:solidFill>
                <a:latin typeface="Consolas"/>
              </a:rPr>
              <a:t>"""Outcomes by group, and the situations not covered."""</a:t>
            </a:r>
          </a:p>
          <a:p>
            <a:pPr>
              <a:lnSpc>
                <a:spcPct val="100000"/>
              </a:lnSpc>
              <a:spcAft>
                <a:spcPts val="0"/>
              </a:spcAft>
            </a:pPr>
            <a:r>
              <a:rPr sz="2000" i="0">
                <a:solidFill>
                  <a:srgbClr val="E8EDF2"/>
                </a:solidFill>
                <a:latin typeface="Consolas"/>
              </a:rPr>
              <a:t>    </a:t>
            </a:r>
            <a:r>
              <a:rPr sz="2000" i="0">
                <a:solidFill>
                  <a:srgbClr val="E8EDF2"/>
                </a:solidFill>
                <a:latin typeface="Consolas"/>
              </a:rPr>
              <a:t>by_course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slot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who</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r>
              <a:rPr sz="2000" i="0">
                <a:solidFill>
                  <a:srgbClr val="E8EDF2"/>
                </a:solidFill>
                <a:latin typeface="Consolas"/>
              </a:rPr>
              <a:t>items</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course</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s</a:t>
            </a:r>
            <a:r>
              <a:rPr sz="2000" i="0">
                <a:solidFill>
                  <a:srgbClr val="AEB6BF"/>
                </a:solidFill>
                <a:latin typeface="Consolas"/>
              </a:rPr>
              <a:t>.</a:t>
            </a:r>
            <a:r>
              <a:rPr sz="2000" i="0">
                <a:solidFill>
                  <a:srgbClr val="E8EDF2"/>
                </a:solidFill>
                <a:latin typeface="Consolas"/>
              </a:rPr>
              <a:t>split</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7DCEA0"/>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F7DC6F"/>
                </a:solidFill>
                <a:latin typeface="Consolas"/>
              </a:rPr>
              <a:t>0</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by_course</a:t>
            </a:r>
            <a:r>
              <a:rPr sz="2000" i="0">
                <a:solidFill>
                  <a:srgbClr val="AEB6BF"/>
                </a:solidFill>
                <a:latin typeface="Consolas"/>
              </a:rPr>
              <a:t>.</a:t>
            </a:r>
            <a:r>
              <a:rPr sz="2000" i="0">
                <a:solidFill>
                  <a:srgbClr val="E8EDF2"/>
                </a:solidFill>
                <a:latin typeface="Consolas"/>
              </a:rPr>
              <a:t>setdefault</a:t>
            </a:r>
            <a:r>
              <a:rPr sz="2000" i="0">
                <a:solidFill>
                  <a:srgbClr val="AEB6BF"/>
                </a:solidFill>
                <a:latin typeface="Consolas"/>
              </a:rPr>
              <a:t>(</a:t>
            </a:r>
            <a:r>
              <a:rPr sz="2000" i="0">
                <a:solidFill>
                  <a:srgbClr val="E8EDF2"/>
                </a:solidFill>
                <a:latin typeface="Consolas"/>
              </a:rPr>
              <a:t>course</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AEB6BF"/>
                </a:solidFill>
                <a:latin typeface="Consolas"/>
              </a:rPr>
              <a:t>.</a:t>
            </a:r>
            <a:r>
              <a:rPr sz="2000" i="0">
                <a:solidFill>
                  <a:srgbClr val="E8EDF2"/>
                </a:solidFill>
                <a:latin typeface="Consolas"/>
              </a:rPr>
              <a:t>append</a:t>
            </a:r>
            <a:r>
              <a:rPr sz="2000" i="0">
                <a:solidFill>
                  <a:srgbClr val="AEB6BF"/>
                </a:solidFill>
                <a:latin typeface="Consolas"/>
              </a:rPr>
              <a:t>(</a:t>
            </a:r>
            <a:r>
              <a:rPr sz="2000" i="0">
                <a:solidFill>
                  <a:srgbClr val="E8EDF2"/>
                </a:solidFill>
                <a:latin typeface="Consolas"/>
              </a:rPr>
              <a:t>slot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E8EDF2"/>
                </a:solidFill>
                <a:latin typeface="Consolas"/>
              </a:rPr>
              <a:t>unplaced</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 </a:t>
            </a:r>
            <a:r>
              <a:rPr sz="2000" i="0">
                <a:solidFill>
                  <a:srgbClr val="AEB6BF"/>
                </a:solidFill>
                <a:latin typeface="Consolas"/>
              </a:rPr>
              <a:t>[</a:t>
            </a:r>
            <a:r>
              <a:rPr sz="2000" i="0">
                <a:solidFill>
                  <a:srgbClr val="E8EDF2"/>
                </a:solidFill>
                <a:latin typeface="Consolas"/>
              </a:rPr>
              <a:t>s</a:t>
            </a:r>
            <a:r>
              <a:rPr sz="2000" i="0">
                <a:solidFill>
                  <a:srgbClr val="E8EDF2"/>
                </a:solidFill>
                <a:latin typeface="Consolas"/>
              </a:rPr>
              <a:t> </a:t>
            </a:r>
            <a:r>
              <a:rPr sz="2000" i="0">
                <a:solidFill>
                  <a:srgbClr val="5DADE2"/>
                </a:solidFill>
                <a:latin typeface="Consolas"/>
              </a:rPr>
              <a:t>for</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SESSIONS</a:t>
            </a:r>
            <a:r>
              <a:rPr sz="2000" i="0">
                <a:solidFill>
                  <a:srgbClr val="E8EDF2"/>
                </a:solidFill>
                <a:latin typeface="Consolas"/>
              </a:rPr>
              <a:t> </a:t>
            </a:r>
            <a:r>
              <a:rPr sz="2000" i="0">
                <a:solidFill>
                  <a:srgbClr val="5DADE2"/>
                </a:solidFill>
                <a:latin typeface="Consolas"/>
              </a:rPr>
              <a:t>if</a:t>
            </a:r>
            <a:r>
              <a:rPr sz="2000" i="0">
                <a:solidFill>
                  <a:srgbClr val="E8EDF2"/>
                </a:solidFill>
                <a:latin typeface="Consolas"/>
              </a:rPr>
              <a:t> </a:t>
            </a:r>
            <a:r>
              <a:rPr sz="2000" i="0">
                <a:solidFill>
                  <a:srgbClr val="E8EDF2"/>
                </a:solidFill>
                <a:latin typeface="Consolas"/>
              </a:rPr>
              <a:t>s</a:t>
            </a:r>
            <a:r>
              <a:rPr sz="2000" i="0">
                <a:solidFill>
                  <a:srgbClr val="E8EDF2"/>
                </a:solidFill>
                <a:latin typeface="Consolas"/>
              </a:rPr>
              <a:t> </a:t>
            </a:r>
            <a:r>
              <a:rPr sz="2000" i="0">
                <a:solidFill>
                  <a:srgbClr val="AEB6BF"/>
                </a:solidFill>
                <a:latin typeface="Consolas"/>
              </a:rPr>
              <a:t>not</a:t>
            </a:r>
            <a:r>
              <a:rPr sz="2000" i="0">
                <a:solidFill>
                  <a:srgbClr val="E8EDF2"/>
                </a:solidFill>
                <a:latin typeface="Consolas"/>
              </a:rPr>
              <a:t> </a:t>
            </a:r>
            <a:r>
              <a:rPr sz="2000" i="0">
                <a:solidFill>
                  <a:srgbClr val="AEB6BF"/>
                </a:solidFill>
                <a:latin typeface="Consolas"/>
              </a:rPr>
              <a:t>in</a:t>
            </a:r>
            <a:r>
              <a:rPr sz="2000" i="0">
                <a:solidFill>
                  <a:srgbClr val="E8EDF2"/>
                </a:solidFill>
                <a:latin typeface="Consolas"/>
              </a:rPr>
              <a:t> </a:t>
            </a:r>
            <a:r>
              <a:rPr sz="2000" i="0">
                <a:solidFill>
                  <a:srgbClr val="E8EDF2"/>
                </a:solidFill>
                <a:latin typeface="Consolas"/>
              </a:rPr>
              <a:t>assignment</a:t>
            </a:r>
            <a:r>
              <a:rPr sz="2000" i="0">
                <a:solidFill>
                  <a:srgbClr val="AEB6BF"/>
                </a:solidFill>
                <a:latin typeface="Consolas"/>
              </a:rPr>
              <a:t>]</a:t>
            </a:r>
          </a:p>
          <a:p>
            <a:pPr>
              <a:lnSpc>
                <a:spcPct val="100000"/>
              </a:lnSpc>
              <a:spcAft>
                <a:spcPts val="0"/>
              </a:spcAft>
            </a:pPr>
            <a:r>
              <a:rPr sz="2000" i="0">
                <a:solidFill>
                  <a:srgbClr val="E8EDF2"/>
                </a:solidFill>
                <a:latin typeface="Consolas"/>
              </a:rPr>
              <a:t>    </a:t>
            </a:r>
            <a:r>
              <a:rPr sz="2000" i="0">
                <a:solidFill>
                  <a:srgbClr val="5DADE2"/>
                </a:solidFill>
                <a:latin typeface="Consolas"/>
              </a:rPr>
              <a:t>return</a:t>
            </a:r>
            <a:r>
              <a:rPr sz="2000" i="0">
                <a:solidFill>
                  <a:srgbClr val="E8EDF2"/>
                </a:solidFill>
                <a:latin typeface="Consolas"/>
              </a:rPr>
              <a:t> </a:t>
            </a:r>
            <a:r>
              <a:rPr sz="2000" i="0">
                <a:solidFill>
                  <a:srgbClr val="AEB6BF"/>
                </a:solidFill>
                <a:latin typeface="Consolas"/>
              </a:rPr>
              <a:t>{</a:t>
            </a:r>
            <a:r>
              <a:rPr sz="2000" i="0">
                <a:solidFill>
                  <a:srgbClr val="7DCEA0"/>
                </a:solidFill>
                <a:latin typeface="Consolas"/>
              </a:rPr>
              <a:t>"</a:t>
            </a:r>
            <a:r>
              <a:rPr sz="2000" i="0">
                <a:solidFill>
                  <a:srgbClr val="7DCEA0"/>
                </a:solidFill>
                <a:latin typeface="Consolas"/>
              </a:rPr>
              <a:t>by_course</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by_course</a:t>
            </a:r>
            <a:r>
              <a:rPr sz="2000" i="0">
                <a:solidFill>
                  <a:srgbClr val="AEB6BF"/>
                </a:solidFill>
                <a:latin typeface="Consolas"/>
              </a:rPr>
              <a:t>,</a:t>
            </a:r>
            <a:r>
              <a:rPr sz="2000" i="0">
                <a:solidFill>
                  <a:srgbClr val="E8EDF2"/>
                </a:solidFill>
                <a:latin typeface="Consolas"/>
              </a:rPr>
              <a:t> </a:t>
            </a:r>
            <a:r>
              <a:rPr sz="2000" i="0">
                <a:solidFill>
                  <a:srgbClr val="7DCEA0"/>
                </a:solidFill>
                <a:latin typeface="Consolas"/>
              </a:rPr>
              <a:t>"</a:t>
            </a:r>
            <a:r>
              <a:rPr sz="2000" i="0">
                <a:solidFill>
                  <a:srgbClr val="7DCEA0"/>
                </a:solidFill>
                <a:latin typeface="Consolas"/>
              </a:rPr>
              <a:t>unplaced</a:t>
            </a:r>
            <a:r>
              <a:rPr sz="2000" i="0">
                <a:solidFill>
                  <a:srgbClr val="7DCEA0"/>
                </a:solidFill>
                <a:latin typeface="Consolas"/>
              </a:rPr>
              <a:t>"</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unplaced</a:t>
            </a:r>
            <a:r>
              <a:rPr sz="2000" i="0">
                <a:solidFill>
                  <a:srgbClr val="AEB6BF"/>
                </a:solidFill>
                <a:latin typeface="Consolas"/>
              </a:rPr>
              <a:t>}</a:t>
            </a:r>
          </a:p>
        </p:txBody>
      </p:sp>
      <p:sp>
        <p:nvSpPr>
          <p:cNvPr id="14" name="!!code-num"/>
          <p:cNvSpPr txBox="1"/>
          <p:nvPr/>
        </p:nvSpPr>
        <p:spPr>
          <a:xfrm>
            <a:off x="768096" y="2066543"/>
            <a:ext cx="393192" cy="2852927"/>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112</a:t>
            </a:r>
          </a:p>
          <a:p>
            <a:pPr algn="r">
              <a:lnSpc>
                <a:spcPct val="100000"/>
              </a:lnSpc>
            </a:pPr>
            <a:r>
              <a:rPr sz="2000">
                <a:solidFill>
                  <a:srgbClr val="4F5D6A"/>
                </a:solidFill>
                <a:latin typeface="Consolas"/>
              </a:rPr>
              <a:t>113</a:t>
            </a:r>
          </a:p>
          <a:p>
            <a:pPr algn="r">
              <a:lnSpc>
                <a:spcPct val="100000"/>
              </a:lnSpc>
            </a:pPr>
            <a:r>
              <a:rPr sz="2000">
                <a:solidFill>
                  <a:srgbClr val="4F5D6A"/>
                </a:solidFill>
                <a:latin typeface="Consolas"/>
              </a:rPr>
              <a:t>114</a:t>
            </a:r>
          </a:p>
          <a:p>
            <a:pPr algn="r">
              <a:lnSpc>
                <a:spcPct val="100000"/>
              </a:lnSpc>
            </a:pPr>
            <a:r>
              <a:rPr sz="2000">
                <a:solidFill>
                  <a:srgbClr val="4F5D6A"/>
                </a:solidFill>
                <a:latin typeface="Consolas"/>
              </a:rPr>
              <a:t>115</a:t>
            </a:r>
          </a:p>
          <a:p>
            <a:pPr algn="r">
              <a:lnSpc>
                <a:spcPct val="100000"/>
              </a:lnSpc>
            </a:pPr>
            <a:r>
              <a:rPr sz="2000">
                <a:solidFill>
                  <a:srgbClr val="4F5D6A"/>
                </a:solidFill>
                <a:latin typeface="Consolas"/>
              </a:rPr>
              <a:t>116</a:t>
            </a:r>
          </a:p>
          <a:p>
            <a:pPr algn="r">
              <a:lnSpc>
                <a:spcPct val="100000"/>
              </a:lnSpc>
            </a:pPr>
            <a:r>
              <a:rPr sz="2000">
                <a:solidFill>
                  <a:srgbClr val="4F5D6A"/>
                </a:solidFill>
                <a:latin typeface="Consolas"/>
              </a:rPr>
              <a:t>117</a:t>
            </a:r>
          </a:p>
          <a:p>
            <a:pPr algn="r">
              <a:lnSpc>
                <a:spcPct val="100000"/>
              </a:lnSpc>
            </a:pPr>
            <a:r>
              <a:rPr sz="2000">
                <a:solidFill>
                  <a:srgbClr val="4F5D6A"/>
                </a:solidFill>
                <a:latin typeface="Consolas"/>
              </a:rPr>
              <a:t>118</a:t>
            </a:r>
          </a:p>
          <a:p>
            <a:pPr algn="r">
              <a:lnSpc>
                <a:spcPct val="100000"/>
              </a:lnSpc>
            </a:pPr>
            <a:r>
              <a:rPr sz="2000">
                <a:solidFill>
                  <a:srgbClr val="4F5D6A"/>
                </a:solidFill>
                <a:latin typeface="Consolas"/>
              </a:rPr>
              <a:t>119</a:t>
            </a:r>
          </a:p>
          <a:p>
            <a:pPr algn="r">
              <a:lnSpc>
                <a:spcPct val="100000"/>
              </a:lnSpc>
            </a:pPr>
            <a:r>
              <a:rPr sz="2000">
                <a:solidFill>
                  <a:srgbClr val="4F5D6A"/>
                </a:solidFill>
                <a:latin typeface="Consolas"/>
              </a:rPr>
              <a:t>120</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15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459E1625-9BCB-48AE-8EFB-B584E7DBB270}" type="slidenum">
              <a:rPr lang="en-GB" sz="1000">
                <a:solidFill>
                  <a:srgbClr val="8795A1"/>
                </a:solidFill>
                <a:latin typeface="Segoe UI"/>
              </a:rPr>
              <a:t>37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if __name__ == &quot;__main__&quot;: random.seed(SEED) print(&quot;=&quot; * 58) print(&quot;PEAS&quot;) print(&quot;=&quot; * 58) for k, v in PEAS.items(): print(&quot; %-13s %s&quot; % (k + &quot;:&quot;, v)) print() print(&quot; fails if: %s&quot; % FAILURE_CONDITION) print() print(&quot;=&quot; * 58) print(&quot;BASELINE vs SYSTEM&quot;) print(&quot;=&quot; * 58) base = baseline(SESSIONS) trace = [] ours = solve(SESSIONS, trace)"/>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__name__</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__main__</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random</a:t>
            </a:r>
            <a:r>
              <a:rPr sz="1500" i="0">
                <a:solidFill>
                  <a:srgbClr val="AEB6BF"/>
                </a:solidFill>
                <a:latin typeface="Consolas"/>
              </a:rPr>
              <a:t>.</a:t>
            </a:r>
            <a:r>
              <a:rPr sz="1500" i="0">
                <a:solidFill>
                  <a:srgbClr val="E8EDF2"/>
                </a:solidFill>
                <a:latin typeface="Consolas"/>
              </a:rPr>
              <a:t>seed</a:t>
            </a:r>
            <a:r>
              <a:rPr sz="1500" i="0">
                <a:solidFill>
                  <a:srgbClr val="AEB6BF"/>
                </a:solidFill>
                <a:latin typeface="Consolas"/>
              </a:rPr>
              <a:t>(</a:t>
            </a:r>
            <a:r>
              <a:rPr sz="1500" i="0">
                <a:solidFill>
                  <a:srgbClr val="E8EDF2"/>
                </a:solidFill>
                <a:latin typeface="Consolas"/>
              </a:rPr>
              <a:t>SEED</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PEAS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k</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PEAS</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%-13s</a:t>
            </a:r>
            <a:r>
              <a:rPr sz="1500" i="0">
                <a:solidFill>
                  <a:srgbClr val="7DCEA0"/>
                </a:solidFill>
                <a:latin typeface="Consolas"/>
              </a:rPr>
              <a:t> </a:t>
            </a:r>
            <a:r>
              <a:rPr sz="1500" i="0">
                <a:solidFill>
                  <a:srgbClr val="7DCEA0"/>
                </a:solidFill>
                <a:latin typeface="Consolas"/>
              </a:rPr>
              <a:t>%s</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k</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v</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fails if:    </a:t>
            </a:r>
            <a:r>
              <a:rPr sz="1500" i="0">
                <a:solidFill>
                  <a:srgbClr val="7DCEA0"/>
                </a:solidFill>
                <a:latin typeface="Consolas"/>
              </a:rPr>
              <a:t>%s</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FAILURE_CONDITION</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BASELINE vs SYSTEM</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base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baseline</a:t>
            </a:r>
            <a:r>
              <a:rPr sz="1500" i="0">
                <a:solidFill>
                  <a:srgbClr val="AEB6BF"/>
                </a:solidFill>
                <a:latin typeface="Consolas"/>
              </a:rPr>
              <a:t>(</a:t>
            </a:r>
            <a:r>
              <a:rPr sz="1500" i="0">
                <a:solidFill>
                  <a:srgbClr val="E8EDF2"/>
                </a:solidFill>
                <a:latin typeface="Consolas"/>
              </a:rPr>
              <a:t>SESSIONS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trace</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ours</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solve</a:t>
            </a:r>
            <a:r>
              <a:rPr sz="1500" i="0">
                <a:solidFill>
                  <a:srgbClr val="AEB6BF"/>
                </a:solidFill>
                <a:latin typeface="Consolas"/>
              </a:rPr>
              <a:t>(</a:t>
            </a:r>
            <a:r>
              <a:rPr sz="1500" i="0">
                <a:solidFill>
                  <a:srgbClr val="E8EDF2"/>
                </a:solidFill>
                <a:latin typeface="Consolas"/>
              </a:rPr>
              <a:t>SESSIONS</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trace</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123</a:t>
            </a:r>
          </a:p>
          <a:p>
            <a:pPr algn="r">
              <a:lnSpc>
                <a:spcPct val="100000"/>
              </a:lnSpc>
            </a:pPr>
            <a:r>
              <a:rPr sz="1500">
                <a:solidFill>
                  <a:srgbClr val="4F5D6A"/>
                </a:solidFill>
                <a:latin typeface="Consolas"/>
              </a:rPr>
              <a:t>124</a:t>
            </a:r>
          </a:p>
          <a:p>
            <a:pPr algn="r">
              <a:lnSpc>
                <a:spcPct val="100000"/>
              </a:lnSpc>
            </a:pPr>
            <a:r>
              <a:rPr sz="1500">
                <a:solidFill>
                  <a:srgbClr val="4F5D6A"/>
                </a:solidFill>
                <a:latin typeface="Consolas"/>
              </a:rPr>
              <a:t>125</a:t>
            </a:r>
          </a:p>
          <a:p>
            <a:pPr algn="r">
              <a:lnSpc>
                <a:spcPct val="100000"/>
              </a:lnSpc>
            </a:pPr>
            <a:r>
              <a:rPr sz="1500">
                <a:solidFill>
                  <a:srgbClr val="4F5D6A"/>
                </a:solidFill>
                <a:latin typeface="Consolas"/>
              </a:rPr>
              <a:t>126</a:t>
            </a:r>
          </a:p>
          <a:p>
            <a:pPr algn="r">
              <a:lnSpc>
                <a:spcPct val="100000"/>
              </a:lnSpc>
            </a:pPr>
            <a:r>
              <a:rPr sz="1500">
                <a:solidFill>
                  <a:srgbClr val="4F5D6A"/>
                </a:solidFill>
                <a:latin typeface="Consolas"/>
              </a:rPr>
              <a:t>127</a:t>
            </a:r>
          </a:p>
          <a:p>
            <a:pPr algn="r">
              <a:lnSpc>
                <a:spcPct val="100000"/>
              </a:lnSpc>
            </a:pPr>
            <a:r>
              <a:rPr sz="1500">
                <a:solidFill>
                  <a:srgbClr val="4F5D6A"/>
                </a:solidFill>
                <a:latin typeface="Consolas"/>
              </a:rPr>
              <a:t>128</a:t>
            </a:r>
          </a:p>
          <a:p>
            <a:pPr algn="r">
              <a:lnSpc>
                <a:spcPct val="100000"/>
              </a:lnSpc>
            </a:pPr>
            <a:r>
              <a:rPr sz="1500">
                <a:solidFill>
                  <a:srgbClr val="4F5D6A"/>
                </a:solidFill>
                <a:latin typeface="Consolas"/>
              </a:rPr>
              <a:t>129</a:t>
            </a:r>
          </a:p>
          <a:p>
            <a:pPr algn="r">
              <a:lnSpc>
                <a:spcPct val="100000"/>
              </a:lnSpc>
            </a:pPr>
            <a:r>
              <a:rPr sz="1500">
                <a:solidFill>
                  <a:srgbClr val="4F5D6A"/>
                </a:solidFill>
                <a:latin typeface="Consolas"/>
              </a:rPr>
              <a:t>130</a:t>
            </a:r>
          </a:p>
          <a:p>
            <a:pPr algn="r">
              <a:lnSpc>
                <a:spcPct val="100000"/>
              </a:lnSpc>
            </a:pPr>
            <a:r>
              <a:rPr sz="1500">
                <a:solidFill>
                  <a:srgbClr val="4F5D6A"/>
                </a:solidFill>
                <a:latin typeface="Consolas"/>
              </a:rPr>
              <a:t>131</a:t>
            </a:r>
          </a:p>
          <a:p>
            <a:pPr algn="r">
              <a:lnSpc>
                <a:spcPct val="100000"/>
              </a:lnSpc>
            </a:pPr>
            <a:r>
              <a:rPr sz="1500">
                <a:solidFill>
                  <a:srgbClr val="4F5D6A"/>
                </a:solidFill>
                <a:latin typeface="Consolas"/>
              </a:rPr>
              <a:t>132</a:t>
            </a:r>
          </a:p>
          <a:p>
            <a:pPr algn="r">
              <a:lnSpc>
                <a:spcPct val="100000"/>
              </a:lnSpc>
            </a:pPr>
            <a:r>
              <a:rPr sz="1500">
                <a:solidFill>
                  <a:srgbClr val="4F5D6A"/>
                </a:solidFill>
                <a:latin typeface="Consolas"/>
              </a:rPr>
              <a:t>133</a:t>
            </a:r>
          </a:p>
          <a:p>
            <a:pPr algn="r">
              <a:lnSpc>
                <a:spcPct val="100000"/>
              </a:lnSpc>
            </a:pPr>
            <a:r>
              <a:rPr sz="1500">
                <a:solidFill>
                  <a:srgbClr val="4F5D6A"/>
                </a:solidFill>
                <a:latin typeface="Consolas"/>
              </a:rPr>
              <a:t>134</a:t>
            </a:r>
          </a:p>
          <a:p>
            <a:pPr algn="r">
              <a:lnSpc>
                <a:spcPct val="100000"/>
              </a:lnSpc>
            </a:pPr>
            <a:r>
              <a:rPr sz="1500">
                <a:solidFill>
                  <a:srgbClr val="4F5D6A"/>
                </a:solidFill>
                <a:latin typeface="Consolas"/>
              </a:rPr>
              <a:t>135</a:t>
            </a:r>
          </a:p>
          <a:p>
            <a:pPr algn="r">
              <a:lnSpc>
                <a:spcPct val="100000"/>
              </a:lnSpc>
            </a:pPr>
            <a:r>
              <a:rPr sz="1500">
                <a:solidFill>
                  <a:srgbClr val="4F5D6A"/>
                </a:solidFill>
                <a:latin typeface="Consolas"/>
              </a:rPr>
              <a:t>136</a:t>
            </a:r>
          </a:p>
          <a:p>
            <a:pPr algn="r">
              <a:lnSpc>
                <a:spcPct val="100000"/>
              </a:lnSpc>
            </a:pPr>
            <a:r>
              <a:rPr sz="1500">
                <a:solidFill>
                  <a:srgbClr val="4F5D6A"/>
                </a:solidFill>
                <a:latin typeface="Consolas"/>
              </a:rPr>
              <a:t>137</a:t>
            </a:r>
          </a:p>
          <a:p>
            <a:pPr algn="r">
              <a:lnSpc>
                <a:spcPct val="100000"/>
              </a:lnSpc>
            </a:pPr>
            <a:r>
              <a:rPr sz="1500">
                <a:solidFill>
                  <a:srgbClr val="4F5D6A"/>
                </a:solidFill>
                <a:latin typeface="Consolas"/>
              </a:rPr>
              <a:t>138</a:t>
            </a:r>
          </a:p>
          <a:p>
            <a:pPr algn="r">
              <a:lnSpc>
                <a:spcPct val="100000"/>
              </a:lnSpc>
            </a:pPr>
            <a:r>
              <a:rPr sz="1500">
                <a:solidFill>
                  <a:srgbClr val="4F5D6A"/>
                </a:solidFill>
                <a:latin typeface="Consolas"/>
              </a:rPr>
              <a:t>139</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3535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16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F0B27070-0B3C-4A99-B26A-55D05B58D5C9}" type="slidenum">
              <a:rPr lang="en-GB" sz="1000">
                <a:solidFill>
                  <a:srgbClr val="8795A1"/>
                </a:solidFill>
                <a:latin typeface="Segoe UI"/>
              </a:rPr>
              <a:t>38</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mb, mo = measure(base), measure(ours) print(&quot; measure baseline system&quot;) print(&quot; &quot; + &quot;-&quot; * 34) for key in (&quot;placed&quot;, &quot;spread&quot;): print(&quot; %-12s %8s %8s&quot; % (key, mb[key], mo[key])) print(&quot; load %8s %8s&quot; % (mb[&quot;load&quot;], mo[&quot;load&quot;])) # state the verdict against the CONDITION FIXED IN ADVANCE print() beat = (mo[&quot;placed&quot;] &gt; mb[&quot;placed&quot;] or (mo[&quot;placed&quot;] == mb[&quot;placed&quot;] and mo[&quot;spread&quot;] &lt; mb[&quot;spread&quot;] - 2)) print(&quot; verdict: %s&quot; % (&quot;the system beat the baseline&quot; if beat else &quot;the system did NOT beat the baseline on the measure &quot; &quot;fixed in advance -- report this&quo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mo</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measure</a:t>
            </a:r>
            <a:r>
              <a:rPr sz="1500" i="0">
                <a:solidFill>
                  <a:srgbClr val="AEB6BF"/>
                </a:solidFill>
                <a:latin typeface="Consolas"/>
              </a:rPr>
              <a:t>(</a:t>
            </a:r>
            <a:r>
              <a:rPr sz="1500" i="0">
                <a:solidFill>
                  <a:srgbClr val="E8EDF2"/>
                </a:solidFill>
                <a:latin typeface="Consolas"/>
              </a:rPr>
              <a:t>base</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measure</a:t>
            </a:r>
            <a:r>
              <a:rPr sz="1500" i="0">
                <a:solidFill>
                  <a:srgbClr val="AEB6BF"/>
                </a:solidFill>
                <a:latin typeface="Consolas"/>
              </a:rPr>
              <a:t>(</a:t>
            </a:r>
            <a:r>
              <a:rPr sz="1500" i="0">
                <a:solidFill>
                  <a:srgbClr val="E8EDF2"/>
                </a:solidFill>
                <a:latin typeface="Consolas"/>
              </a:rPr>
              <a:t>ours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measure      baseline   system</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34</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key</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spread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%-12s</a:t>
            </a:r>
            <a:r>
              <a:rPr sz="1500" i="0">
                <a:solidFill>
                  <a:srgbClr val="7DCEA0"/>
                </a:solidFill>
                <a:latin typeface="Consolas"/>
              </a:rPr>
              <a:t> </a:t>
            </a:r>
            <a:r>
              <a:rPr sz="1500" i="0">
                <a:solidFill>
                  <a:srgbClr val="7DCEA0"/>
                </a:solidFill>
                <a:latin typeface="Consolas"/>
              </a:rPr>
              <a:t>%8s</a:t>
            </a:r>
            <a:r>
              <a:rPr sz="1500" i="0">
                <a:solidFill>
                  <a:srgbClr val="7DCEA0"/>
                </a:solidFill>
                <a:latin typeface="Consolas"/>
              </a:rPr>
              <a:t> </a:t>
            </a:r>
            <a:r>
              <a:rPr sz="1500" i="0">
                <a:solidFill>
                  <a:srgbClr val="7DCEA0"/>
                </a:solidFill>
                <a:latin typeface="Consolas"/>
              </a:rPr>
              <a:t>%8s</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key</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E8EDF2"/>
                </a:solidFill>
                <a:latin typeface="Consolas"/>
              </a:rPr>
              <a:t>key</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mo</a:t>
            </a:r>
            <a:r>
              <a:rPr sz="1500" i="0">
                <a:solidFill>
                  <a:srgbClr val="AEB6BF"/>
                </a:solidFill>
                <a:latin typeface="Consolas"/>
              </a:rPr>
              <a:t>[</a:t>
            </a:r>
            <a:r>
              <a:rPr sz="1500" i="0">
                <a:solidFill>
                  <a:srgbClr val="E8EDF2"/>
                </a:solidFill>
                <a:latin typeface="Consolas"/>
              </a:rPr>
              <a:t>key</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load         </a:t>
            </a:r>
            <a:r>
              <a:rPr sz="1500" i="0">
                <a:solidFill>
                  <a:srgbClr val="7DCEA0"/>
                </a:solidFill>
                <a:latin typeface="Consolas"/>
              </a:rPr>
              <a:t>%8s</a:t>
            </a:r>
            <a:r>
              <a:rPr sz="1500" i="0">
                <a:solidFill>
                  <a:srgbClr val="7DCEA0"/>
                </a:solidFill>
                <a:latin typeface="Consolas"/>
              </a:rPr>
              <a:t> </a:t>
            </a:r>
            <a:r>
              <a:rPr sz="1500" i="0">
                <a:solidFill>
                  <a:srgbClr val="7DCEA0"/>
                </a:solidFill>
                <a:latin typeface="Consolas"/>
              </a:rPr>
              <a:t>%8s</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mb</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load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mo</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load</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1">
                <a:solidFill>
                  <a:srgbClr val="8795A1"/>
                </a:solidFill>
                <a:latin typeface="Consolas"/>
              </a:rPr>
              <a:t># state the verdict against the CONDITION FIXED IN ADVANCE</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beat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mo</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&gt;</a:t>
            </a: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or</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mo</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and</a:t>
            </a:r>
            <a:r>
              <a:rPr sz="1500" i="0">
                <a:solidFill>
                  <a:srgbClr val="E8EDF2"/>
                </a:solidFill>
                <a:latin typeface="Consolas"/>
              </a:rPr>
              <a:t> </a:t>
            </a:r>
            <a:r>
              <a:rPr sz="1500" i="0">
                <a:solidFill>
                  <a:srgbClr val="E8EDF2"/>
                </a:solidFill>
                <a:latin typeface="Consolas"/>
              </a:rPr>
              <a:t>mo</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spread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&lt;</a:t>
            </a: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spread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2</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verdict: </a:t>
            </a:r>
            <a:r>
              <a:rPr sz="1500" i="0">
                <a:solidFill>
                  <a:srgbClr val="7DCEA0"/>
                </a:solidFill>
                <a:latin typeface="Consolas"/>
              </a:rPr>
              <a:t>%s</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the system beat the baseline</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if</a:t>
            </a:r>
            <a:r>
              <a:rPr sz="1500" i="0">
                <a:solidFill>
                  <a:srgbClr val="E8EDF2"/>
                </a:solidFill>
                <a:latin typeface="Consolas"/>
              </a:rPr>
              <a:t> </a:t>
            </a:r>
            <a:r>
              <a:rPr sz="1500" i="0">
                <a:solidFill>
                  <a:srgbClr val="E8EDF2"/>
                </a:solidFill>
                <a:latin typeface="Consolas"/>
              </a:rPr>
              <a:t>beat</a:t>
            </a:r>
            <a:r>
              <a:rPr sz="1500" i="0">
                <a:solidFill>
                  <a:srgbClr val="E8EDF2"/>
                </a:solidFill>
                <a:latin typeface="Consolas"/>
              </a:rPr>
              <a:t> </a:t>
            </a:r>
            <a:r>
              <a:rPr sz="1500" i="0">
                <a:solidFill>
                  <a:srgbClr val="5DADE2"/>
                </a:solidFill>
                <a:latin typeface="Consolas"/>
              </a:rPr>
              <a:t>else</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the system did NOT beat the baseline on the measure </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fixed in advance -- report this</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141</a:t>
            </a:r>
          </a:p>
          <a:p>
            <a:pPr algn="r">
              <a:lnSpc>
                <a:spcPct val="100000"/>
              </a:lnSpc>
            </a:pPr>
            <a:r>
              <a:rPr sz="1500">
                <a:solidFill>
                  <a:srgbClr val="4F5D6A"/>
                </a:solidFill>
                <a:latin typeface="Consolas"/>
              </a:rPr>
              <a:t>142</a:t>
            </a:r>
          </a:p>
          <a:p>
            <a:pPr algn="r">
              <a:lnSpc>
                <a:spcPct val="100000"/>
              </a:lnSpc>
            </a:pPr>
            <a:r>
              <a:rPr sz="1500">
                <a:solidFill>
                  <a:srgbClr val="4F5D6A"/>
                </a:solidFill>
                <a:latin typeface="Consolas"/>
              </a:rPr>
              <a:t>143</a:t>
            </a:r>
          </a:p>
          <a:p>
            <a:pPr algn="r">
              <a:lnSpc>
                <a:spcPct val="100000"/>
              </a:lnSpc>
            </a:pPr>
            <a:r>
              <a:rPr sz="1500">
                <a:solidFill>
                  <a:srgbClr val="4F5D6A"/>
                </a:solidFill>
                <a:latin typeface="Consolas"/>
              </a:rPr>
              <a:t>144</a:t>
            </a:r>
          </a:p>
          <a:p>
            <a:pPr algn="r">
              <a:lnSpc>
                <a:spcPct val="100000"/>
              </a:lnSpc>
            </a:pPr>
            <a:r>
              <a:rPr sz="1500">
                <a:solidFill>
                  <a:srgbClr val="4F5D6A"/>
                </a:solidFill>
                <a:latin typeface="Consolas"/>
              </a:rPr>
              <a:t>145</a:t>
            </a:r>
          </a:p>
          <a:p>
            <a:pPr algn="r">
              <a:lnSpc>
                <a:spcPct val="100000"/>
              </a:lnSpc>
            </a:pPr>
            <a:r>
              <a:rPr sz="1500">
                <a:solidFill>
                  <a:srgbClr val="4F5D6A"/>
                </a:solidFill>
                <a:latin typeface="Consolas"/>
              </a:rPr>
              <a:t>146</a:t>
            </a:r>
          </a:p>
          <a:p>
            <a:pPr algn="r">
              <a:lnSpc>
                <a:spcPct val="100000"/>
              </a:lnSpc>
            </a:pPr>
            <a:r>
              <a:rPr sz="1500">
                <a:solidFill>
                  <a:srgbClr val="4F5D6A"/>
                </a:solidFill>
                <a:latin typeface="Consolas"/>
              </a:rPr>
              <a:t>147</a:t>
            </a:r>
          </a:p>
          <a:p>
            <a:pPr algn="r">
              <a:lnSpc>
                <a:spcPct val="100000"/>
              </a:lnSpc>
            </a:pPr>
            <a:r>
              <a:rPr sz="1500">
                <a:solidFill>
                  <a:srgbClr val="4F5D6A"/>
                </a:solidFill>
                <a:latin typeface="Consolas"/>
              </a:rPr>
              <a:t>148</a:t>
            </a:r>
          </a:p>
          <a:p>
            <a:pPr algn="r">
              <a:lnSpc>
                <a:spcPct val="100000"/>
              </a:lnSpc>
            </a:pPr>
            <a:r>
              <a:rPr sz="1500">
                <a:solidFill>
                  <a:srgbClr val="4F5D6A"/>
                </a:solidFill>
                <a:latin typeface="Consolas"/>
              </a:rPr>
              <a:t>149</a:t>
            </a:r>
          </a:p>
          <a:p>
            <a:pPr algn="r">
              <a:lnSpc>
                <a:spcPct val="100000"/>
              </a:lnSpc>
            </a:pPr>
            <a:r>
              <a:rPr sz="1500">
                <a:solidFill>
                  <a:srgbClr val="4F5D6A"/>
                </a:solidFill>
                <a:latin typeface="Consolas"/>
              </a:rPr>
              <a:t>150</a:t>
            </a:r>
          </a:p>
          <a:p>
            <a:pPr algn="r">
              <a:lnSpc>
                <a:spcPct val="100000"/>
              </a:lnSpc>
            </a:pPr>
            <a:r>
              <a:rPr sz="1500">
                <a:solidFill>
                  <a:srgbClr val="4F5D6A"/>
                </a:solidFill>
                <a:latin typeface="Consolas"/>
              </a:rPr>
              <a:t>151</a:t>
            </a:r>
          </a:p>
          <a:p>
            <a:pPr algn="r">
              <a:lnSpc>
                <a:spcPct val="100000"/>
              </a:lnSpc>
            </a:pPr>
            <a:r>
              <a:rPr sz="1500">
                <a:solidFill>
                  <a:srgbClr val="4F5D6A"/>
                </a:solidFill>
                <a:latin typeface="Consolas"/>
              </a:rPr>
              <a:t>152</a:t>
            </a:r>
          </a:p>
          <a:p>
            <a:pPr algn="r">
              <a:lnSpc>
                <a:spcPct val="100000"/>
              </a:lnSpc>
            </a:pPr>
            <a:r>
              <a:rPr sz="1500">
                <a:solidFill>
                  <a:srgbClr val="4F5D6A"/>
                </a:solidFill>
                <a:latin typeface="Consolas"/>
              </a:rPr>
              <a:t>153</a:t>
            </a:r>
          </a:p>
          <a:p>
            <a:pPr algn="r">
              <a:lnSpc>
                <a:spcPct val="100000"/>
              </a:lnSpc>
            </a:pPr>
            <a:r>
              <a:rPr sz="1500">
                <a:solidFill>
                  <a:srgbClr val="4F5D6A"/>
                </a:solidFill>
                <a:latin typeface="Consolas"/>
              </a:rPr>
              <a:t>154</a:t>
            </a:r>
          </a:p>
          <a:p>
            <a:pPr algn="r">
              <a:lnSpc>
                <a:spcPct val="100000"/>
              </a:lnSpc>
            </a:pPr>
            <a:r>
              <a:rPr sz="1500">
                <a:solidFill>
                  <a:srgbClr val="4F5D6A"/>
                </a:solidFill>
                <a:latin typeface="Consolas"/>
              </a:rPr>
              <a:t>155</a:t>
            </a:r>
          </a:p>
          <a:p>
            <a:pPr algn="r">
              <a:lnSpc>
                <a:spcPct val="100000"/>
              </a:lnSpc>
            </a:pPr>
            <a:r>
              <a:rPr sz="1500">
                <a:solidFill>
                  <a:srgbClr val="4F5D6A"/>
                </a:solidFill>
                <a:latin typeface="Consolas"/>
              </a:rPr>
              <a:t>156</a:t>
            </a:r>
          </a:p>
          <a:p>
            <a:pPr algn="r">
              <a:lnSpc>
                <a:spcPct val="100000"/>
              </a:lnSpc>
            </a:pPr>
            <a:r>
              <a:rPr sz="1500">
                <a:solidFill>
                  <a:srgbClr val="4F5D6A"/>
                </a:solidFill>
                <a:latin typeface="Consolas"/>
              </a:rPr>
              <a:t>157</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57934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17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503548D7-948A-42EE-BFD0-5981700FB4A1}" type="slidenum">
              <a:rPr lang="en-GB" sz="1000">
                <a:solidFill>
                  <a:srgbClr val="8795A1"/>
                </a:solidFill>
                <a:latin typeface="Segoe UI"/>
              </a:rPr>
              <a:t>39</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print() print(&quot;=&quot; * 58) print(&quot;TRACE (first 8 steps)&quot;) print(&quot;=&quot; * 58) for line in trace[:8]: print(&quot; &quot; + line) print(&quot; ... %d steps total&quot; % len(trace)) print() print(&quot;=&quot; * 58) print(&quot;AUDIT&quot;) print(&quot;=&quot; * 58) a = audit(ours) for course, slots in sorted(a[&quot;by_course&quot;].items()): print(&quot; %-6s %d session(s): %s&quot; % (course, len(slots), &quot;, &quot;.join(slots))) print(&quot; unplaced:&quot;, a[&quot;unplaced&quot;] or &quot;none&quo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TRACE (first 8 steps)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line</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E8EDF2"/>
                </a:solidFill>
                <a:latin typeface="Consolas"/>
              </a:rPr>
              <a:t>trace</a:t>
            </a:r>
            <a:r>
              <a:rPr sz="1500" i="0">
                <a:solidFill>
                  <a:srgbClr val="AEB6BF"/>
                </a:solidFill>
                <a:latin typeface="Consolas"/>
              </a:rPr>
              <a:t>[</a:t>
            </a:r>
            <a:r>
              <a:rPr sz="1500" i="0">
                <a:solidFill>
                  <a:srgbClr val="AEB6BF"/>
                </a:solidFill>
                <a:latin typeface="Consolas"/>
              </a:rPr>
              <a:t>:</a:t>
            </a:r>
            <a:r>
              <a:rPr sz="1500" i="0">
                <a:solidFill>
                  <a:srgbClr val="F7DC6F"/>
                </a:solidFill>
                <a:latin typeface="Consolas"/>
              </a:rPr>
              <a:t>8</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line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 </a:t>
            </a:r>
            <a:r>
              <a:rPr sz="1500" i="0">
                <a:solidFill>
                  <a:srgbClr val="7DCEA0"/>
                </a:solidFill>
                <a:latin typeface="Consolas"/>
              </a:rPr>
              <a:t>%d</a:t>
            </a:r>
            <a:r>
              <a:rPr sz="1500" i="0">
                <a:solidFill>
                  <a:srgbClr val="7DCEA0"/>
                </a:solidFill>
                <a:latin typeface="Consolas"/>
              </a:rPr>
              <a:t> steps total</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trace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AUDIT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7DCEA0"/>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F7DC6F"/>
                </a:solidFill>
                <a:latin typeface="Consolas"/>
              </a:rPr>
              <a:t>58</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a</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audit</a:t>
            </a:r>
            <a:r>
              <a:rPr sz="1500" i="0">
                <a:solidFill>
                  <a:srgbClr val="AEB6BF"/>
                </a:solidFill>
                <a:latin typeface="Consolas"/>
              </a:rPr>
              <a:t>(</a:t>
            </a:r>
            <a:r>
              <a:rPr sz="1500" i="0">
                <a:solidFill>
                  <a:srgbClr val="E8EDF2"/>
                </a:solidFill>
                <a:latin typeface="Consolas"/>
              </a:rPr>
              <a:t>ours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for</a:t>
            </a:r>
            <a:r>
              <a:rPr sz="1500" i="0">
                <a:solidFill>
                  <a:srgbClr val="E8EDF2"/>
                </a:solidFill>
                <a:latin typeface="Consolas"/>
              </a:rPr>
              <a:t> </a:t>
            </a:r>
            <a:r>
              <a:rPr sz="1500" i="0">
                <a:solidFill>
                  <a:srgbClr val="E8EDF2"/>
                </a:solidFill>
                <a:latin typeface="Consolas"/>
              </a:rPr>
              <a:t>course</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slots</a:t>
            </a:r>
            <a:r>
              <a:rPr sz="1500" i="0">
                <a:solidFill>
                  <a:srgbClr val="E8EDF2"/>
                </a:solidFill>
                <a:latin typeface="Consolas"/>
              </a:rPr>
              <a:t> </a:t>
            </a:r>
            <a:r>
              <a:rPr sz="1500" i="0">
                <a:solidFill>
                  <a:srgbClr val="AEB6BF"/>
                </a:solidFill>
                <a:latin typeface="Consolas"/>
              </a:rPr>
              <a:t>in</a:t>
            </a:r>
            <a:r>
              <a:rPr sz="1500" i="0">
                <a:solidFill>
                  <a:srgbClr val="E8EDF2"/>
                </a:solidFill>
                <a:latin typeface="Consolas"/>
              </a:rPr>
              <a:t> </a:t>
            </a:r>
            <a:r>
              <a:rPr sz="1500" i="0">
                <a:solidFill>
                  <a:srgbClr val="C39BD3"/>
                </a:solidFill>
                <a:latin typeface="Consolas"/>
              </a:rPr>
              <a:t>sorted</a:t>
            </a:r>
            <a:r>
              <a:rPr sz="1500" i="0">
                <a:solidFill>
                  <a:srgbClr val="AEB6BF"/>
                </a:solidFill>
                <a:latin typeface="Consolas"/>
              </a:rPr>
              <a:t>(</a:t>
            </a:r>
            <a:r>
              <a:rPr sz="1500" i="0">
                <a:solidFill>
                  <a:srgbClr val="E8EDF2"/>
                </a:solidFill>
                <a:latin typeface="Consolas"/>
              </a:rPr>
              <a:t>a</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by_course</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items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%-6s</a:t>
            </a:r>
            <a:r>
              <a:rPr sz="1500" i="0">
                <a:solidFill>
                  <a:srgbClr val="7DCEA0"/>
                </a:solidFill>
                <a:latin typeface="Consolas"/>
              </a:rPr>
              <a:t> </a:t>
            </a:r>
            <a:r>
              <a:rPr sz="1500" i="0">
                <a:solidFill>
                  <a:srgbClr val="7DCEA0"/>
                </a:solidFill>
                <a:latin typeface="Consolas"/>
              </a:rPr>
              <a:t>%d</a:t>
            </a:r>
            <a:r>
              <a:rPr sz="1500" i="0">
                <a:solidFill>
                  <a:srgbClr val="7DCEA0"/>
                </a:solidFill>
                <a:latin typeface="Consolas"/>
              </a:rPr>
              <a:t> session(s): </a:t>
            </a:r>
            <a:r>
              <a:rPr sz="1500" i="0">
                <a:solidFill>
                  <a:srgbClr val="7DCEA0"/>
                </a:solidFill>
                <a:latin typeface="Consolas"/>
              </a:rPr>
              <a:t>%s</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course</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slots</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 </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join</a:t>
            </a:r>
            <a:r>
              <a:rPr sz="1500" i="0">
                <a:solidFill>
                  <a:srgbClr val="AEB6BF"/>
                </a:solidFill>
                <a:latin typeface="Consolas"/>
              </a:rPr>
              <a:t>(</a:t>
            </a:r>
            <a:r>
              <a:rPr sz="1500" i="0">
                <a:solidFill>
                  <a:srgbClr val="E8EDF2"/>
                </a:solidFill>
                <a:latin typeface="Consolas"/>
              </a:rPr>
              <a:t>slots</a:t>
            </a:r>
            <a:r>
              <a:rPr sz="1500" i="0">
                <a:solidFill>
                  <a:srgbClr val="AEB6BF"/>
                </a:solidFill>
                <a:latin typeface="Consolas"/>
              </a:rPr>
              <a: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   unplaced: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unplaced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or</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none</a:t>
            </a:r>
            <a:r>
              <a:rPr sz="1500" i="0">
                <a:solidFill>
                  <a:srgbClr val="7DCEA0"/>
                </a:solidFill>
                <a:latin typeface="Consolas"/>
              </a:rPr>
              <a:t>"</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159</a:t>
            </a:r>
          </a:p>
          <a:p>
            <a:pPr algn="r">
              <a:lnSpc>
                <a:spcPct val="100000"/>
              </a:lnSpc>
            </a:pPr>
            <a:r>
              <a:rPr sz="1500">
                <a:solidFill>
                  <a:srgbClr val="4F5D6A"/>
                </a:solidFill>
                <a:latin typeface="Consolas"/>
              </a:rPr>
              <a:t>160</a:t>
            </a:r>
          </a:p>
          <a:p>
            <a:pPr algn="r">
              <a:lnSpc>
                <a:spcPct val="100000"/>
              </a:lnSpc>
            </a:pPr>
            <a:r>
              <a:rPr sz="1500">
                <a:solidFill>
                  <a:srgbClr val="4F5D6A"/>
                </a:solidFill>
                <a:latin typeface="Consolas"/>
              </a:rPr>
              <a:t>161</a:t>
            </a:r>
          </a:p>
          <a:p>
            <a:pPr algn="r">
              <a:lnSpc>
                <a:spcPct val="100000"/>
              </a:lnSpc>
            </a:pPr>
            <a:r>
              <a:rPr sz="1500">
                <a:solidFill>
                  <a:srgbClr val="4F5D6A"/>
                </a:solidFill>
                <a:latin typeface="Consolas"/>
              </a:rPr>
              <a:t>162</a:t>
            </a:r>
          </a:p>
          <a:p>
            <a:pPr algn="r">
              <a:lnSpc>
                <a:spcPct val="100000"/>
              </a:lnSpc>
            </a:pPr>
            <a:r>
              <a:rPr sz="1500">
                <a:solidFill>
                  <a:srgbClr val="4F5D6A"/>
                </a:solidFill>
                <a:latin typeface="Consolas"/>
              </a:rPr>
              <a:t>163</a:t>
            </a:r>
          </a:p>
          <a:p>
            <a:pPr algn="r">
              <a:lnSpc>
                <a:spcPct val="100000"/>
              </a:lnSpc>
            </a:pPr>
            <a:r>
              <a:rPr sz="1500">
                <a:solidFill>
                  <a:srgbClr val="4F5D6A"/>
                </a:solidFill>
                <a:latin typeface="Consolas"/>
              </a:rPr>
              <a:t>164</a:t>
            </a:r>
          </a:p>
          <a:p>
            <a:pPr algn="r">
              <a:lnSpc>
                <a:spcPct val="100000"/>
              </a:lnSpc>
            </a:pPr>
            <a:r>
              <a:rPr sz="1500">
                <a:solidFill>
                  <a:srgbClr val="4F5D6A"/>
                </a:solidFill>
                <a:latin typeface="Consolas"/>
              </a:rPr>
              <a:t>165</a:t>
            </a:r>
          </a:p>
          <a:p>
            <a:pPr algn="r">
              <a:lnSpc>
                <a:spcPct val="100000"/>
              </a:lnSpc>
            </a:pPr>
            <a:r>
              <a:rPr sz="1500">
                <a:solidFill>
                  <a:srgbClr val="4F5D6A"/>
                </a:solidFill>
                <a:latin typeface="Consolas"/>
              </a:rPr>
              <a:t>166</a:t>
            </a:r>
          </a:p>
          <a:p>
            <a:pPr algn="r">
              <a:lnSpc>
                <a:spcPct val="100000"/>
              </a:lnSpc>
            </a:pPr>
            <a:r>
              <a:rPr sz="1500">
                <a:solidFill>
                  <a:srgbClr val="4F5D6A"/>
                </a:solidFill>
                <a:latin typeface="Consolas"/>
              </a:rPr>
              <a:t>167</a:t>
            </a:r>
          </a:p>
          <a:p>
            <a:pPr algn="r">
              <a:lnSpc>
                <a:spcPct val="100000"/>
              </a:lnSpc>
            </a:pPr>
            <a:r>
              <a:rPr sz="1500">
                <a:solidFill>
                  <a:srgbClr val="4F5D6A"/>
                </a:solidFill>
                <a:latin typeface="Consolas"/>
              </a:rPr>
              <a:t>168</a:t>
            </a:r>
          </a:p>
          <a:p>
            <a:pPr algn="r">
              <a:lnSpc>
                <a:spcPct val="100000"/>
              </a:lnSpc>
            </a:pPr>
            <a:r>
              <a:rPr sz="1500">
                <a:solidFill>
                  <a:srgbClr val="4F5D6A"/>
                </a:solidFill>
                <a:latin typeface="Consolas"/>
              </a:rPr>
              <a:t>169</a:t>
            </a:r>
          </a:p>
          <a:p>
            <a:pPr algn="r">
              <a:lnSpc>
                <a:spcPct val="100000"/>
              </a:lnSpc>
            </a:pPr>
            <a:r>
              <a:rPr sz="1500">
                <a:solidFill>
                  <a:srgbClr val="4F5D6A"/>
                </a:solidFill>
                <a:latin typeface="Consolas"/>
              </a:rPr>
              <a:t>170</a:t>
            </a:r>
          </a:p>
          <a:p>
            <a:pPr algn="r">
              <a:lnSpc>
                <a:spcPct val="100000"/>
              </a:lnSpc>
            </a:pPr>
            <a:r>
              <a:rPr sz="1500">
                <a:solidFill>
                  <a:srgbClr val="4F5D6A"/>
                </a:solidFill>
                <a:latin typeface="Consolas"/>
              </a:rPr>
              <a:t>171</a:t>
            </a:r>
          </a:p>
          <a:p>
            <a:pPr algn="r">
              <a:lnSpc>
                <a:spcPct val="100000"/>
              </a:lnSpc>
            </a:pPr>
            <a:r>
              <a:rPr sz="1500">
                <a:solidFill>
                  <a:srgbClr val="4F5D6A"/>
                </a:solidFill>
                <a:latin typeface="Consolas"/>
              </a:rPr>
              <a:t>172</a:t>
            </a:r>
          </a:p>
          <a:p>
            <a:pPr algn="r">
              <a:lnSpc>
                <a:spcPct val="100000"/>
              </a:lnSpc>
            </a:pPr>
            <a:r>
              <a:rPr sz="1500">
                <a:solidFill>
                  <a:srgbClr val="4F5D6A"/>
                </a:solidFill>
                <a:latin typeface="Consolas"/>
              </a:rPr>
              <a:t>173</a:t>
            </a:r>
          </a:p>
          <a:p>
            <a:pPr algn="r">
              <a:lnSpc>
                <a:spcPct val="100000"/>
              </a:lnSpc>
            </a:pPr>
            <a:r>
              <a:rPr sz="1500">
                <a:solidFill>
                  <a:srgbClr val="4F5D6A"/>
                </a:solidFill>
                <a:latin typeface="Consolas"/>
              </a:rPr>
              <a:t>174</a:t>
            </a:r>
          </a:p>
          <a:p>
            <a:pPr algn="r">
              <a:lnSpc>
                <a:spcPct val="100000"/>
              </a:lnSpc>
            </a:pPr>
            <a:r>
              <a:rPr sz="1500">
                <a:solidFill>
                  <a:srgbClr val="4F5D6A"/>
                </a:solidFill>
                <a:latin typeface="Consolas"/>
              </a:rPr>
              <a:t>175</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80511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The Project Template</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18 OF 18</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BD64CDB0-2973-4EEB-9C94-35919B6ACF99}" type="slidenum">
              <a:rPr lang="en-GB" sz="1000">
                <a:solidFill>
                  <a:srgbClr val="8795A1"/>
                </a:solidFill>
                <a:latin typeface="Segoe UI"/>
              </a:rPr>
              <a:t>40</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4489704"/>
          </a:xfrm>
          <a:prstGeom prst="roundRect">
            <a:avLst>
              <a:gd name="adj" fmla="val 203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code/ch22_project_template.py</a:t>
            </a:r>
          </a:p>
        </p:txBody>
      </p:sp>
      <p:sp>
        <p:nvSpPr>
          <p:cNvPr id="13" name="!!code-text" descr="# reproducibility: the artefact the report cites out = {&quot;seed&quot;: SEED, &quot;peas&quot;: PEAS, &quot;failure_condition&quot;: FAILURE_CONDITION, &quot;baseline&quot;: mb, &quot;system&quot;: mo, &quot;audit&quot;: a, &quot;trace_length&quot;: len(trace)} os.makedirs(&quot;project_output&quot;, exist_ok=True) with open(os.path.join(&quot;project_output&quot;, &quot;metrics.json&quot;), &quot;w&quot;) as f: json.dump(out, f, indent=2, default=str) print() print(&quot;wrote project_output/metrics.json -- cite this in the&quot;) print(&quot;report, and commit it. A result nobody can reproduce is&quot;) print(&quot;not a result.&quot;) # the scaffold's own checks assert mo[&quot;placed&quot;] == len(SESSIONS), &quot;the system should place all&quot; assert os.path.exists(os.path.join(&quot;project_output&quot;, &quot;metrics.json&quot;))"/>
          <p:cNvSpPr txBox="1"/>
          <p:nvPr/>
        </p:nvSpPr>
        <p:spPr>
          <a:xfrm>
            <a:off x="1362456" y="2066543"/>
            <a:ext cx="9987991" cy="3995928"/>
          </a:xfrm>
          <a:prstGeom prst="rect">
            <a:avLst/>
          </a:prstGeom>
          <a:noFill/>
        </p:spPr>
        <p:txBody>
          <a:bodyPr wrap="none" anchor="t" lIns="0" rIns="0" tIns="0" bIns="0">
            <a:noAutofit/>
          </a:bodyPr>
          <a:lstStyle/>
          <a:p>
            <a:pPr>
              <a:lnSpc>
                <a:spcPct val="100000"/>
              </a:lnSpc>
              <a:spcAft>
                <a:spcPts val="0"/>
              </a:spcAft>
            </a:pPr>
            <a:r>
              <a:rPr sz="1500" i="0">
                <a:solidFill>
                  <a:srgbClr val="E8EDF2"/>
                </a:solidFill>
                <a:latin typeface="Consolas"/>
              </a:rPr>
              <a:t>    </a:t>
            </a:r>
            <a:r>
              <a:rPr sz="1500" i="1">
                <a:solidFill>
                  <a:srgbClr val="8795A1"/>
                </a:solidFill>
                <a:latin typeface="Consolas"/>
              </a:rPr>
              <a:t># reproducibility: the artefact the report cites</a:t>
            </a:r>
          </a:p>
          <a:p>
            <a:pPr>
              <a:lnSpc>
                <a:spcPct val="100000"/>
              </a:lnSpc>
              <a:spcAft>
                <a:spcPts val="0"/>
              </a:spcAft>
            </a:pPr>
            <a:r>
              <a:rPr sz="1500" i="0">
                <a:solidFill>
                  <a:srgbClr val="E8EDF2"/>
                </a:solidFill>
                <a:latin typeface="Consolas"/>
              </a:rPr>
              <a:t>    </a:t>
            </a:r>
            <a:r>
              <a:rPr sz="1500" i="0">
                <a:solidFill>
                  <a:srgbClr val="E8EDF2"/>
                </a:solidFill>
                <a:latin typeface="Consolas"/>
              </a:rPr>
              <a:t>out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seed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SEED</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peas</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PEAS</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failure_condition</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FAILURE_CONDITION</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baseline</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mb</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system</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mo</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audit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a</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trace_length</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trace</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os</a:t>
            </a:r>
            <a:r>
              <a:rPr sz="1500" i="0">
                <a:solidFill>
                  <a:srgbClr val="AEB6BF"/>
                </a:solidFill>
                <a:latin typeface="Consolas"/>
              </a:rPr>
              <a:t>.</a:t>
            </a:r>
            <a:r>
              <a:rPr sz="1500" i="0">
                <a:solidFill>
                  <a:srgbClr val="E8EDF2"/>
                </a:solidFill>
                <a:latin typeface="Consolas"/>
              </a:rPr>
              <a:t>makedirs</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project_output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exist_ok</a:t>
            </a:r>
            <a:r>
              <a:rPr sz="1500" i="0">
                <a:solidFill>
                  <a:srgbClr val="AEB6BF"/>
                </a:solidFill>
                <a:latin typeface="Consolas"/>
              </a:rPr>
              <a:t>=</a:t>
            </a:r>
            <a:r>
              <a:rPr sz="1500" i="0">
                <a:solidFill>
                  <a:srgbClr val="5DADE2"/>
                </a:solidFill>
                <a:latin typeface="Consolas"/>
              </a:rPr>
              <a:t>True</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with</a:t>
            </a:r>
            <a:r>
              <a:rPr sz="1500" i="0">
                <a:solidFill>
                  <a:srgbClr val="E8EDF2"/>
                </a:solidFill>
                <a:latin typeface="Consolas"/>
              </a:rPr>
              <a:t> </a:t>
            </a:r>
            <a:r>
              <a:rPr sz="1500" i="0">
                <a:solidFill>
                  <a:srgbClr val="C39BD3"/>
                </a:solidFill>
                <a:latin typeface="Consolas"/>
              </a:rPr>
              <a:t>open</a:t>
            </a:r>
            <a:r>
              <a:rPr sz="1500" i="0">
                <a:solidFill>
                  <a:srgbClr val="AEB6BF"/>
                </a:solidFill>
                <a:latin typeface="Consolas"/>
              </a:rPr>
              <a:t>(</a:t>
            </a:r>
            <a:r>
              <a:rPr sz="1500" i="0">
                <a:solidFill>
                  <a:srgbClr val="E8EDF2"/>
                </a:solidFill>
                <a:latin typeface="Consolas"/>
              </a:rPr>
              <a:t>os</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join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project_output</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metrics.json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w</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5DADE2"/>
                </a:solidFill>
                <a:latin typeface="Consolas"/>
              </a:rPr>
              <a:t>as</a:t>
            </a:r>
            <a:r>
              <a:rPr sz="1500" i="0">
                <a:solidFill>
                  <a:srgbClr val="E8EDF2"/>
                </a:solidFill>
                <a:latin typeface="Consolas"/>
              </a:rPr>
              <a:t> </a:t>
            </a:r>
            <a:r>
              <a:rPr sz="1500" i="0">
                <a:solidFill>
                  <a:srgbClr val="E8EDF2"/>
                </a:solidFill>
                <a:latin typeface="Consolas"/>
              </a:rPr>
              <a:t>f</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E8EDF2"/>
                </a:solidFill>
                <a:latin typeface="Consolas"/>
              </a:rPr>
              <a:t>json</a:t>
            </a:r>
            <a:r>
              <a:rPr sz="1500" i="0">
                <a:solidFill>
                  <a:srgbClr val="AEB6BF"/>
                </a:solidFill>
                <a:latin typeface="Consolas"/>
              </a:rPr>
              <a:t>.</a:t>
            </a:r>
            <a:r>
              <a:rPr sz="1500" i="0">
                <a:solidFill>
                  <a:srgbClr val="E8EDF2"/>
                </a:solidFill>
                <a:latin typeface="Consolas"/>
              </a:rPr>
              <a:t>dump</a:t>
            </a:r>
            <a:r>
              <a:rPr sz="1500" i="0">
                <a:solidFill>
                  <a:srgbClr val="AEB6BF"/>
                </a:solidFill>
                <a:latin typeface="Consolas"/>
              </a:rPr>
              <a:t>(</a:t>
            </a:r>
            <a:r>
              <a:rPr sz="1500" i="0">
                <a:solidFill>
                  <a:srgbClr val="E8EDF2"/>
                </a:solidFill>
                <a:latin typeface="Consolas"/>
              </a:rPr>
              <a:t>out</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f</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indent</a:t>
            </a:r>
            <a:r>
              <a:rPr sz="1500" i="0">
                <a:solidFill>
                  <a:srgbClr val="AEB6BF"/>
                </a:solidFill>
                <a:latin typeface="Consolas"/>
              </a:rPr>
              <a:t>=</a:t>
            </a:r>
            <a:r>
              <a:rPr sz="1500" i="0">
                <a:solidFill>
                  <a:srgbClr val="F7DC6F"/>
                </a:solidFill>
                <a:latin typeface="Consolas"/>
              </a:rPr>
              <a:t>2</a:t>
            </a:r>
            <a:r>
              <a:rPr sz="1500" i="0">
                <a:solidFill>
                  <a:srgbClr val="AEB6BF"/>
                </a:solidFill>
                <a:latin typeface="Consolas"/>
              </a:rPr>
              <a:t>,</a:t>
            </a:r>
            <a:r>
              <a:rPr sz="1500" i="0">
                <a:solidFill>
                  <a:srgbClr val="E8EDF2"/>
                </a:solidFill>
                <a:latin typeface="Consolas"/>
              </a:rPr>
              <a:t> </a:t>
            </a:r>
            <a:r>
              <a:rPr sz="1500" i="0">
                <a:solidFill>
                  <a:srgbClr val="E8EDF2"/>
                </a:solidFill>
                <a:latin typeface="Consolas"/>
              </a:rPr>
              <a:t>default</a:t>
            </a:r>
            <a:r>
              <a:rPr sz="1500" i="0">
                <a:solidFill>
                  <a:srgbClr val="AEB6BF"/>
                </a:solidFill>
                <a:latin typeface="Consolas"/>
              </a:rPr>
              <a:t>=</a:t>
            </a:r>
            <a:r>
              <a:rPr sz="1500" i="0">
                <a:solidFill>
                  <a:srgbClr val="C39BD3"/>
                </a:solidFill>
                <a:latin typeface="Consolas"/>
              </a:rPr>
              <a:t>str</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wrote project_output/metrics.json -- cite this in the</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report, and commit it. A result nobody can reproduce is</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C39BD3"/>
                </a:solidFill>
                <a:latin typeface="Consolas"/>
              </a:rPr>
              <a:t>print</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not a result.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a:latin typeface="Consolas"/>
              </a:rPr>
              <a:t> </a:t>
            </a:r>
          </a:p>
          <a:p>
            <a:pPr>
              <a:lnSpc>
                <a:spcPct val="100000"/>
              </a:lnSpc>
              <a:spcAft>
                <a:spcPts val="0"/>
              </a:spcAft>
            </a:pPr>
            <a:r>
              <a:rPr sz="1500" i="0">
                <a:solidFill>
                  <a:srgbClr val="E8EDF2"/>
                </a:solidFill>
                <a:latin typeface="Consolas"/>
              </a:rPr>
              <a:t>    </a:t>
            </a:r>
            <a:r>
              <a:rPr sz="1500" i="1">
                <a:solidFill>
                  <a:srgbClr val="8795A1"/>
                </a:solidFill>
                <a:latin typeface="Consolas"/>
              </a:rPr>
              <a:t># the scaffold's own checks</a:t>
            </a:r>
          </a:p>
          <a:p>
            <a:pPr>
              <a:lnSpc>
                <a:spcPct val="100000"/>
              </a:lnSpc>
              <a:spcAft>
                <a:spcPts val="0"/>
              </a:spcAft>
            </a:pPr>
            <a:r>
              <a:rPr sz="1500" i="0">
                <a:solidFill>
                  <a:srgbClr val="E8EDF2"/>
                </a:solidFill>
                <a:latin typeface="Consolas"/>
              </a:rPr>
              <a:t>    </a:t>
            </a:r>
            <a:r>
              <a:rPr sz="1500" i="0">
                <a:solidFill>
                  <a:srgbClr val="5DADE2"/>
                </a:solidFill>
                <a:latin typeface="Consolas"/>
              </a:rPr>
              <a:t>assert</a:t>
            </a:r>
            <a:r>
              <a:rPr sz="1500" i="0">
                <a:solidFill>
                  <a:srgbClr val="E8EDF2"/>
                </a:solidFill>
                <a:latin typeface="Consolas"/>
              </a:rPr>
              <a:t> </a:t>
            </a:r>
            <a:r>
              <a:rPr sz="1500" i="0">
                <a:solidFill>
                  <a:srgbClr val="E8EDF2"/>
                </a:solidFill>
                <a:latin typeface="Consolas"/>
              </a:rPr>
              <a:t>mo</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placed</a:t>
            </a:r>
            <a:r>
              <a:rPr sz="1500" i="0">
                <a:solidFill>
                  <a:srgbClr val="7DCEA0"/>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AEB6BF"/>
                </a:solidFill>
                <a:latin typeface="Consolas"/>
              </a:rPr>
              <a:t>==</a:t>
            </a:r>
            <a:r>
              <a:rPr sz="1500" i="0">
                <a:solidFill>
                  <a:srgbClr val="E8EDF2"/>
                </a:solidFill>
                <a:latin typeface="Consolas"/>
              </a:rPr>
              <a:t> </a:t>
            </a:r>
            <a:r>
              <a:rPr sz="1500" i="0">
                <a:solidFill>
                  <a:srgbClr val="C39BD3"/>
                </a:solidFill>
                <a:latin typeface="Consolas"/>
              </a:rPr>
              <a:t>len</a:t>
            </a:r>
            <a:r>
              <a:rPr sz="1500" i="0">
                <a:solidFill>
                  <a:srgbClr val="AEB6BF"/>
                </a:solidFill>
                <a:latin typeface="Consolas"/>
              </a:rPr>
              <a:t>(</a:t>
            </a:r>
            <a:r>
              <a:rPr sz="1500" i="0">
                <a:solidFill>
                  <a:srgbClr val="E8EDF2"/>
                </a:solidFill>
                <a:latin typeface="Consolas"/>
              </a:rPr>
              <a:t>SESSIONS</a:t>
            </a:r>
            <a:r>
              <a:rPr sz="1500" i="0">
                <a:solidFill>
                  <a:srgbClr val="AEB6BF"/>
                </a:solidFill>
                <a:latin typeface="Consolas"/>
              </a:rPr>
              <a:t>)</a:t>
            </a:r>
            <a:r>
              <a:rPr sz="1500" i="0">
                <a:solidFill>
                  <a:srgbClr val="AEB6BF"/>
                </a:solidFill>
                <a:latin typeface="Consolas"/>
              </a:rPr>
              <a:t>,</a:t>
            </a: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the system should place all</a:t>
            </a:r>
            <a:r>
              <a:rPr sz="1500" i="0">
                <a:solidFill>
                  <a:srgbClr val="7DCEA0"/>
                </a:solidFill>
                <a:latin typeface="Consolas"/>
              </a:rPr>
              <a:t>"</a:t>
            </a:r>
          </a:p>
          <a:p>
            <a:pPr>
              <a:lnSpc>
                <a:spcPct val="100000"/>
              </a:lnSpc>
              <a:spcAft>
                <a:spcPts val="0"/>
              </a:spcAft>
            </a:pPr>
            <a:r>
              <a:rPr sz="1500" i="0">
                <a:solidFill>
                  <a:srgbClr val="E8EDF2"/>
                </a:solidFill>
                <a:latin typeface="Consolas"/>
              </a:rPr>
              <a:t>    </a:t>
            </a:r>
            <a:r>
              <a:rPr sz="1500" i="0">
                <a:solidFill>
                  <a:srgbClr val="5DADE2"/>
                </a:solidFill>
                <a:latin typeface="Consolas"/>
              </a:rPr>
              <a:t>assert</a:t>
            </a:r>
            <a:r>
              <a:rPr sz="1500" i="0">
                <a:solidFill>
                  <a:srgbClr val="E8EDF2"/>
                </a:solidFill>
                <a:latin typeface="Consolas"/>
              </a:rPr>
              <a:t> </a:t>
            </a:r>
            <a:r>
              <a:rPr sz="1500" i="0">
                <a:solidFill>
                  <a:srgbClr val="E8EDF2"/>
                </a:solidFill>
                <a:latin typeface="Consolas"/>
              </a:rPr>
              <a:t>os</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exists</a:t>
            </a:r>
            <a:r>
              <a:rPr sz="1500" i="0">
                <a:solidFill>
                  <a:srgbClr val="AEB6BF"/>
                </a:solidFill>
                <a:latin typeface="Consolas"/>
              </a:rPr>
              <a:t>(</a:t>
            </a:r>
            <a:r>
              <a:rPr sz="1500" i="0">
                <a:solidFill>
                  <a:srgbClr val="E8EDF2"/>
                </a:solidFill>
                <a:latin typeface="Consolas"/>
              </a:rPr>
              <a:t>os</a:t>
            </a:r>
            <a:r>
              <a:rPr sz="1500" i="0">
                <a:solidFill>
                  <a:srgbClr val="AEB6BF"/>
                </a:solidFill>
                <a:latin typeface="Consolas"/>
              </a:rPr>
              <a:t>.</a:t>
            </a:r>
            <a:r>
              <a:rPr sz="1500" i="0">
                <a:solidFill>
                  <a:srgbClr val="E8EDF2"/>
                </a:solidFill>
                <a:latin typeface="Consolas"/>
              </a:rPr>
              <a:t>path</a:t>
            </a:r>
            <a:r>
              <a:rPr sz="1500" i="0">
                <a:solidFill>
                  <a:srgbClr val="AEB6BF"/>
                </a:solidFill>
                <a:latin typeface="Consolas"/>
              </a:rPr>
              <a:t>.</a:t>
            </a:r>
            <a:r>
              <a:rPr sz="1500" i="0">
                <a:solidFill>
                  <a:srgbClr val="E8EDF2"/>
                </a:solidFill>
                <a:latin typeface="Consolas"/>
              </a:rPr>
              <a:t>join</a:t>
            </a:r>
            <a:r>
              <a:rPr sz="1500" i="0">
                <a:solidFill>
                  <a:srgbClr val="AEB6BF"/>
                </a:solidFill>
                <a:latin typeface="Consolas"/>
              </a:rPr>
              <a:t>(</a:t>
            </a:r>
            <a:r>
              <a:rPr sz="1500" i="0">
                <a:solidFill>
                  <a:srgbClr val="7DCEA0"/>
                </a:solidFill>
                <a:latin typeface="Consolas"/>
              </a:rPr>
              <a:t>"</a:t>
            </a:r>
            <a:r>
              <a:rPr sz="1500" i="0">
                <a:solidFill>
                  <a:srgbClr val="7DCEA0"/>
                </a:solidFill>
                <a:latin typeface="Consolas"/>
              </a:rPr>
              <a:t>project_output</a:t>
            </a:r>
            <a:r>
              <a:rPr sz="1500" i="0">
                <a:solidFill>
                  <a:srgbClr val="7DCEA0"/>
                </a:solidFill>
                <a:latin typeface="Consolas"/>
              </a:rPr>
              <a:t>"</a:t>
            </a:r>
            <a:r>
              <a:rPr sz="1500" i="0">
                <a:solidFill>
                  <a:srgbClr val="AEB6BF"/>
                </a:solidFill>
                <a:latin typeface="Consolas"/>
              </a:rPr>
              <a:t>,</a:t>
            </a:r>
          </a:p>
          <a:p>
            <a:pPr>
              <a:lnSpc>
                <a:spcPct val="100000"/>
              </a:lnSpc>
              <a:spcAft>
                <a:spcPts val="0"/>
              </a:spcAft>
            </a:pPr>
            <a:r>
              <a:rPr sz="1500" i="0">
                <a:solidFill>
                  <a:srgbClr val="E8EDF2"/>
                </a:solidFill>
                <a:latin typeface="Consolas"/>
              </a:rPr>
              <a:t>                                       </a:t>
            </a:r>
            <a:r>
              <a:rPr sz="1500" i="0">
                <a:solidFill>
                  <a:srgbClr val="7DCEA0"/>
                </a:solidFill>
                <a:latin typeface="Consolas"/>
              </a:rPr>
              <a:t>"</a:t>
            </a:r>
            <a:r>
              <a:rPr sz="1500" i="0">
                <a:solidFill>
                  <a:srgbClr val="7DCEA0"/>
                </a:solidFill>
                <a:latin typeface="Consolas"/>
              </a:rPr>
              <a:t>metrics.json</a:t>
            </a:r>
            <a:r>
              <a:rPr sz="1500" i="0">
                <a:solidFill>
                  <a:srgbClr val="7DCEA0"/>
                </a:solidFill>
                <a:latin typeface="Consolas"/>
              </a:rPr>
              <a:t>"</a:t>
            </a:r>
            <a:r>
              <a:rPr sz="1500" i="0">
                <a:solidFill>
                  <a:srgbClr val="AEB6BF"/>
                </a:solidFill>
                <a:latin typeface="Consolas"/>
              </a:rPr>
              <a:t>)</a:t>
            </a:r>
            <a:r>
              <a:rPr sz="1500" i="0">
                <a:solidFill>
                  <a:srgbClr val="AEB6BF"/>
                </a:solidFill>
                <a:latin typeface="Consolas"/>
              </a:rPr>
              <a:t>)</a:t>
            </a:r>
          </a:p>
        </p:txBody>
      </p:sp>
      <p:sp>
        <p:nvSpPr>
          <p:cNvPr id="14" name="!!code-num"/>
          <p:cNvSpPr txBox="1"/>
          <p:nvPr/>
        </p:nvSpPr>
        <p:spPr>
          <a:xfrm>
            <a:off x="768096" y="2066543"/>
            <a:ext cx="393192" cy="3995928"/>
          </a:xfrm>
          <a:prstGeom prst="rect">
            <a:avLst/>
          </a:prstGeom>
          <a:noFill/>
        </p:spPr>
        <p:txBody>
          <a:bodyPr wrap="none" anchor="t" lIns="0" rIns="0" tIns="0" bIns="0">
            <a:noAutofit/>
          </a:bodyPr>
          <a:lstStyle/>
          <a:p>
            <a:pPr algn="r">
              <a:lnSpc>
                <a:spcPct val="100000"/>
              </a:lnSpc>
            </a:pPr>
            <a:r>
              <a:rPr sz="1500">
                <a:solidFill>
                  <a:srgbClr val="4F5D6A"/>
                </a:solidFill>
                <a:latin typeface="Consolas"/>
              </a:rPr>
              <a:t>177</a:t>
            </a:r>
          </a:p>
          <a:p>
            <a:pPr algn="r">
              <a:lnSpc>
                <a:spcPct val="100000"/>
              </a:lnSpc>
            </a:pPr>
            <a:r>
              <a:rPr sz="1500">
                <a:solidFill>
                  <a:srgbClr val="4F5D6A"/>
                </a:solidFill>
                <a:latin typeface="Consolas"/>
              </a:rPr>
              <a:t>178</a:t>
            </a:r>
          </a:p>
          <a:p>
            <a:pPr algn="r">
              <a:lnSpc>
                <a:spcPct val="100000"/>
              </a:lnSpc>
            </a:pPr>
            <a:r>
              <a:rPr sz="1500">
                <a:solidFill>
                  <a:srgbClr val="4F5D6A"/>
                </a:solidFill>
                <a:latin typeface="Consolas"/>
              </a:rPr>
              <a:t>179</a:t>
            </a:r>
          </a:p>
          <a:p>
            <a:pPr algn="r">
              <a:lnSpc>
                <a:spcPct val="100000"/>
              </a:lnSpc>
            </a:pPr>
            <a:r>
              <a:rPr sz="1500">
                <a:solidFill>
                  <a:srgbClr val="4F5D6A"/>
                </a:solidFill>
                <a:latin typeface="Consolas"/>
              </a:rPr>
              <a:t>180</a:t>
            </a:r>
          </a:p>
          <a:p>
            <a:pPr algn="r">
              <a:lnSpc>
                <a:spcPct val="100000"/>
              </a:lnSpc>
            </a:pPr>
            <a:r>
              <a:rPr sz="1500">
                <a:solidFill>
                  <a:srgbClr val="4F5D6A"/>
                </a:solidFill>
                <a:latin typeface="Consolas"/>
              </a:rPr>
              <a:t>181</a:t>
            </a:r>
          </a:p>
          <a:p>
            <a:pPr algn="r">
              <a:lnSpc>
                <a:spcPct val="100000"/>
              </a:lnSpc>
            </a:pPr>
            <a:r>
              <a:rPr sz="1500">
                <a:solidFill>
                  <a:srgbClr val="4F5D6A"/>
                </a:solidFill>
                <a:latin typeface="Consolas"/>
              </a:rPr>
              <a:t>182</a:t>
            </a:r>
          </a:p>
          <a:p>
            <a:pPr algn="r">
              <a:lnSpc>
                <a:spcPct val="100000"/>
              </a:lnSpc>
            </a:pPr>
            <a:r>
              <a:rPr sz="1500">
                <a:solidFill>
                  <a:srgbClr val="4F5D6A"/>
                </a:solidFill>
                <a:latin typeface="Consolas"/>
              </a:rPr>
              <a:t>183</a:t>
            </a:r>
          </a:p>
          <a:p>
            <a:pPr algn="r">
              <a:lnSpc>
                <a:spcPct val="100000"/>
              </a:lnSpc>
            </a:pPr>
            <a:r>
              <a:rPr sz="1500">
                <a:solidFill>
                  <a:srgbClr val="4F5D6A"/>
                </a:solidFill>
                <a:latin typeface="Consolas"/>
              </a:rPr>
              <a:t>184</a:t>
            </a:r>
          </a:p>
          <a:p>
            <a:pPr algn="r">
              <a:lnSpc>
                <a:spcPct val="100000"/>
              </a:lnSpc>
            </a:pPr>
            <a:r>
              <a:rPr sz="1500">
                <a:solidFill>
                  <a:srgbClr val="4F5D6A"/>
                </a:solidFill>
                <a:latin typeface="Consolas"/>
              </a:rPr>
              <a:t>185</a:t>
            </a:r>
          </a:p>
          <a:p>
            <a:pPr algn="r">
              <a:lnSpc>
                <a:spcPct val="100000"/>
              </a:lnSpc>
            </a:pPr>
            <a:r>
              <a:rPr sz="1500">
                <a:solidFill>
                  <a:srgbClr val="4F5D6A"/>
                </a:solidFill>
                <a:latin typeface="Consolas"/>
              </a:rPr>
              <a:t>186</a:t>
            </a:r>
          </a:p>
          <a:p>
            <a:pPr algn="r">
              <a:lnSpc>
                <a:spcPct val="100000"/>
              </a:lnSpc>
            </a:pPr>
            <a:r>
              <a:rPr sz="1500">
                <a:solidFill>
                  <a:srgbClr val="4F5D6A"/>
                </a:solidFill>
                <a:latin typeface="Consolas"/>
              </a:rPr>
              <a:t>187</a:t>
            </a:r>
          </a:p>
          <a:p>
            <a:pPr algn="r">
              <a:lnSpc>
                <a:spcPct val="100000"/>
              </a:lnSpc>
            </a:pPr>
            <a:r>
              <a:rPr sz="1500">
                <a:solidFill>
                  <a:srgbClr val="4F5D6A"/>
                </a:solidFill>
                <a:latin typeface="Consolas"/>
              </a:rPr>
              <a:t>188</a:t>
            </a:r>
          </a:p>
          <a:p>
            <a:pPr algn="r">
              <a:lnSpc>
                <a:spcPct val="100000"/>
              </a:lnSpc>
            </a:pPr>
            <a:r>
              <a:rPr sz="1500">
                <a:solidFill>
                  <a:srgbClr val="4F5D6A"/>
                </a:solidFill>
                <a:latin typeface="Consolas"/>
              </a:rPr>
              <a:t>189</a:t>
            </a:r>
          </a:p>
          <a:p>
            <a:pPr algn="r">
              <a:lnSpc>
                <a:spcPct val="100000"/>
              </a:lnSpc>
            </a:pPr>
            <a:r>
              <a:rPr sz="1500">
                <a:solidFill>
                  <a:srgbClr val="4F5D6A"/>
                </a:solidFill>
                <a:latin typeface="Consolas"/>
              </a:rPr>
              <a:t>190</a:t>
            </a:r>
          </a:p>
          <a:p>
            <a:pPr algn="r">
              <a:lnSpc>
                <a:spcPct val="100000"/>
              </a:lnSpc>
            </a:pPr>
            <a:r>
              <a:rPr sz="1500">
                <a:solidFill>
                  <a:srgbClr val="4F5D6A"/>
                </a:solidFill>
                <a:latin typeface="Consolas"/>
              </a:rPr>
              <a:t>191</a:t>
            </a:r>
          </a:p>
          <a:p>
            <a:pPr algn="r">
              <a:lnSpc>
                <a:spcPct val="100000"/>
              </a:lnSpc>
            </a:pPr>
            <a:r>
              <a:rPr sz="1500">
                <a:solidFill>
                  <a:srgbClr val="4F5D6A"/>
                </a:solidFill>
                <a:latin typeface="Consolas"/>
              </a:rPr>
              <a:t>192</a:t>
            </a:r>
          </a:p>
          <a:p>
            <a:pPr algn="r">
              <a:lnSpc>
                <a:spcPct val="100000"/>
              </a:lnSpc>
            </a:pPr>
            <a:r>
              <a:rPr sz="1500">
                <a:solidFill>
                  <a:srgbClr val="4F5D6A"/>
                </a:solidFill>
                <a:latin typeface="Consolas"/>
              </a:rPr>
              <a:t>193</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903088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§22.6  ·  Handout p. 231     </a:t>
            </a:r>
            <a:fld id="{2B471A69-3987-4578-81AD-9301E95A8113}" type="slidenum">
              <a:rPr lang="en-GB" sz="1000">
                <a:solidFill>
                  <a:srgbClr val="8795A1"/>
                </a:solidFill>
                <a:latin typeface="Segoe UI"/>
              </a:rPr>
              <a:t>41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8773"/>
          </a:xfrm>
          <a:prstGeom prst="roundRect">
            <a:avLst>
              <a:gd name="adj" fmla="val 2472"/>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87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139342"/>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Run it before writing any of your own code. If the scaffold works, you have a baseline, a measure, a trace, an audit and a reproducible artefact on day one — and everything after that is the interesting part.</a:t>
            </a:r>
          </a:p>
        </p:txBody>
      </p:sp>
      <p:sp>
        <p:nvSpPr>
          <p:cNvPr id="10" name="body-1"/>
          <p:cNvSpPr txBox="1"/>
          <p:nvPr/>
        </p:nvSpPr>
        <p:spPr>
          <a:xfrm>
            <a:off x="1060704" y="3302533"/>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Notice what the template prints as it stands: </a:t>
            </a:r>
            <a:r>
              <a:rPr sz="2300" b="0" i="1">
                <a:solidFill>
                  <a:srgbClr val="1C252B"/>
                </a:solidFill>
                <a:latin typeface="Segoe UI"/>
              </a:rPr>
              <a:t>the system did NOT beat the baseline on the measure fixed in advance</a:t>
            </a:r>
            <a:r>
              <a:rPr sz="2300" b="0" i="0">
                <a:solidFill>
                  <a:srgbClr val="1C252B"/>
                </a:solidFill>
                <a:latin typeface="Segoe UI"/>
              </a:rPr>
              <a:t>. That is correct — on four sessions the greedy baseline is already optimal — and it is the behaviour to keep. A scaffold that congratulated itself before anybody had written a method would be training you in exactly the habit this chapter is trying to prevent.</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92566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 student proposes “an AI system that predicts which tickets will breach their service level agreement”. Apply the three tests of this chapter and say what you would advise.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22  ·  The Artificial Intelligence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237  ·  answers in Appendix D     </a:t>
            </a:r>
            <a:fld id="{F122A9F3-E1AB-41D5-8FD5-754255CFD848}" type="slidenum">
              <a:rPr lang="en-GB" sz="1000">
                <a:solidFill>
                  <a:srgbClr val="D5DEE5"/>
                </a:solidFill>
                <a:latin typeface="Segoe UI"/>
              </a:rPr>
              <a:t>42</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1099108"/>
          </a:xfrm>
        </p:spPr>
        <p:txBody>
          <a:bodyPr wrap="square" lIns="0" rIns="0" tIns="0" bIns="0" anchor="t">
            <a:noAutofit/>
          </a:bodyPr>
          <a:lstStyle/>
          <a:p>
            <a:pPr algn="l">
              <a:lnSpc>
                <a:spcPct val="96000"/>
              </a:lnSpc>
            </a:pPr>
            <a:r>
              <a:rPr sz="2400" b="0" i="0">
                <a:solidFill>
                  <a:srgbClr val="1A5276"/>
                </a:solidFill>
                <a:latin typeface="Segoe UI Semibold"/>
              </a:rPr>
              <a:t>A student proposes “an AI system that predicts which tickets will breach their service level agreement”. Apply the three tests of this chapter and say what you would advise.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2114092"/>
            <a:ext cx="64008" cy="278952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2114092"/>
            <a:ext cx="1050919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fails the second test: the rules do not exist and would have to be learned from historical tickets, which makes it a </a:t>
            </a:r>
            <a:r>
              <a:rPr sz="2200" b="0" i="1">
                <a:solidFill>
                  <a:srgbClr val="1C252B"/>
                </a:solidFill>
                <a:latin typeface="Segoe UI"/>
              </a:rPr>
              <a:t>Machine Learning</a:t>
            </a:r>
            <a:r>
              <a:rPr sz="2200" b="0" i="0">
                <a:solidFill>
                  <a:srgbClr val="1C252B"/>
                </a:solidFill>
                <a:latin typeface="Segoe UI"/>
              </a:rPr>
              <a:t> project rather than one this course has the machinery for. The advice is to keep the domain and change the question to one whose rules can be written down — for example </a:t>
            </a:r>
            <a:r>
              <a:rPr sz="2200" b="0" i="1">
                <a:solidFill>
                  <a:srgbClr val="1C252B"/>
                </a:solidFill>
                <a:latin typeface="Segoe UI"/>
              </a:rPr>
              <a:t>decide which open tickets to escalate tonight given a stated escalation policy</a:t>
            </a:r>
            <a:r>
              <a:rPr sz="2200" b="0" i="0">
                <a:solidFill>
                  <a:srgbClr val="1C252B"/>
                </a:solidFill>
                <a:latin typeface="Segoe UI"/>
              </a:rPr>
              <a:t> (Chapter 13), or </a:t>
            </a:r>
            <a:r>
              <a:rPr sz="2200" b="0" i="1">
                <a:solidFill>
                  <a:srgbClr val="1C252B"/>
                </a:solidFill>
                <a:latin typeface="Segoe UI"/>
              </a:rPr>
              <a:t>schedule this sprint’s stories without violating capacity or precedence</a:t>
            </a:r>
            <a:r>
              <a:rPr sz="2200" b="0" i="0">
                <a:solidFill>
                  <a:srgbClr val="1C252B"/>
                </a:solidFill>
                <a:latin typeface="Segoe UI"/>
              </a:rPr>
              <a:t> (Chapter 7). Both are one sentence, both have rules an operations lead can state in an afternoon, and both have an embarrassing baseline.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  answers in Appendix D     </a:t>
            </a:r>
            <a:fld id="{03EF7949-B16C-485C-8DDF-2F87F8FDE09A}" type="slidenum">
              <a:rPr lang="en-GB" sz="1000">
                <a:solidFill>
                  <a:srgbClr val="8795A1"/>
                </a:solidFill>
                <a:latin typeface="Segoe UI"/>
              </a:rPr>
              <a:t>43</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0820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must the measure and the failure condition be written down before the system is built? Give the failure mode that results from not doing so.</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22  ·  The Artificial Intelligence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237  ·  answers in Appendix D     </a:t>
            </a:r>
            <a:fld id="{37E4311E-9A72-462A-99EC-419EA774A240}" type="slidenum">
              <a:rPr lang="en-GB" sz="1000">
                <a:solidFill>
                  <a:srgbClr val="D5DEE5"/>
                </a:solidFill>
                <a:latin typeface="Segoe UI"/>
              </a:rPr>
              <a:t>44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must the measure and the failure condition be written down before the system is built? Give the failure mode that results from not doing so.</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4408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 measure chosen after the results are in will be chosen — honestly and without anyone noticing — to be one the system does well on. The failure mode is a report that demonstrates rather than evaluates: it shows the system succeeding at whatever it happens to be good at, and provides no evidence about the question that was originally asked. Writing the measure and the failure condition down in advance is the only practical defence, and changing them later is acceptable provided the change and its reason are reported.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  answers in Appendix D     </a:t>
            </a:r>
            <a:fld id="{7EA43E56-8A4D-4311-BBD3-4E062C3F84DB}" type="slidenum">
              <a:rPr lang="en-GB" sz="1000">
                <a:solidFill>
                  <a:srgbClr val="8795A1"/>
                </a:solidFill>
                <a:latin typeface="Segoe UI"/>
              </a:rPr>
              <a:t>45</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15974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system beats the baseline by a small margin. Name three things the report must contain before that claim means anything.</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22  ·  The Artificial Intelligence Project</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237  ·  answers in Appendix D     </a:t>
            </a:r>
            <a:fld id="{7561420A-2D70-4E33-B0F0-8ABDAE5C96B4}" type="slidenum">
              <a:rPr lang="en-GB" sz="1000">
                <a:solidFill>
                  <a:srgbClr val="D5DEE5"/>
                </a:solidFill>
                <a:latin typeface="Segoe UI"/>
              </a:rPr>
              <a:t>46</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system beats the baseline by a small margin. Name three things the report must contain before that claim means anything.</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2092147"/>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2137867"/>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baseline it was compared against, the measure it was compared on with evidence that the measure was fixed in advance, and the size of the margin relative to the variability — a small margin on one instance with a seeded run is not a result. Ideally also the ablation showing which component of the system produced the margin, since without it the claim is about the whole program rather than about the method being taught.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  answers in Appendix D     </a:t>
            </a:r>
            <a:fld id="{6E88A96A-C95C-4100-8539-45E32979C17E}" type="slidenum">
              <a:rPr lang="en-GB" sz="1000">
                <a:solidFill>
                  <a:srgbClr val="8795A1"/>
                </a:solidFill>
                <a:latin typeface="Segoe UI"/>
              </a:rPr>
              <a:t>47</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1129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8BDF4748-56B2-4DC7-997C-AC59352D4E7F}" type="slidenum">
              <a:rPr lang="en-GB" sz="1000">
                <a:solidFill>
                  <a:srgbClr val="8795A1"/>
                </a:solidFill>
                <a:latin typeface="Segoe UI"/>
              </a:rPr>
              <a:t>48</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Choose a problem whose goal is one sentence, whose rules already exist, and which has a baseline you would be embarrassed to lose to. If the rules must be learned from data, it is a </a:t>
            </a:r>
            <a:r>
              <a:rPr sz="1700" b="0" i="1">
                <a:solidFill>
                  <a:srgbClr val="1C252B"/>
                </a:solidFill>
                <a:latin typeface="Segoe UI"/>
              </a:rPr>
              <a:t>Machine Learning</a:t>
            </a:r>
            <a:r>
              <a:rPr sz="1700" b="0" i="0">
                <a:solidFill>
                  <a:srgbClr val="1C252B"/>
                </a:solidFill>
                <a:latin typeface="Segoe UI"/>
              </a:rPr>
              <a:t> project.</a:t>
            </a:r>
          </a:p>
        </p:txBody>
      </p:sp>
      <p:sp>
        <p:nvSpPr>
          <p:cNvPr id="10" name="!!sb1">
            <a:extLst>
              <a:ext uri="{C183D7F6-B498-43B3-948B-1728B52AA6E4}">
                <adec:decorative xmlns:adec="http://schemas.microsoft.com/office/drawing/2017/decorative" val="1"/>
              </a:ext>
            </a:extLst>
          </p:cNvPr>
          <p:cNvSpPr/>
          <p:nvPr/>
        </p:nvSpPr>
        <p:spPr>
          <a:xfrm>
            <a:off x="658368" y="2468270"/>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523134"/>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459126"/>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proposal is five headings, and the fifth — </a:t>
            </a:r>
            <a:r>
              <a:rPr sz="1700" b="0" i="1">
                <a:solidFill>
                  <a:srgbClr val="1C252B"/>
                </a:solidFill>
                <a:latin typeface="Segoe UI"/>
              </a:rPr>
              <a:t>what would count as failure</a:t>
            </a:r>
            <a:r>
              <a:rPr sz="1700" b="0" i="0">
                <a:solidFill>
                  <a:srgbClr val="1C252B"/>
                </a:solidFill>
                <a:latin typeface="Segoe UI"/>
              </a:rPr>
              <a:t> — is what turns an evaluation into evidence.</a:t>
            </a:r>
          </a:p>
        </p:txBody>
      </p:sp>
      <p:sp>
        <p:nvSpPr>
          <p:cNvPr id="13" name="!!sb2">
            <a:extLst>
              <a:ext uri="{C183D7F6-B498-43B3-948B-1728B52AA6E4}">
                <adec:decorative xmlns:adec="http://schemas.microsoft.com/office/drawing/2017/decorative" val="1"/>
              </a:ext>
            </a:extLst>
          </p:cNvPr>
          <p:cNvSpPr/>
          <p:nvPr/>
        </p:nvSpPr>
        <p:spPr>
          <a:xfrm>
            <a:off x="658368" y="31900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449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808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Build the baseline first, seed everything, keep the domain in data, log a trace, and measure at the size you will demonstrate at.</a:t>
            </a:r>
          </a:p>
        </p:txBody>
      </p:sp>
      <p:sp>
        <p:nvSpPr>
          <p:cNvPr id="16" name="!!sb3">
            <a:extLst>
              <a:ext uri="{C183D7F6-B498-43B3-948B-1728B52AA6E4}">
                <adec:decorative xmlns:adec="http://schemas.microsoft.com/office/drawing/2017/decorative" val="1"/>
              </a:ext>
            </a:extLst>
          </p:cNvPr>
          <p:cNvSpPr/>
          <p:nvPr/>
        </p:nvSpPr>
        <p:spPr>
          <a:xfrm>
            <a:off x="658368" y="391180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396666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02659"/>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The report has seven sections. </a:t>
            </a:r>
            <a:r>
              <a:rPr sz="1700" b="0" i="1">
                <a:solidFill>
                  <a:srgbClr val="1C252B"/>
                </a:solidFill>
                <a:latin typeface="Segoe UI"/>
              </a:rPr>
              <a:t>What did not work</a:t>
            </a:r>
            <a:r>
              <a:rPr sz="1700" b="0" i="0">
                <a:solidFill>
                  <a:srgbClr val="1C252B"/>
                </a:solidFill>
                <a:latin typeface="Segoe UI"/>
              </a:rPr>
              <a:t>, the </a:t>
            </a:r>
            <a:r>
              <a:rPr sz="1700" b="0" i="1">
                <a:solidFill>
                  <a:srgbClr val="1C252B"/>
                </a:solidFill>
                <a:latin typeface="Segoe UI"/>
              </a:rPr>
              <a:t>audit</a:t>
            </a:r>
            <a:r>
              <a:rPr sz="1700" b="0" i="0">
                <a:solidFill>
                  <a:srgbClr val="1C252B"/>
                </a:solidFill>
                <a:latin typeface="Segoe UI"/>
              </a:rPr>
              <a:t> and the </a:t>
            </a:r>
            <a:r>
              <a:rPr sz="1700" b="0" i="1">
                <a:solidFill>
                  <a:srgbClr val="1C252B"/>
                </a:solidFill>
                <a:latin typeface="Segoe UI"/>
              </a:rPr>
              <a:t>limits</a:t>
            </a:r>
            <a:r>
              <a:rPr sz="1700" b="0" i="0">
                <a:solidFill>
                  <a:srgbClr val="1C252B"/>
                </a:solidFill>
                <a:latin typeface="Segoe UI"/>
              </a:rPr>
              <a:t> are what separate a project from a demonstration.</a:t>
            </a:r>
          </a:p>
        </p:txBody>
      </p:sp>
      <p:sp>
        <p:nvSpPr>
          <p:cNvPr id="19" name="!!sb4">
            <a:extLst>
              <a:ext uri="{C183D7F6-B498-43B3-948B-1728B52AA6E4}">
                <adec:decorative xmlns:adec="http://schemas.microsoft.com/office/drawing/2017/decorative" val="1"/>
              </a:ext>
            </a:extLst>
          </p:cNvPr>
          <p:cNvSpPr/>
          <p:nvPr/>
        </p:nvSpPr>
        <p:spPr>
          <a:xfrm>
            <a:off x="658368" y="4633569"/>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688433"/>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624425"/>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Decide the measure before building. Chosen afterwards, it will be one the system does well on, and honestly so.</a:t>
            </a:r>
          </a:p>
        </p:txBody>
      </p:sp>
      <p:sp>
        <p:nvSpPr>
          <p:cNvPr id="22" name="!!sb5">
            <a:extLst>
              <a:ext uri="{C183D7F6-B498-43B3-948B-1728B52AA6E4}">
                <adec:decorative xmlns:adec="http://schemas.microsoft.com/office/drawing/2017/decorative" val="1"/>
              </a:ext>
            </a:extLst>
          </p:cNvPr>
          <p:cNvSpPr/>
          <p:nvPr/>
        </p:nvSpPr>
        <p:spPr>
          <a:xfrm>
            <a:off x="658368" y="535533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1020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46192"/>
            <a:ext cx="10234879" cy="538886"/>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1C252B"/>
                </a:solidFill>
                <a:latin typeface="Segoe UI"/>
              </a:rPr>
              <a:t>Prepare for one question at the demonstration: </a:t>
            </a:r>
            <a:r>
              <a:rPr sz="1700" b="0" i="1">
                <a:solidFill>
                  <a:srgbClr val="1C252B"/>
                </a:solidFill>
                <a:latin typeface="Segoe UI"/>
              </a:rPr>
              <a:t>how do you know it is right?</a:t>
            </a:r>
            <a:r>
              <a:rPr sz="1700" b="0" i="0">
                <a:solidFill>
                  <a:srgbClr val="1C252B"/>
                </a:solidFill>
                <a:latin typeface="Segoe UI"/>
              </a:rPr>
              <a:t> The good answer names the baseline, the measure, the margin and where the system stops working.</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382DE3BE-0A5F-4375-87FA-466794AF9EA8}" type="slidenum">
              <a:rPr lang="en-GB" sz="1000">
                <a:solidFill>
                  <a:srgbClr val="8795A1"/>
                </a:solidFill>
                <a:latin typeface="Segoe UI"/>
              </a:rPr>
              <a:t>49</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first thing to build in a project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main algorithm</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baseline</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user interface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report</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06283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69058A23-4463-4918-8838-67FC4B063ABF}" type="slidenum">
              <a:rPr lang="en-GB" sz="1000">
                <a:solidFill>
                  <a:srgbClr val="8795A1"/>
                </a:solidFill>
                <a:latin typeface="Segoe UI"/>
              </a:rPr>
              <a:t>50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performance measure should describe:</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how much the program does</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state of the environment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running time</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the number of rules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8860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16720785-E898-4978-B686-8B47BAAE3E4F}" type="slidenum">
              <a:rPr lang="en-GB" sz="1000">
                <a:solidFill>
                  <a:srgbClr val="8795A1"/>
                </a:solidFill>
                <a:latin typeface="Segoe UI"/>
              </a:rPr>
              <a:t>51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“What would count as failure” is written:</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 the report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in the proposal, before building</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after evaluation</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only if the project fails</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1437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4 of 4</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398F11B0-1FD1-4D27-8A5A-64930548B08B}" type="slidenum">
              <a:rPr lang="en-GB" sz="1000">
                <a:solidFill>
                  <a:srgbClr val="8795A1"/>
                </a:solidFill>
                <a:latin typeface="Segoe UI"/>
              </a:rPr>
              <a:t>52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A project whose rules must be learned from examples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ideal for this course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Machine Learning project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constraint problem</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impossible</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74015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Artificial Intelligence  ·  Chapter 22  ·  The Artificial Intelligence Project</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237     </a:t>
            </a:r>
            <a:fld id="{40091384-9477-4C84-B2E2-0DD6684761D3}" type="slidenum">
              <a:rPr lang="en-GB" sz="1000">
                <a:solidFill>
                  <a:srgbClr val="8795A1"/>
                </a:solidFill>
                <a:latin typeface="Segoe UI"/>
              </a:rPr>
              <a:t>53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a one-sentence problem statement for a project of your own, and name the chapter whose method you would use and the baseline you would beat.</a:t>
            </a:r>
          </a:p>
        </p:txBody>
      </p:sp>
      <p:sp>
        <p:nvSpPr>
          <p:cNvPr id="10" name="!!rt1">
            <a:extLst>
              <a:ext uri="{C183D7F6-B498-43B3-948B-1728B52AA6E4}">
                <adec:decorative xmlns:adec="http://schemas.microsoft.com/office/drawing/2017/decorative" val="1"/>
              </a:ext>
            </a:extLst>
          </p:cNvPr>
          <p:cNvSpPr/>
          <p:nvPr/>
        </p:nvSpPr>
        <p:spPr>
          <a:xfrm>
            <a:off x="658368" y="257738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618536"/>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559100"/>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keeping the domain in data rather than in the algorithm is assessed, referring to Chapter 1’s checklist.</a:t>
            </a:r>
          </a:p>
        </p:txBody>
      </p:sp>
      <p:sp>
        <p:nvSpPr>
          <p:cNvPr id="13" name="!!rt2">
            <a:extLst>
              <a:ext uri="{C183D7F6-B498-43B3-948B-1728B52AA6E4}">
                <adec:decorative xmlns:adec="http://schemas.microsoft.com/office/drawing/2017/decorative" val="1"/>
              </a:ext>
            </a:extLst>
          </p:cNvPr>
          <p:cNvSpPr/>
          <p:nvPr/>
        </p:nvSpPr>
        <p:spPr>
          <a:xfrm>
            <a:off x="658368" y="3399129"/>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3440277"/>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3380841"/>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Your evaluation shows the baseline winning. Describe how to report that so it is a good report rather than a failed project.</a:t>
            </a:r>
          </a:p>
        </p:txBody>
      </p:sp>
      <p:sp>
        <p:nvSpPr>
          <p:cNvPr id="16" name="!!rt3">
            <a:extLst>
              <a:ext uri="{C183D7F6-B498-43B3-948B-1728B52AA6E4}">
                <adec:decorative xmlns:adec="http://schemas.microsoft.com/office/drawing/2017/decorative" val="1"/>
              </a:ext>
            </a:extLst>
          </p:cNvPr>
          <p:cNvSpPr/>
          <p:nvPr/>
        </p:nvSpPr>
        <p:spPr>
          <a:xfrm>
            <a:off x="658368" y="4220870"/>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4262018"/>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4202582"/>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Write the full five-heading proposal for one of the problems in Table 22.1, including the PEAS specification, the alternative method you reject with a reason, the baseline, and a failure condition stated in numbers.</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1196592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22</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the course</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THE COURSE</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22 chapters  ·  six parts  ·  one project</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22, pages 228–237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Unification and a resolution proof</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Project set, proposal due; 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Artificial Intelligence  ·  Chapter 22  ·  The Artificial Intelligence Project</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51F94B49-319E-40EE-93DF-332C9E168C39}" type="slidenum">
              <a:rPr lang="en-GB" sz="1000">
                <a:solidFill>
                  <a:srgbClr val="D5DEE5"/>
                </a:solidFill>
                <a:latin typeface="Segoe UI"/>
              </a:rPr>
              <a:t>54</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Artificial Intelligence Fall 2026">
  <a:themeElements>
    <a:clrScheme name="Artificial Intellig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Artificial Intellig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22: The Artificial Intelligence Project</dc:title>
  <dc:subject>Artificial Intelligence — Search, Knowledge and Reasoning · BSIT · Fall 2026</dc:subject>
  <dc:creator>Dr. Mustafa Hameed</dc:creator>
  <cp:keywords>artificial intelligence;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