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29.svg" ContentType="image/svg+xml"/>
  <Override PartName="/ppt/media/image30.svg" ContentType="image/svg+xml"/>
  <Override PartName="/ppt/media/image32.svg" ContentType="image/svg+xml"/>
  <Override PartName="/ppt/media/image33.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5.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03C5F93-F526-4DE9-B76E-CA8E396B9143}">
          <p14:sldIdLst>
            <p14:sldId id="256"/>
            <p14:sldId id="257"/>
            <p14:sldId id="258"/>
            <p14:sldId id="259"/>
            <p14:sldId id="260"/>
          </p14:sldIdLst>
        </p14:section>
        <p14:section name="9.1 From a Task List to Operators" id="{1D0236D5-B708-458B-AA86-DD241F939930}">
          <p14:sldIdLst>
            <p14:sldId id="261"/>
            <p14:sldId id="262"/>
            <p14:sldId id="263"/>
            <p14:sldId id="264"/>
          </p14:sldIdLst>
        </p14:section>
        <p14:section name="9.2 Planning as Progression Search" id="{B3A6C07A-AA6D-4F76-8C3E-E703D4DCCCBB}">
          <p14:sldIdLst>
            <p14:sldId id="265"/>
            <p14:sldId id="266"/>
            <p14:sldId id="267"/>
          </p14:sldIdLst>
        </p14:section>
        <p14:section name="9.3 Means–Ends Analysis and the General Problem Solver" id="{1CF18322-B6A1-4C2D-A5AB-E9F45D3595FB}">
          <p14:sldIdLst>
            <p14:sldId id="268"/>
            <p14:sldId id="269"/>
            <p14:sldId id="270"/>
          </p14:sldIdLst>
        </p14:section>
        <p14:section name="9.4 Goal Clobbering" id="{D59C5C7E-DA72-4422-B3E6-C02FE7C0F4E6}">
          <p14:sldIdLst>
            <p14:sldId id="271"/>
          </p14:sldIdLst>
        </p14:section>
        <p14:section name="9.5 What the Representation Buys" id="{18DC6D64-B961-437C-B863-96FA8DD870B2}">
          <p14:sldIdLst>
            <p14:sldId id="272"/>
            <p14:sldId id="273"/>
            <p14:sldId id="274"/>
          </p14:sldIdLst>
        </p14:section>
        <p14:section name="Pitfalls" id="{C775DFB3-EE4A-488B-B411-E88C31D70FA0}">
          <p14:sldIdLst>
            <p14:sldId id="275"/>
            <p14:sldId id="276"/>
          </p14:sldIdLst>
        </p14:section>
        <p14:section name="Lab" id="{3EC1E690-8CAE-465A-A0A9-200D85364024}">
          <p14:sldIdLst>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Lst>
        </p14:section>
        <p14:section name="Checkpoint" id="{F785B5B8-CC9E-4984-9BEE-E0B32265726A}">
          <p14:sldIdLst>
            <p14:sldId id="296"/>
            <p14:sldId id="297"/>
            <p14:sldId id="298"/>
            <p14:sldId id="299"/>
            <p14:sldId id="300"/>
            <p14:sldId id="301"/>
          </p14:sldIdLst>
        </p14:section>
        <p14:section name="Wrap-up" id="{C3C5F27E-4D87-41E0-9B1B-4A6219AA2BCE}">
          <p14:sldIdLst>
            <p14:sldId id="302"/>
            <p14:sldId id="303"/>
            <p14:sldId id="304"/>
            <p14:sldId id="305"/>
            <p14:sldId id="306"/>
            <p14:sldId id="307"/>
            <p14:sldId id="308"/>
            <p14:sldId id="30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Planning. Part 3 — Constraints, Games and Plans. Week 8: Planning: STRIPS and means–ends analysis. Handout pages 88–100.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4 and Chapter 5 (the frontier, breadth-first search and A∗ — this chapter reuses them without modification) and Chapter 3 (states as sets). Chapter 7 is useful background: like a CSP, a planning problem exposes structure that a general search cannot see.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planning; STRIPS; operator; precondition; add list; delete list; ground operator; progression search; regression; means–ends analysis; difference; General Problem Solver; goal clobbering; goal ordering; partial-order planning; frame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planned a release by searching over sets of finished tasks. The successor function was a Python function: opaque, and the only thing the search could do with it was call it. Now a harder version of the same problem. Two components must each be coded, reviewed, tested and deployed. Testing requires the staging environment, and there is only one — so testing one component takes staging away from the other until it is released. That last clause is what makes this a planning problem rather than a search problem. An action no longer just adds things to the world; it can take things away, and an action taken to achieve one goal can destroy the conditions another goal depended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9.1 (handout p. 89): One STRIPS operator. Applying it removes the delete list and then adds the add list; everything else in the state is untouched.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progression (or forward) search: start at the initial state and move towards the goal. Running Chapter 4’s breadth-first search over it finds a nine-step plan after expanding 37 of the 41 reachable states: code A → review A → test A → deploy A → code B review B → release staging → test B → deploy B Note step seven. Nothing in the goal mentions staging; release staging is there purely to undo the interference that test A caused. That step is the signature of a planning problem, and no ordering of Chapter 4’s tasks could have produced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1961 General Problem Solver of Newell and Simon did not search the state space at all. It worked on differences.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difference in cost is large. On this domain, means–ends analysis considers 187 operators at four components where progression search expands 1,163 states — and the gap widens with size, because it never enumerates states at all.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Means–ends analysis takes the goals in some order, and that order matters. Achieving one goal can destroy a condition that a later goal needs — goal clobbering — and a means–ends planner has no machinery for noticing in advance. Figure 9.2 is the smallest example, and it is two operators long.</a:t>
            </a:r>
          </a:p>
          <a:p/>
          <a:p>
            <a:r>
              <a:t>Figure 9.2 (handout p. 91): Goal clobbering, in two operators. Means–ends analysis is complete only if it happens to take the goals in a workable order.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historical response was partial-order planning: build a set of steps with ordering constraints only where needed, detect when one step threatens a condition another step established, and resolve the threat by adding an ordering constraint. This course names that idea and does not develop it; it is the natural next reading in Russell and Norvig, Chapter 10. Progression search over STRIPS operators expands the same states a general search would. So what was gained by describing actions instead of writing a successor function? The planner can read the actions. A successor function can only be called. An operator can be inspected — which is what lets means–ends analysis ask “which action adds deployed B?” and what lets a heuristic be derived automatically by, for example, ignoring every delete list. Domain and planner separate. The operator table is data. A delivery lead can add a deployment gate without touching the search, which is the same argument Chapter 7 made for constraints and Chapter 13 will make for rules. It is the third test of Chapter 1’s checklist, and it is most of what distinguishes an AI system from a program that happens to solve the problem. Plans are explainable. Every step names an operator with stated preconditions, so the answer to “why is release staging in my plan?” is mechanical: because test B requires staging free, and test A deleted it.</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STRIPS operators, progression search reusing Chapter 4’s frontier, means–ends analysis, and the clobbering example. Reproduces Table 9.1.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Progression search: Chapter 4's frontier, unchanged.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Progression search: Chapter 4's frontier, unchanged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Progression search: Chapter 4's frontier, unchanged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Means-ends analysis: the General Problem Solver.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Means-ends analysis: the General Problem Solver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10: Means-ends analysis: the General Problem Solver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11: Means-ends analysis: the General Problem Solver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12: Means-ends analysis: the General Problem Solver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13: Means-ends analysis: the General Problem Solver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14: Means-ends analysis: the General Problem Solver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15: Means-ends analysis: the General Problem Solver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16: Goal clobbering, in two operators.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17: Goal clobbering, in two operators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test A has staging free in its delete list, so testing the first component takes the staging environment away. But test B has staging free in its preconditions, so the second component cannot be tested until something restores it, and release staging is the only operator that does. It is there purely to undo interference caused by an earlier step. Removing staging free from test’s delete list makes it disappear: actions can then no longer interfere, and the problem collapses into the topological sort of Chapter 4.</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A∗ saves work only by refusing to expand nodes with f(n) ≥ C∗, and in this domain almost every reachable state lies on some optimal plan — nearly every action is necessary and their order is largely free — so f is close to C∗ nearly everywhere and there is almost nothing to rule out. The same heuristic would pay well on a planning problem with many dead ends or wasted actions: irreversible mistakes, resources that can be spent on the wrong thing, or a much larger operator set of which only a few are relevant. Heuristics pay in proportion to how much of the state space is wasted effort.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Completeness. Breadth-first progression search will find a plan whenever one exists; means–ends analysis takes the goals in some order and can destroy, while achieving an early goal, a condition a later goal needs. The two-operator example of Figure 9.2 is solvable, and means–ends analysis reports failure on it when the goals are taken in one of the two possible orders. (Breadth-first search also guarantees a shortest plan; means–ends analysis found optimal plans here but is not obliged to.)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10 — Knowledge Representation. READ: Handout Chapter 9, pages 88–100. THIS WEEK'S LAB: A release plan from operators. ASSESSMENT: Midterm (Ch 1–8).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3.xml"/><Relationship Id="rId8" Type="http://schemas.openxmlformats.org/officeDocument/2006/relationships/slide" Target="slide16.xml"/><Relationship Id="rId9"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2.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9.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3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3.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6.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7.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8.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9.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0.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1.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2.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3.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4.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5.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7.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5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5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5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53.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8.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9.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60.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61.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4.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7.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8.sv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9.sv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70.sv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09</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Planning</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CONSTRAINTS, GAMES AND PLANS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9  ·  WEEK 8</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Artificial Intelligence — Search, Knowledge and Reasoning</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88     </a:t>
            </a:r>
            <a:fld id="{3EB16119-4CD4-4A49-9A21-8B0CEEEDD83D}" type="slidenum">
              <a:rPr lang="en-GB" sz="1000">
                <a:solidFill>
                  <a:srgbClr val="8795A1"/>
                </a:solidFill>
                <a:latin typeface="Segoe UI"/>
              </a:rPr>
              <a:t>2</a:t>
            </a:fld>
          </a:p>
        </p:txBody>
      </p:sp>
      <p:sp>
        <p:nvSpPr>
          <p:cNvPr id="7" name="!!rp1"/>
          <p:cNvSpPr txBox="1"/>
          <p:nvPr/>
        </p:nvSpPr>
        <p:spPr>
          <a:xfrm>
            <a:off x="7772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801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801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3783039" y="1755648"/>
            <a:ext cx="132916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3783039" y="2029967"/>
            <a:ext cx="1329163"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596834"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596834"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509260"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509260"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012160"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012160"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32031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288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823210"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7317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23273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1412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51407"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651407"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9</a:t>
            </a:r>
          </a:p>
        </p:txBody>
      </p:sp>
      <p:sp>
        <p:nvSpPr>
          <p:cNvPr id="37" name="!!dot10">
            <a:extLst>
              <a:ext uri="{C183D7F6-B498-43B3-948B-1728B52AA6E4}">
                <adec:decorative xmlns:adec="http://schemas.microsoft.com/office/drawing/2017/decorative" val="1"/>
              </a:ext>
            </a:extLst>
          </p:cNvPr>
          <p:cNvSpPr/>
          <p:nvPr/>
        </p:nvSpPr>
        <p:spPr>
          <a:xfrm>
            <a:off x="563700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5455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6046532"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9550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4560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3646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86558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7741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54943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74579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958958"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8675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36848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2770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9052331"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9608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46185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3704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87138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7799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280910"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101894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2008791"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Planning</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Representations and Search in Python</a:t>
            </a:r>
          </a:p>
        </p:txBody>
      </p:sp>
      <p:sp>
        <p:nvSpPr>
          <p:cNvPr id="68" name="!!chipBU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Problem Formulation and Uninformed Search</a:t>
            </a:r>
          </a:p>
        </p:txBody>
      </p:sp>
      <p:sp>
        <p:nvSpPr>
          <p:cNvPr id="71" name="!!chipBU5">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5">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5"/>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Informed Search and Heuristics</a:t>
            </a:r>
          </a:p>
        </p:txBody>
      </p:sp>
      <p:sp>
        <p:nvSpPr>
          <p:cNvPr id="74" name="!!chipBU7">
            <a:extLst>
              <a:ext uri="{C183D7F6-B498-43B3-948B-1728B52AA6E4}">
                <adec:decorative xmlns:adec="http://schemas.microsoft.com/office/drawing/2017/decorative" val="1"/>
              </a:ext>
            </a:extLst>
          </p:cNvPr>
          <p:cNvSpPr/>
          <p:nvPr/>
        </p:nvSpPr>
        <p:spPr>
          <a:xfrm>
            <a:off x="658368" y="5321808"/>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BU7">
            <a:extLst>
              <a:ext uri="{C183D7F6-B498-43B3-948B-1728B52AA6E4}">
                <adec:decorative xmlns:adec="http://schemas.microsoft.com/office/drawing/2017/decorative" val="1"/>
              </a:ext>
            </a:extLst>
          </p:cNvPr>
          <p:cNvSpPr/>
          <p:nvPr/>
        </p:nvSpPr>
        <p:spPr>
          <a:xfrm>
            <a:off x="658368" y="5321808"/>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BU7"/>
          <p:cNvSpPr txBox="1"/>
          <p:nvPr/>
        </p:nvSpPr>
        <p:spPr>
          <a:xfrm>
            <a:off x="859536"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7  </a:t>
            </a:r>
            <a:r>
              <a:rPr sz="1400" b="0" i="0">
                <a:solidFill>
                  <a:srgbClr val="1C252B"/>
                </a:solidFill>
                <a:latin typeface="Segoe UI"/>
              </a:rPr>
              <a:t>Constraint Satisfaction</a:t>
            </a:r>
          </a:p>
        </p:txBody>
      </p:sp>
      <p:sp>
        <p:nvSpPr>
          <p:cNvPr id="77"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8" name="!!chipUS19">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19">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19"/>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19  </a:t>
            </a:r>
            <a:r>
              <a:rPr sz="1400" b="0" i="0">
                <a:solidFill>
                  <a:srgbClr val="1C252B"/>
                </a:solidFill>
                <a:latin typeface="Segoe UI"/>
              </a:rPr>
              <a:t>Classic AI Systems and How to Analyse Them</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45154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88     </a:t>
            </a:r>
            <a:fld id="{2467195F-3A56-4D4D-B64A-653BEFA415DF}"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Represent</a:t>
            </a:r>
            <a:r>
              <a:rPr sz="2100" b="0" i="0">
                <a:solidFill>
                  <a:srgbClr val="1C252B"/>
                </a:solidFill>
                <a:latin typeface="Segoe UI"/>
              </a:rPr>
              <a:t> actions as STRIPS operators with preconditions, an add list and a delete list, and </a:t>
            </a:r>
            <a:r>
              <a:rPr sz="2100" b="1" i="0">
                <a:solidFill>
                  <a:srgbClr val="1C252B"/>
                </a:solidFill>
                <a:latin typeface="Segoe UI"/>
              </a:rPr>
              <a:t>explain</a:t>
            </a:r>
            <a:r>
              <a:rPr sz="2100" b="0" i="0">
                <a:solidFill>
                  <a:srgbClr val="1C252B"/>
                </a:solidFill>
                <a:latin typeface="Segoe UI"/>
              </a:rPr>
              <a:t> what the delete list is for.</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Solve</a:t>
            </a:r>
            <a:r>
              <a:rPr sz="2100" b="0" i="0">
                <a:solidFill>
                  <a:srgbClr val="1C252B"/>
                </a:solidFill>
                <a:latin typeface="Segoe UI"/>
              </a:rPr>
              <a:t> a planning problem by progression search, reusing the frontier of Chapter 4 unchanged.</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Apply</a:t>
            </a:r>
            <a:r>
              <a:rPr sz="2100" b="0" i="0">
                <a:solidFill>
                  <a:srgbClr val="1C252B"/>
                </a:solidFill>
                <a:latin typeface="Segoe UI"/>
              </a:rPr>
              <a:t> means–ends analysis, and </a:t>
            </a:r>
            <a:r>
              <a:rPr sz="2100" b="1" i="0">
                <a:solidFill>
                  <a:srgbClr val="1C252B"/>
                </a:solidFill>
                <a:latin typeface="Segoe UI"/>
              </a:rPr>
              <a:t>relate</a:t>
            </a:r>
            <a:r>
              <a:rPr sz="2100" b="0" i="0">
                <a:solidFill>
                  <a:srgbClr val="1C252B"/>
                </a:solidFill>
                <a:latin typeface="Segoe UI"/>
              </a:rPr>
              <a:t> it to the General Problem Solver that HEC names as a required case study.</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Identify</a:t>
            </a:r>
            <a:r>
              <a:rPr sz="2100" b="0" i="0">
                <a:solidFill>
                  <a:srgbClr val="1C252B"/>
                </a:solidFill>
                <a:latin typeface="Segoe UI"/>
              </a:rPr>
              <a:t> goal clobbering, and </a:t>
            </a:r>
            <a:r>
              <a:rPr sz="2100" b="1" i="0">
                <a:solidFill>
                  <a:srgbClr val="1C252B"/>
                </a:solidFill>
                <a:latin typeface="Segoe UI"/>
              </a:rPr>
              <a:t>explain</a:t>
            </a:r>
            <a:r>
              <a:rPr sz="2100" b="0" i="0">
                <a:solidFill>
                  <a:srgbClr val="1C252B"/>
                </a:solidFill>
                <a:latin typeface="Segoe UI"/>
              </a:rPr>
              <a:t> why it makes means–ends analysis sensitive to the order in which goals are taken.</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Say</a:t>
            </a:r>
            <a:r>
              <a:rPr sz="2100" b="0" i="0">
                <a:solidFill>
                  <a:srgbClr val="1C252B"/>
                </a:solidFill>
                <a:latin typeface="Segoe UI"/>
              </a:rPr>
              <a:t> what the operator representation buys that an opaque successor function does not.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7731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88     </a:t>
            </a:r>
            <a:fld id="{B063EAE8-0F8F-402B-B9C0-389A1D2BD63E}" type="slidenum">
              <a:rPr lang="en-GB" sz="1000">
                <a:solidFill>
                  <a:srgbClr val="8795A1"/>
                </a:solidFill>
                <a:latin typeface="Segoe UI"/>
              </a:rPr>
              <a:t>4</a:t>
            </a:fld>
          </a:p>
        </p:txBody>
      </p:sp>
      <p:sp>
        <p:nvSpPr>
          <p:cNvPr id="7" name="!!term-planning">
            <a:extLst>
              <a:ext uri="{C183D7F6-B498-43B3-948B-1728B52AA6E4}">
                <adec:decorative xmlns:adec="http://schemas.microsoft.com/office/drawing/2017/decorative" val="1"/>
              </a:ext>
            </a:extLst>
          </p:cNvPr>
          <p:cNvSpPr/>
          <p:nvPr/>
        </p:nvSpPr>
        <p:spPr>
          <a:xfrm>
            <a:off x="658368" y="1847088"/>
            <a:ext cx="12406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planning">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planning"/>
          <p:cNvSpPr txBox="1"/>
          <p:nvPr/>
        </p:nvSpPr>
        <p:spPr>
          <a:xfrm>
            <a:off x="950976" y="1962911"/>
            <a:ext cx="105772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planning</a:t>
            </a:r>
          </a:p>
        </p:txBody>
      </p:sp>
      <p:sp>
        <p:nvSpPr>
          <p:cNvPr id="10" name="!!term-STRIPS">
            <a:extLst>
              <a:ext uri="{C183D7F6-B498-43B3-948B-1728B52AA6E4}">
                <adec:decorative xmlns:adec="http://schemas.microsoft.com/office/drawing/2017/decorative" val="1"/>
              </a:ext>
            </a:extLst>
          </p:cNvPr>
          <p:cNvSpPr/>
          <p:nvPr/>
        </p:nvSpPr>
        <p:spPr>
          <a:xfrm>
            <a:off x="2045281" y="1847088"/>
            <a:ext cx="10627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STRIPS">
            <a:extLst>
              <a:ext uri="{C183D7F6-B498-43B3-948B-1728B52AA6E4}">
                <adec:decorative xmlns:adec="http://schemas.microsoft.com/office/drawing/2017/decorative" val="1"/>
              </a:ext>
            </a:extLst>
          </p:cNvPr>
          <p:cNvSpPr/>
          <p:nvPr/>
        </p:nvSpPr>
        <p:spPr>
          <a:xfrm>
            <a:off x="217329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STRIPS"/>
          <p:cNvSpPr txBox="1"/>
          <p:nvPr/>
        </p:nvSpPr>
        <p:spPr>
          <a:xfrm>
            <a:off x="2337889" y="1962911"/>
            <a:ext cx="87989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STRIPS</a:t>
            </a:r>
          </a:p>
        </p:txBody>
      </p:sp>
      <p:sp>
        <p:nvSpPr>
          <p:cNvPr id="13" name="!!term-operator">
            <a:extLst>
              <a:ext uri="{C183D7F6-B498-43B3-948B-1728B52AA6E4}">
                <adec:decorative xmlns:adec="http://schemas.microsoft.com/office/drawing/2017/decorative" val="1"/>
              </a:ext>
            </a:extLst>
          </p:cNvPr>
          <p:cNvSpPr/>
          <p:nvPr/>
        </p:nvSpPr>
        <p:spPr>
          <a:xfrm>
            <a:off x="3254361" y="1847088"/>
            <a:ext cx="123208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operator">
            <a:extLst>
              <a:ext uri="{C183D7F6-B498-43B3-948B-1728B52AA6E4}">
                <adec:decorative xmlns:adec="http://schemas.microsoft.com/office/drawing/2017/decorative" val="1"/>
              </a:ext>
            </a:extLst>
          </p:cNvPr>
          <p:cNvSpPr/>
          <p:nvPr/>
        </p:nvSpPr>
        <p:spPr>
          <a:xfrm>
            <a:off x="338237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operator"/>
          <p:cNvSpPr txBox="1"/>
          <p:nvPr/>
        </p:nvSpPr>
        <p:spPr>
          <a:xfrm>
            <a:off x="3546969" y="1962911"/>
            <a:ext cx="104920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operator</a:t>
            </a:r>
          </a:p>
        </p:txBody>
      </p:sp>
      <p:sp>
        <p:nvSpPr>
          <p:cNvPr id="16" name="!!term-precondition">
            <a:extLst>
              <a:ext uri="{C183D7F6-B498-43B3-948B-1728B52AA6E4}">
                <adec:decorative xmlns:adec="http://schemas.microsoft.com/office/drawing/2017/decorative" val="1"/>
              </a:ext>
            </a:extLst>
          </p:cNvPr>
          <p:cNvSpPr/>
          <p:nvPr/>
        </p:nvSpPr>
        <p:spPr>
          <a:xfrm>
            <a:off x="4632751" y="1847088"/>
            <a:ext cx="16072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precondition">
            <a:extLst>
              <a:ext uri="{C183D7F6-B498-43B3-948B-1728B52AA6E4}">
                <adec:decorative xmlns:adec="http://schemas.microsoft.com/office/drawing/2017/decorative" val="1"/>
              </a:ext>
            </a:extLst>
          </p:cNvPr>
          <p:cNvSpPr/>
          <p:nvPr/>
        </p:nvSpPr>
        <p:spPr>
          <a:xfrm>
            <a:off x="476076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precondition"/>
          <p:cNvSpPr txBox="1"/>
          <p:nvPr/>
        </p:nvSpPr>
        <p:spPr>
          <a:xfrm>
            <a:off x="4925359" y="1962911"/>
            <a:ext cx="142433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precondition</a:t>
            </a:r>
          </a:p>
        </p:txBody>
      </p:sp>
      <p:sp>
        <p:nvSpPr>
          <p:cNvPr id="19" name="!!term-add list">
            <a:extLst>
              <a:ext uri="{C183D7F6-B498-43B3-948B-1728B52AA6E4}">
                <adec:decorative xmlns:adec="http://schemas.microsoft.com/office/drawing/2017/decorative" val="1"/>
              </a:ext>
            </a:extLst>
          </p:cNvPr>
          <p:cNvSpPr/>
          <p:nvPr/>
        </p:nvSpPr>
        <p:spPr>
          <a:xfrm>
            <a:off x="6386272" y="1847088"/>
            <a:ext cx="11038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add list">
            <a:extLst>
              <a:ext uri="{C183D7F6-B498-43B3-948B-1728B52AA6E4}">
                <adec:decorative xmlns:adec="http://schemas.microsoft.com/office/drawing/2017/decorative" val="1"/>
              </a:ext>
            </a:extLst>
          </p:cNvPr>
          <p:cNvSpPr/>
          <p:nvPr/>
        </p:nvSpPr>
        <p:spPr>
          <a:xfrm>
            <a:off x="651428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add list"/>
          <p:cNvSpPr txBox="1"/>
          <p:nvPr/>
        </p:nvSpPr>
        <p:spPr>
          <a:xfrm>
            <a:off x="6678880" y="1962911"/>
            <a:ext cx="92093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add list</a:t>
            </a:r>
          </a:p>
        </p:txBody>
      </p:sp>
      <p:sp>
        <p:nvSpPr>
          <p:cNvPr id="22" name="!!term-delete list">
            <a:extLst>
              <a:ext uri="{C183D7F6-B498-43B3-948B-1728B52AA6E4}">
                <adec:decorative xmlns:adec="http://schemas.microsoft.com/office/drawing/2017/decorative" val="1"/>
              </a:ext>
            </a:extLst>
          </p:cNvPr>
          <p:cNvSpPr/>
          <p:nvPr/>
        </p:nvSpPr>
        <p:spPr>
          <a:xfrm>
            <a:off x="7636391" y="1847088"/>
            <a:ext cx="13218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delete list">
            <a:extLst>
              <a:ext uri="{C183D7F6-B498-43B3-948B-1728B52AA6E4}">
                <adec:decorative xmlns:adec="http://schemas.microsoft.com/office/drawing/2017/decorative" val="1"/>
              </a:ext>
            </a:extLst>
          </p:cNvPr>
          <p:cNvSpPr/>
          <p:nvPr/>
        </p:nvSpPr>
        <p:spPr>
          <a:xfrm>
            <a:off x="776440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delete list"/>
          <p:cNvSpPr txBox="1"/>
          <p:nvPr/>
        </p:nvSpPr>
        <p:spPr>
          <a:xfrm>
            <a:off x="7928999" y="1962911"/>
            <a:ext cx="113895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delete list</a:t>
            </a:r>
          </a:p>
        </p:txBody>
      </p:sp>
      <p:sp>
        <p:nvSpPr>
          <p:cNvPr id="25" name="!!term-ground operato">
            <a:extLst>
              <a:ext uri="{C183D7F6-B498-43B3-948B-1728B52AA6E4}">
                <adec:decorative xmlns:adec="http://schemas.microsoft.com/office/drawing/2017/decorative" val="1"/>
              </a:ext>
            </a:extLst>
          </p:cNvPr>
          <p:cNvSpPr/>
          <p:nvPr/>
        </p:nvSpPr>
        <p:spPr>
          <a:xfrm>
            <a:off x="9104525" y="1847088"/>
            <a:ext cx="196119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ground operato">
            <a:extLst>
              <a:ext uri="{C183D7F6-B498-43B3-948B-1728B52AA6E4}">
                <adec:decorative xmlns:adec="http://schemas.microsoft.com/office/drawing/2017/decorative" val="1"/>
              </a:ext>
            </a:extLst>
          </p:cNvPr>
          <p:cNvSpPr/>
          <p:nvPr/>
        </p:nvSpPr>
        <p:spPr>
          <a:xfrm>
            <a:off x="923254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ground operato"/>
          <p:cNvSpPr txBox="1"/>
          <p:nvPr/>
        </p:nvSpPr>
        <p:spPr>
          <a:xfrm>
            <a:off x="9397133" y="1962911"/>
            <a:ext cx="177831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ground operator</a:t>
            </a:r>
          </a:p>
        </p:txBody>
      </p:sp>
      <p:sp>
        <p:nvSpPr>
          <p:cNvPr id="28" name="!!term-progression se">
            <a:extLst>
              <a:ext uri="{C183D7F6-B498-43B3-948B-1728B52AA6E4}">
                <adec:decorative xmlns:adec="http://schemas.microsoft.com/office/drawing/2017/decorative" val="1"/>
              </a:ext>
            </a:extLst>
          </p:cNvPr>
          <p:cNvSpPr/>
          <p:nvPr/>
        </p:nvSpPr>
        <p:spPr>
          <a:xfrm>
            <a:off x="658368" y="2468880"/>
            <a:ext cx="21652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progression se">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progression se"/>
          <p:cNvSpPr txBox="1"/>
          <p:nvPr/>
        </p:nvSpPr>
        <p:spPr>
          <a:xfrm>
            <a:off x="950976" y="2584704"/>
            <a:ext cx="198241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progression search</a:t>
            </a:r>
          </a:p>
        </p:txBody>
      </p:sp>
      <p:sp>
        <p:nvSpPr>
          <p:cNvPr id="31" name="!!term-regression">
            <a:extLst>
              <a:ext uri="{C183D7F6-B498-43B3-948B-1728B52AA6E4}">
                <adec:decorative xmlns:adec="http://schemas.microsoft.com/office/drawing/2017/decorative" val="1"/>
              </a:ext>
            </a:extLst>
          </p:cNvPr>
          <p:cNvSpPr/>
          <p:nvPr/>
        </p:nvSpPr>
        <p:spPr>
          <a:xfrm>
            <a:off x="2969966" y="2468880"/>
            <a:ext cx="13866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regression">
            <a:extLst>
              <a:ext uri="{C183D7F6-B498-43B3-948B-1728B52AA6E4}">
                <adec:decorative xmlns:adec="http://schemas.microsoft.com/office/drawing/2017/decorative" val="1"/>
              </a:ext>
            </a:extLst>
          </p:cNvPr>
          <p:cNvSpPr/>
          <p:nvPr/>
        </p:nvSpPr>
        <p:spPr>
          <a:xfrm>
            <a:off x="309798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regression"/>
          <p:cNvSpPr txBox="1"/>
          <p:nvPr/>
        </p:nvSpPr>
        <p:spPr>
          <a:xfrm>
            <a:off x="3262574" y="2584704"/>
            <a:ext cx="120376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regression</a:t>
            </a:r>
          </a:p>
        </p:txBody>
      </p:sp>
      <p:sp>
        <p:nvSpPr>
          <p:cNvPr id="34" name="!!term-means–ends ana">
            <a:extLst>
              <a:ext uri="{C183D7F6-B498-43B3-948B-1728B52AA6E4}">
                <adec:decorative xmlns:adec="http://schemas.microsoft.com/office/drawing/2017/decorative" val="1"/>
              </a:ext>
            </a:extLst>
          </p:cNvPr>
          <p:cNvSpPr/>
          <p:nvPr/>
        </p:nvSpPr>
        <p:spPr>
          <a:xfrm>
            <a:off x="4502916" y="2468880"/>
            <a:ext cx="233724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means–ends ana">
            <a:extLst>
              <a:ext uri="{C183D7F6-B498-43B3-948B-1728B52AA6E4}">
                <adec:decorative xmlns:adec="http://schemas.microsoft.com/office/drawing/2017/decorative" val="1"/>
              </a:ext>
            </a:extLst>
          </p:cNvPr>
          <p:cNvSpPr/>
          <p:nvPr/>
        </p:nvSpPr>
        <p:spPr>
          <a:xfrm>
            <a:off x="463093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means–ends ana"/>
          <p:cNvSpPr txBox="1"/>
          <p:nvPr/>
        </p:nvSpPr>
        <p:spPr>
          <a:xfrm>
            <a:off x="4795524" y="2584704"/>
            <a:ext cx="215436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means–ends analysis</a:t>
            </a:r>
          </a:p>
        </p:txBody>
      </p:sp>
      <p:sp>
        <p:nvSpPr>
          <p:cNvPr id="37" name="!!term-difference">
            <a:extLst>
              <a:ext uri="{C183D7F6-B498-43B3-948B-1728B52AA6E4}">
                <adec:decorative xmlns:adec="http://schemas.microsoft.com/office/drawing/2017/decorative" val="1"/>
              </a:ext>
            </a:extLst>
          </p:cNvPr>
          <p:cNvSpPr/>
          <p:nvPr/>
        </p:nvSpPr>
        <p:spPr>
          <a:xfrm>
            <a:off x="6986463" y="2468880"/>
            <a:ext cx="13512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difference">
            <a:extLst>
              <a:ext uri="{C183D7F6-B498-43B3-948B-1728B52AA6E4}">
                <adec:decorative xmlns:adec="http://schemas.microsoft.com/office/drawing/2017/decorative" val="1"/>
              </a:ext>
            </a:extLst>
          </p:cNvPr>
          <p:cNvSpPr/>
          <p:nvPr/>
        </p:nvSpPr>
        <p:spPr>
          <a:xfrm>
            <a:off x="711447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difference"/>
          <p:cNvSpPr txBox="1"/>
          <p:nvPr/>
        </p:nvSpPr>
        <p:spPr>
          <a:xfrm>
            <a:off x="7279071" y="2584704"/>
            <a:ext cx="116836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difference</a:t>
            </a:r>
          </a:p>
        </p:txBody>
      </p:sp>
      <p:sp>
        <p:nvSpPr>
          <p:cNvPr id="40" name="!!term-General Proble">
            <a:extLst>
              <a:ext uri="{C183D7F6-B498-43B3-948B-1728B52AA6E4}">
                <adec:decorative xmlns:adec="http://schemas.microsoft.com/office/drawing/2017/decorative" val="1"/>
              </a:ext>
            </a:extLst>
          </p:cNvPr>
          <p:cNvSpPr/>
          <p:nvPr/>
        </p:nvSpPr>
        <p:spPr>
          <a:xfrm>
            <a:off x="8484013" y="2468880"/>
            <a:ext cx="25865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General Proble">
            <a:extLst>
              <a:ext uri="{C183D7F6-B498-43B3-948B-1728B52AA6E4}">
                <adec:decorative xmlns:adec="http://schemas.microsoft.com/office/drawing/2017/decorative" val="1"/>
              </a:ext>
            </a:extLst>
          </p:cNvPr>
          <p:cNvSpPr/>
          <p:nvPr/>
        </p:nvSpPr>
        <p:spPr>
          <a:xfrm>
            <a:off x="861202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General Proble"/>
          <p:cNvSpPr txBox="1"/>
          <p:nvPr/>
        </p:nvSpPr>
        <p:spPr>
          <a:xfrm>
            <a:off x="8776621" y="2584704"/>
            <a:ext cx="240364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General Problem Solver</a:t>
            </a:r>
          </a:p>
        </p:txBody>
      </p:sp>
      <p:sp>
        <p:nvSpPr>
          <p:cNvPr id="43" name="!!term-goal clobberin">
            <a:extLst>
              <a:ext uri="{C183D7F6-B498-43B3-948B-1728B52AA6E4}">
                <adec:decorative xmlns:adec="http://schemas.microsoft.com/office/drawing/2017/decorative" val="1"/>
              </a:ext>
            </a:extLst>
          </p:cNvPr>
          <p:cNvSpPr/>
          <p:nvPr/>
        </p:nvSpPr>
        <p:spPr>
          <a:xfrm>
            <a:off x="658368" y="3090672"/>
            <a:ext cx="18760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goal clobberin">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goal clobberin"/>
          <p:cNvSpPr txBox="1"/>
          <p:nvPr/>
        </p:nvSpPr>
        <p:spPr>
          <a:xfrm>
            <a:off x="950976" y="3206496"/>
            <a:ext cx="169315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goal clobbering</a:t>
            </a:r>
          </a:p>
        </p:txBody>
      </p:sp>
      <p:sp>
        <p:nvSpPr>
          <p:cNvPr id="46" name="!!term-goal ordering">
            <a:extLst>
              <a:ext uri="{C183D7F6-B498-43B3-948B-1728B52AA6E4}">
                <adec:decorative xmlns:adec="http://schemas.microsoft.com/office/drawing/2017/decorative" val="1"/>
              </a:ext>
            </a:extLst>
          </p:cNvPr>
          <p:cNvSpPr/>
          <p:nvPr/>
        </p:nvSpPr>
        <p:spPr>
          <a:xfrm>
            <a:off x="2680710" y="3090672"/>
            <a:ext cx="16805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goal ordering">
            <a:extLst>
              <a:ext uri="{C183D7F6-B498-43B3-948B-1728B52AA6E4}">
                <adec:decorative xmlns:adec="http://schemas.microsoft.com/office/drawing/2017/decorative" val="1"/>
              </a:ext>
            </a:extLst>
          </p:cNvPr>
          <p:cNvSpPr/>
          <p:nvPr/>
        </p:nvSpPr>
        <p:spPr>
          <a:xfrm>
            <a:off x="280872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goal ordering"/>
          <p:cNvSpPr txBox="1"/>
          <p:nvPr/>
        </p:nvSpPr>
        <p:spPr>
          <a:xfrm>
            <a:off x="2973318" y="3206496"/>
            <a:ext cx="149766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goal ordering</a:t>
            </a:r>
          </a:p>
        </p:txBody>
      </p:sp>
      <p:sp>
        <p:nvSpPr>
          <p:cNvPr id="49" name="!!term-partial-order ">
            <a:extLst>
              <a:ext uri="{C183D7F6-B498-43B3-948B-1728B52AA6E4}">
                <adec:decorative xmlns:adec="http://schemas.microsoft.com/office/drawing/2017/decorative" val="1"/>
              </a:ext>
            </a:extLst>
          </p:cNvPr>
          <p:cNvSpPr/>
          <p:nvPr/>
        </p:nvSpPr>
        <p:spPr>
          <a:xfrm>
            <a:off x="4507560" y="3090672"/>
            <a:ext cx="24520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partial-order ">
            <a:extLst>
              <a:ext uri="{C183D7F6-B498-43B3-948B-1728B52AA6E4}">
                <adec:decorative xmlns:adec="http://schemas.microsoft.com/office/drawing/2017/decorative" val="1"/>
              </a:ext>
            </a:extLst>
          </p:cNvPr>
          <p:cNvSpPr/>
          <p:nvPr/>
        </p:nvSpPr>
        <p:spPr>
          <a:xfrm>
            <a:off x="463557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partial-order "/>
          <p:cNvSpPr txBox="1"/>
          <p:nvPr/>
        </p:nvSpPr>
        <p:spPr>
          <a:xfrm>
            <a:off x="4800168" y="3206496"/>
            <a:ext cx="226919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partial-order planning</a:t>
            </a:r>
          </a:p>
        </p:txBody>
      </p:sp>
      <p:sp>
        <p:nvSpPr>
          <p:cNvPr id="52" name="!!term-frame problem">
            <a:extLst>
              <a:ext uri="{C183D7F6-B498-43B3-948B-1728B52AA6E4}">
                <adec:decorative xmlns:adec="http://schemas.microsoft.com/office/drawing/2017/decorative" val="1"/>
              </a:ext>
            </a:extLst>
          </p:cNvPr>
          <p:cNvSpPr/>
          <p:nvPr/>
        </p:nvSpPr>
        <p:spPr>
          <a:xfrm>
            <a:off x="7105941" y="3090672"/>
            <a:ext cx="17993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frame problem">
            <a:extLst>
              <a:ext uri="{C183D7F6-B498-43B3-948B-1728B52AA6E4}">
                <adec:decorative xmlns:adec="http://schemas.microsoft.com/office/drawing/2017/decorative" val="1"/>
              </a:ext>
            </a:extLst>
          </p:cNvPr>
          <p:cNvSpPr/>
          <p:nvPr/>
        </p:nvSpPr>
        <p:spPr>
          <a:xfrm>
            <a:off x="723395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frame problem"/>
          <p:cNvSpPr txBox="1"/>
          <p:nvPr/>
        </p:nvSpPr>
        <p:spPr>
          <a:xfrm>
            <a:off x="7398549" y="3206496"/>
            <a:ext cx="161647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frame problem</a:t>
            </a:r>
          </a:p>
        </p:txBody>
      </p:sp>
      <p:sp>
        <p:nvSpPr>
          <p:cNvPr id="55"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pfill">
            <a:extLst>
              <a:ext uri="{C183D7F6-B498-43B3-948B-1728B52AA6E4}">
                <adec:decorative xmlns:adec="http://schemas.microsoft.com/office/drawing/2017/decorative" val="1"/>
              </a:ext>
            </a:extLst>
          </p:cNvPr>
          <p:cNvSpPr/>
          <p:nvPr/>
        </p:nvSpPr>
        <p:spPr>
          <a:xfrm>
            <a:off x="0" y="0"/>
            <a:ext cx="90308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88–100     </a:t>
            </a:r>
            <a:fld id="{B276721D-531B-4C94-9679-31E133F2F65B}" type="slidenum">
              <a:rPr lang="en-GB" sz="1000">
                <a:solidFill>
                  <a:srgbClr val="8795A1"/>
                </a:solidFill>
                <a:latin typeface="Segoe UI"/>
              </a:rPr>
              <a:t>5</a:t>
            </a:fld>
          </a:p>
        </p:txBody>
      </p:sp>
      <p:sp>
        <p:nvSpPr>
          <p:cNvPr id="7" name="!!ag0" descr="Go to section 9.1 From a Task List to Operator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From a Task List to Operators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88  ›</a:t>
            </a:r>
          </a:p>
        </p:txBody>
      </p:sp>
      <p:sp>
        <p:nvSpPr>
          <p:cNvPr id="12" name="!!ag1" descr="Go to section 9.2 Planning as Progression Search">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Planning as Progression Search</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89  ›</a:t>
            </a:r>
          </a:p>
        </p:txBody>
      </p:sp>
      <p:sp>
        <p:nvSpPr>
          <p:cNvPr id="17" name="!!ag2" descr="Go to section 9.3 Means–Ends Analysis and the General Problem Solver">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Means–Ends Analysis and the General Problem Solver</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90  ›</a:t>
            </a:r>
          </a:p>
        </p:txBody>
      </p:sp>
      <p:sp>
        <p:nvSpPr>
          <p:cNvPr id="22" name="!!ag3" descr="Go to section 9.4 Goal Clobbering">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Goal Clobbering</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91  ›</a:t>
            </a:r>
          </a:p>
        </p:txBody>
      </p:sp>
      <p:sp>
        <p:nvSpPr>
          <p:cNvPr id="27" name="!!ag4" descr="Go to section 9.5 What the Representation Buy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the Representation Buys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91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12886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From a Task List to Operators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9.1   From a Task List to Operators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Planning as Progression Search</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Means–Ends Analysis and the General Problem Solver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Goal Clobbering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9.5   What the Representation Buys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§9.1     </a:t>
            </a:r>
            <a:fld id="{8A093B34-A188-4E28-9A7B-09EE9EE4D6DD}"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STRIPS operator</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§9.1  ·  Handout p. 88     </a:t>
            </a:r>
            <a:fld id="{5D689A56-8D42-425A-A7D0-341CC8B720C3}"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02464"/>
          </a:xfrm>
          <a:prstGeom prst="roundRect">
            <a:avLst>
              <a:gd name="adj" fmla="val 20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0246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A </a:t>
            </a:r>
            <a:r>
              <a:rPr sz="1600" b="1" i="0">
                <a:solidFill>
                  <a:srgbClr val="1A5276"/>
                </a:solidFill>
                <a:latin typeface="Segoe UI"/>
              </a:rPr>
              <a:t>STRIPS</a:t>
            </a:r>
            <a:r>
              <a:rPr sz="1600" b="0" i="0">
                <a:solidFill>
                  <a:srgbClr val="1C252B"/>
                </a:solidFill>
                <a:latin typeface="Segoe UI"/>
              </a:rPr>
              <a:t> operator is a named action described by three sets of literals:</a:t>
            </a:r>
          </a:p>
        </p:txBody>
      </p:sp>
      <p:sp>
        <p:nvSpPr>
          <p:cNvPr id="10" name="body-1"/>
          <p:cNvSpPr txBox="1"/>
          <p:nvPr/>
        </p:nvSpPr>
        <p:spPr>
          <a:xfrm>
            <a:off x="1060704" y="2413609"/>
            <a:ext cx="10161727" cy="948740"/>
          </a:xfrm>
          <a:prstGeom prst="rect">
            <a:avLst/>
          </a:prstGeom>
          <a:noFill/>
        </p:spPr>
        <p:txBody>
          <a:bodyPr wrap="square" anchor="t" lIns="0" rIns="0" tIns="0" bIns="0">
            <a:noAutofit/>
          </a:bodyPr>
          <a:lstStyle/>
          <a:p>
            <a:pPr algn="l" marL="178905" indent="-178905">
              <a:lnSpc>
                <a:spcPct val="104000"/>
              </a:lnSpc>
              <a:spcBef>
                <a:spcPts val="0"/>
              </a:spcBef>
              <a:spcAft>
                <a:spcPts val="560"/>
              </a:spcAft>
            </a:pPr>
            <a:r>
              <a:rPr sz="1600" b="1">
                <a:solidFill>
                  <a:srgbClr val="8A4500"/>
                </a:solidFill>
                <a:latin typeface="Segoe UI"/>
              </a:rPr>
              <a:t>•	</a:t>
            </a:r>
            <a:r>
              <a:rPr sz="1600" b="1" i="0">
                <a:solidFill>
                  <a:srgbClr val="1A5276"/>
                </a:solidFill>
                <a:latin typeface="Segoe UI"/>
              </a:rPr>
              <a:t>preconditions</a:t>
            </a:r>
            <a:r>
              <a:rPr sz="1600" b="0" i="0">
                <a:solidFill>
                  <a:srgbClr val="1C252B"/>
                </a:solidFill>
                <a:latin typeface="Segoe UI"/>
              </a:rPr>
              <a:t> — what must be true for the action to be applicable;</a:t>
            </a:r>
          </a:p>
          <a:p>
            <a:pPr algn="l" marL="178905" indent="-178905">
              <a:lnSpc>
                <a:spcPct val="104000"/>
              </a:lnSpc>
              <a:spcBef>
                <a:spcPts val="0"/>
              </a:spcBef>
              <a:spcAft>
                <a:spcPts val="560"/>
              </a:spcAft>
            </a:pPr>
            <a:r>
              <a:rPr sz="1600" b="1">
                <a:solidFill>
                  <a:srgbClr val="8A4500"/>
                </a:solidFill>
                <a:latin typeface="Segoe UI"/>
              </a:rPr>
              <a:t>•	</a:t>
            </a:r>
            <a:r>
              <a:rPr sz="1600" b="0" i="0">
                <a:solidFill>
                  <a:srgbClr val="1C252B"/>
                </a:solidFill>
                <a:latin typeface="Segoe UI"/>
              </a:rPr>
              <a:t>the </a:t>
            </a:r>
            <a:r>
              <a:rPr sz="1600" b="1" i="0">
                <a:solidFill>
                  <a:srgbClr val="1A5276"/>
                </a:solidFill>
                <a:latin typeface="Segoe UI"/>
              </a:rPr>
              <a:t>add list</a:t>
            </a:r>
            <a:r>
              <a:rPr sz="1600" b="0" i="0">
                <a:solidFill>
                  <a:srgbClr val="1C252B"/>
                </a:solidFill>
                <a:latin typeface="Segoe UI"/>
              </a:rPr>
              <a:t> — what it makes true;</a:t>
            </a:r>
          </a:p>
          <a:p>
            <a:pPr algn="l" marL="178905" indent="-178905">
              <a:lnSpc>
                <a:spcPct val="104000"/>
              </a:lnSpc>
              <a:spcBef>
                <a:spcPts val="0"/>
              </a:spcBef>
              <a:spcAft>
                <a:spcPts val="0"/>
              </a:spcAft>
            </a:pPr>
            <a:r>
              <a:rPr sz="1600" b="1">
                <a:solidFill>
                  <a:srgbClr val="8A4500"/>
                </a:solidFill>
                <a:latin typeface="Segoe UI"/>
              </a:rPr>
              <a:t>•	</a:t>
            </a:r>
            <a:r>
              <a:rPr sz="1600" b="0" i="0">
                <a:solidFill>
                  <a:srgbClr val="1C252B"/>
                </a:solidFill>
                <a:latin typeface="Segoe UI"/>
              </a:rPr>
              <a:t>the </a:t>
            </a:r>
            <a:r>
              <a:rPr sz="1600" b="1" i="0">
                <a:solidFill>
                  <a:srgbClr val="1A5276"/>
                </a:solidFill>
                <a:latin typeface="Segoe UI"/>
              </a:rPr>
              <a:t>delete list</a:t>
            </a:r>
            <a:r>
              <a:rPr sz="1600" b="0" i="0">
                <a:solidFill>
                  <a:srgbClr val="1C252B"/>
                </a:solidFill>
                <a:latin typeface="Segoe UI"/>
              </a:rPr>
              <a:t> — what it makes false.</a:t>
            </a:r>
          </a:p>
        </p:txBody>
      </p:sp>
      <p:sp>
        <p:nvSpPr>
          <p:cNvPr id="11" name="body-2"/>
          <p:cNvSpPr txBox="1"/>
          <p:nvPr/>
        </p:nvSpPr>
        <p:spPr>
          <a:xfrm>
            <a:off x="1060704" y="3428390"/>
            <a:ext cx="10161727"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Applying operator </a:t>
            </a:r>
            <a:r>
              <a:rPr sz="1600" b="0" i="1">
                <a:solidFill>
                  <a:srgbClr val="1C252B"/>
                </a:solidFill>
                <a:latin typeface="Cambria"/>
              </a:rPr>
              <a:t>o</a:t>
            </a:r>
            <a:r>
              <a:rPr sz="1600" b="0" i="0">
                <a:solidFill>
                  <a:srgbClr val="1C252B"/>
                </a:solidFill>
                <a:latin typeface="Segoe UI"/>
              </a:rPr>
              <a:t> in state </a:t>
            </a:r>
            <a:r>
              <a:rPr sz="1600" b="0" i="1">
                <a:solidFill>
                  <a:srgbClr val="1C252B"/>
                </a:solidFill>
                <a:latin typeface="Cambria"/>
              </a:rPr>
              <a:t>s</a:t>
            </a:r>
            <a:r>
              <a:rPr sz="1600" b="0" i="0">
                <a:solidFill>
                  <a:srgbClr val="1C252B"/>
                </a:solidFill>
                <a:latin typeface="Segoe UI"/>
              </a:rPr>
              <a:t> gives</a:t>
            </a:r>
          </a:p>
        </p:txBody>
      </p:sp>
      <p:pic>
        <p:nvPicPr>
          <p:cNvPr id="12" name="body-3" descr="s' \;=\; (s \setminus \mathrm{delete}(o)) \cup \mathrm{add}(o)"/>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793743"/>
            <a:ext cx="10161727" cy="278343"/>
          </a:xfrm>
          <a:prstGeom prst="rect">
            <a:avLst/>
          </a:prstGeom>
        </p:spPr>
      </p:pic>
      <p:sp>
        <p:nvSpPr>
          <p:cNvPr id="13" name="body-4"/>
          <p:cNvSpPr txBox="1"/>
          <p:nvPr/>
        </p:nvSpPr>
        <p:spPr>
          <a:xfrm>
            <a:off x="1060704" y="4183847"/>
            <a:ext cx="10161727"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and </a:t>
            </a:r>
            <a:r>
              <a:rPr sz="1600" b="0" i="1">
                <a:solidFill>
                  <a:srgbClr val="1C252B"/>
                </a:solidFill>
                <a:latin typeface="Cambria"/>
              </a:rPr>
              <a:t>o</a:t>
            </a:r>
            <a:r>
              <a:rPr sz="1600" b="0" i="0">
                <a:solidFill>
                  <a:srgbClr val="1C252B"/>
                </a:solidFill>
                <a:latin typeface="Segoe UI"/>
              </a:rPr>
              <a:t> is applicable only when pre</a:t>
            </a:r>
            <a:r>
              <a:rPr sz="1600" b="0" i="0">
                <a:solidFill>
                  <a:srgbClr val="1C252B"/>
                </a:solidFill>
                <a:latin typeface="Cambria"/>
              </a:rPr>
              <a:t>(</a:t>
            </a:r>
            <a:r>
              <a:rPr sz="1600" b="0" i="1">
                <a:solidFill>
                  <a:srgbClr val="1C252B"/>
                </a:solidFill>
                <a:latin typeface="Cambria"/>
              </a:rPr>
              <a:t>o</a:t>
            </a:r>
            <a:r>
              <a:rPr sz="1600" b="0" i="0">
                <a:solidFill>
                  <a:srgbClr val="1C252B"/>
                </a:solidFill>
                <a:latin typeface="Cambria"/>
              </a:rPr>
              <a:t>) ⊆ </a:t>
            </a:r>
            <a:r>
              <a:rPr sz="1600" b="0" i="1">
                <a:solidFill>
                  <a:srgbClr val="1C252B"/>
                </a:solidFill>
                <a:latin typeface="Cambria"/>
              </a:rPr>
              <a:t>s</a:t>
            </a:r>
            <a:r>
              <a:rPr sz="1600" b="0" i="0">
                <a:solidFill>
                  <a:srgbClr val="1C252B"/>
                </a:solidFill>
                <a:latin typeface="Segoe UI"/>
              </a:rPr>
              <a:t>.</a:t>
            </a:r>
          </a:p>
        </p:txBody>
      </p:sp>
      <p:sp>
        <p:nvSpPr>
          <p:cNvPr id="14" name="body-5"/>
          <p:cNvSpPr txBox="1"/>
          <p:nvPr/>
        </p:nvSpPr>
        <p:spPr>
          <a:xfrm>
            <a:off x="1060704" y="4549200"/>
            <a:ext cx="10161727" cy="806500"/>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Everything not mentioned in the add or delete list is unchanged. That convention is the </a:t>
            </a:r>
            <a:r>
              <a:rPr sz="1600" b="1" i="0">
                <a:solidFill>
                  <a:srgbClr val="1A5276"/>
                </a:solidFill>
                <a:latin typeface="Segoe UI"/>
              </a:rPr>
              <a:t>STRIPS assumption</a:t>
            </a:r>
            <a:r>
              <a:rPr sz="1600" b="0" i="0">
                <a:solidFill>
                  <a:srgbClr val="1C252B"/>
                </a:solidFill>
                <a:latin typeface="Segoe UI"/>
              </a:rPr>
              <a:t>, and it is what makes the representation usable: you describe what an action changes, not the vastly larger set of things it leaves alone. Stating the latter explicitly is the </a:t>
            </a:r>
            <a:r>
              <a:rPr sz="1600" b="1" i="0">
                <a:solidFill>
                  <a:srgbClr val="1A5276"/>
                </a:solidFill>
                <a:latin typeface="Segoe UI"/>
              </a:rPr>
              <a:t>frame problem</a:t>
            </a:r>
            <a:r>
              <a:rPr sz="1600" b="0" i="0">
                <a:solidFill>
                  <a:srgbClr val="1C252B"/>
                </a:solidFill>
                <a:latin typeface="Segoe UI"/>
              </a:rPr>
              <a:t>.</a:t>
            </a:r>
          </a:p>
        </p:txBody>
      </p:sp>
      <p:sp>
        <p:nvSpPr>
          <p:cNvPr id="15" name="body-6"/>
          <p:cNvSpPr txBox="1"/>
          <p:nvPr/>
        </p:nvSpPr>
        <p:spPr>
          <a:xfrm>
            <a:off x="1060704" y="5421741"/>
            <a:ext cx="10161727" cy="552907"/>
          </a:xfrm>
          <a:prstGeom prst="rect">
            <a:avLst/>
          </a:prstGeom>
          <a:noFill/>
        </p:spPr>
        <p:txBody>
          <a:bodyPr wrap="square" anchor="t" lIns="0" rIns="0" tIns="0" bIns="0">
            <a:noAutofit/>
          </a:bodyPr>
          <a:lstStyle/>
          <a:p>
            <a:pPr algn="l">
              <a:lnSpc>
                <a:spcPct val="104000"/>
              </a:lnSpc>
              <a:spcBef>
                <a:spcPts val="0"/>
              </a:spcBef>
              <a:spcAft>
                <a:spcPts val="0"/>
              </a:spcAft>
            </a:pPr>
            <a:r>
              <a:rPr sz="1600" b="0" i="1">
                <a:solidFill>
                  <a:srgbClr val="1C252B"/>
                </a:solidFill>
                <a:latin typeface="Segoe UI"/>
              </a:rPr>
              <a:t>After</a:t>
            </a:r>
            <a:r>
              <a:rPr sz="1600" b="0" i="0">
                <a:solidFill>
                  <a:srgbClr val="1C252B"/>
                </a:solidFill>
                <a:latin typeface="Segoe UI"/>
              </a:rPr>
              <a:t> R. E. Fikes and N. J. Nilsson, “STRIPS: A New Approach to the Application of Theorem Proving to Problem Solving”, </a:t>
            </a:r>
            <a:r>
              <a:rPr sz="1600" b="0" i="1">
                <a:solidFill>
                  <a:srgbClr val="1C252B"/>
                </a:solidFill>
                <a:latin typeface="Segoe UI"/>
              </a:rPr>
              <a:t>Artificial Intelligence</a:t>
            </a:r>
            <a:r>
              <a:rPr sz="1600" b="0" i="0">
                <a:solidFill>
                  <a:srgbClr val="1C252B"/>
                </a:solidFill>
                <a:latin typeface="Segoe UI"/>
              </a:rPr>
              <a:t> 2, 1971.</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58040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STRIPS operator</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9.1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§9.1  ·  Handout p. 88     </a:t>
            </a:r>
            <a:fld id="{2FCC70DD-6FF9-4BD8-8799-E704998B5422}" type="slidenum">
              <a:rPr lang="en-GB" sz="1000">
                <a:solidFill>
                  <a:srgbClr val="8795A1"/>
                </a:solidFill>
                <a:latin typeface="Segoe UI"/>
              </a:rPr>
              <a:t>8</a:t>
            </a:fld>
          </a:p>
        </p:txBody>
      </p:sp>
      <p:pic>
        <p:nvPicPr>
          <p:cNvPr id="6" name="!!figure" descr="Figure 9.1. One STRIPS operator. Applying it removes the delete list and then adds the add list; everything else in the state is untouche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2180" y="1737360"/>
            <a:ext cx="10767333"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Applying it removes the delete list and then adds the add list; everything else in the state is untouched.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80617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release domain</a:t>
            </a:r>
          </a:p>
        </p:txBody>
      </p:sp>
      <p:pic>
        <p:nvPicPr>
          <p:cNvPr id="3" name="!!kicker-icon" descr="code-27AE6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7AE60"/>
                </a:solidFill>
                <a:latin typeface="Segoe UI"/>
              </a:rPr>
              <a:t>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§9.1  ·  Handout p. 88     </a:t>
            </a:r>
            <a:fld id="{6A42FE28-00C9-4802-A13C-34A27712B3CB}"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37430"/>
          </a:xfrm>
          <a:prstGeom prst="roundRect">
            <a:avLst>
              <a:gd name="adj" fmla="val 2060"/>
            </a:avLst>
          </a:prstGeom>
          <a:solidFill>
            <a:srgbClr val="EAF7EF"/>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3743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Four operator schemas, instantiated once per component, plus one for the shared environment. With two components that is nine ground operators.</a:t>
            </a:r>
          </a:p>
        </p:txBody>
      </p:sp>
      <p:graphicFrame>
        <p:nvGraphicFramePr>
          <p:cNvPr id="10" name="body-1"/>
          <p:cNvGraphicFramePr>
            <a:graphicFrameLocks noGrp="1"/>
          </p:cNvGraphicFramePr>
          <p:nvPr/>
        </p:nvGraphicFramePr>
        <p:xfrm>
          <a:off x="1060704" y="2860624"/>
          <a:ext cx="9772071" cy="2523738"/>
        </p:xfrm>
        <a:graphic>
          <a:graphicData uri="http://schemas.openxmlformats.org/drawingml/2006/table">
            <a:tbl>
              <a:tblPr firstRow="0" bandRow="0" firstCol="0" lastRow="0" lastCol="0" bandCol="0">
                <a:tableStyleId>{2D5ABB26-0587-4C30-8999-92F81FD0307C}</a:tableStyleId>
              </a:tblPr>
              <a:tblGrid>
                <a:gridCol w="2064280"/>
                <a:gridCol w="3026140"/>
                <a:gridCol w="2781517"/>
                <a:gridCol w="1900134"/>
              </a:tblGrid>
              <a:tr h="420623">
                <a:tc>
                  <a:txBody>
                    <a:bodyPr wrap="square"/>
                    <a:lstStyle/>
                    <a:p>
                      <a:pPr algn="l"/>
                      <a:r>
                        <a:rPr sz="1800" b="1" i="0">
                          <a:solidFill>
                            <a:srgbClr val="1A5276"/>
                          </a:solidFill>
                          <a:latin typeface="Segoe UI"/>
                        </a:rPr>
                        <a:t>Operator</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800" b="1" i="0">
                          <a:solidFill>
                            <a:srgbClr val="1A5276"/>
                          </a:solidFill>
                          <a:latin typeface="Segoe UI"/>
                        </a:rPr>
                        <a:t>Preconditions</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800" b="1" i="0">
                          <a:solidFill>
                            <a:srgbClr val="1A5276"/>
                          </a:solidFill>
                          <a:latin typeface="Segoe UI"/>
                        </a:rPr>
                        <a:t>Add</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800" b="1" i="0">
                          <a:solidFill>
                            <a:srgbClr val="1A5276"/>
                          </a:solidFill>
                          <a:latin typeface="Segoe UI"/>
                        </a:rPr>
                        <a:t>Delete</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20623">
                <a:tc>
                  <a:txBody>
                    <a:bodyPr wrap="square"/>
                    <a:lstStyle/>
                    <a:p>
                      <a:pPr algn="l"/>
                      <a:r>
                        <a:rPr sz="1700" b="0" i="0">
                          <a:solidFill>
                            <a:srgbClr val="1F4E79"/>
                          </a:solidFill>
                          <a:latin typeface="Consolas"/>
                        </a:rPr>
                        <a:t>code c</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F4E79"/>
                          </a:solidFill>
                          <a:latin typeface="Consolas"/>
                        </a:rPr>
                        <a:t>coded c</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l"/>
                      <a:r>
                        <a:rPr sz="1700" b="0" i="0">
                          <a:solidFill>
                            <a:srgbClr val="1F4E79"/>
                          </a:solidFill>
                          <a:latin typeface="Consolas"/>
                        </a:rPr>
                        <a:t>review c</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F4E79"/>
                          </a:solidFill>
                          <a:latin typeface="Consolas"/>
                        </a:rPr>
                        <a:t>coded c</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F4E79"/>
                          </a:solidFill>
                          <a:latin typeface="Consolas"/>
                        </a:rPr>
                        <a:t>reviewed c</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a:t>
                      </a:r>
                      <a:endParaRPr sz="1800"/>
                    </a:p>
                  </a:txBody>
                  <a:tcPr marL="109728" marR="109728" marT="64008" marB="45720" anchor="t">
                    <a:lnL w="0" cmpd="sng">
                      <a:noFill/>
                    </a:lnL>
                    <a:lnR w="0" cmpd="sng">
                      <a:noFill/>
                    </a:lnR>
                    <a:lnT w="9525" cmpd="sng">
                      <a:noFill/>
                    </a:lnT>
                    <a:lnB w="9525" cmpd="sng">
                      <a:noFill/>
                    </a:lnB>
                    <a:solidFill>
                      <a:srgbClr val="F2F8FC"/>
                    </a:solidFill>
                  </a:tcPr>
                </a:tc>
              </a:tr>
              <a:tr h="420623">
                <a:tc>
                  <a:txBody>
                    <a:bodyPr wrap="square"/>
                    <a:lstStyle/>
                    <a:p>
                      <a:pPr algn="l"/>
                      <a:r>
                        <a:rPr sz="1700" b="0" i="0">
                          <a:solidFill>
                            <a:srgbClr val="1F4E79"/>
                          </a:solidFill>
                          <a:latin typeface="Consolas"/>
                        </a:rPr>
                        <a:t>test c</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F4E79"/>
                          </a:solidFill>
                          <a:latin typeface="Consolas"/>
                        </a:rPr>
                        <a:t>reviewed c</a:t>
                      </a:r>
                      <a:r>
                        <a:rPr sz="1800" b="0" i="0">
                          <a:solidFill>
                            <a:srgbClr val="1C252B"/>
                          </a:solidFill>
                          <a:latin typeface="Segoe UI"/>
                        </a:rPr>
                        <a:t>, </a:t>
                      </a:r>
                      <a:r>
                        <a:rPr sz="1700" b="0" i="0">
                          <a:solidFill>
                            <a:srgbClr val="1F4E79"/>
                          </a:solidFill>
                          <a:latin typeface="Consolas"/>
                        </a:rPr>
                        <a:t>staging free</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F4E79"/>
                          </a:solidFill>
                          <a:latin typeface="Consolas"/>
                        </a:rPr>
                        <a:t>tested c</a:t>
                      </a:r>
                      <a:r>
                        <a:rPr sz="1800" b="0" i="0">
                          <a:solidFill>
                            <a:srgbClr val="1C252B"/>
                          </a:solidFill>
                          <a:latin typeface="Segoe UI"/>
                        </a:rPr>
                        <a:t>, </a:t>
                      </a:r>
                      <a:r>
                        <a:rPr sz="1700" b="0" i="0">
                          <a:solidFill>
                            <a:srgbClr val="1F4E79"/>
                          </a:solidFill>
                          <a:latin typeface="Consolas"/>
                        </a:rPr>
                        <a:t>staging busy</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F4E79"/>
                          </a:solidFill>
                          <a:latin typeface="Consolas"/>
                        </a:rPr>
                        <a:t>staging free</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l"/>
                      <a:r>
                        <a:rPr sz="1700" b="0" i="0">
                          <a:solidFill>
                            <a:srgbClr val="1F4E79"/>
                          </a:solidFill>
                          <a:latin typeface="Consolas"/>
                        </a:rPr>
                        <a:t>deploy c</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F4E79"/>
                          </a:solidFill>
                          <a:latin typeface="Consolas"/>
                        </a:rPr>
                        <a:t>tested c</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F4E79"/>
                          </a:solidFill>
                          <a:latin typeface="Consolas"/>
                        </a:rPr>
                        <a:t>deployed c</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a:t>
                      </a:r>
                      <a:endParaRPr sz="1800"/>
                    </a:p>
                  </a:txBody>
                  <a:tcPr marL="109728" marR="109728" marT="64008" marB="45720" anchor="t">
                    <a:lnL w="0" cmpd="sng">
                      <a:noFill/>
                    </a:lnL>
                    <a:lnR w="0" cmpd="sng">
                      <a:noFill/>
                    </a:lnR>
                    <a:lnT w="9525" cmpd="sng">
                      <a:noFill/>
                    </a:lnT>
                    <a:lnB w="9525" cmpd="sng">
                      <a:noFill/>
                    </a:lnB>
                    <a:solidFill>
                      <a:srgbClr val="F2F8FC"/>
                    </a:solidFill>
                  </a:tcPr>
                </a:tc>
              </a:tr>
              <a:tr h="420623">
                <a:tc>
                  <a:txBody>
                    <a:bodyPr wrap="square"/>
                    <a:lstStyle/>
                    <a:p>
                      <a:pPr algn="l"/>
                      <a:r>
                        <a:rPr sz="1700" b="0" i="0">
                          <a:solidFill>
                            <a:srgbClr val="1F4E79"/>
                          </a:solidFill>
                          <a:latin typeface="Consolas"/>
                        </a:rPr>
                        <a:t>release staging</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F4E79"/>
                          </a:solidFill>
                          <a:latin typeface="Consolas"/>
                        </a:rPr>
                        <a:t>staging busy</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F4E79"/>
                          </a:solidFill>
                          <a:latin typeface="Consolas"/>
                        </a:rPr>
                        <a:t>staging free</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F4E79"/>
                          </a:solidFill>
                          <a:latin typeface="Consolas"/>
                        </a:rPr>
                        <a:t>staging busy</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60704" y="5531053"/>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Initial state: </a:t>
            </a:r>
            <a:r>
              <a:rPr sz="2100" b="0" i="0">
                <a:solidFill>
                  <a:srgbClr val="1C252B"/>
                </a:solidFill>
                <a:latin typeface="Cambria"/>
              </a:rPr>
              <a:t>{</a:t>
            </a:r>
            <a:r>
              <a:rPr sz="2100" b="0" i="1">
                <a:solidFill>
                  <a:srgbClr val="1C252B"/>
                </a:solidFill>
                <a:latin typeface="Cambria"/>
              </a:rPr>
              <a:t>staging</a:t>
            </a:r>
            <a:r>
              <a:rPr sz="2100" b="0" i="0">
                <a:solidFill>
                  <a:srgbClr val="1C252B"/>
                </a:solidFill>
                <a:latin typeface="Cambria"/>
              </a:rPr>
              <a:t> </a:t>
            </a:r>
            <a:r>
              <a:rPr sz="2100" b="0" i="1">
                <a:solidFill>
                  <a:srgbClr val="1C252B"/>
                </a:solidFill>
                <a:latin typeface="Cambria"/>
              </a:rPr>
              <a:t>free</a:t>
            </a:r>
            <a:r>
              <a:rPr sz="2100" b="0" i="0">
                <a:solidFill>
                  <a:srgbClr val="1C252B"/>
                </a:solidFill>
                <a:latin typeface="Cambria"/>
              </a:rPr>
              <a:t>}</a:t>
            </a:r>
            <a:r>
              <a:rPr sz="2100" b="0" i="0">
                <a:solidFill>
                  <a:srgbClr val="1C252B"/>
                </a:solidFill>
                <a:latin typeface="Segoe UI"/>
              </a:rPr>
              <a:t>. Goal: </a:t>
            </a:r>
            <a:r>
              <a:rPr sz="2100" b="0" i="0">
                <a:solidFill>
                  <a:srgbClr val="1C252B"/>
                </a:solidFill>
                <a:latin typeface="Cambria"/>
              </a:rPr>
              <a:t>{</a:t>
            </a:r>
            <a:r>
              <a:rPr sz="2100" b="0" i="1">
                <a:solidFill>
                  <a:srgbClr val="1C252B"/>
                </a:solidFill>
                <a:latin typeface="Cambria"/>
              </a:rPr>
              <a:t>deployed</a:t>
            </a:r>
            <a:r>
              <a:rPr sz="2100" b="0" i="0">
                <a:solidFill>
                  <a:srgbClr val="1C252B"/>
                </a:solidFill>
                <a:latin typeface="Cambria"/>
              </a:rPr>
              <a:t> </a:t>
            </a:r>
            <a:r>
              <a:rPr sz="2100" b="0" i="1">
                <a:solidFill>
                  <a:srgbClr val="1C252B"/>
                </a:solidFill>
                <a:latin typeface="Cambria"/>
              </a:rPr>
              <a:t>A</a:t>
            </a:r>
            <a:r>
              <a:rPr sz="2100" b="0" i="0">
                <a:solidFill>
                  <a:srgbClr val="1C252B"/>
                </a:solidFill>
                <a:latin typeface="Cambria"/>
              </a:rPr>
              <a:t>, </a:t>
            </a:r>
            <a:r>
              <a:rPr sz="2100" b="0" i="1">
                <a:solidFill>
                  <a:srgbClr val="1C252B"/>
                </a:solidFill>
                <a:latin typeface="Cambria"/>
              </a:rPr>
              <a:t>deployed</a:t>
            </a:r>
            <a:r>
              <a:rPr sz="2100" b="0" i="0">
                <a:solidFill>
                  <a:srgbClr val="1C252B"/>
                </a:solidFill>
                <a:latin typeface="Cambria"/>
              </a:rPr>
              <a:t> </a:t>
            </a:r>
            <a:r>
              <a:rPr sz="2100" b="0" i="1">
                <a:solidFill>
                  <a:srgbClr val="1C252B"/>
                </a:solidFill>
                <a:latin typeface="Cambria"/>
              </a:rPr>
              <a:t>B</a:t>
            </a:r>
            <a:r>
              <a:rPr sz="2100" b="0" i="0">
                <a:solidFill>
                  <a:srgbClr val="1C252B"/>
                </a:solidFill>
                <a:latin typeface="Cambria"/>
              </a:rPr>
              <a:t>}</a:t>
            </a:r>
            <a:r>
              <a:rPr sz="2100" b="0" i="0">
                <a:solidFill>
                  <a:srgbClr val="1C252B"/>
                </a:solidFill>
                <a:latin typeface="Segoe UI"/>
              </a:rPr>
              <a: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Planning as Progression Search</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From a Task List to Operators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9.2   Planning as Progression Search</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Means–Ends Analysis and the General Problem Solver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Goal Clobbering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9.5   What the Representation Buys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§9.2     </a:t>
            </a:r>
            <a:fld id="{DB9B116B-5620-4147-8A2B-D63D3A3D420E}" type="slidenum">
              <a:rPr lang="en-GB" sz="1000">
                <a:solidFill>
                  <a:srgbClr val="8795A1"/>
                </a:solidFill>
                <a:latin typeface="Segoe UI"/>
              </a:rPr>
              <a:t>10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25772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Planning as Progression Search</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89     </a:t>
            </a:r>
            <a:fld id="{A89B9E50-DAF1-4333-BAA1-BE670BCB5CAF}"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40937"/>
          </a:xfrm>
          <a:prstGeom prst="roundRect">
            <a:avLst>
              <a:gd name="adj" fmla="val 251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40937"/>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plan is a sequence of operators leading from the initial state to a state satisfying the goal. So a planning problem </a:t>
            </a:r>
            <a:r>
              <a:rPr sz="2300" b="0" i="1">
                <a:solidFill>
                  <a:srgbClr val="1C252B"/>
                </a:solidFill>
                <a:latin typeface="Segoe UI"/>
              </a:rPr>
              <a:t>is</a:t>
            </a:r>
            <a:r>
              <a:rPr sz="2300" b="0" i="0">
                <a:solidFill>
                  <a:srgbClr val="1C252B"/>
                </a:solidFill>
                <a:latin typeface="Segoe UI"/>
              </a:rPr>
              <a:t> a search problem, and Chapter 3’s </a:t>
            </a:r>
            <a:r>
              <a:rPr sz="2150" b="0" i="0">
                <a:solidFill>
                  <a:srgbClr val="1F4E79"/>
                </a:solidFill>
                <a:latin typeface="Consolas"/>
              </a:rPr>
              <a:t>Problem</a:t>
            </a:r>
            <a:r>
              <a:rPr sz="2300" b="0" i="0">
                <a:solidFill>
                  <a:srgbClr val="1C252B"/>
                </a:solidFill>
                <a:latin typeface="Segoe UI"/>
              </a:rPr>
              <a:t> interface fits it without modification:</a:t>
            </a:r>
          </a:p>
        </p:txBody>
      </p:sp>
      <p:sp>
        <p:nvSpPr>
          <p:cNvPr id="10" name="body-1"/>
          <p:cNvSpPr txBox="1"/>
          <p:nvPr/>
        </p:nvSpPr>
        <p:spPr>
          <a:xfrm>
            <a:off x="1060704" y="3302533"/>
            <a:ext cx="10161727" cy="1810588"/>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A5276"/>
                </a:solidFill>
                <a:latin typeface="Segoe UI"/>
              </a:rPr>
              <a:t>•	</a:t>
            </a:r>
            <a:r>
              <a:rPr sz="2300" b="0" i="1">
                <a:solidFill>
                  <a:srgbClr val="1C252B"/>
                </a:solidFill>
                <a:latin typeface="Segoe UI"/>
              </a:rPr>
              <a:t>State</a:t>
            </a:r>
            <a:r>
              <a:rPr sz="2300" b="0" i="0">
                <a:solidFill>
                  <a:srgbClr val="1C252B"/>
                </a:solidFill>
                <a:latin typeface="Segoe UI"/>
              </a:rPr>
              <a:t> — a </a:t>
            </a:r>
            <a:r>
              <a:rPr sz="2150" b="0" i="0">
                <a:solidFill>
                  <a:srgbClr val="1F4E79"/>
                </a:solidFill>
                <a:latin typeface="Consolas"/>
              </a:rPr>
              <a:t>frozenset</a:t>
            </a:r>
            <a:r>
              <a:rPr sz="2300" b="0" i="0">
                <a:solidFill>
                  <a:srgbClr val="1C252B"/>
                </a:solidFill>
                <a:latin typeface="Segoe UI"/>
              </a:rPr>
              <a:t> of literals currently true.</a:t>
            </a:r>
          </a:p>
          <a:p>
            <a:pPr algn="l" marL="257176" indent="-257176">
              <a:lnSpc>
                <a:spcPct val="104000"/>
              </a:lnSpc>
              <a:spcBef>
                <a:spcPts val="0"/>
              </a:spcBef>
              <a:spcAft>
                <a:spcPts val="804"/>
              </a:spcAft>
            </a:pPr>
            <a:r>
              <a:rPr sz="2300" b="1">
                <a:solidFill>
                  <a:srgbClr val="1A5276"/>
                </a:solidFill>
                <a:latin typeface="Segoe UI"/>
              </a:rPr>
              <a:t>•	</a:t>
            </a:r>
            <a:r>
              <a:rPr sz="2300" b="0" i="1">
                <a:solidFill>
                  <a:srgbClr val="1C252B"/>
                </a:solidFill>
                <a:latin typeface="Segoe UI"/>
              </a:rPr>
              <a:t>Actions</a:t>
            </a:r>
            <a:r>
              <a:rPr sz="2300" b="0" i="0">
                <a:solidFill>
                  <a:srgbClr val="1C252B"/>
                </a:solidFill>
                <a:latin typeface="Segoe UI"/>
              </a:rPr>
              <a:t> — the operators whose preconditions are a subset of the state.</a:t>
            </a:r>
          </a:p>
          <a:p>
            <a:pPr algn="l" marL="257176" indent="-257176">
              <a:lnSpc>
                <a:spcPct val="104000"/>
              </a:lnSpc>
              <a:spcBef>
                <a:spcPts val="0"/>
              </a:spcBef>
              <a:spcAft>
                <a:spcPts val="804"/>
              </a:spcAft>
            </a:pPr>
            <a:r>
              <a:rPr sz="2300" b="1">
                <a:solidFill>
                  <a:srgbClr val="1A5276"/>
                </a:solidFill>
                <a:latin typeface="Segoe UI"/>
              </a:rPr>
              <a:t>•	</a:t>
            </a:r>
            <a:r>
              <a:rPr sz="2300" b="0" i="1">
                <a:solidFill>
                  <a:srgbClr val="1C252B"/>
                </a:solidFill>
                <a:latin typeface="Segoe UI"/>
              </a:rPr>
              <a:t>Result</a:t>
            </a:r>
            <a:r>
              <a:rPr sz="2300" b="0" i="0">
                <a:solidFill>
                  <a:srgbClr val="1C252B"/>
                </a:solidFill>
                <a:latin typeface="Segoe UI"/>
              </a:rPr>
              <a:t> — </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a:t>
            </a:r>
            <a:r>
              <a:rPr sz="2300" b="0" i="0">
                <a:solidFill>
                  <a:srgbClr val="1C252B"/>
                </a:solidFill>
                <a:latin typeface="Segoe UI"/>
              </a:rPr>
              <a:t>delete</a:t>
            </a:r>
            <a:r>
              <a:rPr sz="2300" b="0" i="0">
                <a:solidFill>
                  <a:srgbClr val="1C252B"/>
                </a:solidFill>
                <a:latin typeface="Cambria"/>
              </a:rPr>
              <a:t>) ∪ </a:t>
            </a:r>
            <a:r>
              <a:rPr sz="2300" b="0" i="0">
                <a:solidFill>
                  <a:srgbClr val="1C252B"/>
                </a:solidFill>
                <a:latin typeface="Segoe UI"/>
              </a:rPr>
              <a:t>add.</a:t>
            </a:r>
          </a:p>
          <a:p>
            <a:pPr algn="l" marL="257176" indent="-257176">
              <a:lnSpc>
                <a:spcPct val="104000"/>
              </a:lnSpc>
              <a:spcBef>
                <a:spcPts val="0"/>
              </a:spcBef>
              <a:spcAft>
                <a:spcPts val="0"/>
              </a:spcAft>
            </a:pPr>
            <a:r>
              <a:rPr sz="2300" b="1">
                <a:solidFill>
                  <a:srgbClr val="1A5276"/>
                </a:solidFill>
                <a:latin typeface="Segoe UI"/>
              </a:rPr>
              <a:t>•	</a:t>
            </a:r>
            <a:r>
              <a:rPr sz="2300" b="0" i="1">
                <a:solidFill>
                  <a:srgbClr val="1C252B"/>
                </a:solidFill>
                <a:latin typeface="Segoe UI"/>
              </a:rPr>
              <a:t>Goal test</a:t>
            </a:r>
            <a:r>
              <a:rPr sz="2300" b="0" i="0">
                <a:solidFill>
                  <a:srgbClr val="1C252B"/>
                </a:solidFill>
                <a:latin typeface="Segoe UI"/>
              </a:rPr>
              <a:t> — is the goal a subset of the state?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248349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a heuristic barely helps here, and when that happens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89     </a:t>
            </a:r>
            <a:fld id="{C6AFBCE1-EEF4-4DCC-997B-72980D0EE0A1}"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80788"/>
          </a:xfrm>
          <a:prstGeom prst="roundRect">
            <a:avLst>
              <a:gd name="adj" fmla="val 20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8078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3929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Chapter 5 would suggest adding a heuristic. A good admissible one is available: for each component count the actions it still needs — four if untouched, three if coded, two if reviewed, one if tested, none if deployed — and sum. Those actions are specific to their component, so they cannot be shared and the sum is a lower bound. At the initial state with four components it estimates </a:t>
            </a:r>
            <a:r>
              <a:rPr sz="1700" b="0" i="0">
                <a:solidFill>
                  <a:srgbClr val="1C252B"/>
                </a:solidFill>
                <a:latin typeface="Cambria"/>
              </a:rPr>
              <a:t>16</a:t>
            </a:r>
            <a:r>
              <a:rPr sz="1700" b="0" i="0">
                <a:solidFill>
                  <a:srgbClr val="1C252B"/>
                </a:solidFill>
                <a:latin typeface="Segoe UI"/>
              </a:rPr>
              <a:t> against a true optimum of </a:t>
            </a:r>
            <a:r>
              <a:rPr sz="1700" b="0" i="0">
                <a:solidFill>
                  <a:srgbClr val="1C252B"/>
                </a:solidFill>
                <a:latin typeface="Cambria"/>
              </a:rPr>
              <a:t>19</a:t>
            </a:r>
            <a:r>
              <a:rPr sz="1700" b="0" i="0">
                <a:solidFill>
                  <a:srgbClr val="1C252B"/>
                </a:solidFill>
                <a:latin typeface="Segoe UI"/>
              </a:rPr>
              <a:t>: a strong heuristic.</a:t>
            </a:r>
          </a:p>
        </p:txBody>
      </p:sp>
      <p:sp>
        <p:nvSpPr>
          <p:cNvPr id="10" name="body-1"/>
          <p:cNvSpPr txBox="1"/>
          <p:nvPr/>
        </p:nvSpPr>
        <p:spPr>
          <a:xfrm>
            <a:off x="1060704" y="3514217"/>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It buys almost nothing. </a:t>
            </a:r>
            <a:r>
              <a:rPr sz="1700" b="0" i="1">
                <a:solidFill>
                  <a:srgbClr val="1C252B"/>
                </a:solidFill>
                <a:latin typeface="Cambria"/>
              </a:rPr>
              <a:t>A</a:t>
            </a:r>
            <a:r>
              <a:rPr sz="1700" b="0" i="0" baseline="30000">
                <a:solidFill>
                  <a:srgbClr val="1C252B"/>
                </a:solidFill>
                <a:latin typeface="Cambria"/>
              </a:rPr>
              <a:t>∗</a:t>
            </a:r>
            <a:r>
              <a:rPr sz="1700" b="0" i="0">
                <a:solidFill>
                  <a:srgbClr val="1C252B"/>
                </a:solidFill>
                <a:latin typeface="Segoe UI"/>
              </a:rPr>
              <a:t> expands </a:t>
            </a:r>
            <a:r>
              <a:rPr sz="1700" b="0" i="0">
                <a:solidFill>
                  <a:srgbClr val="1C252B"/>
                </a:solidFill>
                <a:latin typeface="Cambria"/>
              </a:rPr>
              <a:t>1,152</a:t>
            </a:r>
            <a:r>
              <a:rPr sz="1700" b="0" i="0">
                <a:solidFill>
                  <a:srgbClr val="1C252B"/>
                </a:solidFill>
                <a:latin typeface="Segoe UI"/>
              </a:rPr>
              <a:t> states where breadth-first search expands </a:t>
            </a:r>
            <a:r>
              <a:rPr sz="1700" b="0" i="0">
                <a:solidFill>
                  <a:srgbClr val="1C252B"/>
                </a:solidFill>
                <a:latin typeface="Cambria"/>
              </a:rPr>
              <a:t>1,163</a:t>
            </a:r>
            <a:r>
              <a:rPr sz="1700" b="0" i="0">
                <a:solidFill>
                  <a:srgbClr val="1C252B"/>
                </a:solidFill>
                <a:latin typeface="Segoe UI"/>
              </a:rPr>
              <a:t> — under one per cent.</a:t>
            </a:r>
          </a:p>
        </p:txBody>
      </p:sp>
      <p:sp>
        <p:nvSpPr>
          <p:cNvPr id="11" name="body-2"/>
          <p:cNvSpPr txBox="1"/>
          <p:nvPr/>
        </p:nvSpPr>
        <p:spPr>
          <a:xfrm>
            <a:off x="1060704" y="4171848"/>
            <a:ext cx="10161727" cy="112349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reason is worth understanding, because it generalises. </a:t>
            </a:r>
            <a:r>
              <a:rPr sz="1700" b="0" i="1">
                <a:solidFill>
                  <a:srgbClr val="1C252B"/>
                </a:solidFill>
                <a:latin typeface="Cambria"/>
              </a:rPr>
              <a:t>A</a:t>
            </a:r>
            <a:r>
              <a:rPr sz="1700" b="0" i="0" baseline="30000">
                <a:solidFill>
                  <a:srgbClr val="1C252B"/>
                </a:solidFill>
                <a:latin typeface="Cambria"/>
              </a:rPr>
              <a:t>∗</a:t>
            </a:r>
            <a:r>
              <a:rPr sz="1700" b="0" i="0">
                <a:solidFill>
                  <a:srgbClr val="1C252B"/>
                </a:solidFill>
                <a:latin typeface="Segoe UI"/>
              </a:rPr>
              <a:t> must expand every node with </a:t>
            </a:r>
            <a:r>
              <a:rPr sz="1700" b="0" i="1">
                <a:solidFill>
                  <a:srgbClr val="1C252B"/>
                </a:solidFill>
                <a:latin typeface="Cambria"/>
              </a:rPr>
              <a:t>f</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 &lt; </a:t>
            </a:r>
            <a:r>
              <a:rPr sz="1700" b="0" i="1">
                <a:solidFill>
                  <a:srgbClr val="1C252B"/>
                </a:solidFill>
                <a:latin typeface="Cambria"/>
              </a:rPr>
              <a:t>C</a:t>
            </a:r>
            <a:r>
              <a:rPr sz="1700" b="0" i="0" baseline="30000">
                <a:solidFill>
                  <a:srgbClr val="1C252B"/>
                </a:solidFill>
                <a:latin typeface="Cambria"/>
              </a:rPr>
              <a:t>∗</a:t>
            </a:r>
            <a:r>
              <a:rPr sz="1700" b="0" i="0">
                <a:solidFill>
                  <a:srgbClr val="1C252B"/>
                </a:solidFill>
                <a:latin typeface="Segoe UI"/>
              </a:rPr>
              <a:t>, and it saves work only where </a:t>
            </a:r>
            <a:r>
              <a:rPr sz="1700" b="0" i="1">
                <a:solidFill>
                  <a:srgbClr val="1C252B"/>
                </a:solidFill>
                <a:latin typeface="Cambria"/>
              </a:rPr>
              <a:t>f</a:t>
            </a:r>
            <a:r>
              <a:rPr sz="1700" b="0" i="0">
                <a:solidFill>
                  <a:srgbClr val="1C252B"/>
                </a:solidFill>
                <a:latin typeface="Segoe UI"/>
              </a:rPr>
              <a:t> is large enough to rule states out. In this domain almost every reachable state lies on </a:t>
            </a:r>
            <a:r>
              <a:rPr sz="1700" b="0" i="1">
                <a:solidFill>
                  <a:srgbClr val="1C252B"/>
                </a:solidFill>
                <a:latin typeface="Segoe UI"/>
              </a:rPr>
              <a:t>some</a:t>
            </a:r>
            <a:r>
              <a:rPr sz="1700" b="0" i="0">
                <a:solidFill>
                  <a:srgbClr val="1C252B"/>
                </a:solidFill>
                <a:latin typeface="Segoe UI"/>
              </a:rPr>
              <a:t> optimal plan — nearly all the actions are necessary, and their order is largely free — so </a:t>
            </a:r>
            <a:r>
              <a:rPr sz="1700" b="0" i="1">
                <a:solidFill>
                  <a:srgbClr val="1C252B"/>
                </a:solidFill>
                <a:latin typeface="Cambria"/>
              </a:rPr>
              <a:t>f</a:t>
            </a:r>
            <a:r>
              <a:rPr sz="1700" b="0" i="0">
                <a:solidFill>
                  <a:srgbClr val="1C252B"/>
                </a:solidFill>
                <a:latin typeface="Segoe UI"/>
              </a:rPr>
              <a:t> is close to </a:t>
            </a:r>
            <a:r>
              <a:rPr sz="1700" b="0" i="1">
                <a:solidFill>
                  <a:srgbClr val="1C252B"/>
                </a:solidFill>
                <a:latin typeface="Cambria"/>
              </a:rPr>
              <a:t>C</a:t>
            </a:r>
            <a:r>
              <a:rPr sz="1700" b="0" i="0" baseline="30000">
                <a:solidFill>
                  <a:srgbClr val="1C252B"/>
                </a:solidFill>
                <a:latin typeface="Cambria"/>
              </a:rPr>
              <a:t>∗</a:t>
            </a:r>
            <a:r>
              <a:rPr sz="1700" b="0" i="0">
                <a:solidFill>
                  <a:srgbClr val="1C252B"/>
                </a:solidFill>
                <a:latin typeface="Segoe UI"/>
              </a:rPr>
              <a:t> nearly everywhere and there is nothing to prune.</a:t>
            </a:r>
          </a:p>
        </p:txBody>
      </p:sp>
      <p:sp>
        <p:nvSpPr>
          <p:cNvPr id="12" name="body-3"/>
          <p:cNvSpPr txBox="1"/>
          <p:nvPr/>
        </p:nvSpPr>
        <p:spPr>
          <a:xfrm>
            <a:off x="1060704" y="5368366"/>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1">
                <a:solidFill>
                  <a:srgbClr val="1C252B"/>
                </a:solidFill>
                <a:latin typeface="Segoe UI"/>
              </a:rPr>
              <a:t>Heuristics pay when most of the state space is wasted effort.</a:t>
            </a:r>
            <a:r>
              <a:rPr sz="1700" b="0" i="0">
                <a:solidFill>
                  <a:srgbClr val="1C252B"/>
                </a:solidFill>
                <a:latin typeface="Segoe UI"/>
              </a:rPr>
              <a:t> Here very little of it is. The lesson is not that </a:t>
            </a:r>
            <a:r>
              <a:rPr sz="1700" b="0" i="1">
                <a:solidFill>
                  <a:srgbClr val="1C252B"/>
                </a:solidFill>
                <a:latin typeface="Cambria"/>
              </a:rPr>
              <a:t>A</a:t>
            </a:r>
            <a:r>
              <a:rPr sz="1700" b="0" i="0" baseline="30000">
                <a:solidFill>
                  <a:srgbClr val="1C252B"/>
                </a:solidFill>
                <a:latin typeface="Cambria"/>
              </a:rPr>
              <a:t>∗</a:t>
            </a:r>
            <a:r>
              <a:rPr sz="1700" b="0" i="0">
                <a:solidFill>
                  <a:srgbClr val="1C252B"/>
                </a:solidFill>
                <a:latin typeface="Segoe UI"/>
              </a:rPr>
              <a:t> is weak; it is that measuring before optimising applies to search as much as to code.</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Means–Ends Analysis and the General Problem Solver</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From a Task List to Operators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Planning as Progression Search</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9.3   Means–Ends Analysis and the General Problem Solver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Goal Clobbering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9.5   What the Representation Buys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§9.3     </a:t>
            </a:r>
            <a:fld id="{A991DC5A-465A-4628-AADC-31FD9F6C0B91}" type="slidenum">
              <a:rPr lang="en-GB" sz="1000">
                <a:solidFill>
                  <a:srgbClr val="8795A1"/>
                </a:solidFill>
                <a:latin typeface="Segoe UI"/>
              </a:rPr>
              <a:t>13</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93503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Means–ends analysis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90     </a:t>
            </a:r>
            <a:fld id="{6A951364-E066-457B-B0D5-947AE3F67809}"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68368"/>
          </a:xfrm>
          <a:prstGeom prst="roundRect">
            <a:avLst>
              <a:gd name="adj" fmla="val 214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6836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To achieve a goal from a state:</a:t>
            </a:r>
          </a:p>
        </p:txBody>
      </p:sp>
      <p:sp>
        <p:nvSpPr>
          <p:cNvPr id="10" name="body-1"/>
          <p:cNvSpPr txBox="1"/>
          <p:nvPr/>
        </p:nvSpPr>
        <p:spPr>
          <a:xfrm>
            <a:off x="1060704" y="2573451"/>
            <a:ext cx="10161727" cy="2277364"/>
          </a:xfrm>
          <a:prstGeom prst="rect">
            <a:avLst/>
          </a:prstGeom>
          <a:noFill/>
        </p:spPr>
        <p:txBody>
          <a:bodyPr wrap="square" anchor="t" lIns="0" rIns="0" tIns="0" bIns="0">
            <a:noAutofit/>
          </a:bodyPr>
          <a:lstStyle/>
          <a:p>
            <a:pPr algn="l" marL="554820" indent="-554820">
              <a:lnSpc>
                <a:spcPct val="104000"/>
              </a:lnSpc>
              <a:spcBef>
                <a:spcPts val="0"/>
              </a:spcBef>
              <a:spcAft>
                <a:spcPts val="804"/>
              </a:spcAft>
            </a:pPr>
            <a:r>
              <a:rPr sz="2300" b="1">
                <a:solidFill>
                  <a:srgbClr val="8A4500"/>
                </a:solidFill>
                <a:latin typeface="Segoe UI"/>
              </a:rPr>
              <a:t>1.	</a:t>
            </a:r>
            <a:r>
              <a:rPr sz="2300" b="0" i="0">
                <a:solidFill>
                  <a:srgbClr val="1C252B"/>
                </a:solidFill>
                <a:latin typeface="Segoe UI"/>
              </a:rPr>
              <a:t>If the goal already holds, stop.</a:t>
            </a:r>
          </a:p>
          <a:p>
            <a:pPr algn="l" marL="554820" indent="-554820">
              <a:lnSpc>
                <a:spcPct val="104000"/>
              </a:lnSpc>
              <a:spcBef>
                <a:spcPts val="0"/>
              </a:spcBef>
              <a:spcAft>
                <a:spcPts val="804"/>
              </a:spcAft>
            </a:pPr>
            <a:r>
              <a:rPr sz="2300" b="1">
                <a:solidFill>
                  <a:srgbClr val="8A4500"/>
                </a:solidFill>
                <a:latin typeface="Segoe UI"/>
              </a:rPr>
              <a:t>2.	</a:t>
            </a:r>
            <a:r>
              <a:rPr sz="2300" b="0" i="0">
                <a:solidFill>
                  <a:srgbClr val="1C252B"/>
                </a:solidFill>
                <a:latin typeface="Segoe UI"/>
              </a:rPr>
              <a:t>Otherwise pick a </a:t>
            </a:r>
            <a:r>
              <a:rPr sz="2300" b="1" i="0">
                <a:solidFill>
                  <a:srgbClr val="1A5276"/>
                </a:solidFill>
                <a:latin typeface="Segoe UI"/>
              </a:rPr>
              <a:t>difference</a:t>
            </a:r>
            <a:r>
              <a:rPr sz="2300" b="0" i="0">
                <a:solidFill>
                  <a:srgbClr val="1C252B"/>
                </a:solidFill>
                <a:latin typeface="Segoe UI"/>
              </a:rPr>
              <a:t> — a goal literal not yet true.</a:t>
            </a:r>
          </a:p>
          <a:p>
            <a:pPr algn="l" marL="554820" indent="-554820">
              <a:lnSpc>
                <a:spcPct val="104000"/>
              </a:lnSpc>
              <a:spcBef>
                <a:spcPts val="0"/>
              </a:spcBef>
              <a:spcAft>
                <a:spcPts val="804"/>
              </a:spcAft>
            </a:pPr>
            <a:r>
              <a:rPr sz="2300" b="1">
                <a:solidFill>
                  <a:srgbClr val="8A4500"/>
                </a:solidFill>
                <a:latin typeface="Segoe UI"/>
              </a:rPr>
              <a:t>3.	</a:t>
            </a:r>
            <a:r>
              <a:rPr sz="2300" b="0" i="0">
                <a:solidFill>
                  <a:srgbClr val="1C252B"/>
                </a:solidFill>
                <a:latin typeface="Segoe UI"/>
              </a:rPr>
              <a:t>Choose an operator whose add list contains that literal.</a:t>
            </a:r>
          </a:p>
          <a:p>
            <a:pPr algn="l" marL="554820" indent="-554820">
              <a:lnSpc>
                <a:spcPct val="104000"/>
              </a:lnSpc>
              <a:spcBef>
                <a:spcPts val="0"/>
              </a:spcBef>
              <a:spcAft>
                <a:spcPts val="804"/>
              </a:spcAft>
            </a:pPr>
            <a:r>
              <a:rPr sz="2300" b="1">
                <a:solidFill>
                  <a:srgbClr val="8A4500"/>
                </a:solidFill>
                <a:latin typeface="Segoe UI"/>
              </a:rPr>
              <a:t>4.	</a:t>
            </a:r>
            <a:r>
              <a:rPr sz="2300" b="0" i="1">
                <a:solidFill>
                  <a:srgbClr val="1C252B"/>
                </a:solidFill>
                <a:latin typeface="Segoe UI"/>
              </a:rPr>
              <a:t>Recursively</a:t>
            </a:r>
            <a:r>
              <a:rPr sz="2300" b="0" i="0">
                <a:solidFill>
                  <a:srgbClr val="1C252B"/>
                </a:solidFill>
                <a:latin typeface="Segoe UI"/>
              </a:rPr>
              <a:t> achieve that operator’s preconditions.</a:t>
            </a:r>
          </a:p>
          <a:p>
            <a:pPr algn="l" marL="554820" indent="-554820">
              <a:lnSpc>
                <a:spcPct val="104000"/>
              </a:lnSpc>
              <a:spcBef>
                <a:spcPts val="0"/>
              </a:spcBef>
              <a:spcAft>
                <a:spcPts val="0"/>
              </a:spcAft>
            </a:pPr>
            <a:r>
              <a:rPr sz="2300" b="1">
                <a:solidFill>
                  <a:srgbClr val="8A4500"/>
                </a:solidFill>
                <a:latin typeface="Segoe UI"/>
              </a:rPr>
              <a:t>5.	</a:t>
            </a:r>
            <a:r>
              <a:rPr sz="2300" b="0" i="0">
                <a:solidFill>
                  <a:srgbClr val="1C252B"/>
                </a:solidFill>
                <a:latin typeface="Segoe UI"/>
              </a:rPr>
              <a:t>Apply the operator, and continue with the remaining goals.</a:t>
            </a:r>
          </a:p>
        </p:txBody>
      </p:sp>
      <p:sp>
        <p:nvSpPr>
          <p:cNvPr id="11" name="body-2"/>
          <p:cNvSpPr txBox="1"/>
          <p:nvPr/>
        </p:nvSpPr>
        <p:spPr>
          <a:xfrm>
            <a:off x="1060704" y="4965750"/>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recursion at step 4 is the idea: the means to an end become ends in their own right.</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316080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xEl>
                                              <p:pRg st="4" end="4"/>
                                            </p:txEl>
                                          </p:spTgt>
                                        </p:tgtEl>
                                        <p:attrNameLst>
                                          <p:attrName>style.visibility</p:attrName>
                                        </p:attrNameLst>
                                      </p:cBhvr>
                                      <p:to>
                                        <p:strVal val="visible"/>
                                      </p:to>
                                    </p:set>
                                    <p:animEffect transition="in" filter="fade">
                                      <p:cBhvr>
                                        <p:cTn id="28" dur="38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Means–Ends Analysis and the General Problem Solver</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90     </a:t>
            </a:r>
            <a:fld id="{8F55A065-9CF3-4059-9EF2-E5D169E94EA2}" type="slidenum">
              <a:rPr lang="en-GB" sz="1000">
                <a:solidFill>
                  <a:srgbClr val="8795A1"/>
                </a:solidFill>
                <a:latin typeface="Segoe UI"/>
              </a:rPr>
              <a:t>15</a:t>
            </a:fld>
          </a:p>
        </p:txBody>
      </p:sp>
      <p:graphicFrame>
        <p:nvGraphicFramePr>
          <p:cNvPr id="7" name="!!table"/>
          <p:cNvGraphicFramePr>
            <a:graphicFrameLocks noGrp="1"/>
          </p:cNvGraphicFramePr>
          <p:nvPr/>
        </p:nvGraphicFramePr>
        <p:xfrm>
          <a:off x="658368" y="1737360"/>
          <a:ext cx="10874957" cy="4389119"/>
        </p:xfrm>
        <a:graphic>
          <a:graphicData uri="http://schemas.openxmlformats.org/drawingml/2006/table">
            <a:tbl>
              <a:tblPr firstRow="0" bandRow="0" firstCol="0" lastRow="0" lastCol="0" bandCol="0">
                <a:tableStyleId>{2D5ABB26-0587-4C30-8999-92F81FD0307C}</a:tableStyleId>
              </a:tblPr>
              <a:tblGrid>
                <a:gridCol w="2019635"/>
                <a:gridCol w="1553565"/>
                <a:gridCol w="1708922"/>
                <a:gridCol w="2019635"/>
                <a:gridCol w="1864278"/>
                <a:gridCol w="1708922"/>
              </a:tblGrid>
              <a:tr h="374904">
                <a:tc>
                  <a:txBody>
                    <a:bodyPr wrap="square"/>
                    <a:lstStyle/>
                    <a:p>
                      <a:pPr algn="l"/>
                      <a:r>
                        <a:rPr sz="1500" b="1" i="0">
                          <a:solidFill>
                            <a:srgbClr val="1A5276"/>
                          </a:solidFill>
                          <a:latin typeface="Segoe UI"/>
                        </a:rPr>
                        <a:t>Components</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States</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Plan length</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BFS expanded</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1">
                          <a:solidFill>
                            <a:srgbClr val="1A5276"/>
                          </a:solidFill>
                          <a:latin typeface="Cambria"/>
                        </a:rPr>
                        <a:t>A</a:t>
                      </a:r>
                      <a:r>
                        <a:rPr sz="1500" b="1" i="0" baseline="30000">
                          <a:solidFill>
                            <a:srgbClr val="1A5276"/>
                          </a:solidFill>
                          <a:latin typeface="Cambria"/>
                        </a:rPr>
                        <a:t>∗</a:t>
                      </a:r>
                      <a:r>
                        <a:rPr sz="1500" b="1" i="0">
                          <a:solidFill>
                            <a:srgbClr val="1A5276"/>
                          </a:solidFill>
                          <a:latin typeface="Segoe UI"/>
                        </a:rPr>
                        <a:t> expanded</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GPS ops</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74904">
                <a:tc>
                  <a:txBody>
                    <a:bodyPr wrap="square"/>
                    <a:lstStyle/>
                    <a:p>
                      <a:pPr algn="l"/>
                      <a:r>
                        <a:rPr sz="1500" b="0" i="0">
                          <a:solidFill>
                            <a:srgbClr val="1C252B"/>
                          </a:solidFill>
                          <a:latin typeface="Segoe UI"/>
                        </a:rPr>
                        <a:t>2</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41</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9</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37</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36</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45</a:t>
                      </a:r>
                      <a:endParaRPr sz="1500"/>
                    </a:p>
                  </a:txBody>
                  <a:tcPr marL="109728" marR="109728" marT="64008" marB="45720" anchor="t">
                    <a:lnL w="0" cmpd="sng">
                      <a:noFill/>
                    </a:lnL>
                    <a:lnR w="0" cmpd="sng">
                      <a:noFill/>
                    </a:lnR>
                    <a:lnT w="9525" cmpd="sng">
                      <a:noFill/>
                    </a:lnT>
                    <a:lnB w="9525" cmpd="sng">
                      <a:noFill/>
                    </a:lnB>
                    <a:solidFill>
                      <a:srgbClr val="FFFFFF"/>
                    </a:solidFill>
                  </a:tcPr>
                </a:tc>
              </a:tr>
              <a:tr h="374904">
                <a:tc>
                  <a:txBody>
                    <a:bodyPr wrap="square"/>
                    <a:lstStyle/>
                    <a:p>
                      <a:pPr algn="l"/>
                      <a:r>
                        <a:rPr sz="1500" b="0" i="0">
                          <a:solidFill>
                            <a:srgbClr val="1C252B"/>
                          </a:solidFill>
                          <a:latin typeface="Segoe UI"/>
                        </a:rPr>
                        <a:t>3</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223</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14</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218</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214</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104</a:t>
                      </a:r>
                      <a:endParaRPr sz="1500"/>
                    </a:p>
                  </a:txBody>
                  <a:tcPr marL="109728" marR="109728" marT="64008" marB="45720" anchor="t">
                    <a:lnL w="0" cmpd="sng">
                      <a:noFill/>
                    </a:lnL>
                    <a:lnR w="0" cmpd="sng">
                      <a:noFill/>
                    </a:lnR>
                    <a:lnT w="9525" cmpd="sng">
                      <a:noFill/>
                    </a:lnT>
                    <a:lnB w="9525" cmpd="sng">
                      <a:noFill/>
                    </a:lnB>
                    <a:solidFill>
                      <a:srgbClr val="F2F8FC"/>
                    </a:solidFill>
                  </a:tcPr>
                </a:tc>
              </a:tr>
              <a:tr h="374904">
                <a:tc>
                  <a:txBody>
                    <a:bodyPr wrap="square"/>
                    <a:lstStyle/>
                    <a:p>
                      <a:pPr algn="l"/>
                      <a:r>
                        <a:rPr sz="1500" b="0" i="0">
                          <a:solidFill>
                            <a:srgbClr val="1C252B"/>
                          </a:solidFill>
                          <a:latin typeface="Segoe UI"/>
                        </a:rPr>
                        <a:t>4</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1,169</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19</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1,163</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1,152</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1" i="0">
                          <a:solidFill>
                            <a:srgbClr val="1C252B"/>
                          </a:solidFill>
                          <a:latin typeface="Segoe UI"/>
                        </a:rPr>
                        <a:t>187</a:t>
                      </a:r>
                      <a:endParaRPr sz="1500"/>
                    </a:p>
                  </a:txBody>
                  <a:tcPr marL="109728" marR="109728" marT="64008" marB="45720" anchor="t">
                    <a:lnL w="0" cmpd="sng">
                      <a:noFill/>
                    </a:lnL>
                    <a:lnR w="0" cmpd="sng">
                      <a:noFill/>
                    </a:lnR>
                    <a:lnT w="9525" cmpd="sng">
                      <a:noFill/>
                    </a:lnT>
                    <a:lnB w="9525" cmpd="sng">
                      <a:noFill/>
                    </a:lnB>
                    <a:solidFill>
                      <a:srgbClr val="FFFFFF"/>
                    </a:solidFill>
                  </a:tcPr>
                </a:tc>
              </a:tr>
              <a:tr h="2889503">
                <a:tc>
                  <a:txBody>
                    <a:bodyPr wrap="square"/>
                    <a:lstStyle/>
                    <a:p>
                      <a:pPr algn="l"/>
                      <a:r>
                        <a:rPr sz="1500" b="0" i="0">
                          <a:solidFill>
                            <a:srgbClr val="1C252B"/>
                          </a:solidFill>
                          <a:latin typeface="Segoe UI"/>
                        </a:rPr>
                        <a:t>Progression search against means–ends analysis. All three find an optimal plan on every instance; the state space grows about fivefold per component while the work means–ends analysis does grows roughly linearly.</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38658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Goal clobbering, in two operators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9.2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91     </a:t>
            </a:r>
            <a:fld id="{AFAC839C-7E62-496E-83EB-CDEAB00F9A21}" type="slidenum">
              <a:rPr lang="en-GB" sz="1000">
                <a:solidFill>
                  <a:srgbClr val="8795A1"/>
                </a:solidFill>
                <a:latin typeface="Segoe UI"/>
              </a:rPr>
              <a:t>16</a:t>
            </a:fld>
          </a:p>
        </p:txBody>
      </p:sp>
      <p:pic>
        <p:nvPicPr>
          <p:cNvPr id="6" name="!!figure" descr="Figure 9.2. Goal clobbering, in two operators. Means–ends analysis is complete only if it happens to take the goals in a workable ord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09504" y="1737360"/>
            <a:ext cx="9572686"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Means–ends analysis is complete only if it happens to take the goals in a workable order.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61235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Means–ends analysis on the release domain, traced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BAB4BCD9-5C0F-494F-83E5-DD197A03DCDC}"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56354"/>
          </a:xfrm>
          <a:prstGeom prst="roundRect">
            <a:avLst>
              <a:gd name="adj" fmla="val 209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563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Goal </a:t>
            </a:r>
            <a:r>
              <a:rPr sz="1900" b="0" i="0">
                <a:solidFill>
                  <a:srgbClr val="1C252B"/>
                </a:solidFill>
                <a:latin typeface="Cambria"/>
              </a:rPr>
              <a:t>{</a:t>
            </a:r>
            <a:r>
              <a:rPr sz="1900" b="0" i="1">
                <a:solidFill>
                  <a:srgbClr val="1C252B"/>
                </a:solidFill>
                <a:latin typeface="Cambria"/>
              </a:rPr>
              <a:t>deployed</a:t>
            </a:r>
            <a:r>
              <a:rPr sz="1900" b="0" i="0">
                <a:solidFill>
                  <a:srgbClr val="1C252B"/>
                </a:solidFill>
                <a:latin typeface="Cambria"/>
              </a:rPr>
              <a:t> </a:t>
            </a:r>
            <a:r>
              <a:rPr sz="1900" b="0" i="1">
                <a:solidFill>
                  <a:srgbClr val="1C252B"/>
                </a:solidFill>
                <a:latin typeface="Cambria"/>
              </a:rPr>
              <a:t>A</a:t>
            </a:r>
            <a:r>
              <a:rPr sz="1900" b="0" i="0">
                <a:solidFill>
                  <a:srgbClr val="1C252B"/>
                </a:solidFill>
                <a:latin typeface="Cambria"/>
              </a:rPr>
              <a:t>, </a:t>
            </a:r>
            <a:r>
              <a:rPr sz="1900" b="0" i="1">
                <a:solidFill>
                  <a:srgbClr val="1C252B"/>
                </a:solidFill>
                <a:latin typeface="Cambria"/>
              </a:rPr>
              <a:t>deployed</a:t>
            </a:r>
            <a:r>
              <a:rPr sz="1900" b="0" i="0">
                <a:solidFill>
                  <a:srgbClr val="1C252B"/>
                </a:solidFill>
                <a:latin typeface="Cambria"/>
              </a:rPr>
              <a:t> </a:t>
            </a:r>
            <a:r>
              <a:rPr sz="1900" b="0" i="1">
                <a:solidFill>
                  <a:srgbClr val="1C252B"/>
                </a:solidFill>
                <a:latin typeface="Cambria"/>
              </a:rPr>
              <a:t>B</a:t>
            </a:r>
            <a:r>
              <a:rPr sz="1900" b="0" i="0">
                <a:solidFill>
                  <a:srgbClr val="1C252B"/>
                </a:solidFill>
                <a:latin typeface="Cambria"/>
              </a:rPr>
              <a:t>}</a:t>
            </a:r>
            <a:r>
              <a:rPr sz="1900" b="0" i="0">
                <a:solidFill>
                  <a:srgbClr val="1C252B"/>
                </a:solidFill>
                <a:latin typeface="Segoe UI"/>
              </a:rPr>
              <a:t>, initial state </a:t>
            </a:r>
            <a:r>
              <a:rPr sz="1900" b="0" i="0">
                <a:solidFill>
                  <a:srgbClr val="1C252B"/>
                </a:solidFill>
                <a:latin typeface="Cambria"/>
              </a:rPr>
              <a:t>{</a:t>
            </a:r>
            <a:r>
              <a:rPr sz="1900" b="0" i="1">
                <a:solidFill>
                  <a:srgbClr val="1C252B"/>
                </a:solidFill>
                <a:latin typeface="Cambria"/>
              </a:rPr>
              <a:t>staging</a:t>
            </a:r>
            <a:r>
              <a:rPr sz="1900" b="0" i="0">
                <a:solidFill>
                  <a:srgbClr val="1C252B"/>
                </a:solidFill>
                <a:latin typeface="Cambria"/>
              </a:rPr>
              <a:t> </a:t>
            </a:r>
            <a:r>
              <a:rPr sz="1900" b="0" i="1">
                <a:solidFill>
                  <a:srgbClr val="1C252B"/>
                </a:solidFill>
                <a:latin typeface="Cambria"/>
              </a:rPr>
              <a:t>free</a:t>
            </a:r>
            <a:r>
              <a:rPr sz="1900" b="0" i="0">
                <a:solidFill>
                  <a:srgbClr val="1C252B"/>
                </a:solidFill>
                <a:latin typeface="Cambria"/>
              </a:rPr>
              <a:t>}</a:t>
            </a:r>
            <a:r>
              <a:rPr sz="1900" b="0" i="0">
                <a:solidFill>
                  <a:srgbClr val="1C252B"/>
                </a:solidFill>
                <a:latin typeface="Segoe UI"/>
              </a:rPr>
              <a:t>. Take the goals in order.</a:t>
            </a:r>
          </a:p>
        </p:txBody>
      </p:sp>
      <p:sp>
        <p:nvSpPr>
          <p:cNvPr id="10"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Difference: </a:t>
            </a:r>
            <a:r>
              <a:rPr sz="1800" b="1" i="0">
                <a:solidFill>
                  <a:srgbClr val="1F4E79"/>
                </a:solidFill>
                <a:latin typeface="Consolas"/>
              </a:rPr>
              <a:t>deployed A</a:t>
            </a:r>
            <a:r>
              <a:rPr sz="1900" b="1" i="0">
                <a:solidFill>
                  <a:srgbClr val="1C252B"/>
                </a:solidFill>
                <a:latin typeface="Segoe UI"/>
              </a:rPr>
              <a:t>.</a:t>
            </a:r>
            <a:r>
              <a:rPr sz="1900" b="0" i="0">
                <a:solidFill>
                  <a:srgbClr val="1C252B"/>
                </a:solidFill>
                <a:latin typeface="Segoe UI"/>
              </a:rPr>
              <a:t> The only operator adding it is </a:t>
            </a:r>
            <a:r>
              <a:rPr sz="1800" b="0" i="0">
                <a:solidFill>
                  <a:srgbClr val="1F4E79"/>
                </a:solidFill>
                <a:latin typeface="Consolas"/>
              </a:rPr>
              <a:t>deploy A</a:t>
            </a:r>
            <a:r>
              <a:rPr sz="1900" b="0" i="0">
                <a:solidFill>
                  <a:srgbClr val="1C252B"/>
                </a:solidFill>
                <a:latin typeface="Segoe UI"/>
              </a:rPr>
              <a:t>, whose precondition is </a:t>
            </a:r>
            <a:r>
              <a:rPr sz="1800" b="0" i="0">
                <a:solidFill>
                  <a:srgbClr val="1F4E79"/>
                </a:solidFill>
                <a:latin typeface="Consolas"/>
              </a:rPr>
              <a:t>tested A</a:t>
            </a:r>
            <a:r>
              <a:rPr sz="1900" b="0" i="0">
                <a:solidFill>
                  <a:srgbClr val="1C252B"/>
                </a:solidFill>
                <a:latin typeface="Segoe UI"/>
              </a:rPr>
              <a:t>. Recurse.</a:t>
            </a:r>
          </a:p>
        </p:txBody>
      </p:sp>
      <p:sp>
        <p:nvSpPr>
          <p:cNvPr id="11" name="body-2"/>
          <p:cNvSpPr txBox="1"/>
          <p:nvPr/>
        </p:nvSpPr>
        <p:spPr>
          <a:xfrm>
            <a:off x="1042416" y="3180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Difference: </a:t>
            </a:r>
            <a:r>
              <a:rPr sz="1800" b="1" i="0">
                <a:solidFill>
                  <a:srgbClr val="1F4E79"/>
                </a:solidFill>
                <a:latin typeface="Consolas"/>
              </a:rPr>
              <a:t>tested A</a:t>
            </a:r>
            <a:r>
              <a:rPr sz="1900" b="1" i="0">
                <a:solidFill>
                  <a:srgbClr val="1C252B"/>
                </a:solidFill>
                <a:latin typeface="Segoe UI"/>
              </a:rPr>
              <a:t>.</a:t>
            </a:r>
            <a:r>
              <a:rPr sz="1900" b="0" i="0">
                <a:solidFill>
                  <a:srgbClr val="1C252B"/>
                </a:solidFill>
                <a:latin typeface="Segoe UI"/>
              </a:rPr>
              <a:t> Added by </a:t>
            </a:r>
            <a:r>
              <a:rPr sz="1800" b="0" i="0">
                <a:solidFill>
                  <a:srgbClr val="1F4E79"/>
                </a:solidFill>
                <a:latin typeface="Consolas"/>
              </a:rPr>
              <a:t>test A</a:t>
            </a:r>
            <a:r>
              <a:rPr sz="1900" b="0" i="0">
                <a:solidFill>
                  <a:srgbClr val="1C252B"/>
                </a:solidFill>
                <a:latin typeface="Segoe UI"/>
              </a:rPr>
              <a:t>, which needs </a:t>
            </a:r>
            <a:r>
              <a:rPr sz="1800" b="0" i="0">
                <a:solidFill>
                  <a:srgbClr val="1F4E79"/>
                </a:solidFill>
                <a:latin typeface="Consolas"/>
              </a:rPr>
              <a:t>reviewed A</a:t>
            </a:r>
            <a:r>
              <a:rPr sz="1900" b="0" i="0">
                <a:solidFill>
                  <a:srgbClr val="1C252B"/>
                </a:solidFill>
                <a:latin typeface="Segoe UI"/>
              </a:rPr>
              <a:t> and </a:t>
            </a:r>
            <a:r>
              <a:rPr sz="1800" b="0" i="0">
                <a:solidFill>
                  <a:srgbClr val="1F4E79"/>
                </a:solidFill>
                <a:latin typeface="Consolas"/>
              </a:rPr>
              <a:t>staging free</a:t>
            </a:r>
            <a:r>
              <a:rPr sz="1900" b="0" i="0">
                <a:solidFill>
                  <a:srgbClr val="1C252B"/>
                </a:solidFill>
                <a:latin typeface="Segoe UI"/>
              </a:rPr>
              <a:t>. Recurse on each.</a:t>
            </a:r>
          </a:p>
        </p:txBody>
      </p:sp>
      <p:sp>
        <p:nvSpPr>
          <p:cNvPr id="12" name="body-3"/>
          <p:cNvSpPr txBox="1"/>
          <p:nvPr/>
        </p:nvSpPr>
        <p:spPr>
          <a:xfrm>
            <a:off x="1042416" y="391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F4E79"/>
                </a:solidFill>
                <a:latin typeface="Consolas"/>
              </a:rPr>
              <a:t>reviewed A</a:t>
            </a:r>
            <a:r>
              <a:rPr sz="1900" b="0" i="0">
                <a:solidFill>
                  <a:srgbClr val="1C252B"/>
                </a:solidFill>
                <a:latin typeface="Segoe UI"/>
              </a:rPr>
              <a:t> needs </a:t>
            </a:r>
            <a:r>
              <a:rPr sz="1800" b="0" i="0">
                <a:solidFill>
                  <a:srgbClr val="1F4E79"/>
                </a:solidFill>
                <a:latin typeface="Consolas"/>
              </a:rPr>
              <a:t>coded A</a:t>
            </a:r>
            <a:r>
              <a:rPr sz="1900" b="0" i="0">
                <a:solidFill>
                  <a:srgbClr val="1C252B"/>
                </a:solidFill>
                <a:latin typeface="Segoe UI"/>
              </a:rPr>
              <a:t>, which needs nothing. Apply </a:t>
            </a:r>
            <a:r>
              <a:rPr sz="1800" b="0" i="0">
                <a:solidFill>
                  <a:srgbClr val="1F4E79"/>
                </a:solidFill>
                <a:latin typeface="Consolas"/>
              </a:rPr>
              <a:t>code A</a:t>
            </a:r>
            <a:r>
              <a:rPr sz="1900" b="0" i="0">
                <a:solidFill>
                  <a:srgbClr val="1C252B"/>
                </a:solidFill>
                <a:latin typeface="Segoe UI"/>
              </a:rPr>
              <a:t>, then </a:t>
            </a:r>
            <a:r>
              <a:rPr sz="1800" b="0" i="0">
                <a:solidFill>
                  <a:srgbClr val="1F4E79"/>
                </a:solidFill>
                <a:latin typeface="Consolas"/>
              </a:rPr>
              <a:t>review A</a:t>
            </a:r>
            <a:r>
              <a:rPr sz="1900" b="0" i="0">
                <a:solidFill>
                  <a:srgbClr val="1C252B"/>
                </a:solidFill>
                <a:latin typeface="Segoe UI"/>
              </a:rPr>
              <a:t>.</a:t>
            </a:r>
          </a:p>
        </p:txBody>
      </p:sp>
      <p:sp>
        <p:nvSpPr>
          <p:cNvPr id="13" name="body-4"/>
          <p:cNvSpPr txBox="1"/>
          <p:nvPr/>
        </p:nvSpPr>
        <p:spPr>
          <a:xfrm>
            <a:off x="1042416" y="4349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F4E79"/>
                </a:solidFill>
                <a:latin typeface="Consolas"/>
              </a:rPr>
              <a:t>staging free</a:t>
            </a:r>
            <a:r>
              <a:rPr sz="1900" b="0" i="0">
                <a:solidFill>
                  <a:srgbClr val="1C252B"/>
                </a:solidFill>
                <a:latin typeface="Segoe UI"/>
              </a:rPr>
              <a:t> already holds. Nothing to do.</a:t>
            </a:r>
          </a:p>
        </p:txBody>
      </p:sp>
      <p:sp>
        <p:nvSpPr>
          <p:cNvPr id="14" name="body-5"/>
          <p:cNvSpPr txBox="1"/>
          <p:nvPr/>
        </p:nvSpPr>
        <p:spPr>
          <a:xfrm>
            <a:off x="1042416" y="4783251"/>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Apply </a:t>
            </a:r>
            <a:r>
              <a:rPr sz="1800" b="0" i="0">
                <a:solidFill>
                  <a:srgbClr val="1F4E79"/>
                </a:solidFill>
                <a:latin typeface="Consolas"/>
              </a:rPr>
              <a:t>test A</a:t>
            </a:r>
            <a:r>
              <a:rPr sz="1900" b="0" i="0">
                <a:solidFill>
                  <a:srgbClr val="1C252B"/>
                </a:solidFill>
                <a:latin typeface="Segoe UI"/>
              </a:rPr>
              <a:t>. State becomes </a:t>
            </a:r>
            <a:r>
              <a:rPr sz="1900" b="0" i="0">
                <a:solidFill>
                  <a:srgbClr val="1C252B"/>
                </a:solidFill>
                <a:latin typeface="Cambria"/>
              </a:rPr>
              <a:t>{</a:t>
            </a:r>
            <a:r>
              <a:rPr sz="1900" b="0" i="1">
                <a:solidFill>
                  <a:srgbClr val="1C252B"/>
                </a:solidFill>
                <a:latin typeface="Cambria"/>
              </a:rPr>
              <a:t>coded</a:t>
            </a:r>
            <a:r>
              <a:rPr sz="1900" b="0" i="0">
                <a:solidFill>
                  <a:srgbClr val="1C252B"/>
                </a:solidFill>
                <a:latin typeface="Cambria"/>
              </a:rPr>
              <a:t> </a:t>
            </a:r>
            <a:r>
              <a:rPr sz="1900" b="0" i="1">
                <a:solidFill>
                  <a:srgbClr val="1C252B"/>
                </a:solidFill>
                <a:latin typeface="Cambria"/>
              </a:rPr>
              <a:t>A</a:t>
            </a:r>
            <a:r>
              <a:rPr sz="1900" b="0" i="0">
                <a:solidFill>
                  <a:srgbClr val="1C252B"/>
                </a:solidFill>
                <a:latin typeface="Cambria"/>
              </a:rPr>
              <a:t>, </a:t>
            </a:r>
            <a:r>
              <a:rPr sz="1900" b="0" i="1">
                <a:solidFill>
                  <a:srgbClr val="1C252B"/>
                </a:solidFill>
                <a:latin typeface="Cambria"/>
              </a:rPr>
              <a:t>reviewed</a:t>
            </a:r>
            <a:r>
              <a:rPr sz="1900" b="0" i="0">
                <a:solidFill>
                  <a:srgbClr val="1C252B"/>
                </a:solidFill>
                <a:latin typeface="Cambria"/>
              </a:rPr>
              <a:t> </a:t>
            </a:r>
            <a:r>
              <a:rPr sz="1900" b="0" i="1">
                <a:solidFill>
                  <a:srgbClr val="1C252B"/>
                </a:solidFill>
                <a:latin typeface="Cambria"/>
              </a:rPr>
              <a:t>A</a:t>
            </a:r>
            <a:r>
              <a:rPr sz="1900" b="0" i="0">
                <a:solidFill>
                  <a:srgbClr val="1C252B"/>
                </a:solidFill>
                <a:latin typeface="Cambria"/>
              </a:rPr>
              <a:t>, </a:t>
            </a:r>
            <a:r>
              <a:rPr sz="1900" b="0" i="1">
                <a:solidFill>
                  <a:srgbClr val="1C252B"/>
                </a:solidFill>
                <a:latin typeface="Cambria"/>
              </a:rPr>
              <a:t>tested</a:t>
            </a:r>
            <a:r>
              <a:rPr sz="1900" b="0" i="0">
                <a:solidFill>
                  <a:srgbClr val="1C252B"/>
                </a:solidFill>
                <a:latin typeface="Cambria"/>
              </a:rPr>
              <a:t> </a:t>
            </a:r>
            <a:r>
              <a:rPr sz="1900" b="0" i="1">
                <a:solidFill>
                  <a:srgbClr val="1C252B"/>
                </a:solidFill>
                <a:latin typeface="Cambria"/>
              </a:rPr>
              <a:t>A</a:t>
            </a:r>
            <a:r>
              <a:rPr sz="1900" b="0" i="0">
                <a:solidFill>
                  <a:srgbClr val="1C252B"/>
                </a:solidFill>
                <a:latin typeface="Cambria"/>
              </a:rPr>
              <a:t>, </a:t>
            </a:r>
            <a:r>
              <a:rPr sz="1900" b="0" i="1">
                <a:solidFill>
                  <a:srgbClr val="1C252B"/>
                </a:solidFill>
                <a:latin typeface="Cambria"/>
              </a:rPr>
              <a:t>staging</a:t>
            </a:r>
            <a:r>
              <a:rPr sz="1900" b="0" i="0">
                <a:solidFill>
                  <a:srgbClr val="1C252B"/>
                </a:solidFill>
                <a:latin typeface="Cambria"/>
              </a:rPr>
              <a:t> </a:t>
            </a:r>
            <a:r>
              <a:rPr sz="1900" b="0" i="1">
                <a:solidFill>
                  <a:srgbClr val="1C252B"/>
                </a:solidFill>
                <a:latin typeface="Cambria"/>
              </a:rPr>
              <a:t>busy</a:t>
            </a:r>
            <a:r>
              <a:rPr sz="1900" b="0" i="0">
                <a:solidFill>
                  <a:srgbClr val="1C252B"/>
                </a:solidFill>
                <a:latin typeface="Cambria"/>
              </a:rPr>
              <a:t>}</a:t>
            </a:r>
            <a:r>
              <a:rPr sz="1900" b="0" i="0">
                <a:solidFill>
                  <a:srgbClr val="1C252B"/>
                </a:solidFill>
                <a:latin typeface="Segoe UI"/>
              </a:rPr>
              <a:t> — note that </a:t>
            </a:r>
            <a:r>
              <a:rPr sz="1800" b="0" i="0">
                <a:solidFill>
                  <a:srgbClr val="1F4E79"/>
                </a:solidFill>
                <a:latin typeface="Consolas"/>
              </a:rPr>
              <a:t>staging free</a:t>
            </a:r>
            <a:r>
              <a:rPr sz="1900" b="0" i="0">
                <a:solidFill>
                  <a:srgbClr val="1C252B"/>
                </a:solidFill>
                <a:latin typeface="Segoe UI"/>
              </a:rPr>
              <a:t> is </a:t>
            </a:r>
            <a:r>
              <a:rPr sz="1900" b="0" i="1">
                <a:solidFill>
                  <a:srgbClr val="1C252B"/>
                </a:solidFill>
                <a:latin typeface="Segoe UI"/>
              </a:rPr>
              <a:t>gone</a:t>
            </a:r>
            <a:r>
              <a:rPr sz="1900" b="0" i="0">
                <a:solidFill>
                  <a:srgbClr val="1C252B"/>
                </a:solidFill>
                <a:latin typeface="Segoe UI"/>
              </a:rPr>
              <a:t>.</a:t>
            </a:r>
          </a:p>
        </p:txBody>
      </p:sp>
      <p:sp>
        <p:nvSpPr>
          <p:cNvPr id="15" name="body-6"/>
          <p:cNvSpPr txBox="1"/>
          <p:nvPr/>
        </p:nvSpPr>
        <p:spPr>
          <a:xfrm>
            <a:off x="1042416" y="5518251"/>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Apply </a:t>
            </a:r>
            <a:r>
              <a:rPr sz="1800" b="0" i="0">
                <a:solidFill>
                  <a:srgbClr val="1F4E79"/>
                </a:solidFill>
                <a:latin typeface="Consolas"/>
              </a:rPr>
              <a:t>deploy A</a:t>
            </a:r>
            <a:r>
              <a:rPr sz="1900" b="0" i="0">
                <a:solidFill>
                  <a:srgbClr val="1C252B"/>
                </a:solidFill>
                <a:latin typeface="Segoe UI"/>
              </a:rPr>
              <a:t>. First goal achieved, in four steps.</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383812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Means–ends analysis on the release domain, traced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CE3BA515-D6B9-4089-90FC-1D47EEFDC278}"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90924"/>
          </a:xfrm>
          <a:prstGeom prst="roundRect">
            <a:avLst>
              <a:gd name="adj" fmla="val 223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90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Difference: </a:t>
            </a:r>
            <a:r>
              <a:rPr sz="1800" b="1" i="0">
                <a:solidFill>
                  <a:srgbClr val="1F4E79"/>
                </a:solidFill>
                <a:latin typeface="Consolas"/>
              </a:rPr>
              <a:t>deployed B</a:t>
            </a:r>
            <a:r>
              <a:rPr sz="1900" b="1" i="0">
                <a:solidFill>
                  <a:srgbClr val="1C252B"/>
                </a:solidFill>
                <a:latin typeface="Segoe UI"/>
              </a:rPr>
              <a:t>.</a:t>
            </a:r>
            <a:r>
              <a:rPr sz="1900" b="0" i="0">
                <a:solidFill>
                  <a:srgbClr val="1C252B"/>
                </a:solidFill>
                <a:latin typeface="Segoe UI"/>
              </a:rPr>
              <a:t> By the same recursion this needs </a:t>
            </a:r>
            <a:r>
              <a:rPr sz="1800" b="0" i="0">
                <a:solidFill>
                  <a:srgbClr val="1F4E79"/>
                </a:solidFill>
                <a:latin typeface="Consolas"/>
              </a:rPr>
              <a:t>tested B</a:t>
            </a:r>
            <a:r>
              <a:rPr sz="1900" b="0" i="0">
                <a:solidFill>
                  <a:srgbClr val="1C252B"/>
                </a:solidFill>
                <a:latin typeface="Segoe UI"/>
              </a:rPr>
              <a:t>, which needs </a:t>
            </a:r>
            <a:r>
              <a:rPr sz="1800" b="0" i="0">
                <a:solidFill>
                  <a:srgbClr val="1F4E79"/>
                </a:solidFill>
                <a:latin typeface="Consolas"/>
              </a:rPr>
              <a:t>reviewed B</a:t>
            </a:r>
            <a:r>
              <a:rPr sz="1900" b="0" i="0">
                <a:solidFill>
                  <a:srgbClr val="1C252B"/>
                </a:solidFill>
                <a:latin typeface="Segoe UI"/>
              </a:rPr>
              <a:t> and </a:t>
            </a:r>
            <a:r>
              <a:rPr sz="1800" b="0" i="0">
                <a:solidFill>
                  <a:srgbClr val="1F4E79"/>
                </a:solidFill>
                <a:latin typeface="Consolas"/>
              </a:rPr>
              <a:t>staging free</a:t>
            </a:r>
            <a:r>
              <a:rPr sz="1900" b="0" i="0">
                <a:solidFill>
                  <a:srgbClr val="1C252B"/>
                </a:solidFill>
                <a:latin typeface="Segoe UI"/>
              </a:rPr>
              <a:t>.</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F4E79"/>
                </a:solidFill>
                <a:latin typeface="Consolas"/>
              </a:rPr>
              <a:t>reviewed B</a:t>
            </a:r>
            <a:r>
              <a:rPr sz="1900" b="0" i="0">
                <a:solidFill>
                  <a:srgbClr val="1C252B"/>
                </a:solidFill>
                <a:latin typeface="Segoe UI"/>
              </a:rPr>
              <a:t>: apply </a:t>
            </a:r>
            <a:r>
              <a:rPr sz="1800" b="0" i="0">
                <a:solidFill>
                  <a:srgbClr val="1F4E79"/>
                </a:solidFill>
                <a:latin typeface="Consolas"/>
              </a:rPr>
              <a:t>code B</a:t>
            </a:r>
            <a:r>
              <a:rPr sz="1900" b="0" i="0">
                <a:solidFill>
                  <a:srgbClr val="1C252B"/>
                </a:solidFill>
                <a:latin typeface="Segoe UI"/>
              </a:rPr>
              <a:t>, </a:t>
            </a:r>
            <a:r>
              <a:rPr sz="1800" b="0" i="0">
                <a:solidFill>
                  <a:srgbClr val="1F4E79"/>
                </a:solidFill>
                <a:latin typeface="Consolas"/>
              </a:rPr>
              <a:t>review B</a:t>
            </a:r>
            <a:r>
              <a:rPr sz="1900" b="0" i="0">
                <a:solidFill>
                  <a:srgbClr val="1C252B"/>
                </a:solidFill>
                <a:latin typeface="Segoe UI"/>
              </a:rPr>
              <a:t>.</a:t>
            </a:r>
          </a:p>
        </p:txBody>
      </p:sp>
      <p:sp>
        <p:nvSpPr>
          <p:cNvPr id="11" name="body-2"/>
          <p:cNvSpPr txBox="1"/>
          <p:nvPr/>
        </p:nvSpPr>
        <p:spPr>
          <a:xfrm>
            <a:off x="1042416" y="318053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F4E79"/>
                </a:solidFill>
                <a:latin typeface="Consolas"/>
              </a:rPr>
              <a:t>staging free</a:t>
            </a:r>
            <a:r>
              <a:rPr sz="1900" b="0" i="0">
                <a:solidFill>
                  <a:srgbClr val="1C252B"/>
                </a:solidFill>
                <a:latin typeface="Segoe UI"/>
              </a:rPr>
              <a:t> is </a:t>
            </a:r>
            <a:r>
              <a:rPr sz="1900" b="0" i="1">
                <a:solidFill>
                  <a:srgbClr val="1C252B"/>
                </a:solidFill>
                <a:latin typeface="Segoe UI"/>
              </a:rPr>
              <a:t>no longer true</a:t>
            </a:r>
            <a:r>
              <a:rPr sz="1900" b="0" i="0">
                <a:solidFill>
                  <a:srgbClr val="1C252B"/>
                </a:solidFill>
                <a:latin typeface="Segoe UI"/>
              </a:rPr>
              <a:t> — </a:t>
            </a:r>
            <a:r>
              <a:rPr sz="1800" b="0" i="0">
                <a:solidFill>
                  <a:srgbClr val="1F4E79"/>
                </a:solidFill>
                <a:latin typeface="Consolas"/>
              </a:rPr>
              <a:t>test A</a:t>
            </a:r>
            <a:r>
              <a:rPr sz="1900" b="0" i="0">
                <a:solidFill>
                  <a:srgbClr val="1C252B"/>
                </a:solidFill>
                <a:latin typeface="Segoe UI"/>
              </a:rPr>
              <a:t> deleted it. But it is a goal like any other, and </a:t>
            </a:r>
            <a:r>
              <a:rPr sz="1800" b="0" i="0">
                <a:solidFill>
                  <a:srgbClr val="1F4E79"/>
                </a:solidFill>
                <a:latin typeface="Consolas"/>
              </a:rPr>
              <a:t>release staging</a:t>
            </a:r>
            <a:r>
              <a:rPr sz="1900" b="0" i="0">
                <a:solidFill>
                  <a:srgbClr val="1C252B"/>
                </a:solidFill>
                <a:latin typeface="Segoe UI"/>
              </a:rPr>
              <a:t> adds it, with precondition </a:t>
            </a:r>
            <a:r>
              <a:rPr sz="1800" b="0" i="0">
                <a:solidFill>
                  <a:srgbClr val="1F4E79"/>
                </a:solidFill>
                <a:latin typeface="Consolas"/>
              </a:rPr>
              <a:t>staging busy</a:t>
            </a:r>
            <a:r>
              <a:rPr sz="1900" b="0" i="0">
                <a:solidFill>
                  <a:srgbClr val="1C252B"/>
                </a:solidFill>
                <a:latin typeface="Segoe UI"/>
              </a:rPr>
              <a:t>, which does hold. Apply </a:t>
            </a:r>
            <a:r>
              <a:rPr sz="1800" b="0" i="0">
                <a:solidFill>
                  <a:srgbClr val="1F4E79"/>
                </a:solidFill>
                <a:latin typeface="Consolas"/>
              </a:rPr>
              <a:t>release staging</a:t>
            </a:r>
            <a:r>
              <a:rPr sz="1900" b="0" i="0">
                <a:solidFill>
                  <a:srgbClr val="1C252B"/>
                </a:solidFill>
                <a:latin typeface="Segoe UI"/>
              </a:rPr>
              <a:t>.</a:t>
            </a:r>
          </a:p>
        </p:txBody>
      </p:sp>
      <p:sp>
        <p:nvSpPr>
          <p:cNvPr id="12" name="body-3"/>
          <p:cNvSpPr txBox="1"/>
          <p:nvPr/>
        </p:nvSpPr>
        <p:spPr>
          <a:xfrm>
            <a:off x="1042416" y="421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Apply </a:t>
            </a:r>
            <a:r>
              <a:rPr sz="1800" b="0" i="0">
                <a:solidFill>
                  <a:srgbClr val="1F4E79"/>
                </a:solidFill>
                <a:latin typeface="Consolas"/>
              </a:rPr>
              <a:t>test B</a:t>
            </a:r>
            <a:r>
              <a:rPr sz="1900" b="0" i="0">
                <a:solidFill>
                  <a:srgbClr val="1C252B"/>
                </a:solidFill>
                <a:latin typeface="Segoe UI"/>
              </a:rPr>
              <a:t>, then </a:t>
            </a:r>
            <a:r>
              <a:rPr sz="1800" b="0" i="0">
                <a:solidFill>
                  <a:srgbClr val="1F4E79"/>
                </a:solidFill>
                <a:latin typeface="Consolas"/>
              </a:rPr>
              <a:t>deploy B</a:t>
            </a:r>
            <a:r>
              <a:rPr sz="1900" b="0" i="0">
                <a:solidFill>
                  <a:srgbClr val="1C252B"/>
                </a:solidFill>
                <a:latin typeface="Segoe UI"/>
              </a:rPr>
              <a:t>.</a:t>
            </a:r>
          </a:p>
        </p:txBody>
      </p:sp>
      <p:sp>
        <p:nvSpPr>
          <p:cNvPr id="13" name="body-4"/>
          <p:cNvSpPr txBox="1"/>
          <p:nvPr/>
        </p:nvSpPr>
        <p:spPr>
          <a:xfrm>
            <a:off x="1042416" y="4650536"/>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plan, nine steps:</a:t>
            </a:r>
            <a:r>
              <a:rPr sz="1900" b="0" i="0">
                <a:solidFill>
                  <a:srgbClr val="1C252B"/>
                </a:solidFill>
                <a:latin typeface="Segoe UI"/>
              </a:rPr>
              <a:t> </a:t>
            </a:r>
            <a:r>
              <a:rPr sz="1800" b="0" i="0">
                <a:solidFill>
                  <a:srgbClr val="1F4E79"/>
                </a:solidFill>
                <a:latin typeface="Consolas"/>
              </a:rPr>
              <a:t>code A</a:t>
            </a:r>
            <a:r>
              <a:rPr sz="1900" b="0" i="0">
                <a:solidFill>
                  <a:srgbClr val="1C252B"/>
                </a:solidFill>
                <a:latin typeface="Segoe UI"/>
              </a:rPr>
              <a:t>, </a:t>
            </a:r>
            <a:r>
              <a:rPr sz="1800" b="0" i="0">
                <a:solidFill>
                  <a:srgbClr val="1F4E79"/>
                </a:solidFill>
                <a:latin typeface="Consolas"/>
              </a:rPr>
              <a:t>review A</a:t>
            </a:r>
            <a:r>
              <a:rPr sz="1900" b="0" i="0">
                <a:solidFill>
                  <a:srgbClr val="1C252B"/>
                </a:solidFill>
                <a:latin typeface="Segoe UI"/>
              </a:rPr>
              <a:t>, </a:t>
            </a:r>
            <a:r>
              <a:rPr sz="1800" b="0" i="0">
                <a:solidFill>
                  <a:srgbClr val="1F4E79"/>
                </a:solidFill>
                <a:latin typeface="Consolas"/>
              </a:rPr>
              <a:t>test A</a:t>
            </a:r>
            <a:r>
              <a:rPr sz="1900" b="0" i="0">
                <a:solidFill>
                  <a:srgbClr val="1C252B"/>
                </a:solidFill>
                <a:latin typeface="Segoe UI"/>
              </a:rPr>
              <a:t>, </a:t>
            </a:r>
            <a:r>
              <a:rPr sz="1800" b="0" i="0">
                <a:solidFill>
                  <a:srgbClr val="1F4E79"/>
                </a:solidFill>
                <a:latin typeface="Consolas"/>
              </a:rPr>
              <a:t>deploy A</a:t>
            </a:r>
            <a:r>
              <a:rPr sz="1900" b="0" i="0">
                <a:solidFill>
                  <a:srgbClr val="1C252B"/>
                </a:solidFill>
                <a:latin typeface="Segoe UI"/>
              </a:rPr>
              <a:t>, </a:t>
            </a:r>
            <a:r>
              <a:rPr sz="1800" b="0" i="0">
                <a:solidFill>
                  <a:srgbClr val="1F4E79"/>
                </a:solidFill>
                <a:latin typeface="Consolas"/>
              </a:rPr>
              <a:t>code B</a:t>
            </a:r>
            <a:r>
              <a:rPr sz="1900" b="0" i="0">
                <a:solidFill>
                  <a:srgbClr val="1C252B"/>
                </a:solidFill>
                <a:latin typeface="Segoe UI"/>
              </a:rPr>
              <a:t>, </a:t>
            </a:r>
            <a:r>
              <a:rPr sz="1800" b="0" i="0">
                <a:solidFill>
                  <a:srgbClr val="1F4E79"/>
                </a:solidFill>
                <a:latin typeface="Consolas"/>
              </a:rPr>
              <a:t>review B</a:t>
            </a:r>
            <a:r>
              <a:rPr sz="1900" b="0" i="0">
                <a:solidFill>
                  <a:srgbClr val="1C252B"/>
                </a:solidFill>
                <a:latin typeface="Segoe UI"/>
              </a:rPr>
              <a:t>, </a:t>
            </a:r>
            <a:r>
              <a:rPr sz="1800" b="0" i="0">
                <a:solidFill>
                  <a:srgbClr val="1F4E79"/>
                </a:solidFill>
                <a:latin typeface="Consolas"/>
              </a:rPr>
              <a:t>release staging</a:t>
            </a:r>
            <a:r>
              <a:rPr sz="1900" b="0" i="0">
                <a:solidFill>
                  <a:srgbClr val="1C252B"/>
                </a:solidFill>
                <a:latin typeface="Segoe UI"/>
              </a:rPr>
              <a:t>, </a:t>
            </a:r>
            <a:r>
              <a:rPr sz="1800" b="0" i="0">
                <a:solidFill>
                  <a:srgbClr val="1F4E79"/>
                </a:solidFill>
                <a:latin typeface="Consolas"/>
              </a:rPr>
              <a:t>test B</a:t>
            </a:r>
            <a:r>
              <a:rPr sz="1900" b="0" i="0">
                <a:solidFill>
                  <a:srgbClr val="1C252B"/>
                </a:solidFill>
                <a:latin typeface="Segoe UI"/>
              </a:rPr>
              <a:t>, </a:t>
            </a:r>
            <a:r>
              <a:rPr sz="1800" b="0" i="0">
                <a:solidFill>
                  <a:srgbClr val="1F4E79"/>
                </a:solidFill>
                <a:latin typeface="Consolas"/>
              </a:rPr>
              <a:t>deploy B</a:t>
            </a:r>
            <a:r>
              <a:rPr sz="1900" b="0" i="0">
                <a:solidFill>
                  <a:srgbClr val="1C252B"/>
                </a:solidFill>
                <a:latin typeface="Segoe UI"/>
              </a:rPr>
              <a:t>. It is optimal, and it was found by considering </a:t>
            </a:r>
            <a:r>
              <a:rPr sz="1900" b="0" i="0">
                <a:solidFill>
                  <a:srgbClr val="1C252B"/>
                </a:solidFill>
                <a:latin typeface="Cambria"/>
              </a:rPr>
              <a:t>45</a:t>
            </a:r>
            <a:r>
              <a:rPr sz="1900" b="0" i="0">
                <a:solidFill>
                  <a:srgbClr val="1C252B"/>
                </a:solidFill>
                <a:latin typeface="Segoe UI"/>
              </a:rPr>
              <a:t> operators rather than by expanding </a:t>
            </a:r>
            <a:r>
              <a:rPr sz="1900" b="0" i="0">
                <a:solidFill>
                  <a:srgbClr val="1C252B"/>
                </a:solidFill>
                <a:latin typeface="Cambria"/>
              </a:rPr>
              <a:t>37</a:t>
            </a:r>
            <a:r>
              <a:rPr sz="1900" b="0" i="0">
                <a:solidFill>
                  <a:srgbClr val="1C252B"/>
                </a:solidFill>
                <a:latin typeface="Segoe UI"/>
              </a:rPr>
              <a:t> states.</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42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right)">
                                      <p:cBhvr>
                                        <p:cTn id="23" dur="42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right)">
                                      <p:cBhvr>
                                        <p:cTn id="28"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Means–ends analysis on the release domain, traced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8BE466C4-EFC8-4DF6-8EF5-2BFCA22B6BD9}"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53209"/>
          </a:xfrm>
          <a:prstGeom prst="roundRect">
            <a:avLst>
              <a:gd name="adj" fmla="val 5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53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Where the luck was.</a:t>
            </a:r>
            <a:r>
              <a:rPr sz="1900" b="0" i="0">
                <a:solidFill>
                  <a:srgbClr val="1C252B"/>
                </a:solidFill>
                <a:latin typeface="Segoe UI"/>
              </a:rPr>
              <a:t> Re-achieving </a:t>
            </a:r>
            <a:r>
              <a:rPr sz="1800" b="0" i="0">
                <a:solidFill>
                  <a:srgbClr val="1F4E79"/>
                </a:solidFill>
                <a:latin typeface="Consolas"/>
              </a:rPr>
              <a:t>staging free</a:t>
            </a:r>
            <a:r>
              <a:rPr sz="1900" b="0" i="0">
                <a:solidFill>
                  <a:srgbClr val="1C252B"/>
                </a:solidFill>
                <a:latin typeface="Segoe UI"/>
              </a:rPr>
              <a:t> worked because an operator exists that restores it. Had there been none — had locking staging been irreversible — means–ends analysis would have failed here exactly as it fails in Figure 9.2, and the failure would have been reported as “no plan exists”.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28967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23DCC7D5-35F9-4548-86AE-C6C80CEA4E19}" type="slidenum">
              <a:rPr lang="en-GB" sz="1000">
                <a:solidFill>
                  <a:srgbClr val="8795A1"/>
                </a:solidFill>
                <a:latin typeface="Segoe UI"/>
              </a:rPr>
              <a:t>20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Omitting the delete list.</a:t>
            </a:r>
            <a:r>
              <a:rPr sz="1700" b="0" i="0">
                <a:solidFill>
                  <a:srgbClr val="1C252B"/>
                </a:solidFill>
                <a:latin typeface="Segoe UI"/>
              </a:rPr>
              <a:t> Without it every action only adds, no action can interfere, and the problem collapses to Chapter 4’s topological sort. If your planning problem seems too easy, check whether you modelled the interference.</a:t>
            </a:r>
          </a:p>
        </p:txBody>
      </p:sp>
      <p:sp>
        <p:nvSpPr>
          <p:cNvPr id="10" name="!!pb1">
            <a:extLst>
              <a:ext uri="{C183D7F6-B498-43B3-948B-1728B52AA6E4}">
                <adec:decorative xmlns:adec="http://schemas.microsoft.com/office/drawing/2017/decorative" val="1"/>
              </a:ext>
            </a:extLst>
          </p:cNvPr>
          <p:cNvSpPr/>
          <p:nvPr/>
        </p:nvSpPr>
        <p:spPr>
          <a:xfrm>
            <a:off x="658368" y="276514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78800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74685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a plan step must appear in the goal.</a:t>
            </a:r>
            <a:r>
              <a:rPr sz="1700" b="0" i="0">
                <a:solidFill>
                  <a:srgbClr val="1C252B"/>
                </a:solidFill>
                <a:latin typeface="Segoe UI"/>
              </a:rPr>
              <a:t> </a:t>
            </a:r>
            <a:r>
              <a:rPr sz="1600" b="0" i="0">
                <a:solidFill>
                  <a:srgbClr val="1F4E79"/>
                </a:solidFill>
                <a:latin typeface="Consolas"/>
              </a:rPr>
              <a:t>release staging</a:t>
            </a:r>
            <a:r>
              <a:rPr sz="1700" b="0" i="0">
                <a:solidFill>
                  <a:srgbClr val="1C252B"/>
                </a:solidFill>
                <a:latin typeface="Segoe UI"/>
              </a:rPr>
              <a:t> appears in no goal and is indispensable.</a:t>
            </a:r>
          </a:p>
        </p:txBody>
      </p:sp>
      <p:sp>
        <p:nvSpPr>
          <p:cNvPr id="13" name="!!pb2">
            <a:extLst>
              <a:ext uri="{C183D7F6-B498-43B3-948B-1728B52AA6E4}">
                <adec:decorative xmlns:adec="http://schemas.microsoft.com/office/drawing/2017/decorative" val="1"/>
              </a:ext>
            </a:extLst>
          </p:cNvPr>
          <p:cNvSpPr/>
          <p:nvPr/>
        </p:nvSpPr>
        <p:spPr>
          <a:xfrm>
            <a:off x="658368" y="35051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280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8691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Trusting means–ends analysis to be complete.</a:t>
            </a:r>
            <a:r>
              <a:rPr sz="1700" b="0" i="0">
                <a:solidFill>
                  <a:srgbClr val="1C252B"/>
                </a:solidFill>
                <a:latin typeface="Segoe UI"/>
              </a:rPr>
              <a:t> It is sensitive to goal order and can report failure on a solvable problem (Figure 9.2).</a:t>
            </a:r>
          </a:p>
        </p:txBody>
      </p:sp>
      <p:sp>
        <p:nvSpPr>
          <p:cNvPr id="16" name="!!pb3">
            <a:extLst>
              <a:ext uri="{C183D7F6-B498-43B3-948B-1728B52AA6E4}">
                <adec:decorative xmlns:adec="http://schemas.microsoft.com/office/drawing/2017/decorative" val="1"/>
              </a:ext>
            </a:extLst>
          </p:cNvPr>
          <p:cNvSpPr/>
          <p:nvPr/>
        </p:nvSpPr>
        <p:spPr>
          <a:xfrm>
            <a:off x="658368" y="424525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26811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22696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Adding a heuristic before measuring.</a:t>
            </a:r>
            <a:r>
              <a:rPr sz="1700" b="0" i="0">
                <a:solidFill>
                  <a:srgbClr val="1C252B"/>
                </a:solidFill>
                <a:latin typeface="Segoe UI"/>
              </a:rPr>
              <a:t> A strong admissible heuristic removed under one per cent of the expansions here, because almost every state lies on an optimal plan.</a:t>
            </a:r>
          </a:p>
        </p:txBody>
      </p:sp>
      <p:sp>
        <p:nvSpPr>
          <p:cNvPr id="19" name="!!pb4">
            <a:extLst>
              <a:ext uri="{C183D7F6-B498-43B3-948B-1728B52AA6E4}">
                <adec:decorative xmlns:adec="http://schemas.microsoft.com/office/drawing/2017/decorative" val="1"/>
              </a:ext>
            </a:extLst>
          </p:cNvPr>
          <p:cNvSpPr/>
          <p:nvPr/>
        </p:nvSpPr>
        <p:spPr>
          <a:xfrm>
            <a:off x="658368" y="498530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00816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967020"/>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Confusing progression with regression.</a:t>
            </a:r>
            <a:r>
              <a:rPr sz="1700" b="0" i="0">
                <a:solidFill>
                  <a:srgbClr val="1C252B"/>
                </a:solidFill>
                <a:latin typeface="Segoe UI"/>
              </a:rPr>
              <a:t> Progression searches forward from the initial state over world states; regression searches backward from the goal over </a:t>
            </a:r>
            <a:r>
              <a:rPr sz="1700" b="0" i="1">
                <a:solidFill>
                  <a:srgbClr val="1C252B"/>
                </a:solidFill>
                <a:latin typeface="Segoe UI"/>
              </a:rPr>
              <a:t>sets</a:t>
            </a:r>
            <a:r>
              <a:rPr sz="1700" b="0" i="0">
                <a:solidFill>
                  <a:srgbClr val="1C252B"/>
                </a:solidFill>
                <a:latin typeface="Segoe UI"/>
              </a:rPr>
              <a:t> of states, and the two have very different branching factors.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45154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A0C56B99-E463-41AB-B843-171740A9C0D0}"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Forgetting the STRIPS assumption.</a:t>
            </a:r>
            <a:r>
              <a:rPr sz="1700" b="0" i="0">
                <a:solidFill>
                  <a:srgbClr val="1C252B"/>
                </a:solidFill>
                <a:latin typeface="Segoe UI"/>
              </a:rPr>
              <a:t> Everything unmentioned is unchanged. If an action really does change something you did not list, the plan will be correct on paper and wrong in the world.</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474121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5CE8BE03-7DAA-4709-83A3-A9E534E7A718}" type="slidenum">
              <a:rPr lang="en-GB" sz="1000">
                <a:solidFill>
                  <a:srgbClr val="8795A1"/>
                </a:solidFill>
                <a:latin typeface="Segoe UI"/>
              </a:rPr>
              <a:t>22</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STRIPS operators, progression search reusing Chapter 4’s frontier, means–ends analysis, and the clobbering example. Reproduces Table 9.1.</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Progression search: Chapter 4's frontier, unchanged</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Means-ends analysis: the General Problem Solver</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Goal clobbering, in two operators</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8: A release plan from operators</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245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code/ch09_release_plan_operators.py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496698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55B1EC0B-4C57-4E9A-BE8D-518484850F56}"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quot;&quot;&quot;Chapter 9 lab -- planning a release from STRIPS operators. Components go through code, review, test and deploy, sharing a single staging environment. Testing seizes staging and deletes it -- that one delete effect is what makes this planning rather than search. &quot;&quot;&quot; import heapq import itertools from collections import deque COMPONENTS = (&quot;A&quot;, &quot;B&quot;)"/>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0">
                <a:solidFill>
                  <a:srgbClr val="7DCEA0"/>
                </a:solidFill>
                <a:latin typeface="Consolas"/>
              </a:rPr>
              <a:t>"""Chapter 9 lab -- planning a release from STRIPS operators.</a:t>
            </a:r>
          </a:p>
          <a:p>
            <a:pPr>
              <a:lnSpc>
                <a:spcPct val="100000"/>
              </a:lnSpc>
              <a:spcAft>
                <a:spcPts val="0"/>
              </a:spcAft>
            </a:pPr>
            <a:r>
              <a:rPr sz="1900">
                <a:latin typeface="Consolas"/>
              </a:rPr>
              <a:t> </a:t>
            </a:r>
          </a:p>
          <a:p>
            <a:pPr>
              <a:lnSpc>
                <a:spcPct val="100000"/>
              </a:lnSpc>
              <a:spcAft>
                <a:spcPts val="0"/>
              </a:spcAft>
            </a:pPr>
            <a:r>
              <a:rPr sz="1900" i="0">
                <a:solidFill>
                  <a:srgbClr val="7DCEA0"/>
                </a:solidFill>
                <a:latin typeface="Consolas"/>
              </a:rPr>
              <a:t>Components go through code, review, test and deploy, sharing a single</a:t>
            </a:r>
          </a:p>
          <a:p>
            <a:pPr>
              <a:lnSpc>
                <a:spcPct val="100000"/>
              </a:lnSpc>
              <a:spcAft>
                <a:spcPts val="0"/>
              </a:spcAft>
            </a:pPr>
            <a:r>
              <a:rPr sz="1900" i="0">
                <a:solidFill>
                  <a:srgbClr val="7DCEA0"/>
                </a:solidFill>
                <a:latin typeface="Consolas"/>
              </a:rPr>
              <a:t>staging environment. Testing seizes staging and deletes it -- that one</a:t>
            </a:r>
          </a:p>
          <a:p>
            <a:pPr>
              <a:lnSpc>
                <a:spcPct val="100000"/>
              </a:lnSpc>
              <a:spcAft>
                <a:spcPts val="0"/>
              </a:spcAft>
            </a:pPr>
            <a:r>
              <a:rPr sz="1900" i="0">
                <a:solidFill>
                  <a:srgbClr val="7DCEA0"/>
                </a:solidFill>
                <a:latin typeface="Consolas"/>
              </a:rPr>
              <a:t>delete effect is what makes this planning rather than search.</a:t>
            </a:r>
          </a:p>
          <a:p>
            <a:pPr>
              <a:lnSpc>
                <a:spcPct val="100000"/>
              </a:lnSpc>
              <a:spcAft>
                <a:spcPts val="0"/>
              </a:spcAft>
            </a:pPr>
            <a:r>
              <a:rPr sz="1900" i="0">
                <a:solidFill>
                  <a:srgbClr val="7DCEA0"/>
                </a:solidFill>
                <a:latin typeface="Consolas"/>
              </a:rPr>
              <a:t>"""</a:t>
            </a:r>
          </a:p>
          <a:p>
            <a:pPr>
              <a:lnSpc>
                <a:spcPct val="100000"/>
              </a:lnSpc>
              <a:spcAft>
                <a:spcPts val="0"/>
              </a:spcAft>
            </a:pPr>
            <a:r>
              <a:rPr sz="1900">
                <a:latin typeface="Consolas"/>
              </a:rPr>
              <a:t> </a:t>
            </a:r>
          </a:p>
          <a:p>
            <a:pPr>
              <a:lnSpc>
                <a:spcPct val="100000"/>
              </a:lnSpc>
              <a:spcAft>
                <a:spcPts val="0"/>
              </a:spcAft>
            </a:pPr>
            <a:r>
              <a:rPr sz="1900" i="0">
                <a:solidFill>
                  <a:srgbClr val="5DADE2"/>
                </a:solidFill>
                <a:latin typeface="Consolas"/>
              </a:rPr>
              <a:t>import</a:t>
            </a:r>
            <a:r>
              <a:rPr sz="1900" i="0">
                <a:solidFill>
                  <a:srgbClr val="E8EDF2"/>
                </a:solidFill>
                <a:latin typeface="Consolas"/>
              </a:rPr>
              <a:t> </a:t>
            </a:r>
            <a:r>
              <a:rPr sz="1900" i="0">
                <a:solidFill>
                  <a:srgbClr val="76D7C4"/>
                </a:solidFill>
                <a:latin typeface="Consolas"/>
              </a:rPr>
              <a:t>heapq</a:t>
            </a:r>
          </a:p>
          <a:p>
            <a:pPr>
              <a:lnSpc>
                <a:spcPct val="100000"/>
              </a:lnSpc>
              <a:spcAft>
                <a:spcPts val="0"/>
              </a:spcAft>
            </a:pPr>
            <a:r>
              <a:rPr sz="1900" i="0">
                <a:solidFill>
                  <a:srgbClr val="5DADE2"/>
                </a:solidFill>
                <a:latin typeface="Consolas"/>
              </a:rPr>
              <a:t>import</a:t>
            </a:r>
            <a:r>
              <a:rPr sz="1900" i="0">
                <a:solidFill>
                  <a:srgbClr val="E8EDF2"/>
                </a:solidFill>
                <a:latin typeface="Consolas"/>
              </a:rPr>
              <a:t> </a:t>
            </a:r>
            <a:r>
              <a:rPr sz="1900" i="0">
                <a:solidFill>
                  <a:srgbClr val="76D7C4"/>
                </a:solidFill>
                <a:latin typeface="Consolas"/>
              </a:rPr>
              <a:t>itertools</a:t>
            </a:r>
          </a:p>
          <a:p>
            <a:pPr>
              <a:lnSpc>
                <a:spcPct val="100000"/>
              </a:lnSpc>
              <a:spcAft>
                <a:spcPts val="0"/>
              </a:spcAft>
            </a:pPr>
            <a:r>
              <a:rPr sz="1900" i="0">
                <a:solidFill>
                  <a:srgbClr val="5DADE2"/>
                </a:solidFill>
                <a:latin typeface="Consolas"/>
              </a:rPr>
              <a:t>from</a:t>
            </a:r>
            <a:r>
              <a:rPr sz="1900" i="0">
                <a:solidFill>
                  <a:srgbClr val="E8EDF2"/>
                </a:solidFill>
                <a:latin typeface="Consolas"/>
              </a:rPr>
              <a:t> </a:t>
            </a:r>
            <a:r>
              <a:rPr sz="1900" i="0">
                <a:solidFill>
                  <a:srgbClr val="76D7C4"/>
                </a:solidFill>
                <a:latin typeface="Consolas"/>
              </a:rPr>
              <a:t>collections</a:t>
            </a:r>
            <a:r>
              <a:rPr sz="1900" i="0">
                <a:solidFill>
                  <a:srgbClr val="E8EDF2"/>
                </a:solidFill>
                <a:latin typeface="Consolas"/>
              </a:rPr>
              <a:t> </a:t>
            </a:r>
            <a:r>
              <a:rPr sz="1900" i="0">
                <a:solidFill>
                  <a:srgbClr val="5DADE2"/>
                </a:solidFill>
                <a:latin typeface="Consolas"/>
              </a:rPr>
              <a:t>import</a:t>
            </a:r>
            <a:r>
              <a:rPr sz="1900" i="0">
                <a:solidFill>
                  <a:srgbClr val="E8EDF2"/>
                </a:solidFill>
                <a:latin typeface="Consolas"/>
              </a:rPr>
              <a:t> </a:t>
            </a:r>
            <a:r>
              <a:rPr sz="1900" i="0">
                <a:solidFill>
                  <a:srgbClr val="E8EDF2"/>
                </a:solidFill>
                <a:latin typeface="Consolas"/>
              </a:rPr>
              <a:t>deque</a:t>
            </a:r>
          </a:p>
          <a:p>
            <a:pPr>
              <a:lnSpc>
                <a:spcPct val="100000"/>
              </a:lnSpc>
              <a:spcAft>
                <a:spcPts val="0"/>
              </a:spcAft>
            </a:pPr>
            <a:r>
              <a:rPr sz="1900">
                <a:latin typeface="Consolas"/>
              </a:rPr>
              <a:t> </a:t>
            </a:r>
          </a:p>
          <a:p>
            <a:pPr>
              <a:lnSpc>
                <a:spcPct val="100000"/>
              </a:lnSpc>
              <a:spcAft>
                <a:spcPts val="0"/>
              </a:spcAft>
            </a:pPr>
            <a:r>
              <a:rPr sz="1900" i="0">
                <a:solidFill>
                  <a:srgbClr val="E8EDF2"/>
                </a:solidFill>
                <a:latin typeface="Consolas"/>
              </a:rPr>
              <a:t>COMPONENTS</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A</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B</a:t>
            </a:r>
            <a:r>
              <a:rPr sz="1900" i="0">
                <a:solidFill>
                  <a:srgbClr val="7DCEA0"/>
                </a:solidFill>
                <a:latin typeface="Consolas"/>
              </a:rPr>
              <a:t>"</a:t>
            </a:r>
            <a:r>
              <a:rPr sz="19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a:p>
            <a:pPr algn="r">
              <a:lnSpc>
                <a:spcPct val="100000"/>
              </a:lnSpc>
            </a:pPr>
            <a:r>
              <a:rPr sz="1900">
                <a:solidFill>
                  <a:srgbClr val="4F5D6A"/>
                </a:solidFill>
                <a:latin typeface="Consolas"/>
              </a:rPr>
              <a:t>5</a:t>
            </a:r>
          </a:p>
          <a:p>
            <a:pPr algn="r">
              <a:lnSpc>
                <a:spcPct val="100000"/>
              </a:lnSpc>
            </a:pPr>
            <a:r>
              <a:rPr sz="1900">
                <a:solidFill>
                  <a:srgbClr val="4F5D6A"/>
                </a:solidFill>
                <a:latin typeface="Consolas"/>
              </a:rPr>
              <a:t>6</a:t>
            </a:r>
          </a:p>
          <a:p>
            <a:pPr algn="r">
              <a:lnSpc>
                <a:spcPct val="100000"/>
              </a:lnSpc>
            </a:pPr>
            <a:r>
              <a:rPr sz="1900">
                <a:solidFill>
                  <a:srgbClr val="4F5D6A"/>
                </a:solidFill>
                <a:latin typeface="Consolas"/>
              </a:rPr>
              <a:t>7</a:t>
            </a:r>
          </a:p>
          <a:p>
            <a:pPr algn="r">
              <a:lnSpc>
                <a:spcPct val="100000"/>
              </a:lnSpc>
            </a:pPr>
            <a:r>
              <a:rPr sz="1900">
                <a:solidFill>
                  <a:srgbClr val="4F5D6A"/>
                </a:solidFill>
                <a:latin typeface="Consolas"/>
              </a:rPr>
              <a:t>8</a:t>
            </a:r>
          </a:p>
          <a:p>
            <a:pPr algn="r">
              <a:lnSpc>
                <a:spcPct val="100000"/>
              </a:lnSpc>
            </a:pPr>
            <a:r>
              <a:rPr sz="1900">
                <a:solidFill>
                  <a:srgbClr val="4F5D6A"/>
                </a:solidFill>
                <a:latin typeface="Consolas"/>
              </a:rPr>
              <a:t>9</a:t>
            </a:r>
          </a:p>
          <a:p>
            <a:pPr algn="r">
              <a:lnSpc>
                <a:spcPct val="100000"/>
              </a:lnSpc>
            </a:pPr>
            <a:r>
              <a:rPr sz="1900">
                <a:solidFill>
                  <a:srgbClr val="4F5D6A"/>
                </a:solidFill>
                <a:latin typeface="Consolas"/>
              </a:rPr>
              <a:t>10</a:t>
            </a:r>
          </a:p>
          <a:p>
            <a:pPr algn="r">
              <a:lnSpc>
                <a:spcPct val="100000"/>
              </a:lnSpc>
            </a:pPr>
            <a:r>
              <a:rPr sz="1900">
                <a:solidFill>
                  <a:srgbClr val="4F5D6A"/>
                </a:solidFill>
                <a:latin typeface="Consolas"/>
              </a:rPr>
              <a:t>11</a:t>
            </a:r>
          </a:p>
          <a:p>
            <a:pPr algn="r">
              <a:lnSpc>
                <a:spcPct val="100000"/>
              </a:lnSpc>
            </a:pPr>
            <a:r>
              <a:rPr sz="1900">
                <a:solidFill>
                  <a:srgbClr val="4F5D6A"/>
                </a:solidFill>
                <a:latin typeface="Consolas"/>
              </a:rPr>
              <a:t>12</a:t>
            </a:r>
          </a:p>
          <a:p>
            <a:pPr algn="r">
              <a:lnSpc>
                <a:spcPct val="100000"/>
              </a:lnSpc>
            </a:pPr>
            <a:r>
              <a:rPr sz="1900">
                <a:solidFill>
                  <a:srgbClr val="4F5D6A"/>
                </a:solidFill>
                <a:latin typeface="Consolas"/>
              </a:rPr>
              <a:t>13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1927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2DE26038-1766-49D8-BFBB-139F7EDF0E91}"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3"/>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def operators(components): &quot;&quot;&quot;(name, preconditions, add, delete), all frozensets.&quot;&quot;&quot; ops = [] for c in components: ops.append((&quot;code %s&quot; % c, frozenset(), frozenset({&quot;coded %s&quot; % c}), frozenset())) ops.append((&quot;review %s&quot; % c, frozenset({&quot;coded %s&quot; % c}), frozenset({&quot;reviewed %s&quot; % c}), frozenset())) ops.append((&quot;test %s&quot; % c, frozenset({&quot;reviewed %s&quot; % c, &quot;staging free&quot;}), frozenset({&quot;tested %s&quot; % c, &quot;staging busy&quot;}), frozenset({&quot;staging free&quot;}))) ops.append((&quot;deploy %s&quot; % c, frozenset({&quot;tested %s&quot; % c}), frozenset({&quot;deployed %s&quot; % c}), frozenset())) ops.append((&quot;release staging&quot;, frozenset({&quot;staging busy&quot;}), frozenset({&quot;staging free&quot;}), frozenset({&quot;staging busy&quot;}))) return ops"/>
          <p:cNvSpPr txBox="1"/>
          <p:nvPr/>
        </p:nvSpPr>
        <p:spPr>
          <a:xfrm>
            <a:off x="1362456" y="2523744"/>
            <a:ext cx="9987991" cy="3675887"/>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operators</a:t>
            </a:r>
            <a:r>
              <a:rPr sz="1300" i="0">
                <a:solidFill>
                  <a:srgbClr val="AEB6BF"/>
                </a:solidFill>
                <a:latin typeface="Consolas"/>
              </a:rPr>
              <a:t>(</a:t>
            </a:r>
            <a:r>
              <a:rPr sz="1300" i="0">
                <a:solidFill>
                  <a:srgbClr val="E8EDF2"/>
                </a:solidFill>
                <a:latin typeface="Consolas"/>
              </a:rPr>
              <a:t>components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"""(name, preconditions, add, delete), all frozensets."""</a:t>
            </a:r>
          </a:p>
          <a:p>
            <a:pPr>
              <a:lnSpc>
                <a:spcPct val="100000"/>
              </a:lnSpc>
              <a:spcAft>
                <a:spcPts val="0"/>
              </a:spcAft>
            </a:pPr>
            <a:r>
              <a:rPr sz="1300" i="0">
                <a:solidFill>
                  <a:srgbClr val="E8EDF2"/>
                </a:solidFill>
                <a:latin typeface="Consolas"/>
              </a:rPr>
              <a:t>    </a:t>
            </a:r>
            <a:r>
              <a:rPr sz="1300" i="0">
                <a:solidFill>
                  <a:srgbClr val="E8EDF2"/>
                </a:solidFill>
                <a:latin typeface="Consolas"/>
              </a:rPr>
              <a:t>ops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c</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components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ops</a:t>
            </a:r>
            <a:r>
              <a:rPr sz="1300" i="0">
                <a:solidFill>
                  <a:srgbClr val="AEB6BF"/>
                </a:solidFill>
                <a:latin typeface="Consolas"/>
              </a:rPr>
              <a:t>.</a:t>
            </a:r>
            <a:r>
              <a:rPr sz="1300" i="0">
                <a:solidFill>
                  <a:srgbClr val="E8EDF2"/>
                </a:solidFill>
                <a:latin typeface="Consolas"/>
              </a:rPr>
              <a:t>append</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code </a:t>
            </a:r>
            <a:r>
              <a:rPr sz="1300" i="0">
                <a:solidFill>
                  <a:srgbClr val="7DCEA0"/>
                </a:solidFill>
                <a:latin typeface="Consolas"/>
              </a:rPr>
              <a: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coded </a:t>
            </a:r>
            <a:r>
              <a:rPr sz="1300" i="0">
                <a:solidFill>
                  <a:srgbClr val="7DCEA0"/>
                </a:solidFill>
                <a:latin typeface="Consolas"/>
              </a:rPr>
              <a: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ops</a:t>
            </a:r>
            <a:r>
              <a:rPr sz="1300" i="0">
                <a:solidFill>
                  <a:srgbClr val="AEB6BF"/>
                </a:solidFill>
                <a:latin typeface="Consolas"/>
              </a:rPr>
              <a:t>.</a:t>
            </a:r>
            <a:r>
              <a:rPr sz="1300" i="0">
                <a:solidFill>
                  <a:srgbClr val="E8EDF2"/>
                </a:solidFill>
                <a:latin typeface="Consolas"/>
              </a:rPr>
              <a:t>append</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review </a:t>
            </a:r>
            <a:r>
              <a:rPr sz="1300" i="0">
                <a:solidFill>
                  <a:srgbClr val="7DCEA0"/>
                </a:solidFill>
                <a:latin typeface="Consolas"/>
              </a:rPr>
              <a: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coded </a:t>
            </a:r>
            <a:r>
              <a:rPr sz="1300" i="0">
                <a:solidFill>
                  <a:srgbClr val="7DCEA0"/>
                </a:solidFill>
                <a:latin typeface="Consolas"/>
              </a:rPr>
              <a: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reviewed </a:t>
            </a:r>
            <a:r>
              <a:rPr sz="1300" i="0">
                <a:solidFill>
                  <a:srgbClr val="7DCEA0"/>
                </a:solidFill>
                <a:latin typeface="Consolas"/>
              </a:rPr>
              <a: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ops</a:t>
            </a:r>
            <a:r>
              <a:rPr sz="1300" i="0">
                <a:solidFill>
                  <a:srgbClr val="AEB6BF"/>
                </a:solidFill>
                <a:latin typeface="Consolas"/>
              </a:rPr>
              <a:t>.</a:t>
            </a:r>
            <a:r>
              <a:rPr sz="1300" i="0">
                <a:solidFill>
                  <a:srgbClr val="E8EDF2"/>
                </a:solidFill>
                <a:latin typeface="Consolas"/>
              </a:rPr>
              <a:t>append</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test </a:t>
            </a:r>
            <a:r>
              <a:rPr sz="1300" i="0">
                <a:solidFill>
                  <a:srgbClr val="7DCEA0"/>
                </a:solidFill>
                <a:latin typeface="Consolas"/>
              </a:rPr>
              <a: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reviewed </a:t>
            </a:r>
            <a:r>
              <a:rPr sz="1300" i="0">
                <a:solidFill>
                  <a:srgbClr val="7DCEA0"/>
                </a:solidFill>
                <a:latin typeface="Consolas"/>
              </a:rPr>
              <a: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staging free</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tested </a:t>
            </a:r>
            <a:r>
              <a:rPr sz="1300" i="0">
                <a:solidFill>
                  <a:srgbClr val="7DCEA0"/>
                </a:solidFill>
                <a:latin typeface="Consolas"/>
              </a:rPr>
              <a: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staging busy</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staging free</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ops</a:t>
            </a:r>
            <a:r>
              <a:rPr sz="1300" i="0">
                <a:solidFill>
                  <a:srgbClr val="AEB6BF"/>
                </a:solidFill>
                <a:latin typeface="Consolas"/>
              </a:rPr>
              <a:t>.</a:t>
            </a:r>
            <a:r>
              <a:rPr sz="1300" i="0">
                <a:solidFill>
                  <a:srgbClr val="E8EDF2"/>
                </a:solidFill>
                <a:latin typeface="Consolas"/>
              </a:rPr>
              <a:t>append</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deploy </a:t>
            </a:r>
            <a:r>
              <a:rPr sz="1300" i="0">
                <a:solidFill>
                  <a:srgbClr val="7DCEA0"/>
                </a:solidFill>
                <a:latin typeface="Consolas"/>
              </a:rPr>
              <a: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tested </a:t>
            </a:r>
            <a:r>
              <a:rPr sz="1300" i="0">
                <a:solidFill>
                  <a:srgbClr val="7DCEA0"/>
                </a:solidFill>
                <a:latin typeface="Consolas"/>
              </a:rPr>
              <a: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deployed </a:t>
            </a:r>
            <a:r>
              <a:rPr sz="1300" i="0">
                <a:solidFill>
                  <a:srgbClr val="7DCEA0"/>
                </a:solidFill>
                <a:latin typeface="Consolas"/>
              </a:rPr>
              <a: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ops</a:t>
            </a:r>
            <a:r>
              <a:rPr sz="1300" i="0">
                <a:solidFill>
                  <a:srgbClr val="AEB6BF"/>
                </a:solidFill>
                <a:latin typeface="Consolas"/>
              </a:rPr>
              <a:t>.</a:t>
            </a:r>
            <a:r>
              <a:rPr sz="1300" i="0">
                <a:solidFill>
                  <a:srgbClr val="E8EDF2"/>
                </a:solidFill>
                <a:latin typeface="Consolas"/>
              </a:rPr>
              <a:t>append</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release staging</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staging busy</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staging free</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staging busy</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ops</a:t>
            </a:r>
          </a:p>
        </p:txBody>
      </p:sp>
      <p:sp>
        <p:nvSpPr>
          <p:cNvPr id="15" name="!!code-num"/>
          <p:cNvSpPr txBox="1"/>
          <p:nvPr/>
        </p:nvSpPr>
        <p:spPr>
          <a:xfrm>
            <a:off x="768096" y="2523744"/>
            <a:ext cx="393192" cy="367588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16</a:t>
            </a:r>
          </a:p>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a:p>
            <a:pPr algn="r">
              <a:lnSpc>
                <a:spcPct val="100000"/>
              </a:lnSpc>
            </a:pPr>
            <a:r>
              <a:rPr sz="1300">
                <a:solidFill>
                  <a:srgbClr val="4F5D6A"/>
                </a:solidFill>
                <a:latin typeface="Consolas"/>
              </a:rPr>
              <a:t>20</a:t>
            </a:r>
          </a:p>
          <a:p>
            <a:pPr algn="r">
              <a:lnSpc>
                <a:spcPct val="100000"/>
              </a:lnSpc>
            </a:pPr>
            <a:r>
              <a:rPr sz="1300">
                <a:solidFill>
                  <a:srgbClr val="4F5D6A"/>
                </a:solidFill>
                <a:latin typeface="Consolas"/>
              </a:rPr>
              <a:t>21</a:t>
            </a:r>
          </a:p>
          <a:p>
            <a:pPr algn="r">
              <a:lnSpc>
                <a:spcPct val="100000"/>
              </a:lnSpc>
            </a:pPr>
            <a:r>
              <a:rPr sz="1300">
                <a:solidFill>
                  <a:srgbClr val="4F5D6A"/>
                </a:solidFill>
                <a:latin typeface="Consolas"/>
              </a:rPr>
              <a:t>22</a:t>
            </a:r>
          </a:p>
          <a:p>
            <a:pPr algn="r">
              <a:lnSpc>
                <a:spcPct val="100000"/>
              </a:lnSpc>
            </a:pPr>
            <a:r>
              <a:rPr sz="1300">
                <a:solidFill>
                  <a:srgbClr val="4F5D6A"/>
                </a:solidFill>
                <a:latin typeface="Consolas"/>
              </a:rPr>
              <a:t>23</a:t>
            </a:r>
          </a:p>
          <a:p>
            <a:pPr algn="r">
              <a:lnSpc>
                <a:spcPct val="100000"/>
              </a:lnSpc>
            </a:pPr>
            <a:r>
              <a:rPr sz="1300">
                <a:solidFill>
                  <a:srgbClr val="4F5D6A"/>
                </a:solidFill>
                <a:latin typeface="Consolas"/>
              </a:rPr>
              <a:t>24</a:t>
            </a:r>
          </a:p>
          <a:p>
            <a:pPr algn="r">
              <a:lnSpc>
                <a:spcPct val="100000"/>
              </a:lnSpc>
            </a:pPr>
            <a:r>
              <a:rPr sz="1300">
                <a:solidFill>
                  <a:srgbClr val="4F5D6A"/>
                </a:solidFill>
                <a:latin typeface="Consolas"/>
              </a:rPr>
              <a:t>25</a:t>
            </a:r>
          </a:p>
          <a:p>
            <a:pPr algn="r">
              <a:lnSpc>
                <a:spcPct val="100000"/>
              </a:lnSpc>
            </a:pPr>
            <a:r>
              <a:rPr sz="1300">
                <a:solidFill>
                  <a:srgbClr val="4F5D6A"/>
                </a:solidFill>
                <a:latin typeface="Consolas"/>
              </a:rPr>
              <a:t>26</a:t>
            </a:r>
          </a:p>
          <a:p>
            <a:pPr algn="r">
              <a:lnSpc>
                <a:spcPct val="100000"/>
              </a:lnSpc>
            </a:pPr>
            <a:r>
              <a:rPr sz="1300">
                <a:solidFill>
                  <a:srgbClr val="4F5D6A"/>
                </a:solidFill>
                <a:latin typeface="Consolas"/>
              </a:rPr>
              <a:t>27</a:t>
            </a:r>
          </a:p>
          <a:p>
            <a:pPr algn="r">
              <a:lnSpc>
                <a:spcPct val="100000"/>
              </a:lnSpc>
            </a:pPr>
            <a:r>
              <a:rPr sz="1300">
                <a:solidFill>
                  <a:srgbClr val="4F5D6A"/>
                </a:solidFill>
                <a:latin typeface="Consolas"/>
              </a:rPr>
              <a:t>28</a:t>
            </a:r>
          </a:p>
          <a:p>
            <a:pPr algn="r">
              <a:lnSpc>
                <a:spcPct val="100000"/>
              </a:lnSpc>
            </a:pPr>
            <a:r>
              <a:rPr sz="1300">
                <a:solidFill>
                  <a:srgbClr val="4F5D6A"/>
                </a:solidFill>
                <a:latin typeface="Consolas"/>
              </a:rPr>
              <a:t>29</a:t>
            </a:r>
          </a:p>
          <a:p>
            <a:pPr algn="r">
              <a:lnSpc>
                <a:spcPct val="100000"/>
              </a:lnSpc>
            </a:pPr>
            <a:r>
              <a:rPr sz="1300">
                <a:solidFill>
                  <a:srgbClr val="4F5D6A"/>
                </a:solidFill>
                <a:latin typeface="Consolas"/>
              </a:rPr>
              <a:t>30</a:t>
            </a:r>
          </a:p>
          <a:p>
            <a:pPr algn="r">
              <a:lnSpc>
                <a:spcPct val="100000"/>
              </a:lnSpc>
            </a:pPr>
            <a:r>
              <a:rPr sz="1300">
                <a:solidFill>
                  <a:srgbClr val="4F5D6A"/>
                </a:solidFill>
                <a:latin typeface="Consolas"/>
              </a:rPr>
              <a:t>31</a:t>
            </a:r>
          </a:p>
          <a:p>
            <a:pPr algn="r">
              <a:lnSpc>
                <a:spcPct val="100000"/>
              </a:lnSpc>
            </a:pPr>
            <a:r>
              <a:rPr sz="1300">
                <a:solidFill>
                  <a:srgbClr val="4F5D6A"/>
                </a:solidFill>
                <a:latin typeface="Consolas"/>
              </a:rPr>
              <a:t>32</a:t>
            </a:r>
          </a:p>
          <a:p>
            <a:pPr algn="r">
              <a:lnSpc>
                <a:spcPct val="100000"/>
              </a:lnSpc>
            </a:pPr>
            <a:r>
              <a:rPr sz="1300">
                <a:solidFill>
                  <a:srgbClr val="4F5D6A"/>
                </a:solidFill>
                <a:latin typeface="Consolas"/>
              </a:rPr>
              <a:t>33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6CFD5170-E622-4C07-B161-158D2BAAAA45}"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3"/>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def applicable(state, ops): for op in ops: if op[1] &lt;= state: yield op def apply_op(state, op): _, _, add, dele = op return (state - dele) | add"/>
          <p:cNvSpPr txBox="1"/>
          <p:nvPr/>
        </p:nvSpPr>
        <p:spPr>
          <a:xfrm>
            <a:off x="1362456" y="2523744"/>
            <a:ext cx="9987991" cy="28529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applicable</a:t>
            </a:r>
            <a:r>
              <a:rPr sz="2000" i="0">
                <a:solidFill>
                  <a:srgbClr val="AEB6BF"/>
                </a:solidFill>
                <a:latin typeface="Consolas"/>
              </a:rPr>
              <a:t>(</a:t>
            </a:r>
            <a:r>
              <a:rPr sz="2000" i="0">
                <a:solidFill>
                  <a:srgbClr val="E8EDF2"/>
                </a:solidFill>
                <a:latin typeface="Consolas"/>
              </a:rPr>
              <a:t>state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ops</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op</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ops</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op</a:t>
            </a:r>
            <a:r>
              <a:rPr sz="2000" i="0">
                <a:solidFill>
                  <a:srgbClr val="AEB6BF"/>
                </a:solidFill>
                <a:latin typeface="Consolas"/>
              </a:rPr>
              <a:t>[</a:t>
            </a:r>
            <a:r>
              <a:rPr sz="2000" i="0">
                <a:solidFill>
                  <a:srgbClr val="F7DC6F"/>
                </a:solidFill>
                <a:latin typeface="Consolas"/>
              </a:rPr>
              <a:t>1</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&lt;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state</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yield</a:t>
            </a:r>
            <a:r>
              <a:rPr sz="2000" i="0">
                <a:solidFill>
                  <a:srgbClr val="E8EDF2"/>
                </a:solidFill>
                <a:latin typeface="Consolas"/>
              </a:rPr>
              <a:t> </a:t>
            </a:r>
            <a:r>
              <a:rPr sz="2000" i="0">
                <a:solidFill>
                  <a:srgbClr val="E8EDF2"/>
                </a:solidFill>
                <a:latin typeface="Consolas"/>
              </a:rPr>
              <a:t>op</a:t>
            </a:r>
          </a:p>
          <a:p>
            <a:pPr>
              <a:lnSpc>
                <a:spcPct val="100000"/>
              </a:lnSpc>
              <a:spcAft>
                <a:spcPts val="0"/>
              </a:spcAft>
            </a:pPr>
            <a:r>
              <a:rPr sz="2000">
                <a:latin typeface="Consolas"/>
              </a:rPr>
              <a:t> </a:t>
            </a:r>
          </a:p>
          <a:p>
            <a:pPr>
              <a:lnSpc>
                <a:spcPct val="100000"/>
              </a:lnSpc>
              <a:spcAft>
                <a:spcPts val="0"/>
              </a:spcAft>
            </a:pPr>
            <a:r>
              <a:rPr sz="2000">
                <a:latin typeface="Consolas"/>
              </a:rPr>
              <a:t> </a:t>
            </a:r>
          </a:p>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apply_op</a:t>
            </a:r>
            <a:r>
              <a:rPr sz="2000" i="0">
                <a:solidFill>
                  <a:srgbClr val="AEB6BF"/>
                </a:solidFill>
                <a:latin typeface="Consolas"/>
              </a:rPr>
              <a:t>(</a:t>
            </a:r>
            <a:r>
              <a:rPr sz="2000" i="0">
                <a:solidFill>
                  <a:srgbClr val="E8EDF2"/>
                </a:solidFill>
                <a:latin typeface="Consolas"/>
              </a:rPr>
              <a:t>state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op</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_</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_</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add</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dele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op</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state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dele</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add</a:t>
            </a:r>
          </a:p>
        </p:txBody>
      </p:sp>
      <p:sp>
        <p:nvSpPr>
          <p:cNvPr id="15" name="!!code-num"/>
          <p:cNvSpPr txBox="1"/>
          <p:nvPr/>
        </p:nvSpPr>
        <p:spPr>
          <a:xfrm>
            <a:off x="768096" y="2523744"/>
            <a:ext cx="393192" cy="28529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36</a:t>
            </a:r>
          </a:p>
          <a:p>
            <a:pPr algn="r">
              <a:lnSpc>
                <a:spcPct val="100000"/>
              </a:lnSpc>
            </a:pPr>
            <a:r>
              <a:rPr sz="2000">
                <a:solidFill>
                  <a:srgbClr val="4F5D6A"/>
                </a:solidFill>
                <a:latin typeface="Consolas"/>
              </a:rPr>
              <a:t>37</a:t>
            </a:r>
          </a:p>
          <a:p>
            <a:pPr algn="r">
              <a:lnSpc>
                <a:spcPct val="100000"/>
              </a:lnSpc>
            </a:pPr>
            <a:r>
              <a:rPr sz="2000">
                <a:solidFill>
                  <a:srgbClr val="4F5D6A"/>
                </a:solidFill>
                <a:latin typeface="Consolas"/>
              </a:rPr>
              <a:t>38</a:t>
            </a:r>
          </a:p>
          <a:p>
            <a:pPr algn="r">
              <a:lnSpc>
                <a:spcPct val="100000"/>
              </a:lnSpc>
            </a:pPr>
            <a:r>
              <a:rPr sz="2000">
                <a:solidFill>
                  <a:srgbClr val="4F5D6A"/>
                </a:solidFill>
                <a:latin typeface="Consolas"/>
              </a:rPr>
              <a:t>39</a:t>
            </a:r>
          </a:p>
          <a:p>
            <a:pPr algn="r">
              <a:lnSpc>
                <a:spcPct val="100000"/>
              </a:lnSpc>
            </a:pPr>
            <a:r>
              <a:rPr sz="2000">
                <a:solidFill>
                  <a:srgbClr val="4F5D6A"/>
                </a:solidFill>
                <a:latin typeface="Consolas"/>
              </a:rPr>
              <a:t>40</a:t>
            </a:r>
          </a:p>
          <a:p>
            <a:pPr algn="r">
              <a:lnSpc>
                <a:spcPct val="100000"/>
              </a:lnSpc>
            </a:pPr>
            <a:r>
              <a:rPr sz="2000">
                <a:solidFill>
                  <a:srgbClr val="4F5D6A"/>
                </a:solidFill>
                <a:latin typeface="Consolas"/>
              </a:rPr>
              <a:t>41</a:t>
            </a:r>
          </a:p>
          <a:p>
            <a:pPr algn="r">
              <a:lnSpc>
                <a:spcPct val="100000"/>
              </a:lnSpc>
            </a:pPr>
            <a:r>
              <a:rPr sz="2000">
                <a:solidFill>
                  <a:srgbClr val="4F5D6A"/>
                </a:solidFill>
                <a:latin typeface="Consolas"/>
              </a:rPr>
              <a:t>42</a:t>
            </a:r>
          </a:p>
          <a:p>
            <a:pPr algn="r">
              <a:lnSpc>
                <a:spcPct val="100000"/>
              </a:lnSpc>
            </a:pPr>
            <a:r>
              <a:rPr sz="2000">
                <a:solidFill>
                  <a:srgbClr val="4F5D6A"/>
                </a:solidFill>
                <a:latin typeface="Consolas"/>
              </a:rPr>
              <a:t>43</a:t>
            </a:r>
          </a:p>
          <a:p>
            <a:pPr algn="r">
              <a:lnSpc>
                <a:spcPct val="100000"/>
              </a:lnSpc>
            </a:pPr>
            <a:r>
              <a:rPr sz="2000">
                <a:solidFill>
                  <a:srgbClr val="4F5D6A"/>
                </a:solidFill>
                <a:latin typeface="Consolas"/>
              </a:rPr>
              <a:t>44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6443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A33DAD9C-4E33-49B5-84AE-F449C38D8659}"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51504"/>
          </a:xfrm>
          <a:prstGeom prst="roundRect">
            <a:avLst>
              <a:gd name="adj" fmla="val 250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def reachable(init, ops): seen, q = {init}, deque([init]) while q: s = q.popleft() for op in applicable(s, ops): n = apply_op(s, op) if n not in seen: seen.add(n) q.append(n) return seen"/>
          <p:cNvSpPr txBox="1"/>
          <p:nvPr/>
        </p:nvSpPr>
        <p:spPr>
          <a:xfrm>
            <a:off x="1362456" y="2523744"/>
            <a:ext cx="9987991" cy="31577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reachable</a:t>
            </a:r>
            <a:r>
              <a:rPr sz="2000" i="0">
                <a:solidFill>
                  <a:srgbClr val="AEB6BF"/>
                </a:solidFill>
                <a:latin typeface="Consolas"/>
              </a:rPr>
              <a:t>(</a:t>
            </a:r>
            <a:r>
              <a:rPr sz="2000" i="0">
                <a:solidFill>
                  <a:srgbClr val="E8EDF2"/>
                </a:solidFill>
                <a:latin typeface="Consolas"/>
              </a:rPr>
              <a:t>init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ops</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seen</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q</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init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deque</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init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while</a:t>
            </a:r>
            <a:r>
              <a:rPr sz="2000" i="0">
                <a:solidFill>
                  <a:srgbClr val="E8EDF2"/>
                </a:solidFill>
                <a:latin typeface="Consolas"/>
              </a:rPr>
              <a:t> </a:t>
            </a:r>
            <a:r>
              <a:rPr sz="2000" i="0">
                <a:solidFill>
                  <a:srgbClr val="E8EDF2"/>
                </a:solidFill>
                <a:latin typeface="Consolas"/>
              </a:rPr>
              <a:t>q</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q</a:t>
            </a:r>
            <a:r>
              <a:rPr sz="2000" i="0">
                <a:solidFill>
                  <a:srgbClr val="AEB6BF"/>
                </a:solidFill>
                <a:latin typeface="Consolas"/>
              </a:rPr>
              <a:t>.</a:t>
            </a:r>
            <a:r>
              <a:rPr sz="2000" i="0">
                <a:solidFill>
                  <a:srgbClr val="E8EDF2"/>
                </a:solidFill>
                <a:latin typeface="Consolas"/>
              </a:rPr>
              <a:t>popleft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op</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applicable</a:t>
            </a:r>
            <a:r>
              <a:rPr sz="2000" i="0">
                <a:solidFill>
                  <a:srgbClr val="AEB6BF"/>
                </a:solidFill>
                <a:latin typeface="Consolas"/>
              </a:rPr>
              <a:t>(</a:t>
            </a:r>
            <a:r>
              <a:rPr sz="2000" i="0">
                <a:solidFill>
                  <a:srgbClr val="E8EDF2"/>
                </a:solidFill>
                <a:latin typeface="Consolas"/>
              </a:rPr>
              <a:t>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ops</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n</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apply_op</a:t>
            </a:r>
            <a:r>
              <a:rPr sz="2000" i="0">
                <a:solidFill>
                  <a:srgbClr val="AEB6BF"/>
                </a:solidFill>
                <a:latin typeface="Consolas"/>
              </a:rPr>
              <a:t>(</a:t>
            </a:r>
            <a:r>
              <a:rPr sz="2000" i="0">
                <a:solidFill>
                  <a:srgbClr val="E8EDF2"/>
                </a:solidFill>
                <a:latin typeface="Consolas"/>
              </a:rPr>
              <a:t>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op</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n</a:t>
            </a:r>
            <a:r>
              <a:rPr sz="2000" i="0">
                <a:solidFill>
                  <a:srgbClr val="E8EDF2"/>
                </a:solidFill>
                <a:latin typeface="Consolas"/>
              </a:rPr>
              <a:t> </a:t>
            </a:r>
            <a:r>
              <a:rPr sz="2000" i="0">
                <a:solidFill>
                  <a:srgbClr val="AEB6BF"/>
                </a:solidFill>
                <a:latin typeface="Consolas"/>
              </a:rPr>
              <a:t>not</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seen</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seen</a:t>
            </a:r>
            <a:r>
              <a:rPr sz="2000" i="0">
                <a:solidFill>
                  <a:srgbClr val="AEB6BF"/>
                </a:solidFill>
                <a:latin typeface="Consolas"/>
              </a:rPr>
              <a:t>.</a:t>
            </a:r>
            <a:r>
              <a:rPr sz="2000" i="0">
                <a:solidFill>
                  <a:srgbClr val="E8EDF2"/>
                </a:solidFill>
                <a:latin typeface="Consolas"/>
              </a:rPr>
              <a:t>add</a:t>
            </a:r>
            <a:r>
              <a:rPr sz="2000" i="0">
                <a:solidFill>
                  <a:srgbClr val="AEB6BF"/>
                </a:solidFill>
                <a:latin typeface="Consolas"/>
              </a:rPr>
              <a:t>(</a:t>
            </a:r>
            <a:r>
              <a:rPr sz="2000" i="0">
                <a:solidFill>
                  <a:srgbClr val="E8EDF2"/>
                </a:solidFill>
                <a:latin typeface="Consolas"/>
              </a:rPr>
              <a:t>n</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q</a:t>
            </a:r>
            <a:r>
              <a:rPr sz="2000" i="0">
                <a:solidFill>
                  <a:srgbClr val="AEB6BF"/>
                </a:solidFill>
                <a:latin typeface="Consolas"/>
              </a:rPr>
              <a:t>.</a:t>
            </a:r>
            <a:r>
              <a:rPr sz="2000" i="0">
                <a:solidFill>
                  <a:srgbClr val="E8EDF2"/>
                </a:solidFill>
                <a:latin typeface="Consolas"/>
              </a:rPr>
              <a:t>append</a:t>
            </a:r>
            <a:r>
              <a:rPr sz="2000" i="0">
                <a:solidFill>
                  <a:srgbClr val="AEB6BF"/>
                </a:solidFill>
                <a:latin typeface="Consolas"/>
              </a:rPr>
              <a:t>(</a:t>
            </a:r>
            <a:r>
              <a:rPr sz="2000" i="0">
                <a:solidFill>
                  <a:srgbClr val="E8EDF2"/>
                </a:solidFill>
                <a:latin typeface="Consolas"/>
              </a:rPr>
              <a:t>n</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E8EDF2"/>
                </a:solidFill>
                <a:latin typeface="Consolas"/>
              </a:rPr>
              <a:t>seen</a:t>
            </a:r>
          </a:p>
        </p:txBody>
      </p:sp>
      <p:sp>
        <p:nvSpPr>
          <p:cNvPr id="15" name="!!code-num"/>
          <p:cNvSpPr txBox="1"/>
          <p:nvPr/>
        </p:nvSpPr>
        <p:spPr>
          <a:xfrm>
            <a:off x="768096" y="2523744"/>
            <a:ext cx="393192" cy="31577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47</a:t>
            </a:r>
          </a:p>
          <a:p>
            <a:pPr algn="r">
              <a:lnSpc>
                <a:spcPct val="100000"/>
              </a:lnSpc>
            </a:pPr>
            <a:r>
              <a:rPr sz="2000">
                <a:solidFill>
                  <a:srgbClr val="4F5D6A"/>
                </a:solidFill>
                <a:latin typeface="Consolas"/>
              </a:rPr>
              <a:t>48</a:t>
            </a:r>
          </a:p>
          <a:p>
            <a:pPr algn="r">
              <a:lnSpc>
                <a:spcPct val="100000"/>
              </a:lnSpc>
            </a:pPr>
            <a:r>
              <a:rPr sz="2000">
                <a:solidFill>
                  <a:srgbClr val="4F5D6A"/>
                </a:solidFill>
                <a:latin typeface="Consolas"/>
              </a:rPr>
              <a:t>49</a:t>
            </a:r>
          </a:p>
          <a:p>
            <a:pPr algn="r">
              <a:lnSpc>
                <a:spcPct val="100000"/>
              </a:lnSpc>
            </a:pPr>
            <a:r>
              <a:rPr sz="2000">
                <a:solidFill>
                  <a:srgbClr val="4F5D6A"/>
                </a:solidFill>
                <a:latin typeface="Consolas"/>
              </a:rPr>
              <a:t>50</a:t>
            </a:r>
          </a:p>
          <a:p>
            <a:pPr algn="r">
              <a:lnSpc>
                <a:spcPct val="100000"/>
              </a:lnSpc>
            </a:pPr>
            <a:r>
              <a:rPr sz="2000">
                <a:solidFill>
                  <a:srgbClr val="4F5D6A"/>
                </a:solidFill>
                <a:latin typeface="Consolas"/>
              </a:rPr>
              <a:t>51</a:t>
            </a:r>
          </a:p>
          <a:p>
            <a:pPr algn="r">
              <a:lnSpc>
                <a:spcPct val="100000"/>
              </a:lnSpc>
            </a:pPr>
            <a:r>
              <a:rPr sz="2000">
                <a:solidFill>
                  <a:srgbClr val="4F5D6A"/>
                </a:solidFill>
                <a:latin typeface="Consolas"/>
              </a:rPr>
              <a:t>52</a:t>
            </a:r>
          </a:p>
          <a:p>
            <a:pPr algn="r">
              <a:lnSpc>
                <a:spcPct val="100000"/>
              </a:lnSpc>
            </a:pPr>
            <a:r>
              <a:rPr sz="2000">
                <a:solidFill>
                  <a:srgbClr val="4F5D6A"/>
                </a:solidFill>
                <a:latin typeface="Consolas"/>
              </a:rPr>
              <a:t>53</a:t>
            </a:r>
          </a:p>
          <a:p>
            <a:pPr algn="r">
              <a:lnSpc>
                <a:spcPct val="100000"/>
              </a:lnSpc>
            </a:pPr>
            <a:r>
              <a:rPr sz="2000">
                <a:solidFill>
                  <a:srgbClr val="4F5D6A"/>
                </a:solidFill>
                <a:latin typeface="Consolas"/>
              </a:rPr>
              <a:t>54</a:t>
            </a:r>
          </a:p>
          <a:p>
            <a:pPr algn="r">
              <a:lnSpc>
                <a:spcPct val="100000"/>
              </a:lnSpc>
            </a:pPr>
            <a:r>
              <a:rPr sz="2000">
                <a:solidFill>
                  <a:srgbClr val="4F5D6A"/>
                </a:solidFill>
                <a:latin typeface="Consolas"/>
              </a:rPr>
              <a:t>55</a:t>
            </a:r>
          </a:p>
          <a:p>
            <a:pPr algn="r">
              <a:lnSpc>
                <a:spcPct val="100000"/>
              </a:lnSpc>
            </a:pPr>
            <a:r>
              <a:rPr sz="2000">
                <a:solidFill>
                  <a:srgbClr val="4F5D6A"/>
                </a:solidFill>
                <a:latin typeface="Consolas"/>
              </a:rPr>
              <a:t>56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87007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2B1379F6-2775-4A16-B92C-679F080F9FA7}"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Progression search: Chapter 4's frontier, unchanged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 --- 1. progression search: Chapter 4's frontier, unchanged --------- def progression_bfs(init, goal, ops): seen = {init} q = deque([(init, ())]) expanded = 0 while q: state, plan = q.popleft() if goal &lt;= state: return list(plan), expanded expanded += 1 for op in applicable(state, ops): nxt = apply_op(state, op) if nxt not in seen: seen.add(nxt) q.append((nxt, plan + (op[0],))) return None, expanded"/>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--- 1. progression search: Chapter 4's frontier, unchanged ---------</a:t>
            </a:r>
          </a:p>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progression_bfs</a:t>
            </a:r>
            <a:r>
              <a:rPr sz="1400" i="0">
                <a:solidFill>
                  <a:srgbClr val="AEB6BF"/>
                </a:solidFill>
                <a:latin typeface="Consolas"/>
              </a:rPr>
              <a:t>(</a:t>
            </a:r>
            <a:r>
              <a:rPr sz="1400" i="0">
                <a:solidFill>
                  <a:srgbClr val="E8EDF2"/>
                </a:solidFill>
                <a:latin typeface="Consolas"/>
              </a:rPr>
              <a:t>init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goal</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ops</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seen</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init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q</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deque</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init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expanded</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a:t>
            </a:r>
          </a:p>
          <a:p>
            <a:pPr>
              <a:lnSpc>
                <a:spcPct val="100000"/>
              </a:lnSpc>
              <a:spcAft>
                <a:spcPts val="0"/>
              </a:spcAft>
            </a:pPr>
            <a:r>
              <a:rPr sz="1400" i="0">
                <a:solidFill>
                  <a:srgbClr val="E8EDF2"/>
                </a:solidFill>
                <a:latin typeface="Consolas"/>
              </a:rPr>
              <a:t>    </a:t>
            </a:r>
            <a:r>
              <a:rPr sz="1400" i="0">
                <a:solidFill>
                  <a:srgbClr val="5DADE2"/>
                </a:solidFill>
                <a:latin typeface="Consolas"/>
              </a:rPr>
              <a:t>while</a:t>
            </a:r>
            <a:r>
              <a:rPr sz="1400" i="0">
                <a:solidFill>
                  <a:srgbClr val="E8EDF2"/>
                </a:solidFill>
                <a:latin typeface="Consolas"/>
              </a:rPr>
              <a:t> </a:t>
            </a:r>
            <a:r>
              <a:rPr sz="1400" i="0">
                <a:solidFill>
                  <a:srgbClr val="E8EDF2"/>
                </a:solidFill>
                <a:latin typeface="Consolas"/>
              </a:rPr>
              <a:t>q</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state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plan</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q</a:t>
            </a:r>
            <a:r>
              <a:rPr sz="1400" i="0">
                <a:solidFill>
                  <a:srgbClr val="AEB6BF"/>
                </a:solidFill>
                <a:latin typeface="Consolas"/>
              </a:rPr>
              <a:t>.</a:t>
            </a:r>
            <a:r>
              <a:rPr sz="1400" i="0">
                <a:solidFill>
                  <a:srgbClr val="E8EDF2"/>
                </a:solidFill>
                <a:latin typeface="Consolas"/>
              </a:rPr>
              <a:t>popleft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goal</a:t>
            </a:r>
            <a:r>
              <a:rPr sz="1400" i="0">
                <a:solidFill>
                  <a:srgbClr val="E8EDF2"/>
                </a:solidFill>
                <a:latin typeface="Consolas"/>
              </a:rPr>
              <a:t> </a:t>
            </a:r>
            <a:r>
              <a:rPr sz="1400" i="0">
                <a:solidFill>
                  <a:srgbClr val="AEB6BF"/>
                </a:solidFill>
                <a:latin typeface="Consolas"/>
              </a:rPr>
              <a:t>&lt;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state</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C39BD3"/>
                </a:solidFill>
                <a:latin typeface="Consolas"/>
              </a:rPr>
              <a:t>list</a:t>
            </a:r>
            <a:r>
              <a:rPr sz="1400" i="0">
                <a:solidFill>
                  <a:srgbClr val="AEB6BF"/>
                </a:solidFill>
                <a:latin typeface="Consolas"/>
              </a:rPr>
              <a:t>(</a:t>
            </a:r>
            <a:r>
              <a:rPr sz="1400" i="0">
                <a:solidFill>
                  <a:srgbClr val="E8EDF2"/>
                </a:solidFill>
                <a:latin typeface="Consolas"/>
              </a:rPr>
              <a:t>plan</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expanded</a:t>
            </a:r>
          </a:p>
          <a:p>
            <a:pPr>
              <a:lnSpc>
                <a:spcPct val="100000"/>
              </a:lnSpc>
              <a:spcAft>
                <a:spcPts val="0"/>
              </a:spcAft>
            </a:pPr>
            <a:r>
              <a:rPr sz="1400" i="0">
                <a:solidFill>
                  <a:srgbClr val="E8EDF2"/>
                </a:solidFill>
                <a:latin typeface="Consolas"/>
              </a:rPr>
              <a:t>        </a:t>
            </a:r>
            <a:r>
              <a:rPr sz="1400" i="0">
                <a:solidFill>
                  <a:srgbClr val="E8EDF2"/>
                </a:solidFill>
                <a:latin typeface="Consolas"/>
              </a:rPr>
              <a:t>expanded</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op</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applicable</a:t>
            </a:r>
            <a:r>
              <a:rPr sz="1400" i="0">
                <a:solidFill>
                  <a:srgbClr val="AEB6BF"/>
                </a:solidFill>
                <a:latin typeface="Consolas"/>
              </a:rPr>
              <a:t>(</a:t>
            </a:r>
            <a:r>
              <a:rPr sz="1400" i="0">
                <a:solidFill>
                  <a:srgbClr val="E8EDF2"/>
                </a:solidFill>
                <a:latin typeface="Consolas"/>
              </a:rPr>
              <a:t>state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ops</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nxt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apply_op</a:t>
            </a:r>
            <a:r>
              <a:rPr sz="1400" i="0">
                <a:solidFill>
                  <a:srgbClr val="AEB6BF"/>
                </a:solidFill>
                <a:latin typeface="Consolas"/>
              </a:rPr>
              <a:t>(</a:t>
            </a:r>
            <a:r>
              <a:rPr sz="1400" i="0">
                <a:solidFill>
                  <a:srgbClr val="E8EDF2"/>
                </a:solidFill>
                <a:latin typeface="Consolas"/>
              </a:rPr>
              <a:t>state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op</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nxt</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seen</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seen</a:t>
            </a:r>
            <a:r>
              <a:rPr sz="1400" i="0">
                <a:solidFill>
                  <a:srgbClr val="AEB6BF"/>
                </a:solidFill>
                <a:latin typeface="Consolas"/>
              </a:rPr>
              <a:t>.</a:t>
            </a:r>
            <a:r>
              <a:rPr sz="1400" i="0">
                <a:solidFill>
                  <a:srgbClr val="E8EDF2"/>
                </a:solidFill>
                <a:latin typeface="Consolas"/>
              </a:rPr>
              <a:t>add</a:t>
            </a:r>
            <a:r>
              <a:rPr sz="1400" i="0">
                <a:solidFill>
                  <a:srgbClr val="AEB6BF"/>
                </a:solidFill>
                <a:latin typeface="Consolas"/>
              </a:rPr>
              <a:t>(</a:t>
            </a:r>
            <a:r>
              <a:rPr sz="1400" i="0">
                <a:solidFill>
                  <a:srgbClr val="E8EDF2"/>
                </a:solidFill>
                <a:latin typeface="Consolas"/>
              </a:rPr>
              <a:t>nxt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q</a:t>
            </a:r>
            <a:r>
              <a:rPr sz="1400" i="0">
                <a:solidFill>
                  <a:srgbClr val="AEB6BF"/>
                </a:solidFill>
                <a:latin typeface="Consolas"/>
              </a:rPr>
              <a:t>.</a:t>
            </a:r>
            <a:r>
              <a:rPr sz="1400" i="0">
                <a:solidFill>
                  <a:srgbClr val="E8EDF2"/>
                </a:solidFill>
                <a:latin typeface="Consolas"/>
              </a:rPr>
              <a:t>append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nxt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plan</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op</a:t>
            </a:r>
            <a:r>
              <a:rPr sz="1400" i="0">
                <a:solidFill>
                  <a:srgbClr val="AEB6BF"/>
                </a:solidFill>
                <a:latin typeface="Consolas"/>
              </a:rPr>
              <a:t>[</a:t>
            </a:r>
            <a:r>
              <a:rPr sz="1400" i="0">
                <a:solidFill>
                  <a:srgbClr val="F7DC6F"/>
                </a:solidFill>
                <a:latin typeface="Consolas"/>
              </a:rPr>
              <a:t>0</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5DADE2"/>
                </a:solidFill>
                <a:latin typeface="Consolas"/>
              </a:rPr>
              <a:t>None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expanded</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59</a:t>
            </a:r>
          </a:p>
          <a:p>
            <a:pPr algn="r">
              <a:lnSpc>
                <a:spcPct val="100000"/>
              </a:lnSpc>
            </a:pPr>
            <a:r>
              <a:rPr sz="1400">
                <a:solidFill>
                  <a:srgbClr val="4F5D6A"/>
                </a:solidFill>
                <a:latin typeface="Consolas"/>
              </a:rPr>
              <a:t>60</a:t>
            </a:r>
          </a:p>
          <a:p>
            <a:pPr algn="r">
              <a:lnSpc>
                <a:spcPct val="100000"/>
              </a:lnSpc>
            </a:pPr>
            <a:r>
              <a:rPr sz="1400">
                <a:solidFill>
                  <a:srgbClr val="4F5D6A"/>
                </a:solidFill>
                <a:latin typeface="Consolas"/>
              </a:rPr>
              <a:t>61</a:t>
            </a:r>
          </a:p>
          <a:p>
            <a:pPr algn="r">
              <a:lnSpc>
                <a:spcPct val="100000"/>
              </a:lnSpc>
            </a:pPr>
            <a:r>
              <a:rPr sz="1400">
                <a:solidFill>
                  <a:srgbClr val="4F5D6A"/>
                </a:solidFill>
                <a:latin typeface="Consolas"/>
              </a:rPr>
              <a:t>62</a:t>
            </a:r>
          </a:p>
          <a:p>
            <a:pPr algn="r">
              <a:lnSpc>
                <a:spcPct val="100000"/>
              </a:lnSpc>
            </a:pPr>
            <a:r>
              <a:rPr sz="1400">
                <a:solidFill>
                  <a:srgbClr val="4F5D6A"/>
                </a:solidFill>
                <a:latin typeface="Consolas"/>
              </a:rPr>
              <a:t>63</a:t>
            </a:r>
          </a:p>
          <a:p>
            <a:pPr algn="r">
              <a:lnSpc>
                <a:spcPct val="100000"/>
              </a:lnSpc>
            </a:pPr>
            <a:r>
              <a:rPr sz="1400">
                <a:solidFill>
                  <a:srgbClr val="4F5D6A"/>
                </a:solidFill>
                <a:latin typeface="Consolas"/>
              </a:rPr>
              <a:t>64</a:t>
            </a:r>
          </a:p>
          <a:p>
            <a:pPr algn="r">
              <a:lnSpc>
                <a:spcPct val="100000"/>
              </a:lnSpc>
            </a:pPr>
            <a:r>
              <a:rPr sz="1400">
                <a:solidFill>
                  <a:srgbClr val="4F5D6A"/>
                </a:solidFill>
                <a:latin typeface="Consolas"/>
              </a:rPr>
              <a:t>65</a:t>
            </a:r>
          </a:p>
          <a:p>
            <a:pPr algn="r">
              <a:lnSpc>
                <a:spcPct val="100000"/>
              </a:lnSpc>
            </a:pPr>
            <a:r>
              <a:rPr sz="1400">
                <a:solidFill>
                  <a:srgbClr val="4F5D6A"/>
                </a:solidFill>
                <a:latin typeface="Consolas"/>
              </a:rPr>
              <a:t>66</a:t>
            </a:r>
          </a:p>
          <a:p>
            <a:pPr algn="r">
              <a:lnSpc>
                <a:spcPct val="100000"/>
              </a:lnSpc>
            </a:pPr>
            <a:r>
              <a:rPr sz="1400">
                <a:solidFill>
                  <a:srgbClr val="4F5D6A"/>
                </a:solidFill>
                <a:latin typeface="Consolas"/>
              </a:rPr>
              <a:t>67</a:t>
            </a:r>
          </a:p>
          <a:p>
            <a:pPr algn="r">
              <a:lnSpc>
                <a:spcPct val="100000"/>
              </a:lnSpc>
            </a:pPr>
            <a:r>
              <a:rPr sz="1400">
                <a:solidFill>
                  <a:srgbClr val="4F5D6A"/>
                </a:solidFill>
                <a:latin typeface="Consolas"/>
              </a:rPr>
              <a:t>68</a:t>
            </a:r>
          </a:p>
          <a:p>
            <a:pPr algn="r">
              <a:lnSpc>
                <a:spcPct val="100000"/>
              </a:lnSpc>
            </a:pPr>
            <a:r>
              <a:rPr sz="1400">
                <a:solidFill>
                  <a:srgbClr val="4F5D6A"/>
                </a:solidFill>
                <a:latin typeface="Consolas"/>
              </a:rPr>
              <a:t>69</a:t>
            </a:r>
          </a:p>
          <a:p>
            <a:pPr algn="r">
              <a:lnSpc>
                <a:spcPct val="100000"/>
              </a:lnSpc>
            </a:pPr>
            <a:r>
              <a:rPr sz="1400">
                <a:solidFill>
                  <a:srgbClr val="4F5D6A"/>
                </a:solidFill>
                <a:latin typeface="Consolas"/>
              </a:rPr>
              <a:t>70</a:t>
            </a:r>
          </a:p>
          <a:p>
            <a:pPr algn="r">
              <a:lnSpc>
                <a:spcPct val="100000"/>
              </a:lnSpc>
            </a:pPr>
            <a:r>
              <a:rPr sz="1400">
                <a:solidFill>
                  <a:srgbClr val="4F5D6A"/>
                </a:solidFill>
                <a:latin typeface="Consolas"/>
              </a:rPr>
              <a:t>71</a:t>
            </a:r>
          </a:p>
          <a:p>
            <a:pPr algn="r">
              <a:lnSpc>
                <a:spcPct val="100000"/>
              </a:lnSpc>
            </a:pPr>
            <a:r>
              <a:rPr sz="1400">
                <a:solidFill>
                  <a:srgbClr val="4F5D6A"/>
                </a:solidFill>
                <a:latin typeface="Consolas"/>
              </a:rPr>
              <a:t>72</a:t>
            </a:r>
          </a:p>
          <a:p>
            <a:pPr algn="r">
              <a:lnSpc>
                <a:spcPct val="100000"/>
              </a:lnSpc>
            </a:pPr>
            <a:r>
              <a:rPr sz="1400">
                <a:solidFill>
                  <a:srgbClr val="4F5D6A"/>
                </a:solidFill>
                <a:latin typeface="Consolas"/>
              </a:rPr>
              <a:t>73</a:t>
            </a:r>
          </a:p>
          <a:p>
            <a:pPr algn="r">
              <a:lnSpc>
                <a:spcPct val="100000"/>
              </a:lnSpc>
            </a:pPr>
            <a:r>
              <a:rPr sz="1400">
                <a:solidFill>
                  <a:srgbClr val="4F5D6A"/>
                </a:solidFill>
                <a:latin typeface="Consolas"/>
              </a:rPr>
              <a:t>74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DD04612B-B629-4ECF-B59D-DD4AA4418906}"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Progression search: Chapter 4's frontier, unchanged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def h_remaining(state, components): &quot;&quot;&quot;Actions each component still needs. They are specific to that component, so the sum is a lower bound: admissible.&quot;&quot;&quot; total = 0 for c in components: if &quot;deployed %s&quot; % c in state: total += 0 elif &quot;tested %s&quot; % c in state: total += 1 elif &quot;reviewed %s&quot; % c in state: total += 2 elif &quot;coded %s&quot; % c in state: total += 3 else: total += 4 return total"/>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h_remaining</a:t>
            </a:r>
            <a:r>
              <a:rPr sz="1400" i="0">
                <a:solidFill>
                  <a:srgbClr val="AEB6BF"/>
                </a:solidFill>
                <a:latin typeface="Consolas"/>
              </a:rPr>
              <a:t>(</a:t>
            </a:r>
            <a:r>
              <a:rPr sz="1400" i="0">
                <a:solidFill>
                  <a:srgbClr val="E8EDF2"/>
                </a:solidFill>
                <a:latin typeface="Consolas"/>
              </a:rPr>
              <a:t>state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components</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"""Actions each component still needs. They are specific to that</a:t>
            </a:r>
          </a:p>
          <a:p>
            <a:pPr>
              <a:lnSpc>
                <a:spcPct val="100000"/>
              </a:lnSpc>
              <a:spcAft>
                <a:spcPts val="0"/>
              </a:spcAft>
            </a:pPr>
            <a:r>
              <a:rPr sz="1400" i="0">
                <a:solidFill>
                  <a:srgbClr val="7DCEA0"/>
                </a:solidFill>
                <a:latin typeface="Consolas"/>
              </a:rPr>
              <a:t>    component, so the sum is a lower bound: admissible."""</a:t>
            </a:r>
          </a:p>
          <a:p>
            <a:pPr>
              <a:lnSpc>
                <a:spcPct val="100000"/>
              </a:lnSpc>
              <a:spcAft>
                <a:spcPts val="0"/>
              </a:spcAft>
            </a:pPr>
            <a:r>
              <a:rPr sz="1400" i="0">
                <a:solidFill>
                  <a:srgbClr val="E8EDF2"/>
                </a:solidFill>
                <a:latin typeface="Consolas"/>
              </a:rPr>
              <a:t>    </a:t>
            </a:r>
            <a:r>
              <a:rPr sz="1400" i="0">
                <a:solidFill>
                  <a:srgbClr val="E8EDF2"/>
                </a:solidFill>
                <a:latin typeface="Consolas"/>
              </a:rPr>
              <a:t>total</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c</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components</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deployed </a:t>
            </a:r>
            <a:r>
              <a:rPr sz="1400" i="0">
                <a:solidFill>
                  <a:srgbClr val="7DCEA0"/>
                </a:solidFill>
                <a:latin typeface="Consolas"/>
              </a:rPr>
              <a:t>%s</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state</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total</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a:t>
            </a:r>
          </a:p>
          <a:p>
            <a:pPr>
              <a:lnSpc>
                <a:spcPct val="100000"/>
              </a:lnSpc>
              <a:spcAft>
                <a:spcPts val="0"/>
              </a:spcAft>
            </a:pPr>
            <a:r>
              <a:rPr sz="1400" i="0">
                <a:solidFill>
                  <a:srgbClr val="E8EDF2"/>
                </a:solidFill>
                <a:latin typeface="Consolas"/>
              </a:rPr>
              <a:t>        </a:t>
            </a:r>
            <a:r>
              <a:rPr sz="1400" i="0">
                <a:solidFill>
                  <a:srgbClr val="5DADE2"/>
                </a:solidFill>
                <a:latin typeface="Consolas"/>
              </a:rPr>
              <a:t>elif</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tested </a:t>
            </a:r>
            <a:r>
              <a:rPr sz="1400" i="0">
                <a:solidFill>
                  <a:srgbClr val="7DCEA0"/>
                </a:solidFill>
                <a:latin typeface="Consolas"/>
              </a:rPr>
              <a:t>%s</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state</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total</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p>
          <a:p>
            <a:pPr>
              <a:lnSpc>
                <a:spcPct val="100000"/>
              </a:lnSpc>
              <a:spcAft>
                <a:spcPts val="0"/>
              </a:spcAft>
            </a:pPr>
            <a:r>
              <a:rPr sz="1400" i="0">
                <a:solidFill>
                  <a:srgbClr val="E8EDF2"/>
                </a:solidFill>
                <a:latin typeface="Consolas"/>
              </a:rPr>
              <a:t>        </a:t>
            </a:r>
            <a:r>
              <a:rPr sz="1400" i="0">
                <a:solidFill>
                  <a:srgbClr val="5DADE2"/>
                </a:solidFill>
                <a:latin typeface="Consolas"/>
              </a:rPr>
              <a:t>elif</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reviewed </a:t>
            </a:r>
            <a:r>
              <a:rPr sz="1400" i="0">
                <a:solidFill>
                  <a:srgbClr val="7DCEA0"/>
                </a:solidFill>
                <a:latin typeface="Consolas"/>
              </a:rPr>
              <a:t>%s</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state</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total</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p>
          <a:p>
            <a:pPr>
              <a:lnSpc>
                <a:spcPct val="100000"/>
              </a:lnSpc>
              <a:spcAft>
                <a:spcPts val="0"/>
              </a:spcAft>
            </a:pPr>
            <a:r>
              <a:rPr sz="1400" i="0">
                <a:solidFill>
                  <a:srgbClr val="E8EDF2"/>
                </a:solidFill>
                <a:latin typeface="Consolas"/>
              </a:rPr>
              <a:t>        </a:t>
            </a:r>
            <a:r>
              <a:rPr sz="1400" i="0">
                <a:solidFill>
                  <a:srgbClr val="5DADE2"/>
                </a:solidFill>
                <a:latin typeface="Consolas"/>
              </a:rPr>
              <a:t>elif</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coded </a:t>
            </a:r>
            <a:r>
              <a:rPr sz="1400" i="0">
                <a:solidFill>
                  <a:srgbClr val="7DCEA0"/>
                </a:solidFill>
                <a:latin typeface="Consolas"/>
              </a:rPr>
              <a:t>%s</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state</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total</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3</a:t>
            </a:r>
          </a:p>
          <a:p>
            <a:pPr>
              <a:lnSpc>
                <a:spcPct val="100000"/>
              </a:lnSpc>
              <a:spcAft>
                <a:spcPts val="0"/>
              </a:spcAft>
            </a:pPr>
            <a:r>
              <a:rPr sz="1400" i="0">
                <a:solidFill>
                  <a:srgbClr val="E8EDF2"/>
                </a:solidFill>
                <a:latin typeface="Consolas"/>
              </a:rPr>
              <a:t>        </a:t>
            </a:r>
            <a:r>
              <a:rPr sz="1400" i="0">
                <a:solidFill>
                  <a:srgbClr val="5DADE2"/>
                </a:solidFill>
                <a:latin typeface="Consolas"/>
              </a:rPr>
              <a:t>else</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total</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4</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total</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77</a:t>
            </a:r>
          </a:p>
          <a:p>
            <a:pPr algn="r">
              <a:lnSpc>
                <a:spcPct val="100000"/>
              </a:lnSpc>
            </a:pPr>
            <a:r>
              <a:rPr sz="1400">
                <a:solidFill>
                  <a:srgbClr val="4F5D6A"/>
                </a:solidFill>
                <a:latin typeface="Consolas"/>
              </a:rPr>
              <a:t>78</a:t>
            </a:r>
          </a:p>
          <a:p>
            <a:pPr algn="r">
              <a:lnSpc>
                <a:spcPct val="100000"/>
              </a:lnSpc>
            </a:pPr>
            <a:r>
              <a:rPr sz="1400">
                <a:solidFill>
                  <a:srgbClr val="4F5D6A"/>
                </a:solidFill>
                <a:latin typeface="Consolas"/>
              </a:rPr>
              <a:t>79</a:t>
            </a:r>
          </a:p>
          <a:p>
            <a:pPr algn="r">
              <a:lnSpc>
                <a:spcPct val="100000"/>
              </a:lnSpc>
            </a:pPr>
            <a:r>
              <a:rPr sz="1400">
                <a:solidFill>
                  <a:srgbClr val="4F5D6A"/>
                </a:solidFill>
                <a:latin typeface="Consolas"/>
              </a:rPr>
              <a:t>80</a:t>
            </a:r>
          </a:p>
          <a:p>
            <a:pPr algn="r">
              <a:lnSpc>
                <a:spcPct val="100000"/>
              </a:lnSpc>
            </a:pPr>
            <a:r>
              <a:rPr sz="1400">
                <a:solidFill>
                  <a:srgbClr val="4F5D6A"/>
                </a:solidFill>
                <a:latin typeface="Consolas"/>
              </a:rPr>
              <a:t>81</a:t>
            </a:r>
          </a:p>
          <a:p>
            <a:pPr algn="r">
              <a:lnSpc>
                <a:spcPct val="100000"/>
              </a:lnSpc>
            </a:pPr>
            <a:r>
              <a:rPr sz="1400">
                <a:solidFill>
                  <a:srgbClr val="4F5D6A"/>
                </a:solidFill>
                <a:latin typeface="Consolas"/>
              </a:rPr>
              <a:t>82</a:t>
            </a:r>
          </a:p>
          <a:p>
            <a:pPr algn="r">
              <a:lnSpc>
                <a:spcPct val="100000"/>
              </a:lnSpc>
            </a:pPr>
            <a:r>
              <a:rPr sz="1400">
                <a:solidFill>
                  <a:srgbClr val="4F5D6A"/>
                </a:solidFill>
                <a:latin typeface="Consolas"/>
              </a:rPr>
              <a:t>83</a:t>
            </a:r>
          </a:p>
          <a:p>
            <a:pPr algn="r">
              <a:lnSpc>
                <a:spcPct val="100000"/>
              </a:lnSpc>
            </a:pPr>
            <a:r>
              <a:rPr sz="1400">
                <a:solidFill>
                  <a:srgbClr val="4F5D6A"/>
                </a:solidFill>
                <a:latin typeface="Consolas"/>
              </a:rPr>
              <a:t>84</a:t>
            </a:r>
          </a:p>
          <a:p>
            <a:pPr algn="r">
              <a:lnSpc>
                <a:spcPct val="100000"/>
              </a:lnSpc>
            </a:pPr>
            <a:r>
              <a:rPr sz="1400">
                <a:solidFill>
                  <a:srgbClr val="4F5D6A"/>
                </a:solidFill>
                <a:latin typeface="Consolas"/>
              </a:rPr>
              <a:t>85</a:t>
            </a:r>
          </a:p>
          <a:p>
            <a:pPr algn="r">
              <a:lnSpc>
                <a:spcPct val="100000"/>
              </a:lnSpc>
            </a:pPr>
            <a:r>
              <a:rPr sz="1400">
                <a:solidFill>
                  <a:srgbClr val="4F5D6A"/>
                </a:solidFill>
                <a:latin typeface="Consolas"/>
              </a:rPr>
              <a:t>86</a:t>
            </a:r>
          </a:p>
          <a:p>
            <a:pPr algn="r">
              <a:lnSpc>
                <a:spcPct val="100000"/>
              </a:lnSpc>
            </a:pPr>
            <a:r>
              <a:rPr sz="1400">
                <a:solidFill>
                  <a:srgbClr val="4F5D6A"/>
                </a:solidFill>
                <a:latin typeface="Consolas"/>
              </a:rPr>
              <a:t>87</a:t>
            </a:r>
          </a:p>
          <a:p>
            <a:pPr algn="r">
              <a:lnSpc>
                <a:spcPct val="100000"/>
              </a:lnSpc>
            </a:pPr>
            <a:r>
              <a:rPr sz="1400">
                <a:solidFill>
                  <a:srgbClr val="4F5D6A"/>
                </a:solidFill>
                <a:latin typeface="Consolas"/>
              </a:rPr>
              <a:t>88</a:t>
            </a:r>
          </a:p>
          <a:p>
            <a:pPr algn="r">
              <a:lnSpc>
                <a:spcPct val="100000"/>
              </a:lnSpc>
            </a:pPr>
            <a:r>
              <a:rPr sz="1400">
                <a:solidFill>
                  <a:srgbClr val="4F5D6A"/>
                </a:solidFill>
                <a:latin typeface="Consolas"/>
              </a:rPr>
              <a:t>89</a:t>
            </a:r>
          </a:p>
          <a:p>
            <a:pPr algn="r">
              <a:lnSpc>
                <a:spcPct val="100000"/>
              </a:lnSpc>
            </a:pPr>
            <a:r>
              <a:rPr sz="1400">
                <a:solidFill>
                  <a:srgbClr val="4F5D6A"/>
                </a:solidFill>
                <a:latin typeface="Consolas"/>
              </a:rPr>
              <a:t>90</a:t>
            </a:r>
          </a:p>
          <a:p>
            <a:pPr algn="r">
              <a:lnSpc>
                <a:spcPct val="100000"/>
              </a:lnSpc>
            </a:pPr>
            <a:r>
              <a:rPr sz="1400">
                <a:solidFill>
                  <a:srgbClr val="4F5D6A"/>
                </a:solidFill>
                <a:latin typeface="Consolas"/>
              </a:rPr>
              <a:t>91</a:t>
            </a:r>
          </a:p>
          <a:p>
            <a:pPr algn="r">
              <a:lnSpc>
                <a:spcPct val="100000"/>
              </a:lnSpc>
            </a:pPr>
            <a:r>
              <a:rPr sz="1400">
                <a:solidFill>
                  <a:srgbClr val="4F5D6A"/>
                </a:solidFill>
                <a:latin typeface="Consolas"/>
              </a:rPr>
              <a:t>92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32161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E9E95B1C-A3CA-462E-B439-18AEA11A7392}"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Progression search: Chapter 4's frontier, unchanged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def progression_astar(init, goal, ops, components): tie = itertools.count() frontier = [(h_remaining(init, components), next(tie), 0, init, ())] best = {init: 0} expanded = 0 while frontier: _, _, g, state, plan = heapq.heappop(frontier) if goal &lt;= state: return list(plan), expanded if g &gt; best.get(state, 1 &lt;&lt; 30): continue expanded += 1 for op in applicable(state, ops): nxt, ng = apply_op(state, op), g + 1 if ng &lt; best.get(nxt, 1 &lt;&lt; 30): best[nxt] = ng heapq.heappush(frontier, (ng + h_remaining(nxt, components), next(tie), ng, nxt, plan + (op[0],))) return None, expanded"/>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1100" i="0">
                <a:solidFill>
                  <a:srgbClr val="5DADE2"/>
                </a:solidFill>
                <a:latin typeface="Consolas"/>
              </a:rPr>
              <a:t>def</a:t>
            </a:r>
            <a:r>
              <a:rPr sz="1100" i="0">
                <a:solidFill>
                  <a:srgbClr val="E8EDF2"/>
                </a:solidFill>
                <a:latin typeface="Consolas"/>
              </a:rPr>
              <a:t> </a:t>
            </a:r>
            <a:r>
              <a:rPr sz="1100" i="0">
                <a:solidFill>
                  <a:srgbClr val="C39BD3"/>
                </a:solidFill>
                <a:latin typeface="Consolas"/>
              </a:rPr>
              <a:t>progression_astar</a:t>
            </a:r>
            <a:r>
              <a:rPr sz="1100" i="0">
                <a:solidFill>
                  <a:srgbClr val="AEB6BF"/>
                </a:solidFill>
                <a:latin typeface="Consolas"/>
              </a:rPr>
              <a:t>(</a:t>
            </a:r>
            <a:r>
              <a:rPr sz="1100" i="0">
                <a:solidFill>
                  <a:srgbClr val="E8EDF2"/>
                </a:solidFill>
                <a:latin typeface="Consolas"/>
              </a:rPr>
              <a:t>init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goal</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ops</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components</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tie</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itertools</a:t>
            </a:r>
            <a:r>
              <a:rPr sz="1100" i="0">
                <a:solidFill>
                  <a:srgbClr val="AEB6BF"/>
                </a:solidFill>
                <a:latin typeface="Consolas"/>
              </a:rPr>
              <a:t>.</a:t>
            </a:r>
            <a:r>
              <a:rPr sz="1100" i="0">
                <a:solidFill>
                  <a:srgbClr val="E8EDF2"/>
                </a:solidFill>
                <a:latin typeface="Consolas"/>
              </a:rPr>
              <a:t>count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frontier</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h_remaining</a:t>
            </a:r>
            <a:r>
              <a:rPr sz="1100" i="0">
                <a:solidFill>
                  <a:srgbClr val="AEB6BF"/>
                </a:solidFill>
                <a:latin typeface="Consolas"/>
              </a:rPr>
              <a:t>(</a:t>
            </a:r>
            <a:r>
              <a:rPr sz="1100" i="0">
                <a:solidFill>
                  <a:srgbClr val="E8EDF2"/>
                </a:solidFill>
                <a:latin typeface="Consolas"/>
              </a:rPr>
              <a:t>init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components</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next</a:t>
            </a:r>
            <a:r>
              <a:rPr sz="1100" i="0">
                <a:solidFill>
                  <a:srgbClr val="AEB6BF"/>
                </a:solidFill>
                <a:latin typeface="Consolas"/>
              </a:rPr>
              <a:t>(</a:t>
            </a:r>
            <a:r>
              <a:rPr sz="1100" i="0">
                <a:solidFill>
                  <a:srgbClr val="E8EDF2"/>
                </a:solidFill>
                <a:latin typeface="Consolas"/>
              </a:rPr>
              <a:t>tie</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0</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init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best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init</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0</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expanded</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0</a:t>
            </a:r>
          </a:p>
          <a:p>
            <a:pPr>
              <a:lnSpc>
                <a:spcPct val="100000"/>
              </a:lnSpc>
              <a:spcAft>
                <a:spcPts val="0"/>
              </a:spcAft>
            </a:pPr>
            <a:r>
              <a:rPr sz="1100" i="0">
                <a:solidFill>
                  <a:srgbClr val="E8EDF2"/>
                </a:solidFill>
                <a:latin typeface="Consolas"/>
              </a:rPr>
              <a:t>    </a:t>
            </a:r>
            <a:r>
              <a:rPr sz="1100" i="0">
                <a:solidFill>
                  <a:srgbClr val="5DADE2"/>
                </a:solidFill>
                <a:latin typeface="Consolas"/>
              </a:rPr>
              <a:t>while</a:t>
            </a:r>
            <a:r>
              <a:rPr sz="1100" i="0">
                <a:solidFill>
                  <a:srgbClr val="E8EDF2"/>
                </a:solidFill>
                <a:latin typeface="Consolas"/>
              </a:rPr>
              <a:t> </a:t>
            </a:r>
            <a:r>
              <a:rPr sz="1100" i="0">
                <a:solidFill>
                  <a:srgbClr val="E8EDF2"/>
                </a:solidFill>
                <a:latin typeface="Consolas"/>
              </a:rPr>
              <a:t>frontier</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_</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_</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g</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state</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plan</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heapq</a:t>
            </a:r>
            <a:r>
              <a:rPr sz="1100" i="0">
                <a:solidFill>
                  <a:srgbClr val="AEB6BF"/>
                </a:solidFill>
                <a:latin typeface="Consolas"/>
              </a:rPr>
              <a:t>.</a:t>
            </a:r>
            <a:r>
              <a:rPr sz="1100" i="0">
                <a:solidFill>
                  <a:srgbClr val="E8EDF2"/>
                </a:solidFill>
                <a:latin typeface="Consolas"/>
              </a:rPr>
              <a:t>heappop</a:t>
            </a:r>
            <a:r>
              <a:rPr sz="1100" i="0">
                <a:solidFill>
                  <a:srgbClr val="AEB6BF"/>
                </a:solidFill>
                <a:latin typeface="Consolas"/>
              </a:rPr>
              <a:t>(</a:t>
            </a:r>
            <a:r>
              <a:rPr sz="1100" i="0">
                <a:solidFill>
                  <a:srgbClr val="E8EDF2"/>
                </a:solidFill>
                <a:latin typeface="Consolas"/>
              </a:rPr>
              <a:t>frontier</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E8EDF2"/>
                </a:solidFill>
                <a:latin typeface="Consolas"/>
              </a:rPr>
              <a:t>goal</a:t>
            </a:r>
            <a:r>
              <a:rPr sz="1100" i="0">
                <a:solidFill>
                  <a:srgbClr val="E8EDF2"/>
                </a:solidFill>
                <a:latin typeface="Consolas"/>
              </a:rPr>
              <a:t> </a:t>
            </a:r>
            <a:r>
              <a:rPr sz="1100" i="0">
                <a:solidFill>
                  <a:srgbClr val="AEB6BF"/>
                </a:solidFill>
                <a:latin typeface="Consolas"/>
              </a:rPr>
              <a:t>&lt;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state</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return</a:t>
            </a:r>
            <a:r>
              <a:rPr sz="1100" i="0">
                <a:solidFill>
                  <a:srgbClr val="E8EDF2"/>
                </a:solidFill>
                <a:latin typeface="Consolas"/>
              </a:rPr>
              <a:t> </a:t>
            </a:r>
            <a:r>
              <a:rPr sz="1100" i="0">
                <a:solidFill>
                  <a:srgbClr val="C39BD3"/>
                </a:solidFill>
                <a:latin typeface="Consolas"/>
              </a:rPr>
              <a:t>list</a:t>
            </a:r>
            <a:r>
              <a:rPr sz="1100" i="0">
                <a:solidFill>
                  <a:srgbClr val="AEB6BF"/>
                </a:solidFill>
                <a:latin typeface="Consolas"/>
              </a:rPr>
              <a:t>(</a:t>
            </a:r>
            <a:r>
              <a:rPr sz="1100" i="0">
                <a:solidFill>
                  <a:srgbClr val="E8EDF2"/>
                </a:solidFill>
                <a:latin typeface="Consolas"/>
              </a:rPr>
              <a:t>plan</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expanded</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E8EDF2"/>
                </a:solidFill>
                <a:latin typeface="Consolas"/>
              </a:rPr>
              <a:t>g</a:t>
            </a:r>
            <a:r>
              <a:rPr sz="1100" i="0">
                <a:solidFill>
                  <a:srgbClr val="E8EDF2"/>
                </a:solidFill>
                <a:latin typeface="Consolas"/>
              </a:rPr>
              <a:t> </a:t>
            </a:r>
            <a:r>
              <a:rPr sz="1100" i="0">
                <a:solidFill>
                  <a:srgbClr val="AEB6BF"/>
                </a:solidFill>
                <a:latin typeface="Consolas"/>
              </a:rPr>
              <a:t>&gt;</a:t>
            </a:r>
            <a:r>
              <a:rPr sz="1100" i="0">
                <a:solidFill>
                  <a:srgbClr val="E8EDF2"/>
                </a:solidFill>
                <a:latin typeface="Consolas"/>
              </a:rPr>
              <a:t> </a:t>
            </a:r>
            <a:r>
              <a:rPr sz="1100" i="0">
                <a:solidFill>
                  <a:srgbClr val="E8EDF2"/>
                </a:solidFill>
                <a:latin typeface="Consolas"/>
              </a:rPr>
              <a:t>best</a:t>
            </a:r>
            <a:r>
              <a:rPr sz="1100" i="0">
                <a:solidFill>
                  <a:srgbClr val="AEB6BF"/>
                </a:solidFill>
                <a:latin typeface="Consolas"/>
              </a:rPr>
              <a:t>.</a:t>
            </a:r>
            <a:r>
              <a:rPr sz="1100" i="0">
                <a:solidFill>
                  <a:srgbClr val="E8EDF2"/>
                </a:solidFill>
                <a:latin typeface="Consolas"/>
              </a:rPr>
              <a:t>get</a:t>
            </a:r>
            <a:r>
              <a:rPr sz="1100" i="0">
                <a:solidFill>
                  <a:srgbClr val="AEB6BF"/>
                </a:solidFill>
                <a:latin typeface="Consolas"/>
              </a:rPr>
              <a:t>(</a:t>
            </a:r>
            <a:r>
              <a:rPr sz="1100" i="0">
                <a:solidFill>
                  <a:srgbClr val="E8EDF2"/>
                </a:solidFill>
                <a:latin typeface="Consolas"/>
              </a:rPr>
              <a:t>state</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r>
              <a:rPr sz="1100" i="0">
                <a:solidFill>
                  <a:srgbClr val="E8EDF2"/>
                </a:solidFill>
                <a:latin typeface="Consolas"/>
              </a:rPr>
              <a:t> </a:t>
            </a:r>
            <a:r>
              <a:rPr sz="1100" i="0">
                <a:solidFill>
                  <a:srgbClr val="AEB6BF"/>
                </a:solidFill>
                <a:latin typeface="Consolas"/>
              </a:rPr>
              <a:t>&lt;&lt;</a:t>
            </a:r>
            <a:r>
              <a:rPr sz="1100" i="0">
                <a:solidFill>
                  <a:srgbClr val="E8EDF2"/>
                </a:solidFill>
                <a:latin typeface="Consolas"/>
              </a:rPr>
              <a:t> </a:t>
            </a:r>
            <a:r>
              <a:rPr sz="1100" i="0">
                <a:solidFill>
                  <a:srgbClr val="F7DC6F"/>
                </a:solidFill>
                <a:latin typeface="Consolas"/>
              </a:rPr>
              <a:t>30</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continue</a:t>
            </a:r>
          </a:p>
          <a:p>
            <a:pPr>
              <a:lnSpc>
                <a:spcPct val="100000"/>
              </a:lnSpc>
              <a:spcAft>
                <a:spcPts val="0"/>
              </a:spcAft>
            </a:pPr>
            <a:r>
              <a:rPr sz="1100" i="0">
                <a:solidFill>
                  <a:srgbClr val="E8EDF2"/>
                </a:solidFill>
                <a:latin typeface="Consolas"/>
              </a:rPr>
              <a:t>        </a:t>
            </a:r>
            <a:r>
              <a:rPr sz="1100" i="0">
                <a:solidFill>
                  <a:srgbClr val="E8EDF2"/>
                </a:solidFill>
                <a:latin typeface="Consolas"/>
              </a:rPr>
              <a:t>expanded</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p>
          <a:p>
            <a:pPr>
              <a:lnSpc>
                <a:spcPct val="100000"/>
              </a:lnSpc>
              <a:spcAft>
                <a:spcPts val="0"/>
              </a:spcAft>
            </a:pP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op</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E8EDF2"/>
                </a:solidFill>
                <a:latin typeface="Consolas"/>
              </a:rPr>
              <a:t>applicable</a:t>
            </a:r>
            <a:r>
              <a:rPr sz="1100" i="0">
                <a:solidFill>
                  <a:srgbClr val="AEB6BF"/>
                </a:solidFill>
                <a:latin typeface="Consolas"/>
              </a:rPr>
              <a:t>(</a:t>
            </a:r>
            <a:r>
              <a:rPr sz="1100" i="0">
                <a:solidFill>
                  <a:srgbClr val="E8EDF2"/>
                </a:solidFill>
                <a:latin typeface="Consolas"/>
              </a:rPr>
              <a:t>state</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ops</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nxt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ng</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apply_op</a:t>
            </a:r>
            <a:r>
              <a:rPr sz="1100" i="0">
                <a:solidFill>
                  <a:srgbClr val="AEB6BF"/>
                </a:solidFill>
                <a:latin typeface="Consolas"/>
              </a:rPr>
              <a:t>(</a:t>
            </a:r>
            <a:r>
              <a:rPr sz="1100" i="0">
                <a:solidFill>
                  <a:srgbClr val="E8EDF2"/>
                </a:solidFill>
                <a:latin typeface="Consolas"/>
              </a:rPr>
              <a:t>state</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op</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g</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E8EDF2"/>
                </a:solidFill>
                <a:latin typeface="Consolas"/>
              </a:rPr>
              <a:t>ng</a:t>
            </a:r>
            <a:r>
              <a:rPr sz="1100" i="0">
                <a:solidFill>
                  <a:srgbClr val="E8EDF2"/>
                </a:solidFill>
                <a:latin typeface="Consolas"/>
              </a:rPr>
              <a:t> </a:t>
            </a:r>
            <a:r>
              <a:rPr sz="1100" i="0">
                <a:solidFill>
                  <a:srgbClr val="AEB6BF"/>
                </a:solidFill>
                <a:latin typeface="Consolas"/>
              </a:rPr>
              <a:t>&lt;</a:t>
            </a:r>
            <a:r>
              <a:rPr sz="1100" i="0">
                <a:solidFill>
                  <a:srgbClr val="E8EDF2"/>
                </a:solidFill>
                <a:latin typeface="Consolas"/>
              </a:rPr>
              <a:t> </a:t>
            </a:r>
            <a:r>
              <a:rPr sz="1100" i="0">
                <a:solidFill>
                  <a:srgbClr val="E8EDF2"/>
                </a:solidFill>
                <a:latin typeface="Consolas"/>
              </a:rPr>
              <a:t>best</a:t>
            </a:r>
            <a:r>
              <a:rPr sz="1100" i="0">
                <a:solidFill>
                  <a:srgbClr val="AEB6BF"/>
                </a:solidFill>
                <a:latin typeface="Consolas"/>
              </a:rPr>
              <a:t>.</a:t>
            </a:r>
            <a:r>
              <a:rPr sz="1100" i="0">
                <a:solidFill>
                  <a:srgbClr val="E8EDF2"/>
                </a:solidFill>
                <a:latin typeface="Consolas"/>
              </a:rPr>
              <a:t>get</a:t>
            </a:r>
            <a:r>
              <a:rPr sz="1100" i="0">
                <a:solidFill>
                  <a:srgbClr val="AEB6BF"/>
                </a:solidFill>
                <a:latin typeface="Consolas"/>
              </a:rPr>
              <a:t>(</a:t>
            </a:r>
            <a:r>
              <a:rPr sz="1100" i="0">
                <a:solidFill>
                  <a:srgbClr val="E8EDF2"/>
                </a:solidFill>
                <a:latin typeface="Consolas"/>
              </a:rPr>
              <a:t>nxt</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r>
              <a:rPr sz="1100" i="0">
                <a:solidFill>
                  <a:srgbClr val="E8EDF2"/>
                </a:solidFill>
                <a:latin typeface="Consolas"/>
              </a:rPr>
              <a:t> </a:t>
            </a:r>
            <a:r>
              <a:rPr sz="1100" i="0">
                <a:solidFill>
                  <a:srgbClr val="AEB6BF"/>
                </a:solidFill>
                <a:latin typeface="Consolas"/>
              </a:rPr>
              <a:t>&lt;&lt;</a:t>
            </a:r>
            <a:r>
              <a:rPr sz="1100" i="0">
                <a:solidFill>
                  <a:srgbClr val="E8EDF2"/>
                </a:solidFill>
                <a:latin typeface="Consolas"/>
              </a:rPr>
              <a:t> </a:t>
            </a:r>
            <a:r>
              <a:rPr sz="1100" i="0">
                <a:solidFill>
                  <a:srgbClr val="F7DC6F"/>
                </a:solidFill>
                <a:latin typeface="Consolas"/>
              </a:rPr>
              <a:t>30</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best</a:t>
            </a:r>
            <a:r>
              <a:rPr sz="1100" i="0">
                <a:solidFill>
                  <a:srgbClr val="AEB6BF"/>
                </a:solidFill>
                <a:latin typeface="Consolas"/>
              </a:rPr>
              <a:t>[</a:t>
            </a:r>
            <a:r>
              <a:rPr sz="1100" i="0">
                <a:solidFill>
                  <a:srgbClr val="E8EDF2"/>
                </a:solidFill>
                <a:latin typeface="Consolas"/>
              </a:rPr>
              <a:t>nxt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ng</a:t>
            </a:r>
          </a:p>
          <a:p>
            <a:pPr>
              <a:lnSpc>
                <a:spcPct val="100000"/>
              </a:lnSpc>
              <a:spcAft>
                <a:spcPts val="0"/>
              </a:spcAft>
            </a:pPr>
            <a:r>
              <a:rPr sz="1100" i="0">
                <a:solidFill>
                  <a:srgbClr val="E8EDF2"/>
                </a:solidFill>
                <a:latin typeface="Consolas"/>
              </a:rPr>
              <a:t>                </a:t>
            </a:r>
            <a:r>
              <a:rPr sz="1100" i="0">
                <a:solidFill>
                  <a:srgbClr val="E8EDF2"/>
                </a:solidFill>
                <a:latin typeface="Consolas"/>
              </a:rPr>
              <a:t>heapq</a:t>
            </a:r>
            <a:r>
              <a:rPr sz="1100" i="0">
                <a:solidFill>
                  <a:srgbClr val="AEB6BF"/>
                </a:solidFill>
                <a:latin typeface="Consolas"/>
              </a:rPr>
              <a:t>.</a:t>
            </a:r>
            <a:r>
              <a:rPr sz="1100" i="0">
                <a:solidFill>
                  <a:srgbClr val="E8EDF2"/>
                </a:solidFill>
                <a:latin typeface="Consolas"/>
              </a:rPr>
              <a:t>heappush</a:t>
            </a:r>
            <a:r>
              <a:rPr sz="1100" i="0">
                <a:solidFill>
                  <a:srgbClr val="AEB6BF"/>
                </a:solidFill>
                <a:latin typeface="Consolas"/>
              </a:rPr>
              <a:t>(</a:t>
            </a:r>
            <a:r>
              <a:rPr sz="1100" i="0">
                <a:solidFill>
                  <a:srgbClr val="E8EDF2"/>
                </a:solidFill>
                <a:latin typeface="Consolas"/>
              </a:rPr>
              <a:t>frontier</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ng</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h_remaining</a:t>
            </a:r>
            <a:r>
              <a:rPr sz="1100" i="0">
                <a:solidFill>
                  <a:srgbClr val="AEB6BF"/>
                </a:solidFill>
                <a:latin typeface="Consolas"/>
              </a:rPr>
              <a:t>(</a:t>
            </a:r>
            <a:r>
              <a:rPr sz="1100" i="0">
                <a:solidFill>
                  <a:srgbClr val="E8EDF2"/>
                </a:solidFill>
                <a:latin typeface="Consolas"/>
              </a:rPr>
              <a:t>nxt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components</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next</a:t>
            </a:r>
            <a:r>
              <a:rPr sz="1100" i="0">
                <a:solidFill>
                  <a:srgbClr val="AEB6BF"/>
                </a:solidFill>
                <a:latin typeface="Consolas"/>
              </a:rPr>
              <a:t>(</a:t>
            </a:r>
            <a:r>
              <a:rPr sz="1100" i="0">
                <a:solidFill>
                  <a:srgbClr val="E8EDF2"/>
                </a:solidFill>
                <a:latin typeface="Consolas"/>
              </a:rPr>
              <a:t>tie</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ng</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nxt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plan</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op</a:t>
            </a:r>
            <a:r>
              <a:rPr sz="1100" i="0">
                <a:solidFill>
                  <a:srgbClr val="AEB6BF"/>
                </a:solidFill>
                <a:latin typeface="Consolas"/>
              </a:rPr>
              <a:t>[</a:t>
            </a:r>
            <a:r>
              <a:rPr sz="1100" i="0">
                <a:solidFill>
                  <a:srgbClr val="F7DC6F"/>
                </a:solidFill>
                <a:latin typeface="Consolas"/>
              </a:rPr>
              <a:t>0</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return</a:t>
            </a:r>
            <a:r>
              <a:rPr sz="1100" i="0">
                <a:solidFill>
                  <a:srgbClr val="E8EDF2"/>
                </a:solidFill>
                <a:latin typeface="Consolas"/>
              </a:rPr>
              <a:t> </a:t>
            </a:r>
            <a:r>
              <a:rPr sz="1100" i="0">
                <a:solidFill>
                  <a:srgbClr val="5DADE2"/>
                </a:solidFill>
                <a:latin typeface="Consolas"/>
              </a:rPr>
              <a:t>None</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expanded</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1100">
                <a:solidFill>
                  <a:srgbClr val="4F5D6A"/>
                </a:solidFill>
                <a:latin typeface="Consolas"/>
              </a:rPr>
              <a:t>95</a:t>
            </a:r>
          </a:p>
          <a:p>
            <a:pPr algn="r">
              <a:lnSpc>
                <a:spcPct val="100000"/>
              </a:lnSpc>
            </a:pPr>
            <a:r>
              <a:rPr sz="1100">
                <a:solidFill>
                  <a:srgbClr val="4F5D6A"/>
                </a:solidFill>
                <a:latin typeface="Consolas"/>
              </a:rPr>
              <a:t>96</a:t>
            </a:r>
          </a:p>
          <a:p>
            <a:pPr algn="r">
              <a:lnSpc>
                <a:spcPct val="100000"/>
              </a:lnSpc>
            </a:pPr>
            <a:r>
              <a:rPr sz="1100">
                <a:solidFill>
                  <a:srgbClr val="4F5D6A"/>
                </a:solidFill>
                <a:latin typeface="Consolas"/>
              </a:rPr>
              <a:t>97</a:t>
            </a:r>
          </a:p>
          <a:p>
            <a:pPr algn="r">
              <a:lnSpc>
                <a:spcPct val="100000"/>
              </a:lnSpc>
            </a:pPr>
            <a:r>
              <a:rPr sz="1100">
                <a:solidFill>
                  <a:srgbClr val="4F5D6A"/>
                </a:solidFill>
                <a:latin typeface="Consolas"/>
              </a:rPr>
              <a:t>98</a:t>
            </a:r>
          </a:p>
          <a:p>
            <a:pPr algn="r">
              <a:lnSpc>
                <a:spcPct val="100000"/>
              </a:lnSpc>
            </a:pPr>
            <a:r>
              <a:rPr sz="1100">
                <a:solidFill>
                  <a:srgbClr val="4F5D6A"/>
                </a:solidFill>
                <a:latin typeface="Consolas"/>
              </a:rPr>
              <a:t>99</a:t>
            </a:r>
          </a:p>
          <a:p>
            <a:pPr algn="r">
              <a:lnSpc>
                <a:spcPct val="100000"/>
              </a:lnSpc>
            </a:pPr>
            <a:r>
              <a:rPr sz="1100">
                <a:solidFill>
                  <a:srgbClr val="4F5D6A"/>
                </a:solidFill>
                <a:latin typeface="Consolas"/>
              </a:rPr>
              <a:t>100</a:t>
            </a:r>
          </a:p>
          <a:p>
            <a:pPr algn="r">
              <a:lnSpc>
                <a:spcPct val="100000"/>
              </a:lnSpc>
            </a:pPr>
            <a:r>
              <a:rPr sz="1100">
                <a:solidFill>
                  <a:srgbClr val="4F5D6A"/>
                </a:solidFill>
                <a:latin typeface="Consolas"/>
              </a:rPr>
              <a:t>101</a:t>
            </a:r>
          </a:p>
          <a:p>
            <a:pPr algn="r">
              <a:lnSpc>
                <a:spcPct val="100000"/>
              </a:lnSpc>
            </a:pPr>
            <a:r>
              <a:rPr sz="1100">
                <a:solidFill>
                  <a:srgbClr val="4F5D6A"/>
                </a:solidFill>
                <a:latin typeface="Consolas"/>
              </a:rPr>
              <a:t>102</a:t>
            </a:r>
          </a:p>
          <a:p>
            <a:pPr algn="r">
              <a:lnSpc>
                <a:spcPct val="100000"/>
              </a:lnSpc>
            </a:pPr>
            <a:r>
              <a:rPr sz="1100">
                <a:solidFill>
                  <a:srgbClr val="4F5D6A"/>
                </a:solidFill>
                <a:latin typeface="Consolas"/>
              </a:rPr>
              <a:t>103</a:t>
            </a:r>
          </a:p>
          <a:p>
            <a:pPr algn="r">
              <a:lnSpc>
                <a:spcPct val="100000"/>
              </a:lnSpc>
            </a:pPr>
            <a:r>
              <a:rPr sz="1100">
                <a:solidFill>
                  <a:srgbClr val="4F5D6A"/>
                </a:solidFill>
                <a:latin typeface="Consolas"/>
              </a:rPr>
              <a:t>104</a:t>
            </a:r>
          </a:p>
          <a:p>
            <a:pPr algn="r">
              <a:lnSpc>
                <a:spcPct val="100000"/>
              </a:lnSpc>
            </a:pPr>
            <a:r>
              <a:rPr sz="1100">
                <a:solidFill>
                  <a:srgbClr val="4F5D6A"/>
                </a:solidFill>
                <a:latin typeface="Consolas"/>
              </a:rPr>
              <a:t>105</a:t>
            </a:r>
          </a:p>
          <a:p>
            <a:pPr algn="r">
              <a:lnSpc>
                <a:spcPct val="100000"/>
              </a:lnSpc>
            </a:pPr>
            <a:r>
              <a:rPr sz="1100">
                <a:solidFill>
                  <a:srgbClr val="4F5D6A"/>
                </a:solidFill>
                <a:latin typeface="Consolas"/>
              </a:rPr>
              <a:t>106</a:t>
            </a:r>
          </a:p>
          <a:p>
            <a:pPr algn="r">
              <a:lnSpc>
                <a:spcPct val="100000"/>
              </a:lnSpc>
            </a:pPr>
            <a:r>
              <a:rPr sz="1100">
                <a:solidFill>
                  <a:srgbClr val="4F5D6A"/>
                </a:solidFill>
                <a:latin typeface="Consolas"/>
              </a:rPr>
              <a:t>107</a:t>
            </a:r>
          </a:p>
          <a:p>
            <a:pPr algn="r">
              <a:lnSpc>
                <a:spcPct val="100000"/>
              </a:lnSpc>
            </a:pPr>
            <a:r>
              <a:rPr sz="1100">
                <a:solidFill>
                  <a:srgbClr val="4F5D6A"/>
                </a:solidFill>
                <a:latin typeface="Consolas"/>
              </a:rPr>
              <a:t>108</a:t>
            </a:r>
          </a:p>
          <a:p>
            <a:pPr algn="r">
              <a:lnSpc>
                <a:spcPct val="100000"/>
              </a:lnSpc>
            </a:pPr>
            <a:r>
              <a:rPr sz="1100">
                <a:solidFill>
                  <a:srgbClr val="4F5D6A"/>
                </a:solidFill>
                <a:latin typeface="Consolas"/>
              </a:rPr>
              <a:t>109</a:t>
            </a:r>
          </a:p>
          <a:p>
            <a:pPr algn="r">
              <a:lnSpc>
                <a:spcPct val="100000"/>
              </a:lnSpc>
            </a:pPr>
            <a:r>
              <a:rPr sz="1100">
                <a:solidFill>
                  <a:srgbClr val="4F5D6A"/>
                </a:solidFill>
                <a:latin typeface="Consolas"/>
              </a:rPr>
              <a:t>110</a:t>
            </a:r>
          </a:p>
          <a:p>
            <a:pPr algn="r">
              <a:lnSpc>
                <a:spcPct val="100000"/>
              </a:lnSpc>
            </a:pPr>
            <a:r>
              <a:rPr sz="1100">
                <a:solidFill>
                  <a:srgbClr val="4F5D6A"/>
                </a:solidFill>
                <a:latin typeface="Consolas"/>
              </a:rPr>
              <a:t>111</a:t>
            </a:r>
          </a:p>
          <a:p>
            <a:pPr algn="r">
              <a:lnSpc>
                <a:spcPct val="100000"/>
              </a:lnSpc>
            </a:pPr>
            <a:r>
              <a:rPr sz="1100">
                <a:solidFill>
                  <a:srgbClr val="4F5D6A"/>
                </a:solidFill>
                <a:latin typeface="Consolas"/>
              </a:rPr>
              <a:t>112</a:t>
            </a:r>
          </a:p>
          <a:p>
            <a:pPr algn="r">
              <a:lnSpc>
                <a:spcPct val="100000"/>
              </a:lnSpc>
            </a:pPr>
            <a:r>
              <a:rPr sz="1100">
                <a:solidFill>
                  <a:srgbClr val="4F5D6A"/>
                </a:solidFill>
                <a:latin typeface="Consolas"/>
              </a:rPr>
              <a:t>113</a:t>
            </a:r>
          </a:p>
          <a:p>
            <a:pPr algn="r">
              <a:lnSpc>
                <a:spcPct val="100000"/>
              </a:lnSpc>
            </a:pPr>
            <a:r>
              <a:rPr sz="1100">
                <a:solidFill>
                  <a:srgbClr val="4F5D6A"/>
                </a:solidFill>
                <a:latin typeface="Consolas"/>
              </a:rPr>
              <a:t>114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54739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98F42445-B692-469E-976C-9A5F5D6AF184}"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Means-ends analysis: the General Problem Solver</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 --- 2. means-ends analysis: the General Problem Solver ------------- class Work: def __init__(self): self.ops = 0"/>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means-ends analysis: the General Problem Solver -------------</a:t>
            </a:r>
          </a:p>
          <a:p>
            <a:pPr>
              <a:lnSpc>
                <a:spcPct val="100000"/>
              </a:lnSpc>
              <a:spcAft>
                <a:spcPts val="0"/>
              </a:spcAft>
            </a:pPr>
            <a:r>
              <a:rPr sz="1900" i="0">
                <a:solidFill>
                  <a:srgbClr val="5DADE2"/>
                </a:solidFill>
                <a:latin typeface="Consolas"/>
              </a:rPr>
              <a:t>class</a:t>
            </a:r>
            <a:r>
              <a:rPr sz="1900" i="0">
                <a:solidFill>
                  <a:srgbClr val="E8EDF2"/>
                </a:solidFill>
                <a:latin typeface="Consolas"/>
              </a:rPr>
              <a:t> </a:t>
            </a:r>
            <a:r>
              <a:rPr sz="1900" i="0">
                <a:solidFill>
                  <a:srgbClr val="76D7C4"/>
                </a:solidFill>
                <a:latin typeface="Consolas"/>
              </a:rPr>
              <a:t>Work</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__init__</a:t>
            </a:r>
            <a:r>
              <a:rPr sz="1900" i="0">
                <a:solidFill>
                  <a:srgbClr val="AEB6BF"/>
                </a:solidFill>
                <a:latin typeface="Consolas"/>
              </a:rPr>
              <a:t>(</a:t>
            </a:r>
            <a:r>
              <a:rPr sz="1900" i="0">
                <a:solidFill>
                  <a:srgbClr val="C39BD3"/>
                </a:solidFill>
                <a:latin typeface="Consolas"/>
              </a:rPr>
              <a:t>self</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self</a:t>
            </a:r>
            <a:r>
              <a:rPr sz="1900" i="0">
                <a:solidFill>
                  <a:srgbClr val="AEB6BF"/>
                </a:solidFill>
                <a:latin typeface="Consolas"/>
              </a:rPr>
              <a:t>.</a:t>
            </a:r>
            <a:r>
              <a:rPr sz="1900" i="0">
                <a:solidFill>
                  <a:srgbClr val="E8EDF2"/>
                </a:solidFill>
                <a:latin typeface="Consolas"/>
              </a:rPr>
              <a:t>ops</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117</a:t>
            </a:r>
          </a:p>
          <a:p>
            <a:pPr algn="r">
              <a:lnSpc>
                <a:spcPct val="100000"/>
              </a:lnSpc>
            </a:pPr>
            <a:r>
              <a:rPr sz="1900">
                <a:solidFill>
                  <a:srgbClr val="4F5D6A"/>
                </a:solidFill>
                <a:latin typeface="Consolas"/>
              </a:rPr>
              <a:t>118</a:t>
            </a:r>
          </a:p>
          <a:p>
            <a:pPr algn="r">
              <a:lnSpc>
                <a:spcPct val="100000"/>
              </a:lnSpc>
            </a:pPr>
            <a:r>
              <a:rPr sz="1900">
                <a:solidFill>
                  <a:srgbClr val="4F5D6A"/>
                </a:solidFill>
                <a:latin typeface="Consolas"/>
              </a:rPr>
              <a:t>119</a:t>
            </a:r>
          </a:p>
          <a:p>
            <a:pPr algn="r">
              <a:lnSpc>
                <a:spcPct val="100000"/>
              </a:lnSpc>
            </a:pPr>
            <a:r>
              <a:rPr sz="1900">
                <a:solidFill>
                  <a:srgbClr val="4F5D6A"/>
                </a:solidFill>
                <a:latin typeface="Consolas"/>
              </a:rPr>
              <a:t>120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2EB66A9A-22F3-4AB2-945A-700EDE99810F}"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Means-ends analysis: the General Problem Solver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41903"/>
          </a:xfrm>
          <a:prstGeom prst="roundRect">
            <a:avLst>
              <a:gd name="adj" fmla="val 30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def means_ends(state, goals, ops, work, depth=0): &quot;&quot;&quot;Achieve each goal in turn, recursing on preconditions. Returns (state, plan) or None. Note it never enumerates states. &quot;&quot;&quot; if depth &gt; 40: return None plan = []"/>
          <p:cNvSpPr txBox="1"/>
          <p:nvPr/>
        </p:nvSpPr>
        <p:spPr>
          <a:xfrm>
            <a:off x="1362456" y="2523744"/>
            <a:ext cx="9987991" cy="25481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means_ends</a:t>
            </a:r>
            <a:r>
              <a:rPr sz="2000" i="0">
                <a:solidFill>
                  <a:srgbClr val="AEB6BF"/>
                </a:solidFill>
                <a:latin typeface="Consolas"/>
              </a:rPr>
              <a:t>(</a:t>
            </a:r>
            <a:r>
              <a:rPr sz="2000" i="0">
                <a:solidFill>
                  <a:srgbClr val="E8EDF2"/>
                </a:solidFill>
                <a:latin typeface="Consolas"/>
              </a:rPr>
              <a:t>state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goals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ops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work</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depth</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"""Achieve each goal in turn, recursing on preconditions.</a:t>
            </a:r>
          </a:p>
          <a:p>
            <a:pPr>
              <a:lnSpc>
                <a:spcPct val="100000"/>
              </a:lnSpc>
              <a:spcAft>
                <a:spcPts val="0"/>
              </a:spcAft>
            </a:pPr>
            <a:r>
              <a:rPr sz="2000">
                <a:latin typeface="Consolas"/>
              </a:rPr>
              <a:t> </a:t>
            </a:r>
          </a:p>
          <a:p>
            <a:pPr>
              <a:lnSpc>
                <a:spcPct val="100000"/>
              </a:lnSpc>
              <a:spcAft>
                <a:spcPts val="0"/>
              </a:spcAft>
            </a:pPr>
            <a:r>
              <a:rPr sz="2000" i="0">
                <a:solidFill>
                  <a:srgbClr val="7DCEA0"/>
                </a:solidFill>
                <a:latin typeface="Consolas"/>
              </a:rPr>
              <a:t>    Returns (state, plan) or None. Note it never enumerates states.</a:t>
            </a:r>
          </a:p>
          <a:p>
            <a:pPr>
              <a:lnSpc>
                <a:spcPct val="100000"/>
              </a:lnSpc>
              <a:spcAft>
                <a:spcPts val="0"/>
              </a:spcAft>
            </a:pPr>
            <a:r>
              <a:rPr sz="2000" i="0">
                <a:solidFill>
                  <a:srgbClr val="7DCEA0"/>
                </a:solidFill>
                <a:latin typeface="Consolas"/>
              </a:rPr>
              <a:t>    """</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depth</a:t>
            </a:r>
            <a:r>
              <a:rPr sz="2000" i="0">
                <a:solidFill>
                  <a:srgbClr val="E8EDF2"/>
                </a:solidFill>
                <a:latin typeface="Consolas"/>
              </a:rPr>
              <a:t> </a:t>
            </a:r>
            <a:r>
              <a:rPr sz="2000" i="0">
                <a:solidFill>
                  <a:srgbClr val="AEB6BF"/>
                </a:solidFill>
                <a:latin typeface="Consolas"/>
              </a:rPr>
              <a:t>&gt;</a:t>
            </a:r>
            <a:r>
              <a:rPr sz="2000" i="0">
                <a:solidFill>
                  <a:srgbClr val="E8EDF2"/>
                </a:solidFill>
                <a:latin typeface="Consolas"/>
              </a:rPr>
              <a:t> </a:t>
            </a:r>
            <a:r>
              <a:rPr sz="2000" i="0">
                <a:solidFill>
                  <a:srgbClr val="F7DC6F"/>
                </a:solidFill>
                <a:latin typeface="Consolas"/>
              </a:rPr>
              <a:t>40</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5DADE2"/>
                </a:solidFill>
                <a:latin typeface="Consolas"/>
              </a:rPr>
              <a:t>None</a:t>
            </a:r>
          </a:p>
          <a:p>
            <a:pPr>
              <a:lnSpc>
                <a:spcPct val="100000"/>
              </a:lnSpc>
              <a:spcAft>
                <a:spcPts val="0"/>
              </a:spcAft>
            </a:pPr>
            <a:r>
              <a:rPr sz="2000" i="0">
                <a:solidFill>
                  <a:srgbClr val="E8EDF2"/>
                </a:solidFill>
                <a:latin typeface="Consolas"/>
              </a:rPr>
              <a:t>    </a:t>
            </a:r>
            <a:r>
              <a:rPr sz="2000" i="0">
                <a:solidFill>
                  <a:srgbClr val="E8EDF2"/>
                </a:solidFill>
                <a:latin typeface="Consolas"/>
              </a:rPr>
              <a:t>plan</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p>
        </p:txBody>
      </p:sp>
      <p:sp>
        <p:nvSpPr>
          <p:cNvPr id="15" name="!!code-num"/>
          <p:cNvSpPr txBox="1"/>
          <p:nvPr/>
        </p:nvSpPr>
        <p:spPr>
          <a:xfrm>
            <a:off x="768096" y="2523744"/>
            <a:ext cx="393192" cy="2548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123</a:t>
            </a:r>
          </a:p>
          <a:p>
            <a:pPr algn="r">
              <a:lnSpc>
                <a:spcPct val="100000"/>
              </a:lnSpc>
            </a:pPr>
            <a:r>
              <a:rPr sz="2000">
                <a:solidFill>
                  <a:srgbClr val="4F5D6A"/>
                </a:solidFill>
                <a:latin typeface="Consolas"/>
              </a:rPr>
              <a:t>124</a:t>
            </a:r>
          </a:p>
          <a:p>
            <a:pPr algn="r">
              <a:lnSpc>
                <a:spcPct val="100000"/>
              </a:lnSpc>
            </a:pPr>
            <a:r>
              <a:rPr sz="2000">
                <a:solidFill>
                  <a:srgbClr val="4F5D6A"/>
                </a:solidFill>
                <a:latin typeface="Consolas"/>
              </a:rPr>
              <a:t>125</a:t>
            </a:r>
          </a:p>
          <a:p>
            <a:pPr algn="r">
              <a:lnSpc>
                <a:spcPct val="100000"/>
              </a:lnSpc>
            </a:pPr>
            <a:r>
              <a:rPr sz="2000">
                <a:solidFill>
                  <a:srgbClr val="4F5D6A"/>
                </a:solidFill>
                <a:latin typeface="Consolas"/>
              </a:rPr>
              <a:t>126</a:t>
            </a:r>
          </a:p>
          <a:p>
            <a:pPr algn="r">
              <a:lnSpc>
                <a:spcPct val="100000"/>
              </a:lnSpc>
            </a:pPr>
            <a:r>
              <a:rPr sz="2000">
                <a:solidFill>
                  <a:srgbClr val="4F5D6A"/>
                </a:solidFill>
                <a:latin typeface="Consolas"/>
              </a:rPr>
              <a:t>127</a:t>
            </a:r>
          </a:p>
          <a:p>
            <a:pPr algn="r">
              <a:lnSpc>
                <a:spcPct val="100000"/>
              </a:lnSpc>
            </a:pPr>
            <a:r>
              <a:rPr sz="2000">
                <a:solidFill>
                  <a:srgbClr val="4F5D6A"/>
                </a:solidFill>
                <a:latin typeface="Consolas"/>
              </a:rPr>
              <a:t>128</a:t>
            </a:r>
          </a:p>
          <a:p>
            <a:pPr algn="r">
              <a:lnSpc>
                <a:spcPct val="100000"/>
              </a:lnSpc>
            </a:pPr>
            <a:r>
              <a:rPr sz="2000">
                <a:solidFill>
                  <a:srgbClr val="4F5D6A"/>
                </a:solidFill>
                <a:latin typeface="Consolas"/>
              </a:rPr>
              <a:t>129</a:t>
            </a:r>
          </a:p>
          <a:p>
            <a:pPr algn="r">
              <a:lnSpc>
                <a:spcPct val="100000"/>
              </a:lnSpc>
            </a:pPr>
            <a:r>
              <a:rPr sz="2000">
                <a:solidFill>
                  <a:srgbClr val="4F5D6A"/>
                </a:solidFill>
                <a:latin typeface="Consolas"/>
              </a:rPr>
              <a:t>130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99893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26D78E9A-E1D3-4B77-9193-E0AB8B2025D3}"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Means-ends analysis: the General Problem Solver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4"/>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for g in goals: if g in state: continue achieved = False for op in ops: work.ops += 1 name, pre, add, dele = op if g not in add: continue got = means_ends(state, sorted(pre), ops, work, depth + 1) if got is None: continue state, sub = got if not pre &lt;= state: continue state = apply_op(state, op) plan += sub + [name] achieved = True break"/>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g</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goals</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E8EDF2"/>
                </a:solidFill>
                <a:latin typeface="Consolas"/>
              </a:rPr>
              <a:t>g</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state</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continue</a:t>
            </a:r>
          </a:p>
          <a:p>
            <a:pPr>
              <a:lnSpc>
                <a:spcPct val="100000"/>
              </a:lnSpc>
              <a:spcAft>
                <a:spcPts val="0"/>
              </a:spcAft>
            </a:pPr>
            <a:r>
              <a:rPr sz="1200" i="0">
                <a:solidFill>
                  <a:srgbClr val="E8EDF2"/>
                </a:solidFill>
                <a:latin typeface="Consolas"/>
              </a:rPr>
              <a:t>        </a:t>
            </a:r>
            <a:r>
              <a:rPr sz="1200" i="0">
                <a:solidFill>
                  <a:srgbClr val="E8EDF2"/>
                </a:solidFill>
                <a:latin typeface="Consolas"/>
              </a:rPr>
              <a:t>achieved</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5DADE2"/>
                </a:solidFill>
                <a:latin typeface="Consolas"/>
              </a:rPr>
              <a:t>False</a:t>
            </a:r>
          </a:p>
          <a:p>
            <a:pPr>
              <a:lnSpc>
                <a:spcPct val="100000"/>
              </a:lnSpc>
              <a:spcAft>
                <a:spcPts val="0"/>
              </a:spcAft>
            </a:pP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op</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ops</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work</a:t>
            </a:r>
            <a:r>
              <a:rPr sz="1200" i="0">
                <a:solidFill>
                  <a:srgbClr val="AEB6BF"/>
                </a:solidFill>
                <a:latin typeface="Consolas"/>
              </a:rPr>
              <a:t>.</a:t>
            </a:r>
            <a:r>
              <a:rPr sz="1200" i="0">
                <a:solidFill>
                  <a:srgbClr val="E8EDF2"/>
                </a:solidFill>
                <a:latin typeface="Consolas"/>
              </a:rPr>
              <a:t>ops</a:t>
            </a:r>
            <a:r>
              <a:rPr sz="1200" i="0">
                <a:solidFill>
                  <a:srgbClr val="E8EDF2"/>
                </a:solidFill>
                <a:latin typeface="Consolas"/>
              </a:rPr>
              <a:t> </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1</a:t>
            </a:r>
          </a:p>
          <a:p>
            <a:pPr>
              <a:lnSpc>
                <a:spcPct val="100000"/>
              </a:lnSpc>
              <a:spcAft>
                <a:spcPts val="0"/>
              </a:spcAft>
            </a:pPr>
            <a:r>
              <a:rPr sz="1200" i="0">
                <a:solidFill>
                  <a:srgbClr val="E8EDF2"/>
                </a:solidFill>
                <a:latin typeface="Consolas"/>
              </a:rPr>
              <a:t>            </a:t>
            </a:r>
            <a:r>
              <a:rPr sz="1200" i="0">
                <a:solidFill>
                  <a:srgbClr val="E8EDF2"/>
                </a:solidFill>
                <a:latin typeface="Consolas"/>
              </a:rPr>
              <a:t>name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pre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add</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dele</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op</a:t>
            </a:r>
          </a:p>
          <a:p>
            <a:pPr>
              <a:lnSpc>
                <a:spcPct val="100000"/>
              </a:lnSpc>
              <a:spcAft>
                <a:spcPts val="0"/>
              </a:spcAft>
            </a:pP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E8EDF2"/>
                </a:solidFill>
                <a:latin typeface="Consolas"/>
              </a:rPr>
              <a:t>g</a:t>
            </a:r>
            <a:r>
              <a:rPr sz="1200" i="0">
                <a:solidFill>
                  <a:srgbClr val="E8EDF2"/>
                </a:solidFill>
                <a:latin typeface="Consolas"/>
              </a:rPr>
              <a:t> </a:t>
            </a:r>
            <a:r>
              <a:rPr sz="1200" i="0">
                <a:solidFill>
                  <a:srgbClr val="AEB6BF"/>
                </a:solidFill>
                <a:latin typeface="Consolas"/>
              </a:rPr>
              <a:t>not</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add</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continue</a:t>
            </a:r>
          </a:p>
          <a:p>
            <a:pPr>
              <a:lnSpc>
                <a:spcPct val="100000"/>
              </a:lnSpc>
              <a:spcAft>
                <a:spcPts val="0"/>
              </a:spcAft>
            </a:pPr>
            <a:r>
              <a:rPr sz="1200" i="0">
                <a:solidFill>
                  <a:srgbClr val="E8EDF2"/>
                </a:solidFill>
                <a:latin typeface="Consolas"/>
              </a:rPr>
              <a:t>            </a:t>
            </a:r>
            <a:r>
              <a:rPr sz="1200" i="0">
                <a:solidFill>
                  <a:srgbClr val="E8EDF2"/>
                </a:solidFill>
                <a:latin typeface="Consolas"/>
              </a:rPr>
              <a:t>got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means_ends</a:t>
            </a:r>
            <a:r>
              <a:rPr sz="1200" i="0">
                <a:solidFill>
                  <a:srgbClr val="AEB6BF"/>
                </a:solidFill>
                <a:latin typeface="Consolas"/>
              </a:rPr>
              <a:t>(</a:t>
            </a:r>
            <a:r>
              <a:rPr sz="1200" i="0">
                <a:solidFill>
                  <a:srgbClr val="E8EDF2"/>
                </a:solidFill>
                <a:latin typeface="Consolas"/>
              </a:rPr>
              <a:t>state</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sorted</a:t>
            </a:r>
            <a:r>
              <a:rPr sz="1200" i="0">
                <a:solidFill>
                  <a:srgbClr val="AEB6BF"/>
                </a:solidFill>
                <a:latin typeface="Consolas"/>
              </a:rPr>
              <a:t>(</a:t>
            </a:r>
            <a:r>
              <a:rPr sz="1200" i="0">
                <a:solidFill>
                  <a:srgbClr val="E8EDF2"/>
                </a:solidFill>
                <a:latin typeface="Consolas"/>
              </a:rPr>
              <a:t>pre</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ops</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work</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depth</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1</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E8EDF2"/>
                </a:solidFill>
                <a:latin typeface="Consolas"/>
              </a:rPr>
              <a:t>got</a:t>
            </a:r>
            <a:r>
              <a:rPr sz="1200" i="0">
                <a:solidFill>
                  <a:srgbClr val="E8EDF2"/>
                </a:solidFill>
                <a:latin typeface="Consolas"/>
              </a:rPr>
              <a:t> </a:t>
            </a:r>
            <a:r>
              <a:rPr sz="1200" i="0">
                <a:solidFill>
                  <a:srgbClr val="AEB6BF"/>
                </a:solidFill>
                <a:latin typeface="Consolas"/>
              </a:rPr>
              <a:t>is</a:t>
            </a:r>
            <a:r>
              <a:rPr sz="1200" i="0">
                <a:solidFill>
                  <a:srgbClr val="E8EDF2"/>
                </a:solidFill>
                <a:latin typeface="Consolas"/>
              </a:rPr>
              <a:t> </a:t>
            </a:r>
            <a:r>
              <a:rPr sz="1200" i="0">
                <a:solidFill>
                  <a:srgbClr val="5DADE2"/>
                </a:solidFill>
                <a:latin typeface="Consolas"/>
              </a:rPr>
              <a:t>None</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continue</a:t>
            </a:r>
          </a:p>
          <a:p>
            <a:pPr>
              <a:lnSpc>
                <a:spcPct val="100000"/>
              </a:lnSpc>
              <a:spcAft>
                <a:spcPts val="0"/>
              </a:spcAft>
            </a:pPr>
            <a:r>
              <a:rPr sz="1200" i="0">
                <a:solidFill>
                  <a:srgbClr val="E8EDF2"/>
                </a:solidFill>
                <a:latin typeface="Consolas"/>
              </a:rPr>
              <a:t>            </a:t>
            </a:r>
            <a:r>
              <a:rPr sz="1200" i="0">
                <a:solidFill>
                  <a:srgbClr val="E8EDF2"/>
                </a:solidFill>
                <a:latin typeface="Consolas"/>
              </a:rPr>
              <a:t>state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sub</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got</a:t>
            </a:r>
          </a:p>
          <a:p>
            <a:pPr>
              <a:lnSpc>
                <a:spcPct val="100000"/>
              </a:lnSpc>
              <a:spcAft>
                <a:spcPts val="0"/>
              </a:spcAft>
            </a:pP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AEB6BF"/>
                </a:solidFill>
                <a:latin typeface="Consolas"/>
              </a:rPr>
              <a:t>not</a:t>
            </a:r>
            <a:r>
              <a:rPr sz="1200" i="0">
                <a:solidFill>
                  <a:srgbClr val="E8EDF2"/>
                </a:solidFill>
                <a:latin typeface="Consolas"/>
              </a:rPr>
              <a:t> </a:t>
            </a:r>
            <a:r>
              <a:rPr sz="1200" i="0">
                <a:solidFill>
                  <a:srgbClr val="E8EDF2"/>
                </a:solidFill>
                <a:latin typeface="Consolas"/>
              </a:rPr>
              <a:t>pre</a:t>
            </a:r>
            <a:r>
              <a:rPr sz="1200" i="0">
                <a:solidFill>
                  <a:srgbClr val="E8EDF2"/>
                </a:solidFill>
                <a:latin typeface="Consolas"/>
              </a:rPr>
              <a:t> </a:t>
            </a:r>
            <a:r>
              <a:rPr sz="1200" i="0">
                <a:solidFill>
                  <a:srgbClr val="AEB6BF"/>
                </a:solidFill>
                <a:latin typeface="Consolas"/>
              </a:rPr>
              <a:t>&lt;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state</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continue</a:t>
            </a:r>
          </a:p>
          <a:p>
            <a:pPr>
              <a:lnSpc>
                <a:spcPct val="100000"/>
              </a:lnSpc>
              <a:spcAft>
                <a:spcPts val="0"/>
              </a:spcAft>
            </a:pPr>
            <a:r>
              <a:rPr sz="1200" i="0">
                <a:solidFill>
                  <a:srgbClr val="E8EDF2"/>
                </a:solidFill>
                <a:latin typeface="Consolas"/>
              </a:rPr>
              <a:t>            </a:t>
            </a:r>
            <a:r>
              <a:rPr sz="1200" i="0">
                <a:solidFill>
                  <a:srgbClr val="E8EDF2"/>
                </a:solidFill>
                <a:latin typeface="Consolas"/>
              </a:rPr>
              <a:t>state</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apply_op</a:t>
            </a:r>
            <a:r>
              <a:rPr sz="1200" i="0">
                <a:solidFill>
                  <a:srgbClr val="AEB6BF"/>
                </a:solidFill>
                <a:latin typeface="Consolas"/>
              </a:rPr>
              <a:t>(</a:t>
            </a:r>
            <a:r>
              <a:rPr sz="1200" i="0">
                <a:solidFill>
                  <a:srgbClr val="E8EDF2"/>
                </a:solidFill>
                <a:latin typeface="Consolas"/>
              </a:rPr>
              <a:t>state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op</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plan</a:t>
            </a:r>
            <a:r>
              <a:rPr sz="1200" i="0">
                <a:solidFill>
                  <a:srgbClr val="E8EDF2"/>
                </a:solidFill>
                <a:latin typeface="Consolas"/>
              </a:rPr>
              <a:t> </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sub</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name</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achieved</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5DADE2"/>
                </a:solidFill>
                <a:latin typeface="Consolas"/>
              </a:rPr>
              <a:t>True</a:t>
            </a:r>
          </a:p>
          <a:p>
            <a:pPr>
              <a:lnSpc>
                <a:spcPct val="100000"/>
              </a:lnSpc>
              <a:spcAft>
                <a:spcPts val="0"/>
              </a:spcAft>
            </a:pPr>
            <a:r>
              <a:rPr sz="1200" i="0">
                <a:solidFill>
                  <a:srgbClr val="E8EDF2"/>
                </a:solidFill>
                <a:latin typeface="Consolas"/>
              </a:rPr>
              <a:t>            </a:t>
            </a:r>
            <a:r>
              <a:rPr sz="1200" i="0">
                <a:solidFill>
                  <a:srgbClr val="5DADE2"/>
                </a:solidFill>
                <a:latin typeface="Consolas"/>
              </a:rPr>
              <a:t>break</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200">
                <a:solidFill>
                  <a:srgbClr val="4F5D6A"/>
                </a:solidFill>
                <a:latin typeface="Consolas"/>
              </a:rPr>
              <a:t>131</a:t>
            </a:r>
          </a:p>
          <a:p>
            <a:pPr algn="r">
              <a:lnSpc>
                <a:spcPct val="100000"/>
              </a:lnSpc>
            </a:pPr>
            <a:r>
              <a:rPr sz="1200">
                <a:solidFill>
                  <a:srgbClr val="4F5D6A"/>
                </a:solidFill>
                <a:latin typeface="Consolas"/>
              </a:rPr>
              <a:t>132</a:t>
            </a:r>
          </a:p>
          <a:p>
            <a:pPr algn="r">
              <a:lnSpc>
                <a:spcPct val="100000"/>
              </a:lnSpc>
            </a:pPr>
            <a:r>
              <a:rPr sz="1200">
                <a:solidFill>
                  <a:srgbClr val="4F5D6A"/>
                </a:solidFill>
                <a:latin typeface="Consolas"/>
              </a:rPr>
              <a:t>133</a:t>
            </a:r>
          </a:p>
          <a:p>
            <a:pPr algn="r">
              <a:lnSpc>
                <a:spcPct val="100000"/>
              </a:lnSpc>
            </a:pPr>
            <a:r>
              <a:rPr sz="1200">
                <a:solidFill>
                  <a:srgbClr val="4F5D6A"/>
                </a:solidFill>
                <a:latin typeface="Consolas"/>
              </a:rPr>
              <a:t>134</a:t>
            </a:r>
          </a:p>
          <a:p>
            <a:pPr algn="r">
              <a:lnSpc>
                <a:spcPct val="100000"/>
              </a:lnSpc>
            </a:pPr>
            <a:r>
              <a:rPr sz="1200">
                <a:solidFill>
                  <a:srgbClr val="4F5D6A"/>
                </a:solidFill>
                <a:latin typeface="Consolas"/>
              </a:rPr>
              <a:t>135</a:t>
            </a:r>
          </a:p>
          <a:p>
            <a:pPr algn="r">
              <a:lnSpc>
                <a:spcPct val="100000"/>
              </a:lnSpc>
            </a:pPr>
            <a:r>
              <a:rPr sz="1200">
                <a:solidFill>
                  <a:srgbClr val="4F5D6A"/>
                </a:solidFill>
                <a:latin typeface="Consolas"/>
              </a:rPr>
              <a:t>136</a:t>
            </a:r>
          </a:p>
          <a:p>
            <a:pPr algn="r">
              <a:lnSpc>
                <a:spcPct val="100000"/>
              </a:lnSpc>
            </a:pPr>
            <a:r>
              <a:rPr sz="1200">
                <a:solidFill>
                  <a:srgbClr val="4F5D6A"/>
                </a:solidFill>
                <a:latin typeface="Consolas"/>
              </a:rPr>
              <a:t>137</a:t>
            </a:r>
          </a:p>
          <a:p>
            <a:pPr algn="r">
              <a:lnSpc>
                <a:spcPct val="100000"/>
              </a:lnSpc>
            </a:pPr>
            <a:r>
              <a:rPr sz="1200">
                <a:solidFill>
                  <a:srgbClr val="4F5D6A"/>
                </a:solidFill>
                <a:latin typeface="Consolas"/>
              </a:rPr>
              <a:t>138</a:t>
            </a:r>
          </a:p>
          <a:p>
            <a:pPr algn="r">
              <a:lnSpc>
                <a:spcPct val="100000"/>
              </a:lnSpc>
            </a:pPr>
            <a:r>
              <a:rPr sz="1200">
                <a:solidFill>
                  <a:srgbClr val="4F5D6A"/>
                </a:solidFill>
                <a:latin typeface="Consolas"/>
              </a:rPr>
              <a:t>139</a:t>
            </a:r>
          </a:p>
          <a:p>
            <a:pPr algn="r">
              <a:lnSpc>
                <a:spcPct val="100000"/>
              </a:lnSpc>
            </a:pPr>
            <a:r>
              <a:rPr sz="1200">
                <a:solidFill>
                  <a:srgbClr val="4F5D6A"/>
                </a:solidFill>
                <a:latin typeface="Consolas"/>
              </a:rPr>
              <a:t>140</a:t>
            </a:r>
          </a:p>
          <a:p>
            <a:pPr algn="r">
              <a:lnSpc>
                <a:spcPct val="100000"/>
              </a:lnSpc>
            </a:pPr>
            <a:r>
              <a:rPr sz="1200">
                <a:solidFill>
                  <a:srgbClr val="4F5D6A"/>
                </a:solidFill>
                <a:latin typeface="Consolas"/>
              </a:rPr>
              <a:t>141</a:t>
            </a:r>
          </a:p>
          <a:p>
            <a:pPr algn="r">
              <a:lnSpc>
                <a:spcPct val="100000"/>
              </a:lnSpc>
            </a:pPr>
            <a:r>
              <a:rPr sz="1200">
                <a:solidFill>
                  <a:srgbClr val="4F5D6A"/>
                </a:solidFill>
                <a:latin typeface="Consolas"/>
              </a:rPr>
              <a:t>142</a:t>
            </a:r>
          </a:p>
          <a:p>
            <a:pPr algn="r">
              <a:lnSpc>
                <a:spcPct val="100000"/>
              </a:lnSpc>
            </a:pPr>
            <a:r>
              <a:rPr sz="1200">
                <a:solidFill>
                  <a:srgbClr val="4F5D6A"/>
                </a:solidFill>
                <a:latin typeface="Consolas"/>
              </a:rPr>
              <a:t>143</a:t>
            </a:r>
          </a:p>
          <a:p>
            <a:pPr algn="r">
              <a:lnSpc>
                <a:spcPct val="100000"/>
              </a:lnSpc>
            </a:pPr>
            <a:r>
              <a:rPr sz="1200">
                <a:solidFill>
                  <a:srgbClr val="4F5D6A"/>
                </a:solidFill>
                <a:latin typeface="Consolas"/>
              </a:rPr>
              <a:t>144</a:t>
            </a:r>
          </a:p>
          <a:p>
            <a:pPr algn="r">
              <a:lnSpc>
                <a:spcPct val="100000"/>
              </a:lnSpc>
            </a:pPr>
            <a:r>
              <a:rPr sz="1200">
                <a:solidFill>
                  <a:srgbClr val="4F5D6A"/>
                </a:solidFill>
                <a:latin typeface="Consolas"/>
              </a:rPr>
              <a:t>145</a:t>
            </a:r>
          </a:p>
          <a:p>
            <a:pPr algn="r">
              <a:lnSpc>
                <a:spcPct val="100000"/>
              </a:lnSpc>
            </a:pPr>
            <a:r>
              <a:rPr sz="1200">
                <a:solidFill>
                  <a:srgbClr val="4F5D6A"/>
                </a:solidFill>
                <a:latin typeface="Consolas"/>
              </a:rPr>
              <a:t>146</a:t>
            </a:r>
          </a:p>
          <a:p>
            <a:pPr algn="r">
              <a:lnSpc>
                <a:spcPct val="100000"/>
              </a:lnSpc>
            </a:pPr>
            <a:r>
              <a:rPr sz="1200">
                <a:solidFill>
                  <a:srgbClr val="4F5D6A"/>
                </a:solidFill>
                <a:latin typeface="Consolas"/>
              </a:rPr>
              <a:t>147</a:t>
            </a:r>
          </a:p>
          <a:p>
            <a:pPr algn="r">
              <a:lnSpc>
                <a:spcPct val="100000"/>
              </a:lnSpc>
            </a:pPr>
            <a:r>
              <a:rPr sz="1200">
                <a:solidFill>
                  <a:srgbClr val="4F5D6A"/>
                </a:solidFill>
                <a:latin typeface="Consolas"/>
              </a:rPr>
              <a:t>148</a:t>
            </a:r>
          </a:p>
          <a:p>
            <a:pPr algn="r">
              <a:lnSpc>
                <a:spcPct val="100000"/>
              </a:lnSpc>
            </a:pPr>
            <a:r>
              <a:rPr sz="1200">
                <a:solidFill>
                  <a:srgbClr val="4F5D6A"/>
                </a:solidFill>
                <a:latin typeface="Consolas"/>
              </a:rPr>
              <a:t>149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2470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11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DD913881-BC23-4874-AFA4-E6255CA122FF}"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Means-ends analysis: the General Problem Solver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if not achieved: return None # clobbered, or simply impossible return state, plan def legal(plan, init, goal, ops): by_name = {o[0]: o for o in ops} s = init for step in plan: op = by_name.get(step) if op is None or not op[1] &lt;= s: return False s = apply_op(s, op) return goal &lt;= s"/>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600" i="0">
                <a:solidFill>
                  <a:srgbClr val="E8EDF2"/>
                </a:solidFill>
                <a:latin typeface="Consolas"/>
              </a:rPr>
              <a:t>        </a:t>
            </a:r>
            <a:r>
              <a:rPr sz="1600" i="0">
                <a:solidFill>
                  <a:srgbClr val="5DADE2"/>
                </a:solidFill>
                <a:latin typeface="Consolas"/>
              </a:rPr>
              <a:t>if</a:t>
            </a:r>
            <a:r>
              <a:rPr sz="1600" i="0">
                <a:solidFill>
                  <a:srgbClr val="E8EDF2"/>
                </a:solidFill>
                <a:latin typeface="Consolas"/>
              </a:rPr>
              <a:t> </a:t>
            </a:r>
            <a:r>
              <a:rPr sz="1600" i="0">
                <a:solidFill>
                  <a:srgbClr val="AEB6BF"/>
                </a:solidFill>
                <a:latin typeface="Consolas"/>
              </a:rPr>
              <a:t>not</a:t>
            </a:r>
            <a:r>
              <a:rPr sz="1600" i="0">
                <a:solidFill>
                  <a:srgbClr val="E8EDF2"/>
                </a:solidFill>
                <a:latin typeface="Consolas"/>
              </a:rPr>
              <a:t> </a:t>
            </a:r>
            <a:r>
              <a:rPr sz="1600" i="0">
                <a:solidFill>
                  <a:srgbClr val="E8EDF2"/>
                </a:solidFill>
                <a:latin typeface="Consolas"/>
              </a:rPr>
              <a:t>achieved</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return</a:t>
            </a:r>
            <a:r>
              <a:rPr sz="1600" i="0">
                <a:solidFill>
                  <a:srgbClr val="E8EDF2"/>
                </a:solidFill>
                <a:latin typeface="Consolas"/>
              </a:rPr>
              <a:t> </a:t>
            </a:r>
            <a:r>
              <a:rPr sz="1600" i="0">
                <a:solidFill>
                  <a:srgbClr val="5DADE2"/>
                </a:solidFill>
                <a:latin typeface="Consolas"/>
              </a:rPr>
              <a:t>None</a:t>
            </a:r>
            <a:r>
              <a:rPr sz="1600" i="0">
                <a:solidFill>
                  <a:srgbClr val="E8EDF2"/>
                </a:solidFill>
                <a:latin typeface="Consolas"/>
              </a:rPr>
              <a:t>            </a:t>
            </a:r>
            <a:r>
              <a:rPr sz="1600" i="1">
                <a:solidFill>
                  <a:srgbClr val="8795A1"/>
                </a:solidFill>
                <a:latin typeface="Consolas"/>
              </a:rPr>
              <a:t># clobbered, or simply impossible</a:t>
            </a:r>
          </a:p>
          <a:p>
            <a:pPr>
              <a:lnSpc>
                <a:spcPct val="100000"/>
              </a:lnSpc>
              <a:spcAft>
                <a:spcPts val="0"/>
              </a:spcAft>
            </a:pPr>
            <a:r>
              <a:rPr sz="1600" i="0">
                <a:solidFill>
                  <a:srgbClr val="E8EDF2"/>
                </a:solidFill>
                <a:latin typeface="Consolas"/>
              </a:rPr>
              <a:t>    </a:t>
            </a:r>
            <a:r>
              <a:rPr sz="1600" i="0">
                <a:solidFill>
                  <a:srgbClr val="5DADE2"/>
                </a:solidFill>
                <a:latin typeface="Consolas"/>
              </a:rPr>
              <a:t>return</a:t>
            </a:r>
            <a:r>
              <a:rPr sz="1600" i="0">
                <a:solidFill>
                  <a:srgbClr val="E8EDF2"/>
                </a:solidFill>
                <a:latin typeface="Consolas"/>
              </a:rPr>
              <a:t> </a:t>
            </a:r>
            <a:r>
              <a:rPr sz="1600" i="0">
                <a:solidFill>
                  <a:srgbClr val="E8EDF2"/>
                </a:solidFill>
                <a:latin typeface="Consolas"/>
              </a:rPr>
              <a:t>state</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plan</a:t>
            </a:r>
          </a:p>
          <a:p>
            <a:pPr>
              <a:lnSpc>
                <a:spcPct val="100000"/>
              </a:lnSpc>
              <a:spcAft>
                <a:spcPts val="0"/>
              </a:spcAft>
            </a:pPr>
            <a:r>
              <a:rPr sz="1600">
                <a:latin typeface="Consolas"/>
              </a:rPr>
              <a:t> </a:t>
            </a:r>
          </a:p>
          <a:p>
            <a:pPr>
              <a:lnSpc>
                <a:spcPct val="100000"/>
              </a:lnSpc>
              <a:spcAft>
                <a:spcPts val="0"/>
              </a:spcAft>
            </a:pPr>
            <a:r>
              <a:rPr sz="1600">
                <a:latin typeface="Consolas"/>
              </a:rPr>
              <a:t> </a:t>
            </a:r>
          </a:p>
          <a:p>
            <a:pPr>
              <a:lnSpc>
                <a:spcPct val="100000"/>
              </a:lnSpc>
              <a:spcAft>
                <a:spcPts val="0"/>
              </a:spcAft>
            </a:pPr>
            <a:r>
              <a:rPr sz="1600" i="0">
                <a:solidFill>
                  <a:srgbClr val="5DADE2"/>
                </a:solidFill>
                <a:latin typeface="Consolas"/>
              </a:rPr>
              <a:t>def</a:t>
            </a:r>
            <a:r>
              <a:rPr sz="1600" i="0">
                <a:solidFill>
                  <a:srgbClr val="E8EDF2"/>
                </a:solidFill>
                <a:latin typeface="Consolas"/>
              </a:rPr>
              <a:t> </a:t>
            </a:r>
            <a:r>
              <a:rPr sz="1600" i="0">
                <a:solidFill>
                  <a:srgbClr val="C39BD3"/>
                </a:solidFill>
                <a:latin typeface="Consolas"/>
              </a:rPr>
              <a:t>legal</a:t>
            </a:r>
            <a:r>
              <a:rPr sz="1600" i="0">
                <a:solidFill>
                  <a:srgbClr val="AEB6BF"/>
                </a:solidFill>
                <a:latin typeface="Consolas"/>
              </a:rPr>
              <a:t>(</a:t>
            </a:r>
            <a:r>
              <a:rPr sz="1600" i="0">
                <a:solidFill>
                  <a:srgbClr val="E8EDF2"/>
                </a:solidFill>
                <a:latin typeface="Consolas"/>
              </a:rPr>
              <a:t>plan</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init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goal</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ops</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by_name</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o</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o</a:t>
            </a:r>
            <a:r>
              <a:rPr sz="1600" i="0">
                <a:solidFill>
                  <a:srgbClr val="E8EDF2"/>
                </a:solidFill>
                <a:latin typeface="Consolas"/>
              </a:rPr>
              <a:t> </a:t>
            </a:r>
            <a:r>
              <a:rPr sz="1600" i="0">
                <a:solidFill>
                  <a:srgbClr val="5DADE2"/>
                </a:solidFill>
                <a:latin typeface="Consolas"/>
              </a:rPr>
              <a:t>for</a:t>
            </a:r>
            <a:r>
              <a:rPr sz="1600" i="0">
                <a:solidFill>
                  <a:srgbClr val="E8EDF2"/>
                </a:solidFill>
                <a:latin typeface="Consolas"/>
              </a:rPr>
              <a:t> </a:t>
            </a:r>
            <a:r>
              <a:rPr sz="1600" i="0">
                <a:solidFill>
                  <a:srgbClr val="E8EDF2"/>
                </a:solidFill>
                <a:latin typeface="Consolas"/>
              </a:rPr>
              <a:t>o</a:t>
            </a:r>
            <a:r>
              <a:rPr sz="1600" i="0">
                <a:solidFill>
                  <a:srgbClr val="E8EDF2"/>
                </a:solidFill>
                <a:latin typeface="Consolas"/>
              </a:rPr>
              <a:t> </a:t>
            </a:r>
            <a:r>
              <a:rPr sz="1600" i="0">
                <a:solidFill>
                  <a:srgbClr val="AEB6BF"/>
                </a:solidFill>
                <a:latin typeface="Consolas"/>
              </a:rPr>
              <a:t>in</a:t>
            </a:r>
            <a:r>
              <a:rPr sz="1600" i="0">
                <a:solidFill>
                  <a:srgbClr val="E8EDF2"/>
                </a:solidFill>
                <a:latin typeface="Consolas"/>
              </a:rPr>
              <a:t> </a:t>
            </a:r>
            <a:r>
              <a:rPr sz="1600" i="0">
                <a:solidFill>
                  <a:srgbClr val="E8EDF2"/>
                </a:solidFill>
                <a:latin typeface="Consolas"/>
              </a:rPr>
              <a:t>ops</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s</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init</a:t>
            </a:r>
          </a:p>
          <a:p>
            <a:pPr>
              <a:lnSpc>
                <a:spcPct val="100000"/>
              </a:lnSpc>
              <a:spcAft>
                <a:spcPts val="0"/>
              </a:spcAft>
            </a:pPr>
            <a:r>
              <a:rPr sz="1600" i="0">
                <a:solidFill>
                  <a:srgbClr val="E8EDF2"/>
                </a:solidFill>
                <a:latin typeface="Consolas"/>
              </a:rPr>
              <a:t>    </a:t>
            </a:r>
            <a:r>
              <a:rPr sz="1600" i="0">
                <a:solidFill>
                  <a:srgbClr val="5DADE2"/>
                </a:solidFill>
                <a:latin typeface="Consolas"/>
              </a:rPr>
              <a:t>for</a:t>
            </a:r>
            <a:r>
              <a:rPr sz="1600" i="0">
                <a:solidFill>
                  <a:srgbClr val="E8EDF2"/>
                </a:solidFill>
                <a:latin typeface="Consolas"/>
              </a:rPr>
              <a:t> </a:t>
            </a:r>
            <a:r>
              <a:rPr sz="1600" i="0">
                <a:solidFill>
                  <a:srgbClr val="E8EDF2"/>
                </a:solidFill>
                <a:latin typeface="Consolas"/>
              </a:rPr>
              <a:t>step</a:t>
            </a:r>
            <a:r>
              <a:rPr sz="1600" i="0">
                <a:solidFill>
                  <a:srgbClr val="E8EDF2"/>
                </a:solidFill>
                <a:latin typeface="Consolas"/>
              </a:rPr>
              <a:t> </a:t>
            </a:r>
            <a:r>
              <a:rPr sz="1600" i="0">
                <a:solidFill>
                  <a:srgbClr val="AEB6BF"/>
                </a:solidFill>
                <a:latin typeface="Consolas"/>
              </a:rPr>
              <a:t>in</a:t>
            </a:r>
            <a:r>
              <a:rPr sz="1600" i="0">
                <a:solidFill>
                  <a:srgbClr val="E8EDF2"/>
                </a:solidFill>
                <a:latin typeface="Consolas"/>
              </a:rPr>
              <a:t> </a:t>
            </a:r>
            <a:r>
              <a:rPr sz="1600" i="0">
                <a:solidFill>
                  <a:srgbClr val="E8EDF2"/>
                </a:solidFill>
                <a:latin typeface="Consolas"/>
              </a:rPr>
              <a:t>plan</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op</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by_name</a:t>
            </a:r>
            <a:r>
              <a:rPr sz="1600" i="0">
                <a:solidFill>
                  <a:srgbClr val="AEB6BF"/>
                </a:solidFill>
                <a:latin typeface="Consolas"/>
              </a:rPr>
              <a:t>.</a:t>
            </a:r>
            <a:r>
              <a:rPr sz="1600" i="0">
                <a:solidFill>
                  <a:srgbClr val="E8EDF2"/>
                </a:solidFill>
                <a:latin typeface="Consolas"/>
              </a:rPr>
              <a:t>get</a:t>
            </a:r>
            <a:r>
              <a:rPr sz="1600" i="0">
                <a:solidFill>
                  <a:srgbClr val="AEB6BF"/>
                </a:solidFill>
                <a:latin typeface="Consolas"/>
              </a:rPr>
              <a:t>(</a:t>
            </a:r>
            <a:r>
              <a:rPr sz="1600" i="0">
                <a:solidFill>
                  <a:srgbClr val="E8EDF2"/>
                </a:solidFill>
                <a:latin typeface="Consolas"/>
              </a:rPr>
              <a:t>step</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if</a:t>
            </a:r>
            <a:r>
              <a:rPr sz="1600" i="0">
                <a:solidFill>
                  <a:srgbClr val="E8EDF2"/>
                </a:solidFill>
                <a:latin typeface="Consolas"/>
              </a:rPr>
              <a:t> </a:t>
            </a:r>
            <a:r>
              <a:rPr sz="1600" i="0">
                <a:solidFill>
                  <a:srgbClr val="E8EDF2"/>
                </a:solidFill>
                <a:latin typeface="Consolas"/>
              </a:rPr>
              <a:t>op</a:t>
            </a:r>
            <a:r>
              <a:rPr sz="1600" i="0">
                <a:solidFill>
                  <a:srgbClr val="E8EDF2"/>
                </a:solidFill>
                <a:latin typeface="Consolas"/>
              </a:rPr>
              <a:t> </a:t>
            </a:r>
            <a:r>
              <a:rPr sz="1600" i="0">
                <a:solidFill>
                  <a:srgbClr val="AEB6BF"/>
                </a:solidFill>
                <a:latin typeface="Consolas"/>
              </a:rPr>
              <a:t>is</a:t>
            </a:r>
            <a:r>
              <a:rPr sz="1600" i="0">
                <a:solidFill>
                  <a:srgbClr val="E8EDF2"/>
                </a:solidFill>
                <a:latin typeface="Consolas"/>
              </a:rPr>
              <a:t> </a:t>
            </a:r>
            <a:r>
              <a:rPr sz="1600" i="0">
                <a:solidFill>
                  <a:srgbClr val="5DADE2"/>
                </a:solidFill>
                <a:latin typeface="Consolas"/>
              </a:rPr>
              <a:t>None</a:t>
            </a:r>
            <a:r>
              <a:rPr sz="1600" i="0">
                <a:solidFill>
                  <a:srgbClr val="E8EDF2"/>
                </a:solidFill>
                <a:latin typeface="Consolas"/>
              </a:rPr>
              <a:t> </a:t>
            </a:r>
            <a:r>
              <a:rPr sz="1600" i="0">
                <a:solidFill>
                  <a:srgbClr val="AEB6BF"/>
                </a:solidFill>
                <a:latin typeface="Consolas"/>
              </a:rPr>
              <a:t>or</a:t>
            </a:r>
            <a:r>
              <a:rPr sz="1600" i="0">
                <a:solidFill>
                  <a:srgbClr val="E8EDF2"/>
                </a:solidFill>
                <a:latin typeface="Consolas"/>
              </a:rPr>
              <a:t> </a:t>
            </a:r>
            <a:r>
              <a:rPr sz="1600" i="0">
                <a:solidFill>
                  <a:srgbClr val="AEB6BF"/>
                </a:solidFill>
                <a:latin typeface="Consolas"/>
              </a:rPr>
              <a:t>not</a:t>
            </a:r>
            <a:r>
              <a:rPr sz="1600" i="0">
                <a:solidFill>
                  <a:srgbClr val="E8EDF2"/>
                </a:solidFill>
                <a:latin typeface="Consolas"/>
              </a:rPr>
              <a:t> </a:t>
            </a:r>
            <a:r>
              <a:rPr sz="1600" i="0">
                <a:solidFill>
                  <a:srgbClr val="E8EDF2"/>
                </a:solidFill>
                <a:latin typeface="Consolas"/>
              </a:rPr>
              <a:t>op</a:t>
            </a:r>
            <a:r>
              <a:rPr sz="1600" i="0">
                <a:solidFill>
                  <a:srgbClr val="AEB6BF"/>
                </a:solidFill>
                <a:latin typeface="Consolas"/>
              </a:rPr>
              <a:t>[</a:t>
            </a:r>
            <a:r>
              <a:rPr sz="1600" i="0">
                <a:solidFill>
                  <a:srgbClr val="F7DC6F"/>
                </a:solidFill>
                <a:latin typeface="Consolas"/>
              </a:rPr>
              <a:t>1</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&lt;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return</a:t>
            </a:r>
            <a:r>
              <a:rPr sz="1600" i="0">
                <a:solidFill>
                  <a:srgbClr val="E8EDF2"/>
                </a:solidFill>
                <a:latin typeface="Consolas"/>
              </a:rPr>
              <a:t> </a:t>
            </a:r>
            <a:r>
              <a:rPr sz="1600" i="0">
                <a:solidFill>
                  <a:srgbClr val="5DADE2"/>
                </a:solidFill>
                <a:latin typeface="Consolas"/>
              </a:rPr>
              <a:t>False</a:t>
            </a:r>
          </a:p>
          <a:p>
            <a:pPr>
              <a:lnSpc>
                <a:spcPct val="100000"/>
              </a:lnSpc>
              <a:spcAft>
                <a:spcPts val="0"/>
              </a:spcAft>
            </a:pPr>
            <a:r>
              <a:rPr sz="1600" i="0">
                <a:solidFill>
                  <a:srgbClr val="E8EDF2"/>
                </a:solidFill>
                <a:latin typeface="Consolas"/>
              </a:rPr>
              <a:t>        </a:t>
            </a:r>
            <a:r>
              <a:rPr sz="1600" i="0">
                <a:solidFill>
                  <a:srgbClr val="E8EDF2"/>
                </a:solidFill>
                <a:latin typeface="Consolas"/>
              </a:rPr>
              <a:t>s</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apply_op</a:t>
            </a:r>
            <a:r>
              <a:rPr sz="1600" i="0">
                <a:solidFill>
                  <a:srgbClr val="AEB6BF"/>
                </a:solidFill>
                <a:latin typeface="Consolas"/>
              </a:rPr>
              <a:t>(</a:t>
            </a:r>
            <a:r>
              <a:rPr sz="1600" i="0">
                <a:solidFill>
                  <a:srgbClr val="E8EDF2"/>
                </a:solidFill>
                <a:latin typeface="Consolas"/>
              </a:rPr>
              <a:t>s</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op</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return</a:t>
            </a:r>
            <a:r>
              <a:rPr sz="1600" i="0">
                <a:solidFill>
                  <a:srgbClr val="E8EDF2"/>
                </a:solidFill>
                <a:latin typeface="Consolas"/>
              </a:rPr>
              <a:t> </a:t>
            </a:r>
            <a:r>
              <a:rPr sz="1600" i="0">
                <a:solidFill>
                  <a:srgbClr val="E8EDF2"/>
                </a:solidFill>
                <a:latin typeface="Consolas"/>
              </a:rPr>
              <a:t>goal</a:t>
            </a:r>
            <a:r>
              <a:rPr sz="1600" i="0">
                <a:solidFill>
                  <a:srgbClr val="E8EDF2"/>
                </a:solidFill>
                <a:latin typeface="Consolas"/>
              </a:rPr>
              <a:t> </a:t>
            </a:r>
            <a:r>
              <a:rPr sz="1600" i="0">
                <a:solidFill>
                  <a:srgbClr val="AEB6BF"/>
                </a:solidFill>
                <a:latin typeface="Consolas"/>
              </a:rPr>
              <a:t>&lt;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150</a:t>
            </a:r>
          </a:p>
          <a:p>
            <a:pPr algn="r">
              <a:lnSpc>
                <a:spcPct val="100000"/>
              </a:lnSpc>
            </a:pPr>
            <a:r>
              <a:rPr sz="1600">
                <a:solidFill>
                  <a:srgbClr val="4F5D6A"/>
                </a:solidFill>
                <a:latin typeface="Consolas"/>
              </a:rPr>
              <a:t>151</a:t>
            </a:r>
          </a:p>
          <a:p>
            <a:pPr algn="r">
              <a:lnSpc>
                <a:spcPct val="100000"/>
              </a:lnSpc>
            </a:pPr>
            <a:r>
              <a:rPr sz="1600">
                <a:solidFill>
                  <a:srgbClr val="4F5D6A"/>
                </a:solidFill>
                <a:latin typeface="Consolas"/>
              </a:rPr>
              <a:t>152</a:t>
            </a:r>
          </a:p>
          <a:p>
            <a:pPr algn="r">
              <a:lnSpc>
                <a:spcPct val="100000"/>
              </a:lnSpc>
            </a:pPr>
            <a:r>
              <a:rPr sz="1600">
                <a:solidFill>
                  <a:srgbClr val="4F5D6A"/>
                </a:solidFill>
                <a:latin typeface="Consolas"/>
              </a:rPr>
              <a:t>153</a:t>
            </a:r>
          </a:p>
          <a:p>
            <a:pPr algn="r">
              <a:lnSpc>
                <a:spcPct val="100000"/>
              </a:lnSpc>
            </a:pPr>
            <a:r>
              <a:rPr sz="1600">
                <a:solidFill>
                  <a:srgbClr val="4F5D6A"/>
                </a:solidFill>
                <a:latin typeface="Consolas"/>
              </a:rPr>
              <a:t>154</a:t>
            </a:r>
          </a:p>
          <a:p>
            <a:pPr algn="r">
              <a:lnSpc>
                <a:spcPct val="100000"/>
              </a:lnSpc>
            </a:pPr>
            <a:r>
              <a:rPr sz="1600">
                <a:solidFill>
                  <a:srgbClr val="4F5D6A"/>
                </a:solidFill>
                <a:latin typeface="Consolas"/>
              </a:rPr>
              <a:t>155</a:t>
            </a:r>
          </a:p>
          <a:p>
            <a:pPr algn="r">
              <a:lnSpc>
                <a:spcPct val="100000"/>
              </a:lnSpc>
            </a:pPr>
            <a:r>
              <a:rPr sz="1600">
                <a:solidFill>
                  <a:srgbClr val="4F5D6A"/>
                </a:solidFill>
                <a:latin typeface="Consolas"/>
              </a:rPr>
              <a:t>156</a:t>
            </a:r>
          </a:p>
          <a:p>
            <a:pPr algn="r">
              <a:lnSpc>
                <a:spcPct val="100000"/>
              </a:lnSpc>
            </a:pPr>
            <a:r>
              <a:rPr sz="1600">
                <a:solidFill>
                  <a:srgbClr val="4F5D6A"/>
                </a:solidFill>
                <a:latin typeface="Consolas"/>
              </a:rPr>
              <a:t>157</a:t>
            </a:r>
          </a:p>
          <a:p>
            <a:pPr algn="r">
              <a:lnSpc>
                <a:spcPct val="100000"/>
              </a:lnSpc>
            </a:pPr>
            <a:r>
              <a:rPr sz="1600">
                <a:solidFill>
                  <a:srgbClr val="4F5D6A"/>
                </a:solidFill>
                <a:latin typeface="Consolas"/>
              </a:rPr>
              <a:t>158</a:t>
            </a:r>
          </a:p>
          <a:p>
            <a:pPr algn="r">
              <a:lnSpc>
                <a:spcPct val="100000"/>
              </a:lnSpc>
            </a:pPr>
            <a:r>
              <a:rPr sz="1600">
                <a:solidFill>
                  <a:srgbClr val="4F5D6A"/>
                </a:solidFill>
                <a:latin typeface="Consolas"/>
              </a:rPr>
              <a:t>159</a:t>
            </a:r>
          </a:p>
          <a:p>
            <a:pPr algn="r">
              <a:lnSpc>
                <a:spcPct val="100000"/>
              </a:lnSpc>
            </a:pPr>
            <a:r>
              <a:rPr sz="1600">
                <a:solidFill>
                  <a:srgbClr val="4F5D6A"/>
                </a:solidFill>
                <a:latin typeface="Consolas"/>
              </a:rPr>
              <a:t>160</a:t>
            </a:r>
          </a:p>
          <a:p>
            <a:pPr algn="r">
              <a:lnSpc>
                <a:spcPct val="100000"/>
              </a:lnSpc>
            </a:pPr>
            <a:r>
              <a:rPr sz="1600">
                <a:solidFill>
                  <a:srgbClr val="4F5D6A"/>
                </a:solidFill>
                <a:latin typeface="Consolas"/>
              </a:rPr>
              <a:t>161</a:t>
            </a:r>
          </a:p>
          <a:p>
            <a:pPr algn="r">
              <a:lnSpc>
                <a:spcPct val="100000"/>
              </a:lnSpc>
            </a:pPr>
            <a:r>
              <a:rPr sz="1600">
                <a:solidFill>
                  <a:srgbClr val="4F5D6A"/>
                </a:solidFill>
                <a:latin typeface="Consolas"/>
              </a:rPr>
              <a:t>162</a:t>
            </a:r>
          </a:p>
          <a:p>
            <a:pPr algn="r">
              <a:lnSpc>
                <a:spcPct val="100000"/>
              </a:lnSpc>
            </a:pPr>
            <a:r>
              <a:rPr sz="1600">
                <a:solidFill>
                  <a:srgbClr val="4F5D6A"/>
                </a:solidFill>
                <a:latin typeface="Consolas"/>
              </a:rPr>
              <a:t>163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5048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12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04BAD50B-615F-43D3-B68A-35710A2602F9}"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Means-ends analysis: the General Problem Solver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822703"/>
          </a:xfrm>
          <a:prstGeom prst="roundRect">
            <a:avLst>
              <a:gd name="adj" fmla="val 50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if __name__ == &quot;__main__&quot;: print(&quot;components states plan BFS exp A* exp GPS ops&quot;) print(&quot;-&quot; * 54) rows = {}"/>
          <p:cNvSpPr txBox="1"/>
          <p:nvPr/>
        </p:nvSpPr>
        <p:spPr>
          <a:xfrm>
            <a:off x="1362456" y="2523744"/>
            <a:ext cx="9987991" cy="13289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__name__</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__main__</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components  states  plan  BFS exp  A* exp  GPS ops</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a:t>
            </a:r>
            <a:r>
              <a:rPr sz="2000" i="0">
                <a:solidFill>
                  <a:srgbClr val="7DCEA0"/>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54</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rows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p>
        </p:txBody>
      </p:sp>
      <p:sp>
        <p:nvSpPr>
          <p:cNvPr id="15" name="!!code-num"/>
          <p:cNvSpPr txBox="1"/>
          <p:nvPr/>
        </p:nvSpPr>
        <p:spPr>
          <a:xfrm>
            <a:off x="768096" y="2523744"/>
            <a:ext cx="393192" cy="13289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166</a:t>
            </a:r>
          </a:p>
          <a:p>
            <a:pPr algn="r">
              <a:lnSpc>
                <a:spcPct val="100000"/>
              </a:lnSpc>
            </a:pPr>
            <a:r>
              <a:rPr sz="2000">
                <a:solidFill>
                  <a:srgbClr val="4F5D6A"/>
                </a:solidFill>
                <a:latin typeface="Consolas"/>
              </a:rPr>
              <a:t>167</a:t>
            </a:r>
          </a:p>
          <a:p>
            <a:pPr algn="r">
              <a:lnSpc>
                <a:spcPct val="100000"/>
              </a:lnSpc>
            </a:pPr>
            <a:r>
              <a:rPr sz="2000">
                <a:solidFill>
                  <a:srgbClr val="4F5D6A"/>
                </a:solidFill>
                <a:latin typeface="Consolas"/>
              </a:rPr>
              <a:t>168</a:t>
            </a:r>
          </a:p>
          <a:p>
            <a:pPr algn="r">
              <a:lnSpc>
                <a:spcPct val="100000"/>
              </a:lnSpc>
            </a:pPr>
            <a:r>
              <a:rPr sz="2000">
                <a:solidFill>
                  <a:srgbClr val="4F5D6A"/>
                </a:solidFill>
                <a:latin typeface="Consolas"/>
              </a:rPr>
              <a:t>169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7625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13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B0AB62B4-5119-4E86-B9A7-F18EE7C5A3B5}"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Means-ends analysis: the General Problem Solver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for n in (2, 3, 4): comps = (&quot;A&quot;, &quot;B&quot;, &quot;C&quot;, &quot;D&quot;)[:n] ops = operators(comps) init = frozenset({&quot;staging free&quot;}) goal = frozenset({&quot;deployed %s&quot; % c for c in comps}) states = len(reachable(init, ops)) bplan, bexp = progression_bfs(init, goal, ops) aplan, aexp = progression_astar(init, goal, ops, comps) work = Work() got = means_ends(init, sorted(goal), ops, work) gplan = got[1] for p in (bplan, aplan, gplan): assert legal(p, init, goal, ops) # all three find an OPTIMAL plan on this domain assert len(aplan) == len(bplan) == len(gplan)"/>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n</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2</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4</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comps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A</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B</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C</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D</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n</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ops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operators</a:t>
            </a:r>
            <a:r>
              <a:rPr sz="1300" i="0">
                <a:solidFill>
                  <a:srgbClr val="AEB6BF"/>
                </a:solidFill>
                <a:latin typeface="Consolas"/>
              </a:rPr>
              <a:t>(</a:t>
            </a:r>
            <a:r>
              <a:rPr sz="1300" i="0">
                <a:solidFill>
                  <a:srgbClr val="E8EDF2"/>
                </a:solidFill>
                <a:latin typeface="Consolas"/>
              </a:rPr>
              <a:t>comps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init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staging free</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goal</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deployed </a:t>
            </a:r>
            <a:r>
              <a:rPr sz="1300" i="0">
                <a:solidFill>
                  <a:srgbClr val="7DCEA0"/>
                </a:solidFill>
                <a:latin typeface="Consolas"/>
              </a:rPr>
              <a: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c</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comps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0">
                <a:solidFill>
                  <a:srgbClr val="E8EDF2"/>
                </a:solidFill>
                <a:latin typeface="Consolas"/>
              </a:rPr>
              <a:t>states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reachable</a:t>
            </a:r>
            <a:r>
              <a:rPr sz="1300" i="0">
                <a:solidFill>
                  <a:srgbClr val="AEB6BF"/>
                </a:solidFill>
                <a:latin typeface="Consolas"/>
              </a:rPr>
              <a:t>(</a:t>
            </a:r>
            <a:r>
              <a:rPr sz="1300" i="0">
                <a:solidFill>
                  <a:srgbClr val="E8EDF2"/>
                </a:solidFill>
                <a:latin typeface="Consolas"/>
              </a:rPr>
              <a:t>init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ops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bplan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bexp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progression_bfs</a:t>
            </a:r>
            <a:r>
              <a:rPr sz="1300" i="0">
                <a:solidFill>
                  <a:srgbClr val="AEB6BF"/>
                </a:solidFill>
                <a:latin typeface="Consolas"/>
              </a:rPr>
              <a:t>(</a:t>
            </a:r>
            <a:r>
              <a:rPr sz="1300" i="0">
                <a:solidFill>
                  <a:srgbClr val="E8EDF2"/>
                </a:solidFill>
                <a:latin typeface="Consolas"/>
              </a:rPr>
              <a:t>init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goal</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ops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aplan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aexp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progression_astar</a:t>
            </a:r>
            <a:r>
              <a:rPr sz="1300" i="0">
                <a:solidFill>
                  <a:srgbClr val="AEB6BF"/>
                </a:solidFill>
                <a:latin typeface="Consolas"/>
              </a:rPr>
              <a:t>(</a:t>
            </a:r>
            <a:r>
              <a:rPr sz="1300" i="0">
                <a:solidFill>
                  <a:srgbClr val="E8EDF2"/>
                </a:solidFill>
                <a:latin typeface="Consolas"/>
              </a:rPr>
              <a:t>init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goal</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ops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comps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work</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Work</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got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means_ends</a:t>
            </a:r>
            <a:r>
              <a:rPr sz="1300" i="0">
                <a:solidFill>
                  <a:srgbClr val="AEB6BF"/>
                </a:solidFill>
                <a:latin typeface="Consolas"/>
              </a:rPr>
              <a:t>(</a:t>
            </a:r>
            <a:r>
              <a:rPr sz="1300" i="0">
                <a:solidFill>
                  <a:srgbClr val="E8EDF2"/>
                </a:solidFill>
                <a:latin typeface="Consolas"/>
              </a:rPr>
              <a:t>init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sorted</a:t>
            </a:r>
            <a:r>
              <a:rPr sz="1300" i="0">
                <a:solidFill>
                  <a:srgbClr val="AEB6BF"/>
                </a:solidFill>
                <a:latin typeface="Consolas"/>
              </a:rPr>
              <a:t>(</a:t>
            </a:r>
            <a:r>
              <a:rPr sz="1300" i="0">
                <a:solidFill>
                  <a:srgbClr val="E8EDF2"/>
                </a:solidFill>
                <a:latin typeface="Consolas"/>
              </a:rPr>
              <a:t>goal</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ops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work</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gplan</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got</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p</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bplan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aplan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gplan</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E8EDF2"/>
                </a:solidFill>
                <a:latin typeface="Consolas"/>
              </a:rPr>
              <a:t>legal</a:t>
            </a:r>
            <a:r>
              <a:rPr sz="1300" i="0">
                <a:solidFill>
                  <a:srgbClr val="AEB6BF"/>
                </a:solidFill>
                <a:latin typeface="Consolas"/>
              </a:rPr>
              <a:t>(</a:t>
            </a:r>
            <a:r>
              <a:rPr sz="1300" i="0">
                <a:solidFill>
                  <a:srgbClr val="E8EDF2"/>
                </a:solidFill>
                <a:latin typeface="Consolas"/>
              </a:rPr>
              <a:t>p</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init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goal</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ops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1">
                <a:solidFill>
                  <a:srgbClr val="8795A1"/>
                </a:solidFill>
                <a:latin typeface="Consolas"/>
              </a:rPr>
              <a:t># all three find an OPTIMAL plan on this domain</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aplan</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bplan</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gplan</a:t>
            </a:r>
            <a:r>
              <a:rPr sz="13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170</a:t>
            </a:r>
          </a:p>
          <a:p>
            <a:pPr algn="r">
              <a:lnSpc>
                <a:spcPct val="100000"/>
              </a:lnSpc>
            </a:pPr>
            <a:r>
              <a:rPr sz="1300">
                <a:solidFill>
                  <a:srgbClr val="4F5D6A"/>
                </a:solidFill>
                <a:latin typeface="Consolas"/>
              </a:rPr>
              <a:t>171</a:t>
            </a:r>
          </a:p>
          <a:p>
            <a:pPr algn="r">
              <a:lnSpc>
                <a:spcPct val="100000"/>
              </a:lnSpc>
            </a:pPr>
            <a:r>
              <a:rPr sz="1300">
                <a:solidFill>
                  <a:srgbClr val="4F5D6A"/>
                </a:solidFill>
                <a:latin typeface="Consolas"/>
              </a:rPr>
              <a:t>172</a:t>
            </a:r>
          </a:p>
          <a:p>
            <a:pPr algn="r">
              <a:lnSpc>
                <a:spcPct val="100000"/>
              </a:lnSpc>
            </a:pPr>
            <a:r>
              <a:rPr sz="1300">
                <a:solidFill>
                  <a:srgbClr val="4F5D6A"/>
                </a:solidFill>
                <a:latin typeface="Consolas"/>
              </a:rPr>
              <a:t>173</a:t>
            </a:r>
          </a:p>
          <a:p>
            <a:pPr algn="r">
              <a:lnSpc>
                <a:spcPct val="100000"/>
              </a:lnSpc>
            </a:pPr>
            <a:r>
              <a:rPr sz="1300">
                <a:solidFill>
                  <a:srgbClr val="4F5D6A"/>
                </a:solidFill>
                <a:latin typeface="Consolas"/>
              </a:rPr>
              <a:t>174</a:t>
            </a:r>
          </a:p>
          <a:p>
            <a:pPr algn="r">
              <a:lnSpc>
                <a:spcPct val="100000"/>
              </a:lnSpc>
            </a:pPr>
            <a:r>
              <a:rPr sz="1300">
                <a:solidFill>
                  <a:srgbClr val="4F5D6A"/>
                </a:solidFill>
                <a:latin typeface="Consolas"/>
              </a:rPr>
              <a:t>175</a:t>
            </a:r>
          </a:p>
          <a:p>
            <a:pPr algn="r">
              <a:lnSpc>
                <a:spcPct val="100000"/>
              </a:lnSpc>
            </a:pPr>
            <a:r>
              <a:rPr sz="1300">
                <a:solidFill>
                  <a:srgbClr val="4F5D6A"/>
                </a:solidFill>
                <a:latin typeface="Consolas"/>
              </a:rPr>
              <a:t>176</a:t>
            </a:r>
          </a:p>
          <a:p>
            <a:pPr algn="r">
              <a:lnSpc>
                <a:spcPct val="100000"/>
              </a:lnSpc>
            </a:pPr>
            <a:r>
              <a:rPr sz="1300">
                <a:solidFill>
                  <a:srgbClr val="4F5D6A"/>
                </a:solidFill>
                <a:latin typeface="Consolas"/>
              </a:rPr>
              <a:t>177</a:t>
            </a:r>
          </a:p>
          <a:p>
            <a:pPr algn="r">
              <a:lnSpc>
                <a:spcPct val="100000"/>
              </a:lnSpc>
            </a:pPr>
            <a:r>
              <a:rPr sz="1300">
                <a:solidFill>
                  <a:srgbClr val="4F5D6A"/>
                </a:solidFill>
                <a:latin typeface="Consolas"/>
              </a:rPr>
              <a:t>178</a:t>
            </a:r>
          </a:p>
          <a:p>
            <a:pPr algn="r">
              <a:lnSpc>
                <a:spcPct val="100000"/>
              </a:lnSpc>
            </a:pPr>
            <a:r>
              <a:rPr sz="1300">
                <a:solidFill>
                  <a:srgbClr val="4F5D6A"/>
                </a:solidFill>
                <a:latin typeface="Consolas"/>
              </a:rPr>
              <a:t>179</a:t>
            </a:r>
          </a:p>
          <a:p>
            <a:pPr algn="r">
              <a:lnSpc>
                <a:spcPct val="100000"/>
              </a:lnSpc>
            </a:pPr>
            <a:r>
              <a:rPr sz="1300">
                <a:solidFill>
                  <a:srgbClr val="4F5D6A"/>
                </a:solidFill>
                <a:latin typeface="Consolas"/>
              </a:rPr>
              <a:t>180</a:t>
            </a:r>
          </a:p>
          <a:p>
            <a:pPr algn="r">
              <a:lnSpc>
                <a:spcPct val="100000"/>
              </a:lnSpc>
            </a:pPr>
            <a:r>
              <a:rPr sz="1300">
                <a:solidFill>
                  <a:srgbClr val="4F5D6A"/>
                </a:solidFill>
                <a:latin typeface="Consolas"/>
              </a:rPr>
              <a:t>181</a:t>
            </a:r>
          </a:p>
          <a:p>
            <a:pPr algn="r">
              <a:lnSpc>
                <a:spcPct val="100000"/>
              </a:lnSpc>
            </a:pPr>
            <a:r>
              <a:rPr sz="1300">
                <a:solidFill>
                  <a:srgbClr val="4F5D6A"/>
                </a:solidFill>
                <a:latin typeface="Consolas"/>
              </a:rPr>
              <a:t>182</a:t>
            </a:r>
          </a:p>
          <a:p>
            <a:pPr algn="r">
              <a:lnSpc>
                <a:spcPct val="100000"/>
              </a:lnSpc>
            </a:pPr>
            <a:r>
              <a:rPr sz="1300">
                <a:solidFill>
                  <a:srgbClr val="4F5D6A"/>
                </a:solidFill>
                <a:latin typeface="Consolas"/>
              </a:rPr>
              <a:t>183</a:t>
            </a:r>
          </a:p>
          <a:p>
            <a:pPr algn="r">
              <a:lnSpc>
                <a:spcPct val="100000"/>
              </a:lnSpc>
            </a:pPr>
            <a:r>
              <a:rPr sz="1300">
                <a:solidFill>
                  <a:srgbClr val="4F5D6A"/>
                </a:solidFill>
                <a:latin typeface="Consolas"/>
              </a:rPr>
              <a:t>184</a:t>
            </a:r>
          </a:p>
          <a:p>
            <a:pPr algn="r">
              <a:lnSpc>
                <a:spcPct val="100000"/>
              </a:lnSpc>
            </a:pPr>
            <a:r>
              <a:rPr sz="1300">
                <a:solidFill>
                  <a:srgbClr val="4F5D6A"/>
                </a:solidFill>
                <a:latin typeface="Consolas"/>
              </a:rPr>
              <a:t>185</a:t>
            </a:r>
          </a:p>
          <a:p>
            <a:pPr algn="r">
              <a:lnSpc>
                <a:spcPct val="100000"/>
              </a:lnSpc>
            </a:pPr>
            <a:r>
              <a:rPr sz="1300">
                <a:solidFill>
                  <a:srgbClr val="4F5D6A"/>
                </a:solidFill>
                <a:latin typeface="Consolas"/>
              </a:rPr>
              <a:t>186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0202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14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5681472A-F721-461E-B540-D070C58BC674}"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Means-ends analysis: the General Problem Solver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rows[n] = (states, len(bplan), bexp, aexp, work.ops) print(&quot;%10d %7d %5d %8d %7d %8d&quot; % (n, states, len(bplan), bexp, aexp, work.ops)) # the heuristic is strong and still buys almost nothing st, ln, bexp, aexp, gops = rows[4] comps = (&quot;A&quot;, &quot;B&quot;, &quot;C&quot;, &quot;D&quot;) print() print(&quot;h at the initial state, 4 components: %d against a true&quot; % h_remaining(frozenset({&quot;staging free&quot;}), comps)) print(&quot;optimum of %d -- a strong admissible heuristic.&quot; % ln) print(&quot;A* expanded %d where BFS expanded %d: %.1f%% saved.&quot; % (aexp, bexp, 100 * (bexp - aexp) / bexp)) print(&quot;Almost every reachable state lies on some optimal plan,&quot;) print(&quot;so there is nothing for f &lt; C* to rule out.&quot;) assert (bexp - aexp) / bexp &lt; 0.05"/>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0">
                <a:solidFill>
                  <a:srgbClr val="E8EDF2"/>
                </a:solidFill>
                <a:latin typeface="Consolas"/>
              </a:rPr>
              <a:t>        </a:t>
            </a:r>
            <a:r>
              <a:rPr sz="1400" i="0">
                <a:solidFill>
                  <a:srgbClr val="E8EDF2"/>
                </a:solidFill>
                <a:latin typeface="Consolas"/>
              </a:rPr>
              <a:t>rows</a:t>
            </a:r>
            <a:r>
              <a:rPr sz="1400" i="0">
                <a:solidFill>
                  <a:srgbClr val="AEB6BF"/>
                </a:solidFill>
                <a:latin typeface="Consolas"/>
              </a:rPr>
              <a:t>[</a:t>
            </a:r>
            <a:r>
              <a:rPr sz="1400" i="0">
                <a:solidFill>
                  <a:srgbClr val="E8EDF2"/>
                </a:solidFill>
                <a:latin typeface="Consolas"/>
              </a:rPr>
              <a:t>n</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states</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len</a:t>
            </a:r>
            <a:r>
              <a:rPr sz="1400" i="0">
                <a:solidFill>
                  <a:srgbClr val="AEB6BF"/>
                </a:solidFill>
                <a:latin typeface="Consolas"/>
              </a:rPr>
              <a:t>(</a:t>
            </a:r>
            <a:r>
              <a:rPr sz="1400" i="0">
                <a:solidFill>
                  <a:srgbClr val="E8EDF2"/>
                </a:solidFill>
                <a:latin typeface="Consolas"/>
              </a:rPr>
              <a:t>bplan</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bexp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aexp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work</a:t>
            </a:r>
            <a:r>
              <a:rPr sz="1400" i="0">
                <a:solidFill>
                  <a:srgbClr val="AEB6BF"/>
                </a:solidFill>
                <a:latin typeface="Consolas"/>
              </a:rPr>
              <a:t>.</a:t>
            </a:r>
            <a:r>
              <a:rPr sz="1400" i="0">
                <a:solidFill>
                  <a:srgbClr val="E8EDF2"/>
                </a:solidFill>
                <a:latin typeface="Consolas"/>
              </a:rPr>
              <a:t>ops</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%10d</a:t>
            </a:r>
            <a:r>
              <a:rPr sz="1400" i="0">
                <a:solidFill>
                  <a:srgbClr val="7DCEA0"/>
                </a:solidFill>
                <a:latin typeface="Consolas"/>
              </a:rPr>
              <a:t> </a:t>
            </a:r>
            <a:r>
              <a:rPr sz="1400" i="0">
                <a:solidFill>
                  <a:srgbClr val="7DCEA0"/>
                </a:solidFill>
                <a:latin typeface="Consolas"/>
              </a:rPr>
              <a:t>%7d</a:t>
            </a:r>
            <a:r>
              <a:rPr sz="1400" i="0">
                <a:solidFill>
                  <a:srgbClr val="7DCEA0"/>
                </a:solidFill>
                <a:latin typeface="Consolas"/>
              </a:rPr>
              <a:t> </a:t>
            </a:r>
            <a:r>
              <a:rPr sz="1400" i="0">
                <a:solidFill>
                  <a:srgbClr val="7DCEA0"/>
                </a:solidFill>
                <a:latin typeface="Consolas"/>
              </a:rPr>
              <a:t>%5d</a:t>
            </a:r>
            <a:r>
              <a:rPr sz="1400" i="0">
                <a:solidFill>
                  <a:srgbClr val="7DCEA0"/>
                </a:solidFill>
                <a:latin typeface="Consolas"/>
              </a:rPr>
              <a:t> </a:t>
            </a:r>
            <a:r>
              <a:rPr sz="1400" i="0">
                <a:solidFill>
                  <a:srgbClr val="7DCEA0"/>
                </a:solidFill>
                <a:latin typeface="Consolas"/>
              </a:rPr>
              <a:t>%8d</a:t>
            </a:r>
            <a:r>
              <a:rPr sz="1400" i="0">
                <a:solidFill>
                  <a:srgbClr val="7DCEA0"/>
                </a:solidFill>
                <a:latin typeface="Consolas"/>
              </a:rPr>
              <a:t> </a:t>
            </a:r>
            <a:r>
              <a:rPr sz="1400" i="0">
                <a:solidFill>
                  <a:srgbClr val="7DCEA0"/>
                </a:solidFill>
                <a:latin typeface="Consolas"/>
              </a:rPr>
              <a:t>%7d</a:t>
            </a:r>
            <a:r>
              <a:rPr sz="1400" i="0">
                <a:solidFill>
                  <a:srgbClr val="7DCEA0"/>
                </a:solidFill>
                <a:latin typeface="Consolas"/>
              </a:rPr>
              <a:t> </a:t>
            </a:r>
            <a:r>
              <a:rPr sz="1400" i="0">
                <a:solidFill>
                  <a:srgbClr val="7DCEA0"/>
                </a:solidFill>
                <a:latin typeface="Consolas"/>
              </a:rPr>
              <a:t>%8d</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states</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len</a:t>
            </a:r>
            <a:r>
              <a:rPr sz="1400" i="0">
                <a:solidFill>
                  <a:srgbClr val="AEB6BF"/>
                </a:solidFill>
                <a:latin typeface="Consolas"/>
              </a:rPr>
              <a:t>(</a:t>
            </a:r>
            <a:r>
              <a:rPr sz="1400" i="0">
                <a:solidFill>
                  <a:srgbClr val="E8EDF2"/>
                </a:solidFill>
                <a:latin typeface="Consolas"/>
              </a:rPr>
              <a:t>bplan</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bexp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aexp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work</a:t>
            </a:r>
            <a:r>
              <a:rPr sz="1400" i="0">
                <a:solidFill>
                  <a:srgbClr val="AEB6BF"/>
                </a:solidFill>
                <a:latin typeface="Consolas"/>
              </a:rPr>
              <a:t>.</a:t>
            </a:r>
            <a:r>
              <a:rPr sz="1400" i="0">
                <a:solidFill>
                  <a:srgbClr val="E8EDF2"/>
                </a:solidFill>
                <a:latin typeface="Consolas"/>
              </a:rPr>
              <a:t>ops</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1">
                <a:solidFill>
                  <a:srgbClr val="8795A1"/>
                </a:solidFill>
                <a:latin typeface="Consolas"/>
              </a:rPr>
              <a:t># the heuristic is strong and still buys almost nothing</a:t>
            </a:r>
          </a:p>
          <a:p>
            <a:pPr>
              <a:lnSpc>
                <a:spcPct val="100000"/>
              </a:lnSpc>
              <a:spcAft>
                <a:spcPts val="0"/>
              </a:spcAft>
            </a:pPr>
            <a:r>
              <a:rPr sz="1400" i="0">
                <a:solidFill>
                  <a:srgbClr val="E8EDF2"/>
                </a:solidFill>
                <a:latin typeface="Consolas"/>
              </a:rPr>
              <a:t>    </a:t>
            </a:r>
            <a:r>
              <a:rPr sz="1400" i="0">
                <a:solidFill>
                  <a:srgbClr val="E8EDF2"/>
                </a:solidFill>
                <a:latin typeface="Consolas"/>
              </a:rPr>
              <a:t>st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bexp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aexp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gops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rows</a:t>
            </a:r>
            <a:r>
              <a:rPr sz="1400" i="0">
                <a:solidFill>
                  <a:srgbClr val="AEB6BF"/>
                </a:solidFill>
                <a:latin typeface="Consolas"/>
              </a:rPr>
              <a:t>[</a:t>
            </a:r>
            <a:r>
              <a:rPr sz="1400" i="0">
                <a:solidFill>
                  <a:srgbClr val="F7DC6F"/>
                </a:solidFill>
                <a:latin typeface="Consolas"/>
              </a:rPr>
              <a:t>4</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comps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B</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C</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D</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h at the initial state, 4 components: </a:t>
            </a:r>
            <a:r>
              <a:rPr sz="1400" i="0">
                <a:solidFill>
                  <a:srgbClr val="7DCEA0"/>
                </a:solidFill>
                <a:latin typeface="Consolas"/>
              </a:rPr>
              <a:t>%d</a:t>
            </a:r>
            <a:r>
              <a:rPr sz="1400" i="0">
                <a:solidFill>
                  <a:srgbClr val="7DCEA0"/>
                </a:solidFill>
                <a:latin typeface="Consolas"/>
              </a:rPr>
              <a:t> against a true</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h_remaining</a:t>
            </a:r>
            <a:r>
              <a:rPr sz="1400" i="0">
                <a:solidFill>
                  <a:srgbClr val="AEB6BF"/>
                </a:solidFill>
                <a:latin typeface="Consolas"/>
              </a:rPr>
              <a:t>(</a:t>
            </a:r>
            <a:r>
              <a:rPr sz="1400" i="0">
                <a:solidFill>
                  <a:srgbClr val="C39BD3"/>
                </a:solidFill>
                <a:latin typeface="Consolas"/>
              </a:rPr>
              <a:t>frozenset</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staging free</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comps</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optimum of </a:t>
            </a:r>
            <a:r>
              <a:rPr sz="1400" i="0">
                <a:solidFill>
                  <a:srgbClr val="7DCEA0"/>
                </a:solidFill>
                <a:latin typeface="Consolas"/>
              </a:rPr>
              <a:t>%d</a:t>
            </a:r>
            <a:r>
              <a:rPr sz="1400" i="0">
                <a:solidFill>
                  <a:srgbClr val="7DCEA0"/>
                </a:solidFill>
                <a:latin typeface="Consolas"/>
              </a:rPr>
              <a:t> -- a strong admissible heuristic.</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ln</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 expanded </a:t>
            </a:r>
            <a:r>
              <a:rPr sz="1400" i="0">
                <a:solidFill>
                  <a:srgbClr val="7DCEA0"/>
                </a:solidFill>
                <a:latin typeface="Consolas"/>
              </a:rPr>
              <a:t>%d</a:t>
            </a:r>
            <a:r>
              <a:rPr sz="1400" i="0">
                <a:solidFill>
                  <a:srgbClr val="7DCEA0"/>
                </a:solidFill>
                <a:latin typeface="Consolas"/>
              </a:rPr>
              <a:t> where BFS expanded </a:t>
            </a:r>
            <a:r>
              <a:rPr sz="1400" i="0">
                <a:solidFill>
                  <a:srgbClr val="7DCEA0"/>
                </a:solidFill>
                <a:latin typeface="Consolas"/>
              </a:rPr>
              <a:t>%d</a:t>
            </a:r>
            <a:r>
              <a:rPr sz="1400" i="0">
                <a:solidFill>
                  <a:srgbClr val="7DCEA0"/>
                </a:solidFill>
                <a:latin typeface="Consolas"/>
              </a:rPr>
              <a:t>: </a:t>
            </a:r>
            <a:r>
              <a:rPr sz="1400" i="0">
                <a:solidFill>
                  <a:srgbClr val="7DCEA0"/>
                </a:solidFill>
                <a:latin typeface="Consolas"/>
              </a:rPr>
              <a:t>%.1f</a:t>
            </a:r>
            <a:r>
              <a:rPr sz="1400" i="0">
                <a:solidFill>
                  <a:srgbClr val="7DCEA0"/>
                </a:solidFill>
                <a:latin typeface="Consolas"/>
              </a:rPr>
              <a:t>%%</a:t>
            </a:r>
            <a:r>
              <a:rPr sz="1400" i="0">
                <a:solidFill>
                  <a:srgbClr val="7DCEA0"/>
                </a:solidFill>
                <a:latin typeface="Consolas"/>
              </a:rPr>
              <a:t> saved.</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aexp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bexp</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100</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bexp</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aexp</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bexp</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Almost every reachable state lies on some optimal plan,</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so there is nothing for f &lt; C* to rule out.</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assert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bexp</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aexp</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bexp</a:t>
            </a:r>
            <a:r>
              <a:rPr sz="1400" i="0">
                <a:solidFill>
                  <a:srgbClr val="E8EDF2"/>
                </a:solidFill>
                <a:latin typeface="Consolas"/>
              </a:rPr>
              <a:t> </a:t>
            </a:r>
            <a:r>
              <a:rPr sz="1400" i="0">
                <a:solidFill>
                  <a:srgbClr val="AEB6BF"/>
                </a:solidFill>
                <a:latin typeface="Consolas"/>
              </a:rPr>
              <a:t>&lt;</a:t>
            </a:r>
            <a:r>
              <a:rPr sz="1400" i="0">
                <a:solidFill>
                  <a:srgbClr val="E8EDF2"/>
                </a:solidFill>
                <a:latin typeface="Consolas"/>
              </a:rPr>
              <a:t> </a:t>
            </a:r>
            <a:r>
              <a:rPr sz="1400" i="0">
                <a:solidFill>
                  <a:srgbClr val="F7DC6F"/>
                </a:solidFill>
                <a:latin typeface="Consolas"/>
              </a:rPr>
              <a:t>0.05</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188</a:t>
            </a:r>
          </a:p>
          <a:p>
            <a:pPr algn="r">
              <a:lnSpc>
                <a:spcPct val="100000"/>
              </a:lnSpc>
            </a:pPr>
            <a:r>
              <a:rPr sz="1400">
                <a:solidFill>
                  <a:srgbClr val="4F5D6A"/>
                </a:solidFill>
                <a:latin typeface="Consolas"/>
              </a:rPr>
              <a:t>189</a:t>
            </a:r>
          </a:p>
          <a:p>
            <a:pPr algn="r">
              <a:lnSpc>
                <a:spcPct val="100000"/>
              </a:lnSpc>
            </a:pPr>
            <a:r>
              <a:rPr sz="1400">
                <a:solidFill>
                  <a:srgbClr val="4F5D6A"/>
                </a:solidFill>
                <a:latin typeface="Consolas"/>
              </a:rPr>
              <a:t>190</a:t>
            </a:r>
          </a:p>
          <a:p>
            <a:pPr algn="r">
              <a:lnSpc>
                <a:spcPct val="100000"/>
              </a:lnSpc>
            </a:pPr>
            <a:r>
              <a:rPr sz="1400">
                <a:solidFill>
                  <a:srgbClr val="4F5D6A"/>
                </a:solidFill>
                <a:latin typeface="Consolas"/>
              </a:rPr>
              <a:t>191</a:t>
            </a:r>
          </a:p>
          <a:p>
            <a:pPr algn="r">
              <a:lnSpc>
                <a:spcPct val="100000"/>
              </a:lnSpc>
            </a:pPr>
            <a:r>
              <a:rPr sz="1400">
                <a:solidFill>
                  <a:srgbClr val="4F5D6A"/>
                </a:solidFill>
                <a:latin typeface="Consolas"/>
              </a:rPr>
              <a:t>192</a:t>
            </a:r>
          </a:p>
          <a:p>
            <a:pPr algn="r">
              <a:lnSpc>
                <a:spcPct val="100000"/>
              </a:lnSpc>
            </a:pPr>
            <a:r>
              <a:rPr sz="1400">
                <a:solidFill>
                  <a:srgbClr val="4F5D6A"/>
                </a:solidFill>
                <a:latin typeface="Consolas"/>
              </a:rPr>
              <a:t>193</a:t>
            </a:r>
          </a:p>
          <a:p>
            <a:pPr algn="r">
              <a:lnSpc>
                <a:spcPct val="100000"/>
              </a:lnSpc>
            </a:pPr>
            <a:r>
              <a:rPr sz="1400">
                <a:solidFill>
                  <a:srgbClr val="4F5D6A"/>
                </a:solidFill>
                <a:latin typeface="Consolas"/>
              </a:rPr>
              <a:t>194</a:t>
            </a:r>
          </a:p>
          <a:p>
            <a:pPr algn="r">
              <a:lnSpc>
                <a:spcPct val="100000"/>
              </a:lnSpc>
            </a:pPr>
            <a:r>
              <a:rPr sz="1400">
                <a:solidFill>
                  <a:srgbClr val="4F5D6A"/>
                </a:solidFill>
                <a:latin typeface="Consolas"/>
              </a:rPr>
              <a:t>195</a:t>
            </a:r>
          </a:p>
          <a:p>
            <a:pPr algn="r">
              <a:lnSpc>
                <a:spcPct val="100000"/>
              </a:lnSpc>
            </a:pPr>
            <a:r>
              <a:rPr sz="1400">
                <a:solidFill>
                  <a:srgbClr val="4F5D6A"/>
                </a:solidFill>
                <a:latin typeface="Consolas"/>
              </a:rPr>
              <a:t>196</a:t>
            </a:r>
          </a:p>
          <a:p>
            <a:pPr algn="r">
              <a:lnSpc>
                <a:spcPct val="100000"/>
              </a:lnSpc>
            </a:pPr>
            <a:r>
              <a:rPr sz="1400">
                <a:solidFill>
                  <a:srgbClr val="4F5D6A"/>
                </a:solidFill>
                <a:latin typeface="Consolas"/>
              </a:rPr>
              <a:t>197</a:t>
            </a:r>
          </a:p>
          <a:p>
            <a:pPr algn="r">
              <a:lnSpc>
                <a:spcPct val="100000"/>
              </a:lnSpc>
            </a:pPr>
            <a:r>
              <a:rPr sz="1400">
                <a:solidFill>
                  <a:srgbClr val="4F5D6A"/>
                </a:solidFill>
                <a:latin typeface="Consolas"/>
              </a:rPr>
              <a:t>198</a:t>
            </a:r>
          </a:p>
          <a:p>
            <a:pPr algn="r">
              <a:lnSpc>
                <a:spcPct val="100000"/>
              </a:lnSpc>
            </a:pPr>
            <a:r>
              <a:rPr sz="1400">
                <a:solidFill>
                  <a:srgbClr val="4F5D6A"/>
                </a:solidFill>
                <a:latin typeface="Consolas"/>
              </a:rPr>
              <a:t>199</a:t>
            </a:r>
          </a:p>
          <a:p>
            <a:pPr algn="r">
              <a:lnSpc>
                <a:spcPct val="100000"/>
              </a:lnSpc>
            </a:pPr>
            <a:r>
              <a:rPr sz="1400">
                <a:solidFill>
                  <a:srgbClr val="4F5D6A"/>
                </a:solidFill>
                <a:latin typeface="Consolas"/>
              </a:rPr>
              <a:t>200</a:t>
            </a:r>
          </a:p>
          <a:p>
            <a:pPr algn="r">
              <a:lnSpc>
                <a:spcPct val="100000"/>
              </a:lnSpc>
            </a:pPr>
            <a:r>
              <a:rPr sz="1400">
                <a:solidFill>
                  <a:srgbClr val="4F5D6A"/>
                </a:solidFill>
                <a:latin typeface="Consolas"/>
              </a:rPr>
              <a:t>201</a:t>
            </a:r>
          </a:p>
          <a:p>
            <a:pPr algn="r">
              <a:lnSpc>
                <a:spcPct val="100000"/>
              </a:lnSpc>
            </a:pPr>
            <a:r>
              <a:rPr sz="1400">
                <a:solidFill>
                  <a:srgbClr val="4F5D6A"/>
                </a:solidFill>
                <a:latin typeface="Consolas"/>
              </a:rPr>
              <a:t>202</a:t>
            </a:r>
          </a:p>
          <a:p>
            <a:pPr algn="r">
              <a:lnSpc>
                <a:spcPct val="100000"/>
              </a:lnSpc>
            </a:pPr>
            <a:r>
              <a:rPr sz="1400">
                <a:solidFill>
                  <a:srgbClr val="4F5D6A"/>
                </a:solidFill>
                <a:latin typeface="Consolas"/>
              </a:rPr>
              <a:t>203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15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73164D10-741C-4130-A395-DB3696FB8305}"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Means-ends analysis: the General Problem Solver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 means-ends scales quite differently print() print(&quot;means-ends considered %d operators where BFS expanded %d&quot; % (gops, bexp)) assert gops * 5 &lt; bexp # the nine-step plan, and why release staging is in it ops = operators((&quot;A&quot;, &quot;B&quot;)) init = frozenset({&quot;staging free&quot;}) goal = frozenset({&quot;deployed A&quot;, &quot;deployed B&quot;}) plan, _ = progression_bfs(init, goal, ops) print() print(&quot;an optimal two-component plan:&quot;) for i, s in enumerate(plan, 1): print(&quot; %d. %s&quot; % (i, s)) assert &quot;release staging&quot; in plan print(&quot;'release staging' appears in no goal and is indispensable.&quot;)"/>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0">
                <a:solidFill>
                  <a:srgbClr val="E8EDF2"/>
                </a:solidFill>
                <a:latin typeface="Consolas"/>
              </a:rPr>
              <a:t>    </a:t>
            </a:r>
            <a:r>
              <a:rPr sz="1300" i="1">
                <a:solidFill>
                  <a:srgbClr val="8795A1"/>
                </a:solidFill>
                <a:latin typeface="Consolas"/>
              </a:rPr>
              <a:t># means-ends scales quite differently</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means-ends considered </a:t>
            </a:r>
            <a:r>
              <a:rPr sz="1300" i="0">
                <a:solidFill>
                  <a:srgbClr val="7DCEA0"/>
                </a:solidFill>
                <a:latin typeface="Consolas"/>
              </a:rPr>
              <a:t>%d</a:t>
            </a:r>
            <a:r>
              <a:rPr sz="1300" i="0">
                <a:solidFill>
                  <a:srgbClr val="7DCEA0"/>
                </a:solidFill>
                <a:latin typeface="Consolas"/>
              </a:rPr>
              <a:t> operators where BFS expanded </a:t>
            </a:r>
            <a:r>
              <a:rPr sz="1300" i="0">
                <a:solidFill>
                  <a:srgbClr val="7DCEA0"/>
                </a:solidFill>
                <a:latin typeface="Consolas"/>
              </a:rPr>
              <a:t>%d</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gops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bexp</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E8EDF2"/>
                </a:solidFill>
                <a:latin typeface="Consolas"/>
              </a:rPr>
              <a:t>gops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a:t>
            </a:r>
            <a:r>
              <a:rPr sz="1300" i="0">
                <a:solidFill>
                  <a:srgbClr val="E8EDF2"/>
                </a:solidFill>
                <a:latin typeface="Consolas"/>
              </a:rPr>
              <a:t> </a:t>
            </a:r>
            <a:r>
              <a:rPr sz="1300" i="0">
                <a:solidFill>
                  <a:srgbClr val="AEB6BF"/>
                </a:solidFill>
                <a:latin typeface="Consolas"/>
              </a:rPr>
              <a:t>&lt;</a:t>
            </a:r>
            <a:r>
              <a:rPr sz="1300" i="0">
                <a:solidFill>
                  <a:srgbClr val="E8EDF2"/>
                </a:solidFill>
                <a:latin typeface="Consolas"/>
              </a:rPr>
              <a:t> </a:t>
            </a:r>
            <a:r>
              <a:rPr sz="1300" i="0">
                <a:solidFill>
                  <a:srgbClr val="E8EDF2"/>
                </a:solidFill>
                <a:latin typeface="Consolas"/>
              </a:rPr>
              <a:t>bexp</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1">
                <a:solidFill>
                  <a:srgbClr val="8795A1"/>
                </a:solidFill>
                <a:latin typeface="Consolas"/>
              </a:rPr>
              <a:t># the nine-step plan, and why release staging is in it</a:t>
            </a:r>
          </a:p>
          <a:p>
            <a:pPr>
              <a:lnSpc>
                <a:spcPct val="100000"/>
              </a:lnSpc>
              <a:spcAft>
                <a:spcPts val="0"/>
              </a:spcAft>
            </a:pPr>
            <a:r>
              <a:rPr sz="1300" i="0">
                <a:solidFill>
                  <a:srgbClr val="E8EDF2"/>
                </a:solidFill>
                <a:latin typeface="Consolas"/>
              </a:rPr>
              <a:t>    </a:t>
            </a:r>
            <a:r>
              <a:rPr sz="1300" i="0">
                <a:solidFill>
                  <a:srgbClr val="E8EDF2"/>
                </a:solidFill>
                <a:latin typeface="Consolas"/>
              </a:rPr>
              <a:t>ops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operators</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A</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B</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init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staging free</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goal</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deployed A</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deployed B</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plan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_</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progression_bfs</a:t>
            </a:r>
            <a:r>
              <a:rPr sz="1300" i="0">
                <a:solidFill>
                  <a:srgbClr val="AEB6BF"/>
                </a:solidFill>
                <a:latin typeface="Consolas"/>
              </a:rPr>
              <a:t>(</a:t>
            </a:r>
            <a:r>
              <a:rPr sz="1300" i="0">
                <a:solidFill>
                  <a:srgbClr val="E8EDF2"/>
                </a:solidFill>
                <a:latin typeface="Consolas"/>
              </a:rPr>
              <a:t>init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goal</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ops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an optimal two-component plan:</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i</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enumerate</a:t>
            </a:r>
            <a:r>
              <a:rPr sz="1300" i="0">
                <a:solidFill>
                  <a:srgbClr val="AEB6BF"/>
                </a:solidFill>
                <a:latin typeface="Consolas"/>
              </a:rPr>
              <a:t>(</a:t>
            </a:r>
            <a:r>
              <a:rPr sz="1300" i="0">
                <a:solidFill>
                  <a:srgbClr val="E8EDF2"/>
                </a:solidFill>
                <a:latin typeface="Consolas"/>
              </a:rPr>
              <a:t>plan</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a:t>
            </a:r>
            <a:r>
              <a:rPr sz="1300" i="0">
                <a:solidFill>
                  <a:srgbClr val="7DCEA0"/>
                </a:solidFill>
                <a:latin typeface="Consolas"/>
              </a:rPr>
              <a:t>%d</a:t>
            </a:r>
            <a:r>
              <a:rPr sz="1300" i="0">
                <a:solidFill>
                  <a:srgbClr val="7DCEA0"/>
                </a:solidFill>
                <a:latin typeface="Consolas"/>
              </a:rPr>
              <a:t>. </a:t>
            </a:r>
            <a:r>
              <a:rPr sz="1300" i="0">
                <a:solidFill>
                  <a:srgbClr val="7DCEA0"/>
                </a:solidFill>
                <a:latin typeface="Consolas"/>
              </a:rPr>
              <a:t>%s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i</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release staging</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plan</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a:t>
            </a:r>
            <a:r>
              <a:rPr sz="1300" i="0">
                <a:solidFill>
                  <a:srgbClr val="7DCEA0"/>
                </a:solidFill>
                <a:latin typeface="Consolas"/>
              </a:rPr>
              <a:t>release staging</a:t>
            </a:r>
            <a:r>
              <a:rPr sz="1300" i="0">
                <a:solidFill>
                  <a:srgbClr val="7DCEA0"/>
                </a:solidFill>
                <a:latin typeface="Consolas"/>
              </a:rPr>
              <a:t>'</a:t>
            </a:r>
            <a:r>
              <a:rPr sz="1300" i="0">
                <a:solidFill>
                  <a:srgbClr val="7DCEA0"/>
                </a:solidFill>
                <a:latin typeface="Consolas"/>
              </a:rPr>
              <a:t> appears in no goal and is indispensable.</a:t>
            </a:r>
            <a:r>
              <a:rPr sz="1300" i="0">
                <a:solidFill>
                  <a:srgbClr val="7DCEA0"/>
                </a:solidFill>
                <a:latin typeface="Consolas"/>
              </a:rPr>
              <a:t>"</a:t>
            </a:r>
            <a:r>
              <a:rPr sz="13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205</a:t>
            </a:r>
          </a:p>
          <a:p>
            <a:pPr algn="r">
              <a:lnSpc>
                <a:spcPct val="100000"/>
              </a:lnSpc>
            </a:pPr>
            <a:r>
              <a:rPr sz="1300">
                <a:solidFill>
                  <a:srgbClr val="4F5D6A"/>
                </a:solidFill>
                <a:latin typeface="Consolas"/>
              </a:rPr>
              <a:t>206</a:t>
            </a:r>
          </a:p>
          <a:p>
            <a:pPr algn="r">
              <a:lnSpc>
                <a:spcPct val="100000"/>
              </a:lnSpc>
            </a:pPr>
            <a:r>
              <a:rPr sz="1300">
                <a:solidFill>
                  <a:srgbClr val="4F5D6A"/>
                </a:solidFill>
                <a:latin typeface="Consolas"/>
              </a:rPr>
              <a:t>207</a:t>
            </a:r>
          </a:p>
          <a:p>
            <a:pPr algn="r">
              <a:lnSpc>
                <a:spcPct val="100000"/>
              </a:lnSpc>
            </a:pPr>
            <a:r>
              <a:rPr sz="1300">
                <a:solidFill>
                  <a:srgbClr val="4F5D6A"/>
                </a:solidFill>
                <a:latin typeface="Consolas"/>
              </a:rPr>
              <a:t>208</a:t>
            </a:r>
          </a:p>
          <a:p>
            <a:pPr algn="r">
              <a:lnSpc>
                <a:spcPct val="100000"/>
              </a:lnSpc>
            </a:pPr>
            <a:r>
              <a:rPr sz="1300">
                <a:solidFill>
                  <a:srgbClr val="4F5D6A"/>
                </a:solidFill>
                <a:latin typeface="Consolas"/>
              </a:rPr>
              <a:t>209</a:t>
            </a:r>
          </a:p>
          <a:p>
            <a:pPr algn="r">
              <a:lnSpc>
                <a:spcPct val="100000"/>
              </a:lnSpc>
            </a:pPr>
            <a:r>
              <a:rPr sz="1300">
                <a:solidFill>
                  <a:srgbClr val="4F5D6A"/>
                </a:solidFill>
                <a:latin typeface="Consolas"/>
              </a:rPr>
              <a:t>210</a:t>
            </a:r>
          </a:p>
          <a:p>
            <a:pPr algn="r">
              <a:lnSpc>
                <a:spcPct val="100000"/>
              </a:lnSpc>
            </a:pPr>
            <a:r>
              <a:rPr sz="1300">
                <a:solidFill>
                  <a:srgbClr val="4F5D6A"/>
                </a:solidFill>
                <a:latin typeface="Consolas"/>
              </a:rPr>
              <a:t>211</a:t>
            </a:r>
          </a:p>
          <a:p>
            <a:pPr algn="r">
              <a:lnSpc>
                <a:spcPct val="100000"/>
              </a:lnSpc>
            </a:pPr>
            <a:r>
              <a:rPr sz="1300">
                <a:solidFill>
                  <a:srgbClr val="4F5D6A"/>
                </a:solidFill>
                <a:latin typeface="Consolas"/>
              </a:rPr>
              <a:t>212</a:t>
            </a:r>
          </a:p>
          <a:p>
            <a:pPr algn="r">
              <a:lnSpc>
                <a:spcPct val="100000"/>
              </a:lnSpc>
            </a:pPr>
            <a:r>
              <a:rPr sz="1300">
                <a:solidFill>
                  <a:srgbClr val="4F5D6A"/>
                </a:solidFill>
                <a:latin typeface="Consolas"/>
              </a:rPr>
              <a:t>213</a:t>
            </a:r>
          </a:p>
          <a:p>
            <a:pPr algn="r">
              <a:lnSpc>
                <a:spcPct val="100000"/>
              </a:lnSpc>
            </a:pPr>
            <a:r>
              <a:rPr sz="1300">
                <a:solidFill>
                  <a:srgbClr val="4F5D6A"/>
                </a:solidFill>
                <a:latin typeface="Consolas"/>
              </a:rPr>
              <a:t>214</a:t>
            </a:r>
          </a:p>
          <a:p>
            <a:pPr algn="r">
              <a:lnSpc>
                <a:spcPct val="100000"/>
              </a:lnSpc>
            </a:pPr>
            <a:r>
              <a:rPr sz="1300">
                <a:solidFill>
                  <a:srgbClr val="4F5D6A"/>
                </a:solidFill>
                <a:latin typeface="Consolas"/>
              </a:rPr>
              <a:t>215</a:t>
            </a:r>
          </a:p>
          <a:p>
            <a:pPr algn="r">
              <a:lnSpc>
                <a:spcPct val="100000"/>
              </a:lnSpc>
            </a:pPr>
            <a:r>
              <a:rPr sz="1300">
                <a:solidFill>
                  <a:srgbClr val="4F5D6A"/>
                </a:solidFill>
                <a:latin typeface="Consolas"/>
              </a:rPr>
              <a:t>216</a:t>
            </a:r>
          </a:p>
          <a:p>
            <a:pPr algn="r">
              <a:lnSpc>
                <a:spcPct val="100000"/>
              </a:lnSpc>
            </a:pPr>
            <a:r>
              <a:rPr sz="1300">
                <a:solidFill>
                  <a:srgbClr val="4F5D6A"/>
                </a:solidFill>
                <a:latin typeface="Consolas"/>
              </a:rPr>
              <a:t>217</a:t>
            </a:r>
          </a:p>
          <a:p>
            <a:pPr algn="r">
              <a:lnSpc>
                <a:spcPct val="100000"/>
              </a:lnSpc>
            </a:pPr>
            <a:r>
              <a:rPr sz="1300">
                <a:solidFill>
                  <a:srgbClr val="4F5D6A"/>
                </a:solidFill>
                <a:latin typeface="Consolas"/>
              </a:rPr>
              <a:t>218</a:t>
            </a:r>
          </a:p>
          <a:p>
            <a:pPr algn="r">
              <a:lnSpc>
                <a:spcPct val="100000"/>
              </a:lnSpc>
            </a:pPr>
            <a:r>
              <a:rPr sz="1300">
                <a:solidFill>
                  <a:srgbClr val="4F5D6A"/>
                </a:solidFill>
                <a:latin typeface="Consolas"/>
              </a:rPr>
              <a:t>219</a:t>
            </a:r>
          </a:p>
          <a:p>
            <a:pPr algn="r">
              <a:lnSpc>
                <a:spcPct val="100000"/>
              </a:lnSpc>
            </a:pPr>
            <a:r>
              <a:rPr sz="1300">
                <a:solidFill>
                  <a:srgbClr val="4F5D6A"/>
                </a:solidFill>
                <a:latin typeface="Consolas"/>
              </a:rPr>
              <a:t>220</a:t>
            </a:r>
          </a:p>
          <a:p>
            <a:pPr algn="r">
              <a:lnSpc>
                <a:spcPct val="100000"/>
              </a:lnSpc>
            </a:pPr>
            <a:r>
              <a:rPr sz="1300">
                <a:solidFill>
                  <a:srgbClr val="4F5D6A"/>
                </a:solidFill>
                <a:latin typeface="Consolas"/>
              </a:rPr>
              <a:t>221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535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16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66072028-3BF4-4F95-AEB4-956153D58445}" type="slidenum">
              <a:rPr lang="en-GB" sz="1000">
                <a:solidFill>
                  <a:srgbClr val="8795A1"/>
                </a:solidFill>
                <a:latin typeface="Segoe UI"/>
              </a:rPr>
              <a:t>38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Goal clobbering, in two operators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 --- 3. goal clobbering, in two operators ---------------------- print() print(&quot;goal clobbering:&quot;) clob = [ (&quot;lock staging&quot;, frozenset({&quot;staging free&quot;}), frozenset({&quot;locked&quot;}), frozenset({&quot;staging free&quot;})), (&quot;run smoke test&quot;, frozenset({&quot;staging free&quot;}), frozenset({&quot;smoke ok&quot;}), frozenset()), ] c_init = frozenset({&quot;staging free&quot;}) c_goal = frozenset({&quot;locked&quot;, &quot;smoke ok&quot;})"/>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1">
                <a:solidFill>
                  <a:srgbClr val="8795A1"/>
                </a:solidFill>
                <a:latin typeface="Consolas"/>
              </a:rPr>
              <a:t># --- 3. goal clobbering, in two operators ----------------------</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goal clobbering:</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clob</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lock staging</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frozenset</a:t>
            </a:r>
            <a:r>
              <a:rPr sz="2000" i="0">
                <a:solidFill>
                  <a:srgbClr val="AEB6BF"/>
                </a:solidFill>
                <a:latin typeface="Consolas"/>
              </a:rPr>
              <a: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staging free</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frozenset</a:t>
            </a:r>
            <a:r>
              <a:rPr sz="2000" i="0">
                <a:solidFill>
                  <a:srgbClr val="AEB6BF"/>
                </a:solidFill>
                <a:latin typeface="Consolas"/>
              </a:rPr>
              <a: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locked</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frozenset</a:t>
            </a:r>
            <a:r>
              <a:rPr sz="2000" i="0">
                <a:solidFill>
                  <a:srgbClr val="AEB6BF"/>
                </a:solidFill>
                <a:latin typeface="Consolas"/>
              </a:rPr>
              <a: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staging free</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run smoke test</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frozenset</a:t>
            </a:r>
            <a:r>
              <a:rPr sz="2000" i="0">
                <a:solidFill>
                  <a:srgbClr val="AEB6BF"/>
                </a:solidFill>
                <a:latin typeface="Consolas"/>
              </a:rPr>
              <a: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staging free</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frozenset</a:t>
            </a:r>
            <a:r>
              <a:rPr sz="2000" i="0">
                <a:solidFill>
                  <a:srgbClr val="AEB6BF"/>
                </a:solidFill>
                <a:latin typeface="Consolas"/>
              </a:rPr>
              <a: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smoke ok</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frozenset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c_init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frozenset</a:t>
            </a:r>
            <a:r>
              <a:rPr sz="2000" i="0">
                <a:solidFill>
                  <a:srgbClr val="AEB6BF"/>
                </a:solidFill>
                <a:latin typeface="Consolas"/>
              </a:rPr>
              <a: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staging free</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c_goal</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frozenset</a:t>
            </a:r>
            <a:r>
              <a:rPr sz="2000" i="0">
                <a:solidFill>
                  <a:srgbClr val="AEB6BF"/>
                </a:solidFill>
                <a:latin typeface="Consolas"/>
              </a:rPr>
              <a: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locked</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smoke ok</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223</a:t>
            </a:r>
          </a:p>
          <a:p>
            <a:pPr algn="r">
              <a:lnSpc>
                <a:spcPct val="100000"/>
              </a:lnSpc>
            </a:pPr>
            <a:r>
              <a:rPr sz="2000">
                <a:solidFill>
                  <a:srgbClr val="4F5D6A"/>
                </a:solidFill>
                <a:latin typeface="Consolas"/>
              </a:rPr>
              <a:t>224</a:t>
            </a:r>
          </a:p>
          <a:p>
            <a:pPr algn="r">
              <a:lnSpc>
                <a:spcPct val="100000"/>
              </a:lnSpc>
            </a:pPr>
            <a:r>
              <a:rPr sz="2000">
                <a:solidFill>
                  <a:srgbClr val="4F5D6A"/>
                </a:solidFill>
                <a:latin typeface="Consolas"/>
              </a:rPr>
              <a:t>225</a:t>
            </a:r>
          </a:p>
          <a:p>
            <a:pPr algn="r">
              <a:lnSpc>
                <a:spcPct val="100000"/>
              </a:lnSpc>
            </a:pPr>
            <a:r>
              <a:rPr sz="2000">
                <a:solidFill>
                  <a:srgbClr val="4F5D6A"/>
                </a:solidFill>
                <a:latin typeface="Consolas"/>
              </a:rPr>
              <a:t>226</a:t>
            </a:r>
          </a:p>
          <a:p>
            <a:pPr algn="r">
              <a:lnSpc>
                <a:spcPct val="100000"/>
              </a:lnSpc>
            </a:pPr>
            <a:r>
              <a:rPr sz="2000">
                <a:solidFill>
                  <a:srgbClr val="4F5D6A"/>
                </a:solidFill>
                <a:latin typeface="Consolas"/>
              </a:rPr>
              <a:t>227</a:t>
            </a:r>
          </a:p>
          <a:p>
            <a:pPr algn="r">
              <a:lnSpc>
                <a:spcPct val="100000"/>
              </a:lnSpc>
            </a:pPr>
            <a:r>
              <a:rPr sz="2000">
                <a:solidFill>
                  <a:srgbClr val="4F5D6A"/>
                </a:solidFill>
                <a:latin typeface="Consolas"/>
              </a:rPr>
              <a:t>228</a:t>
            </a:r>
          </a:p>
          <a:p>
            <a:pPr algn="r">
              <a:lnSpc>
                <a:spcPct val="100000"/>
              </a:lnSpc>
            </a:pPr>
            <a:r>
              <a:rPr sz="2000">
                <a:solidFill>
                  <a:srgbClr val="4F5D6A"/>
                </a:solidFill>
                <a:latin typeface="Consolas"/>
              </a:rPr>
              <a:t>229</a:t>
            </a:r>
          </a:p>
          <a:p>
            <a:pPr algn="r">
              <a:lnSpc>
                <a:spcPct val="100000"/>
              </a:lnSpc>
            </a:pPr>
            <a:r>
              <a:rPr sz="2000">
                <a:solidFill>
                  <a:srgbClr val="4F5D6A"/>
                </a:solidFill>
                <a:latin typeface="Consolas"/>
              </a:rPr>
              <a:t>230</a:t>
            </a:r>
          </a:p>
          <a:p>
            <a:pPr algn="r">
              <a:lnSpc>
                <a:spcPct val="100000"/>
              </a:lnSpc>
            </a:pPr>
            <a:r>
              <a:rPr sz="2000">
                <a:solidFill>
                  <a:srgbClr val="4F5D6A"/>
                </a:solidFill>
                <a:latin typeface="Consolas"/>
              </a:rPr>
              <a:t>231</a:t>
            </a:r>
          </a:p>
          <a:p>
            <a:pPr algn="r">
              <a:lnSpc>
                <a:spcPct val="100000"/>
              </a:lnSpc>
            </a:pPr>
            <a:r>
              <a:rPr sz="2000">
                <a:solidFill>
                  <a:srgbClr val="4F5D6A"/>
                </a:solidFill>
                <a:latin typeface="Consolas"/>
              </a:rPr>
              <a:t>232</a:t>
            </a:r>
          </a:p>
          <a:p>
            <a:pPr algn="r">
              <a:lnSpc>
                <a:spcPct val="100000"/>
              </a:lnSpc>
            </a:pPr>
            <a:r>
              <a:rPr sz="2000">
                <a:solidFill>
                  <a:srgbClr val="4F5D6A"/>
                </a:solidFill>
                <a:latin typeface="Consolas"/>
              </a:rPr>
              <a:t>233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7934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Release Plan from Operators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17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F4B5E1B6-384F-40B7-8219-6CF1A00B94E1}" type="slidenum">
              <a:rPr lang="en-GB" sz="1000">
                <a:solidFill>
                  <a:srgbClr val="8795A1"/>
                </a:solidFill>
                <a:latin typeface="Segoe UI"/>
              </a:rPr>
              <a:t>39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Goal clobbering, in two operators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code/ch09_release_plan_operators.py</a:t>
            </a:r>
          </a:p>
        </p:txBody>
      </p:sp>
      <p:sp>
        <p:nvSpPr>
          <p:cNvPr id="14" name="!!code-text" descr="for order in ([&quot;locked&quot;, &quot;smoke ok&quot;], [&quot;smoke ok&quot;, &quot;locked&quot;]): got = means_ends(c_init, order, clob, Work()) if got is None: print(&quot; order %-22s -&gt; FAILS&quot; % (&quot; then &quot;.join(order))) else: print(&quot; order %-22s -&gt; %s&quot; % (&quot; then &quot;.join(order), &quot; then &quot;.join(got[1]))) # one order fails, the other succeeds, on the same solvable problem assert means_ends(c_init, [&quot;locked&quot;, &quot;smoke ok&quot;], clob, Work()) is None assert means_ends(c_init, [&quot;smoke ok&quot;, &quot;locked&quot;], clob, Work()) is not None plan, _ = progression_bfs(c_init, c_goal, clob) print(&quot; progression search finds it either way:&quot;, plan)"/>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order</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locked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smoke ok</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smoke ok</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locked</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got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means_ends</a:t>
            </a:r>
            <a:r>
              <a:rPr sz="1800" i="0">
                <a:solidFill>
                  <a:srgbClr val="AEB6BF"/>
                </a:solidFill>
                <a:latin typeface="Consolas"/>
              </a:rPr>
              <a:t>(</a:t>
            </a:r>
            <a:r>
              <a:rPr sz="1800" i="0">
                <a:solidFill>
                  <a:srgbClr val="E8EDF2"/>
                </a:solidFill>
                <a:latin typeface="Consolas"/>
              </a:rPr>
              <a:t>c_init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order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clob</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Work</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got</a:t>
            </a:r>
            <a:r>
              <a:rPr sz="1800" i="0">
                <a:solidFill>
                  <a:srgbClr val="E8EDF2"/>
                </a:solidFill>
                <a:latin typeface="Consolas"/>
              </a:rPr>
              <a:t> </a:t>
            </a:r>
            <a:r>
              <a:rPr sz="1800" i="0">
                <a:solidFill>
                  <a:srgbClr val="AEB6BF"/>
                </a:solidFill>
                <a:latin typeface="Consolas"/>
              </a:rPr>
              <a:t>is</a:t>
            </a:r>
            <a:r>
              <a:rPr sz="1800" i="0">
                <a:solidFill>
                  <a:srgbClr val="E8EDF2"/>
                </a:solidFill>
                <a:latin typeface="Consolas"/>
              </a:rPr>
              <a:t> </a:t>
            </a:r>
            <a:r>
              <a:rPr sz="1800" i="0">
                <a:solidFill>
                  <a:srgbClr val="5DADE2"/>
                </a:solidFill>
                <a:latin typeface="Consolas"/>
              </a:rPr>
              <a:t>None</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   order </a:t>
            </a:r>
            <a:r>
              <a:rPr sz="1800" i="0">
                <a:solidFill>
                  <a:srgbClr val="7DCEA0"/>
                </a:solidFill>
                <a:latin typeface="Consolas"/>
              </a:rPr>
              <a:t>%-22s</a:t>
            </a:r>
            <a:r>
              <a:rPr sz="1800" i="0">
                <a:solidFill>
                  <a:srgbClr val="7DCEA0"/>
                </a:solidFill>
                <a:latin typeface="Consolas"/>
              </a:rPr>
              <a:t> -&gt; FAILS</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 then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join</a:t>
            </a:r>
            <a:r>
              <a:rPr sz="1800" i="0">
                <a:solidFill>
                  <a:srgbClr val="AEB6BF"/>
                </a:solidFill>
                <a:latin typeface="Consolas"/>
              </a:rPr>
              <a:t>(</a:t>
            </a:r>
            <a:r>
              <a:rPr sz="1800" i="0">
                <a:solidFill>
                  <a:srgbClr val="E8EDF2"/>
                </a:solidFill>
                <a:latin typeface="Consolas"/>
              </a:rPr>
              <a:t>order</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else</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   order </a:t>
            </a:r>
            <a:r>
              <a:rPr sz="1800" i="0">
                <a:solidFill>
                  <a:srgbClr val="7DCEA0"/>
                </a:solidFill>
                <a:latin typeface="Consolas"/>
              </a:rPr>
              <a:t>%-22s</a:t>
            </a:r>
            <a:r>
              <a:rPr sz="1800" i="0">
                <a:solidFill>
                  <a:srgbClr val="7DCEA0"/>
                </a:solidFill>
                <a:latin typeface="Consolas"/>
              </a:rPr>
              <a:t> -&gt; </a:t>
            </a:r>
            <a:r>
              <a:rPr sz="1800" i="0">
                <a:solidFill>
                  <a:srgbClr val="7DCEA0"/>
                </a:solidFill>
                <a:latin typeface="Consolas"/>
              </a:rPr>
              <a:t>%s</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 then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join</a:t>
            </a:r>
            <a:r>
              <a:rPr sz="1800" i="0">
                <a:solidFill>
                  <a:srgbClr val="AEB6BF"/>
                </a:solidFill>
                <a:latin typeface="Consolas"/>
              </a:rPr>
              <a:t>(</a:t>
            </a:r>
            <a:r>
              <a:rPr sz="1800" i="0">
                <a:solidFill>
                  <a:srgbClr val="E8EDF2"/>
                </a:solidFill>
                <a:latin typeface="Consolas"/>
              </a:rPr>
              <a:t>order</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 then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join</a:t>
            </a:r>
            <a:r>
              <a:rPr sz="1800" i="0">
                <a:solidFill>
                  <a:srgbClr val="AEB6BF"/>
                </a:solidFill>
                <a:latin typeface="Consolas"/>
              </a:rPr>
              <a:t>(</a:t>
            </a:r>
            <a:r>
              <a:rPr sz="1800" i="0">
                <a:solidFill>
                  <a:srgbClr val="E8EDF2"/>
                </a:solidFill>
                <a:latin typeface="Consolas"/>
              </a:rPr>
              <a:t>got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1">
                <a:solidFill>
                  <a:srgbClr val="8795A1"/>
                </a:solidFill>
                <a:latin typeface="Consolas"/>
              </a:rPr>
              <a:t># one order fails, the other succeeds, on the same solvable problem</a:t>
            </a:r>
          </a:p>
          <a:p>
            <a:pPr>
              <a:lnSpc>
                <a:spcPct val="100000"/>
              </a:lnSpc>
              <a:spcAft>
                <a:spcPts val="0"/>
              </a:spcAft>
            </a:pPr>
            <a:r>
              <a:rPr sz="1800" i="0">
                <a:solidFill>
                  <a:srgbClr val="E8EDF2"/>
                </a:solidFill>
                <a:latin typeface="Consolas"/>
              </a:rPr>
              <a:t>    </a:t>
            </a:r>
            <a:r>
              <a:rPr sz="1800" i="0">
                <a:solidFill>
                  <a:srgbClr val="5DADE2"/>
                </a:solidFill>
                <a:latin typeface="Consolas"/>
              </a:rPr>
              <a:t>assert</a:t>
            </a:r>
            <a:r>
              <a:rPr sz="1800" i="0">
                <a:solidFill>
                  <a:srgbClr val="E8EDF2"/>
                </a:solidFill>
                <a:latin typeface="Consolas"/>
              </a:rPr>
              <a:t> </a:t>
            </a:r>
            <a:r>
              <a:rPr sz="1800" i="0">
                <a:solidFill>
                  <a:srgbClr val="E8EDF2"/>
                </a:solidFill>
                <a:latin typeface="Consolas"/>
              </a:rPr>
              <a:t>means_ends</a:t>
            </a:r>
            <a:r>
              <a:rPr sz="1800" i="0">
                <a:solidFill>
                  <a:srgbClr val="AEB6BF"/>
                </a:solidFill>
                <a:latin typeface="Consolas"/>
              </a:rPr>
              <a:t>(</a:t>
            </a:r>
            <a:r>
              <a:rPr sz="1800" i="0">
                <a:solidFill>
                  <a:srgbClr val="E8EDF2"/>
                </a:solidFill>
                <a:latin typeface="Consolas"/>
              </a:rPr>
              <a:t>c_init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locked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smoke ok</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clob</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Work</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is</a:t>
            </a:r>
            <a:r>
              <a:rPr sz="1800" i="0">
                <a:solidFill>
                  <a:srgbClr val="E8EDF2"/>
                </a:solidFill>
                <a:latin typeface="Consolas"/>
              </a:rPr>
              <a:t> </a:t>
            </a:r>
            <a:r>
              <a:rPr sz="1800" i="0">
                <a:solidFill>
                  <a:srgbClr val="5DADE2"/>
                </a:solidFill>
                <a:latin typeface="Consolas"/>
              </a:rPr>
              <a:t>None</a:t>
            </a:r>
          </a:p>
          <a:p>
            <a:pPr>
              <a:lnSpc>
                <a:spcPct val="100000"/>
              </a:lnSpc>
              <a:spcAft>
                <a:spcPts val="0"/>
              </a:spcAft>
            </a:pPr>
            <a:r>
              <a:rPr sz="1800" i="0">
                <a:solidFill>
                  <a:srgbClr val="E8EDF2"/>
                </a:solidFill>
                <a:latin typeface="Consolas"/>
              </a:rPr>
              <a:t>    </a:t>
            </a:r>
            <a:r>
              <a:rPr sz="1800" i="0">
                <a:solidFill>
                  <a:srgbClr val="5DADE2"/>
                </a:solidFill>
                <a:latin typeface="Consolas"/>
              </a:rPr>
              <a:t>assert</a:t>
            </a:r>
            <a:r>
              <a:rPr sz="1800" i="0">
                <a:solidFill>
                  <a:srgbClr val="E8EDF2"/>
                </a:solidFill>
                <a:latin typeface="Consolas"/>
              </a:rPr>
              <a:t> </a:t>
            </a:r>
            <a:r>
              <a:rPr sz="1800" i="0">
                <a:solidFill>
                  <a:srgbClr val="E8EDF2"/>
                </a:solidFill>
                <a:latin typeface="Consolas"/>
              </a:rPr>
              <a:t>means_ends</a:t>
            </a:r>
            <a:r>
              <a:rPr sz="1800" i="0">
                <a:solidFill>
                  <a:srgbClr val="AEB6BF"/>
                </a:solidFill>
                <a:latin typeface="Consolas"/>
              </a:rPr>
              <a:t>(</a:t>
            </a:r>
            <a:r>
              <a:rPr sz="1800" i="0">
                <a:solidFill>
                  <a:srgbClr val="E8EDF2"/>
                </a:solidFill>
                <a:latin typeface="Consolas"/>
              </a:rPr>
              <a:t>c_init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smoke ok</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locked</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clob</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Work</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is</a:t>
            </a:r>
            <a:r>
              <a:rPr sz="1800" i="0">
                <a:solidFill>
                  <a:srgbClr val="E8EDF2"/>
                </a:solidFill>
                <a:latin typeface="Consolas"/>
              </a:rPr>
              <a:t> </a:t>
            </a:r>
            <a:r>
              <a:rPr sz="1800" i="0">
                <a:solidFill>
                  <a:srgbClr val="AEB6BF"/>
                </a:solidFill>
                <a:latin typeface="Consolas"/>
              </a:rPr>
              <a:t>not</a:t>
            </a:r>
            <a:r>
              <a:rPr sz="1800" i="0">
                <a:solidFill>
                  <a:srgbClr val="E8EDF2"/>
                </a:solidFill>
                <a:latin typeface="Consolas"/>
              </a:rPr>
              <a:t> </a:t>
            </a:r>
            <a:r>
              <a:rPr sz="1800" i="0">
                <a:solidFill>
                  <a:srgbClr val="5DADE2"/>
                </a:solidFill>
                <a:latin typeface="Consolas"/>
              </a:rPr>
              <a:t>None</a:t>
            </a:r>
          </a:p>
          <a:p>
            <a:pPr>
              <a:lnSpc>
                <a:spcPct val="100000"/>
              </a:lnSpc>
              <a:spcAft>
                <a:spcPts val="0"/>
              </a:spcAft>
            </a:pPr>
            <a:r>
              <a:rPr sz="1800" i="0">
                <a:solidFill>
                  <a:srgbClr val="E8EDF2"/>
                </a:solidFill>
                <a:latin typeface="Consolas"/>
              </a:rPr>
              <a:t>    </a:t>
            </a:r>
            <a:r>
              <a:rPr sz="1800" i="0">
                <a:solidFill>
                  <a:srgbClr val="E8EDF2"/>
                </a:solidFill>
                <a:latin typeface="Consolas"/>
              </a:rPr>
              <a:t>plan</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_</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progression_bfs</a:t>
            </a:r>
            <a:r>
              <a:rPr sz="1800" i="0">
                <a:solidFill>
                  <a:srgbClr val="AEB6BF"/>
                </a:solidFill>
                <a:latin typeface="Consolas"/>
              </a:rPr>
              <a:t>(</a:t>
            </a:r>
            <a:r>
              <a:rPr sz="1800" i="0">
                <a:solidFill>
                  <a:srgbClr val="E8EDF2"/>
                </a:solidFill>
                <a:latin typeface="Consolas"/>
              </a:rPr>
              <a:t>c_init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c_goal</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clob</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   progression search finds it either way:</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plan</a:t>
            </a:r>
            <a:r>
              <a:rPr sz="1800" i="0">
                <a:solidFill>
                  <a:srgbClr val="AEB6BF"/>
                </a:solidFill>
                <a:latin typeface="Consolas"/>
              </a:rPr>
              <a:t>)</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234</a:t>
            </a:r>
          </a:p>
          <a:p>
            <a:pPr algn="r">
              <a:lnSpc>
                <a:spcPct val="100000"/>
              </a:lnSpc>
            </a:pPr>
            <a:r>
              <a:rPr sz="1800">
                <a:solidFill>
                  <a:srgbClr val="4F5D6A"/>
                </a:solidFill>
                <a:latin typeface="Consolas"/>
              </a:rPr>
              <a:t>235</a:t>
            </a:r>
          </a:p>
          <a:p>
            <a:pPr algn="r">
              <a:lnSpc>
                <a:spcPct val="100000"/>
              </a:lnSpc>
            </a:pPr>
            <a:r>
              <a:rPr sz="1800">
                <a:solidFill>
                  <a:srgbClr val="4F5D6A"/>
                </a:solidFill>
                <a:latin typeface="Consolas"/>
              </a:rPr>
              <a:t>236</a:t>
            </a:r>
          </a:p>
          <a:p>
            <a:pPr algn="r">
              <a:lnSpc>
                <a:spcPct val="100000"/>
              </a:lnSpc>
            </a:pPr>
            <a:r>
              <a:rPr sz="1800">
                <a:solidFill>
                  <a:srgbClr val="4F5D6A"/>
                </a:solidFill>
                <a:latin typeface="Consolas"/>
              </a:rPr>
              <a:t>237</a:t>
            </a:r>
          </a:p>
          <a:p>
            <a:pPr algn="r">
              <a:lnSpc>
                <a:spcPct val="100000"/>
              </a:lnSpc>
            </a:pPr>
            <a:r>
              <a:rPr sz="1800">
                <a:solidFill>
                  <a:srgbClr val="4F5D6A"/>
                </a:solidFill>
                <a:latin typeface="Consolas"/>
              </a:rPr>
              <a:t>238</a:t>
            </a:r>
          </a:p>
          <a:p>
            <a:pPr algn="r">
              <a:lnSpc>
                <a:spcPct val="100000"/>
              </a:lnSpc>
            </a:pPr>
            <a:r>
              <a:rPr sz="1800">
                <a:solidFill>
                  <a:srgbClr val="4F5D6A"/>
                </a:solidFill>
                <a:latin typeface="Consolas"/>
              </a:rPr>
              <a:t>239</a:t>
            </a:r>
          </a:p>
          <a:p>
            <a:pPr algn="r">
              <a:lnSpc>
                <a:spcPct val="100000"/>
              </a:lnSpc>
            </a:pPr>
            <a:r>
              <a:rPr sz="1800">
                <a:solidFill>
                  <a:srgbClr val="4F5D6A"/>
                </a:solidFill>
                <a:latin typeface="Consolas"/>
              </a:rPr>
              <a:t>240</a:t>
            </a:r>
          </a:p>
          <a:p>
            <a:pPr algn="r">
              <a:lnSpc>
                <a:spcPct val="100000"/>
              </a:lnSpc>
            </a:pPr>
            <a:r>
              <a:rPr sz="1800">
                <a:solidFill>
                  <a:srgbClr val="4F5D6A"/>
                </a:solidFill>
                <a:latin typeface="Consolas"/>
              </a:rPr>
              <a:t>241</a:t>
            </a:r>
          </a:p>
          <a:p>
            <a:pPr algn="r">
              <a:lnSpc>
                <a:spcPct val="100000"/>
              </a:lnSpc>
            </a:pPr>
            <a:r>
              <a:rPr sz="1800">
                <a:solidFill>
                  <a:srgbClr val="4F5D6A"/>
                </a:solidFill>
                <a:latin typeface="Consolas"/>
              </a:rPr>
              <a:t>242</a:t>
            </a:r>
          </a:p>
          <a:p>
            <a:pPr algn="r">
              <a:lnSpc>
                <a:spcPct val="100000"/>
              </a:lnSpc>
            </a:pPr>
            <a:r>
              <a:rPr sz="1800">
                <a:solidFill>
                  <a:srgbClr val="4F5D6A"/>
                </a:solidFill>
                <a:latin typeface="Consolas"/>
              </a:rPr>
              <a:t>243</a:t>
            </a:r>
          </a:p>
          <a:p>
            <a:pPr algn="r">
              <a:lnSpc>
                <a:spcPct val="100000"/>
              </a:lnSpc>
            </a:pPr>
            <a:r>
              <a:rPr sz="1800">
                <a:solidFill>
                  <a:srgbClr val="4F5D6A"/>
                </a:solidFill>
                <a:latin typeface="Consolas"/>
              </a:rPr>
              <a:t>244</a:t>
            </a:r>
          </a:p>
          <a:p>
            <a:pPr algn="r">
              <a:lnSpc>
                <a:spcPct val="100000"/>
              </a:lnSpc>
            </a:pPr>
            <a:r>
              <a:rPr sz="1800">
                <a:solidFill>
                  <a:srgbClr val="4F5D6A"/>
                </a:solidFill>
                <a:latin typeface="Consolas"/>
              </a:rPr>
              <a:t>245</a:t>
            </a:r>
          </a:p>
          <a:p>
            <a:pPr algn="r">
              <a:lnSpc>
                <a:spcPct val="100000"/>
              </a:lnSpc>
            </a:pPr>
            <a:r>
              <a:rPr sz="1800">
                <a:solidFill>
                  <a:srgbClr val="4F5D6A"/>
                </a:solidFill>
                <a:latin typeface="Consolas"/>
              </a:rPr>
              <a:t>246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0511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91     </a:t>
            </a:r>
            <a:fld id="{6E85C026-C0F6-4698-892E-7A2F164E2D32}" type="slidenum">
              <a:rPr lang="en-GB" sz="1000">
                <a:solidFill>
                  <a:srgbClr val="8795A1"/>
                </a:solidFill>
                <a:latin typeface="Segoe UI"/>
              </a:rPr>
              <a:t>40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Then delete the </a:t>
            </a:r>
            <a:r>
              <a:rPr sz="2150" b="0" i="0">
                <a:solidFill>
                  <a:srgbClr val="1F4E79"/>
                </a:solidFill>
                <a:latin typeface="Consolas"/>
              </a:rPr>
              <a:t>staging free</a:t>
            </a:r>
            <a:r>
              <a:rPr sz="2300" b="0" i="0">
                <a:solidFill>
                  <a:srgbClr val="1C252B"/>
                </a:solidFill>
                <a:latin typeface="Segoe UI"/>
              </a:rPr>
              <a:t> literal from </a:t>
            </a:r>
            <a:r>
              <a:rPr sz="2150" b="0" i="0">
                <a:solidFill>
                  <a:srgbClr val="1F4E79"/>
                </a:solidFill>
                <a:latin typeface="Consolas"/>
              </a:rPr>
              <a:t>test</a:t>
            </a:r>
            <a:r>
              <a:rPr sz="2300" b="0" i="0">
                <a:solidFill>
                  <a:srgbClr val="1C252B"/>
                </a:solidFill>
                <a:latin typeface="Segoe UI"/>
              </a:rPr>
              <a:t>’s delete list and re-run. The plan loses </a:t>
            </a:r>
            <a:r>
              <a:rPr sz="2150" b="0" i="0">
                <a:solidFill>
                  <a:srgbClr val="1F4E79"/>
                </a:solidFill>
                <a:latin typeface="Consolas"/>
              </a:rPr>
              <a:t>release staging</a:t>
            </a:r>
            <a:r>
              <a:rPr sz="2300" b="0" i="0">
                <a:solidFill>
                  <a:srgbClr val="1C252B"/>
                </a:solidFill>
                <a:latin typeface="Segoe UI"/>
              </a:rPr>
              <a:t>, the state space shrinks, and the problem becomes the topological sort of Chapter 4 — which is the clearest possible demonstration of what the delete list is for.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03088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The nine-step plan contains </a:t>
            </a:r>
            <a:r>
              <a:rPr sz="3200" b="0" i="0">
                <a:solidFill>
                  <a:srgbClr val="FFFFFF"/>
                </a:solidFill>
                <a:latin typeface="Consolas"/>
              </a:rPr>
              <a:t>release staging</a:t>
            </a:r>
            <a:r>
              <a:rPr sz="3400" b="0" i="0">
                <a:solidFill>
                  <a:srgbClr val="FFFFFF"/>
                </a:solidFill>
                <a:latin typeface="Segoe UI Semibold"/>
              </a:rPr>
              <a:t>, which appears in neither the initial state nor the goal. Explain why it is there, and what would have to be deleted from the domain for it to disappear.</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9  ·  Planning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100  ·  answers in Appendix D     </a:t>
            </a:r>
            <a:fld id="{F6D703D0-3A45-40D0-B7CF-E14440399E3D}"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The nine-step plan contains </a:t>
            </a:r>
            <a:r>
              <a:rPr sz="2250" b="0" i="0">
                <a:solidFill>
                  <a:srgbClr val="1A5276"/>
                </a:solidFill>
                <a:latin typeface="Consolas"/>
              </a:rPr>
              <a:t>release staging</a:t>
            </a:r>
            <a:r>
              <a:rPr sz="2400" b="0" i="0">
                <a:solidFill>
                  <a:srgbClr val="1A5276"/>
                </a:solidFill>
                <a:latin typeface="Segoe UI Semibold"/>
              </a:rPr>
              <a:t>, which appears in neither the initial state nor the goal. Explain why it is there, and what would have to be deleted from the domain for it to disappear.</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050" b="0" i="0">
                <a:solidFill>
                  <a:srgbClr val="1F4E79"/>
                </a:solidFill>
                <a:latin typeface="Consolas"/>
              </a:rPr>
              <a:t>test A</a:t>
            </a:r>
            <a:r>
              <a:rPr sz="2200" b="0" i="0">
                <a:solidFill>
                  <a:srgbClr val="1C252B"/>
                </a:solidFill>
                <a:latin typeface="Segoe UI"/>
              </a:rPr>
              <a:t> has </a:t>
            </a:r>
            <a:r>
              <a:rPr sz="2050" b="0" i="0">
                <a:solidFill>
                  <a:srgbClr val="1F4E79"/>
                </a:solidFill>
                <a:latin typeface="Consolas"/>
              </a:rPr>
              <a:t>staging free</a:t>
            </a:r>
            <a:r>
              <a:rPr sz="2200" b="0" i="0">
                <a:solidFill>
                  <a:srgbClr val="1C252B"/>
                </a:solidFill>
                <a:latin typeface="Segoe UI"/>
              </a:rPr>
              <a:t> in its </a:t>
            </a:r>
            <a:r>
              <a:rPr sz="2200" b="0" i="1">
                <a:solidFill>
                  <a:srgbClr val="1C252B"/>
                </a:solidFill>
                <a:latin typeface="Segoe UI"/>
              </a:rPr>
              <a:t>delete</a:t>
            </a:r>
            <a:r>
              <a:rPr sz="2200" b="0" i="0">
                <a:solidFill>
                  <a:srgbClr val="1C252B"/>
                </a:solidFill>
                <a:latin typeface="Segoe UI"/>
              </a:rPr>
              <a:t> list, so testing the first component takes the staging environment away. But </a:t>
            </a:r>
            <a:r>
              <a:rPr sz="2050" b="0" i="0">
                <a:solidFill>
                  <a:srgbClr val="1F4E79"/>
                </a:solidFill>
                <a:latin typeface="Consolas"/>
              </a:rPr>
              <a:t>test B</a:t>
            </a:r>
            <a:r>
              <a:rPr sz="2200" b="0" i="0">
                <a:solidFill>
                  <a:srgbClr val="1C252B"/>
                </a:solidFill>
                <a:latin typeface="Segoe UI"/>
              </a:rPr>
              <a:t> has </a:t>
            </a:r>
            <a:r>
              <a:rPr sz="2050" b="0" i="0">
                <a:solidFill>
                  <a:srgbClr val="1F4E79"/>
                </a:solidFill>
                <a:latin typeface="Consolas"/>
              </a:rPr>
              <a:t>staging free</a:t>
            </a:r>
            <a:r>
              <a:rPr sz="2200" b="0" i="0">
                <a:solidFill>
                  <a:srgbClr val="1C252B"/>
                </a:solidFill>
                <a:latin typeface="Segoe UI"/>
              </a:rPr>
              <a:t> in its </a:t>
            </a:r>
            <a:r>
              <a:rPr sz="2200" b="0" i="1">
                <a:solidFill>
                  <a:srgbClr val="1C252B"/>
                </a:solidFill>
                <a:latin typeface="Segoe UI"/>
              </a:rPr>
              <a:t>preconditions</a:t>
            </a:r>
            <a:r>
              <a:rPr sz="2200" b="0" i="0">
                <a:solidFill>
                  <a:srgbClr val="1C252B"/>
                </a:solidFill>
                <a:latin typeface="Segoe UI"/>
              </a:rPr>
              <a:t>, so the second component cannot be tested until something restores it, and </a:t>
            </a:r>
            <a:r>
              <a:rPr sz="2050" b="0" i="0">
                <a:solidFill>
                  <a:srgbClr val="1F4E79"/>
                </a:solidFill>
                <a:latin typeface="Consolas"/>
              </a:rPr>
              <a:t>release staging</a:t>
            </a:r>
            <a:r>
              <a:rPr sz="2200" b="0" i="0">
                <a:solidFill>
                  <a:srgbClr val="1C252B"/>
                </a:solidFill>
                <a:latin typeface="Segoe UI"/>
              </a:rPr>
              <a:t> is the only operator that does. It is there purely to undo interference caused by an earlier step. Removing </a:t>
            </a:r>
            <a:r>
              <a:rPr sz="2050" b="0" i="0">
                <a:solidFill>
                  <a:srgbClr val="1F4E79"/>
                </a:solidFill>
                <a:latin typeface="Consolas"/>
              </a:rPr>
              <a:t>staging free</a:t>
            </a:r>
            <a:r>
              <a:rPr sz="2200" b="0" i="0">
                <a:solidFill>
                  <a:srgbClr val="1C252B"/>
                </a:solidFill>
                <a:latin typeface="Segoe UI"/>
              </a:rPr>
              <a:t> from </a:t>
            </a:r>
            <a:r>
              <a:rPr sz="2050" b="0" i="0">
                <a:solidFill>
                  <a:srgbClr val="1F4E79"/>
                </a:solidFill>
                <a:latin typeface="Consolas"/>
              </a:rPr>
              <a:t>test</a:t>
            </a:r>
            <a:r>
              <a:rPr sz="2200" b="0" i="0">
                <a:solidFill>
                  <a:srgbClr val="1C252B"/>
                </a:solidFill>
                <a:latin typeface="Segoe UI"/>
              </a:rPr>
              <a:t>’s delete list makes it disappear: actions can then no longer interfere, and the problem collapses into the topological sort of Chapter 4.</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  answers in Appendix D     </a:t>
            </a:r>
            <a:fld id="{F7827D05-90CF-4F62-AAEA-C49F3DB016B1}"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48242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strong admissible heuristic reduced </a:t>
            </a:r>
            <a:r>
              <a:rPr sz="3400" b="0" i="1">
                <a:solidFill>
                  <a:srgbClr val="FFFFFF"/>
                </a:solidFill>
                <a:latin typeface="Cambria"/>
              </a:rPr>
              <a:t>A</a:t>
            </a:r>
            <a:r>
              <a:rPr sz="3400" b="0" i="0" baseline="30000">
                <a:solidFill>
                  <a:srgbClr val="FFFFFF"/>
                </a:solidFill>
                <a:latin typeface="Cambria"/>
              </a:rPr>
              <a:t>∗</a:t>
            </a:r>
            <a:r>
              <a:rPr sz="3400" b="0" i="0">
                <a:solidFill>
                  <a:srgbClr val="FFFFFF"/>
                </a:solidFill>
                <a:latin typeface="Segoe UI Semibold"/>
              </a:rPr>
              <a:t>’s expansions by under one per cent on this problem. Give the reason, and describe the kind of planning problem on which the same heuristic would pay well.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9  ·  Planning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100  ·  answers in Appendix D     </a:t>
            </a:r>
            <a:fld id="{753CDE3C-030C-493C-BE22-B44E80E08FD3}"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strong admissible heuristic reduced </a:t>
            </a:r>
            <a:r>
              <a:rPr sz="2400" b="0" i="1">
                <a:solidFill>
                  <a:srgbClr val="1A5276"/>
                </a:solidFill>
                <a:latin typeface="Cambria"/>
              </a:rPr>
              <a:t>A</a:t>
            </a:r>
            <a:r>
              <a:rPr sz="2400" b="0" i="0" baseline="30000">
                <a:solidFill>
                  <a:srgbClr val="1A5276"/>
                </a:solidFill>
                <a:latin typeface="Cambria"/>
              </a:rPr>
              <a:t>∗</a:t>
            </a:r>
            <a:r>
              <a:rPr sz="2400" b="0" i="0">
                <a:solidFill>
                  <a:srgbClr val="1A5276"/>
                </a:solidFill>
                <a:latin typeface="Segoe UI Semibold"/>
              </a:rPr>
              <a:t>’s expansions by under one per cent on this problem. Give the reason, and describe the kind of planning problem on which the same heuristic would pay well.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78952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a:t>
            </a:r>
            <a:r>
              <a:rPr sz="2200" b="0" i="1">
                <a:solidFill>
                  <a:srgbClr val="1C252B"/>
                </a:solidFill>
                <a:latin typeface="Cambria"/>
              </a:rPr>
              <a:t>A</a:t>
            </a:r>
            <a:r>
              <a:rPr sz="2200" b="0" i="0" baseline="30000">
                <a:solidFill>
                  <a:srgbClr val="1C252B"/>
                </a:solidFill>
                <a:latin typeface="Cambria"/>
              </a:rPr>
              <a:t>∗</a:t>
            </a:r>
            <a:r>
              <a:rPr sz="2200" b="0" i="0">
                <a:solidFill>
                  <a:srgbClr val="1C252B"/>
                </a:solidFill>
                <a:latin typeface="Segoe UI"/>
              </a:rPr>
              <a:t> saves work only by refusing to expand nodes with </a:t>
            </a:r>
            <a:r>
              <a:rPr sz="2200" b="0" i="1">
                <a:solidFill>
                  <a:srgbClr val="1C252B"/>
                </a:solidFill>
                <a:latin typeface="Cambria"/>
              </a:rPr>
              <a:t>f</a:t>
            </a:r>
            <a:r>
              <a:rPr sz="2200" b="0" i="0">
                <a:solidFill>
                  <a:srgbClr val="1C252B"/>
                </a:solidFill>
                <a:latin typeface="Cambria"/>
              </a:rPr>
              <a:t>(</a:t>
            </a:r>
            <a:r>
              <a:rPr sz="2200" b="0" i="1">
                <a:solidFill>
                  <a:srgbClr val="1C252B"/>
                </a:solidFill>
                <a:latin typeface="Cambria"/>
              </a:rPr>
              <a:t>n</a:t>
            </a:r>
            <a:r>
              <a:rPr sz="2200" b="0" i="0">
                <a:solidFill>
                  <a:srgbClr val="1C252B"/>
                </a:solidFill>
                <a:latin typeface="Cambria"/>
              </a:rPr>
              <a:t>) ≥ </a:t>
            </a:r>
            <a:r>
              <a:rPr sz="2200" b="0" i="1">
                <a:solidFill>
                  <a:srgbClr val="1C252B"/>
                </a:solidFill>
                <a:latin typeface="Cambria"/>
              </a:rPr>
              <a:t>C</a:t>
            </a:r>
            <a:r>
              <a:rPr sz="2200" b="0" i="0" baseline="30000">
                <a:solidFill>
                  <a:srgbClr val="1C252B"/>
                </a:solidFill>
                <a:latin typeface="Cambria"/>
              </a:rPr>
              <a:t>∗</a:t>
            </a:r>
            <a:r>
              <a:rPr sz="2200" b="0" i="0">
                <a:solidFill>
                  <a:srgbClr val="1C252B"/>
                </a:solidFill>
                <a:latin typeface="Segoe UI"/>
              </a:rPr>
              <a:t>, and in this domain almost every reachable state lies on </a:t>
            </a:r>
            <a:r>
              <a:rPr sz="2200" b="0" i="1">
                <a:solidFill>
                  <a:srgbClr val="1C252B"/>
                </a:solidFill>
                <a:latin typeface="Segoe UI"/>
              </a:rPr>
              <a:t>some</a:t>
            </a:r>
            <a:r>
              <a:rPr sz="2200" b="0" i="0">
                <a:solidFill>
                  <a:srgbClr val="1C252B"/>
                </a:solidFill>
                <a:latin typeface="Segoe UI"/>
              </a:rPr>
              <a:t> optimal plan — nearly every action is necessary and their order is largely free — so </a:t>
            </a:r>
            <a:r>
              <a:rPr sz="2200" b="0" i="1">
                <a:solidFill>
                  <a:srgbClr val="1C252B"/>
                </a:solidFill>
                <a:latin typeface="Cambria"/>
              </a:rPr>
              <a:t>f</a:t>
            </a:r>
            <a:r>
              <a:rPr sz="2200" b="0" i="0">
                <a:solidFill>
                  <a:srgbClr val="1C252B"/>
                </a:solidFill>
                <a:latin typeface="Segoe UI"/>
              </a:rPr>
              <a:t> is close to </a:t>
            </a:r>
            <a:r>
              <a:rPr sz="2200" b="0" i="1">
                <a:solidFill>
                  <a:srgbClr val="1C252B"/>
                </a:solidFill>
                <a:latin typeface="Cambria"/>
              </a:rPr>
              <a:t>C</a:t>
            </a:r>
            <a:r>
              <a:rPr sz="2200" b="0" i="0" baseline="30000">
                <a:solidFill>
                  <a:srgbClr val="1C252B"/>
                </a:solidFill>
                <a:latin typeface="Cambria"/>
              </a:rPr>
              <a:t>∗</a:t>
            </a:r>
            <a:r>
              <a:rPr sz="2200" b="0" i="0">
                <a:solidFill>
                  <a:srgbClr val="1C252B"/>
                </a:solidFill>
                <a:latin typeface="Segoe UI"/>
              </a:rPr>
              <a:t> nearly everywhere and there is almost nothing to rule out. The same heuristic would pay well on a planning problem with many </a:t>
            </a:r>
            <a:r>
              <a:rPr sz="2200" b="0" i="1">
                <a:solidFill>
                  <a:srgbClr val="1C252B"/>
                </a:solidFill>
                <a:latin typeface="Segoe UI"/>
              </a:rPr>
              <a:t>dead ends or wasted actions</a:t>
            </a:r>
            <a:r>
              <a:rPr sz="2200" b="0" i="0">
                <a:solidFill>
                  <a:srgbClr val="1C252B"/>
                </a:solidFill>
                <a:latin typeface="Segoe UI"/>
              </a:rPr>
              <a:t>: irreversible mistakes, resources that can be spent on the wrong thing, or a much larger operator set of which only a few are relevant. Heuristics pay in proportion to how much of the state space is wasted effort.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  answers in Appendix D     </a:t>
            </a:r>
            <a:fld id="{364141FA-42CC-4B9F-A018-0A618B6B9D25}" type="slidenum">
              <a:rPr lang="en-GB" sz="1000">
                <a:solidFill>
                  <a:srgbClr val="8795A1"/>
                </a:solidFill>
                <a:latin typeface="Segoe UI"/>
              </a:rPr>
              <a:t>44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3397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Means–ends analysis found an optimal plan considering </a:t>
            </a:r>
            <a:r>
              <a:rPr sz="3400" b="0" i="0">
                <a:solidFill>
                  <a:srgbClr val="FFFFFF"/>
                </a:solidFill>
                <a:latin typeface="Cambria"/>
              </a:rPr>
              <a:t>187</a:t>
            </a:r>
            <a:r>
              <a:rPr sz="3400" b="0" i="0">
                <a:solidFill>
                  <a:srgbClr val="FFFFFF"/>
                </a:solidFill>
                <a:latin typeface="Segoe UI Semibold"/>
              </a:rPr>
              <a:t> operators where breadth-first search expanded </a:t>
            </a:r>
            <a:r>
              <a:rPr sz="3400" b="0" i="0">
                <a:solidFill>
                  <a:srgbClr val="FFFFFF"/>
                </a:solidFill>
                <a:latin typeface="Cambria"/>
              </a:rPr>
              <a:t>1,163</a:t>
            </a:r>
            <a:r>
              <a:rPr sz="3400" b="0" i="0">
                <a:solidFill>
                  <a:srgbClr val="FFFFFF"/>
                </a:solidFill>
                <a:latin typeface="Segoe UI Semibold"/>
              </a:rPr>
              <a:t> states. Give one property of means–ends analysis that breadth-first search has and it does not.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9  ·  Planning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100  ·  answers in Appendix D     </a:t>
            </a:r>
            <a:fld id="{017E0B3C-F0C2-4AA7-A862-22024791E0B3}"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Means–ends analysis found an optimal plan considering </a:t>
            </a:r>
            <a:r>
              <a:rPr sz="2400" b="0" i="0">
                <a:solidFill>
                  <a:srgbClr val="1A5276"/>
                </a:solidFill>
                <a:latin typeface="Cambria"/>
              </a:rPr>
              <a:t>187</a:t>
            </a:r>
            <a:r>
              <a:rPr sz="2400" b="0" i="0">
                <a:solidFill>
                  <a:srgbClr val="1A5276"/>
                </a:solidFill>
                <a:latin typeface="Segoe UI Semibold"/>
              </a:rPr>
              <a:t> operators where breadth-first search expanded </a:t>
            </a:r>
            <a:r>
              <a:rPr sz="2400" b="0" i="0">
                <a:solidFill>
                  <a:srgbClr val="1A5276"/>
                </a:solidFill>
                <a:latin typeface="Cambria"/>
              </a:rPr>
              <a:t>1,163</a:t>
            </a:r>
            <a:r>
              <a:rPr sz="2400" b="0" i="0">
                <a:solidFill>
                  <a:srgbClr val="1A5276"/>
                </a:solidFill>
                <a:latin typeface="Segoe UI Semibold"/>
              </a:rPr>
              <a:t> states. Give one property of means–ends analysis that breadth-first search has and it does not.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Completeness. Breadth-first progression search will find a plan whenever one exists; means–ends analysis takes the goals in some order and can destroy, while achieving an early goal, a condition a later goal needs. The two-operator example of Figure 9.2 is solvable, and means–ends analysis reports failure on it when the goals are taken in one of the two possible orders. (Breadth-first search also guarantees a </a:t>
            </a:r>
            <a:r>
              <a:rPr sz="2200" b="0" i="1">
                <a:solidFill>
                  <a:srgbClr val="1C252B"/>
                </a:solidFill>
                <a:latin typeface="Segoe UI"/>
              </a:rPr>
              <a:t>shortest</a:t>
            </a:r>
            <a:r>
              <a:rPr sz="2200" b="0" i="0">
                <a:solidFill>
                  <a:srgbClr val="1C252B"/>
                </a:solidFill>
                <a:latin typeface="Segoe UI"/>
              </a:rPr>
              <a:t> plan; means–ends analysis found optimal plans here but is not obliged to.)</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  answers in Appendix D     </a:t>
            </a:r>
            <a:fld id="{38A41370-3692-493A-8A2C-F77FEAE7E0BB}" type="slidenum">
              <a:rPr lang="en-GB" sz="1000">
                <a:solidFill>
                  <a:srgbClr val="8795A1"/>
                </a:solidFill>
                <a:latin typeface="Segoe UI"/>
              </a:rPr>
              <a:t>46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8551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50D16D4D-ADAD-4941-9AB7-1633C2F00866}" type="slidenum">
              <a:rPr lang="en-GB" sz="1000">
                <a:solidFill>
                  <a:srgbClr val="8795A1"/>
                </a:solidFill>
                <a:latin typeface="Segoe UI"/>
              </a:rPr>
              <a:t>47</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a:t>
            </a:r>
            <a:r>
              <a:rPr sz="1700" b="1" i="0">
                <a:solidFill>
                  <a:srgbClr val="1A5276"/>
                </a:solidFill>
                <a:latin typeface="Segoe UI"/>
              </a:rPr>
              <a:t>STRIPS</a:t>
            </a:r>
            <a:r>
              <a:rPr sz="1700" b="0" i="0">
                <a:solidFill>
                  <a:srgbClr val="1C252B"/>
                </a:solidFill>
                <a:latin typeface="Segoe UI"/>
              </a:rPr>
              <a:t> operator is preconditions, an add list and a delete list. Applying it gives </a:t>
            </a:r>
            <a:r>
              <a:rPr sz="1700" b="0" i="0">
                <a:solidFill>
                  <a:srgbClr val="1C252B"/>
                </a:solidFill>
                <a:latin typeface="Cambria"/>
              </a:rPr>
              <a:t>(</a:t>
            </a:r>
            <a:r>
              <a:rPr sz="1700" b="0" i="1">
                <a:solidFill>
                  <a:srgbClr val="1C252B"/>
                </a:solidFill>
                <a:latin typeface="Cambria"/>
              </a:rPr>
              <a:t>s</a:t>
            </a:r>
            <a:r>
              <a:rPr sz="1700" b="0" i="0">
                <a:solidFill>
                  <a:srgbClr val="1C252B"/>
                </a:solidFill>
                <a:latin typeface="Cambria"/>
              </a:rPr>
              <a:t> </a:t>
            </a:r>
            <a:r>
              <a:rPr sz="1700" b="0" i="0">
                <a:solidFill>
                  <a:srgbClr val="1C252B"/>
                </a:solidFill>
                <a:latin typeface="Segoe UI"/>
              </a:rPr>
              <a:t>delete</a:t>
            </a:r>
            <a:r>
              <a:rPr sz="1700" b="0" i="0">
                <a:solidFill>
                  <a:srgbClr val="1C252B"/>
                </a:solidFill>
                <a:latin typeface="Cambria"/>
              </a:rPr>
              <a:t>) ∪ </a:t>
            </a:r>
            <a:r>
              <a:rPr sz="1700" b="0" i="0">
                <a:solidFill>
                  <a:srgbClr val="1C252B"/>
                </a:solidFill>
                <a:latin typeface="Segoe UI"/>
              </a:rPr>
              <a:t>add; everything unmentioned is unchanged, which is the </a:t>
            </a:r>
            <a:r>
              <a:rPr sz="1700" b="1" i="0">
                <a:solidFill>
                  <a:srgbClr val="1A5276"/>
                </a:solidFill>
                <a:latin typeface="Segoe UI"/>
              </a:rPr>
              <a:t>STRIPS assumption</a:t>
            </a:r>
            <a:r>
              <a:rPr sz="1700" b="0" i="0">
                <a:solidFill>
                  <a:srgbClr val="1C252B"/>
                </a:solidFill>
                <a:latin typeface="Segoe UI"/>
              </a:rPr>
              <a:t> and the practical answer to the </a:t>
            </a:r>
            <a:r>
              <a:rPr sz="1700" b="1" i="0">
                <a:solidFill>
                  <a:srgbClr val="1A5276"/>
                </a:solidFill>
                <a:latin typeface="Segoe UI"/>
              </a:rPr>
              <a:t>frame problem</a:t>
            </a:r>
            <a:r>
              <a:rPr sz="1700" b="0" i="0">
                <a:solidFill>
                  <a:srgbClr val="1C252B"/>
                </a:solidFill>
                <a:latin typeface="Segoe UI"/>
              </a:rPr>
              <a:t>.</a:t>
            </a:r>
          </a:p>
        </p:txBody>
      </p:sp>
      <p:sp>
        <p:nvSpPr>
          <p:cNvPr id="10" name="!!sb1">
            <a:extLst>
              <a:ext uri="{C183D7F6-B498-43B3-948B-1728B52AA6E4}">
                <adec:decorative xmlns:adec="http://schemas.microsoft.com/office/drawing/2017/decorative" val="1"/>
              </a:ext>
            </a:extLst>
          </p:cNvPr>
          <p:cNvSpPr/>
          <p:nvPr/>
        </p:nvSpPr>
        <p:spPr>
          <a:xfrm>
            <a:off x="658368" y="273771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79257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72856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a:t>
            </a:r>
            <a:r>
              <a:rPr sz="1700" b="1" i="0">
                <a:solidFill>
                  <a:srgbClr val="1A5276"/>
                </a:solidFill>
                <a:latin typeface="Segoe UI"/>
              </a:rPr>
              <a:t>delete list</a:t>
            </a:r>
            <a:r>
              <a:rPr sz="1700" b="0" i="0">
                <a:solidFill>
                  <a:srgbClr val="1C252B"/>
                </a:solidFill>
                <a:latin typeface="Segoe UI"/>
              </a:rPr>
              <a:t> is what distinguishes planning from search. Without it, actions cannot interfere and the problem is a topological sort.</a:t>
            </a:r>
          </a:p>
        </p:txBody>
      </p:sp>
      <p:sp>
        <p:nvSpPr>
          <p:cNvPr id="13" name="!!sb2">
            <a:extLst>
              <a:ext uri="{C183D7F6-B498-43B3-948B-1728B52AA6E4}">
                <adec:decorative xmlns:adec="http://schemas.microsoft.com/office/drawing/2017/decorative" val="1"/>
              </a:ext>
            </a:extLst>
          </p:cNvPr>
          <p:cNvSpPr/>
          <p:nvPr/>
        </p:nvSpPr>
        <p:spPr>
          <a:xfrm>
            <a:off x="658368" y="345948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51434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5033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Progression search</a:t>
            </a:r>
            <a:r>
              <a:rPr sz="1700" b="0" i="0">
                <a:solidFill>
                  <a:srgbClr val="1C252B"/>
                </a:solidFill>
                <a:latin typeface="Segoe UI"/>
              </a:rPr>
              <a:t> runs Chapter 4’s frontier over states of literals, unchanged. A plan step may appear in no goal: </a:t>
            </a:r>
            <a:r>
              <a:rPr sz="1600" b="0" i="0">
                <a:solidFill>
                  <a:srgbClr val="1F4E79"/>
                </a:solidFill>
                <a:latin typeface="Consolas"/>
              </a:rPr>
              <a:t>release staging</a:t>
            </a:r>
            <a:r>
              <a:rPr sz="1700" b="0" i="0">
                <a:solidFill>
                  <a:srgbClr val="1C252B"/>
                </a:solidFill>
                <a:latin typeface="Segoe UI"/>
              </a:rPr>
              <a:t> is indispensable and mentioned nowhere.</a:t>
            </a:r>
          </a:p>
        </p:txBody>
      </p:sp>
      <p:sp>
        <p:nvSpPr>
          <p:cNvPr id="16" name="!!sb3">
            <a:extLst>
              <a:ext uri="{C183D7F6-B498-43B3-948B-1728B52AA6E4}">
                <adec:decorative xmlns:adec="http://schemas.microsoft.com/office/drawing/2017/decorative" val="1"/>
              </a:ext>
            </a:extLst>
          </p:cNvPr>
          <p:cNvSpPr/>
          <p:nvPr/>
        </p:nvSpPr>
        <p:spPr>
          <a:xfrm>
            <a:off x="658368" y="41812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361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7210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strong admissible heuristic saved under one per cent here, because almost every reachable state lies on an optimal plan. Heuristics pay when most of the space is wasted effort; measure before optimising.</a:t>
            </a:r>
          </a:p>
        </p:txBody>
      </p:sp>
      <p:sp>
        <p:nvSpPr>
          <p:cNvPr id="19" name="!!sb4">
            <a:extLst>
              <a:ext uri="{C183D7F6-B498-43B3-948B-1728B52AA6E4}">
                <adec:decorative xmlns:adec="http://schemas.microsoft.com/office/drawing/2017/decorative" val="1"/>
              </a:ext>
            </a:extLst>
          </p:cNvPr>
          <p:cNvSpPr/>
          <p:nvPr/>
        </p:nvSpPr>
        <p:spPr>
          <a:xfrm>
            <a:off x="658368" y="49030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578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93868"/>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Means–ends analysis</a:t>
            </a:r>
            <a:r>
              <a:rPr sz="1700" b="0" i="0">
                <a:solidFill>
                  <a:srgbClr val="1C252B"/>
                </a:solidFill>
                <a:latin typeface="Segoe UI"/>
              </a:rPr>
              <a:t> works on differences rather than states, recursing from a missing goal literal to the preconditions of an operator that supplies it. It is the General Problem Solver, and it did the job here for a sixth of the work.</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61129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F8944BAC-8695-4EEC-B696-0CCD0B2BF0AA}" type="slidenum">
              <a:rPr lang="en-GB" sz="1000">
                <a:solidFill>
                  <a:srgbClr val="8795A1"/>
                </a:solidFill>
                <a:latin typeface="Segoe UI"/>
              </a:rPr>
              <a:t>48</a:t>
            </a:fld>
          </a:p>
        </p:txBody>
      </p:sp>
      <p:sp>
        <p:nvSpPr>
          <p:cNvPr id="7" name="!!sb5">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5"/>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9" name="!!st5"/>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It is not complete: </a:t>
            </a:r>
            <a:r>
              <a:rPr sz="1700" b="1" i="0">
                <a:solidFill>
                  <a:srgbClr val="1A5276"/>
                </a:solidFill>
                <a:latin typeface="Segoe UI"/>
              </a:rPr>
              <a:t>goal clobbering</a:t>
            </a:r>
            <a:r>
              <a:rPr sz="1700" b="0" i="0">
                <a:solidFill>
                  <a:srgbClr val="1C252B"/>
                </a:solidFill>
                <a:latin typeface="Segoe UI"/>
              </a:rPr>
              <a:t> makes it sensitive to goal order, and it can report failure on a solvable problem. </a:t>
            </a:r>
            <a:r>
              <a:rPr sz="1700" b="1" i="0">
                <a:solidFill>
                  <a:srgbClr val="1A5276"/>
                </a:solidFill>
                <a:latin typeface="Segoe UI"/>
              </a:rPr>
              <a:t>Partial-order planning</a:t>
            </a:r>
            <a:r>
              <a:rPr sz="1700" b="0" i="0">
                <a:solidFill>
                  <a:srgbClr val="1C252B"/>
                </a:solidFill>
                <a:latin typeface="Segoe UI"/>
              </a:rPr>
              <a:t> is the response.</a:t>
            </a:r>
          </a:p>
        </p:txBody>
      </p:sp>
      <p:sp>
        <p:nvSpPr>
          <p:cNvPr id="10" name="!!sb6">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6"/>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12" name="!!st6"/>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representation is the gain: a planner can </a:t>
            </a:r>
            <a:r>
              <a:rPr sz="1700" b="0" i="1">
                <a:solidFill>
                  <a:srgbClr val="1C252B"/>
                </a:solidFill>
                <a:latin typeface="Segoe UI"/>
              </a:rPr>
              <a:t>read</a:t>
            </a:r>
            <a:r>
              <a:rPr sz="1700" b="0" i="0">
                <a:solidFill>
                  <a:srgbClr val="1C252B"/>
                </a:solidFill>
                <a:latin typeface="Segoe UI"/>
              </a:rPr>
              <a:t> operators rather than merely call a successor function, the domain is data separate from the algorithm, and every plan step is explainable by its preconditions.</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DCAD3210-48FC-47D5-9953-2F6B6A79D3C1}" type="slidenum">
              <a:rPr lang="en-GB" sz="1000">
                <a:solidFill>
                  <a:srgbClr val="8795A1"/>
                </a:solidFill>
                <a:latin typeface="Segoe UI"/>
              </a:rPr>
              <a:t>49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Applying a STRIPS operator produces: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s</a:t>
            </a:r>
            <a:r>
              <a:rPr sz="2000" b="0" i="0">
                <a:solidFill>
                  <a:srgbClr val="1C252B"/>
                </a:solidFill>
                <a:latin typeface="Cambria"/>
              </a:rPr>
              <a:t> ∪ </a:t>
            </a:r>
            <a:r>
              <a:rPr sz="2000" b="0" i="0">
                <a:solidFill>
                  <a:srgbClr val="1C252B"/>
                </a:solidFill>
                <a:latin typeface="Segoe UI"/>
              </a:rPr>
              <a:t>add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 </a:t>
            </a:r>
            <a:r>
              <a:rPr sz="2000" b="0" i="0">
                <a:solidFill>
                  <a:srgbClr val="1C252B"/>
                </a:solidFill>
                <a:latin typeface="Segoe UI"/>
              </a:rPr>
              <a:t>delete</a:t>
            </a:r>
            <a:r>
              <a:rPr sz="2000" b="0" i="0">
                <a:solidFill>
                  <a:srgbClr val="1C252B"/>
                </a:solidFill>
                <a:latin typeface="Cambria"/>
              </a:rPr>
              <a:t>) ∪ </a:t>
            </a:r>
            <a:r>
              <a:rPr sz="2000" b="0" i="0">
                <a:solidFill>
                  <a:srgbClr val="1C252B"/>
                </a:solidFill>
                <a:latin typeface="Segoe UI"/>
              </a:rPr>
              <a:t>add</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 ∪ </a:t>
            </a:r>
            <a:r>
              <a:rPr sz="2000" b="0" i="0">
                <a:solidFill>
                  <a:srgbClr val="1C252B"/>
                </a:solidFill>
                <a:latin typeface="Segoe UI"/>
              </a:rPr>
              <a:t>add</a:t>
            </a:r>
            <a:r>
              <a:rPr sz="2000" b="0" i="0">
                <a:solidFill>
                  <a:srgbClr val="1C252B"/>
                </a:solidFill>
                <a:latin typeface="Cambria"/>
              </a:rPr>
              <a:t>) </a:t>
            </a:r>
            <a:r>
              <a:rPr sz="2000" b="0" i="0">
                <a:solidFill>
                  <a:srgbClr val="1C252B"/>
                </a:solidFill>
                <a:latin typeface="Segoe UI"/>
              </a:rPr>
              <a:t>pre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add</a:t>
            </a:r>
            <a:r>
              <a:rPr sz="2000" b="0" i="0">
                <a:solidFill>
                  <a:srgbClr val="1C252B"/>
                </a:solidFill>
                <a:latin typeface="Cambria"/>
              </a:rPr>
              <a:t> </a:t>
            </a:r>
            <a:r>
              <a:rPr sz="2000" b="0" i="0">
                <a:solidFill>
                  <a:srgbClr val="1C252B"/>
                </a:solidFill>
                <a:latin typeface="Segoe UI"/>
              </a:rPr>
              <a:t>delete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06283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59CC6DFB-AD83-4D4B-BDD1-2BB621E47261}" type="slidenum">
              <a:rPr lang="en-GB" sz="1000">
                <a:solidFill>
                  <a:srgbClr val="8795A1"/>
                </a:solidFill>
                <a:latin typeface="Segoe UI"/>
              </a:rPr>
              <a:t>50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STRIPS assumption says that: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all actions are reversible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anything not in the add or delete list is unchanged</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preconditions are always satisfiable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plans are optimal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8860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148BA536-8F50-4DED-9B94-079B595CEA5A}" type="slidenum">
              <a:rPr lang="en-GB" sz="1000">
                <a:solidFill>
                  <a:srgbClr val="8795A1"/>
                </a:solidFill>
                <a:latin typeface="Segoe UI"/>
              </a:rPr>
              <a:t>51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Goal clobbering means: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two goals are contradictory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achieving one goal destroys a condition another needs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goal is unreachable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heuristic overestimates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1437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4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D171B0ED-0A5E-42E5-A6BF-011ED36121D3}" type="slidenum">
              <a:rPr lang="en-GB" sz="1000">
                <a:solidFill>
                  <a:srgbClr val="8795A1"/>
                </a:solidFill>
                <a:latin typeface="Segoe UI"/>
              </a:rPr>
              <a:t>52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Progression search proceeds: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backward from the goal</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forward from the initial state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over plan space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over constraint arcs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4015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9  ·  Planning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100     </a:t>
            </a:r>
            <a:fld id="{61B2A3A3-79B2-4A05-ACD8-1A4E88B7DAEF}" type="slidenum">
              <a:rPr lang="en-GB" sz="1000">
                <a:solidFill>
                  <a:srgbClr val="8795A1"/>
                </a:solidFill>
                <a:latin typeface="Segoe UI"/>
              </a:rPr>
              <a:t>53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what the delete list is for, using </a:t>
            </a:r>
            <a:r>
              <a:rPr sz="1800" b="0" i="0">
                <a:solidFill>
                  <a:srgbClr val="1F4E79"/>
                </a:solidFill>
                <a:latin typeface="Consolas"/>
              </a:rPr>
              <a:t>test A</a:t>
            </a:r>
            <a:r>
              <a:rPr sz="1900" b="0" i="0">
                <a:solidFill>
                  <a:srgbClr val="1C252B"/>
                </a:solidFill>
                <a:latin typeface="Segoe UI"/>
              </a:rPr>
              <a:t> and </a:t>
            </a:r>
            <a:r>
              <a:rPr sz="1800" b="0" i="0">
                <a:solidFill>
                  <a:srgbClr val="1F4E79"/>
                </a:solidFill>
                <a:latin typeface="Consolas"/>
              </a:rPr>
              <a:t>test B</a:t>
            </a:r>
            <a:r>
              <a:rPr sz="1900" b="0" i="0">
                <a:solidFill>
                  <a:srgbClr val="1C252B"/>
                </a:solidFill>
                <a:latin typeface="Segoe UI"/>
              </a:rPr>
              <a:t> as your example.</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two things a planner can do with an operator table that it cannot do with an opaque successor function.</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Means–ends analysis is much cheaper than progression search on this domain and is not complete. State the trade precisely, and say which you would deploy for a release planner used by a delivery team.</a:t>
            </a:r>
          </a:p>
        </p:txBody>
      </p:sp>
      <p:sp>
        <p:nvSpPr>
          <p:cNvPr id="16" name="!!rt3">
            <a:extLst>
              <a:ext uri="{C183D7F6-B498-43B3-948B-1728B52AA6E4}">
                <adec:decorative xmlns:adec="http://schemas.microsoft.com/office/drawing/2017/decorative" val="1"/>
              </a:ext>
            </a:extLst>
          </p:cNvPr>
          <p:cNvSpPr/>
          <p:nvPr/>
        </p:nvSpPr>
        <p:spPr>
          <a:xfrm>
            <a:off x="658368" y="422087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26201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202582"/>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Add a component </a:t>
            </a:r>
            <a:r>
              <a:rPr sz="1800" b="0" i="0">
                <a:solidFill>
                  <a:srgbClr val="1F4E79"/>
                </a:solidFill>
                <a:latin typeface="Consolas"/>
              </a:rPr>
              <a:t>C</a:t>
            </a:r>
            <a:r>
              <a:rPr sz="1900" b="0" i="0">
                <a:solidFill>
                  <a:srgbClr val="1C252B"/>
                </a:solidFill>
                <a:latin typeface="Segoe UI"/>
              </a:rPr>
              <a:t> and an operator </a:t>
            </a:r>
            <a:r>
              <a:rPr sz="1800" b="0" i="0">
                <a:solidFill>
                  <a:srgbClr val="1F4E79"/>
                </a:solidFill>
                <a:latin typeface="Consolas"/>
              </a:rPr>
              <a:t>sign off c</a:t>
            </a:r>
            <a:r>
              <a:rPr sz="1900" b="0" i="0">
                <a:solidFill>
                  <a:srgbClr val="1C252B"/>
                </a:solidFill>
                <a:latin typeface="Segoe UI"/>
              </a:rPr>
              <a:t> requiring </a:t>
            </a:r>
            <a:r>
              <a:rPr sz="1800" b="0" i="0">
                <a:solidFill>
                  <a:srgbClr val="1F4E79"/>
                </a:solidFill>
                <a:latin typeface="Consolas"/>
              </a:rPr>
              <a:t>deployed c</a:t>
            </a:r>
            <a:r>
              <a:rPr sz="1900" b="0" i="0">
                <a:solidFill>
                  <a:srgbClr val="1C252B"/>
                </a:solidFill>
                <a:latin typeface="Segoe UI"/>
              </a:rPr>
              <a:t> and adding </a:t>
            </a:r>
            <a:r>
              <a:rPr sz="1800" b="0" i="0">
                <a:solidFill>
                  <a:srgbClr val="1F4E79"/>
                </a:solidFill>
                <a:latin typeface="Consolas"/>
              </a:rPr>
              <a:t>signed c</a:t>
            </a:r>
            <a:r>
              <a:rPr sz="1900" b="0" i="0">
                <a:solidFill>
                  <a:srgbClr val="1C252B"/>
                </a:solidFill>
                <a:latin typeface="Segoe UI"/>
              </a:rPr>
              <a:t>, with the goal extended to include </a:t>
            </a:r>
            <a:r>
              <a:rPr sz="1800" b="0" i="0">
                <a:solidFill>
                  <a:srgbClr val="1F4E79"/>
                </a:solidFill>
                <a:latin typeface="Consolas"/>
              </a:rPr>
              <a:t>signed C</a:t>
            </a:r>
            <a:r>
              <a:rPr sz="1900" b="0" i="0">
                <a:solidFill>
                  <a:srgbClr val="1C252B"/>
                </a:solidFill>
                <a:latin typeface="Segoe UI"/>
              </a:rPr>
              <a:t>. Give the optimal plan length by hand, then say whether means–ends analysis taking the goals in the order </a:t>
            </a:r>
            <a:r>
              <a:rPr sz="1800" b="0" i="0">
                <a:solidFill>
                  <a:srgbClr val="1F4E79"/>
                </a:solidFill>
                <a:latin typeface="Consolas"/>
              </a:rPr>
              <a:t>signed C</a:t>
            </a:r>
            <a:r>
              <a:rPr sz="1900" b="0" i="0">
                <a:solidFill>
                  <a:srgbClr val="1C252B"/>
                </a:solidFill>
                <a:latin typeface="Segoe UI"/>
              </a:rPr>
              <a:t>, </a:t>
            </a:r>
            <a:r>
              <a:rPr sz="1800" b="0" i="0">
                <a:solidFill>
                  <a:srgbClr val="1F4E79"/>
                </a:solidFill>
                <a:latin typeface="Consolas"/>
              </a:rPr>
              <a:t>deployed A</a:t>
            </a:r>
            <a:r>
              <a:rPr sz="1900" b="0" i="0">
                <a:solidFill>
                  <a:srgbClr val="1C252B"/>
                </a:solidFill>
                <a:latin typeface="Segoe UI"/>
              </a:rPr>
              <a:t>, </a:t>
            </a:r>
            <a:r>
              <a:rPr sz="1800" b="0" i="0">
                <a:solidFill>
                  <a:srgbClr val="1F4E79"/>
                </a:solidFill>
                <a:latin typeface="Consolas"/>
              </a:rPr>
              <a:t>deployed B</a:t>
            </a:r>
            <a:r>
              <a:rPr sz="1900" b="0" i="0">
                <a:solidFill>
                  <a:srgbClr val="1C252B"/>
                </a:solidFill>
                <a:latin typeface="Segoe UI"/>
              </a:rPr>
              <a:t> would succeed, and why.</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196592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09</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9</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10 — Knowledge Representation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9, pages 88–100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 release plan from operators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Midterm (Ch 1–8)</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9  ·  Planning</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61F6DD60-E871-4FCC-815D-F34BEC02D2B4}" type="slidenum">
              <a:rPr lang="en-GB" sz="1000">
                <a:solidFill>
                  <a:srgbClr val="D5DEE5"/>
                </a:solidFill>
                <a:latin typeface="Segoe UI"/>
              </a:rPr>
              <a:t>54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rtificial Intelligence Fall 2026">
  <a:themeElements>
    <a:clrScheme name="Artificial Intellig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rtificial Intellig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Planning</dc:title>
  <dc:subject>Artificial Intelligence — Search, Knowledge and Reasoning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