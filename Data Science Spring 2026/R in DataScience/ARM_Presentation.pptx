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Association Rule Mining (ARM)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CF0F1"/>
                </a:solidFill>
                <a:latin typeface="Calibri"/>
              </a:defRPr>
            </a:pPr>
            <a:r>
              <a:t>Introduction with R — Computer Accessories Dataset</a:t>
            </a:r>
            <a:br/>
            <a:r>
              <a:t>Dr. Mustafa Hameed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What is Association Rule Mining?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ARM is a data mining technique that discovers interesting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  relationships (associations) among items in large datasets.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Finds hidden patterns — which items are purchased together?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Classic use case: Market Basket Analysis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Applications: retail, e-commerce, healthcare, web mining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980B9"/>
                </a:solidFill>
                <a:latin typeface="Calibri"/>
              </a:defRPr>
            </a:pPr>
            <a:r>
              <a:t>"Customers who buy a laptop and a mouse also tend to buy a keyboard."</a:t>
            </a:r>
            <a:br/>
            <a:r>
              <a:t>{laptop, mouse}  →  {keyboard}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Why Does ARM Matter?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80B9"/>
                </a:solidFill>
                <a:latin typeface="Calibri"/>
              </a:defRPr>
            </a:pPr>
            <a:r>
              <a:t>Business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Product placement — nearby items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Bundle deals — laptop + mouse + keyboard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Cross-selling — recommend at checkout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Inventory — stock associated items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980B9"/>
                </a:solidFill>
                <a:latin typeface="Calibri"/>
              </a:defRPr>
            </a:pPr>
            <a:r>
              <a:t>Other Domains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Medical co-diagnoses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Web click-stream patterns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Course enrollment patterns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• Fraud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Definitions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Key Definitions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58782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Term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Transaction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 single purchase event (one receipt / one basket)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An individual product in a transaction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Itemset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 collection of one or more items, e.g. {laptop, mouse}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Association Rule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An implication: {A} → {B} ('if A then B')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Antecedent (LHS)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The 'if' part — {laptop, mouse}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Consequent (RHS)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The 'then' part — {keyboard}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The Four Key Measures of ARM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2011680"/>
                <a:gridCol w="3840480"/>
                <a:gridCol w="457200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Question it Answers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freq(A ∪ B) /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How common is this itemset?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Supp(A ∪ B) / Supp(A)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How reliable is this rule?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Conf(A→B) / Supp(B)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Is it better than random chance?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Conviction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(1−Supp(B)) / (1−Conf)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How dependent is the rule?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980B9"/>
                </a:solidFill>
                <a:latin typeface="Calibri"/>
              </a:defRPr>
            </a:pPr>
            <a:r>
              <a:t>Support = frequency  •  Confidence = reliability  •  Lift = strength  •  Conviction = dependency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Our Dataset — Computer Accessories (N = 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188720"/>
          <a:ext cx="9144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77724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Items Purchased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laptop, mouse, keyboard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laptop, mouse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laptop, keyboard, USB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T4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mouse, keyboard, mousepad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laptop, mouse, keyboard, USB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T6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mouse, mousepad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laptop, mouse, keyboard, webcam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T8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keyboard, headset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laptop, mouse, keyboard, mousepad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laptop, keyboard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Item Counts (by hand)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1371600"/>
                <a:gridCol w="3200400"/>
              </a:tblGrid>
              <a:tr h="5143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Transactions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laptop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T1,T2,T3,T5,T7,T9,T10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mouse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T1,T2,T4,T5,T6,T7,T9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keyboard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T1,T3,T4,T5,T7,T8,T9,T10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USB hub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T3, T5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mousepad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T4, T6, T9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webcam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T7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headset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Measure 1 —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Support —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Calibri"/>
              </a:defRPr>
            </a:pPr>
            <a:r>
              <a:t>Support measures how frequently an itemset appears in the dataset.</a:t>
            </a:r>
            <a:br/>
            <a:br/>
            <a:r>
              <a:t>Support(X) = (# transactions containing X) /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Higher support = more common pattern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Used to filter out rare patterns (set a minimum threshold)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Support of 0.50 = itemset appears in 50% of all transactions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Support — Step-by-Step: {laptop, mouse} → {keyboard}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Step 1: Find transactions containing {laptop, mouse, keyboard}: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T1: laptop, mouse, keyboard  ✓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T5: laptop, mouse, keyboard, USB hub  ✓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T7: laptop, mouse, keyboard, webcam  ✓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    T9: laptop, mouse, keyboard, mousepad  ✓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Step 2: Count = 4  out of  N = 10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Support({laptop, mouse, keyboard}) = 4 / 10 = 0.40</a:t>
            </a: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Interpretation: 40% of all transactions contain laptop + mouse + keyboard.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Measure 2 — Confidence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Confidence —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Calibri"/>
              </a:defRPr>
            </a:pPr>
            <a:r>
              <a:t>Confidence measures how often the rule is correct.</a:t>
            </a:r>
            <a:br/>
            <a:r>
              <a:t>Given that A is purchased, how often is B also purchased?</a:t>
            </a:r>
            <a:br/>
            <a:br/>
            <a:r>
              <a:t>Confidence(A → B) = Support(A ∪ B) / Support(A)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Ranges from 0 to 1 (0% to 100%)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Higher is better, but always verify with Lift!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Confidence of 0.80 = '80% of the time when A is bought, B is also bought'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Confidence — Step-by-Step: {laptop, mouse} → {keyboard}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Step 1: Support({laptop, mouse, keyboard}) = 4/10 = 0.40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Step 2: Transactions with {laptop, mouse}: T1, T2, T5, T7, T9 → 5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    Support({laptop, mouse}) = 5/10 = 0.50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Step 3: Confidence = 0.40 / 0.50 = 0.80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✅ Interpretation: When a customer buys laptop + mouse,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   there is an 80% chance they also buy a keyboard.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Measure 3 — Lift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Lift —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Calibri"/>
              </a:defRPr>
            </a:pPr>
            <a:r>
              <a:t>Lift measures whether A and B appear together more often</a:t>
            </a:r>
            <a:br/>
            <a:r>
              <a:t>than expected by chance.</a:t>
            </a:r>
            <a:br/>
            <a:br/>
            <a:r>
              <a:t>Lift(A → B) = Confidence(A → B) / Support(B)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3474720"/>
          <a:ext cx="10058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77240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Lift Value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Lift &gt;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Positive association — items appear together more than expected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Lift = 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No association — items are independent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Lift &lt;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Negative association — items avoid each other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Lift — Step-by-Step: {laptop, mouse} → {keyboard}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Step 1: Confidence = 0.80  (from previous)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Step 2: Support({keyboard}) = 8/10 = 0.80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Step 3: Lift = 0.80 / 0.80 = 1.00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⚠️ Interpretation: Lift = 1.00 means laptop + mouse does NOT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   increase the chance of buying keyboard — they are INDEPENDENT.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   This happens because keyboard is already in 80% of transactions!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Measure 4 — Conviction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Conviction —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Calibri"/>
              </a:defRPr>
            </a:pPr>
            <a:r>
              <a:t>Conviction measures the degree of dependence.</a:t>
            </a:r>
            <a:br/>
            <a:r>
              <a:t>It compares the expected error rate (if independent) to actual.</a:t>
            </a:r>
            <a:br/>
            <a:br/>
            <a:r>
              <a:t>Conviction(A → B) = (1 − Support(B)) / (1 − Confidence(A → B))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3474720"/>
          <a:ext cx="10058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772400"/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Conviction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Conv =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Items are independent (no dependency)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Conv &gt; 1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Rule is meaningful — items are dependent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Conv → 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Perfect rule (confidence = 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Conviction — Step-by-Step: {laptop, mouse} → {keyboard}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Step 1: 1 − Support({keyboard}) = 1 − 0.80 = 0.20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Step 2: 1 − Confidence = 1 − 0.80 = 0.20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Step 3: Conviction = 0.20 / 0.20 = 1.00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⚠️ Interpretation: Conviction = 1.00 confirms INDEPENDENCE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   — consistent with Lift = 1.00.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Another Rule: {mouse} → {mousepad}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200400"/>
              </a:tblGrid>
              <a:tr h="5143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Txns with {mouse, mousepad}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T4, T6, T9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Support({mouse, mousepad})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3/10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Support({mouse})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7/10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Support({mousepad})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3/10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0.30 / 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Lift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0.429 / 0.30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1.43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Conviction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(1−0.30)/(1−0.429)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✅ Lift = 1.43, Conviction = 1.23 — a meaningful positive association!</a:t>
            </a:r>
            <a:br/>
            <a:r>
              <a:t>Buying a mouse increases the chance of buying a mousepad by 43% over random.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Another Rule: {laptop} → {mouse}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200400"/>
              </a:tblGrid>
              <a:tr h="5143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Txns with {laptop, mouse}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T1,T2,T5,T7,T9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Support({laptop, mouse})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5/10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Support({laptop})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7/10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Support({mouse})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7/10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0.50 / 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0.714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Lift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0.714 / 0.70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1.02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Conviction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(1−0.70)/(1−0.714)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67E22"/>
                </a:solidFill>
                <a:latin typeface="Calibri"/>
              </a:defRPr>
            </a:pPr>
            <a:r>
              <a:t>Lift = 1.02, Conviction = 1.05 — very slight positive association. Nearly independent.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Comparing All Three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71600"/>
                <a:gridCol w="1828800"/>
                <a:gridCol w="13716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Lift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Conviction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{laptop,mouse}→{keyboard}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Independent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{mouse}→{mousepad}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0.43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1.43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1.23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✅ Useful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{laptop}→{mouse}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1.05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Borderline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14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Key Insight: The rule with the highest confidence (0.80) is the least useful (Lift=1.0).</a:t>
            </a:r>
            <a:br/>
            <a:r>
              <a:t>The rule with the highest lift (1.43) is the most actionable!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How to Interpret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6868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to Look For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Filter out rare patterns (min 0.10–0.30)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High confidence (≥ 0.50) = rule fires correctly often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&gt; 1 = useful  •  &gt; 1.5 = strong  •  &gt; 2 = very 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Conviction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&gt; 1 = dependent  •  &gt; 1.5 = strong dependency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389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⚠️ WATCH OUT: High confidence + low lift → the consequent is just very popular!</a:t>
            </a:r>
            <a:br/>
            <a:r>
              <a:t>Always check Lift and Conviction before acting on a rule!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Business Actions Based on Lift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18872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400800"/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Lift Range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Lift &gt; 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Strong bundle — create a package deal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Lift 1.5–2.0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Cross-sell — recommend at checkout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Lift 1.1–1.5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Place nearby — adjacent shelves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Lift ≈ 1.0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No action — items are independent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Lift &lt; 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Separate — avoid placing together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The Apriori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1. Set minimum support — prune rare itemsets early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2. Find frequent 1-itemsets — {laptop}, {mouse}, {keyboard}, …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3. Build frequent 2-itemsets by joining 1-itemsets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4. Continue growing until no new frequent itemsets found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5. Generate rules that meet minimum confidence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Anti-monotone property: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A subset of a frequent itemset must also be frequent.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If {laptop, mouse} is not frequent, then {laptop, mouse, keyboard}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cannot be frequent — so we PRUNE it!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 of the Four Measures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Four Measures — Final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572000"/>
                <a:gridCol w="36576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Measure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Good Values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Support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freq(A∪B) / 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≥ 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Supp(A∪B) / Supp(A)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≥ 0.50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Lift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Conf / Supp(B)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&gt; 1 (higher = better)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Conviction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(1−Supp(B))/(1−Conf)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Calibri"/>
                        </a:defRPr>
                      </a:pPr>
                      <a:r>
                        <a:t>&gt; 1 (higher = stronger)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Support — how common is the pattern?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Confidence — how reliable is the rule?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Lift &gt; 1 — the rule is better than random guessing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Conviction &gt; 1 — items are genuinely dependent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Always check Lift before trusting a high-confidence rule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The Apriori algorithm prunes efficiently (anti-monotone property)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• arules + arulesViz make ARM easy in R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Try It Yourself!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  1. Change supp and conf thresholds — how does the rule count change?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  2. Add more transactions — do the measures improve?</a:t>
            </a:r>
          </a:p>
          <a:p>
            <a:pPr>
              <a:spcAft>
                <a:spcPts val="800"/>
              </a:spcAft>
              <a:defRPr sz="2200">
                <a:solidFill>
                  <a:srgbClr val="000000"/>
                </a:solidFill>
                <a:latin typeface="Calibri"/>
              </a:defRPr>
            </a:pPr>
            <a:r>
              <a:t>  3. Filter for 'mouse' on the RHS — what predicts mouse purchases?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C3E50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81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1. Agrawal, R., &amp; Srikant, R. (1994). Fast algorithms for mining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association rules. VLDB.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2. Hahsler, M., Grün, B., &amp; Hornik, K. (2005). arules — A computational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environment for mining association rules. JSS, 14(15).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3. Hahsler, M. (2017). arulesViz: Visualizing Association Rules.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JSS, 76(2).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4. Brin, S., Motwani, R., Ullman, J., &amp; Tsur, S. (1997). Dynamic itemset</a:t>
            </a:r>
          </a:p>
          <a:p>
            <a:pPr>
              <a:spcAft>
                <a:spcPts val="800"/>
              </a:spcAft>
              <a:defRPr sz="1800">
                <a:solidFill>
                  <a:srgbClr val="000000"/>
                </a:solidFill>
                <a:latin typeface="Calibri"/>
              </a:defRPr>
            </a:pPr>
            <a:r>
              <a:t>   counting and implication rules. ACM SIGMOD.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