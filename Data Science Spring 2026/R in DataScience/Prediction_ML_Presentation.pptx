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Predictive Modeling with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Predicting Student Performance from LMS Data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Dr. Mustafa Hameed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Understand the concept of predictive modeling</a:t>
            </a:r>
          </a:p>
          <a:p>
            <a:pPr>
              <a:spcAft>
                <a:spcPts val="600"/>
              </a:spcAft>
              <a:defRPr sz="1800"/>
            </a:pPr>
            <a:r>
              <a:t>Learn the machine learning workflow (7 steps)</a:t>
            </a:r>
          </a:p>
          <a:p>
            <a:pPr>
              <a:spcAft>
                <a:spcPts val="600"/>
              </a:spcAft>
              <a:defRPr sz="1800"/>
            </a:pPr>
            <a:r>
              <a:t>Perform Exploratory Data Analysis (EDA)</a:t>
            </a:r>
          </a:p>
          <a:p>
            <a:pPr>
              <a:spcAft>
                <a:spcPts val="600"/>
              </a:spcAft>
              <a:defRPr sz="1800"/>
            </a:pPr>
            <a:r>
              <a:t>Build Linear Regression and Random Forest models</a:t>
            </a:r>
          </a:p>
          <a:p>
            <a:pPr>
              <a:spcAft>
                <a:spcPts val="600"/>
              </a:spcAft>
              <a:defRPr sz="1800"/>
            </a:pPr>
            <a:r>
              <a:t>Evaluate models using RMSE, MAE, and R²</a:t>
            </a:r>
          </a:p>
          <a:p>
            <a:pPr>
              <a:spcAft>
                <a:spcPts val="600"/>
              </a:spcAft>
              <a:defRPr sz="1800"/>
            </a:pPr>
            <a:r>
              <a:t>Interpret results and variable importance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What is Predictive Modeling?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Uses historical data to forecast future/unknown outcomes</a:t>
            </a:r>
          </a:p>
          <a:p>
            <a:pPr>
              <a:spcAft>
                <a:spcPts val="600"/>
              </a:spcAft>
              <a:defRPr sz="1800"/>
            </a:pPr>
            <a:r>
              <a:t>In education: predict student performance from behavior data</a:t>
            </a:r>
          </a:p>
          <a:p>
            <a:pPr>
              <a:spcAft>
                <a:spcPts val="600"/>
              </a:spcAft>
              <a:defRPr sz="1800"/>
            </a:pPr>
            <a:r>
              <a:t>We solve a REGRESSION problem (predicting a number)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Applications in Education:</a:t>
            </a:r>
          </a:p>
          <a:p>
            <a:pPr lvl="1">
              <a:spcAft>
                <a:spcPts val="600"/>
              </a:spcAft>
              <a:defRPr sz="1600"/>
            </a:pPr>
            <a:r>
              <a:t>  • Early warning systems for at-risk students</a:t>
            </a:r>
          </a:p>
          <a:p>
            <a:pPr lvl="1">
              <a:spcAft>
                <a:spcPts val="600"/>
              </a:spcAft>
              <a:defRPr sz="1600"/>
            </a:pPr>
            <a:r>
              <a:t>  • Personalized learning recommendations</a:t>
            </a:r>
          </a:p>
          <a:p>
            <a:pPr lvl="1">
              <a:spcAft>
                <a:spcPts val="600"/>
              </a:spcAft>
              <a:defRPr sz="1600"/>
            </a:pPr>
            <a:r>
              <a:t>  • Resource allocation and support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Supervised vs Unsupervised Learning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Supervised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Unsupervised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Labels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Known outcomes (grades)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No known outcomes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Predict an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Find patterns/clusters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Regression, Classification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Clustering, PCA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Our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✓ Supervised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The 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Step 1: Load Data</a:t>
            </a:r>
          </a:p>
          <a:p>
            <a:pPr>
              <a:spcAft>
                <a:spcPts val="600"/>
              </a:spcAft>
              <a:defRPr sz="1800"/>
            </a:pPr>
            <a:r>
              <a:t>Step 2: Explore (EDA) — distributions, correlations</a:t>
            </a:r>
          </a:p>
          <a:p>
            <a:pPr>
              <a:spcAft>
                <a:spcPts val="600"/>
              </a:spcAft>
              <a:defRPr sz="1800"/>
            </a:pPr>
            <a:r>
              <a:t>Step 3: Prepare Data — standardize, handle issues</a:t>
            </a:r>
          </a:p>
          <a:p>
            <a:pPr>
              <a:spcAft>
                <a:spcPts val="600"/>
              </a:spcAft>
              <a:defRPr sz="1800"/>
            </a:pPr>
            <a:r>
              <a:t>Step 4: Split — training (80%) &amp; testing (20%)</a:t>
            </a:r>
          </a:p>
          <a:p>
            <a:pPr>
              <a:spcAft>
                <a:spcPts val="600"/>
              </a:spcAft>
              <a:defRPr sz="1800"/>
            </a:pPr>
            <a:r>
              <a:t>Step 5: Build Model(s) — train on training data</a:t>
            </a:r>
          </a:p>
          <a:p>
            <a:pPr>
              <a:spcAft>
                <a:spcPts val="600"/>
              </a:spcAft>
              <a:defRPr sz="1800"/>
            </a:pPr>
            <a:r>
              <a:t>Step 6: Evaluate — RMSE, MAE, R² on test data</a:t>
            </a:r>
          </a:p>
          <a:p>
            <a:pPr>
              <a:spcAft>
                <a:spcPts val="600"/>
              </a:spcAft>
              <a:defRPr sz="1800"/>
            </a:pPr>
            <a:r>
              <a:t>Step 7: Interpret &amp; Compare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The Dataset: Student LMS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285 students, 12 numeric variables</a:t>
            </a:r>
          </a:p>
          <a:p>
            <a:pPr>
              <a:spcAft>
                <a:spcPts val="600"/>
              </a:spcAft>
              <a:defRPr sz="1800"/>
            </a:pPr>
            <a:r>
              <a:t>Source: github.com/lamethods/data2 (synthetic data)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Features (11 predictors):</a:t>
            </a:r>
          </a:p>
          <a:p>
            <a:pPr lvl="1">
              <a:spcAft>
                <a:spcPts val="600"/>
              </a:spcAft>
              <a:defRPr sz="1600"/>
            </a:pPr>
            <a:r>
              <a:t>  • Freq_Course_View, Freq_Lecture_View</a:t>
            </a:r>
          </a:p>
          <a:p>
            <a:pPr lvl="1">
              <a:spcAft>
                <a:spcPts val="600"/>
              </a:spcAft>
              <a:defRPr sz="1600"/>
            </a:pPr>
            <a:r>
              <a:t>  • Freq_Forum_Consume, Freq_Forum_Contribute</a:t>
            </a:r>
          </a:p>
          <a:p>
            <a:pPr lvl="1">
              <a:spcAft>
                <a:spcPts val="600"/>
              </a:spcAft>
              <a:defRPr sz="1600"/>
            </a:pPr>
            <a:r>
              <a:t>  • Regularity (4 variables for consistency)</a:t>
            </a:r>
          </a:p>
          <a:p>
            <a:pPr lvl="1">
              <a:spcAft>
                <a:spcPts val="600"/>
              </a:spcAft>
              <a:defRPr sz="1600"/>
            </a:pPr>
            <a:r>
              <a:t>  • Session_Count, Total_Duration, Active_Days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Target: Final_Grade (continuous numeric)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Dataset Variables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Freq_Course_View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Frequency of course page views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Freq_Lecture_View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Frequency of lecture 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Predictor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Freq_Forum_Consume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Frequency of reading forums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Freq_Forum_Contribute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Frequency of forum 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Predictor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Session_Count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Number of login sessions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Total_Duration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Total time on 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Predictor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Active_Days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Number of active days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Predictor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Final_Grade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Student final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Target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Step 1: Load the Data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Use the rio package for easy data import</a:t>
            </a:r>
          </a:p>
          <a:p>
            <a:pPr>
              <a:spcAft>
                <a:spcPts val="600"/>
              </a:spcAft>
              <a:defRPr sz="1800"/>
            </a:pPr>
            <a:r>
              <a:t>glimpse() shows structure and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library(tidyverse)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library(rio)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lms &lt;- import("https://github.com/lamethods/data2/raw/main/lms/lms.csv")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glimpse(lms)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Step 2: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Before modeling, understand the data:</a:t>
            </a:r>
          </a:p>
          <a:p>
            <a:pPr lvl="1">
              <a:spcAft>
                <a:spcPts val="600"/>
              </a:spcAft>
              <a:defRPr sz="1600"/>
            </a:pPr>
            <a:r>
              <a:t>  • Check distributions and ranges</a:t>
            </a:r>
          </a:p>
          <a:p>
            <a:pPr lvl="1">
              <a:spcAft>
                <a:spcPts val="600"/>
              </a:spcAft>
              <a:defRPr sz="1600"/>
            </a:pPr>
            <a:r>
              <a:t>  • Look for missing values</a:t>
            </a:r>
          </a:p>
          <a:p>
            <a:pPr lvl="1">
              <a:spcAft>
                <a:spcPts val="600"/>
              </a:spcAft>
              <a:defRPr sz="1600"/>
            </a:pPr>
            <a:r>
              <a:t>  • Examine correlations with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library(skimr)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skim(lms)                         # Summary statistics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cor(lms)[, "Final_Grade"]         # Correlations with target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Correlation Strength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Correlation (|r|)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0.00 – 0.19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Very Weak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0.20 – 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Weak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0.40 – 0.59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0.60 – 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0.80 – 1.00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Very Strong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EDA: Correlation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Visualize all pairwise correlations</a:t>
            </a:r>
          </a:p>
          <a:p>
            <a:pPr>
              <a:spcAft>
                <a:spcPts val="600"/>
              </a:spcAft>
              <a:defRPr sz="1800"/>
            </a:pPr>
            <a:r>
              <a:t>Red = positive, Blue = negative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68096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cor_matrix &lt;- cor(lms)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cor_df &lt;- as.data.frame(as.table(cor_matrix))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names(cor_df) &lt;- c("Var1", "Var2", "Correlation")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ggplot(cor_df, aes(x=Var1, y=Var2, fill=Correlation)) +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geom_tile(color="white") +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scale_fill_gradient2(low="blue", high="red", mid="white") +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geom_text(aes(label=round(Correlation,2)), size=2.5)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EDA: Feature vs Target Scatter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Visualize relationship between each feature and Final_Grade</a:t>
            </a:r>
          </a:p>
          <a:p>
            <a:pPr>
              <a:spcAft>
                <a:spcPts val="600"/>
              </a:spcAft>
              <a:defRPr sz="1800"/>
            </a:pPr>
            <a:r>
              <a:t>Look for linear vs non-linear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680960" cy="210312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lms_long &lt;- lms %&gt;%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pivot_longer(cols = -Final_Grade,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             names_to = "Feature", values_to = "Value")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ggplot(lms_long, aes(x=Value, y=Final_Grade)) +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geom_point(alpha=0.3, color="steelblue") +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geom_smooth(method="lm", se=FALSE, color="red") +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facet_wrap(~Feature, scales="free_x", ncol=4)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Step 3: Data Preparation — 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Transform features to mean=0, std=1:</a:t>
            </a:r>
          </a:p>
          <a:p>
            <a:pPr>
              <a:spcAft>
                <a:spcPts val="600"/>
              </a:spcAft>
              <a:defRPr sz="1800"/>
            </a:pPr>
          </a:p>
          <a:p>
            <a:pPr lvl="1">
              <a:spcAft>
                <a:spcPts val="600"/>
              </a:spcAft>
              <a:defRPr sz="1600"/>
            </a:pPr>
            <a:r>
              <a:t>  z = (x − μ) / σ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Why standardize?</a:t>
            </a:r>
          </a:p>
          <a:p>
            <a:pPr lvl="1">
              <a:spcAft>
                <a:spcPts val="600"/>
              </a:spcAft>
              <a:defRPr sz="1600"/>
            </a:pPr>
            <a:r>
              <a:t>  • Features are on different scales</a:t>
            </a:r>
          </a:p>
          <a:p>
            <a:pPr lvl="1">
              <a:spcAft>
                <a:spcPts val="600"/>
              </a:spcAft>
              <a:defRPr sz="1600"/>
            </a:pPr>
            <a:r>
              <a:t>  • Some algorithms (KNN, SVM) are scale-sensitive</a:t>
            </a:r>
          </a:p>
          <a:p>
            <a:pPr lvl="1">
              <a:spcAft>
                <a:spcPts val="600"/>
              </a:spcAft>
              <a:defRPr sz="1600"/>
            </a:pPr>
            <a:r>
              <a:t>  • Ensures fair comparison of feature importance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Standardization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Use scale() to standardize predictors</a:t>
            </a:r>
          </a:p>
          <a:p>
            <a:pPr>
              <a:spcAft>
                <a:spcPts val="600"/>
              </a:spcAft>
              <a:defRPr sz="1800"/>
            </a:pPr>
            <a:r>
              <a:t>Keep the target variable (Final_Grade)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680960" cy="182880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# Separate predictors and target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predictors &lt;- lms %&gt;% select(-Final_Grade)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target &lt;- lms$Final_Grade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# Standardize and recombine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lms_scaled &lt;- as.data.frame(scale(predictors))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lms_scaled$Final_Grade &lt;- target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Multicollinearity Check (VIF)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VIF = Variance Inflation Factor</a:t>
            </a:r>
          </a:p>
          <a:p>
            <a:pPr>
              <a:spcAft>
                <a:spcPts val="600"/>
              </a:spcAft>
              <a:defRPr sz="1800"/>
            </a:pPr>
            <a:r>
              <a:t>Detects when predictors are too correlated with each other</a:t>
            </a:r>
          </a:p>
          <a:p>
            <a:pPr>
              <a:spcAft>
                <a:spcPts val="600"/>
              </a:spcAft>
              <a:defRPr sz="1800"/>
            </a:pPr>
          </a:p>
          <a:p>
            <a:pPr lvl="1">
              <a:spcAft>
                <a:spcPts val="600"/>
              </a:spcAft>
              <a:defRPr sz="1600"/>
            </a:pPr>
            <a:r>
              <a:t>  VIF = 1 → No collinearity</a:t>
            </a:r>
          </a:p>
          <a:p>
            <a:pPr lvl="1">
              <a:spcAft>
                <a:spcPts val="600"/>
              </a:spcAft>
              <a:defRPr sz="1600"/>
            </a:pPr>
            <a:r>
              <a:t>  VIF 1–5 → Moderate (acceptable)</a:t>
            </a:r>
          </a:p>
          <a:p>
            <a:pPr lvl="1">
              <a:spcAft>
                <a:spcPts val="600"/>
              </a:spcAft>
              <a:defRPr sz="1600"/>
            </a:pPr>
            <a:r>
              <a:t>  VIF &gt; 5 → High (consider removing feature)</a:t>
            </a:r>
          </a:p>
          <a:p>
            <a:pPr lvl="1">
              <a:spcAft>
                <a:spcPts val="600"/>
              </a:spcAft>
              <a:defRPr sz="1600"/>
            </a:pPr>
            <a:r>
              <a:t>  VIF &gt; 10 → Very high (definitely problematic)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Step 4: Train/Test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Divide data into two separate sets:</a:t>
            </a:r>
          </a:p>
          <a:p>
            <a:pPr>
              <a:spcAft>
                <a:spcPts val="600"/>
              </a:spcAft>
              <a:defRPr sz="1800"/>
            </a:pPr>
          </a:p>
          <a:p>
            <a:pPr lvl="1">
              <a:spcAft>
                <a:spcPts val="600"/>
              </a:spcAft>
              <a:defRPr sz="1600"/>
            </a:pPr>
            <a:r>
              <a:t>  Training Set (80%) — model learns patterns here</a:t>
            </a:r>
          </a:p>
          <a:p>
            <a:pPr lvl="1">
              <a:spcAft>
                <a:spcPts val="600"/>
              </a:spcAft>
              <a:defRPr sz="1600"/>
            </a:pPr>
            <a:r>
              <a:t>  Test Set (20%) — evaluate on unseen data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Why split?</a:t>
            </a:r>
          </a:p>
          <a:p>
            <a:pPr lvl="1">
              <a:spcAft>
                <a:spcPts val="600"/>
              </a:spcAft>
              <a:defRPr sz="1600"/>
            </a:pPr>
            <a:r>
              <a:t>  • Prevents overfitting (memorizing training data)</a:t>
            </a:r>
          </a:p>
          <a:p>
            <a:pPr lvl="1">
              <a:spcAft>
                <a:spcPts val="600"/>
              </a:spcAft>
              <a:defRPr sz="1600"/>
            </a:pPr>
            <a:r>
              <a:t>  • Gives honest estimate of real-world performance</a:t>
            </a:r>
          </a:p>
          <a:p>
            <a:pPr lvl="1">
              <a:spcAft>
                <a:spcPts val="600"/>
              </a:spcAft>
              <a:defRPr sz="1600"/>
            </a:pPr>
            <a:r>
              <a:t>  • set.seed(123) ensures reproducibility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Train/Test Split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Use rsample package for easy splitting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7680960" cy="201168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library(rsample)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set.seed(123)  # For reproducibility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split &lt;- initial_split(lms_scaled, prop = 0.80)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train_data &lt;- training(split)   # ~228 rows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test_data  &lt;- testing(split)    # ~57 rows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cat("Training:", nrow(train_data), "rows")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cat("Testing: ", nrow(test_data), "rows")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Model 1: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Fits a straight-line relationship:</a:t>
            </a:r>
          </a:p>
          <a:p>
            <a:pPr>
              <a:spcAft>
                <a:spcPts val="600"/>
              </a:spcAft>
              <a:defRPr sz="1800"/>
            </a:pPr>
          </a:p>
          <a:p>
            <a:pPr lvl="1">
              <a:spcAft>
                <a:spcPts val="600"/>
              </a:spcAft>
              <a:defRPr sz="1600"/>
            </a:pPr>
            <a:r>
              <a:t>  ŷ = β₀ + β₁x₁ + β₂x₂ + ... + βₚxₚ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Strengths:</a:t>
            </a:r>
          </a:p>
          <a:p>
            <a:pPr lvl="1">
              <a:spcAft>
                <a:spcPts val="600"/>
              </a:spcAft>
              <a:defRPr sz="1600"/>
            </a:pPr>
            <a:r>
              <a:t>  • Easy to interpret (coefficients = effects)</a:t>
            </a:r>
          </a:p>
          <a:p>
            <a:pPr lvl="1">
              <a:spcAft>
                <a:spcPts val="600"/>
              </a:spcAft>
              <a:defRPr sz="1600"/>
            </a:pPr>
            <a:r>
              <a:t>  • Fast to train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Weaknesses:</a:t>
            </a:r>
          </a:p>
          <a:p>
            <a:pPr lvl="1">
              <a:spcAft>
                <a:spcPts val="600"/>
              </a:spcAft>
              <a:defRPr sz="1600"/>
            </a:pPr>
            <a:r>
              <a:t>  • Assumes linear relationships only</a:t>
            </a:r>
          </a:p>
          <a:p>
            <a:pPr lvl="1">
              <a:spcAft>
                <a:spcPts val="600"/>
              </a:spcAft>
              <a:defRPr sz="1600"/>
            </a:pPr>
            <a:r>
              <a:t>  • Sensitive to outliers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Linear Regression: 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Train the model, then predict on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768096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# Train Linear Regression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model_lm &lt;- lm(Final_Grade ~ ., data = train_data)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summary(model_lm)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# Predict on test set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pred_lm &lt;- predict(model_lm, newdata = test_data)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# View results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head(data.frame(Actual = test_data$Final_Grade,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              Predicted = round(pred_lm, 3)))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Model 2: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An ENSEMBLE method that builds many decision trees:</a:t>
            </a:r>
          </a:p>
          <a:p>
            <a:pPr>
              <a:spcAft>
                <a:spcPts val="600"/>
              </a:spcAft>
              <a:defRPr sz="1800"/>
            </a:pPr>
          </a:p>
          <a:p>
            <a:pPr lvl="1">
              <a:spcAft>
                <a:spcPts val="600"/>
              </a:spcAft>
              <a:defRPr sz="1600"/>
            </a:pPr>
            <a:r>
              <a:t>  1. Create 500 trees on random data subsets (bagging)</a:t>
            </a:r>
          </a:p>
          <a:p>
            <a:pPr lvl="1">
              <a:spcAft>
                <a:spcPts val="600"/>
              </a:spcAft>
              <a:defRPr sz="1600"/>
            </a:pPr>
            <a:r>
              <a:t>  2. Each split uses random feature subsets</a:t>
            </a:r>
          </a:p>
          <a:p>
            <a:pPr lvl="1">
              <a:spcAft>
                <a:spcPts val="600"/>
              </a:spcAft>
              <a:defRPr sz="1600"/>
            </a:pPr>
            <a:r>
              <a:t>  3. Final prediction = average of all trees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Strengths: Non-linear, robust, variable importance</a:t>
            </a:r>
          </a:p>
          <a:p>
            <a:pPr>
              <a:spcAft>
                <a:spcPts val="600"/>
              </a:spcAft>
              <a:defRPr sz="1800"/>
            </a:pPr>
            <a:r>
              <a:t>Weaknesses: Less interpretable, slower to train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Random Forest: 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Train with 500 trees, then predict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7680960" cy="256032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library(randomForest)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set.seed(123)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# Train Random Forest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model_rf &lt;- randomForest(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Final_Grade ~ .,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data = train_data,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ntree = 500,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importance = TRUE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# Predict on test set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pred_rf &lt;- predict(model_rf, newdata = test_data)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Step 6: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RMSE — Root Mean Squared Error</a:t>
            </a:r>
          </a:p>
          <a:p>
            <a:pPr lvl="1">
              <a:spcAft>
                <a:spcPts val="600"/>
              </a:spcAft>
              <a:defRPr sz="1600"/>
            </a:pPr>
            <a:r>
              <a:t>  • Average prediction error (lower = better)</a:t>
            </a:r>
          </a:p>
          <a:p>
            <a:pPr lvl="1">
              <a:spcAft>
                <a:spcPts val="600"/>
              </a:spcAft>
              <a:defRPr sz="1600"/>
            </a:pPr>
            <a:r>
              <a:t>  • Penalizes large errors more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MAE — Mean Absolute Error</a:t>
            </a:r>
          </a:p>
          <a:p>
            <a:pPr lvl="1">
              <a:spcAft>
                <a:spcPts val="600"/>
              </a:spcAft>
              <a:defRPr sz="1600"/>
            </a:pPr>
            <a:r>
              <a:t>  • Average absolute error (lower = better)</a:t>
            </a:r>
          </a:p>
          <a:p>
            <a:pPr lvl="1">
              <a:spcAft>
                <a:spcPts val="600"/>
              </a:spcAft>
              <a:defRPr sz="1600"/>
            </a:pPr>
            <a:r>
              <a:t>  • Less sensitive to outliers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R² — Coefficient of Determination</a:t>
            </a:r>
          </a:p>
          <a:p>
            <a:pPr lvl="1">
              <a:spcAft>
                <a:spcPts val="600"/>
              </a:spcAft>
              <a:defRPr sz="1600"/>
            </a:pPr>
            <a:r>
              <a:t>  • % of variance explained (higher = better)</a:t>
            </a:r>
          </a:p>
          <a:p>
            <a:pPr lvl="1">
              <a:spcAft>
                <a:spcPts val="600"/>
              </a:spcAft>
              <a:defRPr sz="1600"/>
            </a:pPr>
            <a:r>
              <a:t>  • R²=0.5 means model explains 50% of variance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Evaluation Metric Formulas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√(Σ(yᵢ - ŷᵢ)² / n)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Lower = Better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Σ|yᵢ - ŷᵢ|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Lower = Better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1 - SS_res / SS_tot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Higher = Better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Evaluation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Use yardstick package for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7680960" cy="320040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library(yardstick)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# Linear Regression metrics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cat("=== Linear Regression ===")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cat("RMSE:", rmse_vec(test_data$Final_Grade, pred_lm))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cat("MAE: ", mae_vec(test_data$Final_Grade, pred_lm))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cat("R²:  ", rsq_vec(test_data$Final_Grade, pred_lm))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# Random Forest metrics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cat("=== Random Forest ===")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cat("RMSE:", rmse_vec(test_data$Final_Grade, pred_rf))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cat("MAE: ", mae_vec(test_data$Final_Grade, pred_rf))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cat("R²:  ", rsq_vec(test_data$Final_Grade, pred_rf))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Visualization: Predicted vs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Points close to the diagonal = good predictions</a:t>
            </a:r>
          </a:p>
          <a:p>
            <a:pPr>
              <a:spcAft>
                <a:spcPts val="600"/>
              </a:spcAft>
              <a:defRPr sz="1800"/>
            </a:pPr>
            <a:r>
              <a:t>Points far from diagonal = prediction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680960" cy="228600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viz_data &lt;- data.frame(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Actual = rep(test_data$Final_Grade, 2),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Predicted = c(pred_lm, pred_rf),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Model = rep(c("LR", "RF"), each = nrow(test_data))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ggplot(viz_data, aes(x=Actual, y=Predicted, color=Model)) +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geom_point(alpha=0.6) +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geom_abline(slope=1, intercept=0, linetype="dashed") +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facet_wrap(~Model)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Visualization: Residual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Residual = Actual − Predicted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Good model: residuals randomly scattered around 0</a:t>
            </a:r>
          </a:p>
          <a:p>
            <a:pPr>
              <a:spcAft>
                <a:spcPts val="600"/>
              </a:spcAft>
              <a:defRPr sz="1800"/>
            </a:pPr>
            <a:r>
              <a:t>Bad model: patterns visible in residuals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What to check:</a:t>
            </a:r>
          </a:p>
          <a:p>
            <a:pPr lvl="1">
              <a:spcAft>
                <a:spcPts val="600"/>
              </a:spcAft>
              <a:defRPr sz="1600"/>
            </a:pPr>
            <a:r>
              <a:t>  • No fan shape (heteroscedasticity)</a:t>
            </a:r>
          </a:p>
          <a:p>
            <a:pPr lvl="1">
              <a:spcAft>
                <a:spcPts val="600"/>
              </a:spcAft>
              <a:defRPr sz="1600"/>
            </a:pPr>
            <a:r>
              <a:t>  • No curve (non-linearity missed)</a:t>
            </a:r>
          </a:p>
          <a:p>
            <a:pPr lvl="1">
              <a:spcAft>
                <a:spcPts val="600"/>
              </a:spcAft>
              <a:defRPr sz="1600"/>
            </a:pPr>
            <a:r>
              <a:t>  • Centered around zero line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Visualization: Variable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Random Forest tells us which features matter most</a:t>
            </a:r>
          </a:p>
          <a:p>
            <a:pPr>
              <a:spcAft>
                <a:spcPts val="600"/>
              </a:spcAft>
              <a:defRPr sz="1800"/>
            </a:pPr>
            <a:r>
              <a:t>%IncMSE: how much error increases without this feature</a:t>
            </a:r>
          </a:p>
          <a:p>
            <a:pPr>
              <a:spcAft>
                <a:spcPts val="600"/>
              </a:spcAft>
              <a:defRPr sz="1800"/>
            </a:pPr>
            <a:r>
              <a:t>Higher = more important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>
                <a:solidFill>
                  <a:srgbClr val="1E1E1E"/>
                </a:solidFill>
                <a:latin typeface="Consolas"/>
              </a:defRPr>
            </a:pPr>
            <a:r>
              <a:t># Variable importance plot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varImpPlot(model_rf,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           main = "Variable Importance")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# Or extract as a data frame</a:t>
            </a:r>
          </a:p>
          <a:p>
            <a:pPr>
              <a:defRPr sz="1200">
                <a:solidFill>
                  <a:srgbClr val="1E1E1E"/>
                </a:solidFill>
                <a:latin typeface="Consolas"/>
              </a:defRPr>
            </a:pPr>
            <a:r>
              <a:t>importance(model_rf)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When to Use Each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Need interpretable results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Need best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Random Forest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Small dataset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Non-linear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Random Forest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Feature importance needed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Speed is important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Linear Regression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Key Findings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Both models predict Final Grade from LMS engagement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Most Important Features (typically):</a:t>
            </a:r>
          </a:p>
          <a:p>
            <a:pPr lvl="1">
              <a:spcAft>
                <a:spcPts val="600"/>
              </a:spcAft>
              <a:defRPr sz="1600"/>
            </a:pPr>
            <a:r>
              <a:t>  • Session_Count — number of login sessions</a:t>
            </a:r>
          </a:p>
          <a:p>
            <a:pPr lvl="1">
              <a:spcAft>
                <a:spcPts val="600"/>
              </a:spcAft>
              <a:defRPr sz="1600"/>
            </a:pPr>
            <a:r>
              <a:t>  • Active_Days — days with LMS activity</a:t>
            </a:r>
          </a:p>
          <a:p>
            <a:pPr lvl="1">
              <a:spcAft>
                <a:spcPts val="600"/>
              </a:spcAft>
              <a:defRPr sz="1600"/>
            </a:pPr>
            <a:r>
              <a:t>  • Total_Duration — time spent on platform</a:t>
            </a:r>
          </a:p>
          <a:p>
            <a:pPr lvl="1">
              <a:spcAft>
                <a:spcPts val="600"/>
              </a:spcAft>
              <a:defRPr sz="1600"/>
            </a:pPr>
            <a:r>
              <a:t>  • Freq_Lecture_View — lecture viewing frequency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Practical Implication:</a:t>
            </a:r>
          </a:p>
          <a:p>
            <a:pPr lvl="1">
              <a:spcAft>
                <a:spcPts val="600"/>
              </a:spcAft>
              <a:defRPr sz="1600"/>
            </a:pPr>
            <a:r>
              <a:t>  Students who engage more frequently and consistently</a:t>
            </a:r>
          </a:p>
          <a:p>
            <a:pPr lvl="1">
              <a:spcAft>
                <a:spcPts val="600"/>
              </a:spcAft>
              <a:defRPr sz="1600"/>
            </a:pPr>
            <a:r>
              <a:t>  tend to achieve higher final grades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Key Definitions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Supervised Learning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Learning from labeled examples (known outcomes)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Predicting a continuous numeric 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Training Set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Data the model learns from (80%)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Test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Held-out data for evaluation (20%)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Overfitting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Model memorizes noise instead of patterns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Root Mean Squared Error — average error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Mean Absolute Error — avg absolute error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Proportion of variance explained (0 to 1)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Practice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Change split to 70/30 — how do results change?</a:t>
            </a:r>
          </a:p>
          <a:p>
            <a:pPr>
              <a:spcAft>
                <a:spcPts val="600"/>
              </a:spcAft>
              <a:defRPr sz="1800"/>
            </a:pPr>
            <a:r>
              <a:t>2. Remove 2 least important features — does R² improve?</a:t>
            </a:r>
          </a:p>
          <a:p>
            <a:pPr>
              <a:spcAft>
                <a:spcPts val="600"/>
              </a:spcAft>
              <a:defRPr sz="1800"/>
            </a:pPr>
            <a:r>
              <a:t>3. Calculate RMSE by hand for first 5 test observations</a:t>
            </a:r>
          </a:p>
          <a:p>
            <a:pPr>
              <a:spcAft>
                <a:spcPts val="600"/>
              </a:spcAft>
              <a:defRPr sz="1800"/>
            </a:pPr>
            <a:r>
              <a:t>4. Interpret Linear Regression coefficients — which</a:t>
            </a:r>
          </a:p>
          <a:p>
            <a:pPr lvl="1">
              <a:spcAft>
                <a:spcPts val="600"/>
              </a:spcAft>
              <a:defRPr sz="1600"/>
            </a:pPr>
            <a:r>
              <a:t>   features have positive vs negative effects?</a:t>
            </a:r>
          </a:p>
          <a:p>
            <a:pPr>
              <a:spcAft>
                <a:spcPts val="600"/>
              </a:spcAft>
              <a:defRPr sz="1800"/>
            </a:pPr>
            <a:r>
              <a:t>5. Create a bar chart comparing metrics for both models</a:t>
            </a:r>
          </a:p>
          <a:p>
            <a:pPr>
              <a:spcAft>
                <a:spcPts val="600"/>
              </a:spcAft>
              <a:defRPr sz="1800"/>
            </a:pPr>
            <a:r>
              <a:t>6. Research: What is k-fold cross-validation?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Loaded 285-student LMS dataset (12 variables)</a:t>
            </a:r>
          </a:p>
          <a:p>
            <a:pPr>
              <a:spcAft>
                <a:spcPts val="600"/>
              </a:spcAft>
              <a:defRPr sz="1800"/>
            </a:pPr>
            <a:r>
              <a:t>2. Explored data with EDA (distributions, correlations)</a:t>
            </a:r>
          </a:p>
          <a:p>
            <a:pPr>
              <a:spcAft>
                <a:spcPts val="600"/>
              </a:spcAft>
              <a:defRPr sz="1800"/>
            </a:pPr>
            <a:r>
              <a:t>3. Standardized features for fair comparison</a:t>
            </a:r>
          </a:p>
          <a:p>
            <a:pPr>
              <a:spcAft>
                <a:spcPts val="600"/>
              </a:spcAft>
              <a:defRPr sz="1800"/>
            </a:pPr>
            <a:r>
              <a:t>4. Split 80/20 into training and testing</a:t>
            </a:r>
          </a:p>
          <a:p>
            <a:pPr>
              <a:spcAft>
                <a:spcPts val="600"/>
              </a:spcAft>
              <a:defRPr sz="1800"/>
            </a:pPr>
            <a:r>
              <a:t>5. Built Linear Regression and Random Forest models</a:t>
            </a:r>
          </a:p>
          <a:p>
            <a:pPr>
              <a:spcAft>
                <a:spcPts val="600"/>
              </a:spcAft>
              <a:defRPr sz="1800"/>
            </a:pPr>
            <a:r>
              <a:t>6. Evaluated with RMSE, MAE, and R²</a:t>
            </a:r>
          </a:p>
          <a:p>
            <a:pPr>
              <a:spcAft>
                <a:spcPts val="600"/>
              </a:spcAft>
              <a:defRPr sz="1800"/>
            </a:pPr>
            <a:r>
              <a:t>7. Identified key engagement features for success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Next Steps: Cross-validation, more algorithms (SVM, KNN)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Dataset: github.com/lamethods/data2 (Synthetic LMS Data)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Textbook Chapter:</a:t>
            </a:r>
          </a:p>
          <a:p>
            <a:pPr lvl="1">
              <a:spcAft>
                <a:spcPts val="600"/>
              </a:spcAft>
              <a:defRPr sz="1600"/>
            </a:pPr>
            <a:r>
              <a:t>  Estrellado et al. — Learning Analytics Methods</a:t>
            </a:r>
          </a:p>
          <a:p>
            <a:pPr lvl="1">
              <a:spcAft>
                <a:spcPts val="600"/>
              </a:spcAft>
              <a:defRPr sz="1600"/>
            </a:pPr>
            <a:r>
              <a:t>  Chapter 3: Prediction</a:t>
            </a:r>
          </a:p>
          <a:p>
            <a:pPr lvl="1">
              <a:spcAft>
                <a:spcPts val="600"/>
              </a:spcAft>
              <a:defRPr sz="1600"/>
            </a:pPr>
            <a:r>
              <a:t>  lamethods.org/book2/chapters/ch03-prediction/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R Packages Used:</a:t>
            </a:r>
          </a:p>
          <a:p>
            <a:pPr lvl="1">
              <a:spcAft>
                <a:spcPts val="600"/>
              </a:spcAft>
              <a:defRPr sz="1600"/>
            </a:pPr>
            <a:r>
              <a:t>  tidyverse, rio, skimr, randomForest,</a:t>
            </a:r>
          </a:p>
          <a:p>
            <a:pPr lvl="1">
              <a:spcAft>
                <a:spcPts val="600"/>
              </a:spcAft>
              <a:defRPr sz="1600"/>
            </a:pPr>
            <a:r>
              <a:t>  rsample, yardstick,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