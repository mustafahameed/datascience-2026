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Exploratory Data Analysis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CF0F1"/>
                </a:solidFill>
                <a:latin typeface="Calibri"/>
              </a:defRPr>
            </a:pPr>
            <a:r>
              <a:t>The mtcars Dataset — Introduction with R</a:t>
            </a:r>
            <a:br/>
            <a:r>
              <a:t>Dr. Mustafa Hameed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What is Exploratory Data Analysis?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EDA is the FIRST step in any data science project.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Inspect — what does the data look like?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Summarize — what are the key statistics?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Visualize — what patterns exist?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Clean — any missing values or errors?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Goal: understand your data BEFORE building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Why EDA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You Learn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Catch errors early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Missing values, wrong types, impossible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Understand distributions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Skewed? Outliers? Normal?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Find relationships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Which variables are correlated?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Guide modeling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Choose the right algorithm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Communicate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Visualizations tell the 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Key Statistical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5225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Average: sum of values ÷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Middle value when data is sorted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Std Deviation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How spread out values are around the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Quartiles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Q1 (25%), Q2 (50% = median), Q3 (75%)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Linear relationship strength: −1 to 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Outlier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 value unusually far from the rest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The mtcars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Source: 1974 Motor Trend US magazine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32 automobiles (1973-74 models), 11 variables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6032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669280"/>
                <a:gridCol w="3657600"/>
              </a:tblGrid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Miles per gallon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cyl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Cylinders (4, 6, 8)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Categorical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disp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Displacement (cu.in.)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Horsepower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drat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Rear axle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wt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Weight (×1000 lbs)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qsec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Quarter-mile time (sec)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vs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Engine (0=V, 1=straight)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Trans (0=auto, 1=manual)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gear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Forward gears (3,4,5)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Categorical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carb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Carburetors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 — Load &amp; Inspect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Load and Inspect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  <a:latin typeface="Calibri"/>
              </a:defRPr>
            </a:pPr>
            <a:r>
              <a:t>R Code: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dim(mtcars)          # 32 rows × 11 columns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head(mtcars)         # First 6 rows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str(mtcars)          # Variable names, types, samples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names(mtcars)        # Column names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  <a:latin typeface="Calibri"/>
              </a:defRPr>
            </a:pPr>
            <a:r>
              <a:t>What to look for: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32 observations (cars), 11 features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All variables stored as 'num' — some are actually categorical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No missing values in this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2 — Summary Statistics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Summary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summary(mtcars) gives Min, Q1, Median, Mean, Q3, Max for each variable.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828800"/>
                <a:gridCol w="1828800"/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19.20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33.90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6.03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52.0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146.7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123.0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335.0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68.6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disp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71.1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230.7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196.3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472.0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123.9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7AE60"/>
                </a:solidFill>
                <a:latin typeface="Calibri"/>
              </a:defRPr>
            </a:pPr>
            <a:r>
              <a:t>Key insight: MPG ranges from 10.4 to 33.9 — wide variation.</a:t>
            </a:r>
            <a:br/>
            <a:r>
              <a:t>HP has SD = 68.6 — horsepower varies enormously across these cars.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Frequency Counts — Categorical Variables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Cylinders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1887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762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Transmission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Automatic (0)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Manual (1)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84048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Gears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980B9"/>
                </a:solidFill>
                <a:latin typeface="Calibri"/>
              </a:defRPr>
            </a:pPr>
            <a:r>
              <a:t>Most cars: 8 cylinders, automatic, 3 gears.</a:t>
            </a:r>
            <a:br/>
            <a:r>
              <a:t>This tells us the 'typical' car in this 1974 sample.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3 — Visualizations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Histograms — Understand Distributions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 histogram groups data into bins and shows frequency.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Use: hist(mtcars$mpg, col='steelblue', breaks=10)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MPG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Most cars: 15–22 MPG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Slightly right-skewed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Mean ≈ 20.1 MPG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A few outliers above 30 MPG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HP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1089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Most cars: 50–175 HP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Right-skewed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Mean ≈ 146.7 HP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A few high-performance outliers (&gt; 250 HP)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Boxplots — Compare Groups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 boxplot shows the median, quartiles, and outliers.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Use: boxplot(mpg ~ cyl, data = mtcars)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MPG by Cylinders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4-cyl: highest MPG (~26.7 avg)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6-cyl: moderate (~19.7 avg)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8-cyl: lowest MPG (~15.1 avg)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Clear negative relationship: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more cylinders → worse fuel economy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MPG by Transmission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Automatic: avg 17.1 MPG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Manual: avg 24.4 MPG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Manual cars tend to be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more fuel-efficient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(Confounded with weight/size)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Scatter Plots — Relationships Between Variables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Each dot = one car. Add a regression line with abline(lm(...)).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MPG vs 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Strong negative relationship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r = −0.87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Heavier cars → worse fuel economy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Nearly linear trend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Weight is the #1 predictor of MPG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MPG vs Horsepower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Strong negative relationship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r = −0.78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More HP → worse fuel economy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Slightly curved (non-linear)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Pairs Plot — Multiple Relationships at Once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pairs(mtcars[, c('mpg','hp','wt','disp','qsec')])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 pairs plot shows scatter plots for EVERY pair of variables.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What to look for: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Strong diagonal trends → strong correlation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Cloud-like scatter → weak/no relationship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Curved patterns → non-linear relationship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Key findings from the pairs plot: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mpg vs wt: strong negative (linear)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mpg vs disp: strong negative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wt vs disp: strong positive (big engines → heavy cars)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qsec vs hp: moderate negative (more HP → faster quarter mile)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4 — Correlation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Correlation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828800"/>
                <a:gridCol w="1828800"/>
                <a:gridCol w="1828800"/>
              </a:tblGrid>
              <a:tr h="5225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mpg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drat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qsec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−0.78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−0.45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−0.71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disp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−0.85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−0.71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−0.43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drat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qsec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−0.71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−0.17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−0.43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5029200"/>
          <a:ext cx="10058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400800"/>
              </a:tblGrid>
              <a:tr h="3429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±0.70 to ±1.00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±0.40 to ±0.69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±0.10 to ±0.39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Key Correlations — What They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828800"/>
                <a:gridCol w="5760720"/>
              </a:tblGrid>
              <a:tr h="5225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 Pair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mpg vs 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Strong 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Heavier cars use more fuel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mpg vs disp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−0.85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Strong −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Bigger engines use more fuel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mpg vs 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Strong 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More powerful cars use more fuel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wt vs disp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+0.89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Strong +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Heavier cars have bigger engines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mpg vs drat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Moderate 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Higher axle ratio → better MPG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hp vs qsec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−0.71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Strong −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More HP → faster quarter mile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5 — Subsetting &amp; Aggregation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Filtering and Aggregating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Filter: Fuel-efficient cars (MPG &gt; 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efficient &lt;- mtcars[mtcars$mpg &gt; 20, c('mpg','cyl','hp','wt')]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Result: 14 out of 32 cars qualify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Aggregate: Mean MPG by Cylinder Group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84048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Cylinders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MPG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26.66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19.74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15.10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384048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Transmission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MPG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Automatic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17.15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24.39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Summary of 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85800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MPG varies widely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Range: 10.4 – 33.9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Heavier cars → worse MPG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 = −0.87 (strong negative)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More cylinders → worse MPG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4-cyl: 26.7, 8-cyl: 15.1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Manual &gt; Automatic for MPG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Manual: 24.4, Auto: 17.1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HP and displacement hurt MPG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 = −0.78 and −0.85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EDA Cheat Sheet — R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5760720"/>
              </a:tblGrid>
              <a:tr h="4191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View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head(), tail()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head(mtcars)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Dimensions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dim(), nrow(), ncol()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dim(mtcars)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str(mtcars)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summary(), mean(), sd()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summary(mtcars$mpg)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table()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table(mtcars$cyl)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Histogram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hist()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hist(mtcars$mpg)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Boxplot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boxplot()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boxplot(mpg ~ cyl, data=mtcars)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Scatter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plot()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plot(mtcars$wt, mtcars$mpg)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cor(mtcars$mpg, mtcars$wt)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Filter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[ ] or subset()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mtcars[mtcars$mpg &gt; 20, ]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Aggregate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aggregate()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aggregate(mpg~cyl, mtcars, 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1. EDA is the FIRST step — always explore before modeling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2. Use head(), str(), summary() to inspect data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3. Histograms show distributions — look for skew and outliers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4. Boxplots compare groups — great for categorical variables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5. Scatter plots reveal relationships — add regression lines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6. Correlation quantifies linear relationships (−1 to +1)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7. Subsetting focuses analysis on interesting subgroups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8. Aggregation summarizes by group — compare means across categories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For mtcars: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Weight is the strongest predictor of fuel economy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More cylinders, more HP, larger engines → worse MPG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Manual cars tend to be more efficient (but confounded!)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Practice Exercises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1. Create a histogram of wt (weight). Is it skewed?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2. Make a boxplot of hp grouped by cyl. What do you observe?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3. Calculate cor(mtcars$hp, mtcars$wt). Interpret the result.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4. Filter cars with HP &gt; 200. How many? What is their avg MPG?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5. Create scatter plot of disp vs mpg with regression line.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6. Which 4-cylinder car has the best MPG?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7. Is the relationship between qsec and hp linear?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Henderson, H. V., &amp; Velleman, P. F. (1981). Building multiple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regression models interactively. Biometrics, 37, 391–411.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R Core Team (2024). R: A language and environment for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statistical computing.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Tukey, J. W. (1977). Exploratory Data Analysis. Addison-Wesley.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Wickham, H. (2016). ggplot2: Elegant Graphics for Data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Analysis. Springer.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