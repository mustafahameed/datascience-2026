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DC524F-3926-425D-A221-10A720A1932E}">
          <p14:sldIdLst>
            <p14:sldId id="256"/>
            <p14:sldId id="257"/>
            <p14:sldId id="258"/>
            <p14:sldId id="259"/>
            <p14:sldId id="260"/>
          </p14:sldIdLst>
        </p14:section>
        <p14:section name="2.1 Two Places to Stand" id="{28C08E4A-66FA-4FCD-B640-6FBD3013F419}">
          <p14:sldIdLst>
            <p14:sldId id="261"/>
            <p14:sldId id="262"/>
            <p14:sldId id="263"/>
            <p14:sldId id="264"/>
          </p14:sldIdLst>
        </p14:section>
        <p14:section name="2.2 Three Ways to Keep the Promise" id="{3CF8F31F-77DE-4E14-A4FF-0B6BCCD7EEE3}">
          <p14:sldIdLst>
            <p14:sldId id="265"/>
            <p14:sldId id="266"/>
            <p14:sldId id="267"/>
            <p14:sldId id="268"/>
            <p14:sldId id="269"/>
            <p14:sldId id="270"/>
            <p14:sldId id="271"/>
          </p14:sldIdLst>
        </p14:section>
        <p14:section name="2.3 Where Containers Sit" id="{A05C4946-5607-4DBD-A68B-19C13A1BCDE5}">
          <p14:sldIdLst>
            <p14:sldId id="272"/>
            <p14:sldId id="273"/>
            <p14:sldId id="274"/>
          </p14:sldIdLst>
        </p14:section>
        <p14:section name="2.4 Choosing" id="{278871FE-F680-4084-85BE-31F4EF4203AB}">
          <p14:sldIdLst>
            <p14:sldId id="275"/>
          </p14:sldIdLst>
        </p14:section>
        <p14:section name="Pitfalls" id="{9D58B41A-E6D8-46CE-AB60-CB67EBAC614D}">
          <p14:sldIdLst>
            <p14:sldId id="276"/>
            <p14:sldId id="277"/>
          </p14:sldIdLst>
        </p14:section>
        <p14:section name="Lab" id="{B0B941DF-C111-42FB-8974-74C3335555A5}">
          <p14:sldIdLst>
            <p14:sldId id="278"/>
            <p14:sldId id="279"/>
            <p14:sldId id="280"/>
            <p14:sldId id="281"/>
            <p14:sldId id="282"/>
            <p14:sldId id="283"/>
            <p14:sldId id="284"/>
            <p14:sldId id="285"/>
          </p14:sldIdLst>
        </p14:section>
        <p14:section name="Checkpoint" id="{FE960C3E-9559-415F-A3A6-94E62C1B8B11}">
          <p14:sldIdLst>
            <p14:sldId id="286"/>
            <p14:sldId id="287"/>
            <p14:sldId id="288"/>
            <p14:sldId id="289"/>
            <p14:sldId id="290"/>
            <p14:sldId id="291"/>
          </p14:sldIdLst>
        </p14:section>
        <p14:section name="Wrap-up" id="{B3C1729C-70A9-480E-B899-2C8039C02961}">
          <p14:sldIdLst>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Virtualization Architectures. Part 1 — Foundations of Virtualization. Week 1: What virtualization is; architectures. Handout pages 12–19.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1 — the definition of the layer, the distinction between virtualization and emulation, and the four motives. This chapter names the ways the layer can be built; Chapter 3 then proves which of them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Type-1 hypervisor; Type-2 hypervisor; bare-metal; hosted; full virtualization; binary translation; paravirtualization; hypercall; hardware-assisted virtualization; guest additions; PV driver; OS-level virtualization; virtualization overhead; attack surface; trusted computing 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hypervisor has to be underneath the guest. There are only two places to put it: directly on the hardware, or on top of an operating system that is already there. Goldberg named these Type-1 and Type-2 in 1973 and the names have stuck, although — as the end of this section argues — they have worn less well than the people who use them tend to admit.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2.1 (handout p. 13): The only two places a hypervisor can stand. The right-hand stack is easier to install and slower at everything, because every device access the guest makes is translated twice.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promise of Chapter 1 was that an unmodified operating system runs above the layer. A guest kernel is written to execute privileged instructions — change the page tables, disable interrupts, talk to a disk controller — and the hypervisor cannot simply let it. There are three ways to deal with that, and the history of this field is largely the history of moving from the first to the third.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2.2 (handout p. 14): The same instruction, three architectures. Only the middle one requires the guest’s cooperation; only the right-hand one requires the processor’s. The red step is where the work is done, and it is a different party each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so far virtualizes the machine. The alternative is to virtualize the operating system — to leave one kernel in place and give each group of processes a private view of it. Chapter 8 develops this properly; the purpose here is to put it on the same map, because the two are routinely presented as rivals when they are neighbours.</a:t>
            </a:r>
          </a:p>
          <a:p/>
          <a:p>
            <a:r>
              <a:t>Figure 2.3 (handout p. 16): Two questions, not one: which layer is virtualized, and by what technique. Products are placed by what they principally do; most occupy more than one cell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Measures the overhead of the same job under a Type-2 hypervisor, a Type-1 hypervisor and a container, on one laptop. Needs the stack from Appendix A. Expect thirty minutes, most of it waiting.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baseline: no layer at all.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Type-1: KVM, hardware-assisted.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A container: no second kernel.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Now the part that actually matters: I/O.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By Goldberg’s test it is Type-1: the hypervisor reaches the hardware without another operating system’s permission, and the stripped Linux exists only to boot it. The more useful questions are how large is the trusted computing base? — here, a kernel plus every driver it loads — and what else runs on this machine? Those decide the security and performance arguments; the Roman numeral decides neither.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CPU overhead is (412−400)/400 = 3%, which is normal. Disk throughput is 1 − 210/1050 = 80% lost, which is not. The pattern — small CPU penalty, enormous I/O penalty — is the signature of an emulated disk controller. Change the disk bus to virtio; expect the loss to fall to a few per cent.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Paravirtualization requires modifying the guest kernel, which requires its source and the ability to rebuild it. With the vendor gone, neither exists. Use hardware-assisted virtualization, which needs no guest changes at all, and install paravirtualized drivers if any exist for that operating system — a far weaker requirement than recompiling the kernel.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3 — The Virtual Machine Monitor. READ: Handout Chapter 2, pages 12–19. THIS WEEK'S LAB: Install a hypervisor; a first guest and a snapshot.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7.xml"/><Relationship Id="rId8" Type="http://schemas.openxmlformats.org/officeDocument/2006/relationships/slide" Target="slide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image" Target="../media/image30.png"/><Relationship Id="rId7" Type="http://schemas.openxmlformats.org/officeDocument/2006/relationships/image" Target="../media/image31.svg"/><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32.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5.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36.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1.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2.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3.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4.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5.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6.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7.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image" Target="../media/image48.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3.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4.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5.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6.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2.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16384"/>
                </a:solidFill>
                <a:latin typeface="Segoe UI Black"/>
              </a:rPr>
              <a:t>02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Virtualization Architectures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PART I  ·  FOUNDATIONS OF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CFD9"/>
                </a:solidFill>
                <a:latin typeface="Segoe UI"/>
              </a:rPr>
              <a:t>CHAPTER 2  ·  WEEK 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DCE4"/>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3B5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B5BE"/>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C8CF"/>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B5BE"/>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A856EA8E-7FA7-43E3-B15E-7149521E401B}" type="slidenum">
              <a:rPr lang="en-GB" sz="1000">
                <a:solidFill>
                  <a:srgbClr val="8795A1"/>
                </a:solidFill>
                <a:latin typeface="Segoe UI"/>
              </a:rPr>
              <a:t>2</a:t>
            </a:fld>
          </a:p>
        </p:txBody>
      </p:sp>
      <p:sp>
        <p:nvSpPr>
          <p:cNvPr id="7" name="!!rp1"/>
          <p:cNvSpPr txBox="1"/>
          <p:nvPr/>
        </p:nvSpPr>
        <p:spPr>
          <a:xfrm>
            <a:off x="777240" y="1755648"/>
            <a:ext cx="143119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A5276"/>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431195" cy="4572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537619"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537619"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3788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3788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9373" y="2112264"/>
            <a:ext cx="566928" cy="566928"/>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209373"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23" name="!!dot3">
            <a:extLst>
              <a:ext uri="{C183D7F6-B498-43B3-948B-1728B52AA6E4}">
                <adec:decorative xmlns:adec="http://schemas.microsoft.com/office/drawing/2017/decorative" val="1"/>
              </a:ext>
            </a:extLst>
          </p:cNvPr>
          <p:cNvSpPr/>
          <p:nvPr/>
        </p:nvSpPr>
        <p:spPr>
          <a:xfrm>
            <a:off x="1902846" y="2258568"/>
            <a:ext cx="274320" cy="274320"/>
          </a:xfrm>
          <a:prstGeom prst="ellipse">
            <a:avLst/>
          </a:prstGeom>
          <a:solidFill>
            <a:srgbClr val="FFFFFF"/>
          </a:solidFill>
          <a:ln w="15875">
            <a:solidFill>
              <a:srgbClr val="81A0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81140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A4967"/>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568887"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47744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960608"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8691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352329"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2608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4100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3186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8018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7103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A5276"/>
                </a:solidFill>
                <a:latin typeface="Segoe UI"/>
              </a:rPr>
              <a:t>Virtualization Architectures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1">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1">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1"/>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1  </a:t>
            </a:r>
            <a:r>
              <a:rPr sz="1400" b="0" i="0">
                <a:solidFill>
                  <a:srgbClr val="1C252B"/>
                </a:solidFill>
                <a:latin typeface="Segoe UI"/>
              </a:rPr>
              <a:t>What Virtualization Is</a:t>
            </a:r>
          </a:p>
        </p:txBody>
      </p:sp>
      <p:sp>
        <p:nvSpPr>
          <p:cNvPr id="70"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1" name="!!chipUS3">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US3">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US3"/>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Virtual Machine Monitor</a:t>
            </a:r>
          </a:p>
        </p:txBody>
      </p:sp>
      <p:sp>
        <p:nvSpPr>
          <p:cNvPr id="74" name="!!chipUS4">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4">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4"/>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Hardware Support for Virtualization</a:t>
            </a:r>
          </a:p>
        </p:txBody>
      </p:sp>
      <p:sp>
        <p:nvSpPr>
          <p:cNvPr id="77" name="!!chipUS5">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5">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5"/>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Major Hypervisor Platforms</a:t>
            </a:r>
          </a:p>
        </p:txBody>
      </p:sp>
      <p:sp>
        <p:nvSpPr>
          <p:cNvPr id="80" name="!!chipUS7">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7">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7"/>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83" name="!!chipUS8">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8">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8"/>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From Virtual Machines to Containers</a:t>
            </a:r>
          </a:p>
        </p:txBody>
      </p:sp>
      <p:sp>
        <p:nvSpPr>
          <p:cNvPr id="8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96CEA9DD-FEA6-4C42-B78C-A7AAE1906E8E}"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Distinguish</a:t>
            </a:r>
            <a:r>
              <a:rPr sz="2000" b="0" i="0">
                <a:solidFill>
                  <a:srgbClr val="1C252B"/>
                </a:solidFill>
                <a:latin typeface="Segoe UI"/>
              </a:rPr>
              <a:t> Type-1 from Type-2 hypervisors by where the monitor runs, and </a:t>
            </a:r>
            <a:r>
              <a:rPr sz="2000" b="1" i="0">
                <a:solidFill>
                  <a:srgbClr val="1C252B"/>
                </a:solidFill>
                <a:latin typeface="Segoe UI"/>
              </a:rPr>
              <a:t>explain</a:t>
            </a:r>
            <a:r>
              <a:rPr sz="2000" b="0" i="0">
                <a:solidFill>
                  <a:srgbClr val="1C252B"/>
                </a:solidFill>
                <a:latin typeface="Segoe UI"/>
              </a:rPr>
              <a:t> why KVM does not fit the distinction cleanly.</a:t>
            </a:r>
          </a:p>
        </p:txBody>
      </p:sp>
      <p:sp>
        <p:nvSpPr>
          <p:cNvPr id="11" name="!!ob1">
            <a:extLst>
              <a:ext uri="{C183D7F6-B498-43B3-948B-1728B52AA6E4}">
                <adec:decorative xmlns:adec="http://schemas.microsoft.com/office/drawing/2017/decorative" val="1"/>
              </a:ext>
            </a:extLst>
          </p:cNvPr>
          <p:cNvSpPr/>
          <p:nvPr/>
        </p:nvSpPr>
        <p:spPr>
          <a:xfrm>
            <a:off x="658368" y="3038856"/>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09829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29712"/>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Compare</a:t>
            </a:r>
            <a:r>
              <a:rPr sz="2000" b="0" i="0">
                <a:solidFill>
                  <a:srgbClr val="1C252B"/>
                </a:solidFill>
                <a:latin typeface="Segoe UI"/>
              </a:rPr>
              <a:t> full virtualization, paravirtualization and hardware-assisted virtualization by what each one does with an instruction the guest may not execute.</a:t>
            </a:r>
          </a:p>
        </p:txBody>
      </p:sp>
      <p:sp>
        <p:nvSpPr>
          <p:cNvPr id="14" name="!!ob2">
            <a:extLst>
              <a:ext uri="{C183D7F6-B498-43B3-948B-1728B52AA6E4}">
                <adec:decorative xmlns:adec="http://schemas.microsoft.com/office/drawing/2017/decorative" val="1"/>
              </a:ext>
            </a:extLst>
          </p:cNvPr>
          <p:cNvSpPr/>
          <p:nvPr/>
        </p:nvSpPr>
        <p:spPr>
          <a:xfrm>
            <a:off x="658368" y="3855720"/>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1515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846576"/>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Place</a:t>
            </a:r>
            <a:r>
              <a:rPr sz="2000" b="0" i="0">
                <a:solidFill>
                  <a:srgbClr val="1C252B"/>
                </a:solidFill>
                <a:latin typeface="Segoe UI"/>
              </a:rPr>
              <a:t> any given product on a two-axis taxonomy: which layer it virtualizes, and which technique it uses.</a:t>
            </a:r>
          </a:p>
        </p:txBody>
      </p:sp>
      <p:sp>
        <p:nvSpPr>
          <p:cNvPr id="17" name="!!ob3">
            <a:extLst>
              <a:ext uri="{C183D7F6-B498-43B3-948B-1728B52AA6E4}">
                <adec:decorative xmlns:adec="http://schemas.microsoft.com/office/drawing/2017/decorative" val="1"/>
              </a:ext>
            </a:extLst>
          </p:cNvPr>
          <p:cNvSpPr/>
          <p:nvPr/>
        </p:nvSpPr>
        <p:spPr>
          <a:xfrm>
            <a:off x="658368" y="4672584"/>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73202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663440"/>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Compute</a:t>
            </a:r>
            <a:r>
              <a:rPr sz="2000" b="0" i="0">
                <a:solidFill>
                  <a:srgbClr val="1C252B"/>
                </a:solidFill>
                <a:latin typeface="Segoe UI"/>
              </a:rPr>
              <a:t> virtualization overhead from measured timings, and </a:t>
            </a:r>
            <a:r>
              <a:rPr sz="2000" b="1" i="0">
                <a:solidFill>
                  <a:srgbClr val="1C252B"/>
                </a:solidFill>
                <a:latin typeface="Segoe UI"/>
              </a:rPr>
              <a:t>explain</a:t>
            </a:r>
            <a:r>
              <a:rPr sz="2000" b="0" i="0">
                <a:solidFill>
                  <a:srgbClr val="1C252B"/>
                </a:solidFill>
                <a:latin typeface="Segoe UI"/>
              </a:rPr>
              <a:t> why the figure differs by an order of magnitude between a CPU-bound and an I/O-bound workload.</a:t>
            </a:r>
          </a:p>
        </p:txBody>
      </p:sp>
      <p:sp>
        <p:nvSpPr>
          <p:cNvPr id="20" name="!!ob4">
            <a:extLst>
              <a:ext uri="{C183D7F6-B498-43B3-948B-1728B52AA6E4}">
                <adec:decorative xmlns:adec="http://schemas.microsoft.com/office/drawing/2017/decorative" val="1"/>
              </a:ext>
            </a:extLst>
          </p:cNvPr>
          <p:cNvSpPr/>
          <p:nvPr/>
        </p:nvSpPr>
        <p:spPr>
          <a:xfrm>
            <a:off x="658368" y="5489448"/>
            <a:ext cx="420624" cy="420624"/>
          </a:xfrm>
          <a:prstGeom prst="ellipse">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54888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480304"/>
            <a:ext cx="10216591"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A5276"/>
                </a:solidFill>
                <a:latin typeface="Segoe UI"/>
              </a:rPr>
              <a:t>Choose</a:t>
            </a:r>
            <a:r>
              <a:rPr sz="2000" b="0" i="0">
                <a:solidFill>
                  <a:srgbClr val="1C252B"/>
                </a:solidFill>
                <a:latin typeface="Segoe UI"/>
              </a:rPr>
              <a:t> an architecture for a stated requirement and defend the choice against the two strongest alternatives.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12     </a:t>
            </a:r>
            <a:fld id="{542F7651-E2EC-4A91-ADAF-5BEB045F1BDD}" type="slidenum">
              <a:rPr lang="en-GB" sz="1000">
                <a:solidFill>
                  <a:srgbClr val="8795A1"/>
                </a:solidFill>
                <a:latin typeface="Segoe UI"/>
              </a:rPr>
              <a:t>4</a:t>
            </a:fld>
          </a:p>
        </p:txBody>
      </p:sp>
      <p:sp>
        <p:nvSpPr>
          <p:cNvPr id="7" name="!!term-Type-1 hypervi">
            <a:extLst>
              <a:ext uri="{C183D7F6-B498-43B3-948B-1728B52AA6E4}">
                <adec:decorative xmlns:adec="http://schemas.microsoft.com/office/drawing/2017/decorative" val="1"/>
              </a:ext>
            </a:extLst>
          </p:cNvPr>
          <p:cNvSpPr/>
          <p:nvPr/>
        </p:nvSpPr>
        <p:spPr>
          <a:xfrm>
            <a:off x="658368" y="1847088"/>
            <a:ext cx="20803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Type-1 hyperv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Type-1 hypervi"/>
          <p:cNvSpPr txBox="1"/>
          <p:nvPr/>
        </p:nvSpPr>
        <p:spPr>
          <a:xfrm>
            <a:off x="950976" y="1962911"/>
            <a:ext cx="189751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Type-1 hypervisor</a:t>
            </a:r>
          </a:p>
        </p:txBody>
      </p:sp>
      <p:sp>
        <p:nvSpPr>
          <p:cNvPr id="10" name="!!term-Type-2 hypervi">
            <a:extLst>
              <a:ext uri="{C183D7F6-B498-43B3-948B-1728B52AA6E4}">
                <adec:decorative xmlns:adec="http://schemas.microsoft.com/office/drawing/2017/decorative" val="1"/>
              </a:ext>
            </a:extLst>
          </p:cNvPr>
          <p:cNvSpPr/>
          <p:nvPr/>
        </p:nvSpPr>
        <p:spPr>
          <a:xfrm>
            <a:off x="2885066" y="1847088"/>
            <a:ext cx="20803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ype-2 hypervi">
            <a:extLst>
              <a:ext uri="{C183D7F6-B498-43B3-948B-1728B52AA6E4}">
                <adec:decorative xmlns:adec="http://schemas.microsoft.com/office/drawing/2017/decorative" val="1"/>
              </a:ext>
            </a:extLst>
          </p:cNvPr>
          <p:cNvSpPr/>
          <p:nvPr/>
        </p:nvSpPr>
        <p:spPr>
          <a:xfrm>
            <a:off x="301308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ype-2 hypervi"/>
          <p:cNvSpPr txBox="1"/>
          <p:nvPr/>
        </p:nvSpPr>
        <p:spPr>
          <a:xfrm>
            <a:off x="3177674" y="1962911"/>
            <a:ext cx="189751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Type-2 hypervisor</a:t>
            </a:r>
          </a:p>
        </p:txBody>
      </p:sp>
      <p:sp>
        <p:nvSpPr>
          <p:cNvPr id="13" name="!!term-bare-metal">
            <a:extLst>
              <a:ext uri="{C183D7F6-B498-43B3-948B-1728B52AA6E4}">
                <adec:decorative xmlns:adec="http://schemas.microsoft.com/office/drawing/2017/decorative" val="1"/>
              </a:ext>
            </a:extLst>
          </p:cNvPr>
          <p:cNvSpPr/>
          <p:nvPr/>
        </p:nvSpPr>
        <p:spPr>
          <a:xfrm>
            <a:off x="5111764" y="1847088"/>
            <a:ext cx="14424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bare-metal">
            <a:extLst>
              <a:ext uri="{C183D7F6-B498-43B3-948B-1728B52AA6E4}">
                <adec:decorative xmlns:adec="http://schemas.microsoft.com/office/drawing/2017/decorative" val="1"/>
              </a:ext>
            </a:extLst>
          </p:cNvPr>
          <p:cNvSpPr/>
          <p:nvPr/>
        </p:nvSpPr>
        <p:spPr>
          <a:xfrm>
            <a:off x="523978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bare-metal"/>
          <p:cNvSpPr txBox="1"/>
          <p:nvPr/>
        </p:nvSpPr>
        <p:spPr>
          <a:xfrm>
            <a:off x="5404372" y="1962911"/>
            <a:ext cx="1259520"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bare-metal</a:t>
            </a:r>
          </a:p>
        </p:txBody>
      </p:sp>
      <p:sp>
        <p:nvSpPr>
          <p:cNvPr id="16" name="!!term-hosted">
            <a:extLst>
              <a:ext uri="{C183D7F6-B498-43B3-948B-1728B52AA6E4}">
                <adec:decorative xmlns:adec="http://schemas.microsoft.com/office/drawing/2017/decorative" val="1"/>
              </a:ext>
            </a:extLst>
          </p:cNvPr>
          <p:cNvSpPr/>
          <p:nvPr/>
        </p:nvSpPr>
        <p:spPr>
          <a:xfrm>
            <a:off x="6700468" y="1847088"/>
            <a:ext cx="10662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hosted">
            <a:extLst>
              <a:ext uri="{C183D7F6-B498-43B3-948B-1728B52AA6E4}">
                <adec:decorative xmlns:adec="http://schemas.microsoft.com/office/drawing/2017/decorative" val="1"/>
              </a:ext>
            </a:extLst>
          </p:cNvPr>
          <p:cNvSpPr/>
          <p:nvPr/>
        </p:nvSpPr>
        <p:spPr>
          <a:xfrm>
            <a:off x="68284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hosted"/>
          <p:cNvSpPr txBox="1"/>
          <p:nvPr/>
        </p:nvSpPr>
        <p:spPr>
          <a:xfrm>
            <a:off x="6993076" y="1962911"/>
            <a:ext cx="88339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hosted</a:t>
            </a:r>
          </a:p>
        </p:txBody>
      </p:sp>
      <p:sp>
        <p:nvSpPr>
          <p:cNvPr id="19" name="!!term-full virtualiz">
            <a:extLst>
              <a:ext uri="{C183D7F6-B498-43B3-948B-1728B52AA6E4}">
                <adec:decorative xmlns:adec="http://schemas.microsoft.com/office/drawing/2017/decorative" val="1"/>
              </a:ext>
            </a:extLst>
          </p:cNvPr>
          <p:cNvSpPr/>
          <p:nvPr/>
        </p:nvSpPr>
        <p:spPr>
          <a:xfrm>
            <a:off x="7913046" y="1847088"/>
            <a:ext cx="195161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full virtualiz">
            <a:extLst>
              <a:ext uri="{C183D7F6-B498-43B3-948B-1728B52AA6E4}">
                <adec:decorative xmlns:adec="http://schemas.microsoft.com/office/drawing/2017/decorative" val="1"/>
              </a:ext>
            </a:extLst>
          </p:cNvPr>
          <p:cNvSpPr/>
          <p:nvPr/>
        </p:nvSpPr>
        <p:spPr>
          <a:xfrm>
            <a:off x="804106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full virtualiz"/>
          <p:cNvSpPr txBox="1"/>
          <p:nvPr/>
        </p:nvSpPr>
        <p:spPr>
          <a:xfrm>
            <a:off x="8205654" y="1962911"/>
            <a:ext cx="1768738"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full virtualization</a:t>
            </a:r>
          </a:p>
        </p:txBody>
      </p:sp>
      <p:sp>
        <p:nvSpPr>
          <p:cNvPr id="22" name="!!term-binary transla">
            <a:extLst>
              <a:ext uri="{C183D7F6-B498-43B3-948B-1728B52AA6E4}">
                <adec:decorative xmlns:adec="http://schemas.microsoft.com/office/drawing/2017/decorative" val="1"/>
              </a:ext>
            </a:extLst>
          </p:cNvPr>
          <p:cNvSpPr/>
          <p:nvPr/>
        </p:nvSpPr>
        <p:spPr>
          <a:xfrm>
            <a:off x="658368" y="2468880"/>
            <a:ext cx="20310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binary transla">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binary transla"/>
          <p:cNvSpPr txBox="1"/>
          <p:nvPr/>
        </p:nvSpPr>
        <p:spPr>
          <a:xfrm>
            <a:off x="950976" y="2584704"/>
            <a:ext cx="1848156"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binary translation</a:t>
            </a:r>
          </a:p>
        </p:txBody>
      </p:sp>
      <p:sp>
        <p:nvSpPr>
          <p:cNvPr id="25" name="!!term-paravirtualiza">
            <a:extLst>
              <a:ext uri="{C183D7F6-B498-43B3-948B-1728B52AA6E4}">
                <adec:decorative xmlns:adec="http://schemas.microsoft.com/office/drawing/2017/decorative" val="1"/>
              </a:ext>
            </a:extLst>
          </p:cNvPr>
          <p:cNvSpPr/>
          <p:nvPr/>
        </p:nvSpPr>
        <p:spPr>
          <a:xfrm>
            <a:off x="2835708" y="2468880"/>
            <a:ext cx="201727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paravirtualiza">
            <a:extLst>
              <a:ext uri="{C183D7F6-B498-43B3-948B-1728B52AA6E4}">
                <adec:decorative xmlns:adec="http://schemas.microsoft.com/office/drawing/2017/decorative" val="1"/>
              </a:ext>
            </a:extLst>
          </p:cNvPr>
          <p:cNvSpPr/>
          <p:nvPr/>
        </p:nvSpPr>
        <p:spPr>
          <a:xfrm>
            <a:off x="296372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paravirtualiza"/>
          <p:cNvSpPr txBox="1"/>
          <p:nvPr/>
        </p:nvSpPr>
        <p:spPr>
          <a:xfrm>
            <a:off x="3128316" y="2584704"/>
            <a:ext cx="183439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paravirtualization</a:t>
            </a:r>
          </a:p>
        </p:txBody>
      </p:sp>
      <p:sp>
        <p:nvSpPr>
          <p:cNvPr id="28" name="!!term-hypercall">
            <a:extLst>
              <a:ext uri="{C183D7F6-B498-43B3-948B-1728B52AA6E4}">
                <adec:decorative xmlns:adec="http://schemas.microsoft.com/office/drawing/2017/decorative" val="1"/>
              </a:ext>
            </a:extLst>
          </p:cNvPr>
          <p:cNvSpPr/>
          <p:nvPr/>
        </p:nvSpPr>
        <p:spPr>
          <a:xfrm>
            <a:off x="4999291" y="2468880"/>
            <a:ext cx="126046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hypercall">
            <a:extLst>
              <a:ext uri="{C183D7F6-B498-43B3-948B-1728B52AA6E4}">
                <adec:decorative xmlns:adec="http://schemas.microsoft.com/office/drawing/2017/decorative" val="1"/>
              </a:ext>
            </a:extLst>
          </p:cNvPr>
          <p:cNvSpPr/>
          <p:nvPr/>
        </p:nvSpPr>
        <p:spPr>
          <a:xfrm>
            <a:off x="512730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hypercall"/>
          <p:cNvSpPr txBox="1"/>
          <p:nvPr/>
        </p:nvSpPr>
        <p:spPr>
          <a:xfrm>
            <a:off x="5291899" y="2584704"/>
            <a:ext cx="107758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hypercall</a:t>
            </a:r>
          </a:p>
        </p:txBody>
      </p:sp>
      <p:sp>
        <p:nvSpPr>
          <p:cNvPr id="31" name="!!term-hardware-assis">
            <a:extLst>
              <a:ext uri="{C183D7F6-B498-43B3-948B-1728B52AA6E4}">
                <adec:decorative xmlns:adec="http://schemas.microsoft.com/office/drawing/2017/decorative" val="1"/>
              </a:ext>
            </a:extLst>
          </p:cNvPr>
          <p:cNvSpPr/>
          <p:nvPr/>
        </p:nvSpPr>
        <p:spPr>
          <a:xfrm>
            <a:off x="6406059" y="2468880"/>
            <a:ext cx="332483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hardware-assis">
            <a:extLst>
              <a:ext uri="{C183D7F6-B498-43B3-948B-1728B52AA6E4}">
                <adec:decorative xmlns:adec="http://schemas.microsoft.com/office/drawing/2017/decorative" val="1"/>
              </a:ext>
            </a:extLst>
          </p:cNvPr>
          <p:cNvSpPr/>
          <p:nvPr/>
        </p:nvSpPr>
        <p:spPr>
          <a:xfrm>
            <a:off x="653407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hardware-assis"/>
          <p:cNvSpPr txBox="1"/>
          <p:nvPr/>
        </p:nvSpPr>
        <p:spPr>
          <a:xfrm>
            <a:off x="6698667" y="2584704"/>
            <a:ext cx="3141959"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hardware-assisted virtualization</a:t>
            </a:r>
          </a:p>
        </p:txBody>
      </p:sp>
      <p:sp>
        <p:nvSpPr>
          <p:cNvPr id="34" name="!!term-guest addition">
            <a:extLst>
              <a:ext uri="{C183D7F6-B498-43B3-948B-1728B52AA6E4}">
                <adec:decorative xmlns:adec="http://schemas.microsoft.com/office/drawing/2017/decorative" val="1"/>
              </a:ext>
            </a:extLst>
          </p:cNvPr>
          <p:cNvSpPr/>
          <p:nvPr/>
        </p:nvSpPr>
        <p:spPr>
          <a:xfrm>
            <a:off x="658368" y="3090672"/>
            <a:ext cx="18485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guest addition">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guest addition"/>
          <p:cNvSpPr txBox="1"/>
          <p:nvPr/>
        </p:nvSpPr>
        <p:spPr>
          <a:xfrm>
            <a:off x="950976" y="3206496"/>
            <a:ext cx="166563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guest additions</a:t>
            </a:r>
          </a:p>
        </p:txBody>
      </p:sp>
      <p:sp>
        <p:nvSpPr>
          <p:cNvPr id="37" name="!!term-PV driver">
            <a:extLst>
              <a:ext uri="{C183D7F6-B498-43B3-948B-1728B52AA6E4}">
                <adec:decorative xmlns:adec="http://schemas.microsoft.com/office/drawing/2017/decorative" val="1"/>
              </a:ext>
            </a:extLst>
          </p:cNvPr>
          <p:cNvSpPr/>
          <p:nvPr/>
        </p:nvSpPr>
        <p:spPr>
          <a:xfrm>
            <a:off x="2653186" y="3090672"/>
            <a:ext cx="126463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PV driver">
            <a:extLst>
              <a:ext uri="{C183D7F6-B498-43B3-948B-1728B52AA6E4}">
                <adec:decorative xmlns:adec="http://schemas.microsoft.com/office/drawing/2017/decorative" val="1"/>
              </a:ext>
            </a:extLst>
          </p:cNvPr>
          <p:cNvSpPr/>
          <p:nvPr/>
        </p:nvSpPr>
        <p:spPr>
          <a:xfrm>
            <a:off x="278120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PV driver"/>
          <p:cNvSpPr txBox="1"/>
          <p:nvPr/>
        </p:nvSpPr>
        <p:spPr>
          <a:xfrm>
            <a:off x="2945794" y="3206496"/>
            <a:ext cx="1081752"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PV driver</a:t>
            </a:r>
          </a:p>
        </p:txBody>
      </p:sp>
      <p:sp>
        <p:nvSpPr>
          <p:cNvPr id="40" name="!!term-OS-level virtu">
            <a:extLst>
              <a:ext uri="{C183D7F6-B498-43B3-948B-1728B52AA6E4}">
                <adec:decorative xmlns:adec="http://schemas.microsoft.com/office/drawing/2017/decorative" val="1"/>
              </a:ext>
            </a:extLst>
          </p:cNvPr>
          <p:cNvSpPr/>
          <p:nvPr/>
        </p:nvSpPr>
        <p:spPr>
          <a:xfrm>
            <a:off x="4064122" y="3090672"/>
            <a:ext cx="24347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OS-level virtu">
            <a:extLst>
              <a:ext uri="{C183D7F6-B498-43B3-948B-1728B52AA6E4}">
                <adec:decorative xmlns:adec="http://schemas.microsoft.com/office/drawing/2017/decorative" val="1"/>
              </a:ext>
            </a:extLst>
          </p:cNvPr>
          <p:cNvSpPr/>
          <p:nvPr/>
        </p:nvSpPr>
        <p:spPr>
          <a:xfrm>
            <a:off x="419213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OS-level virtu"/>
          <p:cNvSpPr txBox="1"/>
          <p:nvPr/>
        </p:nvSpPr>
        <p:spPr>
          <a:xfrm>
            <a:off x="4356730" y="3206496"/>
            <a:ext cx="2251851"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OS-level virtualization</a:t>
            </a:r>
          </a:p>
        </p:txBody>
      </p:sp>
      <p:sp>
        <p:nvSpPr>
          <p:cNvPr id="43" name="!!term-virtualization">
            <a:extLst>
              <a:ext uri="{C183D7F6-B498-43B3-948B-1728B52AA6E4}">
                <adec:decorative xmlns:adec="http://schemas.microsoft.com/office/drawing/2017/decorative" val="1"/>
              </a:ext>
            </a:extLst>
          </p:cNvPr>
          <p:cNvSpPr/>
          <p:nvPr/>
        </p:nvSpPr>
        <p:spPr>
          <a:xfrm>
            <a:off x="6645158" y="3090672"/>
            <a:ext cx="252364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virtualization">
            <a:extLst>
              <a:ext uri="{C183D7F6-B498-43B3-948B-1728B52AA6E4}">
                <adec:decorative xmlns:adec="http://schemas.microsoft.com/office/drawing/2017/decorative" val="1"/>
              </a:ext>
            </a:extLst>
          </p:cNvPr>
          <p:cNvSpPr/>
          <p:nvPr/>
        </p:nvSpPr>
        <p:spPr>
          <a:xfrm>
            <a:off x="677317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virtualization"/>
          <p:cNvSpPr txBox="1"/>
          <p:nvPr/>
        </p:nvSpPr>
        <p:spPr>
          <a:xfrm>
            <a:off x="6937766" y="3206496"/>
            <a:ext cx="2340767"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virtualization overhead</a:t>
            </a:r>
          </a:p>
        </p:txBody>
      </p:sp>
      <p:sp>
        <p:nvSpPr>
          <p:cNvPr id="46" name="!!term-attack surface">
            <a:extLst>
              <a:ext uri="{C183D7F6-B498-43B3-948B-1728B52AA6E4}">
                <adec:decorative xmlns:adec="http://schemas.microsoft.com/office/drawing/2017/decorative" val="1"/>
              </a:ext>
            </a:extLst>
          </p:cNvPr>
          <p:cNvSpPr/>
          <p:nvPr/>
        </p:nvSpPr>
        <p:spPr>
          <a:xfrm>
            <a:off x="9315110" y="3090672"/>
            <a:ext cx="16978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attack surface">
            <a:extLst>
              <a:ext uri="{C183D7F6-B498-43B3-948B-1728B52AA6E4}">
                <adec:decorative xmlns:adec="http://schemas.microsoft.com/office/drawing/2017/decorative" val="1"/>
              </a:ext>
            </a:extLst>
          </p:cNvPr>
          <p:cNvSpPr/>
          <p:nvPr/>
        </p:nvSpPr>
        <p:spPr>
          <a:xfrm>
            <a:off x="944312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attack surface"/>
          <p:cNvSpPr txBox="1"/>
          <p:nvPr/>
        </p:nvSpPr>
        <p:spPr>
          <a:xfrm>
            <a:off x="9607718" y="3206496"/>
            <a:ext cx="1515015"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attack surface</a:t>
            </a:r>
          </a:p>
        </p:txBody>
      </p:sp>
      <p:sp>
        <p:nvSpPr>
          <p:cNvPr id="49" name="!!term-trusted comput">
            <a:extLst>
              <a:ext uri="{C183D7F6-B498-43B3-948B-1728B52AA6E4}">
                <adec:decorative xmlns:adec="http://schemas.microsoft.com/office/drawing/2017/decorative" val="1"/>
              </a:ext>
            </a:extLst>
          </p:cNvPr>
          <p:cNvSpPr/>
          <p:nvPr/>
        </p:nvSpPr>
        <p:spPr>
          <a:xfrm>
            <a:off x="658368" y="3712464"/>
            <a:ext cx="26190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trusted comput">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trusted comput"/>
          <p:cNvSpPr txBox="1"/>
          <p:nvPr/>
        </p:nvSpPr>
        <p:spPr>
          <a:xfrm>
            <a:off x="950976" y="3828288"/>
            <a:ext cx="2436174" cy="310896"/>
          </a:xfrm>
          <a:prstGeom prst="rect">
            <a:avLst/>
          </a:prstGeom>
          <a:noFill/>
        </p:spPr>
        <p:txBody>
          <a:bodyPr wrap="none" anchor="t" lIns="0" rIns="0" tIns="0" bIns="0">
            <a:noAutofit/>
          </a:bodyPr>
          <a:lstStyle/>
          <a:p>
            <a:pPr algn="l">
              <a:lnSpc>
                <a:spcPct val="100000"/>
              </a:lnSpc>
              <a:spcBef>
                <a:spcPts val="0"/>
              </a:spcBef>
              <a:spcAft>
                <a:spcPts val="0"/>
              </a:spcAft>
            </a:pPr>
            <a:r>
              <a:rPr sz="1600" b="0" i="0">
                <a:solidFill>
                  <a:srgbClr val="1C252B"/>
                </a:solidFill>
                <a:latin typeface="Segoe UI"/>
              </a:rPr>
              <a:t>trusted computing base</a:t>
            </a:r>
          </a:p>
        </p:txBody>
      </p:sp>
      <p:sp>
        <p:nvSpPr>
          <p:cNvPr id="52"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5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12–19     </a:t>
            </a:r>
            <a:fld id="{63D6B2CA-1D0E-4353-B564-7FEBB474D162}" type="slidenum">
              <a:rPr lang="en-GB" sz="1000">
                <a:solidFill>
                  <a:srgbClr val="8795A1"/>
                </a:solidFill>
                <a:latin typeface="Segoe UI"/>
              </a:rPr>
              <a:t>5</a:t>
            </a:fld>
          </a:p>
        </p:txBody>
      </p:sp>
      <p:sp>
        <p:nvSpPr>
          <p:cNvPr id="7" name="!!ag0" descr="Go to section 2.1 Two Places to Stand">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Two Places to Stand</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12  ›</a:t>
            </a:r>
          </a:p>
        </p:txBody>
      </p:sp>
      <p:sp>
        <p:nvSpPr>
          <p:cNvPr id="12" name="!!ag1" descr="Go to section 2.2 Three Ways to Keep the Promise">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Three Ways to Keep the Promise</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13  ›</a:t>
            </a:r>
          </a:p>
        </p:txBody>
      </p:sp>
      <p:sp>
        <p:nvSpPr>
          <p:cNvPr id="17" name="!!ag2" descr="Go to section 2.3 Where Containers Si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Containers Sit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  ›</a:t>
            </a:r>
          </a:p>
        </p:txBody>
      </p:sp>
      <p:sp>
        <p:nvSpPr>
          <p:cNvPr id="22" name="!!ag3" descr="Go to section 2.4 Choosing">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A5276"/>
                </a:solidFill>
                <a:latin typeface="Segoe UI Semibold"/>
              </a:rPr>
              <a:t>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16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Two Places to Stand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1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2.1   Two Places to Stand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Three Ways to Keep the Promise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Where Containers Sit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Choosing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§2.1     </a:t>
            </a:r>
            <a:fld id="{5A1FCB77-3877-40B5-B0C5-9D99D2E2DC51}" type="slidenum">
              <a:rPr lang="en-GB" sz="1000">
                <a:solidFill>
                  <a:srgbClr val="8795A1"/>
                </a:solidFill>
                <a:latin typeface="Segoe UI"/>
              </a:rPr>
              <a:t>6</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Type-1 and Type-2 Hypervisors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12     </a:t>
            </a:r>
            <a:fld id="{3E1BA75B-FF55-4CE8-A151-1406971369D3}"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111"/>
          </a:xfrm>
          <a:prstGeom prst="roundRect">
            <a:avLst>
              <a:gd name="adj" fmla="val 224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11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1" i="0">
                <a:solidFill>
                  <a:srgbClr val="1A5276"/>
                </a:solidFill>
                <a:latin typeface="Segoe UI"/>
              </a:rPr>
              <a:t>Type-1</a:t>
            </a:r>
            <a:r>
              <a:rPr sz="2000" b="0" i="0">
                <a:solidFill>
                  <a:srgbClr val="1C252B"/>
                </a:solidFill>
                <a:latin typeface="Segoe UI"/>
              </a:rPr>
              <a:t> or </a:t>
            </a:r>
            <a:r>
              <a:rPr sz="2000" b="1" i="0">
                <a:solidFill>
                  <a:srgbClr val="1A5276"/>
                </a:solidFill>
                <a:latin typeface="Segoe UI"/>
              </a:rPr>
              <a:t>bare-metal</a:t>
            </a:r>
            <a:r>
              <a:rPr sz="2000" b="0" i="0">
                <a:solidFill>
                  <a:srgbClr val="1C252B"/>
                </a:solidFill>
                <a:latin typeface="Segoe UI"/>
              </a:rPr>
              <a:t> hypervisor runs directly on the hardware. It </a:t>
            </a:r>
            <a:r>
              <a:rPr sz="2000" b="0" i="1">
                <a:solidFill>
                  <a:srgbClr val="1C252B"/>
                </a:solidFill>
                <a:latin typeface="Segoe UI"/>
              </a:rPr>
              <a:t>is</a:t>
            </a:r>
            <a:r>
              <a:rPr sz="2000" b="0" i="0">
                <a:solidFill>
                  <a:srgbClr val="1C252B"/>
                </a:solidFill>
                <a:latin typeface="Segoe UI"/>
              </a:rPr>
              <a:t> the operating system of the machine, in the sense that nothing else mediates its access to the processor, memory and devices. VMware ESXi, Microsoft Hyper-V and Xen are Type-1.</a:t>
            </a:r>
          </a:p>
        </p:txBody>
      </p:sp>
      <p:sp>
        <p:nvSpPr>
          <p:cNvPr id="10" name="body-1"/>
          <p:cNvSpPr txBox="1"/>
          <p:nvPr/>
        </p:nvSpPr>
        <p:spPr>
          <a:xfrm>
            <a:off x="1060704" y="3138931"/>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a:t>
            </a:r>
            <a:r>
              <a:rPr sz="2000" b="1" i="0">
                <a:solidFill>
                  <a:srgbClr val="1A5276"/>
                </a:solidFill>
                <a:latin typeface="Segoe UI"/>
              </a:rPr>
              <a:t>Type-2</a:t>
            </a:r>
            <a:r>
              <a:rPr sz="2000" b="0" i="0">
                <a:solidFill>
                  <a:srgbClr val="1C252B"/>
                </a:solidFill>
                <a:latin typeface="Segoe UI"/>
              </a:rPr>
              <a:t> or </a:t>
            </a:r>
            <a:r>
              <a:rPr sz="2000" b="1" i="0">
                <a:solidFill>
                  <a:srgbClr val="1A5276"/>
                </a:solidFill>
                <a:latin typeface="Segoe UI"/>
              </a:rPr>
              <a:t>hosted</a:t>
            </a:r>
            <a:r>
              <a:rPr sz="2000" b="0" i="0">
                <a:solidFill>
                  <a:srgbClr val="1C252B"/>
                </a:solidFill>
                <a:latin typeface="Segoe UI"/>
              </a:rPr>
              <a:t> hypervisor runs as a program on an ordinary operating system, alongside the browser and the editor. It asks that operating system for memory and for device access, like any other application. VMware Workstation, Oracle VirtualBox and Parallels Desktop are Type-2.</a:t>
            </a:r>
          </a:p>
        </p:txBody>
      </p:sp>
      <p:sp>
        <p:nvSpPr>
          <p:cNvPr id="11" name="body-2"/>
          <p:cNvSpPr txBox="1"/>
          <p:nvPr/>
        </p:nvSpPr>
        <p:spPr>
          <a:xfrm>
            <a:off x="1060704" y="4546599"/>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test is not “does a general-purpose operating system exist on this machine?” — ESXi has a management console and Hyper-V has a full Windows parent partition. The test is </a:t>
            </a:r>
            <a:r>
              <a:rPr sz="2000" b="0" i="1">
                <a:solidFill>
                  <a:srgbClr val="1C252B"/>
                </a:solidFill>
                <a:latin typeface="Segoe UI"/>
              </a:rPr>
              <a:t>whether the hypervisor needs that operating system’s permission to touch the hardware</a:t>
            </a:r>
            <a:r>
              <a:rPr sz="2000" b="0" i="0">
                <a:solidFill>
                  <a:srgbClr val="1C252B"/>
                </a:solidFill>
                <a:latin typeface="Segoe UI"/>
              </a:rPr>
              <a: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only two places a hypervisor can stand</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12     </a:t>
            </a:r>
            <a:fld id="{A89E8ED7-30E7-444A-81CB-868123B671F5}" type="slidenum">
              <a:rPr lang="en-GB" sz="1000">
                <a:solidFill>
                  <a:srgbClr val="8795A1"/>
                </a:solidFill>
                <a:latin typeface="Segoe UI"/>
              </a:rPr>
              <a:t>8</a:t>
            </a:fld>
          </a:p>
        </p:txBody>
      </p:sp>
      <p:pic>
        <p:nvPicPr>
          <p:cNvPr id="6" name="!!figure" descr="Figure 2.1. The only two places a hypervisor can stand. The right-hand stack is easier to install and slower at everything, because every device access the guest makes is translated twic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16429" y="1737360"/>
            <a:ext cx="8358835"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right-hand stack is easier to install and slower at everything, because every device access the guest makes is translated twice.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KVM Is the Case That Breaks the Taxonomy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§2.1  ·  Handout p. 12     </a:t>
            </a:r>
            <a:fld id="{31FEB3CE-AB86-4686-AED1-F8A8DBA62ECA}"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1345"/>
          </a:xfrm>
          <a:prstGeom prst="roundRect">
            <a:avLst>
              <a:gd name="adj" fmla="val 217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134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Ask five administrators whether KVM is Type-1 or Type-2 and you will get both answers with equal confidence. Both are defensible, which tells you the question is poorly posed rather than hard.</a:t>
            </a:r>
          </a:p>
        </p:txBody>
      </p:sp>
      <p:sp>
        <p:nvSpPr>
          <p:cNvPr id="10" name="body-1"/>
          <p:cNvSpPr txBox="1"/>
          <p:nvPr/>
        </p:nvSpPr>
        <p:spPr>
          <a:xfrm>
            <a:off x="1060704" y="2705887"/>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KVM is a module loaded into the Linux kernel. Once loaded, Linux </a:t>
            </a:r>
            <a:r>
              <a:rPr sz="1700" b="0" i="1">
                <a:solidFill>
                  <a:srgbClr val="1C252B"/>
                </a:solidFill>
                <a:latin typeface="Segoe UI"/>
              </a:rPr>
              <a:t>is</a:t>
            </a:r>
            <a:r>
              <a:rPr sz="1700" b="0" i="0">
                <a:solidFill>
                  <a:srgbClr val="1C252B"/>
                </a:solidFill>
                <a:latin typeface="Segoe UI"/>
              </a:rPr>
              <a:t> the hypervisor: it schedules virtual CPUs with the same scheduler it uses for processes, and reaches the hardware with no layer beneath it. By the test above — does it need another operating system’s permission? — it is Type-1.</a:t>
            </a:r>
          </a:p>
        </p:txBody>
      </p:sp>
      <p:sp>
        <p:nvSpPr>
          <p:cNvPr id="11" name="body-2"/>
          <p:cNvSpPr txBox="1"/>
          <p:nvPr/>
        </p:nvSpPr>
        <p:spPr>
          <a:xfrm>
            <a:off x="1060704" y="3632961"/>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But Linux was a general-purpose operating system first and acquired this role second; it runs your shell and your web server on the same kernel. By the informal test most people actually apply — is this a dedicated hypervisor product? — it looks Type-2.</a:t>
            </a:r>
          </a:p>
        </p:txBody>
      </p:sp>
      <p:sp>
        <p:nvSpPr>
          <p:cNvPr id="12" name="body-3"/>
          <p:cNvSpPr txBox="1"/>
          <p:nvPr/>
        </p:nvSpPr>
        <p:spPr>
          <a:xfrm>
            <a:off x="1060704" y="4560036"/>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resolution is to stop asking. The questions that have operational answers are: </a:t>
            </a:r>
            <a:r>
              <a:rPr sz="1700" b="0" i="1">
                <a:solidFill>
                  <a:srgbClr val="1C252B"/>
                </a:solidFill>
                <a:latin typeface="Segoe UI"/>
              </a:rPr>
              <a:t>how large is the trusted computing base?</a:t>
            </a:r>
            <a:r>
              <a:rPr sz="1700" b="0" i="0">
                <a:solidFill>
                  <a:srgbClr val="1C252B"/>
                </a:solidFill>
                <a:latin typeface="Segoe UI"/>
              </a:rPr>
              <a:t> (ESXi: roughly 150 MB; Linux with KVM: a kernel of several hundred megabytes and every driver in it), and </a:t>
            </a:r>
            <a:r>
              <a:rPr sz="1700" b="0" i="1">
                <a:solidFill>
                  <a:srgbClr val="1C252B"/>
                </a:solidFill>
                <a:latin typeface="Segoe UI"/>
              </a:rPr>
              <a:t>what else runs on this host?</a:t>
            </a:r>
            <a:r>
              <a:rPr sz="1700" b="0" i="0">
                <a:solidFill>
                  <a:srgbClr val="1C252B"/>
                </a:solidFill>
                <a:latin typeface="Segoe UI"/>
              </a:rPr>
              <a:t> Those two determine the security and the performance arguments, and the Roman numeral determines neither.</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Three Ways to Keep the Promise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Two Places to Stand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2.2   Three Ways to Keep the Promise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2.3   Where Containers Sit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Choosing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     </a:t>
            </a:r>
            <a:fld id="{06F6454C-DED7-402F-B02C-B533497B4042}" type="slidenum">
              <a:rPr lang="en-GB" sz="1000">
                <a:solidFill>
                  <a:srgbClr val="8795A1"/>
                </a:solidFill>
                <a:latin typeface="Segoe UI"/>
              </a:rPr>
              <a:t>10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Ways to Keep the Promise</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7D7307C9-C680-4C77-8C0D-C203CBEF3812}" type="slidenum">
              <a:rPr lang="en-GB" sz="1000">
                <a:solidFill>
                  <a:srgbClr val="8795A1"/>
                </a:solidFill>
                <a:latin typeface="Segoe UI"/>
              </a:rPr>
              <a:t>11</a:t>
            </a:fld>
          </a:p>
        </p:txBody>
      </p:sp>
      <p:graphicFrame>
        <p:nvGraphicFramePr>
          <p:cNvPr id="7" name="!!table"/>
          <p:cNvGraphicFramePr>
            <a:graphicFrameLocks noGrp="1"/>
          </p:cNvGraphicFramePr>
          <p:nvPr/>
        </p:nvGraphicFramePr>
        <p:xfrm>
          <a:off x="658368" y="1737360"/>
          <a:ext cx="10874958" cy="4014216"/>
        </p:xfrm>
        <a:graphic>
          <a:graphicData uri="http://schemas.openxmlformats.org/drawingml/2006/table">
            <a:tbl>
              <a:tblPr firstRow="0" bandRow="0" firstCol="0" lastRow="0" lastCol="0" bandCol="0">
                <a:tableStyleId>{2D5ABB26-0587-4C30-8999-92F81FD0307C}</a:tableStyleId>
              </a:tblPr>
              <a:tblGrid>
                <a:gridCol w="2589276"/>
                <a:gridCol w="3403048"/>
                <a:gridCol w="2367338"/>
                <a:gridCol w="2515296"/>
              </a:tblGrid>
              <a:tr h="603504">
                <a:tc>
                  <a:txBody>
                    <a:bodyPr wrap="square"/>
                    <a:lstStyle/>
                    <a:p>
                      <a:pPr algn="l"/>
                      <a:r>
                        <a:rPr sz="1500" b="1" i="0">
                          <a:solidFill>
                            <a:srgbClr val="1A5276"/>
                          </a:solidFill>
                          <a:latin typeface="Segoe UI"/>
                        </a:rPr>
                        <a:t>Technique</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What happens to a privileged instruction</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Guest changes</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500" b="1" i="0">
                          <a:solidFill>
                            <a:srgbClr val="1A5276"/>
                          </a:solidFill>
                          <a:latin typeface="Segoe UI"/>
                        </a:rPr>
                        <a:t>Cost</a:t>
                      </a:r>
                      <a:endParaRPr sz="15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1060704">
                <a:tc>
                  <a:txBody>
                    <a:bodyPr wrap="square"/>
                    <a:lstStyle/>
                    <a:p>
                      <a:pPr algn="l"/>
                      <a:r>
                        <a:rPr sz="1500" b="1" i="0">
                          <a:solidFill>
                            <a:srgbClr val="1A5276"/>
                          </a:solidFill>
                          <a:latin typeface="Segoe UI"/>
                        </a:rPr>
                        <a:t>Full virtualization</a:t>
                      </a:r>
                      <a:r>
                        <a:rPr sz="1500" b="0" i="0">
                          <a:solidFill>
                            <a:srgbClr val="1C252B"/>
                          </a:solidFill>
                          <a:latin typeface="Segoe UI"/>
                        </a:rPr>
                        <a:t> (binary translation)</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The hypervisor scans the guest’s kernel code before it runs and rewrites the dangerous instructions into safe calls into itself</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1" i="0">
                          <a:solidFill>
                            <a:srgbClr val="1C252B"/>
                          </a:solidFill>
                          <a:latin typeface="Segoe UI"/>
                        </a:rPr>
                        <a:t>None.</a:t>
                      </a:r>
                      <a:r>
                        <a:rPr sz="1500" b="0" i="0">
                          <a:solidFill>
                            <a:srgbClr val="1C252B"/>
                          </a:solidFill>
                          <a:latin typeface="Segoe UI"/>
                        </a:rPr>
                        <a:t> The guest is unaware</a:t>
                      </a:r>
                      <a:endParaRPr sz="15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500" b="0" i="0">
                          <a:solidFill>
                            <a:srgbClr val="1C252B"/>
                          </a:solidFill>
                          <a:latin typeface="Segoe UI"/>
                        </a:rPr>
                        <a:t>Translation work, a cache of translated blocks, and great complexity in the hypervisor</a:t>
                      </a:r>
                      <a:endParaRPr sz="1500"/>
                    </a:p>
                  </a:txBody>
                  <a:tcPr marL="109728" marR="109728" marT="64008" marB="45720" anchor="t">
                    <a:lnL w="0" cmpd="sng">
                      <a:noFill/>
                    </a:lnL>
                    <a:lnR w="0" cmpd="sng">
                      <a:noFill/>
                    </a:lnR>
                    <a:lnT w="9525" cmpd="sng">
                      <a:noFill/>
                    </a:lnT>
                    <a:lnB w="9525" cmpd="sng">
                      <a:noFill/>
                    </a:lnB>
                    <a:solidFill>
                      <a:srgbClr val="FFFFFF"/>
                    </a:solidFill>
                  </a:tcPr>
                </a:tc>
              </a:tr>
              <a:tr h="1289304">
                <a:tc>
                  <a:txBody>
                    <a:bodyPr wrap="square"/>
                    <a:lstStyle/>
                    <a:p>
                      <a:pPr algn="l"/>
                      <a:r>
                        <a:rPr sz="1500" b="1" i="0">
                          <a:solidFill>
                            <a:srgbClr val="1A5276"/>
                          </a:solidFill>
                          <a:latin typeface="Segoe UI"/>
                        </a:rPr>
                        <a:t>Paravirtualization</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The guest kernel is modified so that it never issues the instruction: it calls the hypervisor deliberately, through a </a:t>
                      </a:r>
                      <a:r>
                        <a:rPr sz="1500" b="1" i="0">
                          <a:solidFill>
                            <a:srgbClr val="1A5276"/>
                          </a:solidFill>
                          <a:latin typeface="Segoe UI"/>
                        </a:rPr>
                        <a:t>hypercall</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1" i="0">
                          <a:solidFill>
                            <a:srgbClr val="1C252B"/>
                          </a:solidFill>
                          <a:latin typeface="Segoe UI"/>
                        </a:rPr>
                        <a:t>Source changes</a:t>
                      </a:r>
                      <a:r>
                        <a:rPr sz="1500" b="0" i="0">
                          <a:solidFill>
                            <a:srgbClr val="1C252B"/>
                          </a:solidFill>
                          <a:latin typeface="Segoe UI"/>
                        </a:rPr>
                        <a:t> to the guest kernel</a:t>
                      </a:r>
                      <a:endParaRPr sz="15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500" b="0" i="0">
                          <a:solidFill>
                            <a:srgbClr val="1C252B"/>
                          </a:solidFill>
                          <a:latin typeface="Segoe UI"/>
                        </a:rPr>
                        <a:t>Fast and simple, but the guest must cooperate — which rules out an operating system you cannot recompile</a:t>
                      </a:r>
                      <a:endParaRPr sz="1500"/>
                    </a:p>
                  </a:txBody>
                  <a:tcPr marL="109728" marR="109728" marT="64008" marB="45720" anchor="t">
                    <a:lnL w="0" cmpd="sng">
                      <a:noFill/>
                    </a:lnL>
                    <a:lnR w="0" cmpd="sng">
                      <a:noFill/>
                    </a:lnR>
                    <a:lnT w="9525" cmpd="sng">
                      <a:noFill/>
                    </a:lnT>
                    <a:lnB w="9525" cmpd="sng">
                      <a:noFill/>
                    </a:lnB>
                    <a:solidFill>
                      <a:srgbClr val="F2F8FC"/>
                    </a:solidFill>
                  </a:tcPr>
                </a:tc>
              </a:tr>
              <a:tr h="1060704">
                <a:tc>
                  <a:txBody>
                    <a:bodyPr wrap="square"/>
                    <a:lstStyle/>
                    <a:p>
                      <a:pPr algn="l"/>
                      <a:r>
                        <a:rPr sz="1500" b="1" i="0">
                          <a:solidFill>
                            <a:srgbClr val="1A5276"/>
                          </a:solidFill>
                          <a:latin typeface="Segoe UI"/>
                        </a:rPr>
                        <a:t>Hardware-assisted</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The processor itself traps the instruction and hands control to the hypervisor, with the guest’s state saved automatically</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None</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500" b="0" i="0">
                          <a:solidFill>
                            <a:srgbClr val="1C252B"/>
                          </a:solidFill>
                          <a:latin typeface="Segoe UI"/>
                        </a:rPr>
                        <a:t>A trap costs hundreds to thousands of cycles. Chapter 4 is how that cost was brought down</a:t>
                      </a:r>
                      <a:endParaRPr sz="15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instruction, three architectures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54E142AB-53B4-4B21-B31F-92BF0AC4FB56}" type="slidenum">
              <a:rPr lang="en-GB" sz="1000">
                <a:solidFill>
                  <a:srgbClr val="8795A1"/>
                </a:solidFill>
                <a:latin typeface="Segoe UI"/>
              </a:rPr>
              <a:t>12</a:t>
            </a:fld>
          </a:p>
        </p:txBody>
      </p:sp>
      <p:pic>
        <p:nvPicPr>
          <p:cNvPr id="6" name="!!figure" descr="Figure 2.2. The same instruction, three architectures. Only the middle one requires the guest’s cooperation; only the right-hand one requires the processor’s. The red step is where the work is done, and it is a different party each tim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875936"/>
            <a:ext cx="10874959" cy="294863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Only the middle one requires the guest’s cooperation; only the right-hand one requires the processor’s. The red step is where the work is done, and it is a different party each time.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Nobody ships one of these alone any more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E3E4D937-9D31-40F0-A225-98BE83C76000}"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table above is a taxonomy of techniques, not of products. Every current hypervisor is a hybrid.</a:t>
            </a:r>
          </a:p>
        </p:txBody>
      </p:sp>
      <p:sp>
        <p:nvSpPr>
          <p:cNvPr id="10" name="body-1"/>
          <p:cNvSpPr txBox="1"/>
          <p:nvPr/>
        </p:nvSpPr>
        <p:spPr>
          <a:xfrm>
            <a:off x="1060704" y="2821939"/>
            <a:ext cx="10161727" cy="194767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modern KVM guest uses </a:t>
            </a:r>
            <a:r>
              <a:rPr sz="2000" b="0" i="1">
                <a:solidFill>
                  <a:srgbClr val="1C252B"/>
                </a:solidFill>
                <a:latin typeface="Segoe UI"/>
              </a:rPr>
              <a:t>hardware assistance</a:t>
            </a:r>
            <a:r>
              <a:rPr sz="2000" b="0" i="0">
                <a:solidFill>
                  <a:srgbClr val="1C252B"/>
                </a:solidFill>
                <a:latin typeface="Segoe UI"/>
              </a:rPr>
              <a:t> for privileged instructions, </a:t>
            </a:r>
            <a:r>
              <a:rPr sz="2000" b="0" i="1">
                <a:solidFill>
                  <a:srgbClr val="1C252B"/>
                </a:solidFill>
                <a:latin typeface="Segoe UI"/>
              </a:rPr>
              <a:t>paravirtualized</a:t>
            </a:r>
            <a:r>
              <a:rPr sz="2000" b="0" i="0">
                <a:solidFill>
                  <a:srgbClr val="1C252B"/>
                </a:solidFill>
                <a:latin typeface="Segoe UI"/>
              </a:rPr>
              <a:t> drivers (virtio, Chapter 7) for disk and network because emulating real hardware is far slower, and occasionally </a:t>
            </a:r>
            <a:r>
              <a:rPr sz="2000" b="0" i="1">
                <a:solidFill>
                  <a:srgbClr val="1C252B"/>
                </a:solidFill>
                <a:latin typeface="Segoe UI"/>
              </a:rPr>
              <a:t>emulation</a:t>
            </a:r>
            <a:r>
              <a:rPr sz="2000" b="0" i="0">
                <a:solidFill>
                  <a:srgbClr val="1C252B"/>
                </a:solidFill>
                <a:latin typeface="Segoe UI"/>
              </a:rPr>
              <a:t> for a device nobody has optimised. Xen began as the paravirtualization project and has supported hardware-assisted guests since 2006. VMware built its reputation on binary translation and now uses it only where hardware assistance is unavailable or slower.</a:t>
            </a:r>
          </a:p>
        </p:txBody>
      </p:sp>
      <p:sp>
        <p:nvSpPr>
          <p:cNvPr id="11" name="body-2"/>
          <p:cNvSpPr txBox="1"/>
          <p:nvPr/>
        </p:nvSpPr>
        <p:spPr>
          <a:xfrm>
            <a:off x="1060704" y="4863592"/>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So the right question about a product is never “which one is it?” but “which one does it use </a:t>
            </a:r>
            <a:r>
              <a:rPr sz="2000" b="0" i="1">
                <a:solidFill>
                  <a:srgbClr val="1C252B"/>
                </a:solidFill>
                <a:latin typeface="Segoe UI"/>
              </a:rPr>
              <a:t>for this operation</a:t>
            </a:r>
            <a:r>
              <a:rPr sz="2000" b="0" i="0">
                <a:solidFill>
                  <a:srgbClr val="1C252B"/>
                </a:solidFill>
                <a:latin typeface="Segoe UI"/>
              </a:rPr>
              <a:t>?” — and the answer usually differs between the processor, the disk and the network card.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Layer Actually Costs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3ACD1A7C-F681-4623-8790-FA805C760C33}"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07646"/>
          </a:xfrm>
          <a:prstGeom prst="roundRect">
            <a:avLst>
              <a:gd name="adj" fmla="val 212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0764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Four configurations, two workloads, measured on the same host. Compute the overhead of each configuration and explain the pattern.</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Workload A — CPU-bound</a:t>
            </a:r>
            <a:r>
              <a:rPr sz="1900" b="0" i="0">
                <a:solidFill>
                  <a:srgbClr val="1C252B"/>
                </a:solidFill>
                <a:latin typeface="Segoe UI"/>
              </a:rPr>
              <a:t> (compiling a kernel; lower is better):</a:t>
            </a:r>
          </a:p>
        </p:txBody>
      </p:sp>
      <p:sp>
        <p:nvSpPr>
          <p:cNvPr id="11" name="body-2"/>
          <p:cNvSpPr txBox="1"/>
          <p:nvPr/>
        </p:nvSpPr>
        <p:spPr>
          <a:xfrm>
            <a:off x="1042416" y="3180537"/>
            <a:ext cx="10234879" cy="346862"/>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native 240 s </a:t>
            </a:r>
            <a:r>
              <a:rPr sz="1900" b="0" i="0">
                <a:solidFill>
                  <a:srgbClr val="1C252B"/>
                </a:solidFill>
                <a:latin typeface="Cambria"/>
              </a:rPr>
              <a:t>•</a:t>
            </a:r>
            <a:r>
              <a:rPr sz="1900" b="0" i="0">
                <a:solidFill>
                  <a:srgbClr val="1C252B"/>
                </a:solidFill>
                <a:latin typeface="Segoe UI"/>
              </a:rPr>
              <a:t> Type-1 245 s </a:t>
            </a:r>
            <a:r>
              <a:rPr sz="1900" b="0" i="0">
                <a:solidFill>
                  <a:srgbClr val="1C252B"/>
                </a:solidFill>
                <a:latin typeface="Cambria"/>
              </a:rPr>
              <a:t>•</a:t>
            </a:r>
            <a:r>
              <a:rPr sz="1900" b="0" i="0">
                <a:solidFill>
                  <a:srgbClr val="1C252B"/>
                </a:solidFill>
                <a:latin typeface="Segoe UI"/>
              </a:rPr>
              <a:t> Type-2 259 s </a:t>
            </a:r>
            <a:r>
              <a:rPr sz="1900" b="0" i="0">
                <a:solidFill>
                  <a:srgbClr val="1C252B"/>
                </a:solidFill>
                <a:latin typeface="Cambria"/>
              </a:rPr>
              <a:t>•</a:t>
            </a:r>
            <a:r>
              <a:rPr sz="1900" b="0" i="0">
                <a:solidFill>
                  <a:srgbClr val="1C252B"/>
                </a:solidFill>
                <a:latin typeface="Segoe UI"/>
              </a:rPr>
              <a:t> container 241 s</a:t>
            </a:r>
          </a:p>
        </p:txBody>
      </p:sp>
      <p:sp>
        <p:nvSpPr>
          <p:cNvPr id="12" name="body-3"/>
          <p:cNvSpPr txBox="1"/>
          <p:nvPr/>
        </p:nvSpPr>
        <p:spPr>
          <a:xfrm>
            <a:off x="1042416" y="361439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Workload B — I/O-bound</a:t>
            </a:r>
            <a:r>
              <a:rPr sz="1900" b="0" i="0">
                <a:solidFill>
                  <a:srgbClr val="1C252B"/>
                </a:solidFill>
                <a:latin typeface="Segoe UI"/>
              </a:rPr>
              <a:t> (sequential read, MB/s; higher is better):</a:t>
            </a:r>
          </a:p>
        </p:txBody>
      </p:sp>
      <p:sp>
        <p:nvSpPr>
          <p:cNvPr id="13" name="body-4"/>
          <p:cNvSpPr txBox="1"/>
          <p:nvPr/>
        </p:nvSpPr>
        <p:spPr>
          <a:xfrm>
            <a:off x="1042416" y="4048252"/>
            <a:ext cx="10234879" cy="648004"/>
          </a:xfrm>
          <a:prstGeom prst="rect">
            <a:avLst/>
          </a:prstGeom>
          <a:noFill/>
        </p:spPr>
        <p:txBody>
          <a:bodyPr wrap="square" anchor="t" lIns="0" rIns="0" tIns="0" bIns="0">
            <a:noAutofit/>
          </a:bodyPr>
          <a:lstStyle/>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native 980 </a:t>
            </a:r>
            <a:r>
              <a:rPr sz="1900" b="0" i="0">
                <a:solidFill>
                  <a:srgbClr val="1C252B"/>
                </a:solidFill>
                <a:latin typeface="Cambria"/>
              </a:rPr>
              <a:t>•</a:t>
            </a:r>
            <a:r>
              <a:rPr sz="1900" b="0" i="0">
                <a:solidFill>
                  <a:srgbClr val="1C252B"/>
                </a:solidFill>
                <a:latin typeface="Segoe UI"/>
              </a:rPr>
              <a:t> Type-1 with an </a:t>
            </a:r>
            <a:r>
              <a:rPr sz="1900" b="0" i="1">
                <a:solidFill>
                  <a:srgbClr val="1C252B"/>
                </a:solidFill>
                <a:latin typeface="Segoe UI"/>
              </a:rPr>
              <a:t>emulated</a:t>
            </a:r>
            <a:r>
              <a:rPr sz="1900" b="0" i="0">
                <a:solidFill>
                  <a:srgbClr val="1C252B"/>
                </a:solidFill>
                <a:latin typeface="Segoe UI"/>
              </a:rPr>
              <a:t> disk controller 185 </a:t>
            </a:r>
            <a:r>
              <a:rPr sz="1900" b="0" i="0">
                <a:solidFill>
                  <a:srgbClr val="1C252B"/>
                </a:solidFill>
                <a:latin typeface="Cambria"/>
              </a:rPr>
              <a:t>•</a:t>
            </a:r>
            <a:r>
              <a:rPr sz="1900" b="0" i="0">
                <a:solidFill>
                  <a:srgbClr val="1C252B"/>
                </a:solidFill>
                <a:latin typeface="Segoe UI"/>
              </a:rPr>
              <a:t> Type-1 with a </a:t>
            </a:r>
            <a:r>
              <a:rPr sz="1900" b="0" i="1">
                <a:solidFill>
                  <a:srgbClr val="1C252B"/>
                </a:solidFill>
                <a:latin typeface="Segoe UI"/>
              </a:rPr>
              <a:t>virtio</a:t>
            </a:r>
            <a:r>
              <a:rPr sz="1900" b="0" i="0">
                <a:solidFill>
                  <a:srgbClr val="1C252B"/>
                </a:solidFill>
                <a:latin typeface="Segoe UI"/>
              </a:rPr>
              <a:t> disk 940 </a:t>
            </a:r>
            <a:r>
              <a:rPr sz="1900" b="0" i="0">
                <a:solidFill>
                  <a:srgbClr val="1C252B"/>
                </a:solidFill>
                <a:latin typeface="Cambria"/>
              </a:rPr>
              <a:t>•</a:t>
            </a:r>
            <a:r>
              <a:rPr sz="1900" b="0" i="0">
                <a:solidFill>
                  <a:srgbClr val="1C252B"/>
                </a:solidFill>
                <a:latin typeface="Segoe UI"/>
              </a:rPr>
              <a:t> container 975</a:t>
            </a:r>
          </a:p>
        </p:txBody>
      </p:sp>
      <p:sp>
        <p:nvSpPr>
          <p:cNvPr id="14" name="body-5"/>
          <p:cNvSpPr txBox="1"/>
          <p:nvPr/>
        </p:nvSpPr>
        <p:spPr>
          <a:xfrm>
            <a:off x="1042416" y="478325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CPU overhead.</a:t>
            </a:r>
            <a:r>
              <a:rPr sz="1900" b="0" i="0">
                <a:solidFill>
                  <a:srgbClr val="1C252B"/>
                </a:solidFill>
                <a:latin typeface="Segoe UI"/>
              </a:rPr>
              <a:t> Overhead is the extra time as a fraction of native:</a:t>
            </a:r>
          </a:p>
        </p:txBody>
      </p:sp>
      <p:pic>
        <p:nvPicPr>
          <p:cNvPr id="15" name="body-6" descr="\text{Type-1} = \frac{245 - 240}{240} = \mathbf{2.1\%} \qquad \text{Type-2} = \frac{259 - 240}{240} = \mathbf{7.9\%}"/>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5217109"/>
            <a:ext cx="10234879" cy="553577"/>
          </a:xfrm>
          <a:prstGeom prst="rect">
            <a:avLst/>
          </a:prstGeom>
        </p:spPr>
      </p:pic>
      <p:sp>
        <p:nvSpPr>
          <p:cNvPr id="3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right)">
                                      <p:cBhvr>
                                        <p:cTn id="23" dur="42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wipe(right)">
                                      <p:cBhvr>
                                        <p:cTn id="28" dur="42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Layer Actually Costs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EF4F9DF0-AC4B-413C-88B7-B629FF4DA353}"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252200"/>
          </a:xfrm>
          <a:prstGeom prst="roundRect">
            <a:avLst>
              <a:gd name="adj" fmla="val 281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2522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ext{container} = \frac{241 - 240}{240} = \mathbf{0.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47268"/>
          </a:xfrm>
          <a:prstGeom prst="rect">
            <a:avLst/>
          </a:prstGeom>
        </p:spPr>
      </p:pic>
      <p:sp>
        <p:nvSpPr>
          <p:cNvPr id="10" name="body-1"/>
          <p:cNvSpPr txBox="1"/>
          <p:nvPr/>
        </p:nvSpPr>
        <p:spPr>
          <a:xfrm>
            <a:off x="1042416" y="2691663"/>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I/O overhead.</a:t>
            </a:r>
            <a:r>
              <a:rPr sz="1900" b="0" i="0">
                <a:solidFill>
                  <a:srgbClr val="1C252B"/>
                </a:solidFill>
                <a:latin typeface="Segoe UI"/>
              </a:rPr>
              <a:t> Here express the loss as a fraction of native throughput:</a:t>
            </a:r>
          </a:p>
        </p:txBody>
      </p:sp>
      <p:sp>
        <p:nvSpPr>
          <p:cNvPr id="11" name="body-1bar">
            <a:extLst>
              <a:ext uri="{C183D7F6-B498-43B3-948B-1728B52AA6E4}">
                <adec:decorative xmlns:adec="http://schemas.microsoft.com/office/drawing/2017/decorative" val="1"/>
              </a:ext>
            </a:extLst>
          </p:cNvPr>
          <p:cNvSpPr/>
          <p:nvPr/>
        </p:nvSpPr>
        <p:spPr>
          <a:xfrm>
            <a:off x="841248" y="2709951"/>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text{emulated} = 1 - \frac{185}{980} = \mathbf{81\%\ lost} \qquad \text{virtio} = 1 - \frac{940}{980} = \mathbf{4.1\%\ los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125520"/>
            <a:ext cx="10234879" cy="553577"/>
          </a:xfrm>
          <a:prstGeom prst="rect">
            <a:avLst/>
          </a:prstGeom>
        </p:spPr>
      </p:pic>
      <p:sp>
        <p:nvSpPr>
          <p:cNvPr id="13" name="body-3"/>
          <p:cNvSpPr txBox="1"/>
          <p:nvPr/>
        </p:nvSpPr>
        <p:spPr>
          <a:xfrm>
            <a:off x="1042416" y="3811813"/>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read the pattern.</a:t>
            </a:r>
            <a:r>
              <a:rPr sz="1900" b="0" i="0">
                <a:solidFill>
                  <a:srgbClr val="1C252B"/>
                </a:solidFill>
                <a:latin typeface="Segoe UI"/>
              </a:rPr>
              <a:t> The CPU numbers are small because a compile is almost entirely ordinary arithmetic, and ordinary arithmetic runs on the real processor at full speed in every configuration. The layer only costs you where it has to </a:t>
            </a:r>
            <a:r>
              <a:rPr sz="1900" b="0" i="1">
                <a:solidFill>
                  <a:srgbClr val="1C252B"/>
                </a:solidFill>
                <a:latin typeface="Segoe UI"/>
              </a:rPr>
              <a:t>intervene</a:t>
            </a:r>
            <a:r>
              <a:rPr sz="1900" b="0" i="0">
                <a:solidFill>
                  <a:srgbClr val="1C252B"/>
                </a:solidFill>
                <a:latin typeface="Segoe UI"/>
              </a:rPr>
              <a:t>.</a:t>
            </a:r>
          </a:p>
        </p:txBody>
      </p:sp>
      <p:sp>
        <p:nvSpPr>
          <p:cNvPr id="14" name="body-3bar">
            <a:extLst>
              <a:ext uri="{C183D7F6-B498-43B3-948B-1728B52AA6E4}">
                <adec:decorative xmlns:adec="http://schemas.microsoft.com/office/drawing/2017/decorative" val="1"/>
              </a:ext>
            </a:extLst>
          </p:cNvPr>
          <p:cNvSpPr/>
          <p:nvPr/>
        </p:nvSpPr>
        <p:spPr>
          <a:xfrm>
            <a:off x="841248" y="3830101"/>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Layer Actually Costs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  ·  Handout p. 13     </a:t>
            </a:r>
            <a:fld id="{8251AD41-2DCC-4A40-9393-D7D9FB945546}"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I/O numbers are enormous for exactly that reason. An emulated disk controller means the hypervisor pretends, in software, to be a specific piece of 1990s hardware: every register the guest driver writes is a trap, and a single disk read becomes dozens of them. Replacing it with virtio — paravirtualization, Chapter 7 — replaces those dozens of traps with one hypercall carrying a batch of requests, and 81% lost becomes 4%.</a:t>
            </a:r>
          </a:p>
        </p:txBody>
      </p:sp>
      <p:sp>
        <p:nvSpPr>
          <p:cNvPr id="10" name="body-1"/>
          <p:cNvSpPr txBox="1"/>
          <p:nvPr/>
        </p:nvSpPr>
        <p:spPr>
          <a:xfrm>
            <a:off x="1042416" y="365010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The lesson for a design.</a:t>
            </a:r>
            <a:r>
              <a:rPr sz="1900" b="0" i="0">
                <a:solidFill>
                  <a:srgbClr val="1C252B"/>
                </a:solidFill>
                <a:latin typeface="Segoe UI"/>
              </a:rPr>
              <a:t> Virtualization overhead is not a property of the hypervisor; it is a property of how often the guest crosses the boundary. Measure the crossing rate, not the product.</a:t>
            </a:r>
          </a:p>
        </p:txBody>
      </p:sp>
      <p:sp>
        <p:nvSpPr>
          <p:cNvPr id="11" name="body-1bar">
            <a:extLst>
              <a:ext uri="{C183D7F6-B498-43B3-948B-1728B52AA6E4}">
                <adec:decorative xmlns:adec="http://schemas.microsoft.com/office/drawing/2017/decorative" val="1"/>
              </a:ext>
            </a:extLst>
          </p:cNvPr>
          <p:cNvSpPr/>
          <p:nvPr/>
        </p:nvSpPr>
        <p:spPr>
          <a:xfrm>
            <a:off x="841248" y="3668394"/>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Where Containers Sit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ACBD6"/>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2.1   Two Places to Stand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   Three Ways to Keep the Promise</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A5276"/>
                </a:solidFill>
                <a:latin typeface="Segoe UI"/>
              </a:rPr>
              <a:t>2.3   Where Containers Sit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2.4   Choosing</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§2.3     </a:t>
            </a:r>
            <a:fld id="{6B07E81D-3ED5-40CD-A8C6-756F8F13F9CA}" type="slidenum">
              <a:rPr lang="en-GB" sz="1000">
                <a:solidFill>
                  <a:srgbClr val="8795A1"/>
                </a:solidFill>
                <a:latin typeface="Segoe UI"/>
              </a:rPr>
              <a:t>17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questions, not one: which layer is virtualized, and by what technique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FIGURE 2.3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9D0240AD-30BD-45E2-9703-91DFB981B45B}" type="slidenum">
              <a:rPr lang="en-GB" sz="1000">
                <a:solidFill>
                  <a:srgbClr val="8795A1"/>
                </a:solidFill>
                <a:latin typeface="Segoe UI"/>
              </a:rPr>
              <a:t>18</a:t>
            </a:fld>
          </a:p>
        </p:txBody>
      </p:sp>
      <p:pic>
        <p:nvPicPr>
          <p:cNvPr id="6" name="!!figure" descr="Figure 2.3. Two questions, not one: which layer is virtualized, and by what technique. Products are placed by what they principally do; most occupy more than one cell in practic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920942"/>
            <a:ext cx="10874959" cy="2960904"/>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Products are placed by what they principally do; most occupy more than one cell in practice.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Trade Is Isolation Against Density</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§2.3  ·  Handout p. 15     </a:t>
            </a:r>
            <a:fld id="{7AC0A6C0-AB2F-4518-8F0D-A3BFE25A86B5}"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virtual machine carries its own kernel. That costs a few hundred megabytes of memory and tens of seconds of boot time, and buys an isolation boundary the hardware enforces: a guest that compromises its own kernel has still not escaped.</a:t>
            </a:r>
          </a:p>
        </p:txBody>
      </p:sp>
      <p:sp>
        <p:nvSpPr>
          <p:cNvPr id="10" name="body-1"/>
          <p:cNvSpPr txBox="1"/>
          <p:nvPr/>
        </p:nvSpPr>
        <p:spPr>
          <a:xfrm>
            <a:off x="1060704" y="3138931"/>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 container shares the host kernel. That costs almost nothing — megabytes, milliseconds — and buys an isolation boundary the </a:t>
            </a:r>
            <a:r>
              <a:rPr sz="2000" b="0" i="1">
                <a:solidFill>
                  <a:srgbClr val="1C252B"/>
                </a:solidFill>
                <a:latin typeface="Segoe UI"/>
              </a:rPr>
              <a:t>kernel</a:t>
            </a:r>
            <a:r>
              <a:rPr sz="2000" b="0" i="0">
                <a:solidFill>
                  <a:srgbClr val="1C252B"/>
                </a:solidFill>
                <a:latin typeface="Segoe UI"/>
              </a:rPr>
              <a:t> enforces: a process that finds a kernel bug is on the host, beside every other container. The Linux system-call interface is roughly 350 calls wide, and every one of them is attack surface.</a:t>
            </a:r>
          </a:p>
        </p:txBody>
      </p:sp>
      <p:sp>
        <p:nvSpPr>
          <p:cNvPr id="11" name="body-2"/>
          <p:cNvSpPr txBox="1"/>
          <p:nvPr/>
        </p:nvSpPr>
        <p:spPr>
          <a:xfrm>
            <a:off x="1060704" y="4546599"/>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Neither is better. A hosting provider running untrusted code from strangers wants the hardware boundary. A company running fifty of its own microservices wants the density. Chapter 11 is what happened when people wanted both, and the answer turned out to be a very small virtual machine.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00770699-AD2A-44A1-A914-2E9A436B2E5B}" type="slidenum">
              <a:rPr lang="en-GB" sz="1000">
                <a:solidFill>
                  <a:srgbClr val="8795A1"/>
                </a:solidFill>
                <a:latin typeface="Segoe UI"/>
              </a:rPr>
              <a:t>20</a:t>
            </a:fld>
          </a:p>
        </p:txBody>
      </p:sp>
      <p:graphicFrame>
        <p:nvGraphicFramePr>
          <p:cNvPr id="7" name="!!table"/>
          <p:cNvGraphicFramePr>
            <a:graphicFrameLocks noGrp="1"/>
          </p:cNvGraphicFramePr>
          <p:nvPr/>
        </p:nvGraphicFramePr>
        <p:xfrm>
          <a:off x="658368" y="1737360"/>
          <a:ext cx="10874958" cy="4142232"/>
        </p:xfrm>
        <a:graphic>
          <a:graphicData uri="http://schemas.openxmlformats.org/drawingml/2006/table">
            <a:tbl>
              <a:tblPr firstRow="0" bandRow="0" firstCol="0" lastRow="0" lastCol="0" bandCol="0">
                <a:tableStyleId>{2D5ABB26-0587-4C30-8999-92F81FD0307C}</a:tableStyleId>
              </a:tblPr>
              <a:tblGrid>
                <a:gridCol w="3698965"/>
                <a:gridCol w="3107131"/>
                <a:gridCol w="4068862"/>
              </a:tblGrid>
              <a:tr h="344424">
                <a:tc>
                  <a:txBody>
                    <a:bodyPr wrap="square"/>
                    <a:lstStyle/>
                    <a:p>
                      <a:pPr algn="l"/>
                      <a:r>
                        <a:rPr sz="1300" b="1" i="0">
                          <a:solidFill>
                            <a:srgbClr val="1A5276"/>
                          </a:solidFill>
                          <a:latin typeface="Segoe UI"/>
                        </a:rPr>
                        <a:t>If the requirement is</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Choose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Because</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740664">
                <a:tc>
                  <a:txBody>
                    <a:bodyPr wrap="square"/>
                    <a:lstStyle/>
                    <a:p>
                      <a:pPr algn="l"/>
                      <a:r>
                        <a:rPr sz="1300" b="0" i="0">
                          <a:solidFill>
                            <a:srgbClr val="1C252B"/>
                          </a:solidFill>
                          <a:latin typeface="Segoe UI"/>
                        </a:rPr>
                        <a:t>A production server estate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Type-1, hardware-assisted</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Lowest overhead, smallest trusted computing base, and the management and migration tooling only exists here</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0" i="0">
                          <a:solidFill>
                            <a:srgbClr val="1C252B"/>
                          </a:solidFill>
                          <a:latin typeface="Segoe UI"/>
                        </a:rPr>
                        <a:t>Running three operating systems on your laptop to learn</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Type-2</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Installs in minutes, coexists with everything else, and the 8% you lose does not matter</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Untrusted code from strangers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Type-1, one guest per tenant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isolation boundary is enforced by the processor, not by a 350-call kernel interface</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Fifty of your own services, deployed often</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Containers</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Density, and seconds rather than minutes to start</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Untrusted code </a:t>
                      </a:r>
                      <a:r>
                        <a:rPr sz="1300" b="0" i="1">
                          <a:solidFill>
                            <a:srgbClr val="1C252B"/>
                          </a:solidFill>
                          <a:latin typeface="Segoe UI"/>
                        </a:rPr>
                        <a:t>and</a:t>
                      </a:r>
                      <a:r>
                        <a:rPr sz="1300" b="0" i="0">
                          <a:solidFill>
                            <a:srgbClr val="1C252B"/>
                          </a:solidFill>
                          <a:latin typeface="Segoe UI"/>
                        </a:rPr>
                        <a:t> container density</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Chapter 11 — microVMs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A kernel per tenant, with a 125 ms boot and 5 MB of overhead</a:t>
                      </a:r>
                      <a:endParaRPr sz="1300"/>
                    </a:p>
                  </a:txBody>
                  <a:tcPr marL="109728" marR="109728" marT="64008" marB="45720" anchor="t">
                    <a:lnL w="0" cmpd="sng">
                      <a:noFill/>
                    </a:lnL>
                    <a:lnR w="0" cmpd="sng">
                      <a:noFill/>
                    </a:lnR>
                    <a:lnT w="9525" cmpd="sng">
                      <a:noFill/>
                    </a:lnT>
                    <a:lnB w="9525" cmpd="sng">
                      <a:noFill/>
                    </a:lnB>
                    <a:solidFill>
                      <a:srgbClr val="FFFFFF"/>
                    </a:solidFill>
                  </a:tcPr>
                </a:tc>
              </a:tr>
              <a:tr h="542544">
                <a:tc>
                  <a:txBody>
                    <a:bodyPr wrap="square"/>
                    <a:lstStyle/>
                    <a:p>
                      <a:pPr algn="l"/>
                      <a:r>
                        <a:rPr sz="1300" b="0" i="0">
                          <a:solidFill>
                            <a:srgbClr val="1C252B"/>
                          </a:solidFill>
                          <a:latin typeface="Segoe UI"/>
                        </a:rPr>
                        <a:t>An operating system you cannot modify (an appliance, a legacy system)</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Anything but pure paravirtualization</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Paravirtualization needs the guest’s source</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A different processor architecture</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300" b="0" i="0">
                          <a:solidFill>
                            <a:srgbClr val="1C252B"/>
                          </a:solidFill>
                          <a:latin typeface="Segoe UI"/>
                        </a:rPr>
                        <a:t>Emulation, not virtualization</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300" b="0" i="0">
                          <a:solidFill>
                            <a:srgbClr val="1C252B"/>
                          </a:solidFill>
                          <a:latin typeface="Segoe UI"/>
                        </a:rPr>
                        <a:t>The instruction set has to be translated, and that is a different and much slower job</a:t>
                      </a:r>
                      <a:endParaRPr sz="13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BE98D05F-C08C-4FA2-B7BA-3CD9AEA0E351}"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Type-1 and Type-2 as a performance ranking.</a:t>
            </a:r>
            <a:r>
              <a:rPr sz="1700" b="0" i="0">
                <a:solidFill>
                  <a:srgbClr val="1C252B"/>
                </a:solidFill>
                <a:latin typeface="Segoe UI"/>
              </a:rPr>
              <a:t> The difference in the worked example was six percentage points on CPU and nothing at all on properly-driven I/O. The real differences are the size of the trusted computing base, the management tooling, and whether the machine does anything else.</a:t>
            </a:r>
          </a:p>
        </p:txBody>
      </p:sp>
      <p:sp>
        <p:nvSpPr>
          <p:cNvPr id="10" name="!!pb1">
            <a:extLst>
              <a:ext uri="{C183D7F6-B498-43B3-948B-1728B52AA6E4}">
                <adec:decorative xmlns:adec="http://schemas.microsoft.com/office/drawing/2017/decorative" val="1"/>
              </a:ext>
            </a:extLst>
          </p:cNvPr>
          <p:cNvSpPr/>
          <p:nvPr/>
        </p:nvSpPr>
        <p:spPr>
          <a:xfrm>
            <a:off x="658368" y="276514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78800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746857"/>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Saying “paravirtualization” when you mean “PV drivers”.</a:t>
            </a:r>
            <a:r>
              <a:rPr sz="1700" b="0" i="0">
                <a:solidFill>
                  <a:srgbClr val="1C252B"/>
                </a:solidFill>
                <a:latin typeface="Segoe UI"/>
              </a:rPr>
              <a:t> Almost every guest running today uses paravirtualized </a:t>
            </a:r>
            <a:r>
              <a:rPr sz="1700" b="0" i="1">
                <a:solidFill>
                  <a:srgbClr val="1C252B"/>
                </a:solidFill>
                <a:latin typeface="Segoe UI"/>
              </a:rPr>
              <a:t>drivers</a:t>
            </a:r>
            <a:r>
              <a:rPr sz="1700" b="0" i="0">
                <a:solidFill>
                  <a:srgbClr val="1C252B"/>
                </a:solidFill>
                <a:latin typeface="Segoe UI"/>
              </a:rPr>
              <a:t> while being a fully virtualized </a:t>
            </a:r>
            <a:r>
              <a:rPr sz="1700" b="0" i="1">
                <a:solidFill>
                  <a:srgbClr val="1C252B"/>
                </a:solidFill>
                <a:latin typeface="Segoe UI"/>
              </a:rPr>
              <a:t>guest</a:t>
            </a:r>
            <a:r>
              <a:rPr sz="1700" b="0" i="0">
                <a:solidFill>
                  <a:srgbClr val="1C252B"/>
                </a:solidFill>
                <a:latin typeface="Segoe UI"/>
              </a:rPr>
              <a:t>. The kernel was not modified; a driver was installed. These are different claims and the second is much weaker.</a:t>
            </a:r>
          </a:p>
        </p:txBody>
      </p:sp>
      <p:sp>
        <p:nvSpPr>
          <p:cNvPr id="13" name="!!pb2">
            <a:extLst>
              <a:ext uri="{C183D7F6-B498-43B3-948B-1728B52AA6E4}">
                <adec:decorative xmlns:adec="http://schemas.microsoft.com/office/drawing/2017/decorative" val="1"/>
              </a:ext>
            </a:extLst>
          </p:cNvPr>
          <p:cNvSpPr/>
          <p:nvPr/>
        </p:nvSpPr>
        <p:spPr>
          <a:xfrm>
            <a:off x="658368" y="377464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79750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756355"/>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Quoting a virtualization overhead figure without the workload.</a:t>
            </a:r>
            <a:r>
              <a:rPr sz="1700" b="0" i="0">
                <a:solidFill>
                  <a:srgbClr val="1C252B"/>
                </a:solidFill>
                <a:latin typeface="Segoe UI"/>
              </a:rPr>
              <a:t> “About 3%” is true of arithmetic and absurd of an emulated network card. Always state what was measured.</a:t>
            </a:r>
          </a:p>
        </p:txBody>
      </p:sp>
      <p:sp>
        <p:nvSpPr>
          <p:cNvPr id="16" name="!!pb3">
            <a:extLst>
              <a:ext uri="{C183D7F6-B498-43B3-948B-1728B52AA6E4}">
                <adec:decorative xmlns:adec="http://schemas.microsoft.com/office/drawing/2017/decorative" val="1"/>
              </a:ext>
            </a:extLst>
          </p:cNvPr>
          <p:cNvSpPr/>
          <p:nvPr/>
        </p:nvSpPr>
        <p:spPr>
          <a:xfrm>
            <a:off x="658368" y="451469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53755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496409"/>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that guest additions are not optional in practice.</a:t>
            </a:r>
            <a:r>
              <a:rPr sz="1700" b="0" i="0">
                <a:solidFill>
                  <a:srgbClr val="1C252B"/>
                </a:solidFill>
                <a:latin typeface="Segoe UI"/>
              </a:rPr>
              <a:t> A Type-2 guest without them has no shared clipboard, no resized display and a tenth of the I/O throughput. Students who conclude “virtual machines are slow” have usually just not installed them.</a:t>
            </a:r>
          </a:p>
        </p:txBody>
      </p:sp>
      <p:sp>
        <p:nvSpPr>
          <p:cNvPr id="4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5672CC7D-6EC5-4D0C-9FD1-C889C9CF9237}"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containers replaced virtual machines.</a:t>
            </a:r>
            <a:r>
              <a:rPr sz="1700" b="0" i="0">
                <a:solidFill>
                  <a:srgbClr val="1C252B"/>
                </a:solidFill>
                <a:latin typeface="Segoe UI"/>
              </a:rPr>
              <a:t> The dominant production pattern is containers </a:t>
            </a:r>
            <a:r>
              <a:rPr sz="1700" b="0" i="1">
                <a:solidFill>
                  <a:srgbClr val="1C252B"/>
                </a:solidFill>
                <a:latin typeface="Segoe UI"/>
              </a:rPr>
              <a:t>inside</a:t>
            </a:r>
            <a:r>
              <a:rPr sz="1700" b="0" i="0">
                <a:solidFill>
                  <a:srgbClr val="1C252B"/>
                </a:solidFill>
                <a:latin typeface="Segoe UI"/>
              </a:rPr>
              <a:t> virtual machines: every managed Kubernetes service runs its nodes as cloud instances, which are guests. The layers compose; they do not compete.</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Three Architectures, One Workload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FA7CC280-852B-4E82-8CC9-1B4BEF8FEF37}" type="slidenum">
              <a:rPr lang="en-GB" sz="1000">
                <a:solidFill>
                  <a:srgbClr val="8795A1"/>
                </a:solidFill>
                <a:latin typeface="Segoe UI"/>
              </a:rPr>
              <a:t>23</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Measures the overhead of the same job under a Type-2 hypervisor, a Type-1 hypervisor and a container, on one laptop. Needs the stack from Appendix A. Expect thirty minutes, most of it waiting.</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1645919"/>
          </a:xfrm>
          <a:prstGeom prst="rect">
            <a:avLst/>
          </a:prstGeom>
          <a:noFill/>
        </p:spPr>
        <p:txBody>
          <a:bodyPr wrap="square" anchor="t" lIns="0" rIns="0" tIns="0" bIns="0">
            <a:noAutofit/>
          </a:bodyPr>
          <a:lstStyle/>
          <a:p>
            <a:pPr algn="l" marL="422657" indent="-422657">
              <a:lnSpc>
                <a:spcPct val="100000"/>
              </a:lnSpc>
              <a:spcBef>
                <a:spcPts val="0"/>
              </a:spcBef>
              <a:spcAft>
                <a:spcPts val="509"/>
              </a:spcAft>
            </a:pPr>
            <a:r>
              <a:rPr sz="1700" b="1">
                <a:solidFill>
                  <a:srgbClr val="117A65"/>
                </a:solidFill>
                <a:latin typeface="Segoe UI"/>
              </a:rPr>
              <a:t>1.	</a:t>
            </a:r>
            <a:r>
              <a:rPr sz="1700" b="0" i="0">
                <a:solidFill>
                  <a:srgbClr val="1C252B"/>
                </a:solidFill>
                <a:latin typeface="Segoe UI"/>
              </a:rPr>
              <a:t>The baseline: no layer at all</a:t>
            </a:r>
          </a:p>
          <a:p>
            <a:pPr algn="l" marL="422657" indent="-422657">
              <a:lnSpc>
                <a:spcPct val="100000"/>
              </a:lnSpc>
              <a:spcBef>
                <a:spcPts val="0"/>
              </a:spcBef>
              <a:spcAft>
                <a:spcPts val="509"/>
              </a:spcAft>
            </a:pPr>
            <a:r>
              <a:rPr sz="1700" b="1">
                <a:solidFill>
                  <a:srgbClr val="117A65"/>
                </a:solidFill>
                <a:latin typeface="Segoe UI"/>
              </a:rPr>
              <a:t>2.	</a:t>
            </a:r>
            <a:r>
              <a:rPr sz="1700" b="0" i="0">
                <a:solidFill>
                  <a:srgbClr val="1C252B"/>
                </a:solidFill>
                <a:latin typeface="Segoe UI"/>
              </a:rPr>
              <a:t>Type-1: KVM, hardware-assisted</a:t>
            </a:r>
          </a:p>
          <a:p>
            <a:pPr algn="l" marL="422657" indent="-422657">
              <a:lnSpc>
                <a:spcPct val="100000"/>
              </a:lnSpc>
              <a:spcBef>
                <a:spcPts val="0"/>
              </a:spcBef>
              <a:spcAft>
                <a:spcPts val="509"/>
              </a:spcAft>
            </a:pPr>
            <a:r>
              <a:rPr sz="1700" b="1">
                <a:solidFill>
                  <a:srgbClr val="117A65"/>
                </a:solidFill>
                <a:latin typeface="Segoe UI"/>
              </a:rPr>
              <a:t>3.	</a:t>
            </a:r>
            <a:r>
              <a:rPr sz="1700" b="0" i="0">
                <a:solidFill>
                  <a:srgbClr val="1C252B"/>
                </a:solidFill>
                <a:latin typeface="Segoe UI"/>
              </a:rPr>
              <a:t>A container: no second kernel</a:t>
            </a:r>
          </a:p>
          <a:p>
            <a:pPr algn="l" marL="422657" indent="-422657">
              <a:lnSpc>
                <a:spcPct val="100000"/>
              </a:lnSpc>
              <a:spcBef>
                <a:spcPts val="0"/>
              </a:spcBef>
              <a:spcAft>
                <a:spcPts val="509"/>
              </a:spcAft>
            </a:pPr>
            <a:r>
              <a:rPr sz="1700" b="1">
                <a:solidFill>
                  <a:srgbClr val="117A65"/>
                </a:solidFill>
                <a:latin typeface="Segoe UI"/>
              </a:rPr>
              <a:t>4.	</a:t>
            </a:r>
            <a:r>
              <a:rPr sz="1700" b="0" i="0">
                <a:solidFill>
                  <a:srgbClr val="1C252B"/>
                </a:solidFill>
                <a:latin typeface="Segoe UI"/>
              </a:rPr>
              <a:t>Now the part that actually matters: I/O</a:t>
            </a:r>
          </a:p>
          <a:p>
            <a:pPr algn="l" marL="422657" indent="-422657">
              <a:lnSpc>
                <a:spcPct val="100000"/>
              </a:lnSpc>
              <a:spcBef>
                <a:spcPts val="0"/>
              </a:spcBef>
              <a:spcAft>
                <a:spcPts val="0"/>
              </a:spcAft>
            </a:pPr>
            <a:r>
              <a:rPr sz="1700" b="1">
                <a:solidFill>
                  <a:srgbClr val="117A65"/>
                </a:solidFill>
                <a:latin typeface="Segoe UI"/>
              </a:rPr>
              <a:t>5.	</a:t>
            </a:r>
            <a:r>
              <a:rPr sz="1700" b="0" i="0">
                <a:solidFill>
                  <a:srgbClr val="1C252B"/>
                </a:solidFill>
                <a:latin typeface="Segoe UI"/>
              </a:rPr>
              <a:t>Tear down</a:t>
            </a:r>
          </a:p>
        </p:txBody>
      </p:sp>
      <p:sp>
        <p:nvSpPr>
          <p:cNvPr id="2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3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 Install a hypervisor; a first guest and a snapshot</a:t>
            </a:r>
          </a:p>
        </p:txBody>
      </p:sp>
      <p:sp>
        <p:nvSpPr>
          <p:cNvPr id="3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44 lines of Shell</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Architectures, One Workload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CBAC3E6A-6EF3-4F46-9CC8-013147A3F7AC}"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02_overhead.sh -- measure the cost of the layer, three ways. set -euo pipefail WORK='echo &quot;scale=4000; 4*a(1)&quot; | bc -l' # seconds of pure arithmetic # The guest's address, however libvirt chose to hand it out today. ip_of () { sudo virsh domifaddr &quot;$1&quot; | awk '/ipv4/{split($4,a,&quot;/&quot;); print a[1]}' } in_guest () { ssh -o StrictHostKeyChecking=no &quot;ubuntu@$(ip_of vss1)&quot; &quot;$1&quot;; }"/>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ch02_overhead.sh -- measure the cost of the layer, three ways.</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i="0">
                <a:solidFill>
                  <a:srgbClr val="E8EDF2"/>
                </a:solidFill>
                <a:latin typeface="Consolas"/>
              </a:rPr>
              <a:t>WORK</a:t>
            </a:r>
            <a:r>
              <a:rPr sz="1800" i="0">
                <a:solidFill>
                  <a:srgbClr val="AEB6BF"/>
                </a:solidFill>
                <a:latin typeface="Consolas"/>
              </a:rPr>
              <a:t>=</a:t>
            </a:r>
            <a:r>
              <a:rPr sz="1800" i="0">
                <a:solidFill>
                  <a:srgbClr val="7DCEA0"/>
                </a:solidFill>
                <a:latin typeface="Consolas"/>
              </a:rPr>
              <a:t>'echo "scale=4000; 4*a(1)" | bc -l'</a:t>
            </a:r>
            <a:r>
              <a:rPr sz="1800" i="0">
                <a:solidFill>
                  <a:srgbClr val="E8EDF2"/>
                </a:solidFill>
                <a:latin typeface="Consolas"/>
              </a:rPr>
              <a:t>   </a:t>
            </a:r>
            <a:r>
              <a:rPr sz="1800" i="1">
                <a:solidFill>
                  <a:srgbClr val="8795A1"/>
                </a:solidFill>
                <a:latin typeface="Consolas"/>
              </a:rPr>
              <a:t># seconds of pure arithmetic</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The guest's address, however libvirt chose to hand it out today.</a:t>
            </a:r>
          </a:p>
          <a:p>
            <a:pPr>
              <a:lnSpc>
                <a:spcPct val="100000"/>
              </a:lnSpc>
              <a:spcAft>
                <a:spcPts val="0"/>
              </a:spcAft>
            </a:pPr>
            <a:r>
              <a:rPr sz="1800" i="0">
                <a:solidFill>
                  <a:srgbClr val="E8EDF2"/>
                </a:solidFill>
                <a:latin typeface="Consolas"/>
              </a:rPr>
              <a:t>ip_of</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domifaddr</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awk</a:t>
            </a:r>
            <a:r>
              <a:rPr sz="1800" i="0">
                <a:solidFill>
                  <a:srgbClr val="E8EDF2"/>
                </a:solidFill>
                <a:latin typeface="Consolas"/>
              </a:rPr>
              <a:t> </a:t>
            </a:r>
            <a:r>
              <a:rPr sz="1800" i="0">
                <a:solidFill>
                  <a:srgbClr val="7DCEA0"/>
                </a:solidFill>
                <a:latin typeface="Consolas"/>
              </a:rPr>
              <a:t>'/ipv4/{split($4,a,"/"); print a[1]}'</a:t>
            </a:r>
          </a:p>
          <a:p>
            <a:pPr>
              <a:lnSpc>
                <a:spcPct val="100000"/>
              </a:lnSpc>
              <a:spcAft>
                <a:spcPts val="0"/>
              </a:spcAft>
            </a:pPr>
            <a:r>
              <a:rPr sz="1800" i="0">
                <a:solidFill>
                  <a:srgbClr val="AEB6BF"/>
                </a:solidFill>
                <a:latin typeface="Consolas"/>
              </a:rPr>
              <a:t>}</a:t>
            </a:r>
          </a:p>
          <a:p>
            <a:pPr>
              <a:lnSpc>
                <a:spcPct val="100000"/>
              </a:lnSpc>
              <a:spcAft>
                <a:spcPts val="0"/>
              </a:spcAft>
            </a:pPr>
            <a:r>
              <a:rPr sz="1800" i="0">
                <a:solidFill>
                  <a:srgbClr val="E8EDF2"/>
                </a:solidFill>
                <a:latin typeface="Consolas"/>
              </a:rPr>
              <a:t>in_guest</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ssh</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StrictHostKeyChecking</a:t>
            </a:r>
            <a:r>
              <a:rPr sz="1800" i="0">
                <a:solidFill>
                  <a:srgbClr val="AEB6BF"/>
                </a:solidFill>
                <a:latin typeface="Consolas"/>
              </a:rPr>
              <a:t>=</a:t>
            </a:r>
            <a:r>
              <a:rPr sz="1800" i="0">
                <a:solidFill>
                  <a:srgbClr val="E8EDF2"/>
                </a:solidFill>
                <a:latin typeface="Consolas"/>
              </a:rPr>
              <a:t>no</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ubuntu@</a:t>
            </a:r>
            <a:r>
              <a:rPr sz="1800" i="0">
                <a:solidFill>
                  <a:srgbClr val="5DADE2"/>
                </a:solidFill>
                <a:latin typeface="Consolas"/>
              </a:rPr>
              <a:t>$(</a:t>
            </a:r>
            <a:r>
              <a:rPr sz="1800" i="0">
                <a:solidFill>
                  <a:srgbClr val="E8EDF2"/>
                </a:solidFill>
                <a:latin typeface="Consolas"/>
              </a:rPr>
              <a:t>ip_of</a:t>
            </a:r>
            <a:r>
              <a:rPr sz="1800" i="0">
                <a:solidFill>
                  <a:srgbClr val="E8EDF2"/>
                </a:solidFill>
                <a:latin typeface="Consolas"/>
              </a:rPr>
              <a:t> </a:t>
            </a:r>
            <a:r>
              <a:rPr sz="1800" i="0">
                <a:solidFill>
                  <a:srgbClr val="E8EDF2"/>
                </a:solidFill>
                <a:latin typeface="Consolas"/>
              </a:rPr>
              <a:t>vss1</a:t>
            </a:r>
            <a:r>
              <a:rPr sz="1800" i="0">
                <a:solidFill>
                  <a:srgbClr val="5DADE2"/>
                </a:solidFill>
                <a:latin typeface="Consolas"/>
              </a:rPr>
              <a:t>)</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Architectures, One Workload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11CD59BF-1C79-4AE9-AF7D-A258BBDC866D}"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baseline: no layer at all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The baseline: no layer at all ---------------------------------- echo &quot;=== native ===&quot; time bash -c &quot;$WORK&quot; &gt; /dev/null"/>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The baseline: no layer at all ----------------------------------</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 native ==="</a:t>
            </a:r>
          </a:p>
          <a:p>
            <a:pPr>
              <a:lnSpc>
                <a:spcPct val="100000"/>
              </a:lnSpc>
              <a:spcAft>
                <a:spcPts val="0"/>
              </a:spcAft>
            </a:pPr>
            <a:r>
              <a:rPr sz="1800" i="0">
                <a:solidFill>
                  <a:srgbClr val="C39BD3"/>
                </a:solidFill>
                <a:latin typeface="Consolas"/>
              </a:rPr>
              <a:t>time</a:t>
            </a:r>
            <a:r>
              <a:rPr sz="1800" i="0">
                <a:solidFill>
                  <a:srgbClr val="E8EDF2"/>
                </a:solidFill>
                <a:latin typeface="Consolas"/>
              </a:rPr>
              <a:t> </a:t>
            </a:r>
            <a:r>
              <a:rPr sz="1800" i="0">
                <a:solidFill>
                  <a:srgbClr val="E8EDF2"/>
                </a:solidFill>
                <a:latin typeface="Consolas"/>
              </a:rPr>
              <a:t>bash</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$WORK</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&gt;</a:t>
            </a:r>
            <a:r>
              <a:rPr sz="1800" i="0">
                <a:solidFill>
                  <a:srgbClr val="E8EDF2"/>
                </a:solidFill>
                <a:latin typeface="Consolas"/>
              </a:rPr>
              <a:t> </a:t>
            </a:r>
            <a:r>
              <a:rPr sz="1800" i="0">
                <a:solidFill>
                  <a:srgbClr val="E8EDF2"/>
                </a:solidFill>
                <a:latin typeface="Consolas"/>
              </a:rPr>
              <a:t>/dev/null</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Architectures, One Workload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CC31F0C2-9E53-4F74-82C7-FBC85503AEDE}"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Type-1: KVM, hardware-assisted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249424"/>
          </a:xfrm>
          <a:prstGeom prst="roundRect">
            <a:avLst>
              <a:gd name="adj" fmla="val 406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Type-1: KVM, hardware-assisted --------------------------------- # vss1 is the guest built in Chapter 1's lab. sudo virsh start vss1 || true sleep 25 echo &quot;=== type-1 (kvm) ===&quot; in_guest &quot;time bash -c '$WORK' &gt; /dev/null&quot;"/>
          <p:cNvSpPr txBox="1"/>
          <p:nvPr/>
        </p:nvSpPr>
        <p:spPr>
          <a:xfrm>
            <a:off x="1362456" y="2523744"/>
            <a:ext cx="9987991" cy="17556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Type-1: KVM, hardware-assisted ---------------------------------</a:t>
            </a:r>
          </a:p>
          <a:p>
            <a:pPr>
              <a:lnSpc>
                <a:spcPct val="100000"/>
              </a:lnSpc>
              <a:spcAft>
                <a:spcPts val="0"/>
              </a:spcAft>
            </a:pPr>
            <a:r>
              <a:rPr sz="1800" i="1">
                <a:solidFill>
                  <a:srgbClr val="8795A1"/>
                </a:solidFill>
                <a:latin typeface="Consolas"/>
              </a:rPr>
              <a:t># vss1 is the guest built in Chapter 1's lab.</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start</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25</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 type-1 (kvm) ==="</a:t>
            </a:r>
          </a:p>
          <a:p>
            <a:pPr>
              <a:lnSpc>
                <a:spcPct val="100000"/>
              </a:lnSpc>
              <a:spcAft>
                <a:spcPts val="0"/>
              </a:spcAft>
            </a:pPr>
            <a:r>
              <a:rPr sz="1800" i="0">
                <a:solidFill>
                  <a:srgbClr val="E8EDF2"/>
                </a:solidFill>
                <a:latin typeface="Consolas"/>
              </a:rPr>
              <a:t>in_guest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time bash -c '</a:t>
            </a:r>
            <a:r>
              <a:rPr sz="1800" i="0">
                <a:solidFill>
                  <a:srgbClr val="E8EDF2"/>
                </a:solidFill>
                <a:latin typeface="Consolas"/>
              </a:rPr>
              <a:t>$WORK</a:t>
            </a:r>
            <a:r>
              <a:rPr sz="1800" i="0">
                <a:solidFill>
                  <a:srgbClr val="7DCEA0"/>
                </a:solidFill>
                <a:latin typeface="Consolas"/>
              </a:rPr>
              <a:t>' &gt; /dev/null</a:t>
            </a:r>
            <a:r>
              <a:rPr sz="1800" i="0">
                <a:solidFill>
                  <a:srgbClr val="7DCEA0"/>
                </a:solidFill>
                <a:latin typeface="Consolas"/>
              </a:rPr>
              <a:t>"</a:t>
            </a:r>
          </a:p>
        </p:txBody>
      </p:sp>
      <p:sp>
        <p:nvSpPr>
          <p:cNvPr id="15" name="!!code-num"/>
          <p:cNvSpPr txBox="1"/>
          <p:nvPr/>
        </p:nvSpPr>
        <p:spPr>
          <a:xfrm>
            <a:off x="768096" y="2523744"/>
            <a:ext cx="393192" cy="17556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a:p>
            <a:pPr algn="r">
              <a:lnSpc>
                <a:spcPct val="100000"/>
              </a:lnSpc>
            </a:pPr>
            <a:r>
              <a:rPr sz="1800">
                <a:solidFill>
                  <a:srgbClr val="4F5D6A"/>
                </a:solidFill>
                <a:latin typeface="Consolas"/>
              </a:rPr>
              <a:t>20</a:t>
            </a:r>
          </a:p>
          <a:p>
            <a:pPr algn="r">
              <a:lnSpc>
                <a:spcPct val="100000"/>
              </a:lnSpc>
            </a:pPr>
            <a:r>
              <a:rPr sz="1800">
                <a:solidFill>
                  <a:srgbClr val="4F5D6A"/>
                </a:solidFill>
                <a:latin typeface="Consolas"/>
              </a:rPr>
              <a:t>21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Architectures, One Workload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E2E8ADEB-7061-4606-9D3B-EED1339C0CE3}"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container: no second kernel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00784"/>
          </a:xfrm>
          <a:prstGeom prst="roundRect">
            <a:avLst>
              <a:gd name="adj" fmla="val 53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A container: no second kernel ---------------------------------- echo &quot;=== container ===&quot; time docker run --rm ubuntu:22.04 bash -c \ &quot;apt-get -qq update &amp;&amp; apt-get -qq install -y bc &amp;&amp; $WORK&quot; &gt; /dev/null"/>
          <p:cNvSpPr txBox="1"/>
          <p:nvPr/>
        </p:nvSpPr>
        <p:spPr>
          <a:xfrm>
            <a:off x="1362456" y="2523744"/>
            <a:ext cx="9987991" cy="120700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A container: no second kernel ----------------------------------</a:t>
            </a:r>
          </a:p>
          <a:p>
            <a:pPr>
              <a:lnSpc>
                <a:spcPct val="100000"/>
              </a:lnSpc>
              <a:spcAft>
                <a:spcPts val="0"/>
              </a:spcAft>
            </a:pP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 container ==="</a:t>
            </a:r>
          </a:p>
          <a:p>
            <a:pPr>
              <a:lnSpc>
                <a:spcPct val="100000"/>
              </a:lnSpc>
              <a:spcAft>
                <a:spcPts val="0"/>
              </a:spcAft>
            </a:pPr>
            <a:r>
              <a:rPr sz="1800" i="0">
                <a:solidFill>
                  <a:srgbClr val="C39BD3"/>
                </a:solidFill>
                <a:latin typeface="Consolas"/>
              </a:rPr>
              <a:t>time</a:t>
            </a:r>
            <a:r>
              <a:rPr sz="1800" i="0">
                <a:solidFill>
                  <a:srgbClr val="E8EDF2"/>
                </a:solidFill>
                <a:latin typeface="Consolas"/>
              </a:rPr>
              <a:t> </a:t>
            </a:r>
            <a:r>
              <a:rPr sz="1800" i="0">
                <a:solidFill>
                  <a:srgbClr val="E8EDF2"/>
                </a:solidFill>
                <a:latin typeface="Consolas"/>
              </a:rPr>
              <a:t>docker</a:t>
            </a:r>
            <a:r>
              <a:rPr sz="1800" i="0">
                <a:solidFill>
                  <a:srgbClr val="E8EDF2"/>
                </a:solidFill>
                <a:latin typeface="Consolas"/>
              </a:rPr>
              <a:t> </a:t>
            </a:r>
            <a:r>
              <a:rPr sz="1800" i="0">
                <a:solidFill>
                  <a:srgbClr val="E8EDF2"/>
                </a:solidFill>
                <a:latin typeface="Consolas"/>
              </a:rPr>
              <a:t>run</a:t>
            </a:r>
            <a:r>
              <a:rPr sz="1800" i="0">
                <a:solidFill>
                  <a:srgbClr val="E8EDF2"/>
                </a:solidFill>
                <a:latin typeface="Consolas"/>
              </a:rPr>
              <a:t> </a:t>
            </a:r>
            <a:r>
              <a:rPr sz="1800" i="0">
                <a:solidFill>
                  <a:srgbClr val="E8EDF2"/>
                </a:solidFill>
                <a:latin typeface="Consolas"/>
              </a:rPr>
              <a:t>--rm</a:t>
            </a:r>
            <a:r>
              <a:rPr sz="1800" i="0">
                <a:solidFill>
                  <a:srgbClr val="E8EDF2"/>
                </a:solidFill>
                <a:latin typeface="Consolas"/>
              </a:rPr>
              <a:t> </a:t>
            </a:r>
            <a:r>
              <a:rPr sz="1800" i="0">
                <a:solidFill>
                  <a:srgbClr val="E8EDF2"/>
                </a:solidFill>
                <a:latin typeface="Consolas"/>
              </a:rPr>
              <a:t>ubuntu:22.04</a:t>
            </a:r>
            <a:r>
              <a:rPr sz="1800" i="0">
                <a:solidFill>
                  <a:srgbClr val="E8EDF2"/>
                </a:solidFill>
                <a:latin typeface="Consolas"/>
              </a:rPr>
              <a:t> </a:t>
            </a:r>
            <a:r>
              <a:rPr sz="1800" i="0">
                <a:solidFill>
                  <a:srgbClr val="E8EDF2"/>
                </a:solidFill>
                <a:latin typeface="Consolas"/>
              </a:rPr>
              <a:t>bash</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apt-get -qq update &amp;&amp; apt-get -qq install -y bc &amp;&amp; </a:t>
            </a:r>
            <a:r>
              <a:rPr sz="1800" i="0">
                <a:solidFill>
                  <a:srgbClr val="E8EDF2"/>
                </a:solidFill>
                <a:latin typeface="Consolas"/>
              </a:rPr>
              <a:t>$WORK</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&gt;</a:t>
            </a:r>
            <a:r>
              <a:rPr sz="1800" i="0">
                <a:solidFill>
                  <a:srgbClr val="E8EDF2"/>
                </a:solidFill>
                <a:latin typeface="Consolas"/>
              </a:rPr>
              <a:t> </a:t>
            </a:r>
            <a:r>
              <a:rPr sz="1800" i="0">
                <a:solidFill>
                  <a:srgbClr val="E8EDF2"/>
                </a:solidFill>
                <a:latin typeface="Consolas"/>
              </a:rPr>
              <a:t>/dev/null</a:t>
            </a:r>
          </a:p>
        </p:txBody>
      </p:sp>
      <p:sp>
        <p:nvSpPr>
          <p:cNvPr id="15" name="!!code-num"/>
          <p:cNvSpPr txBox="1"/>
          <p:nvPr/>
        </p:nvSpPr>
        <p:spPr>
          <a:xfrm>
            <a:off x="768096" y="2523744"/>
            <a:ext cx="393192" cy="120700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Architectures, One Workload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115639E2-19C3-4407-8953-8EEBFD96B7EE}"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the part that actually matters: I/O</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17264"/>
          </a:xfrm>
          <a:prstGeom prst="roundRect">
            <a:avLst>
              <a:gd name="adj" fmla="val 22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Now the part that actually matters: I/O ------------------------- # Compare an emulated disk controller against a paravirtualized one. # The guest must be stopped to change its disk bus. sudo virsh destroy vss1 echo &quot;=== emulated SATA controller ===&quot; sudo virt-xml vss1 --edit target=vda --disk bus=sata sudo virsh start vss1 ; sleep 25 in_guest &quot;sudo dd if=/dev/sda of=/dev/null bs=1M count=512 iflag=direct&quot; sudo virsh destroy vss1 echo &quot;=== virtio (paravirtualized) ===&quot; sudo virt-xml vss1 --edit target=sda --disk bus=virtio sudo virsh start vss1 ; sleep 25 in_guest &quot;sudo dd if=/dev/vda of=/dev/null bs=1M count=512 iflag=direct&quot;"/>
          <p:cNvSpPr txBox="1"/>
          <p:nvPr/>
        </p:nvSpPr>
        <p:spPr>
          <a:xfrm>
            <a:off x="1362456" y="2523744"/>
            <a:ext cx="9987991" cy="3523487"/>
          </a:xfrm>
          <a:prstGeom prst="rect">
            <a:avLst/>
          </a:prstGeom>
          <a:noFill/>
        </p:spPr>
        <p:txBody>
          <a:bodyPr wrap="none" anchor="t" lIns="0" rIns="0" tIns="0" bIns="0">
            <a:noAutofit/>
          </a:bodyPr>
          <a:lstStyle/>
          <a:p>
            <a:pPr>
              <a:lnSpc>
                <a:spcPct val="100000"/>
              </a:lnSpc>
              <a:spcAft>
                <a:spcPts val="0"/>
              </a:spcAft>
            </a:pPr>
            <a:r>
              <a:rPr sz="1600" i="1">
                <a:solidFill>
                  <a:srgbClr val="8795A1"/>
                </a:solidFill>
                <a:latin typeface="Consolas"/>
              </a:rPr>
              <a:t># --- 4. Now the part that actually matters: I/O -------------------------</a:t>
            </a:r>
          </a:p>
          <a:p>
            <a:pPr>
              <a:lnSpc>
                <a:spcPct val="100000"/>
              </a:lnSpc>
              <a:spcAft>
                <a:spcPts val="0"/>
              </a:spcAft>
            </a:pPr>
            <a:r>
              <a:rPr sz="1600" i="1">
                <a:solidFill>
                  <a:srgbClr val="8795A1"/>
                </a:solidFill>
                <a:latin typeface="Consolas"/>
              </a:rPr>
              <a:t># Compare an emulated disk controller against a paravirtualized one.</a:t>
            </a:r>
          </a:p>
          <a:p>
            <a:pPr>
              <a:lnSpc>
                <a:spcPct val="100000"/>
              </a:lnSpc>
              <a:spcAft>
                <a:spcPts val="0"/>
              </a:spcAft>
            </a:pPr>
            <a:r>
              <a:rPr sz="1600" i="1">
                <a:solidFill>
                  <a:srgbClr val="8795A1"/>
                </a:solidFill>
                <a:latin typeface="Consolas"/>
              </a:rPr>
              <a:t># The guest must be stopped to change its disk bus.</a:t>
            </a:r>
          </a:p>
          <a:p>
            <a:pPr>
              <a:lnSpc>
                <a:spcPct val="100000"/>
              </a:lnSpc>
              <a:spcAft>
                <a:spcPts val="0"/>
              </a:spcAft>
            </a:pPr>
            <a:r>
              <a:rPr sz="1600" i="0">
                <a:solidFill>
                  <a:srgbClr val="E8EDF2"/>
                </a:solidFill>
                <a:latin typeface="Consolas"/>
              </a:rPr>
              <a:t>sudo</a:t>
            </a:r>
            <a:r>
              <a:rPr sz="1600" i="0">
                <a:solidFill>
                  <a:srgbClr val="E8EDF2"/>
                </a:solidFill>
                <a:latin typeface="Consolas"/>
              </a:rPr>
              <a:t> </a:t>
            </a:r>
            <a:r>
              <a:rPr sz="1600" i="0">
                <a:solidFill>
                  <a:srgbClr val="E8EDF2"/>
                </a:solidFill>
                <a:latin typeface="Consolas"/>
              </a:rPr>
              <a:t>virsh</a:t>
            </a:r>
            <a:r>
              <a:rPr sz="1600" i="0">
                <a:solidFill>
                  <a:srgbClr val="E8EDF2"/>
                </a:solidFill>
                <a:latin typeface="Consolas"/>
              </a:rPr>
              <a:t> </a:t>
            </a:r>
            <a:r>
              <a:rPr sz="1600" i="0">
                <a:solidFill>
                  <a:srgbClr val="E8EDF2"/>
                </a:solidFill>
                <a:latin typeface="Consolas"/>
              </a:rPr>
              <a:t>destroy</a:t>
            </a:r>
            <a:r>
              <a:rPr sz="1600" i="0">
                <a:solidFill>
                  <a:srgbClr val="E8EDF2"/>
                </a:solidFill>
                <a:latin typeface="Consolas"/>
              </a:rPr>
              <a:t> </a:t>
            </a:r>
            <a:r>
              <a:rPr sz="1600" i="0">
                <a:solidFill>
                  <a:srgbClr val="E8EDF2"/>
                </a:solidFill>
                <a:latin typeface="Consolas"/>
              </a:rPr>
              <a:t>vss1</a:t>
            </a:r>
          </a:p>
          <a:p>
            <a:pPr>
              <a:lnSpc>
                <a:spcPct val="100000"/>
              </a:lnSpc>
              <a:spcAft>
                <a:spcPts val="0"/>
              </a:spcAft>
            </a:pPr>
            <a:r>
              <a:rPr sz="1600" i="0">
                <a:solidFill>
                  <a:srgbClr val="C39BD3"/>
                </a:solidFill>
                <a:latin typeface="Consolas"/>
              </a:rPr>
              <a:t>echo</a:t>
            </a:r>
            <a:r>
              <a:rPr sz="1600" i="0">
                <a:solidFill>
                  <a:srgbClr val="E8EDF2"/>
                </a:solidFill>
                <a:latin typeface="Consolas"/>
              </a:rPr>
              <a:t> </a:t>
            </a:r>
            <a:r>
              <a:rPr sz="1600" i="0">
                <a:solidFill>
                  <a:srgbClr val="7DCEA0"/>
                </a:solidFill>
                <a:latin typeface="Consolas"/>
              </a:rPr>
              <a:t>"=== emulated SATA controller ==="</a:t>
            </a:r>
          </a:p>
          <a:p>
            <a:pPr>
              <a:lnSpc>
                <a:spcPct val="100000"/>
              </a:lnSpc>
              <a:spcAft>
                <a:spcPts val="0"/>
              </a:spcAft>
            </a:pPr>
            <a:r>
              <a:rPr sz="1600" i="0">
                <a:solidFill>
                  <a:srgbClr val="E8EDF2"/>
                </a:solidFill>
                <a:latin typeface="Consolas"/>
              </a:rPr>
              <a:t>sudo</a:t>
            </a:r>
            <a:r>
              <a:rPr sz="1600" i="0">
                <a:solidFill>
                  <a:srgbClr val="E8EDF2"/>
                </a:solidFill>
                <a:latin typeface="Consolas"/>
              </a:rPr>
              <a:t> </a:t>
            </a:r>
            <a:r>
              <a:rPr sz="1600" i="0">
                <a:solidFill>
                  <a:srgbClr val="E8EDF2"/>
                </a:solidFill>
                <a:latin typeface="Consolas"/>
              </a:rPr>
              <a:t>virt-xml</a:t>
            </a:r>
            <a:r>
              <a:rPr sz="1600" i="0">
                <a:solidFill>
                  <a:srgbClr val="E8EDF2"/>
                </a:solidFill>
                <a:latin typeface="Consolas"/>
              </a:rPr>
              <a:t> </a:t>
            </a:r>
            <a:r>
              <a:rPr sz="1600" i="0">
                <a:solidFill>
                  <a:srgbClr val="E8EDF2"/>
                </a:solidFill>
                <a:latin typeface="Consolas"/>
              </a:rPr>
              <a:t>vss1</a:t>
            </a:r>
            <a:r>
              <a:rPr sz="1600" i="0">
                <a:solidFill>
                  <a:srgbClr val="E8EDF2"/>
                </a:solidFill>
                <a:latin typeface="Consolas"/>
              </a:rPr>
              <a:t> </a:t>
            </a:r>
            <a:r>
              <a:rPr sz="1600" i="0">
                <a:solidFill>
                  <a:srgbClr val="E8EDF2"/>
                </a:solidFill>
                <a:latin typeface="Consolas"/>
              </a:rPr>
              <a:t>--edit</a:t>
            </a:r>
            <a:r>
              <a:rPr sz="1600" i="0">
                <a:solidFill>
                  <a:srgbClr val="E8EDF2"/>
                </a:solidFill>
                <a:latin typeface="Consolas"/>
              </a:rPr>
              <a:t> </a:t>
            </a:r>
            <a:r>
              <a:rPr sz="1600" i="0">
                <a:solidFill>
                  <a:srgbClr val="E8EDF2"/>
                </a:solidFill>
                <a:latin typeface="Consolas"/>
              </a:rPr>
              <a:t>target</a:t>
            </a:r>
            <a:r>
              <a:rPr sz="1600" i="0">
                <a:solidFill>
                  <a:srgbClr val="AEB6BF"/>
                </a:solidFill>
                <a:latin typeface="Consolas"/>
              </a:rPr>
              <a:t>=</a:t>
            </a:r>
            <a:r>
              <a:rPr sz="1600" i="0">
                <a:solidFill>
                  <a:srgbClr val="E8EDF2"/>
                </a:solidFill>
                <a:latin typeface="Consolas"/>
              </a:rPr>
              <a:t>vda</a:t>
            </a:r>
            <a:r>
              <a:rPr sz="1600" i="0">
                <a:solidFill>
                  <a:srgbClr val="E8EDF2"/>
                </a:solidFill>
                <a:latin typeface="Consolas"/>
              </a:rPr>
              <a:t> </a:t>
            </a:r>
            <a:r>
              <a:rPr sz="1600" i="0">
                <a:solidFill>
                  <a:srgbClr val="E8EDF2"/>
                </a:solidFill>
                <a:latin typeface="Consolas"/>
              </a:rPr>
              <a:t>--disk</a:t>
            </a:r>
            <a:r>
              <a:rPr sz="1600" i="0">
                <a:solidFill>
                  <a:srgbClr val="E8EDF2"/>
                </a:solidFill>
                <a:latin typeface="Consolas"/>
              </a:rPr>
              <a:t> </a:t>
            </a:r>
            <a:r>
              <a:rPr sz="1600" i="0">
                <a:solidFill>
                  <a:srgbClr val="E8EDF2"/>
                </a:solidFill>
                <a:latin typeface="Consolas"/>
              </a:rPr>
              <a:t>bus</a:t>
            </a:r>
            <a:r>
              <a:rPr sz="1600" i="0">
                <a:solidFill>
                  <a:srgbClr val="AEB6BF"/>
                </a:solidFill>
                <a:latin typeface="Consolas"/>
              </a:rPr>
              <a:t>=</a:t>
            </a:r>
            <a:r>
              <a:rPr sz="1600" i="0">
                <a:solidFill>
                  <a:srgbClr val="E8EDF2"/>
                </a:solidFill>
                <a:latin typeface="Consolas"/>
              </a:rPr>
              <a:t>sata</a:t>
            </a:r>
          </a:p>
          <a:p>
            <a:pPr>
              <a:lnSpc>
                <a:spcPct val="100000"/>
              </a:lnSpc>
              <a:spcAft>
                <a:spcPts val="0"/>
              </a:spcAft>
            </a:pPr>
            <a:r>
              <a:rPr sz="1600" i="0">
                <a:solidFill>
                  <a:srgbClr val="E8EDF2"/>
                </a:solidFill>
                <a:latin typeface="Consolas"/>
              </a:rPr>
              <a:t>sudo</a:t>
            </a:r>
            <a:r>
              <a:rPr sz="1600" i="0">
                <a:solidFill>
                  <a:srgbClr val="E8EDF2"/>
                </a:solidFill>
                <a:latin typeface="Consolas"/>
              </a:rPr>
              <a:t> </a:t>
            </a:r>
            <a:r>
              <a:rPr sz="1600" i="0">
                <a:solidFill>
                  <a:srgbClr val="E8EDF2"/>
                </a:solidFill>
                <a:latin typeface="Consolas"/>
              </a:rPr>
              <a:t>virsh</a:t>
            </a:r>
            <a:r>
              <a:rPr sz="1600" i="0">
                <a:solidFill>
                  <a:srgbClr val="E8EDF2"/>
                </a:solidFill>
                <a:latin typeface="Consolas"/>
              </a:rPr>
              <a:t> </a:t>
            </a:r>
            <a:r>
              <a:rPr sz="1600" i="0">
                <a:solidFill>
                  <a:srgbClr val="E8EDF2"/>
                </a:solidFill>
                <a:latin typeface="Consolas"/>
              </a:rPr>
              <a:t>start</a:t>
            </a:r>
            <a:r>
              <a:rPr sz="1600" i="0">
                <a:solidFill>
                  <a:srgbClr val="E8EDF2"/>
                </a:solidFill>
                <a:latin typeface="Consolas"/>
              </a:rPr>
              <a:t> </a:t>
            </a:r>
            <a:r>
              <a:rPr sz="1600" i="0">
                <a:solidFill>
                  <a:srgbClr val="E8EDF2"/>
                </a:solidFill>
                <a:latin typeface="Consolas"/>
              </a:rPr>
              <a:t>vss1</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sleep</a:t>
            </a:r>
            <a:r>
              <a:rPr sz="1600" i="0">
                <a:solidFill>
                  <a:srgbClr val="E8EDF2"/>
                </a:solidFill>
                <a:latin typeface="Consolas"/>
              </a:rPr>
              <a:t> </a:t>
            </a:r>
            <a:r>
              <a:rPr sz="1600" i="0">
                <a:solidFill>
                  <a:srgbClr val="F7DC6F"/>
                </a:solidFill>
                <a:latin typeface="Consolas"/>
              </a:rPr>
              <a:t>25</a:t>
            </a:r>
          </a:p>
          <a:p>
            <a:pPr>
              <a:lnSpc>
                <a:spcPct val="100000"/>
              </a:lnSpc>
              <a:spcAft>
                <a:spcPts val="0"/>
              </a:spcAft>
            </a:pPr>
            <a:r>
              <a:rPr sz="1600" i="0">
                <a:solidFill>
                  <a:srgbClr val="E8EDF2"/>
                </a:solidFill>
                <a:latin typeface="Consolas"/>
              </a:rPr>
              <a:t>in_guest</a:t>
            </a:r>
            <a:r>
              <a:rPr sz="1600" i="0">
                <a:solidFill>
                  <a:srgbClr val="E8EDF2"/>
                </a:solidFill>
                <a:latin typeface="Consolas"/>
              </a:rPr>
              <a:t> </a:t>
            </a:r>
            <a:r>
              <a:rPr sz="1600" i="0">
                <a:solidFill>
                  <a:srgbClr val="7DCEA0"/>
                </a:solidFill>
                <a:latin typeface="Consolas"/>
              </a:rPr>
              <a:t>"sudo dd if=/dev/sda of=/dev/null bs=1M count=512 iflag=direct"</a:t>
            </a:r>
          </a:p>
          <a:p>
            <a:pPr>
              <a:lnSpc>
                <a:spcPct val="100000"/>
              </a:lnSpc>
              <a:spcAft>
                <a:spcPts val="0"/>
              </a:spcAft>
            </a:pPr>
            <a:r>
              <a:rPr sz="1600">
                <a:latin typeface="Consolas"/>
              </a:rPr>
              <a:t> </a:t>
            </a:r>
          </a:p>
          <a:p>
            <a:pPr>
              <a:lnSpc>
                <a:spcPct val="100000"/>
              </a:lnSpc>
              <a:spcAft>
                <a:spcPts val="0"/>
              </a:spcAft>
            </a:pPr>
            <a:r>
              <a:rPr sz="1600" i="0">
                <a:solidFill>
                  <a:srgbClr val="E8EDF2"/>
                </a:solidFill>
                <a:latin typeface="Consolas"/>
              </a:rPr>
              <a:t>sudo</a:t>
            </a:r>
            <a:r>
              <a:rPr sz="1600" i="0">
                <a:solidFill>
                  <a:srgbClr val="E8EDF2"/>
                </a:solidFill>
                <a:latin typeface="Consolas"/>
              </a:rPr>
              <a:t> </a:t>
            </a:r>
            <a:r>
              <a:rPr sz="1600" i="0">
                <a:solidFill>
                  <a:srgbClr val="E8EDF2"/>
                </a:solidFill>
                <a:latin typeface="Consolas"/>
              </a:rPr>
              <a:t>virsh</a:t>
            </a:r>
            <a:r>
              <a:rPr sz="1600" i="0">
                <a:solidFill>
                  <a:srgbClr val="E8EDF2"/>
                </a:solidFill>
                <a:latin typeface="Consolas"/>
              </a:rPr>
              <a:t> </a:t>
            </a:r>
            <a:r>
              <a:rPr sz="1600" i="0">
                <a:solidFill>
                  <a:srgbClr val="E8EDF2"/>
                </a:solidFill>
                <a:latin typeface="Consolas"/>
              </a:rPr>
              <a:t>destroy</a:t>
            </a:r>
            <a:r>
              <a:rPr sz="1600" i="0">
                <a:solidFill>
                  <a:srgbClr val="E8EDF2"/>
                </a:solidFill>
                <a:latin typeface="Consolas"/>
              </a:rPr>
              <a:t> </a:t>
            </a:r>
            <a:r>
              <a:rPr sz="1600" i="0">
                <a:solidFill>
                  <a:srgbClr val="E8EDF2"/>
                </a:solidFill>
                <a:latin typeface="Consolas"/>
              </a:rPr>
              <a:t>vss1</a:t>
            </a:r>
          </a:p>
          <a:p>
            <a:pPr>
              <a:lnSpc>
                <a:spcPct val="100000"/>
              </a:lnSpc>
              <a:spcAft>
                <a:spcPts val="0"/>
              </a:spcAft>
            </a:pPr>
            <a:r>
              <a:rPr sz="1600" i="0">
                <a:solidFill>
                  <a:srgbClr val="C39BD3"/>
                </a:solidFill>
                <a:latin typeface="Consolas"/>
              </a:rPr>
              <a:t>echo</a:t>
            </a:r>
            <a:r>
              <a:rPr sz="1600" i="0">
                <a:solidFill>
                  <a:srgbClr val="E8EDF2"/>
                </a:solidFill>
                <a:latin typeface="Consolas"/>
              </a:rPr>
              <a:t> </a:t>
            </a:r>
            <a:r>
              <a:rPr sz="1600" i="0">
                <a:solidFill>
                  <a:srgbClr val="7DCEA0"/>
                </a:solidFill>
                <a:latin typeface="Consolas"/>
              </a:rPr>
              <a:t>"=== virtio (paravirtualized) ==="</a:t>
            </a:r>
          </a:p>
          <a:p>
            <a:pPr>
              <a:lnSpc>
                <a:spcPct val="100000"/>
              </a:lnSpc>
              <a:spcAft>
                <a:spcPts val="0"/>
              </a:spcAft>
            </a:pPr>
            <a:r>
              <a:rPr sz="1600" i="0">
                <a:solidFill>
                  <a:srgbClr val="E8EDF2"/>
                </a:solidFill>
                <a:latin typeface="Consolas"/>
              </a:rPr>
              <a:t>sudo</a:t>
            </a:r>
            <a:r>
              <a:rPr sz="1600" i="0">
                <a:solidFill>
                  <a:srgbClr val="E8EDF2"/>
                </a:solidFill>
                <a:latin typeface="Consolas"/>
              </a:rPr>
              <a:t> </a:t>
            </a:r>
            <a:r>
              <a:rPr sz="1600" i="0">
                <a:solidFill>
                  <a:srgbClr val="E8EDF2"/>
                </a:solidFill>
                <a:latin typeface="Consolas"/>
              </a:rPr>
              <a:t>virt-xml</a:t>
            </a:r>
            <a:r>
              <a:rPr sz="1600" i="0">
                <a:solidFill>
                  <a:srgbClr val="E8EDF2"/>
                </a:solidFill>
                <a:latin typeface="Consolas"/>
              </a:rPr>
              <a:t> </a:t>
            </a:r>
            <a:r>
              <a:rPr sz="1600" i="0">
                <a:solidFill>
                  <a:srgbClr val="E8EDF2"/>
                </a:solidFill>
                <a:latin typeface="Consolas"/>
              </a:rPr>
              <a:t>vss1</a:t>
            </a:r>
            <a:r>
              <a:rPr sz="1600" i="0">
                <a:solidFill>
                  <a:srgbClr val="E8EDF2"/>
                </a:solidFill>
                <a:latin typeface="Consolas"/>
              </a:rPr>
              <a:t> </a:t>
            </a:r>
            <a:r>
              <a:rPr sz="1600" i="0">
                <a:solidFill>
                  <a:srgbClr val="E8EDF2"/>
                </a:solidFill>
                <a:latin typeface="Consolas"/>
              </a:rPr>
              <a:t>--edit</a:t>
            </a:r>
            <a:r>
              <a:rPr sz="1600" i="0">
                <a:solidFill>
                  <a:srgbClr val="E8EDF2"/>
                </a:solidFill>
                <a:latin typeface="Consolas"/>
              </a:rPr>
              <a:t> </a:t>
            </a:r>
            <a:r>
              <a:rPr sz="1600" i="0">
                <a:solidFill>
                  <a:srgbClr val="E8EDF2"/>
                </a:solidFill>
                <a:latin typeface="Consolas"/>
              </a:rPr>
              <a:t>target</a:t>
            </a:r>
            <a:r>
              <a:rPr sz="1600" i="0">
                <a:solidFill>
                  <a:srgbClr val="AEB6BF"/>
                </a:solidFill>
                <a:latin typeface="Consolas"/>
              </a:rPr>
              <a:t>=</a:t>
            </a:r>
            <a:r>
              <a:rPr sz="1600" i="0">
                <a:solidFill>
                  <a:srgbClr val="E8EDF2"/>
                </a:solidFill>
                <a:latin typeface="Consolas"/>
              </a:rPr>
              <a:t>sda</a:t>
            </a:r>
            <a:r>
              <a:rPr sz="1600" i="0">
                <a:solidFill>
                  <a:srgbClr val="E8EDF2"/>
                </a:solidFill>
                <a:latin typeface="Consolas"/>
              </a:rPr>
              <a:t> </a:t>
            </a:r>
            <a:r>
              <a:rPr sz="1600" i="0">
                <a:solidFill>
                  <a:srgbClr val="E8EDF2"/>
                </a:solidFill>
                <a:latin typeface="Consolas"/>
              </a:rPr>
              <a:t>--disk</a:t>
            </a:r>
            <a:r>
              <a:rPr sz="1600" i="0">
                <a:solidFill>
                  <a:srgbClr val="E8EDF2"/>
                </a:solidFill>
                <a:latin typeface="Consolas"/>
              </a:rPr>
              <a:t> </a:t>
            </a:r>
            <a:r>
              <a:rPr sz="1600" i="0">
                <a:solidFill>
                  <a:srgbClr val="E8EDF2"/>
                </a:solidFill>
                <a:latin typeface="Consolas"/>
              </a:rPr>
              <a:t>bus</a:t>
            </a:r>
            <a:r>
              <a:rPr sz="1600" i="0">
                <a:solidFill>
                  <a:srgbClr val="AEB6BF"/>
                </a:solidFill>
                <a:latin typeface="Consolas"/>
              </a:rPr>
              <a:t>=</a:t>
            </a:r>
            <a:r>
              <a:rPr sz="1600" i="0">
                <a:solidFill>
                  <a:srgbClr val="E8EDF2"/>
                </a:solidFill>
                <a:latin typeface="Consolas"/>
              </a:rPr>
              <a:t>virtio</a:t>
            </a:r>
          </a:p>
          <a:p>
            <a:pPr>
              <a:lnSpc>
                <a:spcPct val="100000"/>
              </a:lnSpc>
              <a:spcAft>
                <a:spcPts val="0"/>
              </a:spcAft>
            </a:pPr>
            <a:r>
              <a:rPr sz="1600" i="0">
                <a:solidFill>
                  <a:srgbClr val="E8EDF2"/>
                </a:solidFill>
                <a:latin typeface="Consolas"/>
              </a:rPr>
              <a:t>sudo</a:t>
            </a:r>
            <a:r>
              <a:rPr sz="1600" i="0">
                <a:solidFill>
                  <a:srgbClr val="E8EDF2"/>
                </a:solidFill>
                <a:latin typeface="Consolas"/>
              </a:rPr>
              <a:t> </a:t>
            </a:r>
            <a:r>
              <a:rPr sz="1600" i="0">
                <a:solidFill>
                  <a:srgbClr val="E8EDF2"/>
                </a:solidFill>
                <a:latin typeface="Consolas"/>
              </a:rPr>
              <a:t>virsh</a:t>
            </a:r>
            <a:r>
              <a:rPr sz="1600" i="0">
                <a:solidFill>
                  <a:srgbClr val="E8EDF2"/>
                </a:solidFill>
                <a:latin typeface="Consolas"/>
              </a:rPr>
              <a:t> </a:t>
            </a:r>
            <a:r>
              <a:rPr sz="1600" i="0">
                <a:solidFill>
                  <a:srgbClr val="E8EDF2"/>
                </a:solidFill>
                <a:latin typeface="Consolas"/>
              </a:rPr>
              <a:t>start</a:t>
            </a:r>
            <a:r>
              <a:rPr sz="1600" i="0">
                <a:solidFill>
                  <a:srgbClr val="E8EDF2"/>
                </a:solidFill>
                <a:latin typeface="Consolas"/>
              </a:rPr>
              <a:t> </a:t>
            </a:r>
            <a:r>
              <a:rPr sz="1600" i="0">
                <a:solidFill>
                  <a:srgbClr val="E8EDF2"/>
                </a:solidFill>
                <a:latin typeface="Consolas"/>
              </a:rPr>
              <a:t>vss1</a:t>
            </a:r>
            <a:r>
              <a:rPr sz="1600" i="0">
                <a:solidFill>
                  <a:srgbClr val="E8EDF2"/>
                </a:solidFill>
                <a:latin typeface="Consolas"/>
              </a:rPr>
              <a:t> </a:t>
            </a:r>
            <a:r>
              <a:rPr sz="1600" i="0">
                <a:solidFill>
                  <a:srgbClr val="AEB6BF"/>
                </a:solidFill>
                <a:latin typeface="Consolas"/>
              </a:rPr>
              <a:t>;</a:t>
            </a:r>
            <a:r>
              <a:rPr sz="1600" i="0">
                <a:solidFill>
                  <a:srgbClr val="E8EDF2"/>
                </a:solidFill>
                <a:latin typeface="Consolas"/>
              </a:rPr>
              <a:t> </a:t>
            </a:r>
            <a:r>
              <a:rPr sz="1600" i="0">
                <a:solidFill>
                  <a:srgbClr val="E8EDF2"/>
                </a:solidFill>
                <a:latin typeface="Consolas"/>
              </a:rPr>
              <a:t>sleep</a:t>
            </a:r>
            <a:r>
              <a:rPr sz="1600" i="0">
                <a:solidFill>
                  <a:srgbClr val="E8EDF2"/>
                </a:solidFill>
                <a:latin typeface="Consolas"/>
              </a:rPr>
              <a:t> </a:t>
            </a:r>
            <a:r>
              <a:rPr sz="1600" i="0">
                <a:solidFill>
                  <a:srgbClr val="F7DC6F"/>
                </a:solidFill>
                <a:latin typeface="Consolas"/>
              </a:rPr>
              <a:t>25</a:t>
            </a:r>
          </a:p>
          <a:p>
            <a:pPr>
              <a:lnSpc>
                <a:spcPct val="100000"/>
              </a:lnSpc>
              <a:spcAft>
                <a:spcPts val="0"/>
              </a:spcAft>
            </a:pPr>
            <a:r>
              <a:rPr sz="1600" i="0">
                <a:solidFill>
                  <a:srgbClr val="E8EDF2"/>
                </a:solidFill>
                <a:latin typeface="Consolas"/>
              </a:rPr>
              <a:t>in_guest</a:t>
            </a:r>
            <a:r>
              <a:rPr sz="1600" i="0">
                <a:solidFill>
                  <a:srgbClr val="E8EDF2"/>
                </a:solidFill>
                <a:latin typeface="Consolas"/>
              </a:rPr>
              <a:t> </a:t>
            </a:r>
            <a:r>
              <a:rPr sz="1600" i="0">
                <a:solidFill>
                  <a:srgbClr val="7DCEA0"/>
                </a:solidFill>
                <a:latin typeface="Consolas"/>
              </a:rPr>
              <a:t>"sudo dd if=/dev/vda of=/dev/null bs=1M count=512 iflag=direct"</a:t>
            </a:r>
          </a:p>
        </p:txBody>
      </p:sp>
      <p:sp>
        <p:nvSpPr>
          <p:cNvPr id="15" name="!!code-num"/>
          <p:cNvSpPr txBox="1"/>
          <p:nvPr/>
        </p:nvSpPr>
        <p:spPr>
          <a:xfrm>
            <a:off x="768096" y="2523744"/>
            <a:ext cx="393192" cy="3523487"/>
          </a:xfrm>
          <a:prstGeom prst="rect">
            <a:avLst/>
          </a:prstGeom>
          <a:noFill/>
        </p:spPr>
        <p:txBody>
          <a:bodyPr wrap="none" anchor="t" lIns="0" rIns="0" tIns="0" bIns="0">
            <a:noAutofit/>
          </a:bodyPr>
          <a:lstStyle/>
          <a:p>
            <a:pPr algn="r">
              <a:lnSpc>
                <a:spcPct val="100000"/>
              </a:lnSpc>
            </a:pPr>
            <a:r>
              <a:rPr sz="1600">
                <a:solidFill>
                  <a:srgbClr val="4F5D6A"/>
                </a:solidFill>
                <a:latin typeface="Consolas"/>
              </a:rPr>
              <a:t>28</a:t>
            </a:r>
          </a:p>
          <a:p>
            <a:pPr algn="r">
              <a:lnSpc>
                <a:spcPct val="100000"/>
              </a:lnSpc>
            </a:pPr>
            <a:r>
              <a:rPr sz="1600">
                <a:solidFill>
                  <a:srgbClr val="4F5D6A"/>
                </a:solidFill>
                <a:latin typeface="Consolas"/>
              </a:rPr>
              <a:t>29</a:t>
            </a:r>
          </a:p>
          <a:p>
            <a:pPr algn="r">
              <a:lnSpc>
                <a:spcPct val="100000"/>
              </a:lnSpc>
            </a:pPr>
            <a:r>
              <a:rPr sz="1600">
                <a:solidFill>
                  <a:srgbClr val="4F5D6A"/>
                </a:solidFill>
                <a:latin typeface="Consolas"/>
              </a:rPr>
              <a:t>30</a:t>
            </a:r>
          </a:p>
          <a:p>
            <a:pPr algn="r">
              <a:lnSpc>
                <a:spcPct val="100000"/>
              </a:lnSpc>
            </a:pPr>
            <a:r>
              <a:rPr sz="1600">
                <a:solidFill>
                  <a:srgbClr val="4F5D6A"/>
                </a:solidFill>
                <a:latin typeface="Consolas"/>
              </a:rPr>
              <a:t>31</a:t>
            </a:r>
          </a:p>
          <a:p>
            <a:pPr algn="r">
              <a:lnSpc>
                <a:spcPct val="100000"/>
              </a:lnSpc>
            </a:pPr>
            <a:r>
              <a:rPr sz="1600">
                <a:solidFill>
                  <a:srgbClr val="4F5D6A"/>
                </a:solidFill>
                <a:latin typeface="Consolas"/>
              </a:rPr>
              <a:t>32</a:t>
            </a:r>
          </a:p>
          <a:p>
            <a:pPr algn="r">
              <a:lnSpc>
                <a:spcPct val="100000"/>
              </a:lnSpc>
            </a:pPr>
            <a:r>
              <a:rPr sz="1600">
                <a:solidFill>
                  <a:srgbClr val="4F5D6A"/>
                </a:solidFill>
                <a:latin typeface="Consolas"/>
              </a:rPr>
              <a:t>33</a:t>
            </a:r>
          </a:p>
          <a:p>
            <a:pPr algn="r">
              <a:lnSpc>
                <a:spcPct val="100000"/>
              </a:lnSpc>
            </a:pPr>
            <a:r>
              <a:rPr sz="1600">
                <a:solidFill>
                  <a:srgbClr val="4F5D6A"/>
                </a:solidFill>
                <a:latin typeface="Consolas"/>
              </a:rPr>
              <a:t>34</a:t>
            </a:r>
          </a:p>
          <a:p>
            <a:pPr algn="r">
              <a:lnSpc>
                <a:spcPct val="100000"/>
              </a:lnSpc>
            </a:pPr>
            <a:r>
              <a:rPr sz="1600">
                <a:solidFill>
                  <a:srgbClr val="4F5D6A"/>
                </a:solidFill>
                <a:latin typeface="Consolas"/>
              </a:rPr>
              <a:t>35</a:t>
            </a:r>
          </a:p>
          <a:p>
            <a:pPr algn="r">
              <a:lnSpc>
                <a:spcPct val="100000"/>
              </a:lnSpc>
            </a:pPr>
            <a:r>
              <a:rPr sz="1600">
                <a:solidFill>
                  <a:srgbClr val="4F5D6A"/>
                </a:solidFill>
                <a:latin typeface="Consolas"/>
              </a:rPr>
              <a:t>36</a:t>
            </a:r>
          </a:p>
          <a:p>
            <a:pPr algn="r">
              <a:lnSpc>
                <a:spcPct val="100000"/>
              </a:lnSpc>
            </a:pPr>
            <a:r>
              <a:rPr sz="1600">
                <a:solidFill>
                  <a:srgbClr val="4F5D6A"/>
                </a:solidFill>
                <a:latin typeface="Consolas"/>
              </a:rPr>
              <a:t>37</a:t>
            </a:r>
          </a:p>
          <a:p>
            <a:pPr algn="r">
              <a:lnSpc>
                <a:spcPct val="100000"/>
              </a:lnSpc>
            </a:pPr>
            <a:r>
              <a:rPr sz="1600">
                <a:solidFill>
                  <a:srgbClr val="4F5D6A"/>
                </a:solidFill>
                <a:latin typeface="Consolas"/>
              </a:rPr>
              <a:t>38</a:t>
            </a:r>
          </a:p>
          <a:p>
            <a:pPr algn="r">
              <a:lnSpc>
                <a:spcPct val="100000"/>
              </a:lnSpc>
            </a:pPr>
            <a:r>
              <a:rPr sz="1600">
                <a:solidFill>
                  <a:srgbClr val="4F5D6A"/>
                </a:solidFill>
                <a:latin typeface="Consolas"/>
              </a:rPr>
              <a:t>39</a:t>
            </a:r>
          </a:p>
          <a:p>
            <a:pPr algn="r">
              <a:lnSpc>
                <a:spcPct val="100000"/>
              </a:lnSpc>
            </a:pPr>
            <a:r>
              <a:rPr sz="1600">
                <a:solidFill>
                  <a:srgbClr val="4F5D6A"/>
                </a:solidFill>
                <a:latin typeface="Consolas"/>
              </a:rPr>
              <a:t>40</a:t>
            </a:r>
          </a:p>
          <a:p>
            <a:pPr algn="r">
              <a:lnSpc>
                <a:spcPct val="100000"/>
              </a:lnSpc>
            </a:pPr>
            <a:r>
              <a:rPr sz="16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Three Architectures, One Workload</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6</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2F900539-6552-4446-AFFD-CF9489F2C00C}"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52143"/>
          </a:xfrm>
          <a:prstGeom prst="roundRect">
            <a:avLst>
              <a:gd name="adj" fmla="val 79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Tear down ------------------------------------------------------- sudo virsh destroy vss1 || true"/>
          <p:cNvSpPr txBox="1"/>
          <p:nvPr/>
        </p:nvSpPr>
        <p:spPr>
          <a:xfrm>
            <a:off x="1362456" y="2523744"/>
            <a:ext cx="9987991" cy="6583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Tear down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destroy</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p:txBody>
      </p:sp>
      <p:sp>
        <p:nvSpPr>
          <p:cNvPr id="15" name="!!code-num"/>
          <p:cNvSpPr txBox="1"/>
          <p:nvPr/>
        </p:nvSpPr>
        <p:spPr>
          <a:xfrm>
            <a:off x="768096" y="2523744"/>
            <a:ext cx="393192" cy="6583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§2.4  ·  Handout p. 16     </a:t>
            </a:r>
            <a:fld id="{D123F657-4E20-4EAF-A2BB-A2B27295257D}"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three CPU numbers will be within a few per cent of each other and the two disk numbers will not be within a factor of three. Write both pairs down: the worked example above claims a pattern, and this is you checking it on your own hardware rather than believing 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hypervisor runs on a stripped Linux installation that exists only to boot it and offers no shell to users. Is it Type-1 or Type-2, and what is the more useful question to ask about it instead?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  ·  Virtualization Architectures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  ·  answers in Appendix D     </a:t>
            </a:r>
            <a:fld id="{2177D51A-41EE-48F9-9DF5-D520753D8587}"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hypervisor runs on a stripped Linux installation that exists only to boot it and offers no shell to users. Is it Type-1 or Type-2, and what is the more useful question to ask about it instead?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By Goldberg’s test it is </a:t>
            </a:r>
            <a:r>
              <a:rPr sz="2200" b="1" i="0">
                <a:solidFill>
                  <a:srgbClr val="1C252B"/>
                </a:solidFill>
                <a:latin typeface="Segoe UI"/>
              </a:rPr>
              <a:t>Type-1</a:t>
            </a:r>
            <a:r>
              <a:rPr sz="2200" b="0" i="0">
                <a:solidFill>
                  <a:srgbClr val="1C252B"/>
                </a:solidFill>
                <a:latin typeface="Segoe UI"/>
              </a:rPr>
              <a:t>: the hypervisor reaches the hardware without another operating system’s permission, and the stripped Linux exists only to boot it. The more useful questions are </a:t>
            </a:r>
            <a:r>
              <a:rPr sz="2200" b="0" i="1">
                <a:solidFill>
                  <a:srgbClr val="1C252B"/>
                </a:solidFill>
                <a:latin typeface="Segoe UI"/>
              </a:rPr>
              <a:t>how large is the trusted computing base?</a:t>
            </a:r>
            <a:r>
              <a:rPr sz="2200" b="0" i="0">
                <a:solidFill>
                  <a:srgbClr val="1C252B"/>
                </a:solidFill>
                <a:latin typeface="Segoe UI"/>
              </a:rPr>
              <a:t> — here, a kernel plus every driver it loads — and </a:t>
            </a:r>
            <a:r>
              <a:rPr sz="2200" b="0" i="1">
                <a:solidFill>
                  <a:srgbClr val="1C252B"/>
                </a:solidFill>
                <a:latin typeface="Segoe UI"/>
              </a:rPr>
              <a:t>what else runs on this machine?</a:t>
            </a:r>
            <a:r>
              <a:rPr sz="2200" b="0" i="0">
                <a:solidFill>
                  <a:srgbClr val="1C252B"/>
                </a:solidFill>
                <a:latin typeface="Segoe UI"/>
              </a:rPr>
              <a:t> Those decide the security and performance arguments; the Roman numeral decides neither.</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  answers in Appendix D     </a:t>
            </a:r>
            <a:fld id="{79040A53-752F-46D3-814D-9C7C57BEB9A1}"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guest completes a numerical job in 412 s where the host takes 400 s, and reads a disk at 210 MB/s where the host reads at 1,050 MB/s. Give both overheads, and say which single configuration change you would make first.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  ·  Virtualization Architectures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  ·  answers in Appendix D     </a:t>
            </a:r>
            <a:fld id="{E22E54AA-DC68-46C2-A7E0-828D2352326B}"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guest completes a numerical job in 412 s where the host takes 400 s, and reads a disk at 210 MB/s where the host reads at 1,050 MB/s. Give both overheads, and say which single configuration change you would make first.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CPU overhead is </a:t>
            </a:r>
            <a:r>
              <a:rPr sz="2200" b="0" i="0">
                <a:solidFill>
                  <a:srgbClr val="1C252B"/>
                </a:solidFill>
                <a:latin typeface="Cambria"/>
              </a:rPr>
              <a:t>(412−400)/400 = </a:t>
            </a:r>
            <a:r>
              <a:rPr sz="2200" b="1" i="0">
                <a:solidFill>
                  <a:srgbClr val="1C252B"/>
                </a:solidFill>
                <a:latin typeface="Cambria"/>
              </a:rPr>
              <a:t>3%</a:t>
            </a:r>
            <a:r>
              <a:rPr sz="2200" b="0" i="0">
                <a:solidFill>
                  <a:srgbClr val="1C252B"/>
                </a:solidFill>
                <a:latin typeface="Segoe UI"/>
              </a:rPr>
              <a:t>, which is normal. Disk throughput is </a:t>
            </a:r>
            <a:r>
              <a:rPr sz="2200" b="0" i="0">
                <a:solidFill>
                  <a:srgbClr val="1C252B"/>
                </a:solidFill>
                <a:latin typeface="Cambria"/>
              </a:rPr>
              <a:t>1 − 210/1050 = </a:t>
            </a:r>
            <a:r>
              <a:rPr sz="2200" b="1" i="0">
                <a:solidFill>
                  <a:srgbClr val="1C252B"/>
                </a:solidFill>
                <a:latin typeface="Cambria"/>
              </a:rPr>
              <a:t>80% </a:t>
            </a:r>
            <a:r>
              <a:rPr sz="2200" b="1" i="1">
                <a:solidFill>
                  <a:srgbClr val="1C252B"/>
                </a:solidFill>
                <a:latin typeface="Cambria"/>
              </a:rPr>
              <a:t>lost</a:t>
            </a:r>
            <a:r>
              <a:rPr sz="2200" b="0" i="0">
                <a:solidFill>
                  <a:srgbClr val="1C252B"/>
                </a:solidFill>
                <a:latin typeface="Segoe UI"/>
              </a:rPr>
              <a:t>, which is not. The pattern — small CPU penalty, enormous I/O penalty — is the signature of an </a:t>
            </a:r>
            <a:r>
              <a:rPr sz="2200" b="1" i="0">
                <a:solidFill>
                  <a:srgbClr val="1C252B"/>
                </a:solidFill>
                <a:latin typeface="Segoe UI"/>
              </a:rPr>
              <a:t>emulated disk controller</a:t>
            </a:r>
            <a:r>
              <a:rPr sz="2200" b="0" i="0">
                <a:solidFill>
                  <a:srgbClr val="1C252B"/>
                </a:solidFill>
                <a:latin typeface="Segoe UI"/>
              </a:rPr>
              <a:t>. Change the disk bus to virtio; expect the loss to fall to a few per cent.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  answers in Appendix D     </a:t>
            </a:r>
            <a:fld id="{CB830B7E-C8C1-4C77-8267-7638EBE0D9D8}"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018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can paravirtualization not be used for a guest operating system whose vendor has gone out of business, and what is used instead?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  ·  Virtualization Architectures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19  ·  answers in Appendix D     </a:t>
            </a:r>
            <a:fld id="{D1173CD0-A084-4183-80CC-05FECED2E7F8}"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can paravirtualization not be used for a guest operating system whose vendor has gone out of business, and what is used instead?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Paravirtualization requires modifying the guest kernel, which requires its source and the ability to rebuild it. With the vendor gone, neither exists. Use </a:t>
            </a:r>
            <a:r>
              <a:rPr sz="2200" b="1" i="0">
                <a:solidFill>
                  <a:srgbClr val="1C252B"/>
                </a:solidFill>
                <a:latin typeface="Segoe UI"/>
              </a:rPr>
              <a:t>hardware-assisted virtualization</a:t>
            </a:r>
            <a:r>
              <a:rPr sz="2200" b="0" i="0">
                <a:solidFill>
                  <a:srgbClr val="1C252B"/>
                </a:solidFill>
                <a:latin typeface="Segoe UI"/>
              </a:rPr>
              <a:t>, which needs no guest changes at all, and install paravirtualized </a:t>
            </a:r>
            <a:r>
              <a:rPr sz="2200" b="0" i="1">
                <a:solidFill>
                  <a:srgbClr val="1C252B"/>
                </a:solidFill>
                <a:latin typeface="Segoe UI"/>
              </a:rPr>
              <a:t>drivers</a:t>
            </a:r>
            <a:r>
              <a:rPr sz="2200" b="0" i="0">
                <a:solidFill>
                  <a:srgbClr val="1C252B"/>
                </a:solidFill>
                <a:latin typeface="Segoe UI"/>
              </a:rPr>
              <a:t> if any exist for that operating system — a far weaker requirement than recompiling the kernel.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  answers in Appendix D     </a:t>
            </a:r>
            <a:fld id="{0A36B231-1B31-47A0-8158-2198DCBF41AF}"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09D6EA47-9980-40C3-B9A0-F61E00C40758}"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Type-1 runs on the hardware; Type-2 runs on a host operating system. The useful questions behind the labels are the size of the trusted computing base and what else the machine does.</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KVM fits neither label cleanly, which is a fact about the labels.</a:t>
            </a:r>
          </a:p>
        </p:txBody>
      </p:sp>
      <p:sp>
        <p:nvSpPr>
          <p:cNvPr id="13" name="!!sb2">
            <a:extLst>
              <a:ext uri="{C183D7F6-B498-43B3-948B-1728B52AA6E4}">
                <adec:decorative xmlns:adec="http://schemas.microsoft.com/office/drawing/2017/decorative" val="1"/>
              </a:ext>
            </a:extLst>
          </p:cNvPr>
          <p:cNvSpPr/>
          <p:nvPr/>
        </p:nvSpPr>
        <p:spPr>
          <a:xfrm>
            <a:off x="658368" y="308518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14004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076041"/>
            <a:ext cx="102348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Three techniques handle a privileged instruction: binary translation rewrites it, paravirtualization replaces it with a hypercall the modified guest issues deliberately, and hardware assistance makes the processor trap it.</a:t>
            </a:r>
          </a:p>
        </p:txBody>
      </p:sp>
      <p:sp>
        <p:nvSpPr>
          <p:cNvPr id="16" name="!!sb3">
            <a:extLst>
              <a:ext uri="{C183D7F6-B498-43B3-948B-1728B52AA6E4}">
                <adec:decorative xmlns:adec="http://schemas.microsoft.com/office/drawing/2017/decorative" val="1"/>
              </a:ext>
            </a:extLst>
          </p:cNvPr>
          <p:cNvSpPr/>
          <p:nvPr/>
        </p:nvSpPr>
        <p:spPr>
          <a:xfrm>
            <a:off x="658368" y="412394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7880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14800"/>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No product uses one technique alone. Ask which one is used </a:t>
            </a:r>
            <a:r>
              <a:rPr sz="1800" b="0" i="1">
                <a:solidFill>
                  <a:srgbClr val="1C252B"/>
                </a:solidFill>
                <a:latin typeface="Segoe UI"/>
              </a:rPr>
              <a:t>for this operation</a:t>
            </a:r>
            <a:r>
              <a:rPr sz="1800" b="0" i="0">
                <a:solidFill>
                  <a:srgbClr val="1C252B"/>
                </a:solidFill>
                <a:latin typeface="Segoe UI"/>
              </a:rPr>
              <a:t>.</a:t>
            </a:r>
          </a:p>
        </p:txBody>
      </p:sp>
      <p:sp>
        <p:nvSpPr>
          <p:cNvPr id="19" name="!!sb4">
            <a:extLst>
              <a:ext uri="{C183D7F6-B498-43B3-948B-1728B52AA6E4}">
                <adec:decorative xmlns:adec="http://schemas.microsoft.com/office/drawing/2017/decorative" val="1"/>
              </a:ext>
            </a:extLst>
          </p:cNvPr>
          <p:cNvSpPr/>
          <p:nvPr/>
        </p:nvSpPr>
        <p:spPr>
          <a:xfrm>
            <a:off x="658368" y="470915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76402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00016"/>
            <a:ext cx="102348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Virtualization overhead is a property of how often the guest crosses the boundary, not of the hypervisor. A few per cent on arithmetic; 80% on an emulated device; 4% on the same device paravirtualized.</a:t>
            </a:r>
          </a:p>
        </p:txBody>
      </p:sp>
      <p:sp>
        <p:nvSpPr>
          <p:cNvPr id="22" name="!!sb5">
            <a:extLst>
              <a:ext uri="{C183D7F6-B498-43B3-948B-1728B52AA6E4}">
                <adec:decorative xmlns:adec="http://schemas.microsoft.com/office/drawing/2017/decorative" val="1"/>
              </a:ext>
            </a:extLst>
          </p:cNvPr>
          <p:cNvSpPr/>
          <p:nvPr/>
        </p:nvSpPr>
        <p:spPr>
          <a:xfrm>
            <a:off x="658368" y="574791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80278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738774"/>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Containers virtualize the operating system rather than the machine, trading a hardware-enforced isolation boundary for density. Neither is better, and in production they are usually stacked.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CF8C0B02-CE58-4D68-9737-57F4E3F8C15F}"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defining test for a Type-1 hypervisor is that: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no operating system is present on the host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6066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it does not need another operating system’s permission to reach the hardware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has no graphical interface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it is sold commercially</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2E3D0BB4-8EBB-4BB0-BE0D-1D8C852D75CE}" type="slidenum">
              <a:rPr lang="en-GB" sz="1000">
                <a:solidFill>
                  <a:srgbClr val="8795A1"/>
                </a:solidFill>
                <a:latin typeface="Segoe UI"/>
              </a:rPr>
              <a:t>39</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guest kernel is recompiled so that it calls the hypervisor instead of executing a privileged instruction. This is:</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binary translation</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hardware-assisted virtualization</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paravirtualization</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emulation</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2  ·  Virtualization Architectures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19     </a:t>
            </a:r>
            <a:fld id="{296DDEC3-07E6-4DA1-BE61-C85762A25259}"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State what each of the three techniques requires of a party other than the hypervisor: the guest, the processor, or neither.</a:t>
            </a:r>
          </a:p>
        </p:txBody>
      </p:sp>
      <p:sp>
        <p:nvSpPr>
          <p:cNvPr id="10" name="!!rt1">
            <a:extLst>
              <a:ext uri="{C183D7F6-B498-43B3-948B-1728B52AA6E4}">
                <adec:decorative xmlns:adec="http://schemas.microsoft.com/office/drawing/2017/decorative" val="1"/>
              </a:ext>
            </a:extLst>
          </p:cNvPr>
          <p:cNvSpPr/>
          <p:nvPr/>
        </p:nvSpPr>
        <p:spPr>
          <a:xfrm>
            <a:off x="658368" y="2482291"/>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2343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464003"/>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Explain why virtualization overhead on a compile is around 2% while overhead on an emulated network card can exceed 80%.</a:t>
            </a:r>
          </a:p>
        </p:txBody>
      </p:sp>
      <p:sp>
        <p:nvSpPr>
          <p:cNvPr id="13" name="!!rt2">
            <a:extLst>
              <a:ext uri="{C183D7F6-B498-43B3-948B-1728B52AA6E4}">
                <adec:decorative xmlns:adec="http://schemas.microsoft.com/office/drawing/2017/decorative" val="1"/>
              </a:ext>
            </a:extLst>
          </p:cNvPr>
          <p:cNvSpPr/>
          <p:nvPr/>
        </p:nvSpPr>
        <p:spPr>
          <a:xfrm>
            <a:off x="658368" y="320893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25008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190646"/>
            <a:ext cx="9549079" cy="507187"/>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Give two concrete operational consequences of a hypervisor having a 150 MB trusted computing base rather than a 600 MB one.</a:t>
            </a:r>
          </a:p>
        </p:txBody>
      </p:sp>
      <p:sp>
        <p:nvSpPr>
          <p:cNvPr id="16" name="!!rt3">
            <a:extLst>
              <a:ext uri="{C183D7F6-B498-43B3-948B-1728B52AA6E4}">
                <adec:decorative xmlns:adec="http://schemas.microsoft.com/office/drawing/2017/decorative" val="1"/>
              </a:ext>
            </a:extLst>
          </p:cNvPr>
          <p:cNvSpPr/>
          <p:nvPr/>
        </p:nvSpPr>
        <p:spPr>
          <a:xfrm>
            <a:off x="658368" y="393557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97672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917289"/>
            <a:ext cx="9549079" cy="1014374"/>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A hosting company will run customer-supplied code. It is considering (i) one container per customer on shared hosts, (ii) one virtual machine per customer, (iii) microVMs. Density, cost and isolation all matter. Argue for one, and state precisely what each of the other two would have to change for you to pick it instead.</a:t>
            </a:r>
          </a:p>
        </p:txBody>
      </p:sp>
      <p:sp>
        <p:nvSpPr>
          <p:cNvPr id="19" name="!!rt4">
            <a:extLst>
              <a:ext uri="{C183D7F6-B498-43B3-948B-1728B52AA6E4}">
                <adec:decorative xmlns:adec="http://schemas.microsoft.com/office/drawing/2017/decorative" val="1"/>
              </a:ext>
            </a:extLst>
          </p:cNvPr>
          <p:cNvSpPr/>
          <p:nvPr/>
        </p:nvSpPr>
        <p:spPr>
          <a:xfrm>
            <a:off x="658368" y="516940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21055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151120"/>
            <a:ext cx="9549079" cy="76078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You inherit a Type-2 estate on which guests are reported as “unusably slow”. List, in the order you would check them, five things that could cause this, and say what measurement would confirm or eliminate each.</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C6081"/>
                </a:solidFill>
                <a:latin typeface="Segoe UI Black"/>
              </a:rPr>
              <a:t>02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2</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3 — The Virtual Machine Monitor</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 pages 12–19</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4405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BDCB"/>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Install a hypervisor; a first guest and a snapshot</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2  ·  Virtualization Architectures</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C4D56470-DFF4-4F52-9B2B-8452E0216EC7}"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Virtualization Architectures</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