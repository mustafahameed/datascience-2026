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6DEC1A-ABCE-41F2-82EF-499BBEE50844}">
          <p14:sldIdLst>
            <p14:sldId id="256"/>
            <p14:sldId id="257"/>
            <p14:sldId id="258"/>
            <p14:sldId id="259"/>
            <p14:sldId id="260"/>
          </p14:sldIdLst>
        </p14:section>
        <p14:section name="21.1 The Trust Model Inverts" id="{82A102F8-7F50-401D-B1C8-A5797EDFDD71}">
          <p14:sldIdLst>
            <p14:sldId id="261"/>
            <p14:sldId id="262"/>
            <p14:sldId id="263"/>
          </p14:sldIdLst>
        </p14:section>
        <p14:section name="21.2 What the Hardware Does" id="{51ED3791-597E-4D90-ACC7-1735666B895D}">
          <p14:sldIdLst>
            <p14:sldId id="264"/>
            <p14:sldId id="265"/>
            <p14:sldId id="266"/>
          </p14:sldIdLst>
        </p14:section>
        <p14:section name="21.3 Where the Platforms Stand" id="{6A1D4104-74AD-4C32-BEF5-F247A08F200A}">
          <p14:sldIdLst>
            <p14:sldId id="267"/>
            <p14:sldId id="268"/>
            <p14:sldId id="269"/>
            <p14:sldId id="270"/>
            <p14:sldId id="271"/>
            <p14:sldId id="272"/>
            <p14:sldId id="273"/>
          </p14:sldIdLst>
        </p14:section>
        <p14:section name="21.4 Composable Infrastructure and CXL" id="{B8730151-0578-4B07-B0BB-1B4D1F0CFA1E}">
          <p14:sldIdLst>
            <p14:sldId id="274"/>
          </p14:sldIdLst>
        </p14:section>
        <p14:section name="Pitfalls" id="{BAE713E6-7FA5-476C-AE0F-8ED2A4120C63}">
          <p14:sldIdLst>
            <p14:sldId id="275"/>
          </p14:sldIdLst>
        </p14:section>
        <p14:section name="Lab" id="{C5CE2F1B-8AA9-4608-ACC3-6CBD3E35DECF}">
          <p14:sldIdLst>
            <p14:sldId id="276"/>
            <p14:sldId id="277"/>
            <p14:sldId id="278"/>
            <p14:sldId id="279"/>
            <p14:sldId id="280"/>
            <p14:sldId id="281"/>
            <p14:sldId id="282"/>
            <p14:sldId id="283"/>
            <p14:sldId id="284"/>
          </p14:sldIdLst>
        </p14:section>
        <p14:section name="Checkpoint" id="{76F96FE6-8D12-4A7F-9CFC-E49A4D76466C}">
          <p14:sldIdLst>
            <p14:sldId id="285"/>
            <p14:sldId id="286"/>
            <p14:sldId id="287"/>
            <p14:sldId id="288"/>
            <p14:sldId id="289"/>
            <p14:sldId id="290"/>
          </p14:sldIdLst>
        </p14:section>
        <p14:section name="Wrap-up" id="{39B2C8D7-6B5D-4501-A52F-0B77C4A066D0}">
          <p14:sldIdLst>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Confidential Computing and Emerging Hardware. Part 6 — Emerging Hardware and Practice. Week 15: Accelerators; confidential computing. Handout pages 165–171.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19 (the attack surface, and in particular who is trusted) and Chapter 4 (VMX, the VMCS and extended page tables, which are what this hardware modifies). Chapter 14’s shared responsibility model is the commercial arrangement this chapter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confidential computing; trusted execution environment; TEE; trust model; memory encryption; SEV; SEV-ES; SEV-SNP; TDX; trust domain; ARM CCA; realm; SGX; enclave; attestation; attestation report; measurement; chain of trust; confidential container; CXL; composable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so far has assumed the hypervisor is trustworthy. It schedules guests, allocates their memory and mediates their devices, and a guest has no choice but to rely on it. Chapter 19 worried about an attacker reaching the hypervisor; it never questioned the hypervisor itself. Confidential computing questions it. The guest is given a way to run on hardware it does not own, operated by people it has not met, without trusting them with its data. This matters commercially rather than philosophically. A hospital will not put patient records in a public cloud if the provider’s administrators can read them. A bank will not run a model on hardware whose operator could copy the weights. The cloud’s answer has always been contracts and audits; confidential computing offers a technical answer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21.1 (handout p. 166): The inversion. The hypervisor still schedules the guest and allocates its memory; it simply loses the ability to read it. Everything red is in the attack path and outside the trust boundary.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Dated October 2026. This is the fastest-moving material in the book; check before relying on any 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direction the hardware is moving, included because the 2017 outline asked about the future of virtualization and this is a plausible part of it. Every host in this book is a fixed box: so many cores, so much memory, bought together and discarded together. A host with spare memory cannot lend it to the host next to it, so every machine carries headroom nobody else can use — stranded capacity, at scale. CXL — Compute Express Link — allows memory to be attached to a fabric rather than to a socket, so a pool of memory can be allocated to whichever host needs it. The ambition, composable infrastructure, is to assemble a machine from pooled components for a workload and return them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Inspects a confidential VM and verifies an attestation report. Where no suitable processor is available, the captured reports in code/ make the verification exercise identical. Expect thirty-five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Does this processor support any of the three?.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From inside a guest: am I confidential?.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Ask the hardware for an attestation report..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three fields that matter, and why..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Verify the chain. This is the step people skip..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Now the attack this defends against..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What it costs: the same benchmark, confidential or not..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hostile hypervisor does more than read memory. Encryption stops it reading, and leaves it able to manipulate the mapping: the concrete attack is page remapping — giving the guest a different physical page than it had, or aliasing two guest addresses to one physical page — and replay, re-presenting an old encrypted page. The data stays encrypted throughout and the guest is compromised anyway. SEV-SNP’s reverse map table and TDX’s equivalent add the integrity check that refuses a contradictory mapping.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They are protected against an operator or an attacker reading the guest’s memory — a memory dump, a cold-boot attack, a hypervisor inspecting pages. They are not protected against the attack the technology exists to stop: an operator who boots a different image which requests the key at startup. That image’s memory is perfectly encrypted while it exfiltrates the database. Without verifying a measurement, they have bought a performance penalty.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Availability — the operator can still stop, detain or destroy the machine, so a compliance argument resting on continuity is not helped at all. Side channels — timing and cache attacks are not fully addressed, and published attacks target these systems specifically, so a claim of absolute confidentiality is overstated. (Equally acceptable: protection against your own application bugs, which leak data the ordinary way, and protection of data once it leaves the TEE.)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22 — Case Studies in Enterprise and Cloud Virtualization. READ: Handout Chapter 21, pages 165–171. THIS WEEK'S LAB: Partition a GPU; verify an attestation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3.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7.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Confidential Computing and Emerging Hardware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EMERGING HARDWARE AND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21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165     </a:t>
            </a:r>
            <a:fld id="{FF81DB28-E4D8-40C9-9A80-131D0E8120D1}"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591539"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591539" y="2029967"/>
            <a:ext cx="1822916"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56766"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8653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22807"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3136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023672"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02367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Confidential Computing and Emerging Hardware</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0" name="!!chipBU1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1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1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73" name="!!chipBU19">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19">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19"/>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 later chapter depends on it</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165     </a:t>
            </a:r>
            <a:fld id="{E1FC3643-6717-463F-B22E-2BF26E58FA2A}"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State</a:t>
            </a:r>
            <a:r>
              <a:rPr sz="2100" b="0" i="0">
                <a:solidFill>
                  <a:srgbClr val="1C252B"/>
                </a:solidFill>
                <a:latin typeface="Segoe UI"/>
              </a:rPr>
              <a:t> how the trust model inverts, and </a:t>
            </a:r>
            <a:r>
              <a:rPr sz="2100" b="1" i="0">
                <a:solidFill>
                  <a:srgbClr val="1C252B"/>
                </a:solidFill>
                <a:latin typeface="Segoe UI"/>
              </a:rPr>
              <a:t>say</a:t>
            </a:r>
            <a:r>
              <a:rPr sz="2100" b="0" i="0">
                <a:solidFill>
                  <a:srgbClr val="1C252B"/>
                </a:solidFill>
                <a:latin typeface="Segoe UI"/>
              </a:rPr>
              <a:t> what the guest stops trusting.</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Explain</a:t>
            </a:r>
            <a:r>
              <a:rPr sz="2100" b="0" i="0">
                <a:solidFill>
                  <a:srgbClr val="1C252B"/>
                </a:solidFill>
                <a:latin typeface="Segoe UI"/>
              </a:rPr>
              <a:t> memory encryption with per-guest keys, and </a:t>
            </a:r>
            <a:r>
              <a:rPr sz="2100" b="1" i="0">
                <a:solidFill>
                  <a:srgbClr val="1C252B"/>
                </a:solidFill>
                <a:latin typeface="Segoe UI"/>
              </a:rPr>
              <a:t>say</a:t>
            </a:r>
            <a:r>
              <a:rPr sz="2100" b="0" i="0">
                <a:solidFill>
                  <a:srgbClr val="1C252B"/>
                </a:solidFill>
                <a:latin typeface="Segoe UI"/>
              </a:rPr>
              <a:t> what it does and does not protect against.</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Describe</a:t>
            </a:r>
            <a:r>
              <a:rPr sz="2100" b="0" i="0">
                <a:solidFill>
                  <a:srgbClr val="1C252B"/>
                </a:solidFill>
                <a:latin typeface="Segoe UI"/>
              </a:rPr>
              <a:t> remote attestation and </a:t>
            </a:r>
            <a:r>
              <a:rPr sz="2100" b="1" i="0">
                <a:solidFill>
                  <a:srgbClr val="1C252B"/>
                </a:solidFill>
                <a:latin typeface="Segoe UI"/>
              </a:rPr>
              <a:t>explain</a:t>
            </a:r>
            <a:r>
              <a:rPr sz="2100" b="0" i="0">
                <a:solidFill>
                  <a:srgbClr val="1C252B"/>
                </a:solidFill>
                <a:latin typeface="Segoe UI"/>
              </a:rPr>
              <a:t> why encryption without it is nearly worthless.</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Compare</a:t>
            </a:r>
            <a:r>
              <a:rPr sz="2100" b="0" i="0">
                <a:solidFill>
                  <a:srgbClr val="1C252B"/>
                </a:solidFill>
                <a:latin typeface="Segoe UI"/>
              </a:rPr>
              <a:t> AMD SEV-SNP, Intel TDX and ARM CCA by maturity and availability as of late 2026.</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Decide</a:t>
            </a:r>
            <a:r>
              <a:rPr sz="2100" b="0" i="0">
                <a:solidFill>
                  <a:srgbClr val="1C252B"/>
                </a:solidFill>
                <a:latin typeface="Segoe UI"/>
              </a:rPr>
              <a:t> whether a stated workload justifies a confidential VM, and </a:t>
            </a:r>
            <a:r>
              <a:rPr sz="2100" b="1" i="0">
                <a:solidFill>
                  <a:srgbClr val="1C252B"/>
                </a:solidFill>
                <a:latin typeface="Segoe UI"/>
              </a:rPr>
              <a:t>state</a:t>
            </a:r>
            <a:r>
              <a:rPr sz="2100" b="0" i="0">
                <a:solidFill>
                  <a:srgbClr val="1C252B"/>
                </a:solidFill>
                <a:latin typeface="Segoe UI"/>
              </a:rPr>
              <a:t> the cost.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165     </a:t>
            </a:r>
            <a:fld id="{B79C872F-9A53-46C5-AE7C-C64D007AFCBD}" type="slidenum">
              <a:rPr lang="en-GB" sz="1000">
                <a:solidFill>
                  <a:srgbClr val="8795A1"/>
                </a:solidFill>
                <a:latin typeface="Segoe UI"/>
              </a:rPr>
              <a:t>4</a:t>
            </a:fld>
          </a:p>
        </p:txBody>
      </p:sp>
      <p:sp>
        <p:nvSpPr>
          <p:cNvPr id="7" name="!!term-confidential c">
            <a:extLst>
              <a:ext uri="{C183D7F6-B498-43B3-948B-1728B52AA6E4}">
                <adec:decorative xmlns:adec="http://schemas.microsoft.com/office/drawing/2017/decorative" val="1"/>
              </a:ext>
            </a:extLst>
          </p:cNvPr>
          <p:cNvSpPr/>
          <p:nvPr/>
        </p:nvSpPr>
        <p:spPr>
          <a:xfrm>
            <a:off x="658368" y="1847088"/>
            <a:ext cx="24309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onfidential c">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onfidential c"/>
          <p:cNvSpPr txBox="1"/>
          <p:nvPr/>
        </p:nvSpPr>
        <p:spPr>
          <a:xfrm>
            <a:off x="950976" y="1970532"/>
            <a:ext cx="224809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confidential computing</a:t>
            </a:r>
          </a:p>
        </p:txBody>
      </p:sp>
      <p:sp>
        <p:nvSpPr>
          <p:cNvPr id="10" name="!!term-trusted execut">
            <a:extLst>
              <a:ext uri="{C183D7F6-B498-43B3-948B-1728B52AA6E4}">
                <adec:decorative xmlns:adec="http://schemas.microsoft.com/office/drawing/2017/decorative" val="1"/>
              </a:ext>
            </a:extLst>
          </p:cNvPr>
          <p:cNvSpPr/>
          <p:nvPr/>
        </p:nvSpPr>
        <p:spPr>
          <a:xfrm>
            <a:off x="3235650" y="1847088"/>
            <a:ext cx="30699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rusted execut">
            <a:extLst>
              <a:ext uri="{C183D7F6-B498-43B3-948B-1728B52AA6E4}">
                <adec:decorative xmlns:adec="http://schemas.microsoft.com/office/drawing/2017/decorative" val="1"/>
              </a:ext>
            </a:extLst>
          </p:cNvPr>
          <p:cNvSpPr/>
          <p:nvPr/>
        </p:nvSpPr>
        <p:spPr>
          <a:xfrm>
            <a:off x="33636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rusted execut"/>
          <p:cNvSpPr txBox="1"/>
          <p:nvPr/>
        </p:nvSpPr>
        <p:spPr>
          <a:xfrm>
            <a:off x="3528258" y="1970532"/>
            <a:ext cx="28870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trusted execution environment</a:t>
            </a:r>
          </a:p>
        </p:txBody>
      </p:sp>
      <p:sp>
        <p:nvSpPr>
          <p:cNvPr id="13" name="!!term-TEE">
            <a:extLst>
              <a:ext uri="{C183D7F6-B498-43B3-948B-1728B52AA6E4}">
                <adec:decorative xmlns:adec="http://schemas.microsoft.com/office/drawing/2017/decorative" val="1"/>
              </a:ext>
            </a:extLst>
          </p:cNvPr>
          <p:cNvSpPr/>
          <p:nvPr/>
        </p:nvSpPr>
        <p:spPr>
          <a:xfrm>
            <a:off x="6451929" y="1847088"/>
            <a:ext cx="7373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EE">
            <a:extLst>
              <a:ext uri="{C183D7F6-B498-43B3-948B-1728B52AA6E4}">
                <adec:decorative xmlns:adec="http://schemas.microsoft.com/office/drawing/2017/decorative" val="1"/>
              </a:ext>
            </a:extLst>
          </p:cNvPr>
          <p:cNvSpPr/>
          <p:nvPr/>
        </p:nvSpPr>
        <p:spPr>
          <a:xfrm>
            <a:off x="657994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EE"/>
          <p:cNvSpPr txBox="1"/>
          <p:nvPr/>
        </p:nvSpPr>
        <p:spPr>
          <a:xfrm>
            <a:off x="6744537" y="1970532"/>
            <a:ext cx="55449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TEE</a:t>
            </a:r>
          </a:p>
        </p:txBody>
      </p:sp>
      <p:sp>
        <p:nvSpPr>
          <p:cNvPr id="16" name="!!term-trust model">
            <a:extLst>
              <a:ext uri="{C183D7F6-B498-43B3-948B-1728B52AA6E4}">
                <adec:decorative xmlns:adec="http://schemas.microsoft.com/office/drawing/2017/decorative" val="1"/>
              </a:ext>
            </a:extLst>
          </p:cNvPr>
          <p:cNvSpPr/>
          <p:nvPr/>
        </p:nvSpPr>
        <p:spPr>
          <a:xfrm>
            <a:off x="7335605" y="1847088"/>
            <a:ext cx="14281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trust model">
            <a:extLst>
              <a:ext uri="{C183D7F6-B498-43B3-948B-1728B52AA6E4}">
                <adec:decorative xmlns:adec="http://schemas.microsoft.com/office/drawing/2017/decorative" val="1"/>
              </a:ext>
            </a:extLst>
          </p:cNvPr>
          <p:cNvSpPr/>
          <p:nvPr/>
        </p:nvSpPr>
        <p:spPr>
          <a:xfrm>
            <a:off x="746362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trust model"/>
          <p:cNvSpPr txBox="1"/>
          <p:nvPr/>
        </p:nvSpPr>
        <p:spPr>
          <a:xfrm>
            <a:off x="7628213" y="1970532"/>
            <a:ext cx="12452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trust model</a:t>
            </a:r>
          </a:p>
        </p:txBody>
      </p:sp>
      <p:sp>
        <p:nvSpPr>
          <p:cNvPr id="19" name="!!term-memory encrypt">
            <a:extLst>
              <a:ext uri="{C183D7F6-B498-43B3-948B-1728B52AA6E4}">
                <adec:decorative xmlns:adec="http://schemas.microsoft.com/office/drawing/2017/decorative" val="1"/>
              </a:ext>
            </a:extLst>
          </p:cNvPr>
          <p:cNvSpPr/>
          <p:nvPr/>
        </p:nvSpPr>
        <p:spPr>
          <a:xfrm>
            <a:off x="8910054" y="1847088"/>
            <a:ext cx="21181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memory encrypt">
            <a:extLst>
              <a:ext uri="{C183D7F6-B498-43B3-948B-1728B52AA6E4}">
                <adec:decorative xmlns:adec="http://schemas.microsoft.com/office/drawing/2017/decorative" val="1"/>
              </a:ext>
            </a:extLst>
          </p:cNvPr>
          <p:cNvSpPr/>
          <p:nvPr/>
        </p:nvSpPr>
        <p:spPr>
          <a:xfrm>
            <a:off x="903807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memory encrypt"/>
          <p:cNvSpPr txBox="1"/>
          <p:nvPr/>
        </p:nvSpPr>
        <p:spPr>
          <a:xfrm>
            <a:off x="9202662" y="1970532"/>
            <a:ext cx="19353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memory encryption</a:t>
            </a:r>
          </a:p>
        </p:txBody>
      </p:sp>
      <p:sp>
        <p:nvSpPr>
          <p:cNvPr id="22" name="!!term-SEV">
            <a:extLst>
              <a:ext uri="{C183D7F6-B498-43B3-948B-1728B52AA6E4}">
                <adec:decorative xmlns:adec="http://schemas.microsoft.com/office/drawing/2017/decorative" val="1"/>
              </a:ext>
            </a:extLst>
          </p:cNvPr>
          <p:cNvSpPr/>
          <p:nvPr/>
        </p:nvSpPr>
        <p:spPr>
          <a:xfrm>
            <a:off x="658368" y="2468880"/>
            <a:ext cx="7610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EV">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EV"/>
          <p:cNvSpPr txBox="1"/>
          <p:nvPr/>
        </p:nvSpPr>
        <p:spPr>
          <a:xfrm>
            <a:off x="950976" y="2592324"/>
            <a:ext cx="5781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SEV</a:t>
            </a:r>
          </a:p>
        </p:txBody>
      </p:sp>
      <p:sp>
        <p:nvSpPr>
          <p:cNvPr id="25" name="!!term-SEV-ES">
            <a:extLst>
              <a:ext uri="{C183D7F6-B498-43B3-948B-1728B52AA6E4}">
                <adec:decorative xmlns:adec="http://schemas.microsoft.com/office/drawing/2017/decorative" val="1"/>
              </a:ext>
            </a:extLst>
          </p:cNvPr>
          <p:cNvSpPr/>
          <p:nvPr/>
        </p:nvSpPr>
        <p:spPr>
          <a:xfrm>
            <a:off x="1565749" y="2468880"/>
            <a:ext cx="10403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EV-ES">
            <a:extLst>
              <a:ext uri="{C183D7F6-B498-43B3-948B-1728B52AA6E4}">
                <adec:decorative xmlns:adec="http://schemas.microsoft.com/office/drawing/2017/decorative" val="1"/>
              </a:ext>
            </a:extLst>
          </p:cNvPr>
          <p:cNvSpPr/>
          <p:nvPr/>
        </p:nvSpPr>
        <p:spPr>
          <a:xfrm>
            <a:off x="169376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EV-ES"/>
          <p:cNvSpPr txBox="1"/>
          <p:nvPr/>
        </p:nvSpPr>
        <p:spPr>
          <a:xfrm>
            <a:off x="1858357" y="2592324"/>
            <a:ext cx="85742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SEV-ES</a:t>
            </a:r>
          </a:p>
        </p:txBody>
      </p:sp>
      <p:sp>
        <p:nvSpPr>
          <p:cNvPr id="28" name="!!term-SEV-SNP">
            <a:extLst>
              <a:ext uri="{C183D7F6-B498-43B3-948B-1728B52AA6E4}">
                <adec:decorative xmlns:adec="http://schemas.microsoft.com/office/drawing/2017/decorative" val="1"/>
              </a:ext>
            </a:extLst>
          </p:cNvPr>
          <p:cNvSpPr/>
          <p:nvPr/>
        </p:nvSpPr>
        <p:spPr>
          <a:xfrm>
            <a:off x="2752355" y="2468880"/>
            <a:ext cx="11961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EV-SNP">
            <a:extLst>
              <a:ext uri="{C183D7F6-B498-43B3-948B-1728B52AA6E4}">
                <adec:decorative xmlns:adec="http://schemas.microsoft.com/office/drawing/2017/decorative" val="1"/>
              </a:ext>
            </a:extLst>
          </p:cNvPr>
          <p:cNvSpPr/>
          <p:nvPr/>
        </p:nvSpPr>
        <p:spPr>
          <a:xfrm>
            <a:off x="28803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EV-SNP"/>
          <p:cNvSpPr txBox="1"/>
          <p:nvPr/>
        </p:nvSpPr>
        <p:spPr>
          <a:xfrm>
            <a:off x="3044963" y="2592324"/>
            <a:ext cx="10132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SEV-SNP</a:t>
            </a:r>
          </a:p>
        </p:txBody>
      </p:sp>
      <p:sp>
        <p:nvSpPr>
          <p:cNvPr id="31" name="!!term-TDX">
            <a:extLst>
              <a:ext uri="{C183D7F6-B498-43B3-948B-1728B52AA6E4}">
                <adec:decorative xmlns:adec="http://schemas.microsoft.com/office/drawing/2017/decorative" val="1"/>
              </a:ext>
            </a:extLst>
          </p:cNvPr>
          <p:cNvSpPr/>
          <p:nvPr/>
        </p:nvSpPr>
        <p:spPr>
          <a:xfrm>
            <a:off x="4094797" y="2468880"/>
            <a:ext cx="7915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DX">
            <a:extLst>
              <a:ext uri="{C183D7F6-B498-43B3-948B-1728B52AA6E4}">
                <adec:decorative xmlns:adec="http://schemas.microsoft.com/office/drawing/2017/decorative" val="1"/>
              </a:ext>
            </a:extLst>
          </p:cNvPr>
          <p:cNvSpPr/>
          <p:nvPr/>
        </p:nvSpPr>
        <p:spPr>
          <a:xfrm>
            <a:off x="42228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DX"/>
          <p:cNvSpPr txBox="1"/>
          <p:nvPr/>
        </p:nvSpPr>
        <p:spPr>
          <a:xfrm>
            <a:off x="4387405" y="2592324"/>
            <a:ext cx="6086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TDX</a:t>
            </a:r>
          </a:p>
        </p:txBody>
      </p:sp>
      <p:sp>
        <p:nvSpPr>
          <p:cNvPr id="34" name="!!term-trust domain">
            <a:extLst>
              <a:ext uri="{C183D7F6-B498-43B3-948B-1728B52AA6E4}">
                <adec:decorative xmlns:adec="http://schemas.microsoft.com/office/drawing/2017/decorative" val="1"/>
              </a:ext>
            </a:extLst>
          </p:cNvPr>
          <p:cNvSpPr/>
          <p:nvPr/>
        </p:nvSpPr>
        <p:spPr>
          <a:xfrm>
            <a:off x="5032607" y="2468880"/>
            <a:ext cx="15354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trust domain">
            <a:extLst>
              <a:ext uri="{C183D7F6-B498-43B3-948B-1728B52AA6E4}">
                <adec:decorative xmlns:adec="http://schemas.microsoft.com/office/drawing/2017/decorative" val="1"/>
              </a:ext>
            </a:extLst>
          </p:cNvPr>
          <p:cNvSpPr/>
          <p:nvPr/>
        </p:nvSpPr>
        <p:spPr>
          <a:xfrm>
            <a:off x="51606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trust domain"/>
          <p:cNvSpPr txBox="1"/>
          <p:nvPr/>
        </p:nvSpPr>
        <p:spPr>
          <a:xfrm>
            <a:off x="5325215" y="2592324"/>
            <a:ext cx="135252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trust domain</a:t>
            </a:r>
          </a:p>
        </p:txBody>
      </p:sp>
      <p:sp>
        <p:nvSpPr>
          <p:cNvPr id="37" name="!!term-ARM CCA">
            <a:extLst>
              <a:ext uri="{C183D7F6-B498-43B3-948B-1728B52AA6E4}">
                <adec:decorative xmlns:adec="http://schemas.microsoft.com/office/drawing/2017/decorative" val="1"/>
              </a:ext>
            </a:extLst>
          </p:cNvPr>
          <p:cNvSpPr/>
          <p:nvPr/>
        </p:nvSpPr>
        <p:spPr>
          <a:xfrm>
            <a:off x="6714314" y="2468880"/>
            <a:ext cx="12739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ARM CCA">
            <a:extLst>
              <a:ext uri="{C183D7F6-B498-43B3-948B-1728B52AA6E4}">
                <adec:decorative xmlns:adec="http://schemas.microsoft.com/office/drawing/2017/decorative" val="1"/>
              </a:ext>
            </a:extLst>
          </p:cNvPr>
          <p:cNvSpPr/>
          <p:nvPr/>
        </p:nvSpPr>
        <p:spPr>
          <a:xfrm>
            <a:off x="684233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ARM CCA"/>
          <p:cNvSpPr txBox="1"/>
          <p:nvPr/>
        </p:nvSpPr>
        <p:spPr>
          <a:xfrm>
            <a:off x="7006922" y="2592324"/>
            <a:ext cx="10910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ARM CCA</a:t>
            </a:r>
          </a:p>
        </p:txBody>
      </p:sp>
      <p:sp>
        <p:nvSpPr>
          <p:cNvPr id="40" name="!!term-realm">
            <a:extLst>
              <a:ext uri="{C183D7F6-B498-43B3-948B-1728B52AA6E4}">
                <adec:decorative xmlns:adec="http://schemas.microsoft.com/office/drawing/2017/decorative" val="1"/>
              </a:ext>
            </a:extLst>
          </p:cNvPr>
          <p:cNvSpPr/>
          <p:nvPr/>
        </p:nvSpPr>
        <p:spPr>
          <a:xfrm>
            <a:off x="8134592" y="2468880"/>
            <a:ext cx="9213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alm">
            <a:extLst>
              <a:ext uri="{C183D7F6-B498-43B3-948B-1728B52AA6E4}">
                <adec:decorative xmlns:adec="http://schemas.microsoft.com/office/drawing/2017/decorative" val="1"/>
              </a:ext>
            </a:extLst>
          </p:cNvPr>
          <p:cNvSpPr/>
          <p:nvPr/>
        </p:nvSpPr>
        <p:spPr>
          <a:xfrm>
            <a:off x="826260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alm"/>
          <p:cNvSpPr txBox="1"/>
          <p:nvPr/>
        </p:nvSpPr>
        <p:spPr>
          <a:xfrm>
            <a:off x="8427200" y="2592324"/>
            <a:ext cx="7384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realm</a:t>
            </a:r>
          </a:p>
        </p:txBody>
      </p:sp>
      <p:sp>
        <p:nvSpPr>
          <p:cNvPr id="43" name="!!term-SGX">
            <a:extLst>
              <a:ext uri="{C183D7F6-B498-43B3-948B-1728B52AA6E4}">
                <adec:decorative xmlns:adec="http://schemas.microsoft.com/office/drawing/2017/decorative" val="1"/>
              </a:ext>
            </a:extLst>
          </p:cNvPr>
          <p:cNvSpPr/>
          <p:nvPr/>
        </p:nvSpPr>
        <p:spPr>
          <a:xfrm>
            <a:off x="9202241" y="2468880"/>
            <a:ext cx="7900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GX">
            <a:extLst>
              <a:ext uri="{C183D7F6-B498-43B3-948B-1728B52AA6E4}">
                <adec:decorative xmlns:adec="http://schemas.microsoft.com/office/drawing/2017/decorative" val="1"/>
              </a:ext>
            </a:extLst>
          </p:cNvPr>
          <p:cNvSpPr/>
          <p:nvPr/>
        </p:nvSpPr>
        <p:spPr>
          <a:xfrm>
            <a:off x="93302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GX"/>
          <p:cNvSpPr txBox="1"/>
          <p:nvPr/>
        </p:nvSpPr>
        <p:spPr>
          <a:xfrm>
            <a:off x="9494849" y="2592324"/>
            <a:ext cx="6071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SGX</a:t>
            </a:r>
          </a:p>
        </p:txBody>
      </p:sp>
      <p:sp>
        <p:nvSpPr>
          <p:cNvPr id="46" name="!!term-enclave">
            <a:extLst>
              <a:ext uri="{C183D7F6-B498-43B3-948B-1728B52AA6E4}">
                <adec:decorative xmlns:adec="http://schemas.microsoft.com/office/drawing/2017/decorative" val="1"/>
              </a:ext>
            </a:extLst>
          </p:cNvPr>
          <p:cNvSpPr/>
          <p:nvPr/>
        </p:nvSpPr>
        <p:spPr>
          <a:xfrm>
            <a:off x="10138575" y="2468880"/>
            <a:ext cx="10808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enclave">
            <a:extLst>
              <a:ext uri="{C183D7F6-B498-43B3-948B-1728B52AA6E4}">
                <adec:decorative xmlns:adec="http://schemas.microsoft.com/office/drawing/2017/decorative" val="1"/>
              </a:ext>
            </a:extLst>
          </p:cNvPr>
          <p:cNvSpPr/>
          <p:nvPr/>
        </p:nvSpPr>
        <p:spPr>
          <a:xfrm>
            <a:off x="1026659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enclave"/>
          <p:cNvSpPr txBox="1"/>
          <p:nvPr/>
        </p:nvSpPr>
        <p:spPr>
          <a:xfrm>
            <a:off x="10431183" y="2592324"/>
            <a:ext cx="8980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enclave</a:t>
            </a:r>
          </a:p>
        </p:txBody>
      </p:sp>
      <p:sp>
        <p:nvSpPr>
          <p:cNvPr id="49" name="!!term-attestation">
            <a:extLst>
              <a:ext uri="{C183D7F6-B498-43B3-948B-1728B52AA6E4}">
                <adec:decorative xmlns:adec="http://schemas.microsoft.com/office/drawing/2017/decorative" val="1"/>
              </a:ext>
            </a:extLst>
          </p:cNvPr>
          <p:cNvSpPr/>
          <p:nvPr/>
        </p:nvSpPr>
        <p:spPr>
          <a:xfrm>
            <a:off x="658368" y="3090672"/>
            <a:ext cx="13550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attestat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attestation"/>
          <p:cNvSpPr txBox="1"/>
          <p:nvPr/>
        </p:nvSpPr>
        <p:spPr>
          <a:xfrm>
            <a:off x="950976" y="3214116"/>
            <a:ext cx="117217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attestation</a:t>
            </a:r>
          </a:p>
        </p:txBody>
      </p:sp>
      <p:sp>
        <p:nvSpPr>
          <p:cNvPr id="52" name="!!term-attestation re">
            <a:extLst>
              <a:ext uri="{C183D7F6-B498-43B3-948B-1728B52AA6E4}">
                <adec:decorative xmlns:adec="http://schemas.microsoft.com/office/drawing/2017/decorative" val="1"/>
              </a:ext>
            </a:extLst>
          </p:cNvPr>
          <p:cNvSpPr/>
          <p:nvPr/>
        </p:nvSpPr>
        <p:spPr>
          <a:xfrm>
            <a:off x="2159731" y="3090672"/>
            <a:ext cx="19392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attestation re">
            <a:extLst>
              <a:ext uri="{C183D7F6-B498-43B3-948B-1728B52AA6E4}">
                <adec:decorative xmlns:adec="http://schemas.microsoft.com/office/drawing/2017/decorative" val="1"/>
              </a:ext>
            </a:extLst>
          </p:cNvPr>
          <p:cNvSpPr/>
          <p:nvPr/>
        </p:nvSpPr>
        <p:spPr>
          <a:xfrm>
            <a:off x="228774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attestation re"/>
          <p:cNvSpPr txBox="1"/>
          <p:nvPr/>
        </p:nvSpPr>
        <p:spPr>
          <a:xfrm>
            <a:off x="2452339" y="3214116"/>
            <a:ext cx="175632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attestation report</a:t>
            </a:r>
          </a:p>
        </p:txBody>
      </p:sp>
      <p:sp>
        <p:nvSpPr>
          <p:cNvPr id="55" name="!!term-measurement">
            <a:extLst>
              <a:ext uri="{C183D7F6-B498-43B3-948B-1728B52AA6E4}">
                <adec:decorative xmlns:adec="http://schemas.microsoft.com/office/drawing/2017/decorative" val="1"/>
              </a:ext>
            </a:extLst>
          </p:cNvPr>
          <p:cNvSpPr/>
          <p:nvPr/>
        </p:nvSpPr>
        <p:spPr>
          <a:xfrm>
            <a:off x="4245239" y="3090672"/>
            <a:ext cx="16130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measurement">
            <a:extLst>
              <a:ext uri="{C183D7F6-B498-43B3-948B-1728B52AA6E4}">
                <adec:decorative xmlns:adec="http://schemas.microsoft.com/office/drawing/2017/decorative" val="1"/>
              </a:ext>
            </a:extLst>
          </p:cNvPr>
          <p:cNvSpPr/>
          <p:nvPr/>
        </p:nvSpPr>
        <p:spPr>
          <a:xfrm>
            <a:off x="437325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measurement"/>
          <p:cNvSpPr txBox="1"/>
          <p:nvPr/>
        </p:nvSpPr>
        <p:spPr>
          <a:xfrm>
            <a:off x="4537847" y="3214116"/>
            <a:ext cx="14302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measurement</a:t>
            </a:r>
          </a:p>
        </p:txBody>
      </p:sp>
      <p:sp>
        <p:nvSpPr>
          <p:cNvPr id="58" name="!!term-chain of trust">
            <a:extLst>
              <a:ext uri="{C183D7F6-B498-43B3-948B-1728B52AA6E4}">
                <adec:decorative xmlns:adec="http://schemas.microsoft.com/office/drawing/2017/decorative" val="1"/>
              </a:ext>
            </a:extLst>
          </p:cNvPr>
          <p:cNvSpPr/>
          <p:nvPr/>
        </p:nvSpPr>
        <p:spPr>
          <a:xfrm>
            <a:off x="6004631" y="3090672"/>
            <a:ext cx="15674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chain of trust">
            <a:extLst>
              <a:ext uri="{C183D7F6-B498-43B3-948B-1728B52AA6E4}">
                <adec:decorative xmlns:adec="http://schemas.microsoft.com/office/drawing/2017/decorative" val="1"/>
              </a:ext>
            </a:extLst>
          </p:cNvPr>
          <p:cNvSpPr/>
          <p:nvPr/>
        </p:nvSpPr>
        <p:spPr>
          <a:xfrm>
            <a:off x="613264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chain of trust"/>
          <p:cNvSpPr txBox="1"/>
          <p:nvPr/>
        </p:nvSpPr>
        <p:spPr>
          <a:xfrm>
            <a:off x="6297239" y="3214116"/>
            <a:ext cx="13845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chain of trust</a:t>
            </a:r>
          </a:p>
        </p:txBody>
      </p:sp>
      <p:sp>
        <p:nvSpPr>
          <p:cNvPr id="61" name="!!term-confidential c">
            <a:extLst>
              <a:ext uri="{C183D7F6-B498-43B3-948B-1728B52AA6E4}">
                <adec:decorative xmlns:adec="http://schemas.microsoft.com/office/drawing/2017/decorative" val="1"/>
              </a:ext>
            </a:extLst>
          </p:cNvPr>
          <p:cNvSpPr/>
          <p:nvPr/>
        </p:nvSpPr>
        <p:spPr>
          <a:xfrm>
            <a:off x="7718344" y="3090672"/>
            <a:ext cx="23031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confidential c">
            <a:extLst>
              <a:ext uri="{C183D7F6-B498-43B3-948B-1728B52AA6E4}">
                <adec:decorative xmlns:adec="http://schemas.microsoft.com/office/drawing/2017/decorative" val="1"/>
              </a:ext>
            </a:extLst>
          </p:cNvPr>
          <p:cNvSpPr/>
          <p:nvPr/>
        </p:nvSpPr>
        <p:spPr>
          <a:xfrm>
            <a:off x="784636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confidential c"/>
          <p:cNvSpPr txBox="1"/>
          <p:nvPr/>
        </p:nvSpPr>
        <p:spPr>
          <a:xfrm>
            <a:off x="8010952" y="3214116"/>
            <a:ext cx="21202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confidential container</a:t>
            </a:r>
          </a:p>
        </p:txBody>
      </p:sp>
      <p:sp>
        <p:nvSpPr>
          <p:cNvPr id="64" name="!!term-CXL">
            <a:extLst>
              <a:ext uri="{C183D7F6-B498-43B3-948B-1728B52AA6E4}">
                <adec:decorative xmlns:adec="http://schemas.microsoft.com/office/drawing/2017/decorative" val="1"/>
              </a:ext>
            </a:extLst>
          </p:cNvPr>
          <p:cNvSpPr/>
          <p:nvPr/>
        </p:nvSpPr>
        <p:spPr>
          <a:xfrm>
            <a:off x="10167770" y="3090672"/>
            <a:ext cx="7653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CXL">
            <a:extLst>
              <a:ext uri="{C183D7F6-B498-43B3-948B-1728B52AA6E4}">
                <adec:decorative xmlns:adec="http://schemas.microsoft.com/office/drawing/2017/decorative" val="1"/>
              </a:ext>
            </a:extLst>
          </p:cNvPr>
          <p:cNvSpPr/>
          <p:nvPr/>
        </p:nvSpPr>
        <p:spPr>
          <a:xfrm>
            <a:off x="1029578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CXL"/>
          <p:cNvSpPr txBox="1"/>
          <p:nvPr/>
        </p:nvSpPr>
        <p:spPr>
          <a:xfrm>
            <a:off x="10460378" y="3214116"/>
            <a:ext cx="5824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CXL</a:t>
            </a:r>
          </a:p>
        </p:txBody>
      </p:sp>
      <p:sp>
        <p:nvSpPr>
          <p:cNvPr id="67" name="!!term-composable inf">
            <a:extLst>
              <a:ext uri="{C183D7F6-B498-43B3-948B-1728B52AA6E4}">
                <adec:decorative xmlns:adec="http://schemas.microsoft.com/office/drawing/2017/decorative" val="1"/>
              </a:ext>
            </a:extLst>
          </p:cNvPr>
          <p:cNvSpPr/>
          <p:nvPr/>
        </p:nvSpPr>
        <p:spPr>
          <a:xfrm>
            <a:off x="658368" y="3712464"/>
            <a:ext cx="26804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composable inf">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composable inf"/>
          <p:cNvSpPr txBox="1"/>
          <p:nvPr/>
        </p:nvSpPr>
        <p:spPr>
          <a:xfrm>
            <a:off x="950976" y="3835908"/>
            <a:ext cx="249755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composable infrastructure</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165–171     </a:t>
            </a:r>
            <a:fld id="{236CE51B-B589-47B8-8A60-B4420AE31AF4}" type="slidenum">
              <a:rPr lang="en-GB" sz="1000">
                <a:solidFill>
                  <a:srgbClr val="8795A1"/>
                </a:solidFill>
                <a:latin typeface="Segoe UI"/>
              </a:rPr>
              <a:t>5</a:t>
            </a:fld>
          </a:p>
        </p:txBody>
      </p:sp>
      <p:sp>
        <p:nvSpPr>
          <p:cNvPr id="7" name="!!ag0" descr="Go to section 21.1 The Trust Model Invert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Trust Model Inverts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165  ›</a:t>
            </a:r>
          </a:p>
        </p:txBody>
      </p:sp>
      <p:sp>
        <p:nvSpPr>
          <p:cNvPr id="12" name="!!ag1" descr="Go to section 21.2 What the Hardware Do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Hardware Does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166  ›</a:t>
            </a:r>
          </a:p>
        </p:txBody>
      </p:sp>
      <p:sp>
        <p:nvSpPr>
          <p:cNvPr id="17" name="!!ag2" descr="Go to section 21.3 Where the Platforms Stan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the Platforms Stand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167  ›</a:t>
            </a:r>
          </a:p>
        </p:txBody>
      </p:sp>
      <p:sp>
        <p:nvSpPr>
          <p:cNvPr id="22" name="!!ag3" descr="Go to section 21.4 Composable Infrastructure and CXL">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Composable Infrastructure and CXL</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168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Trust Model Inverts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21.1   The Trust Model Inverts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What the Hardware Does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Where the Platforms Stand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Composable Infrastructure and CXL</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§21.1     </a:t>
            </a:r>
            <a:fld id="{AD569BCB-2AF4-4961-B038-6C1966B070C0}"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Trusted Execution Environment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165     </a:t>
            </a:r>
            <a:fld id="{9DD5969C-3706-45AF-B138-BAEE5B4A06CC}"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284702"/>
          </a:xfrm>
          <a:prstGeom prst="roundRect">
            <a:avLst>
              <a:gd name="adj" fmla="val 278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28470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TEE</a:t>
            </a:r>
            <a:r>
              <a:rPr sz="1700" b="0" i="0">
                <a:solidFill>
                  <a:srgbClr val="1C252B"/>
                </a:solidFill>
                <a:latin typeface="Segoe UI"/>
              </a:rPr>
              <a:t> is an execution context whose memory and registers are protected from everything outside it — including the hypervisor, the host operating system, the firmware and anyone with physical access.</a:t>
            </a:r>
          </a:p>
        </p:txBody>
      </p:sp>
      <p:sp>
        <p:nvSpPr>
          <p:cNvPr id="10" name="body-1"/>
          <p:cNvSpPr txBox="1"/>
          <p:nvPr/>
        </p:nvSpPr>
        <p:spPr>
          <a:xfrm>
            <a:off x="1060704" y="2705887"/>
            <a:ext cx="10161727"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For a confidential VM this means:</a:t>
            </a:r>
          </a:p>
        </p:txBody>
      </p:sp>
      <p:sp>
        <p:nvSpPr>
          <p:cNvPr id="11" name="body-2"/>
          <p:cNvSpPr txBox="1"/>
          <p:nvPr/>
        </p:nvSpPr>
        <p:spPr>
          <a:xfrm>
            <a:off x="1060704" y="3094075"/>
            <a:ext cx="10161727" cy="1005179"/>
          </a:xfrm>
          <a:prstGeom prst="rect">
            <a:avLst/>
          </a:prstGeom>
          <a:noFill/>
        </p:spPr>
        <p:txBody>
          <a:bodyPr wrap="square" anchor="t" lIns="0" rIns="0" tIns="0" bIns="0">
            <a:noAutofit/>
          </a:bodyPr>
          <a:lstStyle/>
          <a:p>
            <a:pPr algn="l" marL="190086" indent="-190086">
              <a:lnSpc>
                <a:spcPct val="104000"/>
              </a:lnSpc>
              <a:spcBef>
                <a:spcPts val="0"/>
              </a:spcBef>
              <a:spcAft>
                <a:spcPts val="594"/>
              </a:spcAft>
            </a:pPr>
            <a:r>
              <a:rPr sz="1700" b="1">
                <a:solidFill>
                  <a:srgbClr val="8A4500"/>
                </a:solidFill>
                <a:latin typeface="Segoe UI"/>
              </a:rPr>
              <a:t>•	</a:t>
            </a:r>
            <a:r>
              <a:rPr sz="1700" b="0" i="0">
                <a:solidFill>
                  <a:srgbClr val="1C252B"/>
                </a:solidFill>
                <a:latin typeface="Segoe UI"/>
              </a:rPr>
              <a:t>memory is </a:t>
            </a:r>
            <a:r>
              <a:rPr sz="1700" b="1" i="0">
                <a:solidFill>
                  <a:srgbClr val="1C252B"/>
                </a:solidFill>
                <a:latin typeface="Segoe UI"/>
              </a:rPr>
              <a:t>encrypted</a:t>
            </a:r>
            <a:r>
              <a:rPr sz="1700" b="0" i="0">
                <a:solidFill>
                  <a:srgbClr val="1C252B"/>
                </a:solidFill>
                <a:latin typeface="Segoe UI"/>
              </a:rPr>
              <a:t> with a key the guest’s own hardware context holds and the host cannot read;</a:t>
            </a:r>
          </a:p>
          <a:p>
            <a:pPr algn="l" marL="190086" indent="-190086">
              <a:lnSpc>
                <a:spcPct val="104000"/>
              </a:lnSpc>
              <a:spcBef>
                <a:spcPts val="0"/>
              </a:spcBef>
              <a:spcAft>
                <a:spcPts val="594"/>
              </a:spcAft>
            </a:pPr>
            <a:r>
              <a:rPr sz="1700" b="1">
                <a:solidFill>
                  <a:srgbClr val="8A4500"/>
                </a:solidFill>
                <a:latin typeface="Segoe UI"/>
              </a:rPr>
              <a:t>•	</a:t>
            </a:r>
            <a:r>
              <a:rPr sz="1700" b="0" i="0">
                <a:solidFill>
                  <a:srgbClr val="1C252B"/>
                </a:solidFill>
                <a:latin typeface="Segoe UI"/>
              </a:rPr>
              <a:t>register state is protected across every VM exit, so the hypervisor cannot inspect the guest’s execution;</a:t>
            </a:r>
          </a:p>
          <a:p>
            <a:pPr algn="l" marL="190086" indent="-190086">
              <a:lnSpc>
                <a:spcPct val="104000"/>
              </a:lnSpc>
              <a:spcBef>
                <a:spcPts val="0"/>
              </a:spcBef>
              <a:spcAft>
                <a:spcPts val="0"/>
              </a:spcAft>
            </a:pPr>
            <a:r>
              <a:rPr sz="1700" b="1">
                <a:solidFill>
                  <a:srgbClr val="8A4500"/>
                </a:solidFill>
                <a:latin typeface="Segoe UI"/>
              </a:rPr>
              <a:t>•	</a:t>
            </a:r>
            <a:r>
              <a:rPr sz="1700" b="0" i="0">
                <a:solidFill>
                  <a:srgbClr val="1C252B"/>
                </a:solidFill>
                <a:latin typeface="Segoe UI"/>
              </a:rPr>
              <a:t>the guest can </a:t>
            </a:r>
            <a:r>
              <a:rPr sz="1700" b="1" i="0">
                <a:solidFill>
                  <a:srgbClr val="1C252B"/>
                </a:solidFill>
                <a:latin typeface="Segoe UI"/>
              </a:rPr>
              <a:t>prove</a:t>
            </a:r>
            <a:r>
              <a:rPr sz="1700" b="0" i="0">
                <a:solidFill>
                  <a:srgbClr val="1C252B"/>
                </a:solidFill>
                <a:latin typeface="Segoe UI"/>
              </a:rPr>
              <a:t> what it is — which hardware, which firmware, which image — to a remote party.</a:t>
            </a:r>
          </a:p>
        </p:txBody>
      </p:sp>
      <p:sp>
        <p:nvSpPr>
          <p:cNvPr id="12" name="body-3"/>
          <p:cNvSpPr txBox="1"/>
          <p:nvPr/>
        </p:nvSpPr>
        <p:spPr>
          <a:xfrm>
            <a:off x="1060704" y="4172280"/>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hypervisor still </a:t>
            </a:r>
            <a:r>
              <a:rPr sz="1700" b="0" i="1">
                <a:solidFill>
                  <a:srgbClr val="1C252B"/>
                </a:solidFill>
                <a:latin typeface="Segoe UI"/>
              </a:rPr>
              <a:t>schedules</a:t>
            </a:r>
            <a:r>
              <a:rPr sz="1700" b="0" i="0">
                <a:solidFill>
                  <a:srgbClr val="1C252B"/>
                </a:solidFill>
                <a:latin typeface="Segoe UI"/>
              </a:rPr>
              <a:t> the guest, allocates it memory and gives it devices. It simply cannot see inside it.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inversion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21.1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165     </a:t>
            </a:r>
            <a:fld id="{07E3DEFF-4E45-487A-AC10-AC755F7BBB82}" type="slidenum">
              <a:rPr lang="en-GB" sz="1000">
                <a:solidFill>
                  <a:srgbClr val="8795A1"/>
                </a:solidFill>
                <a:latin typeface="Segoe UI"/>
              </a:rPr>
              <a:t>8</a:t>
            </a:fld>
          </a:p>
        </p:txBody>
      </p:sp>
      <p:pic>
        <p:nvPicPr>
          <p:cNvPr id="6" name="!!figure" descr="Figure 21.1. The inversion. The hypervisor still schedules the guest and allocates its memory; it simply loses the ability to read it. Everything red is in the attack path and outside the trust boundar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56913"/>
            <a:ext cx="10874959" cy="362877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hypervisor still schedules the guest and allocates its memory; it simply loses the ability to read it. Everything red is in the attack path and outside the trust boundary.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Hardware Does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The Trust Model Inverts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21.2   What the Hardware Does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Where the Platforms Stand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Composable Infrastructure and CXL</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§21.2     </a:t>
            </a:r>
            <a:fld id="{16595961-6C19-4CA3-AA85-92C02C71B5EF}"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Memory Encryption, and Why Encryption Alone Is Not Enough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166     </a:t>
            </a:r>
            <a:fld id="{7C94E751-5DB3-4170-BB4B-8F7378C51674}"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5548"/>
          </a:xfrm>
          <a:prstGeom prst="roundRect">
            <a:avLst>
              <a:gd name="adj" fmla="val 209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554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memory controller encrypts and decrypts transparently with a key tied to the guest, held in the processor and never exposed to software. Host memory dumped from outside yields ciphertext.</a:t>
            </a:r>
          </a:p>
        </p:txBody>
      </p:sp>
      <p:sp>
        <p:nvSpPr>
          <p:cNvPr id="10" name="body-1"/>
          <p:cNvSpPr txBox="1"/>
          <p:nvPr/>
        </p:nvSpPr>
        <p:spPr>
          <a:xfrm>
            <a:off x="1060704" y="2667203"/>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That defeats the straightforward attacks — a hypervisor reading guest pages, a memory image taken from a running host, cold-boot attacks on the DIMMs. AMD’s first </a:t>
            </a:r>
            <a:r>
              <a:rPr sz="1600" b="1" i="0">
                <a:solidFill>
                  <a:srgbClr val="1A5276"/>
                </a:solidFill>
                <a:latin typeface="Segoe UI"/>
              </a:rPr>
              <a:t>SEV</a:t>
            </a:r>
            <a:r>
              <a:rPr sz="1600" b="0" i="0">
                <a:solidFill>
                  <a:srgbClr val="1C252B"/>
                </a:solidFill>
                <a:latin typeface="Segoe UI"/>
              </a:rPr>
              <a:t> (2017) did this much, and researchers quickly showed it was not enough.</a:t>
            </a:r>
          </a:p>
        </p:txBody>
      </p:sp>
      <p:sp>
        <p:nvSpPr>
          <p:cNvPr id="11" name="body-2"/>
          <p:cNvSpPr txBox="1"/>
          <p:nvPr/>
        </p:nvSpPr>
        <p:spPr>
          <a:xfrm>
            <a:off x="1060704" y="3539744"/>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reason is that a hostile hypervisor does more than read. It can </a:t>
            </a:r>
            <a:r>
              <a:rPr sz="1600" b="0" i="1">
                <a:solidFill>
                  <a:srgbClr val="1C252B"/>
                </a:solidFill>
                <a:latin typeface="Segoe UI"/>
              </a:rPr>
              <a:t>remap</a:t>
            </a:r>
            <a:r>
              <a:rPr sz="1600" b="0" i="0">
                <a:solidFill>
                  <a:srgbClr val="1C252B"/>
                </a:solidFill>
                <a:latin typeface="Segoe UI"/>
              </a:rPr>
              <a:t> pages — give the guest a different physical page than it had — </a:t>
            </a:r>
            <a:r>
              <a:rPr sz="1600" b="0" i="1">
                <a:solidFill>
                  <a:srgbClr val="1C252B"/>
                </a:solidFill>
                <a:latin typeface="Segoe UI"/>
              </a:rPr>
              <a:t>replay</a:t>
            </a:r>
            <a:r>
              <a:rPr sz="1600" b="0" i="0">
                <a:solidFill>
                  <a:srgbClr val="1C252B"/>
                </a:solidFill>
                <a:latin typeface="Segoe UI"/>
              </a:rPr>
              <a:t> old encrypted pages, or </a:t>
            </a:r>
            <a:r>
              <a:rPr sz="1600" b="0" i="1">
                <a:solidFill>
                  <a:srgbClr val="1C252B"/>
                </a:solidFill>
                <a:latin typeface="Segoe UI"/>
              </a:rPr>
              <a:t>alias</a:t>
            </a:r>
            <a:r>
              <a:rPr sz="1600" b="0" i="0">
                <a:solidFill>
                  <a:srgbClr val="1C252B"/>
                </a:solidFill>
                <a:latin typeface="Segoe UI"/>
              </a:rPr>
              <a:t> two guest addresses to one physical page. The data stays encrypted throughout and the guest is still compromised.</a:t>
            </a:r>
          </a:p>
        </p:txBody>
      </p:sp>
      <p:sp>
        <p:nvSpPr>
          <p:cNvPr id="12" name="body-3"/>
          <p:cNvSpPr txBox="1"/>
          <p:nvPr/>
        </p:nvSpPr>
        <p:spPr>
          <a:xfrm>
            <a:off x="1060704" y="4412284"/>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1A5276"/>
                </a:solidFill>
                <a:latin typeface="Segoe UI"/>
              </a:rPr>
              <a:t>SEV-ES</a:t>
            </a:r>
            <a:r>
              <a:rPr sz="1600" b="0" i="0">
                <a:solidFill>
                  <a:srgbClr val="1C252B"/>
                </a:solidFill>
                <a:latin typeface="Segoe UI"/>
              </a:rPr>
              <a:t> (2018) added register-state protection across VM exits. </a:t>
            </a:r>
            <a:r>
              <a:rPr sz="1600" b="1" i="0">
                <a:solidFill>
                  <a:srgbClr val="1A5276"/>
                </a:solidFill>
                <a:latin typeface="Segoe UI"/>
              </a:rPr>
              <a:t>SEV-SNP</a:t>
            </a:r>
            <a:r>
              <a:rPr sz="1600" b="0" i="0">
                <a:solidFill>
                  <a:srgbClr val="1C252B"/>
                </a:solidFill>
                <a:latin typeface="Segoe UI"/>
              </a:rPr>
              <a:t> (2020) added the missing piece: </a:t>
            </a:r>
            <a:r>
              <a:rPr sz="1600" b="0" i="1">
                <a:solidFill>
                  <a:srgbClr val="1C252B"/>
                </a:solidFill>
                <a:latin typeface="Segoe UI"/>
              </a:rPr>
              <a:t>integrity</a:t>
            </a:r>
            <a:r>
              <a:rPr sz="1600" b="0" i="0">
                <a:solidFill>
                  <a:srgbClr val="1C252B"/>
                </a:solidFill>
                <a:latin typeface="Segoe UI"/>
              </a:rPr>
              <a:t>. A reverse map table records which guest owns each physical page, and the hardware refuses a mapping that contradicts it. Intel’s </a:t>
            </a:r>
            <a:r>
              <a:rPr sz="1600" b="1" i="0">
                <a:solidFill>
                  <a:srgbClr val="1A5276"/>
                </a:solidFill>
                <a:latin typeface="Segoe UI"/>
              </a:rPr>
              <a:t>TDX</a:t>
            </a:r>
            <a:r>
              <a:rPr sz="1600" b="0" i="0">
                <a:solidFill>
                  <a:srgbClr val="1C252B"/>
                </a:solidFill>
                <a:latin typeface="Segoe UI"/>
              </a:rPr>
              <a:t> was designed with equivalent protections from the start.</a:t>
            </a:r>
          </a:p>
        </p:txBody>
      </p:sp>
      <p:sp>
        <p:nvSpPr>
          <p:cNvPr id="13" name="body-4"/>
          <p:cNvSpPr txBox="1"/>
          <p:nvPr/>
        </p:nvSpPr>
        <p:spPr>
          <a:xfrm>
            <a:off x="1060704" y="5284825"/>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lesson generalises: confidentiality without integrity is a weaker property than it sounds, and the first generation of almost every such system learns this the same way.</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Attestation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166     </a:t>
            </a:r>
            <a:fld id="{DB54DA71-1130-481C-A7D4-9FDB6F75D817}"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2495"/>
          </a:xfrm>
          <a:prstGeom prst="roundRect">
            <a:avLst>
              <a:gd name="adj" fmla="val 206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249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A5276"/>
                </a:solidFill>
                <a:latin typeface="Segoe UI"/>
              </a:rPr>
              <a:t>Attestation</a:t>
            </a:r>
            <a:r>
              <a:rPr sz="1800" b="0" i="0">
                <a:solidFill>
                  <a:srgbClr val="1C252B"/>
                </a:solidFill>
                <a:latin typeface="Segoe UI"/>
              </a:rPr>
              <a:t> is the guest proving what it is to a remote party before that party entrusts it with anything.</a:t>
            </a:r>
          </a:p>
        </p:txBody>
      </p:sp>
      <p:sp>
        <p:nvSpPr>
          <p:cNvPr id="10" name="body-1"/>
          <p:cNvSpPr txBox="1"/>
          <p:nvPr/>
        </p:nvSpPr>
        <p:spPr>
          <a:xfrm>
            <a:off x="1060704" y="2744571"/>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hardware measures the guest’s initial state — firmware, kernel, initial memory image — and produces an </a:t>
            </a:r>
            <a:r>
              <a:rPr sz="1800" b="1" i="0">
                <a:solidFill>
                  <a:srgbClr val="1A5276"/>
                </a:solidFill>
                <a:latin typeface="Segoe UI"/>
              </a:rPr>
              <a:t>attestation report</a:t>
            </a:r>
            <a:r>
              <a:rPr sz="1800" b="0" i="0">
                <a:solidFill>
                  <a:srgbClr val="1C252B"/>
                </a:solidFill>
                <a:latin typeface="Segoe UI"/>
              </a:rPr>
              <a:t> containing those measurements, the processor’s security version, and a signature chaining to a key the silicon vendor certified.</a:t>
            </a:r>
          </a:p>
        </p:txBody>
      </p:sp>
      <p:sp>
        <p:nvSpPr>
          <p:cNvPr id="11" name="body-2"/>
          <p:cNvSpPr txBox="1"/>
          <p:nvPr/>
        </p:nvSpPr>
        <p:spPr>
          <a:xfrm>
            <a:off x="1060704" y="3726180"/>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verifier checks the signature, confirms the hardware is genuine and up to date, and compares the measurement against what it expected. Only then does it release the decryption key, the model weights or the database credentials.</a:t>
            </a:r>
          </a:p>
        </p:txBody>
      </p:sp>
      <p:sp>
        <p:nvSpPr>
          <p:cNvPr id="12" name="body-3"/>
          <p:cNvSpPr txBox="1"/>
          <p:nvPr/>
        </p:nvSpPr>
        <p:spPr>
          <a:xfrm>
            <a:off x="1060704" y="4707788"/>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8A4500"/>
                </a:solidFill>
                <a:latin typeface="Segoe UI"/>
              </a:rPr>
              <a:t>Encryption without attestation protects nothing useful.</a:t>
            </a:r>
            <a:r>
              <a:rPr sz="1800" b="0" i="0">
                <a:solidFill>
                  <a:srgbClr val="1C252B"/>
                </a:solidFill>
                <a:latin typeface="Segoe UI"/>
              </a:rPr>
              <a:t> If you cannot verify what is running, a hostile operator simply boots a modified image that asks you politely for the data — and that image’s memory is beautifully encrypted while it exfiltrates. Attestation is the part that makes the encryption meaningful, and it is the part deployments most often skip.</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Where the Platforms Stand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The Trust Model Inverts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What the Hardware Does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21.3   Where the Platforms Stand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Composable Infrastructure and CXL</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§21.3     </a:t>
            </a:r>
            <a:fld id="{56B16458-B489-41FC-BC1C-AA211FF63F7F}" type="slidenum">
              <a:rPr lang="en-GB" sz="1000">
                <a:solidFill>
                  <a:srgbClr val="8795A1"/>
                </a:solidFill>
                <a:latin typeface="Segoe UI"/>
              </a:rPr>
              <a:t>12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Platforms Stand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C4BD2345-AA71-4F63-B68A-CC1032D3AE74}" type="slidenum">
              <a:rPr lang="en-GB" sz="1000">
                <a:solidFill>
                  <a:srgbClr val="8795A1"/>
                </a:solidFill>
                <a:latin typeface="Segoe UI"/>
              </a:rPr>
              <a:t>13</a:t>
            </a:fld>
          </a:p>
        </p:txBody>
      </p:sp>
      <p:graphicFrame>
        <p:nvGraphicFramePr>
          <p:cNvPr id="7" name="!!table"/>
          <p:cNvGraphicFramePr>
            <a:graphicFrameLocks noGrp="1"/>
          </p:cNvGraphicFramePr>
          <p:nvPr/>
        </p:nvGraphicFramePr>
        <p:xfrm>
          <a:off x="658368" y="1737360"/>
          <a:ext cx="10874957" cy="4099560"/>
        </p:xfrm>
        <a:graphic>
          <a:graphicData uri="http://schemas.openxmlformats.org/drawingml/2006/table">
            <a:tbl>
              <a:tblPr firstRow="0" bandRow="0" firstCol="0" lastRow="0" lastCol="0" bandCol="0">
                <a:tableStyleId>{2D5ABB26-0587-4C30-8999-92F81FD0307C}</a:tableStyleId>
              </a:tblPr>
              <a:tblGrid>
                <a:gridCol w="1923462"/>
                <a:gridCol w="2959172"/>
                <a:gridCol w="2959172"/>
                <a:gridCol w="3033151"/>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AMD SEV-SNP</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Intel TDX</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ARM CCA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Unit protected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whole VM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whole VM (a </a:t>
                      </a:r>
                      <a:r>
                        <a:rPr sz="1700" b="1" i="0">
                          <a:solidFill>
                            <a:srgbClr val="1A5276"/>
                          </a:solidFill>
                          <a:latin typeface="Segoe UI"/>
                        </a:rPr>
                        <a:t>trust domain</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whole VM (a </a:t>
                      </a:r>
                      <a:r>
                        <a:rPr sz="1700" b="1" i="0">
                          <a:solidFill>
                            <a:srgbClr val="1A5276"/>
                          </a:solidFill>
                          <a:latin typeface="Segoe UI"/>
                        </a:rPr>
                        <a:t>realm</a:t>
                      </a:r>
                      <a:r>
                        <a:rPr sz="1700" b="0" i="0">
                          <a:solidFill>
                            <a:srgbClr val="1C252B"/>
                          </a:solidFill>
                          <a:latin typeface="Segoe UI"/>
                        </a:rPr>
                        <a:t>)</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Introduced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SEV 2017, SNP 2020</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2023</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Announced 2021</a:t>
                      </a:r>
                      <a:endParaRPr sz="1700"/>
                    </a:p>
                  </a:txBody>
                  <a:tcPr marL="109728" marR="109728" marT="64008" marB="45720" anchor="t">
                    <a:lnL w="0" cmpd="sng">
                      <a:noFill/>
                    </a:lnL>
                    <a:lnR w="0" cmpd="sng">
                      <a:noFill/>
                    </a:lnR>
                    <a:lnT w="9525" cmpd="sng">
                      <a:noFill/>
                    </a:lnT>
                    <a:lnB w="9525" cmpd="sng">
                      <a:noFill/>
                    </a:lnB>
                    <a:solidFill>
                      <a:srgbClr val="F2F8FC"/>
                    </a:solidFill>
                  </a:tcPr>
                </a:tc>
              </a:tr>
              <a:tr h="1441704">
                <a:tc>
                  <a:txBody>
                    <a:bodyPr wrap="square"/>
                    <a:lstStyle/>
                    <a:p>
                      <a:pPr algn="l"/>
                      <a:r>
                        <a:rPr sz="1700" b="0" i="0">
                          <a:solidFill>
                            <a:srgbClr val="1C252B"/>
                          </a:solidFill>
                          <a:latin typeface="Segoe UI"/>
                        </a:rPr>
                        <a:t>Maturity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The most deployed; generally available across major clouds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Production confidential VMs on Azure and Google Cloud, with newer machine families still arriving in preview during 2026</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Specification mature, </a:t>
                      </a:r>
                      <a:r>
                        <a:rPr sz="1700" b="0" i="1">
                          <a:solidFill>
                            <a:srgbClr val="1C252B"/>
                          </a:solidFill>
                          <a:latin typeface="Segoe UI"/>
                        </a:rPr>
                        <a:t>silicon and cloud availability still limited</a:t>
                      </a:r>
                      <a:r>
                        <a:rPr sz="1700" b="0" i="0">
                          <a:solidFill>
                            <a:srgbClr val="1C252B"/>
                          </a:solidFill>
                          <a:latin typeface="Segoe UI"/>
                        </a:rPr>
                        <a:t>; previews rather than general availability</a:t>
                      </a:r>
                      <a:endParaRPr sz="1700"/>
                    </a:p>
                  </a:txBody>
                  <a:tcPr marL="109728" marR="109728" marT="64008" marB="45720" anchor="t">
                    <a:lnL w="0" cmpd="sng">
                      <a:noFill/>
                    </a:lnL>
                    <a:lnR w="0" cmpd="sng">
                      <a:noFill/>
                    </a:lnR>
                    <a:lnT w="9525" cmpd="sng">
                      <a:noFill/>
                    </a:lnT>
                    <a:lnB w="9525" cmpd="sng">
                      <a:noFill/>
                    </a:lnB>
                    <a:solidFill>
                      <a:srgbClr val="FFFFFF"/>
                    </a:solidFill>
                  </a:tcPr>
                </a:tc>
              </a:tr>
              <a:tr h="1182624">
                <a:tc>
                  <a:txBody>
                    <a:bodyPr wrap="square"/>
                    <a:lstStyle/>
                    <a:p>
                      <a:pPr algn="l"/>
                      <a:r>
                        <a:rPr sz="1700" b="0" i="0">
                          <a:solidFill>
                            <a:srgbClr val="1C252B"/>
                          </a:solidFill>
                          <a:latin typeface="Segoe UI"/>
                        </a:rPr>
                        <a:t>Watch for</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Attestation report format changed to v4 with a firmware update — parsers written for v3 break</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 TDX firmware vulnerability was disclosed and patched in early 2026; keep firmware current</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Expect availability to change fastest of the three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predecessor that is not this: Intel SGX</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D52954CE-1A48-44D7-887B-F41A1A4F4A12}"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SGX protected an </a:t>
            </a:r>
            <a:r>
              <a:rPr sz="2000" b="0" i="1">
                <a:solidFill>
                  <a:srgbClr val="1C252B"/>
                </a:solidFill>
                <a:latin typeface="Segoe UI"/>
              </a:rPr>
              <a:t>enclave</a:t>
            </a:r>
            <a:r>
              <a:rPr sz="2000" b="0" i="0">
                <a:solidFill>
                  <a:srgbClr val="1C252B"/>
                </a:solidFill>
                <a:latin typeface="Segoe UI"/>
              </a:rPr>
              <a:t> — a region inside one process — rather than a whole virtual machine. The application had to be rewritten and split, with the sensitive part inside the enclave and everything else outside, across a narrow and awkward boundary. Enclave memory was also small, in the low hundreds of megabytes on most parts.</a:t>
            </a:r>
          </a:p>
        </p:txBody>
      </p:sp>
      <p:sp>
        <p:nvSpPr>
          <p:cNvPr id="10" name="body-1"/>
          <p:cNvSpPr txBox="1"/>
          <p:nvPr/>
        </p:nvSpPr>
        <p:spPr>
          <a:xfrm>
            <a:off x="1060704" y="3455923"/>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It saw real use and it did not become general infrastructure, for the obvious reason: nobody wants to re-architect an application to run it somewhere.</a:t>
            </a:r>
          </a:p>
        </p:txBody>
      </p:sp>
      <p:sp>
        <p:nvSpPr>
          <p:cNvPr id="11" name="body-2"/>
          <p:cNvSpPr txBox="1"/>
          <p:nvPr/>
        </p:nvSpPr>
        <p:spPr>
          <a:xfrm>
            <a:off x="1060704" y="4229608"/>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TDX, SEV-SNP and CCA all learned from that. They protect an </a:t>
            </a:r>
            <a:r>
              <a:rPr sz="2000" b="0" i="1">
                <a:solidFill>
                  <a:srgbClr val="1C252B"/>
                </a:solidFill>
                <a:latin typeface="Segoe UI"/>
              </a:rPr>
              <a:t>unmodified virtual machine</a:t>
            </a:r>
            <a:r>
              <a:rPr sz="2000" b="0" i="0">
                <a:solidFill>
                  <a:srgbClr val="1C252B"/>
                </a:solidFill>
                <a:latin typeface="Segoe UI"/>
              </a:rPr>
              <a:t>, so an existing workload moves in without being rewritten — which is the same bargain Chapter 3 struck when it insisted on running unmodified guests, made again two decades later.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This Workload Justify a Confidential VM?</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19558532-9671-40A8-9F29-9C2F7DD72100}"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7119"/>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71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hospital wants to run analytics over patient records in a public cloud. The compliance team objects that the provider’s staff could read the data. Decide whether confidential computing answers the objection, and what it costs.</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what is actually being claimed?</a:t>
            </a:r>
            <a:r>
              <a:rPr sz="1900" b="0" i="0">
                <a:solidFill>
                  <a:srgbClr val="1C252B"/>
                </a:solidFill>
                <a:latin typeface="Segoe UI"/>
              </a:rPr>
              <a:t> Not that the provider </a:t>
            </a:r>
            <a:r>
              <a:rPr sz="1900" b="0" i="1">
                <a:solidFill>
                  <a:srgbClr val="1C252B"/>
                </a:solidFill>
                <a:latin typeface="Segoe UI"/>
              </a:rPr>
              <a:t>would</a:t>
            </a:r>
            <a:r>
              <a:rPr sz="1900" b="0" i="0">
                <a:solidFill>
                  <a:srgbClr val="1C252B"/>
                </a:solidFill>
                <a:latin typeface="Segoe UI"/>
              </a:rPr>
              <a:t>, but that they </a:t>
            </a:r>
            <a:r>
              <a:rPr sz="1900" b="0" i="1">
                <a:solidFill>
                  <a:srgbClr val="1C252B"/>
                </a:solidFill>
                <a:latin typeface="Segoe UI"/>
              </a:rPr>
              <a:t>could</a:t>
            </a:r>
            <a:r>
              <a:rPr sz="1900" b="0" i="0">
                <a:solidFill>
                  <a:srgbClr val="1C252B"/>
                </a:solidFill>
                <a:latin typeface="Segoe UI"/>
              </a:rPr>
              <a:t>, and that the hospital cannot demonstrate otherwise to its regulator. The requirement is therefore evidentiary, not merely technical.</a:t>
            </a:r>
          </a:p>
        </p:txBody>
      </p:sp>
      <p:sp>
        <p:nvSpPr>
          <p:cNvPr id="11" name="body-2"/>
          <p:cNvSpPr txBox="1"/>
          <p:nvPr/>
        </p:nvSpPr>
        <p:spPr>
          <a:xfrm>
            <a:off x="1042416" y="408396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what a confidential VM gives.</a:t>
            </a:r>
          </a:p>
        </p:txBody>
      </p:sp>
      <p:sp>
        <p:nvSpPr>
          <p:cNvPr id="12" name="body-3"/>
          <p:cNvSpPr txBox="1"/>
          <p:nvPr/>
        </p:nvSpPr>
        <p:spPr>
          <a:xfrm>
            <a:off x="1042416" y="4517821"/>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memory encrypted with a key the host cannot read;</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integrity protection against remapping and replay (SNP or TDX);</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an attestation report the hospital can verify before releasing the database key.</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This Workload Justify a Confidential VM?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AF64FB2A-981D-4BBC-9606-27A2D532B28A}"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0001"/>
          </a:xfrm>
          <a:prstGeom prst="roundRect">
            <a:avLst>
              <a:gd name="adj" fmla="val 208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00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provider’s administrators can still stop the machine, and still see how much memory and processor it uses. They cannot read the records.</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what it does </a:t>
            </a:r>
            <a:r>
              <a:rPr sz="1900" b="1" i="1">
                <a:solidFill>
                  <a:srgbClr val="1C252B"/>
                </a:solidFill>
                <a:latin typeface="Segoe UI"/>
              </a:rPr>
              <a:t>not</a:t>
            </a:r>
            <a:r>
              <a:rPr sz="1900" b="1" i="0">
                <a:solidFill>
                  <a:srgbClr val="1C252B"/>
                </a:solidFill>
                <a:latin typeface="Segoe UI"/>
              </a:rPr>
              <a:t> give.</a:t>
            </a:r>
            <a:r>
              <a:rPr sz="1900" b="0" i="0">
                <a:solidFill>
                  <a:srgbClr val="1C252B"/>
                </a:solidFill>
                <a:latin typeface="Segoe UI"/>
              </a:rPr>
              <a:t> Four gaps worth stating to the compliance team before they believe too much:</a:t>
            </a:r>
          </a:p>
        </p:txBody>
      </p:sp>
      <p:sp>
        <p:nvSpPr>
          <p:cNvPr id="11" name="body-1bar">
            <a:extLst>
              <a:ext uri="{C183D7F6-B498-43B3-948B-1728B52AA6E4}">
                <adec:decorative xmlns:adec="http://schemas.microsoft.com/office/drawing/2017/decorative" val="1"/>
              </a:ext>
            </a:extLst>
          </p:cNvPr>
          <p:cNvSpPr/>
          <p:nvPr/>
        </p:nvSpPr>
        <p:spPr>
          <a:xfrm>
            <a:off x="841248" y="2764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481679"/>
            <a:ext cx="10234879" cy="240708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Availability.</a:t>
            </a:r>
            <a:r>
              <a:rPr sz="1900" b="0" i="0">
                <a:solidFill>
                  <a:srgbClr val="1C252B"/>
                </a:solidFill>
                <a:latin typeface="Segoe UI"/>
              </a:rPr>
              <a:t> The operator can still destroy or detain the machine. Confidentiality and integrity; not availability.</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Side channels.</a:t>
            </a:r>
            <a:r>
              <a:rPr sz="1900" b="0" i="0">
                <a:solidFill>
                  <a:srgbClr val="1C252B"/>
                </a:solidFill>
                <a:latin typeface="Segoe UI"/>
              </a:rPr>
              <a:t> Timing and cache attacks (Chapter 19) are not fully addressed, and some published attacks target exactly these systems.</a:t>
            </a:r>
          </a:p>
          <a:p>
            <a:pPr algn="l" marL="212450" indent="-212450">
              <a:lnSpc>
                <a:spcPct val="104000"/>
              </a:lnSpc>
              <a:spcBef>
                <a:spcPts val="0"/>
              </a:spcBef>
              <a:spcAft>
                <a:spcPts val="665"/>
              </a:spcAft>
            </a:pPr>
            <a:r>
              <a:rPr sz="1900" b="1">
                <a:solidFill>
                  <a:srgbClr val="7D6608"/>
                </a:solidFill>
                <a:latin typeface="Segoe UI"/>
              </a:rPr>
              <a:t>•	</a:t>
            </a:r>
            <a:r>
              <a:rPr sz="1900" b="1" i="0">
                <a:solidFill>
                  <a:srgbClr val="7D6608"/>
                </a:solidFill>
                <a:latin typeface="Segoe UI"/>
              </a:rPr>
              <a:t>Your own bugs.</a:t>
            </a:r>
            <a:r>
              <a:rPr sz="1900" b="0" i="0">
                <a:solidFill>
                  <a:srgbClr val="1C252B"/>
                </a:solidFill>
                <a:latin typeface="Segoe UI"/>
              </a:rPr>
              <a:t> A flaw in the application inside the enclave leaks the data the normal way.</a:t>
            </a:r>
          </a:p>
          <a:p>
            <a:pPr algn="l" marL="212450" indent="-212450">
              <a:lnSpc>
                <a:spcPct val="104000"/>
              </a:lnSpc>
              <a:spcBef>
                <a:spcPts val="0"/>
              </a:spcBef>
              <a:spcAft>
                <a:spcPts val="0"/>
              </a:spcAft>
            </a:pPr>
            <a:r>
              <a:rPr sz="1900" b="1">
                <a:solidFill>
                  <a:srgbClr val="7D6608"/>
                </a:solidFill>
                <a:latin typeface="Segoe UI"/>
              </a:rPr>
              <a:t>•	</a:t>
            </a:r>
            <a:r>
              <a:rPr sz="1900" b="1" i="0">
                <a:solidFill>
                  <a:srgbClr val="7D6608"/>
                </a:solidFill>
                <a:latin typeface="Segoe UI"/>
              </a:rPr>
              <a:t>Data in use elsewhere.</a:t>
            </a:r>
            <a:r>
              <a:rPr sz="1900" b="0" i="0">
                <a:solidFill>
                  <a:srgbClr val="1C252B"/>
                </a:solidFill>
                <a:latin typeface="Segoe UI"/>
              </a:rPr>
              <a:t> The moment records leave for an unprotected service, the guarantee ends. The boundary must cover the whole path.</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350"/>
                                        <p:tgtEl>
                                          <p:spTgt spid="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1" end="1"/>
                                            </p:txEl>
                                          </p:spTgt>
                                        </p:tgtEl>
                                        <p:attrNameLst>
                                          <p:attrName>style.visibility</p:attrName>
                                        </p:attrNameLst>
                                      </p:cBhvr>
                                      <p:to>
                                        <p:strVal val="visible"/>
                                      </p:to>
                                    </p:set>
                                    <p:animEffect transition="in" filter="fade">
                                      <p:cBhvr>
                                        <p:cTn id="26" dur="350"/>
                                        <p:tgtEl>
                                          <p:spTgt spid="1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fade">
                                      <p:cBhvr>
                                        <p:cTn id="31" dur="350"/>
                                        <p:tgtEl>
                                          <p:spTgt spid="1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xEl>
                                              <p:pRg st="3" end="3"/>
                                            </p:txEl>
                                          </p:spTgt>
                                        </p:tgtEl>
                                        <p:attrNameLst>
                                          <p:attrName>style.visibility</p:attrName>
                                        </p:attrNameLst>
                                      </p:cBhvr>
                                      <p:to>
                                        <p:strVal val="visible"/>
                                      </p:to>
                                    </p:set>
                                    <p:animEffect transition="in" filter="fade">
                                      <p:cBhvr>
                                        <p:cTn id="36" dur="35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This Workload Justify a Confidential VM?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F73FFB3B-43D7-4DC3-BBCF-522C1D83A733}"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1636"/>
          </a:xfrm>
          <a:prstGeom prst="roundRect">
            <a:avLst>
              <a:gd name="adj" fmla="val 26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1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cost.</a:t>
            </a:r>
            <a:r>
              <a:rPr sz="1900" b="0" i="0">
                <a:solidFill>
                  <a:srgbClr val="1C252B"/>
                </a:solidFill>
                <a:latin typeface="Segoe UI"/>
              </a:rPr>
              <a:t> Performance overhead is workload-dependent and generally modest — commonly in the region of 2–8% for ordinary server workloads, more where I/O is heavy, because encrypted guests use bounce buffers for device transfers. Instance choice is restricted to supported families, and some features — live migration (Chapter 17), certain memory management — may be unavailable or restricted.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larger cost is operational: attestation must be built, verified and maintained. Somebody must decide what measurement is expected, store it, check it, and update it with every image change. </a:t>
            </a:r>
            <a:r>
              <a:rPr sz="1900" b="1" i="0">
                <a:solidFill>
                  <a:srgbClr val="1C252B"/>
                </a:solidFill>
                <a:latin typeface="Segoe UI"/>
              </a:rPr>
              <a:t>A confidential VM whose attestation nobody verifies is a normal VM with a performance penalty.</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Does This Workload Justify a Confidential VM?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167     </a:t>
            </a:r>
            <a:fld id="{8211650E-6722-4418-87FA-6358583AC35C}"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recommendation.</a:t>
            </a:r>
            <a:r>
              <a:rPr sz="1900" b="0" i="0">
                <a:solidFill>
                  <a:srgbClr val="1C252B"/>
                </a:solidFill>
                <a:latin typeface="Segoe UI"/>
              </a:rPr>
              <a:t> Yes, with a condition. Use a confidential VM </a:t>
            </a:r>
            <a:r>
              <a:rPr sz="1900" b="0" i="1">
                <a:solidFill>
                  <a:srgbClr val="1C252B"/>
                </a:solidFill>
                <a:latin typeface="Segoe UI"/>
              </a:rPr>
              <a:t>and</a:t>
            </a:r>
            <a:r>
              <a:rPr sz="1900" b="0" i="0">
                <a:solidFill>
                  <a:srgbClr val="1C252B"/>
                </a:solidFill>
                <a:latin typeface="Segoe UI"/>
              </a:rPr>
              <a:t> build the attestation flow, so the database key is released only to a verified measurement. Record the expected measurement under change control. If the project cannot commit to maintaining that, the honest advice is to keep the data on premises, because the alternative is a control that exists only on a slide.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Is the Same Idea as Chapter 1</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EB58E3A4-C9DC-4EDC-BE7B-9211278269E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Pooled memory, allocated on demand and returned, is </a:t>
            </a:r>
            <a:r>
              <a:rPr sz="2000" b="0" i="1">
                <a:solidFill>
                  <a:srgbClr val="1C252B"/>
                </a:solidFill>
                <a:latin typeface="Segoe UI"/>
              </a:rPr>
              <a:t>virtualization of the memory bus</a:t>
            </a:r>
            <a:r>
              <a:rPr sz="2000" b="0" i="0">
                <a:solidFill>
                  <a:srgbClr val="1C252B"/>
                </a:solidFill>
                <a:latin typeface="Segoe UI"/>
              </a:rPr>
              <a:t> — multiplexing, by the definition of Chapter 1. The motive is the one from the opening pages: capacity bought and left idle because it could not be shared.</a:t>
            </a:r>
          </a:p>
        </p:txBody>
      </p:sp>
      <p:sp>
        <p:nvSpPr>
          <p:cNvPr id="10" name="body-1"/>
          <p:cNvSpPr txBox="1"/>
          <p:nvPr/>
        </p:nvSpPr>
        <p:spPr>
          <a:xfrm>
            <a:off x="1060704" y="3138931"/>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obstacle is the one the whole book keeps meeting: latency. Fabric-attached memory is slower than socket-attached memory, as NUMA’s remote node is slower than its local one (Chapter 6) — only more so. Early deployments are therefore tiered, with hot pages local and cold pages pooled, which is exactly the memory-reclamation ladder of Chapter 6 wearing different clothes.</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Treat this section as a direction, not a product. The useful thing to carry away is that you already have the framework to evaluate it when a vendor arrives: ask what is multiplexed, what the lie costs, and who maintains it.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60B0ECD6-1326-4421-8054-312035E84EA7}"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Deploying encryption without attestation.</a:t>
            </a:r>
            <a:r>
              <a:rPr sz="1700" b="0" i="0">
                <a:solidFill>
                  <a:srgbClr val="1C252B"/>
                </a:solidFill>
                <a:latin typeface="Segoe UI"/>
              </a:rPr>
              <a:t> You have hidden the data from an attacker who was not going to read it, and not from one who boots a modified image.</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the first generation is enough.</a:t>
            </a:r>
            <a:r>
              <a:rPr sz="1700" b="0" i="0">
                <a:solidFill>
                  <a:srgbClr val="1C252B"/>
                </a:solidFill>
                <a:latin typeface="Segoe UI"/>
              </a:rPr>
              <a:t> Plain SEV lacked integrity and was broken by remapping. Use SEV-SNP or TDX.</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availability is protected.</a:t>
            </a:r>
            <a:r>
              <a:rPr sz="1700" b="0" i="0">
                <a:solidFill>
                  <a:srgbClr val="1C252B"/>
                </a:solidFill>
                <a:latin typeface="Segoe UI"/>
              </a:rPr>
              <a:t> It is not. The operator can still stop your machine.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side channels are solved.</a:t>
            </a:r>
            <a:r>
              <a:rPr sz="1700" b="0" i="0">
                <a:solidFill>
                  <a:srgbClr val="1C252B"/>
                </a:solidFill>
                <a:latin typeface="Segoe UI"/>
              </a:rPr>
              <a:t> They are not, and published attacks target these systems specifically.</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Hard-coding an attestation report format.</a:t>
            </a:r>
            <a:r>
              <a:rPr sz="1700" b="0" i="0">
                <a:solidFill>
                  <a:srgbClr val="1C252B"/>
                </a:solidFill>
                <a:latin typeface="Segoe UI"/>
              </a:rPr>
              <a:t> AMD’s move to v4 broke parsers written for v3.</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the rest of the path.</a:t>
            </a:r>
            <a:r>
              <a:rPr sz="1700" b="0" i="0">
                <a:solidFill>
                  <a:srgbClr val="1C252B"/>
                </a:solidFill>
                <a:latin typeface="Segoe UI"/>
              </a:rPr>
              <a:t> The guarantee ends where the data leaves the TEE.</a:t>
            </a:r>
          </a:p>
        </p:txBody>
      </p:sp>
      <p:sp>
        <p:nvSpPr>
          <p:cNvPr id="25" name="!!pb6">
            <a:extLst>
              <a:ext uri="{C183D7F6-B498-43B3-948B-1728B52AA6E4}">
                <adec:decorative xmlns:adec="http://schemas.microsoft.com/office/drawing/2017/decorative" val="1"/>
              </a:ext>
            </a:extLst>
          </p:cNvPr>
          <p:cNvSpPr/>
          <p:nvPr/>
        </p:nvSpPr>
        <p:spPr>
          <a:xfrm>
            <a:off x="658368" y="567659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x6"/>
          <p:cNvSpPr txBox="1"/>
          <p:nvPr/>
        </p:nvSpPr>
        <p:spPr>
          <a:xfrm>
            <a:off x="658368" y="569945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7" name="!!pt6"/>
          <p:cNvSpPr txBox="1"/>
          <p:nvPr/>
        </p:nvSpPr>
        <p:spPr>
          <a:xfrm>
            <a:off x="1261872" y="565830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Planning on ARM CCA availability.</a:t>
            </a:r>
            <a:r>
              <a:rPr sz="1700" b="0" i="0">
                <a:solidFill>
                  <a:srgbClr val="1C252B"/>
                </a:solidFill>
                <a:latin typeface="Segoe UI"/>
              </a:rPr>
              <a:t> As of late 2026 it is previews, not general availability. Check before designing around it.</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zoom(in)">
                                      <p:cBhvr>
                                        <p:cTn id="74" dur="26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60"/>
                                        <p:tgtEl>
                                          <p:spTgt spid="26"/>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wipe(right)">
                                      <p:cBhvr>
                                        <p:cTn id="8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840C12BF-540B-4A06-8C83-84E04F2CBB7B}" type="slidenum">
              <a:rPr lang="en-GB" sz="1000">
                <a:solidFill>
                  <a:srgbClr val="8795A1"/>
                </a:solidFill>
                <a:latin typeface="Segoe UI"/>
              </a:rPr>
              <a:t>21</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Inspects a confidential VM and verifies an attestation report. Where no suitable processor is available, the captured reports in </a:t>
            </a:r>
            <a:r>
              <a:rPr sz="1900" b="0" i="0">
                <a:solidFill>
                  <a:srgbClr val="1F4E79"/>
                </a:solidFill>
                <a:latin typeface="Consolas"/>
              </a:rPr>
              <a:t>code/</a:t>
            </a:r>
            <a:r>
              <a:rPr sz="2000" b="0" i="0">
                <a:solidFill>
                  <a:srgbClr val="1C252B"/>
                </a:solidFill>
                <a:latin typeface="Segoe UI"/>
              </a:rPr>
              <a:t> make the verification exercise identical. Expect thirty-five minutes.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Does this processor support any of the three?</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From inside a guest: am I confidential?</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Ask the hardware for an attestation report.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The three fields that matter, and why.</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Verify the chain. This is the step people skip.</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Now the attack this defends against.</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What it costs: the same benchmark, confidential or not.</a:t>
            </a:r>
          </a:p>
        </p:txBody>
      </p:sp>
      <p:sp>
        <p:nvSpPr>
          <p:cNvPr id="3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15: Partition a GPU; verify an attestation report</a:t>
            </a:r>
          </a:p>
        </p:txBody>
      </p:sp>
      <p:sp>
        <p:nvSpPr>
          <p:cNvPr id="4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79 lines of Shell</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3A789A3F-2367-4CDE-9100-D69CDA3684C5}"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Does this processor support any of the three?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21_attest.sh -- is this guest confidential, and can it prove it? set -euo pipefail # --- 1. Does this processor support any of the three? ----------------- grep -o -m1 -E '\&lt;(sev|sev_es|sev_snp|tdx_guest)\&gt;' /proc/cpuinfo || \ echo &quot;no TEE features on this host&quot; ls /sys/firmware/ 2&gt;/dev/null | grep -iE 'tdx|sev' || true dmesg | grep -iE 'SEV-SNP|TDX|Memory Encryption' | head -5 || true"/>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#!/usr/bin/env bash</a:t>
            </a:r>
          </a:p>
          <a:p>
            <a:pPr>
              <a:lnSpc>
                <a:spcPct val="100000"/>
              </a:lnSpc>
              <a:spcAft>
                <a:spcPts val="0"/>
              </a:spcAft>
            </a:pPr>
            <a:r>
              <a:rPr sz="1900" i="1">
                <a:solidFill>
                  <a:srgbClr val="8795A1"/>
                </a:solidFill>
                <a:latin typeface="Consolas"/>
              </a:rPr>
              <a:t># ch21_attest.sh -- is this guest confidential, and can it prove it?</a:t>
            </a:r>
          </a:p>
          <a:p>
            <a:pPr>
              <a:lnSpc>
                <a:spcPct val="100000"/>
              </a:lnSpc>
              <a:spcAft>
                <a:spcPts val="0"/>
              </a:spcAft>
            </a:pP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-euo</a:t>
            </a:r>
            <a:r>
              <a:rPr sz="1900" i="0">
                <a:solidFill>
                  <a:srgbClr val="E8EDF2"/>
                </a:solidFill>
                <a:latin typeface="Consolas"/>
              </a:rPr>
              <a:t> </a:t>
            </a:r>
            <a:r>
              <a:rPr sz="1900" i="0">
                <a:solidFill>
                  <a:srgbClr val="E8EDF2"/>
                </a:solidFill>
                <a:latin typeface="Consolas"/>
              </a:rPr>
              <a:t>pipefail</a:t>
            </a:r>
          </a:p>
          <a:p>
            <a:pPr>
              <a:lnSpc>
                <a:spcPct val="100000"/>
              </a:lnSpc>
              <a:spcAft>
                <a:spcPts val="0"/>
              </a:spcAft>
            </a:pPr>
            <a:r>
              <a:rPr sz="1900">
                <a:latin typeface="Consolas"/>
              </a:rPr>
              <a:t> </a:t>
            </a:r>
          </a:p>
          <a:p>
            <a:pPr>
              <a:lnSpc>
                <a:spcPct val="100000"/>
              </a:lnSpc>
              <a:spcAft>
                <a:spcPts val="0"/>
              </a:spcAft>
            </a:pPr>
            <a:r>
              <a:rPr sz="1900" i="1">
                <a:solidFill>
                  <a:srgbClr val="8795A1"/>
                </a:solidFill>
                <a:latin typeface="Consolas"/>
              </a:rPr>
              <a:t># --- 1. Does this processor support any of the three? -----------------</a:t>
            </a:r>
          </a:p>
          <a:p>
            <a:pPr>
              <a:lnSpc>
                <a:spcPct val="100000"/>
              </a:lnSpc>
              <a:spcAft>
                <a:spcPts val="0"/>
              </a:spcAft>
            </a:pP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-m1</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'\&lt;(sev|sev_es|sev_snp|tdx_guest)\&gt;'</a:t>
            </a:r>
            <a:r>
              <a:rPr sz="1900" i="0">
                <a:solidFill>
                  <a:srgbClr val="E8EDF2"/>
                </a:solidFill>
                <a:latin typeface="Consolas"/>
              </a:rPr>
              <a:t> </a:t>
            </a:r>
            <a:r>
              <a:rPr sz="1900" i="0">
                <a:solidFill>
                  <a:srgbClr val="E8EDF2"/>
                </a:solidFill>
                <a:latin typeface="Consolas"/>
              </a:rPr>
              <a:t>/proc/cpuinfo</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"no TEE features on this host"</a:t>
            </a:r>
          </a:p>
          <a:p>
            <a:pPr>
              <a:lnSpc>
                <a:spcPct val="100000"/>
              </a:lnSpc>
              <a:spcAft>
                <a:spcPts val="0"/>
              </a:spcAft>
            </a:pPr>
            <a:r>
              <a:rPr sz="1900" i="0">
                <a:solidFill>
                  <a:srgbClr val="E8EDF2"/>
                </a:solidFill>
                <a:latin typeface="Consolas"/>
              </a:rPr>
              <a:t>ls</a:t>
            </a:r>
            <a:r>
              <a:rPr sz="1900" i="0">
                <a:solidFill>
                  <a:srgbClr val="E8EDF2"/>
                </a:solidFill>
                <a:latin typeface="Consolas"/>
              </a:rPr>
              <a:t> </a:t>
            </a:r>
            <a:r>
              <a:rPr sz="1900" i="0">
                <a:solidFill>
                  <a:srgbClr val="E8EDF2"/>
                </a:solidFill>
                <a:latin typeface="Consolas"/>
              </a:rPr>
              <a:t>/sys/firmware/</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-iE</a:t>
            </a:r>
            <a:r>
              <a:rPr sz="1900" i="0">
                <a:solidFill>
                  <a:srgbClr val="E8EDF2"/>
                </a:solidFill>
                <a:latin typeface="Consolas"/>
              </a:rPr>
              <a:t> </a:t>
            </a:r>
            <a:r>
              <a:rPr sz="1900" i="0">
                <a:solidFill>
                  <a:srgbClr val="7DCEA0"/>
                </a:solidFill>
                <a:latin typeface="Consolas"/>
              </a:rPr>
              <a:t>'tdx|sev'</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dmesg</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-iE</a:t>
            </a:r>
            <a:r>
              <a:rPr sz="1900" i="0">
                <a:solidFill>
                  <a:srgbClr val="E8EDF2"/>
                </a:solidFill>
                <a:latin typeface="Consolas"/>
              </a:rPr>
              <a:t> </a:t>
            </a:r>
            <a:r>
              <a:rPr sz="1900" i="0">
                <a:solidFill>
                  <a:srgbClr val="7DCEA0"/>
                </a:solidFill>
                <a:latin typeface="Consolas"/>
              </a:rPr>
              <a:t>'SEV-SNP|TDX|Memory Encryption'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head</a:t>
            </a:r>
            <a:r>
              <a:rPr sz="1900" i="0">
                <a:solidFill>
                  <a:srgbClr val="E8EDF2"/>
                </a:solidFill>
                <a:latin typeface="Consolas"/>
              </a:rPr>
              <a:t> </a:t>
            </a:r>
            <a:r>
              <a:rPr sz="1900" i="0">
                <a:solidFill>
                  <a:srgbClr val="E8EDF2"/>
                </a:solidFill>
                <a:latin typeface="Consolas"/>
              </a:rPr>
              <a:t>-5</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a:p>
            <a:pPr algn="r">
              <a:lnSpc>
                <a:spcPct val="100000"/>
              </a:lnSpc>
            </a:pPr>
            <a:r>
              <a:rPr sz="1900">
                <a:solidFill>
                  <a:srgbClr val="4F5D6A"/>
                </a:solidFill>
                <a:latin typeface="Consolas"/>
              </a:rPr>
              <a:t>8</a:t>
            </a:r>
          </a:p>
          <a:p>
            <a:pPr algn="r">
              <a:lnSpc>
                <a:spcPct val="100000"/>
              </a:lnSpc>
            </a:pPr>
            <a:r>
              <a:rPr sz="19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2DC39EA3-249B-4568-BDAD-A073E8228F29}"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From inside a guest: am I confidential?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From inside a guest: am I confidential? ----------------------- # Each platform exposes itself differently; check all three. [ -e /dev/sev-guest ] &amp;&amp; echo &quot;AMD SEV-SNP guest device present&quot; [ -e /dev/tdx_guest ] &amp;&amp; echo &quot;Intel TDX guest device present&quot; systemd-detect-virt # On a normal guest, none of these exist. That is the point of step 4."/>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From inside a guest: am I confidential? -----------------------</a:t>
            </a:r>
          </a:p>
          <a:p>
            <a:pPr>
              <a:lnSpc>
                <a:spcPct val="100000"/>
              </a:lnSpc>
              <a:spcAft>
                <a:spcPts val="0"/>
              </a:spcAft>
            </a:pPr>
            <a:r>
              <a:rPr sz="1900" i="1">
                <a:solidFill>
                  <a:srgbClr val="8795A1"/>
                </a:solidFill>
                <a:latin typeface="Consolas"/>
              </a:rPr>
              <a:t># Each platform exposes itself differently; check all three.</a:t>
            </a:r>
          </a:p>
          <a:p>
            <a:pPr>
              <a:lnSpc>
                <a:spcPct val="100000"/>
              </a:lnSpc>
              <a:spcAft>
                <a:spcPts val="0"/>
              </a:spcAft>
            </a:pP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E8EDF2"/>
                </a:solidFill>
                <a:latin typeface="Consolas"/>
              </a:rPr>
              <a:t>/dev/sev-guest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"AMD SEV-SNP guest device present"</a:t>
            </a:r>
          </a:p>
          <a:p>
            <a:pPr>
              <a:lnSpc>
                <a:spcPct val="100000"/>
              </a:lnSpc>
              <a:spcAft>
                <a:spcPts val="0"/>
              </a:spcAft>
            </a:pP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E8EDF2"/>
                </a:solidFill>
                <a:latin typeface="Consolas"/>
              </a:rPr>
              <a:t>/dev/tdx_guest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"Intel TDX guest device present"</a:t>
            </a:r>
          </a:p>
          <a:p>
            <a:pPr>
              <a:lnSpc>
                <a:spcPct val="100000"/>
              </a:lnSpc>
              <a:spcAft>
                <a:spcPts val="0"/>
              </a:spcAft>
            </a:pPr>
            <a:r>
              <a:rPr sz="1900" i="0">
                <a:solidFill>
                  <a:srgbClr val="E8EDF2"/>
                </a:solidFill>
                <a:latin typeface="Consolas"/>
              </a:rPr>
              <a:t>systemd-detect-virt</a:t>
            </a:r>
          </a:p>
          <a:p>
            <a:pPr>
              <a:lnSpc>
                <a:spcPct val="100000"/>
              </a:lnSpc>
              <a:spcAft>
                <a:spcPts val="0"/>
              </a:spcAft>
            </a:pPr>
            <a:r>
              <a:rPr sz="1900" i="1">
                <a:solidFill>
                  <a:srgbClr val="8795A1"/>
                </a:solidFill>
                <a:latin typeface="Consolas"/>
              </a:rPr>
              <a:t># On a normal guest, none of these exist. That is the point of step 4.</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A0F79BCB-8AF9-4B66-8A6A-05812F266E98}"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Ask the hardware for an attestation report.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Ask the hardware for an attestation report. ------------------- # snpguest (AMD) or trustee/tdx tools (Intel). A 64-byte nonce from the # verifier goes in; a signed report comes out. NONCE=$(openssl rand -hex 32) if [ -e /dev/sev-guest ] &amp;&amp; command -v snpguest &gt;/dev/null; then snpguest report report.bin request.txt --random snpguest display report report.bin | head -30 else echo &quot;no TEE here -- using the captured report in code/&quot; cp &quot;$(dirname &quot;$0&quot;)/ch21_report.txt&quot; report.txt 2&gt;/dev/null || true sed -n '1,30p' report.txt 2&gt;/dev/null || true fi"/>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Ask the hardware for an attestation report. -------------------</a:t>
            </a:r>
          </a:p>
          <a:p>
            <a:pPr>
              <a:lnSpc>
                <a:spcPct val="100000"/>
              </a:lnSpc>
              <a:spcAft>
                <a:spcPts val="0"/>
              </a:spcAft>
            </a:pPr>
            <a:r>
              <a:rPr sz="1900" i="1">
                <a:solidFill>
                  <a:srgbClr val="8795A1"/>
                </a:solidFill>
                <a:latin typeface="Consolas"/>
              </a:rPr>
              <a:t># snpguest (AMD) or trustee/tdx tools (Intel). A 64-byte nonce from the</a:t>
            </a:r>
          </a:p>
          <a:p>
            <a:pPr>
              <a:lnSpc>
                <a:spcPct val="100000"/>
              </a:lnSpc>
              <a:spcAft>
                <a:spcPts val="0"/>
              </a:spcAft>
            </a:pPr>
            <a:r>
              <a:rPr sz="1900" i="1">
                <a:solidFill>
                  <a:srgbClr val="8795A1"/>
                </a:solidFill>
                <a:latin typeface="Consolas"/>
              </a:rPr>
              <a:t># verifier goes in; a signed report comes out.</a:t>
            </a:r>
          </a:p>
          <a:p>
            <a:pPr>
              <a:lnSpc>
                <a:spcPct val="100000"/>
              </a:lnSpc>
              <a:spcAft>
                <a:spcPts val="0"/>
              </a:spcAft>
            </a:pPr>
            <a:r>
              <a:rPr sz="1900" i="0">
                <a:solidFill>
                  <a:srgbClr val="E8EDF2"/>
                </a:solidFill>
                <a:latin typeface="Consolas"/>
              </a:rPr>
              <a:t>NONCE</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openssl</a:t>
            </a:r>
            <a:r>
              <a:rPr sz="1900" i="0">
                <a:solidFill>
                  <a:srgbClr val="E8EDF2"/>
                </a:solidFill>
                <a:latin typeface="Consolas"/>
              </a:rPr>
              <a:t> </a:t>
            </a:r>
            <a:r>
              <a:rPr sz="1900" i="0">
                <a:solidFill>
                  <a:srgbClr val="E8EDF2"/>
                </a:solidFill>
                <a:latin typeface="Consolas"/>
              </a:rPr>
              <a:t>rand</a:t>
            </a:r>
            <a:r>
              <a:rPr sz="1900" i="0">
                <a:solidFill>
                  <a:srgbClr val="E8EDF2"/>
                </a:solidFill>
                <a:latin typeface="Consolas"/>
              </a:rPr>
              <a:t> </a:t>
            </a:r>
            <a:r>
              <a:rPr sz="1900" i="0">
                <a:solidFill>
                  <a:srgbClr val="E8EDF2"/>
                </a:solidFill>
                <a:latin typeface="Consolas"/>
              </a:rPr>
              <a:t>-hex</a:t>
            </a:r>
            <a:r>
              <a:rPr sz="1900" i="0">
                <a:solidFill>
                  <a:srgbClr val="E8EDF2"/>
                </a:solidFill>
                <a:latin typeface="Consolas"/>
              </a:rPr>
              <a:t> </a:t>
            </a:r>
            <a:r>
              <a:rPr sz="1900" i="0">
                <a:solidFill>
                  <a:srgbClr val="F7DC6F"/>
                </a:solidFill>
                <a:latin typeface="Consolas"/>
              </a:rPr>
              <a:t>32</a:t>
            </a:r>
            <a:r>
              <a:rPr sz="1900" i="0">
                <a:solidFill>
                  <a:srgbClr val="5DADE2"/>
                </a:solidFill>
                <a:latin typeface="Consolas"/>
              </a:rPr>
              <a:t>)</a:t>
            </a:r>
          </a:p>
          <a:p>
            <a:pPr>
              <a:lnSpc>
                <a:spcPct val="100000"/>
              </a:lnSpc>
              <a:spcAft>
                <a:spcPts val="0"/>
              </a:spcAft>
            </a:pPr>
            <a:r>
              <a:rPr sz="1900" i="0">
                <a:solidFill>
                  <a:srgbClr val="5DADE2"/>
                </a:solidFill>
                <a:latin typeface="Consolas"/>
              </a:rPr>
              <a:t>if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E8EDF2"/>
                </a:solidFill>
                <a:latin typeface="Consolas"/>
              </a:rPr>
              <a:t>/dev/sev-guest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command</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&gt;/dev/null</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then</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report</a:t>
            </a:r>
            <a:r>
              <a:rPr sz="1900" i="0">
                <a:solidFill>
                  <a:srgbClr val="E8EDF2"/>
                </a:solidFill>
                <a:latin typeface="Consolas"/>
              </a:rPr>
              <a:t> </a:t>
            </a:r>
            <a:r>
              <a:rPr sz="1900" i="0">
                <a:solidFill>
                  <a:srgbClr val="E8EDF2"/>
                </a:solidFill>
                <a:latin typeface="Consolas"/>
              </a:rPr>
              <a:t>report.bin</a:t>
            </a:r>
            <a:r>
              <a:rPr sz="1900" i="0">
                <a:solidFill>
                  <a:srgbClr val="E8EDF2"/>
                </a:solidFill>
                <a:latin typeface="Consolas"/>
              </a:rPr>
              <a:t> </a:t>
            </a:r>
            <a:r>
              <a:rPr sz="1900" i="0">
                <a:solidFill>
                  <a:srgbClr val="E8EDF2"/>
                </a:solidFill>
                <a:latin typeface="Consolas"/>
              </a:rPr>
              <a:t>request.txt</a:t>
            </a:r>
            <a:r>
              <a:rPr sz="1900" i="0">
                <a:solidFill>
                  <a:srgbClr val="E8EDF2"/>
                </a:solidFill>
                <a:latin typeface="Consolas"/>
              </a:rPr>
              <a:t> </a:t>
            </a:r>
            <a:r>
              <a:rPr sz="1900" i="0">
                <a:solidFill>
                  <a:srgbClr val="E8EDF2"/>
                </a:solidFill>
                <a:latin typeface="Consolas"/>
              </a:rPr>
              <a:t>--random</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display</a:t>
            </a:r>
            <a:r>
              <a:rPr sz="1900" i="0">
                <a:solidFill>
                  <a:srgbClr val="E8EDF2"/>
                </a:solidFill>
                <a:latin typeface="Consolas"/>
              </a:rPr>
              <a:t> </a:t>
            </a:r>
            <a:r>
              <a:rPr sz="1900" i="0">
                <a:solidFill>
                  <a:srgbClr val="E8EDF2"/>
                </a:solidFill>
                <a:latin typeface="Consolas"/>
              </a:rPr>
              <a:t>report</a:t>
            </a:r>
            <a:r>
              <a:rPr sz="1900" i="0">
                <a:solidFill>
                  <a:srgbClr val="E8EDF2"/>
                </a:solidFill>
                <a:latin typeface="Consolas"/>
              </a:rPr>
              <a:t> </a:t>
            </a:r>
            <a:r>
              <a:rPr sz="1900" i="0">
                <a:solidFill>
                  <a:srgbClr val="E8EDF2"/>
                </a:solidFill>
                <a:latin typeface="Consolas"/>
              </a:rPr>
              <a:t>report.bin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head</a:t>
            </a:r>
            <a:r>
              <a:rPr sz="1900" i="0">
                <a:solidFill>
                  <a:srgbClr val="E8EDF2"/>
                </a:solidFill>
                <a:latin typeface="Consolas"/>
              </a:rPr>
              <a:t> </a:t>
            </a:r>
            <a:r>
              <a:rPr sz="1900" i="0">
                <a:solidFill>
                  <a:srgbClr val="E8EDF2"/>
                </a:solidFill>
                <a:latin typeface="Consolas"/>
              </a:rPr>
              <a:t>-30</a:t>
            </a:r>
          </a:p>
          <a:p>
            <a:pPr>
              <a:lnSpc>
                <a:spcPct val="100000"/>
              </a:lnSpc>
              <a:spcAft>
                <a:spcPts val="0"/>
              </a:spcAft>
            </a:pPr>
            <a:r>
              <a:rPr sz="1900" i="0">
                <a:solidFill>
                  <a:srgbClr val="5DADE2"/>
                </a:solidFill>
                <a:latin typeface="Consolas"/>
              </a:rPr>
              <a:t>else</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"no TEE here -- using the captured report in code/"</a:t>
            </a:r>
          </a:p>
          <a:p>
            <a:pPr>
              <a:lnSpc>
                <a:spcPct val="100000"/>
              </a:lnSpc>
              <a:spcAft>
                <a:spcPts val="0"/>
              </a:spcAft>
            </a:pPr>
            <a:r>
              <a:rPr sz="1900" i="0">
                <a:solidFill>
                  <a:srgbClr val="E8EDF2"/>
                </a:solidFill>
                <a:latin typeface="Consolas"/>
              </a:rPr>
              <a:t>  </a:t>
            </a:r>
            <a:r>
              <a:rPr sz="1900" i="0">
                <a:solidFill>
                  <a:srgbClr val="E8EDF2"/>
                </a:solidFill>
                <a:latin typeface="Consolas"/>
              </a:rPr>
              <a:t>cp</a:t>
            </a:r>
            <a:r>
              <a:rPr sz="1900" i="0">
                <a:solidFill>
                  <a:srgbClr val="E8EDF2"/>
                </a:solidFill>
                <a:latin typeface="Consolas"/>
              </a:rPr>
              <a:t> </a:t>
            </a:r>
            <a:r>
              <a:rPr sz="1900" i="0">
                <a:solidFill>
                  <a:srgbClr val="7DCEA0"/>
                </a:solidFill>
                <a:latin typeface="Consolas"/>
              </a:rPr>
              <a:t>"</a:t>
            </a:r>
            <a:r>
              <a:rPr sz="1900" i="0">
                <a:solidFill>
                  <a:srgbClr val="5DADE2"/>
                </a:solidFill>
                <a:latin typeface="Consolas"/>
              </a:rPr>
              <a:t>$(</a:t>
            </a:r>
            <a:r>
              <a:rPr sz="1900" i="0">
                <a:solidFill>
                  <a:srgbClr val="E8EDF2"/>
                </a:solidFill>
                <a:latin typeface="Consolas"/>
              </a:rPr>
              <a:t>dirname</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$0</a:t>
            </a:r>
            <a:r>
              <a:rPr sz="1900" i="0">
                <a:solidFill>
                  <a:srgbClr val="7DCEA0"/>
                </a:solidFill>
                <a:latin typeface="Consolas"/>
              </a:rPr>
              <a:t>"</a:t>
            </a:r>
            <a:r>
              <a:rPr sz="1900" i="0">
                <a:solidFill>
                  <a:srgbClr val="5DADE2"/>
                </a:solidFill>
                <a:latin typeface="Consolas"/>
              </a:rPr>
              <a:t>)</a:t>
            </a:r>
            <a:r>
              <a:rPr sz="1900" i="0">
                <a:solidFill>
                  <a:srgbClr val="7DCEA0"/>
                </a:solidFill>
                <a:latin typeface="Consolas"/>
              </a:rPr>
              <a:t>/ch21_report.txt</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report.txt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  </a:t>
            </a:r>
            <a:r>
              <a:rPr sz="1900" i="0">
                <a:solidFill>
                  <a:srgbClr val="E8EDF2"/>
                </a:solidFill>
                <a:latin typeface="Consolas"/>
              </a:rPr>
              <a:t>sed</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7DCEA0"/>
                </a:solidFill>
                <a:latin typeface="Consolas"/>
              </a:rPr>
              <a:t>'1,30p'</a:t>
            </a:r>
            <a:r>
              <a:rPr sz="1900" i="0">
                <a:solidFill>
                  <a:srgbClr val="E8EDF2"/>
                </a:solidFill>
                <a:latin typeface="Consolas"/>
              </a:rPr>
              <a:t> </a:t>
            </a:r>
            <a:r>
              <a:rPr sz="1900" i="0">
                <a:solidFill>
                  <a:srgbClr val="E8EDF2"/>
                </a:solidFill>
                <a:latin typeface="Consolas"/>
              </a:rPr>
              <a:t>report.txt</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5DADE2"/>
                </a:solidFill>
                <a:latin typeface="Consolas"/>
              </a:rPr>
              <a:t>fi</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7B3F34E0-A94A-4C15-BD0D-3F46D958FF7F}"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fields that matter, and why.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The three fields that matter, and why. ------------------------ cat &lt;&lt;'NOTES' measurement the hash of the guest's initial state. Compare this with what you built; if it differs, something else is running and you must NOT release the key. report_data your nonce, echoed back. Proves the report is fresh and not a recording of an earlier genuine boot. signature + chains to a key the silicon vendor certified. Proves cert chain the report came from real hardware, not from software pretending very convincingly. NOTES"/>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three fields that matter, and why. ------------------------</a:t>
            </a:r>
          </a:p>
          <a:p>
            <a:pPr>
              <a:lnSpc>
                <a:spcPct val="100000"/>
              </a:lnSpc>
              <a:spcAft>
                <a:spcPts val="0"/>
              </a:spcAft>
            </a:pPr>
            <a:r>
              <a:rPr sz="1900" i="0">
                <a:solidFill>
                  <a:srgbClr val="E8EDF2"/>
                </a:solidFill>
                <a:latin typeface="Consolas"/>
              </a:rPr>
              <a:t>cat</a:t>
            </a:r>
            <a:r>
              <a:rPr sz="1900" i="0">
                <a:solidFill>
                  <a:srgbClr val="E8EDF2"/>
                </a:solidFill>
                <a:latin typeface="Consolas"/>
              </a:rPr>
              <a:t> </a:t>
            </a:r>
            <a:r>
              <a:rPr sz="1900" i="0">
                <a:solidFill>
                  <a:srgbClr val="7DCEA0"/>
                </a:solidFill>
                <a:latin typeface="Consolas"/>
              </a:rPr>
              <a:t>&lt;&lt;'NOTES'</a:t>
            </a:r>
          </a:p>
          <a:p>
            <a:pPr>
              <a:lnSpc>
                <a:spcPct val="100000"/>
              </a:lnSpc>
              <a:spcAft>
                <a:spcPts val="0"/>
              </a:spcAft>
            </a:pPr>
            <a:r>
              <a:rPr sz="1900" i="0">
                <a:solidFill>
                  <a:srgbClr val="7DCEA0"/>
                </a:solidFill>
                <a:latin typeface="Consolas"/>
              </a:rPr>
              <a:t>  measurement    the hash of the guest's initial state. Compare this</a:t>
            </a:r>
          </a:p>
          <a:p>
            <a:pPr>
              <a:lnSpc>
                <a:spcPct val="100000"/>
              </a:lnSpc>
              <a:spcAft>
                <a:spcPts val="0"/>
              </a:spcAft>
            </a:pPr>
            <a:r>
              <a:rPr sz="1900" i="0">
                <a:solidFill>
                  <a:srgbClr val="7DCEA0"/>
                </a:solidFill>
                <a:latin typeface="Consolas"/>
              </a:rPr>
              <a:t>                 with what you built; if it differs, something else</a:t>
            </a:r>
          </a:p>
          <a:p>
            <a:pPr>
              <a:lnSpc>
                <a:spcPct val="100000"/>
              </a:lnSpc>
              <a:spcAft>
                <a:spcPts val="0"/>
              </a:spcAft>
            </a:pPr>
            <a:r>
              <a:rPr sz="1900" i="0">
                <a:solidFill>
                  <a:srgbClr val="7DCEA0"/>
                </a:solidFill>
                <a:latin typeface="Consolas"/>
              </a:rPr>
              <a:t>                 is running and you must NOT release the key.</a:t>
            </a:r>
          </a:p>
          <a:p>
            <a:pPr>
              <a:lnSpc>
                <a:spcPct val="100000"/>
              </a:lnSpc>
              <a:spcAft>
                <a:spcPts val="0"/>
              </a:spcAft>
            </a:pPr>
            <a:r>
              <a:rPr sz="1900" i="0">
                <a:solidFill>
                  <a:srgbClr val="7DCEA0"/>
                </a:solidFill>
                <a:latin typeface="Consolas"/>
              </a:rPr>
              <a:t>  report_data    your nonce, echoed back. Proves the report is fresh</a:t>
            </a:r>
          </a:p>
          <a:p>
            <a:pPr>
              <a:lnSpc>
                <a:spcPct val="100000"/>
              </a:lnSpc>
              <a:spcAft>
                <a:spcPts val="0"/>
              </a:spcAft>
            </a:pPr>
            <a:r>
              <a:rPr sz="1900" i="0">
                <a:solidFill>
                  <a:srgbClr val="7DCEA0"/>
                </a:solidFill>
                <a:latin typeface="Consolas"/>
              </a:rPr>
              <a:t>                 and not a recording of an earlier genuine boot.</a:t>
            </a:r>
          </a:p>
          <a:p>
            <a:pPr>
              <a:lnSpc>
                <a:spcPct val="100000"/>
              </a:lnSpc>
              <a:spcAft>
                <a:spcPts val="0"/>
              </a:spcAft>
            </a:pPr>
            <a:r>
              <a:rPr sz="1900" i="0">
                <a:solidFill>
                  <a:srgbClr val="7DCEA0"/>
                </a:solidFill>
                <a:latin typeface="Consolas"/>
              </a:rPr>
              <a:t>  signature +    chains to a key the silicon vendor certified. Proves</a:t>
            </a:r>
          </a:p>
          <a:p>
            <a:pPr>
              <a:lnSpc>
                <a:spcPct val="100000"/>
              </a:lnSpc>
              <a:spcAft>
                <a:spcPts val="0"/>
              </a:spcAft>
            </a:pPr>
            <a:r>
              <a:rPr sz="1900" i="0">
                <a:solidFill>
                  <a:srgbClr val="7DCEA0"/>
                </a:solidFill>
                <a:latin typeface="Consolas"/>
              </a:rPr>
              <a:t>  cert chain     the report came from real hardware, not from software</a:t>
            </a:r>
          </a:p>
          <a:p>
            <a:pPr>
              <a:lnSpc>
                <a:spcPct val="100000"/>
              </a:lnSpc>
              <a:spcAft>
                <a:spcPts val="0"/>
              </a:spcAft>
            </a:pPr>
            <a:r>
              <a:rPr sz="1900" i="0">
                <a:solidFill>
                  <a:srgbClr val="7DCEA0"/>
                </a:solidFill>
                <a:latin typeface="Consolas"/>
              </a:rPr>
              <a:t>                 pretending very convincingly.</a:t>
            </a:r>
          </a:p>
          <a:p>
            <a:pPr>
              <a:lnSpc>
                <a:spcPct val="100000"/>
              </a:lnSpc>
              <a:spcAft>
                <a:spcPts val="0"/>
              </a:spcAft>
            </a:pPr>
            <a:r>
              <a:rPr sz="1900" i="0">
                <a:solidFill>
                  <a:srgbClr val="7DCEA0"/>
                </a:solidFill>
                <a:latin typeface="Consolas"/>
              </a:rPr>
              <a:t>NOTES</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C9A5857C-7D0D-4AE3-833E-A023A8B73025}"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Verify the chain. This is the step people skip.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Verify the chain. This is the step people skip. --------------- if command -v snpguest &gt;/dev/null; then snpguest fetch ca-der milan ./certs # vendor certificates snpguest fetch vcek-der milan ./certs report.bin snpguest verify certs ./certs snpguest verify attestation ./certs report.bin &amp;&amp; \ echo &quot;VERIFIED: genuine hardware, measurement as reported&quot; else echo &quot;verification exercise: compare the measurement in report.txt&quot; echo &quot;with code/ch21_expected_measurement.txt and decide.&quot; fi"/>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Verify the chain. This is the step people skip. ---------------</a:t>
            </a:r>
          </a:p>
          <a:p>
            <a:pPr>
              <a:lnSpc>
                <a:spcPct val="100000"/>
              </a:lnSpc>
              <a:spcAft>
                <a:spcPts val="0"/>
              </a:spcAft>
            </a:pPr>
            <a:r>
              <a:rPr sz="1900" i="0">
                <a:solidFill>
                  <a:srgbClr val="5DADE2"/>
                </a:solidFill>
                <a:latin typeface="Consolas"/>
              </a:rPr>
              <a:t>if</a:t>
            </a:r>
            <a:r>
              <a:rPr sz="1900" i="0">
                <a:solidFill>
                  <a:srgbClr val="E8EDF2"/>
                </a:solidFill>
                <a:latin typeface="Consolas"/>
              </a:rPr>
              <a:t> </a:t>
            </a:r>
            <a:r>
              <a:rPr sz="1900" i="0">
                <a:solidFill>
                  <a:srgbClr val="C39BD3"/>
                </a:solidFill>
                <a:latin typeface="Consolas"/>
              </a:rPr>
              <a:t>command</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&gt;/dev/null</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then</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fetch</a:t>
            </a:r>
            <a:r>
              <a:rPr sz="1900" i="0">
                <a:solidFill>
                  <a:srgbClr val="E8EDF2"/>
                </a:solidFill>
                <a:latin typeface="Consolas"/>
              </a:rPr>
              <a:t> </a:t>
            </a:r>
            <a:r>
              <a:rPr sz="1900" i="0">
                <a:solidFill>
                  <a:srgbClr val="E8EDF2"/>
                </a:solidFill>
                <a:latin typeface="Consolas"/>
              </a:rPr>
              <a:t>ca-der</a:t>
            </a:r>
            <a:r>
              <a:rPr sz="1900" i="0">
                <a:solidFill>
                  <a:srgbClr val="E8EDF2"/>
                </a:solidFill>
                <a:latin typeface="Consolas"/>
              </a:rPr>
              <a:t> </a:t>
            </a:r>
            <a:r>
              <a:rPr sz="1900" i="0">
                <a:solidFill>
                  <a:srgbClr val="E8EDF2"/>
                </a:solidFill>
                <a:latin typeface="Consolas"/>
              </a:rPr>
              <a:t>milan</a:t>
            </a:r>
            <a:r>
              <a:rPr sz="1900" i="0">
                <a:solidFill>
                  <a:srgbClr val="E8EDF2"/>
                </a:solidFill>
                <a:latin typeface="Consolas"/>
              </a:rPr>
              <a:t> </a:t>
            </a:r>
            <a:r>
              <a:rPr sz="1900" i="0">
                <a:solidFill>
                  <a:srgbClr val="E8EDF2"/>
                </a:solidFill>
                <a:latin typeface="Consolas"/>
              </a:rPr>
              <a:t>./certs</a:t>
            </a:r>
            <a:r>
              <a:rPr sz="1900" i="0">
                <a:solidFill>
                  <a:srgbClr val="E8EDF2"/>
                </a:solidFill>
                <a:latin typeface="Consolas"/>
              </a:rPr>
              <a:t>           </a:t>
            </a:r>
            <a:r>
              <a:rPr sz="1900" i="1">
                <a:solidFill>
                  <a:srgbClr val="8795A1"/>
                </a:solidFill>
                <a:latin typeface="Consolas"/>
              </a:rPr>
              <a:t># vendor certificates</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fetch</a:t>
            </a:r>
            <a:r>
              <a:rPr sz="1900" i="0">
                <a:solidFill>
                  <a:srgbClr val="E8EDF2"/>
                </a:solidFill>
                <a:latin typeface="Consolas"/>
              </a:rPr>
              <a:t> </a:t>
            </a:r>
            <a:r>
              <a:rPr sz="1900" i="0">
                <a:solidFill>
                  <a:srgbClr val="E8EDF2"/>
                </a:solidFill>
                <a:latin typeface="Consolas"/>
              </a:rPr>
              <a:t>vcek-der</a:t>
            </a:r>
            <a:r>
              <a:rPr sz="1900" i="0">
                <a:solidFill>
                  <a:srgbClr val="E8EDF2"/>
                </a:solidFill>
                <a:latin typeface="Consolas"/>
              </a:rPr>
              <a:t> </a:t>
            </a:r>
            <a:r>
              <a:rPr sz="1900" i="0">
                <a:solidFill>
                  <a:srgbClr val="E8EDF2"/>
                </a:solidFill>
                <a:latin typeface="Consolas"/>
              </a:rPr>
              <a:t>milan</a:t>
            </a:r>
            <a:r>
              <a:rPr sz="1900" i="0">
                <a:solidFill>
                  <a:srgbClr val="E8EDF2"/>
                </a:solidFill>
                <a:latin typeface="Consolas"/>
              </a:rPr>
              <a:t> </a:t>
            </a:r>
            <a:r>
              <a:rPr sz="1900" i="0">
                <a:solidFill>
                  <a:srgbClr val="E8EDF2"/>
                </a:solidFill>
                <a:latin typeface="Consolas"/>
              </a:rPr>
              <a:t>./certs</a:t>
            </a:r>
            <a:r>
              <a:rPr sz="1900" i="0">
                <a:solidFill>
                  <a:srgbClr val="E8EDF2"/>
                </a:solidFill>
                <a:latin typeface="Consolas"/>
              </a:rPr>
              <a:t> </a:t>
            </a:r>
            <a:r>
              <a:rPr sz="1900" i="0">
                <a:solidFill>
                  <a:srgbClr val="E8EDF2"/>
                </a:solidFill>
                <a:latin typeface="Consolas"/>
              </a:rPr>
              <a:t>report.bin</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verify</a:t>
            </a:r>
            <a:r>
              <a:rPr sz="1900" i="0">
                <a:solidFill>
                  <a:srgbClr val="E8EDF2"/>
                </a:solidFill>
                <a:latin typeface="Consolas"/>
              </a:rPr>
              <a:t> </a:t>
            </a:r>
            <a:r>
              <a:rPr sz="1900" i="0">
                <a:solidFill>
                  <a:srgbClr val="E8EDF2"/>
                </a:solidFill>
                <a:latin typeface="Consolas"/>
              </a:rPr>
              <a:t>certs</a:t>
            </a:r>
            <a:r>
              <a:rPr sz="1900" i="0">
                <a:solidFill>
                  <a:srgbClr val="E8EDF2"/>
                </a:solidFill>
                <a:latin typeface="Consolas"/>
              </a:rPr>
              <a:t> </a:t>
            </a:r>
            <a:r>
              <a:rPr sz="1900" i="0">
                <a:solidFill>
                  <a:srgbClr val="E8EDF2"/>
                </a:solidFill>
                <a:latin typeface="Consolas"/>
              </a:rPr>
              <a:t>./certs</a:t>
            </a:r>
          </a:p>
          <a:p>
            <a:pPr>
              <a:lnSpc>
                <a:spcPct val="100000"/>
              </a:lnSpc>
              <a:spcAft>
                <a:spcPts val="0"/>
              </a:spcAft>
            </a:pPr>
            <a:r>
              <a:rPr sz="1900" i="0">
                <a:solidFill>
                  <a:srgbClr val="E8EDF2"/>
                </a:solidFill>
                <a:latin typeface="Consolas"/>
              </a:rPr>
              <a:t>  </a:t>
            </a:r>
            <a:r>
              <a:rPr sz="1900" i="0">
                <a:solidFill>
                  <a:srgbClr val="E8EDF2"/>
                </a:solidFill>
                <a:latin typeface="Consolas"/>
              </a:rPr>
              <a:t>snpguest</a:t>
            </a:r>
            <a:r>
              <a:rPr sz="1900" i="0">
                <a:solidFill>
                  <a:srgbClr val="E8EDF2"/>
                </a:solidFill>
                <a:latin typeface="Consolas"/>
              </a:rPr>
              <a:t> </a:t>
            </a:r>
            <a:r>
              <a:rPr sz="1900" i="0">
                <a:solidFill>
                  <a:srgbClr val="E8EDF2"/>
                </a:solidFill>
                <a:latin typeface="Consolas"/>
              </a:rPr>
              <a:t>verify</a:t>
            </a:r>
            <a:r>
              <a:rPr sz="1900" i="0">
                <a:solidFill>
                  <a:srgbClr val="E8EDF2"/>
                </a:solidFill>
                <a:latin typeface="Consolas"/>
              </a:rPr>
              <a:t> </a:t>
            </a:r>
            <a:r>
              <a:rPr sz="1900" i="0">
                <a:solidFill>
                  <a:srgbClr val="E8EDF2"/>
                </a:solidFill>
                <a:latin typeface="Consolas"/>
              </a:rPr>
              <a:t>attestation</a:t>
            </a:r>
            <a:r>
              <a:rPr sz="1900" i="0">
                <a:solidFill>
                  <a:srgbClr val="E8EDF2"/>
                </a:solidFill>
                <a:latin typeface="Consolas"/>
              </a:rPr>
              <a:t> </a:t>
            </a:r>
            <a:r>
              <a:rPr sz="1900" i="0">
                <a:solidFill>
                  <a:srgbClr val="E8EDF2"/>
                </a:solidFill>
                <a:latin typeface="Consolas"/>
              </a:rPr>
              <a:t>./certs</a:t>
            </a:r>
            <a:r>
              <a:rPr sz="1900" i="0">
                <a:solidFill>
                  <a:srgbClr val="E8EDF2"/>
                </a:solidFill>
                <a:latin typeface="Consolas"/>
              </a:rPr>
              <a:t> </a:t>
            </a:r>
            <a:r>
              <a:rPr sz="1900" i="0">
                <a:solidFill>
                  <a:srgbClr val="E8EDF2"/>
                </a:solidFill>
                <a:latin typeface="Consolas"/>
              </a:rPr>
              <a:t>report.bin</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"VERIFIED: genuine hardware, measurement as reported"</a:t>
            </a:r>
          </a:p>
          <a:p>
            <a:pPr>
              <a:lnSpc>
                <a:spcPct val="100000"/>
              </a:lnSpc>
              <a:spcAft>
                <a:spcPts val="0"/>
              </a:spcAft>
            </a:pPr>
            <a:r>
              <a:rPr sz="1900" i="0">
                <a:solidFill>
                  <a:srgbClr val="5DADE2"/>
                </a:solidFill>
                <a:latin typeface="Consolas"/>
              </a:rPr>
              <a:t>else</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"verification exercise: compare the measurement in report.txt"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"with code/ch21_expected_measurement.txt and decide."</a:t>
            </a:r>
          </a:p>
          <a:p>
            <a:pPr>
              <a:lnSpc>
                <a:spcPct val="100000"/>
              </a:lnSpc>
              <a:spcAft>
                <a:spcPts val="0"/>
              </a:spcAft>
            </a:pPr>
            <a:r>
              <a:rPr sz="1900" i="0">
                <a:solidFill>
                  <a:srgbClr val="5DADE2"/>
                </a:solidFill>
                <a:latin typeface="Consolas"/>
              </a:rPr>
              <a:t>fi</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B4FE89CC-B6E9-4BC8-96A0-C11FB67686EB}"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the attack this defends against.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Now the attack this defends against. -------------------------- # A hostile operator boots a DIFFERENT image that asks for your key. # Its memory is perfectly encrypted while it exfiltrates. The only # thing that stops it is this comparison. D=$(dirname &quot;$0&quot;) hex () { grep -o -m1 -E '[0-9a-f]{96}' &quot;$1&quot;; } # the 48-byte measurement GOT=$(hex report.txt) WANT=$(hex &quot;$D/ch21_expected_measurement.txt&quot;) echo &quot;got: ${GOT:-&lt;none&gt;}&quot; echo &quot;want: ${WANT:-&lt;none&gt;}&quot; if [ -n &quot;$GOT&quot; ] &amp;&amp; [ &quot;$GOT&quot; = &quot;$WANT&quot; ]; then echo &quot;MATCH -- release the key&quot; else echo &quot;DIFFERS -- refuse. This comparison is the whole mechanism.&quot; fi"/>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--- 6. Now the attack this defends against. --------------------------</a:t>
            </a:r>
          </a:p>
          <a:p>
            <a:pPr>
              <a:lnSpc>
                <a:spcPct val="100000"/>
              </a:lnSpc>
              <a:spcAft>
                <a:spcPts val="0"/>
              </a:spcAft>
            </a:pPr>
            <a:r>
              <a:rPr sz="1500" i="1">
                <a:solidFill>
                  <a:srgbClr val="8795A1"/>
                </a:solidFill>
                <a:latin typeface="Consolas"/>
              </a:rPr>
              <a:t># A hostile operator boots a DIFFERENT image that asks for your key.</a:t>
            </a:r>
          </a:p>
          <a:p>
            <a:pPr>
              <a:lnSpc>
                <a:spcPct val="100000"/>
              </a:lnSpc>
              <a:spcAft>
                <a:spcPts val="0"/>
              </a:spcAft>
            </a:pPr>
            <a:r>
              <a:rPr sz="1500" i="1">
                <a:solidFill>
                  <a:srgbClr val="8795A1"/>
                </a:solidFill>
                <a:latin typeface="Consolas"/>
              </a:rPr>
              <a:t># Its memory is perfectly encrypted while it exfiltrates. The only</a:t>
            </a:r>
          </a:p>
          <a:p>
            <a:pPr>
              <a:lnSpc>
                <a:spcPct val="100000"/>
              </a:lnSpc>
              <a:spcAft>
                <a:spcPts val="0"/>
              </a:spcAft>
            </a:pPr>
            <a:r>
              <a:rPr sz="1500" i="1">
                <a:solidFill>
                  <a:srgbClr val="8795A1"/>
                </a:solidFill>
                <a:latin typeface="Consolas"/>
              </a:rPr>
              <a:t># thing that stops it is this comparison.</a:t>
            </a:r>
          </a:p>
          <a:p>
            <a:pPr>
              <a:lnSpc>
                <a:spcPct val="100000"/>
              </a:lnSpc>
              <a:spcAft>
                <a:spcPts val="0"/>
              </a:spcAft>
            </a:pPr>
            <a:r>
              <a:rPr sz="1500" i="0">
                <a:solidFill>
                  <a:srgbClr val="E8EDF2"/>
                </a:solidFill>
                <a:latin typeface="Consolas"/>
              </a:rPr>
              <a:t>D</a:t>
            </a:r>
            <a:r>
              <a:rPr sz="1500" i="0">
                <a:solidFill>
                  <a:srgbClr val="AEB6BF"/>
                </a:solidFill>
                <a:latin typeface="Consolas"/>
              </a:rPr>
              <a:t>=</a:t>
            </a:r>
            <a:r>
              <a:rPr sz="1500" i="0">
                <a:solidFill>
                  <a:srgbClr val="5DADE2"/>
                </a:solidFill>
                <a:latin typeface="Consolas"/>
              </a:rPr>
              <a:t>$(</a:t>
            </a:r>
            <a:r>
              <a:rPr sz="1500" i="0">
                <a:solidFill>
                  <a:srgbClr val="E8EDF2"/>
                </a:solidFill>
                <a:latin typeface="Consolas"/>
              </a:rPr>
              <a:t>dirname</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$0</a:t>
            </a:r>
            <a:r>
              <a:rPr sz="1500" i="0">
                <a:solidFill>
                  <a:srgbClr val="7DCEA0"/>
                </a:solidFill>
                <a:latin typeface="Consolas"/>
              </a:rPr>
              <a:t>"</a:t>
            </a:r>
            <a:r>
              <a:rPr sz="1500" i="0">
                <a:solidFill>
                  <a:srgbClr val="5DADE2"/>
                </a:solidFill>
                <a:latin typeface="Consolas"/>
              </a:rPr>
              <a:t>)</a:t>
            </a:r>
          </a:p>
          <a:p>
            <a:pPr>
              <a:lnSpc>
                <a:spcPct val="100000"/>
              </a:lnSpc>
              <a:spcAft>
                <a:spcPts val="0"/>
              </a:spcAft>
            </a:pPr>
            <a:r>
              <a:rPr sz="1500" i="0">
                <a:solidFill>
                  <a:srgbClr val="E8EDF2"/>
                </a:solidFill>
                <a:latin typeface="Consolas"/>
              </a:rPr>
              <a:t>hex</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grep</a:t>
            </a:r>
            <a:r>
              <a:rPr sz="1500" i="0">
                <a:solidFill>
                  <a:srgbClr val="E8EDF2"/>
                </a:solidFill>
                <a:latin typeface="Consolas"/>
              </a:rPr>
              <a:t> </a:t>
            </a:r>
            <a:r>
              <a:rPr sz="1500" i="0">
                <a:solidFill>
                  <a:srgbClr val="E8EDF2"/>
                </a:solidFill>
                <a:latin typeface="Consolas"/>
              </a:rPr>
              <a:t>-o</a:t>
            </a:r>
            <a:r>
              <a:rPr sz="1500" i="0">
                <a:solidFill>
                  <a:srgbClr val="E8EDF2"/>
                </a:solidFill>
                <a:latin typeface="Consolas"/>
              </a:rPr>
              <a:t> </a:t>
            </a:r>
            <a:r>
              <a:rPr sz="1500" i="0">
                <a:solidFill>
                  <a:srgbClr val="E8EDF2"/>
                </a:solidFill>
                <a:latin typeface="Consolas"/>
              </a:rPr>
              <a:t>-m1</a:t>
            </a:r>
            <a:r>
              <a:rPr sz="1500" i="0">
                <a:solidFill>
                  <a:srgbClr val="E8EDF2"/>
                </a:solidFill>
                <a:latin typeface="Consolas"/>
              </a:rPr>
              <a:t> </a:t>
            </a:r>
            <a:r>
              <a:rPr sz="1500" i="0">
                <a:solidFill>
                  <a:srgbClr val="E8EDF2"/>
                </a:solidFill>
                <a:latin typeface="Consolas"/>
              </a:rPr>
              <a:t>-E</a:t>
            </a:r>
            <a:r>
              <a:rPr sz="1500" i="0">
                <a:solidFill>
                  <a:srgbClr val="E8EDF2"/>
                </a:solidFill>
                <a:latin typeface="Consolas"/>
              </a:rPr>
              <a:t> </a:t>
            </a:r>
            <a:r>
              <a:rPr sz="1500" i="0">
                <a:solidFill>
                  <a:srgbClr val="7DCEA0"/>
                </a:solidFill>
                <a:latin typeface="Consolas"/>
              </a:rPr>
              <a:t>'[0-9a-f]{96}'</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$1</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the 48-byte measurement</a:t>
            </a:r>
          </a:p>
          <a:p>
            <a:pPr>
              <a:lnSpc>
                <a:spcPct val="100000"/>
              </a:lnSpc>
              <a:spcAft>
                <a:spcPts val="0"/>
              </a:spcAft>
            </a:pPr>
            <a:r>
              <a:rPr sz="1500" i="0">
                <a:solidFill>
                  <a:srgbClr val="E8EDF2"/>
                </a:solidFill>
                <a:latin typeface="Consolas"/>
              </a:rPr>
              <a:t>GOT</a:t>
            </a:r>
            <a:r>
              <a:rPr sz="1500" i="0">
                <a:solidFill>
                  <a:srgbClr val="AEB6BF"/>
                </a:solidFill>
                <a:latin typeface="Consolas"/>
              </a:rPr>
              <a:t>=</a:t>
            </a:r>
            <a:r>
              <a:rPr sz="1500" i="0">
                <a:solidFill>
                  <a:srgbClr val="5DADE2"/>
                </a:solidFill>
                <a:latin typeface="Consolas"/>
              </a:rPr>
              <a:t>$(</a:t>
            </a:r>
            <a:r>
              <a:rPr sz="1500" i="0">
                <a:solidFill>
                  <a:srgbClr val="E8EDF2"/>
                </a:solidFill>
                <a:latin typeface="Consolas"/>
              </a:rPr>
              <a:t>hex</a:t>
            </a:r>
            <a:r>
              <a:rPr sz="1500" i="0">
                <a:solidFill>
                  <a:srgbClr val="E8EDF2"/>
                </a:solidFill>
                <a:latin typeface="Consolas"/>
              </a:rPr>
              <a:t> </a:t>
            </a:r>
            <a:r>
              <a:rPr sz="1500" i="0">
                <a:solidFill>
                  <a:srgbClr val="E8EDF2"/>
                </a:solidFill>
                <a:latin typeface="Consolas"/>
              </a:rPr>
              <a:t>report.txt</a:t>
            </a:r>
            <a:r>
              <a:rPr sz="1500" i="0">
                <a:solidFill>
                  <a:srgbClr val="5DADE2"/>
                </a:solidFill>
                <a:latin typeface="Consolas"/>
              </a:rPr>
              <a:t>)</a:t>
            </a:r>
          </a:p>
          <a:p>
            <a:pPr>
              <a:lnSpc>
                <a:spcPct val="100000"/>
              </a:lnSpc>
              <a:spcAft>
                <a:spcPts val="0"/>
              </a:spcAft>
            </a:pPr>
            <a:r>
              <a:rPr sz="1500" i="0">
                <a:solidFill>
                  <a:srgbClr val="E8EDF2"/>
                </a:solidFill>
                <a:latin typeface="Consolas"/>
              </a:rPr>
              <a:t>WANT</a:t>
            </a:r>
            <a:r>
              <a:rPr sz="1500" i="0">
                <a:solidFill>
                  <a:srgbClr val="AEB6BF"/>
                </a:solidFill>
                <a:latin typeface="Consolas"/>
              </a:rPr>
              <a:t>=</a:t>
            </a:r>
            <a:r>
              <a:rPr sz="1500" i="0">
                <a:solidFill>
                  <a:srgbClr val="5DADE2"/>
                </a:solidFill>
                <a:latin typeface="Consolas"/>
              </a:rPr>
              <a:t>$(</a:t>
            </a:r>
            <a:r>
              <a:rPr sz="1500" i="0">
                <a:solidFill>
                  <a:srgbClr val="E8EDF2"/>
                </a:solidFill>
                <a:latin typeface="Consolas"/>
              </a:rPr>
              <a:t>hex</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$D</a:t>
            </a:r>
            <a:r>
              <a:rPr sz="1500" i="0">
                <a:solidFill>
                  <a:srgbClr val="7DCEA0"/>
                </a:solidFill>
                <a:latin typeface="Consolas"/>
              </a:rPr>
              <a:t>/ch21_expected_measurement.txt</a:t>
            </a:r>
            <a:r>
              <a:rPr sz="1500" i="0">
                <a:solidFill>
                  <a:srgbClr val="7DCEA0"/>
                </a:solidFill>
                <a:latin typeface="Consolas"/>
              </a:rPr>
              <a:t>"</a:t>
            </a:r>
            <a:r>
              <a:rPr sz="1500" i="0">
                <a:solidFill>
                  <a:srgbClr val="5DADE2"/>
                </a:solidFill>
                <a:latin typeface="Consolas"/>
              </a:rPr>
              <a:t>)</a:t>
            </a:r>
          </a:p>
          <a:p>
            <a:pPr>
              <a:lnSpc>
                <a:spcPct val="100000"/>
              </a:lnSpc>
              <a:spcAft>
                <a:spcPts val="0"/>
              </a:spcAft>
            </a:pPr>
            <a:r>
              <a:rPr sz="1500" i="0">
                <a:solidFill>
                  <a:srgbClr val="C39BD3"/>
                </a:solidFill>
                <a:latin typeface="Consolas"/>
              </a:rPr>
              <a:t>echo</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got:  </a:t>
            </a:r>
            <a:r>
              <a:rPr sz="1500" i="0">
                <a:solidFill>
                  <a:srgbClr val="7DCEA0"/>
                </a:solidFill>
                <a:latin typeface="Consolas"/>
              </a:rPr>
              <a:t>${</a:t>
            </a:r>
            <a:r>
              <a:rPr sz="1500" i="0">
                <a:solidFill>
                  <a:srgbClr val="E8EDF2"/>
                </a:solidFill>
                <a:latin typeface="Consolas"/>
              </a:rPr>
              <a:t>GOT</a:t>
            </a:r>
            <a:r>
              <a:rPr sz="1500" i="0">
                <a:solidFill>
                  <a:srgbClr val="5DADE2"/>
                </a:solidFill>
                <a:latin typeface="Consolas"/>
              </a:rPr>
              <a:t>:-</a:t>
            </a:r>
            <a:r>
              <a:rPr sz="1500" i="0">
                <a:solidFill>
                  <a:srgbClr val="AEB6BF"/>
                </a:solidFill>
                <a:latin typeface="Consolas"/>
              </a:rPr>
              <a:t>&lt;none&gt;</a:t>
            </a:r>
            <a:r>
              <a:rPr sz="1500" i="0">
                <a:solidFill>
                  <a:srgbClr val="7DCEA0"/>
                </a:solidFill>
                <a:latin typeface="Consolas"/>
              </a:rPr>
              <a:t>}</a:t>
            </a:r>
            <a:r>
              <a:rPr sz="1500" i="0">
                <a:solidFill>
                  <a:srgbClr val="7DCEA0"/>
                </a:solidFill>
                <a:latin typeface="Consolas"/>
              </a:rPr>
              <a:t>"</a:t>
            </a:r>
          </a:p>
          <a:p>
            <a:pPr>
              <a:lnSpc>
                <a:spcPct val="100000"/>
              </a:lnSpc>
              <a:spcAft>
                <a:spcPts val="0"/>
              </a:spcAft>
            </a:pPr>
            <a:r>
              <a:rPr sz="1500" i="0">
                <a:solidFill>
                  <a:srgbClr val="C39BD3"/>
                </a:solidFill>
                <a:latin typeface="Consolas"/>
              </a:rPr>
              <a:t>echo</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want: </a:t>
            </a:r>
            <a:r>
              <a:rPr sz="1500" i="0">
                <a:solidFill>
                  <a:srgbClr val="7DCEA0"/>
                </a:solidFill>
                <a:latin typeface="Consolas"/>
              </a:rPr>
              <a:t>${</a:t>
            </a:r>
            <a:r>
              <a:rPr sz="1500" i="0">
                <a:solidFill>
                  <a:srgbClr val="E8EDF2"/>
                </a:solidFill>
                <a:latin typeface="Consolas"/>
              </a:rPr>
              <a:t>WANT</a:t>
            </a:r>
            <a:r>
              <a:rPr sz="1500" i="0">
                <a:solidFill>
                  <a:srgbClr val="5DADE2"/>
                </a:solidFill>
                <a:latin typeface="Consolas"/>
              </a:rPr>
              <a:t>:-</a:t>
            </a:r>
            <a:r>
              <a:rPr sz="1500" i="0">
                <a:solidFill>
                  <a:srgbClr val="AEB6BF"/>
                </a:solidFill>
                <a:latin typeface="Consolas"/>
              </a:rPr>
              <a:t>&lt;none&gt;</a:t>
            </a:r>
            <a:r>
              <a:rPr sz="1500" i="0">
                <a:solidFill>
                  <a:srgbClr val="7DCEA0"/>
                </a:solidFill>
                <a:latin typeface="Consolas"/>
              </a:rPr>
              <a:t>}</a:t>
            </a:r>
            <a:r>
              <a:rPr sz="1500" i="0">
                <a:solidFill>
                  <a:srgbClr val="7DCEA0"/>
                </a:solidFill>
                <a:latin typeface="Consolas"/>
              </a:rPr>
              <a:t>"</a:t>
            </a:r>
          </a:p>
          <a:p>
            <a:pPr>
              <a:lnSpc>
                <a:spcPct val="100000"/>
              </a:lnSpc>
              <a:spcAft>
                <a:spcPts val="0"/>
              </a:spcAft>
            </a:pPr>
            <a:r>
              <a:rPr sz="1500" i="0">
                <a:solidFill>
                  <a:srgbClr val="5DADE2"/>
                </a:solidFill>
                <a:latin typeface="Consolas"/>
              </a:rPr>
              <a:t>if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$GOT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&amp;&amp;</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$GOT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E8EDF2"/>
                </a:solidFill>
                <a:latin typeface="Consolas"/>
              </a:rPr>
              <a:t>$WANT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then</a:t>
            </a:r>
          </a:p>
          <a:p>
            <a:pPr>
              <a:lnSpc>
                <a:spcPct val="100000"/>
              </a:lnSpc>
              <a:spcAft>
                <a:spcPts val="0"/>
              </a:spcAft>
            </a:pPr>
            <a:r>
              <a:rPr sz="1500" i="0">
                <a:solidFill>
                  <a:srgbClr val="E8EDF2"/>
                </a:solidFill>
                <a:latin typeface="Consolas"/>
              </a:rPr>
              <a:t>  </a:t>
            </a:r>
            <a:r>
              <a:rPr sz="1500" i="0">
                <a:solidFill>
                  <a:srgbClr val="C39BD3"/>
                </a:solidFill>
                <a:latin typeface="Consolas"/>
              </a:rPr>
              <a:t>echo</a:t>
            </a:r>
            <a:r>
              <a:rPr sz="1500" i="0">
                <a:solidFill>
                  <a:srgbClr val="E8EDF2"/>
                </a:solidFill>
                <a:latin typeface="Consolas"/>
              </a:rPr>
              <a:t> </a:t>
            </a:r>
            <a:r>
              <a:rPr sz="1500" i="0">
                <a:solidFill>
                  <a:srgbClr val="7DCEA0"/>
                </a:solidFill>
                <a:latin typeface="Consolas"/>
              </a:rPr>
              <a:t>"MATCH -- release the key"</a:t>
            </a:r>
          </a:p>
          <a:p>
            <a:pPr>
              <a:lnSpc>
                <a:spcPct val="100000"/>
              </a:lnSpc>
              <a:spcAft>
                <a:spcPts val="0"/>
              </a:spcAft>
            </a:pPr>
            <a:r>
              <a:rPr sz="1500" i="0">
                <a:solidFill>
                  <a:srgbClr val="5DADE2"/>
                </a:solidFill>
                <a:latin typeface="Consolas"/>
              </a:rPr>
              <a:t>else</a:t>
            </a:r>
          </a:p>
          <a:p>
            <a:pPr>
              <a:lnSpc>
                <a:spcPct val="100000"/>
              </a:lnSpc>
              <a:spcAft>
                <a:spcPts val="0"/>
              </a:spcAft>
            </a:pPr>
            <a:r>
              <a:rPr sz="1500" i="0">
                <a:solidFill>
                  <a:srgbClr val="E8EDF2"/>
                </a:solidFill>
                <a:latin typeface="Consolas"/>
              </a:rPr>
              <a:t>  </a:t>
            </a:r>
            <a:r>
              <a:rPr sz="1500" i="0">
                <a:solidFill>
                  <a:srgbClr val="C39BD3"/>
                </a:solidFill>
                <a:latin typeface="Consolas"/>
              </a:rPr>
              <a:t>echo</a:t>
            </a:r>
            <a:r>
              <a:rPr sz="1500" i="0">
                <a:solidFill>
                  <a:srgbClr val="E8EDF2"/>
                </a:solidFill>
                <a:latin typeface="Consolas"/>
              </a:rPr>
              <a:t> </a:t>
            </a:r>
            <a:r>
              <a:rPr sz="1500" i="0">
                <a:solidFill>
                  <a:srgbClr val="7DCEA0"/>
                </a:solidFill>
                <a:latin typeface="Consolas"/>
              </a:rPr>
              <a:t>"DIFFERS -- refuse. This comparison is the whole mechanism."</a:t>
            </a:r>
          </a:p>
          <a:p>
            <a:pPr>
              <a:lnSpc>
                <a:spcPct val="100000"/>
              </a:lnSpc>
              <a:spcAft>
                <a:spcPts val="0"/>
              </a:spcAft>
            </a:pPr>
            <a:r>
              <a:rPr sz="1500" i="0">
                <a:solidFill>
                  <a:srgbClr val="5DADE2"/>
                </a:solidFill>
                <a:latin typeface="Consolas"/>
              </a:rPr>
              <a:t>fi</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55</a:t>
            </a:r>
          </a:p>
          <a:p>
            <a:pPr algn="r">
              <a:lnSpc>
                <a:spcPct val="100000"/>
              </a:lnSpc>
            </a:pPr>
            <a:r>
              <a:rPr sz="1500">
                <a:solidFill>
                  <a:srgbClr val="4F5D6A"/>
                </a:solidFill>
                <a:latin typeface="Consolas"/>
              </a:rPr>
              <a:t>56</a:t>
            </a:r>
          </a:p>
          <a:p>
            <a:pPr algn="r">
              <a:lnSpc>
                <a:spcPct val="100000"/>
              </a:lnSpc>
            </a:pPr>
            <a:r>
              <a:rPr sz="1500">
                <a:solidFill>
                  <a:srgbClr val="4F5D6A"/>
                </a:solidFill>
                <a:latin typeface="Consolas"/>
              </a:rPr>
              <a:t>57</a:t>
            </a:r>
          </a:p>
          <a:p>
            <a:pPr algn="r">
              <a:lnSpc>
                <a:spcPct val="100000"/>
              </a:lnSpc>
            </a:pPr>
            <a:r>
              <a:rPr sz="1500">
                <a:solidFill>
                  <a:srgbClr val="4F5D6A"/>
                </a:solidFill>
                <a:latin typeface="Consolas"/>
              </a:rPr>
              <a:t>58</a:t>
            </a:r>
          </a:p>
          <a:p>
            <a:pPr algn="r">
              <a:lnSpc>
                <a:spcPct val="100000"/>
              </a:lnSpc>
            </a:pPr>
            <a:r>
              <a:rPr sz="1500">
                <a:solidFill>
                  <a:srgbClr val="4F5D6A"/>
                </a:solidFill>
                <a:latin typeface="Consolas"/>
              </a:rPr>
              <a:t>59</a:t>
            </a:r>
          </a:p>
          <a:p>
            <a:pPr algn="r">
              <a:lnSpc>
                <a:spcPct val="100000"/>
              </a:lnSpc>
            </a:pPr>
            <a:r>
              <a:rPr sz="1500">
                <a:solidFill>
                  <a:srgbClr val="4F5D6A"/>
                </a:solidFill>
                <a:latin typeface="Consolas"/>
              </a:rPr>
              <a:t>60</a:t>
            </a:r>
          </a:p>
          <a:p>
            <a:pPr algn="r">
              <a:lnSpc>
                <a:spcPct val="100000"/>
              </a:lnSpc>
            </a:pPr>
            <a:r>
              <a:rPr sz="1500">
                <a:solidFill>
                  <a:srgbClr val="4F5D6A"/>
                </a:solidFill>
                <a:latin typeface="Consolas"/>
              </a:rPr>
              <a:t>61</a:t>
            </a:r>
          </a:p>
          <a:p>
            <a:pPr algn="r">
              <a:lnSpc>
                <a:spcPct val="100000"/>
              </a:lnSpc>
            </a:pPr>
            <a:r>
              <a:rPr sz="1500">
                <a:solidFill>
                  <a:srgbClr val="4F5D6A"/>
                </a:solidFill>
                <a:latin typeface="Consolas"/>
              </a:rPr>
              <a:t>62</a:t>
            </a:r>
          </a:p>
          <a:p>
            <a:pPr algn="r">
              <a:lnSpc>
                <a:spcPct val="100000"/>
              </a:lnSpc>
            </a:pPr>
            <a:r>
              <a:rPr sz="1500">
                <a:solidFill>
                  <a:srgbClr val="4F5D6A"/>
                </a:solidFill>
                <a:latin typeface="Consolas"/>
              </a:rPr>
              <a:t>63</a:t>
            </a:r>
          </a:p>
          <a:p>
            <a:pPr algn="r">
              <a:lnSpc>
                <a:spcPct val="100000"/>
              </a:lnSpc>
            </a:pPr>
            <a:r>
              <a:rPr sz="1500">
                <a:solidFill>
                  <a:srgbClr val="4F5D6A"/>
                </a:solidFill>
                <a:latin typeface="Consolas"/>
              </a:rPr>
              <a:t>64</a:t>
            </a:r>
          </a:p>
          <a:p>
            <a:pPr algn="r">
              <a:lnSpc>
                <a:spcPct val="100000"/>
              </a:lnSpc>
            </a:pPr>
            <a:r>
              <a:rPr sz="1500">
                <a:solidFill>
                  <a:srgbClr val="4F5D6A"/>
                </a:solidFill>
                <a:latin typeface="Consolas"/>
              </a:rPr>
              <a:t>65</a:t>
            </a:r>
          </a:p>
          <a:p>
            <a:pPr algn="r">
              <a:lnSpc>
                <a:spcPct val="100000"/>
              </a:lnSpc>
            </a:pPr>
            <a:r>
              <a:rPr sz="1500">
                <a:solidFill>
                  <a:srgbClr val="4F5D6A"/>
                </a:solidFill>
                <a:latin typeface="Consolas"/>
              </a:rPr>
              <a:t>66</a:t>
            </a:r>
          </a:p>
          <a:p>
            <a:pPr algn="r">
              <a:lnSpc>
                <a:spcPct val="100000"/>
              </a:lnSpc>
            </a:pPr>
            <a:r>
              <a:rPr sz="1500">
                <a:solidFill>
                  <a:srgbClr val="4F5D6A"/>
                </a:solidFill>
                <a:latin typeface="Consolas"/>
              </a:rPr>
              <a:t>67</a:t>
            </a:r>
          </a:p>
          <a:p>
            <a:pPr algn="r">
              <a:lnSpc>
                <a:spcPct val="100000"/>
              </a:lnSpc>
            </a:pPr>
            <a:r>
              <a:rPr sz="1500">
                <a:solidFill>
                  <a:srgbClr val="4F5D6A"/>
                </a:solidFill>
                <a:latin typeface="Consolas"/>
              </a:rPr>
              <a:t>68</a:t>
            </a:r>
          </a:p>
          <a:p>
            <a:pPr algn="r">
              <a:lnSpc>
                <a:spcPct val="100000"/>
              </a:lnSpc>
            </a:pPr>
            <a:r>
              <a:rPr sz="1500">
                <a:solidFill>
                  <a:srgbClr val="4F5D6A"/>
                </a:solidFill>
                <a:latin typeface="Consolas"/>
              </a:rPr>
              <a:t>69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Attestation, Verified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2F44D7D5-D02C-4151-8A96-C89EC07A9F3A}"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it costs: the same benchmark, confidential or not.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What it costs: the same benchmark, confidential or not. ------ # On a cloud that offers both, run this on a confidential and a normal # instance of the same family and compare. sysbench cpu --threads=4 --time=20 run 2&gt;/dev/null | grep -E 'events/s' \ || echo &quot;install sysbench to measure the overhead&quot; dd if=/dev/zero of=/tmp/t bs=1M count=2048 oflag=direct 2&gt;&amp;1 | tail -1 rm -f /tmp/t # I/O usually shows the larger penalty: encrypted guests bounce device # transfers through shared buffers."/>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What it costs: the same benchmark, confidential or not. ------</a:t>
            </a:r>
          </a:p>
          <a:p>
            <a:pPr>
              <a:lnSpc>
                <a:spcPct val="100000"/>
              </a:lnSpc>
              <a:spcAft>
                <a:spcPts val="0"/>
              </a:spcAft>
            </a:pPr>
            <a:r>
              <a:rPr sz="1800" i="1">
                <a:solidFill>
                  <a:srgbClr val="8795A1"/>
                </a:solidFill>
                <a:latin typeface="Consolas"/>
              </a:rPr>
              <a:t># On a cloud that offers both, run this on a confidential and a normal</a:t>
            </a:r>
          </a:p>
          <a:p>
            <a:pPr>
              <a:lnSpc>
                <a:spcPct val="100000"/>
              </a:lnSpc>
              <a:spcAft>
                <a:spcPts val="0"/>
              </a:spcAft>
            </a:pPr>
            <a:r>
              <a:rPr sz="1800" i="1">
                <a:solidFill>
                  <a:srgbClr val="8795A1"/>
                </a:solidFill>
                <a:latin typeface="Consolas"/>
              </a:rPr>
              <a:t># instance of the same family and compare.</a:t>
            </a:r>
          </a:p>
          <a:p>
            <a:pPr>
              <a:lnSpc>
                <a:spcPct val="100000"/>
              </a:lnSpc>
              <a:spcAft>
                <a:spcPts val="0"/>
              </a:spcAft>
            </a:pPr>
            <a:r>
              <a:rPr sz="1800" i="0">
                <a:solidFill>
                  <a:srgbClr val="E8EDF2"/>
                </a:solidFill>
                <a:latin typeface="Consolas"/>
              </a:rPr>
              <a:t>sysbench</a:t>
            </a:r>
            <a:r>
              <a:rPr sz="1800" i="0">
                <a:solidFill>
                  <a:srgbClr val="E8EDF2"/>
                </a:solidFill>
                <a:latin typeface="Consolas"/>
              </a:rPr>
              <a:t> </a:t>
            </a:r>
            <a:r>
              <a:rPr sz="1800" i="0">
                <a:solidFill>
                  <a:srgbClr val="E8EDF2"/>
                </a:solidFill>
                <a:latin typeface="Consolas"/>
              </a:rPr>
              <a:t>cpu</a:t>
            </a:r>
            <a:r>
              <a:rPr sz="1800" i="0">
                <a:solidFill>
                  <a:srgbClr val="E8EDF2"/>
                </a:solidFill>
                <a:latin typeface="Consolas"/>
              </a:rPr>
              <a:t> </a:t>
            </a:r>
            <a:r>
              <a:rPr sz="1800" i="0">
                <a:solidFill>
                  <a:srgbClr val="E8EDF2"/>
                </a:solidFill>
                <a:latin typeface="Consolas"/>
              </a:rPr>
              <a:t>--threads</a:t>
            </a:r>
            <a:r>
              <a:rPr sz="1800" i="0">
                <a:solidFill>
                  <a:srgbClr val="AEB6BF"/>
                </a:solidFill>
                <a:latin typeface="Consolas"/>
              </a:rPr>
              <a:t>=</a:t>
            </a:r>
            <a:r>
              <a:rPr sz="1800" i="0">
                <a:solidFill>
                  <a:srgbClr val="F7DC6F"/>
                </a:solidFill>
                <a:latin typeface="Consolas"/>
              </a:rPr>
              <a:t>4</a:t>
            </a:r>
            <a:r>
              <a:rPr sz="1800" i="0">
                <a:solidFill>
                  <a:srgbClr val="E8EDF2"/>
                </a:solidFill>
                <a:latin typeface="Consolas"/>
              </a:rPr>
              <a:t> </a:t>
            </a:r>
            <a:r>
              <a:rPr sz="1800" i="0">
                <a:solidFill>
                  <a:srgbClr val="E8EDF2"/>
                </a:solidFill>
                <a:latin typeface="Consolas"/>
              </a:rPr>
              <a:t>--time</a:t>
            </a:r>
            <a:r>
              <a:rPr sz="1800" i="0">
                <a:solidFill>
                  <a:srgbClr val="AEB6BF"/>
                </a:solidFill>
                <a:latin typeface="Consolas"/>
              </a:rPr>
              <a:t>=</a:t>
            </a:r>
            <a:r>
              <a:rPr sz="1800" i="0">
                <a:solidFill>
                  <a:srgbClr val="F7DC6F"/>
                </a:solidFill>
                <a:latin typeface="Consolas"/>
              </a:rPr>
              <a:t>20</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'events/s'</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"install sysbench to measure the overhead"</a:t>
            </a:r>
          </a:p>
          <a:p>
            <a:pPr>
              <a:lnSpc>
                <a:spcPct val="100000"/>
              </a:lnSpc>
              <a:spcAft>
                <a:spcPts val="0"/>
              </a:spcAft>
            </a:pPr>
            <a:r>
              <a:rPr sz="1800" i="0">
                <a:solidFill>
                  <a:srgbClr val="E8EDF2"/>
                </a:solidFill>
                <a:latin typeface="Consolas"/>
              </a:rPr>
              <a:t>dd</a:t>
            </a:r>
            <a:r>
              <a:rPr sz="1800" i="0">
                <a:solidFill>
                  <a:srgbClr val="E8EDF2"/>
                </a:solidFill>
                <a:latin typeface="Consolas"/>
              </a:rPr>
              <a:t> </a:t>
            </a:r>
            <a:r>
              <a:rPr sz="1800" i="0">
                <a:solidFill>
                  <a:srgbClr val="5DADE2"/>
                </a:solidFill>
                <a:latin typeface="Consolas"/>
              </a:rPr>
              <a:t>if</a:t>
            </a:r>
            <a:r>
              <a:rPr sz="1800" i="0">
                <a:solidFill>
                  <a:srgbClr val="AEB6BF"/>
                </a:solidFill>
                <a:latin typeface="Consolas"/>
              </a:rPr>
              <a:t>=</a:t>
            </a:r>
            <a:r>
              <a:rPr sz="1800" i="0">
                <a:solidFill>
                  <a:srgbClr val="E8EDF2"/>
                </a:solidFill>
                <a:latin typeface="Consolas"/>
              </a:rPr>
              <a:t>/dev/zero</a:t>
            </a:r>
            <a:r>
              <a:rPr sz="1800" i="0">
                <a:solidFill>
                  <a:srgbClr val="E8EDF2"/>
                </a:solidFill>
                <a:latin typeface="Consolas"/>
              </a:rPr>
              <a:t> </a:t>
            </a:r>
            <a:r>
              <a:rPr sz="1800" i="0">
                <a:solidFill>
                  <a:srgbClr val="E8EDF2"/>
                </a:solidFill>
                <a:latin typeface="Consolas"/>
              </a:rPr>
              <a:t>of</a:t>
            </a:r>
            <a:r>
              <a:rPr sz="1800" i="0">
                <a:solidFill>
                  <a:srgbClr val="AEB6BF"/>
                </a:solidFill>
                <a:latin typeface="Consolas"/>
              </a:rPr>
              <a:t>=</a:t>
            </a:r>
            <a:r>
              <a:rPr sz="1800" i="0">
                <a:solidFill>
                  <a:srgbClr val="E8EDF2"/>
                </a:solidFill>
                <a:latin typeface="Consolas"/>
              </a:rPr>
              <a:t>/tmp/t</a:t>
            </a:r>
            <a:r>
              <a:rPr sz="1800" i="0">
                <a:solidFill>
                  <a:srgbClr val="E8EDF2"/>
                </a:solidFill>
                <a:latin typeface="Consolas"/>
              </a:rPr>
              <a:t> </a:t>
            </a:r>
            <a:r>
              <a:rPr sz="1800" i="0">
                <a:solidFill>
                  <a:srgbClr val="E8EDF2"/>
                </a:solidFill>
                <a:latin typeface="Consolas"/>
              </a:rPr>
              <a:t>bs</a:t>
            </a:r>
            <a:r>
              <a:rPr sz="1800" i="0">
                <a:solidFill>
                  <a:srgbClr val="AEB6BF"/>
                </a:solidFill>
                <a:latin typeface="Consolas"/>
              </a:rPr>
              <a:t>=</a:t>
            </a:r>
            <a:r>
              <a:rPr sz="1800" i="0">
                <a:solidFill>
                  <a:srgbClr val="E8EDF2"/>
                </a:solidFill>
                <a:latin typeface="Consolas"/>
              </a:rPr>
              <a:t>1M</a:t>
            </a:r>
            <a:r>
              <a:rPr sz="1800" i="0">
                <a:solidFill>
                  <a:srgbClr val="E8EDF2"/>
                </a:solidFill>
                <a:latin typeface="Consolas"/>
              </a:rPr>
              <a:t> </a:t>
            </a:r>
            <a:r>
              <a:rPr sz="1800" i="0">
                <a:solidFill>
                  <a:srgbClr val="E8EDF2"/>
                </a:solidFill>
                <a:latin typeface="Consolas"/>
              </a:rPr>
              <a:t>count</a:t>
            </a:r>
            <a:r>
              <a:rPr sz="1800" i="0">
                <a:solidFill>
                  <a:srgbClr val="AEB6BF"/>
                </a:solidFill>
                <a:latin typeface="Consolas"/>
              </a:rPr>
              <a:t>=</a:t>
            </a:r>
            <a:r>
              <a:rPr sz="1800" i="0">
                <a:solidFill>
                  <a:srgbClr val="F7DC6F"/>
                </a:solidFill>
                <a:latin typeface="Consolas"/>
              </a:rPr>
              <a:t>2048</a:t>
            </a:r>
            <a:r>
              <a:rPr sz="1800" i="0">
                <a:solidFill>
                  <a:srgbClr val="E8EDF2"/>
                </a:solidFill>
                <a:latin typeface="Consolas"/>
              </a:rPr>
              <a:t> </a:t>
            </a:r>
            <a:r>
              <a:rPr sz="1800" i="0">
                <a:solidFill>
                  <a:srgbClr val="E8EDF2"/>
                </a:solidFill>
                <a:latin typeface="Consolas"/>
              </a:rPr>
              <a:t>oflag</a:t>
            </a:r>
            <a:r>
              <a:rPr sz="1800" i="0">
                <a:solidFill>
                  <a:srgbClr val="AEB6BF"/>
                </a:solidFill>
                <a:latin typeface="Consolas"/>
              </a:rPr>
              <a:t>=</a:t>
            </a:r>
            <a:r>
              <a:rPr sz="1800" i="0">
                <a:solidFill>
                  <a:srgbClr val="E8EDF2"/>
                </a:solidFill>
                <a:latin typeface="Consolas"/>
              </a:rPr>
              <a:t>direct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a:t>
            </a:r>
            <a:r>
              <a:rPr sz="1800" i="0">
                <a:solidFill>
                  <a:srgbClr val="AEB6BF"/>
                </a:solidFill>
                <a:latin typeface="Consolas"/>
              </a:rPr>
              <a:t>&amp;</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-1</a:t>
            </a:r>
          </a:p>
          <a:p>
            <a:pPr>
              <a:lnSpc>
                <a:spcPct val="100000"/>
              </a:lnSpc>
              <a:spcAft>
                <a:spcPts val="0"/>
              </a:spcAft>
            </a:pP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/tmp/t</a:t>
            </a:r>
          </a:p>
          <a:p>
            <a:pPr>
              <a:lnSpc>
                <a:spcPct val="100000"/>
              </a:lnSpc>
              <a:spcAft>
                <a:spcPts val="0"/>
              </a:spcAft>
            </a:pPr>
            <a:r>
              <a:rPr sz="1800" i="1">
                <a:solidFill>
                  <a:srgbClr val="8795A1"/>
                </a:solidFill>
                <a:latin typeface="Consolas"/>
              </a:rPr>
              <a:t># I/O usually shows the larger penalty: encrypted guests bounce device</a:t>
            </a:r>
          </a:p>
          <a:p>
            <a:pPr>
              <a:lnSpc>
                <a:spcPct val="100000"/>
              </a:lnSpc>
              <a:spcAft>
                <a:spcPts val="0"/>
              </a:spcAft>
            </a:pPr>
            <a:r>
              <a:rPr sz="1800" i="1">
                <a:solidFill>
                  <a:srgbClr val="8795A1"/>
                </a:solidFill>
                <a:latin typeface="Consolas"/>
              </a:rPr>
              <a:t># transfers through shared buffers.</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71</a:t>
            </a:r>
          </a:p>
          <a:p>
            <a:pPr algn="r">
              <a:lnSpc>
                <a:spcPct val="100000"/>
              </a:lnSpc>
            </a:pPr>
            <a:r>
              <a:rPr sz="1800">
                <a:solidFill>
                  <a:srgbClr val="4F5D6A"/>
                </a:solidFill>
                <a:latin typeface="Consolas"/>
              </a:rPr>
              <a:t>72</a:t>
            </a:r>
          </a:p>
          <a:p>
            <a:pPr algn="r">
              <a:lnSpc>
                <a:spcPct val="100000"/>
              </a:lnSpc>
            </a:pPr>
            <a:r>
              <a:rPr sz="1800">
                <a:solidFill>
                  <a:srgbClr val="4F5D6A"/>
                </a:solidFill>
                <a:latin typeface="Consolas"/>
              </a:rPr>
              <a:t>73</a:t>
            </a:r>
          </a:p>
          <a:p>
            <a:pPr algn="r">
              <a:lnSpc>
                <a:spcPct val="100000"/>
              </a:lnSpc>
            </a:pPr>
            <a:r>
              <a:rPr sz="1800">
                <a:solidFill>
                  <a:srgbClr val="4F5D6A"/>
                </a:solidFill>
                <a:latin typeface="Consolas"/>
              </a:rPr>
              <a:t>74</a:t>
            </a:r>
          </a:p>
          <a:p>
            <a:pPr algn="r">
              <a:lnSpc>
                <a:spcPct val="100000"/>
              </a:lnSpc>
            </a:pPr>
            <a:r>
              <a:rPr sz="1800">
                <a:solidFill>
                  <a:srgbClr val="4F5D6A"/>
                </a:solidFill>
                <a:latin typeface="Consolas"/>
              </a:rPr>
              <a:t>75</a:t>
            </a:r>
          </a:p>
          <a:p>
            <a:pPr algn="r">
              <a:lnSpc>
                <a:spcPct val="100000"/>
              </a:lnSpc>
            </a:pPr>
            <a:r>
              <a:rPr sz="1800">
                <a:solidFill>
                  <a:srgbClr val="4F5D6A"/>
                </a:solidFill>
                <a:latin typeface="Consolas"/>
              </a:rPr>
              <a:t>76</a:t>
            </a:r>
          </a:p>
          <a:p>
            <a:pPr algn="r">
              <a:lnSpc>
                <a:spcPct val="100000"/>
              </a:lnSpc>
            </a:pPr>
            <a:r>
              <a:rPr sz="1800">
                <a:solidFill>
                  <a:srgbClr val="4F5D6A"/>
                </a:solidFill>
                <a:latin typeface="Consolas"/>
              </a:rPr>
              <a:t>77</a:t>
            </a:r>
          </a:p>
          <a:p>
            <a:pPr algn="r">
              <a:lnSpc>
                <a:spcPct val="100000"/>
              </a:lnSpc>
            </a:pPr>
            <a:r>
              <a:rPr sz="1800">
                <a:solidFill>
                  <a:srgbClr val="4F5D6A"/>
                </a:solidFill>
                <a:latin typeface="Consolas"/>
              </a:rPr>
              <a:t>78</a:t>
            </a:r>
          </a:p>
          <a:p>
            <a:pPr algn="r">
              <a:lnSpc>
                <a:spcPct val="100000"/>
              </a:lnSpc>
            </a:pPr>
            <a:r>
              <a:rPr sz="1800">
                <a:solidFill>
                  <a:srgbClr val="4F5D6A"/>
                </a:solidFill>
                <a:latin typeface="Consolas"/>
              </a:rPr>
              <a:t>79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168     </a:t>
            </a:r>
            <a:fld id="{6C8DF2F2-71A5-40DC-A478-13FF65F827B3}"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6 is the chapter. Encryption was working perfectly in both the honest and the hostile case; the only thing that distinguished them was a hash comparison that somebody had to perform. Skip step 5 and you have bought a performance penalty.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memory encryption without integrity protection was insufficient, naming one concrete attack it failed to stop.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21  ·  Confidential Computing and Emerging Hardware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171  ·  answers in Appendix D     </a:t>
            </a:r>
            <a:fld id="{CEA660F3-D10E-4578-A9A7-EE346B7114FB}"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memory encryption without integrity protection was insufficient, naming one concrete attack it failed to stop.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hostile hypervisor does more than read memory. Encryption stops it </a:t>
            </a:r>
            <a:r>
              <a:rPr sz="2200" b="0" i="1">
                <a:solidFill>
                  <a:srgbClr val="1C252B"/>
                </a:solidFill>
                <a:latin typeface="Segoe UI"/>
              </a:rPr>
              <a:t>reading</a:t>
            </a:r>
            <a:r>
              <a:rPr sz="2200" b="0" i="0">
                <a:solidFill>
                  <a:srgbClr val="1C252B"/>
                </a:solidFill>
                <a:latin typeface="Segoe UI"/>
              </a:rPr>
              <a:t>, and leaves it able to manipulate the mapping: the concrete attack is </a:t>
            </a:r>
            <a:r>
              <a:rPr sz="2200" b="1" i="0">
                <a:solidFill>
                  <a:srgbClr val="1C252B"/>
                </a:solidFill>
                <a:latin typeface="Segoe UI"/>
              </a:rPr>
              <a:t>page remapping</a:t>
            </a:r>
            <a:r>
              <a:rPr sz="2200" b="0" i="0">
                <a:solidFill>
                  <a:srgbClr val="1C252B"/>
                </a:solidFill>
                <a:latin typeface="Segoe UI"/>
              </a:rPr>
              <a:t> — giving the guest a different physical page than it had, or aliasing two guest addresses to one physical page — and </a:t>
            </a:r>
            <a:r>
              <a:rPr sz="2200" b="1" i="0">
                <a:solidFill>
                  <a:srgbClr val="1C252B"/>
                </a:solidFill>
                <a:latin typeface="Segoe UI"/>
              </a:rPr>
              <a:t>replay</a:t>
            </a:r>
            <a:r>
              <a:rPr sz="2200" b="0" i="0">
                <a:solidFill>
                  <a:srgbClr val="1C252B"/>
                </a:solidFill>
                <a:latin typeface="Segoe UI"/>
              </a:rPr>
              <a:t>, re-presenting an old encrypted page. The data stays encrypted throughout and the guest is compromised anyway. SEV-SNP’s reverse map table and TDX’s equivalent add the integrity check that refuses a contradictory mapping.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  answers in Appendix D     </a:t>
            </a:r>
            <a:fld id="{AA8296D9-1DDD-4C83-9B52-C8E9DE1FAB87}"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181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deploys confidential VMs but releases the database key from a configuration file at boot, without checking any report. State exactly what they are protected against and what they are not.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21  ·  Confidential Computing and Emerging Hardware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171  ·  answers in Appendix D     </a:t>
            </a:r>
            <a:fld id="{B63CE56B-C896-4457-9DA5-E32551F029FA}"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 deploys confidential VMs but releases the database key from a configuration file at boot, without checking any report. State exactly what they are protected against and what they are not.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are protected against an operator or an attacker </a:t>
            </a:r>
            <a:r>
              <a:rPr sz="2200" b="1" i="0">
                <a:solidFill>
                  <a:srgbClr val="1C252B"/>
                </a:solidFill>
                <a:latin typeface="Segoe UI"/>
              </a:rPr>
              <a:t>reading the guest’s memory</a:t>
            </a:r>
            <a:r>
              <a:rPr sz="2200" b="0" i="0">
                <a:solidFill>
                  <a:srgbClr val="1C252B"/>
                </a:solidFill>
                <a:latin typeface="Segoe UI"/>
              </a:rPr>
              <a:t> — a memory dump, a cold-boot attack, a hypervisor inspecting pages. They are </a:t>
            </a:r>
            <a:r>
              <a:rPr sz="2200" b="1" i="0">
                <a:solidFill>
                  <a:srgbClr val="1C252B"/>
                </a:solidFill>
                <a:latin typeface="Segoe UI"/>
              </a:rPr>
              <a:t>not</a:t>
            </a:r>
            <a:r>
              <a:rPr sz="2200" b="0" i="0">
                <a:solidFill>
                  <a:srgbClr val="1C252B"/>
                </a:solidFill>
                <a:latin typeface="Segoe UI"/>
              </a:rPr>
              <a:t> protected against the attack the technology exists to stop: an operator who boots a </a:t>
            </a:r>
            <a:r>
              <a:rPr sz="2200" b="0" i="1">
                <a:solidFill>
                  <a:srgbClr val="1C252B"/>
                </a:solidFill>
                <a:latin typeface="Segoe UI"/>
              </a:rPr>
              <a:t>different</a:t>
            </a:r>
            <a:r>
              <a:rPr sz="2200" b="0" i="0">
                <a:solidFill>
                  <a:srgbClr val="1C252B"/>
                </a:solidFill>
                <a:latin typeface="Segoe UI"/>
              </a:rPr>
              <a:t> image which requests the key at startup. That image’s memory is perfectly encrypted while it exfiltrates the database. Without verifying a measurement, they have bought a performance penalty.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  answers in Appendix D     </a:t>
            </a:r>
            <a:fld id="{E63BE35C-3B65-4781-B8DA-557012F34EC2}"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1282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Name two properties confidential computing does </a:t>
            </a:r>
            <a:r>
              <a:rPr sz="3400" b="0" i="1">
                <a:solidFill>
                  <a:srgbClr val="FFFFFF"/>
                </a:solidFill>
                <a:latin typeface="Segoe UI Semibold"/>
              </a:rPr>
              <a:t>not</a:t>
            </a:r>
            <a:r>
              <a:rPr sz="3400" b="0" i="0">
                <a:solidFill>
                  <a:srgbClr val="FFFFFF"/>
                </a:solidFill>
                <a:latin typeface="Segoe UI Semibold"/>
              </a:rPr>
              <a:t> provide, and say why each matters to a compliance argument.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21  ·  Confidential Computing and Emerging Hardware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171  ·  answers in Appendix D     </a:t>
            </a:r>
            <a:fld id="{38851C34-6CF2-4D3D-B3DA-7DB8432EC0B4}"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Name two properties confidential computing does </a:t>
            </a:r>
            <a:r>
              <a:rPr sz="2400" b="0" i="1">
                <a:solidFill>
                  <a:srgbClr val="1A5276"/>
                </a:solidFill>
                <a:latin typeface="Segoe UI Semibold"/>
              </a:rPr>
              <a:t>not</a:t>
            </a:r>
            <a:r>
              <a:rPr sz="2400" b="0" i="0">
                <a:solidFill>
                  <a:srgbClr val="1A5276"/>
                </a:solidFill>
                <a:latin typeface="Segoe UI Semibold"/>
              </a:rPr>
              <a:t> provide, and say why each matters to a compliance argument.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Availability</a:t>
            </a:r>
            <a:r>
              <a:rPr sz="2200" b="0" i="0">
                <a:solidFill>
                  <a:srgbClr val="1C252B"/>
                </a:solidFill>
                <a:latin typeface="Segoe UI"/>
              </a:rPr>
              <a:t> — the operator can still stop, detain or destroy the machine, so a compliance argument resting on continuity is not helped at all. </a:t>
            </a:r>
            <a:r>
              <a:rPr sz="2200" b="1" i="0">
                <a:solidFill>
                  <a:srgbClr val="1C252B"/>
                </a:solidFill>
                <a:latin typeface="Segoe UI"/>
              </a:rPr>
              <a:t>Side channels</a:t>
            </a:r>
            <a:r>
              <a:rPr sz="2200" b="0" i="0">
                <a:solidFill>
                  <a:srgbClr val="1C252B"/>
                </a:solidFill>
                <a:latin typeface="Segoe UI"/>
              </a:rPr>
              <a:t> — timing and cache attacks are not fully addressed, and published attacks target these systems specifically, so a claim of absolute confidentiality is overstated. (Equally acceptable: protection against your own application bugs, which leak data the ordinary way, and protection of data once it leaves the TEE.)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  answers in Appendix D     </a:t>
            </a:r>
            <a:fld id="{384910C1-A093-4698-A110-34563D6B5D47}"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075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a:t>
            </a:r>
            <a:fld id="{86ADF034-746E-4B60-86FE-7660B3A53A5C}"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Confidential computing inverts the trust model: the guest stops trusting the hypervisor, the firmware and the operator, and trusts only itself and the silicon.</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TEE encrypts guest memory with a key the host cannot read, protects register state across exits, and lets the guest prove what it is.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Encryption alone was not enough: a hostile hypervisor can remap, replay and alias pages. SEV-SNP and TDX add integrity.</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Attestation is what makes the encryption meaningful. A confidential VM whose attestation nobody verifies is a normal VM with a performance penalty.</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As of late 2026 SEV-SNP is the most widely deployed, TDX is in production on major clouds with newer families still arriving, and ARM CCA remains limited in availability.</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It does not protect availability, does not solve side channels, and does not help with your own bugs. Overhead is commonly 2–8%, more for I/O.</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a:t>
            </a:r>
            <a:fld id="{812F384D-E3B6-4F3C-AAD2-905743303A99}" type="slidenum">
              <a:rPr lang="en-GB" sz="1000">
                <a:solidFill>
                  <a:srgbClr val="8795A1"/>
                </a:solidFill>
                <a:latin typeface="Segoe UI"/>
              </a:rPr>
              <a:t>37</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CXL and composable infrastructure are the same multiplexing idea applied to the memory bus, with latency as the familiar obstacle.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a:t>
            </a:r>
            <a:fld id="{0DBAE433-42F4-4980-8030-40302CE350AF}"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SEV-SNP added, over SEV-ES: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larger enclaves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integrity protection against page remapping and replay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live migration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support for containers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a:t>
            </a:r>
            <a:fld id="{7909B886-CC34-40A6-9F5D-FFB487F9FC5C}"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Without attestation, memory encryption fails to stop:</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cold-boot attack</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hypervisor reading guest pages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operator booting a modified image that requests the data</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physical memory dump</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21  ·  Confidential Computing and Emerging Hardware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171     </a:t>
            </a:r>
            <a:fld id="{A166BA9A-11BD-41A2-9BAA-97F097BC75B0}"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three fields of an attestation report and what each one proves.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did Intel SGX not become general infrastructure, and what did the VM-scoped designs do differently?</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three things confidential computing does not protect.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bank wants to run a proprietary model on a public cloud without the provider being able to copy the weights. Set out the design, the verification step that makes it real, what it costs, and the residual risks you would record.</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Using the framework of Chapter 1 — what is multiplexed, what does the lie cost, who maintains it — evaluate CXL pooled memory as a vendor would present it to you, and write the three questions you would ask.</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22 — Case Studies in Enterprise and Cloud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21, pages 165–171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Partition a GPU; verify an attestation report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21  ·  Confidential Computing and Emerging Hardware</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6A3E2CB4-09E0-46E9-8B6E-2A0F5E28E2C6}"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 Confidential Computing and Emerging Hardware</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