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7.svg" ContentType="image/svg+xml"/>
  <Override PartName="/ppt/media/image29.svg" ContentType="image/svg+xml"/>
  <Override PartName="/ppt/media/image30.svg" ContentType="image/svg+xml"/>
  <Override PartName="/ppt/media/image32.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4.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2.svg" ContentType="image/svg+xml"/>
  <Override PartName="/ppt/media/image54.svg" ContentType="image/svg+xml"/>
  <Override PartName="/ppt/media/image55.svg" ContentType="image/svg+xml"/>
  <Override PartName="/ppt/media/image56.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A51D71A-B157-4288-A1C6-3A8A1DFB9B5C}">
          <p14:sldIdLst>
            <p14:sldId id="256"/>
            <p14:sldId id="257"/>
            <p14:sldId id="258"/>
            <p14:sldId id="259"/>
            <p14:sldId id="260"/>
          </p14:sldIdLst>
        </p14:section>
        <p14:section name="5.1 The Question That Separates Them" id="{FE736DBC-E683-4DF5-B632-F56D5E8D71D0}">
          <p14:sldIdLst>
            <p14:sldId id="261"/>
          </p14:sldIdLst>
        </p14:section>
        <p14:section name="5.2 VMware ESXi and vSphere" id="{DD02F270-214A-405A-8A33-7A0F3D2A967F}">
          <p14:sldIdLst>
            <p14:sldId id="262"/>
          </p14:sldIdLst>
        </p14:section>
        <p14:section name="5.3 Microsoft Hyper-V" id="{83675096-E588-4B5A-AC0C-075AB6F64AC2}">
          <p14:sldIdLst>
            <p14:sldId id="263"/>
          </p14:sldIdLst>
        </p14:section>
        <p14:section name="5.4 KVM and QEMU" id="{3930CBE2-C5CE-4AFE-8931-C6FD53B42FD1}">
          <p14:sldIdLst>
            <p14:sldId id="264"/>
          </p14:sldIdLst>
        </p14:section>
        <p14:section name="5.5 Xen" id="{1AEE3543-88C5-46CB-85D7-1F357A6400B7}">
          <p14:sldIdLst>
            <p14:sldId id="265"/>
          </p14:sldIdLst>
        </p14:section>
        <p14:section name="5.6 Choosing" id="{D3AB0B89-5EA2-496B-B840-019467D7580F}">
          <p14:sldIdLst>
            <p14:sldId id="266"/>
            <p14:sldId id="267"/>
            <p14:sldId id="268"/>
            <p14:sldId id="269"/>
            <p14:sldId id="270"/>
          </p14:sldIdLst>
        </p14:section>
        <p14:section name="Pitfalls" id="{E0D34E01-D74B-4FFE-983E-B6FCC53301A5}">
          <p14:sldIdLst>
            <p14:sldId id="271"/>
          </p14:sldIdLst>
        </p14:section>
        <p14:section name="Lab" id="{7C434EF6-68AA-4D84-AAC8-F0DAFAAA50EF}">
          <p14:sldIdLst>
            <p14:sldId id="272"/>
            <p14:sldId id="273"/>
            <p14:sldId id="274"/>
            <p14:sldId id="275"/>
            <p14:sldId id="276"/>
            <p14:sldId id="277"/>
            <p14:sldId id="278"/>
            <p14:sldId id="279"/>
            <p14:sldId id="280"/>
          </p14:sldIdLst>
        </p14:section>
        <p14:section name="Checkpoint" id="{F61426EC-4E0D-44E9-B298-B7F16A2B24BE}">
          <p14:sldIdLst>
            <p14:sldId id="281"/>
            <p14:sldId id="282"/>
            <p14:sldId id="283"/>
            <p14:sldId id="284"/>
            <p14:sldId id="285"/>
            <p14:sldId id="286"/>
          </p14:sldIdLst>
        </p14:section>
        <p14:section name="Wrap-up" id="{2801F52A-B6B3-42C1-BB9F-9DACA8D8152C}">
          <p14:sldIdLst>
            <p14:sldId id="287"/>
            <p14:sldId id="288"/>
            <p14:sldId id="289"/>
            <p14:sldId id="290"/>
            <p14:sldId id="29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5: Major Hypervisor Platforms. Part 2 — Hypervisors and Compute Virtualization. Week 4: Major hypervisor platforms. Handout pages 38–44.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(Type-1 and Type-2, and the three techniques) and Chapter 4 (VT-x, EPT, the IOMMU). Every platform here is a different set of engineering answers built on the same silicon, so the hardware chapter is what lets you see what they actually differ about.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ESXi; VMkernel; vSphere; vCenter; Hyper-V; parent partition; child partition; VMBus; enlightenment; KVM; QEMU; libvirt; Xen; dom0; domU; PV; HVM; PVH; disaggregation; driver domain; trusted computing base.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platforms in this chapter run on the same processors, use VT-x or AMD-V the same way, and use extended page tables for memory. At the level of Chapter 4 they are nearly identical. What separates them is a question Chapter 4 did not ask: where do the device drivers live? A hypervisor needs drivers for every disk controller and network card in the machine, and drivers are large, written by hardware vendors, and the commonest source of kernel bugs. Any code that can crash the host is part of the trusted computing base, and a driver can always crash the host. The four platforms give four different answers, and almost every other difference between them follows.</a:t>
            </a:r>
          </a:p>
          <a:p/>
          <a:p>
            <a:r>
              <a:t>Figure 5.1 (handout p. 39): The four platforms, drawn to the same question: where are the drivers (red)? Xen’s answer gives it the smallest hypervisor in the room and the most moving parts; ESXi’s gives it the most predictable behaviour and the shortest hardware compatibility list.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ESXi is a purpose-built Type-1 hypervisor. Its kernel, the VMkernel, was written for one job and contains the scheduler, the memory manager and the device drivers. Nothing general-purpose runs beside it; the shell is deliberately limited and disabled by default. vSphere is the product that matters commercially: ESXi hosts plus vCenter, the management server that turns a set of hosts into a cluster with shared storage, automated placement, live migration and failover. Almost everything an enterprise buys VMware for lives in vCenter rather than in ESXi.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Hyper-V is also Type-1, and the picture most people hold of it is wrong. Installing the Hyper-V role on Windows Server does not make Windows the hypervisor; it slides a thin hypervisor underneath the running Windows, which is then demoted to the parent partition — a privileged guest. The parent partition owns the physical devices and runs the Windows driver stack. Child partitions — the ordinary guests — have no direct device access and talk to the parent over VMBus, a shared-memory channel. A guest with Hyper-V’s integration services installed uses enlightened paravirtualized drivers over VMBus; a guest without them falls back to emulated devices and the performance of Chapter 2’s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KVM is a kernel module. Loading kvm.ko and kvm_intel.ko turns Linux into a hypervisor by giving it the ability to enter VMX non-root operation; the module is about twenty thousand lines, because the scheduler, memory manager and drivers it needs are already there. That is also the whole architectural claim: a guest is a process. It is scheduled by the ordinary Linux scheduler, its memory is ordinary process memory, top shows it, kill ends it, cgroups limit it. Every tool that works on a Linux process works on a virtual machine. KVM provides only the processor and memory virtualization. The virtual hardware — disk controllers, network cards, graphics, BIOS — is QEMU’s job, running in user space as that process. libvirt sits above both and provides the stable API that virsh, virt-manager, OpenStack and oVirt all drive.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Xen is the smallest hypervisor here — on the order of a megabyte — because it deliberately contains almost nothing. No drivers, no filesystems, no network stack. It schedules domains, manages memory, and passes messages. Everything else lives in dom0, a privileged guest (normally Linux) that owns the physical devices and runs the driver stack. Unprivileged guests are domU and reach devices through split drivers terminating in dom0. Xen was the paravirtualization project of Chapter 3, and its guest modes record that history: PV (fully paravirtualized, no hardware assistance needed, guest kernel modified), HVM (hardware-assisted, unmodified guests, from 2006), and PVH (hardware assistance for the processor, paravirtualized devices, no emulated chipset — the modern default).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Builds one guest under KVM and the same guest under VirtualBox, then compares what each platform exposes to it. Appendix A has both. Expect forty minutes.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What is this host already running, if anything?.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Define a guest on KVM, from the Chapter 1 image..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Ask the guest what hardware it thinks it has..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Build the same guest under VirtualBox..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Compare what the two platforms claim to be..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The feature that is not in the free product..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Tear down..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ESXi: in the VMkernel itself — a small, purpose-built trusted base of about 150 MB, at the cost of a short hardware compatibility list. Hyper-V: in the parent partition, a full Windows installation — thin hypervisor, large privileged guest. KVM: in the Linux kernel — every driver Linux has, and all of them in the trusted base. Xen: in dom0, or in a separate driver domain — a one-megabyte hypervisor, and the only design that can put a driver’s blast radius below the whole host.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Docker Desktop enables Hyper-V (or the WSL2 platform, which uses it). That slides the Hyper-V hypervisor underneath the running Windows, demoting it to a parent partition. VirtualBox then no longer runs on the hardware; it runs as a nested guest above Hyper-V, and nested virtualization multiplies every exit the inner guest takes. Nothing about VirtualBox changed — the machine underneath it did.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Using the chapter’s figures, vSphere cost about $200,000 more over three years for three hosts, which is roughly 1.5 full-time engineers. A licence becomes defensible once the estate is large enough that vCenter genuinely saves that much effort — in practice somewhere in the low hundreds of hosts, or sooner where availability has contractual penalties. The assumption doing the most work is that a self-managed KVM estate would need those 1.5 engineers; if the team already runs Linux at scale and has the automation, the saving is much smaller and the threshold much higher.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6 — CPU and Memory Virtualization. READ: Handout Chapter 5, pages 38–44. THIS WEEK'S LAB: One guest, two platforms, compared.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7.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8.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image" Target="../media/image23.png"/><Relationship Id="rId5" Type="http://schemas.openxmlformats.org/officeDocument/2006/relationships/image" Target="../media/image24.svg"/><Relationship Id="rId6" Type="http://schemas.openxmlformats.org/officeDocument/2006/relationships/image" Target="../media/image25.png"/><Relationship Id="rId7" Type="http://schemas.openxmlformats.org/officeDocument/2006/relationships/image" Target="../media/image26.sv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7.svg"/><Relationship Id="rId4" Type="http://schemas.openxmlformats.org/officeDocument/2006/relationships/image" Target="../media/image28.png"/><Relationship Id="rId5" Type="http://schemas.openxmlformats.org/officeDocument/2006/relationships/image" Target="../media/image29.sv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30.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5.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6.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7.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8.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9.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40.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41.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42.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6.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7.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8.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9.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50.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5.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6.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9769F"/>
                </a:solidFill>
                <a:latin typeface="Segoe UI Black"/>
              </a:rPr>
              <a:t>05</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Major Hypervisor Platforms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PART II  ·  HYPERVISORS AND COMPUTE VIRTUALIZATION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CHAPTER 5  ·  WEEK 4</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3E1EA"/>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94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8BA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FCC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8BA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38     </a:t>
            </a:r>
            <a:fld id="{C91E1C67-F65D-4007-AD34-5ECC1F8BAEAE}"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822916"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822916" cy="4572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3788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3788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2200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2200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12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12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58856" y="2112264"/>
            <a:ext cx="566928" cy="566928"/>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58856"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9" name="!!dot6">
            <a:extLst>
              <a:ext uri="{C183D7F6-B498-43B3-948B-1728B52AA6E4}">
                <adec:decorative xmlns:adec="http://schemas.microsoft.com/office/drawing/2017/decorative" val="1"/>
              </a:ext>
            </a:extLst>
          </p:cNvPr>
          <p:cNvSpPr/>
          <p:nvPr/>
        </p:nvSpPr>
        <p:spPr>
          <a:xfrm>
            <a:off x="3352329"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2608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744050"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6526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4100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3186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80181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7103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19353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1020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585254"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4938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25129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1598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643016"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5515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2499"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10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48422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3927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236794"/>
                </a:solidFill>
                <a:latin typeface="Segoe UI"/>
              </a:rPr>
              <a:t>Major Hypervisor Platforms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Virtualization Architectures</a:t>
            </a:r>
          </a:p>
        </p:txBody>
      </p:sp>
      <p:sp>
        <p:nvSpPr>
          <p:cNvPr id="70" name="!!chipBU4">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4">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4"/>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4  </a:t>
            </a:r>
            <a:r>
              <a:rPr sz="1400" b="0" i="0">
                <a:solidFill>
                  <a:srgbClr val="1C252B"/>
                </a:solidFill>
                <a:latin typeface="Segoe UI"/>
              </a:rPr>
              <a:t>Hardware Support for Virtualization</a:t>
            </a:r>
          </a:p>
        </p:txBody>
      </p:sp>
      <p:sp>
        <p:nvSpPr>
          <p:cNvPr id="73"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4" name="!!chipUS6">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6">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6"/>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CPU and Memory Virtualization</a:t>
            </a:r>
          </a:p>
        </p:txBody>
      </p:sp>
      <p:sp>
        <p:nvSpPr>
          <p:cNvPr id="77" name="!!chipUS11">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11">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11"/>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11  </a:t>
            </a:r>
            <a:r>
              <a:rPr sz="1400" b="0" i="0">
                <a:solidFill>
                  <a:srgbClr val="1C252B"/>
                </a:solidFill>
                <a:latin typeface="Segoe UI"/>
              </a:rPr>
              <a:t>Lightweight and Secure Virtualization</a:t>
            </a:r>
          </a:p>
        </p:txBody>
      </p:sp>
      <p:sp>
        <p:nvSpPr>
          <p:cNvPr id="80" name="!!chipUS14">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bUS14">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tUS14"/>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14  </a:t>
            </a:r>
            <a:r>
              <a:rPr sz="1400" b="0" i="0">
                <a:solidFill>
                  <a:srgbClr val="1C252B"/>
                </a:solidFill>
                <a:latin typeface="Segoe UI"/>
              </a:rPr>
              <a:t>Cloud Service and Deployment Models</a:t>
            </a:r>
          </a:p>
        </p:txBody>
      </p:sp>
      <p:sp>
        <p:nvSpPr>
          <p:cNvPr id="83" name="!!chipUS16">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chipbUS16">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tUS16"/>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16  </a:t>
            </a:r>
            <a:r>
              <a:rPr sz="1400" b="0" i="0">
                <a:solidFill>
                  <a:srgbClr val="1C252B"/>
                </a:solidFill>
                <a:latin typeface="Segoe UI"/>
              </a:rPr>
              <a:t>Virtualization Management Platforms</a:t>
            </a:r>
          </a:p>
        </p:txBody>
      </p:sp>
      <p:sp>
        <p:nvSpPr>
          <p:cNvPr id="86" name="!!chipUS17">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bUS17">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chiptUS17"/>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17  </a:t>
            </a:r>
            <a:r>
              <a:rPr sz="1400" b="0" i="0">
                <a:solidFill>
                  <a:srgbClr val="1C252B"/>
                </a:solidFill>
                <a:latin typeface="Segoe UI"/>
              </a:rPr>
              <a:t>High Availability, Live Migration and Disaster Recovery</a:t>
            </a:r>
          </a:p>
        </p:txBody>
      </p:sp>
      <p:sp>
        <p:nvSpPr>
          <p:cNvPr id="8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pfill">
            <a:extLst>
              <a:ext uri="{C183D7F6-B498-43B3-948B-1728B52AA6E4}">
                <adec:decorative xmlns:adec="http://schemas.microsoft.com/office/drawing/2017/decorative" val="1"/>
              </a:ext>
            </a:extLst>
          </p:cNvPr>
          <p:cNvSpPr/>
          <p:nvPr/>
        </p:nvSpPr>
        <p:spPr>
          <a:xfrm>
            <a:off x="0" y="0"/>
            <a:ext cx="67731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38     </a:t>
            </a:r>
            <a:fld id="{45EDCC71-4EF5-4D36-B791-CDD3253C5C39}"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Describe</a:t>
            </a:r>
            <a:r>
              <a:rPr sz="2100" b="0" i="0">
                <a:solidFill>
                  <a:srgbClr val="1C252B"/>
                </a:solidFill>
                <a:latin typeface="Segoe UI"/>
              </a:rPr>
              <a:t> the architecture of ESXi, Hyper-V, KVM and Xen, and </a:t>
            </a:r>
            <a:r>
              <a:rPr sz="2100" b="1" i="0">
                <a:solidFill>
                  <a:srgbClr val="1C252B"/>
                </a:solidFill>
                <a:latin typeface="Segoe UI"/>
              </a:rPr>
              <a:t>say</a:t>
            </a:r>
            <a:r>
              <a:rPr sz="2100" b="0" i="0">
                <a:solidFill>
                  <a:srgbClr val="1C252B"/>
                </a:solidFill>
                <a:latin typeface="Segoe UI"/>
              </a:rPr>
              <a:t> for each one where the device drivers live.</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Explain</a:t>
            </a:r>
            <a:r>
              <a:rPr sz="2100" b="0" i="0">
                <a:solidFill>
                  <a:srgbClr val="1C252B"/>
                </a:solidFill>
                <a:latin typeface="Segoe UI"/>
              </a:rPr>
              <a:t> why the location of the drivers is the single fact that most determines a platform’s security and performance character.</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6026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Compare</a:t>
            </a:r>
            <a:r>
              <a:rPr sz="2100" b="0" i="0">
                <a:solidFill>
                  <a:srgbClr val="1C252B"/>
                </a:solidFill>
                <a:latin typeface="Segoe UI"/>
              </a:rPr>
              <a:t> the four on licensing, ecosystem, guest support and operational tooling.</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1347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Compute</a:t>
            </a:r>
            <a:r>
              <a:rPr sz="2100" b="0" i="0">
                <a:solidFill>
                  <a:srgbClr val="1C252B"/>
                </a:solidFill>
                <a:latin typeface="Segoe UI"/>
              </a:rPr>
              <a:t> the three-year cost of a small cluster on two of them, and </a:t>
            </a:r>
            <a:r>
              <a:rPr sz="2100" b="1" i="0">
                <a:solidFill>
                  <a:srgbClr val="1C252B"/>
                </a:solidFill>
                <a:latin typeface="Segoe UI"/>
              </a:rPr>
              <a:t>identify</a:t>
            </a:r>
            <a:r>
              <a:rPr sz="2100" b="0" i="0">
                <a:solidFill>
                  <a:srgbClr val="1C252B"/>
                </a:solidFill>
                <a:latin typeface="Segoe UI"/>
              </a:rPr>
              <a:t> which cost dominates.</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36204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Recommend</a:t>
            </a:r>
            <a:r>
              <a:rPr sz="2100" b="0" i="0">
                <a:solidFill>
                  <a:srgbClr val="1C252B"/>
                </a:solidFill>
                <a:latin typeface="Segoe UI"/>
              </a:rPr>
              <a:t> a platform for a stated requirement and defend it against the strongest alternative.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1597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38     </a:t>
            </a:r>
            <a:fld id="{54FA173F-4426-45F1-8423-4D45BD6C7F72}" type="slidenum">
              <a:rPr lang="en-GB" sz="1000">
                <a:solidFill>
                  <a:srgbClr val="8795A1"/>
                </a:solidFill>
                <a:latin typeface="Segoe UI"/>
              </a:rPr>
              <a:t>4</a:t>
            </a:fld>
          </a:p>
        </p:txBody>
      </p:sp>
      <p:sp>
        <p:nvSpPr>
          <p:cNvPr id="7" name="!!term-ESXi">
            <a:extLst>
              <a:ext uri="{C183D7F6-B498-43B3-948B-1728B52AA6E4}">
                <adec:decorative xmlns:adec="http://schemas.microsoft.com/office/drawing/2017/decorative" val="1"/>
              </a:ext>
            </a:extLst>
          </p:cNvPr>
          <p:cNvSpPr/>
          <p:nvPr/>
        </p:nvSpPr>
        <p:spPr>
          <a:xfrm>
            <a:off x="658368" y="1847088"/>
            <a:ext cx="8020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ESXi">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ESXi"/>
          <p:cNvSpPr txBox="1"/>
          <p:nvPr/>
        </p:nvSpPr>
        <p:spPr>
          <a:xfrm>
            <a:off x="950976" y="1970532"/>
            <a:ext cx="61919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ESXi</a:t>
            </a:r>
          </a:p>
        </p:txBody>
      </p:sp>
      <p:sp>
        <p:nvSpPr>
          <p:cNvPr id="10" name="!!term-VMkernel">
            <a:extLst>
              <a:ext uri="{C183D7F6-B498-43B3-948B-1728B52AA6E4}">
                <adec:decorative xmlns:adec="http://schemas.microsoft.com/office/drawing/2017/decorative" val="1"/>
              </a:ext>
            </a:extLst>
          </p:cNvPr>
          <p:cNvSpPr/>
          <p:nvPr/>
        </p:nvSpPr>
        <p:spPr>
          <a:xfrm>
            <a:off x="1606749" y="1847088"/>
            <a:ext cx="12584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VMkernel">
            <a:extLst>
              <a:ext uri="{C183D7F6-B498-43B3-948B-1728B52AA6E4}">
                <adec:decorative xmlns:adec="http://schemas.microsoft.com/office/drawing/2017/decorative" val="1"/>
              </a:ext>
            </a:extLst>
          </p:cNvPr>
          <p:cNvSpPr/>
          <p:nvPr/>
        </p:nvSpPr>
        <p:spPr>
          <a:xfrm>
            <a:off x="173476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VMkernel"/>
          <p:cNvSpPr txBox="1"/>
          <p:nvPr/>
        </p:nvSpPr>
        <p:spPr>
          <a:xfrm>
            <a:off x="1899357" y="1970532"/>
            <a:ext cx="107556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VMkernel</a:t>
            </a:r>
          </a:p>
        </p:txBody>
      </p:sp>
      <p:sp>
        <p:nvSpPr>
          <p:cNvPr id="13" name="!!term-vSphere">
            <a:extLst>
              <a:ext uri="{C183D7F6-B498-43B3-948B-1728B52AA6E4}">
                <adec:decorative xmlns:adec="http://schemas.microsoft.com/office/drawing/2017/decorative" val="1"/>
              </a:ext>
            </a:extLst>
          </p:cNvPr>
          <p:cNvSpPr/>
          <p:nvPr/>
        </p:nvSpPr>
        <p:spPr>
          <a:xfrm>
            <a:off x="3011498" y="1847088"/>
            <a:ext cx="113022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vSphere">
            <a:extLst>
              <a:ext uri="{C183D7F6-B498-43B3-948B-1728B52AA6E4}">
                <adec:decorative xmlns:adec="http://schemas.microsoft.com/office/drawing/2017/decorative" val="1"/>
              </a:ext>
            </a:extLst>
          </p:cNvPr>
          <p:cNvSpPr/>
          <p:nvPr/>
        </p:nvSpPr>
        <p:spPr>
          <a:xfrm>
            <a:off x="313951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vSphere"/>
          <p:cNvSpPr txBox="1"/>
          <p:nvPr/>
        </p:nvSpPr>
        <p:spPr>
          <a:xfrm>
            <a:off x="3304106" y="1970532"/>
            <a:ext cx="94734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vSphere</a:t>
            </a:r>
          </a:p>
        </p:txBody>
      </p:sp>
      <p:sp>
        <p:nvSpPr>
          <p:cNvPr id="16" name="!!term-vCenter">
            <a:extLst>
              <a:ext uri="{C183D7F6-B498-43B3-948B-1728B52AA6E4}">
                <adec:decorative xmlns:adec="http://schemas.microsoft.com/office/drawing/2017/decorative" val="1"/>
              </a:ext>
            </a:extLst>
          </p:cNvPr>
          <p:cNvSpPr/>
          <p:nvPr/>
        </p:nvSpPr>
        <p:spPr>
          <a:xfrm>
            <a:off x="4288029" y="1847088"/>
            <a:ext cx="109895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vCenter">
            <a:extLst>
              <a:ext uri="{C183D7F6-B498-43B3-948B-1728B52AA6E4}">
                <adec:decorative xmlns:adec="http://schemas.microsoft.com/office/drawing/2017/decorative" val="1"/>
              </a:ext>
            </a:extLst>
          </p:cNvPr>
          <p:cNvSpPr/>
          <p:nvPr/>
        </p:nvSpPr>
        <p:spPr>
          <a:xfrm>
            <a:off x="441604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vCenter"/>
          <p:cNvSpPr txBox="1"/>
          <p:nvPr/>
        </p:nvSpPr>
        <p:spPr>
          <a:xfrm>
            <a:off x="4580637" y="1970532"/>
            <a:ext cx="91607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vCenter</a:t>
            </a:r>
          </a:p>
        </p:txBody>
      </p:sp>
      <p:sp>
        <p:nvSpPr>
          <p:cNvPr id="19" name="!!term-Hyper-V">
            <a:extLst>
              <a:ext uri="{C183D7F6-B498-43B3-948B-1728B52AA6E4}">
                <adec:decorative xmlns:adec="http://schemas.microsoft.com/office/drawing/2017/decorative" val="1"/>
              </a:ext>
            </a:extLst>
          </p:cNvPr>
          <p:cNvSpPr/>
          <p:nvPr/>
        </p:nvSpPr>
        <p:spPr>
          <a:xfrm>
            <a:off x="5533292" y="1847088"/>
            <a:ext cx="115261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Hyper-V">
            <a:extLst>
              <a:ext uri="{C183D7F6-B498-43B3-948B-1728B52AA6E4}">
                <adec:decorative xmlns:adec="http://schemas.microsoft.com/office/drawing/2017/decorative" val="1"/>
              </a:ext>
            </a:extLst>
          </p:cNvPr>
          <p:cNvSpPr/>
          <p:nvPr/>
        </p:nvSpPr>
        <p:spPr>
          <a:xfrm>
            <a:off x="566130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Hyper-V"/>
          <p:cNvSpPr txBox="1"/>
          <p:nvPr/>
        </p:nvSpPr>
        <p:spPr>
          <a:xfrm>
            <a:off x="5825900" y="1970532"/>
            <a:ext cx="96973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Hyper-V</a:t>
            </a:r>
          </a:p>
        </p:txBody>
      </p:sp>
      <p:sp>
        <p:nvSpPr>
          <p:cNvPr id="22" name="!!term-parent partiti">
            <a:extLst>
              <a:ext uri="{C183D7F6-B498-43B3-948B-1728B52AA6E4}">
                <adec:decorative xmlns:adec="http://schemas.microsoft.com/office/drawing/2017/decorative" val="1"/>
              </a:ext>
            </a:extLst>
          </p:cNvPr>
          <p:cNvSpPr/>
          <p:nvPr/>
        </p:nvSpPr>
        <p:spPr>
          <a:xfrm>
            <a:off x="6832212" y="1847088"/>
            <a:ext cx="17807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parent partiti">
            <a:extLst>
              <a:ext uri="{C183D7F6-B498-43B3-948B-1728B52AA6E4}">
                <adec:decorative xmlns:adec="http://schemas.microsoft.com/office/drawing/2017/decorative" val="1"/>
              </a:ext>
            </a:extLst>
          </p:cNvPr>
          <p:cNvSpPr/>
          <p:nvPr/>
        </p:nvSpPr>
        <p:spPr>
          <a:xfrm>
            <a:off x="696022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parent partiti"/>
          <p:cNvSpPr txBox="1"/>
          <p:nvPr/>
        </p:nvSpPr>
        <p:spPr>
          <a:xfrm>
            <a:off x="7124820" y="1970532"/>
            <a:ext cx="159790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parent partition</a:t>
            </a:r>
          </a:p>
        </p:txBody>
      </p:sp>
      <p:sp>
        <p:nvSpPr>
          <p:cNvPr id="25" name="!!term-child partitio">
            <a:extLst>
              <a:ext uri="{C183D7F6-B498-43B3-948B-1728B52AA6E4}">
                <adec:decorative xmlns:adec="http://schemas.microsoft.com/office/drawing/2017/decorative" val="1"/>
              </a:ext>
            </a:extLst>
          </p:cNvPr>
          <p:cNvSpPr/>
          <p:nvPr/>
        </p:nvSpPr>
        <p:spPr>
          <a:xfrm>
            <a:off x="8759302" y="1847088"/>
            <a:ext cx="163085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child partitio">
            <a:extLst>
              <a:ext uri="{C183D7F6-B498-43B3-948B-1728B52AA6E4}">
                <adec:decorative xmlns:adec="http://schemas.microsoft.com/office/drawing/2017/decorative" val="1"/>
              </a:ext>
            </a:extLst>
          </p:cNvPr>
          <p:cNvSpPr/>
          <p:nvPr/>
        </p:nvSpPr>
        <p:spPr>
          <a:xfrm>
            <a:off x="888731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child partitio"/>
          <p:cNvSpPr txBox="1"/>
          <p:nvPr/>
        </p:nvSpPr>
        <p:spPr>
          <a:xfrm>
            <a:off x="9051910" y="1970532"/>
            <a:ext cx="144797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child partition</a:t>
            </a:r>
          </a:p>
        </p:txBody>
      </p:sp>
      <p:sp>
        <p:nvSpPr>
          <p:cNvPr id="28" name="!!term-VMBus">
            <a:extLst>
              <a:ext uri="{C183D7F6-B498-43B3-948B-1728B52AA6E4}">
                <adec:decorative xmlns:adec="http://schemas.microsoft.com/office/drawing/2017/decorative" val="1"/>
              </a:ext>
            </a:extLst>
          </p:cNvPr>
          <p:cNvSpPr/>
          <p:nvPr/>
        </p:nvSpPr>
        <p:spPr>
          <a:xfrm>
            <a:off x="658368" y="2468880"/>
            <a:ext cx="103777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VMBus">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VMBus"/>
          <p:cNvSpPr txBox="1"/>
          <p:nvPr/>
        </p:nvSpPr>
        <p:spPr>
          <a:xfrm>
            <a:off x="950976" y="2592324"/>
            <a:ext cx="85489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VMBus</a:t>
            </a:r>
          </a:p>
        </p:txBody>
      </p:sp>
      <p:sp>
        <p:nvSpPr>
          <p:cNvPr id="31" name="!!term-enlightenment">
            <a:extLst>
              <a:ext uri="{C183D7F6-B498-43B3-948B-1728B52AA6E4}">
                <adec:decorative xmlns:adec="http://schemas.microsoft.com/office/drawing/2017/decorative" val="1"/>
              </a:ext>
            </a:extLst>
          </p:cNvPr>
          <p:cNvSpPr/>
          <p:nvPr/>
        </p:nvSpPr>
        <p:spPr>
          <a:xfrm>
            <a:off x="1842447" y="2468880"/>
            <a:ext cx="169121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enlightenment">
            <a:extLst>
              <a:ext uri="{C183D7F6-B498-43B3-948B-1728B52AA6E4}">
                <adec:decorative xmlns:adec="http://schemas.microsoft.com/office/drawing/2017/decorative" val="1"/>
              </a:ext>
            </a:extLst>
          </p:cNvPr>
          <p:cNvSpPr/>
          <p:nvPr/>
        </p:nvSpPr>
        <p:spPr>
          <a:xfrm>
            <a:off x="197046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enlightenment"/>
          <p:cNvSpPr txBox="1"/>
          <p:nvPr/>
        </p:nvSpPr>
        <p:spPr>
          <a:xfrm>
            <a:off x="2135055" y="2592324"/>
            <a:ext cx="150833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enlightenment</a:t>
            </a:r>
          </a:p>
        </p:txBody>
      </p:sp>
      <p:sp>
        <p:nvSpPr>
          <p:cNvPr id="34" name="!!term-KVM">
            <a:extLst>
              <a:ext uri="{C183D7F6-B498-43B3-948B-1728B52AA6E4}">
                <adec:decorative xmlns:adec="http://schemas.microsoft.com/office/drawing/2017/decorative" val="1"/>
              </a:ext>
            </a:extLst>
          </p:cNvPr>
          <p:cNvSpPr/>
          <p:nvPr/>
        </p:nvSpPr>
        <p:spPr>
          <a:xfrm>
            <a:off x="3679967" y="2468880"/>
            <a:ext cx="8467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KVM">
            <a:extLst>
              <a:ext uri="{C183D7F6-B498-43B3-948B-1728B52AA6E4}">
                <adec:decorative xmlns:adec="http://schemas.microsoft.com/office/drawing/2017/decorative" val="1"/>
              </a:ext>
            </a:extLst>
          </p:cNvPr>
          <p:cNvSpPr/>
          <p:nvPr/>
        </p:nvSpPr>
        <p:spPr>
          <a:xfrm>
            <a:off x="380798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KVM"/>
          <p:cNvSpPr txBox="1"/>
          <p:nvPr/>
        </p:nvSpPr>
        <p:spPr>
          <a:xfrm>
            <a:off x="3972575" y="2592324"/>
            <a:ext cx="66388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KVM</a:t>
            </a:r>
          </a:p>
        </p:txBody>
      </p:sp>
      <p:sp>
        <p:nvSpPr>
          <p:cNvPr id="37" name="!!term-QEMU">
            <a:extLst>
              <a:ext uri="{C183D7F6-B498-43B3-948B-1728B52AA6E4}">
                <adec:decorative xmlns:adec="http://schemas.microsoft.com/office/drawing/2017/decorative" val="1"/>
              </a:ext>
            </a:extLst>
          </p:cNvPr>
          <p:cNvSpPr/>
          <p:nvPr/>
        </p:nvSpPr>
        <p:spPr>
          <a:xfrm>
            <a:off x="4673039" y="2468880"/>
            <a:ext cx="99172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QEMU">
            <a:extLst>
              <a:ext uri="{C183D7F6-B498-43B3-948B-1728B52AA6E4}">
                <adec:decorative xmlns:adec="http://schemas.microsoft.com/office/drawing/2017/decorative" val="1"/>
              </a:ext>
            </a:extLst>
          </p:cNvPr>
          <p:cNvSpPr/>
          <p:nvPr/>
        </p:nvSpPr>
        <p:spPr>
          <a:xfrm>
            <a:off x="480105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QEMU"/>
          <p:cNvSpPr txBox="1"/>
          <p:nvPr/>
        </p:nvSpPr>
        <p:spPr>
          <a:xfrm>
            <a:off x="4965647" y="2592324"/>
            <a:ext cx="80884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QEMU</a:t>
            </a:r>
          </a:p>
        </p:txBody>
      </p:sp>
      <p:sp>
        <p:nvSpPr>
          <p:cNvPr id="40" name="!!term-libvirt">
            <a:extLst>
              <a:ext uri="{C183D7F6-B498-43B3-948B-1728B52AA6E4}">
                <adec:decorative xmlns:adec="http://schemas.microsoft.com/office/drawing/2017/decorative" val="1"/>
              </a:ext>
            </a:extLst>
          </p:cNvPr>
          <p:cNvSpPr/>
          <p:nvPr/>
        </p:nvSpPr>
        <p:spPr>
          <a:xfrm>
            <a:off x="5811067" y="2468880"/>
            <a:ext cx="92088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libvirt">
            <a:extLst>
              <a:ext uri="{C183D7F6-B498-43B3-948B-1728B52AA6E4}">
                <adec:decorative xmlns:adec="http://schemas.microsoft.com/office/drawing/2017/decorative" val="1"/>
              </a:ext>
            </a:extLst>
          </p:cNvPr>
          <p:cNvSpPr/>
          <p:nvPr/>
        </p:nvSpPr>
        <p:spPr>
          <a:xfrm>
            <a:off x="593908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libvirt"/>
          <p:cNvSpPr txBox="1"/>
          <p:nvPr/>
        </p:nvSpPr>
        <p:spPr>
          <a:xfrm>
            <a:off x="6103675" y="2592324"/>
            <a:ext cx="73800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libvirt</a:t>
            </a:r>
          </a:p>
        </p:txBody>
      </p:sp>
      <p:sp>
        <p:nvSpPr>
          <p:cNvPr id="43" name="!!term-Xen">
            <a:extLst>
              <a:ext uri="{C183D7F6-B498-43B3-948B-1728B52AA6E4}">
                <adec:decorative xmlns:adec="http://schemas.microsoft.com/office/drawing/2017/decorative" val="1"/>
              </a:ext>
            </a:extLst>
          </p:cNvPr>
          <p:cNvSpPr/>
          <p:nvPr/>
        </p:nvSpPr>
        <p:spPr>
          <a:xfrm>
            <a:off x="6878260" y="2468880"/>
            <a:ext cx="76515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Xen">
            <a:extLst>
              <a:ext uri="{C183D7F6-B498-43B3-948B-1728B52AA6E4}">
                <adec:decorative xmlns:adec="http://schemas.microsoft.com/office/drawing/2017/decorative" val="1"/>
              </a:ext>
            </a:extLst>
          </p:cNvPr>
          <p:cNvSpPr/>
          <p:nvPr/>
        </p:nvSpPr>
        <p:spPr>
          <a:xfrm>
            <a:off x="700627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Xen"/>
          <p:cNvSpPr txBox="1"/>
          <p:nvPr/>
        </p:nvSpPr>
        <p:spPr>
          <a:xfrm>
            <a:off x="7170868" y="2592324"/>
            <a:ext cx="58227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Xen</a:t>
            </a:r>
          </a:p>
        </p:txBody>
      </p:sp>
      <p:sp>
        <p:nvSpPr>
          <p:cNvPr id="46" name="!!term-dom0">
            <a:extLst>
              <a:ext uri="{C183D7F6-B498-43B3-948B-1728B52AA6E4}">
                <adec:decorative xmlns:adec="http://schemas.microsoft.com/office/drawing/2017/decorative" val="1"/>
              </a:ext>
            </a:extLst>
          </p:cNvPr>
          <p:cNvSpPr/>
          <p:nvPr/>
        </p:nvSpPr>
        <p:spPr>
          <a:xfrm>
            <a:off x="7789723" y="2468880"/>
            <a:ext cx="9392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dom0">
            <a:extLst>
              <a:ext uri="{C183D7F6-B498-43B3-948B-1728B52AA6E4}">
                <adec:decorative xmlns:adec="http://schemas.microsoft.com/office/drawing/2017/decorative" val="1"/>
              </a:ext>
            </a:extLst>
          </p:cNvPr>
          <p:cNvSpPr/>
          <p:nvPr/>
        </p:nvSpPr>
        <p:spPr>
          <a:xfrm>
            <a:off x="791773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dom0"/>
          <p:cNvSpPr txBox="1"/>
          <p:nvPr/>
        </p:nvSpPr>
        <p:spPr>
          <a:xfrm>
            <a:off x="8082331" y="2592324"/>
            <a:ext cx="75638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dom0</a:t>
            </a:r>
          </a:p>
        </p:txBody>
      </p:sp>
      <p:sp>
        <p:nvSpPr>
          <p:cNvPr id="49" name="!!term-domU">
            <a:extLst>
              <a:ext uri="{C183D7F6-B498-43B3-948B-1728B52AA6E4}">
                <adec:decorative xmlns:adec="http://schemas.microsoft.com/office/drawing/2017/decorative" val="1"/>
              </a:ext>
            </a:extLst>
          </p:cNvPr>
          <p:cNvSpPr/>
          <p:nvPr/>
        </p:nvSpPr>
        <p:spPr>
          <a:xfrm>
            <a:off x="8875287" y="2468880"/>
            <a:ext cx="96801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domU">
            <a:extLst>
              <a:ext uri="{C183D7F6-B498-43B3-948B-1728B52AA6E4}">
                <adec:decorative xmlns:adec="http://schemas.microsoft.com/office/drawing/2017/decorative" val="1"/>
              </a:ext>
            </a:extLst>
          </p:cNvPr>
          <p:cNvSpPr/>
          <p:nvPr/>
        </p:nvSpPr>
        <p:spPr>
          <a:xfrm>
            <a:off x="900330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domU"/>
          <p:cNvSpPr txBox="1"/>
          <p:nvPr/>
        </p:nvSpPr>
        <p:spPr>
          <a:xfrm>
            <a:off x="9167895" y="2592324"/>
            <a:ext cx="78513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domU</a:t>
            </a:r>
          </a:p>
        </p:txBody>
      </p:sp>
      <p:sp>
        <p:nvSpPr>
          <p:cNvPr id="52" name="!!term-PV">
            <a:extLst>
              <a:ext uri="{C183D7F6-B498-43B3-948B-1728B52AA6E4}">
                <adec:decorative xmlns:adec="http://schemas.microsoft.com/office/drawing/2017/decorative" val="1"/>
              </a:ext>
            </a:extLst>
          </p:cNvPr>
          <p:cNvSpPr/>
          <p:nvPr/>
        </p:nvSpPr>
        <p:spPr>
          <a:xfrm>
            <a:off x="9989609" y="2468880"/>
            <a:ext cx="66839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PV">
            <a:extLst>
              <a:ext uri="{C183D7F6-B498-43B3-948B-1728B52AA6E4}">
                <adec:decorative xmlns:adec="http://schemas.microsoft.com/office/drawing/2017/decorative" val="1"/>
              </a:ext>
            </a:extLst>
          </p:cNvPr>
          <p:cNvSpPr/>
          <p:nvPr/>
        </p:nvSpPr>
        <p:spPr>
          <a:xfrm>
            <a:off x="1011762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PV"/>
          <p:cNvSpPr txBox="1"/>
          <p:nvPr/>
        </p:nvSpPr>
        <p:spPr>
          <a:xfrm>
            <a:off x="10282217" y="2592324"/>
            <a:ext cx="48551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PV</a:t>
            </a:r>
          </a:p>
        </p:txBody>
      </p:sp>
      <p:sp>
        <p:nvSpPr>
          <p:cNvPr id="55" name="!!term-HVM">
            <a:extLst>
              <a:ext uri="{C183D7F6-B498-43B3-948B-1728B52AA6E4}">
                <adec:decorative xmlns:adec="http://schemas.microsoft.com/office/drawing/2017/decorative" val="1"/>
              </a:ext>
            </a:extLst>
          </p:cNvPr>
          <p:cNvSpPr/>
          <p:nvPr/>
        </p:nvSpPr>
        <p:spPr>
          <a:xfrm>
            <a:off x="658368" y="3090672"/>
            <a:ext cx="87202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HVM">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HVM"/>
          <p:cNvSpPr txBox="1"/>
          <p:nvPr/>
        </p:nvSpPr>
        <p:spPr>
          <a:xfrm>
            <a:off x="950976" y="3214116"/>
            <a:ext cx="68914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HVM</a:t>
            </a:r>
          </a:p>
        </p:txBody>
      </p:sp>
      <p:sp>
        <p:nvSpPr>
          <p:cNvPr id="58" name="!!term-PVH">
            <a:extLst>
              <a:ext uri="{C183D7F6-B498-43B3-948B-1728B52AA6E4}">
                <adec:decorative xmlns:adec="http://schemas.microsoft.com/office/drawing/2017/decorative" val="1"/>
              </a:ext>
            </a:extLst>
          </p:cNvPr>
          <p:cNvSpPr/>
          <p:nvPr/>
        </p:nvSpPr>
        <p:spPr>
          <a:xfrm>
            <a:off x="1676700" y="3090672"/>
            <a:ext cx="80635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PVH">
            <a:extLst>
              <a:ext uri="{C183D7F6-B498-43B3-948B-1728B52AA6E4}">
                <adec:decorative xmlns:adec="http://schemas.microsoft.com/office/drawing/2017/decorative" val="1"/>
              </a:ext>
            </a:extLst>
          </p:cNvPr>
          <p:cNvSpPr/>
          <p:nvPr/>
        </p:nvSpPr>
        <p:spPr>
          <a:xfrm>
            <a:off x="180471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PVH"/>
          <p:cNvSpPr txBox="1"/>
          <p:nvPr/>
        </p:nvSpPr>
        <p:spPr>
          <a:xfrm>
            <a:off x="1969308" y="3214116"/>
            <a:ext cx="62347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PVH</a:t>
            </a:r>
          </a:p>
        </p:txBody>
      </p:sp>
      <p:sp>
        <p:nvSpPr>
          <p:cNvPr id="61" name="!!term-disaggregation">
            <a:extLst>
              <a:ext uri="{C183D7F6-B498-43B3-948B-1728B52AA6E4}">
                <adec:decorative xmlns:adec="http://schemas.microsoft.com/office/drawing/2017/decorative" val="1"/>
              </a:ext>
            </a:extLst>
          </p:cNvPr>
          <p:cNvSpPr/>
          <p:nvPr/>
        </p:nvSpPr>
        <p:spPr>
          <a:xfrm>
            <a:off x="2629357" y="3090672"/>
            <a:ext cx="17298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disaggregation">
            <a:extLst>
              <a:ext uri="{C183D7F6-B498-43B3-948B-1728B52AA6E4}">
                <adec:decorative xmlns:adec="http://schemas.microsoft.com/office/drawing/2017/decorative" val="1"/>
              </a:ext>
            </a:extLst>
          </p:cNvPr>
          <p:cNvSpPr/>
          <p:nvPr/>
        </p:nvSpPr>
        <p:spPr>
          <a:xfrm>
            <a:off x="275737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disaggregation"/>
          <p:cNvSpPr txBox="1"/>
          <p:nvPr/>
        </p:nvSpPr>
        <p:spPr>
          <a:xfrm>
            <a:off x="2921965" y="3214116"/>
            <a:ext cx="154698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disaggregation</a:t>
            </a:r>
          </a:p>
        </p:txBody>
      </p:sp>
      <p:sp>
        <p:nvSpPr>
          <p:cNvPr id="64" name="!!term-driver domain">
            <a:extLst>
              <a:ext uri="{C183D7F6-B498-43B3-948B-1728B52AA6E4}">
                <adec:decorative xmlns:adec="http://schemas.microsoft.com/office/drawing/2017/decorative" val="1"/>
              </a:ext>
            </a:extLst>
          </p:cNvPr>
          <p:cNvSpPr/>
          <p:nvPr/>
        </p:nvSpPr>
        <p:spPr>
          <a:xfrm>
            <a:off x="4505529" y="3090672"/>
            <a:ext cx="16350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driver domain">
            <a:extLst>
              <a:ext uri="{C183D7F6-B498-43B3-948B-1728B52AA6E4}">
                <adec:decorative xmlns:adec="http://schemas.microsoft.com/office/drawing/2017/decorative" val="1"/>
              </a:ext>
            </a:extLst>
          </p:cNvPr>
          <p:cNvSpPr/>
          <p:nvPr/>
        </p:nvSpPr>
        <p:spPr>
          <a:xfrm>
            <a:off x="463354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driver domain"/>
          <p:cNvSpPr txBox="1"/>
          <p:nvPr/>
        </p:nvSpPr>
        <p:spPr>
          <a:xfrm>
            <a:off x="4798137" y="3214116"/>
            <a:ext cx="145218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driver domain</a:t>
            </a:r>
          </a:p>
        </p:txBody>
      </p:sp>
      <p:sp>
        <p:nvSpPr>
          <p:cNvPr id="67" name="!!term-trusted comput">
            <a:extLst>
              <a:ext uri="{C183D7F6-B498-43B3-948B-1728B52AA6E4}">
                <adec:decorative xmlns:adec="http://schemas.microsoft.com/office/drawing/2017/decorative" val="1"/>
              </a:ext>
            </a:extLst>
          </p:cNvPr>
          <p:cNvSpPr/>
          <p:nvPr/>
        </p:nvSpPr>
        <p:spPr>
          <a:xfrm>
            <a:off x="6286899" y="3090672"/>
            <a:ext cx="24827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termd-trusted comput">
            <a:extLst>
              <a:ext uri="{C183D7F6-B498-43B3-948B-1728B52AA6E4}">
                <adec:decorative xmlns:adec="http://schemas.microsoft.com/office/drawing/2017/decorative" val="1"/>
              </a:ext>
            </a:extLst>
          </p:cNvPr>
          <p:cNvSpPr/>
          <p:nvPr/>
        </p:nvSpPr>
        <p:spPr>
          <a:xfrm>
            <a:off x="641491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termt-trusted comput"/>
          <p:cNvSpPr txBox="1"/>
          <p:nvPr/>
        </p:nvSpPr>
        <p:spPr>
          <a:xfrm>
            <a:off x="6579507" y="3214116"/>
            <a:ext cx="229991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trusted computing base</a:t>
            </a:r>
          </a:p>
        </p:txBody>
      </p:sp>
      <p:sp>
        <p:nvSpPr>
          <p:cNvPr id="70"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7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pfill">
            <a:extLst>
              <a:ext uri="{C183D7F6-B498-43B3-948B-1728B52AA6E4}">
                <adec:decorative xmlns:adec="http://schemas.microsoft.com/office/drawing/2017/decorative" val="1"/>
              </a:ext>
            </a:extLst>
          </p:cNvPr>
          <p:cNvSpPr/>
          <p:nvPr/>
        </p:nvSpPr>
        <p:spPr>
          <a:xfrm>
            <a:off x="0" y="0"/>
            <a:ext cx="135463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38–44     </a:t>
            </a:r>
            <a:fld id="{01057159-6742-4176-808C-5E056E833CBE}" type="slidenum">
              <a:rPr lang="en-GB" sz="1000">
                <a:solidFill>
                  <a:srgbClr val="8795A1"/>
                </a:solidFill>
                <a:latin typeface="Segoe UI"/>
              </a:rPr>
              <a:t>5</a:t>
            </a:fld>
          </a:p>
        </p:txBody>
      </p:sp>
      <p:sp>
        <p:nvSpPr>
          <p:cNvPr id="7" name="!!ag0" descr="Go to section 5.1 The Question That Separates Them">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5.1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Question That Separates Them</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38  ›</a:t>
            </a:r>
          </a:p>
        </p:txBody>
      </p:sp>
      <p:sp>
        <p:nvSpPr>
          <p:cNvPr id="12" name="!!ag1" descr="Go to section 5.2 VMware ESXi and vSphere">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5.2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VMware ESXi and vSphere</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39  ›</a:t>
            </a:r>
          </a:p>
        </p:txBody>
      </p:sp>
      <p:sp>
        <p:nvSpPr>
          <p:cNvPr id="17" name="!!ag2" descr="Go to section 5.3 Microsoft Hyper-V">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5.3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Microsoft Hyper-V</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39  ›</a:t>
            </a:r>
          </a:p>
        </p:txBody>
      </p:sp>
      <p:sp>
        <p:nvSpPr>
          <p:cNvPr id="22" name="!!ag3" descr="Go to section 5.4 KVM and QEMU">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5.4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KVM and QEMU</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40  ›</a:t>
            </a:r>
          </a:p>
        </p:txBody>
      </p:sp>
      <p:sp>
        <p:nvSpPr>
          <p:cNvPr id="27" name="!!ag4" descr="Go to section 5.5 Xen">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5.5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Xen</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40  ›</a:t>
            </a:r>
          </a:p>
        </p:txBody>
      </p:sp>
      <p:sp>
        <p:nvSpPr>
          <p:cNvPr id="32" name="!!ag5" descr="Go to section 5.6 Choosing">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5.6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Choosing</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41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69329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four platforms, drawn to the same question: where are the drivers (red)?</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5.1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§5.1  ·  Handout p. 38     </a:t>
            </a:r>
            <a:fld id="{0E3DCE31-A049-420F-BE17-CB8CEAA7FC6C}" type="slidenum">
              <a:rPr lang="en-GB" sz="1000">
                <a:solidFill>
                  <a:srgbClr val="8795A1"/>
                </a:solidFill>
                <a:latin typeface="Segoe UI"/>
              </a:rPr>
              <a:t>6</a:t>
            </a:fld>
          </a:p>
        </p:txBody>
      </p:sp>
      <p:pic>
        <p:nvPicPr>
          <p:cNvPr id="6" name="!!figure" descr="Figure 5.1. The four platforms, drawn to the same question: where are the drivers (red)? Xen’s answer gives it the smallest hypervisor in the room and the most moving parts; ESXi’s gives it the most predictable behaviour and the shortest hardware compatibility lis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90377"/>
            <a:ext cx="10874959" cy="2866119"/>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Xen’s answer gives it the smallest hypervisor in the room and the most moving parts; ESXi’s gives it the most predictable behaviour and the shortest hardware compatibility list.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03194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Compatibility List Is the Point, Not a Limitation</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§5.2  ·  Handout p. 39     </a:t>
            </a:r>
            <a:fld id="{E7DF08D4-EFDD-4F5B-8118-B2EAEA0A4DDB}"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4"/>
          </a:xfrm>
          <a:prstGeom prst="roundRect">
            <a:avLst>
              <a:gd name="adj" fmla="val 207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ESXi runs on a short list of certified hardware, and students usually read this as a weakness. It is the central design decision.</a:t>
            </a:r>
          </a:p>
        </p:txBody>
      </p:sp>
      <p:sp>
        <p:nvSpPr>
          <p:cNvPr id="10" name="body-1"/>
          <p:cNvSpPr txBox="1"/>
          <p:nvPr/>
        </p:nvSpPr>
        <p:spPr>
          <a:xfrm>
            <a:off x="1060704" y="2899308"/>
            <a:ext cx="10161727"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VMware controls which drivers exist, it can test them, and because the VMkernel does nothing else, its behaviour under load is predictable in a way a general-purpose kernel’s is not. An estate of certified hardware running a tested driver set is why vSphere acquired a reputation for not surprising people at three in the morning — and that reputation, rather than any technical feature, is what the licence buys.</a:t>
            </a:r>
          </a:p>
        </p:txBody>
      </p:sp>
      <p:sp>
        <p:nvSpPr>
          <p:cNvPr id="11" name="body-2"/>
          <p:cNvSpPr txBox="1"/>
          <p:nvPr/>
        </p:nvSpPr>
        <p:spPr>
          <a:xfrm>
            <a:off x="1060704" y="5145125"/>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cost is real: a host that is not on the list may not install at all, and a new network card may wait months for a driver.</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37060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Hyper-V changes the machine underneath you</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§5.3  ·  Handout p. 39     </a:t>
            </a:r>
            <a:fld id="{E660BBA0-84FC-407B-B9EF-DE519800E402}"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4"/>
          </a:xfrm>
          <a:prstGeom prst="roundRect">
            <a:avLst>
              <a:gd name="adj" fmla="val 207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Once the Hyper-V role is enabled, the Windows you were using is a guest. This has consequences people meet by accident:</a:t>
            </a:r>
          </a:p>
        </p:txBody>
      </p:sp>
      <p:sp>
        <p:nvSpPr>
          <p:cNvPr id="10" name="body-1"/>
          <p:cNvSpPr txBox="1"/>
          <p:nvPr/>
        </p:nvSpPr>
        <p:spPr>
          <a:xfrm>
            <a:off x="1060704" y="2899308"/>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Other hypervisors stop working, or quietly become nested. VirtualBox and VMware Workstation on a Hyper-V-enabled Windows run on top of Hyper-V’s platform rather than on the hardware, and historically simply refused. Benchmarks taken on that machine are measuring a nested guest.</a:t>
            </a:r>
          </a:p>
        </p:txBody>
      </p:sp>
      <p:sp>
        <p:nvSpPr>
          <p:cNvPr id="11" name="body-2"/>
          <p:cNvSpPr txBox="1"/>
          <p:nvPr/>
        </p:nvSpPr>
        <p:spPr>
          <a:xfrm>
            <a:off x="1060704" y="4447743"/>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It is also enabled by features that do not mention it: Windows Subsystem for Linux 2, Windows Sandbox, Docker Desktop and memory-integrity protection all turn Hyper-V on. A great deal of “my virtual machines got slow after a Windows update” is this.</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70926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Design Decision, Two Opposite Consequences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  ·  Handout p. 40     </a:t>
            </a:r>
            <a:fld id="{F6203DC0-34BF-468E-B10B-0AAE6D7599DE}"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43578"/>
          </a:xfrm>
          <a:prstGeom prst="roundRect">
            <a:avLst>
              <a:gd name="adj" fmla="val 215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4357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F618D"/>
                </a:solidFill>
                <a:latin typeface="Segoe UI"/>
              </a:rPr>
              <a:t>For:</a:t>
            </a:r>
            <a:r>
              <a:rPr sz="2100" b="0" i="0">
                <a:solidFill>
                  <a:srgbClr val="1C252B"/>
                </a:solidFill>
                <a:latin typeface="Segoe UI"/>
              </a:rPr>
              <a:t> KVM inherits everything. Every driver Linux has, every filesystem, every scheduler improvement, every networking feature, with no porting work. When a new network card ships with a Linux driver, KVM supports it that day. This is why KVM runs most of the world’s public cloud.</a:t>
            </a:r>
          </a:p>
        </p:txBody>
      </p:sp>
      <p:sp>
        <p:nvSpPr>
          <p:cNvPr id="10" name="body-1"/>
          <p:cNvSpPr txBox="1"/>
          <p:nvPr/>
        </p:nvSpPr>
        <p:spPr>
          <a:xfrm>
            <a:off x="1060704" y="3526307"/>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F618D"/>
                </a:solidFill>
                <a:latin typeface="Segoe UI"/>
              </a:rPr>
              <a:t>Against:</a:t>
            </a:r>
            <a:r>
              <a:rPr sz="2100" b="0" i="0">
                <a:solidFill>
                  <a:srgbClr val="1C252B"/>
                </a:solidFill>
                <a:latin typeface="Segoe UI"/>
              </a:rPr>
              <a:t> KVM inherits everything. The trusted computing base is the entire Linux kernel — millions of lines, every driver loaded, every filesystem — and a bug in any of it is a host compromise. ESXi’s 150 MB and Xen’s 1 MB are the competing answers to exactly this.</a:t>
            </a:r>
          </a:p>
        </p:txBody>
      </p:sp>
      <p:sp>
        <p:nvSpPr>
          <p:cNvPr id="11" name="body-2"/>
          <p:cNvSpPr txBox="1"/>
          <p:nvPr/>
        </p:nvSpPr>
        <p:spPr>
          <a:xfrm>
            <a:off x="1060704" y="5004358"/>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Neither consequence can be had without the other, and which one dominates depends on whether you are optimising for hardware support or for attack surface.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Disaggregation: the idea Xen got right early</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§5.5  ·  Handout p. 40     </a:t>
            </a:r>
            <a:fld id="{EE729DFF-6E05-4F74-9D5A-5144036A642E}"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8104"/>
          </a:xfrm>
          <a:prstGeom prst="roundRect">
            <a:avLst>
              <a:gd name="adj" fmla="val 208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810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Because dom0 is a guest rather than part of the hypervisor, it can be split up. A </a:t>
            </a:r>
            <a:r>
              <a:rPr sz="2000" b="1" i="0">
                <a:solidFill>
                  <a:srgbClr val="1A5276"/>
                </a:solidFill>
                <a:latin typeface="Segoe UI"/>
              </a:rPr>
              <a:t>driver domain</a:t>
            </a:r>
            <a:r>
              <a:rPr sz="2000" b="0" i="0">
                <a:solidFill>
                  <a:srgbClr val="1C252B"/>
                </a:solidFill>
                <a:latin typeface="Segoe UI"/>
              </a:rPr>
              <a:t> is an unprivileged domain given one device via the IOMMU, running that device’s driver and nothing else. A buggy or hostile network driver then crashes a domain that can be restarted, instead of the host.</a:t>
            </a:r>
          </a:p>
        </p:txBody>
      </p:sp>
      <p:sp>
        <p:nvSpPr>
          <p:cNvPr id="10" name="body-1"/>
          <p:cNvSpPr txBox="1"/>
          <p:nvPr/>
        </p:nvSpPr>
        <p:spPr>
          <a:xfrm>
            <a:off x="1060704" y="3455923"/>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This is </a:t>
            </a:r>
            <a:r>
              <a:rPr sz="2000" b="1" i="0">
                <a:solidFill>
                  <a:srgbClr val="1A5276"/>
                </a:solidFill>
                <a:latin typeface="Segoe UI"/>
              </a:rPr>
              <a:t>disaggregation</a:t>
            </a:r>
            <a:r>
              <a:rPr sz="2000" b="0" i="0">
                <a:solidFill>
                  <a:srgbClr val="1C252B"/>
                </a:solidFill>
                <a:latin typeface="Segoe UI"/>
              </a:rPr>
              <a:t>, and it is the strongest security argument any platform in this chapter can make: it is the only one that can reduce the blast radius of a driver bug to something smaller than the whole machine. It is also operationally fiddly, which is why it is common in security-focused deployments such as Qubes OS and rare elsewhere.</a:t>
            </a:r>
          </a:p>
        </p:txBody>
      </p:sp>
      <p:sp>
        <p:nvSpPr>
          <p:cNvPr id="11" name="body-2"/>
          <p:cNvSpPr txBox="1"/>
          <p:nvPr/>
        </p:nvSpPr>
        <p:spPr>
          <a:xfrm>
            <a:off x="1060704" y="4863592"/>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Note where the idea goes next. Chapter 11 removes device emulation from the trusted path almost entirely, and Chapter 20 uses the same IOMMU machinery to hand accelerators to guests. Xen’s answer was early rather than wrong.</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38658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Choosing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6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5.6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5.1   The Question That Separates Them</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5.2   VMware ESXi and vSphere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5.3   Microsoft Hyper-V</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5.4   KVM and QEMU</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5.5   Xen</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5.6   Choosing</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§5.6     </a:t>
            </a:r>
            <a:fld id="{EA876E9A-A57C-4AE3-B770-56279B9646F7}" type="slidenum">
              <a:rPr lang="en-GB" sz="1000">
                <a:solidFill>
                  <a:srgbClr val="8795A1"/>
                </a:solidFill>
                <a:latin typeface="Segoe UI"/>
              </a:rPr>
              <a:t>11</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72524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Choosing</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BA2CF4C6-4B99-4CAF-9276-C2E45E5559BF}" type="slidenum">
              <a:rPr lang="en-GB" sz="1000">
                <a:solidFill>
                  <a:srgbClr val="8795A1"/>
                </a:solidFill>
                <a:latin typeface="Segoe UI"/>
              </a:rPr>
              <a:t>12</a:t>
            </a:fld>
          </a:p>
        </p:txBody>
      </p:sp>
      <p:graphicFrame>
        <p:nvGraphicFramePr>
          <p:cNvPr id="7" name="!!table"/>
          <p:cNvGraphicFramePr>
            <a:graphicFrameLocks noGrp="1"/>
          </p:cNvGraphicFramePr>
          <p:nvPr/>
        </p:nvGraphicFramePr>
        <p:xfrm>
          <a:off x="658368" y="1737360"/>
          <a:ext cx="10874956" cy="4279389"/>
        </p:xfrm>
        <a:graphic>
          <a:graphicData uri="http://schemas.openxmlformats.org/drawingml/2006/table">
            <a:tbl>
              <a:tblPr firstRow="0" bandRow="0" firstCol="0" lastRow="0" lastCol="0" bandCol="0">
                <a:tableStyleId>{2D5ABB26-0587-4C30-8999-92F81FD0307C}</a:tableStyleId>
              </a:tblPr>
              <a:tblGrid>
                <a:gridCol w="1874992"/>
                <a:gridCol w="2249991"/>
                <a:gridCol w="2249991"/>
                <a:gridCol w="2249991"/>
                <a:gridCol w="2249991"/>
              </a:tblGrid>
              <a:tr h="329184">
                <a:tc>
                  <a:txBody>
                    <a:bodyPr wrap="square"/>
                    <a:lstStyle/>
                    <a:p>
                      <a:pPr algn="l"/>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ESXi</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Hyper-V</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KVM</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Xen</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512063">
                <a:tc>
                  <a:txBody>
                    <a:bodyPr wrap="square"/>
                    <a:lstStyle/>
                    <a:p>
                      <a:pPr algn="l"/>
                      <a:r>
                        <a:rPr sz="1200" b="0" i="0">
                          <a:solidFill>
                            <a:srgbClr val="1C252B"/>
                          </a:solidFill>
                          <a:latin typeface="Segoe UI"/>
                        </a:rPr>
                        <a:t>Hypervisor size</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Cambria"/>
                        </a:rPr>
                        <a:t>≈</a:t>
                      </a:r>
                      <a:r>
                        <a:rPr sz="1200" b="0" i="0">
                          <a:solidFill>
                            <a:srgbClr val="1C252B"/>
                          </a:solidFill>
                          <a:latin typeface="Segoe UI"/>
                        </a:rPr>
                        <a:t>150 MB</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thin, plus a full Windows parent</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the Linux kernel</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Cambria"/>
                        </a:rPr>
                        <a:t>≈</a:t>
                      </a:r>
                      <a:r>
                        <a:rPr sz="1200" b="0" i="0">
                          <a:solidFill>
                            <a:srgbClr val="1C252B"/>
                          </a:solidFill>
                          <a:latin typeface="Segoe UI"/>
                        </a:rPr>
                        <a:t>1 MB, plus dom0</a:t>
                      </a:r>
                      <a:endParaRPr sz="1200"/>
                    </a:p>
                  </a:txBody>
                  <a:tcPr marL="109728" marR="109728" marT="64008" marB="45720" anchor="t">
                    <a:lnL w="0" cmpd="sng">
                      <a:noFill/>
                    </a:lnL>
                    <a:lnR w="0" cmpd="sng">
                      <a:noFill/>
                    </a:lnR>
                    <a:lnT w="9525" cmpd="sng">
                      <a:noFill/>
                    </a:lnT>
                    <a:lnB w="9525" cmpd="sng">
                      <a:noFill/>
                    </a:lnB>
                    <a:solidFill>
                      <a:srgbClr val="FFFFFF"/>
                    </a:solidFill>
                  </a:tcPr>
                </a:tc>
              </a:tr>
              <a:tr h="329184">
                <a:tc>
                  <a:txBody>
                    <a:bodyPr wrap="square"/>
                    <a:lstStyle/>
                    <a:p>
                      <a:pPr algn="l"/>
                      <a:r>
                        <a:rPr sz="1200" b="0" i="0">
                          <a:solidFill>
                            <a:srgbClr val="1C252B"/>
                          </a:solidFill>
                          <a:latin typeface="Segoe UI"/>
                        </a:rPr>
                        <a:t>Drivers live in</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the VMkernel</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the parent partition</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the Linux kernel</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dom0 or a driver domain</a:t>
                      </a:r>
                      <a:endParaRPr sz="1200"/>
                    </a:p>
                  </a:txBody>
                  <a:tcPr marL="109728" marR="109728" marT="64008" marB="45720" anchor="t">
                    <a:lnL w="0" cmpd="sng">
                      <a:noFill/>
                    </a:lnL>
                    <a:lnR w="0" cmpd="sng">
                      <a:noFill/>
                    </a:lnR>
                    <a:lnT w="9525" cmpd="sng">
                      <a:noFill/>
                    </a:lnT>
                    <a:lnB w="9525" cmpd="sng">
                      <a:noFill/>
                    </a:lnB>
                    <a:solidFill>
                      <a:srgbClr val="F2F8FC"/>
                    </a:solidFill>
                  </a:tcPr>
                </a:tc>
              </a:tr>
              <a:tr h="694944">
                <a:tc>
                  <a:txBody>
                    <a:bodyPr wrap="square"/>
                    <a:lstStyle/>
                    <a:p>
                      <a:pPr algn="l"/>
                      <a:r>
                        <a:rPr sz="1200" b="0" i="0">
                          <a:solidFill>
                            <a:srgbClr val="1C252B"/>
                          </a:solidFill>
                          <a:latin typeface="Segoe UI"/>
                        </a:rPr>
                        <a:t>Licence</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Commercial; free tier withdrawn in 2024</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Included with Windows Server; free Hyper-V Server discontinued</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GPL, free</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GPL, free</a:t>
                      </a:r>
                      <a:endParaRPr sz="1200"/>
                    </a:p>
                  </a:txBody>
                  <a:tcPr marL="109728" marR="109728" marT="64008" marB="45720" anchor="t">
                    <a:lnL w="0" cmpd="sng">
                      <a:noFill/>
                    </a:lnL>
                    <a:lnR w="0" cmpd="sng">
                      <a:noFill/>
                    </a:lnR>
                    <a:lnT w="9525" cmpd="sng">
                      <a:noFill/>
                    </a:lnT>
                    <a:lnB w="9525" cmpd="sng">
                      <a:noFill/>
                    </a:lnB>
                    <a:solidFill>
                      <a:srgbClr val="FFFFFF"/>
                    </a:solidFill>
                  </a:tcPr>
                </a:tc>
              </a:tr>
              <a:tr h="512063">
                <a:tc>
                  <a:txBody>
                    <a:bodyPr wrap="square"/>
                    <a:lstStyle/>
                    <a:p>
                      <a:pPr algn="l"/>
                      <a:r>
                        <a:rPr sz="1200" b="0" i="0">
                          <a:solidFill>
                            <a:srgbClr val="1C252B"/>
                          </a:solidFill>
                          <a:latin typeface="Segoe UI"/>
                        </a:rPr>
                        <a:t>Guest support</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Very broad, certified</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Windows strongest; Linux good</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Anything x86 or ARM</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Anything, three guest modes</a:t>
                      </a:r>
                      <a:endParaRPr sz="1200"/>
                    </a:p>
                  </a:txBody>
                  <a:tcPr marL="109728" marR="109728" marT="64008" marB="45720" anchor="t">
                    <a:lnL w="0" cmpd="sng">
                      <a:noFill/>
                    </a:lnL>
                    <a:lnR w="0" cmpd="sng">
                      <a:noFill/>
                    </a:lnR>
                    <a:lnT w="9525" cmpd="sng">
                      <a:noFill/>
                    </a:lnT>
                    <a:lnB w="9525" cmpd="sng">
                      <a:noFill/>
                    </a:lnB>
                    <a:solidFill>
                      <a:srgbClr val="F2F8FC"/>
                    </a:solidFill>
                  </a:tcPr>
                </a:tc>
              </a:tr>
              <a:tr h="512063">
                <a:tc>
                  <a:txBody>
                    <a:bodyPr wrap="square"/>
                    <a:lstStyle/>
                    <a:p>
                      <a:pPr algn="l"/>
                      <a:r>
                        <a:rPr sz="1200" b="0" i="0">
                          <a:solidFill>
                            <a:srgbClr val="1C252B"/>
                          </a:solidFill>
                          <a:latin typeface="Segoe UI"/>
                        </a:rPr>
                        <a:t>Management</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vCenter — the strongest in the industry</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System Center, Windows Admin Center</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libvirt, oVirt, Proxmox, OpenStack</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XenCenter, XCP-ng</a:t>
                      </a:r>
                      <a:endParaRPr sz="1200"/>
                    </a:p>
                  </a:txBody>
                  <a:tcPr marL="109728" marR="109728" marT="64008" marB="45720" anchor="t">
                    <a:lnL w="0" cmpd="sng">
                      <a:noFill/>
                    </a:lnL>
                    <a:lnR w="0" cmpd="sng">
                      <a:noFill/>
                    </a:lnR>
                    <a:lnT w="9525" cmpd="sng">
                      <a:noFill/>
                    </a:lnT>
                    <a:lnB w="9525" cmpd="sng">
                      <a:noFill/>
                    </a:lnB>
                    <a:solidFill>
                      <a:srgbClr val="FFFFFF"/>
                    </a:solidFill>
                  </a:tcPr>
                </a:tc>
              </a:tr>
              <a:tr h="694944">
                <a:tc>
                  <a:txBody>
                    <a:bodyPr wrap="square"/>
                    <a:lstStyle/>
                    <a:p>
                      <a:pPr algn="l"/>
                      <a:r>
                        <a:rPr sz="1200" b="0" i="0">
                          <a:solidFill>
                            <a:srgbClr val="1C252B"/>
                          </a:solidFill>
                          <a:latin typeface="Segoe UI"/>
                        </a:rPr>
                        <a:t>Used by</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Enterprise data centres</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Windows-centred estates</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AWS Nitro, Google, DigitalOcean, most OpenStack</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AWS before Nitro, Citrix, Qubes</a:t>
                      </a:r>
                      <a:endParaRPr sz="1200"/>
                    </a:p>
                  </a:txBody>
                  <a:tcPr marL="109728" marR="109728" marT="64008" marB="45720" anchor="t">
                    <a:lnL w="0" cmpd="sng">
                      <a:noFill/>
                    </a:lnL>
                    <a:lnR w="0" cmpd="sng">
                      <a:noFill/>
                    </a:lnR>
                    <a:lnT w="9525" cmpd="sng">
                      <a:noFill/>
                    </a:lnT>
                    <a:lnB w="9525" cmpd="sng">
                      <a:noFill/>
                    </a:lnB>
                    <a:solidFill>
                      <a:srgbClr val="F2F8FC"/>
                    </a:solidFill>
                  </a:tcPr>
                </a:tc>
              </a:tr>
              <a:tr h="694944">
                <a:tc>
                  <a:txBody>
                    <a:bodyPr wrap="square"/>
                    <a:lstStyle/>
                    <a:p>
                      <a:pPr algn="l"/>
                      <a:r>
                        <a:rPr sz="1200" b="0" i="0">
                          <a:solidFill>
                            <a:srgbClr val="1C252B"/>
                          </a:solidFill>
                          <a:latin typeface="Segoe UI"/>
                        </a:rPr>
                        <a:t>Strongest when</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Mixed hardware, mixed guests, operations staff who must not be surprised</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The estate is already Windows and licensed</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You want control, no licence cost, and newest hardware</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Minimal trusted base, or driver isolation</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Years of a Small Cluster</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C02DA632-3E11-4E12-8C54-7694119BE143}"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70395"/>
          </a:xfrm>
          <a:prstGeom prst="roundRect">
            <a:avLst>
              <a:gd name="adj" fmla="val 214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7039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Size and cost the three-host cluster of Chapter 1’s worked example on vSphere and on KVM. Each host has 2 sockets </a:t>
            </a:r>
            <a:r>
              <a:rPr sz="1900" b="0" i="0">
                <a:solidFill>
                  <a:srgbClr val="1C252B"/>
                </a:solidFill>
                <a:latin typeface="Cambria"/>
              </a:rPr>
              <a:t>×</a:t>
            </a:r>
            <a:r>
              <a:rPr sz="1900" b="0" i="0">
                <a:solidFill>
                  <a:srgbClr val="1C252B"/>
                </a:solidFill>
                <a:latin typeface="Segoe UI"/>
              </a:rPr>
              <a:t> 32 cores.</a:t>
            </a:r>
          </a:p>
        </p:txBody>
      </p:sp>
      <p:sp>
        <p:nvSpPr>
          <p:cNvPr id="10" name="body-1"/>
          <p:cNvSpPr txBox="1"/>
          <p:nvPr/>
        </p:nvSpPr>
        <p:spPr>
          <a:xfrm>
            <a:off x="1042416" y="2746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vSphere.</a:t>
            </a:r>
            <a:r>
              <a:rPr sz="1900" b="0" i="0">
                <a:solidFill>
                  <a:srgbClr val="1C252B"/>
                </a:solidFill>
                <a:latin typeface="Segoe UI"/>
              </a:rPr>
              <a:t> VMware licenses per core with a 16-core minimum per socket. Here each socket has 32 cores, so the minimum does not bite:</a:t>
            </a:r>
          </a:p>
        </p:txBody>
      </p:sp>
      <p:pic>
        <p:nvPicPr>
          <p:cNvPr id="11" name="body-2" descr="3 \text{ hosts} \times 2 \text{ sockets} \times 32 = 192 \text{ cor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481679"/>
            <a:ext cx="10234879" cy="324520"/>
          </a:xfrm>
          <a:prstGeom prst="rect">
            <a:avLst/>
          </a:prstGeom>
        </p:spPr>
      </p:pic>
      <p:sp>
        <p:nvSpPr>
          <p:cNvPr id="12" name="body-3"/>
          <p:cNvSpPr txBox="1"/>
          <p:nvPr/>
        </p:nvSpPr>
        <p:spPr>
          <a:xfrm>
            <a:off x="1042416" y="3938915"/>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At a list price of about $350 per core per year for a standard edition, plus vCenter at about $12,000 for three years:</a:t>
            </a:r>
          </a:p>
        </p:txBody>
      </p:sp>
      <p:pic>
        <p:nvPicPr>
          <p:cNvPr id="13" name="body-4" descr="192 \times 350 \times 3 + 12{,}000 = 201{,}600 + 12{,}000 = \mathbf{\$213{,}600}"/>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4673914"/>
            <a:ext cx="10234879" cy="324520"/>
          </a:xfrm>
          <a:prstGeom prst="rect">
            <a:avLst/>
          </a:prstGeom>
        </p:spPr>
      </p:pic>
      <p:sp>
        <p:nvSpPr>
          <p:cNvPr id="14" name="body-5"/>
          <p:cNvSpPr txBox="1"/>
          <p:nvPr/>
        </p:nvSpPr>
        <p:spPr>
          <a:xfrm>
            <a:off x="1042416" y="5131150"/>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KVM.</a:t>
            </a:r>
            <a:r>
              <a:rPr sz="1900" b="0" i="0">
                <a:solidFill>
                  <a:srgbClr val="1C252B"/>
                </a:solidFill>
                <a:latin typeface="Segoe UI"/>
              </a:rPr>
              <a:t> The software is free. A supported distribution with a virtualisation subscription runs about $1,500 per host per year:</a:t>
            </a:r>
          </a:p>
        </p:txBody>
      </p:sp>
      <p:sp>
        <p:nvSpPr>
          <p:cNvPr id="15" name="body-5bar">
            <a:extLst>
              <a:ext uri="{C183D7F6-B498-43B3-948B-1728B52AA6E4}">
                <adec:decorative xmlns:adec="http://schemas.microsoft.com/office/drawing/2017/decorative" val="1"/>
              </a:ext>
            </a:extLst>
          </p:cNvPr>
          <p:cNvSpPr/>
          <p:nvPr/>
        </p:nvSpPr>
        <p:spPr>
          <a:xfrm>
            <a:off x="841248" y="5149438"/>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440255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right)">
                                      <p:cBhvr>
                                        <p:cTn id="28" dur="42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Years of a Small Cluster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254320BA-28C2-4726-BC5F-4FDFA3FBCD74}"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5444"/>
          </a:xfrm>
          <a:prstGeom prst="roundRect">
            <a:avLst>
              <a:gd name="adj" fmla="val 207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544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3 \times 1{,}500 \times 3 = \mathbf{\$13{,}50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324520"/>
          </a:xfrm>
          <a:prstGeom prst="rect">
            <a:avLst/>
          </a:prstGeom>
        </p:spPr>
      </p:pic>
      <p:sp>
        <p:nvSpPr>
          <p:cNvPr id="10" name="body-1"/>
          <p:cNvSpPr txBox="1"/>
          <p:nvPr/>
        </p:nvSpPr>
        <p:spPr>
          <a:xfrm>
            <a:off x="1042416" y="2468915"/>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Unsupported, it is $0.</a:t>
            </a:r>
          </a:p>
        </p:txBody>
      </p:sp>
      <p:sp>
        <p:nvSpPr>
          <p:cNvPr id="11" name="body-2"/>
          <p:cNvSpPr txBox="1"/>
          <p:nvPr/>
        </p:nvSpPr>
        <p:spPr>
          <a:xfrm>
            <a:off x="1042416" y="290277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the gap.</a:t>
            </a:r>
            <a:r>
              <a:rPr sz="1900" b="0" i="0">
                <a:solidFill>
                  <a:srgbClr val="1C252B"/>
                </a:solidFill>
                <a:latin typeface="Segoe UI"/>
              </a:rPr>
              <a:t> $200,100 over three years, or about $66,700 a year.</a:t>
            </a:r>
          </a:p>
        </p:txBody>
      </p:sp>
      <p:sp>
        <p:nvSpPr>
          <p:cNvPr id="12" name="body-2bar">
            <a:extLst>
              <a:ext uri="{C183D7F6-B498-43B3-948B-1728B52AA6E4}">
                <adec:decorative xmlns:adec="http://schemas.microsoft.com/office/drawing/2017/decorative" val="1"/>
              </a:ext>
            </a:extLst>
          </p:cNvPr>
          <p:cNvSpPr/>
          <p:nvPr/>
        </p:nvSpPr>
        <p:spPr>
          <a:xfrm>
            <a:off x="841248" y="2921060"/>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3"/>
          <p:cNvSpPr txBox="1"/>
          <p:nvPr/>
        </p:nvSpPr>
        <p:spPr>
          <a:xfrm>
            <a:off x="1042416" y="3336630"/>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what the gap must buy.</a:t>
            </a:r>
            <a:r>
              <a:rPr sz="1900" b="0" i="0">
                <a:solidFill>
                  <a:srgbClr val="1C252B"/>
                </a:solidFill>
                <a:latin typeface="Segoe UI"/>
              </a:rPr>
              <a:t> At a loaded cost of roughly $45,000 a year for an experienced Linux engineer, the licence is worth paying if vSphere saves about </a:t>
            </a:r>
            <a:r>
              <a:rPr sz="1900" b="1" i="0">
                <a:solidFill>
                  <a:srgbClr val="1C252B"/>
                </a:solidFill>
                <a:latin typeface="Segoe UI"/>
              </a:rPr>
              <a:t>1.5 full-time engineers</a:t>
            </a:r>
            <a:r>
              <a:rPr sz="1900" b="0" i="0">
                <a:solidFill>
                  <a:srgbClr val="1C252B"/>
                </a:solidFill>
                <a:latin typeface="Segoe UI"/>
              </a:rPr>
              <a:t> of effort against a self-managed KVM estate — or if it prevents outages worth that much.</a:t>
            </a:r>
          </a:p>
        </p:txBody>
      </p:sp>
      <p:sp>
        <p:nvSpPr>
          <p:cNvPr id="14" name="body-3bar">
            <a:extLst>
              <a:ext uri="{C183D7F6-B498-43B3-948B-1728B52AA6E4}">
                <adec:decorative xmlns:adec="http://schemas.microsoft.com/office/drawing/2017/decorative" val="1"/>
              </a:ext>
            </a:extLst>
          </p:cNvPr>
          <p:cNvSpPr/>
          <p:nvPr/>
        </p:nvSpPr>
        <p:spPr>
          <a:xfrm>
            <a:off x="841248" y="3354918"/>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body-4"/>
          <p:cNvSpPr txBox="1"/>
          <p:nvPr/>
        </p:nvSpPr>
        <p:spPr>
          <a:xfrm>
            <a:off x="1042416" y="4673914"/>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read it honestly in both directions.</a:t>
            </a:r>
            <a:r>
              <a:rPr sz="1900" b="0" i="0">
                <a:solidFill>
                  <a:srgbClr val="1C252B"/>
                </a:solidFill>
                <a:latin typeface="Segoe UI"/>
              </a:rPr>
              <a:t> For an estate of three hosts the answer is almost always KVM: three hosts do not need 1.5 engineers of management either way, so the licence buys little. For an estate of three hundred hosts with a mixed hardware fleet, staff who know vCenter and an availability target with contractual penalties, the same arithmetic inverts.</a:t>
            </a:r>
          </a:p>
        </p:txBody>
      </p:sp>
      <p:sp>
        <p:nvSpPr>
          <p:cNvPr id="16" name="body-4bar">
            <a:extLst>
              <a:ext uri="{C183D7F6-B498-43B3-948B-1728B52AA6E4}">
                <adec:decorative xmlns:adec="http://schemas.microsoft.com/office/drawing/2017/decorative" val="1"/>
              </a:ext>
            </a:extLst>
          </p:cNvPr>
          <p:cNvSpPr/>
          <p:nvPr/>
        </p:nvSpPr>
        <p:spPr>
          <a:xfrm>
            <a:off x="841248" y="4692202"/>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pfill">
            <a:extLst>
              <a:ext uri="{C183D7F6-B498-43B3-948B-1728B52AA6E4}">
                <adec:decorative xmlns:adec="http://schemas.microsoft.com/office/drawing/2017/decorative" val="1"/>
              </a:ext>
            </a:extLst>
          </p:cNvPr>
          <p:cNvSpPr/>
          <p:nvPr/>
        </p:nvSpPr>
        <p:spPr>
          <a:xfrm>
            <a:off x="0" y="0"/>
            <a:ext cx="474121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2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42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2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right)">
                                      <p:cBhvr>
                                        <p:cTn id="34" dur="42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Years of a Small Cluster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6C7537EA-E79B-4B0E-B302-6A90521D1752}"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54352"/>
          </a:xfrm>
          <a:prstGeom prst="roundRect">
            <a:avLst>
              <a:gd name="adj" fmla="val 445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5435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What the arithmetic leaves out.</a:t>
            </a:r>
            <a:r>
              <a:rPr sz="1900" b="0" i="0">
                <a:solidFill>
                  <a:srgbClr val="1C252B"/>
                </a:solidFill>
                <a:latin typeface="Segoe UI"/>
              </a:rPr>
              <a:t> Migration cost. An estate already on vSphere carries years of runbooks, automation, backup integration and staff knowledge, and moving is a project, not a decision. Prices also change: VMware’s 2024 move to subscription-only bundles raised many renewals severalfold and sent a visible part of the market to Proxmox and OpenStack. Check current pricing before quoting any of these figures.</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07987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CCF65874-8F2D-4A9E-AF98-A6135E4DDA98}" type="slidenum">
              <a:rPr lang="en-GB" sz="1000">
                <a:solidFill>
                  <a:srgbClr val="8795A1"/>
                </a:solidFill>
                <a:latin typeface="Segoe UI"/>
              </a:rPr>
              <a:t>16</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Thinking Hyper-V runs on top of Windows.</a:t>
            </a:r>
            <a:r>
              <a:rPr sz="1700" b="0" i="0">
                <a:solidFill>
                  <a:srgbClr val="1C252B"/>
                </a:solidFill>
                <a:latin typeface="Segoe UI"/>
              </a:rPr>
              <a:t> It runs underneath it. Once enabled, your Windows is a privileged guest — which is why other hypervisors on the same machine become nested or refuse.</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Describing KVM as “just a kernel module” and stopping there.</a:t>
            </a:r>
            <a:r>
              <a:rPr sz="1700" b="0" i="0">
                <a:solidFill>
                  <a:srgbClr val="1C252B"/>
                </a:solidFill>
                <a:latin typeface="Segoe UI"/>
              </a:rPr>
              <a:t> The module is the small part. QEMU supplies every virtual device and libvirt supplies the management API; a KVM deployment is all three.</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Comparing hypervisor sizes without counting dom0 or the parent partition.</a:t>
            </a:r>
            <a:r>
              <a:rPr sz="1700" b="0" i="0">
                <a:solidFill>
                  <a:srgbClr val="1C252B"/>
                </a:solidFill>
                <a:latin typeface="Segoe UI"/>
              </a:rPr>
              <a:t> Xen’s hypervisor is a megabyte and its dom0 is a full Linux kernel. The honest comparison is of the whole privileged path.</a:t>
            </a:r>
          </a:p>
        </p:txBody>
      </p:sp>
      <p:sp>
        <p:nvSpPr>
          <p:cNvPr id="16" name="!!pb3">
            <a:extLst>
              <a:ext uri="{C183D7F6-B498-43B3-948B-1728B52AA6E4}">
                <adec:decorative xmlns:adec="http://schemas.microsoft.com/office/drawing/2017/decorative" val="1"/>
              </a:ext>
            </a:extLst>
          </p:cNvPr>
          <p:cNvSpPr/>
          <p:nvPr/>
        </p:nvSpPr>
        <p:spPr>
          <a:xfrm>
            <a:off x="658368" y="397581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99867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957523"/>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the free tier still exists.</a:t>
            </a:r>
            <a:r>
              <a:rPr sz="1700" b="0" i="0">
                <a:solidFill>
                  <a:srgbClr val="1C252B"/>
                </a:solidFill>
                <a:latin typeface="Segoe UI"/>
              </a:rPr>
              <a:t> VMware withdrew free ESXi in 2024 and Microsoft discontinued the free Hyper-V Server. Student and evaluation routes change; check before building a course or a budget on one.</a:t>
            </a:r>
          </a:p>
        </p:txBody>
      </p:sp>
      <p:sp>
        <p:nvSpPr>
          <p:cNvPr id="19" name="!!pb4">
            <a:extLst>
              <a:ext uri="{C183D7F6-B498-43B3-948B-1728B52AA6E4}">
                <adec:decorative xmlns:adec="http://schemas.microsoft.com/office/drawing/2017/decorative" val="1"/>
              </a:ext>
            </a:extLst>
          </p:cNvPr>
          <p:cNvSpPr/>
          <p:nvPr/>
        </p:nvSpPr>
        <p:spPr>
          <a:xfrm>
            <a:off x="658368" y="498530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00816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967020"/>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Choosing a platform on hypervisor features.</a:t>
            </a:r>
            <a:r>
              <a:rPr sz="1700" b="0" i="0">
                <a:solidFill>
                  <a:srgbClr val="1C252B"/>
                </a:solidFill>
                <a:latin typeface="Segoe UI"/>
              </a:rPr>
              <a:t> All four virtualize a processor competently. The decision is made on management tooling, licence cost, hardware support and the skills of the people who will be on call.</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541853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The Same Guest on Two Platforms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CE5E4AF3-2635-4907-ABDC-2D51219FFA49}" type="slidenum">
              <a:rPr lang="en-GB" sz="1000">
                <a:solidFill>
                  <a:srgbClr val="8795A1"/>
                </a:solidFill>
                <a:latin typeface="Segoe UI"/>
              </a:rPr>
              <a:t>17</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Builds one guest under KVM and the same guest under VirtualBox, then compares what each platform exposes to it. Appendix A has both. Expect forty minutes.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9050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What is this host already running, if anything?</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Define a guest on KVM, from the Chapter 1 image.</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Ask the guest what hardware it thinks it has.</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Build the same guest under VirtualBox.</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Compare what the two platforms claim to be.</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The feature that is not in the free product.</a:t>
            </a:r>
          </a:p>
          <a:p>
            <a:pPr algn="l" marL="367434" indent="-367434">
              <a:lnSpc>
                <a:spcPct val="100000"/>
              </a:lnSpc>
              <a:spcBef>
                <a:spcPts val="0"/>
              </a:spcBef>
              <a:spcAft>
                <a:spcPts val="0"/>
              </a:spcAft>
            </a:pPr>
            <a:r>
              <a:rPr sz="1400" b="1">
                <a:solidFill>
                  <a:srgbClr val="117A65"/>
                </a:solidFill>
                <a:latin typeface="Segoe UI"/>
              </a:rPr>
              <a:t>7.	</a:t>
            </a:r>
            <a:r>
              <a:rPr sz="1400" b="0" i="0">
                <a:solidFill>
                  <a:srgbClr val="1C252B"/>
                </a:solidFill>
                <a:latin typeface="Segoe UI"/>
              </a:rPr>
              <a:t>Tear down.</a:t>
            </a:r>
          </a:p>
        </p:txBody>
      </p:sp>
      <p:sp>
        <p:nvSpPr>
          <p:cNvPr id="39" name="!!lfTHIS">
            <a:extLst>
              <a:ext uri="{C183D7F6-B498-43B3-948B-1728B52AA6E4}">
                <adec:decorative xmlns:adec="http://schemas.microsoft.com/office/drawing/2017/decorative" val="1"/>
              </a:ext>
            </a:extLst>
          </p:cNvPr>
          <p:cNvSpPr/>
          <p:nvPr/>
        </p:nvSpPr>
        <p:spPr>
          <a:xfrm>
            <a:off x="658368"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lflTHIS"/>
          <p:cNvSpPr txBox="1"/>
          <p:nvPr/>
        </p:nvSpPr>
        <p:spPr>
          <a:xfrm>
            <a:off x="932688"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2" name="!!lfvTHIS"/>
          <p:cNvSpPr txBox="1"/>
          <p:nvPr/>
        </p:nvSpPr>
        <p:spPr>
          <a:xfrm>
            <a:off x="932688"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4: One guest, two platforms, compared</a:t>
            </a:r>
          </a:p>
        </p:txBody>
      </p:sp>
      <p:sp>
        <p:nvSpPr>
          <p:cNvPr id="43" name="!!lfWHAT">
            <a:extLst>
              <a:ext uri="{C183D7F6-B498-43B3-948B-1728B52AA6E4}">
                <adec:decorative xmlns:adec="http://schemas.microsoft.com/office/drawing/2017/decorative" val="1"/>
              </a:ext>
            </a:extLst>
          </p:cNvPr>
          <p:cNvSpPr/>
          <p:nvPr/>
        </p:nvSpPr>
        <p:spPr>
          <a:xfrm>
            <a:off x="6233007"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lfbWHAT">
            <a:extLst>
              <a:ext uri="{C183D7F6-B498-43B3-948B-1728B52AA6E4}">
                <adec:decorative xmlns:adec="http://schemas.microsoft.com/office/drawing/2017/decorative" val="1"/>
              </a:ext>
            </a:extLst>
          </p:cNvPr>
          <p:cNvSpPr/>
          <p:nvPr/>
        </p:nvSpPr>
        <p:spPr>
          <a:xfrm>
            <a:off x="6233007"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lWHAT"/>
          <p:cNvSpPr txBox="1"/>
          <p:nvPr/>
        </p:nvSpPr>
        <p:spPr>
          <a:xfrm>
            <a:off x="6507327"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46" name="!!lfvWHAT"/>
          <p:cNvSpPr txBox="1"/>
          <p:nvPr/>
        </p:nvSpPr>
        <p:spPr>
          <a:xfrm>
            <a:off x="6507327"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45 lines of Shell</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575718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Same Guest on Two Platforms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508A2773-12B1-4380-855D-211A7EF18E23}" type="slidenum">
              <a:rPr lang="en-GB" sz="1000">
                <a:solidFill>
                  <a:srgbClr val="8795A1"/>
                </a:solidFill>
                <a:latin typeface="Segoe UI"/>
              </a:rPr>
              <a:t>18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What is this host already running, if anything?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523744"/>
          </a:xfrm>
          <a:prstGeom prst="roundRect">
            <a:avLst>
              <a:gd name="adj" fmla="val 362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05_platforms.sh -- one workload, two platforms, and what differs. set -euo pipefail # --- 1. What is this host already running, if anything? ---------------- systemd-detect-virt || echo &quot;bare metal&quot; lsmod | grep -E '^(kvm|kvm_intel|kvm_amd|vboxdrv)' || true"/>
          <p:cNvSpPr txBox="1"/>
          <p:nvPr/>
        </p:nvSpPr>
        <p:spPr>
          <a:xfrm>
            <a:off x="1362456" y="2523744"/>
            <a:ext cx="9987991" cy="20299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#!/usr/bin/env bash</a:t>
            </a:r>
          </a:p>
          <a:p>
            <a:pPr>
              <a:lnSpc>
                <a:spcPct val="100000"/>
              </a:lnSpc>
              <a:spcAft>
                <a:spcPts val="0"/>
              </a:spcAft>
            </a:pPr>
            <a:r>
              <a:rPr sz="1800" i="1">
                <a:solidFill>
                  <a:srgbClr val="8795A1"/>
                </a:solidFill>
                <a:latin typeface="Consolas"/>
              </a:rPr>
              <a:t># ch05_platforms.sh -- one workload, two platforms, and what differs.</a:t>
            </a:r>
          </a:p>
          <a:p>
            <a:pPr>
              <a:lnSpc>
                <a:spcPct val="100000"/>
              </a:lnSpc>
              <a:spcAft>
                <a:spcPts val="0"/>
              </a:spcAft>
            </a:pPr>
            <a:r>
              <a:rPr sz="1800" i="0">
                <a:solidFill>
                  <a:srgbClr val="C39BD3"/>
                </a:solidFill>
                <a:latin typeface="Consolas"/>
              </a:rPr>
              <a:t>set</a:t>
            </a:r>
            <a:r>
              <a:rPr sz="1800" i="0">
                <a:solidFill>
                  <a:srgbClr val="E8EDF2"/>
                </a:solidFill>
                <a:latin typeface="Consolas"/>
              </a:rPr>
              <a:t> </a:t>
            </a:r>
            <a:r>
              <a:rPr sz="1800" i="0">
                <a:solidFill>
                  <a:srgbClr val="E8EDF2"/>
                </a:solidFill>
                <a:latin typeface="Consolas"/>
              </a:rPr>
              <a:t>-euo</a:t>
            </a:r>
            <a:r>
              <a:rPr sz="1800" i="0">
                <a:solidFill>
                  <a:srgbClr val="E8EDF2"/>
                </a:solidFill>
                <a:latin typeface="Consolas"/>
              </a:rPr>
              <a:t> </a:t>
            </a:r>
            <a:r>
              <a:rPr sz="1800" i="0">
                <a:solidFill>
                  <a:srgbClr val="E8EDF2"/>
                </a:solidFill>
                <a:latin typeface="Consolas"/>
              </a:rPr>
              <a:t>pipefail</a:t>
            </a:r>
          </a:p>
          <a:p>
            <a:pPr>
              <a:lnSpc>
                <a:spcPct val="100000"/>
              </a:lnSpc>
              <a:spcAft>
                <a:spcPts val="0"/>
              </a:spcAft>
            </a:pPr>
            <a:r>
              <a:rPr sz="1800">
                <a:latin typeface="Consolas"/>
              </a:rPr>
              <a:t> </a:t>
            </a:r>
          </a:p>
          <a:p>
            <a:pPr>
              <a:lnSpc>
                <a:spcPct val="100000"/>
              </a:lnSpc>
              <a:spcAft>
                <a:spcPts val="0"/>
              </a:spcAft>
            </a:pPr>
            <a:r>
              <a:rPr sz="1800" i="1">
                <a:solidFill>
                  <a:srgbClr val="8795A1"/>
                </a:solidFill>
                <a:latin typeface="Consolas"/>
              </a:rPr>
              <a:t># --- 1. What is this host already running, if anything? ----------------</a:t>
            </a:r>
          </a:p>
          <a:p>
            <a:pPr>
              <a:lnSpc>
                <a:spcPct val="100000"/>
              </a:lnSpc>
              <a:spcAft>
                <a:spcPts val="0"/>
              </a:spcAft>
            </a:pPr>
            <a:r>
              <a:rPr sz="1800" i="0">
                <a:solidFill>
                  <a:srgbClr val="E8EDF2"/>
                </a:solidFill>
                <a:latin typeface="Consolas"/>
              </a:rPr>
              <a:t>systemd-detect-virt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"bare metal"</a:t>
            </a:r>
          </a:p>
          <a:p>
            <a:pPr>
              <a:lnSpc>
                <a:spcPct val="100000"/>
              </a:lnSpc>
              <a:spcAft>
                <a:spcPts val="0"/>
              </a:spcAft>
            </a:pPr>
            <a:r>
              <a:rPr sz="1800" i="0">
                <a:solidFill>
                  <a:srgbClr val="E8EDF2"/>
                </a:solidFill>
                <a:latin typeface="Consolas"/>
              </a:rPr>
              <a:t>lsmod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grep</a:t>
            </a:r>
            <a:r>
              <a:rPr sz="1800" i="0">
                <a:solidFill>
                  <a:srgbClr val="E8EDF2"/>
                </a:solidFill>
                <a:latin typeface="Consolas"/>
              </a:rPr>
              <a:t> </a:t>
            </a:r>
            <a:r>
              <a:rPr sz="1800" i="0">
                <a:solidFill>
                  <a:srgbClr val="E8EDF2"/>
                </a:solidFill>
                <a:latin typeface="Consolas"/>
              </a:rPr>
              <a:t>-E</a:t>
            </a:r>
            <a:r>
              <a:rPr sz="1800" i="0">
                <a:solidFill>
                  <a:srgbClr val="E8EDF2"/>
                </a:solidFill>
                <a:latin typeface="Consolas"/>
              </a:rPr>
              <a:t> </a:t>
            </a:r>
            <a:r>
              <a:rPr sz="1800" i="0">
                <a:solidFill>
                  <a:srgbClr val="7DCEA0"/>
                </a:solidFill>
                <a:latin typeface="Consolas"/>
              </a:rPr>
              <a:t>'^(kvm|kvm_intel|kvm_amd|vboxdrv)'</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p:txBody>
      </p:sp>
      <p:sp>
        <p:nvSpPr>
          <p:cNvPr id="15" name="!!code-num"/>
          <p:cNvSpPr txBox="1"/>
          <p:nvPr/>
        </p:nvSpPr>
        <p:spPr>
          <a:xfrm>
            <a:off x="768096" y="2523744"/>
            <a:ext cx="393192" cy="20299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a:t>
            </a:r>
          </a:p>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Same Guest on Two Platforms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AAE28DEF-2A6F-4603-9E80-C83FD70A6176}" type="slidenum">
              <a:rPr lang="en-GB" sz="1000">
                <a:solidFill>
                  <a:srgbClr val="8795A1"/>
                </a:solidFill>
                <a:latin typeface="Segoe UI"/>
              </a:rPr>
              <a:t>19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Define a guest on KVM, from the Chapter 1 image.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00784"/>
          </a:xfrm>
          <a:prstGeom prst="roundRect">
            <a:avLst>
              <a:gd name="adj" fmla="val 53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Define a guest on KVM, from the Chapter 1 image. --------------- sudo virsh dumpxml vss1 &gt; vss1.xml grep -E '&lt;(domain|emulator|controller|interface|model)' vss1.xml | head -20 # Note the machine type: QEMU presents a specific, named virtual chipset."/>
          <p:cNvSpPr txBox="1"/>
          <p:nvPr/>
        </p:nvSpPr>
        <p:spPr>
          <a:xfrm>
            <a:off x="1362456" y="2523744"/>
            <a:ext cx="9987991" cy="120700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Define a guest on KVM, from the Chapter 1 image. ---------------</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dumpxml</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E8EDF2"/>
                </a:solidFill>
                <a:latin typeface="Consolas"/>
              </a:rPr>
              <a:t>&gt;</a:t>
            </a:r>
            <a:r>
              <a:rPr sz="1800" i="0">
                <a:solidFill>
                  <a:srgbClr val="E8EDF2"/>
                </a:solidFill>
                <a:latin typeface="Consolas"/>
              </a:rPr>
              <a:t> </a:t>
            </a:r>
            <a:r>
              <a:rPr sz="1800" i="0">
                <a:solidFill>
                  <a:srgbClr val="E8EDF2"/>
                </a:solidFill>
                <a:latin typeface="Consolas"/>
              </a:rPr>
              <a:t>vss1.xml</a:t>
            </a:r>
          </a:p>
          <a:p>
            <a:pPr>
              <a:lnSpc>
                <a:spcPct val="100000"/>
              </a:lnSpc>
              <a:spcAft>
                <a:spcPts val="0"/>
              </a:spcAft>
            </a:pPr>
            <a:r>
              <a:rPr sz="1800" i="0">
                <a:solidFill>
                  <a:srgbClr val="E8EDF2"/>
                </a:solidFill>
                <a:latin typeface="Consolas"/>
              </a:rPr>
              <a:t>grep</a:t>
            </a:r>
            <a:r>
              <a:rPr sz="1800" i="0">
                <a:solidFill>
                  <a:srgbClr val="E8EDF2"/>
                </a:solidFill>
                <a:latin typeface="Consolas"/>
              </a:rPr>
              <a:t> </a:t>
            </a:r>
            <a:r>
              <a:rPr sz="1800" i="0">
                <a:solidFill>
                  <a:srgbClr val="E8EDF2"/>
                </a:solidFill>
                <a:latin typeface="Consolas"/>
              </a:rPr>
              <a:t>-E</a:t>
            </a:r>
            <a:r>
              <a:rPr sz="1800" i="0">
                <a:solidFill>
                  <a:srgbClr val="E8EDF2"/>
                </a:solidFill>
                <a:latin typeface="Consolas"/>
              </a:rPr>
              <a:t> </a:t>
            </a:r>
            <a:r>
              <a:rPr sz="1800" i="0">
                <a:solidFill>
                  <a:srgbClr val="7DCEA0"/>
                </a:solidFill>
                <a:latin typeface="Consolas"/>
              </a:rPr>
              <a:t>'&lt;(domain|emulator|controller|interface|model)'</a:t>
            </a:r>
            <a:r>
              <a:rPr sz="1800" i="0">
                <a:solidFill>
                  <a:srgbClr val="E8EDF2"/>
                </a:solidFill>
                <a:latin typeface="Consolas"/>
              </a:rPr>
              <a:t> </a:t>
            </a:r>
            <a:r>
              <a:rPr sz="1800" i="0">
                <a:solidFill>
                  <a:srgbClr val="E8EDF2"/>
                </a:solidFill>
                <a:latin typeface="Consolas"/>
              </a:rPr>
              <a:t>vss1.xml</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head</a:t>
            </a:r>
            <a:r>
              <a:rPr sz="1800" i="0">
                <a:solidFill>
                  <a:srgbClr val="E8EDF2"/>
                </a:solidFill>
                <a:latin typeface="Consolas"/>
              </a:rPr>
              <a:t> </a:t>
            </a:r>
            <a:r>
              <a:rPr sz="1800" i="0">
                <a:solidFill>
                  <a:srgbClr val="E8EDF2"/>
                </a:solidFill>
                <a:latin typeface="Consolas"/>
              </a:rPr>
              <a:t>-20</a:t>
            </a:r>
          </a:p>
          <a:p>
            <a:pPr>
              <a:lnSpc>
                <a:spcPct val="100000"/>
              </a:lnSpc>
              <a:spcAft>
                <a:spcPts val="0"/>
              </a:spcAft>
            </a:pPr>
            <a:r>
              <a:rPr sz="1800" i="1">
                <a:solidFill>
                  <a:srgbClr val="8795A1"/>
                </a:solidFill>
                <a:latin typeface="Consolas"/>
              </a:rPr>
              <a:t># Note the machine type: QEMU presents a specific, named virtual chipset.</a:t>
            </a:r>
          </a:p>
        </p:txBody>
      </p:sp>
      <p:sp>
        <p:nvSpPr>
          <p:cNvPr id="15" name="!!code-num"/>
          <p:cNvSpPr txBox="1"/>
          <p:nvPr/>
        </p:nvSpPr>
        <p:spPr>
          <a:xfrm>
            <a:off x="768096" y="2523744"/>
            <a:ext cx="393192" cy="120700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43450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Same Guest on Two Platforms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613E7DA4-FF00-458E-9915-5300BA0D9B5B}" type="slidenum">
              <a:rPr lang="en-GB" sz="1000">
                <a:solidFill>
                  <a:srgbClr val="8795A1"/>
                </a:solidFill>
                <a:latin typeface="Segoe UI"/>
              </a:rPr>
              <a:t>20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Ask the guest what hardware it thinks it has.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523744"/>
          </a:xfrm>
          <a:prstGeom prst="roundRect">
            <a:avLst>
              <a:gd name="adj" fmla="val 362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Ask the guest what hardware it thinks it has. ------------------ sudo virsh start vss1 ; sleep 25 IP=$(sudo virsh domifaddr vss1 | awk '/ipv4/{split($4,a,&quot;/&quot;); print a[1]}') G () { ssh -o StrictHostKeyChecking=no &quot;ubuntu@$IP&quot; &quot;$1&quot;; } G &quot;sudo dmidecode -s system-manufacturer&quot; G &quot;sudo dmidecode -s system-product-name&quot; G &quot;lspci | head; systemd-detect-virt&quot;"/>
          <p:cNvSpPr txBox="1"/>
          <p:nvPr/>
        </p:nvSpPr>
        <p:spPr>
          <a:xfrm>
            <a:off x="1362456" y="2523744"/>
            <a:ext cx="9987991" cy="20299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Ask the guest what hardware it thinks it has. ------------------</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start</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25</a:t>
            </a:r>
          </a:p>
          <a:p>
            <a:pPr>
              <a:lnSpc>
                <a:spcPct val="100000"/>
              </a:lnSpc>
              <a:spcAft>
                <a:spcPts val="0"/>
              </a:spcAft>
            </a:pPr>
            <a:r>
              <a:rPr sz="1800" i="0">
                <a:solidFill>
                  <a:srgbClr val="E8EDF2"/>
                </a:solidFill>
                <a:latin typeface="Consolas"/>
              </a:rPr>
              <a:t>IP</a:t>
            </a:r>
            <a:r>
              <a:rPr sz="1800" i="0">
                <a:solidFill>
                  <a:srgbClr val="AEB6BF"/>
                </a:solidFill>
                <a:latin typeface="Consolas"/>
              </a:rPr>
              <a:t>=</a:t>
            </a:r>
            <a:r>
              <a:rPr sz="1800" i="0">
                <a:solidFill>
                  <a:srgbClr val="5DADE2"/>
                </a:solidFill>
                <a:latin typeface="Consolas"/>
              </a:rPr>
              <a:t>$(</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domifaddr</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awk</a:t>
            </a:r>
            <a:r>
              <a:rPr sz="1800" i="0">
                <a:solidFill>
                  <a:srgbClr val="E8EDF2"/>
                </a:solidFill>
                <a:latin typeface="Consolas"/>
              </a:rPr>
              <a:t> </a:t>
            </a:r>
            <a:r>
              <a:rPr sz="1800" i="0">
                <a:solidFill>
                  <a:srgbClr val="7DCEA0"/>
                </a:solidFill>
                <a:latin typeface="Consolas"/>
              </a:rPr>
              <a:t>'/ipv4/{split($4,a,"/"); print a[1]}'</a:t>
            </a:r>
            <a:r>
              <a:rPr sz="1800" i="0">
                <a:solidFill>
                  <a:srgbClr val="5DADE2"/>
                </a:solidFill>
                <a:latin typeface="Consolas"/>
              </a:rPr>
              <a:t>)</a:t>
            </a:r>
          </a:p>
          <a:p>
            <a:pPr>
              <a:lnSpc>
                <a:spcPct val="100000"/>
              </a:lnSpc>
              <a:spcAft>
                <a:spcPts val="0"/>
              </a:spcAft>
            </a:pPr>
            <a:r>
              <a:rPr sz="1800" i="0">
                <a:solidFill>
                  <a:srgbClr val="E8EDF2"/>
                </a:solidFill>
                <a:latin typeface="Consolas"/>
              </a:rPr>
              <a:t>G</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ssh</a:t>
            </a:r>
            <a:r>
              <a:rPr sz="1800" i="0">
                <a:solidFill>
                  <a:srgbClr val="E8EDF2"/>
                </a:solidFill>
                <a:latin typeface="Consolas"/>
              </a:rPr>
              <a:t> </a:t>
            </a:r>
            <a:r>
              <a:rPr sz="1800" i="0">
                <a:solidFill>
                  <a:srgbClr val="E8EDF2"/>
                </a:solidFill>
                <a:latin typeface="Consolas"/>
              </a:rPr>
              <a:t>-o</a:t>
            </a:r>
            <a:r>
              <a:rPr sz="1800" i="0">
                <a:solidFill>
                  <a:srgbClr val="E8EDF2"/>
                </a:solidFill>
                <a:latin typeface="Consolas"/>
              </a:rPr>
              <a:t> </a:t>
            </a:r>
            <a:r>
              <a:rPr sz="1800" i="0">
                <a:solidFill>
                  <a:srgbClr val="E8EDF2"/>
                </a:solidFill>
                <a:latin typeface="Consolas"/>
              </a:rPr>
              <a:t>StrictHostKeyChecking</a:t>
            </a:r>
            <a:r>
              <a:rPr sz="1800" i="0">
                <a:solidFill>
                  <a:srgbClr val="AEB6BF"/>
                </a:solidFill>
                <a:latin typeface="Consolas"/>
              </a:rPr>
              <a:t>=</a:t>
            </a:r>
            <a:r>
              <a:rPr sz="1800" i="0">
                <a:solidFill>
                  <a:srgbClr val="E8EDF2"/>
                </a:solidFill>
                <a:latin typeface="Consolas"/>
              </a:rPr>
              <a:t>no</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ubuntu@</a:t>
            </a:r>
            <a:r>
              <a:rPr sz="1800" i="0">
                <a:solidFill>
                  <a:srgbClr val="E8EDF2"/>
                </a:solidFill>
                <a:latin typeface="Consolas"/>
              </a:rPr>
              <a:t>$IP</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$1</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G</a:t>
            </a:r>
            <a:r>
              <a:rPr sz="1800" i="0">
                <a:solidFill>
                  <a:srgbClr val="E8EDF2"/>
                </a:solidFill>
                <a:latin typeface="Consolas"/>
              </a:rPr>
              <a:t> </a:t>
            </a:r>
            <a:r>
              <a:rPr sz="1800" i="0">
                <a:solidFill>
                  <a:srgbClr val="7DCEA0"/>
                </a:solidFill>
                <a:latin typeface="Consolas"/>
              </a:rPr>
              <a:t>"sudo dmidecode -s system-manufacturer"</a:t>
            </a:r>
          </a:p>
          <a:p>
            <a:pPr>
              <a:lnSpc>
                <a:spcPct val="100000"/>
              </a:lnSpc>
              <a:spcAft>
                <a:spcPts val="0"/>
              </a:spcAft>
            </a:pPr>
            <a:r>
              <a:rPr sz="1800" i="0">
                <a:solidFill>
                  <a:srgbClr val="E8EDF2"/>
                </a:solidFill>
                <a:latin typeface="Consolas"/>
              </a:rPr>
              <a:t>G</a:t>
            </a:r>
            <a:r>
              <a:rPr sz="1800" i="0">
                <a:solidFill>
                  <a:srgbClr val="E8EDF2"/>
                </a:solidFill>
                <a:latin typeface="Consolas"/>
              </a:rPr>
              <a:t> </a:t>
            </a:r>
            <a:r>
              <a:rPr sz="1800" i="0">
                <a:solidFill>
                  <a:srgbClr val="7DCEA0"/>
                </a:solidFill>
                <a:latin typeface="Consolas"/>
              </a:rPr>
              <a:t>"sudo dmidecode -s system-product-name"</a:t>
            </a:r>
          </a:p>
          <a:p>
            <a:pPr>
              <a:lnSpc>
                <a:spcPct val="100000"/>
              </a:lnSpc>
              <a:spcAft>
                <a:spcPts val="0"/>
              </a:spcAft>
            </a:pPr>
            <a:r>
              <a:rPr sz="1800" i="0">
                <a:solidFill>
                  <a:srgbClr val="E8EDF2"/>
                </a:solidFill>
                <a:latin typeface="Consolas"/>
              </a:rPr>
              <a:t>G</a:t>
            </a:r>
            <a:r>
              <a:rPr sz="1800" i="0">
                <a:solidFill>
                  <a:srgbClr val="E8EDF2"/>
                </a:solidFill>
                <a:latin typeface="Consolas"/>
              </a:rPr>
              <a:t> </a:t>
            </a:r>
            <a:r>
              <a:rPr sz="1800" i="0">
                <a:solidFill>
                  <a:srgbClr val="7DCEA0"/>
                </a:solidFill>
                <a:latin typeface="Consolas"/>
              </a:rPr>
              <a:t>"lspci | head; systemd-detect-virt"</a:t>
            </a:r>
          </a:p>
        </p:txBody>
      </p:sp>
      <p:sp>
        <p:nvSpPr>
          <p:cNvPr id="15" name="!!code-num"/>
          <p:cNvSpPr txBox="1"/>
          <p:nvPr/>
        </p:nvSpPr>
        <p:spPr>
          <a:xfrm>
            <a:off x="768096" y="2523744"/>
            <a:ext cx="393192" cy="20299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77316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Same Guest on Two Platforms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DDC50C3C-2E8E-449E-9A8E-1E539FE7B89A}" type="slidenum">
              <a:rPr lang="en-GB" sz="1000">
                <a:solidFill>
                  <a:srgbClr val="8795A1"/>
                </a:solidFill>
                <a:latin typeface="Segoe UI"/>
              </a:rPr>
              <a:t>21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Build the same guest under VirtualBox.</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919984"/>
          </a:xfrm>
          <a:prstGeom prst="roundRect">
            <a:avLst>
              <a:gd name="adj" fmla="val 313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Build the same guest under VirtualBox. ------------------------ VBoxManage createvm --name vss2 --ostype Ubuntu_64 --register VBoxManage modifyvm vss2 --memory 2048 --cpus 2 --nic1 nat VBoxManage clonehd ubuntu.img vss2.vdi --format VDI VBoxManage storagectl vss2 --name SATA --add sata VBoxManage storageattach vss2 --storagectl SATA --port 0 \ --type hdd --medium vss2.vdi VBoxManage startvm vss2 --type headless"/>
          <p:cNvSpPr txBox="1"/>
          <p:nvPr/>
        </p:nvSpPr>
        <p:spPr>
          <a:xfrm>
            <a:off x="1362456" y="2523744"/>
            <a:ext cx="9987991" cy="24262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Build the same guest under VirtualBox. ------------------------</a:t>
            </a:r>
          </a:p>
          <a:p>
            <a:pPr>
              <a:lnSpc>
                <a:spcPct val="100000"/>
              </a:lnSpc>
              <a:spcAft>
                <a:spcPts val="0"/>
              </a:spcAft>
            </a:pPr>
            <a:r>
              <a:rPr sz="1900" i="0">
                <a:solidFill>
                  <a:srgbClr val="E8EDF2"/>
                </a:solidFill>
                <a:latin typeface="Consolas"/>
              </a:rPr>
              <a:t>VBoxManage</a:t>
            </a:r>
            <a:r>
              <a:rPr sz="1900" i="0">
                <a:solidFill>
                  <a:srgbClr val="E8EDF2"/>
                </a:solidFill>
                <a:latin typeface="Consolas"/>
              </a:rPr>
              <a:t> </a:t>
            </a:r>
            <a:r>
              <a:rPr sz="1900" i="0">
                <a:solidFill>
                  <a:srgbClr val="E8EDF2"/>
                </a:solidFill>
                <a:latin typeface="Consolas"/>
              </a:rPr>
              <a:t>createvm</a:t>
            </a:r>
            <a:r>
              <a:rPr sz="1900" i="0">
                <a:solidFill>
                  <a:srgbClr val="E8EDF2"/>
                </a:solidFill>
                <a:latin typeface="Consolas"/>
              </a:rPr>
              <a:t> </a:t>
            </a:r>
            <a:r>
              <a:rPr sz="1900" i="0">
                <a:solidFill>
                  <a:srgbClr val="E8EDF2"/>
                </a:solidFill>
                <a:latin typeface="Consolas"/>
              </a:rPr>
              <a:t>--name</a:t>
            </a:r>
            <a:r>
              <a:rPr sz="1900" i="0">
                <a:solidFill>
                  <a:srgbClr val="E8EDF2"/>
                </a:solidFill>
                <a:latin typeface="Consolas"/>
              </a:rPr>
              <a:t> </a:t>
            </a:r>
            <a:r>
              <a:rPr sz="1900" i="0">
                <a:solidFill>
                  <a:srgbClr val="E8EDF2"/>
                </a:solidFill>
                <a:latin typeface="Consolas"/>
              </a:rPr>
              <a:t>vss2</a:t>
            </a:r>
            <a:r>
              <a:rPr sz="1900" i="0">
                <a:solidFill>
                  <a:srgbClr val="E8EDF2"/>
                </a:solidFill>
                <a:latin typeface="Consolas"/>
              </a:rPr>
              <a:t> </a:t>
            </a:r>
            <a:r>
              <a:rPr sz="1900" i="0">
                <a:solidFill>
                  <a:srgbClr val="E8EDF2"/>
                </a:solidFill>
                <a:latin typeface="Consolas"/>
              </a:rPr>
              <a:t>--ostype</a:t>
            </a:r>
            <a:r>
              <a:rPr sz="1900" i="0">
                <a:solidFill>
                  <a:srgbClr val="E8EDF2"/>
                </a:solidFill>
                <a:latin typeface="Consolas"/>
              </a:rPr>
              <a:t> </a:t>
            </a:r>
            <a:r>
              <a:rPr sz="1900" i="0">
                <a:solidFill>
                  <a:srgbClr val="E8EDF2"/>
                </a:solidFill>
                <a:latin typeface="Consolas"/>
              </a:rPr>
              <a:t>Ubuntu_64</a:t>
            </a:r>
            <a:r>
              <a:rPr sz="1900" i="0">
                <a:solidFill>
                  <a:srgbClr val="E8EDF2"/>
                </a:solidFill>
                <a:latin typeface="Consolas"/>
              </a:rPr>
              <a:t> </a:t>
            </a:r>
            <a:r>
              <a:rPr sz="1900" i="0">
                <a:solidFill>
                  <a:srgbClr val="E8EDF2"/>
                </a:solidFill>
                <a:latin typeface="Consolas"/>
              </a:rPr>
              <a:t>--register</a:t>
            </a:r>
          </a:p>
          <a:p>
            <a:pPr>
              <a:lnSpc>
                <a:spcPct val="100000"/>
              </a:lnSpc>
              <a:spcAft>
                <a:spcPts val="0"/>
              </a:spcAft>
            </a:pPr>
            <a:r>
              <a:rPr sz="1900" i="0">
                <a:solidFill>
                  <a:srgbClr val="E8EDF2"/>
                </a:solidFill>
                <a:latin typeface="Consolas"/>
              </a:rPr>
              <a:t>VBoxManage</a:t>
            </a:r>
            <a:r>
              <a:rPr sz="1900" i="0">
                <a:solidFill>
                  <a:srgbClr val="E8EDF2"/>
                </a:solidFill>
                <a:latin typeface="Consolas"/>
              </a:rPr>
              <a:t> </a:t>
            </a:r>
            <a:r>
              <a:rPr sz="1900" i="0">
                <a:solidFill>
                  <a:srgbClr val="E8EDF2"/>
                </a:solidFill>
                <a:latin typeface="Consolas"/>
              </a:rPr>
              <a:t>modifyvm</a:t>
            </a:r>
            <a:r>
              <a:rPr sz="1900" i="0">
                <a:solidFill>
                  <a:srgbClr val="E8EDF2"/>
                </a:solidFill>
                <a:latin typeface="Consolas"/>
              </a:rPr>
              <a:t> </a:t>
            </a:r>
            <a:r>
              <a:rPr sz="1900" i="0">
                <a:solidFill>
                  <a:srgbClr val="E8EDF2"/>
                </a:solidFill>
                <a:latin typeface="Consolas"/>
              </a:rPr>
              <a:t>vss2</a:t>
            </a:r>
            <a:r>
              <a:rPr sz="1900" i="0">
                <a:solidFill>
                  <a:srgbClr val="E8EDF2"/>
                </a:solidFill>
                <a:latin typeface="Consolas"/>
              </a:rPr>
              <a:t> </a:t>
            </a:r>
            <a:r>
              <a:rPr sz="1900" i="0">
                <a:solidFill>
                  <a:srgbClr val="E8EDF2"/>
                </a:solidFill>
                <a:latin typeface="Consolas"/>
              </a:rPr>
              <a:t>--memory</a:t>
            </a:r>
            <a:r>
              <a:rPr sz="1900" i="0">
                <a:solidFill>
                  <a:srgbClr val="E8EDF2"/>
                </a:solidFill>
                <a:latin typeface="Consolas"/>
              </a:rPr>
              <a:t> </a:t>
            </a:r>
            <a:r>
              <a:rPr sz="1900" i="0">
                <a:solidFill>
                  <a:srgbClr val="F7DC6F"/>
                </a:solidFill>
                <a:latin typeface="Consolas"/>
              </a:rPr>
              <a:t>2048</a:t>
            </a:r>
            <a:r>
              <a:rPr sz="1900" i="0">
                <a:solidFill>
                  <a:srgbClr val="E8EDF2"/>
                </a:solidFill>
                <a:latin typeface="Consolas"/>
              </a:rPr>
              <a:t> </a:t>
            </a:r>
            <a:r>
              <a:rPr sz="1900" i="0">
                <a:solidFill>
                  <a:srgbClr val="E8EDF2"/>
                </a:solidFill>
                <a:latin typeface="Consolas"/>
              </a:rPr>
              <a:t>--cpus</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 </a:t>
            </a:r>
            <a:r>
              <a:rPr sz="1900" i="0">
                <a:solidFill>
                  <a:srgbClr val="E8EDF2"/>
                </a:solidFill>
                <a:latin typeface="Consolas"/>
              </a:rPr>
              <a:t>--nic1</a:t>
            </a:r>
            <a:r>
              <a:rPr sz="1900" i="0">
                <a:solidFill>
                  <a:srgbClr val="E8EDF2"/>
                </a:solidFill>
                <a:latin typeface="Consolas"/>
              </a:rPr>
              <a:t> </a:t>
            </a:r>
            <a:r>
              <a:rPr sz="1900" i="0">
                <a:solidFill>
                  <a:srgbClr val="E8EDF2"/>
                </a:solidFill>
                <a:latin typeface="Consolas"/>
              </a:rPr>
              <a:t>nat</a:t>
            </a:r>
          </a:p>
          <a:p>
            <a:pPr>
              <a:lnSpc>
                <a:spcPct val="100000"/>
              </a:lnSpc>
              <a:spcAft>
                <a:spcPts val="0"/>
              </a:spcAft>
            </a:pPr>
            <a:r>
              <a:rPr sz="1900" i="0">
                <a:solidFill>
                  <a:srgbClr val="E8EDF2"/>
                </a:solidFill>
                <a:latin typeface="Consolas"/>
              </a:rPr>
              <a:t>VBoxManage</a:t>
            </a:r>
            <a:r>
              <a:rPr sz="1900" i="0">
                <a:solidFill>
                  <a:srgbClr val="E8EDF2"/>
                </a:solidFill>
                <a:latin typeface="Consolas"/>
              </a:rPr>
              <a:t> </a:t>
            </a:r>
            <a:r>
              <a:rPr sz="1900" i="0">
                <a:solidFill>
                  <a:srgbClr val="E8EDF2"/>
                </a:solidFill>
                <a:latin typeface="Consolas"/>
              </a:rPr>
              <a:t>clonehd</a:t>
            </a:r>
            <a:r>
              <a:rPr sz="1900" i="0">
                <a:solidFill>
                  <a:srgbClr val="E8EDF2"/>
                </a:solidFill>
                <a:latin typeface="Consolas"/>
              </a:rPr>
              <a:t> </a:t>
            </a:r>
            <a:r>
              <a:rPr sz="1900" i="0">
                <a:solidFill>
                  <a:srgbClr val="E8EDF2"/>
                </a:solidFill>
                <a:latin typeface="Consolas"/>
              </a:rPr>
              <a:t>ubuntu.img</a:t>
            </a:r>
            <a:r>
              <a:rPr sz="1900" i="0">
                <a:solidFill>
                  <a:srgbClr val="E8EDF2"/>
                </a:solidFill>
                <a:latin typeface="Consolas"/>
              </a:rPr>
              <a:t> </a:t>
            </a:r>
            <a:r>
              <a:rPr sz="1900" i="0">
                <a:solidFill>
                  <a:srgbClr val="E8EDF2"/>
                </a:solidFill>
                <a:latin typeface="Consolas"/>
              </a:rPr>
              <a:t>vss2.vdi</a:t>
            </a:r>
            <a:r>
              <a:rPr sz="1900" i="0">
                <a:solidFill>
                  <a:srgbClr val="E8EDF2"/>
                </a:solidFill>
                <a:latin typeface="Consolas"/>
              </a:rPr>
              <a:t> </a:t>
            </a:r>
            <a:r>
              <a:rPr sz="1900" i="0">
                <a:solidFill>
                  <a:srgbClr val="E8EDF2"/>
                </a:solidFill>
                <a:latin typeface="Consolas"/>
              </a:rPr>
              <a:t>--format</a:t>
            </a:r>
            <a:r>
              <a:rPr sz="1900" i="0">
                <a:solidFill>
                  <a:srgbClr val="E8EDF2"/>
                </a:solidFill>
                <a:latin typeface="Consolas"/>
              </a:rPr>
              <a:t> </a:t>
            </a:r>
            <a:r>
              <a:rPr sz="1900" i="0">
                <a:solidFill>
                  <a:srgbClr val="E8EDF2"/>
                </a:solidFill>
                <a:latin typeface="Consolas"/>
              </a:rPr>
              <a:t>VDI</a:t>
            </a:r>
          </a:p>
          <a:p>
            <a:pPr>
              <a:lnSpc>
                <a:spcPct val="100000"/>
              </a:lnSpc>
              <a:spcAft>
                <a:spcPts val="0"/>
              </a:spcAft>
            </a:pPr>
            <a:r>
              <a:rPr sz="1900" i="0">
                <a:solidFill>
                  <a:srgbClr val="E8EDF2"/>
                </a:solidFill>
                <a:latin typeface="Consolas"/>
              </a:rPr>
              <a:t>VBoxManage</a:t>
            </a:r>
            <a:r>
              <a:rPr sz="1900" i="0">
                <a:solidFill>
                  <a:srgbClr val="E8EDF2"/>
                </a:solidFill>
                <a:latin typeface="Consolas"/>
              </a:rPr>
              <a:t> </a:t>
            </a:r>
            <a:r>
              <a:rPr sz="1900" i="0">
                <a:solidFill>
                  <a:srgbClr val="E8EDF2"/>
                </a:solidFill>
                <a:latin typeface="Consolas"/>
              </a:rPr>
              <a:t>storagectl</a:t>
            </a:r>
            <a:r>
              <a:rPr sz="1900" i="0">
                <a:solidFill>
                  <a:srgbClr val="E8EDF2"/>
                </a:solidFill>
                <a:latin typeface="Consolas"/>
              </a:rPr>
              <a:t> </a:t>
            </a:r>
            <a:r>
              <a:rPr sz="1900" i="0">
                <a:solidFill>
                  <a:srgbClr val="E8EDF2"/>
                </a:solidFill>
                <a:latin typeface="Consolas"/>
              </a:rPr>
              <a:t>vss2</a:t>
            </a:r>
            <a:r>
              <a:rPr sz="1900" i="0">
                <a:solidFill>
                  <a:srgbClr val="E8EDF2"/>
                </a:solidFill>
                <a:latin typeface="Consolas"/>
              </a:rPr>
              <a:t> </a:t>
            </a:r>
            <a:r>
              <a:rPr sz="1900" i="0">
                <a:solidFill>
                  <a:srgbClr val="E8EDF2"/>
                </a:solidFill>
                <a:latin typeface="Consolas"/>
              </a:rPr>
              <a:t>--name</a:t>
            </a:r>
            <a:r>
              <a:rPr sz="1900" i="0">
                <a:solidFill>
                  <a:srgbClr val="E8EDF2"/>
                </a:solidFill>
                <a:latin typeface="Consolas"/>
              </a:rPr>
              <a:t> </a:t>
            </a:r>
            <a:r>
              <a:rPr sz="1900" i="0">
                <a:solidFill>
                  <a:srgbClr val="E8EDF2"/>
                </a:solidFill>
                <a:latin typeface="Consolas"/>
              </a:rPr>
              <a:t>SATA</a:t>
            </a:r>
            <a:r>
              <a:rPr sz="1900" i="0">
                <a:solidFill>
                  <a:srgbClr val="E8EDF2"/>
                </a:solidFill>
                <a:latin typeface="Consolas"/>
              </a:rPr>
              <a:t> </a:t>
            </a:r>
            <a:r>
              <a:rPr sz="1900" i="0">
                <a:solidFill>
                  <a:srgbClr val="E8EDF2"/>
                </a:solidFill>
                <a:latin typeface="Consolas"/>
              </a:rPr>
              <a:t>--add</a:t>
            </a:r>
            <a:r>
              <a:rPr sz="1900" i="0">
                <a:solidFill>
                  <a:srgbClr val="E8EDF2"/>
                </a:solidFill>
                <a:latin typeface="Consolas"/>
              </a:rPr>
              <a:t> </a:t>
            </a:r>
            <a:r>
              <a:rPr sz="1900" i="0">
                <a:solidFill>
                  <a:srgbClr val="E8EDF2"/>
                </a:solidFill>
                <a:latin typeface="Consolas"/>
              </a:rPr>
              <a:t>sata</a:t>
            </a:r>
          </a:p>
          <a:p>
            <a:pPr>
              <a:lnSpc>
                <a:spcPct val="100000"/>
              </a:lnSpc>
              <a:spcAft>
                <a:spcPts val="0"/>
              </a:spcAft>
            </a:pPr>
            <a:r>
              <a:rPr sz="1900" i="0">
                <a:solidFill>
                  <a:srgbClr val="E8EDF2"/>
                </a:solidFill>
                <a:latin typeface="Consolas"/>
              </a:rPr>
              <a:t>VBoxManage</a:t>
            </a:r>
            <a:r>
              <a:rPr sz="1900" i="0">
                <a:solidFill>
                  <a:srgbClr val="E8EDF2"/>
                </a:solidFill>
                <a:latin typeface="Consolas"/>
              </a:rPr>
              <a:t> </a:t>
            </a:r>
            <a:r>
              <a:rPr sz="1900" i="0">
                <a:solidFill>
                  <a:srgbClr val="E8EDF2"/>
                </a:solidFill>
                <a:latin typeface="Consolas"/>
              </a:rPr>
              <a:t>storageattach</a:t>
            </a:r>
            <a:r>
              <a:rPr sz="1900" i="0">
                <a:solidFill>
                  <a:srgbClr val="E8EDF2"/>
                </a:solidFill>
                <a:latin typeface="Consolas"/>
              </a:rPr>
              <a:t> </a:t>
            </a:r>
            <a:r>
              <a:rPr sz="1900" i="0">
                <a:solidFill>
                  <a:srgbClr val="E8EDF2"/>
                </a:solidFill>
                <a:latin typeface="Consolas"/>
              </a:rPr>
              <a:t>vss2</a:t>
            </a:r>
            <a:r>
              <a:rPr sz="1900" i="0">
                <a:solidFill>
                  <a:srgbClr val="E8EDF2"/>
                </a:solidFill>
                <a:latin typeface="Consolas"/>
              </a:rPr>
              <a:t> </a:t>
            </a:r>
            <a:r>
              <a:rPr sz="1900" i="0">
                <a:solidFill>
                  <a:srgbClr val="E8EDF2"/>
                </a:solidFill>
                <a:latin typeface="Consolas"/>
              </a:rPr>
              <a:t>--storagectl</a:t>
            </a:r>
            <a:r>
              <a:rPr sz="1900" i="0">
                <a:solidFill>
                  <a:srgbClr val="E8EDF2"/>
                </a:solidFill>
                <a:latin typeface="Consolas"/>
              </a:rPr>
              <a:t> </a:t>
            </a:r>
            <a:r>
              <a:rPr sz="1900" i="0">
                <a:solidFill>
                  <a:srgbClr val="E8EDF2"/>
                </a:solidFill>
                <a:latin typeface="Consolas"/>
              </a:rPr>
              <a:t>SATA</a:t>
            </a:r>
            <a:r>
              <a:rPr sz="1900" i="0">
                <a:solidFill>
                  <a:srgbClr val="E8EDF2"/>
                </a:solidFill>
                <a:latin typeface="Consolas"/>
              </a:rPr>
              <a:t> </a:t>
            </a:r>
            <a:r>
              <a:rPr sz="1900" i="0">
                <a:solidFill>
                  <a:srgbClr val="E8EDF2"/>
                </a:solidFill>
                <a:latin typeface="Consolas"/>
              </a:rPr>
              <a:t>--port</a:t>
            </a:r>
            <a:r>
              <a:rPr sz="1900" i="0">
                <a:solidFill>
                  <a:srgbClr val="E8EDF2"/>
                </a:solidFill>
                <a:latin typeface="Consolas"/>
              </a:rPr>
              <a:t> </a:t>
            </a:r>
            <a:r>
              <a:rPr sz="1900" i="0">
                <a:solidFill>
                  <a:srgbClr val="F7DC6F"/>
                </a:solidFill>
                <a:latin typeface="Consolas"/>
              </a:rPr>
              <a:t>0</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--type</a:t>
            </a:r>
            <a:r>
              <a:rPr sz="1900" i="0">
                <a:solidFill>
                  <a:srgbClr val="E8EDF2"/>
                </a:solidFill>
                <a:latin typeface="Consolas"/>
              </a:rPr>
              <a:t> </a:t>
            </a:r>
            <a:r>
              <a:rPr sz="1900" i="0">
                <a:solidFill>
                  <a:srgbClr val="E8EDF2"/>
                </a:solidFill>
                <a:latin typeface="Consolas"/>
              </a:rPr>
              <a:t>hdd</a:t>
            </a:r>
            <a:r>
              <a:rPr sz="1900" i="0">
                <a:solidFill>
                  <a:srgbClr val="E8EDF2"/>
                </a:solidFill>
                <a:latin typeface="Consolas"/>
              </a:rPr>
              <a:t> </a:t>
            </a:r>
            <a:r>
              <a:rPr sz="1900" i="0">
                <a:solidFill>
                  <a:srgbClr val="E8EDF2"/>
                </a:solidFill>
                <a:latin typeface="Consolas"/>
              </a:rPr>
              <a:t>--medium</a:t>
            </a:r>
            <a:r>
              <a:rPr sz="1900" i="0">
                <a:solidFill>
                  <a:srgbClr val="E8EDF2"/>
                </a:solidFill>
                <a:latin typeface="Consolas"/>
              </a:rPr>
              <a:t> </a:t>
            </a:r>
            <a:r>
              <a:rPr sz="1900" i="0">
                <a:solidFill>
                  <a:srgbClr val="E8EDF2"/>
                </a:solidFill>
                <a:latin typeface="Consolas"/>
              </a:rPr>
              <a:t>vss2.vdi</a:t>
            </a:r>
          </a:p>
          <a:p>
            <a:pPr>
              <a:lnSpc>
                <a:spcPct val="100000"/>
              </a:lnSpc>
              <a:spcAft>
                <a:spcPts val="0"/>
              </a:spcAft>
            </a:pPr>
            <a:r>
              <a:rPr sz="1900" i="0">
                <a:solidFill>
                  <a:srgbClr val="E8EDF2"/>
                </a:solidFill>
                <a:latin typeface="Consolas"/>
              </a:rPr>
              <a:t>VBoxManage</a:t>
            </a:r>
            <a:r>
              <a:rPr sz="1900" i="0">
                <a:solidFill>
                  <a:srgbClr val="E8EDF2"/>
                </a:solidFill>
                <a:latin typeface="Consolas"/>
              </a:rPr>
              <a:t> </a:t>
            </a:r>
            <a:r>
              <a:rPr sz="1900" i="0">
                <a:solidFill>
                  <a:srgbClr val="E8EDF2"/>
                </a:solidFill>
                <a:latin typeface="Consolas"/>
              </a:rPr>
              <a:t>startvm</a:t>
            </a:r>
            <a:r>
              <a:rPr sz="1900" i="0">
                <a:solidFill>
                  <a:srgbClr val="E8EDF2"/>
                </a:solidFill>
                <a:latin typeface="Consolas"/>
              </a:rPr>
              <a:t> </a:t>
            </a:r>
            <a:r>
              <a:rPr sz="1900" i="0">
                <a:solidFill>
                  <a:srgbClr val="E8EDF2"/>
                </a:solidFill>
                <a:latin typeface="Consolas"/>
              </a:rPr>
              <a:t>vss2</a:t>
            </a:r>
            <a:r>
              <a:rPr sz="1900" i="0">
                <a:solidFill>
                  <a:srgbClr val="E8EDF2"/>
                </a:solidFill>
                <a:latin typeface="Consolas"/>
              </a:rPr>
              <a:t> </a:t>
            </a:r>
            <a:r>
              <a:rPr sz="1900" i="0">
                <a:solidFill>
                  <a:srgbClr val="E8EDF2"/>
                </a:solidFill>
                <a:latin typeface="Consolas"/>
              </a:rPr>
              <a:t>--type</a:t>
            </a:r>
            <a:r>
              <a:rPr sz="1900" i="0">
                <a:solidFill>
                  <a:srgbClr val="E8EDF2"/>
                </a:solidFill>
                <a:latin typeface="Consolas"/>
              </a:rPr>
              <a:t> </a:t>
            </a:r>
            <a:r>
              <a:rPr sz="1900" i="0">
                <a:solidFill>
                  <a:srgbClr val="E8EDF2"/>
                </a:solidFill>
                <a:latin typeface="Consolas"/>
              </a:rPr>
              <a:t>headless</a:t>
            </a:r>
          </a:p>
        </p:txBody>
      </p:sp>
      <p:sp>
        <p:nvSpPr>
          <p:cNvPr id="15" name="!!code-num"/>
          <p:cNvSpPr txBox="1"/>
          <p:nvPr/>
        </p:nvSpPr>
        <p:spPr>
          <a:xfrm>
            <a:off x="768096" y="2523744"/>
            <a:ext cx="393192" cy="24262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22</a:t>
            </a:r>
          </a:p>
          <a:p>
            <a:pPr algn="r">
              <a:lnSpc>
                <a:spcPct val="100000"/>
              </a:lnSpc>
            </a:pPr>
            <a:r>
              <a:rPr sz="1900">
                <a:solidFill>
                  <a:srgbClr val="4F5D6A"/>
                </a:solidFill>
                <a:latin typeface="Consolas"/>
              </a:rPr>
              <a:t>23</a:t>
            </a:r>
          </a:p>
          <a:p>
            <a:pPr algn="r">
              <a:lnSpc>
                <a:spcPct val="100000"/>
              </a:lnSpc>
            </a:pPr>
            <a:r>
              <a:rPr sz="1900">
                <a:solidFill>
                  <a:srgbClr val="4F5D6A"/>
                </a:solidFill>
                <a:latin typeface="Consolas"/>
              </a:rPr>
              <a:t>24</a:t>
            </a:r>
          </a:p>
          <a:p>
            <a:pPr algn="r">
              <a:lnSpc>
                <a:spcPct val="100000"/>
              </a:lnSpc>
            </a:pPr>
            <a:r>
              <a:rPr sz="1900">
                <a:solidFill>
                  <a:srgbClr val="4F5D6A"/>
                </a:solidFill>
                <a:latin typeface="Consolas"/>
              </a:rPr>
              <a:t>25</a:t>
            </a:r>
          </a:p>
          <a:p>
            <a:pPr algn="r">
              <a:lnSpc>
                <a:spcPct val="100000"/>
              </a:lnSpc>
            </a:pPr>
            <a:r>
              <a:rPr sz="1900">
                <a:solidFill>
                  <a:srgbClr val="4F5D6A"/>
                </a:solidFill>
                <a:latin typeface="Consolas"/>
              </a:rPr>
              <a:t>26</a:t>
            </a:r>
          </a:p>
          <a:p>
            <a:pPr algn="r">
              <a:lnSpc>
                <a:spcPct val="100000"/>
              </a:lnSpc>
            </a:pPr>
            <a:r>
              <a:rPr sz="1900">
                <a:solidFill>
                  <a:srgbClr val="4F5D6A"/>
                </a:solidFill>
                <a:latin typeface="Consolas"/>
              </a:rPr>
              <a:t>27</a:t>
            </a:r>
          </a:p>
          <a:p>
            <a:pPr algn="r">
              <a:lnSpc>
                <a:spcPct val="100000"/>
              </a:lnSpc>
            </a:pPr>
            <a:r>
              <a:rPr sz="1900">
                <a:solidFill>
                  <a:srgbClr val="4F5D6A"/>
                </a:solidFill>
                <a:latin typeface="Consolas"/>
              </a:rPr>
              <a:t>28</a:t>
            </a:r>
          </a:p>
          <a:p>
            <a:pPr algn="r">
              <a:lnSpc>
                <a:spcPct val="100000"/>
              </a:lnSpc>
            </a:pPr>
            <a:r>
              <a:rPr sz="1900">
                <a:solidFill>
                  <a:srgbClr val="4F5D6A"/>
                </a:solidFill>
                <a:latin typeface="Consolas"/>
              </a:rPr>
              <a:t>29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11182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Same Guest on Two Platforms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4AFCCFA5-C748-43BF-BB52-1CF681541561}" type="slidenum">
              <a:rPr lang="en-GB" sz="1000">
                <a:solidFill>
                  <a:srgbClr val="8795A1"/>
                </a:solidFill>
                <a:latin typeface="Segoe UI"/>
              </a:rPr>
              <a:t>22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Compare what the two platforms claim to be.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975104"/>
          </a:xfrm>
          <a:prstGeom prst="roundRect">
            <a:avLst>
              <a:gd name="adj" fmla="val 462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Compare what the two platforms claim to be. ------------------- # Each hypervisor identifies itself: the manufacturer string, the PCI # device list and the CPUID hypervisor leaf all differ. echo &quot;KVM guest reports:&quot; ; G &quot;sudo dmidecode -s system-manufacturer&quot; echo &quot;VirtualBox guest reports: innotek GmbH (check in the guest console)&quot;"/>
          <p:cNvSpPr txBox="1"/>
          <p:nvPr/>
        </p:nvSpPr>
        <p:spPr>
          <a:xfrm>
            <a:off x="1362456" y="2523744"/>
            <a:ext cx="9987991" cy="14813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--- 5. Compare what the two platforms claim to be. -------------------</a:t>
            </a:r>
          </a:p>
          <a:p>
            <a:pPr>
              <a:lnSpc>
                <a:spcPct val="100000"/>
              </a:lnSpc>
              <a:spcAft>
                <a:spcPts val="0"/>
              </a:spcAft>
            </a:pPr>
            <a:r>
              <a:rPr sz="1800" i="1">
                <a:solidFill>
                  <a:srgbClr val="8795A1"/>
                </a:solidFill>
                <a:latin typeface="Consolas"/>
              </a:rPr>
              <a:t># Each hypervisor identifies itself: the manufacturer string, the PCI</a:t>
            </a:r>
          </a:p>
          <a:p>
            <a:pPr>
              <a:lnSpc>
                <a:spcPct val="100000"/>
              </a:lnSpc>
              <a:spcAft>
                <a:spcPts val="0"/>
              </a:spcAft>
            </a:pPr>
            <a:r>
              <a:rPr sz="1800" i="1">
                <a:solidFill>
                  <a:srgbClr val="8795A1"/>
                </a:solidFill>
                <a:latin typeface="Consolas"/>
              </a:rPr>
              <a:t># device list and the CPUID hypervisor leaf all differ.</a:t>
            </a:r>
          </a:p>
          <a:p>
            <a:pPr>
              <a:lnSpc>
                <a:spcPct val="100000"/>
              </a:lnSpc>
              <a:spcAft>
                <a:spcPts val="0"/>
              </a:spcAft>
            </a:pP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"KVM guest reports:"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a:t>
            </a:r>
            <a:r>
              <a:rPr sz="1800" i="0">
                <a:solidFill>
                  <a:srgbClr val="E8EDF2"/>
                </a:solidFill>
                <a:latin typeface="Consolas"/>
              </a:rPr>
              <a:t> </a:t>
            </a:r>
            <a:r>
              <a:rPr sz="1800" i="0">
                <a:solidFill>
                  <a:srgbClr val="7DCEA0"/>
                </a:solidFill>
                <a:latin typeface="Consolas"/>
              </a:rPr>
              <a:t>"sudo dmidecode -s system-manufacturer"</a:t>
            </a:r>
          </a:p>
          <a:p>
            <a:pPr>
              <a:lnSpc>
                <a:spcPct val="100000"/>
              </a:lnSpc>
              <a:spcAft>
                <a:spcPts val="0"/>
              </a:spcAft>
            </a:pP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"VirtualBox guest reports: innotek GmbH (check in the guest console)"</a:t>
            </a:r>
          </a:p>
        </p:txBody>
      </p:sp>
      <p:sp>
        <p:nvSpPr>
          <p:cNvPr id="15" name="!!code-num"/>
          <p:cNvSpPr txBox="1"/>
          <p:nvPr/>
        </p:nvSpPr>
        <p:spPr>
          <a:xfrm>
            <a:off x="768096" y="2523744"/>
            <a:ext cx="393192" cy="14813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31</a:t>
            </a:r>
          </a:p>
          <a:p>
            <a:pPr algn="r">
              <a:lnSpc>
                <a:spcPct val="100000"/>
              </a:lnSpc>
            </a:pPr>
            <a:r>
              <a:rPr sz="1800">
                <a:solidFill>
                  <a:srgbClr val="4F5D6A"/>
                </a:solidFill>
                <a:latin typeface="Consolas"/>
              </a:rPr>
              <a:t>32</a:t>
            </a:r>
          </a:p>
          <a:p>
            <a:pPr algn="r">
              <a:lnSpc>
                <a:spcPct val="100000"/>
              </a:lnSpc>
            </a:pPr>
            <a:r>
              <a:rPr sz="1800">
                <a:solidFill>
                  <a:srgbClr val="4F5D6A"/>
                </a:solidFill>
                <a:latin typeface="Consolas"/>
              </a:rPr>
              <a:t>33</a:t>
            </a:r>
          </a:p>
          <a:p>
            <a:pPr algn="r">
              <a:lnSpc>
                <a:spcPct val="100000"/>
              </a:lnSpc>
            </a:pPr>
            <a:r>
              <a:rPr sz="1800">
                <a:solidFill>
                  <a:srgbClr val="4F5D6A"/>
                </a:solidFill>
                <a:latin typeface="Consolas"/>
              </a:rPr>
              <a:t>34</a:t>
            </a:r>
          </a:p>
          <a:p>
            <a:pPr algn="r">
              <a:lnSpc>
                <a:spcPct val="100000"/>
              </a:lnSpc>
            </a:pPr>
            <a:r>
              <a:rPr sz="1800">
                <a:solidFill>
                  <a:srgbClr val="4F5D6A"/>
                </a:solidFill>
                <a:latin typeface="Consolas"/>
              </a:rPr>
              <a:t>35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5048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Same Guest on Two Platforms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76451613-3ACF-4FEB-A408-3650A56D863C}" type="slidenum">
              <a:rPr lang="en-GB" sz="1000">
                <a:solidFill>
                  <a:srgbClr val="8795A1"/>
                </a:solidFill>
                <a:latin typeface="Segoe UI"/>
              </a:rPr>
              <a:t>23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feature that is not in the free product.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The feature that is not in the free product. ------------------ # Live migration needs two hosts and shared storage. virsh offers it; # VirtualBox does not. Chapter 17 is where this becomes the whole point. sudo virsh migrate --help | head -5"/>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The feature that is not in the free product. ------------------</a:t>
            </a:r>
          </a:p>
          <a:p>
            <a:pPr>
              <a:lnSpc>
                <a:spcPct val="100000"/>
              </a:lnSpc>
              <a:spcAft>
                <a:spcPts val="0"/>
              </a:spcAft>
            </a:pPr>
            <a:r>
              <a:rPr sz="1900" i="1">
                <a:solidFill>
                  <a:srgbClr val="8795A1"/>
                </a:solidFill>
                <a:latin typeface="Consolas"/>
              </a:rPr>
              <a:t># Live migration needs two hosts and shared storage. virsh offers it;</a:t>
            </a:r>
          </a:p>
          <a:p>
            <a:pPr>
              <a:lnSpc>
                <a:spcPct val="100000"/>
              </a:lnSpc>
              <a:spcAft>
                <a:spcPts val="0"/>
              </a:spcAft>
            </a:pPr>
            <a:r>
              <a:rPr sz="1900" i="1">
                <a:solidFill>
                  <a:srgbClr val="8795A1"/>
                </a:solidFill>
                <a:latin typeface="Consolas"/>
              </a:rPr>
              <a:t># VirtualBox does not. Chapter 17 is where this becomes the whole point.</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migrate</a:t>
            </a:r>
            <a:r>
              <a:rPr sz="1900" i="0">
                <a:solidFill>
                  <a:srgbClr val="E8EDF2"/>
                </a:solidFill>
                <a:latin typeface="Consolas"/>
              </a:rPr>
              <a:t> </a:t>
            </a:r>
            <a:r>
              <a:rPr sz="1900" i="0">
                <a:solidFill>
                  <a:srgbClr val="E8EDF2"/>
                </a:solidFill>
                <a:latin typeface="Consolas"/>
              </a:rPr>
              <a:t>--help</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head</a:t>
            </a:r>
            <a:r>
              <a:rPr sz="1900" i="0">
                <a:solidFill>
                  <a:srgbClr val="E8EDF2"/>
                </a:solidFill>
                <a:latin typeface="Consolas"/>
              </a:rPr>
              <a:t> </a:t>
            </a:r>
            <a:r>
              <a:rPr sz="1900" i="0">
                <a:solidFill>
                  <a:srgbClr val="E8EDF2"/>
                </a:solidFill>
                <a:latin typeface="Consolas"/>
              </a:rPr>
              <a:t>-5</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37</a:t>
            </a:r>
          </a:p>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a:p>
            <a:pPr algn="r">
              <a:lnSpc>
                <a:spcPct val="100000"/>
              </a:lnSpc>
            </a:pPr>
            <a:r>
              <a:rPr sz="1900">
                <a:solidFill>
                  <a:srgbClr val="4F5D6A"/>
                </a:solidFill>
                <a:latin typeface="Consolas"/>
              </a:rPr>
              <a:t>40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8913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Same Guest on Two Platforms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71A28E3B-3510-419D-9166-00C07329F1AD}"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Tear down.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7. Tear down. ---------------------------------------------------- sudo virsh destroy vss1 || true VBoxManage controlvm vss2 poweroff || true VBoxManage unregistervm vss2 --delete || true"/>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--- 7. Tear down.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destroy</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E8EDF2"/>
                </a:solidFill>
                <a:latin typeface="Consolas"/>
              </a:rPr>
              <a:t>VBoxManage</a:t>
            </a:r>
            <a:r>
              <a:rPr sz="1900" i="0">
                <a:solidFill>
                  <a:srgbClr val="E8EDF2"/>
                </a:solidFill>
                <a:latin typeface="Consolas"/>
              </a:rPr>
              <a:t> </a:t>
            </a:r>
            <a:r>
              <a:rPr sz="1900" i="0">
                <a:solidFill>
                  <a:srgbClr val="E8EDF2"/>
                </a:solidFill>
                <a:latin typeface="Consolas"/>
              </a:rPr>
              <a:t>controlvm</a:t>
            </a:r>
            <a:r>
              <a:rPr sz="1900" i="0">
                <a:solidFill>
                  <a:srgbClr val="E8EDF2"/>
                </a:solidFill>
                <a:latin typeface="Consolas"/>
              </a:rPr>
              <a:t> </a:t>
            </a:r>
            <a:r>
              <a:rPr sz="1900" i="0">
                <a:solidFill>
                  <a:srgbClr val="E8EDF2"/>
                </a:solidFill>
                <a:latin typeface="Consolas"/>
              </a:rPr>
              <a:t>vss2</a:t>
            </a:r>
            <a:r>
              <a:rPr sz="1900" i="0">
                <a:solidFill>
                  <a:srgbClr val="E8EDF2"/>
                </a:solidFill>
                <a:latin typeface="Consolas"/>
              </a:rPr>
              <a:t> </a:t>
            </a:r>
            <a:r>
              <a:rPr sz="1900" i="0">
                <a:solidFill>
                  <a:srgbClr val="E8EDF2"/>
                </a:solidFill>
                <a:latin typeface="Consolas"/>
              </a:rPr>
              <a:t>poweroff</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E8EDF2"/>
                </a:solidFill>
                <a:latin typeface="Consolas"/>
              </a:rPr>
              <a:t>VBoxManage</a:t>
            </a:r>
            <a:r>
              <a:rPr sz="1900" i="0">
                <a:solidFill>
                  <a:srgbClr val="E8EDF2"/>
                </a:solidFill>
                <a:latin typeface="Consolas"/>
              </a:rPr>
              <a:t> </a:t>
            </a:r>
            <a:r>
              <a:rPr sz="1900" i="0">
                <a:solidFill>
                  <a:srgbClr val="E8EDF2"/>
                </a:solidFill>
                <a:latin typeface="Consolas"/>
              </a:rPr>
              <a:t>unregistervm</a:t>
            </a:r>
            <a:r>
              <a:rPr sz="1900" i="0">
                <a:solidFill>
                  <a:srgbClr val="E8EDF2"/>
                </a:solidFill>
                <a:latin typeface="Consolas"/>
              </a:rPr>
              <a:t> </a:t>
            </a:r>
            <a:r>
              <a:rPr sz="1900" i="0">
                <a:solidFill>
                  <a:srgbClr val="E8EDF2"/>
                </a:solidFill>
                <a:latin typeface="Consolas"/>
              </a:rPr>
              <a:t>vss2</a:t>
            </a:r>
            <a:r>
              <a:rPr sz="1900" i="0">
                <a:solidFill>
                  <a:srgbClr val="E8EDF2"/>
                </a:solidFill>
                <a:latin typeface="Consolas"/>
              </a:rPr>
              <a:t> </a:t>
            </a:r>
            <a:r>
              <a:rPr sz="1900" i="0">
                <a:solidFill>
                  <a:srgbClr val="E8EDF2"/>
                </a:solidFill>
                <a:latin typeface="Consolas"/>
              </a:rPr>
              <a:t>--delete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42</a:t>
            </a:r>
          </a:p>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a:p>
            <a:pPr algn="r">
              <a:lnSpc>
                <a:spcPct val="100000"/>
              </a:lnSpc>
            </a:pPr>
            <a:r>
              <a:rPr sz="1900">
                <a:solidFill>
                  <a:srgbClr val="4F5D6A"/>
                </a:solidFill>
                <a:latin typeface="Consolas"/>
              </a:rPr>
              <a:t>45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§5.6  ·  Handout p. 41     </a:t>
            </a:r>
            <a:fld id="{5ADFA1CB-B571-4236-B9C6-C3A1E566B621}"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Step 5 is the honest answer to “can a guest tell?” — every platform identifies itself in several places, and none of them tries very hard to hide. Step 6 is the difference that actually decides procurement: the hypervisors are comparable, and the operational features are not.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46645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For each of ESXi, Hyper-V, KVM and Xen, say in one phrase where the device drivers run, and give the consequence for the trusted computing base.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5  ·  Major Hypervisor Platforms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44  ·  answers in Appendix D     </a:t>
            </a:r>
            <a:fld id="{DF06EFDC-B267-4B2A-B1D1-8B984901EAF2}" type="slidenum">
              <a:rPr lang="en-GB" sz="1000">
                <a:solidFill>
                  <a:srgbClr val="D5DEE5"/>
                </a:solidFill>
                <a:latin typeface="Segoe UI"/>
              </a:rPr>
              <a:t>26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For each of ESXi, Hyper-V, KVM and Xen, say in one phrase where the device drivers run, and give the consequence for the trusted computing base.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ESXi</a:t>
            </a:r>
            <a:r>
              <a:rPr sz="2200" b="0" i="0">
                <a:solidFill>
                  <a:srgbClr val="1C252B"/>
                </a:solidFill>
                <a:latin typeface="Segoe UI"/>
              </a:rPr>
              <a:t>: in the VMkernel itself — a small, purpose-built trusted base of about 150 MB, at the cost of a short hardware compatibility list. </a:t>
            </a:r>
            <a:r>
              <a:rPr sz="2200" b="1" i="0">
                <a:solidFill>
                  <a:srgbClr val="1C252B"/>
                </a:solidFill>
                <a:latin typeface="Segoe UI"/>
              </a:rPr>
              <a:t>Hyper-V</a:t>
            </a:r>
            <a:r>
              <a:rPr sz="2200" b="0" i="0">
                <a:solidFill>
                  <a:srgbClr val="1C252B"/>
                </a:solidFill>
                <a:latin typeface="Segoe UI"/>
              </a:rPr>
              <a:t>: in the parent partition, a full Windows installation — thin hypervisor, large privileged guest. </a:t>
            </a:r>
            <a:r>
              <a:rPr sz="2200" b="1" i="0">
                <a:solidFill>
                  <a:srgbClr val="1C252B"/>
                </a:solidFill>
                <a:latin typeface="Segoe UI"/>
              </a:rPr>
              <a:t>KVM</a:t>
            </a:r>
            <a:r>
              <a:rPr sz="2200" b="0" i="0">
                <a:solidFill>
                  <a:srgbClr val="1C252B"/>
                </a:solidFill>
                <a:latin typeface="Segoe UI"/>
              </a:rPr>
              <a:t>: in the Linux kernel — every driver Linux has, and all of them in the trusted base. </a:t>
            </a:r>
            <a:r>
              <a:rPr sz="2200" b="1" i="0">
                <a:solidFill>
                  <a:srgbClr val="1C252B"/>
                </a:solidFill>
                <a:latin typeface="Segoe UI"/>
              </a:rPr>
              <a:t>Xen</a:t>
            </a:r>
            <a:r>
              <a:rPr sz="2200" b="0" i="0">
                <a:solidFill>
                  <a:srgbClr val="1C252B"/>
                </a:solidFill>
                <a:latin typeface="Segoe UI"/>
              </a:rPr>
              <a:t>: in dom0, or in a separate driver domain — a one-megabyte hypervisor, and the only design that can put a driver’s blast radius below the whole host.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  answers in Appendix D     </a:t>
            </a:r>
            <a:fld id="{AA47BEC7-0A07-4DAC-BBF5-CAF01A90A4CD}" type="slidenum">
              <a:rPr lang="en-GB" sz="1000">
                <a:solidFill>
                  <a:srgbClr val="8795A1"/>
                </a:solidFill>
                <a:latin typeface="Segoe UI"/>
              </a:rPr>
              <a:t>27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14377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colleague reports that after installing Docker Desktop on Windows, their VirtualBox guests became much slower. Explain what happened.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5  ·  Major Hypervisor Platforms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44  ·  answers in Appendix D     </a:t>
            </a:r>
            <a:fld id="{E4689D7B-32D6-470A-8D3E-1A4305BCD5F9}" type="slidenum">
              <a:rPr lang="en-GB" sz="1000">
                <a:solidFill>
                  <a:srgbClr val="D5DEE5"/>
                </a:solidFill>
                <a:latin typeface="Segoe UI"/>
              </a:rPr>
              <a:t>28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colleague reports that after installing Docker Desktop on Windows, their VirtualBox guests became much slower. Explain what happened.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Docker Desktop enables Hyper-V (or the WSL2 platform, which uses it). That slides the Hyper-V hypervisor underneath the running Windows, demoting it to a parent partition. VirtualBox then no longer runs on the hardware; it runs as a </a:t>
            </a:r>
            <a:r>
              <a:rPr sz="2200" b="0" i="1">
                <a:solidFill>
                  <a:srgbClr val="1C252B"/>
                </a:solidFill>
                <a:latin typeface="Segoe UI"/>
              </a:rPr>
              <a:t>nested</a:t>
            </a:r>
            <a:r>
              <a:rPr sz="2200" b="0" i="0">
                <a:solidFill>
                  <a:srgbClr val="1C252B"/>
                </a:solidFill>
                <a:latin typeface="Segoe UI"/>
              </a:rPr>
              <a:t> guest above Hyper-V, and nested virtualization multiplies every exit the inner guest takes. Nothing about VirtualBox changed — the machine underneath it did.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  answers in Appendix D     </a:t>
            </a:r>
            <a:fld id="{3F7F2276-2B49-4CC0-A0F4-C9C985A7A4F7}" type="slidenum">
              <a:rPr lang="en-GB" sz="1000">
                <a:solidFill>
                  <a:srgbClr val="8795A1"/>
                </a:solidFill>
                <a:latin typeface="Segoe UI"/>
              </a:rPr>
              <a:t>29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2108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Using the worked example’s method, at what cluster size does a vSphere licence begin to look defensible, and what assumption in your answer is doing the most work?</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5  ·  Major Hypervisor Platforms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44  ·  answers in Appendix D     </a:t>
            </a:r>
            <a:fld id="{8121FA44-FBAA-4465-B9F3-FB30109194C7}" type="slidenum">
              <a:rPr lang="en-GB" sz="1000">
                <a:solidFill>
                  <a:srgbClr val="D5DEE5"/>
                </a:solidFill>
                <a:latin typeface="Segoe UI"/>
              </a:rPr>
              <a:t>30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Using the worked example’s method, at what cluster size does a vSphere licence begin to look defensible, and what assumption in your answer is doing the most work?</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78952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Using the chapter’s figures, vSphere cost about $200,000 more over three years for three hosts, which is roughly 1.5 full-time engineers. A licence becomes defensible once the estate is large enough that vCenter genuinely saves that much effort — in practice somewhere in the low hundreds of hosts, or sooner where availability has contractual penalties. </a:t>
            </a:r>
            <a:r>
              <a:rPr sz="2200" b="1" i="0">
                <a:solidFill>
                  <a:srgbClr val="1C252B"/>
                </a:solidFill>
                <a:latin typeface="Segoe UI"/>
              </a:rPr>
              <a:t>The assumption doing the most work</a:t>
            </a:r>
            <a:r>
              <a:rPr sz="2200" b="0" i="0">
                <a:solidFill>
                  <a:srgbClr val="1C252B"/>
                </a:solidFill>
                <a:latin typeface="Segoe UI"/>
              </a:rPr>
              <a:t> is that a self-managed KVM estate would need those 1.5 engineers; if the team already runs Linux at scale and has the automation, the saving is much smaller and the threshold much higher.</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  answers in Appendix D     </a:t>
            </a:r>
            <a:fld id="{AE01F967-8CE4-416D-AE74-709AE67E82F9}" type="slidenum">
              <a:rPr lang="en-GB" sz="1000">
                <a:solidFill>
                  <a:srgbClr val="8795A1"/>
                </a:solidFill>
                <a:latin typeface="Segoe UI"/>
              </a:rPr>
              <a:t>31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49840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a:t>
            </a:r>
            <a:fld id="{0AE98B26-7F1D-417F-9353-80F63D92D825}" type="slidenum">
              <a:rPr lang="en-GB" sz="1000">
                <a:solidFill>
                  <a:srgbClr val="8795A1"/>
                </a:solidFill>
                <a:latin typeface="Segoe UI"/>
              </a:rPr>
              <a:t>32</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All four platforms use the same hardware features. What separates them is where the device drivers live, and almost every other difference follows from that.</a:t>
            </a:r>
          </a:p>
        </p:txBody>
      </p:sp>
      <p:sp>
        <p:nvSpPr>
          <p:cNvPr id="10" name="!!sb1">
            <a:extLst>
              <a:ext uri="{C183D7F6-B498-43B3-948B-1728B52AA6E4}">
                <adec:decorative xmlns:adec="http://schemas.microsoft.com/office/drawing/2017/decorative" val="1"/>
              </a:ext>
            </a:extLst>
          </p:cNvPr>
          <p:cNvSpPr/>
          <p:nvPr/>
        </p:nvSpPr>
        <p:spPr>
          <a:xfrm>
            <a:off x="658368" y="24999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548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90825"/>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ESXi: a purpose-built kernel of about 150 MB with drivers inside it, a certified hardware list, and vCenter — which is what the licence actually buys.</a:t>
            </a:r>
          </a:p>
        </p:txBody>
      </p:sp>
      <p:sp>
        <p:nvSpPr>
          <p:cNvPr id="13" name="!!sb2">
            <a:extLst>
              <a:ext uri="{C183D7F6-B498-43B3-948B-1728B52AA6E4}">
                <adec:decorative xmlns:adec="http://schemas.microsoft.com/office/drawing/2017/decorative" val="1"/>
              </a:ext>
            </a:extLst>
          </p:cNvPr>
          <p:cNvSpPr/>
          <p:nvPr/>
        </p:nvSpPr>
        <p:spPr>
          <a:xfrm>
            <a:off x="658368" y="325343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30829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244291"/>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Hyper-V: a thin hypervisor that slides underneath a running Windows, demoting it to a privileged parent partition that owns the drivers. Enabling it changes the machine, often by accident.</a:t>
            </a:r>
          </a:p>
        </p:txBody>
      </p:sp>
      <p:sp>
        <p:nvSpPr>
          <p:cNvPr id="16" name="!!sb3">
            <a:extLst>
              <a:ext uri="{C183D7F6-B498-43B3-948B-1728B52AA6E4}">
                <adec:decorative xmlns:adec="http://schemas.microsoft.com/office/drawing/2017/decorative" val="1"/>
              </a:ext>
            </a:extLst>
          </p:cNvPr>
          <p:cNvSpPr/>
          <p:nvPr/>
        </p:nvSpPr>
        <p:spPr>
          <a:xfrm>
            <a:off x="658368" y="400690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6176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97756"/>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KVM: a kernel module that makes Linux a hypervisor, so a guest is a process. It inherits every Linux driver and the entire Linux kernel as trusted base — the same fact read twice.</a:t>
            </a:r>
          </a:p>
        </p:txBody>
      </p:sp>
      <p:sp>
        <p:nvSpPr>
          <p:cNvPr id="19" name="!!sb4">
            <a:extLst>
              <a:ext uri="{C183D7F6-B498-43B3-948B-1728B52AA6E4}">
                <adec:decorative xmlns:adec="http://schemas.microsoft.com/office/drawing/2017/decorative" val="1"/>
              </a:ext>
            </a:extLst>
          </p:cNvPr>
          <p:cNvSpPr/>
          <p:nvPr/>
        </p:nvSpPr>
        <p:spPr>
          <a:xfrm>
            <a:off x="658368" y="476036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81523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751222"/>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Xen: about a megabyte of hypervisor with nothing in it; dom0 owns the drivers, and driver domains can shrink the blast radius of a driver bug to less than the host.</a:t>
            </a:r>
          </a:p>
        </p:txBody>
      </p:sp>
      <p:sp>
        <p:nvSpPr>
          <p:cNvPr id="22" name="!!sb5">
            <a:extLst>
              <a:ext uri="{C183D7F6-B498-43B3-948B-1728B52AA6E4}">
                <adec:decorative xmlns:adec="http://schemas.microsoft.com/office/drawing/2017/decorative" val="1"/>
              </a:ext>
            </a:extLst>
          </p:cNvPr>
          <p:cNvSpPr/>
          <p:nvPr/>
        </p:nvSpPr>
        <p:spPr>
          <a:xfrm>
            <a:off x="658368" y="551383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56869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504688"/>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Licence cost differences are large — roughly $200,000 over three years for a three-host cluster — and are decided by staff effort and risk, not by hypervisor features.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83706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a:t>
            </a:r>
            <a:fld id="{6CDB72C8-D1CE-483A-A199-0604A2D632C9}" type="slidenum">
              <a:rPr lang="en-GB" sz="1000">
                <a:solidFill>
                  <a:srgbClr val="8795A1"/>
                </a:solidFill>
                <a:latin typeface="Segoe UI"/>
              </a:rPr>
              <a:t>33</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In Hyper-V, the Windows installation on which the role was enabled becomes:</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hypervisor</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1254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parent partition, a privileged guest</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an ordinary child partition</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unchanged</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17572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a:t>
            </a:r>
            <a:fld id="{3F0C4482-DF18-4B0E-B2C7-0D0B43205002}" type="slidenum">
              <a:rPr lang="en-GB" sz="1000">
                <a:solidFill>
                  <a:srgbClr val="8795A1"/>
                </a:solidFill>
                <a:latin typeface="Segoe UI"/>
              </a:rPr>
              <a:t>34</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Xen’s hypervisor is roughly a megabyte because: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is written in assembly</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contains no device drivers, filesystems or network stack</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supports fewer guests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is compiled with optimisation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1437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5  ·  Major Hypervisor Platforms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44     </a:t>
            </a:r>
            <a:fld id="{452F8336-E6B5-4F44-8DE8-2276719EB414}" type="slidenum">
              <a:rPr lang="en-GB" sz="1000">
                <a:solidFill>
                  <a:srgbClr val="8795A1"/>
                </a:solidFill>
                <a:latin typeface="Segoe UI"/>
              </a:rPr>
              <a:t>35</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State the single architectural claim KVM makes about what a guest is, and give three operational consequences of it.</a:t>
            </a:r>
          </a:p>
        </p:txBody>
      </p:sp>
      <p:sp>
        <p:nvSpPr>
          <p:cNvPr id="10" name="!!rt1">
            <a:extLst>
              <a:ext uri="{C183D7F6-B498-43B3-948B-1728B52AA6E4}">
                <adec:decorative xmlns:adec="http://schemas.microsoft.com/office/drawing/2017/decorative" val="1"/>
              </a:ext>
            </a:extLst>
          </p:cNvPr>
          <p:cNvSpPr/>
          <p:nvPr/>
        </p:nvSpPr>
        <p:spPr>
          <a:xfrm>
            <a:off x="658368" y="254568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58683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27401"/>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Explain why ESXi’s short hardware compatibility list is a design decision rather than a shortcoming, and what it costs.</a:t>
            </a:r>
          </a:p>
        </p:txBody>
      </p:sp>
      <p:sp>
        <p:nvSpPr>
          <p:cNvPr id="13" name="!!rt2">
            <a:extLst>
              <a:ext uri="{C183D7F6-B498-43B3-948B-1728B52AA6E4}">
                <adec:decorative xmlns:adec="http://schemas.microsoft.com/office/drawing/2017/decorative" val="1"/>
              </a:ext>
            </a:extLst>
          </p:cNvPr>
          <p:cNvSpPr/>
          <p:nvPr/>
        </p:nvSpPr>
        <p:spPr>
          <a:xfrm>
            <a:off x="658368" y="3335731"/>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37687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17443"/>
            <a:ext cx="9549079" cy="28529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Describe a driver domain and the specific failure it is meant to contain.</a:t>
            </a:r>
          </a:p>
        </p:txBody>
      </p:sp>
      <p:sp>
        <p:nvSpPr>
          <p:cNvPr id="16" name="!!rt3">
            <a:extLst>
              <a:ext uri="{C183D7F6-B498-43B3-948B-1728B52AA6E4}">
                <adec:decorative xmlns:adec="http://schemas.microsoft.com/office/drawing/2017/decorative" val="1"/>
              </a:ext>
            </a:extLst>
          </p:cNvPr>
          <p:cNvSpPr/>
          <p:nvPr/>
        </p:nvSpPr>
        <p:spPr>
          <a:xfrm>
            <a:off x="658368" y="3840479"/>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88162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822191"/>
            <a:ext cx="9549079" cy="1141171"/>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department has six hosts, two Linux engineers, no existing virtualization and a small budget. A vendor proposes vSphere. Write the recommendation you would give, including the two questions you would ask before committing and what answer to each would change your mind.</a:t>
            </a:r>
          </a:p>
        </p:txBody>
      </p:sp>
      <p:sp>
        <p:nvSpPr>
          <p:cNvPr id="19" name="!!rt4">
            <a:extLst>
              <a:ext uri="{C183D7F6-B498-43B3-948B-1728B52AA6E4}">
                <adec:decorative xmlns:adec="http://schemas.microsoft.com/office/drawing/2017/decorative" val="1"/>
              </a:ext>
            </a:extLst>
          </p:cNvPr>
          <p:cNvSpPr/>
          <p:nvPr/>
        </p:nvSpPr>
        <p:spPr>
          <a:xfrm>
            <a:off x="658368" y="520110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24225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182819"/>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hosting provider must run untrusted guests and is choosing between KVM and Xen with driver domains. Set out the security argument for each, name what the Xen design costs operationally, and say what you would need to measure before deciding.</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5303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5739D"/>
                </a:solidFill>
                <a:latin typeface="Segoe UI Black"/>
              </a:rPr>
              <a:t>05</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5</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6 — CPU and Memory Virtualization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5, pages 38–44</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One guest, two platforms, compared</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5  ·  Major Hypervisor Platforms</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91C9B88F-D8F2-4120-9DDB-2C832825FA34}"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Major Hypervisor Platforms</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